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Economica"/>
      <p:regular r:id="rId37"/>
      <p:bold r:id="rId38"/>
      <p:italic r:id="rId39"/>
      <p:boldItalic r:id="rId40"/>
    </p:embeddedFont>
    <p:embeddedFont>
      <p:font typeface="Roboto"/>
      <p:regular r:id="rId41"/>
      <p:bold r:id="rId42"/>
      <p:italic r:id="rId43"/>
      <p:boldItalic r:id="rId44"/>
    </p:embeddedFont>
    <p:embeddedFont>
      <p:font typeface="Open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conomica-boldItalic.fntdata"/><Relationship Id="rId20" Type="http://schemas.openxmlformats.org/officeDocument/2006/relationships/slide" Target="slides/slide15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22" Type="http://schemas.openxmlformats.org/officeDocument/2006/relationships/slide" Target="slides/slide17.xml"/><Relationship Id="rId44" Type="http://schemas.openxmlformats.org/officeDocument/2006/relationships/font" Target="fonts/Roboto-boldItalic.fntdata"/><Relationship Id="rId21" Type="http://schemas.openxmlformats.org/officeDocument/2006/relationships/slide" Target="slides/slide16.xml"/><Relationship Id="rId43" Type="http://schemas.openxmlformats.org/officeDocument/2006/relationships/font" Target="fonts/Roboto-italic.fntdata"/><Relationship Id="rId24" Type="http://schemas.openxmlformats.org/officeDocument/2006/relationships/slide" Target="slides/slide19.xml"/><Relationship Id="rId46" Type="http://schemas.openxmlformats.org/officeDocument/2006/relationships/font" Target="fonts/OpenSans-bold.fntdata"/><Relationship Id="rId23" Type="http://schemas.openxmlformats.org/officeDocument/2006/relationships/slide" Target="slides/slide18.xml"/><Relationship Id="rId45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OpenSans-boldItalic.fntdata"/><Relationship Id="rId25" Type="http://schemas.openxmlformats.org/officeDocument/2006/relationships/slide" Target="slides/slide20.xml"/><Relationship Id="rId47" Type="http://schemas.openxmlformats.org/officeDocument/2006/relationships/font" Target="fonts/OpenSans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Economica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Economica-italic.fntdata"/><Relationship Id="rId16" Type="http://schemas.openxmlformats.org/officeDocument/2006/relationships/slide" Target="slides/slide11.xml"/><Relationship Id="rId38" Type="http://schemas.openxmlformats.org/officeDocument/2006/relationships/font" Target="fonts/Economica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05826c61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05826c61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757616de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757616de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b757616de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b757616de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b757616de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b757616de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707c94030b86e93c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707c94030b86e93c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707c94030b86e93c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707c94030b86e93c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347d112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347d112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b757616de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b757616de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b757616de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b757616de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b757616dee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b757616de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b757616dee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b757616dee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0b8f51533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0b8f51533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347d112b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d347d112b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b757616dee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b757616dee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347d112b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d347d112b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b757616dee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b757616de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b757616dee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b757616dee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347d112b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d347d112b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347d112b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d347d112b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347d112b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d347d112b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b757616dee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b757616dee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b757616dee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b757616dee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b757616dee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b757616dee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b757616dee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b757616dee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b757616dee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b757616dee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d347d112b7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d347d112b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d347d112b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d347d112b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707c94030b86e93c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707c94030b86e93c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707c94030b86e93c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707c94030b86e93c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707c94030b86e93c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707c94030b86e93c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d347d112b7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d347d112b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jp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Networks?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1175" y="614688"/>
            <a:ext cx="5252818" cy="39141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319500" y="1314775"/>
            <a:ext cx="3463500" cy="17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Playfair Display"/>
              <a:buChar char="●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A set of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entities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Nodes, Vertices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Playfair Display"/>
              <a:buChar char="●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Joined via a set of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relations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Links, Ties, Edges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19500" y="3258950"/>
            <a:ext cx="3056700" cy="14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conomica"/>
              <a:buChar char="●"/>
            </a:pP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In a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point</a:t>
            </a: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and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line</a:t>
            </a: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plot</a:t>
            </a:r>
            <a:endParaRPr b="1"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conomica"/>
              <a:buChar char="○"/>
            </a:pP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Entities are some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shape (e.g., circles)</a:t>
            </a:r>
            <a:endParaRPr b="1"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conomica"/>
              <a:buChar char="○"/>
            </a:pP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Relations are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lines</a:t>
            </a:r>
            <a:endParaRPr/>
          </a:p>
        </p:txBody>
      </p:sp>
      <p:sp>
        <p:nvSpPr>
          <p:cNvPr id="70" name="Google Shape;70;p14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network?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1175" y="614688"/>
            <a:ext cx="5252818" cy="39141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319500" y="1314775"/>
            <a:ext cx="34635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fair Display"/>
              <a:buChar char="●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Don’t confuse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pictures of networks</a:t>
            </a: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 with the real thing!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319500" y="3258950"/>
            <a:ext cx="3056700" cy="14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conomica"/>
              <a:buChar char="●"/>
            </a:pP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In a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point</a:t>
            </a: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and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line</a:t>
            </a: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plot</a:t>
            </a:r>
            <a:endParaRPr b="1"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conomica"/>
              <a:buChar char="○"/>
            </a:pP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Entities are some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shape (e.g., circles)</a:t>
            </a:r>
            <a:endParaRPr b="1"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conomica"/>
              <a:buChar char="○"/>
            </a:pP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Relations are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lines</a:t>
            </a:r>
            <a:endParaRPr/>
          </a:p>
        </p:txBody>
      </p:sp>
      <p:sp>
        <p:nvSpPr>
          <p:cNvPr id="78" name="Google Shape;78;p15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network?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/>
        </p:nvSpPr>
        <p:spPr>
          <a:xfrm>
            <a:off x="616675" y="1509125"/>
            <a:ext cx="2012100" cy="20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fair Display"/>
              <a:buChar char="●"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Lots of things</a:t>
            </a: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 in the world are networks 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601226" y="1311875"/>
            <a:ext cx="1790100" cy="4425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Networks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590425" y="2673950"/>
            <a:ext cx="1811700" cy="442500"/>
          </a:xfrm>
          <a:prstGeom prst="roundRect">
            <a:avLst>
              <a:gd fmla="val 50000" name="adj"/>
            </a:avLst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Technological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2466875" y="2673825"/>
            <a:ext cx="13848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Social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87" name="Google Shape;87;p16"/>
          <p:cNvCxnSpPr>
            <a:stCxn id="84" idx="2"/>
            <a:endCxn id="85" idx="0"/>
          </p:cNvCxnSpPr>
          <p:nvPr/>
        </p:nvCxnSpPr>
        <p:spPr>
          <a:xfrm flipH="1" rot="-5400000">
            <a:off x="5036826" y="2213825"/>
            <a:ext cx="919500" cy="600"/>
          </a:xfrm>
          <a:prstGeom prst="bentConnector3">
            <a:avLst>
              <a:gd fmla="val 50004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" name="Google Shape;88;p16"/>
          <p:cNvCxnSpPr>
            <a:stCxn id="86" idx="0"/>
            <a:endCxn id="84" idx="2"/>
          </p:cNvCxnSpPr>
          <p:nvPr/>
        </p:nvCxnSpPr>
        <p:spPr>
          <a:xfrm rot="-5400000">
            <a:off x="3868025" y="1045575"/>
            <a:ext cx="919500" cy="2337000"/>
          </a:xfrm>
          <a:prstGeom prst="bentConnector3">
            <a:avLst>
              <a:gd fmla="val 49997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16"/>
          <p:cNvSpPr/>
          <p:nvPr/>
        </p:nvSpPr>
        <p:spPr>
          <a:xfrm>
            <a:off x="7140875" y="2673825"/>
            <a:ext cx="1790100" cy="442500"/>
          </a:xfrm>
          <a:prstGeom prst="roundRect">
            <a:avLst>
              <a:gd fmla="val 50000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Biological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90" name="Google Shape;90;p16"/>
          <p:cNvCxnSpPr>
            <a:stCxn id="89" idx="0"/>
            <a:endCxn id="84" idx="2"/>
          </p:cNvCxnSpPr>
          <p:nvPr/>
        </p:nvCxnSpPr>
        <p:spPr>
          <a:xfrm flipH="1" rot="5400000">
            <a:off x="6306425" y="944325"/>
            <a:ext cx="919500" cy="2539500"/>
          </a:xfrm>
          <a:prstGeom prst="bentConnector3">
            <a:avLst>
              <a:gd fmla="val 49997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16"/>
          <p:cNvSpPr/>
          <p:nvPr/>
        </p:nvSpPr>
        <p:spPr>
          <a:xfrm>
            <a:off x="151725" y="4101525"/>
            <a:ext cx="11685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Schools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92" name="Google Shape;92;p16"/>
          <p:cNvCxnSpPr>
            <a:stCxn id="86" idx="2"/>
            <a:endCxn id="91" idx="0"/>
          </p:cNvCxnSpPr>
          <p:nvPr/>
        </p:nvCxnSpPr>
        <p:spPr>
          <a:xfrm rot="5400000">
            <a:off x="1454975" y="2397225"/>
            <a:ext cx="985200" cy="24234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6"/>
          <p:cNvSpPr/>
          <p:nvPr/>
        </p:nvSpPr>
        <p:spPr>
          <a:xfrm>
            <a:off x="3018250" y="4606500"/>
            <a:ext cx="15840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Workplaces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839300" y="4606500"/>
            <a:ext cx="20121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Instagram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95" name="Google Shape;95;p16"/>
          <p:cNvCxnSpPr>
            <a:stCxn id="86" idx="2"/>
            <a:endCxn id="94" idx="0"/>
          </p:cNvCxnSpPr>
          <p:nvPr/>
        </p:nvCxnSpPr>
        <p:spPr>
          <a:xfrm rot="5400000">
            <a:off x="1757225" y="3204375"/>
            <a:ext cx="1490100" cy="1314000"/>
          </a:xfrm>
          <a:prstGeom prst="bentConnector3">
            <a:avLst>
              <a:gd fmla="val 50003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16"/>
          <p:cNvCxnSpPr>
            <a:stCxn id="86" idx="2"/>
            <a:endCxn id="93" idx="0"/>
          </p:cNvCxnSpPr>
          <p:nvPr/>
        </p:nvCxnSpPr>
        <p:spPr>
          <a:xfrm flipH="1" rot="-5400000">
            <a:off x="2739725" y="3535875"/>
            <a:ext cx="1490100" cy="651000"/>
          </a:xfrm>
          <a:prstGeom prst="bentConnector3">
            <a:avLst>
              <a:gd fmla="val 50003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16"/>
          <p:cNvSpPr/>
          <p:nvPr/>
        </p:nvSpPr>
        <p:spPr>
          <a:xfrm>
            <a:off x="5289125" y="4606500"/>
            <a:ext cx="1584000" cy="442500"/>
          </a:xfrm>
          <a:prstGeom prst="roundRect">
            <a:avLst>
              <a:gd fmla="val 50000" name="adj"/>
            </a:avLst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WWW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5673975" y="3315650"/>
            <a:ext cx="1584000" cy="442500"/>
          </a:xfrm>
          <a:prstGeom prst="roundRect">
            <a:avLst>
              <a:gd fmla="val 50000" name="adj"/>
            </a:avLst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Internet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4399950" y="4099975"/>
            <a:ext cx="1584000" cy="442500"/>
          </a:xfrm>
          <a:prstGeom prst="roundRect">
            <a:avLst>
              <a:gd fmla="val 50000" name="adj"/>
            </a:avLst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Airports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100" name="Google Shape;100;p16"/>
          <p:cNvCxnSpPr>
            <a:stCxn id="86" idx="2"/>
            <a:endCxn id="99" idx="0"/>
          </p:cNvCxnSpPr>
          <p:nvPr/>
        </p:nvCxnSpPr>
        <p:spPr>
          <a:xfrm flipH="1" rot="-5400000">
            <a:off x="3683825" y="2591775"/>
            <a:ext cx="983700" cy="2032800"/>
          </a:xfrm>
          <a:prstGeom prst="bentConnector3">
            <a:avLst>
              <a:gd fmla="val 49997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16"/>
          <p:cNvCxnSpPr>
            <a:stCxn id="85" idx="2"/>
            <a:endCxn id="99" idx="0"/>
          </p:cNvCxnSpPr>
          <p:nvPr/>
        </p:nvCxnSpPr>
        <p:spPr>
          <a:xfrm rot="5400000">
            <a:off x="4852475" y="3456050"/>
            <a:ext cx="983400" cy="304200"/>
          </a:xfrm>
          <a:prstGeom prst="bentConnector3">
            <a:avLst>
              <a:gd fmla="val 50006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16"/>
          <p:cNvCxnSpPr>
            <a:stCxn id="85" idx="2"/>
            <a:endCxn id="98" idx="0"/>
          </p:cNvCxnSpPr>
          <p:nvPr/>
        </p:nvCxnSpPr>
        <p:spPr>
          <a:xfrm flipH="1" rot="-5400000">
            <a:off x="5881475" y="2731250"/>
            <a:ext cx="199200" cy="969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6"/>
          <p:cNvCxnSpPr>
            <a:stCxn id="85" idx="2"/>
            <a:endCxn id="97" idx="0"/>
          </p:cNvCxnSpPr>
          <p:nvPr/>
        </p:nvCxnSpPr>
        <p:spPr>
          <a:xfrm flipH="1" rot="-5400000">
            <a:off x="5043725" y="3569000"/>
            <a:ext cx="1490100" cy="5850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6"/>
          <p:cNvCxnSpPr>
            <a:stCxn id="89" idx="2"/>
            <a:endCxn id="105" idx="0"/>
          </p:cNvCxnSpPr>
          <p:nvPr/>
        </p:nvCxnSpPr>
        <p:spPr>
          <a:xfrm rot="5400000">
            <a:off x="7192625" y="3289425"/>
            <a:ext cx="1016400" cy="670200"/>
          </a:xfrm>
          <a:prstGeom prst="bentConnector3">
            <a:avLst>
              <a:gd fmla="val 50002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16"/>
          <p:cNvSpPr/>
          <p:nvPr/>
        </p:nvSpPr>
        <p:spPr>
          <a:xfrm>
            <a:off x="6573625" y="4132763"/>
            <a:ext cx="1584000" cy="442500"/>
          </a:xfrm>
          <a:prstGeom prst="roundRect">
            <a:avLst>
              <a:gd fmla="val 50000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Brain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7560000" y="4606488"/>
            <a:ext cx="1584000" cy="442500"/>
          </a:xfrm>
          <a:prstGeom prst="roundRect">
            <a:avLst>
              <a:gd fmla="val 50000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Ecosystems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107" name="Google Shape;107;p16"/>
          <p:cNvCxnSpPr>
            <a:stCxn id="89" idx="2"/>
            <a:endCxn id="106" idx="0"/>
          </p:cNvCxnSpPr>
          <p:nvPr/>
        </p:nvCxnSpPr>
        <p:spPr>
          <a:xfrm flipH="1" rot="-5400000">
            <a:off x="7448975" y="3703275"/>
            <a:ext cx="1490100" cy="316200"/>
          </a:xfrm>
          <a:prstGeom prst="bentConnector3">
            <a:avLst>
              <a:gd fmla="val 50002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16"/>
          <p:cNvCxnSpPr>
            <a:stCxn id="86" idx="2"/>
            <a:endCxn id="97" idx="0"/>
          </p:cNvCxnSpPr>
          <p:nvPr/>
        </p:nvCxnSpPr>
        <p:spPr>
          <a:xfrm flipH="1" rot="-5400000">
            <a:off x="3875225" y="2400375"/>
            <a:ext cx="1490100" cy="2922000"/>
          </a:xfrm>
          <a:prstGeom prst="bentConnector3">
            <a:avLst>
              <a:gd fmla="val 50003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16"/>
          <p:cNvCxnSpPr>
            <a:stCxn id="85" idx="2"/>
            <a:endCxn id="94" idx="0"/>
          </p:cNvCxnSpPr>
          <p:nvPr/>
        </p:nvCxnSpPr>
        <p:spPr>
          <a:xfrm rot="5400000">
            <a:off x="2925725" y="2036000"/>
            <a:ext cx="1490100" cy="36510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16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network?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 b="18870" l="0" r="0" t="17767"/>
          <a:stretch/>
        </p:blipFill>
        <p:spPr>
          <a:xfrm>
            <a:off x="272238" y="172937"/>
            <a:ext cx="4336376" cy="274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263" y="2124379"/>
            <a:ext cx="3215024" cy="284615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 txBox="1"/>
          <p:nvPr/>
        </p:nvSpPr>
        <p:spPr>
          <a:xfrm>
            <a:off x="923613" y="2655863"/>
            <a:ext cx="26976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U.S. Airport Network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2433788" y="4271563"/>
            <a:ext cx="17598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GoT’s Social Network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6958813" y="2182413"/>
            <a:ext cx="17598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The Brain’s Neural Network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20" name="Google Shape;120;p17" title="brain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6139" y="172938"/>
            <a:ext cx="3305630" cy="1859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/>
        </p:nvSpPr>
        <p:spPr>
          <a:xfrm>
            <a:off x="1153075" y="4179975"/>
            <a:ext cx="29955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The Network of Psychological Symptoms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6222700" y="4179975"/>
            <a:ext cx="17598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The Body’s Organ Network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27" name="Google Shape;127;p18" title="bod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1651" y="194850"/>
            <a:ext cx="2103120" cy="3922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 title="symptom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227" y="576838"/>
            <a:ext cx="5029201" cy="3158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Social Networks</a:t>
            </a:r>
            <a:endParaRPr/>
          </a:p>
        </p:txBody>
      </p:sp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Networks are everywhere, but only a specific </a:t>
            </a:r>
            <a:r>
              <a:rPr b="1" lang="en"/>
              <a:t>subset</a:t>
            </a:r>
            <a:r>
              <a:rPr lang="en"/>
              <a:t> of them is actually a social network.</a:t>
            </a:r>
            <a:endParaRPr/>
          </a:p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network is "social" if it involves </a:t>
            </a:r>
            <a:r>
              <a:rPr b="1" lang="en"/>
              <a:t>people</a:t>
            </a:r>
            <a:r>
              <a:rPr lang="en"/>
              <a:t> (or groups) and their thoughts, interactions, and behaviors.</a:t>
            </a:r>
            <a:endParaRPr/>
          </a:p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 when we connect through technology (like texting or flying), it is the human </a:t>
            </a:r>
            <a:r>
              <a:rPr b="1" lang="en"/>
              <a:t>interaction</a:t>
            </a:r>
            <a:r>
              <a:rPr lang="en"/>
              <a:t> that makes it a social network.</a:t>
            </a:r>
            <a:endParaRPr/>
          </a:p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class, we focus on the "purely </a:t>
            </a:r>
            <a:r>
              <a:rPr b="1" lang="en"/>
              <a:t>social</a:t>
            </a:r>
            <a:r>
              <a:rPr lang="en"/>
              <a:t>" elements: relationships, feelings, and how people exchange things.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/>
        </p:nvSpPr>
        <p:spPr>
          <a:xfrm>
            <a:off x="616675" y="1509125"/>
            <a:ext cx="2012100" cy="18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"/>
              <a:buChar char="●"/>
            </a:pP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Some networks are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social</a:t>
            </a: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networks</a:t>
            </a:r>
            <a:endParaRPr b="1"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3810276" y="1247738"/>
            <a:ext cx="1790100" cy="4425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Networks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2466875" y="2673825"/>
            <a:ext cx="13848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Social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142" name="Google Shape;142;p20"/>
          <p:cNvCxnSpPr>
            <a:stCxn id="141" idx="0"/>
            <a:endCxn id="140" idx="2"/>
          </p:cNvCxnSpPr>
          <p:nvPr/>
        </p:nvCxnSpPr>
        <p:spPr>
          <a:xfrm rot="-5400000">
            <a:off x="3440525" y="1408875"/>
            <a:ext cx="983700" cy="1546200"/>
          </a:xfrm>
          <a:prstGeom prst="bentConnector3">
            <a:avLst>
              <a:gd fmla="val 49994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20"/>
          <p:cNvSpPr/>
          <p:nvPr/>
        </p:nvSpPr>
        <p:spPr>
          <a:xfrm>
            <a:off x="151725" y="4101525"/>
            <a:ext cx="11685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Schools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144" name="Google Shape;144;p20"/>
          <p:cNvCxnSpPr>
            <a:stCxn id="141" idx="2"/>
            <a:endCxn id="143" idx="0"/>
          </p:cNvCxnSpPr>
          <p:nvPr/>
        </p:nvCxnSpPr>
        <p:spPr>
          <a:xfrm rot="5400000">
            <a:off x="1454975" y="2397225"/>
            <a:ext cx="985200" cy="24234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20"/>
          <p:cNvSpPr/>
          <p:nvPr/>
        </p:nvSpPr>
        <p:spPr>
          <a:xfrm>
            <a:off x="3018250" y="4606500"/>
            <a:ext cx="15840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Workplaces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839300" y="4606500"/>
            <a:ext cx="20121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Instagram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147" name="Google Shape;147;p20"/>
          <p:cNvCxnSpPr>
            <a:stCxn id="141" idx="2"/>
            <a:endCxn id="146" idx="0"/>
          </p:cNvCxnSpPr>
          <p:nvPr/>
        </p:nvCxnSpPr>
        <p:spPr>
          <a:xfrm rot="5400000">
            <a:off x="1757225" y="3204375"/>
            <a:ext cx="1490100" cy="1314000"/>
          </a:xfrm>
          <a:prstGeom prst="bentConnector3">
            <a:avLst>
              <a:gd fmla="val 50003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20"/>
          <p:cNvCxnSpPr>
            <a:stCxn id="141" idx="2"/>
            <a:endCxn id="145" idx="0"/>
          </p:cNvCxnSpPr>
          <p:nvPr/>
        </p:nvCxnSpPr>
        <p:spPr>
          <a:xfrm flipH="1" rot="-5400000">
            <a:off x="2739725" y="3535875"/>
            <a:ext cx="1490100" cy="651000"/>
          </a:xfrm>
          <a:prstGeom prst="bentConnector3">
            <a:avLst>
              <a:gd fmla="val 50003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20"/>
          <p:cNvSpPr/>
          <p:nvPr/>
        </p:nvSpPr>
        <p:spPr>
          <a:xfrm>
            <a:off x="5289125" y="4606500"/>
            <a:ext cx="15840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WWW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4399950" y="4099975"/>
            <a:ext cx="15840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Airports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151" name="Google Shape;151;p20"/>
          <p:cNvCxnSpPr>
            <a:stCxn id="141" idx="2"/>
            <a:endCxn id="150" idx="0"/>
          </p:cNvCxnSpPr>
          <p:nvPr/>
        </p:nvCxnSpPr>
        <p:spPr>
          <a:xfrm flipH="1" rot="-5400000">
            <a:off x="3683825" y="2591775"/>
            <a:ext cx="983700" cy="2032800"/>
          </a:xfrm>
          <a:prstGeom prst="bentConnector3">
            <a:avLst>
              <a:gd fmla="val 49997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20"/>
          <p:cNvCxnSpPr>
            <a:stCxn id="141" idx="2"/>
            <a:endCxn id="149" idx="0"/>
          </p:cNvCxnSpPr>
          <p:nvPr/>
        </p:nvCxnSpPr>
        <p:spPr>
          <a:xfrm flipH="1" rot="-5400000">
            <a:off x="3875225" y="2400375"/>
            <a:ext cx="1490100" cy="2922000"/>
          </a:xfrm>
          <a:prstGeom prst="bentConnector3">
            <a:avLst>
              <a:gd fmla="val 50003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20"/>
          <p:cNvSpPr txBox="1"/>
          <p:nvPr/>
        </p:nvSpPr>
        <p:spPr>
          <a:xfrm>
            <a:off x="5789000" y="1911800"/>
            <a:ext cx="2617800" cy="1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"/>
              <a:buChar char="●"/>
            </a:pP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Social networks link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people</a:t>
            </a: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endParaRPr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conomica"/>
              <a:buChar char="●"/>
            </a:pP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Via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social</a:t>
            </a: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relations </a:t>
            </a:r>
            <a:endParaRPr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4" name="Google Shape;154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social network?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/>
        </p:nvSpPr>
        <p:spPr>
          <a:xfrm>
            <a:off x="616675" y="1509125"/>
            <a:ext cx="2012100" cy="18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"/>
              <a:buChar char="●"/>
            </a:pP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Some networks are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social</a:t>
            </a: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networks</a:t>
            </a:r>
            <a:endParaRPr b="1"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3810276" y="1247613"/>
            <a:ext cx="1790100" cy="442500"/>
          </a:xfrm>
          <a:prstGeom prst="roundRect">
            <a:avLst>
              <a:gd fmla="val 50000" name="adj"/>
            </a:avLst>
          </a:prstGeom>
          <a:solidFill>
            <a:srgbClr val="094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Networks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2466875" y="2673825"/>
            <a:ext cx="13848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Social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162" name="Google Shape;162;p21"/>
          <p:cNvCxnSpPr>
            <a:stCxn id="161" idx="0"/>
            <a:endCxn id="160" idx="2"/>
          </p:cNvCxnSpPr>
          <p:nvPr/>
        </p:nvCxnSpPr>
        <p:spPr>
          <a:xfrm rot="-5400000">
            <a:off x="3440525" y="1408875"/>
            <a:ext cx="983700" cy="1546200"/>
          </a:xfrm>
          <a:prstGeom prst="bentConnector3">
            <a:avLst>
              <a:gd fmla="val 50001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21"/>
          <p:cNvSpPr/>
          <p:nvPr/>
        </p:nvSpPr>
        <p:spPr>
          <a:xfrm>
            <a:off x="151725" y="4101525"/>
            <a:ext cx="11685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Schools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164" name="Google Shape;164;p21"/>
          <p:cNvCxnSpPr>
            <a:stCxn id="161" idx="2"/>
            <a:endCxn id="163" idx="0"/>
          </p:cNvCxnSpPr>
          <p:nvPr/>
        </p:nvCxnSpPr>
        <p:spPr>
          <a:xfrm rot="5400000">
            <a:off x="1454975" y="2397225"/>
            <a:ext cx="985200" cy="24234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21"/>
          <p:cNvSpPr/>
          <p:nvPr/>
        </p:nvSpPr>
        <p:spPr>
          <a:xfrm>
            <a:off x="3018250" y="4606500"/>
            <a:ext cx="15840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Workplaces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839300" y="4606500"/>
            <a:ext cx="20121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Instagram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167" name="Google Shape;167;p21"/>
          <p:cNvCxnSpPr>
            <a:stCxn id="161" idx="2"/>
            <a:endCxn id="166" idx="0"/>
          </p:cNvCxnSpPr>
          <p:nvPr/>
        </p:nvCxnSpPr>
        <p:spPr>
          <a:xfrm rot="5400000">
            <a:off x="1757225" y="3204375"/>
            <a:ext cx="1490100" cy="1314000"/>
          </a:xfrm>
          <a:prstGeom prst="bentConnector3">
            <a:avLst>
              <a:gd fmla="val 50003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21"/>
          <p:cNvCxnSpPr>
            <a:stCxn id="161" idx="2"/>
            <a:endCxn id="165" idx="0"/>
          </p:cNvCxnSpPr>
          <p:nvPr/>
        </p:nvCxnSpPr>
        <p:spPr>
          <a:xfrm flipH="1" rot="-5400000">
            <a:off x="2739725" y="3535875"/>
            <a:ext cx="1490100" cy="651000"/>
          </a:xfrm>
          <a:prstGeom prst="bentConnector3">
            <a:avLst>
              <a:gd fmla="val 50003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21"/>
          <p:cNvSpPr/>
          <p:nvPr/>
        </p:nvSpPr>
        <p:spPr>
          <a:xfrm>
            <a:off x="5289125" y="4606500"/>
            <a:ext cx="1584000" cy="442500"/>
          </a:xfrm>
          <a:prstGeom prst="roundRect">
            <a:avLst>
              <a:gd fmla="val 50000" name="adj"/>
            </a:avLst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WWW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4399950" y="4099975"/>
            <a:ext cx="1584000" cy="442500"/>
          </a:xfrm>
          <a:prstGeom prst="roundRect">
            <a:avLst>
              <a:gd fmla="val 50000" name="adj"/>
            </a:avLst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Airports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171" name="Google Shape;171;p21"/>
          <p:cNvCxnSpPr>
            <a:stCxn id="161" idx="2"/>
            <a:endCxn id="170" idx="0"/>
          </p:cNvCxnSpPr>
          <p:nvPr/>
        </p:nvCxnSpPr>
        <p:spPr>
          <a:xfrm flipH="1" rot="-5400000">
            <a:off x="3683825" y="2591775"/>
            <a:ext cx="983700" cy="2032800"/>
          </a:xfrm>
          <a:prstGeom prst="bentConnector3">
            <a:avLst>
              <a:gd fmla="val 49997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21"/>
          <p:cNvCxnSpPr>
            <a:stCxn id="161" idx="2"/>
            <a:endCxn id="169" idx="0"/>
          </p:cNvCxnSpPr>
          <p:nvPr/>
        </p:nvCxnSpPr>
        <p:spPr>
          <a:xfrm flipH="1" rot="-5400000">
            <a:off x="3875225" y="2400375"/>
            <a:ext cx="1490100" cy="2922000"/>
          </a:xfrm>
          <a:prstGeom prst="bentConnector3">
            <a:avLst>
              <a:gd fmla="val 50003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3" name="Google Shape;17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1150" y="780525"/>
            <a:ext cx="3379499" cy="299174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social network?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/>
          <p:nvPr/>
        </p:nvSpPr>
        <p:spPr>
          <a:xfrm>
            <a:off x="4601226" y="1311875"/>
            <a:ext cx="1790100" cy="4425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Networks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4590425" y="2673950"/>
            <a:ext cx="1811700" cy="442500"/>
          </a:xfrm>
          <a:prstGeom prst="roundRect">
            <a:avLst>
              <a:gd fmla="val 50000" name="adj"/>
            </a:avLst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Technological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181" name="Google Shape;181;p22"/>
          <p:cNvCxnSpPr>
            <a:stCxn id="179" idx="2"/>
            <a:endCxn id="180" idx="0"/>
          </p:cNvCxnSpPr>
          <p:nvPr/>
        </p:nvCxnSpPr>
        <p:spPr>
          <a:xfrm flipH="1" rot="-5400000">
            <a:off x="5036826" y="2213825"/>
            <a:ext cx="919500" cy="600"/>
          </a:xfrm>
          <a:prstGeom prst="bentConnector3">
            <a:avLst>
              <a:gd fmla="val 50004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22"/>
          <p:cNvSpPr/>
          <p:nvPr/>
        </p:nvSpPr>
        <p:spPr>
          <a:xfrm>
            <a:off x="839300" y="4606500"/>
            <a:ext cx="2012100" cy="442500"/>
          </a:xfrm>
          <a:prstGeom prst="roundRect">
            <a:avLst>
              <a:gd fmla="val 50000" name="adj"/>
            </a:avLst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Instagram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5289125" y="4606500"/>
            <a:ext cx="1584000" cy="442500"/>
          </a:xfrm>
          <a:prstGeom prst="roundRect">
            <a:avLst>
              <a:gd fmla="val 50000" name="adj"/>
            </a:avLst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WWW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4399950" y="4099975"/>
            <a:ext cx="1584000" cy="442500"/>
          </a:xfrm>
          <a:prstGeom prst="roundRect">
            <a:avLst>
              <a:gd fmla="val 50000" name="adj"/>
            </a:avLst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Airports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185" name="Google Shape;185;p22"/>
          <p:cNvCxnSpPr>
            <a:stCxn id="180" idx="2"/>
            <a:endCxn id="184" idx="0"/>
          </p:cNvCxnSpPr>
          <p:nvPr/>
        </p:nvCxnSpPr>
        <p:spPr>
          <a:xfrm rot="5400000">
            <a:off x="4852475" y="3456050"/>
            <a:ext cx="983400" cy="304200"/>
          </a:xfrm>
          <a:prstGeom prst="bentConnector3">
            <a:avLst>
              <a:gd fmla="val 50006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22"/>
          <p:cNvCxnSpPr>
            <a:stCxn id="180" idx="2"/>
            <a:endCxn id="183" idx="0"/>
          </p:cNvCxnSpPr>
          <p:nvPr/>
        </p:nvCxnSpPr>
        <p:spPr>
          <a:xfrm flipH="1" rot="-5400000">
            <a:off x="5043725" y="3569000"/>
            <a:ext cx="1490100" cy="5850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22"/>
          <p:cNvCxnSpPr>
            <a:stCxn id="180" idx="2"/>
            <a:endCxn id="182" idx="0"/>
          </p:cNvCxnSpPr>
          <p:nvPr/>
        </p:nvCxnSpPr>
        <p:spPr>
          <a:xfrm rot="5400000">
            <a:off x="2925725" y="2036000"/>
            <a:ext cx="1490100" cy="36510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22"/>
          <p:cNvSpPr txBox="1"/>
          <p:nvPr/>
        </p:nvSpPr>
        <p:spPr>
          <a:xfrm>
            <a:off x="6385475" y="1974375"/>
            <a:ext cx="2617800" cy="1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conomica"/>
              <a:buChar char="●"/>
            </a:pP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Some networks are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both</a:t>
            </a: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social and technological</a:t>
            </a:r>
            <a:endParaRPr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89" name="Google Shape;189;p22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social network?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/>
        </p:nvSpPr>
        <p:spPr>
          <a:xfrm>
            <a:off x="616675" y="1509125"/>
            <a:ext cx="2012100" cy="18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"/>
              <a:buChar char="●"/>
            </a:pP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Some networks are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social</a:t>
            </a: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networks</a:t>
            </a:r>
            <a:endParaRPr b="1"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4601226" y="1311875"/>
            <a:ext cx="1790100" cy="4425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Networks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2466875" y="2673825"/>
            <a:ext cx="13848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Social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197" name="Google Shape;197;p23"/>
          <p:cNvCxnSpPr>
            <a:stCxn id="196" idx="0"/>
            <a:endCxn id="195" idx="2"/>
          </p:cNvCxnSpPr>
          <p:nvPr/>
        </p:nvCxnSpPr>
        <p:spPr>
          <a:xfrm rot="-5400000">
            <a:off x="3868025" y="1045575"/>
            <a:ext cx="919500" cy="2337000"/>
          </a:xfrm>
          <a:prstGeom prst="bentConnector3">
            <a:avLst>
              <a:gd fmla="val 49997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23"/>
          <p:cNvSpPr/>
          <p:nvPr/>
        </p:nvSpPr>
        <p:spPr>
          <a:xfrm>
            <a:off x="151725" y="4101525"/>
            <a:ext cx="11685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Schools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199" name="Google Shape;199;p23"/>
          <p:cNvCxnSpPr>
            <a:stCxn id="196" idx="2"/>
            <a:endCxn id="198" idx="0"/>
          </p:cNvCxnSpPr>
          <p:nvPr/>
        </p:nvCxnSpPr>
        <p:spPr>
          <a:xfrm rot="5400000">
            <a:off x="1454975" y="2397225"/>
            <a:ext cx="985200" cy="24234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23"/>
          <p:cNvSpPr/>
          <p:nvPr/>
        </p:nvSpPr>
        <p:spPr>
          <a:xfrm>
            <a:off x="3018250" y="4606500"/>
            <a:ext cx="15840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Workplaces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201" name="Google Shape;201;p23"/>
          <p:cNvCxnSpPr>
            <a:stCxn id="196" idx="2"/>
            <a:endCxn id="200" idx="0"/>
          </p:cNvCxnSpPr>
          <p:nvPr/>
        </p:nvCxnSpPr>
        <p:spPr>
          <a:xfrm flipH="1" rot="-5400000">
            <a:off x="2739725" y="3535875"/>
            <a:ext cx="1490100" cy="651000"/>
          </a:xfrm>
          <a:prstGeom prst="bentConnector3">
            <a:avLst>
              <a:gd fmla="val 50003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23"/>
          <p:cNvSpPr txBox="1"/>
          <p:nvPr/>
        </p:nvSpPr>
        <p:spPr>
          <a:xfrm>
            <a:off x="5789000" y="1911800"/>
            <a:ext cx="2617800" cy="1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"/>
              <a:buChar char="●"/>
            </a:pP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Some networks are “purely” social</a:t>
            </a:r>
            <a:endParaRPr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3" name="Google Shape;203;p23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social network?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/>
        </p:nvSpPr>
        <p:spPr>
          <a:xfrm>
            <a:off x="616675" y="1509125"/>
            <a:ext cx="2012100" cy="18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"/>
              <a:buChar char="●"/>
            </a:pP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Some networks are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social</a:t>
            </a: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networks</a:t>
            </a:r>
            <a:endParaRPr b="1"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9" name="Google Shape;209;p24"/>
          <p:cNvSpPr/>
          <p:nvPr/>
        </p:nvSpPr>
        <p:spPr>
          <a:xfrm>
            <a:off x="4601226" y="1311875"/>
            <a:ext cx="1790100" cy="4425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Networks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210" name="Google Shape;210;p24"/>
          <p:cNvSpPr/>
          <p:nvPr/>
        </p:nvSpPr>
        <p:spPr>
          <a:xfrm>
            <a:off x="2466875" y="2673825"/>
            <a:ext cx="13848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Social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211" name="Google Shape;211;p24"/>
          <p:cNvCxnSpPr>
            <a:stCxn id="210" idx="0"/>
            <a:endCxn id="209" idx="2"/>
          </p:cNvCxnSpPr>
          <p:nvPr/>
        </p:nvCxnSpPr>
        <p:spPr>
          <a:xfrm rot="-5400000">
            <a:off x="3868025" y="1045575"/>
            <a:ext cx="919500" cy="2337000"/>
          </a:xfrm>
          <a:prstGeom prst="bentConnector3">
            <a:avLst>
              <a:gd fmla="val 49997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24"/>
          <p:cNvSpPr/>
          <p:nvPr/>
        </p:nvSpPr>
        <p:spPr>
          <a:xfrm>
            <a:off x="151725" y="4101525"/>
            <a:ext cx="11685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Schools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213" name="Google Shape;213;p24"/>
          <p:cNvCxnSpPr>
            <a:stCxn id="210" idx="2"/>
            <a:endCxn id="212" idx="0"/>
          </p:cNvCxnSpPr>
          <p:nvPr/>
        </p:nvCxnSpPr>
        <p:spPr>
          <a:xfrm rot="5400000">
            <a:off x="1454975" y="2397225"/>
            <a:ext cx="985200" cy="24234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24"/>
          <p:cNvSpPr/>
          <p:nvPr/>
        </p:nvSpPr>
        <p:spPr>
          <a:xfrm>
            <a:off x="3018250" y="4606500"/>
            <a:ext cx="15840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Workplaces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215" name="Google Shape;215;p24"/>
          <p:cNvCxnSpPr>
            <a:stCxn id="210" idx="2"/>
            <a:endCxn id="214" idx="0"/>
          </p:cNvCxnSpPr>
          <p:nvPr/>
        </p:nvCxnSpPr>
        <p:spPr>
          <a:xfrm flipH="1" rot="-5400000">
            <a:off x="2739725" y="3535875"/>
            <a:ext cx="1490100" cy="651000"/>
          </a:xfrm>
          <a:prstGeom prst="bentConnector3">
            <a:avLst>
              <a:gd fmla="val 50003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24"/>
          <p:cNvSpPr txBox="1"/>
          <p:nvPr/>
        </p:nvSpPr>
        <p:spPr>
          <a:xfrm>
            <a:off x="5073650" y="2380125"/>
            <a:ext cx="3226500" cy="13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"/>
              <a:buChar char="●"/>
            </a:pP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In this quarter we will learn about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social network analysis (SNA)</a:t>
            </a:r>
            <a:endParaRPr b="1"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5073650" y="3642825"/>
            <a:ext cx="3226500" cy="13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"/>
              <a:buChar char="●"/>
            </a:pP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We will look mostly at “pure” social networks</a:t>
            </a:r>
            <a:endParaRPr b="1"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8" name="Google Shape;218;p24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social network?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/>
          <p:nvPr>
            <p:ph idx="1" type="body"/>
          </p:nvPr>
        </p:nvSpPr>
        <p:spPr>
          <a:xfrm>
            <a:off x="311700" y="1225225"/>
            <a:ext cx="3665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Social Network Analysis</a:t>
            </a:r>
            <a:r>
              <a:rPr lang="en"/>
              <a:t> (SNA) is the main way we study these connections.</a:t>
            </a:r>
            <a:endParaRPr/>
          </a:p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grew primarily in the field of </a:t>
            </a:r>
            <a:r>
              <a:rPr b="1" lang="en"/>
              <a:t>sociology</a:t>
            </a:r>
            <a:r>
              <a:rPr lang="en"/>
              <a:t>, starting in the 1970s.</a:t>
            </a:r>
            <a:endParaRPr/>
          </a:p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Today it is a </a:t>
            </a:r>
            <a:r>
              <a:rPr b="1" lang="en"/>
              <a:t>team</a:t>
            </a:r>
            <a:r>
              <a:rPr lang="en"/>
              <a:t> effort across different sciences, drawing on insights from multiple disciplines.</a:t>
            </a:r>
            <a:endParaRPr/>
          </a:p>
        </p:txBody>
      </p:sp>
      <p:sp>
        <p:nvSpPr>
          <p:cNvPr id="224" name="Google Shape;224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Roots of Social Network Analysis (SNA)</a:t>
            </a:r>
            <a:endParaRPr/>
          </a:p>
        </p:txBody>
      </p:sp>
      <p:sp>
        <p:nvSpPr>
          <p:cNvPr id="225" name="Google Shape;225;p25"/>
          <p:cNvSpPr/>
          <p:nvPr/>
        </p:nvSpPr>
        <p:spPr>
          <a:xfrm>
            <a:off x="5832300" y="1311825"/>
            <a:ext cx="3000000" cy="9375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Social Network Analysis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4288600" y="3540900"/>
            <a:ext cx="1384800" cy="442500"/>
          </a:xfrm>
          <a:prstGeom prst="roundRect">
            <a:avLst>
              <a:gd fmla="val 5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Sociology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227" name="Google Shape;227;p25"/>
          <p:cNvCxnSpPr>
            <a:stCxn id="226" idx="0"/>
            <a:endCxn id="225" idx="2"/>
          </p:cNvCxnSpPr>
          <p:nvPr/>
        </p:nvCxnSpPr>
        <p:spPr>
          <a:xfrm rot="-5400000">
            <a:off x="5510950" y="1719450"/>
            <a:ext cx="1291500" cy="2351400"/>
          </a:xfrm>
          <a:prstGeom prst="bentConnector3">
            <a:avLst>
              <a:gd fmla="val 50003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25"/>
          <p:cNvSpPr/>
          <p:nvPr/>
        </p:nvSpPr>
        <p:spPr>
          <a:xfrm>
            <a:off x="2982625" y="4413175"/>
            <a:ext cx="1562700" cy="442500"/>
          </a:xfrm>
          <a:prstGeom prst="roundRect">
            <a:avLst>
              <a:gd fmla="val 50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Psychology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229" name="Google Shape;229;p25"/>
          <p:cNvCxnSpPr>
            <a:stCxn id="225" idx="2"/>
            <a:endCxn id="228" idx="0"/>
          </p:cNvCxnSpPr>
          <p:nvPr/>
        </p:nvCxnSpPr>
        <p:spPr>
          <a:xfrm rot="5400000">
            <a:off x="4466250" y="1547175"/>
            <a:ext cx="2163900" cy="3568200"/>
          </a:xfrm>
          <a:prstGeom prst="bentConnector3">
            <a:avLst>
              <a:gd fmla="val 49999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25"/>
          <p:cNvSpPr/>
          <p:nvPr/>
        </p:nvSpPr>
        <p:spPr>
          <a:xfrm>
            <a:off x="6774550" y="3540900"/>
            <a:ext cx="17769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Anthropology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31" name="Google Shape;231;p25"/>
          <p:cNvSpPr/>
          <p:nvPr/>
        </p:nvSpPr>
        <p:spPr>
          <a:xfrm>
            <a:off x="4807200" y="4408050"/>
            <a:ext cx="2525100" cy="442500"/>
          </a:xfrm>
          <a:prstGeom prst="roundRect">
            <a:avLst>
              <a:gd fmla="val 50000" name="adj"/>
            </a:avLst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Communication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232" name="Google Shape;232;p25"/>
          <p:cNvCxnSpPr>
            <a:stCxn id="225" idx="2"/>
            <a:endCxn id="231" idx="0"/>
          </p:cNvCxnSpPr>
          <p:nvPr/>
        </p:nvCxnSpPr>
        <p:spPr>
          <a:xfrm rot="5400000">
            <a:off x="5621700" y="2697525"/>
            <a:ext cx="2158800" cy="12624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25"/>
          <p:cNvCxnSpPr>
            <a:stCxn id="225" idx="2"/>
            <a:endCxn id="230" idx="0"/>
          </p:cNvCxnSpPr>
          <p:nvPr/>
        </p:nvCxnSpPr>
        <p:spPr>
          <a:xfrm flipH="1" rot="-5400000">
            <a:off x="6851850" y="2729775"/>
            <a:ext cx="1291500" cy="330600"/>
          </a:xfrm>
          <a:prstGeom prst="bentConnector3">
            <a:avLst>
              <a:gd fmla="val 50003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/>
          <p:nvPr/>
        </p:nvSpPr>
        <p:spPr>
          <a:xfrm>
            <a:off x="3072000" y="1311825"/>
            <a:ext cx="3000000" cy="9375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Social Network Analysis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239" name="Google Shape;239;p26"/>
          <p:cNvSpPr/>
          <p:nvPr/>
        </p:nvSpPr>
        <p:spPr>
          <a:xfrm>
            <a:off x="1528300" y="3540900"/>
            <a:ext cx="1384800" cy="442500"/>
          </a:xfrm>
          <a:prstGeom prst="roundRect">
            <a:avLst>
              <a:gd fmla="val 5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Sociology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240" name="Google Shape;240;p26"/>
          <p:cNvCxnSpPr>
            <a:stCxn id="239" idx="0"/>
            <a:endCxn id="238" idx="2"/>
          </p:cNvCxnSpPr>
          <p:nvPr/>
        </p:nvCxnSpPr>
        <p:spPr>
          <a:xfrm rot="-5400000">
            <a:off x="2750650" y="1719450"/>
            <a:ext cx="1291500" cy="2351400"/>
          </a:xfrm>
          <a:prstGeom prst="bentConnector3">
            <a:avLst>
              <a:gd fmla="val 50003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26"/>
          <p:cNvSpPr/>
          <p:nvPr/>
        </p:nvSpPr>
        <p:spPr>
          <a:xfrm>
            <a:off x="222325" y="4413175"/>
            <a:ext cx="1562700" cy="442500"/>
          </a:xfrm>
          <a:prstGeom prst="roundRect">
            <a:avLst>
              <a:gd fmla="val 50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Psychology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242" name="Google Shape;242;p26"/>
          <p:cNvCxnSpPr>
            <a:stCxn id="238" idx="2"/>
            <a:endCxn id="241" idx="0"/>
          </p:cNvCxnSpPr>
          <p:nvPr/>
        </p:nvCxnSpPr>
        <p:spPr>
          <a:xfrm rot="5400000">
            <a:off x="1705950" y="1547175"/>
            <a:ext cx="2163900" cy="3568200"/>
          </a:xfrm>
          <a:prstGeom prst="bentConnector3">
            <a:avLst>
              <a:gd fmla="val 49999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26"/>
          <p:cNvSpPr/>
          <p:nvPr/>
        </p:nvSpPr>
        <p:spPr>
          <a:xfrm>
            <a:off x="4014250" y="3540900"/>
            <a:ext cx="17769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Anthropology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44" name="Google Shape;244;p26"/>
          <p:cNvSpPr/>
          <p:nvPr/>
        </p:nvSpPr>
        <p:spPr>
          <a:xfrm>
            <a:off x="2046900" y="4408050"/>
            <a:ext cx="2525100" cy="442500"/>
          </a:xfrm>
          <a:prstGeom prst="roundRect">
            <a:avLst>
              <a:gd fmla="val 50000" name="adj"/>
            </a:avLst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Communication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245" name="Google Shape;245;p26"/>
          <p:cNvCxnSpPr>
            <a:stCxn id="238" idx="2"/>
            <a:endCxn id="244" idx="0"/>
          </p:cNvCxnSpPr>
          <p:nvPr/>
        </p:nvCxnSpPr>
        <p:spPr>
          <a:xfrm rot="5400000">
            <a:off x="2861400" y="2697525"/>
            <a:ext cx="2158800" cy="12624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26"/>
          <p:cNvCxnSpPr>
            <a:stCxn id="238" idx="2"/>
            <a:endCxn id="243" idx="0"/>
          </p:cNvCxnSpPr>
          <p:nvPr/>
        </p:nvCxnSpPr>
        <p:spPr>
          <a:xfrm flipH="1" rot="-5400000">
            <a:off x="4091550" y="2729775"/>
            <a:ext cx="1291500" cy="330600"/>
          </a:xfrm>
          <a:prstGeom prst="bentConnector3">
            <a:avLst>
              <a:gd fmla="val 50003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26"/>
          <p:cNvSpPr txBox="1"/>
          <p:nvPr/>
        </p:nvSpPr>
        <p:spPr>
          <a:xfrm>
            <a:off x="5594025" y="2401075"/>
            <a:ext cx="3000000" cy="25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conomica"/>
              <a:buChar char="●"/>
            </a:pP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SNA is an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interdisciplinary</a:t>
            </a: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field</a:t>
            </a: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in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social</a:t>
            </a: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science</a:t>
            </a: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in charge of studying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social</a:t>
            </a: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networks</a:t>
            </a:r>
            <a:endParaRPr b="1"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8" name="Google Shape;248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social network analysis?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Big Picture: Network Science</a:t>
            </a:r>
            <a:endParaRPr/>
          </a:p>
        </p:txBody>
      </p:sp>
      <p:sp>
        <p:nvSpPr>
          <p:cNvPr id="254" name="Google Shape;254;p27"/>
          <p:cNvSpPr txBox="1"/>
          <p:nvPr>
            <p:ph idx="1" type="body"/>
          </p:nvPr>
        </p:nvSpPr>
        <p:spPr>
          <a:xfrm>
            <a:off x="311700" y="1225225"/>
            <a:ext cx="3580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SNA is just one branch of a much larger tree called </a:t>
            </a:r>
            <a:r>
              <a:rPr b="1" lang="en"/>
              <a:t>Network Science.</a:t>
            </a:r>
            <a:endParaRPr b="1"/>
          </a:p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Science studies all kinds of networks in the world.</a:t>
            </a:r>
            <a:endParaRPr/>
          </a:p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broader field includes experts from physics, computer science, biology, data science, and math.</a:t>
            </a:r>
            <a:endParaRPr/>
          </a:p>
        </p:txBody>
      </p:sp>
      <p:sp>
        <p:nvSpPr>
          <p:cNvPr id="255" name="Google Shape;255;p27"/>
          <p:cNvSpPr/>
          <p:nvPr/>
        </p:nvSpPr>
        <p:spPr>
          <a:xfrm>
            <a:off x="3778300" y="3997575"/>
            <a:ext cx="2135100" cy="7389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Social Network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Analysis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6255675" y="337075"/>
            <a:ext cx="2337000" cy="789000"/>
          </a:xfrm>
          <a:prstGeom prst="roundRect">
            <a:avLst>
              <a:gd fmla="val 50000" name="adj"/>
            </a:avLst>
          </a:prstGeom>
          <a:solidFill>
            <a:srgbClr val="094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Network Science</a:t>
            </a:r>
            <a:endParaRPr sz="2400">
              <a:solidFill>
                <a:srgbClr val="FFFFFF"/>
              </a:solidFill>
            </a:endParaRPr>
          </a:p>
        </p:txBody>
      </p:sp>
      <p:cxnSp>
        <p:nvCxnSpPr>
          <p:cNvPr id="257" name="Google Shape;257;p27"/>
          <p:cNvCxnSpPr>
            <a:stCxn id="256" idx="2"/>
            <a:endCxn id="255" idx="0"/>
          </p:cNvCxnSpPr>
          <p:nvPr/>
        </p:nvCxnSpPr>
        <p:spPr>
          <a:xfrm rot="5400000">
            <a:off x="4699275" y="1272775"/>
            <a:ext cx="2871600" cy="25782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27"/>
          <p:cNvSpPr/>
          <p:nvPr/>
        </p:nvSpPr>
        <p:spPr>
          <a:xfrm>
            <a:off x="6547350" y="3997575"/>
            <a:ext cx="1860900" cy="738900"/>
          </a:xfrm>
          <a:prstGeom prst="roundRect">
            <a:avLst>
              <a:gd fmla="val 5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Network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Neuroscience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9" name="Google Shape;259;p27"/>
          <p:cNvCxnSpPr>
            <a:stCxn id="256" idx="2"/>
            <a:endCxn id="258" idx="0"/>
          </p:cNvCxnSpPr>
          <p:nvPr/>
        </p:nvCxnSpPr>
        <p:spPr>
          <a:xfrm flipH="1" rot="-5400000">
            <a:off x="6015225" y="2535025"/>
            <a:ext cx="2871600" cy="537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27"/>
          <p:cNvSpPr/>
          <p:nvPr/>
        </p:nvSpPr>
        <p:spPr>
          <a:xfrm>
            <a:off x="6803400" y="2339950"/>
            <a:ext cx="1853700" cy="738900"/>
          </a:xfrm>
          <a:prstGeom prst="roundRect">
            <a:avLst>
              <a:gd fmla="val 50000" name="adj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Psychological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Networks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261" name="Google Shape;261;p27"/>
          <p:cNvCxnSpPr>
            <a:stCxn id="256" idx="2"/>
            <a:endCxn id="262" idx="0"/>
          </p:cNvCxnSpPr>
          <p:nvPr/>
        </p:nvCxnSpPr>
        <p:spPr>
          <a:xfrm rot="5400000">
            <a:off x="5427975" y="1013875"/>
            <a:ext cx="1884000" cy="2108400"/>
          </a:xfrm>
          <a:prstGeom prst="bentConnector3">
            <a:avLst>
              <a:gd fmla="val 49997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27"/>
          <p:cNvSpPr/>
          <p:nvPr/>
        </p:nvSpPr>
        <p:spPr>
          <a:xfrm>
            <a:off x="4534475" y="3009975"/>
            <a:ext cx="1562700" cy="738900"/>
          </a:xfrm>
          <a:prstGeom prst="roundRect">
            <a:avLst>
              <a:gd fmla="val 50000" name="adj"/>
            </a:avLst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Network Biology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263" name="Google Shape;263;p27"/>
          <p:cNvCxnSpPr>
            <a:stCxn id="256" idx="2"/>
            <a:endCxn id="260" idx="0"/>
          </p:cNvCxnSpPr>
          <p:nvPr/>
        </p:nvCxnSpPr>
        <p:spPr>
          <a:xfrm flipH="1" rot="-5400000">
            <a:off x="6970275" y="1579975"/>
            <a:ext cx="1213800" cy="306000"/>
          </a:xfrm>
          <a:prstGeom prst="bentConnector3">
            <a:avLst>
              <a:gd fmla="val 50003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27"/>
          <p:cNvSpPr/>
          <p:nvPr/>
        </p:nvSpPr>
        <p:spPr>
          <a:xfrm>
            <a:off x="3657075" y="1709150"/>
            <a:ext cx="1562700" cy="738900"/>
          </a:xfrm>
          <a:prstGeom prst="roundRect">
            <a:avLst>
              <a:gd fmla="val 50000" name="adj"/>
            </a:avLst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Science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5" name="Google Shape;265;p27"/>
          <p:cNvCxnSpPr>
            <a:stCxn id="256" idx="2"/>
            <a:endCxn id="264" idx="0"/>
          </p:cNvCxnSpPr>
          <p:nvPr/>
        </p:nvCxnSpPr>
        <p:spPr>
          <a:xfrm rot="5400000">
            <a:off x="5639775" y="-75125"/>
            <a:ext cx="583200" cy="2985600"/>
          </a:xfrm>
          <a:prstGeom prst="bentConnector3">
            <a:avLst>
              <a:gd fmla="val 49989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/>
        </p:nvSpPr>
        <p:spPr>
          <a:xfrm>
            <a:off x="1864675" y="3009975"/>
            <a:ext cx="2135100" cy="7389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Social Network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Analysis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8"/>
          <p:cNvSpPr txBox="1"/>
          <p:nvPr/>
        </p:nvSpPr>
        <p:spPr>
          <a:xfrm>
            <a:off x="5994500" y="3411675"/>
            <a:ext cx="3000000" cy="12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conomica"/>
              <a:buChar char="●"/>
            </a:pPr>
            <a:r>
              <a:rPr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SNA is part of the larger interdisciplinary field of </a:t>
            </a: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Network Science</a:t>
            </a:r>
            <a:endParaRPr b="1" sz="24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5033475" y="863700"/>
            <a:ext cx="2337000" cy="789000"/>
          </a:xfrm>
          <a:prstGeom prst="roundRect">
            <a:avLst>
              <a:gd fmla="val 50000" name="adj"/>
            </a:avLst>
          </a:prstGeom>
          <a:solidFill>
            <a:srgbClr val="094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Network Science</a:t>
            </a:r>
            <a:endParaRPr sz="2400">
              <a:solidFill>
                <a:srgbClr val="FFFFFF"/>
              </a:solidFill>
            </a:endParaRPr>
          </a:p>
        </p:txBody>
      </p:sp>
      <p:cxnSp>
        <p:nvCxnSpPr>
          <p:cNvPr id="273" name="Google Shape;273;p28"/>
          <p:cNvCxnSpPr>
            <a:stCxn id="272" idx="2"/>
            <a:endCxn id="270" idx="0"/>
          </p:cNvCxnSpPr>
          <p:nvPr/>
        </p:nvCxnSpPr>
        <p:spPr>
          <a:xfrm rot="5400000">
            <a:off x="3888525" y="696450"/>
            <a:ext cx="1357200" cy="3269700"/>
          </a:xfrm>
          <a:prstGeom prst="bentConnector3">
            <a:avLst>
              <a:gd fmla="val 50003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28"/>
          <p:cNvSpPr/>
          <p:nvPr/>
        </p:nvSpPr>
        <p:spPr>
          <a:xfrm>
            <a:off x="3307025" y="4082550"/>
            <a:ext cx="1860900" cy="738900"/>
          </a:xfrm>
          <a:prstGeom prst="roundRect">
            <a:avLst>
              <a:gd fmla="val 50000" name="adj"/>
            </a:avLst>
          </a:prstGeom>
          <a:solidFill>
            <a:srgbClr val="C2C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Network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Neuroscience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5" name="Google Shape;275;p28"/>
          <p:cNvCxnSpPr>
            <a:stCxn id="272" idx="2"/>
            <a:endCxn id="274" idx="0"/>
          </p:cNvCxnSpPr>
          <p:nvPr/>
        </p:nvCxnSpPr>
        <p:spPr>
          <a:xfrm rot="5400000">
            <a:off x="4004775" y="1885500"/>
            <a:ext cx="2430000" cy="1964400"/>
          </a:xfrm>
          <a:prstGeom prst="bentConnector3">
            <a:avLst>
              <a:gd fmla="val 49997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28"/>
          <p:cNvSpPr/>
          <p:nvPr/>
        </p:nvSpPr>
        <p:spPr>
          <a:xfrm>
            <a:off x="6803400" y="2339950"/>
            <a:ext cx="1853700" cy="738900"/>
          </a:xfrm>
          <a:prstGeom prst="roundRect">
            <a:avLst>
              <a:gd fmla="val 50000" name="adj"/>
            </a:avLst>
          </a:prstGeom>
          <a:solidFill>
            <a:srgbClr val="C2C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Psychological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Networks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277" name="Google Shape;277;p28"/>
          <p:cNvCxnSpPr>
            <a:stCxn id="272" idx="2"/>
            <a:endCxn id="278" idx="0"/>
          </p:cNvCxnSpPr>
          <p:nvPr/>
        </p:nvCxnSpPr>
        <p:spPr>
          <a:xfrm rot="5400000">
            <a:off x="5080275" y="1888200"/>
            <a:ext cx="1357200" cy="886200"/>
          </a:xfrm>
          <a:prstGeom prst="bentConnector3">
            <a:avLst>
              <a:gd fmla="val 50003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28"/>
          <p:cNvSpPr/>
          <p:nvPr/>
        </p:nvSpPr>
        <p:spPr>
          <a:xfrm>
            <a:off x="4534475" y="3009975"/>
            <a:ext cx="1562700" cy="738900"/>
          </a:xfrm>
          <a:prstGeom prst="roundRect">
            <a:avLst>
              <a:gd fmla="val 50000" name="adj"/>
            </a:avLst>
          </a:prstGeom>
          <a:solidFill>
            <a:srgbClr val="C2C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Network Biology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279" name="Google Shape;279;p28"/>
          <p:cNvCxnSpPr>
            <a:stCxn id="272" idx="2"/>
            <a:endCxn id="276" idx="0"/>
          </p:cNvCxnSpPr>
          <p:nvPr/>
        </p:nvCxnSpPr>
        <p:spPr>
          <a:xfrm flipH="1" rot="-5400000">
            <a:off x="6622425" y="1232250"/>
            <a:ext cx="687300" cy="1528200"/>
          </a:xfrm>
          <a:prstGeom prst="bentConnector3">
            <a:avLst>
              <a:gd fmla="val 49996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28"/>
          <p:cNvSpPr/>
          <p:nvPr/>
        </p:nvSpPr>
        <p:spPr>
          <a:xfrm>
            <a:off x="592575" y="4082550"/>
            <a:ext cx="1562700" cy="738900"/>
          </a:xfrm>
          <a:prstGeom prst="roundRect">
            <a:avLst>
              <a:gd fmla="val 50000" name="adj"/>
            </a:avLst>
          </a:prstGeom>
          <a:solidFill>
            <a:srgbClr val="C2C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Science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1" name="Google Shape;281;p28"/>
          <p:cNvCxnSpPr>
            <a:stCxn id="272" idx="2"/>
            <a:endCxn id="280" idx="0"/>
          </p:cNvCxnSpPr>
          <p:nvPr/>
        </p:nvCxnSpPr>
        <p:spPr>
          <a:xfrm rot="5400000">
            <a:off x="2573025" y="453750"/>
            <a:ext cx="2430000" cy="4827900"/>
          </a:xfrm>
          <a:prstGeom prst="bentConnector3">
            <a:avLst>
              <a:gd fmla="val 49997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network science?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●"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Networks</a:t>
            </a: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: Systems of entities linked by relations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Different kinds: Social, biological, technological, etc.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●"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Social Networks: </a:t>
            </a: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Systems of interactive people (or groups of people) linked by social relations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●"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Network Science: </a:t>
            </a: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Interdisciplinary field in charge of studying all types of networks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Biology, mathematics, computer science, physics, etc. 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●"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Social Network Analysis: </a:t>
            </a: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Interdisciplinary field in charge of studying social networks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Sociology, psychology, anthropology, communication</a:t>
            </a:r>
            <a:endParaRPr/>
          </a:p>
        </p:txBody>
      </p:sp>
      <p:sp>
        <p:nvSpPr>
          <p:cNvPr id="288" name="Google Shape;288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</a:t>
            </a:r>
            <a:endParaRPr/>
          </a:p>
        </p:txBody>
      </p:sp>
      <p:sp>
        <p:nvSpPr>
          <p:cNvPr id="294" name="Google Shape;294;p3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●"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Networks</a:t>
            </a: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: Systems of entities linked by relations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Different kinds: Social, biological, technological, etc.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●"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Social Networks: </a:t>
            </a: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Systems of interactive people (or groups of people) linked by social relations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●"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Network Science: </a:t>
            </a: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Interdisciplinary field in charge of studying all types of networks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Biology, mathematics, computer science, physics, etc. 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●"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Social Network Analysis: </a:t>
            </a: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Interdisciplinary field in charge of studying social networks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○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Sociology, psychology, anthropology, communication</a:t>
            </a:r>
            <a:endParaRPr/>
          </a:p>
        </p:txBody>
      </p:sp>
      <p:sp>
        <p:nvSpPr>
          <p:cNvPr id="295" name="Google Shape;295;p30"/>
          <p:cNvSpPr/>
          <p:nvPr/>
        </p:nvSpPr>
        <p:spPr>
          <a:xfrm>
            <a:off x="159600" y="1918063"/>
            <a:ext cx="3116100" cy="6633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0"/>
          <p:cNvSpPr/>
          <p:nvPr/>
        </p:nvSpPr>
        <p:spPr>
          <a:xfrm>
            <a:off x="59600" y="3352200"/>
            <a:ext cx="3404100" cy="6633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7" name="Google Shape;297;p30"/>
          <p:cNvCxnSpPr>
            <a:stCxn id="298" idx="1"/>
            <a:endCxn id="295" idx="6"/>
          </p:cNvCxnSpPr>
          <p:nvPr/>
        </p:nvCxnSpPr>
        <p:spPr>
          <a:xfrm flipH="1">
            <a:off x="3275800" y="1129250"/>
            <a:ext cx="3616800" cy="1120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" name="Google Shape;299;p30"/>
          <p:cNvCxnSpPr>
            <a:stCxn id="298" idx="1"/>
            <a:endCxn id="296" idx="6"/>
          </p:cNvCxnSpPr>
          <p:nvPr/>
        </p:nvCxnSpPr>
        <p:spPr>
          <a:xfrm flipH="1">
            <a:off x="3463600" y="1129250"/>
            <a:ext cx="3429000" cy="2554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8" name="Google Shape;298;p30"/>
          <p:cNvSpPr txBox="1"/>
          <p:nvPr/>
        </p:nvSpPr>
        <p:spPr>
          <a:xfrm>
            <a:off x="6892600" y="403400"/>
            <a:ext cx="1677000" cy="1451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This course is about these two things!</a:t>
            </a:r>
            <a:endParaRPr b="1" sz="24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two faces of Social Network Analysis</a:t>
            </a:r>
            <a:endParaRPr/>
          </a:p>
        </p:txBody>
      </p:sp>
      <p:sp>
        <p:nvSpPr>
          <p:cNvPr id="305" name="Google Shape;305;p31"/>
          <p:cNvSpPr txBox="1"/>
          <p:nvPr>
            <p:ph idx="1" type="body"/>
          </p:nvPr>
        </p:nvSpPr>
        <p:spPr>
          <a:xfrm>
            <a:off x="311700" y="1225225"/>
            <a:ext cx="5909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SNA has two main faces; the first is </a:t>
            </a:r>
            <a:r>
              <a:rPr b="1" lang="en"/>
              <a:t>Network</a:t>
            </a:r>
            <a:r>
              <a:rPr lang="en"/>
              <a:t> </a:t>
            </a:r>
            <a:r>
              <a:rPr b="1" lang="en"/>
              <a:t>Theory</a:t>
            </a:r>
            <a:r>
              <a:rPr lang="en"/>
              <a:t>.</a:t>
            </a:r>
            <a:endParaRPr/>
          </a:p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Theory explains how networks work and what they do to the people inside them.</a:t>
            </a:r>
            <a:endParaRPr/>
          </a:p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tries to answer big questions: Why do people connect? How do they behave? What are the consequences?.</a:t>
            </a:r>
            <a:endParaRPr/>
          </a:p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great example is "</a:t>
            </a:r>
            <a:r>
              <a:rPr b="1" lang="en"/>
              <a:t>social</a:t>
            </a:r>
            <a:r>
              <a:rPr lang="en"/>
              <a:t> </a:t>
            </a:r>
            <a:r>
              <a:rPr b="1" lang="en"/>
              <a:t>capital</a:t>
            </a:r>
            <a:r>
              <a:rPr lang="en"/>
              <a:t>"—the idea that who you know brings you real-world benefits.</a:t>
            </a:r>
            <a:endParaRPr/>
          </a:p>
        </p:txBody>
      </p:sp>
      <p:pic>
        <p:nvPicPr>
          <p:cNvPr descr="Human Resources and People Networking Concept (Provided by Getty Images)" id="306" name="Google Shape;3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0800" y="1147226"/>
            <a:ext cx="2618399" cy="1746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iends hanging out together on the sandy beach (Provided by Getty Images)" id="307" name="Google Shape;30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0800" y="2970803"/>
            <a:ext cx="2618399" cy="1747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two faces of Social Network Analysis</a:t>
            </a:r>
            <a:endParaRPr/>
          </a:p>
        </p:txBody>
      </p:sp>
      <p:sp>
        <p:nvSpPr>
          <p:cNvPr id="313" name="Google Shape;313;p32"/>
          <p:cNvSpPr txBox="1"/>
          <p:nvPr>
            <p:ph idx="1" type="body"/>
          </p:nvPr>
        </p:nvSpPr>
        <p:spPr>
          <a:xfrm>
            <a:off x="311700" y="1225225"/>
            <a:ext cx="5909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second side of SNA is </a:t>
            </a:r>
            <a:r>
              <a:rPr b="1" lang="en"/>
              <a:t>Network</a:t>
            </a:r>
            <a:r>
              <a:rPr lang="en"/>
              <a:t> </a:t>
            </a:r>
            <a:r>
              <a:rPr b="1" lang="en"/>
              <a:t>Measurement</a:t>
            </a:r>
            <a:r>
              <a:rPr lang="en"/>
              <a:t>.</a:t>
            </a:r>
            <a:endParaRPr/>
          </a:p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where we use </a:t>
            </a:r>
            <a:r>
              <a:rPr b="1" lang="en"/>
              <a:t>math</a:t>
            </a:r>
            <a:r>
              <a:rPr lang="en"/>
              <a:t> and numbers to measure network properties.</a:t>
            </a:r>
            <a:endParaRPr/>
          </a:p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Math helps us take "fuzzy" social concepts—like "popularity" or "social position"—and turn them into precise, measurable quantities.</a:t>
            </a:r>
            <a:endParaRPr/>
          </a:p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numbers allow us to </a:t>
            </a:r>
            <a:r>
              <a:rPr b="1" lang="en"/>
              <a:t>predict</a:t>
            </a:r>
            <a:r>
              <a:rPr lang="en"/>
              <a:t> why some people, companies, or countries succeed while others do not.</a:t>
            </a:r>
            <a:endParaRPr/>
          </a:p>
        </p:txBody>
      </p:sp>
      <p:pic>
        <p:nvPicPr>
          <p:cNvPr descr="Math educational vector seamless pattern with handwritten geometry figures (Provided by Getty Images)" id="314" name="Google Shape;31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3200" y="1299625"/>
            <a:ext cx="2618399" cy="17451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ube network thin line icon. Blockchain vector illustration isolated on white. Cube structure outline style design, designed for web and app. Eps 10. (Provided by Getty Images)" id="315" name="Google Shape;31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5450" y="3121923"/>
            <a:ext cx="1793905" cy="1793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3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two faces of social network analysis</a:t>
            </a:r>
            <a:endParaRPr sz="3000"/>
          </a:p>
        </p:txBody>
      </p:sp>
      <p:cxnSp>
        <p:nvCxnSpPr>
          <p:cNvPr id="321" name="Google Shape;321;p33"/>
          <p:cNvCxnSpPr>
            <a:stCxn id="322" idx="2"/>
            <a:endCxn id="323" idx="0"/>
          </p:cNvCxnSpPr>
          <p:nvPr/>
        </p:nvCxnSpPr>
        <p:spPr>
          <a:xfrm flipH="1" rot="-5400000">
            <a:off x="4338750" y="736850"/>
            <a:ext cx="574500" cy="16971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551561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24" name="Google Shape;324;p33"/>
          <p:cNvCxnSpPr>
            <a:stCxn id="325" idx="2"/>
            <a:endCxn id="326" idx="0"/>
          </p:cNvCxnSpPr>
          <p:nvPr/>
        </p:nvCxnSpPr>
        <p:spPr>
          <a:xfrm flipH="1" rot="-5400000">
            <a:off x="1884300" y="2506513"/>
            <a:ext cx="944400" cy="8454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rgbClr val="701C7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27" name="Google Shape;327;p33"/>
          <p:cNvCxnSpPr>
            <a:stCxn id="328" idx="0"/>
            <a:endCxn id="325" idx="2"/>
          </p:cNvCxnSpPr>
          <p:nvPr/>
        </p:nvCxnSpPr>
        <p:spPr>
          <a:xfrm rot="-5400000">
            <a:off x="1039050" y="2506363"/>
            <a:ext cx="944400" cy="8454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rgbClr val="701C7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29" name="Google Shape;329;p33"/>
          <p:cNvCxnSpPr>
            <a:stCxn id="323" idx="2"/>
            <a:endCxn id="330" idx="0"/>
          </p:cNvCxnSpPr>
          <p:nvPr/>
        </p:nvCxnSpPr>
        <p:spPr>
          <a:xfrm flipH="1" rot="-5400000">
            <a:off x="5424900" y="2506513"/>
            <a:ext cx="944400" cy="8454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rgbClr val="701C7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31" name="Google Shape;331;p33"/>
          <p:cNvCxnSpPr>
            <a:stCxn id="332" idx="0"/>
            <a:endCxn id="323" idx="2"/>
          </p:cNvCxnSpPr>
          <p:nvPr/>
        </p:nvCxnSpPr>
        <p:spPr>
          <a:xfrm rot="-5400000">
            <a:off x="4579650" y="2506363"/>
            <a:ext cx="944400" cy="8454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rgbClr val="701C7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33" name="Google Shape;333;p33"/>
          <p:cNvCxnSpPr>
            <a:stCxn id="325" idx="0"/>
            <a:endCxn id="322" idx="2"/>
          </p:cNvCxnSpPr>
          <p:nvPr/>
        </p:nvCxnSpPr>
        <p:spPr>
          <a:xfrm rot="-5400000">
            <a:off x="2568450" y="663463"/>
            <a:ext cx="574500" cy="18438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551561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322" name="Google Shape;322;p33"/>
          <p:cNvSpPr txBox="1"/>
          <p:nvPr/>
        </p:nvSpPr>
        <p:spPr>
          <a:xfrm>
            <a:off x="2499750" y="398150"/>
            <a:ext cx="25554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Social Network Analysis</a:t>
            </a:r>
            <a:endParaRPr sz="18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(SNA)</a:t>
            </a:r>
            <a:endParaRPr sz="18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33"/>
          <p:cNvSpPr txBox="1"/>
          <p:nvPr/>
        </p:nvSpPr>
        <p:spPr>
          <a:xfrm>
            <a:off x="1164750" y="187261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Social Network Theory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33"/>
          <p:cNvSpPr txBox="1"/>
          <p:nvPr/>
        </p:nvSpPr>
        <p:spPr>
          <a:xfrm>
            <a:off x="4705350" y="187261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Social Network Measurement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33"/>
          <p:cNvSpPr txBox="1"/>
          <p:nvPr/>
        </p:nvSpPr>
        <p:spPr>
          <a:xfrm>
            <a:off x="5550600" y="340126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Network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Density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33"/>
          <p:cNvSpPr txBox="1"/>
          <p:nvPr/>
        </p:nvSpPr>
        <p:spPr>
          <a:xfrm>
            <a:off x="3860100" y="340126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Degree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Centrality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33"/>
          <p:cNvSpPr txBox="1"/>
          <p:nvPr/>
        </p:nvSpPr>
        <p:spPr>
          <a:xfrm>
            <a:off x="2010000" y="340126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Strength of Weak Ties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319500" y="340126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Structural 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Holes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33"/>
          <p:cNvSpPr txBox="1"/>
          <p:nvPr/>
        </p:nvSpPr>
        <p:spPr>
          <a:xfrm>
            <a:off x="6319800" y="694625"/>
            <a:ext cx="2540700" cy="20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Social network theories</a:t>
            </a: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 are general statements about how people behave in networks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9" name="Google Shape;339;p34"/>
          <p:cNvCxnSpPr>
            <a:stCxn id="340" idx="2"/>
            <a:endCxn id="341" idx="0"/>
          </p:cNvCxnSpPr>
          <p:nvPr/>
        </p:nvCxnSpPr>
        <p:spPr>
          <a:xfrm flipH="1" rot="-5400000">
            <a:off x="4338750" y="736850"/>
            <a:ext cx="574500" cy="16971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551561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42" name="Google Shape;342;p34"/>
          <p:cNvCxnSpPr>
            <a:stCxn id="343" idx="2"/>
            <a:endCxn id="344" idx="0"/>
          </p:cNvCxnSpPr>
          <p:nvPr/>
        </p:nvCxnSpPr>
        <p:spPr>
          <a:xfrm flipH="1" rot="-5400000">
            <a:off x="1884300" y="2506513"/>
            <a:ext cx="944400" cy="8454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rgbClr val="701C7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45" name="Google Shape;345;p34"/>
          <p:cNvCxnSpPr>
            <a:stCxn id="346" idx="0"/>
            <a:endCxn id="343" idx="2"/>
          </p:cNvCxnSpPr>
          <p:nvPr/>
        </p:nvCxnSpPr>
        <p:spPr>
          <a:xfrm rot="-5400000">
            <a:off x="1039050" y="2506363"/>
            <a:ext cx="944400" cy="8454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rgbClr val="701C7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47" name="Google Shape;347;p34"/>
          <p:cNvCxnSpPr>
            <a:stCxn id="341" idx="2"/>
            <a:endCxn id="348" idx="0"/>
          </p:cNvCxnSpPr>
          <p:nvPr/>
        </p:nvCxnSpPr>
        <p:spPr>
          <a:xfrm flipH="1" rot="-5400000">
            <a:off x="5424900" y="2506513"/>
            <a:ext cx="944400" cy="8454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rgbClr val="701C7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49" name="Google Shape;349;p34"/>
          <p:cNvCxnSpPr>
            <a:stCxn id="350" idx="0"/>
            <a:endCxn id="341" idx="2"/>
          </p:cNvCxnSpPr>
          <p:nvPr/>
        </p:nvCxnSpPr>
        <p:spPr>
          <a:xfrm rot="-5400000">
            <a:off x="4579650" y="2506363"/>
            <a:ext cx="944400" cy="8454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rgbClr val="701C7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51" name="Google Shape;351;p34"/>
          <p:cNvCxnSpPr>
            <a:stCxn id="343" idx="0"/>
            <a:endCxn id="340" idx="2"/>
          </p:cNvCxnSpPr>
          <p:nvPr/>
        </p:nvCxnSpPr>
        <p:spPr>
          <a:xfrm rot="-5400000">
            <a:off x="2568450" y="663463"/>
            <a:ext cx="574500" cy="18438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551561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340" name="Google Shape;340;p34"/>
          <p:cNvSpPr txBox="1"/>
          <p:nvPr/>
        </p:nvSpPr>
        <p:spPr>
          <a:xfrm>
            <a:off x="2499750" y="398150"/>
            <a:ext cx="25554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Social Network Analysis</a:t>
            </a:r>
            <a:endParaRPr sz="18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(SNA)</a:t>
            </a:r>
            <a:endParaRPr sz="18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34"/>
          <p:cNvSpPr txBox="1"/>
          <p:nvPr/>
        </p:nvSpPr>
        <p:spPr>
          <a:xfrm>
            <a:off x="1164750" y="187261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Social Network Theory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4705350" y="187261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Social Network Measurement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34"/>
          <p:cNvSpPr txBox="1"/>
          <p:nvPr/>
        </p:nvSpPr>
        <p:spPr>
          <a:xfrm>
            <a:off x="5550600" y="340126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Network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Density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34"/>
          <p:cNvSpPr txBox="1"/>
          <p:nvPr/>
        </p:nvSpPr>
        <p:spPr>
          <a:xfrm>
            <a:off x="3860100" y="340126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Degree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Centrality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34"/>
          <p:cNvSpPr txBox="1"/>
          <p:nvPr/>
        </p:nvSpPr>
        <p:spPr>
          <a:xfrm>
            <a:off x="2010000" y="340126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Strength of Weak Ties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34"/>
          <p:cNvSpPr txBox="1"/>
          <p:nvPr/>
        </p:nvSpPr>
        <p:spPr>
          <a:xfrm>
            <a:off x="319500" y="340126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Structural 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Holes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34"/>
          <p:cNvSpPr txBox="1"/>
          <p:nvPr/>
        </p:nvSpPr>
        <p:spPr>
          <a:xfrm>
            <a:off x="6305025" y="694625"/>
            <a:ext cx="2555400" cy="29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Social network measurement</a:t>
            </a: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 helps make natural language concepts (e.g., “popularity”) more precise 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53" name="Google Shape;353;p34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two faces of social network analysis</a:t>
            </a:r>
            <a:endParaRPr sz="3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8" name="Google Shape;358;p35"/>
          <p:cNvCxnSpPr>
            <a:stCxn id="359" idx="2"/>
            <a:endCxn id="360" idx="0"/>
          </p:cNvCxnSpPr>
          <p:nvPr/>
        </p:nvCxnSpPr>
        <p:spPr>
          <a:xfrm flipH="1" rot="-5400000">
            <a:off x="4338750" y="736850"/>
            <a:ext cx="574500" cy="16971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551561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61" name="Google Shape;361;p35"/>
          <p:cNvCxnSpPr>
            <a:stCxn id="362" idx="2"/>
            <a:endCxn id="363" idx="0"/>
          </p:cNvCxnSpPr>
          <p:nvPr/>
        </p:nvCxnSpPr>
        <p:spPr>
          <a:xfrm flipH="1" rot="-5400000">
            <a:off x="1884300" y="2506513"/>
            <a:ext cx="944400" cy="8454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rgbClr val="701C7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64" name="Google Shape;364;p35"/>
          <p:cNvCxnSpPr>
            <a:stCxn id="365" idx="0"/>
            <a:endCxn id="362" idx="2"/>
          </p:cNvCxnSpPr>
          <p:nvPr/>
        </p:nvCxnSpPr>
        <p:spPr>
          <a:xfrm rot="-5400000">
            <a:off x="1039050" y="2506363"/>
            <a:ext cx="944400" cy="8454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rgbClr val="701C7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66" name="Google Shape;366;p35"/>
          <p:cNvCxnSpPr>
            <a:stCxn id="360" idx="2"/>
            <a:endCxn id="367" idx="0"/>
          </p:cNvCxnSpPr>
          <p:nvPr/>
        </p:nvCxnSpPr>
        <p:spPr>
          <a:xfrm flipH="1" rot="-5400000">
            <a:off x="5424900" y="2506513"/>
            <a:ext cx="944400" cy="8454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rgbClr val="701C7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68" name="Google Shape;368;p35"/>
          <p:cNvCxnSpPr>
            <a:stCxn id="369" idx="0"/>
            <a:endCxn id="360" idx="2"/>
          </p:cNvCxnSpPr>
          <p:nvPr/>
        </p:nvCxnSpPr>
        <p:spPr>
          <a:xfrm rot="-5400000">
            <a:off x="4579650" y="2506363"/>
            <a:ext cx="944400" cy="8454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rgbClr val="701C7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70" name="Google Shape;370;p35"/>
          <p:cNvCxnSpPr>
            <a:stCxn id="362" idx="0"/>
            <a:endCxn id="359" idx="2"/>
          </p:cNvCxnSpPr>
          <p:nvPr/>
        </p:nvCxnSpPr>
        <p:spPr>
          <a:xfrm rot="-5400000">
            <a:off x="2568450" y="663463"/>
            <a:ext cx="574500" cy="18438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551561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359" name="Google Shape;359;p35"/>
          <p:cNvSpPr txBox="1"/>
          <p:nvPr/>
        </p:nvSpPr>
        <p:spPr>
          <a:xfrm>
            <a:off x="2499750" y="398150"/>
            <a:ext cx="25554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Social Network Analysis</a:t>
            </a:r>
            <a:endParaRPr sz="18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(SNA)</a:t>
            </a:r>
            <a:endParaRPr sz="18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1164750" y="187261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Social Network Theory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35"/>
          <p:cNvSpPr txBox="1"/>
          <p:nvPr/>
        </p:nvSpPr>
        <p:spPr>
          <a:xfrm>
            <a:off x="4705350" y="187261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Social Network Measurement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35"/>
          <p:cNvSpPr txBox="1"/>
          <p:nvPr/>
        </p:nvSpPr>
        <p:spPr>
          <a:xfrm>
            <a:off x="5550600" y="340126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Network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Density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35"/>
          <p:cNvSpPr txBox="1"/>
          <p:nvPr/>
        </p:nvSpPr>
        <p:spPr>
          <a:xfrm>
            <a:off x="3860100" y="340126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Degree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Centrality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35"/>
          <p:cNvSpPr txBox="1"/>
          <p:nvPr/>
        </p:nvSpPr>
        <p:spPr>
          <a:xfrm>
            <a:off x="2010000" y="340126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Strength of Weak Ties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35"/>
          <p:cNvSpPr txBox="1"/>
          <p:nvPr/>
        </p:nvSpPr>
        <p:spPr>
          <a:xfrm>
            <a:off x="319500" y="340126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Structural 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Holes</a:t>
            </a:r>
            <a:endParaRPr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35"/>
          <p:cNvSpPr txBox="1"/>
          <p:nvPr/>
        </p:nvSpPr>
        <p:spPr>
          <a:xfrm>
            <a:off x="6305025" y="694625"/>
            <a:ext cx="2555400" cy="29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Social network measurement</a:t>
            </a: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 helps make natural language concepts (e.g., “popularity”) more precise 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2" name="Google Shape;372;p35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two faces of social network analysis</a:t>
            </a:r>
            <a:endParaRPr sz="3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6"/>
          <p:cNvSpPr txBox="1"/>
          <p:nvPr>
            <p:ph idx="1" type="body"/>
          </p:nvPr>
        </p:nvSpPr>
        <p:spPr>
          <a:xfrm>
            <a:off x="319500" y="4218925"/>
            <a:ext cx="63471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Two mathematical representations of networks</a:t>
            </a:r>
            <a:endParaRPr sz="3000"/>
          </a:p>
        </p:txBody>
      </p:sp>
      <p:pic>
        <p:nvPicPr>
          <p:cNvPr descr="figure1-300x297.png" id="378" name="Google Shape;37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4350" y="248575"/>
            <a:ext cx="2048182" cy="202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ach element of a matrix is ..." id="379" name="Google Shape;37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4338" y="2376050"/>
            <a:ext cx="2338775" cy="1893251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6"/>
          <p:cNvSpPr txBox="1"/>
          <p:nvPr/>
        </p:nvSpPr>
        <p:spPr>
          <a:xfrm>
            <a:off x="410050" y="1401600"/>
            <a:ext cx="3303900" cy="23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●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Social Networks can be mathematically represented in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two ways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Char char="●"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We will learn how to go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back and forth</a:t>
            </a: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 between the two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81" name="Google Shape;381;p36"/>
          <p:cNvCxnSpPr>
            <a:stCxn id="380" idx="3"/>
            <a:endCxn id="378" idx="1"/>
          </p:cNvCxnSpPr>
          <p:nvPr/>
        </p:nvCxnSpPr>
        <p:spPr>
          <a:xfrm flipH="1" rot="10800000">
            <a:off x="3713950" y="1262550"/>
            <a:ext cx="2330400" cy="1309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2" name="Google Shape;382;p36"/>
          <p:cNvCxnSpPr>
            <a:stCxn id="380" idx="3"/>
            <a:endCxn id="379" idx="1"/>
          </p:cNvCxnSpPr>
          <p:nvPr/>
        </p:nvCxnSpPr>
        <p:spPr>
          <a:xfrm>
            <a:off x="3713950" y="2571750"/>
            <a:ext cx="2330400" cy="75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3" name="Google Shape;383;p36"/>
          <p:cNvSpPr txBox="1"/>
          <p:nvPr/>
        </p:nvSpPr>
        <p:spPr>
          <a:xfrm>
            <a:off x="4655350" y="3471375"/>
            <a:ext cx="13890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A “Matrix”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84" name="Google Shape;384;p36"/>
          <p:cNvSpPr txBox="1"/>
          <p:nvPr/>
        </p:nvSpPr>
        <p:spPr>
          <a:xfrm>
            <a:off x="4655350" y="400950"/>
            <a:ext cx="13890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A “Graph”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oogle Shape;389;p37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390" name="Google Shape;390;p37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1" name="Google Shape;391;p37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7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93" name="Google Shape;393;p37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4" name="Google Shape;394;p37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395" name="Google Shape;395;p37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6" name="Google Shape;396;p37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7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98" name="Google Shape;398;p37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9" name="Google Shape;399;p37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400" name="Google Shape;400;p37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01" name="Google Shape;401;p37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7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403" name="Google Shape;403;p37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04" name="Google Shape;404;p37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405" name="Google Shape;405;p37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06" name="Google Shape;406;p37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7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408" name="Google Shape;408;p37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09" name="Google Shape;409;p37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410" name="Google Shape;410;p37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11" name="Google Shape;411;p37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7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413" name="Google Shape;413;p37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14" name="Google Shape;414;p37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415" name="Google Shape;415;p37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416" name="Google Shape;416;p37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417" name="Google Shape;417;p37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418" name="Google Shape;418;p37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419" name="Google Shape;419;p37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420" name="Google Shape;420;p37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421" name="Google Shape;421;p37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422" name="Google Shape;422;p37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423" name="Google Shape;423;p37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424" name="Google Shape;424;p37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425" name="Google Shape;425;p37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426" name="Google Shape;426;p37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427" name="Google Shape;427;p37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428" name="Google Shape;428;p37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429" name="Google Shape;429;p37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430" name="Google Shape;430;p37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431" name="Google Shape;431;p37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sp>
        <p:nvSpPr>
          <p:cNvPr id="432" name="Google Shape;432;p37"/>
          <p:cNvSpPr txBox="1"/>
          <p:nvPr/>
        </p:nvSpPr>
        <p:spPr>
          <a:xfrm>
            <a:off x="78425" y="3815350"/>
            <a:ext cx="24333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We will be working through all these levels in the course!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33" name="Google Shape;433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  <p:sp>
        <p:nvSpPr>
          <p:cNvPr id="434" name="Google Shape;434;p37"/>
          <p:cNvSpPr txBox="1"/>
          <p:nvPr/>
        </p:nvSpPr>
        <p:spPr>
          <a:xfrm>
            <a:off x="6320675" y="4219725"/>
            <a:ext cx="24333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(But not in this order)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Zooming In: Micro Levels of Analysis</a:t>
            </a:r>
            <a:endParaRPr/>
          </a:p>
        </p:txBody>
      </p:sp>
      <p:sp>
        <p:nvSpPr>
          <p:cNvPr id="440" name="Google Shape;440;p38"/>
          <p:cNvSpPr txBox="1"/>
          <p:nvPr>
            <p:ph idx="1" type="body"/>
          </p:nvPr>
        </p:nvSpPr>
        <p:spPr>
          <a:xfrm>
            <a:off x="311700" y="1225225"/>
            <a:ext cx="527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study networks by zooming in very closely.</a:t>
            </a:r>
            <a:endParaRPr/>
          </a:p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Individual</a:t>
            </a:r>
            <a:r>
              <a:rPr lang="en"/>
              <a:t> (Node) Level: We examine a single person and their personal connections, collectively known as their "ego network".</a:t>
            </a:r>
            <a:endParaRPr/>
          </a:p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Small Configurations</a:t>
            </a:r>
            <a:r>
              <a:rPr lang="en"/>
              <a:t> (Dyad/Triad Level): We look at relationships between two or three people.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 this level, we study things like how strong a tie is, or how small groups balance their friendships.</a:t>
            </a:r>
            <a:endParaRPr/>
          </a:p>
        </p:txBody>
      </p:sp>
      <p:pic>
        <p:nvPicPr>
          <p:cNvPr descr="Zooming in on your new home | Looking for your new home | Flickr" id="441" name="Google Shape;44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1450" y="1819100"/>
            <a:ext cx="3251400" cy="2166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Zooming Out: Macro Levels of Analysis</a:t>
            </a:r>
            <a:endParaRPr/>
          </a:p>
        </p:txBody>
      </p:sp>
      <p:sp>
        <p:nvSpPr>
          <p:cNvPr id="447" name="Google Shape;447;p39"/>
          <p:cNvSpPr txBox="1"/>
          <p:nvPr>
            <p:ph idx="1" type="body"/>
          </p:nvPr>
        </p:nvSpPr>
        <p:spPr>
          <a:xfrm>
            <a:off x="311700" y="1225225"/>
            <a:ext cx="5176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Communities</a:t>
            </a:r>
            <a:r>
              <a:rPr lang="en"/>
              <a:t> (Subgroups): We look at larger clusters of people to see how close-knit they are.</a:t>
            </a:r>
            <a:endParaRPr/>
          </a:p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Whole</a:t>
            </a:r>
            <a:r>
              <a:rPr lang="en"/>
              <a:t> Network: We look at the entire system to find large-scale trends, like whether the network is a "Small World".</a:t>
            </a:r>
            <a:endParaRPr/>
          </a:p>
        </p:txBody>
      </p:sp>
      <p:pic>
        <p:nvPicPr>
          <p:cNvPr descr="23655936 (Provided by Getty Images)" id="448" name="Google Shape;44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8625" y="1147225"/>
            <a:ext cx="2557716" cy="369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"social networks"</a:t>
            </a:r>
            <a:endParaRPr/>
          </a:p>
        </p:txBody>
      </p:sp>
      <p:sp>
        <p:nvSpPr>
          <p:cNvPr id="454" name="Google Shape;454;p40"/>
          <p:cNvSpPr txBox="1"/>
          <p:nvPr>
            <p:ph idx="1" type="body"/>
          </p:nvPr>
        </p:nvSpPr>
        <p:spPr>
          <a:xfrm>
            <a:off x="311700" y="1225225"/>
            <a:ext cx="5502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Social network theory</a:t>
            </a:r>
            <a:r>
              <a:rPr lang="en"/>
              <a:t> is a branch of </a:t>
            </a:r>
            <a:r>
              <a:rPr b="1" lang="en"/>
              <a:t>social science </a:t>
            </a:r>
            <a:r>
              <a:rPr lang="en"/>
              <a:t>that uses natural language and intuition to describe </a:t>
            </a:r>
            <a:r>
              <a:rPr b="1" lang="en"/>
              <a:t>real-world human interactions.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 Its concepts can be vague.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descr="16572058-Abstract-word-cloud-for-Network-theory-with-related-tags-and-terms-Stock-Photo.jpg" id="455" name="Google Shape;45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4300" y="1372950"/>
            <a:ext cx="3024900" cy="3166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"social networks"</a:t>
            </a:r>
            <a:endParaRPr/>
          </a:p>
        </p:txBody>
      </p:sp>
      <p:pic>
        <p:nvPicPr>
          <p:cNvPr descr="figure1-300x297.png" id="461" name="Google Shape;46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800" y="1564500"/>
            <a:ext cx="285750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1"/>
          <p:cNvSpPr txBox="1"/>
          <p:nvPr>
            <p:ph idx="1" type="body"/>
          </p:nvPr>
        </p:nvSpPr>
        <p:spPr>
          <a:xfrm>
            <a:off x="311700" y="1225225"/>
            <a:ext cx="5502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Social network theory</a:t>
            </a:r>
            <a:r>
              <a:rPr lang="en"/>
              <a:t> is a branch of </a:t>
            </a:r>
            <a:r>
              <a:rPr b="1" lang="en"/>
              <a:t>social science </a:t>
            </a:r>
            <a:r>
              <a:rPr lang="en"/>
              <a:t>that uses natural language and intuition to describe </a:t>
            </a:r>
            <a:r>
              <a:rPr b="1" lang="en"/>
              <a:t>real-world human interactions.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 Its concepts can be vague.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Graph theory</a:t>
            </a:r>
            <a:r>
              <a:rPr lang="en"/>
              <a:t> is a branch of </a:t>
            </a:r>
            <a:r>
              <a:rPr b="1" lang="en"/>
              <a:t>pure mathematics</a:t>
            </a:r>
            <a:r>
              <a:rPr lang="en"/>
              <a:t> that uses less ambiguous terms to define "analogues" of these fuzzy social network concepts.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"social networks"</a:t>
            </a:r>
            <a:endParaRPr/>
          </a:p>
        </p:txBody>
      </p:sp>
      <p:sp>
        <p:nvSpPr>
          <p:cNvPr id="468" name="Google Shape;468;p42"/>
          <p:cNvSpPr txBox="1"/>
          <p:nvPr>
            <p:ph idx="1" type="body"/>
          </p:nvPr>
        </p:nvSpPr>
        <p:spPr>
          <a:xfrm>
            <a:off x="311700" y="1225225"/>
            <a:ext cx="5504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Social network theory</a:t>
            </a:r>
            <a:r>
              <a:rPr lang="en"/>
              <a:t> is a branch of </a:t>
            </a:r>
            <a:r>
              <a:rPr b="1" lang="en"/>
              <a:t>social science </a:t>
            </a:r>
            <a:r>
              <a:rPr lang="en"/>
              <a:t>that uses natural language and intuition to describe </a:t>
            </a:r>
            <a:r>
              <a:rPr b="1" lang="en"/>
              <a:t>real-world human interactions.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 Its concepts can be vague.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Graph theory</a:t>
            </a:r>
            <a:r>
              <a:rPr lang="en"/>
              <a:t> is a branch of </a:t>
            </a:r>
            <a:r>
              <a:rPr b="1" lang="en"/>
              <a:t>pure mathematics</a:t>
            </a:r>
            <a:r>
              <a:rPr lang="en"/>
              <a:t> that uses less ambiguous terms to define "analogues" of these fuzzy social network concepts.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Matrix algebra</a:t>
            </a:r>
            <a:r>
              <a:rPr lang="en"/>
              <a:t> is a branch of </a:t>
            </a:r>
            <a:r>
              <a:rPr b="1" lang="en"/>
              <a:t>applied mathematics</a:t>
            </a:r>
            <a:r>
              <a:rPr lang="en"/>
              <a:t> that links graph theory concepts to allow for calculations and the development of metrics for social network ideas (like "centrality").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descr="Each element of a matrix is ..." id="469" name="Google Shape;46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0225" y="1610225"/>
            <a:ext cx="3192075" cy="258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"Three-Step Shuffle"</a:t>
            </a:r>
            <a:endParaRPr/>
          </a:p>
        </p:txBody>
      </p:sp>
      <p:sp>
        <p:nvSpPr>
          <p:cNvPr id="475" name="Google Shape;475;p43"/>
          <p:cNvSpPr txBox="1"/>
          <p:nvPr>
            <p:ph idx="1" type="body"/>
          </p:nvPr>
        </p:nvSpPr>
        <p:spPr>
          <a:xfrm>
            <a:off x="311700" y="1225225"/>
            <a:ext cx="4746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major goal of learning SNA is mastering three different ways to view networks.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Seeing networks as real-world human interactions.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Seeing networks as mathematical graphs.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Seeing networks as quantitative data tables (matrices).</a:t>
            </a:r>
            <a:endParaRPr/>
          </a:p>
          <a:p>
            <a:pPr indent="-342900" lvl="0" marL="295275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Transitioning smoothly between these three views is the key to understanding how networks work and change.</a:t>
            </a:r>
            <a:endParaRPr/>
          </a:p>
        </p:txBody>
      </p:sp>
      <p:pic>
        <p:nvPicPr>
          <p:cNvPr descr="16572058-Abstract-word-cloud-for-Network-theory-with-related-tags-and-terms-Stock-Photo.jpg" id="476" name="Google Shape;47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7625" y="904675"/>
            <a:ext cx="1371600" cy="1440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ure1-300x297.png" id="477" name="Google Shape;47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4325" y="3084375"/>
            <a:ext cx="1371600" cy="13578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ach element of a matrix is ..." id="478" name="Google Shape;478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60700" y="3207812"/>
            <a:ext cx="1371600" cy="11109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9" name="Google Shape;479;p43"/>
          <p:cNvCxnSpPr>
            <a:endCxn id="476" idx="2"/>
          </p:cNvCxnSpPr>
          <p:nvPr/>
        </p:nvCxnSpPr>
        <p:spPr>
          <a:xfrm flipH="1" rot="10800000">
            <a:off x="5880125" y="2344854"/>
            <a:ext cx="1203300" cy="739500"/>
          </a:xfrm>
          <a:prstGeom prst="straightConnector1">
            <a:avLst/>
          </a:prstGeom>
          <a:noFill/>
          <a:ln cap="flat" cmpd="sng" w="28575">
            <a:solidFill>
              <a:srgbClr val="0944A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43"/>
          <p:cNvCxnSpPr>
            <a:stCxn id="478" idx="0"/>
            <a:endCxn id="476" idx="2"/>
          </p:cNvCxnSpPr>
          <p:nvPr/>
        </p:nvCxnSpPr>
        <p:spPr>
          <a:xfrm rot="10800000">
            <a:off x="7083300" y="2344712"/>
            <a:ext cx="1063200" cy="863100"/>
          </a:xfrm>
          <a:prstGeom prst="straightConnector1">
            <a:avLst/>
          </a:prstGeom>
          <a:noFill/>
          <a:ln cap="flat" cmpd="sng" w="28575">
            <a:solidFill>
              <a:srgbClr val="0944A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43"/>
          <p:cNvCxnSpPr>
            <a:stCxn id="477" idx="3"/>
            <a:endCxn id="478" idx="1"/>
          </p:cNvCxnSpPr>
          <p:nvPr/>
        </p:nvCxnSpPr>
        <p:spPr>
          <a:xfrm>
            <a:off x="6565925" y="3763317"/>
            <a:ext cx="894900" cy="0"/>
          </a:xfrm>
          <a:prstGeom prst="straightConnector1">
            <a:avLst/>
          </a:prstGeom>
          <a:noFill/>
          <a:ln cap="flat" cmpd="sng" w="28575">
            <a:solidFill>
              <a:srgbClr val="0944A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