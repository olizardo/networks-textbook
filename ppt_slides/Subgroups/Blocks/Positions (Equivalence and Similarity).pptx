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</p:sldIdLst>
  <p:sldSz cy="5143500" cx="9144000"/>
  <p:notesSz cx="6858000" cy="9144000"/>
  <p:embeddedFontLst>
    <p:embeddedFont>
      <p:font typeface="Economica"/>
      <p:regular r:id="rId112"/>
      <p:bold r:id="rId113"/>
      <p:italic r:id="rId114"/>
      <p:boldItalic r:id="rId115"/>
    </p:embeddedFont>
    <p:embeddedFont>
      <p:font typeface="Roboto"/>
      <p:regular r:id="rId116"/>
      <p:bold r:id="rId117"/>
      <p:italic r:id="rId118"/>
      <p:boldItalic r:id="rId119"/>
    </p:embeddedFont>
    <p:embeddedFont>
      <p:font typeface="Open Sans"/>
      <p:regular r:id="rId120"/>
      <p:bold r:id="rId121"/>
      <p:italic r:id="rId122"/>
      <p:boldItalic r:id="rId1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27120C-EC75-4DFE-8548-D5B7FEFD94EF}">
  <a:tblStyle styleId="{9227120C-EC75-4DFE-8548-D5B7FEFD94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12FF49B-9E74-46FC-8EFB-338F158C8BB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121" Type="http://schemas.openxmlformats.org/officeDocument/2006/relationships/font" Target="fonts/OpenSans-bold.fntdata"/><Relationship Id="rId25" Type="http://schemas.openxmlformats.org/officeDocument/2006/relationships/slide" Target="slides/slide18.xml"/><Relationship Id="rId120" Type="http://schemas.openxmlformats.org/officeDocument/2006/relationships/font" Target="fonts/OpenSans-regular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23" Type="http://schemas.openxmlformats.org/officeDocument/2006/relationships/font" Target="fonts/OpenSans-boldItalic.fntdata"/><Relationship Id="rId122" Type="http://schemas.openxmlformats.org/officeDocument/2006/relationships/font" Target="fonts/OpenSans-italic.fntdata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font" Target="fonts/Roboto-italic.fntdata"/><Relationship Id="rId117" Type="http://schemas.openxmlformats.org/officeDocument/2006/relationships/font" Target="fonts/Roboto-bold.fntdata"/><Relationship Id="rId116" Type="http://schemas.openxmlformats.org/officeDocument/2006/relationships/font" Target="fonts/Roboto-regular.fntdata"/><Relationship Id="rId115" Type="http://schemas.openxmlformats.org/officeDocument/2006/relationships/font" Target="fonts/Economica-boldItalic.fntdata"/><Relationship Id="rId119" Type="http://schemas.openxmlformats.org/officeDocument/2006/relationships/font" Target="fonts/Roboto-boldItalic.fntdata"/><Relationship Id="rId15" Type="http://schemas.openxmlformats.org/officeDocument/2006/relationships/slide" Target="slides/slide8.xml"/><Relationship Id="rId110" Type="http://schemas.openxmlformats.org/officeDocument/2006/relationships/slide" Target="slides/slide103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14" Type="http://schemas.openxmlformats.org/officeDocument/2006/relationships/font" Target="fonts/Economica-italic.fntdata"/><Relationship Id="rId18" Type="http://schemas.openxmlformats.org/officeDocument/2006/relationships/slide" Target="slides/slide11.xml"/><Relationship Id="rId113" Type="http://schemas.openxmlformats.org/officeDocument/2006/relationships/font" Target="fonts/Economica-bold.fntdata"/><Relationship Id="rId112" Type="http://schemas.openxmlformats.org/officeDocument/2006/relationships/font" Target="fonts/Economica-regular.fntdata"/><Relationship Id="rId111" Type="http://schemas.openxmlformats.org/officeDocument/2006/relationships/slide" Target="slides/slide104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bcfda97729_0_4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bcfda97729_0_4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bcfda97729_0_4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bcfda97729_0_4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bcfda97729_0_4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bcfda97729_0_4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158daae46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158daae46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158daae46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158daae46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158daae46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158daae46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158daae462_0_1562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158daae462_0_1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158daae462_0_1567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158daae462_0_1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158daae462_0_1669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158daae462_0_1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158daae462_0_1577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158daae462_0_1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158daae462_0_1657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158daae462_0_1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158daae462_0_1589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158daae462_0_1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158daae462_4_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158daae462_4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158daae462_4_48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158daae462_4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bf6b1fb30d_1_34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bf6b1fb30d_1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5d6be1de1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5d6be1de1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5d6be1de14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5d6be1de14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5d6be1de14_1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5d6be1de14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5d6d6b28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5d6d6b28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5d6d6b281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5d6d6b281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5ec115a9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5ec115a9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5d6be1de14_1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5d6be1de14_1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5d6be1de14_1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5d6be1de14_1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5d6d6b281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5d6d6b281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5d6d6b2817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5d6d6b2817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5d6d6b2817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5d6d6b2817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1158daae462_4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1158daae462_4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1158daae462_4_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1158daae462_4_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bf5aa6bb3e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bf5aa6bb3e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bf5aa6bb3e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bf5aa6bb3e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bf5aa6bb3e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2bf5aa6bb3e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bf5aa6bb3e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bf5aa6bb3e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bf5aa6bb3e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bf5aa6bb3e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bf5aa6bb3e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bf5aa6bb3e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bf5aa6bb3e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bf5aa6bb3e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2bf5aa6bb3e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2bf5aa6bb3e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bf5aa6bb3e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bf5aa6bb3e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bf5aa6bb3e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bf5aa6bb3e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5b52cbfd0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35b52cbfd0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5b52cbfd0a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35b52cbfd0a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35b52cbfd0a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35b52cbfd0a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35b52cbfd0a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35b52cbfd0a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35b52cbfd0a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35b52cbfd0a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bf6b1fb30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2bf6b1fb30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2bf6b1fb30d_1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2bf6b1fb30d_1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g2bf6b1fb30d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g2bf6b1fb30d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g2bf6b1fb30d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4" name="Google Shape;1474;g2bf6b1fb30d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2bf6b1fb30d_1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2bf6b1fb30d_1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g2bf6b1fb30d_1_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4" name="Google Shape;1564;g2bf6b1fb30d_1_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g2bf6b1fb30d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8" name="Google Shape;1608;g2bf6b1fb30d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2bf6b1fb30d_1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2bf6b1fb30d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g2bf6b1fb30d_1_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8" name="Google Shape;1628;g2bf6b1fb30d_1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1158daae462_4_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1158daae462_4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1158daae462_4_1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1158daae462_4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g2bf6b1fb30d_1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3" name="Google Shape;1713;g2bf6b1fb30d_1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g2bf6b1fb30d_1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3" name="Google Shape;1753;g2bf6b1fb30d_1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g1158daae462_4_1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4" name="Google Shape;1764;g1158daae462_4_1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2bf6b1fb30d_1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g2bf6b1fb30d_1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g2bf6b1fb30d_1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8" name="Google Shape;1788;g2bf6b1fb30d_1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2bf6b1fb30d_1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0" name="Google Shape;1800;g2bf6b1fb30d_1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2bf5aa6bb3e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2" name="Google Shape;1812;g2bf5aa6bb3e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g2bf5aa6bb3e_0_3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7" name="Google Shape;1817;g2bf5aa6bb3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2bf6b1fb30d_1_41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2bf6b1fb30d_1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2bf6b1fb30d_1_45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2bf6b1fb30d_1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g2bf6b1fb30d_1_49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5" name="Google Shape;1905;g2bf6b1fb30d_1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g2bf6b1fb30d_1_50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4" name="Google Shape;1914;g2bf6b1fb30d_1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g2bf6b1fb30d_1_51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3" name="Google Shape;1923;g2bf6b1fb30d_1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g2bf6b1fb30d_1_53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1" name="Google Shape;1931;g2bf6b1fb30d_1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7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g2bf6b1fb30d_1_55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9" name="Google Shape;1939;g2bf6b1fb30d_1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g2bf6b1fb30d_1_56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2" name="Google Shape;1952;g2bf6b1fb30d_1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2bf6b1fb30d_1_59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" name="Google Shape;1970;g2bf6b1fb30d_1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2bf6b1fb30d_1_59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9" name="Google Shape;1979;g2bf6b1fb30d_1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g2bf6b1fb30d_1_62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8" name="Google Shape;1988;g2bf6b1fb30d_1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g2bf6b1fb30d_1_60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7" name="Google Shape;1997;g2bf6b1fb30d_1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g2bf6b1fb30d_1_63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6" name="Google Shape;2006;g2bf6b1fb30d_1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g2bf6b1fb30d_1_63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2bf6b1fb30d_1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g2bf6b1fb30d_1_64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3" name="Google Shape;2023;g2bf6b1fb30d_1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g2bf6b1fb30d_1_66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3" name="Google Shape;2033;g2bf6b1fb30d_1_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g2bf6b1fb30d_1_69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4" name="Google Shape;2054;g2bf6b1fb30d_1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5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g1158daae462_4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7" name="Google Shape;2107;g1158daae462_4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g35d6d6b2817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2" name="Google Shape;2112;g35d6d6b2817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35d6d6b2817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35d6d6b2817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g35d6d6b2817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4" name="Google Shape;2194;g35d6d6b2817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g35d6d6b2817_0_1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5" name="Google Shape;2235;g35d6d6b2817_0_1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4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g35d6d6b2817_0_1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6" name="Google Shape;2276;g35d6d6b2817_0_1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g35d6d6b2817_0_129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1" name="Google Shape;2281;g35d6d6b2817_0_1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0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g35d6d6b2817_0_8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2" name="Google Shape;2322;g35d6d6b2817_0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g35d6d6b2817_0_1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3" name="Google Shape;2363;g35d6d6b2817_0_1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g35d6d6b2817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4" name="Google Shape;2404;g35d6d6b2817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3" name="Shape 2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g35d6d6b2817_0_1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5" name="Google Shape;2445;g35d6d6b2817_0_1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4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g35d6d6b2817_0_1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6" name="Google Shape;2486;g35d6d6b2817_0_1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0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g35d6d6b2817_0_1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2" name="Google Shape;2532;g35d6d6b2817_0_1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g35d6d6b2817_0_1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3" name="Google Shape;2573;g35d6d6b2817_0_1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2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3" name="Google Shape;2613;g35d6d6b2817_0_1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4" name="Google Shape;2614;g35d6d6b2817_0_1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3" name="Shape 2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Google Shape;2654;g35d6d6b2817_0_1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5" name="Google Shape;2655;g35d6d6b2817_0_1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4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g35d6d6b2817_0_1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6" name="Google Shape;2696;g35d6d6b2817_0_1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6" name="Shape 2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7" name="Google Shape;2737;g35d6d6b2817_0_1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8" name="Google Shape;2738;g35d6d6b2817_0_1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8" name="Shape 2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9" name="Google Shape;2779;g35d6d6b2817_0_1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0" name="Google Shape;2780;g35d6d6b2817_0_1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g35d6d6b2817_0_10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3" name="Google Shape;2833;g35d6d6b2817_0_1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6" name="Shape 2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Google Shape;2837;g1158daae462_4_75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8" name="Google Shape;2838;g1158daae462_4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0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1158daae462_4_78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1158daae462_4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4" name="Shape 2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5" name="Google Shape;2905;g1158daae462_4_82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6" name="Google Shape;2906;g1158daae462_4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8" name="Shape 2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Google Shape;2939;g1158daae462_4_85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0" name="Google Shape;2940;g1158daae462_4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2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3" name="Google Shape;2973;g1158daae462_4_88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4" name="Google Shape;2974;g1158daae462_4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Positions</a:t>
            </a:r>
            <a:r>
              <a:rPr lang="en"/>
              <a:t> </a:t>
            </a:r>
            <a:r>
              <a:rPr lang="en"/>
              <a:t>in</a:t>
            </a:r>
            <a:r>
              <a:rPr lang="en"/>
              <a:t> </a:t>
            </a:r>
            <a:r>
              <a:rPr lang="en"/>
              <a:t>Social</a:t>
            </a:r>
            <a:r>
              <a:rPr lang="en"/>
              <a:t> </a:t>
            </a:r>
            <a:r>
              <a:rPr lang="en"/>
              <a:t>Networks</a:t>
            </a:r>
            <a:endParaRPr/>
          </a:p>
        </p:txBody>
      </p:sp>
      <p:sp>
        <p:nvSpPr>
          <p:cNvPr id="111" name="Google Shape;111;p26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27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17" name="Google Shape;117;p27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" name="Google Shape;118;p27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7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0" name="Google Shape;120;p27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1" name="Google Shape;121;p27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22" name="Google Shape;122;p27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" name="Google Shape;123;p27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7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5" name="Google Shape;125;p27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</a:t>
              </a: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" name="Google Shape;126;p27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27" name="Google Shape;127;p27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" name="Google Shape;128;p27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7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0" name="Google Shape;130;p27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" name="Google Shape;131;p27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32" name="Google Shape;132;p27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3" name="Google Shape;133;p27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7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5" name="Google Shape;135;p27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Subgroups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" name="Google Shape;136;p27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37" name="Google Shape;137;p27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38" name="Google Shape;138;p27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39" name="Google Shape;139;p27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0" name="Google Shape;140;p27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1" name="Google Shape;141;p27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2" name="Google Shape;142;p27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3" name="Google Shape;143;p27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4" name="Google Shape;144;p27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5" name="Google Shape;145;p27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6" name="Google Shape;146;p27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7" name="Google Shape;147;p27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8" name="Google Shape;148;p27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9" name="Google Shape;149;p27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0" name="Google Shape;150;p27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1" name="Google Shape;151;p27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2" name="Google Shape;152;p27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3" name="Google Shape;153;p27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grpSp>
        <p:nvGrpSpPr>
          <p:cNvPr id="154" name="Google Shape;154;p27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155" name="Google Shape;155;p27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6" name="Google Shape;156;p27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7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58" name="Google Shape;158;p27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9" name="Google Shape;159;p27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The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first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part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of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the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course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follows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this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</a:t>
            </a:r>
            <a:r>
              <a:rPr lang="en"/>
              <a:t> </a:t>
            </a:r>
            <a:r>
              <a:rPr lang="en"/>
              <a:t>of</a:t>
            </a:r>
            <a:r>
              <a:rPr lang="en"/>
              <a:t> </a:t>
            </a:r>
            <a:r>
              <a:rPr lang="en"/>
              <a:t>Analysis</a:t>
            </a:r>
            <a:r>
              <a:rPr lang="en"/>
              <a:t> </a:t>
            </a:r>
            <a:r>
              <a:rPr lang="en"/>
              <a:t>in</a:t>
            </a:r>
            <a:r>
              <a:rPr lang="en"/>
              <a:t> </a:t>
            </a:r>
            <a:r>
              <a:rPr lang="en"/>
              <a:t>social</a:t>
            </a:r>
            <a:r>
              <a:rPr lang="en"/>
              <a:t> </a:t>
            </a:r>
            <a:r>
              <a:rPr lang="en"/>
              <a:t>networks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/>
          <p:nvPr/>
        </p:nvSpPr>
        <p:spPr>
          <a:xfrm>
            <a:off x="311700" y="2662975"/>
            <a:ext cx="4196100" cy="101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grpSp>
        <p:nvGrpSpPr>
          <p:cNvPr id="166" name="Google Shape;166;p28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67" name="Google Shape;167;p28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8" name="Google Shape;168;p28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8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70" name="Google Shape;170;p28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1" name="Google Shape;171;p28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72" name="Google Shape;172;p28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3" name="Google Shape;173;p28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8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75" name="Google Shape;175;p28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</a:t>
              </a: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6" name="Google Shape;176;p28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77" name="Google Shape;177;p28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8" name="Google Shape;178;p28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8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80" name="Google Shape;180;p28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1" name="Google Shape;181;p28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82" name="Google Shape;182;p28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3" name="Google Shape;183;p28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8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85" name="Google Shape;185;p28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Subgroups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6" name="Google Shape;186;p28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87" name="Google Shape;187;p28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88" name="Google Shape;188;p28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89" name="Google Shape;189;p28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0" name="Google Shape;190;p28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1" name="Google Shape;191;p28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2" name="Google Shape;192;p28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3" name="Google Shape;193;p28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4" name="Google Shape;194;p28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5" name="Google Shape;195;p28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6" name="Google Shape;196;p28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7" name="Google Shape;197;p28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8" name="Google Shape;198;p28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9" name="Google Shape;199;p28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0" name="Google Shape;200;p28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1" name="Google Shape;201;p28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2" name="Google Shape;202;p28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3" name="Google Shape;203;p28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grpSp>
        <p:nvGrpSpPr>
          <p:cNvPr id="204" name="Google Shape;204;p28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205" name="Google Shape;205;p28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6" name="Google Shape;206;p28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8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08" name="Google Shape;208;p28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9" name="Google Shape;209;p28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The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first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part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of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the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course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follows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this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</a:t>
            </a: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0" name="Google Shape;210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</a:t>
            </a:r>
            <a:r>
              <a:rPr lang="en"/>
              <a:t> </a:t>
            </a:r>
            <a:r>
              <a:rPr lang="en"/>
              <a:t>of</a:t>
            </a:r>
            <a:r>
              <a:rPr lang="en"/>
              <a:t> </a:t>
            </a:r>
            <a:r>
              <a:rPr lang="en"/>
              <a:t>Analysis</a:t>
            </a:r>
            <a:r>
              <a:rPr lang="en"/>
              <a:t> </a:t>
            </a:r>
            <a:r>
              <a:rPr lang="en"/>
              <a:t>in</a:t>
            </a:r>
            <a:r>
              <a:rPr lang="en"/>
              <a:t> </a:t>
            </a:r>
            <a:r>
              <a:rPr lang="en"/>
              <a:t>social</a:t>
            </a:r>
            <a:r>
              <a:rPr lang="en"/>
              <a:t> </a:t>
            </a:r>
            <a:r>
              <a:rPr lang="en"/>
              <a:t>networks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</a:t>
            </a:r>
            <a:r>
              <a:rPr lang="en"/>
              <a:t> </a:t>
            </a:r>
            <a:r>
              <a:rPr lang="en"/>
              <a:t>ways</a:t>
            </a:r>
            <a:r>
              <a:rPr lang="en"/>
              <a:t> </a:t>
            </a:r>
            <a:r>
              <a:rPr lang="en"/>
              <a:t>of</a:t>
            </a:r>
            <a:r>
              <a:rPr lang="en"/>
              <a:t> </a:t>
            </a:r>
            <a:r>
              <a:rPr lang="en"/>
              <a:t>thinking</a:t>
            </a:r>
            <a:r>
              <a:rPr lang="en"/>
              <a:t> </a:t>
            </a:r>
            <a:r>
              <a:rPr lang="en"/>
              <a:t>of</a:t>
            </a:r>
            <a:r>
              <a:rPr lang="en"/>
              <a:t> </a:t>
            </a:r>
            <a:r>
              <a:rPr lang="en"/>
              <a:t>sets</a:t>
            </a:r>
            <a:r>
              <a:rPr lang="en"/>
              <a:t> </a:t>
            </a:r>
            <a:r>
              <a:rPr lang="en"/>
              <a:t>of</a:t>
            </a:r>
            <a:r>
              <a:rPr lang="en"/>
              <a:t> </a:t>
            </a:r>
            <a:r>
              <a:rPr lang="en"/>
              <a:t>nodes</a:t>
            </a:r>
            <a:endParaRPr/>
          </a:p>
        </p:txBody>
      </p:sp>
      <p:sp>
        <p:nvSpPr>
          <p:cNvPr id="216" name="Google Shape;216;p29"/>
          <p:cNvSpPr txBox="1"/>
          <p:nvPr>
            <p:ph idx="4294967295" type="body"/>
          </p:nvPr>
        </p:nvSpPr>
        <p:spPr>
          <a:xfrm>
            <a:off x="311700" y="1225225"/>
            <a:ext cx="543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</a:t>
            </a:r>
            <a:r>
              <a:rPr lang="en"/>
              <a:t>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</a:t>
            </a:r>
            <a:r>
              <a:rPr lang="en"/>
              <a:t> </a:t>
            </a:r>
            <a:r>
              <a:rPr lang="en"/>
              <a:t>partition</a:t>
            </a:r>
            <a:r>
              <a:rPr lang="en"/>
              <a:t> </a:t>
            </a:r>
            <a:r>
              <a:rPr lang="en"/>
              <a:t>the</a:t>
            </a:r>
            <a:r>
              <a:rPr lang="en"/>
              <a:t> </a:t>
            </a:r>
            <a:r>
              <a:rPr lang="en"/>
              <a:t>network</a:t>
            </a:r>
            <a:r>
              <a:rPr lang="en"/>
              <a:t> </a:t>
            </a:r>
            <a:r>
              <a:rPr lang="en"/>
              <a:t>into</a:t>
            </a:r>
            <a:r>
              <a:rPr lang="en"/>
              <a:t> </a:t>
            </a:r>
            <a:r>
              <a:rPr lang="en"/>
              <a:t>sets</a:t>
            </a:r>
            <a:r>
              <a:rPr lang="en"/>
              <a:t> </a:t>
            </a:r>
            <a:r>
              <a:rPr lang="en"/>
              <a:t>of</a:t>
            </a:r>
            <a:r>
              <a:rPr lang="en"/>
              <a:t> </a:t>
            </a:r>
            <a:r>
              <a:rPr lang="en"/>
              <a:t>nodes</a:t>
            </a:r>
            <a:r>
              <a:rPr lang="en"/>
              <a:t> </a:t>
            </a:r>
            <a:r>
              <a:rPr lang="en"/>
              <a:t>that</a:t>
            </a:r>
            <a:r>
              <a:rPr lang="en"/>
              <a:t> </a:t>
            </a:r>
            <a:r>
              <a:rPr lang="en"/>
              <a:t>have</a:t>
            </a:r>
            <a:r>
              <a:rPr lang="en"/>
              <a:t> </a:t>
            </a:r>
            <a:r>
              <a:rPr lang="en"/>
              <a:t>something</a:t>
            </a:r>
            <a:r>
              <a:rPr lang="en"/>
              <a:t> </a:t>
            </a:r>
            <a:r>
              <a:rPr lang="en"/>
              <a:t>in</a:t>
            </a:r>
            <a:r>
              <a:rPr lang="en"/>
              <a:t> </a:t>
            </a:r>
            <a:r>
              <a:rPr lang="en"/>
              <a:t>common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</a:t>
            </a:r>
            <a:r>
              <a:rPr lang="en"/>
              <a:t> </a:t>
            </a:r>
            <a:r>
              <a:rPr lang="en"/>
              <a:t>ways</a:t>
            </a:r>
            <a:r>
              <a:rPr lang="en"/>
              <a:t> </a:t>
            </a:r>
            <a:r>
              <a:rPr lang="en"/>
              <a:t>of</a:t>
            </a:r>
            <a:r>
              <a:rPr lang="en"/>
              <a:t> </a:t>
            </a:r>
            <a:r>
              <a:rPr lang="en"/>
              <a:t>thinking</a:t>
            </a:r>
            <a:r>
              <a:rPr lang="en"/>
              <a:t> </a:t>
            </a:r>
            <a:r>
              <a:rPr lang="en"/>
              <a:t>of</a:t>
            </a:r>
            <a:r>
              <a:rPr lang="en"/>
              <a:t> </a:t>
            </a:r>
            <a:r>
              <a:rPr lang="en"/>
              <a:t>sets</a:t>
            </a:r>
            <a:r>
              <a:rPr lang="en"/>
              <a:t> </a:t>
            </a:r>
            <a:r>
              <a:rPr lang="en"/>
              <a:t>of</a:t>
            </a:r>
            <a:r>
              <a:rPr lang="en"/>
              <a:t> </a:t>
            </a:r>
            <a:r>
              <a:rPr lang="en"/>
              <a:t>nodes</a:t>
            </a:r>
            <a:endParaRPr/>
          </a:p>
        </p:txBody>
      </p:sp>
      <p:grpSp>
        <p:nvGrpSpPr>
          <p:cNvPr id="222" name="Google Shape;222;p30"/>
          <p:cNvGrpSpPr/>
          <p:nvPr/>
        </p:nvGrpSpPr>
        <p:grpSpPr>
          <a:xfrm>
            <a:off x="5838100" y="1117500"/>
            <a:ext cx="3200399" cy="1984248"/>
            <a:chOff x="5838100" y="1117500"/>
            <a:chExt cx="3200399" cy="1984248"/>
          </a:xfrm>
        </p:grpSpPr>
        <p:pic>
          <p:nvPicPr>
            <p:cNvPr id="223" name="Google Shape;223;p30"/>
            <p:cNvPicPr preferRelativeResize="0"/>
            <p:nvPr/>
          </p:nvPicPr>
          <p:blipFill rotWithShape="1">
            <a:blip r:embed="rId3">
              <a:alphaModFix/>
            </a:blip>
            <a:srcRect b="0" l="13074" r="0" t="0"/>
            <a:stretch/>
          </p:blipFill>
          <p:spPr>
            <a:xfrm>
              <a:off x="5838100" y="1117500"/>
              <a:ext cx="3200399" cy="19842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30"/>
            <p:cNvSpPr txBox="1"/>
            <p:nvPr/>
          </p:nvSpPr>
          <p:spPr>
            <a:xfrm>
              <a:off x="6605800" y="2780250"/>
              <a:ext cx="1665000" cy="2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Economica"/>
                  <a:ea typeface="Economica"/>
                  <a:cs typeface="Economica"/>
                  <a:sym typeface="Economica"/>
                </a:rPr>
                <a:t>Group</a:t>
              </a:r>
              <a:r>
                <a:rPr lang="en">
                  <a:latin typeface="Economica"/>
                  <a:ea typeface="Economica"/>
                  <a:cs typeface="Economica"/>
                  <a:sym typeface="Economica"/>
                </a:rPr>
                <a:t> </a:t>
              </a:r>
              <a:r>
                <a:rPr lang="en">
                  <a:latin typeface="Economica"/>
                  <a:ea typeface="Economica"/>
                  <a:cs typeface="Economica"/>
                  <a:sym typeface="Economica"/>
                </a:rPr>
                <a:t>Approach</a:t>
              </a:r>
              <a:endParaRPr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25" name="Google Shape;225;p30"/>
          <p:cNvSpPr txBox="1"/>
          <p:nvPr>
            <p:ph idx="4294967295" type="body"/>
          </p:nvPr>
        </p:nvSpPr>
        <p:spPr>
          <a:xfrm>
            <a:off x="311700" y="1225225"/>
            <a:ext cx="543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</a:t>
            </a:r>
            <a:r>
              <a:rPr lang="en"/>
              <a:t>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</a:t>
            </a:r>
            <a:r>
              <a:rPr lang="en"/>
              <a:t> </a:t>
            </a:r>
            <a:r>
              <a:rPr lang="en"/>
              <a:t>partition</a:t>
            </a:r>
            <a:r>
              <a:rPr lang="en"/>
              <a:t> </a:t>
            </a:r>
            <a:r>
              <a:rPr lang="en"/>
              <a:t>the</a:t>
            </a:r>
            <a:r>
              <a:rPr lang="en"/>
              <a:t> </a:t>
            </a:r>
            <a:r>
              <a:rPr lang="en"/>
              <a:t>network</a:t>
            </a:r>
            <a:r>
              <a:rPr lang="en"/>
              <a:t> </a:t>
            </a:r>
            <a:r>
              <a:rPr lang="en"/>
              <a:t>into</a:t>
            </a:r>
            <a:r>
              <a:rPr lang="en"/>
              <a:t> </a:t>
            </a:r>
            <a:r>
              <a:rPr lang="en"/>
              <a:t>sets</a:t>
            </a:r>
            <a:r>
              <a:rPr lang="en"/>
              <a:t> </a:t>
            </a:r>
            <a:r>
              <a:rPr lang="en"/>
              <a:t>of</a:t>
            </a:r>
            <a:r>
              <a:rPr lang="en"/>
              <a:t> </a:t>
            </a:r>
            <a:r>
              <a:rPr lang="en"/>
              <a:t>nodes</a:t>
            </a:r>
            <a:r>
              <a:rPr lang="en"/>
              <a:t> </a:t>
            </a:r>
            <a:r>
              <a:rPr lang="en"/>
              <a:t>that</a:t>
            </a:r>
            <a:r>
              <a:rPr lang="en"/>
              <a:t> </a:t>
            </a:r>
            <a:r>
              <a:rPr lang="en"/>
              <a:t>have</a:t>
            </a:r>
            <a:r>
              <a:rPr lang="en"/>
              <a:t> </a:t>
            </a:r>
            <a:r>
              <a:rPr lang="en"/>
              <a:t>something</a:t>
            </a:r>
            <a:r>
              <a:rPr lang="en"/>
              <a:t> </a:t>
            </a:r>
            <a:r>
              <a:rPr lang="en"/>
              <a:t>in</a:t>
            </a:r>
            <a:r>
              <a:rPr lang="en"/>
              <a:t> </a:t>
            </a:r>
            <a:r>
              <a:rPr lang="en"/>
              <a:t>common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</a:t>
            </a:r>
            <a:r>
              <a:rPr lang="en"/>
              <a:t> </a:t>
            </a:r>
            <a:r>
              <a:rPr lang="en"/>
              <a:t>ways: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The</a:t>
            </a:r>
            <a:r>
              <a:rPr i="1" lang="en"/>
              <a:t> </a:t>
            </a:r>
            <a:r>
              <a:rPr i="1" lang="en"/>
              <a:t>Group</a:t>
            </a:r>
            <a:r>
              <a:rPr i="1" lang="en"/>
              <a:t> </a:t>
            </a:r>
            <a:r>
              <a:rPr i="1" lang="en"/>
              <a:t>Approach</a:t>
            </a:r>
            <a:endParaRPr i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Belong</a:t>
            </a:r>
            <a:r>
              <a:rPr lang="en"/>
              <a:t> </a:t>
            </a:r>
            <a:r>
              <a:rPr lang="en"/>
              <a:t>to</a:t>
            </a:r>
            <a:r>
              <a:rPr lang="en"/>
              <a:t> </a:t>
            </a:r>
            <a:r>
              <a:rPr lang="en"/>
              <a:t>the</a:t>
            </a:r>
            <a:r>
              <a:rPr lang="en"/>
              <a:t> </a:t>
            </a:r>
            <a:r>
              <a:rPr b="1" lang="en"/>
              <a:t>same</a:t>
            </a:r>
            <a:r>
              <a:rPr lang="en"/>
              <a:t> </a:t>
            </a:r>
            <a:r>
              <a:rPr lang="en"/>
              <a:t>“</a:t>
            </a:r>
            <a:r>
              <a:rPr b="1" lang="en"/>
              <a:t>clique</a:t>
            </a:r>
            <a:r>
              <a:rPr lang="en"/>
              <a:t>”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Are</a:t>
            </a:r>
            <a:r>
              <a:rPr lang="en"/>
              <a:t> </a:t>
            </a:r>
            <a:r>
              <a:rPr b="1" lang="en"/>
              <a:t>densely</a:t>
            </a:r>
            <a:r>
              <a:rPr lang="en"/>
              <a:t> </a:t>
            </a:r>
            <a:r>
              <a:rPr b="1" lang="en"/>
              <a:t>connected</a:t>
            </a:r>
            <a:r>
              <a:rPr lang="en"/>
              <a:t> </a:t>
            </a:r>
            <a:r>
              <a:rPr lang="en"/>
              <a:t>to</a:t>
            </a:r>
            <a:r>
              <a:rPr lang="en"/>
              <a:t> </a:t>
            </a:r>
            <a:r>
              <a:rPr lang="en"/>
              <a:t>others</a:t>
            </a:r>
            <a:r>
              <a:rPr lang="en"/>
              <a:t> </a:t>
            </a:r>
            <a:r>
              <a:rPr lang="en"/>
              <a:t>in</a:t>
            </a:r>
            <a:r>
              <a:rPr lang="en"/>
              <a:t> </a:t>
            </a:r>
            <a:r>
              <a:rPr lang="en"/>
              <a:t>the</a:t>
            </a:r>
            <a:r>
              <a:rPr lang="en"/>
              <a:t> </a:t>
            </a:r>
            <a:r>
              <a:rPr lang="en"/>
              <a:t>same</a:t>
            </a:r>
            <a:r>
              <a:rPr lang="en"/>
              <a:t> </a:t>
            </a:r>
            <a:r>
              <a:rPr lang="en"/>
              <a:t>set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</a:t>
            </a:r>
            <a:r>
              <a:rPr lang="en"/>
              <a:t> </a:t>
            </a:r>
            <a:r>
              <a:rPr lang="en"/>
              <a:t>ways</a:t>
            </a:r>
            <a:r>
              <a:rPr lang="en"/>
              <a:t> </a:t>
            </a:r>
            <a:r>
              <a:rPr lang="en"/>
              <a:t>of</a:t>
            </a:r>
            <a:r>
              <a:rPr lang="en"/>
              <a:t> </a:t>
            </a:r>
            <a:r>
              <a:rPr lang="en"/>
              <a:t>thinking</a:t>
            </a:r>
            <a:r>
              <a:rPr lang="en"/>
              <a:t> </a:t>
            </a:r>
            <a:r>
              <a:rPr lang="en"/>
              <a:t>of</a:t>
            </a:r>
            <a:r>
              <a:rPr lang="en"/>
              <a:t> </a:t>
            </a:r>
            <a:r>
              <a:rPr lang="en"/>
              <a:t>sets</a:t>
            </a:r>
            <a:r>
              <a:rPr lang="en"/>
              <a:t> </a:t>
            </a:r>
            <a:r>
              <a:rPr lang="en"/>
              <a:t>of</a:t>
            </a:r>
            <a:r>
              <a:rPr lang="en"/>
              <a:t> </a:t>
            </a:r>
            <a:r>
              <a:rPr lang="en"/>
              <a:t>nodes</a:t>
            </a:r>
            <a:endParaRPr/>
          </a:p>
        </p:txBody>
      </p:sp>
      <p:grpSp>
        <p:nvGrpSpPr>
          <p:cNvPr id="231" name="Google Shape;231;p31"/>
          <p:cNvGrpSpPr/>
          <p:nvPr/>
        </p:nvGrpSpPr>
        <p:grpSpPr>
          <a:xfrm>
            <a:off x="5838100" y="1117500"/>
            <a:ext cx="3200400" cy="3915158"/>
            <a:chOff x="5838100" y="1117500"/>
            <a:chExt cx="3200400" cy="3915158"/>
          </a:xfrm>
        </p:grpSpPr>
        <p:pic>
          <p:nvPicPr>
            <p:cNvPr id="232" name="Google Shape;232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38100" y="3101750"/>
              <a:ext cx="3200400" cy="19309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31"/>
            <p:cNvPicPr preferRelativeResize="0"/>
            <p:nvPr/>
          </p:nvPicPr>
          <p:blipFill rotWithShape="1">
            <a:blip r:embed="rId4">
              <a:alphaModFix/>
            </a:blip>
            <a:srcRect b="0" l="13074" r="0" t="0"/>
            <a:stretch/>
          </p:blipFill>
          <p:spPr>
            <a:xfrm>
              <a:off x="5838100" y="1117500"/>
              <a:ext cx="3200399" cy="19842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31"/>
            <p:cNvSpPr txBox="1"/>
            <p:nvPr/>
          </p:nvSpPr>
          <p:spPr>
            <a:xfrm>
              <a:off x="6605800" y="2780250"/>
              <a:ext cx="1665000" cy="2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Economica"/>
                  <a:ea typeface="Economica"/>
                  <a:cs typeface="Economica"/>
                  <a:sym typeface="Economica"/>
                </a:rPr>
                <a:t>Group</a:t>
              </a:r>
              <a:r>
                <a:rPr lang="en">
                  <a:latin typeface="Economica"/>
                  <a:ea typeface="Economica"/>
                  <a:cs typeface="Economica"/>
                  <a:sym typeface="Economica"/>
                </a:rPr>
                <a:t> </a:t>
              </a:r>
              <a:r>
                <a:rPr lang="en">
                  <a:latin typeface="Economica"/>
                  <a:ea typeface="Economica"/>
                  <a:cs typeface="Economica"/>
                  <a:sym typeface="Economica"/>
                </a:rPr>
                <a:t>Approach</a:t>
              </a:r>
              <a:endParaRPr>
                <a:latin typeface="Economica"/>
                <a:ea typeface="Economica"/>
                <a:cs typeface="Economica"/>
                <a:sym typeface="Economica"/>
              </a:endParaRPr>
            </a:p>
          </p:txBody>
        </p:sp>
        <p:sp>
          <p:nvSpPr>
            <p:cNvPr id="235" name="Google Shape;235;p31"/>
            <p:cNvSpPr txBox="1"/>
            <p:nvPr/>
          </p:nvSpPr>
          <p:spPr>
            <a:xfrm>
              <a:off x="6675163" y="4663175"/>
              <a:ext cx="1665000" cy="2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Economica"/>
                  <a:ea typeface="Economica"/>
                  <a:cs typeface="Economica"/>
                  <a:sym typeface="Economica"/>
                </a:rPr>
                <a:t>Position</a:t>
              </a:r>
              <a:r>
                <a:rPr lang="en">
                  <a:latin typeface="Economica"/>
                  <a:ea typeface="Economica"/>
                  <a:cs typeface="Economica"/>
                  <a:sym typeface="Economica"/>
                </a:rPr>
                <a:t> </a:t>
              </a:r>
              <a:r>
                <a:rPr lang="en">
                  <a:latin typeface="Economica"/>
                  <a:ea typeface="Economica"/>
                  <a:cs typeface="Economica"/>
                  <a:sym typeface="Economica"/>
                </a:rPr>
                <a:t>Approach</a:t>
              </a:r>
              <a:endParaRPr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36" name="Google Shape;236;p31"/>
          <p:cNvSpPr txBox="1"/>
          <p:nvPr>
            <p:ph idx="4294967295" type="body"/>
          </p:nvPr>
        </p:nvSpPr>
        <p:spPr>
          <a:xfrm>
            <a:off x="311700" y="1225225"/>
            <a:ext cx="543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</a:t>
            </a:r>
            <a:r>
              <a:rPr lang="en"/>
              <a:t>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</a:t>
            </a:r>
            <a:r>
              <a:rPr lang="en"/>
              <a:t> </a:t>
            </a:r>
            <a:r>
              <a:rPr lang="en"/>
              <a:t>partition</a:t>
            </a:r>
            <a:r>
              <a:rPr lang="en"/>
              <a:t> </a:t>
            </a:r>
            <a:r>
              <a:rPr lang="en"/>
              <a:t>the</a:t>
            </a:r>
            <a:r>
              <a:rPr lang="en"/>
              <a:t> </a:t>
            </a:r>
            <a:r>
              <a:rPr lang="en"/>
              <a:t>network</a:t>
            </a:r>
            <a:r>
              <a:rPr lang="en"/>
              <a:t> </a:t>
            </a:r>
            <a:r>
              <a:rPr lang="en"/>
              <a:t>into</a:t>
            </a:r>
            <a:r>
              <a:rPr lang="en"/>
              <a:t> </a:t>
            </a:r>
            <a:r>
              <a:rPr lang="en"/>
              <a:t>sets</a:t>
            </a:r>
            <a:r>
              <a:rPr lang="en"/>
              <a:t> </a:t>
            </a:r>
            <a:r>
              <a:rPr lang="en"/>
              <a:t>of</a:t>
            </a:r>
            <a:r>
              <a:rPr lang="en"/>
              <a:t> </a:t>
            </a:r>
            <a:r>
              <a:rPr lang="en"/>
              <a:t>nodes</a:t>
            </a:r>
            <a:r>
              <a:rPr lang="en"/>
              <a:t> </a:t>
            </a:r>
            <a:r>
              <a:rPr lang="en"/>
              <a:t>that</a:t>
            </a:r>
            <a:r>
              <a:rPr lang="en"/>
              <a:t> </a:t>
            </a:r>
            <a:r>
              <a:rPr lang="en"/>
              <a:t>have</a:t>
            </a:r>
            <a:r>
              <a:rPr lang="en"/>
              <a:t> </a:t>
            </a:r>
            <a:r>
              <a:rPr lang="en"/>
              <a:t>something</a:t>
            </a:r>
            <a:r>
              <a:rPr lang="en"/>
              <a:t> </a:t>
            </a:r>
            <a:r>
              <a:rPr lang="en"/>
              <a:t>in</a:t>
            </a:r>
            <a:r>
              <a:rPr lang="en"/>
              <a:t> </a:t>
            </a:r>
            <a:r>
              <a:rPr lang="en"/>
              <a:t>common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</a:t>
            </a:r>
            <a:r>
              <a:rPr lang="en"/>
              <a:t> </a:t>
            </a:r>
            <a:r>
              <a:rPr lang="en"/>
              <a:t>ways: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The</a:t>
            </a:r>
            <a:r>
              <a:rPr i="1" lang="en"/>
              <a:t> </a:t>
            </a:r>
            <a:r>
              <a:rPr i="1" lang="en"/>
              <a:t>Group</a:t>
            </a:r>
            <a:r>
              <a:rPr i="1" lang="en"/>
              <a:t> </a:t>
            </a:r>
            <a:r>
              <a:rPr i="1" lang="en"/>
              <a:t>Approach</a:t>
            </a:r>
            <a:endParaRPr i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Belong</a:t>
            </a:r>
            <a:r>
              <a:rPr lang="en"/>
              <a:t> </a:t>
            </a:r>
            <a:r>
              <a:rPr lang="en"/>
              <a:t>to</a:t>
            </a:r>
            <a:r>
              <a:rPr lang="en"/>
              <a:t> </a:t>
            </a:r>
            <a:r>
              <a:rPr lang="en"/>
              <a:t>the</a:t>
            </a:r>
            <a:r>
              <a:rPr lang="en"/>
              <a:t> </a:t>
            </a:r>
            <a:r>
              <a:rPr b="1" lang="en"/>
              <a:t>same</a:t>
            </a:r>
            <a:r>
              <a:rPr lang="en"/>
              <a:t> </a:t>
            </a:r>
            <a:r>
              <a:rPr lang="en"/>
              <a:t>“</a:t>
            </a:r>
            <a:r>
              <a:rPr b="1" lang="en"/>
              <a:t>clique</a:t>
            </a:r>
            <a:r>
              <a:rPr lang="en"/>
              <a:t>”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Are</a:t>
            </a:r>
            <a:r>
              <a:rPr lang="en"/>
              <a:t> </a:t>
            </a:r>
            <a:r>
              <a:rPr b="1" lang="en"/>
              <a:t>densely</a:t>
            </a:r>
            <a:r>
              <a:rPr lang="en"/>
              <a:t> </a:t>
            </a:r>
            <a:r>
              <a:rPr b="1" lang="en"/>
              <a:t>connected</a:t>
            </a:r>
            <a:r>
              <a:rPr lang="en"/>
              <a:t> </a:t>
            </a:r>
            <a:r>
              <a:rPr lang="en"/>
              <a:t>to</a:t>
            </a:r>
            <a:r>
              <a:rPr lang="en"/>
              <a:t> </a:t>
            </a:r>
            <a:r>
              <a:rPr lang="en"/>
              <a:t>others</a:t>
            </a:r>
            <a:r>
              <a:rPr lang="en"/>
              <a:t> </a:t>
            </a:r>
            <a:r>
              <a:rPr lang="en"/>
              <a:t>in</a:t>
            </a:r>
            <a:r>
              <a:rPr lang="en"/>
              <a:t> </a:t>
            </a:r>
            <a:r>
              <a:rPr lang="en"/>
              <a:t>the</a:t>
            </a:r>
            <a:r>
              <a:rPr lang="en"/>
              <a:t> </a:t>
            </a:r>
            <a:r>
              <a:rPr lang="en"/>
              <a:t>same</a:t>
            </a:r>
            <a:r>
              <a:rPr lang="en"/>
              <a:t> </a:t>
            </a:r>
            <a:r>
              <a:rPr lang="en"/>
              <a:t>set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The</a:t>
            </a:r>
            <a:r>
              <a:rPr i="1" lang="en"/>
              <a:t> </a:t>
            </a:r>
            <a:r>
              <a:rPr i="1" lang="en"/>
              <a:t>Position</a:t>
            </a:r>
            <a:r>
              <a:rPr i="1" lang="en"/>
              <a:t> </a:t>
            </a:r>
            <a:r>
              <a:rPr i="1" lang="en"/>
              <a:t>Approach</a:t>
            </a:r>
            <a:endParaRPr i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Have</a:t>
            </a:r>
            <a:r>
              <a:rPr lang="en"/>
              <a:t> </a:t>
            </a:r>
            <a:r>
              <a:rPr lang="en"/>
              <a:t>the</a:t>
            </a:r>
            <a:r>
              <a:rPr lang="en"/>
              <a:t> </a:t>
            </a:r>
            <a:r>
              <a:rPr b="1" lang="en"/>
              <a:t>same</a:t>
            </a:r>
            <a:r>
              <a:rPr lang="en"/>
              <a:t> </a:t>
            </a:r>
            <a:r>
              <a:rPr b="1" lang="en"/>
              <a:t>pattern</a:t>
            </a:r>
            <a:r>
              <a:rPr lang="en"/>
              <a:t> </a:t>
            </a:r>
            <a:r>
              <a:rPr lang="en"/>
              <a:t>of</a:t>
            </a:r>
            <a:r>
              <a:rPr lang="en"/>
              <a:t> </a:t>
            </a:r>
            <a:r>
              <a:rPr lang="en"/>
              <a:t>connectivity</a:t>
            </a:r>
            <a:r>
              <a:rPr lang="en"/>
              <a:t> </a:t>
            </a:r>
            <a:r>
              <a:rPr lang="en"/>
              <a:t>to</a:t>
            </a:r>
            <a:r>
              <a:rPr lang="en"/>
              <a:t> </a:t>
            </a:r>
            <a:r>
              <a:rPr lang="en"/>
              <a:t>others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Are</a:t>
            </a:r>
            <a:r>
              <a:rPr lang="en"/>
              <a:t> </a:t>
            </a:r>
            <a:r>
              <a:rPr b="1" lang="en"/>
              <a:t>similar</a:t>
            </a:r>
            <a:r>
              <a:rPr lang="en"/>
              <a:t> </a:t>
            </a:r>
            <a:r>
              <a:rPr lang="en"/>
              <a:t>in</a:t>
            </a:r>
            <a:r>
              <a:rPr lang="en"/>
              <a:t> </a:t>
            </a:r>
            <a:r>
              <a:rPr lang="en"/>
              <a:t>the</a:t>
            </a:r>
            <a:r>
              <a:rPr lang="en"/>
              <a:t> </a:t>
            </a:r>
            <a:r>
              <a:rPr lang="en"/>
              <a:t>ways</a:t>
            </a:r>
            <a:r>
              <a:rPr lang="en"/>
              <a:t> they </a:t>
            </a:r>
            <a:r>
              <a:rPr lang="en"/>
              <a:t>link</a:t>
            </a:r>
            <a:r>
              <a:rPr lang="en"/>
              <a:t> </a:t>
            </a:r>
            <a:r>
              <a:rPr lang="en"/>
              <a:t>to</a:t>
            </a:r>
            <a:r>
              <a:rPr lang="en"/>
              <a:t> </a:t>
            </a:r>
            <a:r>
              <a:rPr lang="en"/>
              <a:t>others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ctrTitle"/>
          </p:nvPr>
        </p:nvSpPr>
        <p:spPr>
          <a:xfrm>
            <a:off x="3044700" y="945562"/>
            <a:ext cx="3054600" cy="203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Position in Networks</a:t>
            </a:r>
            <a:endParaRPr/>
          </a:p>
        </p:txBody>
      </p:sp>
      <p:sp>
        <p:nvSpPr>
          <p:cNvPr id="242" name="Google Shape;242;p3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position in networks</a:t>
            </a:r>
            <a:endParaRPr/>
          </a:p>
        </p:txBody>
      </p:sp>
      <p:sp>
        <p:nvSpPr>
          <p:cNvPr id="248" name="Google Shape;248;p3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standard social science </a:t>
            </a:r>
            <a:r>
              <a:rPr lang="en">
                <a:solidFill>
                  <a:srgbClr val="FF0000"/>
                </a:solidFill>
              </a:rPr>
              <a:t>social position</a:t>
            </a:r>
            <a:r>
              <a:rPr lang="en">
                <a:solidFill>
                  <a:schemeClr val="accent5"/>
                </a:solidFill>
              </a:rPr>
              <a:t> </a:t>
            </a:r>
            <a:r>
              <a:rPr lang="en"/>
              <a:t>is measured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a </a:t>
            </a:r>
            <a:r>
              <a:rPr b="1" lang="en"/>
              <a:t>rank </a:t>
            </a:r>
            <a:r>
              <a:rPr lang="en"/>
              <a:t>on some kind of ordinal or continuous </a:t>
            </a:r>
            <a:r>
              <a:rPr b="1" lang="en"/>
              <a:t>scale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Wealth, income, education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</a:t>
            </a:r>
            <a:r>
              <a:rPr b="1" lang="en"/>
              <a:t>membership </a:t>
            </a:r>
            <a:r>
              <a:rPr lang="en"/>
              <a:t>in some kind of nominal </a:t>
            </a:r>
            <a:r>
              <a:rPr b="1" lang="en"/>
              <a:t>category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Gender, race, marital status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Standard social science measures social position as </a:t>
            </a:r>
            <a:r>
              <a:rPr b="1" lang="en"/>
              <a:t>attribute similarity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Two actors occupy the same social position is they have the same rank on scale (e.g., college educated) or are members of the same nominal category (e.g., gender)</a:t>
            </a:r>
            <a:endParaRPr i="1"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position in networks</a:t>
            </a:r>
            <a:endParaRPr/>
          </a:p>
        </p:txBody>
      </p:sp>
      <p:sp>
        <p:nvSpPr>
          <p:cNvPr id="254" name="Google Shape;254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standard social science </a:t>
            </a:r>
            <a:r>
              <a:rPr lang="en">
                <a:solidFill>
                  <a:srgbClr val="FF0000"/>
                </a:solidFill>
              </a:rPr>
              <a:t>social position</a:t>
            </a:r>
            <a:r>
              <a:rPr lang="en">
                <a:solidFill>
                  <a:schemeClr val="accent5"/>
                </a:solidFill>
              </a:rPr>
              <a:t> </a:t>
            </a:r>
            <a:r>
              <a:rPr lang="en"/>
              <a:t>is measured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a </a:t>
            </a:r>
            <a:r>
              <a:rPr b="1" lang="en"/>
              <a:t>rank </a:t>
            </a:r>
            <a:r>
              <a:rPr lang="en"/>
              <a:t>on some kind of ordinal or continuous </a:t>
            </a:r>
            <a:r>
              <a:rPr b="1" lang="en"/>
              <a:t>scale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Wealth, income, education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</a:t>
            </a:r>
            <a:r>
              <a:rPr b="1" lang="en"/>
              <a:t>membership </a:t>
            </a:r>
            <a:r>
              <a:rPr lang="en"/>
              <a:t>in some kind of nominal </a:t>
            </a:r>
            <a:r>
              <a:rPr b="1" lang="en"/>
              <a:t>category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Gender, race, marital status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Standard social science measures social position as </a:t>
            </a:r>
            <a:r>
              <a:rPr b="1" lang="en"/>
              <a:t>attribute similarity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Two actors occupy the same social position is they have the same rank on scale (e.g., college educated) or are members of the same nominal category (e.g., gender)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b="1" lang="en"/>
              <a:t>social network analysis</a:t>
            </a:r>
            <a:r>
              <a:rPr lang="en"/>
              <a:t> </a:t>
            </a:r>
            <a:r>
              <a:rPr lang="en">
                <a:solidFill>
                  <a:srgbClr val="FF0000"/>
                </a:solidFill>
              </a:rPr>
              <a:t>social position </a:t>
            </a:r>
            <a:r>
              <a:rPr lang="en"/>
              <a:t>is measured by the pattern of relations each actor has with other actors in the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network analysis measures social position as </a:t>
            </a:r>
            <a:r>
              <a:rPr b="1" lang="en"/>
              <a:t>relational similarity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position in networks</a:t>
            </a:r>
            <a:endParaRPr/>
          </a:p>
        </p:txBody>
      </p:sp>
      <p:sp>
        <p:nvSpPr>
          <p:cNvPr id="260" name="Google Shape;260;p35"/>
          <p:cNvSpPr txBox="1"/>
          <p:nvPr>
            <p:ph idx="1" type="body"/>
          </p:nvPr>
        </p:nvSpPr>
        <p:spPr>
          <a:xfrm>
            <a:off x="311700" y="1225225"/>
            <a:ext cx="5765700" cy="33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Positional analysis</a:t>
            </a:r>
            <a:r>
              <a:rPr lang="en"/>
              <a:t> is the branch of social network analysis in charge of: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Defining different notions of network position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Using graph theory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Developing techniques to measure them: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Using matrix algebra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position of actor </a:t>
            </a:r>
            <a:r>
              <a:rPr b="1" lang="en"/>
              <a:t>b</a:t>
            </a:r>
            <a:r>
              <a:rPr lang="en"/>
              <a:t> in the network is given by their pattern of relations to other 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the </a:t>
            </a:r>
            <a:r>
              <a:rPr b="1" lang="en"/>
              <a:t>position approach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FF0000"/>
              </a:solidFill>
            </a:endParaRPr>
          </a:p>
        </p:txBody>
      </p:sp>
      <p:graphicFrame>
        <p:nvGraphicFramePr>
          <p:cNvPr id="261" name="Google Shape;261;p35"/>
          <p:cNvGraphicFramePr/>
          <p:nvPr/>
        </p:nvGraphicFramePr>
        <p:xfrm>
          <a:off x="5891688" y="22561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4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--</a:t>
                      </a:r>
                      <a:endParaRPr sz="1300"/>
                    </a:p>
                  </a:txBody>
                  <a:tcPr marT="82275" marB="8227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--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</a:tr>
              <a:tr h="34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--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/>
                </a:tc>
              </a:tr>
              <a:tr h="34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--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</a:tr>
              <a:tr h="34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--</a:t>
                      </a:r>
                      <a:endParaRPr sz="1300"/>
                    </a:p>
                  </a:txBody>
                  <a:tcPr marT="82275" marB="82275" marR="91425" marL="91425" anchor="ctr"/>
                </a:tc>
              </a:tr>
            </a:tbl>
          </a:graphicData>
        </a:graphic>
      </p:graphicFrame>
      <p:grpSp>
        <p:nvGrpSpPr>
          <p:cNvPr id="262" name="Google Shape;262;p35"/>
          <p:cNvGrpSpPr/>
          <p:nvPr/>
        </p:nvGrpSpPr>
        <p:grpSpPr>
          <a:xfrm>
            <a:off x="5341637" y="803350"/>
            <a:ext cx="3490675" cy="1452782"/>
            <a:chOff x="5264900" y="3059073"/>
            <a:chExt cx="3490675" cy="1614202"/>
          </a:xfrm>
        </p:grpSpPr>
        <p:pic>
          <p:nvPicPr>
            <p:cNvPr id="263" name="Google Shape;263;p35"/>
            <p:cNvPicPr preferRelativeResize="0"/>
            <p:nvPr/>
          </p:nvPicPr>
          <p:blipFill rotWithShape="1">
            <a:blip r:embed="rId3">
              <a:alphaModFix/>
            </a:blip>
            <a:srcRect b="54218" l="50926" r="2550" t="22708"/>
            <a:stretch/>
          </p:blipFill>
          <p:spPr>
            <a:xfrm>
              <a:off x="5264900" y="3059073"/>
              <a:ext cx="3490675" cy="132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35"/>
            <p:cNvSpPr txBox="1"/>
            <p:nvPr/>
          </p:nvSpPr>
          <p:spPr>
            <a:xfrm>
              <a:off x="5782900" y="4380775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00FF"/>
                  </a:solidFill>
                  <a:latin typeface="Economica"/>
                  <a:ea typeface="Economica"/>
                  <a:cs typeface="Economica"/>
                  <a:sym typeface="Economica"/>
                </a:rPr>
                <a:t>Directed Graph</a:t>
              </a:r>
              <a:endParaRPr b="1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65" name="Google Shape;265;p35"/>
          <p:cNvSpPr/>
          <p:nvPr/>
        </p:nvSpPr>
        <p:spPr>
          <a:xfrm>
            <a:off x="6032750" y="1048118"/>
            <a:ext cx="655800" cy="5415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5"/>
          <p:cNvSpPr/>
          <p:nvPr/>
        </p:nvSpPr>
        <p:spPr>
          <a:xfrm>
            <a:off x="6178275" y="2905492"/>
            <a:ext cx="2156400" cy="494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5"/>
          <p:cNvSpPr/>
          <p:nvPr/>
        </p:nvSpPr>
        <p:spPr>
          <a:xfrm>
            <a:off x="6621450" y="2529720"/>
            <a:ext cx="516000" cy="1899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position in networks</a:t>
            </a:r>
            <a:endParaRPr/>
          </a:p>
        </p:txBody>
      </p:sp>
      <p:sp>
        <p:nvSpPr>
          <p:cNvPr id="273" name="Google Shape;273;p36"/>
          <p:cNvSpPr txBox="1"/>
          <p:nvPr>
            <p:ph idx="1" type="body"/>
          </p:nvPr>
        </p:nvSpPr>
        <p:spPr>
          <a:xfrm>
            <a:off x="311700" y="1225225"/>
            <a:ext cx="5765700" cy="33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Positional analysis</a:t>
            </a:r>
            <a:r>
              <a:rPr lang="en"/>
              <a:t> is the branch of social network analysis in charge of: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Defining different notions of network position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Using graph theory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Developing techniques to measure them: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Using matrix algebra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position of actor </a:t>
            </a:r>
            <a:r>
              <a:rPr b="1" lang="en"/>
              <a:t>b</a:t>
            </a:r>
            <a:r>
              <a:rPr lang="en"/>
              <a:t> in the network is given by their pattern of relations to other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How similar (or different) in terms of their connectivity pattern is b from other actors?</a:t>
            </a:r>
            <a:endParaRPr i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Can we create groups or classes of actors based on their relational similarity?</a:t>
            </a:r>
            <a:endParaRPr i="1">
              <a:solidFill>
                <a:srgbClr val="FF0000"/>
              </a:solidFill>
            </a:endParaRPr>
          </a:p>
        </p:txBody>
      </p:sp>
      <p:graphicFrame>
        <p:nvGraphicFramePr>
          <p:cNvPr id="274" name="Google Shape;274;p36"/>
          <p:cNvGraphicFramePr/>
          <p:nvPr/>
        </p:nvGraphicFramePr>
        <p:xfrm>
          <a:off x="5891688" y="22561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398425"/>
                <a:gridCol w="398425"/>
                <a:gridCol w="398425"/>
                <a:gridCol w="398425"/>
                <a:gridCol w="398425"/>
                <a:gridCol w="398425"/>
              </a:tblGrid>
              <a:tr h="34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--</a:t>
                      </a:r>
                      <a:endParaRPr sz="1300"/>
                    </a:p>
                  </a:txBody>
                  <a:tcPr marT="82275" marB="8227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--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</a:tr>
              <a:tr h="34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--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/>
                </a:tc>
              </a:tr>
              <a:tr h="34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--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</a:tr>
              <a:tr h="34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</a:t>
                      </a:r>
                      <a:endParaRPr sz="1300"/>
                    </a:p>
                  </a:txBody>
                  <a:tcPr marT="82275" marB="8227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0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82275" marB="8227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--</a:t>
                      </a:r>
                      <a:endParaRPr sz="1300"/>
                    </a:p>
                  </a:txBody>
                  <a:tcPr marT="82275" marB="82275" marR="91425" marL="91425" anchor="ctr"/>
                </a:tc>
              </a:tr>
            </a:tbl>
          </a:graphicData>
        </a:graphic>
      </p:graphicFrame>
      <p:grpSp>
        <p:nvGrpSpPr>
          <p:cNvPr id="275" name="Google Shape;275;p36"/>
          <p:cNvGrpSpPr/>
          <p:nvPr/>
        </p:nvGrpSpPr>
        <p:grpSpPr>
          <a:xfrm>
            <a:off x="5341637" y="803350"/>
            <a:ext cx="3490675" cy="1452782"/>
            <a:chOff x="5264900" y="3059073"/>
            <a:chExt cx="3490675" cy="1614202"/>
          </a:xfrm>
        </p:grpSpPr>
        <p:pic>
          <p:nvPicPr>
            <p:cNvPr id="276" name="Google Shape;276;p36"/>
            <p:cNvPicPr preferRelativeResize="0"/>
            <p:nvPr/>
          </p:nvPicPr>
          <p:blipFill rotWithShape="1">
            <a:blip r:embed="rId3">
              <a:alphaModFix/>
            </a:blip>
            <a:srcRect b="54218" l="50926" r="2550" t="22708"/>
            <a:stretch/>
          </p:blipFill>
          <p:spPr>
            <a:xfrm>
              <a:off x="5264900" y="3059073"/>
              <a:ext cx="3490675" cy="132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" name="Google Shape;277;p36"/>
            <p:cNvSpPr txBox="1"/>
            <p:nvPr/>
          </p:nvSpPr>
          <p:spPr>
            <a:xfrm>
              <a:off x="5782900" y="4380775"/>
              <a:ext cx="2464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00FF"/>
                  </a:solidFill>
                  <a:latin typeface="Economica"/>
                  <a:ea typeface="Economica"/>
                  <a:cs typeface="Economica"/>
                  <a:sym typeface="Economica"/>
                </a:rPr>
                <a:t>Directed Graph</a:t>
              </a:r>
              <a:endParaRPr b="1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endParaRPr>
            </a:p>
          </p:txBody>
        </p:sp>
      </p:grpSp>
      <p:sp>
        <p:nvSpPr>
          <p:cNvPr id="278" name="Google Shape;278;p36"/>
          <p:cNvSpPr/>
          <p:nvPr/>
        </p:nvSpPr>
        <p:spPr>
          <a:xfrm>
            <a:off x="6032750" y="1048118"/>
            <a:ext cx="655800" cy="5415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6"/>
          <p:cNvSpPr/>
          <p:nvPr/>
        </p:nvSpPr>
        <p:spPr>
          <a:xfrm>
            <a:off x="6178275" y="2905492"/>
            <a:ext cx="2156400" cy="494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6"/>
          <p:cNvSpPr/>
          <p:nvPr/>
        </p:nvSpPr>
        <p:spPr>
          <a:xfrm>
            <a:off x="6621450" y="2529720"/>
            <a:ext cx="516000" cy="1899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Differences between positional and clique analysis</a:t>
            </a:r>
            <a:endParaRPr/>
          </a:p>
        </p:txBody>
      </p:sp>
      <p:sp>
        <p:nvSpPr>
          <p:cNvPr id="286" name="Google Shape;286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Positional analysis</a:t>
            </a:r>
            <a:r>
              <a:rPr lang="en"/>
              <a:t> is both similar and different from </a:t>
            </a:r>
            <a:r>
              <a:rPr b="1" lang="en"/>
              <a:t>the group approach </a:t>
            </a:r>
            <a:r>
              <a:rPr lang="en"/>
              <a:t>to finding sets of similar nodes</a:t>
            </a:r>
            <a:r>
              <a:rPr lang="en"/>
              <a:t>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Both partition the original set of actors (nodes) into subsets (subgraphs). But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</a:t>
            </a:r>
            <a:r>
              <a:rPr b="1" lang="en"/>
              <a:t>the group approach</a:t>
            </a:r>
            <a:r>
              <a:rPr lang="en"/>
              <a:t> the aim is to find clusters of actors that are </a:t>
            </a:r>
            <a:r>
              <a:rPr i="1" lang="en"/>
              <a:t>connected to one another</a:t>
            </a:r>
            <a:endParaRPr i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 </a:t>
            </a:r>
            <a:r>
              <a:rPr b="1" lang="en"/>
              <a:t>the position approach </a:t>
            </a:r>
            <a:r>
              <a:rPr lang="en"/>
              <a:t>the aim is to find a cluster of actors who have </a:t>
            </a:r>
            <a:r>
              <a:rPr i="1" lang="en"/>
              <a:t>the same pattern of connections to other actors</a:t>
            </a:r>
            <a:endParaRPr i="1"/>
          </a:p>
          <a:p>
            <a:pPr indent="0" lvl="0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287" name="Google Shape;287;p37"/>
          <p:cNvPicPr preferRelativeResize="0"/>
          <p:nvPr/>
        </p:nvPicPr>
        <p:blipFill rotWithShape="1">
          <a:blip r:embed="rId3">
            <a:alphaModFix/>
          </a:blip>
          <a:srcRect b="10563" l="0" r="0" t="0"/>
          <a:stretch/>
        </p:blipFill>
        <p:spPr>
          <a:xfrm>
            <a:off x="5260575" y="3096725"/>
            <a:ext cx="3428999" cy="1853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7"/>
          <p:cNvPicPr preferRelativeResize="0"/>
          <p:nvPr/>
        </p:nvPicPr>
        <p:blipFill rotWithShape="1">
          <a:blip r:embed="rId4">
            <a:alphaModFix/>
          </a:blip>
          <a:srcRect b="9739" l="13074" r="0" t="3380"/>
          <a:stretch/>
        </p:blipFill>
        <p:spPr>
          <a:xfrm>
            <a:off x="278875" y="3141262"/>
            <a:ext cx="3200399" cy="17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7"/>
          <p:cNvSpPr txBox="1"/>
          <p:nvPr/>
        </p:nvSpPr>
        <p:spPr>
          <a:xfrm>
            <a:off x="2132400" y="4655813"/>
            <a:ext cx="1665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Group Approach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0" name="Google Shape;290;p37"/>
          <p:cNvSpPr txBox="1"/>
          <p:nvPr/>
        </p:nvSpPr>
        <p:spPr>
          <a:xfrm>
            <a:off x="7167288" y="4676075"/>
            <a:ext cx="1665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Position Approach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Equivalence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301" name="Google Shape;301;p39"/>
          <p:cNvSpPr txBox="1"/>
          <p:nvPr>
            <p:ph idx="1" type="body"/>
          </p:nvPr>
        </p:nvSpPr>
        <p:spPr>
          <a:xfrm>
            <a:off x="311700" y="1225225"/>
            <a:ext cx="4303800" cy="3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Structural equivalence </a:t>
            </a:r>
            <a:r>
              <a:rPr lang="en"/>
              <a:t>is the simplest of the equivalence notions in positional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i="1" lang="en">
                <a:solidFill>
                  <a:srgbClr val="FF0000"/>
                </a:solidFill>
              </a:rPr>
              <a:t>Two nodes u and v are structurally equivalent if they are connected to the same others</a:t>
            </a:r>
            <a:endParaRPr b="1" i="1"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N(a) is the set of vertices vertex is connected to (a’s neighborhood)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N(b) is the set of vertices vertex b is connected to (b’s neighborhood)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Then a and b are structurally equivalent if N(a) = N(b)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Without counting a or b!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9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03" name="Google Shape;303;p39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04" name="Google Shape;304;p39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05" name="Google Shape;305;p39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306" name="Google Shape;306;p39"/>
          <p:cNvCxnSpPr>
            <a:stCxn id="302" idx="3"/>
            <a:endCxn id="303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39"/>
          <p:cNvCxnSpPr>
            <a:stCxn id="302" idx="4"/>
            <a:endCxn id="304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39"/>
          <p:cNvCxnSpPr>
            <a:stCxn id="302" idx="4"/>
            <a:endCxn id="305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39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10" name="Google Shape;310;p39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11" name="Google Shape;311;p39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12" name="Google Shape;312;p39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313" name="Google Shape;313;p39"/>
          <p:cNvCxnSpPr>
            <a:stCxn id="309" idx="3"/>
            <a:endCxn id="310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39"/>
          <p:cNvCxnSpPr>
            <a:stCxn id="312" idx="0"/>
            <a:endCxn id="310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39"/>
          <p:cNvCxnSpPr>
            <a:stCxn id="309" idx="5"/>
            <a:endCxn id="311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39"/>
          <p:cNvCxnSpPr>
            <a:stCxn id="311" idx="2"/>
            <a:endCxn id="310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39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318" name="Google Shape;318;p39"/>
          <p:cNvCxnSpPr>
            <a:stCxn id="317" idx="0"/>
            <a:endCxn id="310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39"/>
          <p:cNvCxnSpPr>
            <a:stCxn id="311" idx="3"/>
            <a:endCxn id="312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39"/>
          <p:cNvCxnSpPr>
            <a:stCxn id="311" idx="3"/>
            <a:endCxn id="317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39"/>
          <p:cNvCxnSpPr>
            <a:stCxn id="309" idx="4"/>
            <a:endCxn id="317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39"/>
          <p:cNvCxnSpPr>
            <a:stCxn id="302" idx="0"/>
            <a:endCxn id="312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39"/>
          <p:cNvCxnSpPr>
            <a:stCxn id="312" idx="6"/>
            <a:endCxn id="317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9"/>
          <p:cNvCxnSpPr>
            <a:stCxn id="309" idx="4"/>
            <a:endCxn id="312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39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26" name="Google Shape;326;p39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27" name="Google Shape;327;p39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328" name="Google Shape;328;p39"/>
          <p:cNvCxnSpPr>
            <a:stCxn id="327" idx="6"/>
            <a:endCxn id="326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9"/>
          <p:cNvCxnSpPr>
            <a:stCxn id="327" idx="0"/>
            <a:endCxn id="311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39"/>
          <p:cNvCxnSpPr>
            <a:stCxn id="302" idx="5"/>
            <a:endCxn id="325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39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32" name="Google Shape;332;p39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33" name="Google Shape;333;p39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334" name="Google Shape;334;p39"/>
          <p:cNvCxnSpPr>
            <a:stCxn id="327" idx="6"/>
            <a:endCxn id="333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39"/>
          <p:cNvCxnSpPr>
            <a:stCxn id="327" idx="5"/>
            <a:endCxn id="332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39"/>
          <p:cNvCxnSpPr>
            <a:stCxn id="327" idx="7"/>
            <a:endCxn id="331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0"/>
          <p:cNvSpPr/>
          <p:nvPr/>
        </p:nvSpPr>
        <p:spPr>
          <a:xfrm>
            <a:off x="5410397" y="2809148"/>
            <a:ext cx="3267000" cy="786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0"/>
          <p:cNvSpPr/>
          <p:nvPr/>
        </p:nvSpPr>
        <p:spPr>
          <a:xfrm>
            <a:off x="466600" y="2809148"/>
            <a:ext cx="3267000" cy="7860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0"/>
          <p:cNvSpPr/>
          <p:nvPr/>
        </p:nvSpPr>
        <p:spPr>
          <a:xfrm>
            <a:off x="466600" y="4107399"/>
            <a:ext cx="3267000" cy="8799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345" name="Google Shape;345;p40"/>
          <p:cNvSpPr txBox="1"/>
          <p:nvPr>
            <p:ph idx="1" type="body"/>
          </p:nvPr>
        </p:nvSpPr>
        <p:spPr>
          <a:xfrm>
            <a:off x="311700" y="1225216"/>
            <a:ext cx="8520600" cy="13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Kin </a:t>
            </a:r>
            <a:r>
              <a:rPr lang="en"/>
              <a:t>and </a:t>
            </a:r>
            <a:r>
              <a:rPr b="1" lang="en"/>
              <a:t>hierarchical </a:t>
            </a:r>
            <a:r>
              <a:rPr lang="en"/>
              <a:t>relations provide the basic model of structural equivalence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Parents are </a:t>
            </a:r>
            <a:r>
              <a:rPr lang="en"/>
              <a:t>structurally </a:t>
            </a:r>
            <a:r>
              <a:rPr lang="en"/>
              <a:t>equivalent (in relation to offspring)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Siblings are structurally equivalent (in relation to parents)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work settings people at the same level of the hierarchy are structurally equivalent</a:t>
            </a:r>
            <a:endParaRPr/>
          </a:p>
        </p:txBody>
      </p:sp>
      <p:sp>
        <p:nvSpPr>
          <p:cNvPr id="346" name="Google Shape;346;p40"/>
          <p:cNvSpPr/>
          <p:nvPr/>
        </p:nvSpPr>
        <p:spPr>
          <a:xfrm>
            <a:off x="1035360" y="4271740"/>
            <a:ext cx="391200" cy="3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0"/>
          <p:cNvSpPr/>
          <p:nvPr/>
        </p:nvSpPr>
        <p:spPr>
          <a:xfrm>
            <a:off x="1035360" y="3165140"/>
            <a:ext cx="391200" cy="3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40"/>
          <p:cNvSpPr/>
          <p:nvPr/>
        </p:nvSpPr>
        <p:spPr>
          <a:xfrm>
            <a:off x="2823669" y="3165140"/>
            <a:ext cx="391200" cy="3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40"/>
          <p:cNvSpPr/>
          <p:nvPr/>
        </p:nvSpPr>
        <p:spPr>
          <a:xfrm>
            <a:off x="2823669" y="4271740"/>
            <a:ext cx="391200" cy="3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0" name="Google Shape;350;p40"/>
          <p:cNvCxnSpPr>
            <a:stCxn id="347" idx="5"/>
            <a:endCxn id="349" idx="1"/>
          </p:cNvCxnSpPr>
          <p:nvPr/>
        </p:nvCxnSpPr>
        <p:spPr>
          <a:xfrm>
            <a:off x="1369270" y="3438619"/>
            <a:ext cx="1511700" cy="87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1" name="Google Shape;351;p40"/>
          <p:cNvCxnSpPr>
            <a:stCxn id="347" idx="4"/>
            <a:endCxn id="346" idx="0"/>
          </p:cNvCxnSpPr>
          <p:nvPr/>
        </p:nvCxnSpPr>
        <p:spPr>
          <a:xfrm>
            <a:off x="1230960" y="3485540"/>
            <a:ext cx="0" cy="78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" name="Google Shape;352;p40"/>
          <p:cNvCxnSpPr>
            <a:stCxn id="348" idx="4"/>
            <a:endCxn id="349" idx="0"/>
          </p:cNvCxnSpPr>
          <p:nvPr/>
        </p:nvCxnSpPr>
        <p:spPr>
          <a:xfrm>
            <a:off x="3019269" y="3485540"/>
            <a:ext cx="0" cy="78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" name="Google Shape;353;p40"/>
          <p:cNvCxnSpPr>
            <a:stCxn id="348" idx="3"/>
            <a:endCxn id="346" idx="7"/>
          </p:cNvCxnSpPr>
          <p:nvPr/>
        </p:nvCxnSpPr>
        <p:spPr>
          <a:xfrm flipH="1">
            <a:off x="1369259" y="3438619"/>
            <a:ext cx="1511700" cy="87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4" name="Google Shape;354;p40"/>
          <p:cNvSpPr txBox="1"/>
          <p:nvPr/>
        </p:nvSpPr>
        <p:spPr>
          <a:xfrm>
            <a:off x="638296" y="2837202"/>
            <a:ext cx="1185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5" name="Google Shape;355;p40"/>
          <p:cNvSpPr txBox="1"/>
          <p:nvPr/>
        </p:nvSpPr>
        <p:spPr>
          <a:xfrm>
            <a:off x="2426605" y="2837202"/>
            <a:ext cx="1185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Parent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6" name="Google Shape;356;p40"/>
          <p:cNvSpPr txBox="1"/>
          <p:nvPr/>
        </p:nvSpPr>
        <p:spPr>
          <a:xfrm>
            <a:off x="638296" y="4592270"/>
            <a:ext cx="1185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Son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7" name="Google Shape;357;p40"/>
          <p:cNvSpPr txBox="1"/>
          <p:nvPr/>
        </p:nvSpPr>
        <p:spPr>
          <a:xfrm>
            <a:off x="2426605" y="4592270"/>
            <a:ext cx="1185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Daughter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8" name="Google Shape;358;p40"/>
          <p:cNvSpPr/>
          <p:nvPr/>
        </p:nvSpPr>
        <p:spPr>
          <a:xfrm>
            <a:off x="5954191" y="4305497"/>
            <a:ext cx="391200" cy="3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0"/>
          <p:cNvSpPr/>
          <p:nvPr/>
        </p:nvSpPr>
        <p:spPr>
          <a:xfrm>
            <a:off x="5954191" y="3198897"/>
            <a:ext cx="391200" cy="3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0"/>
          <p:cNvSpPr/>
          <p:nvPr/>
        </p:nvSpPr>
        <p:spPr>
          <a:xfrm>
            <a:off x="7742500" y="3198897"/>
            <a:ext cx="391200" cy="3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0"/>
          <p:cNvSpPr/>
          <p:nvPr/>
        </p:nvSpPr>
        <p:spPr>
          <a:xfrm>
            <a:off x="7742500" y="4305497"/>
            <a:ext cx="391200" cy="32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2" name="Google Shape;362;p40"/>
          <p:cNvCxnSpPr>
            <a:stCxn id="359" idx="5"/>
            <a:endCxn id="361" idx="1"/>
          </p:cNvCxnSpPr>
          <p:nvPr/>
        </p:nvCxnSpPr>
        <p:spPr>
          <a:xfrm>
            <a:off x="6288101" y="3472376"/>
            <a:ext cx="1511700" cy="87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3" name="Google Shape;363;p40"/>
          <p:cNvCxnSpPr>
            <a:stCxn id="359" idx="4"/>
            <a:endCxn id="358" idx="0"/>
          </p:cNvCxnSpPr>
          <p:nvPr/>
        </p:nvCxnSpPr>
        <p:spPr>
          <a:xfrm>
            <a:off x="6149791" y="3519297"/>
            <a:ext cx="0" cy="78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40"/>
          <p:cNvCxnSpPr>
            <a:stCxn id="360" idx="4"/>
            <a:endCxn id="361" idx="0"/>
          </p:cNvCxnSpPr>
          <p:nvPr/>
        </p:nvCxnSpPr>
        <p:spPr>
          <a:xfrm>
            <a:off x="7938100" y="3519297"/>
            <a:ext cx="0" cy="78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" name="Google Shape;365;p40"/>
          <p:cNvCxnSpPr>
            <a:stCxn id="360" idx="3"/>
            <a:endCxn id="358" idx="7"/>
          </p:cNvCxnSpPr>
          <p:nvPr/>
        </p:nvCxnSpPr>
        <p:spPr>
          <a:xfrm flipH="1">
            <a:off x="6288090" y="3472376"/>
            <a:ext cx="1511700" cy="87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6" name="Google Shape;366;p40"/>
          <p:cNvSpPr txBox="1"/>
          <p:nvPr/>
        </p:nvSpPr>
        <p:spPr>
          <a:xfrm>
            <a:off x="5557127" y="2870959"/>
            <a:ext cx="1185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Supervisor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67" name="Google Shape;367;p40"/>
          <p:cNvSpPr txBox="1"/>
          <p:nvPr/>
        </p:nvSpPr>
        <p:spPr>
          <a:xfrm>
            <a:off x="7345436" y="2870959"/>
            <a:ext cx="1185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Supervisor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68" name="Google Shape;368;p40"/>
          <p:cNvSpPr txBox="1"/>
          <p:nvPr/>
        </p:nvSpPr>
        <p:spPr>
          <a:xfrm>
            <a:off x="5557127" y="4626027"/>
            <a:ext cx="1185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Worker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69" name="Google Shape;369;p40"/>
          <p:cNvSpPr txBox="1"/>
          <p:nvPr/>
        </p:nvSpPr>
        <p:spPr>
          <a:xfrm>
            <a:off x="7345436" y="4626027"/>
            <a:ext cx="11853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Economica"/>
                <a:ea typeface="Economica"/>
                <a:cs typeface="Economica"/>
                <a:sym typeface="Economica"/>
              </a:rPr>
              <a:t>Worker</a:t>
            </a:r>
            <a:endParaRPr b="1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70" name="Google Shape;370;p40"/>
          <p:cNvSpPr/>
          <p:nvPr/>
        </p:nvSpPr>
        <p:spPr>
          <a:xfrm>
            <a:off x="5410400" y="4107398"/>
            <a:ext cx="3267000" cy="8799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1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C, D, E} are </a:t>
            </a:r>
            <a:r>
              <a:rPr b="1" lang="en"/>
              <a:t>structurally equivalent!</a:t>
            </a:r>
            <a:endParaRPr b="1"/>
          </a:p>
        </p:txBody>
      </p:sp>
      <p:sp>
        <p:nvSpPr>
          <p:cNvPr id="376" name="Google Shape;376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377" name="Google Shape;377;p41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78" name="Google Shape;378;p41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79" name="Google Shape;379;p41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80" name="Google Shape;380;p41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381" name="Google Shape;381;p41"/>
          <p:cNvCxnSpPr>
            <a:stCxn id="377" idx="3"/>
            <a:endCxn id="378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41"/>
          <p:cNvCxnSpPr>
            <a:stCxn id="377" idx="4"/>
            <a:endCxn id="379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41"/>
          <p:cNvCxnSpPr>
            <a:stCxn id="377" idx="4"/>
            <a:endCxn id="380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4" name="Google Shape;384;p41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85" name="Google Shape;385;p41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86" name="Google Shape;386;p41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87" name="Google Shape;387;p41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388" name="Google Shape;388;p41"/>
          <p:cNvCxnSpPr>
            <a:stCxn id="384" idx="3"/>
            <a:endCxn id="385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41"/>
          <p:cNvCxnSpPr>
            <a:stCxn id="387" idx="0"/>
            <a:endCxn id="385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41"/>
          <p:cNvCxnSpPr>
            <a:stCxn id="384" idx="5"/>
            <a:endCxn id="386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41"/>
          <p:cNvCxnSpPr>
            <a:stCxn id="386" idx="2"/>
            <a:endCxn id="385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41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393" name="Google Shape;393;p41"/>
          <p:cNvCxnSpPr>
            <a:stCxn id="392" idx="0"/>
            <a:endCxn id="385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41"/>
          <p:cNvCxnSpPr>
            <a:stCxn id="386" idx="3"/>
            <a:endCxn id="387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41"/>
          <p:cNvCxnSpPr>
            <a:stCxn id="386" idx="3"/>
            <a:endCxn id="392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41"/>
          <p:cNvCxnSpPr>
            <a:stCxn id="384" idx="4"/>
            <a:endCxn id="392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41"/>
          <p:cNvCxnSpPr>
            <a:stCxn id="377" idx="0"/>
            <a:endCxn id="387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41"/>
          <p:cNvCxnSpPr>
            <a:stCxn id="387" idx="6"/>
            <a:endCxn id="392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41"/>
          <p:cNvCxnSpPr>
            <a:stCxn id="384" idx="4"/>
            <a:endCxn id="387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0" name="Google Shape;400;p41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01" name="Google Shape;401;p41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02" name="Google Shape;402;p41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403" name="Google Shape;403;p41"/>
          <p:cNvCxnSpPr>
            <a:stCxn id="402" idx="6"/>
            <a:endCxn id="401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41"/>
          <p:cNvCxnSpPr>
            <a:stCxn id="402" idx="0"/>
            <a:endCxn id="386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41"/>
          <p:cNvCxnSpPr>
            <a:stCxn id="377" idx="5"/>
            <a:endCxn id="400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41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07" name="Google Shape;407;p41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08" name="Google Shape;408;p41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409" name="Google Shape;409;p41"/>
          <p:cNvCxnSpPr>
            <a:stCxn id="402" idx="6"/>
            <a:endCxn id="408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41"/>
          <p:cNvCxnSpPr>
            <a:stCxn id="402" idx="5"/>
            <a:endCxn id="407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41"/>
          <p:cNvCxnSpPr>
            <a:stCxn id="402" idx="7"/>
            <a:endCxn id="406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2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C, D, E} are </a:t>
            </a:r>
            <a:r>
              <a:rPr b="1" lang="en"/>
              <a:t>structurally equivalent!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so are {L, M, N, O}</a:t>
            </a:r>
            <a:endParaRPr/>
          </a:p>
        </p:txBody>
      </p:sp>
      <p:sp>
        <p:nvSpPr>
          <p:cNvPr id="417" name="Google Shape;417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418" name="Google Shape;418;p42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19" name="Google Shape;419;p42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20" name="Google Shape;420;p42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21" name="Google Shape;421;p42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422" name="Google Shape;422;p42"/>
          <p:cNvCxnSpPr>
            <a:stCxn id="418" idx="3"/>
            <a:endCxn id="419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42"/>
          <p:cNvCxnSpPr>
            <a:stCxn id="418" idx="4"/>
            <a:endCxn id="420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42"/>
          <p:cNvCxnSpPr>
            <a:stCxn id="418" idx="4"/>
            <a:endCxn id="421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42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26" name="Google Shape;426;p42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27" name="Google Shape;427;p42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28" name="Google Shape;428;p42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429" name="Google Shape;429;p42"/>
          <p:cNvCxnSpPr>
            <a:stCxn id="425" idx="3"/>
            <a:endCxn id="426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42"/>
          <p:cNvCxnSpPr>
            <a:stCxn id="428" idx="0"/>
            <a:endCxn id="426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42"/>
          <p:cNvCxnSpPr>
            <a:stCxn id="425" idx="5"/>
            <a:endCxn id="427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42"/>
          <p:cNvCxnSpPr>
            <a:stCxn id="427" idx="2"/>
            <a:endCxn id="426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" name="Google Shape;433;p42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434" name="Google Shape;434;p42"/>
          <p:cNvCxnSpPr>
            <a:stCxn id="433" idx="0"/>
            <a:endCxn id="426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42"/>
          <p:cNvCxnSpPr>
            <a:stCxn id="427" idx="3"/>
            <a:endCxn id="428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42"/>
          <p:cNvCxnSpPr>
            <a:stCxn id="427" idx="3"/>
            <a:endCxn id="433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42"/>
          <p:cNvCxnSpPr>
            <a:stCxn id="425" idx="4"/>
            <a:endCxn id="433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42"/>
          <p:cNvCxnSpPr>
            <a:stCxn id="418" idx="0"/>
            <a:endCxn id="428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42"/>
          <p:cNvCxnSpPr>
            <a:stCxn id="428" idx="6"/>
            <a:endCxn id="433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42"/>
          <p:cNvCxnSpPr>
            <a:stCxn id="425" idx="4"/>
            <a:endCxn id="428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42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42" name="Google Shape;442;p42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43" name="Google Shape;443;p42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444" name="Google Shape;444;p42"/>
          <p:cNvCxnSpPr>
            <a:stCxn id="443" idx="6"/>
            <a:endCxn id="442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42"/>
          <p:cNvCxnSpPr>
            <a:stCxn id="443" idx="0"/>
            <a:endCxn id="427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42"/>
          <p:cNvCxnSpPr>
            <a:stCxn id="418" idx="5"/>
            <a:endCxn id="441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42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48" name="Google Shape;448;p42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49" name="Google Shape;449;p42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450" name="Google Shape;450;p42"/>
          <p:cNvCxnSpPr>
            <a:stCxn id="443" idx="6"/>
            <a:endCxn id="449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42"/>
          <p:cNvCxnSpPr>
            <a:stCxn id="443" idx="5"/>
            <a:endCxn id="448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42"/>
          <p:cNvCxnSpPr>
            <a:stCxn id="443" idx="7"/>
            <a:endCxn id="447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3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C, D, E} are </a:t>
            </a:r>
            <a:r>
              <a:rPr b="1" lang="en"/>
              <a:t>structurally equivalent!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so are {L, M, N, O}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{I, H, F}!</a:t>
            </a:r>
            <a:endParaRPr/>
          </a:p>
        </p:txBody>
      </p:sp>
      <p:sp>
        <p:nvSpPr>
          <p:cNvPr id="458" name="Google Shape;458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459" name="Google Shape;459;p43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60" name="Google Shape;460;p43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61" name="Google Shape;461;p43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62" name="Google Shape;462;p43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463" name="Google Shape;463;p43"/>
          <p:cNvCxnSpPr>
            <a:stCxn id="459" idx="3"/>
            <a:endCxn id="460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43"/>
          <p:cNvCxnSpPr>
            <a:stCxn id="459" idx="4"/>
            <a:endCxn id="461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43"/>
          <p:cNvCxnSpPr>
            <a:stCxn id="459" idx="4"/>
            <a:endCxn id="462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" name="Google Shape;466;p43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67" name="Google Shape;467;p43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68" name="Google Shape;468;p43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69" name="Google Shape;469;p43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470" name="Google Shape;470;p43"/>
          <p:cNvCxnSpPr>
            <a:stCxn id="466" idx="3"/>
            <a:endCxn id="467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43"/>
          <p:cNvCxnSpPr>
            <a:stCxn id="469" idx="0"/>
            <a:endCxn id="467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43"/>
          <p:cNvCxnSpPr>
            <a:stCxn id="466" idx="5"/>
            <a:endCxn id="468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43"/>
          <p:cNvCxnSpPr>
            <a:stCxn id="468" idx="2"/>
            <a:endCxn id="467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4" name="Google Shape;474;p43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475" name="Google Shape;475;p43"/>
          <p:cNvCxnSpPr>
            <a:stCxn id="474" idx="0"/>
            <a:endCxn id="467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43"/>
          <p:cNvCxnSpPr>
            <a:stCxn id="468" idx="3"/>
            <a:endCxn id="469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43"/>
          <p:cNvCxnSpPr>
            <a:stCxn id="468" idx="3"/>
            <a:endCxn id="474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43"/>
          <p:cNvCxnSpPr>
            <a:stCxn id="466" idx="4"/>
            <a:endCxn id="474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43"/>
          <p:cNvCxnSpPr>
            <a:stCxn id="459" idx="0"/>
            <a:endCxn id="469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43"/>
          <p:cNvCxnSpPr>
            <a:stCxn id="469" idx="6"/>
            <a:endCxn id="474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43"/>
          <p:cNvCxnSpPr>
            <a:stCxn id="466" idx="4"/>
            <a:endCxn id="469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43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83" name="Google Shape;483;p43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84" name="Google Shape;484;p43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485" name="Google Shape;485;p43"/>
          <p:cNvCxnSpPr>
            <a:stCxn id="484" idx="6"/>
            <a:endCxn id="483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43"/>
          <p:cNvCxnSpPr>
            <a:stCxn id="484" idx="0"/>
            <a:endCxn id="468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43"/>
          <p:cNvCxnSpPr>
            <a:stCxn id="459" idx="5"/>
            <a:endCxn id="482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43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89" name="Google Shape;489;p43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490" name="Google Shape;490;p43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491" name="Google Shape;491;p43"/>
          <p:cNvCxnSpPr>
            <a:stCxn id="484" idx="6"/>
            <a:endCxn id="490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43"/>
          <p:cNvCxnSpPr>
            <a:stCxn id="484" idx="5"/>
            <a:endCxn id="489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43"/>
          <p:cNvCxnSpPr>
            <a:stCxn id="484" idx="7"/>
            <a:endCxn id="488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4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C, D, E} are </a:t>
            </a:r>
            <a:r>
              <a:rPr b="1" lang="en"/>
              <a:t>structurally equivalent!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so are {L, M, N, O}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{I, H, F}!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use the </a:t>
            </a:r>
            <a:r>
              <a:rPr b="1" lang="en"/>
              <a:t>same neighbors</a:t>
            </a:r>
            <a:r>
              <a:rPr lang="en"/>
              <a:t> test* to check for structural equivalence: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N(F) = {J, I, H, G}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N(H) = {J, I, F, G}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N(I) = {J, H, G, F}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*Excluding themselves if they are adjacent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500" name="Google Shape;500;p44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01" name="Google Shape;501;p44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02" name="Google Shape;502;p44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03" name="Google Shape;503;p44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04" name="Google Shape;504;p44"/>
          <p:cNvCxnSpPr>
            <a:stCxn id="500" idx="3"/>
            <a:endCxn id="501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44"/>
          <p:cNvCxnSpPr>
            <a:stCxn id="500" idx="4"/>
            <a:endCxn id="502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44"/>
          <p:cNvCxnSpPr>
            <a:stCxn id="500" idx="4"/>
            <a:endCxn id="503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44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08" name="Google Shape;508;p44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09" name="Google Shape;509;p44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10" name="Google Shape;510;p44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11" name="Google Shape;511;p44"/>
          <p:cNvCxnSpPr>
            <a:stCxn id="507" idx="3"/>
            <a:endCxn id="508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44"/>
          <p:cNvCxnSpPr>
            <a:stCxn id="510" idx="0"/>
            <a:endCxn id="508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44"/>
          <p:cNvCxnSpPr>
            <a:stCxn id="507" idx="5"/>
            <a:endCxn id="509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44"/>
          <p:cNvCxnSpPr>
            <a:stCxn id="509" idx="2"/>
            <a:endCxn id="508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44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16" name="Google Shape;516;p44"/>
          <p:cNvCxnSpPr>
            <a:stCxn id="515" idx="0"/>
            <a:endCxn id="508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44"/>
          <p:cNvCxnSpPr>
            <a:stCxn id="509" idx="3"/>
            <a:endCxn id="510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44"/>
          <p:cNvCxnSpPr>
            <a:stCxn id="509" idx="3"/>
            <a:endCxn id="515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44"/>
          <p:cNvCxnSpPr>
            <a:stCxn id="507" idx="4"/>
            <a:endCxn id="515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44"/>
          <p:cNvCxnSpPr>
            <a:stCxn id="500" idx="0"/>
            <a:endCxn id="510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44"/>
          <p:cNvCxnSpPr>
            <a:stCxn id="510" idx="6"/>
            <a:endCxn id="515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44"/>
          <p:cNvCxnSpPr>
            <a:stCxn id="507" idx="4"/>
            <a:endCxn id="510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" name="Google Shape;523;p44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24" name="Google Shape;524;p44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25" name="Google Shape;525;p44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26" name="Google Shape;526;p44"/>
          <p:cNvCxnSpPr>
            <a:stCxn id="525" idx="6"/>
            <a:endCxn id="524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44"/>
          <p:cNvCxnSpPr>
            <a:stCxn id="525" idx="0"/>
            <a:endCxn id="509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44"/>
          <p:cNvCxnSpPr>
            <a:stCxn id="500" idx="5"/>
            <a:endCxn id="523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44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30" name="Google Shape;530;p44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31" name="Google Shape;531;p44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32" name="Google Shape;532;p44"/>
          <p:cNvCxnSpPr>
            <a:stCxn id="525" idx="6"/>
            <a:endCxn id="531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44"/>
          <p:cNvCxnSpPr>
            <a:stCxn id="525" idx="5"/>
            <a:endCxn id="530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44"/>
          <p:cNvCxnSpPr>
            <a:stCxn id="525" idx="7"/>
            <a:endCxn id="529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5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C, D, E} are </a:t>
            </a:r>
            <a:r>
              <a:rPr b="1" lang="en"/>
              <a:t>structurally equivalent!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so are {L, M, N, O}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{I, H, F}!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use the </a:t>
            </a:r>
            <a:r>
              <a:rPr b="1" lang="en"/>
              <a:t>same neighbors</a:t>
            </a:r>
            <a:r>
              <a:rPr lang="en"/>
              <a:t> test* to check for structural equivalence: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N(F) = {J, G}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N(H) = {J, G}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N(I) = {J, G}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*Excluding themselves if they are adjacent</a:t>
            </a:r>
            <a:endParaRPr/>
          </a:p>
        </p:txBody>
      </p:sp>
      <p:sp>
        <p:nvSpPr>
          <p:cNvPr id="540" name="Google Shape;540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541" name="Google Shape;541;p45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42" name="Google Shape;542;p45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43" name="Google Shape;543;p45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44" name="Google Shape;544;p45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45" name="Google Shape;545;p45"/>
          <p:cNvCxnSpPr>
            <a:stCxn id="541" idx="3"/>
            <a:endCxn id="542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45"/>
          <p:cNvCxnSpPr>
            <a:stCxn id="541" idx="4"/>
            <a:endCxn id="543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45"/>
          <p:cNvCxnSpPr>
            <a:stCxn id="541" idx="4"/>
            <a:endCxn id="544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45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49" name="Google Shape;549;p45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50" name="Google Shape;550;p45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51" name="Google Shape;551;p45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52" name="Google Shape;552;p45"/>
          <p:cNvCxnSpPr>
            <a:stCxn id="548" idx="3"/>
            <a:endCxn id="549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45"/>
          <p:cNvCxnSpPr>
            <a:stCxn id="551" idx="0"/>
            <a:endCxn id="549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45"/>
          <p:cNvCxnSpPr>
            <a:stCxn id="548" idx="5"/>
            <a:endCxn id="550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45"/>
          <p:cNvCxnSpPr>
            <a:stCxn id="550" idx="2"/>
            <a:endCxn id="549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" name="Google Shape;556;p45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57" name="Google Shape;557;p45"/>
          <p:cNvCxnSpPr>
            <a:stCxn id="556" idx="0"/>
            <a:endCxn id="549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45"/>
          <p:cNvCxnSpPr>
            <a:stCxn id="550" idx="3"/>
            <a:endCxn id="551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45"/>
          <p:cNvCxnSpPr>
            <a:stCxn id="550" idx="3"/>
            <a:endCxn id="556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45"/>
          <p:cNvCxnSpPr>
            <a:stCxn id="548" idx="4"/>
            <a:endCxn id="556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45"/>
          <p:cNvCxnSpPr>
            <a:stCxn id="541" idx="0"/>
            <a:endCxn id="551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45"/>
          <p:cNvCxnSpPr>
            <a:stCxn id="551" idx="6"/>
            <a:endCxn id="556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45"/>
          <p:cNvCxnSpPr>
            <a:stCxn id="548" idx="4"/>
            <a:endCxn id="551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4" name="Google Shape;564;p45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65" name="Google Shape;565;p45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66" name="Google Shape;566;p45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67" name="Google Shape;567;p45"/>
          <p:cNvCxnSpPr>
            <a:stCxn id="566" idx="6"/>
            <a:endCxn id="565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45"/>
          <p:cNvCxnSpPr>
            <a:stCxn id="566" idx="0"/>
            <a:endCxn id="550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45"/>
          <p:cNvCxnSpPr>
            <a:stCxn id="541" idx="5"/>
            <a:endCxn id="564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0" name="Google Shape;570;p45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71" name="Google Shape;571;p45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72" name="Google Shape;572;p45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73" name="Google Shape;573;p45"/>
          <p:cNvCxnSpPr>
            <a:stCxn id="566" idx="6"/>
            <a:endCxn id="572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45"/>
          <p:cNvCxnSpPr>
            <a:stCxn id="566" idx="5"/>
            <a:endCxn id="571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45"/>
          <p:cNvCxnSpPr>
            <a:stCxn id="566" idx="7"/>
            <a:endCxn id="570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6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C, D, E} are </a:t>
            </a:r>
            <a:r>
              <a:rPr b="1" lang="en"/>
              <a:t>structurally equivalent!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so are {L, M, N, O}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{I, H, F}!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use the </a:t>
            </a:r>
            <a:r>
              <a:rPr b="1" lang="en"/>
              <a:t>same neighbors</a:t>
            </a:r>
            <a:r>
              <a:rPr lang="en"/>
              <a:t> test* to check for structural equivalence: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N(F) = {</a:t>
            </a:r>
            <a:r>
              <a:rPr b="1" lang="en">
                <a:solidFill>
                  <a:srgbClr val="FF0000"/>
                </a:solidFill>
              </a:rPr>
              <a:t>F</a:t>
            </a:r>
            <a:r>
              <a:rPr lang="en"/>
              <a:t>, G, H, I, J}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N(H) = {F, G, </a:t>
            </a:r>
            <a:r>
              <a:rPr b="1" lang="en">
                <a:solidFill>
                  <a:srgbClr val="FF0000"/>
                </a:solidFill>
              </a:rPr>
              <a:t>H</a:t>
            </a:r>
            <a:r>
              <a:rPr lang="en"/>
              <a:t>, I, J}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N(I) = {F, G, H, </a:t>
            </a:r>
            <a:r>
              <a:rPr b="1" lang="en">
                <a:solidFill>
                  <a:srgbClr val="FF0000"/>
                </a:solidFill>
              </a:rPr>
              <a:t>I</a:t>
            </a:r>
            <a:r>
              <a:rPr lang="en"/>
              <a:t>, J}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*Including themselves </a:t>
            </a:r>
            <a:endParaRPr/>
          </a:p>
        </p:txBody>
      </p:sp>
      <p:sp>
        <p:nvSpPr>
          <p:cNvPr id="581" name="Google Shape;581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582" name="Google Shape;582;p46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83" name="Google Shape;583;p46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84" name="Google Shape;584;p46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85" name="Google Shape;585;p46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86" name="Google Shape;586;p46"/>
          <p:cNvCxnSpPr>
            <a:stCxn id="582" idx="3"/>
            <a:endCxn id="583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46"/>
          <p:cNvCxnSpPr>
            <a:stCxn id="582" idx="4"/>
            <a:endCxn id="584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46"/>
          <p:cNvCxnSpPr>
            <a:stCxn id="582" idx="4"/>
            <a:endCxn id="585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" name="Google Shape;589;p46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90" name="Google Shape;590;p46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91" name="Google Shape;591;p46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92" name="Google Shape;592;p46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93" name="Google Shape;593;p46"/>
          <p:cNvCxnSpPr>
            <a:stCxn id="589" idx="3"/>
            <a:endCxn id="590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46"/>
          <p:cNvCxnSpPr>
            <a:stCxn id="592" idx="0"/>
            <a:endCxn id="590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46"/>
          <p:cNvCxnSpPr>
            <a:stCxn id="589" idx="5"/>
            <a:endCxn id="591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46"/>
          <p:cNvCxnSpPr>
            <a:stCxn id="591" idx="2"/>
            <a:endCxn id="590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7" name="Google Shape;597;p46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98" name="Google Shape;598;p46"/>
          <p:cNvCxnSpPr>
            <a:stCxn id="597" idx="0"/>
            <a:endCxn id="590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46"/>
          <p:cNvCxnSpPr>
            <a:stCxn id="591" idx="3"/>
            <a:endCxn id="592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46"/>
          <p:cNvCxnSpPr>
            <a:stCxn id="591" idx="3"/>
            <a:endCxn id="597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46"/>
          <p:cNvCxnSpPr>
            <a:stCxn id="589" idx="4"/>
            <a:endCxn id="597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46"/>
          <p:cNvCxnSpPr>
            <a:stCxn id="582" idx="0"/>
            <a:endCxn id="592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46"/>
          <p:cNvCxnSpPr>
            <a:stCxn id="592" idx="6"/>
            <a:endCxn id="597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4" name="Google Shape;604;p46"/>
          <p:cNvCxnSpPr>
            <a:stCxn id="589" idx="4"/>
            <a:endCxn id="592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" name="Google Shape;605;p46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06" name="Google Shape;606;p46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07" name="Google Shape;607;p46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08" name="Google Shape;608;p46"/>
          <p:cNvCxnSpPr>
            <a:stCxn id="607" idx="6"/>
            <a:endCxn id="606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46"/>
          <p:cNvCxnSpPr>
            <a:stCxn id="607" idx="0"/>
            <a:endCxn id="591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46"/>
          <p:cNvCxnSpPr>
            <a:stCxn id="582" idx="5"/>
            <a:endCxn id="605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" name="Google Shape;611;p46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12" name="Google Shape;612;p46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13" name="Google Shape;613;p46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14" name="Google Shape;614;p46"/>
          <p:cNvCxnSpPr>
            <a:stCxn id="607" idx="6"/>
            <a:endCxn id="613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46"/>
          <p:cNvCxnSpPr>
            <a:stCxn id="607" idx="5"/>
            <a:endCxn id="612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46"/>
          <p:cNvCxnSpPr>
            <a:stCxn id="607" idx="7"/>
            <a:endCxn id="611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7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example: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{A, C, D, E} are </a:t>
            </a:r>
            <a:r>
              <a:rPr b="1" lang="en"/>
              <a:t>structurally equivalent!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so are {L, M, N, O}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{I, H, F}!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there are </a:t>
            </a:r>
            <a:r>
              <a:rPr i="1" lang="en"/>
              <a:t>three positions</a:t>
            </a:r>
            <a:r>
              <a:rPr lang="en"/>
              <a:t> in this network based on structural equivalence</a:t>
            </a:r>
            <a:endParaRPr/>
          </a:p>
        </p:txBody>
      </p:sp>
      <p:sp>
        <p:nvSpPr>
          <p:cNvPr id="622" name="Google Shape;622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623" name="Google Shape;623;p47"/>
          <p:cNvSpPr/>
          <p:nvPr/>
        </p:nvSpPr>
        <p:spPr>
          <a:xfrm>
            <a:off x="4427025" y="4117825"/>
            <a:ext cx="2926200" cy="789300"/>
          </a:xfrm>
          <a:prstGeom prst="ellipse">
            <a:avLst/>
          </a:prstGeom>
          <a:solidFill>
            <a:srgbClr val="57BB8A">
              <a:alpha val="253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4" name="Google Shape;624;p47"/>
          <p:cNvSpPr/>
          <p:nvPr/>
        </p:nvSpPr>
        <p:spPr>
          <a:xfrm rot="9628596">
            <a:off x="5648011" y="1150971"/>
            <a:ext cx="1852828" cy="2534760"/>
          </a:xfrm>
          <a:prstGeom prst="triangle">
            <a:avLst>
              <a:gd fmla="val 53445" name="adj"/>
            </a:avLst>
          </a:prstGeom>
          <a:solidFill>
            <a:srgbClr val="78909C">
              <a:alpha val="2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5" name="Google Shape;625;p47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26" name="Google Shape;626;p47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27" name="Google Shape;627;p47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28" name="Google Shape;628;p47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29" name="Google Shape;629;p47"/>
          <p:cNvCxnSpPr>
            <a:stCxn id="625" idx="3"/>
            <a:endCxn id="626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47"/>
          <p:cNvCxnSpPr>
            <a:stCxn id="625" idx="4"/>
            <a:endCxn id="627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47"/>
          <p:cNvCxnSpPr>
            <a:stCxn id="625" idx="4"/>
            <a:endCxn id="628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47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33" name="Google Shape;633;p47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34" name="Google Shape;634;p47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35" name="Google Shape;635;p47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36" name="Google Shape;636;p47"/>
          <p:cNvCxnSpPr>
            <a:stCxn id="632" idx="3"/>
            <a:endCxn id="633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47"/>
          <p:cNvCxnSpPr>
            <a:stCxn id="635" idx="0"/>
            <a:endCxn id="633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47"/>
          <p:cNvCxnSpPr>
            <a:stCxn id="632" idx="5"/>
            <a:endCxn id="634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47"/>
          <p:cNvCxnSpPr>
            <a:stCxn id="634" idx="2"/>
            <a:endCxn id="633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0" name="Google Shape;640;p47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41" name="Google Shape;641;p47"/>
          <p:cNvCxnSpPr>
            <a:stCxn id="640" idx="0"/>
            <a:endCxn id="633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47"/>
          <p:cNvCxnSpPr>
            <a:stCxn id="634" idx="3"/>
            <a:endCxn id="635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47"/>
          <p:cNvCxnSpPr>
            <a:stCxn id="634" idx="3"/>
            <a:endCxn id="640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47"/>
          <p:cNvCxnSpPr>
            <a:stCxn id="632" idx="4"/>
            <a:endCxn id="640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47"/>
          <p:cNvCxnSpPr>
            <a:stCxn id="625" idx="0"/>
            <a:endCxn id="635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47"/>
          <p:cNvCxnSpPr>
            <a:stCxn id="635" idx="6"/>
            <a:endCxn id="640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47"/>
          <p:cNvCxnSpPr>
            <a:stCxn id="632" idx="4"/>
            <a:endCxn id="635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8" name="Google Shape;648;p47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49" name="Google Shape;649;p47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50" name="Google Shape;650;p47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51" name="Google Shape;651;p47"/>
          <p:cNvCxnSpPr>
            <a:stCxn id="650" idx="6"/>
            <a:endCxn id="649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47"/>
          <p:cNvCxnSpPr>
            <a:stCxn id="650" idx="0"/>
            <a:endCxn id="634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47"/>
          <p:cNvCxnSpPr>
            <a:stCxn id="625" idx="5"/>
            <a:endCxn id="648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4" name="Google Shape;654;p47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55" name="Google Shape;655;p47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56" name="Google Shape;656;p47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57" name="Google Shape;657;p47"/>
          <p:cNvCxnSpPr>
            <a:stCxn id="650" idx="6"/>
            <a:endCxn id="656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47"/>
          <p:cNvCxnSpPr>
            <a:stCxn id="650" idx="5"/>
            <a:endCxn id="655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47"/>
          <p:cNvCxnSpPr>
            <a:stCxn id="650" idx="7"/>
            <a:endCxn id="654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0" name="Google Shape;660;p47"/>
          <p:cNvSpPr/>
          <p:nvPr/>
        </p:nvSpPr>
        <p:spPr>
          <a:xfrm rot="5400000">
            <a:off x="7296925" y="2897350"/>
            <a:ext cx="2926200" cy="668400"/>
          </a:xfrm>
          <a:prstGeom prst="ellipse">
            <a:avLst/>
          </a:prstGeom>
          <a:solidFill>
            <a:srgbClr val="5D4037">
              <a:alpha val="221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8"/>
          <p:cNvSpPr txBox="1"/>
          <p:nvPr>
            <p:ph idx="1" type="body"/>
          </p:nvPr>
        </p:nvSpPr>
        <p:spPr>
          <a:xfrm>
            <a:off x="311700" y="1225225"/>
            <a:ext cx="486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Structurally equivalent actors: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Have the same ego-networks </a:t>
            </a:r>
            <a:r>
              <a:rPr lang="en"/>
              <a:t>(they are connected to the same set of others)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part of the same </a:t>
            </a:r>
            <a:r>
              <a:rPr b="1" lang="en"/>
              <a:t>2-clique</a:t>
            </a:r>
            <a:r>
              <a:rPr lang="en"/>
              <a:t> (they are connected by at least a path of length 2)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Have the same </a:t>
            </a:r>
            <a:r>
              <a:rPr b="1" lang="en"/>
              <a:t>graph theoretic attributes</a:t>
            </a:r>
            <a:r>
              <a:rPr lang="en"/>
              <a:t> (e.g., centrality, clustering coefficient, etc.)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i="1" lang="en">
                <a:solidFill>
                  <a:srgbClr val="FF0000"/>
                </a:solidFill>
              </a:rPr>
              <a:t>But not necessarily the reverse!</a:t>
            </a:r>
            <a:endParaRPr b="1" i="1">
              <a:solidFill>
                <a:srgbClr val="FF0000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Two actors can have the same graph theoretic attributes but not be connected to the same others</a:t>
            </a:r>
            <a:endParaRPr/>
          </a:p>
        </p:txBody>
      </p:sp>
      <p:sp>
        <p:nvSpPr>
          <p:cNvPr id="666" name="Google Shape;666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667" name="Google Shape;667;p48"/>
          <p:cNvSpPr/>
          <p:nvPr/>
        </p:nvSpPr>
        <p:spPr>
          <a:xfrm>
            <a:off x="4427025" y="4117825"/>
            <a:ext cx="2926200" cy="789300"/>
          </a:xfrm>
          <a:prstGeom prst="ellipse">
            <a:avLst/>
          </a:prstGeom>
          <a:solidFill>
            <a:srgbClr val="57BB8A">
              <a:alpha val="253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8" name="Google Shape;668;p48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69" name="Google Shape;669;p48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70" name="Google Shape;670;p48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71" name="Google Shape;671;p48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72" name="Google Shape;672;p48"/>
          <p:cNvCxnSpPr>
            <a:stCxn id="668" idx="3"/>
            <a:endCxn id="669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48"/>
          <p:cNvCxnSpPr>
            <a:stCxn id="668" idx="4"/>
            <a:endCxn id="670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" name="Google Shape;674;p48"/>
          <p:cNvCxnSpPr>
            <a:stCxn id="668" idx="4"/>
            <a:endCxn id="671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5" name="Google Shape;675;p48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76" name="Google Shape;676;p48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77" name="Google Shape;677;p48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78" name="Google Shape;678;p48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79" name="Google Shape;679;p48"/>
          <p:cNvCxnSpPr>
            <a:stCxn id="675" idx="3"/>
            <a:endCxn id="676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48"/>
          <p:cNvCxnSpPr>
            <a:stCxn id="678" idx="0"/>
            <a:endCxn id="676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48"/>
          <p:cNvCxnSpPr>
            <a:stCxn id="675" idx="5"/>
            <a:endCxn id="677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48"/>
          <p:cNvCxnSpPr>
            <a:stCxn id="677" idx="2"/>
            <a:endCxn id="676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3" name="Google Shape;683;p48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84" name="Google Shape;684;p48"/>
          <p:cNvCxnSpPr>
            <a:stCxn id="683" idx="0"/>
            <a:endCxn id="676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48"/>
          <p:cNvCxnSpPr>
            <a:stCxn id="677" idx="3"/>
            <a:endCxn id="678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48"/>
          <p:cNvCxnSpPr>
            <a:stCxn id="677" idx="3"/>
            <a:endCxn id="683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48"/>
          <p:cNvCxnSpPr>
            <a:stCxn id="675" idx="4"/>
            <a:endCxn id="683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48"/>
          <p:cNvCxnSpPr>
            <a:stCxn id="668" idx="0"/>
            <a:endCxn id="678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9" name="Google Shape;689;p48"/>
          <p:cNvCxnSpPr>
            <a:stCxn id="678" idx="6"/>
            <a:endCxn id="683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48"/>
          <p:cNvCxnSpPr>
            <a:stCxn id="675" idx="4"/>
            <a:endCxn id="678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1" name="Google Shape;691;p48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92" name="Google Shape;692;p48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93" name="Google Shape;693;p48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94" name="Google Shape;694;p48"/>
          <p:cNvCxnSpPr>
            <a:stCxn id="693" idx="6"/>
            <a:endCxn id="692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48"/>
          <p:cNvCxnSpPr>
            <a:stCxn id="693" idx="0"/>
            <a:endCxn id="677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6" name="Google Shape;696;p48"/>
          <p:cNvCxnSpPr>
            <a:stCxn id="668" idx="5"/>
            <a:endCxn id="691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7" name="Google Shape;697;p48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98" name="Google Shape;698;p48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99" name="Google Shape;699;p48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700" name="Google Shape;700;p48"/>
          <p:cNvCxnSpPr>
            <a:stCxn id="693" idx="6"/>
            <a:endCxn id="699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48"/>
          <p:cNvCxnSpPr>
            <a:stCxn id="693" idx="5"/>
            <a:endCxn id="698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48"/>
          <p:cNvCxnSpPr>
            <a:stCxn id="693" idx="7"/>
            <a:endCxn id="697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3" name="Google Shape;703;p48"/>
          <p:cNvSpPr/>
          <p:nvPr/>
        </p:nvSpPr>
        <p:spPr>
          <a:xfrm rot="5400000">
            <a:off x="7296925" y="2897350"/>
            <a:ext cx="2926200" cy="668400"/>
          </a:xfrm>
          <a:prstGeom prst="ellipse">
            <a:avLst/>
          </a:prstGeom>
          <a:solidFill>
            <a:srgbClr val="5D4037">
              <a:alpha val="221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4" name="Google Shape;704;p48"/>
          <p:cNvSpPr/>
          <p:nvPr/>
        </p:nvSpPr>
        <p:spPr>
          <a:xfrm rot="9628596">
            <a:off x="5648011" y="1150971"/>
            <a:ext cx="1852828" cy="2534760"/>
          </a:xfrm>
          <a:prstGeom prst="triangle">
            <a:avLst>
              <a:gd fmla="val 53445" name="adj"/>
            </a:avLst>
          </a:prstGeom>
          <a:solidFill>
            <a:srgbClr val="78909C">
              <a:alpha val="2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9"/>
          <p:cNvSpPr txBox="1"/>
          <p:nvPr>
            <p:ph idx="1" type="body"/>
          </p:nvPr>
        </p:nvSpPr>
        <p:spPr>
          <a:xfrm>
            <a:off x="311700" y="1225225"/>
            <a:ext cx="486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Structurally equivalent actors: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Have the same ego-networks </a:t>
            </a:r>
            <a:r>
              <a:rPr lang="en"/>
              <a:t>(they are connected to the same set of others)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part of the same </a:t>
            </a:r>
            <a:r>
              <a:rPr b="1" lang="en"/>
              <a:t>2-clique</a:t>
            </a:r>
            <a:r>
              <a:rPr lang="en"/>
              <a:t> (they are connected by at least a path of length 2)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Have the same </a:t>
            </a:r>
            <a:r>
              <a:rPr b="1" lang="en"/>
              <a:t>graph theoretic attributes</a:t>
            </a:r>
            <a:r>
              <a:rPr lang="en"/>
              <a:t> (e.g., centrality, clustering coefficient,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Structurally equivalent nodes can be exchanged for one another and nothing changes!</a:t>
            </a:r>
            <a:endParaRPr/>
          </a:p>
        </p:txBody>
      </p:sp>
      <p:sp>
        <p:nvSpPr>
          <p:cNvPr id="710" name="Google Shape;710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711" name="Google Shape;711;p49"/>
          <p:cNvSpPr/>
          <p:nvPr/>
        </p:nvSpPr>
        <p:spPr>
          <a:xfrm>
            <a:off x="4427025" y="4117825"/>
            <a:ext cx="2926200" cy="789300"/>
          </a:xfrm>
          <a:prstGeom prst="ellipse">
            <a:avLst/>
          </a:prstGeom>
          <a:solidFill>
            <a:srgbClr val="57BB8A">
              <a:alpha val="253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2" name="Google Shape;712;p49"/>
          <p:cNvSpPr/>
          <p:nvPr/>
        </p:nvSpPr>
        <p:spPr>
          <a:xfrm rot="9628596">
            <a:off x="5648011" y="1150971"/>
            <a:ext cx="1852828" cy="2534760"/>
          </a:xfrm>
          <a:prstGeom prst="triangle">
            <a:avLst>
              <a:gd fmla="val 53445" name="adj"/>
            </a:avLst>
          </a:prstGeom>
          <a:solidFill>
            <a:srgbClr val="78909C">
              <a:alpha val="2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3" name="Google Shape;713;p49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14" name="Google Shape;714;p49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15" name="Google Shape;715;p49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16" name="Google Shape;716;p49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717" name="Google Shape;717;p49"/>
          <p:cNvCxnSpPr>
            <a:stCxn id="713" idx="3"/>
            <a:endCxn id="714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49"/>
          <p:cNvCxnSpPr>
            <a:stCxn id="713" idx="4"/>
            <a:endCxn id="715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49"/>
          <p:cNvCxnSpPr>
            <a:stCxn id="713" idx="4"/>
            <a:endCxn id="716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0" name="Google Shape;720;p49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21" name="Google Shape;721;p49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22" name="Google Shape;722;p49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23" name="Google Shape;723;p49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724" name="Google Shape;724;p49"/>
          <p:cNvCxnSpPr>
            <a:stCxn id="720" idx="3"/>
            <a:endCxn id="721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49"/>
          <p:cNvCxnSpPr>
            <a:stCxn id="723" idx="0"/>
            <a:endCxn id="721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49"/>
          <p:cNvCxnSpPr>
            <a:stCxn id="720" idx="5"/>
            <a:endCxn id="722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49"/>
          <p:cNvCxnSpPr>
            <a:stCxn id="722" idx="2"/>
            <a:endCxn id="721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8" name="Google Shape;728;p49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729" name="Google Shape;729;p49"/>
          <p:cNvCxnSpPr>
            <a:stCxn id="728" idx="0"/>
            <a:endCxn id="721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" name="Google Shape;730;p49"/>
          <p:cNvCxnSpPr>
            <a:stCxn id="722" idx="3"/>
            <a:endCxn id="723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" name="Google Shape;731;p49"/>
          <p:cNvCxnSpPr>
            <a:stCxn id="722" idx="3"/>
            <a:endCxn id="728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49"/>
          <p:cNvCxnSpPr>
            <a:stCxn id="720" idx="4"/>
            <a:endCxn id="728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49"/>
          <p:cNvCxnSpPr>
            <a:stCxn id="713" idx="0"/>
            <a:endCxn id="723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49"/>
          <p:cNvCxnSpPr>
            <a:stCxn id="723" idx="6"/>
            <a:endCxn id="728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" name="Google Shape;735;p49"/>
          <p:cNvCxnSpPr>
            <a:stCxn id="720" idx="4"/>
            <a:endCxn id="723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6" name="Google Shape;736;p49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37" name="Google Shape;737;p49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38" name="Google Shape;738;p49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739" name="Google Shape;739;p49"/>
          <p:cNvCxnSpPr>
            <a:stCxn id="738" idx="6"/>
            <a:endCxn id="737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0" name="Google Shape;740;p49"/>
          <p:cNvCxnSpPr>
            <a:stCxn id="738" idx="0"/>
            <a:endCxn id="722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" name="Google Shape;741;p49"/>
          <p:cNvCxnSpPr>
            <a:stCxn id="713" idx="5"/>
            <a:endCxn id="736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2" name="Google Shape;742;p49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43" name="Google Shape;743;p49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44" name="Google Shape;744;p49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745" name="Google Shape;745;p49"/>
          <p:cNvCxnSpPr>
            <a:stCxn id="738" idx="6"/>
            <a:endCxn id="744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49"/>
          <p:cNvCxnSpPr>
            <a:stCxn id="738" idx="5"/>
            <a:endCxn id="743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49"/>
          <p:cNvCxnSpPr>
            <a:stCxn id="738" idx="7"/>
            <a:endCxn id="742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49"/>
          <p:cNvSpPr/>
          <p:nvPr/>
        </p:nvSpPr>
        <p:spPr>
          <a:xfrm rot="5400000">
            <a:off x="7296925" y="2897350"/>
            <a:ext cx="2926200" cy="668400"/>
          </a:xfrm>
          <a:prstGeom prst="ellipse">
            <a:avLst/>
          </a:prstGeom>
          <a:solidFill>
            <a:srgbClr val="5D4037">
              <a:alpha val="221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0"/>
          <p:cNvSpPr txBox="1"/>
          <p:nvPr>
            <p:ph idx="1" type="body"/>
          </p:nvPr>
        </p:nvSpPr>
        <p:spPr>
          <a:xfrm>
            <a:off x="311700" y="1225225"/>
            <a:ext cx="486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Structurally equivalent actors: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Have the same ego-networks </a:t>
            </a:r>
            <a:r>
              <a:rPr lang="en"/>
              <a:t>(they are connected to the same set of others)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part of the same </a:t>
            </a:r>
            <a:r>
              <a:rPr b="1" lang="en"/>
              <a:t>2-clique</a:t>
            </a:r>
            <a:r>
              <a:rPr lang="en"/>
              <a:t> (they are connected by at least a path of length 2)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Have the same </a:t>
            </a:r>
            <a:r>
              <a:rPr b="1" lang="en"/>
              <a:t>graph theoretic attributes</a:t>
            </a:r>
            <a:r>
              <a:rPr lang="en"/>
              <a:t> (e.g., centrality, clustering coefficient,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Structurally equivalent nodes can be exchanged for one another and nothing changes!</a:t>
            </a:r>
            <a:endParaRPr/>
          </a:p>
        </p:txBody>
      </p:sp>
      <p:sp>
        <p:nvSpPr>
          <p:cNvPr id="754" name="Google Shape;754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755" name="Google Shape;755;p50"/>
          <p:cNvSpPr/>
          <p:nvPr/>
        </p:nvSpPr>
        <p:spPr>
          <a:xfrm>
            <a:off x="4427025" y="4117825"/>
            <a:ext cx="2926200" cy="789300"/>
          </a:xfrm>
          <a:prstGeom prst="ellipse">
            <a:avLst/>
          </a:prstGeom>
          <a:solidFill>
            <a:srgbClr val="57BB8A">
              <a:alpha val="253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6" name="Google Shape;756;p50"/>
          <p:cNvSpPr/>
          <p:nvPr/>
        </p:nvSpPr>
        <p:spPr>
          <a:xfrm rot="9628596">
            <a:off x="5648011" y="1150971"/>
            <a:ext cx="1852828" cy="2534760"/>
          </a:xfrm>
          <a:prstGeom prst="triangle">
            <a:avLst>
              <a:gd fmla="val 53445" name="adj"/>
            </a:avLst>
          </a:prstGeom>
          <a:solidFill>
            <a:srgbClr val="78909C">
              <a:alpha val="2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7" name="Google Shape;757;p50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58" name="Google Shape;758;p50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59" name="Google Shape;759;p50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60" name="Google Shape;760;p50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761" name="Google Shape;761;p50"/>
          <p:cNvCxnSpPr>
            <a:stCxn id="757" idx="3"/>
            <a:endCxn id="758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50"/>
          <p:cNvCxnSpPr>
            <a:stCxn id="757" idx="4"/>
            <a:endCxn id="759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50"/>
          <p:cNvCxnSpPr>
            <a:stCxn id="757" idx="4"/>
            <a:endCxn id="760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4" name="Google Shape;764;p50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65" name="Google Shape;765;p50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66" name="Google Shape;766;p50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67" name="Google Shape;767;p50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768" name="Google Shape;768;p50"/>
          <p:cNvCxnSpPr>
            <a:stCxn id="764" idx="3"/>
            <a:endCxn id="765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50"/>
          <p:cNvCxnSpPr>
            <a:stCxn id="767" idx="0"/>
            <a:endCxn id="765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0" name="Google Shape;770;p50"/>
          <p:cNvCxnSpPr>
            <a:stCxn id="764" idx="5"/>
            <a:endCxn id="766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1" name="Google Shape;771;p50"/>
          <p:cNvCxnSpPr>
            <a:stCxn id="766" idx="2"/>
            <a:endCxn id="765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2" name="Google Shape;772;p50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773" name="Google Shape;773;p50"/>
          <p:cNvCxnSpPr>
            <a:stCxn id="772" idx="0"/>
            <a:endCxn id="765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4" name="Google Shape;774;p50"/>
          <p:cNvCxnSpPr>
            <a:stCxn id="766" idx="3"/>
            <a:endCxn id="767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50"/>
          <p:cNvCxnSpPr>
            <a:stCxn id="766" idx="3"/>
            <a:endCxn id="772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50"/>
          <p:cNvCxnSpPr>
            <a:stCxn id="764" idx="4"/>
            <a:endCxn id="772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50"/>
          <p:cNvCxnSpPr>
            <a:stCxn id="757" idx="0"/>
            <a:endCxn id="767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50"/>
          <p:cNvCxnSpPr>
            <a:stCxn id="767" idx="6"/>
            <a:endCxn id="772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50"/>
          <p:cNvCxnSpPr>
            <a:stCxn id="764" idx="4"/>
            <a:endCxn id="767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0" name="Google Shape;780;p50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81" name="Google Shape;781;p50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82" name="Google Shape;782;p50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783" name="Google Shape;783;p50"/>
          <p:cNvCxnSpPr>
            <a:stCxn id="782" idx="6"/>
            <a:endCxn id="781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50"/>
          <p:cNvCxnSpPr>
            <a:stCxn id="782" idx="0"/>
            <a:endCxn id="766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50"/>
          <p:cNvCxnSpPr>
            <a:stCxn id="757" idx="5"/>
            <a:endCxn id="780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6" name="Google Shape;786;p50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87" name="Google Shape;787;p50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88" name="Google Shape;788;p50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789" name="Google Shape;789;p50"/>
          <p:cNvCxnSpPr>
            <a:stCxn id="782" idx="6"/>
            <a:endCxn id="788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0" name="Google Shape;790;p50"/>
          <p:cNvCxnSpPr>
            <a:stCxn id="782" idx="5"/>
            <a:endCxn id="787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50"/>
          <p:cNvCxnSpPr>
            <a:stCxn id="782" idx="7"/>
            <a:endCxn id="786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2" name="Google Shape;792;p50"/>
          <p:cNvSpPr/>
          <p:nvPr/>
        </p:nvSpPr>
        <p:spPr>
          <a:xfrm rot="5400000">
            <a:off x="7296925" y="2897350"/>
            <a:ext cx="2926200" cy="668400"/>
          </a:xfrm>
          <a:prstGeom prst="ellipse">
            <a:avLst/>
          </a:prstGeom>
          <a:solidFill>
            <a:srgbClr val="5D4037">
              <a:alpha val="221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1"/>
          <p:cNvSpPr/>
          <p:nvPr/>
        </p:nvSpPr>
        <p:spPr>
          <a:xfrm rot="5400000">
            <a:off x="7296925" y="2897350"/>
            <a:ext cx="2926200" cy="668400"/>
          </a:xfrm>
          <a:prstGeom prst="ellipse">
            <a:avLst/>
          </a:prstGeom>
          <a:solidFill>
            <a:srgbClr val="5D4037">
              <a:alpha val="221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8" name="Google Shape;798;p51"/>
          <p:cNvSpPr txBox="1"/>
          <p:nvPr>
            <p:ph idx="1" type="body"/>
          </p:nvPr>
        </p:nvSpPr>
        <p:spPr>
          <a:xfrm>
            <a:off x="311700" y="1225225"/>
            <a:ext cx="4869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Structurally equivalent actors: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Have the same ego-networks </a:t>
            </a:r>
            <a:r>
              <a:rPr lang="en"/>
              <a:t>(they are connected to the same set of others)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part of the same </a:t>
            </a:r>
            <a:r>
              <a:rPr b="1" lang="en"/>
              <a:t>2-clique</a:t>
            </a:r>
            <a:r>
              <a:rPr lang="en"/>
              <a:t> (they are connected by at least a path of length 2)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Have the same </a:t>
            </a:r>
            <a:r>
              <a:rPr b="1" lang="en"/>
              <a:t>graph theoretic attributes</a:t>
            </a:r>
            <a:r>
              <a:rPr lang="en"/>
              <a:t> (e.g., centrality, clustering coefficient,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Structurally equivalent nodes can be exchanged for one another and nothing changes!</a:t>
            </a:r>
            <a:endParaRPr/>
          </a:p>
        </p:txBody>
      </p:sp>
      <p:sp>
        <p:nvSpPr>
          <p:cNvPr id="799" name="Google Shape;799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800" name="Google Shape;800;p51"/>
          <p:cNvSpPr/>
          <p:nvPr/>
        </p:nvSpPr>
        <p:spPr>
          <a:xfrm>
            <a:off x="4427025" y="4117825"/>
            <a:ext cx="2926200" cy="789300"/>
          </a:xfrm>
          <a:prstGeom prst="ellipse">
            <a:avLst/>
          </a:prstGeom>
          <a:solidFill>
            <a:srgbClr val="57BB8A">
              <a:alpha val="253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1" name="Google Shape;801;p51"/>
          <p:cNvSpPr/>
          <p:nvPr/>
        </p:nvSpPr>
        <p:spPr>
          <a:xfrm rot="9628596">
            <a:off x="5648011" y="1150971"/>
            <a:ext cx="1852828" cy="2534760"/>
          </a:xfrm>
          <a:prstGeom prst="triangle">
            <a:avLst>
              <a:gd fmla="val 53445" name="adj"/>
            </a:avLst>
          </a:prstGeom>
          <a:solidFill>
            <a:srgbClr val="78909C">
              <a:alpha val="2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2" name="Google Shape;802;p51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03" name="Google Shape;803;p51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04" name="Google Shape;804;p51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05" name="Google Shape;805;p51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806" name="Google Shape;806;p51"/>
          <p:cNvCxnSpPr>
            <a:stCxn id="802" idx="3"/>
            <a:endCxn id="803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51"/>
          <p:cNvCxnSpPr>
            <a:stCxn id="802" idx="4"/>
            <a:endCxn id="804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51"/>
          <p:cNvCxnSpPr>
            <a:stCxn id="802" idx="4"/>
            <a:endCxn id="805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9" name="Google Shape;809;p51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10" name="Google Shape;810;p51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11" name="Google Shape;811;p51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12" name="Google Shape;812;p51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813" name="Google Shape;813;p51"/>
          <p:cNvCxnSpPr>
            <a:stCxn id="809" idx="3"/>
            <a:endCxn id="810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51"/>
          <p:cNvCxnSpPr>
            <a:stCxn id="812" idx="0"/>
            <a:endCxn id="810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5" name="Google Shape;815;p51"/>
          <p:cNvCxnSpPr>
            <a:stCxn id="809" idx="5"/>
            <a:endCxn id="811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6" name="Google Shape;816;p51"/>
          <p:cNvCxnSpPr>
            <a:stCxn id="811" idx="2"/>
            <a:endCxn id="810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7" name="Google Shape;817;p51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818" name="Google Shape;818;p51"/>
          <p:cNvCxnSpPr>
            <a:stCxn id="817" idx="0"/>
            <a:endCxn id="810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51"/>
          <p:cNvCxnSpPr>
            <a:stCxn id="811" idx="3"/>
            <a:endCxn id="812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51"/>
          <p:cNvCxnSpPr>
            <a:stCxn id="811" idx="3"/>
            <a:endCxn id="817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1" name="Google Shape;821;p51"/>
          <p:cNvCxnSpPr>
            <a:stCxn id="809" idx="4"/>
            <a:endCxn id="817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2" name="Google Shape;822;p51"/>
          <p:cNvCxnSpPr>
            <a:stCxn id="802" idx="0"/>
            <a:endCxn id="812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51"/>
          <p:cNvCxnSpPr>
            <a:stCxn id="812" idx="6"/>
            <a:endCxn id="817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51"/>
          <p:cNvCxnSpPr>
            <a:stCxn id="809" idx="4"/>
            <a:endCxn id="812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5" name="Google Shape;825;p51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26" name="Google Shape;826;p51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27" name="Google Shape;827;p51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828" name="Google Shape;828;p51"/>
          <p:cNvCxnSpPr>
            <a:stCxn id="827" idx="6"/>
            <a:endCxn id="826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9" name="Google Shape;829;p51"/>
          <p:cNvCxnSpPr>
            <a:stCxn id="827" idx="0"/>
            <a:endCxn id="811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" name="Google Shape;830;p51"/>
          <p:cNvCxnSpPr>
            <a:stCxn id="802" idx="5"/>
            <a:endCxn id="825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1" name="Google Shape;831;p51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32" name="Google Shape;832;p51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33" name="Google Shape;833;p51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834" name="Google Shape;834;p51"/>
          <p:cNvCxnSpPr>
            <a:stCxn id="827" idx="6"/>
            <a:endCxn id="833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51"/>
          <p:cNvCxnSpPr>
            <a:stCxn id="827" idx="5"/>
            <a:endCxn id="832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51"/>
          <p:cNvCxnSpPr>
            <a:stCxn id="827" idx="7"/>
            <a:endCxn id="831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52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847" name="Google Shape;847;p53"/>
          <p:cNvSpPr txBox="1"/>
          <p:nvPr>
            <p:ph idx="1" type="body"/>
          </p:nvPr>
        </p:nvSpPr>
        <p:spPr>
          <a:xfrm>
            <a:off x="311700" y="1225225"/>
            <a:ext cx="502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most applications </a:t>
            </a:r>
            <a:r>
              <a:rPr b="1" lang="en"/>
              <a:t>structural equivalence</a:t>
            </a:r>
            <a:r>
              <a:rPr lang="en"/>
              <a:t> is too </a:t>
            </a:r>
            <a:r>
              <a:rPr b="1" lang="en"/>
              <a:t>restrictive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want to identify actors with </a:t>
            </a:r>
            <a:r>
              <a:rPr b="1" lang="en"/>
              <a:t>similar</a:t>
            </a:r>
            <a:r>
              <a:rPr lang="en"/>
              <a:t> patterns of connectivity to others not exactly the same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8" name="Google Shape;848;p53"/>
          <p:cNvPicPr preferRelativeResize="0"/>
          <p:nvPr/>
        </p:nvPicPr>
        <p:blipFill rotWithShape="1">
          <a:blip r:embed="rId3">
            <a:alphaModFix/>
          </a:blip>
          <a:srcRect b="10563" l="0" r="0" t="0"/>
          <a:stretch/>
        </p:blipFill>
        <p:spPr>
          <a:xfrm>
            <a:off x="5403300" y="1225213"/>
            <a:ext cx="3428999" cy="1853513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3"/>
          <p:cNvSpPr txBox="1"/>
          <p:nvPr/>
        </p:nvSpPr>
        <p:spPr>
          <a:xfrm>
            <a:off x="6285288" y="3078713"/>
            <a:ext cx="1665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Position Approach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855" name="Google Shape;855;p54"/>
          <p:cNvSpPr txBox="1"/>
          <p:nvPr>
            <p:ph idx="1" type="body"/>
          </p:nvPr>
        </p:nvSpPr>
        <p:spPr>
          <a:xfrm>
            <a:off x="311700" y="1225225"/>
            <a:ext cx="502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most applications </a:t>
            </a:r>
            <a:r>
              <a:rPr b="1" lang="en"/>
              <a:t>structural equivalence</a:t>
            </a:r>
            <a:r>
              <a:rPr lang="en"/>
              <a:t> is too </a:t>
            </a:r>
            <a:r>
              <a:rPr b="1" lang="en"/>
              <a:t>restrictive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want to identify actors with </a:t>
            </a:r>
            <a:r>
              <a:rPr b="1" lang="en"/>
              <a:t>similar</a:t>
            </a:r>
            <a:r>
              <a:rPr lang="en"/>
              <a:t> patterns of connectivity to others not exactly the same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that we need </a:t>
            </a:r>
            <a:r>
              <a:rPr b="1" lang="en"/>
              <a:t>structural similarity metrics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occupy the same position if: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 have similar patterns of connectivity to others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or less not either/or</a:t>
            </a:r>
            <a:endParaRPr/>
          </a:p>
        </p:txBody>
      </p:sp>
      <p:pic>
        <p:nvPicPr>
          <p:cNvPr id="856" name="Google Shape;856;p54"/>
          <p:cNvPicPr preferRelativeResize="0"/>
          <p:nvPr/>
        </p:nvPicPr>
        <p:blipFill rotWithShape="1">
          <a:blip r:embed="rId3">
            <a:alphaModFix/>
          </a:blip>
          <a:srcRect b="10563" l="0" r="0" t="0"/>
          <a:stretch/>
        </p:blipFill>
        <p:spPr>
          <a:xfrm>
            <a:off x="5403300" y="1225213"/>
            <a:ext cx="3428999" cy="1853513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54"/>
          <p:cNvSpPr txBox="1"/>
          <p:nvPr/>
        </p:nvSpPr>
        <p:spPr>
          <a:xfrm>
            <a:off x="6285288" y="3078713"/>
            <a:ext cx="1665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Position Approach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863" name="Google Shape;863;p55"/>
          <p:cNvSpPr txBox="1"/>
          <p:nvPr>
            <p:ph idx="1" type="body"/>
          </p:nvPr>
        </p:nvSpPr>
        <p:spPr>
          <a:xfrm>
            <a:off x="311700" y="1225225"/>
            <a:ext cx="502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approach is to calculate the </a:t>
            </a:r>
            <a:r>
              <a:rPr b="1" lang="en"/>
              <a:t>distance</a:t>
            </a:r>
            <a:r>
              <a:rPr lang="en"/>
              <a:t> between the patterns of connectivity of each pair of nodes in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pattern of connectivity of each node is given by </a:t>
            </a:r>
            <a:r>
              <a:rPr lang="en"/>
              <a:t>the</a:t>
            </a:r>
            <a:r>
              <a:rPr lang="en"/>
              <a:t> row and column vectors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common approach to computing distance between between vectors it the </a:t>
            </a:r>
            <a:r>
              <a:rPr b="1" lang="en"/>
              <a:t>Euclidean </a:t>
            </a:r>
            <a:r>
              <a:rPr lang="en"/>
              <a:t>distance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Named after </a:t>
            </a:r>
            <a:r>
              <a:rPr b="1" lang="en"/>
              <a:t>Euclid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864" name="Google Shape;864;p55"/>
          <p:cNvPicPr preferRelativeResize="0"/>
          <p:nvPr/>
        </p:nvPicPr>
        <p:blipFill rotWithShape="1">
          <a:blip r:embed="rId3">
            <a:alphaModFix/>
          </a:blip>
          <a:srcRect b="10563" l="0" r="0" t="0"/>
          <a:stretch/>
        </p:blipFill>
        <p:spPr>
          <a:xfrm>
            <a:off x="5403300" y="1225213"/>
            <a:ext cx="3428999" cy="1853513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55"/>
          <p:cNvSpPr txBox="1"/>
          <p:nvPr/>
        </p:nvSpPr>
        <p:spPr>
          <a:xfrm>
            <a:off x="6285288" y="3078713"/>
            <a:ext cx="1665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Position Approach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d_{ij}^E=\sqrt{\sum_{k \neq i,j}^{ }(a_{ik}-a_{jk})^2}&#10;%69ea7ca4-5e4c-40ba-8b79-a739e0719dcd" id="866" name="Google Shape;86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5625" y="4134350"/>
            <a:ext cx="253365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872" name="Google Shape;872;p56"/>
          <p:cNvSpPr txBox="1"/>
          <p:nvPr>
            <p:ph idx="1" type="body"/>
          </p:nvPr>
        </p:nvSpPr>
        <p:spPr>
          <a:xfrm>
            <a:off x="311700" y="1225225"/>
            <a:ext cx="502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approach is to calculate the </a:t>
            </a:r>
            <a:r>
              <a:rPr b="1" lang="en"/>
              <a:t>distance</a:t>
            </a:r>
            <a:r>
              <a:rPr lang="en"/>
              <a:t> between the patterns of connectivity of each pair of nodes in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pattern of connectivity of each node is given by the row and column vectors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common approach to computing distance between between vectors it the </a:t>
            </a:r>
            <a:r>
              <a:rPr b="1" lang="en"/>
              <a:t>Euclidean </a:t>
            </a:r>
            <a:r>
              <a:rPr lang="en"/>
              <a:t>distance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Named after </a:t>
            </a:r>
            <a:r>
              <a:rPr b="1" lang="en"/>
              <a:t>Euclid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73" name="Google Shape;873;p56"/>
          <p:cNvSpPr/>
          <p:nvPr/>
        </p:nvSpPr>
        <p:spPr>
          <a:xfrm>
            <a:off x="5734500" y="701875"/>
            <a:ext cx="3097800" cy="33897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says that the Euclidean distance between two nodes i and j is equal to the square root of the sum of the squared differences between the corresponding entries in the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graph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adjacency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matrix!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(not counting the cells corresponding to each of the nodes)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74" name="Google Shape;874;p56"/>
          <p:cNvCxnSpPr>
            <a:stCxn id="873" idx="3"/>
          </p:cNvCxnSpPr>
          <p:nvPr/>
        </p:nvCxnSpPr>
        <p:spPr>
          <a:xfrm flipH="1">
            <a:off x="5481662" y="3595165"/>
            <a:ext cx="706500" cy="469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d_{ij}^E=\sqrt{\sum_{k \neq i,j}^{ }(a_{ik}-a_{jk})^2}&#10;%69ea7ca4-5e4c-40ba-8b79-a739e0719dcd" id="875" name="Google Shape;87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5625" y="4134350"/>
            <a:ext cx="253365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881" name="Google Shape;881;p57"/>
          <p:cNvSpPr txBox="1"/>
          <p:nvPr>
            <p:ph idx="1" type="body"/>
          </p:nvPr>
        </p:nvSpPr>
        <p:spPr>
          <a:xfrm>
            <a:off x="311700" y="1225225"/>
            <a:ext cx="502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approach is to calculate the </a:t>
            </a:r>
            <a:r>
              <a:rPr b="1" lang="en"/>
              <a:t>distance</a:t>
            </a:r>
            <a:r>
              <a:rPr lang="en"/>
              <a:t> between the patterns of connectivity of each pair of nodes in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pattern of connectivity of each node is given by the row and column vectors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common approach to computing distance between between vectors it the </a:t>
            </a:r>
            <a:r>
              <a:rPr b="1" lang="en"/>
              <a:t>Euclidean </a:t>
            </a:r>
            <a:r>
              <a:rPr lang="en"/>
              <a:t>distance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Named after </a:t>
            </a:r>
            <a:r>
              <a:rPr b="1" lang="en"/>
              <a:t>Euclid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82" name="Google Shape;882;p57"/>
          <p:cNvSpPr/>
          <p:nvPr/>
        </p:nvSpPr>
        <p:spPr>
          <a:xfrm>
            <a:off x="5734425" y="704088"/>
            <a:ext cx="3097800" cy="3392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According to this measure of structural similarity structurally equivalent nodes get a score of zero. 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larger the distance the less similar two nodes are!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83" name="Google Shape;883;p57"/>
          <p:cNvCxnSpPr>
            <a:stCxn id="882" idx="3"/>
          </p:cNvCxnSpPr>
          <p:nvPr/>
        </p:nvCxnSpPr>
        <p:spPr>
          <a:xfrm flipH="1">
            <a:off x="5481587" y="3599683"/>
            <a:ext cx="706500" cy="469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d_{ij}^E=\sqrt{\sum_{k \neq i,j}^{ }(a_{ik}-a_{jk})^2}&#10;%69ea7ca4-5e4c-40ba-8b79-a739e0719dcd" id="884" name="Google Shape;88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5625" y="4134350"/>
            <a:ext cx="253365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8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890" name="Google Shape;890;p58"/>
          <p:cNvSpPr txBox="1"/>
          <p:nvPr>
            <p:ph idx="1" type="body"/>
          </p:nvPr>
        </p:nvSpPr>
        <p:spPr>
          <a:xfrm>
            <a:off x="311700" y="1225225"/>
            <a:ext cx="502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approach is to calculate the </a:t>
            </a:r>
            <a:r>
              <a:rPr b="1" lang="en"/>
              <a:t>distance</a:t>
            </a:r>
            <a:r>
              <a:rPr lang="en"/>
              <a:t> between the patterns of connectivity of each pair of nodes in the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pattern of connectivity of each node is given by the row and column vectors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common approach to computing distance between between vectors it the </a:t>
            </a:r>
            <a:r>
              <a:rPr b="1" lang="en"/>
              <a:t>Euclidean </a:t>
            </a:r>
            <a:r>
              <a:rPr lang="en"/>
              <a:t>distance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Named after </a:t>
            </a:r>
            <a:r>
              <a:rPr b="1" lang="en"/>
              <a:t>Euclid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91" name="Google Shape;891;p58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2" name="Google Shape;892;p58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3" name="Google Shape;893;p58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4" name="Google Shape;894;p58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5" name="Google Shape;895;p58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6" name="Google Shape;896;p58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7" name="Google Shape;897;p58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8" name="Google Shape;898;p58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9" name="Google Shape;899;p58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0" name="Google Shape;900;p58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1" name="Google Shape;901;p58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02" name="Google Shape;902;p58"/>
          <p:cNvCxnSpPr>
            <a:stCxn id="894" idx="6"/>
            <a:endCxn id="901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3" name="Google Shape;903;p58"/>
          <p:cNvCxnSpPr>
            <a:stCxn id="894" idx="4"/>
            <a:endCxn id="899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58"/>
          <p:cNvCxnSpPr>
            <a:stCxn id="894" idx="5"/>
            <a:endCxn id="891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58"/>
          <p:cNvCxnSpPr>
            <a:stCxn id="901" idx="3"/>
            <a:endCxn id="899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6" name="Google Shape;906;p58"/>
          <p:cNvCxnSpPr>
            <a:stCxn id="901" idx="4"/>
            <a:endCxn id="891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7" name="Google Shape;907;p58"/>
          <p:cNvCxnSpPr>
            <a:stCxn id="893" idx="5"/>
            <a:endCxn id="900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8" name="Google Shape;908;p58"/>
          <p:cNvCxnSpPr>
            <a:stCxn id="892" idx="6"/>
            <a:endCxn id="900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9" name="Google Shape;909;p58"/>
          <p:cNvCxnSpPr>
            <a:stCxn id="897" idx="7"/>
            <a:endCxn id="900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0" name="Google Shape;910;p58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11" name="Google Shape;911;p58"/>
          <p:cNvCxnSpPr>
            <a:stCxn id="893" idx="5"/>
            <a:endCxn id="896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58"/>
          <p:cNvCxnSpPr>
            <a:stCxn id="897" idx="6"/>
            <a:endCxn id="896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3" name="Google Shape;913;p58"/>
          <p:cNvCxnSpPr>
            <a:stCxn id="892" idx="5"/>
            <a:endCxn id="896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4" name="Google Shape;914;p58"/>
          <p:cNvCxnSpPr>
            <a:stCxn id="893" idx="7"/>
            <a:endCxn id="894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58"/>
          <p:cNvCxnSpPr>
            <a:stCxn id="899" idx="3"/>
            <a:endCxn id="892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58"/>
          <p:cNvCxnSpPr>
            <a:stCxn id="891" idx="3"/>
            <a:endCxn id="892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58"/>
          <p:cNvCxnSpPr>
            <a:stCxn id="899" idx="5"/>
            <a:endCxn id="900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58"/>
          <p:cNvCxnSpPr>
            <a:stCxn id="891" idx="4"/>
            <a:endCxn id="900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9" name="Google Shape;919;p58"/>
          <p:cNvCxnSpPr>
            <a:stCxn id="897" idx="5"/>
            <a:endCxn id="910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0" name="Google Shape;920;p58"/>
          <p:cNvCxnSpPr>
            <a:stCxn id="896" idx="3"/>
            <a:endCxn id="910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1" name="Google Shape;921;p58"/>
          <p:cNvCxnSpPr>
            <a:stCxn id="893" idx="6"/>
            <a:endCxn id="899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2" name="Google Shape;922;p58"/>
          <p:cNvCxnSpPr>
            <a:stCxn id="910" idx="3"/>
            <a:endCxn id="898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3" name="Google Shape;923;p58"/>
          <p:cNvCxnSpPr>
            <a:stCxn id="910" idx="5"/>
            <a:endCxn id="895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4" name="Google Shape;924;p58"/>
          <p:cNvCxnSpPr>
            <a:stCxn id="900" idx="4"/>
            <a:endCxn id="896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_{ij}^E=\sqrt{\sum_{k \neq i,j}^{ }(a_{ik}-a_{jk})^2}&#10;%69ea7ca4-5e4c-40ba-8b79-a739e0719dcd" id="925" name="Google Shape;92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5625" y="4134350"/>
            <a:ext cx="253365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9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931" name="Google Shape;931;p59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2" name="Google Shape;932;p59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3" name="Google Shape;933;p59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4" name="Google Shape;934;p59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5" name="Google Shape;935;p59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6" name="Google Shape;936;p59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7" name="Google Shape;937;p59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8" name="Google Shape;938;p59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9" name="Google Shape;939;p59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0" name="Google Shape;940;p59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1" name="Google Shape;941;p59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42" name="Google Shape;942;p59"/>
          <p:cNvCxnSpPr>
            <a:stCxn id="934" idx="6"/>
            <a:endCxn id="941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3" name="Google Shape;943;p59"/>
          <p:cNvCxnSpPr>
            <a:stCxn id="934" idx="4"/>
            <a:endCxn id="939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4" name="Google Shape;944;p59"/>
          <p:cNvCxnSpPr>
            <a:stCxn id="934" idx="5"/>
            <a:endCxn id="931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59"/>
          <p:cNvCxnSpPr>
            <a:stCxn id="941" idx="3"/>
            <a:endCxn id="939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6" name="Google Shape;946;p59"/>
          <p:cNvCxnSpPr>
            <a:stCxn id="941" idx="4"/>
            <a:endCxn id="931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7" name="Google Shape;947;p59"/>
          <p:cNvCxnSpPr>
            <a:stCxn id="933" idx="5"/>
            <a:endCxn id="940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59"/>
          <p:cNvCxnSpPr>
            <a:stCxn id="932" idx="6"/>
            <a:endCxn id="940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59"/>
          <p:cNvCxnSpPr>
            <a:stCxn id="937" idx="7"/>
            <a:endCxn id="940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0" name="Google Shape;950;p59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51" name="Google Shape;951;p59"/>
          <p:cNvCxnSpPr>
            <a:stCxn id="933" idx="5"/>
            <a:endCxn id="936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2" name="Google Shape;952;p59"/>
          <p:cNvCxnSpPr>
            <a:stCxn id="937" idx="6"/>
            <a:endCxn id="936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3" name="Google Shape;953;p59"/>
          <p:cNvCxnSpPr>
            <a:stCxn id="932" idx="5"/>
            <a:endCxn id="936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4" name="Google Shape;954;p59"/>
          <p:cNvCxnSpPr>
            <a:stCxn id="933" idx="7"/>
            <a:endCxn id="934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5" name="Google Shape;955;p59"/>
          <p:cNvCxnSpPr>
            <a:stCxn id="939" idx="3"/>
            <a:endCxn id="932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6" name="Google Shape;956;p59"/>
          <p:cNvCxnSpPr>
            <a:stCxn id="931" idx="3"/>
            <a:endCxn id="932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59"/>
          <p:cNvCxnSpPr>
            <a:stCxn id="939" idx="5"/>
            <a:endCxn id="940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8" name="Google Shape;958;p59"/>
          <p:cNvCxnSpPr>
            <a:stCxn id="931" idx="4"/>
            <a:endCxn id="940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9" name="Google Shape;959;p59"/>
          <p:cNvCxnSpPr>
            <a:stCxn id="937" idx="5"/>
            <a:endCxn id="950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59"/>
          <p:cNvCxnSpPr>
            <a:stCxn id="936" idx="3"/>
            <a:endCxn id="950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59"/>
          <p:cNvCxnSpPr>
            <a:stCxn id="933" idx="6"/>
            <a:endCxn id="939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59"/>
          <p:cNvCxnSpPr>
            <a:stCxn id="950" idx="3"/>
            <a:endCxn id="938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59"/>
          <p:cNvCxnSpPr>
            <a:stCxn id="950" idx="5"/>
            <a:endCxn id="935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4" name="Google Shape;964;p59"/>
          <p:cNvCxnSpPr>
            <a:stCxn id="940" idx="4"/>
            <a:endCxn id="936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65" name="Google Shape;965;p59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6" name="Google Shape;966;p59"/>
          <p:cNvSpPr txBox="1"/>
          <p:nvPr/>
        </p:nvSpPr>
        <p:spPr>
          <a:xfrm>
            <a:off x="668925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d_{ij}^E=\sqrt{\sum_{k \neq i,j}^{ }(a_{ik}-a_{jk})^2}&#10;%69ea7ca4-5e4c-40ba-8b79-a739e0719dcd" id="967" name="Google Shape;96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150" y="93763"/>
            <a:ext cx="253365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0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973" name="Google Shape;973;p60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4" name="Google Shape;974;p60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5" name="Google Shape;975;p60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6" name="Google Shape;976;p60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7" name="Google Shape;977;p60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8" name="Google Shape;978;p60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9" name="Google Shape;979;p60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0" name="Google Shape;980;p60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1" name="Google Shape;981;p60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2" name="Google Shape;982;p60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3" name="Google Shape;983;p60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84" name="Google Shape;984;p60"/>
          <p:cNvCxnSpPr>
            <a:stCxn id="976" idx="6"/>
            <a:endCxn id="983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5" name="Google Shape;985;p60"/>
          <p:cNvCxnSpPr>
            <a:stCxn id="976" idx="4"/>
            <a:endCxn id="981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6" name="Google Shape;986;p60"/>
          <p:cNvCxnSpPr>
            <a:stCxn id="976" idx="5"/>
            <a:endCxn id="973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7" name="Google Shape;987;p60"/>
          <p:cNvCxnSpPr>
            <a:stCxn id="983" idx="3"/>
            <a:endCxn id="981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8" name="Google Shape;988;p60"/>
          <p:cNvCxnSpPr>
            <a:stCxn id="983" idx="4"/>
            <a:endCxn id="973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60"/>
          <p:cNvCxnSpPr>
            <a:stCxn id="975" idx="5"/>
            <a:endCxn id="982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60"/>
          <p:cNvCxnSpPr>
            <a:stCxn id="974" idx="6"/>
            <a:endCxn id="982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60"/>
          <p:cNvCxnSpPr>
            <a:stCxn id="979" idx="7"/>
            <a:endCxn id="982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2" name="Google Shape;992;p60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93" name="Google Shape;993;p60"/>
          <p:cNvCxnSpPr>
            <a:stCxn id="975" idx="5"/>
            <a:endCxn id="978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60"/>
          <p:cNvCxnSpPr>
            <a:stCxn id="979" idx="6"/>
            <a:endCxn id="978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60"/>
          <p:cNvCxnSpPr>
            <a:stCxn id="974" idx="5"/>
            <a:endCxn id="978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60"/>
          <p:cNvCxnSpPr>
            <a:stCxn id="975" idx="7"/>
            <a:endCxn id="976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60"/>
          <p:cNvCxnSpPr>
            <a:stCxn id="981" idx="3"/>
            <a:endCxn id="974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60"/>
          <p:cNvCxnSpPr>
            <a:stCxn id="973" idx="3"/>
            <a:endCxn id="974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9" name="Google Shape;999;p60"/>
          <p:cNvCxnSpPr>
            <a:stCxn id="981" idx="5"/>
            <a:endCxn id="982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0" name="Google Shape;1000;p60"/>
          <p:cNvSpPr txBox="1"/>
          <p:nvPr/>
        </p:nvSpPr>
        <p:spPr>
          <a:xfrm>
            <a:off x="311700" y="4298475"/>
            <a:ext cx="61341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(0 - 0)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(1 - 0)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(0 - 1)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(0 - 0)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(1 - 1)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+ (1 - 1)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(1 - 1)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(0 - 0)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(0 - 0)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(0 - 0)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01" name="Google Shape;1001;p60"/>
          <p:cNvCxnSpPr>
            <a:stCxn id="973" idx="4"/>
            <a:endCxn id="982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60"/>
          <p:cNvCxnSpPr>
            <a:stCxn id="979" idx="5"/>
            <a:endCxn id="992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60"/>
          <p:cNvCxnSpPr>
            <a:stCxn id="978" idx="3"/>
            <a:endCxn id="992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4" name="Google Shape;1004;p60"/>
          <p:cNvCxnSpPr>
            <a:stCxn id="975" idx="6"/>
            <a:endCxn id="981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5" name="Google Shape;1005;p60"/>
          <p:cNvCxnSpPr>
            <a:stCxn id="992" idx="3"/>
            <a:endCxn id="980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60"/>
          <p:cNvCxnSpPr>
            <a:stCxn id="992" idx="5"/>
            <a:endCxn id="977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7" name="Google Shape;1007;p60"/>
          <p:cNvCxnSpPr>
            <a:stCxn id="982" idx="4"/>
            <a:endCxn id="978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008" name="Google Shape;1008;p60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61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014" name="Google Shape;1014;p61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5" name="Google Shape;1015;p61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6" name="Google Shape;1016;p61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7" name="Google Shape;1017;p61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8" name="Google Shape;1018;p61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9" name="Google Shape;1019;p61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0" name="Google Shape;1020;p61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1" name="Google Shape;1021;p61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2" name="Google Shape;1022;p61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3" name="Google Shape;1023;p61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4" name="Google Shape;1024;p61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25" name="Google Shape;1025;p61"/>
          <p:cNvCxnSpPr>
            <a:stCxn id="1017" idx="6"/>
            <a:endCxn id="1024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61"/>
          <p:cNvCxnSpPr>
            <a:stCxn id="1017" idx="4"/>
            <a:endCxn id="1022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" name="Google Shape;1027;p61"/>
          <p:cNvCxnSpPr>
            <a:stCxn id="1017" idx="5"/>
            <a:endCxn id="1014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61"/>
          <p:cNvCxnSpPr>
            <a:stCxn id="1024" idx="3"/>
            <a:endCxn id="1022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9" name="Google Shape;1029;p61"/>
          <p:cNvCxnSpPr>
            <a:stCxn id="1024" idx="4"/>
            <a:endCxn id="1014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61"/>
          <p:cNvCxnSpPr>
            <a:stCxn id="1016" idx="5"/>
            <a:endCxn id="1023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61"/>
          <p:cNvCxnSpPr>
            <a:stCxn id="1015" idx="6"/>
            <a:endCxn id="1023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2" name="Google Shape;1032;p61"/>
          <p:cNvCxnSpPr>
            <a:stCxn id="1020" idx="7"/>
            <a:endCxn id="1023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3" name="Google Shape;1033;p61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34" name="Google Shape;1034;p61"/>
          <p:cNvCxnSpPr>
            <a:stCxn id="1016" idx="5"/>
            <a:endCxn id="1019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61"/>
          <p:cNvCxnSpPr>
            <a:stCxn id="1020" idx="6"/>
            <a:endCxn id="1019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6" name="Google Shape;1036;p61"/>
          <p:cNvCxnSpPr>
            <a:stCxn id="1015" idx="5"/>
            <a:endCxn id="1019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61"/>
          <p:cNvCxnSpPr>
            <a:stCxn id="1016" idx="7"/>
            <a:endCxn id="1017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8" name="Google Shape;1038;p61"/>
          <p:cNvCxnSpPr>
            <a:stCxn id="1022" idx="3"/>
            <a:endCxn id="1015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9" name="Google Shape;1039;p61"/>
          <p:cNvCxnSpPr>
            <a:stCxn id="1014" idx="3"/>
            <a:endCxn id="1015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0" name="Google Shape;1040;p61"/>
          <p:cNvCxnSpPr>
            <a:stCxn id="1022" idx="5"/>
            <a:endCxn id="1023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1" name="Google Shape;1041;p61"/>
          <p:cNvSpPr txBox="1"/>
          <p:nvPr/>
        </p:nvSpPr>
        <p:spPr>
          <a:xfrm>
            <a:off x="311700" y="4298475"/>
            <a:ext cx="61341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(0 - 0)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(1 - 0)</a:t>
            </a:r>
            <a:r>
              <a:rPr b="1" baseline="30000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(0 - 1)</a:t>
            </a:r>
            <a:r>
              <a:rPr b="1" baseline="30000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(0 - 0)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(1 - 1)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+ (1 - 1)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(1 - 1)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(0 - 0)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(0 - 0)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(0 - 0)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42" name="Google Shape;1042;p61"/>
          <p:cNvCxnSpPr>
            <a:stCxn id="1014" idx="4"/>
            <a:endCxn id="1023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61"/>
          <p:cNvCxnSpPr>
            <a:stCxn id="1020" idx="5"/>
            <a:endCxn id="1033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4" name="Google Shape;1044;p61"/>
          <p:cNvCxnSpPr>
            <a:stCxn id="1019" idx="3"/>
            <a:endCxn id="1033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5" name="Google Shape;1045;p61"/>
          <p:cNvCxnSpPr>
            <a:stCxn id="1016" idx="6"/>
            <a:endCxn id="1022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6" name="Google Shape;1046;p61"/>
          <p:cNvCxnSpPr>
            <a:stCxn id="1033" idx="3"/>
            <a:endCxn id="1021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7" name="Google Shape;1047;p61"/>
          <p:cNvCxnSpPr>
            <a:stCxn id="1033" idx="5"/>
            <a:endCxn id="1018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61"/>
          <p:cNvCxnSpPr>
            <a:stCxn id="1023" idx="4"/>
            <a:endCxn id="1019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049" name="Google Shape;1049;p61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62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055" name="Google Shape;1055;p62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6" name="Google Shape;1056;p62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7" name="Google Shape;1057;p62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8" name="Google Shape;1058;p62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9" name="Google Shape;1059;p62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0" name="Google Shape;1060;p62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1" name="Google Shape;1061;p62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2" name="Google Shape;1062;p62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3" name="Google Shape;1063;p62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4" name="Google Shape;1064;p62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5" name="Google Shape;1065;p62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66" name="Google Shape;1066;p62"/>
          <p:cNvCxnSpPr>
            <a:stCxn id="1058" idx="6"/>
            <a:endCxn id="1065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7" name="Google Shape;1067;p62"/>
          <p:cNvCxnSpPr>
            <a:stCxn id="1058" idx="4"/>
            <a:endCxn id="1063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8" name="Google Shape;1068;p62"/>
          <p:cNvCxnSpPr>
            <a:stCxn id="1058" idx="5"/>
            <a:endCxn id="1055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9" name="Google Shape;1069;p62"/>
          <p:cNvCxnSpPr>
            <a:stCxn id="1065" idx="3"/>
            <a:endCxn id="1063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62"/>
          <p:cNvCxnSpPr>
            <a:stCxn id="1065" idx="4"/>
            <a:endCxn id="1055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1" name="Google Shape;1071;p62"/>
          <p:cNvCxnSpPr>
            <a:stCxn id="1057" idx="5"/>
            <a:endCxn id="1064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2" name="Google Shape;1072;p62"/>
          <p:cNvCxnSpPr>
            <a:stCxn id="1056" idx="6"/>
            <a:endCxn id="1064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3" name="Google Shape;1073;p62"/>
          <p:cNvCxnSpPr>
            <a:stCxn id="1061" idx="7"/>
            <a:endCxn id="1064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4" name="Google Shape;1074;p62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75" name="Google Shape;1075;p62"/>
          <p:cNvCxnSpPr>
            <a:stCxn id="1057" idx="5"/>
            <a:endCxn id="1060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6" name="Google Shape;1076;p62"/>
          <p:cNvCxnSpPr>
            <a:stCxn id="1061" idx="6"/>
            <a:endCxn id="1060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7" name="Google Shape;1077;p62"/>
          <p:cNvCxnSpPr>
            <a:stCxn id="1056" idx="5"/>
            <a:endCxn id="1060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8" name="Google Shape;1078;p62"/>
          <p:cNvCxnSpPr>
            <a:stCxn id="1057" idx="7"/>
            <a:endCxn id="1058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62"/>
          <p:cNvCxnSpPr>
            <a:stCxn id="1063" idx="3"/>
            <a:endCxn id="1056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0" name="Google Shape;1080;p62"/>
          <p:cNvCxnSpPr>
            <a:stCxn id="1055" idx="3"/>
            <a:endCxn id="1056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1" name="Google Shape;1081;p62"/>
          <p:cNvCxnSpPr>
            <a:stCxn id="1063" idx="5"/>
            <a:endCxn id="1064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2" name="Google Shape;1082;p62"/>
          <p:cNvSpPr txBox="1"/>
          <p:nvPr/>
        </p:nvSpPr>
        <p:spPr>
          <a:xfrm>
            <a:off x="311700" y="4298475"/>
            <a:ext cx="61341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√2 = 1.4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83" name="Google Shape;1083;p62"/>
          <p:cNvCxnSpPr>
            <a:stCxn id="1055" idx="4"/>
            <a:endCxn id="1064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4" name="Google Shape;1084;p62"/>
          <p:cNvCxnSpPr>
            <a:stCxn id="1061" idx="5"/>
            <a:endCxn id="1074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62"/>
          <p:cNvCxnSpPr>
            <a:stCxn id="1060" idx="3"/>
            <a:endCxn id="1074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62"/>
          <p:cNvCxnSpPr>
            <a:stCxn id="1057" idx="6"/>
            <a:endCxn id="1063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7" name="Google Shape;1087;p62"/>
          <p:cNvCxnSpPr>
            <a:stCxn id="1074" idx="3"/>
            <a:endCxn id="1062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8" name="Google Shape;1088;p62"/>
          <p:cNvCxnSpPr>
            <a:stCxn id="1074" idx="5"/>
            <a:endCxn id="1059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9" name="Google Shape;1089;p62"/>
          <p:cNvCxnSpPr>
            <a:stCxn id="1064" idx="4"/>
            <a:endCxn id="1060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090" name="Google Shape;1090;p62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63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096" name="Google Shape;1096;p63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7" name="Google Shape;1097;p63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8" name="Google Shape;1098;p63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9" name="Google Shape;1099;p63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0" name="Google Shape;1100;p63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1" name="Google Shape;1101;p63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2" name="Google Shape;1102;p63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3" name="Google Shape;1103;p63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4" name="Google Shape;1104;p63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5" name="Google Shape;1105;p63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6" name="Google Shape;1106;p63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07" name="Google Shape;1107;p63"/>
          <p:cNvCxnSpPr>
            <a:stCxn id="1099" idx="6"/>
            <a:endCxn id="1106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8" name="Google Shape;1108;p63"/>
          <p:cNvCxnSpPr>
            <a:stCxn id="1099" idx="4"/>
            <a:endCxn id="1104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9" name="Google Shape;1109;p63"/>
          <p:cNvCxnSpPr>
            <a:stCxn id="1099" idx="5"/>
            <a:endCxn id="1096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0" name="Google Shape;1110;p63"/>
          <p:cNvCxnSpPr>
            <a:stCxn id="1106" idx="3"/>
            <a:endCxn id="1104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1" name="Google Shape;1111;p63"/>
          <p:cNvCxnSpPr>
            <a:stCxn id="1106" idx="4"/>
            <a:endCxn id="1096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2" name="Google Shape;1112;p63"/>
          <p:cNvCxnSpPr>
            <a:stCxn id="1098" idx="5"/>
            <a:endCxn id="1105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3" name="Google Shape;1113;p63"/>
          <p:cNvCxnSpPr>
            <a:stCxn id="1097" idx="6"/>
            <a:endCxn id="1105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4" name="Google Shape;1114;p63"/>
          <p:cNvCxnSpPr>
            <a:stCxn id="1102" idx="7"/>
            <a:endCxn id="1105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5" name="Google Shape;1115;p63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16" name="Google Shape;1116;p63"/>
          <p:cNvCxnSpPr>
            <a:stCxn id="1098" idx="5"/>
            <a:endCxn id="1101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7" name="Google Shape;1117;p63"/>
          <p:cNvCxnSpPr>
            <a:stCxn id="1102" idx="6"/>
            <a:endCxn id="1101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8" name="Google Shape;1118;p63"/>
          <p:cNvCxnSpPr>
            <a:stCxn id="1097" idx="5"/>
            <a:endCxn id="1101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9" name="Google Shape;1119;p63"/>
          <p:cNvCxnSpPr>
            <a:stCxn id="1098" idx="7"/>
            <a:endCxn id="1099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63"/>
          <p:cNvCxnSpPr>
            <a:stCxn id="1104" idx="3"/>
            <a:endCxn id="1097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63"/>
          <p:cNvCxnSpPr>
            <a:stCxn id="1096" idx="3"/>
            <a:endCxn id="1097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2" name="Google Shape;1122;p63"/>
          <p:cNvCxnSpPr>
            <a:stCxn id="1104" idx="5"/>
            <a:endCxn id="1105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3" name="Google Shape;1123;p63"/>
          <p:cNvCxnSpPr>
            <a:stCxn id="1096" idx="4"/>
            <a:endCxn id="1105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63"/>
          <p:cNvCxnSpPr>
            <a:stCxn id="1102" idx="5"/>
            <a:endCxn id="1115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63"/>
          <p:cNvCxnSpPr>
            <a:stCxn id="1101" idx="3"/>
            <a:endCxn id="1115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63"/>
          <p:cNvCxnSpPr>
            <a:stCxn id="1098" idx="6"/>
            <a:endCxn id="1104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" name="Google Shape;1127;p63"/>
          <p:cNvCxnSpPr>
            <a:stCxn id="1115" idx="3"/>
            <a:endCxn id="1103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" name="Google Shape;1128;p63"/>
          <p:cNvCxnSpPr>
            <a:stCxn id="1115" idx="5"/>
            <a:endCxn id="1100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9" name="Google Shape;1129;p63"/>
          <p:cNvCxnSpPr>
            <a:stCxn id="1105" idx="4"/>
            <a:endCxn id="1101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130" name="Google Shape;1130;p63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1.4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1.4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1" name="Google Shape;1131;p63"/>
          <p:cNvSpPr txBox="1"/>
          <p:nvPr/>
        </p:nvSpPr>
        <p:spPr>
          <a:xfrm>
            <a:off x="668925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Structural Similarity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d_{ij}^E=\sqrt{\sum_{k \neq i,j}^{ }(a_{ik}-a_{jk})^2}&#10;%69ea7ca4-5e4c-40ba-8b79-a739e0719dcd" id="1132" name="Google Shape;113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150" y="93763"/>
            <a:ext cx="253365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64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138" name="Google Shape;1138;p64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9" name="Google Shape;1139;p64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0" name="Google Shape;1140;p64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1" name="Google Shape;1141;p64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2" name="Google Shape;1142;p64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3" name="Google Shape;1143;p64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4" name="Google Shape;1144;p64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5" name="Google Shape;1145;p64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6" name="Google Shape;1146;p64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7" name="Google Shape;1147;p64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8" name="Google Shape;1148;p64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49" name="Google Shape;1149;p64"/>
          <p:cNvCxnSpPr>
            <a:stCxn id="1141" idx="6"/>
            <a:endCxn id="1148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64"/>
          <p:cNvCxnSpPr>
            <a:stCxn id="1141" idx="4"/>
            <a:endCxn id="1146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1" name="Google Shape;1151;p64"/>
          <p:cNvCxnSpPr>
            <a:stCxn id="1141" idx="5"/>
            <a:endCxn id="1138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2" name="Google Shape;1152;p64"/>
          <p:cNvCxnSpPr>
            <a:stCxn id="1148" idx="3"/>
            <a:endCxn id="1146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3" name="Google Shape;1153;p64"/>
          <p:cNvCxnSpPr>
            <a:stCxn id="1148" idx="4"/>
            <a:endCxn id="1138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4" name="Google Shape;1154;p64"/>
          <p:cNvCxnSpPr>
            <a:stCxn id="1140" idx="5"/>
            <a:endCxn id="1147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5" name="Google Shape;1155;p64"/>
          <p:cNvCxnSpPr>
            <a:stCxn id="1139" idx="6"/>
            <a:endCxn id="1147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6" name="Google Shape;1156;p64"/>
          <p:cNvCxnSpPr>
            <a:stCxn id="1144" idx="7"/>
            <a:endCxn id="1147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7" name="Google Shape;1157;p64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58" name="Google Shape;1158;p64"/>
          <p:cNvCxnSpPr>
            <a:stCxn id="1140" idx="5"/>
            <a:endCxn id="1143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9" name="Google Shape;1159;p64"/>
          <p:cNvCxnSpPr>
            <a:stCxn id="1144" idx="6"/>
            <a:endCxn id="1143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0" name="Google Shape;1160;p64"/>
          <p:cNvCxnSpPr>
            <a:stCxn id="1139" idx="5"/>
            <a:endCxn id="1143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1" name="Google Shape;1161;p64"/>
          <p:cNvCxnSpPr>
            <a:stCxn id="1140" idx="7"/>
            <a:endCxn id="1141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2" name="Google Shape;1162;p64"/>
          <p:cNvCxnSpPr>
            <a:stCxn id="1146" idx="3"/>
            <a:endCxn id="1139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3" name="Google Shape;1163;p64"/>
          <p:cNvCxnSpPr>
            <a:stCxn id="1138" idx="3"/>
            <a:endCxn id="1139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4" name="Google Shape;1164;p64"/>
          <p:cNvCxnSpPr>
            <a:stCxn id="1146" idx="5"/>
            <a:endCxn id="1147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5" name="Google Shape;1165;p64"/>
          <p:cNvCxnSpPr>
            <a:stCxn id="1138" idx="4"/>
            <a:endCxn id="1147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6" name="Google Shape;1166;p64"/>
          <p:cNvCxnSpPr>
            <a:stCxn id="1144" idx="5"/>
            <a:endCxn id="1157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7" name="Google Shape;1167;p64"/>
          <p:cNvCxnSpPr>
            <a:stCxn id="1143" idx="3"/>
            <a:endCxn id="1157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8" name="Google Shape;1168;p64"/>
          <p:cNvCxnSpPr>
            <a:stCxn id="1140" idx="6"/>
            <a:endCxn id="1146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9" name="Google Shape;1169;p64"/>
          <p:cNvCxnSpPr>
            <a:stCxn id="1157" idx="3"/>
            <a:endCxn id="1145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0" name="Google Shape;1170;p64"/>
          <p:cNvCxnSpPr>
            <a:stCxn id="1157" idx="5"/>
            <a:endCxn id="1142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1" name="Google Shape;1171;p64"/>
          <p:cNvCxnSpPr>
            <a:stCxn id="1147" idx="4"/>
            <a:endCxn id="1143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172" name="Google Shape;1172;p64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3" name="Google Shape;1173;p64"/>
          <p:cNvSpPr txBox="1"/>
          <p:nvPr/>
        </p:nvSpPr>
        <p:spPr>
          <a:xfrm>
            <a:off x="668925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d_{ij}^E=\sqrt{\sum_{k \neq i,j}^{ }(a_{ik}-a_{jk})^2}&#10;%69ea7ca4-5e4c-40ba-8b79-a739e0719dcd" id="1174" name="Google Shape;117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150" y="93763"/>
            <a:ext cx="253365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65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180" name="Google Shape;1180;p65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1" name="Google Shape;1181;p65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2" name="Google Shape;1182;p65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3" name="Google Shape;1183;p65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4" name="Google Shape;1184;p65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5" name="Google Shape;1185;p65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6" name="Google Shape;1186;p65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7" name="Google Shape;1187;p65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8" name="Google Shape;1188;p65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9" name="Google Shape;1189;p65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0" name="Google Shape;1190;p65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91" name="Google Shape;1191;p65"/>
          <p:cNvCxnSpPr>
            <a:stCxn id="1183" idx="6"/>
            <a:endCxn id="1190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2" name="Google Shape;1192;p65"/>
          <p:cNvCxnSpPr>
            <a:stCxn id="1183" idx="4"/>
            <a:endCxn id="1188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3" name="Google Shape;1193;p65"/>
          <p:cNvCxnSpPr>
            <a:stCxn id="1183" idx="5"/>
            <a:endCxn id="1180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4" name="Google Shape;1194;p65"/>
          <p:cNvCxnSpPr>
            <a:stCxn id="1190" idx="3"/>
            <a:endCxn id="1188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5" name="Google Shape;1195;p65"/>
          <p:cNvCxnSpPr>
            <a:stCxn id="1190" idx="4"/>
            <a:endCxn id="1180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6" name="Google Shape;1196;p65"/>
          <p:cNvCxnSpPr>
            <a:stCxn id="1182" idx="5"/>
            <a:endCxn id="1189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7" name="Google Shape;1197;p65"/>
          <p:cNvCxnSpPr>
            <a:stCxn id="1181" idx="6"/>
            <a:endCxn id="1189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8" name="Google Shape;1198;p65"/>
          <p:cNvCxnSpPr>
            <a:stCxn id="1186" idx="7"/>
            <a:endCxn id="1189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65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00" name="Google Shape;1200;p65"/>
          <p:cNvCxnSpPr>
            <a:stCxn id="1182" idx="5"/>
            <a:endCxn id="1185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1" name="Google Shape;1201;p65"/>
          <p:cNvCxnSpPr>
            <a:stCxn id="1186" idx="6"/>
            <a:endCxn id="1185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2" name="Google Shape;1202;p65"/>
          <p:cNvCxnSpPr>
            <a:stCxn id="1181" idx="5"/>
            <a:endCxn id="1185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3" name="Google Shape;1203;p65"/>
          <p:cNvCxnSpPr>
            <a:stCxn id="1182" idx="7"/>
            <a:endCxn id="1183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4" name="Google Shape;1204;p65"/>
          <p:cNvCxnSpPr>
            <a:stCxn id="1188" idx="3"/>
            <a:endCxn id="1181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5" name="Google Shape;1205;p65"/>
          <p:cNvCxnSpPr>
            <a:stCxn id="1180" idx="3"/>
            <a:endCxn id="1181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6" name="Google Shape;1206;p65"/>
          <p:cNvCxnSpPr>
            <a:stCxn id="1188" idx="5"/>
            <a:endCxn id="1189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7" name="Google Shape;1207;p65"/>
          <p:cNvCxnSpPr>
            <a:stCxn id="1180" idx="4"/>
            <a:endCxn id="1189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8" name="Google Shape;1208;p65"/>
          <p:cNvCxnSpPr>
            <a:stCxn id="1186" idx="5"/>
            <a:endCxn id="1199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9" name="Google Shape;1209;p65"/>
          <p:cNvCxnSpPr>
            <a:stCxn id="1185" idx="3"/>
            <a:endCxn id="1199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0" name="Google Shape;1210;p65"/>
          <p:cNvCxnSpPr>
            <a:stCxn id="1182" idx="6"/>
            <a:endCxn id="1188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1" name="Google Shape;1211;p65"/>
          <p:cNvCxnSpPr>
            <a:stCxn id="1199" idx="3"/>
            <a:endCxn id="1187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2" name="Google Shape;1212;p65"/>
          <p:cNvCxnSpPr>
            <a:stCxn id="1199" idx="5"/>
            <a:endCxn id="1184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3" name="Google Shape;1213;p65"/>
          <p:cNvCxnSpPr>
            <a:stCxn id="1189" idx="4"/>
            <a:endCxn id="1185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14" name="Google Shape;1214;p65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5" name="Google Shape;1215;p65"/>
          <p:cNvSpPr txBox="1"/>
          <p:nvPr/>
        </p:nvSpPr>
        <p:spPr>
          <a:xfrm>
            <a:off x="668925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d_{ij}^E=\sqrt{\sum_{k \neq i,j}^{ }(a_{ik}-a_{jk})^2}&#10;%69ea7ca4-5e4c-40ba-8b79-a739e0719dcd" id="1216" name="Google Shape;121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150" y="93763"/>
            <a:ext cx="253365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66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222" name="Google Shape;1222;p66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3" name="Google Shape;1223;p66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4" name="Google Shape;1224;p66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5" name="Google Shape;1225;p66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6" name="Google Shape;1226;p66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7" name="Google Shape;1227;p66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8" name="Google Shape;1228;p66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9" name="Google Shape;1229;p66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0" name="Google Shape;1230;p66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1" name="Google Shape;1231;p66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2" name="Google Shape;1232;p66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33" name="Google Shape;1233;p66"/>
          <p:cNvCxnSpPr>
            <a:stCxn id="1225" idx="6"/>
            <a:endCxn id="1232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4" name="Google Shape;1234;p66"/>
          <p:cNvCxnSpPr>
            <a:stCxn id="1225" idx="4"/>
            <a:endCxn id="1230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5" name="Google Shape;1235;p66"/>
          <p:cNvCxnSpPr>
            <a:stCxn id="1225" idx="5"/>
            <a:endCxn id="1222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6" name="Google Shape;1236;p66"/>
          <p:cNvCxnSpPr>
            <a:stCxn id="1232" idx="3"/>
            <a:endCxn id="1230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7" name="Google Shape;1237;p66"/>
          <p:cNvCxnSpPr>
            <a:stCxn id="1232" idx="4"/>
            <a:endCxn id="1222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8" name="Google Shape;1238;p66"/>
          <p:cNvCxnSpPr>
            <a:stCxn id="1224" idx="5"/>
            <a:endCxn id="1231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9" name="Google Shape;1239;p66"/>
          <p:cNvCxnSpPr>
            <a:stCxn id="1223" idx="6"/>
            <a:endCxn id="1231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0" name="Google Shape;1240;p66"/>
          <p:cNvCxnSpPr>
            <a:stCxn id="1228" idx="7"/>
            <a:endCxn id="1231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1" name="Google Shape;1241;p66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42" name="Google Shape;1242;p66"/>
          <p:cNvCxnSpPr>
            <a:stCxn id="1224" idx="5"/>
            <a:endCxn id="1227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3" name="Google Shape;1243;p66"/>
          <p:cNvCxnSpPr>
            <a:stCxn id="1228" idx="6"/>
            <a:endCxn id="1227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4" name="Google Shape;1244;p66"/>
          <p:cNvCxnSpPr>
            <a:stCxn id="1223" idx="5"/>
            <a:endCxn id="1227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5" name="Google Shape;1245;p66"/>
          <p:cNvCxnSpPr>
            <a:stCxn id="1224" idx="7"/>
            <a:endCxn id="1225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6" name="Google Shape;1246;p66"/>
          <p:cNvCxnSpPr>
            <a:stCxn id="1230" idx="3"/>
            <a:endCxn id="1223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7" name="Google Shape;1247;p66"/>
          <p:cNvCxnSpPr>
            <a:stCxn id="1222" idx="3"/>
            <a:endCxn id="1223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8" name="Google Shape;1248;p66"/>
          <p:cNvCxnSpPr>
            <a:stCxn id="1230" idx="5"/>
            <a:endCxn id="1231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9" name="Google Shape;1249;p66"/>
          <p:cNvCxnSpPr>
            <a:stCxn id="1222" idx="4"/>
            <a:endCxn id="1231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0" name="Google Shape;1250;p66"/>
          <p:cNvCxnSpPr>
            <a:stCxn id="1228" idx="5"/>
            <a:endCxn id="1241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1" name="Google Shape;1251;p66"/>
          <p:cNvCxnSpPr>
            <a:stCxn id="1227" idx="3"/>
            <a:endCxn id="1241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2" name="Google Shape;1252;p66"/>
          <p:cNvCxnSpPr>
            <a:stCxn id="1224" idx="6"/>
            <a:endCxn id="1230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3" name="Google Shape;1253;p66"/>
          <p:cNvCxnSpPr>
            <a:stCxn id="1241" idx="3"/>
            <a:endCxn id="1229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4" name="Google Shape;1254;p66"/>
          <p:cNvCxnSpPr>
            <a:stCxn id="1241" idx="5"/>
            <a:endCxn id="1226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5" name="Google Shape;1255;p66"/>
          <p:cNvCxnSpPr>
            <a:stCxn id="1231" idx="4"/>
            <a:endCxn id="1227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56" name="Google Shape;1256;p66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d_{ij}^E=\sqrt{\sum_{k \neq i,j}^{ }(a_{ik}-a_{jk})^2}&#10;%69ea7ca4-5e4c-40ba-8b79-a739e0719dcd" id="1257" name="Google Shape;125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150" y="93763"/>
            <a:ext cx="25336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p66"/>
          <p:cNvSpPr txBox="1"/>
          <p:nvPr/>
        </p:nvSpPr>
        <p:spPr>
          <a:xfrm>
            <a:off x="311700" y="4298475"/>
            <a:ext cx="61341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(0 - 0)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(1 - 1)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(1 - 1)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(0 - 0)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(0 - 0)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+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(0 - 1)</a:t>
            </a:r>
            <a:r>
              <a:rPr b="1" baseline="30000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="1" baseline="-25000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(1 - 1)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(1 - 1)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(0 - 0)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+ (0 - 0)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67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264" name="Google Shape;1264;p67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5" name="Google Shape;1265;p67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6" name="Google Shape;1266;p67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7" name="Google Shape;1267;p67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8" name="Google Shape;1268;p67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9" name="Google Shape;1269;p67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0" name="Google Shape;1270;p67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1" name="Google Shape;1271;p67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2" name="Google Shape;1272;p67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3" name="Google Shape;1273;p67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4" name="Google Shape;1274;p67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75" name="Google Shape;1275;p67"/>
          <p:cNvCxnSpPr>
            <a:stCxn id="1267" idx="6"/>
            <a:endCxn id="1274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6" name="Google Shape;1276;p67"/>
          <p:cNvCxnSpPr>
            <a:stCxn id="1267" idx="4"/>
            <a:endCxn id="1272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7" name="Google Shape;1277;p67"/>
          <p:cNvCxnSpPr>
            <a:stCxn id="1267" idx="5"/>
            <a:endCxn id="1264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8" name="Google Shape;1278;p67"/>
          <p:cNvCxnSpPr>
            <a:stCxn id="1274" idx="3"/>
            <a:endCxn id="1272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9" name="Google Shape;1279;p67"/>
          <p:cNvCxnSpPr>
            <a:stCxn id="1274" idx="4"/>
            <a:endCxn id="1264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67"/>
          <p:cNvCxnSpPr>
            <a:stCxn id="1266" idx="5"/>
            <a:endCxn id="1273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67"/>
          <p:cNvCxnSpPr>
            <a:stCxn id="1265" idx="6"/>
            <a:endCxn id="1273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67"/>
          <p:cNvCxnSpPr>
            <a:stCxn id="1270" idx="7"/>
            <a:endCxn id="1273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3" name="Google Shape;1283;p67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84" name="Google Shape;1284;p67"/>
          <p:cNvCxnSpPr>
            <a:stCxn id="1266" idx="5"/>
            <a:endCxn id="1269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5" name="Google Shape;1285;p67"/>
          <p:cNvCxnSpPr>
            <a:stCxn id="1270" idx="6"/>
            <a:endCxn id="1269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6" name="Google Shape;1286;p67"/>
          <p:cNvCxnSpPr>
            <a:stCxn id="1265" idx="5"/>
            <a:endCxn id="1269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7" name="Google Shape;1287;p67"/>
          <p:cNvCxnSpPr>
            <a:stCxn id="1266" idx="7"/>
            <a:endCxn id="1267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8" name="Google Shape;1288;p67"/>
          <p:cNvCxnSpPr>
            <a:stCxn id="1272" idx="3"/>
            <a:endCxn id="1265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9" name="Google Shape;1289;p67"/>
          <p:cNvCxnSpPr>
            <a:stCxn id="1264" idx="3"/>
            <a:endCxn id="1265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0" name="Google Shape;1290;p67"/>
          <p:cNvCxnSpPr>
            <a:stCxn id="1272" idx="5"/>
            <a:endCxn id="1273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67"/>
          <p:cNvCxnSpPr>
            <a:stCxn id="1264" idx="4"/>
            <a:endCxn id="1273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67"/>
          <p:cNvCxnSpPr>
            <a:stCxn id="1270" idx="5"/>
            <a:endCxn id="1283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3" name="Google Shape;1293;p67"/>
          <p:cNvCxnSpPr>
            <a:stCxn id="1269" idx="3"/>
            <a:endCxn id="1283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4" name="Google Shape;1294;p67"/>
          <p:cNvCxnSpPr>
            <a:stCxn id="1266" idx="6"/>
            <a:endCxn id="1272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5" name="Google Shape;1295;p67"/>
          <p:cNvCxnSpPr>
            <a:stCxn id="1283" idx="3"/>
            <a:endCxn id="1271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6" name="Google Shape;1296;p67"/>
          <p:cNvCxnSpPr>
            <a:stCxn id="1283" idx="5"/>
            <a:endCxn id="1268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7" name="Google Shape;1297;p67"/>
          <p:cNvCxnSpPr>
            <a:stCxn id="1273" idx="4"/>
            <a:endCxn id="1269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98" name="Google Shape;1298;p67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d_{ij}^E=\sqrt{\sum_{k \neq i,j}^{ }(a_{ik}-a_{jk})^2}&#10;%69ea7ca4-5e4c-40ba-8b79-a739e0719dcd" id="1299" name="Google Shape;129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150" y="93763"/>
            <a:ext cx="25336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67"/>
          <p:cNvSpPr txBox="1"/>
          <p:nvPr/>
        </p:nvSpPr>
        <p:spPr>
          <a:xfrm>
            <a:off x="311700" y="4298475"/>
            <a:ext cx="61341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aseline="30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√ 1 = 1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68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graphicFrame>
        <p:nvGraphicFramePr>
          <p:cNvPr id="1306" name="Google Shape;1306;p68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1.4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1.4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</a:t>
                      </a:r>
                      <a:endParaRPr sz="12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7" name="Google Shape;1307;p68"/>
          <p:cNvSpPr txBox="1"/>
          <p:nvPr/>
        </p:nvSpPr>
        <p:spPr>
          <a:xfrm>
            <a:off x="668925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Structural Similarity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08" name="Google Shape;1308;p68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9" name="Google Shape;1309;p68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0" name="Google Shape;1310;p68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1" name="Google Shape;1311;p68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2" name="Google Shape;1312;p68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3" name="Google Shape;1313;p68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4" name="Google Shape;1314;p68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5" name="Google Shape;1315;p68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6" name="Google Shape;1316;p68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7" name="Google Shape;1317;p68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8" name="Google Shape;1318;p68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19" name="Google Shape;1319;p68"/>
          <p:cNvCxnSpPr>
            <a:stCxn id="1311" idx="6"/>
            <a:endCxn id="1318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0" name="Google Shape;1320;p68"/>
          <p:cNvCxnSpPr>
            <a:stCxn id="1311" idx="4"/>
            <a:endCxn id="1316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1" name="Google Shape;1321;p68"/>
          <p:cNvCxnSpPr>
            <a:stCxn id="1311" idx="5"/>
            <a:endCxn id="1308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2" name="Google Shape;1322;p68"/>
          <p:cNvCxnSpPr>
            <a:stCxn id="1318" idx="3"/>
            <a:endCxn id="1316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3" name="Google Shape;1323;p68"/>
          <p:cNvCxnSpPr>
            <a:stCxn id="1318" idx="4"/>
            <a:endCxn id="1308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4" name="Google Shape;1324;p68"/>
          <p:cNvCxnSpPr>
            <a:stCxn id="1310" idx="5"/>
            <a:endCxn id="1317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5" name="Google Shape;1325;p68"/>
          <p:cNvCxnSpPr>
            <a:stCxn id="1309" idx="6"/>
            <a:endCxn id="1317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6" name="Google Shape;1326;p68"/>
          <p:cNvCxnSpPr>
            <a:stCxn id="1314" idx="7"/>
            <a:endCxn id="1317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7" name="Google Shape;1327;p68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28" name="Google Shape;1328;p68"/>
          <p:cNvCxnSpPr>
            <a:stCxn id="1310" idx="5"/>
            <a:endCxn id="1313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68"/>
          <p:cNvCxnSpPr>
            <a:stCxn id="1314" idx="6"/>
            <a:endCxn id="1313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68"/>
          <p:cNvCxnSpPr>
            <a:stCxn id="1309" idx="5"/>
            <a:endCxn id="1313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1" name="Google Shape;1331;p68"/>
          <p:cNvCxnSpPr>
            <a:stCxn id="1310" idx="7"/>
            <a:endCxn id="1311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2" name="Google Shape;1332;p68"/>
          <p:cNvCxnSpPr>
            <a:stCxn id="1316" idx="3"/>
            <a:endCxn id="1309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3" name="Google Shape;1333;p68"/>
          <p:cNvCxnSpPr>
            <a:stCxn id="1308" idx="3"/>
            <a:endCxn id="1309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4" name="Google Shape;1334;p68"/>
          <p:cNvCxnSpPr>
            <a:stCxn id="1316" idx="5"/>
            <a:endCxn id="1317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5" name="Google Shape;1335;p68"/>
          <p:cNvCxnSpPr>
            <a:stCxn id="1308" idx="4"/>
            <a:endCxn id="1317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6" name="Google Shape;1336;p68"/>
          <p:cNvCxnSpPr>
            <a:stCxn id="1314" idx="5"/>
            <a:endCxn id="1327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7" name="Google Shape;1337;p68"/>
          <p:cNvCxnSpPr>
            <a:stCxn id="1313" idx="3"/>
            <a:endCxn id="1327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8" name="Google Shape;1338;p68"/>
          <p:cNvCxnSpPr>
            <a:stCxn id="1310" idx="6"/>
            <a:endCxn id="1316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9" name="Google Shape;1339;p68"/>
          <p:cNvCxnSpPr>
            <a:stCxn id="1327" idx="3"/>
            <a:endCxn id="1315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0" name="Google Shape;1340;p68"/>
          <p:cNvCxnSpPr>
            <a:stCxn id="1327" idx="5"/>
            <a:endCxn id="1312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1" name="Google Shape;1341;p68"/>
          <p:cNvCxnSpPr>
            <a:stCxn id="1317" idx="4"/>
            <a:endCxn id="1313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d_{ij}^E=\sqrt{\sum_{k \neq i,j}^{ }(a_{ik}-a_{jk})^2}&#10;%69ea7ca4-5e4c-40ba-8b79-a739e0719dcd" id="1342" name="Google Shape;134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150" y="93763"/>
            <a:ext cx="253365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69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348" name="Google Shape;1348;p69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9" name="Google Shape;1349;p69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0" name="Google Shape;1350;p69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1" name="Google Shape;1351;p69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2" name="Google Shape;1352;p69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3" name="Google Shape;1353;p69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4" name="Google Shape;1354;p69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5" name="Google Shape;1355;p69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6" name="Google Shape;1356;p69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7" name="Google Shape;1357;p69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8" name="Google Shape;1358;p69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59" name="Google Shape;1359;p69"/>
          <p:cNvCxnSpPr>
            <a:stCxn id="1351" idx="6"/>
            <a:endCxn id="1358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69"/>
          <p:cNvCxnSpPr>
            <a:stCxn id="1351" idx="4"/>
            <a:endCxn id="1356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69"/>
          <p:cNvCxnSpPr>
            <a:stCxn id="1351" idx="5"/>
            <a:endCxn id="1348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2" name="Google Shape;1362;p69"/>
          <p:cNvCxnSpPr>
            <a:stCxn id="1358" idx="3"/>
            <a:endCxn id="1356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3" name="Google Shape;1363;p69"/>
          <p:cNvCxnSpPr>
            <a:stCxn id="1358" idx="4"/>
            <a:endCxn id="1348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4" name="Google Shape;1364;p69"/>
          <p:cNvCxnSpPr>
            <a:stCxn id="1350" idx="5"/>
            <a:endCxn id="1357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5" name="Google Shape;1365;p69"/>
          <p:cNvCxnSpPr>
            <a:stCxn id="1349" idx="6"/>
            <a:endCxn id="1357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6" name="Google Shape;1366;p69"/>
          <p:cNvCxnSpPr>
            <a:stCxn id="1354" idx="7"/>
            <a:endCxn id="1357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7" name="Google Shape;1367;p69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68" name="Google Shape;1368;p69"/>
          <p:cNvCxnSpPr>
            <a:stCxn id="1350" idx="5"/>
            <a:endCxn id="1353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9" name="Google Shape;1369;p69"/>
          <p:cNvCxnSpPr>
            <a:stCxn id="1354" idx="6"/>
            <a:endCxn id="1353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0" name="Google Shape;1370;p69"/>
          <p:cNvCxnSpPr>
            <a:stCxn id="1349" idx="5"/>
            <a:endCxn id="1353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1" name="Google Shape;1371;p69"/>
          <p:cNvCxnSpPr>
            <a:stCxn id="1350" idx="7"/>
            <a:endCxn id="1351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2" name="Google Shape;1372;p69"/>
          <p:cNvCxnSpPr>
            <a:stCxn id="1356" idx="3"/>
            <a:endCxn id="1349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3" name="Google Shape;1373;p69"/>
          <p:cNvCxnSpPr>
            <a:stCxn id="1348" idx="3"/>
            <a:endCxn id="1349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4" name="Google Shape;1374;p69"/>
          <p:cNvCxnSpPr>
            <a:stCxn id="1356" idx="5"/>
            <a:endCxn id="1357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5" name="Google Shape;1375;p69"/>
          <p:cNvCxnSpPr>
            <a:stCxn id="1348" idx="4"/>
            <a:endCxn id="1357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6" name="Google Shape;1376;p69"/>
          <p:cNvCxnSpPr>
            <a:stCxn id="1354" idx="5"/>
            <a:endCxn id="1367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7" name="Google Shape;1377;p69"/>
          <p:cNvCxnSpPr>
            <a:stCxn id="1353" idx="3"/>
            <a:endCxn id="1367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8" name="Google Shape;1378;p69"/>
          <p:cNvCxnSpPr>
            <a:stCxn id="1350" idx="6"/>
            <a:endCxn id="1356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9" name="Google Shape;1379;p69"/>
          <p:cNvCxnSpPr>
            <a:stCxn id="1367" idx="3"/>
            <a:endCxn id="1355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0" name="Google Shape;1380;p69"/>
          <p:cNvCxnSpPr>
            <a:stCxn id="1367" idx="5"/>
            <a:endCxn id="1352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1" name="Google Shape;1381;p69"/>
          <p:cNvCxnSpPr>
            <a:stCxn id="1357" idx="4"/>
            <a:endCxn id="1353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382" name="Google Shape;1382;p69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3" name="Google Shape;1383;p69"/>
          <p:cNvSpPr txBox="1"/>
          <p:nvPr/>
        </p:nvSpPr>
        <p:spPr>
          <a:xfrm>
            <a:off x="668925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Structural Similarity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descr="d_{ij}^E=\sqrt{\sum_{k \neq i,j}^{ }(a_{ik}-a_{jk})^2}&#10;%69ea7ca4-5e4c-40ba-8b79-a739e0719dcd" id="1384" name="Google Shape;138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150" y="93763"/>
            <a:ext cx="253365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70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390" name="Google Shape;1390;p70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1" name="Google Shape;1391;p70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2" name="Google Shape;1392;p70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3" name="Google Shape;1393;p70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4" name="Google Shape;1394;p70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5" name="Google Shape;1395;p70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6" name="Google Shape;1396;p70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7" name="Google Shape;1397;p70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8" name="Google Shape;1398;p70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9" name="Google Shape;1399;p70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0" name="Google Shape;1400;p70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01" name="Google Shape;1401;p70"/>
          <p:cNvCxnSpPr>
            <a:stCxn id="1393" idx="6"/>
            <a:endCxn id="1400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2" name="Google Shape;1402;p70"/>
          <p:cNvCxnSpPr>
            <a:stCxn id="1393" idx="4"/>
            <a:endCxn id="1398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3" name="Google Shape;1403;p70"/>
          <p:cNvCxnSpPr>
            <a:stCxn id="1393" idx="5"/>
            <a:endCxn id="1390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4" name="Google Shape;1404;p70"/>
          <p:cNvCxnSpPr>
            <a:stCxn id="1400" idx="3"/>
            <a:endCxn id="1398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5" name="Google Shape;1405;p70"/>
          <p:cNvCxnSpPr>
            <a:stCxn id="1400" idx="4"/>
            <a:endCxn id="1390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6" name="Google Shape;1406;p70"/>
          <p:cNvCxnSpPr>
            <a:stCxn id="1392" idx="5"/>
            <a:endCxn id="1399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7" name="Google Shape;1407;p70"/>
          <p:cNvCxnSpPr>
            <a:stCxn id="1391" idx="6"/>
            <a:endCxn id="1399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8" name="Google Shape;1408;p70"/>
          <p:cNvCxnSpPr>
            <a:stCxn id="1396" idx="7"/>
            <a:endCxn id="1399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9" name="Google Shape;1409;p70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10" name="Google Shape;1410;p70"/>
          <p:cNvCxnSpPr>
            <a:stCxn id="1392" idx="5"/>
            <a:endCxn id="1395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1" name="Google Shape;1411;p70"/>
          <p:cNvCxnSpPr>
            <a:stCxn id="1396" idx="6"/>
            <a:endCxn id="1395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2" name="Google Shape;1412;p70"/>
          <p:cNvCxnSpPr>
            <a:stCxn id="1391" idx="5"/>
            <a:endCxn id="1395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3" name="Google Shape;1413;p70"/>
          <p:cNvCxnSpPr>
            <a:stCxn id="1392" idx="7"/>
            <a:endCxn id="1393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4" name="Google Shape;1414;p70"/>
          <p:cNvCxnSpPr>
            <a:stCxn id="1398" idx="3"/>
            <a:endCxn id="1391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5" name="Google Shape;1415;p70"/>
          <p:cNvCxnSpPr>
            <a:stCxn id="1390" idx="3"/>
            <a:endCxn id="1391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6" name="Google Shape;1416;p70"/>
          <p:cNvCxnSpPr>
            <a:stCxn id="1398" idx="5"/>
            <a:endCxn id="1399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7" name="Google Shape;1417;p70"/>
          <p:cNvCxnSpPr>
            <a:stCxn id="1390" idx="4"/>
            <a:endCxn id="1399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8" name="Google Shape;1418;p70"/>
          <p:cNvCxnSpPr>
            <a:stCxn id="1396" idx="5"/>
            <a:endCxn id="1409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9" name="Google Shape;1419;p70"/>
          <p:cNvCxnSpPr>
            <a:stCxn id="1395" idx="3"/>
            <a:endCxn id="1409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0" name="Google Shape;1420;p70"/>
          <p:cNvCxnSpPr>
            <a:stCxn id="1392" idx="6"/>
            <a:endCxn id="1398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1" name="Google Shape;1421;p70"/>
          <p:cNvCxnSpPr>
            <a:stCxn id="1409" idx="3"/>
            <a:endCxn id="1397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2" name="Google Shape;1422;p70"/>
          <p:cNvCxnSpPr>
            <a:stCxn id="1409" idx="5"/>
            <a:endCxn id="1394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3" name="Google Shape;1423;p70"/>
          <p:cNvCxnSpPr>
            <a:stCxn id="1399" idx="4"/>
            <a:endCxn id="1395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24" name="Google Shape;1424;p70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5" name="Google Shape;1425;p70"/>
          <p:cNvSpPr txBox="1"/>
          <p:nvPr/>
        </p:nvSpPr>
        <p:spPr>
          <a:xfrm>
            <a:off x="668925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Structural Similarity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26" name="Google Shape;1426;p70"/>
          <p:cNvSpPr/>
          <p:nvPr/>
        </p:nvSpPr>
        <p:spPr>
          <a:xfrm>
            <a:off x="3984375" y="3417725"/>
            <a:ext cx="2181000" cy="1428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K and E are structurally equivalent not just similar!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d_{ij}^E=\sqrt{\sum_{k \neq i,j}^{ }(a_{ik}-a_{jk})^2}&#10;%69ea7ca4-5e4c-40ba-8b79-a739e0719dcd" id="1427" name="Google Shape;142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150" y="93763"/>
            <a:ext cx="253365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_{ij}^E=\sqrt{\sum_{k \neq i,j}^{ }(a_{ik}-a_{jk})^2}&#10;%69ea7ca4-5e4c-40ba-8b79-a739e0719dcd" id="1432" name="Google Shape;143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150" y="93763"/>
            <a:ext cx="25336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71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434" name="Google Shape;1434;p71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5" name="Google Shape;1435;p71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6" name="Google Shape;1436;p71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7" name="Google Shape;1437;p71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8" name="Google Shape;1438;p71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9" name="Google Shape;1439;p71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0" name="Google Shape;1440;p71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1" name="Google Shape;1441;p71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2" name="Google Shape;1442;p71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3" name="Google Shape;1443;p71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4" name="Google Shape;1444;p71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45" name="Google Shape;1445;p71"/>
          <p:cNvCxnSpPr>
            <a:stCxn id="1437" idx="6"/>
            <a:endCxn id="1444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6" name="Google Shape;1446;p71"/>
          <p:cNvCxnSpPr>
            <a:stCxn id="1437" idx="4"/>
            <a:endCxn id="1442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7" name="Google Shape;1447;p71"/>
          <p:cNvCxnSpPr>
            <a:stCxn id="1437" idx="5"/>
            <a:endCxn id="1434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8" name="Google Shape;1448;p71"/>
          <p:cNvCxnSpPr>
            <a:stCxn id="1444" idx="3"/>
            <a:endCxn id="1442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9" name="Google Shape;1449;p71"/>
          <p:cNvCxnSpPr>
            <a:stCxn id="1444" idx="4"/>
            <a:endCxn id="1434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0" name="Google Shape;1450;p71"/>
          <p:cNvCxnSpPr>
            <a:stCxn id="1436" idx="5"/>
            <a:endCxn id="1443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1" name="Google Shape;1451;p71"/>
          <p:cNvCxnSpPr>
            <a:stCxn id="1435" idx="6"/>
            <a:endCxn id="1443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2" name="Google Shape;1452;p71"/>
          <p:cNvCxnSpPr>
            <a:stCxn id="1440" idx="7"/>
            <a:endCxn id="1443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3" name="Google Shape;1453;p71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54" name="Google Shape;1454;p71"/>
          <p:cNvCxnSpPr>
            <a:stCxn id="1436" idx="5"/>
            <a:endCxn id="1439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5" name="Google Shape;1455;p71"/>
          <p:cNvCxnSpPr>
            <a:stCxn id="1440" idx="6"/>
            <a:endCxn id="1439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6" name="Google Shape;1456;p71"/>
          <p:cNvCxnSpPr>
            <a:stCxn id="1435" idx="5"/>
            <a:endCxn id="1439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7" name="Google Shape;1457;p71"/>
          <p:cNvCxnSpPr>
            <a:stCxn id="1436" idx="7"/>
            <a:endCxn id="1437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8" name="Google Shape;1458;p71"/>
          <p:cNvCxnSpPr>
            <a:stCxn id="1442" idx="3"/>
            <a:endCxn id="1435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9" name="Google Shape;1459;p71"/>
          <p:cNvCxnSpPr>
            <a:stCxn id="1434" idx="3"/>
            <a:endCxn id="1435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0" name="Google Shape;1460;p71"/>
          <p:cNvCxnSpPr>
            <a:stCxn id="1442" idx="5"/>
            <a:endCxn id="1443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1" name="Google Shape;1461;p71"/>
          <p:cNvCxnSpPr>
            <a:stCxn id="1434" idx="4"/>
            <a:endCxn id="1443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2" name="Google Shape;1462;p71"/>
          <p:cNvCxnSpPr>
            <a:stCxn id="1440" idx="5"/>
            <a:endCxn id="1453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3" name="Google Shape;1463;p71"/>
          <p:cNvCxnSpPr>
            <a:stCxn id="1439" idx="3"/>
            <a:endCxn id="1453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4" name="Google Shape;1464;p71"/>
          <p:cNvCxnSpPr>
            <a:stCxn id="1436" idx="6"/>
            <a:endCxn id="1442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5" name="Google Shape;1465;p71"/>
          <p:cNvCxnSpPr>
            <a:stCxn id="1453" idx="3"/>
            <a:endCxn id="1441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6" name="Google Shape;1466;p71"/>
          <p:cNvCxnSpPr>
            <a:stCxn id="1453" idx="5"/>
            <a:endCxn id="1438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7" name="Google Shape;1467;p71"/>
          <p:cNvCxnSpPr>
            <a:stCxn id="1443" idx="4"/>
            <a:endCxn id="1439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68" name="Google Shape;1468;p71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9" name="Google Shape;1469;p71"/>
          <p:cNvSpPr txBox="1"/>
          <p:nvPr/>
        </p:nvSpPr>
        <p:spPr>
          <a:xfrm>
            <a:off x="668925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Structural Similarity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70" name="Google Shape;1470;p71"/>
          <p:cNvSpPr/>
          <p:nvPr/>
        </p:nvSpPr>
        <p:spPr>
          <a:xfrm>
            <a:off x="3986925" y="479525"/>
            <a:ext cx="2156400" cy="16176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row node is most similar to the column node with the smallest cell entry!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1" name="Google Shape;1471;p71"/>
          <p:cNvSpPr/>
          <p:nvPr/>
        </p:nvSpPr>
        <p:spPr>
          <a:xfrm>
            <a:off x="4060000" y="2507325"/>
            <a:ext cx="2156400" cy="16176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B is most similar to G followed by J and L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_{ij}^E=\sqrt{\sum_{k \neq i,j}^{ }(a_{ik}-a_{jk})^2}&#10;%69ea7ca4-5e4c-40ba-8b79-a739e0719dcd" id="1476" name="Google Shape;147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150" y="93763"/>
            <a:ext cx="25336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72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478" name="Google Shape;1478;p72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9" name="Google Shape;1479;p72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0" name="Google Shape;1480;p72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1" name="Google Shape;1481;p72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2" name="Google Shape;1482;p72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3" name="Google Shape;1483;p72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4" name="Google Shape;1484;p72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5" name="Google Shape;1485;p72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6" name="Google Shape;1486;p72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7" name="Google Shape;1487;p72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8" name="Google Shape;1488;p72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89" name="Google Shape;1489;p72"/>
          <p:cNvCxnSpPr>
            <a:stCxn id="1481" idx="6"/>
            <a:endCxn id="1488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0" name="Google Shape;1490;p72"/>
          <p:cNvCxnSpPr>
            <a:stCxn id="1481" idx="4"/>
            <a:endCxn id="1486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1" name="Google Shape;1491;p72"/>
          <p:cNvCxnSpPr>
            <a:stCxn id="1481" idx="5"/>
            <a:endCxn id="1478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2" name="Google Shape;1492;p72"/>
          <p:cNvCxnSpPr>
            <a:stCxn id="1488" idx="3"/>
            <a:endCxn id="1486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3" name="Google Shape;1493;p72"/>
          <p:cNvCxnSpPr>
            <a:stCxn id="1488" idx="4"/>
            <a:endCxn id="1478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4" name="Google Shape;1494;p72"/>
          <p:cNvCxnSpPr>
            <a:stCxn id="1480" idx="5"/>
            <a:endCxn id="1487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5" name="Google Shape;1495;p72"/>
          <p:cNvCxnSpPr>
            <a:stCxn id="1479" idx="6"/>
            <a:endCxn id="1487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6" name="Google Shape;1496;p72"/>
          <p:cNvCxnSpPr>
            <a:stCxn id="1484" idx="7"/>
            <a:endCxn id="1487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7" name="Google Shape;1497;p72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498" name="Google Shape;1498;p72"/>
          <p:cNvCxnSpPr>
            <a:stCxn id="1480" idx="5"/>
            <a:endCxn id="1483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9" name="Google Shape;1499;p72"/>
          <p:cNvCxnSpPr>
            <a:stCxn id="1484" idx="6"/>
            <a:endCxn id="1483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0" name="Google Shape;1500;p72"/>
          <p:cNvCxnSpPr>
            <a:stCxn id="1479" idx="5"/>
            <a:endCxn id="1483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1" name="Google Shape;1501;p72"/>
          <p:cNvCxnSpPr>
            <a:stCxn id="1480" idx="7"/>
            <a:endCxn id="1481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2" name="Google Shape;1502;p72"/>
          <p:cNvCxnSpPr>
            <a:stCxn id="1486" idx="3"/>
            <a:endCxn id="1479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3" name="Google Shape;1503;p72"/>
          <p:cNvCxnSpPr>
            <a:stCxn id="1478" idx="3"/>
            <a:endCxn id="1479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4" name="Google Shape;1504;p72"/>
          <p:cNvCxnSpPr>
            <a:stCxn id="1486" idx="5"/>
            <a:endCxn id="1487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5" name="Google Shape;1505;p72"/>
          <p:cNvCxnSpPr>
            <a:stCxn id="1478" idx="4"/>
            <a:endCxn id="1487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6" name="Google Shape;1506;p72"/>
          <p:cNvCxnSpPr>
            <a:stCxn id="1484" idx="5"/>
            <a:endCxn id="1497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7" name="Google Shape;1507;p72"/>
          <p:cNvCxnSpPr>
            <a:stCxn id="1483" idx="3"/>
            <a:endCxn id="1497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8" name="Google Shape;1508;p72"/>
          <p:cNvCxnSpPr>
            <a:stCxn id="1480" idx="6"/>
            <a:endCxn id="1486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9" name="Google Shape;1509;p72"/>
          <p:cNvCxnSpPr>
            <a:stCxn id="1497" idx="3"/>
            <a:endCxn id="1485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0" name="Google Shape;1510;p72"/>
          <p:cNvCxnSpPr>
            <a:stCxn id="1497" idx="5"/>
            <a:endCxn id="1482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1" name="Google Shape;1511;p72"/>
          <p:cNvCxnSpPr>
            <a:stCxn id="1487" idx="4"/>
            <a:endCxn id="1483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512" name="Google Shape;1512;p72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3" name="Google Shape;1513;p72"/>
          <p:cNvSpPr txBox="1"/>
          <p:nvPr/>
        </p:nvSpPr>
        <p:spPr>
          <a:xfrm>
            <a:off x="668925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Structural Similarity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14" name="Google Shape;1514;p72"/>
          <p:cNvSpPr/>
          <p:nvPr/>
        </p:nvSpPr>
        <p:spPr>
          <a:xfrm>
            <a:off x="3986925" y="479525"/>
            <a:ext cx="2156400" cy="16176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row node is most similar to the column node with the smallest cell entry!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5" name="Google Shape;1515;p72"/>
          <p:cNvSpPr/>
          <p:nvPr/>
        </p:nvSpPr>
        <p:spPr>
          <a:xfrm>
            <a:off x="4060000" y="2507325"/>
            <a:ext cx="2156400" cy="16176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is most similar to C followed by F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73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521" name="Google Shape;1521;p73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2" name="Google Shape;1522;p73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3" name="Google Shape;1523;p73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4" name="Google Shape;1524;p73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5" name="Google Shape;1525;p73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6" name="Google Shape;1526;p73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7" name="Google Shape;1527;p73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8" name="Google Shape;1528;p73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9" name="Google Shape;1529;p73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0" name="Google Shape;1530;p73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1" name="Google Shape;1531;p73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32" name="Google Shape;1532;p73"/>
          <p:cNvCxnSpPr>
            <a:stCxn id="1524" idx="6"/>
            <a:endCxn id="1531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3" name="Google Shape;1533;p73"/>
          <p:cNvCxnSpPr>
            <a:stCxn id="1524" idx="4"/>
            <a:endCxn id="1529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4" name="Google Shape;1534;p73"/>
          <p:cNvCxnSpPr>
            <a:stCxn id="1524" idx="5"/>
            <a:endCxn id="1521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5" name="Google Shape;1535;p73"/>
          <p:cNvCxnSpPr>
            <a:stCxn id="1531" idx="3"/>
            <a:endCxn id="1529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6" name="Google Shape;1536;p73"/>
          <p:cNvCxnSpPr>
            <a:stCxn id="1531" idx="4"/>
            <a:endCxn id="1521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7" name="Google Shape;1537;p73"/>
          <p:cNvCxnSpPr>
            <a:stCxn id="1523" idx="5"/>
            <a:endCxn id="1530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8" name="Google Shape;1538;p73"/>
          <p:cNvCxnSpPr>
            <a:stCxn id="1522" idx="6"/>
            <a:endCxn id="1530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9" name="Google Shape;1539;p73"/>
          <p:cNvCxnSpPr>
            <a:stCxn id="1527" idx="7"/>
            <a:endCxn id="1530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0" name="Google Shape;1540;p73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41" name="Google Shape;1541;p73"/>
          <p:cNvCxnSpPr>
            <a:stCxn id="1523" idx="5"/>
            <a:endCxn id="1526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2" name="Google Shape;1542;p73"/>
          <p:cNvCxnSpPr>
            <a:stCxn id="1527" idx="6"/>
            <a:endCxn id="1526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3" name="Google Shape;1543;p73"/>
          <p:cNvCxnSpPr>
            <a:stCxn id="1522" idx="5"/>
            <a:endCxn id="1526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4" name="Google Shape;1544;p73"/>
          <p:cNvCxnSpPr>
            <a:stCxn id="1523" idx="7"/>
            <a:endCxn id="1524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5" name="Google Shape;1545;p73"/>
          <p:cNvCxnSpPr>
            <a:stCxn id="1529" idx="3"/>
            <a:endCxn id="1522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6" name="Google Shape;1546;p73"/>
          <p:cNvCxnSpPr>
            <a:stCxn id="1521" idx="3"/>
            <a:endCxn id="1522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7" name="Google Shape;1547;p73"/>
          <p:cNvCxnSpPr>
            <a:stCxn id="1529" idx="5"/>
            <a:endCxn id="1530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8" name="Google Shape;1548;p73"/>
          <p:cNvCxnSpPr>
            <a:stCxn id="1521" idx="4"/>
            <a:endCxn id="1530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9" name="Google Shape;1549;p73"/>
          <p:cNvCxnSpPr>
            <a:stCxn id="1527" idx="5"/>
            <a:endCxn id="1540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0" name="Google Shape;1550;p73"/>
          <p:cNvCxnSpPr>
            <a:stCxn id="1526" idx="3"/>
            <a:endCxn id="1540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1" name="Google Shape;1551;p73"/>
          <p:cNvCxnSpPr>
            <a:stCxn id="1523" idx="6"/>
            <a:endCxn id="1529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2" name="Google Shape;1552;p73"/>
          <p:cNvCxnSpPr>
            <a:stCxn id="1540" idx="3"/>
            <a:endCxn id="1528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3" name="Google Shape;1553;p73"/>
          <p:cNvCxnSpPr>
            <a:stCxn id="1540" idx="5"/>
            <a:endCxn id="1525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4" name="Google Shape;1554;p73"/>
          <p:cNvCxnSpPr>
            <a:stCxn id="1530" idx="4"/>
            <a:endCxn id="1526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555" name="Google Shape;1555;p73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6" name="Google Shape;1556;p73"/>
          <p:cNvSpPr txBox="1"/>
          <p:nvPr/>
        </p:nvSpPr>
        <p:spPr>
          <a:xfrm>
            <a:off x="668925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Structural Similarity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57" name="Google Shape;1557;p73"/>
          <p:cNvSpPr/>
          <p:nvPr/>
        </p:nvSpPr>
        <p:spPr>
          <a:xfrm>
            <a:off x="4060000" y="2507325"/>
            <a:ext cx="2156400" cy="16176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Nodes don’t have to be connected to be structurally similar!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58" name="Google Shape;1558;p73"/>
          <p:cNvCxnSpPr>
            <a:stCxn id="1529" idx="4"/>
            <a:endCxn id="1526" idx="1"/>
          </p:cNvCxnSpPr>
          <p:nvPr/>
        </p:nvCxnSpPr>
        <p:spPr>
          <a:xfrm>
            <a:off x="7436600" y="1673775"/>
            <a:ext cx="926700" cy="1808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59" name="Google Shape;1559;p73"/>
          <p:cNvCxnSpPr>
            <a:stCxn id="1529" idx="6"/>
            <a:endCxn id="1521" idx="2"/>
          </p:cNvCxnSpPr>
          <p:nvPr/>
        </p:nvCxnSpPr>
        <p:spPr>
          <a:xfrm>
            <a:off x="7656800" y="1453575"/>
            <a:ext cx="642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descr="d_{ij}^E=\sqrt{\sum_{k \neq i,j}^{ }(a_{ik}-a_{jk})^2}&#10;%69ea7ca4-5e4c-40ba-8b79-a739e0719dcd" id="1560" name="Google Shape;156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150" y="93763"/>
            <a:ext cx="25336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1" name="Google Shape;1561;p73"/>
          <p:cNvSpPr/>
          <p:nvPr/>
        </p:nvSpPr>
        <p:spPr>
          <a:xfrm>
            <a:off x="3986925" y="479525"/>
            <a:ext cx="2156400" cy="16176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row node is most similar to the column node with the smallest cell entry!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74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567" name="Google Shape;1567;p74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8" name="Google Shape;1568;p74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9" name="Google Shape;1569;p74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0" name="Google Shape;1570;p74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1" name="Google Shape;1571;p74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2" name="Google Shape;1572;p74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3" name="Google Shape;1573;p74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4" name="Google Shape;1574;p74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5" name="Google Shape;1575;p74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6" name="Google Shape;1576;p74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7" name="Google Shape;1577;p74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78" name="Google Shape;1578;p74"/>
          <p:cNvCxnSpPr>
            <a:stCxn id="1570" idx="6"/>
            <a:endCxn id="1577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9" name="Google Shape;1579;p74"/>
          <p:cNvCxnSpPr>
            <a:stCxn id="1570" idx="4"/>
            <a:endCxn id="1575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0" name="Google Shape;1580;p74"/>
          <p:cNvCxnSpPr>
            <a:stCxn id="1570" idx="5"/>
            <a:endCxn id="1567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1" name="Google Shape;1581;p74"/>
          <p:cNvCxnSpPr>
            <a:stCxn id="1577" idx="3"/>
            <a:endCxn id="1575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2" name="Google Shape;1582;p74"/>
          <p:cNvCxnSpPr>
            <a:stCxn id="1577" idx="4"/>
            <a:endCxn id="1567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3" name="Google Shape;1583;p74"/>
          <p:cNvCxnSpPr>
            <a:stCxn id="1569" idx="5"/>
            <a:endCxn id="1576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4" name="Google Shape;1584;p74"/>
          <p:cNvCxnSpPr>
            <a:stCxn id="1568" idx="6"/>
            <a:endCxn id="1576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5" name="Google Shape;1585;p74"/>
          <p:cNvCxnSpPr>
            <a:stCxn id="1573" idx="7"/>
            <a:endCxn id="1576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6" name="Google Shape;1586;p74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87" name="Google Shape;1587;p74"/>
          <p:cNvCxnSpPr>
            <a:stCxn id="1569" idx="5"/>
            <a:endCxn id="1572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8" name="Google Shape;1588;p74"/>
          <p:cNvCxnSpPr>
            <a:stCxn id="1573" idx="6"/>
            <a:endCxn id="1572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9" name="Google Shape;1589;p74"/>
          <p:cNvCxnSpPr>
            <a:stCxn id="1568" idx="5"/>
            <a:endCxn id="1572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0" name="Google Shape;1590;p74"/>
          <p:cNvCxnSpPr>
            <a:stCxn id="1569" idx="7"/>
            <a:endCxn id="1570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1" name="Google Shape;1591;p74"/>
          <p:cNvCxnSpPr>
            <a:stCxn id="1575" idx="3"/>
            <a:endCxn id="1568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2" name="Google Shape;1592;p74"/>
          <p:cNvCxnSpPr>
            <a:stCxn id="1567" idx="3"/>
            <a:endCxn id="1568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3" name="Google Shape;1593;p74"/>
          <p:cNvCxnSpPr>
            <a:stCxn id="1575" idx="5"/>
            <a:endCxn id="1576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4" name="Google Shape;1594;p74"/>
          <p:cNvCxnSpPr>
            <a:stCxn id="1567" idx="4"/>
            <a:endCxn id="1576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5" name="Google Shape;1595;p74"/>
          <p:cNvCxnSpPr>
            <a:stCxn id="1573" idx="5"/>
            <a:endCxn id="1586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6" name="Google Shape;1596;p74"/>
          <p:cNvCxnSpPr>
            <a:stCxn id="1572" idx="3"/>
            <a:endCxn id="1586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7" name="Google Shape;1597;p74"/>
          <p:cNvCxnSpPr>
            <a:stCxn id="1569" idx="6"/>
            <a:endCxn id="1575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8" name="Google Shape;1598;p74"/>
          <p:cNvCxnSpPr>
            <a:stCxn id="1586" idx="3"/>
            <a:endCxn id="1574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9" name="Google Shape;1599;p74"/>
          <p:cNvCxnSpPr>
            <a:stCxn id="1586" idx="5"/>
            <a:endCxn id="1571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0" name="Google Shape;1600;p74"/>
          <p:cNvCxnSpPr>
            <a:stCxn id="1576" idx="4"/>
            <a:endCxn id="1572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601" name="Google Shape;1601;p74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02" name="Google Shape;1602;p74"/>
          <p:cNvSpPr txBox="1"/>
          <p:nvPr/>
        </p:nvSpPr>
        <p:spPr>
          <a:xfrm>
            <a:off x="668925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Structural Similarity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03" name="Google Shape;1603;p74"/>
          <p:cNvSpPr/>
          <p:nvPr/>
        </p:nvSpPr>
        <p:spPr>
          <a:xfrm>
            <a:off x="4060000" y="2507325"/>
            <a:ext cx="2156400" cy="16176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Nodes don’t have to be connected to be structurally similar!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d_{ij}^E=\sqrt{\sum_{k \neq i,j}^{ }(a_{ik}-a_{jk})^2}&#10;%69ea7ca4-5e4c-40ba-8b79-a739e0719dcd" id="1604" name="Google Shape;160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150" y="93763"/>
            <a:ext cx="25336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5" name="Google Shape;1605;p74"/>
          <p:cNvSpPr/>
          <p:nvPr/>
        </p:nvSpPr>
        <p:spPr>
          <a:xfrm>
            <a:off x="3986925" y="479525"/>
            <a:ext cx="2156400" cy="16176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row node is most similar to the column node with the smallest cell entry!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9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p75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graphicFrame>
        <p:nvGraphicFramePr>
          <p:cNvPr id="1611" name="Google Shape;1611;p75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2" name="Google Shape;1612;p75"/>
          <p:cNvSpPr txBox="1"/>
          <p:nvPr/>
        </p:nvSpPr>
        <p:spPr>
          <a:xfrm>
            <a:off x="668925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Structural Similarity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613" name="Google Shape;161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625" y="1299625"/>
            <a:ext cx="4881975" cy="3041592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75"/>
          <p:cNvSpPr/>
          <p:nvPr/>
        </p:nvSpPr>
        <p:spPr>
          <a:xfrm>
            <a:off x="5569950" y="315925"/>
            <a:ext cx="3069300" cy="12246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We can group the most similar nodes in something call a dendrogram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76"/>
          <p:cNvSpPr txBox="1"/>
          <p:nvPr>
            <p:ph type="title"/>
          </p:nvPr>
        </p:nvSpPr>
        <p:spPr>
          <a:xfrm>
            <a:off x="311700" y="315925"/>
            <a:ext cx="46314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graphicFrame>
        <p:nvGraphicFramePr>
          <p:cNvPr id="1620" name="Google Shape;1620;p76"/>
          <p:cNvGraphicFramePr/>
          <p:nvPr/>
        </p:nvGraphicFramePr>
        <p:xfrm>
          <a:off x="311700" y="114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1" name="Google Shape;1621;p76"/>
          <p:cNvSpPr txBox="1"/>
          <p:nvPr/>
        </p:nvSpPr>
        <p:spPr>
          <a:xfrm>
            <a:off x="668925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Structural Similarity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1622" name="Google Shape;162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625" y="1299625"/>
            <a:ext cx="4881975" cy="3041592"/>
          </a:xfrm>
          <a:prstGeom prst="rect">
            <a:avLst/>
          </a:prstGeom>
          <a:noFill/>
          <a:ln>
            <a:noFill/>
          </a:ln>
        </p:spPr>
      </p:pic>
      <p:sp>
        <p:nvSpPr>
          <p:cNvPr id="1623" name="Google Shape;1623;p76"/>
          <p:cNvSpPr/>
          <p:nvPr/>
        </p:nvSpPr>
        <p:spPr>
          <a:xfrm>
            <a:off x="5569950" y="315925"/>
            <a:ext cx="3069300" cy="12246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We can group the most similar nodes in something call a dendrogram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4" name="Google Shape;1624;p76"/>
          <p:cNvSpPr/>
          <p:nvPr/>
        </p:nvSpPr>
        <p:spPr>
          <a:xfrm>
            <a:off x="6186325" y="3759175"/>
            <a:ext cx="853200" cy="467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5" name="Google Shape;1625;p76"/>
          <p:cNvSpPr/>
          <p:nvPr/>
        </p:nvSpPr>
        <p:spPr>
          <a:xfrm>
            <a:off x="4291625" y="3759175"/>
            <a:ext cx="955800" cy="467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7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 Metrics Based on Neighborhood Overlap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636" name="Google Shape;1636;p78"/>
          <p:cNvSpPr txBox="1"/>
          <p:nvPr>
            <p:ph idx="1" type="body"/>
          </p:nvPr>
        </p:nvSpPr>
        <p:spPr>
          <a:xfrm>
            <a:off x="311700" y="1225225"/>
            <a:ext cx="53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use structural similarity metrics based on the </a:t>
            </a:r>
            <a:r>
              <a:rPr b="1" lang="en"/>
              <a:t>overlap</a:t>
            </a:r>
            <a:r>
              <a:rPr lang="en"/>
              <a:t> in the node neighborhoods of pairs of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overlap the more similar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 measure: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common neighbors (n</a:t>
            </a:r>
            <a:r>
              <a:rPr baseline="-25000" lang="en"/>
              <a:t>ij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people with </a:t>
            </a:r>
            <a:r>
              <a:rPr lang="en"/>
              <a:t>many</a:t>
            </a:r>
            <a:r>
              <a:rPr lang="en"/>
              <a:t> neighbors will have lots of overlap by default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i="1" lang="en">
                <a:solidFill>
                  <a:srgbClr val="FF0000"/>
                </a:solidFill>
              </a:rPr>
              <a:t>Need to normalize the overlap by the degrees of each node</a:t>
            </a:r>
            <a:endParaRPr i="1">
              <a:solidFill>
                <a:srgbClr val="FF0000"/>
              </a:solidFill>
            </a:endParaRPr>
          </a:p>
        </p:txBody>
      </p:sp>
      <p:sp>
        <p:nvSpPr>
          <p:cNvPr id="1637" name="Google Shape;1637;p78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8" name="Google Shape;1638;p78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9" name="Google Shape;1639;p78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0" name="Google Shape;1640;p78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1" name="Google Shape;1641;p78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2" name="Google Shape;1642;p78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3" name="Google Shape;1643;p78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4" name="Google Shape;1644;p78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5" name="Google Shape;1645;p78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6" name="Google Shape;1646;p78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7" name="Google Shape;1647;p78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48" name="Google Shape;1648;p78"/>
          <p:cNvCxnSpPr>
            <a:stCxn id="1640" idx="6"/>
            <a:endCxn id="1647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9" name="Google Shape;1649;p78"/>
          <p:cNvCxnSpPr>
            <a:stCxn id="1640" idx="4"/>
            <a:endCxn id="1645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0" name="Google Shape;1650;p78"/>
          <p:cNvCxnSpPr>
            <a:stCxn id="1640" idx="5"/>
            <a:endCxn id="1637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1" name="Google Shape;1651;p78"/>
          <p:cNvCxnSpPr>
            <a:stCxn id="1647" idx="3"/>
            <a:endCxn id="1645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2" name="Google Shape;1652;p78"/>
          <p:cNvCxnSpPr>
            <a:stCxn id="1647" idx="4"/>
            <a:endCxn id="1637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3" name="Google Shape;1653;p78"/>
          <p:cNvCxnSpPr>
            <a:stCxn id="1639" idx="5"/>
            <a:endCxn id="1646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4" name="Google Shape;1654;p78"/>
          <p:cNvCxnSpPr>
            <a:stCxn id="1638" idx="6"/>
            <a:endCxn id="1646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5" name="Google Shape;1655;p78"/>
          <p:cNvCxnSpPr>
            <a:stCxn id="1643" idx="7"/>
            <a:endCxn id="1646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6" name="Google Shape;1656;p78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57" name="Google Shape;1657;p78"/>
          <p:cNvCxnSpPr>
            <a:stCxn id="1639" idx="5"/>
            <a:endCxn id="1642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8" name="Google Shape;1658;p78"/>
          <p:cNvCxnSpPr>
            <a:stCxn id="1643" idx="6"/>
            <a:endCxn id="1642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9" name="Google Shape;1659;p78"/>
          <p:cNvCxnSpPr>
            <a:stCxn id="1638" idx="5"/>
            <a:endCxn id="1642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0" name="Google Shape;1660;p78"/>
          <p:cNvCxnSpPr>
            <a:stCxn id="1639" idx="7"/>
            <a:endCxn id="1640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1" name="Google Shape;1661;p78"/>
          <p:cNvCxnSpPr>
            <a:stCxn id="1645" idx="3"/>
            <a:endCxn id="1638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2" name="Google Shape;1662;p78"/>
          <p:cNvCxnSpPr>
            <a:stCxn id="1637" idx="3"/>
            <a:endCxn id="1638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3" name="Google Shape;1663;p78"/>
          <p:cNvCxnSpPr>
            <a:stCxn id="1645" idx="5"/>
            <a:endCxn id="1646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4" name="Google Shape;1664;p78"/>
          <p:cNvCxnSpPr>
            <a:stCxn id="1637" idx="4"/>
            <a:endCxn id="1646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5" name="Google Shape;1665;p78"/>
          <p:cNvCxnSpPr>
            <a:stCxn id="1643" idx="5"/>
            <a:endCxn id="1656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6" name="Google Shape;1666;p78"/>
          <p:cNvCxnSpPr>
            <a:stCxn id="1642" idx="3"/>
            <a:endCxn id="1656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7" name="Google Shape;1667;p78"/>
          <p:cNvCxnSpPr>
            <a:stCxn id="1639" idx="6"/>
            <a:endCxn id="1645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8" name="Google Shape;1668;p78"/>
          <p:cNvCxnSpPr>
            <a:stCxn id="1656" idx="3"/>
            <a:endCxn id="1644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9" name="Google Shape;1669;p78"/>
          <p:cNvCxnSpPr>
            <a:stCxn id="1656" idx="5"/>
            <a:endCxn id="1641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0" name="Google Shape;1670;p78"/>
          <p:cNvCxnSpPr>
            <a:stCxn id="1646" idx="4"/>
            <a:endCxn id="1642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79"/>
          <p:cNvSpPr txBox="1"/>
          <p:nvPr>
            <p:ph type="title"/>
          </p:nvPr>
        </p:nvSpPr>
        <p:spPr>
          <a:xfrm>
            <a:off x="311700" y="315925"/>
            <a:ext cx="4673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676" name="Google Shape;1676;p79"/>
          <p:cNvSpPr txBox="1"/>
          <p:nvPr>
            <p:ph idx="1" type="body"/>
          </p:nvPr>
        </p:nvSpPr>
        <p:spPr>
          <a:xfrm>
            <a:off x="311700" y="1225225"/>
            <a:ext cx="53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similarity metrics use the </a:t>
            </a:r>
            <a:r>
              <a:rPr b="1" lang="en"/>
              <a:t>overlap</a:t>
            </a:r>
            <a:r>
              <a:rPr lang="en"/>
              <a:t> in the node neighborhoods of pairs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approaches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Jaccard’s coefficient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Dice’s coefficient (D)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Cosine similarity (C)</a:t>
            </a:r>
            <a:endParaRPr/>
          </a:p>
        </p:txBody>
      </p:sp>
      <p:sp>
        <p:nvSpPr>
          <p:cNvPr id="1677" name="Google Shape;1677;p79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8" name="Google Shape;1678;p79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9" name="Google Shape;1679;p79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0" name="Google Shape;1680;p79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1" name="Google Shape;1681;p79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2" name="Google Shape;1682;p79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3" name="Google Shape;1683;p79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4" name="Google Shape;1684;p79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5" name="Google Shape;1685;p79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6" name="Google Shape;1686;p79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7" name="Google Shape;1687;p79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88" name="Google Shape;1688;p79"/>
          <p:cNvCxnSpPr>
            <a:stCxn id="1680" idx="6"/>
            <a:endCxn id="1687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9" name="Google Shape;1689;p79"/>
          <p:cNvCxnSpPr>
            <a:stCxn id="1680" idx="4"/>
            <a:endCxn id="1685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0" name="Google Shape;1690;p79"/>
          <p:cNvCxnSpPr>
            <a:stCxn id="1680" idx="5"/>
            <a:endCxn id="1677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1" name="Google Shape;1691;p79"/>
          <p:cNvCxnSpPr>
            <a:stCxn id="1687" idx="3"/>
            <a:endCxn id="1685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2" name="Google Shape;1692;p79"/>
          <p:cNvCxnSpPr>
            <a:stCxn id="1687" idx="4"/>
            <a:endCxn id="1677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3" name="Google Shape;1693;p79"/>
          <p:cNvCxnSpPr>
            <a:stCxn id="1679" idx="5"/>
            <a:endCxn id="1686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4" name="Google Shape;1694;p79"/>
          <p:cNvCxnSpPr>
            <a:stCxn id="1678" idx="6"/>
            <a:endCxn id="1686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5" name="Google Shape;1695;p79"/>
          <p:cNvCxnSpPr>
            <a:stCxn id="1683" idx="7"/>
            <a:endCxn id="1686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6" name="Google Shape;1696;p79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97" name="Google Shape;1697;p79"/>
          <p:cNvCxnSpPr>
            <a:stCxn id="1679" idx="5"/>
            <a:endCxn id="1682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8" name="Google Shape;1698;p79"/>
          <p:cNvCxnSpPr>
            <a:stCxn id="1683" idx="6"/>
            <a:endCxn id="1682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9" name="Google Shape;1699;p79"/>
          <p:cNvCxnSpPr>
            <a:stCxn id="1678" idx="5"/>
            <a:endCxn id="1682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0" name="Google Shape;1700;p79"/>
          <p:cNvCxnSpPr>
            <a:stCxn id="1679" idx="7"/>
            <a:endCxn id="1680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1" name="Google Shape;1701;p79"/>
          <p:cNvCxnSpPr>
            <a:stCxn id="1685" idx="3"/>
            <a:endCxn id="1678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2" name="Google Shape;1702;p79"/>
          <p:cNvCxnSpPr>
            <a:stCxn id="1677" idx="3"/>
            <a:endCxn id="1678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3" name="Google Shape;1703;p79"/>
          <p:cNvCxnSpPr>
            <a:stCxn id="1685" idx="5"/>
            <a:endCxn id="1686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4" name="Google Shape;1704;p79"/>
          <p:cNvCxnSpPr>
            <a:stCxn id="1677" idx="4"/>
            <a:endCxn id="1686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5" name="Google Shape;1705;p79"/>
          <p:cNvCxnSpPr>
            <a:stCxn id="1683" idx="5"/>
            <a:endCxn id="1696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6" name="Google Shape;1706;p79"/>
          <p:cNvCxnSpPr>
            <a:stCxn id="1682" idx="3"/>
            <a:endCxn id="1696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7" name="Google Shape;1707;p79"/>
          <p:cNvCxnSpPr>
            <a:stCxn id="1679" idx="6"/>
            <a:endCxn id="1685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8" name="Google Shape;1708;p79"/>
          <p:cNvCxnSpPr>
            <a:stCxn id="1696" idx="3"/>
            <a:endCxn id="1684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9" name="Google Shape;1709;p79"/>
          <p:cNvCxnSpPr>
            <a:stCxn id="1696" idx="5"/>
            <a:endCxn id="1681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0" name="Google Shape;1710;p79"/>
          <p:cNvCxnSpPr>
            <a:stCxn id="1686" idx="4"/>
            <a:endCxn id="1682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80"/>
          <p:cNvSpPr txBox="1"/>
          <p:nvPr>
            <p:ph type="title"/>
          </p:nvPr>
        </p:nvSpPr>
        <p:spPr>
          <a:xfrm>
            <a:off x="311700" y="315925"/>
            <a:ext cx="46731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716" name="Google Shape;1716;p80"/>
          <p:cNvSpPr txBox="1"/>
          <p:nvPr>
            <p:ph idx="1" type="body"/>
          </p:nvPr>
        </p:nvSpPr>
        <p:spPr>
          <a:xfrm>
            <a:off x="311700" y="1225225"/>
            <a:ext cx="537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similarity metrics use the </a:t>
            </a:r>
            <a:r>
              <a:rPr b="1" lang="en"/>
              <a:t>overlap</a:t>
            </a:r>
            <a:r>
              <a:rPr lang="en"/>
              <a:t> in the node neighborhoods of pairs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approaches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Jaccard’s coefficient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Dice’s coefficient (D)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Cosine similarity (C)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two things: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</a:t>
            </a:r>
            <a:r>
              <a:rPr b="1" lang="en"/>
              <a:t>common neighbors</a:t>
            </a:r>
            <a:r>
              <a:rPr lang="en"/>
              <a:t> between each pair of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degrees </a:t>
            </a:r>
            <a:r>
              <a:rPr lang="en"/>
              <a:t>of each node</a:t>
            </a:r>
            <a:endParaRPr/>
          </a:p>
        </p:txBody>
      </p:sp>
      <p:sp>
        <p:nvSpPr>
          <p:cNvPr id="1717" name="Google Shape;1717;p80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8" name="Google Shape;1718;p80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9" name="Google Shape;1719;p80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0" name="Google Shape;1720;p80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1" name="Google Shape;1721;p80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2" name="Google Shape;1722;p80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3" name="Google Shape;1723;p80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4" name="Google Shape;1724;p80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5" name="Google Shape;1725;p80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6" name="Google Shape;1726;p80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7" name="Google Shape;1727;p80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28" name="Google Shape;1728;p80"/>
          <p:cNvCxnSpPr>
            <a:stCxn id="1720" idx="6"/>
            <a:endCxn id="1727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9" name="Google Shape;1729;p80"/>
          <p:cNvCxnSpPr>
            <a:stCxn id="1720" idx="4"/>
            <a:endCxn id="1725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0" name="Google Shape;1730;p80"/>
          <p:cNvCxnSpPr>
            <a:stCxn id="1720" idx="5"/>
            <a:endCxn id="1717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1" name="Google Shape;1731;p80"/>
          <p:cNvCxnSpPr>
            <a:stCxn id="1727" idx="3"/>
            <a:endCxn id="1725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2" name="Google Shape;1732;p80"/>
          <p:cNvCxnSpPr>
            <a:stCxn id="1727" idx="4"/>
            <a:endCxn id="1717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3" name="Google Shape;1733;p80"/>
          <p:cNvCxnSpPr>
            <a:stCxn id="1719" idx="5"/>
            <a:endCxn id="1726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4" name="Google Shape;1734;p80"/>
          <p:cNvCxnSpPr>
            <a:stCxn id="1718" idx="6"/>
            <a:endCxn id="1726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5" name="Google Shape;1735;p80"/>
          <p:cNvCxnSpPr>
            <a:stCxn id="1723" idx="7"/>
            <a:endCxn id="1726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6" name="Google Shape;1736;p80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37" name="Google Shape;1737;p80"/>
          <p:cNvCxnSpPr>
            <a:stCxn id="1719" idx="5"/>
            <a:endCxn id="1722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8" name="Google Shape;1738;p80"/>
          <p:cNvCxnSpPr>
            <a:stCxn id="1723" idx="6"/>
            <a:endCxn id="1722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9" name="Google Shape;1739;p80"/>
          <p:cNvCxnSpPr>
            <a:stCxn id="1718" idx="5"/>
            <a:endCxn id="1722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0" name="Google Shape;1740;p80"/>
          <p:cNvCxnSpPr>
            <a:stCxn id="1719" idx="7"/>
            <a:endCxn id="1720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1" name="Google Shape;1741;p80"/>
          <p:cNvCxnSpPr>
            <a:stCxn id="1725" idx="3"/>
            <a:endCxn id="1718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2" name="Google Shape;1742;p80"/>
          <p:cNvCxnSpPr>
            <a:stCxn id="1717" idx="3"/>
            <a:endCxn id="1718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3" name="Google Shape;1743;p80"/>
          <p:cNvCxnSpPr>
            <a:stCxn id="1725" idx="5"/>
            <a:endCxn id="1726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4" name="Google Shape;1744;p80"/>
          <p:cNvCxnSpPr>
            <a:stCxn id="1717" idx="4"/>
            <a:endCxn id="1726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5" name="Google Shape;1745;p80"/>
          <p:cNvCxnSpPr>
            <a:stCxn id="1723" idx="5"/>
            <a:endCxn id="1736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6" name="Google Shape;1746;p80"/>
          <p:cNvCxnSpPr>
            <a:stCxn id="1722" idx="3"/>
            <a:endCxn id="1736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7" name="Google Shape;1747;p80"/>
          <p:cNvCxnSpPr>
            <a:stCxn id="1719" idx="6"/>
            <a:endCxn id="1725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8" name="Google Shape;1748;p80"/>
          <p:cNvCxnSpPr>
            <a:stCxn id="1736" idx="3"/>
            <a:endCxn id="1724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9" name="Google Shape;1749;p80"/>
          <p:cNvCxnSpPr>
            <a:stCxn id="1736" idx="5"/>
            <a:endCxn id="1721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0" name="Google Shape;1750;p80"/>
          <p:cNvCxnSpPr>
            <a:stCxn id="1726" idx="4"/>
            <a:endCxn id="1722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756" name="Google Shape;1756;p81"/>
          <p:cNvSpPr txBox="1"/>
          <p:nvPr>
            <p:ph idx="1" type="body"/>
          </p:nvPr>
        </p:nvSpPr>
        <p:spPr>
          <a:xfrm>
            <a:off x="311700" y="1225225"/>
            <a:ext cx="49077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similarity metrics use the </a:t>
            </a:r>
            <a:r>
              <a:rPr b="1" lang="en"/>
              <a:t>overlap</a:t>
            </a:r>
            <a:r>
              <a:rPr lang="en"/>
              <a:t> in the node neighborhoods of pairs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approaches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rgbClr val="FFFF00"/>
                </a:highlight>
              </a:rPr>
              <a:t>Jaccard’s coefficient (J)</a:t>
            </a:r>
            <a:endParaRPr>
              <a:highlight>
                <a:srgbClr val="FFFF00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Dice’s coefficient (D)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Cosine similarity (C)</a:t>
            </a:r>
            <a:endParaRPr/>
          </a:p>
        </p:txBody>
      </p:sp>
      <p:graphicFrame>
        <p:nvGraphicFramePr>
          <p:cNvPr id="1757" name="Google Shape;1757;p81"/>
          <p:cNvGraphicFramePr/>
          <p:nvPr/>
        </p:nvGraphicFramePr>
        <p:xfrm>
          <a:off x="5351775" y="117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8" name="Google Shape;1758;p81"/>
          <p:cNvSpPr txBox="1"/>
          <p:nvPr/>
        </p:nvSpPr>
        <p:spPr>
          <a:xfrm>
            <a:off x="5709000" y="4266250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59" name="Google Shape;1759;p81"/>
          <p:cNvSpPr/>
          <p:nvPr/>
        </p:nvSpPr>
        <p:spPr>
          <a:xfrm>
            <a:off x="3228875" y="1948950"/>
            <a:ext cx="2065200" cy="16953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Jaccard’s Coefficient is equal to the number of common neighbors divided by the sum of degrees minus number of common neighbors</a:t>
            </a:r>
            <a:endParaRPr b="1" sz="10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0" name="Google Shape;1760;p81"/>
          <p:cNvSpPr txBox="1"/>
          <p:nvPr/>
        </p:nvSpPr>
        <p:spPr>
          <a:xfrm>
            <a:off x="485650" y="4016975"/>
            <a:ext cx="25809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J</a:t>
            </a:r>
            <a:r>
              <a:rPr baseline="-25000" lang="en">
                <a:latin typeface="Open Sans"/>
                <a:ea typeface="Open Sans"/>
                <a:cs typeface="Open Sans"/>
                <a:sym typeface="Open Sans"/>
              </a:rPr>
              <a:t>BC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= 1/(4 + 4 - 1)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BC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1/(8 - 1)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BC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 1/7 =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0.14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J_{ij}=\frac{n_{ij}}{k_i+k_j-n_{ij}}&#10;%f78c7b2d-f90a-4a8a-9540-ec1f37787a78" id="1761" name="Google Shape;176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400" y="3474050"/>
            <a:ext cx="2057400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6" name="Google Shape;1766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767" name="Google Shape;1767;p82"/>
          <p:cNvSpPr txBox="1"/>
          <p:nvPr>
            <p:ph idx="1" type="body"/>
          </p:nvPr>
        </p:nvSpPr>
        <p:spPr>
          <a:xfrm>
            <a:off x="311700" y="1225225"/>
            <a:ext cx="49077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similarity metrics use the </a:t>
            </a:r>
            <a:r>
              <a:rPr b="1" lang="en"/>
              <a:t>overlap</a:t>
            </a:r>
            <a:r>
              <a:rPr lang="en"/>
              <a:t> in the node neighborhoods of pairs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approaches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rgbClr val="FFFF00"/>
                </a:highlight>
              </a:rPr>
              <a:t>Jaccard’s coefficient (J)</a:t>
            </a:r>
            <a:endParaRPr>
              <a:highlight>
                <a:srgbClr val="FFFF00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Dice’s coefficient (D)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Cosine similarity (C)</a:t>
            </a:r>
            <a:endParaRPr/>
          </a:p>
        </p:txBody>
      </p:sp>
      <p:sp>
        <p:nvSpPr>
          <p:cNvPr id="1768" name="Google Shape;1768;p82"/>
          <p:cNvSpPr txBox="1"/>
          <p:nvPr/>
        </p:nvSpPr>
        <p:spPr>
          <a:xfrm>
            <a:off x="485650" y="4016975"/>
            <a:ext cx="25809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J</a:t>
            </a:r>
            <a:r>
              <a:rPr baseline="-25000" lang="en">
                <a:latin typeface="Open Sans"/>
                <a:ea typeface="Open Sans"/>
                <a:cs typeface="Open Sans"/>
                <a:sym typeface="Open Sans"/>
              </a:rPr>
              <a:t>BC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= 1/(4 + 4 - 1)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BC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1/(8 - 1)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BC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= 1/7 =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0.14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769" name="Google Shape;1769;p82"/>
          <p:cNvGraphicFramePr/>
          <p:nvPr/>
        </p:nvGraphicFramePr>
        <p:xfrm>
          <a:off x="5351775" y="117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0" name="Google Shape;1770;p82"/>
          <p:cNvSpPr txBox="1"/>
          <p:nvPr/>
        </p:nvSpPr>
        <p:spPr>
          <a:xfrm>
            <a:off x="5709000" y="4266250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71" name="Google Shape;1771;p82"/>
          <p:cNvSpPr/>
          <p:nvPr/>
        </p:nvSpPr>
        <p:spPr>
          <a:xfrm>
            <a:off x="3170975" y="4016975"/>
            <a:ext cx="2181000" cy="767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Closer to zero the less similar!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2" name="Google Shape;1772;p82"/>
          <p:cNvSpPr/>
          <p:nvPr/>
        </p:nvSpPr>
        <p:spPr>
          <a:xfrm>
            <a:off x="3228875" y="1948950"/>
            <a:ext cx="2065200" cy="16953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Jaccard’s Coefficient is equal to the number of common neighbors divided by the sum of degrees minus number of common neighbors</a:t>
            </a:r>
            <a:endParaRPr b="1" sz="10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J_{ij}=\frac{n_{ij}}{k_i+k_j-n_{ij}}&#10;%f78c7b2d-f90a-4a8a-9540-ec1f37787a78" id="1773" name="Google Shape;177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400" y="3474050"/>
            <a:ext cx="2057400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779" name="Google Shape;1779;p83"/>
          <p:cNvSpPr txBox="1"/>
          <p:nvPr>
            <p:ph idx="1" type="body"/>
          </p:nvPr>
        </p:nvSpPr>
        <p:spPr>
          <a:xfrm>
            <a:off x="311700" y="1225225"/>
            <a:ext cx="49077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similarity metrics use the </a:t>
            </a:r>
            <a:r>
              <a:rPr b="1" lang="en"/>
              <a:t>overlap</a:t>
            </a:r>
            <a:r>
              <a:rPr lang="en"/>
              <a:t> in the node neighborhoods of pairs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approaches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rgbClr val="FFFF00"/>
                </a:highlight>
              </a:rPr>
              <a:t>Jaccard’s coefficient (J)</a:t>
            </a:r>
            <a:endParaRPr>
              <a:highlight>
                <a:srgbClr val="FFFF00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Dice’s coefficient (D)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Cosine similarity (C)</a:t>
            </a:r>
            <a:endParaRPr/>
          </a:p>
        </p:txBody>
      </p:sp>
      <p:sp>
        <p:nvSpPr>
          <p:cNvPr id="1780" name="Google Shape;1780;p83"/>
          <p:cNvSpPr txBox="1"/>
          <p:nvPr/>
        </p:nvSpPr>
        <p:spPr>
          <a:xfrm>
            <a:off x="485650" y="4016975"/>
            <a:ext cx="25809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J</a:t>
            </a:r>
            <a:r>
              <a:rPr baseline="-25000" lang="en">
                <a:latin typeface="Open Sans"/>
                <a:ea typeface="Open Sans"/>
                <a:cs typeface="Open Sans"/>
                <a:sym typeface="Open Sans"/>
              </a:rPr>
              <a:t>BG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= 3/(4 + 4 - 3)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3/(8 - 3)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3/5 =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0.60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781" name="Google Shape;1781;p83"/>
          <p:cNvGraphicFramePr/>
          <p:nvPr/>
        </p:nvGraphicFramePr>
        <p:xfrm>
          <a:off x="5351775" y="117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2" name="Google Shape;1782;p83"/>
          <p:cNvSpPr txBox="1"/>
          <p:nvPr/>
        </p:nvSpPr>
        <p:spPr>
          <a:xfrm>
            <a:off x="5709000" y="4266250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83" name="Google Shape;1783;p83"/>
          <p:cNvSpPr/>
          <p:nvPr/>
        </p:nvSpPr>
        <p:spPr>
          <a:xfrm>
            <a:off x="3228875" y="1948950"/>
            <a:ext cx="2065200" cy="16953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Jaccard’s Coefficient is equal to the number of common neighbors divided by the sum of degrees minus number of common neighbors</a:t>
            </a:r>
            <a:endParaRPr b="1" sz="10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4" name="Google Shape;1784;p83"/>
          <p:cNvSpPr/>
          <p:nvPr/>
        </p:nvSpPr>
        <p:spPr>
          <a:xfrm>
            <a:off x="3170975" y="4016975"/>
            <a:ext cx="2181000" cy="767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Closer to one the more similar!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J_{ij}=\frac{n_{ij}}{k_i+k_j-n_{ij}}&#10;%f78c7b2d-f90a-4a8a-9540-ec1f37787a78" id="1785" name="Google Shape;178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400" y="3474050"/>
            <a:ext cx="2057400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791" name="Google Shape;1791;p84"/>
          <p:cNvSpPr txBox="1"/>
          <p:nvPr>
            <p:ph idx="1" type="body"/>
          </p:nvPr>
        </p:nvSpPr>
        <p:spPr>
          <a:xfrm>
            <a:off x="311700" y="1225225"/>
            <a:ext cx="49077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similarity metrics use the </a:t>
            </a:r>
            <a:r>
              <a:rPr b="1" lang="en"/>
              <a:t>overlap</a:t>
            </a:r>
            <a:r>
              <a:rPr lang="en"/>
              <a:t> in the node neighborhoods of pairs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approaches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Jaccard’s coefficient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rgbClr val="FFFF00"/>
                </a:highlight>
              </a:rPr>
              <a:t>Dice’s coefficient (D)</a:t>
            </a:r>
            <a:endParaRPr>
              <a:highlight>
                <a:srgbClr val="FFFF00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Cosine similarity (C)</a:t>
            </a:r>
            <a:endParaRPr/>
          </a:p>
        </p:txBody>
      </p:sp>
      <p:sp>
        <p:nvSpPr>
          <p:cNvPr id="1792" name="Google Shape;1792;p84"/>
          <p:cNvSpPr txBox="1"/>
          <p:nvPr/>
        </p:nvSpPr>
        <p:spPr>
          <a:xfrm>
            <a:off x="485650" y="4016975"/>
            <a:ext cx="25809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aseline="-25000" lang="en">
                <a:latin typeface="Open Sans"/>
                <a:ea typeface="Open Sans"/>
                <a:cs typeface="Open Sans"/>
                <a:sym typeface="Open Sans"/>
              </a:rPr>
              <a:t>DG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= (2 ⨉ 1)/(4 + 4)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2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/8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DG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0.25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793" name="Google Shape;1793;p84"/>
          <p:cNvGraphicFramePr/>
          <p:nvPr/>
        </p:nvGraphicFramePr>
        <p:xfrm>
          <a:off x="5351775" y="117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4" name="Google Shape;1794;p84"/>
          <p:cNvSpPr txBox="1"/>
          <p:nvPr/>
        </p:nvSpPr>
        <p:spPr>
          <a:xfrm>
            <a:off x="5709000" y="4266250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95" name="Google Shape;1795;p84"/>
          <p:cNvSpPr/>
          <p:nvPr/>
        </p:nvSpPr>
        <p:spPr>
          <a:xfrm>
            <a:off x="3228875" y="1948950"/>
            <a:ext cx="2065200" cy="16953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Dice’s Coefficient is equal to twice the number of common neighbors divided by the sum of degrees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D_{ij}=\frac{2n_{ij}}{k_i+k_j}&#10;%9f94cb9f-a4b0-45a4-989d-2e96db299fad" id="1796" name="Google Shape;179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550" y="3426425"/>
            <a:ext cx="15240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7" name="Google Shape;1797;p84"/>
          <p:cNvSpPr/>
          <p:nvPr/>
        </p:nvSpPr>
        <p:spPr>
          <a:xfrm>
            <a:off x="3020975" y="4061950"/>
            <a:ext cx="2481000" cy="767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Same as the proportion of shared </a:t>
            </a:r>
            <a:r>
              <a:rPr b="1" lang="en" sz="13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neighbors</a:t>
            </a:r>
            <a:endParaRPr b="1" sz="13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8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Similarity</a:t>
            </a:r>
            <a:endParaRPr/>
          </a:p>
        </p:txBody>
      </p:sp>
      <p:sp>
        <p:nvSpPr>
          <p:cNvPr id="1803" name="Google Shape;1803;p85"/>
          <p:cNvSpPr txBox="1"/>
          <p:nvPr>
            <p:ph idx="1" type="body"/>
          </p:nvPr>
        </p:nvSpPr>
        <p:spPr>
          <a:xfrm>
            <a:off x="311700" y="1225225"/>
            <a:ext cx="4907700" cy="1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similarity metrics use the </a:t>
            </a:r>
            <a:r>
              <a:rPr b="1" lang="en"/>
              <a:t>overlap</a:t>
            </a:r>
            <a:r>
              <a:rPr lang="en"/>
              <a:t> in the node neighborhoods of pairs of nodes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approaches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Jaccard’s coefficient (J)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Dice’s coefficient (D)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rgbClr val="FFFF00"/>
                </a:highlight>
              </a:rPr>
              <a:t>Cosine similarity (C)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804" name="Google Shape;1804;p85"/>
          <p:cNvSpPr txBox="1"/>
          <p:nvPr/>
        </p:nvSpPr>
        <p:spPr>
          <a:xfrm>
            <a:off x="485650" y="4016975"/>
            <a:ext cx="25809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aseline="-25000" lang="en">
                <a:latin typeface="Open Sans"/>
                <a:ea typeface="Open Sans"/>
                <a:cs typeface="Open Sans"/>
                <a:sym typeface="Open Sans"/>
              </a:rPr>
              <a:t>GI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= 2/sqrt(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 ⨉ 6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GI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2/sqrt(24)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aseline="-25000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GI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= 2/4.9 = </a:t>
            </a:r>
            <a:r>
              <a:rPr b="1"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0.40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805" name="Google Shape;1805;p85"/>
          <p:cNvGraphicFramePr/>
          <p:nvPr/>
        </p:nvGraphicFramePr>
        <p:xfrm>
          <a:off x="5351775" y="117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  <a:gridCol w="280425"/>
              </a:tblGrid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6" name="Google Shape;1806;p85"/>
          <p:cNvSpPr txBox="1"/>
          <p:nvPr/>
        </p:nvSpPr>
        <p:spPr>
          <a:xfrm>
            <a:off x="5709000" y="4266250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807" name="Google Shape;1807;p85"/>
          <p:cNvSpPr/>
          <p:nvPr/>
        </p:nvSpPr>
        <p:spPr>
          <a:xfrm>
            <a:off x="3228875" y="1948950"/>
            <a:ext cx="2065200" cy="16953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The cosine similarity is equal to the number of shared neighbors divided by the </a:t>
            </a:r>
            <a:r>
              <a:rPr b="1" lang="en" sz="11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square root of the product of the degrees</a:t>
            </a:r>
            <a:endParaRPr b="1" sz="11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C_{ij}=\frac{n_{ij}}{\sqrt{k_ik_j}}&#10;%431cd5fd-2240-4b3d-b09d-9a3d0db7dead" id="1808" name="Google Shape;180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600" y="3416900"/>
            <a:ext cx="144780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9" name="Google Shape;1809;p85"/>
          <p:cNvSpPr/>
          <p:nvPr/>
        </p:nvSpPr>
        <p:spPr>
          <a:xfrm>
            <a:off x="3170975" y="4016975"/>
            <a:ext cx="2181000" cy="767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Closer to one the more similar!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8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Analysis and Blockmodeling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8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820" name="Google Shape;1820;p87"/>
          <p:cNvSpPr txBox="1"/>
          <p:nvPr>
            <p:ph idx="1" type="body"/>
          </p:nvPr>
        </p:nvSpPr>
        <p:spPr>
          <a:xfrm>
            <a:off x="311700" y="1225231"/>
            <a:ext cx="4906500" cy="3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b="1" lang="en"/>
              <a:t>positional analysis </a:t>
            </a:r>
            <a:r>
              <a:rPr lang="en"/>
              <a:t>finds a set of positions P = {l, m, n…}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 each position is called a </a:t>
            </a:r>
            <a:r>
              <a:rPr b="1" lang="en"/>
              <a:t>block 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block is a subset of equivalent nodes in the original network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symbol for equivalence is ≣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X ≣ Y reads as “X is (structurally) equivalent to Y”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most common form of positional analysis is called </a:t>
            </a:r>
            <a:r>
              <a:rPr b="1" lang="en"/>
              <a:t>blockmodeling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87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2" name="Google Shape;1822;p87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3" name="Google Shape;1823;p87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4" name="Google Shape;1824;p87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5" name="Google Shape;1825;p87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6" name="Google Shape;1826;p87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7" name="Google Shape;1827;p87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8" name="Google Shape;1828;p87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9" name="Google Shape;1829;p87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0" name="Google Shape;1830;p87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1" name="Google Shape;1831;p87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32" name="Google Shape;1832;p87"/>
          <p:cNvCxnSpPr>
            <a:stCxn id="1824" idx="6"/>
            <a:endCxn id="1831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3" name="Google Shape;1833;p87"/>
          <p:cNvCxnSpPr>
            <a:stCxn id="1824" idx="4"/>
            <a:endCxn id="1829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4" name="Google Shape;1834;p87"/>
          <p:cNvCxnSpPr>
            <a:stCxn id="1824" idx="5"/>
            <a:endCxn id="1821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5" name="Google Shape;1835;p87"/>
          <p:cNvCxnSpPr>
            <a:stCxn id="1831" idx="3"/>
            <a:endCxn id="1829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6" name="Google Shape;1836;p87"/>
          <p:cNvCxnSpPr>
            <a:stCxn id="1831" idx="4"/>
            <a:endCxn id="1821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7" name="Google Shape;1837;p87"/>
          <p:cNvCxnSpPr>
            <a:stCxn id="1823" idx="5"/>
            <a:endCxn id="1830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8" name="Google Shape;1838;p87"/>
          <p:cNvCxnSpPr>
            <a:stCxn id="1822" idx="6"/>
            <a:endCxn id="1830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9" name="Google Shape;1839;p87"/>
          <p:cNvCxnSpPr>
            <a:stCxn id="1827" idx="7"/>
            <a:endCxn id="1830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0" name="Google Shape;1840;p87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41" name="Google Shape;1841;p87"/>
          <p:cNvCxnSpPr>
            <a:stCxn id="1823" idx="5"/>
            <a:endCxn id="1826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2" name="Google Shape;1842;p87"/>
          <p:cNvCxnSpPr>
            <a:stCxn id="1827" idx="6"/>
            <a:endCxn id="1826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3" name="Google Shape;1843;p87"/>
          <p:cNvCxnSpPr>
            <a:stCxn id="1822" idx="5"/>
            <a:endCxn id="1826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4" name="Google Shape;1844;p87"/>
          <p:cNvCxnSpPr>
            <a:stCxn id="1823" idx="7"/>
            <a:endCxn id="1824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5" name="Google Shape;1845;p87"/>
          <p:cNvCxnSpPr>
            <a:stCxn id="1829" idx="3"/>
            <a:endCxn id="1822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6" name="Google Shape;1846;p87"/>
          <p:cNvCxnSpPr>
            <a:stCxn id="1821" idx="3"/>
            <a:endCxn id="1822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7" name="Google Shape;1847;p87"/>
          <p:cNvCxnSpPr>
            <a:stCxn id="1829" idx="5"/>
            <a:endCxn id="1830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8" name="Google Shape;1848;p87"/>
          <p:cNvCxnSpPr>
            <a:stCxn id="1821" idx="4"/>
            <a:endCxn id="1830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9" name="Google Shape;1849;p87"/>
          <p:cNvCxnSpPr>
            <a:stCxn id="1827" idx="5"/>
            <a:endCxn id="1840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0" name="Google Shape;1850;p87"/>
          <p:cNvCxnSpPr>
            <a:stCxn id="1826" idx="3"/>
            <a:endCxn id="1840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1" name="Google Shape;1851;p87"/>
          <p:cNvCxnSpPr>
            <a:stCxn id="1823" idx="6"/>
            <a:endCxn id="1829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2" name="Google Shape;1852;p87"/>
          <p:cNvCxnSpPr>
            <a:stCxn id="1840" idx="3"/>
            <a:endCxn id="1828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3" name="Google Shape;1853;p87"/>
          <p:cNvCxnSpPr>
            <a:stCxn id="1840" idx="5"/>
            <a:endCxn id="1825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4" name="Google Shape;1854;p87"/>
          <p:cNvCxnSpPr>
            <a:stCxn id="1830" idx="4"/>
            <a:endCxn id="1826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8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860" name="Google Shape;1860;p88"/>
          <p:cNvSpPr txBox="1"/>
          <p:nvPr>
            <p:ph idx="1" type="body"/>
          </p:nvPr>
        </p:nvSpPr>
        <p:spPr>
          <a:xfrm>
            <a:off x="311700" y="1225231"/>
            <a:ext cx="4906500" cy="3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steps of blockmodeling are as follows: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Take a </a:t>
            </a:r>
            <a:r>
              <a:rPr b="1" lang="en"/>
              <a:t>structural similarity</a:t>
            </a:r>
            <a:r>
              <a:rPr lang="en"/>
              <a:t>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Binarize</a:t>
            </a:r>
            <a:r>
              <a:rPr lang="en"/>
              <a:t> the matrix using a </a:t>
            </a:r>
            <a:r>
              <a:rPr b="1" lang="en"/>
              <a:t>cutoff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Count groups of nodes that meet the </a:t>
            </a:r>
            <a:r>
              <a:rPr lang="en"/>
              <a:t>cut off</a:t>
            </a:r>
            <a:r>
              <a:rPr lang="en"/>
              <a:t> as </a:t>
            </a:r>
            <a:r>
              <a:rPr b="1" lang="en"/>
              <a:t>structurally equivalent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Rearrange</a:t>
            </a:r>
            <a:r>
              <a:rPr lang="en"/>
              <a:t> the matrix to put structurally equivalent nodes next to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Reduce </a:t>
            </a:r>
            <a:r>
              <a:rPr lang="en"/>
              <a:t>the matrix to a matrix of relations between </a:t>
            </a:r>
            <a:r>
              <a:rPr b="1" lang="en"/>
              <a:t>blocks</a:t>
            </a:r>
            <a:r>
              <a:rPr lang="en"/>
              <a:t> (not nodes)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8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2" name="Google Shape;1862;p88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3" name="Google Shape;1863;p88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4" name="Google Shape;1864;p88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5" name="Google Shape;1865;p88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6" name="Google Shape;1866;p88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7" name="Google Shape;1867;p88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8" name="Google Shape;1868;p88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9" name="Google Shape;1869;p88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0" name="Google Shape;1870;p88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1" name="Google Shape;1871;p88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72" name="Google Shape;1872;p88"/>
          <p:cNvCxnSpPr>
            <a:stCxn id="1864" idx="6"/>
            <a:endCxn id="1871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3" name="Google Shape;1873;p88"/>
          <p:cNvCxnSpPr>
            <a:stCxn id="1864" idx="4"/>
            <a:endCxn id="1869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4" name="Google Shape;1874;p88"/>
          <p:cNvCxnSpPr>
            <a:stCxn id="1864" idx="5"/>
            <a:endCxn id="1861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5" name="Google Shape;1875;p88"/>
          <p:cNvCxnSpPr>
            <a:stCxn id="1871" idx="3"/>
            <a:endCxn id="1869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6" name="Google Shape;1876;p88"/>
          <p:cNvCxnSpPr>
            <a:stCxn id="1871" idx="4"/>
            <a:endCxn id="1861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7" name="Google Shape;1877;p88"/>
          <p:cNvCxnSpPr>
            <a:stCxn id="1863" idx="5"/>
            <a:endCxn id="1870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8" name="Google Shape;1878;p88"/>
          <p:cNvCxnSpPr>
            <a:stCxn id="1862" idx="6"/>
            <a:endCxn id="1870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9" name="Google Shape;1879;p88"/>
          <p:cNvCxnSpPr>
            <a:stCxn id="1867" idx="7"/>
            <a:endCxn id="1870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0" name="Google Shape;1880;p88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81" name="Google Shape;1881;p88"/>
          <p:cNvCxnSpPr>
            <a:stCxn id="1863" idx="5"/>
            <a:endCxn id="1866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2" name="Google Shape;1882;p88"/>
          <p:cNvCxnSpPr>
            <a:stCxn id="1867" idx="6"/>
            <a:endCxn id="1866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3" name="Google Shape;1883;p88"/>
          <p:cNvCxnSpPr>
            <a:stCxn id="1862" idx="5"/>
            <a:endCxn id="1866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4" name="Google Shape;1884;p88"/>
          <p:cNvCxnSpPr>
            <a:stCxn id="1863" idx="7"/>
            <a:endCxn id="1864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5" name="Google Shape;1885;p88"/>
          <p:cNvCxnSpPr>
            <a:stCxn id="1869" idx="3"/>
            <a:endCxn id="1862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6" name="Google Shape;1886;p88"/>
          <p:cNvCxnSpPr>
            <a:stCxn id="1861" idx="3"/>
            <a:endCxn id="1862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7" name="Google Shape;1887;p88"/>
          <p:cNvCxnSpPr>
            <a:stCxn id="1869" idx="5"/>
            <a:endCxn id="1870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8" name="Google Shape;1888;p88"/>
          <p:cNvCxnSpPr>
            <a:stCxn id="1861" idx="4"/>
            <a:endCxn id="1870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9" name="Google Shape;1889;p88"/>
          <p:cNvCxnSpPr>
            <a:stCxn id="1867" idx="5"/>
            <a:endCxn id="1880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0" name="Google Shape;1890;p88"/>
          <p:cNvCxnSpPr>
            <a:stCxn id="1866" idx="3"/>
            <a:endCxn id="1880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1" name="Google Shape;1891;p88"/>
          <p:cNvCxnSpPr>
            <a:stCxn id="1863" idx="6"/>
            <a:endCxn id="1869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2" name="Google Shape;1892;p88"/>
          <p:cNvCxnSpPr>
            <a:stCxn id="1880" idx="3"/>
            <a:endCxn id="1868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3" name="Google Shape;1893;p88"/>
          <p:cNvCxnSpPr>
            <a:stCxn id="1880" idx="5"/>
            <a:endCxn id="1865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4" name="Google Shape;1894;p88"/>
          <p:cNvCxnSpPr>
            <a:stCxn id="1870" idx="4"/>
            <a:endCxn id="1866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900" name="Google Shape;1900;p89"/>
          <p:cNvSpPr txBox="1"/>
          <p:nvPr>
            <p:ph idx="1" type="body"/>
          </p:nvPr>
        </p:nvSpPr>
        <p:spPr>
          <a:xfrm>
            <a:off x="311700" y="1225231"/>
            <a:ext cx="4906500" cy="3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steps of blockmodeling are as follows: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Take a </a:t>
            </a:r>
            <a:r>
              <a:rPr b="1" lang="en"/>
              <a:t>structural similarity</a:t>
            </a:r>
            <a:r>
              <a:rPr lang="en"/>
              <a:t>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highlight>
                  <a:srgbClr val="FFFF00"/>
                </a:highlight>
              </a:rPr>
              <a:t>Binarize</a:t>
            </a:r>
            <a:r>
              <a:rPr lang="en">
                <a:highlight>
                  <a:srgbClr val="FFFF00"/>
                </a:highlight>
              </a:rPr>
              <a:t> the matrix using a </a:t>
            </a:r>
            <a:r>
              <a:rPr b="1" lang="en">
                <a:highlight>
                  <a:srgbClr val="FFFF00"/>
                </a:highlight>
              </a:rPr>
              <a:t>cutoff</a:t>
            </a:r>
            <a:endParaRPr>
              <a:highlight>
                <a:srgbClr val="FFFF00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Count groups of nodes that meet the cut off as </a:t>
            </a:r>
            <a:r>
              <a:rPr b="1" lang="en"/>
              <a:t>structurally equivalent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Rearrange</a:t>
            </a:r>
            <a:r>
              <a:rPr lang="en"/>
              <a:t> the matrix to put structurally equivalent nodes next to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Reduce </a:t>
            </a:r>
            <a:r>
              <a:rPr lang="en"/>
              <a:t>the matrix to a matrix of relations between </a:t>
            </a:r>
            <a:r>
              <a:rPr b="1" lang="en"/>
              <a:t>blocks</a:t>
            </a:r>
            <a:r>
              <a:rPr lang="en"/>
              <a:t> (not nodes)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89"/>
          <p:cNvSpPr txBox="1"/>
          <p:nvPr/>
        </p:nvSpPr>
        <p:spPr>
          <a:xfrm>
            <a:off x="5913400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Structural Similarity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1902" name="Google Shape;1902;p89"/>
          <p:cNvGraphicFramePr/>
          <p:nvPr/>
        </p:nvGraphicFramePr>
        <p:xfrm>
          <a:off x="5352100" y="94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{E12FF49B-9E74-46FC-8EFB-338F158C8BB0}</a:tableStyleId>
              </a:tblPr>
              <a:tblGrid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</a:tblGrid>
              <a:tr h="25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p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908" name="Google Shape;1908;p90"/>
          <p:cNvSpPr txBox="1"/>
          <p:nvPr>
            <p:ph idx="1" type="body"/>
          </p:nvPr>
        </p:nvSpPr>
        <p:spPr>
          <a:xfrm>
            <a:off x="311700" y="1225231"/>
            <a:ext cx="4906500" cy="3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steps of blockmodeling are as follows: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Take a </a:t>
            </a:r>
            <a:r>
              <a:rPr b="1" lang="en"/>
              <a:t>structural similarity</a:t>
            </a:r>
            <a:r>
              <a:rPr lang="en"/>
              <a:t>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highlight>
                  <a:srgbClr val="FFFF00"/>
                </a:highlight>
              </a:rPr>
              <a:t>Binarize</a:t>
            </a:r>
            <a:r>
              <a:rPr lang="en">
                <a:highlight>
                  <a:srgbClr val="FFFF00"/>
                </a:highlight>
              </a:rPr>
              <a:t> the matrix using a </a:t>
            </a:r>
            <a:r>
              <a:rPr b="1" lang="en">
                <a:highlight>
                  <a:srgbClr val="FFFF00"/>
                </a:highlight>
              </a:rPr>
              <a:t>cutoff</a:t>
            </a:r>
            <a:endParaRPr>
              <a:highlight>
                <a:srgbClr val="FFFF00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Count groups of nodes that meet the cut off as </a:t>
            </a:r>
            <a:r>
              <a:rPr b="1" lang="en"/>
              <a:t>structurally equivalent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Rearrange</a:t>
            </a:r>
            <a:r>
              <a:rPr lang="en"/>
              <a:t> the matrix to put structurally equivalent nodes next to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Reduce </a:t>
            </a:r>
            <a:r>
              <a:rPr lang="en"/>
              <a:t>the matrix to a matrix of relations between </a:t>
            </a:r>
            <a:r>
              <a:rPr b="1" lang="en"/>
              <a:t>blocks</a:t>
            </a:r>
            <a:r>
              <a:rPr lang="en"/>
              <a:t> (not nodes)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90"/>
          <p:cNvSpPr/>
          <p:nvPr/>
        </p:nvSpPr>
        <p:spPr>
          <a:xfrm>
            <a:off x="2214400" y="4016975"/>
            <a:ext cx="3137700" cy="767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Nodes with d</a:t>
            </a:r>
            <a:r>
              <a:rPr b="1" baseline="-25000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&lt; 2 are 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structurally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 equivalent!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910" name="Google Shape;1910;p90"/>
          <p:cNvGraphicFramePr/>
          <p:nvPr/>
        </p:nvGraphicFramePr>
        <p:xfrm>
          <a:off x="5352100" y="94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{E12FF49B-9E74-46FC-8EFB-338F158C8BB0}</a:tableStyleId>
              </a:tblPr>
              <a:tblGrid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</a:tblGrid>
              <a:tr h="25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2.8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2.6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911" name="Google Shape;1911;p90"/>
          <p:cNvSpPr txBox="1"/>
          <p:nvPr/>
        </p:nvSpPr>
        <p:spPr>
          <a:xfrm>
            <a:off x="5913400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Structural Similarity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9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917" name="Google Shape;1917;p91"/>
          <p:cNvSpPr txBox="1"/>
          <p:nvPr>
            <p:ph idx="1" type="body"/>
          </p:nvPr>
        </p:nvSpPr>
        <p:spPr>
          <a:xfrm>
            <a:off x="311700" y="1225231"/>
            <a:ext cx="4906500" cy="3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steps of blockmodeling are as follows: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Take a </a:t>
            </a:r>
            <a:r>
              <a:rPr b="1" lang="en"/>
              <a:t>structural similarity</a:t>
            </a:r>
            <a:r>
              <a:rPr lang="en"/>
              <a:t>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Binarize</a:t>
            </a:r>
            <a:r>
              <a:rPr lang="en"/>
              <a:t> the matrix using a </a:t>
            </a:r>
            <a:r>
              <a:rPr b="1" lang="en"/>
              <a:t>cutoff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highlight>
                  <a:srgbClr val="FFFF00"/>
                </a:highlight>
              </a:rPr>
              <a:t>Count groups of nodes that meet the cut off as </a:t>
            </a:r>
            <a:r>
              <a:rPr b="1" lang="en">
                <a:highlight>
                  <a:srgbClr val="FFFF00"/>
                </a:highlight>
              </a:rPr>
              <a:t>structurally equivalent</a:t>
            </a:r>
            <a:endParaRPr b="1">
              <a:highlight>
                <a:srgbClr val="FFFF00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highlight>
                  <a:srgbClr val="FFFF00"/>
                </a:highlight>
              </a:rPr>
              <a:t>Rearrange</a:t>
            </a:r>
            <a:r>
              <a:rPr lang="en">
                <a:highlight>
                  <a:srgbClr val="FFFF00"/>
                </a:highlight>
              </a:rPr>
              <a:t> the matrix to put structurally equivalent nodes next to one another</a:t>
            </a:r>
            <a:endParaRPr>
              <a:highlight>
                <a:srgbClr val="FFFF00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Reduce </a:t>
            </a:r>
            <a:r>
              <a:rPr lang="en"/>
              <a:t>the matrix to a matrix of relations between </a:t>
            </a:r>
            <a:r>
              <a:rPr b="1" lang="en"/>
              <a:t>blocks</a:t>
            </a:r>
            <a:r>
              <a:rPr lang="en"/>
              <a:t> (not nodes)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91"/>
          <p:cNvSpPr/>
          <p:nvPr/>
        </p:nvSpPr>
        <p:spPr>
          <a:xfrm>
            <a:off x="2214400" y="4016975"/>
            <a:ext cx="3137700" cy="767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Nodes with d</a:t>
            </a:r>
            <a:r>
              <a:rPr b="1" baseline="-25000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&lt; 2 are structurally equivalent!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919" name="Google Shape;1919;p91"/>
          <p:cNvGraphicFramePr/>
          <p:nvPr/>
        </p:nvGraphicFramePr>
        <p:xfrm>
          <a:off x="5352100" y="94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{E12FF49B-9E74-46FC-8EFB-338F158C8BB0}</a:tableStyleId>
              </a:tblPr>
              <a:tblGrid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</a:tblGrid>
              <a:tr h="28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920" name="Google Shape;1920;p91"/>
          <p:cNvSpPr txBox="1"/>
          <p:nvPr/>
        </p:nvSpPr>
        <p:spPr>
          <a:xfrm>
            <a:off x="5913400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Blocked 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Adjacency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9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926" name="Google Shape;1926;p92"/>
          <p:cNvSpPr txBox="1"/>
          <p:nvPr>
            <p:ph idx="1" type="body"/>
          </p:nvPr>
        </p:nvSpPr>
        <p:spPr>
          <a:xfrm>
            <a:off x="311700" y="1225231"/>
            <a:ext cx="4906500" cy="3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steps of blockmodeling are as follows: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Take a </a:t>
            </a:r>
            <a:r>
              <a:rPr b="1" lang="en"/>
              <a:t>structural similarity</a:t>
            </a:r>
            <a:r>
              <a:rPr lang="en"/>
              <a:t> matrix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Binarize</a:t>
            </a:r>
            <a:r>
              <a:rPr lang="en"/>
              <a:t> the matrix using a </a:t>
            </a:r>
            <a:r>
              <a:rPr b="1" lang="en"/>
              <a:t>cutoff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Count groups of nodes that meet the cut off as </a:t>
            </a:r>
            <a:r>
              <a:rPr b="1" lang="en"/>
              <a:t>structurally equivalent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Rearrange</a:t>
            </a:r>
            <a:r>
              <a:rPr lang="en"/>
              <a:t> the matrix to put structurally equivalent nodes next to one another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>
                <a:highlight>
                  <a:srgbClr val="FFFF00"/>
                </a:highlight>
              </a:rPr>
              <a:t>Reduce </a:t>
            </a:r>
            <a:r>
              <a:rPr lang="en">
                <a:highlight>
                  <a:srgbClr val="FFFF00"/>
                </a:highlight>
              </a:rPr>
              <a:t>the matrix to a matrix of relations between </a:t>
            </a:r>
            <a:r>
              <a:rPr b="1" lang="en">
                <a:highlight>
                  <a:srgbClr val="FFFF00"/>
                </a:highlight>
              </a:rPr>
              <a:t>blocks</a:t>
            </a:r>
            <a:r>
              <a:rPr lang="en">
                <a:highlight>
                  <a:srgbClr val="FFFF00"/>
                </a:highlight>
              </a:rPr>
              <a:t> (not nodes)</a:t>
            </a:r>
            <a:endParaRPr>
              <a:highlight>
                <a:srgbClr val="FFFF00"/>
              </a:highlight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>
                <a:highlight>
                  <a:srgbClr val="FFFF00"/>
                </a:highlight>
              </a:rPr>
              <a:t>This is called the </a:t>
            </a:r>
            <a:r>
              <a:rPr b="1" lang="en">
                <a:highlight>
                  <a:srgbClr val="FFFF00"/>
                </a:highlight>
              </a:rPr>
              <a:t>blocked </a:t>
            </a:r>
            <a:r>
              <a:rPr b="1" lang="en">
                <a:highlight>
                  <a:srgbClr val="FFFF00"/>
                </a:highlight>
              </a:rPr>
              <a:t>adjacency</a:t>
            </a:r>
            <a:r>
              <a:rPr b="1" lang="en">
                <a:highlight>
                  <a:srgbClr val="FFFF00"/>
                </a:highlight>
              </a:rPr>
              <a:t> matrix</a:t>
            </a:r>
            <a:endParaRPr b="1">
              <a:highlight>
                <a:srgbClr val="FFFF00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27" name="Google Shape;1927;p92"/>
          <p:cNvGraphicFramePr/>
          <p:nvPr/>
        </p:nvGraphicFramePr>
        <p:xfrm>
          <a:off x="5352100" y="94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{E12FF49B-9E74-46FC-8EFB-338F158C8BB0}</a:tableStyleId>
              </a:tblPr>
              <a:tblGrid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</a:tblGrid>
              <a:tr h="28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928" name="Google Shape;1928;p92"/>
          <p:cNvSpPr txBox="1"/>
          <p:nvPr/>
        </p:nvSpPr>
        <p:spPr>
          <a:xfrm>
            <a:off x="5913400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Blocked 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9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934" name="Google Shape;1934;p93"/>
          <p:cNvSpPr txBox="1"/>
          <p:nvPr>
            <p:ph idx="1" type="body"/>
          </p:nvPr>
        </p:nvSpPr>
        <p:spPr>
          <a:xfrm>
            <a:off x="311700" y="1225231"/>
            <a:ext cx="4906500" cy="3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</a:t>
            </a:r>
            <a:r>
              <a:rPr b="1" lang="en"/>
              <a:t>reduce </a:t>
            </a:r>
            <a:r>
              <a:rPr lang="en"/>
              <a:t>the blocked adjacency matrix?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35" name="Google Shape;1935;p93"/>
          <p:cNvGraphicFramePr/>
          <p:nvPr/>
        </p:nvGraphicFramePr>
        <p:xfrm>
          <a:off x="5352100" y="94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{E12FF49B-9E74-46FC-8EFB-338F158C8BB0}</a:tableStyleId>
              </a:tblPr>
              <a:tblGrid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</a:tblGrid>
              <a:tr h="28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936" name="Google Shape;1936;p93"/>
          <p:cNvSpPr txBox="1"/>
          <p:nvPr/>
        </p:nvSpPr>
        <p:spPr>
          <a:xfrm>
            <a:off x="5913400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Blocked 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p9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942" name="Google Shape;1942;p94"/>
          <p:cNvSpPr txBox="1"/>
          <p:nvPr>
            <p:ph idx="1" type="body"/>
          </p:nvPr>
        </p:nvSpPr>
        <p:spPr>
          <a:xfrm>
            <a:off x="311700" y="1225231"/>
            <a:ext cx="4906500" cy="3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</a:t>
            </a:r>
            <a:r>
              <a:rPr b="1" lang="en"/>
              <a:t>reduce </a:t>
            </a:r>
            <a:r>
              <a:rPr lang="en"/>
              <a:t>the </a:t>
            </a:r>
            <a:r>
              <a:rPr lang="en"/>
              <a:t>blocked adjacency </a:t>
            </a:r>
            <a:r>
              <a:rPr lang="en"/>
              <a:t>matrix?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Squares around the diagonal are called </a:t>
            </a:r>
            <a:r>
              <a:rPr b="1" lang="en"/>
              <a:t>diagonal blocks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They tell us whether blocks of structurally equivalent nodes are connected with each other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43" name="Google Shape;1943;p94"/>
          <p:cNvGraphicFramePr/>
          <p:nvPr/>
        </p:nvGraphicFramePr>
        <p:xfrm>
          <a:off x="5352100" y="94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{E12FF49B-9E74-46FC-8EFB-338F158C8BB0}</a:tableStyleId>
              </a:tblPr>
              <a:tblGrid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</a:tblGrid>
              <a:tr h="28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944" name="Google Shape;1944;p94"/>
          <p:cNvSpPr txBox="1"/>
          <p:nvPr/>
        </p:nvSpPr>
        <p:spPr>
          <a:xfrm>
            <a:off x="5913400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Blocked 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45" name="Google Shape;1945;p94"/>
          <p:cNvSpPr/>
          <p:nvPr/>
        </p:nvSpPr>
        <p:spPr>
          <a:xfrm>
            <a:off x="5660225" y="1208375"/>
            <a:ext cx="565200" cy="52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6" name="Google Shape;1946;p94"/>
          <p:cNvSpPr/>
          <p:nvPr/>
        </p:nvSpPr>
        <p:spPr>
          <a:xfrm>
            <a:off x="6194050" y="1731675"/>
            <a:ext cx="565200" cy="52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7" name="Google Shape;1947;p94"/>
          <p:cNvSpPr/>
          <p:nvPr/>
        </p:nvSpPr>
        <p:spPr>
          <a:xfrm>
            <a:off x="6759250" y="2238125"/>
            <a:ext cx="565200" cy="52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8" name="Google Shape;1948;p94"/>
          <p:cNvSpPr/>
          <p:nvPr/>
        </p:nvSpPr>
        <p:spPr>
          <a:xfrm>
            <a:off x="7324450" y="2722525"/>
            <a:ext cx="834000" cy="781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9" name="Google Shape;1949;p94"/>
          <p:cNvSpPr/>
          <p:nvPr/>
        </p:nvSpPr>
        <p:spPr>
          <a:xfrm>
            <a:off x="8158600" y="3504325"/>
            <a:ext cx="834000" cy="781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p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955" name="Google Shape;1955;p95"/>
          <p:cNvSpPr txBox="1"/>
          <p:nvPr>
            <p:ph idx="1" type="body"/>
          </p:nvPr>
        </p:nvSpPr>
        <p:spPr>
          <a:xfrm>
            <a:off x="311700" y="1225231"/>
            <a:ext cx="4906500" cy="3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</a:t>
            </a:r>
            <a:r>
              <a:rPr b="1" lang="en"/>
              <a:t>reduce </a:t>
            </a:r>
            <a:r>
              <a:rPr lang="en"/>
              <a:t>the </a:t>
            </a:r>
            <a:r>
              <a:rPr lang="en"/>
              <a:t>blocked adjacency </a:t>
            </a:r>
            <a:r>
              <a:rPr lang="en"/>
              <a:t>matrix?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Squares around the diagonal are called </a:t>
            </a:r>
            <a:r>
              <a:rPr b="1" lang="en"/>
              <a:t>diagonal blocks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They tell us whether blocks of structurally equivalent nodes are connected with each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Squares outside the diagonal are called </a:t>
            </a:r>
            <a:r>
              <a:rPr b="1" lang="en"/>
              <a:t>off-diagonal blocks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They tell us about the links between nodes in different blocks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56" name="Google Shape;1956;p95"/>
          <p:cNvGraphicFramePr/>
          <p:nvPr/>
        </p:nvGraphicFramePr>
        <p:xfrm>
          <a:off x="5352100" y="94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{E12FF49B-9E74-46FC-8EFB-338F158C8BB0}</a:tableStyleId>
              </a:tblPr>
              <a:tblGrid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</a:tblGrid>
              <a:tr h="28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957" name="Google Shape;1957;p95"/>
          <p:cNvSpPr txBox="1"/>
          <p:nvPr/>
        </p:nvSpPr>
        <p:spPr>
          <a:xfrm>
            <a:off x="5913400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Blocked 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58" name="Google Shape;1958;p95"/>
          <p:cNvSpPr/>
          <p:nvPr/>
        </p:nvSpPr>
        <p:spPr>
          <a:xfrm>
            <a:off x="5632750" y="1731675"/>
            <a:ext cx="565200" cy="52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9" name="Google Shape;1959;p95"/>
          <p:cNvSpPr/>
          <p:nvPr/>
        </p:nvSpPr>
        <p:spPr>
          <a:xfrm>
            <a:off x="5632750" y="2238125"/>
            <a:ext cx="565200" cy="52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0" name="Google Shape;1960;p95"/>
          <p:cNvSpPr/>
          <p:nvPr/>
        </p:nvSpPr>
        <p:spPr>
          <a:xfrm>
            <a:off x="6197950" y="2238125"/>
            <a:ext cx="565200" cy="52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1" name="Google Shape;1961;p95"/>
          <p:cNvSpPr/>
          <p:nvPr/>
        </p:nvSpPr>
        <p:spPr>
          <a:xfrm>
            <a:off x="5632750" y="2744575"/>
            <a:ext cx="565200" cy="781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2" name="Google Shape;1962;p95"/>
          <p:cNvSpPr/>
          <p:nvPr/>
        </p:nvSpPr>
        <p:spPr>
          <a:xfrm>
            <a:off x="5632750" y="3504325"/>
            <a:ext cx="565200" cy="781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3" name="Google Shape;1963;p95"/>
          <p:cNvSpPr/>
          <p:nvPr/>
        </p:nvSpPr>
        <p:spPr>
          <a:xfrm>
            <a:off x="6197950" y="3504325"/>
            <a:ext cx="565200" cy="781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4" name="Google Shape;1964;p95"/>
          <p:cNvSpPr/>
          <p:nvPr/>
        </p:nvSpPr>
        <p:spPr>
          <a:xfrm>
            <a:off x="6197950" y="2744575"/>
            <a:ext cx="565200" cy="781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5" name="Google Shape;1965;p95"/>
          <p:cNvSpPr/>
          <p:nvPr/>
        </p:nvSpPr>
        <p:spPr>
          <a:xfrm>
            <a:off x="6755350" y="2744575"/>
            <a:ext cx="565200" cy="781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6" name="Google Shape;1966;p95"/>
          <p:cNvSpPr/>
          <p:nvPr/>
        </p:nvSpPr>
        <p:spPr>
          <a:xfrm>
            <a:off x="6755350" y="3504325"/>
            <a:ext cx="565200" cy="781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7" name="Google Shape;1967;p95"/>
          <p:cNvSpPr/>
          <p:nvPr/>
        </p:nvSpPr>
        <p:spPr>
          <a:xfrm>
            <a:off x="7338250" y="3504325"/>
            <a:ext cx="798900" cy="781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9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973" name="Google Shape;1973;p96"/>
          <p:cNvSpPr txBox="1"/>
          <p:nvPr>
            <p:ph idx="1" type="body"/>
          </p:nvPr>
        </p:nvSpPr>
        <p:spPr>
          <a:xfrm>
            <a:off x="347025" y="1225231"/>
            <a:ext cx="4906500" cy="3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</a:t>
            </a:r>
            <a:r>
              <a:rPr b="1" lang="en"/>
              <a:t>reduce </a:t>
            </a:r>
            <a:r>
              <a:rPr lang="en"/>
              <a:t>the </a:t>
            </a:r>
            <a:r>
              <a:rPr lang="en"/>
              <a:t>blocked adjacency </a:t>
            </a:r>
            <a:r>
              <a:rPr lang="en"/>
              <a:t>matrix?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block with all zeros in it is called a </a:t>
            </a:r>
            <a:r>
              <a:rPr b="1" lang="en"/>
              <a:t>zero block</a:t>
            </a:r>
            <a:endParaRPr b="1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74" name="Google Shape;1974;p96"/>
          <p:cNvGraphicFramePr/>
          <p:nvPr/>
        </p:nvGraphicFramePr>
        <p:xfrm>
          <a:off x="5352100" y="94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{E12FF49B-9E74-46FC-8EFB-338F158C8BB0}</a:tableStyleId>
              </a:tblPr>
              <a:tblGrid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</a:tblGrid>
              <a:tr h="28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975" name="Google Shape;1975;p96"/>
          <p:cNvSpPr txBox="1"/>
          <p:nvPr/>
        </p:nvSpPr>
        <p:spPr>
          <a:xfrm>
            <a:off x="5913400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Blocked 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76" name="Google Shape;1976;p96"/>
          <p:cNvSpPr/>
          <p:nvPr/>
        </p:nvSpPr>
        <p:spPr>
          <a:xfrm>
            <a:off x="5632750" y="1225225"/>
            <a:ext cx="565200" cy="52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9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982" name="Google Shape;1982;p97"/>
          <p:cNvSpPr txBox="1"/>
          <p:nvPr>
            <p:ph idx="1" type="body"/>
          </p:nvPr>
        </p:nvSpPr>
        <p:spPr>
          <a:xfrm>
            <a:off x="347025" y="1225231"/>
            <a:ext cx="4906500" cy="3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</a:t>
            </a:r>
            <a:r>
              <a:rPr b="1" lang="en"/>
              <a:t>reduce </a:t>
            </a:r>
            <a:r>
              <a:rPr lang="en"/>
              <a:t>the </a:t>
            </a:r>
            <a:r>
              <a:rPr lang="en"/>
              <a:t>blocked adjacency </a:t>
            </a:r>
            <a:r>
              <a:rPr lang="en"/>
              <a:t>matrix?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block with all zeros in it is called a </a:t>
            </a:r>
            <a:r>
              <a:rPr b="1" lang="en"/>
              <a:t>zero block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</a:t>
            </a:r>
            <a:r>
              <a:rPr b="1" lang="en"/>
              <a:t>diagonal zero block</a:t>
            </a:r>
            <a:r>
              <a:rPr lang="en"/>
              <a:t> tells us that members of block BG are not connected to one another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83" name="Google Shape;1983;p97"/>
          <p:cNvGraphicFramePr/>
          <p:nvPr/>
        </p:nvGraphicFramePr>
        <p:xfrm>
          <a:off x="5352100" y="94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{E12FF49B-9E74-46FC-8EFB-338F158C8BB0}</a:tableStyleId>
              </a:tblPr>
              <a:tblGrid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</a:tblGrid>
              <a:tr h="28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984" name="Google Shape;1984;p97"/>
          <p:cNvSpPr txBox="1"/>
          <p:nvPr/>
        </p:nvSpPr>
        <p:spPr>
          <a:xfrm>
            <a:off x="5913400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Blocked 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85" name="Google Shape;1985;p97"/>
          <p:cNvSpPr/>
          <p:nvPr/>
        </p:nvSpPr>
        <p:spPr>
          <a:xfrm>
            <a:off x="5632750" y="1225225"/>
            <a:ext cx="565200" cy="52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9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1991" name="Google Shape;1991;p98"/>
          <p:cNvSpPr txBox="1"/>
          <p:nvPr>
            <p:ph idx="1" type="body"/>
          </p:nvPr>
        </p:nvSpPr>
        <p:spPr>
          <a:xfrm>
            <a:off x="347025" y="1225231"/>
            <a:ext cx="4906500" cy="3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</a:t>
            </a:r>
            <a:r>
              <a:rPr b="1" lang="en"/>
              <a:t>reduce </a:t>
            </a:r>
            <a:r>
              <a:rPr lang="en"/>
              <a:t>the blocked adjacency matrix?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block with all zeros in it is called a </a:t>
            </a:r>
            <a:r>
              <a:rPr b="1" lang="en"/>
              <a:t>zero block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</a:t>
            </a:r>
            <a:r>
              <a:rPr b="1" lang="en"/>
              <a:t>diagonal zero block</a:t>
            </a:r>
            <a:r>
              <a:rPr lang="en"/>
              <a:t> tells us that members of block BG are not connected to one another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 </a:t>
            </a:r>
            <a:r>
              <a:rPr b="1" lang="en"/>
              <a:t>off-diagonal zero block</a:t>
            </a:r>
            <a:r>
              <a:rPr lang="en"/>
              <a:t> tells us that members of the row block BG do not connect to members of column block EKL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92" name="Google Shape;1992;p98"/>
          <p:cNvGraphicFramePr/>
          <p:nvPr/>
        </p:nvGraphicFramePr>
        <p:xfrm>
          <a:off x="5352100" y="94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{E12FF49B-9E74-46FC-8EFB-338F158C8BB0}</a:tableStyleId>
              </a:tblPr>
              <a:tblGrid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</a:tblGrid>
              <a:tr h="28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993" name="Google Shape;1993;p98"/>
          <p:cNvSpPr txBox="1"/>
          <p:nvPr/>
        </p:nvSpPr>
        <p:spPr>
          <a:xfrm>
            <a:off x="5913400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Blocked 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94" name="Google Shape;1994;p98"/>
          <p:cNvSpPr/>
          <p:nvPr/>
        </p:nvSpPr>
        <p:spPr>
          <a:xfrm>
            <a:off x="7316650" y="1225225"/>
            <a:ext cx="841800" cy="52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p9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2000" name="Google Shape;2000;p99"/>
          <p:cNvSpPr txBox="1"/>
          <p:nvPr>
            <p:ph idx="1" type="body"/>
          </p:nvPr>
        </p:nvSpPr>
        <p:spPr>
          <a:xfrm>
            <a:off x="347025" y="1225231"/>
            <a:ext cx="4906500" cy="3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</a:t>
            </a:r>
            <a:r>
              <a:rPr b="1" lang="en"/>
              <a:t>reduce </a:t>
            </a:r>
            <a:r>
              <a:rPr lang="en"/>
              <a:t>the </a:t>
            </a:r>
            <a:r>
              <a:rPr lang="en"/>
              <a:t>blocked adjacency </a:t>
            </a:r>
            <a:r>
              <a:rPr lang="en"/>
              <a:t>matrix?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block with at least one non-zero entry is called a </a:t>
            </a:r>
            <a:r>
              <a:rPr b="1" lang="en"/>
              <a:t>one-block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</a:t>
            </a:r>
            <a:r>
              <a:rPr b="1" lang="en"/>
              <a:t>diagonal one-block</a:t>
            </a:r>
            <a:r>
              <a:rPr lang="en"/>
              <a:t> tells us that members of block DJ connect with each other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01" name="Google Shape;2001;p99"/>
          <p:cNvGraphicFramePr/>
          <p:nvPr/>
        </p:nvGraphicFramePr>
        <p:xfrm>
          <a:off x="5352100" y="94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{E12FF49B-9E74-46FC-8EFB-338F158C8BB0}</a:tableStyleId>
              </a:tblPr>
              <a:tblGrid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</a:tblGrid>
              <a:tr h="28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2002" name="Google Shape;2002;p99"/>
          <p:cNvSpPr txBox="1"/>
          <p:nvPr/>
        </p:nvSpPr>
        <p:spPr>
          <a:xfrm>
            <a:off x="5913400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Blocked 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03" name="Google Shape;2003;p99"/>
          <p:cNvSpPr/>
          <p:nvPr/>
        </p:nvSpPr>
        <p:spPr>
          <a:xfrm>
            <a:off x="6755350" y="2238125"/>
            <a:ext cx="565200" cy="52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p10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2009" name="Google Shape;2009;p100"/>
          <p:cNvSpPr txBox="1"/>
          <p:nvPr>
            <p:ph idx="1" type="body"/>
          </p:nvPr>
        </p:nvSpPr>
        <p:spPr>
          <a:xfrm>
            <a:off x="347025" y="1225231"/>
            <a:ext cx="4906500" cy="3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</a:t>
            </a:r>
            <a:r>
              <a:rPr b="1" lang="en"/>
              <a:t>reduce </a:t>
            </a:r>
            <a:r>
              <a:rPr lang="en"/>
              <a:t>the blocked adjacency matrix?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block with at least one non-zero entry is called a </a:t>
            </a:r>
            <a:r>
              <a:rPr b="1" lang="en"/>
              <a:t>one-block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</a:t>
            </a:r>
            <a:r>
              <a:rPr b="1" lang="en"/>
              <a:t>diagonal one-block</a:t>
            </a:r>
            <a:r>
              <a:rPr lang="en"/>
              <a:t> tells us that members of block DJ connect with each other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An </a:t>
            </a:r>
            <a:r>
              <a:rPr b="1" lang="en"/>
              <a:t>off-diagonal one-block </a:t>
            </a:r>
            <a:r>
              <a:rPr lang="en"/>
              <a:t>tells us that members of the row block EKL connect with members of the column block AFI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10" name="Google Shape;2010;p100"/>
          <p:cNvGraphicFramePr/>
          <p:nvPr/>
        </p:nvGraphicFramePr>
        <p:xfrm>
          <a:off x="5352100" y="94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{E12FF49B-9E74-46FC-8EFB-338F158C8BB0}</a:tableStyleId>
              </a:tblPr>
              <a:tblGrid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</a:tblGrid>
              <a:tr h="28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2011" name="Google Shape;2011;p100"/>
          <p:cNvSpPr/>
          <p:nvPr/>
        </p:nvSpPr>
        <p:spPr>
          <a:xfrm>
            <a:off x="8158600" y="2744575"/>
            <a:ext cx="842100" cy="759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2" name="Google Shape;2012;p100"/>
          <p:cNvSpPr txBox="1"/>
          <p:nvPr/>
        </p:nvSpPr>
        <p:spPr>
          <a:xfrm>
            <a:off x="5913400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Blocked 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p10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2018" name="Google Shape;2018;p101"/>
          <p:cNvSpPr txBox="1"/>
          <p:nvPr>
            <p:ph idx="1" type="body"/>
          </p:nvPr>
        </p:nvSpPr>
        <p:spPr>
          <a:xfrm>
            <a:off x="347025" y="1225231"/>
            <a:ext cx="4906500" cy="3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</a:t>
            </a:r>
            <a:r>
              <a:rPr b="1" lang="en"/>
              <a:t>reduce </a:t>
            </a:r>
            <a:r>
              <a:rPr lang="en"/>
              <a:t>the blocked adjacency matrix?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aim is to reduce the blocked image matrix to a smaller matrix called the </a:t>
            </a:r>
            <a:r>
              <a:rPr b="1" lang="en"/>
              <a:t>image matrix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Follow the rule: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Turn each block into a node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Connect blocks if there if their off-diagonal block is a one-block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Including reflexive connections (loops) for nodes that have diagonal one-blocks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019" name="Google Shape;2019;p101"/>
          <p:cNvGraphicFramePr/>
          <p:nvPr/>
        </p:nvGraphicFramePr>
        <p:xfrm>
          <a:off x="5352100" y="94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{E12FF49B-9E74-46FC-8EFB-338F158C8BB0}</a:tableStyleId>
              </a:tblPr>
              <a:tblGrid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</a:tblGrid>
              <a:tr h="28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2020" name="Google Shape;2020;p101"/>
          <p:cNvSpPr txBox="1"/>
          <p:nvPr/>
        </p:nvSpPr>
        <p:spPr>
          <a:xfrm>
            <a:off x="5913400" y="42340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Blocked 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p10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graphicFrame>
        <p:nvGraphicFramePr>
          <p:cNvPr id="2026" name="Google Shape;2026;p102"/>
          <p:cNvGraphicFramePr/>
          <p:nvPr/>
        </p:nvGraphicFramePr>
        <p:xfrm>
          <a:off x="5264200" y="160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605675"/>
                <a:gridCol w="605675"/>
                <a:gridCol w="605675"/>
                <a:gridCol w="605675"/>
                <a:gridCol w="605675"/>
                <a:gridCol w="605675"/>
              </a:tblGrid>
              <a:tr h="40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BG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DJ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EKL</a:t>
                      </a:r>
                      <a:endParaRPr b="1" sz="16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AFI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40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BG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40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40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DJ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40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EKL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40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AFI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027" name="Google Shape;2027;p102"/>
          <p:cNvGraphicFramePr/>
          <p:nvPr/>
        </p:nvGraphicFramePr>
        <p:xfrm>
          <a:off x="518650" y="106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{E12FF49B-9E74-46FC-8EFB-338F158C8BB0}</a:tableStyleId>
              </a:tblPr>
              <a:tblGrid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  <a:gridCol w="280650"/>
              </a:tblGrid>
              <a:tr h="283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53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</a:t>
                      </a:r>
                      <a:endParaRPr b="1"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2028" name="Google Shape;2028;p102"/>
          <p:cNvSpPr txBox="1"/>
          <p:nvPr/>
        </p:nvSpPr>
        <p:spPr>
          <a:xfrm>
            <a:off x="1079950" y="4361275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Blocked Adjacency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29" name="Google Shape;2029;p102"/>
          <p:cNvSpPr/>
          <p:nvPr/>
        </p:nvSpPr>
        <p:spPr>
          <a:xfrm>
            <a:off x="4360000" y="2833650"/>
            <a:ext cx="711300" cy="5088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0" name="Google Shape;2030;p102"/>
          <p:cNvSpPr txBox="1"/>
          <p:nvPr/>
        </p:nvSpPr>
        <p:spPr>
          <a:xfrm>
            <a:off x="5764875" y="4266350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Image</a:t>
            </a: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10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graphicFrame>
        <p:nvGraphicFramePr>
          <p:cNvPr id="2036" name="Google Shape;2036;p103"/>
          <p:cNvGraphicFramePr/>
          <p:nvPr/>
        </p:nvGraphicFramePr>
        <p:xfrm>
          <a:off x="5264200" y="160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605675"/>
                <a:gridCol w="605675"/>
                <a:gridCol w="605675"/>
                <a:gridCol w="605675"/>
                <a:gridCol w="605675"/>
                <a:gridCol w="605675"/>
              </a:tblGrid>
              <a:tr h="40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BG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DJ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EKL</a:t>
                      </a:r>
                      <a:endParaRPr b="1" sz="16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AFI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40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BG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40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40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DJ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40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EKL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  <a:tr h="408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AFI</a:t>
                      </a:r>
                      <a:endParaRPr b="1"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6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037" name="Google Shape;2037;p103"/>
          <p:cNvSpPr txBox="1"/>
          <p:nvPr/>
        </p:nvSpPr>
        <p:spPr>
          <a:xfrm>
            <a:off x="5764875" y="4266350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Image Matrix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38" name="Google Shape;2038;p103"/>
          <p:cNvSpPr/>
          <p:nvPr/>
        </p:nvSpPr>
        <p:spPr>
          <a:xfrm>
            <a:off x="374500" y="1403025"/>
            <a:ext cx="1038900" cy="65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BG</a:t>
            </a:r>
            <a:endParaRPr b="1"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9" name="Google Shape;2039;p103"/>
          <p:cNvSpPr/>
          <p:nvPr/>
        </p:nvSpPr>
        <p:spPr>
          <a:xfrm>
            <a:off x="456250" y="3860225"/>
            <a:ext cx="1038900" cy="65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EKL</a:t>
            </a:r>
            <a:endParaRPr b="1"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0" name="Google Shape;2040;p103"/>
          <p:cNvSpPr/>
          <p:nvPr/>
        </p:nvSpPr>
        <p:spPr>
          <a:xfrm>
            <a:off x="2614288" y="1385550"/>
            <a:ext cx="1038900" cy="65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DJ</a:t>
            </a:r>
            <a:endParaRPr b="1"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1" name="Google Shape;2041;p103"/>
          <p:cNvSpPr/>
          <p:nvPr/>
        </p:nvSpPr>
        <p:spPr>
          <a:xfrm>
            <a:off x="2614300" y="3860225"/>
            <a:ext cx="1038900" cy="65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AFI</a:t>
            </a:r>
            <a:endParaRPr b="1"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2" name="Google Shape;2042;p103"/>
          <p:cNvSpPr/>
          <p:nvPr/>
        </p:nvSpPr>
        <p:spPr>
          <a:xfrm>
            <a:off x="2614300" y="2595325"/>
            <a:ext cx="1038900" cy="65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CH</a:t>
            </a:r>
            <a:endParaRPr b="1"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43" name="Google Shape;2043;p103"/>
          <p:cNvCxnSpPr>
            <a:stCxn id="2038" idx="6"/>
            <a:endCxn id="2040" idx="2"/>
          </p:cNvCxnSpPr>
          <p:nvPr/>
        </p:nvCxnSpPr>
        <p:spPr>
          <a:xfrm flipH="1" rot="10800000">
            <a:off x="1413400" y="1714275"/>
            <a:ext cx="1200900" cy="1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4" name="Google Shape;2044;p103"/>
          <p:cNvCxnSpPr>
            <a:stCxn id="2038" idx="5"/>
            <a:endCxn id="2042" idx="1"/>
          </p:cNvCxnSpPr>
          <p:nvPr/>
        </p:nvCxnSpPr>
        <p:spPr>
          <a:xfrm>
            <a:off x="1261257" y="1964066"/>
            <a:ext cx="1505100" cy="72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5" name="Google Shape;2045;p103"/>
          <p:cNvCxnSpPr>
            <a:stCxn id="2040" idx="4"/>
            <a:endCxn id="2042" idx="0"/>
          </p:cNvCxnSpPr>
          <p:nvPr/>
        </p:nvCxnSpPr>
        <p:spPr>
          <a:xfrm>
            <a:off x="3133738" y="2042850"/>
            <a:ext cx="0" cy="552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6" name="Google Shape;2046;p103"/>
          <p:cNvCxnSpPr>
            <a:stCxn id="2042" idx="4"/>
            <a:endCxn id="2041" idx="0"/>
          </p:cNvCxnSpPr>
          <p:nvPr/>
        </p:nvCxnSpPr>
        <p:spPr>
          <a:xfrm>
            <a:off x="3133750" y="3252625"/>
            <a:ext cx="0" cy="60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7" name="Google Shape;2047;p103"/>
          <p:cNvCxnSpPr>
            <a:stCxn id="2039" idx="6"/>
            <a:endCxn id="2041" idx="2"/>
          </p:cNvCxnSpPr>
          <p:nvPr/>
        </p:nvCxnSpPr>
        <p:spPr>
          <a:xfrm>
            <a:off x="1495150" y="4188875"/>
            <a:ext cx="1119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8" name="Google Shape;2048;p103"/>
          <p:cNvCxnSpPr>
            <a:stCxn id="2038" idx="4"/>
            <a:endCxn id="2041" idx="1"/>
          </p:cNvCxnSpPr>
          <p:nvPr/>
        </p:nvCxnSpPr>
        <p:spPr>
          <a:xfrm>
            <a:off x="893950" y="2060325"/>
            <a:ext cx="1872600" cy="1896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9" name="Google Shape;2049;p103"/>
          <p:cNvCxnSpPr>
            <a:stCxn id="2040" idx="6"/>
            <a:endCxn id="2040" idx="0"/>
          </p:cNvCxnSpPr>
          <p:nvPr/>
        </p:nvCxnSpPr>
        <p:spPr>
          <a:xfrm rot="10800000">
            <a:off x="3133888" y="1385700"/>
            <a:ext cx="519300" cy="328500"/>
          </a:xfrm>
          <a:prstGeom prst="curvedConnector4">
            <a:avLst>
              <a:gd fmla="val -45855" name="adj1"/>
              <a:gd fmla="val 172534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0" name="Google Shape;2050;p103"/>
          <p:cNvCxnSpPr>
            <a:stCxn id="2041" idx="6"/>
            <a:endCxn id="2041" idx="0"/>
          </p:cNvCxnSpPr>
          <p:nvPr/>
        </p:nvCxnSpPr>
        <p:spPr>
          <a:xfrm rot="10800000">
            <a:off x="3133900" y="3860375"/>
            <a:ext cx="519300" cy="328500"/>
          </a:xfrm>
          <a:prstGeom prst="curvedConnector4">
            <a:avLst>
              <a:gd fmla="val -45855" name="adj1"/>
              <a:gd fmla="val 172534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1" name="Google Shape;2051;p103"/>
          <p:cNvSpPr txBox="1"/>
          <p:nvPr/>
        </p:nvSpPr>
        <p:spPr>
          <a:xfrm>
            <a:off x="854475" y="4574200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Image Graph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10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</a:t>
            </a:r>
            <a:endParaRPr/>
          </a:p>
        </p:txBody>
      </p:sp>
      <p:sp>
        <p:nvSpPr>
          <p:cNvPr id="2057" name="Google Shape;2057;p104"/>
          <p:cNvSpPr/>
          <p:nvPr/>
        </p:nvSpPr>
        <p:spPr>
          <a:xfrm>
            <a:off x="374500" y="1403025"/>
            <a:ext cx="1038900" cy="65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BG</a:t>
            </a:r>
            <a:endParaRPr b="1"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8" name="Google Shape;2058;p104"/>
          <p:cNvSpPr/>
          <p:nvPr/>
        </p:nvSpPr>
        <p:spPr>
          <a:xfrm>
            <a:off x="456250" y="3860225"/>
            <a:ext cx="1038900" cy="65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EKL</a:t>
            </a:r>
            <a:endParaRPr b="1"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9" name="Google Shape;2059;p104"/>
          <p:cNvSpPr/>
          <p:nvPr/>
        </p:nvSpPr>
        <p:spPr>
          <a:xfrm>
            <a:off x="2614288" y="1385550"/>
            <a:ext cx="1038900" cy="65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DJ</a:t>
            </a:r>
            <a:endParaRPr b="1"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0" name="Google Shape;2060;p104"/>
          <p:cNvSpPr/>
          <p:nvPr/>
        </p:nvSpPr>
        <p:spPr>
          <a:xfrm>
            <a:off x="2614300" y="3860225"/>
            <a:ext cx="1038900" cy="65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AFI</a:t>
            </a:r>
            <a:endParaRPr b="1"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1" name="Google Shape;2061;p104"/>
          <p:cNvSpPr/>
          <p:nvPr/>
        </p:nvSpPr>
        <p:spPr>
          <a:xfrm>
            <a:off x="2614300" y="2595325"/>
            <a:ext cx="1038900" cy="65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CH</a:t>
            </a:r>
            <a:endParaRPr b="1"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62" name="Google Shape;2062;p104"/>
          <p:cNvCxnSpPr>
            <a:stCxn id="2057" idx="6"/>
            <a:endCxn id="2059" idx="2"/>
          </p:cNvCxnSpPr>
          <p:nvPr/>
        </p:nvCxnSpPr>
        <p:spPr>
          <a:xfrm flipH="1" rot="10800000">
            <a:off x="1413400" y="1714275"/>
            <a:ext cx="1200900" cy="17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3" name="Google Shape;2063;p104"/>
          <p:cNvCxnSpPr>
            <a:stCxn id="2057" idx="5"/>
            <a:endCxn id="2061" idx="1"/>
          </p:cNvCxnSpPr>
          <p:nvPr/>
        </p:nvCxnSpPr>
        <p:spPr>
          <a:xfrm>
            <a:off x="1261257" y="1964066"/>
            <a:ext cx="1505100" cy="72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4" name="Google Shape;2064;p104"/>
          <p:cNvCxnSpPr>
            <a:stCxn id="2059" idx="4"/>
            <a:endCxn id="2061" idx="0"/>
          </p:cNvCxnSpPr>
          <p:nvPr/>
        </p:nvCxnSpPr>
        <p:spPr>
          <a:xfrm>
            <a:off x="3133738" y="2042850"/>
            <a:ext cx="0" cy="552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5" name="Google Shape;2065;p104"/>
          <p:cNvCxnSpPr>
            <a:stCxn id="2061" idx="4"/>
            <a:endCxn id="2060" idx="0"/>
          </p:cNvCxnSpPr>
          <p:nvPr/>
        </p:nvCxnSpPr>
        <p:spPr>
          <a:xfrm>
            <a:off x="3133750" y="3252625"/>
            <a:ext cx="0" cy="60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6" name="Google Shape;2066;p104"/>
          <p:cNvCxnSpPr>
            <a:stCxn id="2058" idx="6"/>
            <a:endCxn id="2060" idx="2"/>
          </p:cNvCxnSpPr>
          <p:nvPr/>
        </p:nvCxnSpPr>
        <p:spPr>
          <a:xfrm>
            <a:off x="1495150" y="4188875"/>
            <a:ext cx="1119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7" name="Google Shape;2067;p104"/>
          <p:cNvCxnSpPr>
            <a:stCxn id="2057" idx="4"/>
            <a:endCxn id="2060" idx="1"/>
          </p:cNvCxnSpPr>
          <p:nvPr/>
        </p:nvCxnSpPr>
        <p:spPr>
          <a:xfrm>
            <a:off x="893950" y="2060325"/>
            <a:ext cx="1872600" cy="1896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8" name="Google Shape;2068;p104"/>
          <p:cNvCxnSpPr>
            <a:stCxn id="2059" idx="6"/>
            <a:endCxn id="2059" idx="0"/>
          </p:cNvCxnSpPr>
          <p:nvPr/>
        </p:nvCxnSpPr>
        <p:spPr>
          <a:xfrm rot="10800000">
            <a:off x="3133888" y="1385700"/>
            <a:ext cx="519300" cy="328500"/>
          </a:xfrm>
          <a:prstGeom prst="curvedConnector4">
            <a:avLst>
              <a:gd fmla="val -45855" name="adj1"/>
              <a:gd fmla="val 172534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9" name="Google Shape;2069;p104"/>
          <p:cNvCxnSpPr>
            <a:stCxn id="2060" idx="6"/>
            <a:endCxn id="2060" idx="0"/>
          </p:cNvCxnSpPr>
          <p:nvPr/>
        </p:nvCxnSpPr>
        <p:spPr>
          <a:xfrm rot="10800000">
            <a:off x="3133900" y="3860375"/>
            <a:ext cx="519300" cy="328500"/>
          </a:xfrm>
          <a:prstGeom prst="curvedConnector4">
            <a:avLst>
              <a:gd fmla="val -45855" name="adj1"/>
              <a:gd fmla="val 172534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0" name="Google Shape;2070;p104"/>
          <p:cNvSpPr txBox="1"/>
          <p:nvPr/>
        </p:nvSpPr>
        <p:spPr>
          <a:xfrm>
            <a:off x="854475" y="4574200"/>
            <a:ext cx="26838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Image Graph</a:t>
            </a:r>
            <a:endParaRPr sz="18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71" name="Google Shape;2071;p104"/>
          <p:cNvSpPr/>
          <p:nvPr/>
        </p:nvSpPr>
        <p:spPr>
          <a:xfrm>
            <a:off x="8298675" y="1233375"/>
            <a:ext cx="440400" cy="4404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2" name="Google Shape;2072;p104"/>
          <p:cNvSpPr/>
          <p:nvPr/>
        </p:nvSpPr>
        <p:spPr>
          <a:xfrm>
            <a:off x="6229725" y="2325550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3" name="Google Shape;2073;p104"/>
          <p:cNvSpPr/>
          <p:nvPr/>
        </p:nvSpPr>
        <p:spPr>
          <a:xfrm>
            <a:off x="6229725" y="1233375"/>
            <a:ext cx="440400" cy="4404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4" name="Google Shape;2074;p104"/>
          <p:cNvSpPr/>
          <p:nvPr/>
        </p:nvSpPr>
        <p:spPr>
          <a:xfrm>
            <a:off x="7216400" y="259325"/>
            <a:ext cx="440400" cy="440400"/>
          </a:xfrm>
          <a:prstGeom prst="ellipse">
            <a:avLst/>
          </a:prstGeom>
          <a:solidFill>
            <a:srgbClr val="7F209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5" name="Google Shape;2075;p104"/>
          <p:cNvSpPr/>
          <p:nvPr/>
        </p:nvSpPr>
        <p:spPr>
          <a:xfrm>
            <a:off x="8252925" y="4509100"/>
            <a:ext cx="440400" cy="440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6" name="Google Shape;2076;p104"/>
          <p:cNvSpPr/>
          <p:nvPr/>
        </p:nvSpPr>
        <p:spPr>
          <a:xfrm>
            <a:off x="8298675" y="3417325"/>
            <a:ext cx="440400" cy="440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7" name="Google Shape;2077;p104"/>
          <p:cNvSpPr/>
          <p:nvPr/>
        </p:nvSpPr>
        <p:spPr>
          <a:xfrm>
            <a:off x="6229725" y="3417725"/>
            <a:ext cx="440400" cy="440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8" name="Google Shape;2078;p104"/>
          <p:cNvSpPr/>
          <p:nvPr/>
        </p:nvSpPr>
        <p:spPr>
          <a:xfrm>
            <a:off x="6302800" y="4460175"/>
            <a:ext cx="440400" cy="440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9" name="Google Shape;2079;p104"/>
          <p:cNvSpPr/>
          <p:nvPr/>
        </p:nvSpPr>
        <p:spPr>
          <a:xfrm>
            <a:off x="7216400" y="1233375"/>
            <a:ext cx="440400" cy="4404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0" name="Google Shape;2080;p104"/>
          <p:cNvSpPr/>
          <p:nvPr/>
        </p:nvSpPr>
        <p:spPr>
          <a:xfrm>
            <a:off x="8298675" y="2325550"/>
            <a:ext cx="440400" cy="440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1" name="Google Shape;2081;p104"/>
          <p:cNvSpPr/>
          <p:nvPr/>
        </p:nvSpPr>
        <p:spPr>
          <a:xfrm>
            <a:off x="8298675" y="259325"/>
            <a:ext cx="440400" cy="440400"/>
          </a:xfrm>
          <a:prstGeom prst="ellipse">
            <a:avLst/>
          </a:prstGeom>
          <a:solidFill>
            <a:srgbClr val="7F209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J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82" name="Google Shape;2082;p104"/>
          <p:cNvCxnSpPr>
            <a:stCxn id="2074" idx="6"/>
            <a:endCxn id="2081" idx="2"/>
          </p:cNvCxnSpPr>
          <p:nvPr/>
        </p:nvCxnSpPr>
        <p:spPr>
          <a:xfrm>
            <a:off x="7656800" y="479525"/>
            <a:ext cx="642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3" name="Google Shape;2083;p104"/>
          <p:cNvCxnSpPr>
            <a:stCxn id="2074" idx="4"/>
            <a:endCxn id="2079" idx="0"/>
          </p:cNvCxnSpPr>
          <p:nvPr/>
        </p:nvCxnSpPr>
        <p:spPr>
          <a:xfrm>
            <a:off x="7436600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4" name="Google Shape;2084;p104"/>
          <p:cNvCxnSpPr>
            <a:stCxn id="2074" idx="5"/>
            <a:endCxn id="2071" idx="1"/>
          </p:cNvCxnSpPr>
          <p:nvPr/>
        </p:nvCxnSpPr>
        <p:spPr>
          <a:xfrm>
            <a:off x="7592305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5" name="Google Shape;2085;p104"/>
          <p:cNvCxnSpPr>
            <a:stCxn id="2081" idx="3"/>
            <a:endCxn id="2079" idx="7"/>
          </p:cNvCxnSpPr>
          <p:nvPr/>
        </p:nvCxnSpPr>
        <p:spPr>
          <a:xfrm flipH="1">
            <a:off x="7592170" y="635230"/>
            <a:ext cx="771000" cy="66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6" name="Google Shape;2086;p104"/>
          <p:cNvCxnSpPr>
            <a:stCxn id="2081" idx="4"/>
            <a:endCxn id="2071" idx="0"/>
          </p:cNvCxnSpPr>
          <p:nvPr/>
        </p:nvCxnSpPr>
        <p:spPr>
          <a:xfrm>
            <a:off x="8518875" y="699725"/>
            <a:ext cx="0" cy="533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7" name="Google Shape;2087;p104"/>
          <p:cNvCxnSpPr>
            <a:stCxn id="2073" idx="5"/>
            <a:endCxn id="2080" idx="1"/>
          </p:cNvCxnSpPr>
          <p:nvPr/>
        </p:nvCxnSpPr>
        <p:spPr>
          <a:xfrm>
            <a:off x="660563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8" name="Google Shape;2088;p104"/>
          <p:cNvCxnSpPr>
            <a:stCxn id="2072" idx="6"/>
            <a:endCxn id="2080" idx="2"/>
          </p:cNvCxnSpPr>
          <p:nvPr/>
        </p:nvCxnSpPr>
        <p:spPr>
          <a:xfrm>
            <a:off x="6670125" y="2545750"/>
            <a:ext cx="1628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9" name="Google Shape;2089;p104"/>
          <p:cNvCxnSpPr>
            <a:stCxn id="2077" idx="7"/>
            <a:endCxn id="2080" idx="3"/>
          </p:cNvCxnSpPr>
          <p:nvPr/>
        </p:nvCxnSpPr>
        <p:spPr>
          <a:xfrm flipH="1" rot="10800000">
            <a:off x="6605630" y="270132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0" name="Google Shape;2090;p104"/>
          <p:cNvSpPr/>
          <p:nvPr/>
        </p:nvSpPr>
        <p:spPr>
          <a:xfrm>
            <a:off x="7239725" y="3858075"/>
            <a:ext cx="440400" cy="440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endParaRPr b="1" sz="1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91" name="Google Shape;2091;p104"/>
          <p:cNvCxnSpPr>
            <a:stCxn id="2073" idx="5"/>
            <a:endCxn id="2076" idx="1"/>
          </p:cNvCxnSpPr>
          <p:nvPr/>
        </p:nvCxnSpPr>
        <p:spPr>
          <a:xfrm>
            <a:off x="6605630" y="1609280"/>
            <a:ext cx="1757400" cy="18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2" name="Google Shape;2092;p104"/>
          <p:cNvCxnSpPr>
            <a:stCxn id="2077" idx="6"/>
            <a:endCxn id="2076" idx="2"/>
          </p:cNvCxnSpPr>
          <p:nvPr/>
        </p:nvCxnSpPr>
        <p:spPr>
          <a:xfrm flipH="1" rot="10800000">
            <a:off x="6670125" y="3637625"/>
            <a:ext cx="1628700" cy="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3" name="Google Shape;2093;p104"/>
          <p:cNvCxnSpPr>
            <a:stCxn id="2072" idx="5"/>
            <a:endCxn id="2076" idx="1"/>
          </p:cNvCxnSpPr>
          <p:nvPr/>
        </p:nvCxnSpPr>
        <p:spPr>
          <a:xfrm>
            <a:off x="6605630" y="2701455"/>
            <a:ext cx="1757400" cy="780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4" name="Google Shape;2094;p104"/>
          <p:cNvCxnSpPr>
            <a:stCxn id="2073" idx="7"/>
            <a:endCxn id="2074" idx="2"/>
          </p:cNvCxnSpPr>
          <p:nvPr/>
        </p:nvCxnSpPr>
        <p:spPr>
          <a:xfrm flipH="1" rot="10800000">
            <a:off x="6605630" y="479470"/>
            <a:ext cx="610800" cy="818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5" name="Google Shape;2095;p104"/>
          <p:cNvCxnSpPr>
            <a:stCxn id="2079" idx="3"/>
            <a:endCxn id="2072" idx="7"/>
          </p:cNvCxnSpPr>
          <p:nvPr/>
        </p:nvCxnSpPr>
        <p:spPr>
          <a:xfrm flipH="1">
            <a:off x="6605595" y="1609280"/>
            <a:ext cx="6753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6" name="Google Shape;2096;p104"/>
          <p:cNvCxnSpPr>
            <a:stCxn id="2071" idx="3"/>
            <a:endCxn id="2072" idx="7"/>
          </p:cNvCxnSpPr>
          <p:nvPr/>
        </p:nvCxnSpPr>
        <p:spPr>
          <a:xfrm flipH="1">
            <a:off x="6605770" y="1609280"/>
            <a:ext cx="17574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7" name="Google Shape;2097;p104"/>
          <p:cNvCxnSpPr>
            <a:stCxn id="2079" idx="5"/>
            <a:endCxn id="2080" idx="1"/>
          </p:cNvCxnSpPr>
          <p:nvPr/>
        </p:nvCxnSpPr>
        <p:spPr>
          <a:xfrm>
            <a:off x="7592305" y="1609280"/>
            <a:ext cx="771000" cy="780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8" name="Google Shape;2098;p104"/>
          <p:cNvCxnSpPr>
            <a:stCxn id="2071" idx="4"/>
            <a:endCxn id="2080" idx="0"/>
          </p:cNvCxnSpPr>
          <p:nvPr/>
        </p:nvCxnSpPr>
        <p:spPr>
          <a:xfrm>
            <a:off x="8518875" y="1673775"/>
            <a:ext cx="0" cy="65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9" name="Google Shape;2099;p104"/>
          <p:cNvCxnSpPr>
            <a:stCxn id="2077" idx="5"/>
            <a:endCxn id="2090" idx="2"/>
          </p:cNvCxnSpPr>
          <p:nvPr/>
        </p:nvCxnSpPr>
        <p:spPr>
          <a:xfrm>
            <a:off x="6605630" y="3793630"/>
            <a:ext cx="634200" cy="284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0" name="Google Shape;2100;p104"/>
          <p:cNvCxnSpPr>
            <a:stCxn id="2076" idx="3"/>
            <a:endCxn id="2090" idx="6"/>
          </p:cNvCxnSpPr>
          <p:nvPr/>
        </p:nvCxnSpPr>
        <p:spPr>
          <a:xfrm flipH="1">
            <a:off x="7680070" y="3793230"/>
            <a:ext cx="683100" cy="285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1" name="Google Shape;2101;p104"/>
          <p:cNvCxnSpPr>
            <a:stCxn id="2073" idx="6"/>
            <a:endCxn id="2079" idx="2"/>
          </p:cNvCxnSpPr>
          <p:nvPr/>
        </p:nvCxnSpPr>
        <p:spPr>
          <a:xfrm>
            <a:off x="6670125" y="1453575"/>
            <a:ext cx="546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2" name="Google Shape;2102;p104"/>
          <p:cNvCxnSpPr>
            <a:stCxn id="2090" idx="3"/>
            <a:endCxn id="2078" idx="7"/>
          </p:cNvCxnSpPr>
          <p:nvPr/>
        </p:nvCxnSpPr>
        <p:spPr>
          <a:xfrm flipH="1">
            <a:off x="6678720" y="4233980"/>
            <a:ext cx="625500" cy="290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3" name="Google Shape;2103;p104"/>
          <p:cNvCxnSpPr>
            <a:stCxn id="2090" idx="5"/>
            <a:endCxn id="2075" idx="1"/>
          </p:cNvCxnSpPr>
          <p:nvPr/>
        </p:nvCxnSpPr>
        <p:spPr>
          <a:xfrm>
            <a:off x="7615630" y="4233980"/>
            <a:ext cx="701700" cy="339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4" name="Google Shape;2104;p104"/>
          <p:cNvCxnSpPr>
            <a:stCxn id="2080" idx="4"/>
            <a:endCxn id="2076" idx="0"/>
          </p:cNvCxnSpPr>
          <p:nvPr/>
        </p:nvCxnSpPr>
        <p:spPr>
          <a:xfrm>
            <a:off x="8518875" y="2765950"/>
            <a:ext cx="0" cy="65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10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Automorphic Equivalence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106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Equivalence is a restrictive notion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Because of the same-neighbor rule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playing </a:t>
            </a:r>
            <a:r>
              <a:rPr b="1" lang="en"/>
              <a:t>the same role</a:t>
            </a:r>
            <a:r>
              <a:rPr lang="en"/>
              <a:t> does not mean being connected to the same others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could also mean being </a:t>
            </a:r>
            <a:r>
              <a:rPr b="1" lang="en"/>
              <a:t>structurally indistinguishable </a:t>
            </a:r>
            <a:r>
              <a:rPr lang="en"/>
              <a:t>even when connected to different others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idea behind </a:t>
            </a:r>
            <a:r>
              <a:rPr b="1" lang="en"/>
              <a:t>automorphic equivalence</a:t>
            </a:r>
            <a:endParaRPr b="1"/>
          </a:p>
        </p:txBody>
      </p:sp>
      <p:sp>
        <p:nvSpPr>
          <p:cNvPr id="2115" name="Google Shape;2115;p10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2116" name="Google Shape;2116;p106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17" name="Google Shape;2117;p106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18" name="Google Shape;2118;p106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19" name="Google Shape;2119;p106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120" name="Google Shape;2120;p106"/>
          <p:cNvCxnSpPr>
            <a:stCxn id="2116" idx="3"/>
            <a:endCxn id="2117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1" name="Google Shape;2121;p106"/>
          <p:cNvCxnSpPr>
            <a:stCxn id="2116" idx="4"/>
            <a:endCxn id="2118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2" name="Google Shape;2122;p106"/>
          <p:cNvCxnSpPr>
            <a:stCxn id="2116" idx="4"/>
            <a:endCxn id="2119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3" name="Google Shape;2123;p106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24" name="Google Shape;2124;p106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25" name="Google Shape;2125;p106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26" name="Google Shape;2126;p106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127" name="Google Shape;2127;p106"/>
          <p:cNvCxnSpPr>
            <a:stCxn id="2123" idx="3"/>
            <a:endCxn id="2124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8" name="Google Shape;2128;p106"/>
          <p:cNvCxnSpPr>
            <a:stCxn id="2126" idx="0"/>
            <a:endCxn id="2124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9" name="Google Shape;2129;p106"/>
          <p:cNvCxnSpPr>
            <a:stCxn id="2123" idx="5"/>
            <a:endCxn id="2125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0" name="Google Shape;2130;p106"/>
          <p:cNvCxnSpPr>
            <a:stCxn id="2125" idx="2"/>
            <a:endCxn id="2124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1" name="Google Shape;2131;p106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132" name="Google Shape;2132;p106"/>
          <p:cNvCxnSpPr>
            <a:stCxn id="2131" idx="0"/>
            <a:endCxn id="2124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3" name="Google Shape;2133;p106"/>
          <p:cNvCxnSpPr>
            <a:stCxn id="2125" idx="3"/>
            <a:endCxn id="2126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4" name="Google Shape;2134;p106"/>
          <p:cNvCxnSpPr>
            <a:stCxn id="2125" idx="3"/>
            <a:endCxn id="2131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5" name="Google Shape;2135;p106"/>
          <p:cNvCxnSpPr>
            <a:stCxn id="2123" idx="4"/>
            <a:endCxn id="2131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6" name="Google Shape;2136;p106"/>
          <p:cNvCxnSpPr>
            <a:stCxn id="2116" idx="0"/>
            <a:endCxn id="2126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7" name="Google Shape;2137;p106"/>
          <p:cNvCxnSpPr>
            <a:stCxn id="2126" idx="6"/>
            <a:endCxn id="2131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8" name="Google Shape;2138;p106"/>
          <p:cNvCxnSpPr>
            <a:stCxn id="2123" idx="4"/>
            <a:endCxn id="2126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9" name="Google Shape;2139;p106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40" name="Google Shape;2140;p106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41" name="Google Shape;2141;p106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142" name="Google Shape;2142;p106"/>
          <p:cNvCxnSpPr>
            <a:stCxn id="2141" idx="6"/>
            <a:endCxn id="2140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3" name="Google Shape;2143;p106"/>
          <p:cNvCxnSpPr>
            <a:stCxn id="2141" idx="0"/>
            <a:endCxn id="2125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4" name="Google Shape;2144;p106"/>
          <p:cNvCxnSpPr>
            <a:stCxn id="2116" idx="5"/>
            <a:endCxn id="2139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5" name="Google Shape;2145;p106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46" name="Google Shape;2146;p106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47" name="Google Shape;2147;p106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148" name="Google Shape;2148;p106"/>
          <p:cNvCxnSpPr>
            <a:stCxn id="2141" idx="6"/>
            <a:endCxn id="2147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9" name="Google Shape;2149;p106"/>
          <p:cNvCxnSpPr>
            <a:stCxn id="2141" idx="5"/>
            <a:endCxn id="2146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0" name="Google Shape;2150;p106"/>
          <p:cNvCxnSpPr>
            <a:stCxn id="2141" idx="7"/>
            <a:endCxn id="2145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107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nodes are </a:t>
            </a:r>
            <a:r>
              <a:rPr b="1" lang="en"/>
              <a:t>automorphically equivalent: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they can be exchanged for one another without changing anything in the graph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Even when not connected to the </a:t>
            </a:r>
            <a:r>
              <a:rPr i="1" lang="en"/>
              <a:t>same</a:t>
            </a:r>
            <a:r>
              <a:rPr lang="en"/>
              <a:t> others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example </a:t>
            </a:r>
            <a:r>
              <a:rPr b="1" lang="en">
                <a:solidFill>
                  <a:schemeClr val="accent5"/>
                </a:solidFill>
              </a:rPr>
              <a:t>green</a:t>
            </a:r>
            <a:r>
              <a:rPr lang="en"/>
              <a:t> nodes are automorphically equivalent to </a:t>
            </a:r>
            <a:r>
              <a:rPr b="1" lang="en">
                <a:solidFill>
                  <a:schemeClr val="accent1"/>
                </a:solidFill>
              </a:rPr>
              <a:t>brown</a:t>
            </a:r>
            <a:r>
              <a:rPr lang="en"/>
              <a:t> nodes</a:t>
            </a:r>
            <a:endParaRPr/>
          </a:p>
        </p:txBody>
      </p:sp>
      <p:sp>
        <p:nvSpPr>
          <p:cNvPr id="2156" name="Google Shape;2156;p10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2157" name="Google Shape;2157;p107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58" name="Google Shape;2158;p107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59" name="Google Shape;2159;p107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60" name="Google Shape;2160;p107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161" name="Google Shape;2161;p107"/>
          <p:cNvCxnSpPr>
            <a:stCxn id="2157" idx="3"/>
            <a:endCxn id="2158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2" name="Google Shape;2162;p107"/>
          <p:cNvCxnSpPr>
            <a:stCxn id="2157" idx="4"/>
            <a:endCxn id="2159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3" name="Google Shape;2163;p107"/>
          <p:cNvCxnSpPr>
            <a:stCxn id="2157" idx="4"/>
            <a:endCxn id="2160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4" name="Google Shape;2164;p107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65" name="Google Shape;2165;p107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66" name="Google Shape;2166;p107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67" name="Google Shape;2167;p107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168" name="Google Shape;2168;p107"/>
          <p:cNvCxnSpPr>
            <a:stCxn id="2164" idx="3"/>
            <a:endCxn id="2165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9" name="Google Shape;2169;p107"/>
          <p:cNvCxnSpPr>
            <a:stCxn id="2167" idx="0"/>
            <a:endCxn id="2165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0" name="Google Shape;2170;p107"/>
          <p:cNvCxnSpPr>
            <a:stCxn id="2164" idx="5"/>
            <a:endCxn id="2166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1" name="Google Shape;2171;p107"/>
          <p:cNvCxnSpPr>
            <a:stCxn id="2166" idx="2"/>
            <a:endCxn id="2165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2" name="Google Shape;2172;p107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173" name="Google Shape;2173;p107"/>
          <p:cNvCxnSpPr>
            <a:stCxn id="2172" idx="0"/>
            <a:endCxn id="2165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4" name="Google Shape;2174;p107"/>
          <p:cNvCxnSpPr>
            <a:stCxn id="2166" idx="3"/>
            <a:endCxn id="2167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5" name="Google Shape;2175;p107"/>
          <p:cNvCxnSpPr>
            <a:stCxn id="2166" idx="3"/>
            <a:endCxn id="2172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6" name="Google Shape;2176;p107"/>
          <p:cNvCxnSpPr>
            <a:stCxn id="2164" idx="4"/>
            <a:endCxn id="2172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7" name="Google Shape;2177;p107"/>
          <p:cNvCxnSpPr>
            <a:stCxn id="2157" idx="0"/>
            <a:endCxn id="2167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8" name="Google Shape;2178;p107"/>
          <p:cNvCxnSpPr>
            <a:stCxn id="2167" idx="6"/>
            <a:endCxn id="2172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9" name="Google Shape;2179;p107"/>
          <p:cNvCxnSpPr>
            <a:stCxn id="2164" idx="4"/>
            <a:endCxn id="2167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0" name="Google Shape;2180;p107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81" name="Google Shape;2181;p107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82" name="Google Shape;2182;p107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183" name="Google Shape;2183;p107"/>
          <p:cNvCxnSpPr>
            <a:stCxn id="2182" idx="6"/>
            <a:endCxn id="2181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4" name="Google Shape;2184;p107"/>
          <p:cNvCxnSpPr>
            <a:stCxn id="2182" idx="0"/>
            <a:endCxn id="2166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5" name="Google Shape;2185;p107"/>
          <p:cNvCxnSpPr>
            <a:stCxn id="2157" idx="5"/>
            <a:endCxn id="2180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6" name="Google Shape;2186;p107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87" name="Google Shape;2187;p107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88" name="Google Shape;2188;p107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189" name="Google Shape;2189;p107"/>
          <p:cNvCxnSpPr>
            <a:stCxn id="2182" idx="6"/>
            <a:endCxn id="2188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0" name="Google Shape;2190;p107"/>
          <p:cNvCxnSpPr>
            <a:stCxn id="2182" idx="5"/>
            <a:endCxn id="2187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1" name="Google Shape;2191;p107"/>
          <p:cNvCxnSpPr>
            <a:stCxn id="2182" idx="7"/>
            <a:endCxn id="2186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108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nodes are </a:t>
            </a:r>
            <a:r>
              <a:rPr b="1" lang="en"/>
              <a:t>automorphically equivalent: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they can be exchanged for one another without changing </a:t>
            </a:r>
            <a:r>
              <a:rPr lang="en"/>
              <a:t>anything</a:t>
            </a:r>
            <a:r>
              <a:rPr lang="en"/>
              <a:t> in the graph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Even when not connected to the </a:t>
            </a:r>
            <a:r>
              <a:rPr i="1" lang="en"/>
              <a:t>same</a:t>
            </a:r>
            <a:r>
              <a:rPr lang="en"/>
              <a:t> others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example </a:t>
            </a:r>
            <a:r>
              <a:rPr b="1" lang="en">
                <a:solidFill>
                  <a:schemeClr val="accent5"/>
                </a:solidFill>
              </a:rPr>
              <a:t>green</a:t>
            </a:r>
            <a:r>
              <a:rPr lang="en"/>
              <a:t> nodes are automorphically equivalent to </a:t>
            </a:r>
            <a:r>
              <a:rPr b="1" lang="en">
                <a:solidFill>
                  <a:schemeClr val="accent1"/>
                </a:solidFill>
              </a:rPr>
              <a:t>brown</a:t>
            </a:r>
            <a:r>
              <a:rPr lang="en"/>
              <a:t> nodes</a:t>
            </a:r>
            <a:endParaRPr/>
          </a:p>
        </p:txBody>
      </p:sp>
      <p:sp>
        <p:nvSpPr>
          <p:cNvPr id="2197" name="Google Shape;2197;p10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2198" name="Google Shape;2198;p108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99" name="Google Shape;2199;p108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00" name="Google Shape;2200;p108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01" name="Google Shape;2201;p108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202" name="Google Shape;2202;p108"/>
          <p:cNvCxnSpPr>
            <a:stCxn id="2198" idx="3"/>
            <a:endCxn id="2199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3" name="Google Shape;2203;p108"/>
          <p:cNvCxnSpPr>
            <a:stCxn id="2198" idx="4"/>
            <a:endCxn id="2200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4" name="Google Shape;2204;p108"/>
          <p:cNvCxnSpPr>
            <a:stCxn id="2198" idx="4"/>
            <a:endCxn id="2201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5" name="Google Shape;2205;p108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06" name="Google Shape;2206;p108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07" name="Google Shape;2207;p108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08" name="Google Shape;2208;p108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209" name="Google Shape;2209;p108"/>
          <p:cNvCxnSpPr>
            <a:stCxn id="2205" idx="3"/>
            <a:endCxn id="2206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0" name="Google Shape;2210;p108"/>
          <p:cNvCxnSpPr>
            <a:stCxn id="2208" idx="0"/>
            <a:endCxn id="2206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1" name="Google Shape;2211;p108"/>
          <p:cNvCxnSpPr>
            <a:stCxn id="2205" idx="5"/>
            <a:endCxn id="2207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2" name="Google Shape;2212;p108"/>
          <p:cNvCxnSpPr>
            <a:stCxn id="2207" idx="2"/>
            <a:endCxn id="2206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3" name="Google Shape;2213;p108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214" name="Google Shape;2214;p108"/>
          <p:cNvCxnSpPr>
            <a:stCxn id="2213" idx="0"/>
            <a:endCxn id="2206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5" name="Google Shape;2215;p108"/>
          <p:cNvCxnSpPr>
            <a:stCxn id="2207" idx="3"/>
            <a:endCxn id="2208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6" name="Google Shape;2216;p108"/>
          <p:cNvCxnSpPr>
            <a:stCxn id="2207" idx="3"/>
            <a:endCxn id="2213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7" name="Google Shape;2217;p108"/>
          <p:cNvCxnSpPr>
            <a:stCxn id="2205" idx="4"/>
            <a:endCxn id="2213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8" name="Google Shape;2218;p108"/>
          <p:cNvCxnSpPr>
            <a:stCxn id="2198" idx="0"/>
            <a:endCxn id="2208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9" name="Google Shape;2219;p108"/>
          <p:cNvCxnSpPr>
            <a:stCxn id="2208" idx="6"/>
            <a:endCxn id="2213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0" name="Google Shape;2220;p108"/>
          <p:cNvCxnSpPr>
            <a:stCxn id="2205" idx="4"/>
            <a:endCxn id="2208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1" name="Google Shape;2221;p108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22" name="Google Shape;2222;p108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23" name="Google Shape;2223;p108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224" name="Google Shape;2224;p108"/>
          <p:cNvCxnSpPr>
            <a:stCxn id="2223" idx="6"/>
            <a:endCxn id="2222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5" name="Google Shape;2225;p108"/>
          <p:cNvCxnSpPr>
            <a:stCxn id="2223" idx="0"/>
            <a:endCxn id="2207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6" name="Google Shape;2226;p108"/>
          <p:cNvCxnSpPr>
            <a:stCxn id="2198" idx="5"/>
            <a:endCxn id="2221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7" name="Google Shape;2227;p108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28" name="Google Shape;2228;p108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29" name="Google Shape;2229;p108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230" name="Google Shape;2230;p108"/>
          <p:cNvCxnSpPr>
            <a:stCxn id="2223" idx="6"/>
            <a:endCxn id="2229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1" name="Google Shape;2231;p108"/>
          <p:cNvCxnSpPr>
            <a:stCxn id="2223" idx="5"/>
            <a:endCxn id="2228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2" name="Google Shape;2232;p108"/>
          <p:cNvCxnSpPr>
            <a:stCxn id="2223" idx="7"/>
            <a:endCxn id="2227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6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p109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nodes are </a:t>
            </a:r>
            <a:r>
              <a:rPr b="1" lang="en"/>
              <a:t>automorphically equivalent: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they can be exchanged for one another without changing </a:t>
            </a:r>
            <a:r>
              <a:rPr lang="en"/>
              <a:t>anything</a:t>
            </a:r>
            <a:r>
              <a:rPr lang="en"/>
              <a:t> in the graph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Even when not connected to the </a:t>
            </a:r>
            <a:r>
              <a:rPr i="1" lang="en"/>
              <a:t>same</a:t>
            </a:r>
            <a:r>
              <a:rPr lang="en"/>
              <a:t> others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we can put the </a:t>
            </a:r>
            <a:r>
              <a:rPr b="1" lang="en">
                <a:solidFill>
                  <a:schemeClr val="accent5"/>
                </a:solidFill>
              </a:rPr>
              <a:t>green </a:t>
            </a:r>
            <a:r>
              <a:rPr lang="en"/>
              <a:t>and brown </a:t>
            </a:r>
            <a:r>
              <a:rPr b="1" lang="en">
                <a:solidFill>
                  <a:schemeClr val="accent1"/>
                </a:solidFill>
              </a:rPr>
              <a:t>nodes</a:t>
            </a:r>
            <a:r>
              <a:rPr lang="en"/>
              <a:t> in the same </a:t>
            </a:r>
            <a:r>
              <a:rPr b="1" lang="en">
                <a:solidFill>
                  <a:srgbClr val="FF0000"/>
                </a:solidFill>
              </a:rPr>
              <a:t>class </a:t>
            </a:r>
            <a:r>
              <a:rPr lang="en"/>
              <a:t>of automorphically equivalent nodes</a:t>
            </a:r>
            <a:endParaRPr/>
          </a:p>
        </p:txBody>
      </p:sp>
      <p:sp>
        <p:nvSpPr>
          <p:cNvPr id="2238" name="Google Shape;2238;p10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2239" name="Google Shape;2239;p109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40" name="Google Shape;2240;p109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41" name="Google Shape;2241;p109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42" name="Google Shape;2242;p109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243" name="Google Shape;2243;p109"/>
          <p:cNvCxnSpPr>
            <a:stCxn id="2239" idx="3"/>
            <a:endCxn id="2240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4" name="Google Shape;2244;p109"/>
          <p:cNvCxnSpPr>
            <a:stCxn id="2239" idx="4"/>
            <a:endCxn id="2241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5" name="Google Shape;2245;p109"/>
          <p:cNvCxnSpPr>
            <a:stCxn id="2239" idx="4"/>
            <a:endCxn id="2242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6" name="Google Shape;2246;p109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47" name="Google Shape;2247;p109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48" name="Google Shape;2248;p109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49" name="Google Shape;2249;p109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250" name="Google Shape;2250;p109"/>
          <p:cNvCxnSpPr>
            <a:stCxn id="2246" idx="3"/>
            <a:endCxn id="2247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1" name="Google Shape;2251;p109"/>
          <p:cNvCxnSpPr>
            <a:stCxn id="2249" idx="0"/>
            <a:endCxn id="2247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2" name="Google Shape;2252;p109"/>
          <p:cNvCxnSpPr>
            <a:stCxn id="2246" idx="5"/>
            <a:endCxn id="2248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3" name="Google Shape;2253;p109"/>
          <p:cNvCxnSpPr>
            <a:stCxn id="2248" idx="2"/>
            <a:endCxn id="2247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4" name="Google Shape;2254;p109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255" name="Google Shape;2255;p109"/>
          <p:cNvCxnSpPr>
            <a:stCxn id="2254" idx="0"/>
            <a:endCxn id="2247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6" name="Google Shape;2256;p109"/>
          <p:cNvCxnSpPr>
            <a:stCxn id="2248" idx="3"/>
            <a:endCxn id="2249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7" name="Google Shape;2257;p109"/>
          <p:cNvCxnSpPr>
            <a:stCxn id="2248" idx="3"/>
            <a:endCxn id="2254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8" name="Google Shape;2258;p109"/>
          <p:cNvCxnSpPr>
            <a:stCxn id="2246" idx="4"/>
            <a:endCxn id="2254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9" name="Google Shape;2259;p109"/>
          <p:cNvCxnSpPr>
            <a:stCxn id="2239" idx="0"/>
            <a:endCxn id="2249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0" name="Google Shape;2260;p109"/>
          <p:cNvCxnSpPr>
            <a:stCxn id="2249" idx="6"/>
            <a:endCxn id="2254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1" name="Google Shape;2261;p109"/>
          <p:cNvCxnSpPr>
            <a:stCxn id="2246" idx="4"/>
            <a:endCxn id="2249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2" name="Google Shape;2262;p109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63" name="Google Shape;2263;p109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64" name="Google Shape;2264;p109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265" name="Google Shape;2265;p109"/>
          <p:cNvCxnSpPr>
            <a:stCxn id="2264" idx="6"/>
            <a:endCxn id="2263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6" name="Google Shape;2266;p109"/>
          <p:cNvCxnSpPr>
            <a:stCxn id="2264" idx="0"/>
            <a:endCxn id="2248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7" name="Google Shape;2267;p109"/>
          <p:cNvCxnSpPr>
            <a:stCxn id="2239" idx="5"/>
            <a:endCxn id="2262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8" name="Google Shape;2268;p109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69" name="Google Shape;2269;p109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70" name="Google Shape;2270;p109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271" name="Google Shape;2271;p109"/>
          <p:cNvCxnSpPr>
            <a:stCxn id="2264" idx="6"/>
            <a:endCxn id="2270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2" name="Google Shape;2272;p109"/>
          <p:cNvCxnSpPr>
            <a:stCxn id="2264" idx="5"/>
            <a:endCxn id="2269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3" name="Google Shape;2273;p109"/>
          <p:cNvCxnSpPr>
            <a:stCxn id="2264" idx="7"/>
            <a:endCxn id="2268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110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Equivalence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2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11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284" name="Google Shape;2284;p111"/>
          <p:cNvSpPr txBox="1"/>
          <p:nvPr>
            <p:ph idx="1" type="body"/>
          </p:nvPr>
        </p:nvSpPr>
        <p:spPr>
          <a:xfrm>
            <a:off x="311700" y="1225239"/>
            <a:ext cx="5029200" cy="33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Intuition: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people</a:t>
            </a:r>
            <a:r>
              <a:rPr lang="en"/>
              <a:t> are regularly equivalent if they are </a:t>
            </a:r>
            <a:r>
              <a:rPr b="1" lang="en"/>
              <a:t>friends</a:t>
            </a:r>
            <a:r>
              <a:rPr lang="en"/>
              <a:t> with the </a:t>
            </a:r>
            <a:r>
              <a:rPr i="1" lang="en"/>
              <a:t>equivalent</a:t>
            </a:r>
            <a:r>
              <a:rPr lang="en"/>
              <a:t> sets of </a:t>
            </a:r>
            <a:r>
              <a:rPr b="1" lang="en"/>
              <a:t>people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papers</a:t>
            </a:r>
            <a:r>
              <a:rPr lang="en"/>
              <a:t> are regularly equivalent if they </a:t>
            </a:r>
            <a:r>
              <a:rPr b="1" lang="en"/>
              <a:t>cite</a:t>
            </a:r>
            <a:r>
              <a:rPr lang="en"/>
              <a:t> an </a:t>
            </a:r>
            <a:r>
              <a:rPr i="1" lang="en"/>
              <a:t>equivalent </a:t>
            </a:r>
            <a:r>
              <a:rPr lang="en"/>
              <a:t>sets of other </a:t>
            </a:r>
            <a:r>
              <a:rPr b="1" lang="en"/>
              <a:t>papers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species</a:t>
            </a:r>
            <a:r>
              <a:rPr lang="en"/>
              <a:t> are regularly equivalent if they </a:t>
            </a:r>
            <a:r>
              <a:rPr b="1" lang="en"/>
              <a:t>feed</a:t>
            </a:r>
            <a:r>
              <a:rPr lang="en"/>
              <a:t> on </a:t>
            </a:r>
            <a:r>
              <a:rPr i="1" lang="en"/>
              <a:t>equivalent </a:t>
            </a:r>
            <a:r>
              <a:rPr lang="en"/>
              <a:t>sets of </a:t>
            </a:r>
            <a:r>
              <a:rPr b="1" lang="en"/>
              <a:t>prey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clubs</a:t>
            </a:r>
            <a:r>
              <a:rPr lang="en"/>
              <a:t> are regularly equivalent if they </a:t>
            </a:r>
            <a:r>
              <a:rPr b="1" lang="en"/>
              <a:t>share</a:t>
            </a:r>
            <a:r>
              <a:rPr lang="en"/>
              <a:t> </a:t>
            </a:r>
            <a:r>
              <a:rPr i="1" lang="en"/>
              <a:t>equivalent</a:t>
            </a:r>
            <a:r>
              <a:rPr lang="en"/>
              <a:t> sets of </a:t>
            </a:r>
            <a:r>
              <a:rPr b="1" lang="en"/>
              <a:t>members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</a:t>
            </a:r>
            <a:r>
              <a:rPr b="1" lang="en"/>
              <a:t>countries</a:t>
            </a:r>
            <a:r>
              <a:rPr lang="en"/>
              <a:t> are regularly equivalent if they </a:t>
            </a:r>
            <a:r>
              <a:rPr b="1" lang="en"/>
              <a:t>trade</a:t>
            </a:r>
            <a:r>
              <a:rPr lang="en"/>
              <a:t> with </a:t>
            </a:r>
            <a:r>
              <a:rPr i="1" lang="en"/>
              <a:t>equivalent </a:t>
            </a:r>
            <a:r>
              <a:rPr lang="en"/>
              <a:t>sets of </a:t>
            </a:r>
            <a:r>
              <a:rPr b="1" lang="en"/>
              <a:t>countries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p111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86" name="Google Shape;2286;p111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87" name="Google Shape;2287;p111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88" name="Google Shape;2288;p111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289" name="Google Shape;2289;p111"/>
          <p:cNvCxnSpPr>
            <a:stCxn id="2285" idx="3"/>
            <a:endCxn id="2286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0" name="Google Shape;2290;p111"/>
          <p:cNvCxnSpPr>
            <a:stCxn id="2285" idx="4"/>
            <a:endCxn id="2287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1" name="Google Shape;2291;p111"/>
          <p:cNvCxnSpPr>
            <a:stCxn id="2285" idx="4"/>
            <a:endCxn id="2288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2" name="Google Shape;2292;p111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93" name="Google Shape;2293;p111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94" name="Google Shape;2294;p111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95" name="Google Shape;2295;p111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296" name="Google Shape;2296;p111"/>
          <p:cNvCxnSpPr>
            <a:stCxn id="2292" idx="3"/>
            <a:endCxn id="2293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7" name="Google Shape;2297;p111"/>
          <p:cNvCxnSpPr>
            <a:stCxn id="2295" idx="0"/>
            <a:endCxn id="2293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8" name="Google Shape;2298;p111"/>
          <p:cNvCxnSpPr>
            <a:stCxn id="2292" idx="5"/>
            <a:endCxn id="2294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9" name="Google Shape;2299;p111"/>
          <p:cNvCxnSpPr>
            <a:stCxn id="2294" idx="2"/>
            <a:endCxn id="2293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0" name="Google Shape;2300;p111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301" name="Google Shape;2301;p111"/>
          <p:cNvCxnSpPr>
            <a:stCxn id="2300" idx="0"/>
            <a:endCxn id="2293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2" name="Google Shape;2302;p111"/>
          <p:cNvCxnSpPr>
            <a:stCxn id="2294" idx="3"/>
            <a:endCxn id="2295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3" name="Google Shape;2303;p111"/>
          <p:cNvCxnSpPr>
            <a:stCxn id="2294" idx="3"/>
            <a:endCxn id="2300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4" name="Google Shape;2304;p111"/>
          <p:cNvCxnSpPr>
            <a:stCxn id="2292" idx="4"/>
            <a:endCxn id="2300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5" name="Google Shape;2305;p111"/>
          <p:cNvCxnSpPr>
            <a:stCxn id="2285" idx="0"/>
            <a:endCxn id="2295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6" name="Google Shape;2306;p111"/>
          <p:cNvCxnSpPr>
            <a:stCxn id="2295" idx="6"/>
            <a:endCxn id="2300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7" name="Google Shape;2307;p111"/>
          <p:cNvCxnSpPr>
            <a:stCxn id="2292" idx="4"/>
            <a:endCxn id="2295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08" name="Google Shape;2308;p111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09" name="Google Shape;2309;p111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10" name="Google Shape;2310;p111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311" name="Google Shape;2311;p111"/>
          <p:cNvCxnSpPr>
            <a:stCxn id="2310" idx="6"/>
            <a:endCxn id="2309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2" name="Google Shape;2312;p111"/>
          <p:cNvCxnSpPr>
            <a:stCxn id="2310" idx="0"/>
            <a:endCxn id="2294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3" name="Google Shape;2313;p111"/>
          <p:cNvCxnSpPr>
            <a:stCxn id="2285" idx="5"/>
            <a:endCxn id="2308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4" name="Google Shape;2314;p111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15" name="Google Shape;2315;p111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16" name="Google Shape;2316;p111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317" name="Google Shape;2317;p111"/>
          <p:cNvCxnSpPr>
            <a:stCxn id="2310" idx="6"/>
            <a:endCxn id="2316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8" name="Google Shape;2318;p111"/>
          <p:cNvCxnSpPr>
            <a:stCxn id="2310" idx="5"/>
            <a:endCxn id="2315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9" name="Google Shape;2319;p111"/>
          <p:cNvCxnSpPr>
            <a:stCxn id="2310" idx="7"/>
            <a:endCxn id="2314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112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nodes are </a:t>
            </a:r>
            <a:r>
              <a:rPr b="1" lang="en"/>
              <a:t>regularly equivalent: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they are connected to role-equivalent others</a:t>
            </a:r>
            <a:endParaRPr/>
          </a:p>
        </p:txBody>
      </p:sp>
      <p:sp>
        <p:nvSpPr>
          <p:cNvPr id="2325" name="Google Shape;2325;p1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326" name="Google Shape;2326;p112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27" name="Google Shape;2327;p112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28" name="Google Shape;2328;p112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29" name="Google Shape;2329;p112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330" name="Google Shape;2330;p112"/>
          <p:cNvCxnSpPr>
            <a:stCxn id="2326" idx="3"/>
            <a:endCxn id="2327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1" name="Google Shape;2331;p112"/>
          <p:cNvCxnSpPr>
            <a:stCxn id="2326" idx="4"/>
            <a:endCxn id="2328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2" name="Google Shape;2332;p112"/>
          <p:cNvCxnSpPr>
            <a:stCxn id="2326" idx="4"/>
            <a:endCxn id="2329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3" name="Google Shape;2333;p112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34" name="Google Shape;2334;p112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35" name="Google Shape;2335;p112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36" name="Google Shape;2336;p112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337" name="Google Shape;2337;p112"/>
          <p:cNvCxnSpPr>
            <a:stCxn id="2333" idx="3"/>
            <a:endCxn id="2334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8" name="Google Shape;2338;p112"/>
          <p:cNvCxnSpPr>
            <a:stCxn id="2336" idx="0"/>
            <a:endCxn id="2334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9" name="Google Shape;2339;p112"/>
          <p:cNvCxnSpPr>
            <a:stCxn id="2333" idx="5"/>
            <a:endCxn id="2335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0" name="Google Shape;2340;p112"/>
          <p:cNvCxnSpPr>
            <a:stCxn id="2335" idx="2"/>
            <a:endCxn id="2334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1" name="Google Shape;2341;p112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342" name="Google Shape;2342;p112"/>
          <p:cNvCxnSpPr>
            <a:stCxn id="2341" idx="0"/>
            <a:endCxn id="2334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3" name="Google Shape;2343;p112"/>
          <p:cNvCxnSpPr>
            <a:stCxn id="2335" idx="3"/>
            <a:endCxn id="2336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4" name="Google Shape;2344;p112"/>
          <p:cNvCxnSpPr>
            <a:stCxn id="2335" idx="3"/>
            <a:endCxn id="2341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5" name="Google Shape;2345;p112"/>
          <p:cNvCxnSpPr>
            <a:stCxn id="2333" idx="4"/>
            <a:endCxn id="2341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6" name="Google Shape;2346;p112"/>
          <p:cNvCxnSpPr>
            <a:stCxn id="2326" idx="0"/>
            <a:endCxn id="2336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7" name="Google Shape;2347;p112"/>
          <p:cNvCxnSpPr>
            <a:stCxn id="2336" idx="6"/>
            <a:endCxn id="2341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8" name="Google Shape;2348;p112"/>
          <p:cNvCxnSpPr>
            <a:stCxn id="2333" idx="4"/>
            <a:endCxn id="2336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9" name="Google Shape;2349;p112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50" name="Google Shape;2350;p112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51" name="Google Shape;2351;p112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352" name="Google Shape;2352;p112"/>
          <p:cNvCxnSpPr>
            <a:stCxn id="2351" idx="6"/>
            <a:endCxn id="2350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3" name="Google Shape;2353;p112"/>
          <p:cNvCxnSpPr>
            <a:stCxn id="2351" idx="0"/>
            <a:endCxn id="2335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4" name="Google Shape;2354;p112"/>
          <p:cNvCxnSpPr>
            <a:stCxn id="2326" idx="5"/>
            <a:endCxn id="2349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5" name="Google Shape;2355;p112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56" name="Google Shape;2356;p112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57" name="Google Shape;2357;p112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358" name="Google Shape;2358;p112"/>
          <p:cNvCxnSpPr>
            <a:stCxn id="2351" idx="6"/>
            <a:endCxn id="2357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9" name="Google Shape;2359;p112"/>
          <p:cNvCxnSpPr>
            <a:stCxn id="2351" idx="5"/>
            <a:endCxn id="2356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0" name="Google Shape;2360;p112"/>
          <p:cNvCxnSpPr>
            <a:stCxn id="2351" idx="7"/>
            <a:endCxn id="2355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4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p113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nodes are </a:t>
            </a:r>
            <a:r>
              <a:rPr b="1" lang="en"/>
              <a:t>regularly equivalent: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they are connected to role-equivalent others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B and K are connected to role-equivalent others (red nodes)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Therefore they are regularly equivalent</a:t>
            </a:r>
            <a:endParaRPr/>
          </a:p>
        </p:txBody>
      </p:sp>
      <p:sp>
        <p:nvSpPr>
          <p:cNvPr id="2366" name="Google Shape;2366;p1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367" name="Google Shape;2367;p113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68" name="Google Shape;2368;p113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69" name="Google Shape;2369;p113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70" name="Google Shape;2370;p113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371" name="Google Shape;2371;p113"/>
          <p:cNvCxnSpPr>
            <a:stCxn id="2367" idx="3"/>
            <a:endCxn id="2368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2" name="Google Shape;2372;p113"/>
          <p:cNvCxnSpPr>
            <a:stCxn id="2367" idx="4"/>
            <a:endCxn id="2369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3" name="Google Shape;2373;p113"/>
          <p:cNvCxnSpPr>
            <a:stCxn id="2367" idx="4"/>
            <a:endCxn id="2370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4" name="Google Shape;2374;p113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75" name="Google Shape;2375;p113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76" name="Google Shape;2376;p113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77" name="Google Shape;2377;p113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378" name="Google Shape;2378;p113"/>
          <p:cNvCxnSpPr>
            <a:stCxn id="2374" idx="3"/>
            <a:endCxn id="2375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9" name="Google Shape;2379;p113"/>
          <p:cNvCxnSpPr>
            <a:stCxn id="2377" idx="0"/>
            <a:endCxn id="2375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0" name="Google Shape;2380;p113"/>
          <p:cNvCxnSpPr>
            <a:stCxn id="2374" idx="5"/>
            <a:endCxn id="2376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1" name="Google Shape;2381;p113"/>
          <p:cNvCxnSpPr>
            <a:stCxn id="2376" idx="2"/>
            <a:endCxn id="2375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2" name="Google Shape;2382;p113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383" name="Google Shape;2383;p113"/>
          <p:cNvCxnSpPr>
            <a:stCxn id="2382" idx="0"/>
            <a:endCxn id="2375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4" name="Google Shape;2384;p113"/>
          <p:cNvCxnSpPr>
            <a:stCxn id="2376" idx="3"/>
            <a:endCxn id="2377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5" name="Google Shape;2385;p113"/>
          <p:cNvCxnSpPr>
            <a:stCxn id="2376" idx="3"/>
            <a:endCxn id="2382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6" name="Google Shape;2386;p113"/>
          <p:cNvCxnSpPr>
            <a:stCxn id="2374" idx="4"/>
            <a:endCxn id="2382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7" name="Google Shape;2387;p113"/>
          <p:cNvCxnSpPr>
            <a:stCxn id="2367" idx="0"/>
            <a:endCxn id="2377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8" name="Google Shape;2388;p113"/>
          <p:cNvCxnSpPr>
            <a:stCxn id="2377" idx="6"/>
            <a:endCxn id="2382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9" name="Google Shape;2389;p113"/>
          <p:cNvCxnSpPr>
            <a:stCxn id="2374" idx="4"/>
            <a:endCxn id="2377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0" name="Google Shape;2390;p113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91" name="Google Shape;2391;p113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92" name="Google Shape;2392;p113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393" name="Google Shape;2393;p113"/>
          <p:cNvCxnSpPr>
            <a:stCxn id="2392" idx="6"/>
            <a:endCxn id="2391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4" name="Google Shape;2394;p113"/>
          <p:cNvCxnSpPr>
            <a:stCxn id="2392" idx="0"/>
            <a:endCxn id="2376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5" name="Google Shape;2395;p113"/>
          <p:cNvCxnSpPr>
            <a:stCxn id="2367" idx="5"/>
            <a:endCxn id="2390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6" name="Google Shape;2396;p113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97" name="Google Shape;2397;p113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98" name="Google Shape;2398;p113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399" name="Google Shape;2399;p113"/>
          <p:cNvCxnSpPr>
            <a:stCxn id="2392" idx="6"/>
            <a:endCxn id="2398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0" name="Google Shape;2400;p113"/>
          <p:cNvCxnSpPr>
            <a:stCxn id="2392" idx="5"/>
            <a:endCxn id="2397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1" name="Google Shape;2401;p113"/>
          <p:cNvCxnSpPr>
            <a:stCxn id="2392" idx="7"/>
            <a:endCxn id="2396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p114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nodes are </a:t>
            </a:r>
            <a:r>
              <a:rPr b="1" lang="en"/>
              <a:t>regularly equivalent: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they are connected to role-equivalent others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B and K are connected to role-equivalent others (red nodes)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Therefore they are regularly equivalent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note that now nodes J and G are </a:t>
            </a:r>
            <a:r>
              <a:rPr i="1" lang="en"/>
              <a:t>also</a:t>
            </a:r>
            <a:r>
              <a:rPr lang="en"/>
              <a:t> connected to role equivalent others! (orange and dark gray nodes)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7" name="Google Shape;2407;p1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408" name="Google Shape;2408;p114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09" name="Google Shape;2409;p114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10" name="Google Shape;2410;p114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11" name="Google Shape;2411;p114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412" name="Google Shape;2412;p114"/>
          <p:cNvCxnSpPr>
            <a:stCxn id="2408" idx="3"/>
            <a:endCxn id="2409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3" name="Google Shape;2413;p114"/>
          <p:cNvCxnSpPr>
            <a:stCxn id="2408" idx="4"/>
            <a:endCxn id="2410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4" name="Google Shape;2414;p114"/>
          <p:cNvCxnSpPr>
            <a:stCxn id="2408" idx="4"/>
            <a:endCxn id="2411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5" name="Google Shape;2415;p114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16" name="Google Shape;2416;p114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17" name="Google Shape;2417;p114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18" name="Google Shape;2418;p114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CCA6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419" name="Google Shape;2419;p114"/>
          <p:cNvCxnSpPr>
            <a:stCxn id="2415" idx="3"/>
            <a:endCxn id="2416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0" name="Google Shape;2420;p114"/>
          <p:cNvCxnSpPr>
            <a:stCxn id="2418" idx="0"/>
            <a:endCxn id="2416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1" name="Google Shape;2421;p114"/>
          <p:cNvCxnSpPr>
            <a:stCxn id="2415" idx="5"/>
            <a:endCxn id="2417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2" name="Google Shape;2422;p114"/>
          <p:cNvCxnSpPr>
            <a:stCxn id="2417" idx="2"/>
            <a:endCxn id="2416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3" name="Google Shape;2423;p114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424" name="Google Shape;2424;p114"/>
          <p:cNvCxnSpPr>
            <a:stCxn id="2423" idx="0"/>
            <a:endCxn id="2416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5" name="Google Shape;2425;p114"/>
          <p:cNvCxnSpPr>
            <a:stCxn id="2417" idx="3"/>
            <a:endCxn id="2418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6" name="Google Shape;2426;p114"/>
          <p:cNvCxnSpPr>
            <a:stCxn id="2417" idx="3"/>
            <a:endCxn id="2423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7" name="Google Shape;2427;p114"/>
          <p:cNvCxnSpPr>
            <a:stCxn id="2415" idx="4"/>
            <a:endCxn id="2423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8" name="Google Shape;2428;p114"/>
          <p:cNvCxnSpPr>
            <a:stCxn id="2408" idx="0"/>
            <a:endCxn id="2418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9" name="Google Shape;2429;p114"/>
          <p:cNvCxnSpPr>
            <a:stCxn id="2418" idx="6"/>
            <a:endCxn id="2423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0" name="Google Shape;2430;p114"/>
          <p:cNvCxnSpPr>
            <a:stCxn id="2415" idx="4"/>
            <a:endCxn id="2418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1" name="Google Shape;2431;p114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32" name="Google Shape;2432;p114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33" name="Google Shape;2433;p114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434" name="Google Shape;2434;p114"/>
          <p:cNvCxnSpPr>
            <a:stCxn id="2433" idx="6"/>
            <a:endCxn id="2432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5" name="Google Shape;2435;p114"/>
          <p:cNvCxnSpPr>
            <a:stCxn id="2433" idx="0"/>
            <a:endCxn id="2417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6" name="Google Shape;2436;p114"/>
          <p:cNvCxnSpPr>
            <a:stCxn id="2408" idx="5"/>
            <a:endCxn id="2431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7" name="Google Shape;2437;p114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38" name="Google Shape;2438;p114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39" name="Google Shape;2439;p114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440" name="Google Shape;2440;p114"/>
          <p:cNvCxnSpPr>
            <a:stCxn id="2433" idx="6"/>
            <a:endCxn id="2439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1" name="Google Shape;2441;p114"/>
          <p:cNvCxnSpPr>
            <a:stCxn id="2433" idx="5"/>
            <a:endCxn id="2438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2" name="Google Shape;2442;p114"/>
          <p:cNvCxnSpPr>
            <a:stCxn id="2433" idx="7"/>
            <a:endCxn id="2437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6" name="Shape 2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115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nodes are </a:t>
            </a:r>
            <a:r>
              <a:rPr b="1" lang="en"/>
              <a:t>regularly equivalent: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they are connected to role-equivalent others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B and K are connected to role-equivalent others (red nodes)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Therefore they are regularly equivalent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note that now nodes J and G are </a:t>
            </a:r>
            <a:r>
              <a:rPr i="1" lang="en"/>
              <a:t>also</a:t>
            </a:r>
            <a:r>
              <a:rPr lang="en"/>
              <a:t> connected to role equivalent others! (orange and dark gray nodes)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Therefore they are also regularly equivalent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8" name="Google Shape;2448;p1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449" name="Google Shape;2449;p115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50" name="Google Shape;2450;p115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51" name="Google Shape;2451;p115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52" name="Google Shape;2452;p115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453" name="Google Shape;2453;p115"/>
          <p:cNvCxnSpPr>
            <a:stCxn id="2449" idx="3"/>
            <a:endCxn id="2450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4" name="Google Shape;2454;p115"/>
          <p:cNvCxnSpPr>
            <a:stCxn id="2449" idx="4"/>
            <a:endCxn id="2451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5" name="Google Shape;2455;p115"/>
          <p:cNvCxnSpPr>
            <a:stCxn id="2449" idx="4"/>
            <a:endCxn id="2452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6" name="Google Shape;2456;p115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57" name="Google Shape;2457;p115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58" name="Google Shape;2458;p115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59" name="Google Shape;2459;p115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460" name="Google Shape;2460;p115"/>
          <p:cNvCxnSpPr>
            <a:stCxn id="2456" idx="3"/>
            <a:endCxn id="2457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1" name="Google Shape;2461;p115"/>
          <p:cNvCxnSpPr>
            <a:stCxn id="2459" idx="0"/>
            <a:endCxn id="2457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2" name="Google Shape;2462;p115"/>
          <p:cNvCxnSpPr>
            <a:stCxn id="2456" idx="5"/>
            <a:endCxn id="2458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3" name="Google Shape;2463;p115"/>
          <p:cNvCxnSpPr>
            <a:stCxn id="2458" idx="2"/>
            <a:endCxn id="2457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4" name="Google Shape;2464;p115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465" name="Google Shape;2465;p115"/>
          <p:cNvCxnSpPr>
            <a:stCxn id="2464" idx="0"/>
            <a:endCxn id="2457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6" name="Google Shape;2466;p115"/>
          <p:cNvCxnSpPr>
            <a:stCxn id="2458" idx="3"/>
            <a:endCxn id="2459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7" name="Google Shape;2467;p115"/>
          <p:cNvCxnSpPr>
            <a:stCxn id="2458" idx="3"/>
            <a:endCxn id="2464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8" name="Google Shape;2468;p115"/>
          <p:cNvCxnSpPr>
            <a:stCxn id="2456" idx="4"/>
            <a:endCxn id="2464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9" name="Google Shape;2469;p115"/>
          <p:cNvCxnSpPr>
            <a:stCxn id="2449" idx="0"/>
            <a:endCxn id="2459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0" name="Google Shape;2470;p115"/>
          <p:cNvCxnSpPr>
            <a:stCxn id="2459" idx="6"/>
            <a:endCxn id="2464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1" name="Google Shape;2471;p115"/>
          <p:cNvCxnSpPr>
            <a:stCxn id="2456" idx="4"/>
            <a:endCxn id="2459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2" name="Google Shape;2472;p115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73" name="Google Shape;2473;p115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74" name="Google Shape;2474;p115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475" name="Google Shape;2475;p115"/>
          <p:cNvCxnSpPr>
            <a:stCxn id="2474" idx="6"/>
            <a:endCxn id="2473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6" name="Google Shape;2476;p115"/>
          <p:cNvCxnSpPr>
            <a:stCxn id="2474" idx="0"/>
            <a:endCxn id="2458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7" name="Google Shape;2477;p115"/>
          <p:cNvCxnSpPr>
            <a:stCxn id="2449" idx="5"/>
            <a:endCxn id="2472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8" name="Google Shape;2478;p115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79" name="Google Shape;2479;p115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80" name="Google Shape;2480;p115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481" name="Google Shape;2481;p115"/>
          <p:cNvCxnSpPr>
            <a:stCxn id="2474" idx="6"/>
            <a:endCxn id="2480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2" name="Google Shape;2482;p115"/>
          <p:cNvCxnSpPr>
            <a:stCxn id="2474" idx="5"/>
            <a:endCxn id="2479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3" name="Google Shape;2483;p115"/>
          <p:cNvCxnSpPr>
            <a:stCxn id="2474" idx="7"/>
            <a:endCxn id="2478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7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116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nodes are </a:t>
            </a:r>
            <a:r>
              <a:rPr b="1" lang="en"/>
              <a:t>regularly equivalent: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they are connected to role-equivalent others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in this graph there are </a:t>
            </a:r>
            <a:r>
              <a:rPr b="1" lang="en"/>
              <a:t>four</a:t>
            </a:r>
            <a:r>
              <a:rPr lang="en"/>
              <a:t> positions based on the criterion of regular equivalence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1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490" name="Google Shape;2490;p116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91" name="Google Shape;2491;p116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92" name="Google Shape;2492;p116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93" name="Google Shape;2493;p116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494" name="Google Shape;2494;p116"/>
          <p:cNvCxnSpPr>
            <a:stCxn id="2490" idx="3"/>
            <a:endCxn id="2491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5" name="Google Shape;2495;p116"/>
          <p:cNvCxnSpPr>
            <a:stCxn id="2490" idx="4"/>
            <a:endCxn id="2492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6" name="Google Shape;2496;p116"/>
          <p:cNvCxnSpPr>
            <a:stCxn id="2490" idx="4"/>
            <a:endCxn id="2493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7" name="Google Shape;2497;p116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98" name="Google Shape;2498;p116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499" name="Google Shape;2499;p116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00" name="Google Shape;2500;p116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501" name="Google Shape;2501;p116"/>
          <p:cNvCxnSpPr>
            <a:stCxn id="2497" idx="3"/>
            <a:endCxn id="2498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2" name="Google Shape;2502;p116"/>
          <p:cNvCxnSpPr>
            <a:stCxn id="2500" idx="0"/>
            <a:endCxn id="2498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3" name="Google Shape;2503;p116"/>
          <p:cNvCxnSpPr>
            <a:stCxn id="2497" idx="5"/>
            <a:endCxn id="2499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4" name="Google Shape;2504;p116"/>
          <p:cNvCxnSpPr>
            <a:stCxn id="2499" idx="2"/>
            <a:endCxn id="2498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5" name="Google Shape;2505;p116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506" name="Google Shape;2506;p116"/>
          <p:cNvCxnSpPr>
            <a:stCxn id="2505" idx="0"/>
            <a:endCxn id="2498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7" name="Google Shape;2507;p116"/>
          <p:cNvCxnSpPr>
            <a:stCxn id="2499" idx="3"/>
            <a:endCxn id="2500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8" name="Google Shape;2508;p116"/>
          <p:cNvCxnSpPr>
            <a:stCxn id="2499" idx="3"/>
            <a:endCxn id="2505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9" name="Google Shape;2509;p116"/>
          <p:cNvCxnSpPr>
            <a:stCxn id="2497" idx="4"/>
            <a:endCxn id="2505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0" name="Google Shape;2510;p116"/>
          <p:cNvCxnSpPr>
            <a:stCxn id="2490" idx="0"/>
            <a:endCxn id="2500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1" name="Google Shape;2511;p116"/>
          <p:cNvCxnSpPr>
            <a:stCxn id="2500" idx="6"/>
            <a:endCxn id="2505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2" name="Google Shape;2512;p116"/>
          <p:cNvCxnSpPr>
            <a:stCxn id="2497" idx="4"/>
            <a:endCxn id="2500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3" name="Google Shape;2513;p116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14" name="Google Shape;2514;p116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15" name="Google Shape;2515;p116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516" name="Google Shape;2516;p116"/>
          <p:cNvCxnSpPr>
            <a:stCxn id="2515" idx="6"/>
            <a:endCxn id="2514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7" name="Google Shape;2517;p116"/>
          <p:cNvCxnSpPr>
            <a:stCxn id="2515" idx="0"/>
            <a:endCxn id="2499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8" name="Google Shape;2518;p116"/>
          <p:cNvCxnSpPr>
            <a:stCxn id="2490" idx="5"/>
            <a:endCxn id="2513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9" name="Google Shape;2519;p116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20" name="Google Shape;2520;p116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21" name="Google Shape;2521;p116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522" name="Google Shape;2522;p116"/>
          <p:cNvCxnSpPr>
            <a:stCxn id="2515" idx="6"/>
            <a:endCxn id="2521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3" name="Google Shape;2523;p116"/>
          <p:cNvCxnSpPr>
            <a:stCxn id="2515" idx="5"/>
            <a:endCxn id="2520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4" name="Google Shape;2524;p116"/>
          <p:cNvCxnSpPr>
            <a:stCxn id="2515" idx="7"/>
            <a:endCxn id="2519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5" name="Google Shape;2525;p116"/>
          <p:cNvSpPr/>
          <p:nvPr/>
        </p:nvSpPr>
        <p:spPr>
          <a:xfrm>
            <a:off x="4427025" y="4117825"/>
            <a:ext cx="2926200" cy="789300"/>
          </a:xfrm>
          <a:prstGeom prst="ellipse">
            <a:avLst/>
          </a:prstGeom>
          <a:solidFill>
            <a:srgbClr val="FF0000">
              <a:alpha val="177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26" name="Google Shape;2526;p116"/>
          <p:cNvSpPr/>
          <p:nvPr/>
        </p:nvSpPr>
        <p:spPr>
          <a:xfrm rot="5400000">
            <a:off x="7296925" y="2897350"/>
            <a:ext cx="2926200" cy="668400"/>
          </a:xfrm>
          <a:prstGeom prst="ellipse">
            <a:avLst/>
          </a:prstGeom>
          <a:solidFill>
            <a:srgbClr val="FF0000">
              <a:alpha val="177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27" name="Google Shape;2527;p116"/>
          <p:cNvSpPr/>
          <p:nvPr/>
        </p:nvSpPr>
        <p:spPr>
          <a:xfrm rot="9628596">
            <a:off x="5648011" y="1150971"/>
            <a:ext cx="1852828" cy="2534760"/>
          </a:xfrm>
          <a:prstGeom prst="triangle">
            <a:avLst>
              <a:gd fmla="val 53445" name="adj"/>
            </a:avLst>
          </a:prstGeom>
          <a:solidFill>
            <a:srgbClr val="78909C">
              <a:alpha val="297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28" name="Google Shape;2528;p116"/>
          <p:cNvSpPr/>
          <p:nvPr/>
        </p:nvSpPr>
        <p:spPr>
          <a:xfrm rot="-1296435">
            <a:off x="5111240" y="1943051"/>
            <a:ext cx="2926334" cy="789284"/>
          </a:xfrm>
          <a:prstGeom prst="ellipse">
            <a:avLst/>
          </a:prstGeom>
          <a:solidFill>
            <a:srgbClr val="D200FF">
              <a:alpha val="177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29" name="Google Shape;2529;p116"/>
          <p:cNvSpPr/>
          <p:nvPr/>
        </p:nvSpPr>
        <p:spPr>
          <a:xfrm rot="-899790">
            <a:off x="5220971" y="2893922"/>
            <a:ext cx="2926264" cy="789202"/>
          </a:xfrm>
          <a:prstGeom prst="ellipse">
            <a:avLst/>
          </a:prstGeom>
          <a:solidFill>
            <a:srgbClr val="F4B400">
              <a:alpha val="208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3" name="Shape 2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4" name="Google Shape;2534;p117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three sets of equivalences are nested: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</a:t>
            </a:r>
            <a:r>
              <a:rPr b="1" lang="en"/>
              <a:t>structurally equivalent</a:t>
            </a:r>
            <a:r>
              <a:rPr lang="en"/>
              <a:t> nodes are also </a:t>
            </a:r>
            <a:r>
              <a:rPr b="1" lang="en"/>
              <a:t>automorphically equivalent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two nodes have the same neighbors they can be locally exchanged </a:t>
            </a:r>
            <a:r>
              <a:rPr lang="en"/>
              <a:t>without</a:t>
            </a:r>
            <a:r>
              <a:rPr lang="en"/>
              <a:t> changing anything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p1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536" name="Google Shape;2536;p117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37" name="Google Shape;2537;p117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38" name="Google Shape;2538;p117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39" name="Google Shape;2539;p117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540" name="Google Shape;2540;p117"/>
          <p:cNvCxnSpPr>
            <a:stCxn id="2536" idx="3"/>
            <a:endCxn id="2537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1" name="Google Shape;2541;p117"/>
          <p:cNvCxnSpPr>
            <a:stCxn id="2536" idx="4"/>
            <a:endCxn id="2538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2" name="Google Shape;2542;p117"/>
          <p:cNvCxnSpPr>
            <a:stCxn id="2536" idx="4"/>
            <a:endCxn id="2539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3" name="Google Shape;2543;p117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44" name="Google Shape;2544;p117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45" name="Google Shape;2545;p117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46" name="Google Shape;2546;p117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547" name="Google Shape;2547;p117"/>
          <p:cNvCxnSpPr>
            <a:stCxn id="2543" idx="3"/>
            <a:endCxn id="2544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8" name="Google Shape;2548;p117"/>
          <p:cNvCxnSpPr>
            <a:stCxn id="2546" idx="0"/>
            <a:endCxn id="2544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9" name="Google Shape;2549;p117"/>
          <p:cNvCxnSpPr>
            <a:stCxn id="2543" idx="5"/>
            <a:endCxn id="2545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0" name="Google Shape;2550;p117"/>
          <p:cNvCxnSpPr>
            <a:stCxn id="2545" idx="2"/>
            <a:endCxn id="2544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1" name="Google Shape;2551;p117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552" name="Google Shape;2552;p117"/>
          <p:cNvCxnSpPr>
            <a:stCxn id="2551" idx="0"/>
            <a:endCxn id="2544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3" name="Google Shape;2553;p117"/>
          <p:cNvCxnSpPr>
            <a:stCxn id="2545" idx="3"/>
            <a:endCxn id="2546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4" name="Google Shape;2554;p117"/>
          <p:cNvCxnSpPr>
            <a:stCxn id="2545" idx="3"/>
            <a:endCxn id="2551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5" name="Google Shape;2555;p117"/>
          <p:cNvCxnSpPr>
            <a:stCxn id="2543" idx="4"/>
            <a:endCxn id="2551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6" name="Google Shape;2556;p117"/>
          <p:cNvCxnSpPr>
            <a:stCxn id="2536" idx="0"/>
            <a:endCxn id="2546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7" name="Google Shape;2557;p117"/>
          <p:cNvCxnSpPr>
            <a:stCxn id="2546" idx="6"/>
            <a:endCxn id="2551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8" name="Google Shape;2558;p117"/>
          <p:cNvCxnSpPr>
            <a:stCxn id="2543" idx="4"/>
            <a:endCxn id="2546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9" name="Google Shape;2559;p117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60" name="Google Shape;2560;p117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61" name="Google Shape;2561;p117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562" name="Google Shape;2562;p117"/>
          <p:cNvCxnSpPr>
            <a:stCxn id="2561" idx="6"/>
            <a:endCxn id="2560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3" name="Google Shape;2563;p117"/>
          <p:cNvCxnSpPr>
            <a:stCxn id="2561" idx="0"/>
            <a:endCxn id="2545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4" name="Google Shape;2564;p117"/>
          <p:cNvCxnSpPr>
            <a:stCxn id="2536" idx="5"/>
            <a:endCxn id="2559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5" name="Google Shape;2565;p117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66" name="Google Shape;2566;p117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67" name="Google Shape;2567;p117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568" name="Google Shape;2568;p117"/>
          <p:cNvCxnSpPr>
            <a:stCxn id="2561" idx="6"/>
            <a:endCxn id="2567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9" name="Google Shape;2569;p117"/>
          <p:cNvCxnSpPr>
            <a:stCxn id="2561" idx="5"/>
            <a:endCxn id="2566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0" name="Google Shape;2570;p117"/>
          <p:cNvCxnSpPr>
            <a:stCxn id="2561" idx="7"/>
            <a:endCxn id="2565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4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p118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three sets of equivalences are nested: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</a:t>
            </a:r>
            <a:r>
              <a:rPr b="1" lang="en"/>
              <a:t>structurally equivalent</a:t>
            </a:r>
            <a:r>
              <a:rPr lang="en"/>
              <a:t> nodes are also </a:t>
            </a:r>
            <a:r>
              <a:rPr b="1" lang="en"/>
              <a:t>automorphically equivalent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two nodes have the same neighbors they can be locally exchanged without changing anything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6" name="Google Shape;2576;p1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577" name="Google Shape;2577;p118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78" name="Google Shape;2578;p118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79" name="Google Shape;2579;p118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80" name="Google Shape;2580;p118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581" name="Google Shape;2581;p118"/>
          <p:cNvCxnSpPr>
            <a:stCxn id="2577" idx="3"/>
            <a:endCxn id="2578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2" name="Google Shape;2582;p118"/>
          <p:cNvCxnSpPr>
            <a:stCxn id="2577" idx="4"/>
            <a:endCxn id="2579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3" name="Google Shape;2583;p118"/>
          <p:cNvCxnSpPr>
            <a:stCxn id="2577" idx="4"/>
            <a:endCxn id="2580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4" name="Google Shape;2584;p118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85" name="Google Shape;2585;p118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86" name="Google Shape;2586;p118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587" name="Google Shape;2587;p118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588" name="Google Shape;2588;p118"/>
          <p:cNvCxnSpPr>
            <a:stCxn id="2584" idx="3"/>
            <a:endCxn id="2585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9" name="Google Shape;2589;p118"/>
          <p:cNvCxnSpPr>
            <a:stCxn id="2587" idx="0"/>
            <a:endCxn id="2585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0" name="Google Shape;2590;p118"/>
          <p:cNvCxnSpPr>
            <a:stCxn id="2584" idx="5"/>
            <a:endCxn id="2586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1" name="Google Shape;2591;p118"/>
          <p:cNvCxnSpPr>
            <a:stCxn id="2586" idx="2"/>
            <a:endCxn id="2585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2" name="Google Shape;2592;p118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593" name="Google Shape;2593;p118"/>
          <p:cNvCxnSpPr>
            <a:stCxn id="2592" idx="0"/>
            <a:endCxn id="2585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4" name="Google Shape;2594;p118"/>
          <p:cNvCxnSpPr>
            <a:stCxn id="2586" idx="3"/>
            <a:endCxn id="2587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5" name="Google Shape;2595;p118"/>
          <p:cNvCxnSpPr>
            <a:stCxn id="2586" idx="3"/>
            <a:endCxn id="2592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6" name="Google Shape;2596;p118"/>
          <p:cNvCxnSpPr>
            <a:stCxn id="2584" idx="4"/>
            <a:endCxn id="2592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7" name="Google Shape;2597;p118"/>
          <p:cNvCxnSpPr>
            <a:stCxn id="2577" idx="0"/>
            <a:endCxn id="2587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8" name="Google Shape;2598;p118"/>
          <p:cNvCxnSpPr>
            <a:stCxn id="2587" idx="6"/>
            <a:endCxn id="2592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9" name="Google Shape;2599;p118"/>
          <p:cNvCxnSpPr>
            <a:stCxn id="2584" idx="4"/>
            <a:endCxn id="2587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0" name="Google Shape;2600;p118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01" name="Google Shape;2601;p118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02" name="Google Shape;2602;p118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603" name="Google Shape;2603;p118"/>
          <p:cNvCxnSpPr>
            <a:stCxn id="2602" idx="6"/>
            <a:endCxn id="2601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4" name="Google Shape;2604;p118"/>
          <p:cNvCxnSpPr>
            <a:stCxn id="2602" idx="0"/>
            <a:endCxn id="2586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5" name="Google Shape;2605;p118"/>
          <p:cNvCxnSpPr>
            <a:stCxn id="2577" idx="5"/>
            <a:endCxn id="2600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6" name="Google Shape;2606;p118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07" name="Google Shape;2607;p118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08" name="Google Shape;2608;p118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609" name="Google Shape;2609;p118"/>
          <p:cNvCxnSpPr>
            <a:stCxn id="2602" idx="6"/>
            <a:endCxn id="2608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0" name="Google Shape;2610;p118"/>
          <p:cNvCxnSpPr>
            <a:stCxn id="2602" idx="5"/>
            <a:endCxn id="2607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1" name="Google Shape;2611;p118"/>
          <p:cNvCxnSpPr>
            <a:stCxn id="2602" idx="7"/>
            <a:endCxn id="2606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5" name="Shape 2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6" name="Google Shape;2616;p119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three sets of equivalences are nested: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</a:t>
            </a:r>
            <a:r>
              <a:rPr b="1" lang="en"/>
              <a:t>structurally equivalent </a:t>
            </a:r>
            <a:r>
              <a:rPr lang="en"/>
              <a:t>nodes are also </a:t>
            </a:r>
            <a:r>
              <a:rPr b="1" lang="en"/>
              <a:t>automorphically equivalent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two nodes have the same neighbors they can be locally exchanged without changing anything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note that all </a:t>
            </a:r>
            <a:r>
              <a:rPr b="1" lang="en"/>
              <a:t>regularly equivalent </a:t>
            </a:r>
            <a:r>
              <a:rPr lang="en"/>
              <a:t>nodes are also </a:t>
            </a:r>
            <a:r>
              <a:rPr b="1" lang="en"/>
              <a:t>automorphically equivalent</a:t>
            </a:r>
            <a:r>
              <a:rPr lang="en"/>
              <a:t>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1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618" name="Google Shape;2618;p119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19" name="Google Shape;2619;p119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20" name="Google Shape;2620;p119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21" name="Google Shape;2621;p119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622" name="Google Shape;2622;p119"/>
          <p:cNvCxnSpPr>
            <a:stCxn id="2618" idx="3"/>
            <a:endCxn id="2619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3" name="Google Shape;2623;p119"/>
          <p:cNvCxnSpPr>
            <a:stCxn id="2618" idx="4"/>
            <a:endCxn id="2620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4" name="Google Shape;2624;p119"/>
          <p:cNvCxnSpPr>
            <a:stCxn id="2618" idx="4"/>
            <a:endCxn id="2621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5" name="Google Shape;2625;p119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26" name="Google Shape;2626;p119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27" name="Google Shape;2627;p119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28" name="Google Shape;2628;p119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629" name="Google Shape;2629;p119"/>
          <p:cNvCxnSpPr>
            <a:stCxn id="2625" idx="3"/>
            <a:endCxn id="2626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0" name="Google Shape;2630;p119"/>
          <p:cNvCxnSpPr>
            <a:stCxn id="2628" idx="0"/>
            <a:endCxn id="2626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1" name="Google Shape;2631;p119"/>
          <p:cNvCxnSpPr>
            <a:stCxn id="2625" idx="5"/>
            <a:endCxn id="2627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2" name="Google Shape;2632;p119"/>
          <p:cNvCxnSpPr>
            <a:stCxn id="2627" idx="2"/>
            <a:endCxn id="2626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3" name="Google Shape;2633;p119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634" name="Google Shape;2634;p119"/>
          <p:cNvCxnSpPr>
            <a:stCxn id="2633" idx="0"/>
            <a:endCxn id="2626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5" name="Google Shape;2635;p119"/>
          <p:cNvCxnSpPr>
            <a:stCxn id="2627" idx="3"/>
            <a:endCxn id="2628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6" name="Google Shape;2636;p119"/>
          <p:cNvCxnSpPr>
            <a:stCxn id="2627" idx="3"/>
            <a:endCxn id="2633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7" name="Google Shape;2637;p119"/>
          <p:cNvCxnSpPr>
            <a:stCxn id="2625" idx="4"/>
            <a:endCxn id="2633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8" name="Google Shape;2638;p119"/>
          <p:cNvCxnSpPr>
            <a:stCxn id="2618" idx="0"/>
            <a:endCxn id="2628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9" name="Google Shape;2639;p119"/>
          <p:cNvCxnSpPr>
            <a:stCxn id="2628" idx="6"/>
            <a:endCxn id="2633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0" name="Google Shape;2640;p119"/>
          <p:cNvCxnSpPr>
            <a:stCxn id="2625" idx="4"/>
            <a:endCxn id="2628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1" name="Google Shape;2641;p119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42" name="Google Shape;2642;p119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43" name="Google Shape;2643;p119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644" name="Google Shape;2644;p119"/>
          <p:cNvCxnSpPr>
            <a:stCxn id="2643" idx="6"/>
            <a:endCxn id="2642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5" name="Google Shape;2645;p119"/>
          <p:cNvCxnSpPr>
            <a:stCxn id="2643" idx="0"/>
            <a:endCxn id="2627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6" name="Google Shape;2646;p119"/>
          <p:cNvCxnSpPr>
            <a:stCxn id="2618" idx="5"/>
            <a:endCxn id="2641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7" name="Google Shape;2647;p119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48" name="Google Shape;2648;p119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49" name="Google Shape;2649;p119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650" name="Google Shape;2650;p119"/>
          <p:cNvCxnSpPr>
            <a:stCxn id="2643" idx="6"/>
            <a:endCxn id="2649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1" name="Google Shape;2651;p119"/>
          <p:cNvCxnSpPr>
            <a:stCxn id="2643" idx="5"/>
            <a:endCxn id="2648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2" name="Google Shape;2652;p119"/>
          <p:cNvCxnSpPr>
            <a:stCxn id="2643" idx="7"/>
            <a:endCxn id="2647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6" name="Shape 2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7" name="Google Shape;2657;p120"/>
          <p:cNvSpPr txBox="1"/>
          <p:nvPr>
            <p:ph idx="1" type="body"/>
          </p:nvPr>
        </p:nvSpPr>
        <p:spPr>
          <a:xfrm>
            <a:off x="311700" y="1225225"/>
            <a:ext cx="457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three sets of equivalences are nested: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</a:t>
            </a:r>
            <a:r>
              <a:rPr b="1" lang="en"/>
              <a:t>structurally equivalent</a:t>
            </a:r>
            <a:r>
              <a:rPr lang="en"/>
              <a:t> nodes are also </a:t>
            </a:r>
            <a:r>
              <a:rPr b="1" lang="en"/>
              <a:t>automorphically equivalent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two nodes have the same neighbors they can be locally exchanged without changing anything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note that all </a:t>
            </a:r>
            <a:r>
              <a:rPr b="1" lang="en"/>
              <a:t>regularly equivalent </a:t>
            </a:r>
            <a:r>
              <a:rPr lang="en"/>
              <a:t>nodes are also </a:t>
            </a:r>
            <a:r>
              <a:rPr b="1" lang="en"/>
              <a:t>automorphically equivalent</a:t>
            </a:r>
            <a:r>
              <a:rPr lang="en"/>
              <a:t>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We can also exchange them without </a:t>
            </a:r>
            <a:r>
              <a:rPr lang="en"/>
              <a:t>changing</a:t>
            </a:r>
            <a:r>
              <a:rPr lang="en"/>
              <a:t> </a:t>
            </a:r>
            <a:r>
              <a:rPr lang="en"/>
              <a:t>anything</a:t>
            </a:r>
            <a:r>
              <a:rPr lang="en"/>
              <a:t>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p1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2659" name="Google Shape;2659;p120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60" name="Google Shape;2660;p120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61" name="Google Shape;2661;p120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62" name="Google Shape;2662;p120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663" name="Google Shape;2663;p120"/>
          <p:cNvCxnSpPr>
            <a:stCxn id="2659" idx="3"/>
            <a:endCxn id="2660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4" name="Google Shape;2664;p120"/>
          <p:cNvCxnSpPr>
            <a:stCxn id="2659" idx="4"/>
            <a:endCxn id="2661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5" name="Google Shape;2665;p120"/>
          <p:cNvCxnSpPr>
            <a:stCxn id="2659" idx="4"/>
            <a:endCxn id="2662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6" name="Google Shape;2666;p120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67" name="Google Shape;2667;p120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68" name="Google Shape;2668;p120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69" name="Google Shape;2669;p120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670" name="Google Shape;2670;p120"/>
          <p:cNvCxnSpPr>
            <a:stCxn id="2666" idx="3"/>
            <a:endCxn id="2667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1" name="Google Shape;2671;p120"/>
          <p:cNvCxnSpPr>
            <a:stCxn id="2669" idx="0"/>
            <a:endCxn id="2667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2" name="Google Shape;2672;p120"/>
          <p:cNvCxnSpPr>
            <a:stCxn id="2666" idx="5"/>
            <a:endCxn id="2668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3" name="Google Shape;2673;p120"/>
          <p:cNvCxnSpPr>
            <a:stCxn id="2668" idx="2"/>
            <a:endCxn id="2667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4" name="Google Shape;2674;p120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675" name="Google Shape;2675;p120"/>
          <p:cNvCxnSpPr>
            <a:stCxn id="2674" idx="0"/>
            <a:endCxn id="2667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6" name="Google Shape;2676;p120"/>
          <p:cNvCxnSpPr>
            <a:stCxn id="2668" idx="3"/>
            <a:endCxn id="2669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7" name="Google Shape;2677;p120"/>
          <p:cNvCxnSpPr>
            <a:stCxn id="2668" idx="3"/>
            <a:endCxn id="2674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8" name="Google Shape;2678;p120"/>
          <p:cNvCxnSpPr>
            <a:stCxn id="2666" idx="4"/>
            <a:endCxn id="2674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9" name="Google Shape;2679;p120"/>
          <p:cNvCxnSpPr>
            <a:stCxn id="2659" idx="0"/>
            <a:endCxn id="2669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0" name="Google Shape;2680;p120"/>
          <p:cNvCxnSpPr>
            <a:stCxn id="2669" idx="6"/>
            <a:endCxn id="2674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1" name="Google Shape;2681;p120"/>
          <p:cNvCxnSpPr>
            <a:stCxn id="2666" idx="4"/>
            <a:endCxn id="2669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2" name="Google Shape;2682;p120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83" name="Google Shape;2683;p120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84" name="Google Shape;2684;p120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685" name="Google Shape;2685;p120"/>
          <p:cNvCxnSpPr>
            <a:stCxn id="2684" idx="6"/>
            <a:endCxn id="2683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6" name="Google Shape;2686;p120"/>
          <p:cNvCxnSpPr>
            <a:stCxn id="2684" idx="0"/>
            <a:endCxn id="2668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7" name="Google Shape;2687;p120"/>
          <p:cNvCxnSpPr>
            <a:stCxn id="2659" idx="5"/>
            <a:endCxn id="2682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8" name="Google Shape;2688;p120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89" name="Google Shape;2689;p120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690" name="Google Shape;2690;p120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691" name="Google Shape;2691;p120"/>
          <p:cNvCxnSpPr>
            <a:stCxn id="2684" idx="6"/>
            <a:endCxn id="2690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2" name="Google Shape;2692;p120"/>
          <p:cNvCxnSpPr>
            <a:stCxn id="2684" idx="5"/>
            <a:endCxn id="2689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3" name="Google Shape;2693;p120"/>
          <p:cNvCxnSpPr>
            <a:stCxn id="2684" idx="7"/>
            <a:endCxn id="2688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7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p1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2699" name="Google Shape;2699;p121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00" name="Google Shape;2700;p121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01" name="Google Shape;2701;p121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02" name="Google Shape;2702;p121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703" name="Google Shape;2703;p121"/>
          <p:cNvCxnSpPr>
            <a:stCxn id="2699" idx="3"/>
            <a:endCxn id="2700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4" name="Google Shape;2704;p121"/>
          <p:cNvCxnSpPr>
            <a:stCxn id="2699" idx="4"/>
            <a:endCxn id="2701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5" name="Google Shape;2705;p121"/>
          <p:cNvCxnSpPr>
            <a:stCxn id="2699" idx="4"/>
            <a:endCxn id="2702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6" name="Google Shape;2706;p121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07" name="Google Shape;2707;p121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08" name="Google Shape;2708;p121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09" name="Google Shape;2709;p121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710" name="Google Shape;2710;p121"/>
          <p:cNvCxnSpPr>
            <a:stCxn id="2706" idx="3"/>
            <a:endCxn id="2707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1" name="Google Shape;2711;p121"/>
          <p:cNvCxnSpPr>
            <a:stCxn id="2709" idx="0"/>
            <a:endCxn id="2707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2" name="Google Shape;2712;p121"/>
          <p:cNvCxnSpPr>
            <a:stCxn id="2706" idx="5"/>
            <a:endCxn id="2708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3" name="Google Shape;2713;p121"/>
          <p:cNvCxnSpPr>
            <a:stCxn id="2708" idx="2"/>
            <a:endCxn id="2707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4" name="Google Shape;2714;p121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715" name="Google Shape;2715;p121"/>
          <p:cNvCxnSpPr>
            <a:stCxn id="2714" idx="0"/>
            <a:endCxn id="2707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6" name="Google Shape;2716;p121"/>
          <p:cNvCxnSpPr>
            <a:stCxn id="2708" idx="3"/>
            <a:endCxn id="2709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7" name="Google Shape;2717;p121"/>
          <p:cNvCxnSpPr>
            <a:stCxn id="2708" idx="3"/>
            <a:endCxn id="2714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8" name="Google Shape;2718;p121"/>
          <p:cNvCxnSpPr>
            <a:stCxn id="2706" idx="4"/>
            <a:endCxn id="2714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9" name="Google Shape;2719;p121"/>
          <p:cNvCxnSpPr>
            <a:stCxn id="2699" idx="0"/>
            <a:endCxn id="2709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0" name="Google Shape;2720;p121"/>
          <p:cNvCxnSpPr>
            <a:stCxn id="2709" idx="6"/>
            <a:endCxn id="2714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1" name="Google Shape;2721;p121"/>
          <p:cNvCxnSpPr>
            <a:stCxn id="2706" idx="4"/>
            <a:endCxn id="2709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2" name="Google Shape;2722;p121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23" name="Google Shape;2723;p121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24" name="Google Shape;2724;p121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725" name="Google Shape;2725;p121"/>
          <p:cNvCxnSpPr>
            <a:stCxn id="2724" idx="6"/>
            <a:endCxn id="2723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6" name="Google Shape;2726;p121"/>
          <p:cNvCxnSpPr>
            <a:stCxn id="2724" idx="0"/>
            <a:endCxn id="2708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7" name="Google Shape;2727;p121"/>
          <p:cNvCxnSpPr>
            <a:stCxn id="2699" idx="5"/>
            <a:endCxn id="2722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8" name="Google Shape;2728;p121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29" name="Google Shape;2729;p121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30" name="Google Shape;2730;p121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731" name="Google Shape;2731;p121"/>
          <p:cNvCxnSpPr>
            <a:stCxn id="2724" idx="6"/>
            <a:endCxn id="2730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2" name="Google Shape;2732;p121"/>
          <p:cNvCxnSpPr>
            <a:stCxn id="2724" idx="5"/>
            <a:endCxn id="2729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3" name="Google Shape;2733;p121"/>
          <p:cNvCxnSpPr>
            <a:stCxn id="2724" idx="7"/>
            <a:endCxn id="2728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4" name="Google Shape;2734;p121"/>
          <p:cNvSpPr txBox="1"/>
          <p:nvPr/>
        </p:nvSpPr>
        <p:spPr>
          <a:xfrm>
            <a:off x="340650" y="968825"/>
            <a:ext cx="33933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Adjacency Matrix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735" name="Google Shape;2735;p121"/>
          <p:cNvGraphicFramePr/>
          <p:nvPr/>
        </p:nvGraphicFramePr>
        <p:xfrm>
          <a:off x="499950" y="138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</a:tblGrid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 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j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k 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j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k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9" name="Shape 2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0" name="Google Shape;2740;p1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Structural Equivalence </a:t>
            </a:r>
            <a:endParaRPr/>
          </a:p>
        </p:txBody>
      </p:sp>
      <p:sp>
        <p:nvSpPr>
          <p:cNvPr id="2741" name="Google Shape;2741;p122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42" name="Google Shape;2742;p122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43" name="Google Shape;2743;p122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44" name="Google Shape;2744;p122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745" name="Google Shape;2745;p122"/>
          <p:cNvCxnSpPr>
            <a:stCxn id="2741" idx="3"/>
            <a:endCxn id="2742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6" name="Google Shape;2746;p122"/>
          <p:cNvCxnSpPr>
            <a:stCxn id="2741" idx="4"/>
            <a:endCxn id="2743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7" name="Google Shape;2747;p122"/>
          <p:cNvCxnSpPr>
            <a:stCxn id="2741" idx="4"/>
            <a:endCxn id="2744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8" name="Google Shape;2748;p122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49" name="Google Shape;2749;p122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50" name="Google Shape;2750;p122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51" name="Google Shape;2751;p122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752" name="Google Shape;2752;p122"/>
          <p:cNvCxnSpPr>
            <a:stCxn id="2748" idx="3"/>
            <a:endCxn id="2749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3" name="Google Shape;2753;p122"/>
          <p:cNvCxnSpPr>
            <a:stCxn id="2751" idx="0"/>
            <a:endCxn id="2749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4" name="Google Shape;2754;p122"/>
          <p:cNvCxnSpPr>
            <a:stCxn id="2748" idx="5"/>
            <a:endCxn id="2750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5" name="Google Shape;2755;p122"/>
          <p:cNvCxnSpPr>
            <a:stCxn id="2750" idx="2"/>
            <a:endCxn id="2749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6" name="Google Shape;2756;p122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757" name="Google Shape;2757;p122"/>
          <p:cNvCxnSpPr>
            <a:stCxn id="2756" idx="0"/>
            <a:endCxn id="2749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8" name="Google Shape;2758;p122"/>
          <p:cNvCxnSpPr>
            <a:stCxn id="2750" idx="3"/>
            <a:endCxn id="2751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9" name="Google Shape;2759;p122"/>
          <p:cNvCxnSpPr>
            <a:stCxn id="2750" idx="3"/>
            <a:endCxn id="2756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0" name="Google Shape;2760;p122"/>
          <p:cNvCxnSpPr>
            <a:stCxn id="2748" idx="4"/>
            <a:endCxn id="2756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1" name="Google Shape;2761;p122"/>
          <p:cNvCxnSpPr>
            <a:stCxn id="2741" idx="0"/>
            <a:endCxn id="2751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2" name="Google Shape;2762;p122"/>
          <p:cNvCxnSpPr>
            <a:stCxn id="2751" idx="6"/>
            <a:endCxn id="2756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3" name="Google Shape;2763;p122"/>
          <p:cNvCxnSpPr>
            <a:stCxn id="2748" idx="4"/>
            <a:endCxn id="2751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4" name="Google Shape;2764;p122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65" name="Google Shape;2765;p122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66" name="Google Shape;2766;p122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767" name="Google Shape;2767;p122"/>
          <p:cNvCxnSpPr>
            <a:stCxn id="2766" idx="6"/>
            <a:endCxn id="2765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8" name="Google Shape;2768;p122"/>
          <p:cNvCxnSpPr>
            <a:stCxn id="2766" idx="0"/>
            <a:endCxn id="2750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9" name="Google Shape;2769;p122"/>
          <p:cNvCxnSpPr>
            <a:stCxn id="2741" idx="5"/>
            <a:endCxn id="2764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0" name="Google Shape;2770;p122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71" name="Google Shape;2771;p122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72" name="Google Shape;2772;p122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773" name="Google Shape;2773;p122"/>
          <p:cNvCxnSpPr>
            <a:stCxn id="2766" idx="6"/>
            <a:endCxn id="2772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4" name="Google Shape;2774;p122"/>
          <p:cNvCxnSpPr>
            <a:stCxn id="2766" idx="5"/>
            <a:endCxn id="2771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5" name="Google Shape;2775;p122"/>
          <p:cNvCxnSpPr>
            <a:stCxn id="2766" idx="7"/>
            <a:endCxn id="2770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6" name="Google Shape;2776;p122"/>
          <p:cNvSpPr txBox="1"/>
          <p:nvPr/>
        </p:nvSpPr>
        <p:spPr>
          <a:xfrm>
            <a:off x="340650" y="968825"/>
            <a:ext cx="33933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Regular Equivalence Blocked Matrix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777" name="Google Shape;2777;p122"/>
          <p:cNvGraphicFramePr/>
          <p:nvPr/>
        </p:nvGraphicFramePr>
        <p:xfrm>
          <a:off x="499950" y="138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</a:tblGrid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 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j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k 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</a:t>
                      </a:r>
                      <a:endParaRPr b="1"/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j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k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</a:t>
                      </a:r>
                      <a:endParaRPr b="1"/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2" name="Google Shape;2782;p123"/>
          <p:cNvSpPr/>
          <p:nvPr/>
        </p:nvSpPr>
        <p:spPr>
          <a:xfrm>
            <a:off x="2328075" y="4366400"/>
            <a:ext cx="380700" cy="487800"/>
          </a:xfrm>
          <a:prstGeom prst="rect">
            <a:avLst/>
          </a:prstGeom>
          <a:noFill/>
          <a:ln cap="flat" cmpd="sng" w="2857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3" name="Google Shape;2783;p123"/>
          <p:cNvSpPr/>
          <p:nvPr/>
        </p:nvSpPr>
        <p:spPr>
          <a:xfrm>
            <a:off x="728625" y="4366400"/>
            <a:ext cx="1568100" cy="487800"/>
          </a:xfrm>
          <a:prstGeom prst="rect">
            <a:avLst/>
          </a:prstGeom>
          <a:noFill/>
          <a:ln cap="flat" cmpd="sng" w="2857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4" name="Google Shape;2784;p123"/>
          <p:cNvSpPr/>
          <p:nvPr/>
        </p:nvSpPr>
        <p:spPr>
          <a:xfrm>
            <a:off x="2328075" y="3770150"/>
            <a:ext cx="380700" cy="590100"/>
          </a:xfrm>
          <a:prstGeom prst="rect">
            <a:avLst/>
          </a:prstGeom>
          <a:noFill/>
          <a:ln cap="flat" cmpd="sng" w="28575">
            <a:solidFill>
              <a:srgbClr val="922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5" name="Google Shape;2785;p123"/>
          <p:cNvSpPr/>
          <p:nvPr/>
        </p:nvSpPr>
        <p:spPr>
          <a:xfrm>
            <a:off x="728625" y="3776300"/>
            <a:ext cx="1568100" cy="590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6" name="Google Shape;2786;p1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787" name="Google Shape;2787;p123"/>
          <p:cNvSpPr/>
          <p:nvPr/>
        </p:nvSpPr>
        <p:spPr>
          <a:xfrm>
            <a:off x="5681445" y="3288792"/>
            <a:ext cx="279900" cy="2805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K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88" name="Google Shape;2788;p123"/>
          <p:cNvSpPr/>
          <p:nvPr/>
        </p:nvSpPr>
        <p:spPr>
          <a:xfrm>
            <a:off x="4687200" y="4394320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89" name="Google Shape;2789;p123"/>
          <p:cNvSpPr/>
          <p:nvPr/>
        </p:nvSpPr>
        <p:spPr>
          <a:xfrm>
            <a:off x="6069116" y="439433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90" name="Google Shape;2790;p123"/>
          <p:cNvSpPr/>
          <p:nvPr/>
        </p:nvSpPr>
        <p:spPr>
          <a:xfrm>
            <a:off x="5361417" y="4394314"/>
            <a:ext cx="279900" cy="2805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L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791" name="Google Shape;2791;p123"/>
          <p:cNvCxnSpPr>
            <a:stCxn id="2787" idx="3"/>
            <a:endCxn id="2788" idx="7"/>
          </p:cNvCxnSpPr>
          <p:nvPr/>
        </p:nvCxnSpPr>
        <p:spPr>
          <a:xfrm flipH="1">
            <a:off x="4926236" y="3528214"/>
            <a:ext cx="796200" cy="90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2" name="Google Shape;2792;p123"/>
          <p:cNvCxnSpPr>
            <a:stCxn id="2787" idx="4"/>
            <a:endCxn id="2789" idx="1"/>
          </p:cNvCxnSpPr>
          <p:nvPr/>
        </p:nvCxnSpPr>
        <p:spPr>
          <a:xfrm>
            <a:off x="5821395" y="3569292"/>
            <a:ext cx="288600" cy="866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3" name="Google Shape;2793;p123"/>
          <p:cNvCxnSpPr>
            <a:stCxn id="2787" idx="4"/>
            <a:endCxn id="2790" idx="0"/>
          </p:cNvCxnSpPr>
          <p:nvPr/>
        </p:nvCxnSpPr>
        <p:spPr>
          <a:xfrm flipH="1">
            <a:off x="5501295" y="3569292"/>
            <a:ext cx="320100" cy="825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4" name="Google Shape;2794;p123"/>
          <p:cNvSpPr/>
          <p:nvPr/>
        </p:nvSpPr>
        <p:spPr>
          <a:xfrm>
            <a:off x="6614901" y="1040813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H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95" name="Google Shape;2795;p123"/>
          <p:cNvSpPr/>
          <p:nvPr/>
        </p:nvSpPr>
        <p:spPr>
          <a:xfrm>
            <a:off x="5600330" y="1487955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96" name="Google Shape;2796;p123"/>
          <p:cNvSpPr/>
          <p:nvPr/>
        </p:nvSpPr>
        <p:spPr>
          <a:xfrm>
            <a:off x="7268476" y="1891037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G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797" name="Google Shape;2797;p123"/>
          <p:cNvSpPr/>
          <p:nvPr/>
        </p:nvSpPr>
        <p:spPr>
          <a:xfrm>
            <a:off x="5675225" y="2418236"/>
            <a:ext cx="279900" cy="280500"/>
          </a:xfrm>
          <a:prstGeom prst="ellipse">
            <a:avLst/>
          </a:prstGeom>
          <a:solidFill>
            <a:srgbClr val="7F2090"/>
          </a:solidFill>
          <a:ln cap="flat" cmpd="sng" w="19050">
            <a:solidFill>
              <a:srgbClr val="7F2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J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798" name="Google Shape;2798;p123"/>
          <p:cNvCxnSpPr>
            <a:stCxn id="2794" idx="3"/>
            <a:endCxn id="2795" idx="7"/>
          </p:cNvCxnSpPr>
          <p:nvPr/>
        </p:nvCxnSpPr>
        <p:spPr>
          <a:xfrm flipH="1">
            <a:off x="5839292" y="1280234"/>
            <a:ext cx="816600" cy="248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9" name="Google Shape;2799;p123"/>
          <p:cNvCxnSpPr>
            <a:stCxn id="2797" idx="0"/>
            <a:endCxn id="2795" idx="4"/>
          </p:cNvCxnSpPr>
          <p:nvPr/>
        </p:nvCxnSpPr>
        <p:spPr>
          <a:xfrm rot="10800000">
            <a:off x="5740175" y="1768436"/>
            <a:ext cx="75000" cy="649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0" name="Google Shape;2800;p123"/>
          <p:cNvCxnSpPr>
            <a:stCxn id="2794" idx="5"/>
            <a:endCxn id="2796" idx="1"/>
          </p:cNvCxnSpPr>
          <p:nvPr/>
        </p:nvCxnSpPr>
        <p:spPr>
          <a:xfrm>
            <a:off x="6853811" y="1280234"/>
            <a:ext cx="455700" cy="65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1" name="Google Shape;2801;p123"/>
          <p:cNvCxnSpPr>
            <a:stCxn id="2796" idx="2"/>
            <a:endCxn id="2795" idx="6"/>
          </p:cNvCxnSpPr>
          <p:nvPr/>
        </p:nvCxnSpPr>
        <p:spPr>
          <a:xfrm rot="10800000">
            <a:off x="5880376" y="1628087"/>
            <a:ext cx="1388100" cy="403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2" name="Google Shape;2802;p123"/>
          <p:cNvSpPr/>
          <p:nvPr/>
        </p:nvSpPr>
        <p:spPr>
          <a:xfrm>
            <a:off x="6614901" y="2928361"/>
            <a:ext cx="279900" cy="2805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F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803" name="Google Shape;2803;p123"/>
          <p:cNvCxnSpPr>
            <a:stCxn id="2802" idx="0"/>
            <a:endCxn id="2795" idx="6"/>
          </p:cNvCxnSpPr>
          <p:nvPr/>
        </p:nvCxnSpPr>
        <p:spPr>
          <a:xfrm rot="10800000">
            <a:off x="5880351" y="1628161"/>
            <a:ext cx="874500" cy="1300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4" name="Google Shape;2804;p123"/>
          <p:cNvCxnSpPr>
            <a:stCxn id="2796" idx="3"/>
            <a:endCxn id="2797" idx="6"/>
          </p:cNvCxnSpPr>
          <p:nvPr/>
        </p:nvCxnSpPr>
        <p:spPr>
          <a:xfrm flipH="1">
            <a:off x="5955266" y="2130458"/>
            <a:ext cx="1354200" cy="428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5" name="Google Shape;2805;p123"/>
          <p:cNvCxnSpPr>
            <a:stCxn id="2796" idx="3"/>
            <a:endCxn id="2802" idx="7"/>
          </p:cNvCxnSpPr>
          <p:nvPr/>
        </p:nvCxnSpPr>
        <p:spPr>
          <a:xfrm flipH="1">
            <a:off x="6853766" y="2130458"/>
            <a:ext cx="455700" cy="839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6" name="Google Shape;2806;p123"/>
          <p:cNvCxnSpPr>
            <a:stCxn id="2794" idx="4"/>
            <a:endCxn id="2802" idx="0"/>
          </p:cNvCxnSpPr>
          <p:nvPr/>
        </p:nvCxnSpPr>
        <p:spPr>
          <a:xfrm>
            <a:off x="6754851" y="1321313"/>
            <a:ext cx="0" cy="1607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7" name="Google Shape;2807;p123"/>
          <p:cNvCxnSpPr>
            <a:stCxn id="2787" idx="0"/>
            <a:endCxn id="2797" idx="4"/>
          </p:cNvCxnSpPr>
          <p:nvPr/>
        </p:nvCxnSpPr>
        <p:spPr>
          <a:xfrm rot="10800000">
            <a:off x="5815095" y="2698692"/>
            <a:ext cx="6300" cy="59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8" name="Google Shape;2808;p123"/>
          <p:cNvCxnSpPr>
            <a:stCxn id="2797" idx="6"/>
            <a:endCxn id="2802" idx="1"/>
          </p:cNvCxnSpPr>
          <p:nvPr/>
        </p:nvCxnSpPr>
        <p:spPr>
          <a:xfrm>
            <a:off x="5955125" y="2558486"/>
            <a:ext cx="700800" cy="411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9" name="Google Shape;2809;p123"/>
          <p:cNvCxnSpPr>
            <a:stCxn id="2794" idx="4"/>
            <a:endCxn id="2797" idx="7"/>
          </p:cNvCxnSpPr>
          <p:nvPr/>
        </p:nvCxnSpPr>
        <p:spPr>
          <a:xfrm flipH="1">
            <a:off x="5914251" y="1321313"/>
            <a:ext cx="840600" cy="113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0" name="Google Shape;2810;p123"/>
          <p:cNvSpPr/>
          <p:nvPr/>
        </p:nvSpPr>
        <p:spPr>
          <a:xfrm rot="-3681">
            <a:off x="6695723" y="4395081"/>
            <a:ext cx="2802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811" name="Google Shape;2811;p123"/>
          <p:cNvSpPr/>
          <p:nvPr/>
        </p:nvSpPr>
        <p:spPr>
          <a:xfrm rot="-3685">
            <a:off x="8680857" y="274569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C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812" name="Google Shape;2812;p123"/>
          <p:cNvSpPr/>
          <p:nvPr/>
        </p:nvSpPr>
        <p:spPr>
          <a:xfrm rot="-3681">
            <a:off x="7268324" y="3026805"/>
            <a:ext cx="280200" cy="280800"/>
          </a:xfrm>
          <a:prstGeom prst="ellipse">
            <a:avLst/>
          </a:prstGeom>
          <a:solidFill>
            <a:srgbClr val="F4B400"/>
          </a:solidFill>
          <a:ln cap="flat" cmpd="sng" w="19050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813" name="Google Shape;2813;p123"/>
          <p:cNvCxnSpPr>
            <a:stCxn id="2812" idx="6"/>
            <a:endCxn id="2811" idx="2"/>
          </p:cNvCxnSpPr>
          <p:nvPr/>
        </p:nvCxnSpPr>
        <p:spPr>
          <a:xfrm flipH="1" rot="10800000">
            <a:off x="7548524" y="2886255"/>
            <a:ext cx="1132200" cy="28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4" name="Google Shape;2814;p123"/>
          <p:cNvCxnSpPr>
            <a:stCxn id="2812" idx="0"/>
            <a:endCxn id="2796" idx="4"/>
          </p:cNvCxnSpPr>
          <p:nvPr/>
        </p:nvCxnSpPr>
        <p:spPr>
          <a:xfrm rot="10800000">
            <a:off x="7408424" y="217150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5" name="Google Shape;2815;p123"/>
          <p:cNvCxnSpPr>
            <a:stCxn id="2787" idx="5"/>
            <a:endCxn id="2810" idx="0"/>
          </p:cNvCxnSpPr>
          <p:nvPr/>
        </p:nvCxnSpPr>
        <p:spPr>
          <a:xfrm>
            <a:off x="5920355" y="3528214"/>
            <a:ext cx="915600" cy="86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6" name="Google Shape;2816;p123"/>
          <p:cNvSpPr/>
          <p:nvPr/>
        </p:nvSpPr>
        <p:spPr>
          <a:xfrm rot="-3685">
            <a:off x="8680857" y="21378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A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817" name="Google Shape;2817;p123"/>
          <p:cNvSpPr/>
          <p:nvPr/>
        </p:nvSpPr>
        <p:spPr>
          <a:xfrm rot="-3685">
            <a:off x="8680857" y="4197444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818" name="Google Shape;2818;p123"/>
          <p:cNvSpPr/>
          <p:nvPr/>
        </p:nvSpPr>
        <p:spPr>
          <a:xfrm rot="-3685">
            <a:off x="8680857" y="3471582"/>
            <a:ext cx="279900" cy="280800"/>
          </a:xfrm>
          <a:prstGeom prst="ellipse">
            <a:avLst/>
          </a:prstGeom>
          <a:solidFill>
            <a:srgbClr val="FF0000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2819" name="Google Shape;2819;p123"/>
          <p:cNvCxnSpPr>
            <a:stCxn id="2812" idx="6"/>
            <a:endCxn id="2818" idx="2"/>
          </p:cNvCxnSpPr>
          <p:nvPr/>
        </p:nvCxnSpPr>
        <p:spPr>
          <a:xfrm>
            <a:off x="7548524" y="3167055"/>
            <a:ext cx="1132200" cy="445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0" name="Google Shape;2820;p123"/>
          <p:cNvCxnSpPr>
            <a:stCxn id="2812" idx="5"/>
            <a:endCxn id="2817" idx="1"/>
          </p:cNvCxnSpPr>
          <p:nvPr/>
        </p:nvCxnSpPr>
        <p:spPr>
          <a:xfrm>
            <a:off x="7507490" y="3266377"/>
            <a:ext cx="1214400" cy="97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1" name="Google Shape;2821;p123"/>
          <p:cNvCxnSpPr>
            <a:stCxn id="2812" idx="7"/>
            <a:endCxn id="2816" idx="2"/>
          </p:cNvCxnSpPr>
          <p:nvPr/>
        </p:nvCxnSpPr>
        <p:spPr>
          <a:xfrm flipH="1" rot="10800000">
            <a:off x="7507490" y="2278521"/>
            <a:ext cx="1173300" cy="789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2" name="Google Shape;2822;p123"/>
          <p:cNvSpPr txBox="1"/>
          <p:nvPr/>
        </p:nvSpPr>
        <p:spPr>
          <a:xfrm>
            <a:off x="340650" y="968825"/>
            <a:ext cx="33933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Regular Equivalence Blocked Matrix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2823" name="Google Shape;2823;p123"/>
          <p:cNvGraphicFramePr/>
          <p:nvPr/>
        </p:nvGraphicFramePr>
        <p:xfrm>
          <a:off x="499950" y="138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  <a:gridCol w="203125"/>
              </a:tblGrid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j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k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F00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j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2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225A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9225A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chemeClr val="accent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k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</a:tr>
              <a:tr h="21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</a:t>
                      </a:r>
                      <a:endParaRPr b="1"/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4B4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b="1" sz="1200">
                        <a:solidFill>
                          <a:srgbClr val="F4B400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0" marB="0" marR="0" marL="0" anchor="b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400"/>
                    </a:solidFill>
                  </a:tcPr>
                </a:tc>
              </a:tr>
            </a:tbl>
          </a:graphicData>
        </a:graphic>
      </p:graphicFrame>
      <p:sp>
        <p:nvSpPr>
          <p:cNvPr id="2824" name="Google Shape;2824;p123"/>
          <p:cNvSpPr/>
          <p:nvPr/>
        </p:nvSpPr>
        <p:spPr>
          <a:xfrm>
            <a:off x="2328075" y="1628075"/>
            <a:ext cx="380700" cy="1680300"/>
          </a:xfrm>
          <a:prstGeom prst="rect">
            <a:avLst/>
          </a:prstGeom>
          <a:noFill/>
          <a:ln cap="flat" cmpd="sng" w="28575">
            <a:solidFill>
              <a:srgbClr val="922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5" name="Google Shape;2825;p123"/>
          <p:cNvSpPr/>
          <p:nvPr/>
        </p:nvSpPr>
        <p:spPr>
          <a:xfrm>
            <a:off x="2708775" y="1628075"/>
            <a:ext cx="634800" cy="16803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6" name="Google Shape;2826;p123"/>
          <p:cNvSpPr/>
          <p:nvPr/>
        </p:nvSpPr>
        <p:spPr>
          <a:xfrm>
            <a:off x="3319550" y="1628075"/>
            <a:ext cx="414300" cy="1680300"/>
          </a:xfrm>
          <a:prstGeom prst="rect">
            <a:avLst/>
          </a:prstGeom>
          <a:noFill/>
          <a:ln cap="flat" cmpd="sng" w="2857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7" name="Google Shape;2827;p123"/>
          <p:cNvSpPr/>
          <p:nvPr/>
        </p:nvSpPr>
        <p:spPr>
          <a:xfrm>
            <a:off x="728625" y="3322850"/>
            <a:ext cx="1568100" cy="411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8" name="Google Shape;2828;p123"/>
          <p:cNvSpPr/>
          <p:nvPr/>
        </p:nvSpPr>
        <p:spPr>
          <a:xfrm>
            <a:off x="3336350" y="3758450"/>
            <a:ext cx="380700" cy="651900"/>
          </a:xfrm>
          <a:prstGeom prst="rect">
            <a:avLst/>
          </a:prstGeom>
          <a:noFill/>
          <a:ln cap="flat" cmpd="sng" w="2857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9" name="Google Shape;2829;p123"/>
          <p:cNvSpPr/>
          <p:nvPr/>
        </p:nvSpPr>
        <p:spPr>
          <a:xfrm>
            <a:off x="3336350" y="3286025"/>
            <a:ext cx="414300" cy="445200"/>
          </a:xfrm>
          <a:prstGeom prst="rect">
            <a:avLst/>
          </a:prstGeom>
          <a:noFill/>
          <a:ln cap="flat" cmpd="sng" w="2857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0" name="Google Shape;2830;p123"/>
          <p:cNvSpPr/>
          <p:nvPr/>
        </p:nvSpPr>
        <p:spPr>
          <a:xfrm>
            <a:off x="2726850" y="3305750"/>
            <a:ext cx="592800" cy="4452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accent6"/>
        </a:solidFill>
      </p:bgPr>
    </p:bg>
    <p:spTree>
      <p:nvGrpSpPr>
        <p:cNvPr id="2834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12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Equivalence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39" name="Shape 2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Google Shape;2840;p1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</a:t>
            </a:r>
            <a:endParaRPr/>
          </a:p>
        </p:txBody>
      </p:sp>
      <p:sp>
        <p:nvSpPr>
          <p:cNvPr id="2841" name="Google Shape;2841;p125"/>
          <p:cNvSpPr txBox="1"/>
          <p:nvPr>
            <p:ph idx="1" type="body"/>
          </p:nvPr>
        </p:nvSpPr>
        <p:spPr>
          <a:xfrm>
            <a:off x="311700" y="1225221"/>
            <a:ext cx="8520600" cy="14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Theoretically, the notion of role implies similar patterns of connectivity to </a:t>
            </a:r>
            <a:r>
              <a:rPr b="1" lang="en"/>
              <a:t>similarly positioned</a:t>
            </a:r>
            <a:r>
              <a:rPr lang="en"/>
              <a:t> actors not to literally the </a:t>
            </a:r>
            <a:r>
              <a:rPr b="1" lang="en"/>
              <a:t>same </a:t>
            </a:r>
            <a:r>
              <a:rPr lang="en"/>
              <a:t>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the wrong measure in this case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Need a more flexible notion of equivalence: </a:t>
            </a:r>
            <a:r>
              <a:rPr b="1" lang="en"/>
              <a:t>Regular equivalence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42" name="Google Shape;2842;p125"/>
          <p:cNvGrpSpPr/>
          <p:nvPr/>
        </p:nvGrpSpPr>
        <p:grpSpPr>
          <a:xfrm>
            <a:off x="831375" y="2879280"/>
            <a:ext cx="7555950" cy="1918868"/>
            <a:chOff x="831375" y="3199200"/>
            <a:chExt cx="7555950" cy="2132075"/>
          </a:xfrm>
        </p:grpSpPr>
        <p:grpSp>
          <p:nvGrpSpPr>
            <p:cNvPr id="2843" name="Google Shape;2843;p125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2844" name="Google Shape;2844;p125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2845" name="Google Shape;2845;p125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2846" name="Google Shape;2846;p125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2847" name="Google Shape;2847;p125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2848" name="Google Shape;2848;p125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2849" name="Google Shape;2849;p125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2850" name="Google Shape;2850;p125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2851" name="Google Shape;2851;p125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2852" name="Google Shape;2852;p125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2853" name="Google Shape;2853;p125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chemeClr val="lt2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2854" name="Google Shape;2854;p125"/>
              <p:cNvCxnSpPr>
                <a:stCxn id="2844" idx="6"/>
                <a:endCxn id="2846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5" name="Google Shape;2855;p125"/>
              <p:cNvCxnSpPr>
                <a:stCxn id="2844" idx="5"/>
                <a:endCxn id="2847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6" name="Google Shape;2856;p125"/>
              <p:cNvCxnSpPr>
                <a:stCxn id="2845" idx="7"/>
                <a:endCxn id="2846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7" name="Google Shape;2857;p125"/>
              <p:cNvCxnSpPr>
                <a:stCxn id="2844" idx="4"/>
                <a:endCxn id="2845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8" name="Google Shape;2858;p125"/>
              <p:cNvCxnSpPr>
                <a:stCxn id="2845" idx="6"/>
                <a:endCxn id="2847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59" name="Google Shape;2859;p125"/>
              <p:cNvCxnSpPr>
                <a:stCxn id="2846" idx="6"/>
                <a:endCxn id="2848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0" name="Google Shape;2860;p125"/>
              <p:cNvCxnSpPr>
                <a:stCxn id="2848" idx="3"/>
                <a:endCxn id="2847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1" name="Google Shape;2861;p125"/>
              <p:cNvCxnSpPr>
                <a:stCxn id="2849" idx="2"/>
                <a:endCxn id="2848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2" name="Google Shape;2862;p125"/>
              <p:cNvCxnSpPr>
                <a:stCxn id="2850" idx="2"/>
                <a:endCxn id="2849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3" name="Google Shape;2863;p125"/>
              <p:cNvCxnSpPr>
                <a:stCxn id="2851" idx="2"/>
                <a:endCxn id="2849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4" name="Google Shape;2864;p125"/>
              <p:cNvCxnSpPr>
                <a:stCxn id="2850" idx="5"/>
                <a:endCxn id="2853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5" name="Google Shape;2865;p125"/>
              <p:cNvCxnSpPr>
                <a:stCxn id="2852" idx="3"/>
                <a:endCxn id="2851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6" name="Google Shape;2866;p125"/>
              <p:cNvCxnSpPr>
                <a:stCxn id="2852" idx="2"/>
                <a:endCxn id="2850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7" name="Google Shape;2867;p125"/>
              <p:cNvCxnSpPr>
                <a:stCxn id="2852" idx="4"/>
                <a:endCxn id="2853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68" name="Google Shape;2868;p125"/>
              <p:cNvCxnSpPr>
                <a:stCxn id="2853" idx="2"/>
                <a:endCxn id="2851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869" name="Google Shape;2869;p125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73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1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875" name="Google Shape;2875;p126"/>
          <p:cNvSpPr txBox="1"/>
          <p:nvPr>
            <p:ph idx="1" type="body"/>
          </p:nvPr>
        </p:nvSpPr>
        <p:spPr>
          <a:xfrm>
            <a:off x="311700" y="1225221"/>
            <a:ext cx="8520600" cy="13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Theoretically, the notion of role implies similar patterns of connectivity to </a:t>
            </a:r>
            <a:r>
              <a:rPr b="1" lang="en"/>
              <a:t>similarly positioned</a:t>
            </a:r>
            <a:r>
              <a:rPr lang="en"/>
              <a:t> actors not to literally the </a:t>
            </a:r>
            <a:r>
              <a:rPr b="1" lang="en"/>
              <a:t>same </a:t>
            </a:r>
            <a:r>
              <a:rPr lang="en"/>
              <a:t>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the wrong measure in this case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Need a more flexible notion of equivalence: </a:t>
            </a:r>
            <a:r>
              <a:rPr b="1" lang="en"/>
              <a:t>Regular equivalence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 = {a ≣ b ≣ h ≣ j}, {b ≣ d ≣ g ≣ i}, {e ≣ f}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76" name="Google Shape;2876;p126"/>
          <p:cNvGrpSpPr/>
          <p:nvPr/>
        </p:nvGrpSpPr>
        <p:grpSpPr>
          <a:xfrm>
            <a:off x="831375" y="2879280"/>
            <a:ext cx="7555950" cy="1918868"/>
            <a:chOff x="831375" y="3199200"/>
            <a:chExt cx="7555950" cy="2132075"/>
          </a:xfrm>
        </p:grpSpPr>
        <p:grpSp>
          <p:nvGrpSpPr>
            <p:cNvPr id="2877" name="Google Shape;2877;p126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2878" name="Google Shape;2878;p126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2879" name="Google Shape;2879;p126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2880" name="Google Shape;2880;p126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2881" name="Google Shape;2881;p126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2882" name="Google Shape;2882;p126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2883" name="Google Shape;2883;p126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2884" name="Google Shape;2884;p126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2885" name="Google Shape;2885;p126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2886" name="Google Shape;2886;p126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2887" name="Google Shape;2887;p126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2888" name="Google Shape;2888;p126"/>
              <p:cNvCxnSpPr>
                <a:stCxn id="2878" idx="6"/>
                <a:endCxn id="2880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89" name="Google Shape;2889;p126"/>
              <p:cNvCxnSpPr>
                <a:stCxn id="2878" idx="5"/>
                <a:endCxn id="2881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0" name="Google Shape;2890;p126"/>
              <p:cNvCxnSpPr>
                <a:stCxn id="2879" idx="7"/>
                <a:endCxn id="2880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1" name="Google Shape;2891;p126"/>
              <p:cNvCxnSpPr>
                <a:stCxn id="2878" idx="4"/>
                <a:endCxn id="2879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2" name="Google Shape;2892;p126"/>
              <p:cNvCxnSpPr>
                <a:stCxn id="2879" idx="6"/>
                <a:endCxn id="2881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3" name="Google Shape;2893;p126"/>
              <p:cNvCxnSpPr>
                <a:stCxn id="2880" idx="6"/>
                <a:endCxn id="2882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4" name="Google Shape;2894;p126"/>
              <p:cNvCxnSpPr>
                <a:stCxn id="2882" idx="3"/>
                <a:endCxn id="2881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5" name="Google Shape;2895;p126"/>
              <p:cNvCxnSpPr>
                <a:stCxn id="2883" idx="2"/>
                <a:endCxn id="2882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6" name="Google Shape;2896;p126"/>
              <p:cNvCxnSpPr>
                <a:stCxn id="2884" idx="2"/>
                <a:endCxn id="2883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7" name="Google Shape;2897;p126"/>
              <p:cNvCxnSpPr>
                <a:stCxn id="2885" idx="2"/>
                <a:endCxn id="2883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8" name="Google Shape;2898;p126"/>
              <p:cNvCxnSpPr>
                <a:stCxn id="2884" idx="5"/>
                <a:endCxn id="2887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899" name="Google Shape;2899;p126"/>
              <p:cNvCxnSpPr>
                <a:stCxn id="2886" idx="3"/>
                <a:endCxn id="2885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0" name="Google Shape;2900;p126"/>
              <p:cNvCxnSpPr>
                <a:stCxn id="2886" idx="2"/>
                <a:endCxn id="2884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1" name="Google Shape;2901;p126"/>
              <p:cNvCxnSpPr>
                <a:stCxn id="2886" idx="4"/>
                <a:endCxn id="2887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02" name="Google Shape;2902;p126"/>
              <p:cNvCxnSpPr>
                <a:stCxn id="2887" idx="2"/>
                <a:endCxn id="2885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903" name="Google Shape;2903;p126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07" name="Shape 2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" name="Google Shape;2908;p1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909" name="Google Shape;2909;p127"/>
          <p:cNvSpPr txBox="1"/>
          <p:nvPr>
            <p:ph idx="1" type="body"/>
          </p:nvPr>
        </p:nvSpPr>
        <p:spPr>
          <a:xfrm>
            <a:off x="311700" y="1225221"/>
            <a:ext cx="8520600" cy="13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Theoretically, the notion of role implies similar patterns of connectivity to </a:t>
            </a:r>
            <a:r>
              <a:rPr b="1" lang="en"/>
              <a:t>similarly positioned</a:t>
            </a:r>
            <a:r>
              <a:rPr lang="en"/>
              <a:t> actors not to literally the </a:t>
            </a:r>
            <a:r>
              <a:rPr b="1" lang="en"/>
              <a:t>same </a:t>
            </a:r>
            <a:r>
              <a:rPr lang="en"/>
              <a:t>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equivalence is the wrong measure in this case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Two nodes are </a:t>
            </a:r>
            <a:r>
              <a:rPr b="1" lang="en"/>
              <a:t>regularly equivalent</a:t>
            </a:r>
            <a:r>
              <a:rPr lang="en"/>
              <a:t> if they are connected to </a:t>
            </a:r>
            <a:r>
              <a:rPr b="1" lang="en"/>
              <a:t>equivalent</a:t>
            </a:r>
            <a:r>
              <a:rPr lang="en"/>
              <a:t> others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 = {a ≣ b ≣ h ≣ j}, {b ≣ d ≣ g ≣ i}, {e ≣ f}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10" name="Google Shape;2910;p127"/>
          <p:cNvGrpSpPr/>
          <p:nvPr/>
        </p:nvGrpSpPr>
        <p:grpSpPr>
          <a:xfrm>
            <a:off x="831375" y="2879280"/>
            <a:ext cx="7555950" cy="1918868"/>
            <a:chOff x="831375" y="3199200"/>
            <a:chExt cx="7555950" cy="2132075"/>
          </a:xfrm>
        </p:grpSpPr>
        <p:grpSp>
          <p:nvGrpSpPr>
            <p:cNvPr id="2911" name="Google Shape;2911;p127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2912" name="Google Shape;2912;p127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2913" name="Google Shape;2913;p127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2914" name="Google Shape;2914;p127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2915" name="Google Shape;2915;p127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2916" name="Google Shape;2916;p127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2917" name="Google Shape;2917;p127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2918" name="Google Shape;2918;p127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2919" name="Google Shape;2919;p127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2920" name="Google Shape;2920;p127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2921" name="Google Shape;2921;p127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2922" name="Google Shape;2922;p127"/>
              <p:cNvCxnSpPr>
                <a:stCxn id="2912" idx="6"/>
                <a:endCxn id="2914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3" name="Google Shape;2923;p127"/>
              <p:cNvCxnSpPr>
                <a:stCxn id="2912" idx="5"/>
                <a:endCxn id="2915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4" name="Google Shape;2924;p127"/>
              <p:cNvCxnSpPr>
                <a:stCxn id="2913" idx="7"/>
                <a:endCxn id="2914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5" name="Google Shape;2925;p127"/>
              <p:cNvCxnSpPr>
                <a:stCxn id="2912" idx="4"/>
                <a:endCxn id="2913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6" name="Google Shape;2926;p127"/>
              <p:cNvCxnSpPr>
                <a:stCxn id="2913" idx="6"/>
                <a:endCxn id="2915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7" name="Google Shape;2927;p127"/>
              <p:cNvCxnSpPr>
                <a:stCxn id="2914" idx="6"/>
                <a:endCxn id="2916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8" name="Google Shape;2928;p127"/>
              <p:cNvCxnSpPr>
                <a:stCxn id="2916" idx="3"/>
                <a:endCxn id="2915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9" name="Google Shape;2929;p127"/>
              <p:cNvCxnSpPr>
                <a:stCxn id="2917" idx="2"/>
                <a:endCxn id="2916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0" name="Google Shape;2930;p127"/>
              <p:cNvCxnSpPr>
                <a:stCxn id="2918" idx="2"/>
                <a:endCxn id="2917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1" name="Google Shape;2931;p127"/>
              <p:cNvCxnSpPr>
                <a:stCxn id="2919" idx="2"/>
                <a:endCxn id="2917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2" name="Google Shape;2932;p127"/>
              <p:cNvCxnSpPr>
                <a:stCxn id="2918" idx="5"/>
                <a:endCxn id="2921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3" name="Google Shape;2933;p127"/>
              <p:cNvCxnSpPr>
                <a:stCxn id="2920" idx="3"/>
                <a:endCxn id="2919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4" name="Google Shape;2934;p127"/>
              <p:cNvCxnSpPr>
                <a:stCxn id="2920" idx="2"/>
                <a:endCxn id="2918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5" name="Google Shape;2935;p127"/>
              <p:cNvCxnSpPr>
                <a:stCxn id="2920" idx="4"/>
                <a:endCxn id="2921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6" name="Google Shape;2936;p127"/>
              <p:cNvCxnSpPr>
                <a:stCxn id="2921" idx="2"/>
                <a:endCxn id="2919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937" name="Google Shape;2937;p127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41" name="Shape 2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2" name="Google Shape;2942;p1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Notions of Equivalence: Regular Equivalence </a:t>
            </a:r>
            <a:endParaRPr/>
          </a:p>
        </p:txBody>
      </p:sp>
      <p:sp>
        <p:nvSpPr>
          <p:cNvPr id="2943" name="Google Shape;2943;p128"/>
          <p:cNvSpPr txBox="1"/>
          <p:nvPr>
            <p:ph idx="1" type="body"/>
          </p:nvPr>
        </p:nvSpPr>
        <p:spPr>
          <a:xfrm>
            <a:off x="311700" y="1225220"/>
            <a:ext cx="8520600" cy="16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two actors are regularly equivalent they have the same graph theoretic attributes, and </a:t>
            </a:r>
            <a:r>
              <a:rPr b="1" lang="en"/>
              <a:t>vice versa: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two actors share all graph theoretic attributes they are regularly equivalent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Regular equivalence is a </a:t>
            </a:r>
            <a:r>
              <a:rPr b="1" lang="en"/>
              <a:t>non-local concept</a:t>
            </a:r>
            <a:endParaRPr/>
          </a:p>
        </p:txBody>
      </p:sp>
      <p:grpSp>
        <p:nvGrpSpPr>
          <p:cNvPr id="2944" name="Google Shape;2944;p128"/>
          <p:cNvGrpSpPr/>
          <p:nvPr/>
        </p:nvGrpSpPr>
        <p:grpSpPr>
          <a:xfrm>
            <a:off x="831375" y="2879280"/>
            <a:ext cx="7555950" cy="1918868"/>
            <a:chOff x="831375" y="3199200"/>
            <a:chExt cx="7555950" cy="2132075"/>
          </a:xfrm>
        </p:grpSpPr>
        <p:grpSp>
          <p:nvGrpSpPr>
            <p:cNvPr id="2945" name="Google Shape;2945;p128"/>
            <p:cNvGrpSpPr/>
            <p:nvPr/>
          </p:nvGrpSpPr>
          <p:grpSpPr>
            <a:xfrm>
              <a:off x="831375" y="3199200"/>
              <a:ext cx="7555950" cy="1938650"/>
              <a:chOff x="868500" y="3078125"/>
              <a:chExt cx="7555950" cy="1938650"/>
            </a:xfrm>
          </p:grpSpPr>
          <p:sp>
            <p:nvSpPr>
              <p:cNvPr id="2946" name="Google Shape;2946;p128"/>
              <p:cNvSpPr/>
              <p:nvPr/>
            </p:nvSpPr>
            <p:spPr>
              <a:xfrm>
                <a:off x="86850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a</a:t>
                </a:r>
                <a:endParaRPr sz="1800"/>
              </a:p>
            </p:txBody>
          </p:sp>
          <p:sp>
            <p:nvSpPr>
              <p:cNvPr id="2947" name="Google Shape;2947;p128"/>
              <p:cNvSpPr/>
              <p:nvPr/>
            </p:nvSpPr>
            <p:spPr>
              <a:xfrm>
                <a:off x="868700" y="4371050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c</a:t>
                </a:r>
                <a:endParaRPr sz="1800"/>
              </a:p>
            </p:txBody>
          </p:sp>
          <p:sp>
            <p:nvSpPr>
              <p:cNvPr id="2948" name="Google Shape;2948;p128"/>
              <p:cNvSpPr/>
              <p:nvPr/>
            </p:nvSpPr>
            <p:spPr>
              <a:xfrm>
                <a:off x="261445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b</a:t>
                </a:r>
                <a:endParaRPr sz="1800"/>
              </a:p>
            </p:txBody>
          </p:sp>
          <p:sp>
            <p:nvSpPr>
              <p:cNvPr id="2949" name="Google Shape;2949;p128"/>
              <p:cNvSpPr/>
              <p:nvPr/>
            </p:nvSpPr>
            <p:spPr>
              <a:xfrm>
                <a:off x="2614450" y="4371050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d</a:t>
                </a:r>
                <a:endParaRPr sz="1800"/>
              </a:p>
            </p:txBody>
          </p:sp>
          <p:sp>
            <p:nvSpPr>
              <p:cNvPr id="2950" name="Google Shape;2950;p128"/>
              <p:cNvSpPr/>
              <p:nvPr/>
            </p:nvSpPr>
            <p:spPr>
              <a:xfrm>
                <a:off x="3679950" y="3724550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e</a:t>
                </a:r>
                <a:endParaRPr sz="1800"/>
              </a:p>
            </p:txBody>
          </p:sp>
          <p:sp>
            <p:nvSpPr>
              <p:cNvPr id="2951" name="Google Shape;2951;p128"/>
              <p:cNvSpPr/>
              <p:nvPr/>
            </p:nvSpPr>
            <p:spPr>
              <a:xfrm>
                <a:off x="5000350" y="3724625"/>
                <a:ext cx="601500" cy="580200"/>
              </a:xfrm>
              <a:prstGeom prst="ellipse">
                <a:avLst/>
              </a:prstGeom>
              <a:solidFill>
                <a:srgbClr val="3C78D8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f</a:t>
                </a:r>
                <a:endParaRPr sz="1800"/>
              </a:p>
            </p:txBody>
          </p:sp>
          <p:sp>
            <p:nvSpPr>
              <p:cNvPr id="2952" name="Google Shape;2952;p128"/>
              <p:cNvSpPr/>
              <p:nvPr/>
            </p:nvSpPr>
            <p:spPr>
              <a:xfrm>
                <a:off x="6077000" y="307812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g</a:t>
                </a:r>
                <a:endParaRPr sz="1800"/>
              </a:p>
            </p:txBody>
          </p:sp>
          <p:sp>
            <p:nvSpPr>
              <p:cNvPr id="2953" name="Google Shape;2953;p128"/>
              <p:cNvSpPr/>
              <p:nvPr/>
            </p:nvSpPr>
            <p:spPr>
              <a:xfrm>
                <a:off x="6077000" y="4436575"/>
                <a:ext cx="601500" cy="580200"/>
              </a:xfrm>
              <a:prstGeom prst="ellipse">
                <a:avLst/>
              </a:prstGeom>
              <a:solidFill>
                <a:srgbClr val="6AA84F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i</a:t>
                </a:r>
                <a:endParaRPr sz="1800"/>
              </a:p>
            </p:txBody>
          </p:sp>
          <p:sp>
            <p:nvSpPr>
              <p:cNvPr id="2954" name="Google Shape;2954;p128"/>
              <p:cNvSpPr/>
              <p:nvPr/>
            </p:nvSpPr>
            <p:spPr>
              <a:xfrm>
                <a:off x="7822950" y="307812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h</a:t>
                </a:r>
                <a:endParaRPr sz="1800"/>
              </a:p>
            </p:txBody>
          </p:sp>
          <p:sp>
            <p:nvSpPr>
              <p:cNvPr id="2955" name="Google Shape;2955;p128"/>
              <p:cNvSpPr/>
              <p:nvPr/>
            </p:nvSpPr>
            <p:spPr>
              <a:xfrm>
                <a:off x="7822850" y="4436575"/>
                <a:ext cx="601500" cy="580200"/>
              </a:xfrm>
              <a:prstGeom prst="ellipse">
                <a:avLst/>
              </a:prstGeom>
              <a:solidFill>
                <a:srgbClr val="FF0000"/>
              </a:solidFill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/>
                  <a:t>j</a:t>
                </a:r>
                <a:endParaRPr sz="1800"/>
              </a:p>
            </p:txBody>
          </p:sp>
          <p:cxnSp>
            <p:nvCxnSpPr>
              <p:cNvPr id="2956" name="Google Shape;2956;p128"/>
              <p:cNvCxnSpPr>
                <a:stCxn id="2946" idx="6"/>
                <a:endCxn id="2948" idx="2"/>
              </p:cNvCxnSpPr>
              <p:nvPr/>
            </p:nvCxnSpPr>
            <p:spPr>
              <a:xfrm>
                <a:off x="147000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7" name="Google Shape;2957;p128"/>
              <p:cNvCxnSpPr>
                <a:stCxn id="2946" idx="5"/>
                <a:endCxn id="2949" idx="1"/>
              </p:cNvCxnSpPr>
              <p:nvPr/>
            </p:nvCxnSpPr>
            <p:spPr>
              <a:xfrm>
                <a:off x="1381912" y="3573357"/>
                <a:ext cx="13206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8" name="Google Shape;2958;p128"/>
              <p:cNvCxnSpPr>
                <a:stCxn id="2947" idx="7"/>
                <a:endCxn id="2948" idx="3"/>
              </p:cNvCxnSpPr>
              <p:nvPr/>
            </p:nvCxnSpPr>
            <p:spPr>
              <a:xfrm flipH="1" rot="10800000">
                <a:off x="1382112" y="3573418"/>
                <a:ext cx="1320300" cy="882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9" name="Google Shape;2959;p128"/>
              <p:cNvCxnSpPr>
                <a:stCxn id="2946" idx="4"/>
                <a:endCxn id="2947" idx="0"/>
              </p:cNvCxnSpPr>
              <p:nvPr/>
            </p:nvCxnSpPr>
            <p:spPr>
              <a:xfrm>
                <a:off x="1169250" y="3658325"/>
                <a:ext cx="300" cy="712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0" name="Google Shape;2960;p128"/>
              <p:cNvCxnSpPr>
                <a:stCxn id="2947" idx="6"/>
                <a:endCxn id="2949" idx="2"/>
              </p:cNvCxnSpPr>
              <p:nvPr/>
            </p:nvCxnSpPr>
            <p:spPr>
              <a:xfrm>
                <a:off x="1470200" y="4661150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1" name="Google Shape;2961;p128"/>
              <p:cNvCxnSpPr>
                <a:stCxn id="2948" idx="6"/>
                <a:endCxn id="2950" idx="1"/>
              </p:cNvCxnSpPr>
              <p:nvPr/>
            </p:nvCxnSpPr>
            <p:spPr>
              <a:xfrm>
                <a:off x="3215950" y="3368225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2" name="Google Shape;2962;p128"/>
              <p:cNvCxnSpPr>
                <a:stCxn id="2950" idx="3"/>
                <a:endCxn id="2949" idx="6"/>
              </p:cNvCxnSpPr>
              <p:nvPr/>
            </p:nvCxnSpPr>
            <p:spPr>
              <a:xfrm flipH="1">
                <a:off x="3216038" y="4219782"/>
                <a:ext cx="5520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3" name="Google Shape;2963;p128"/>
              <p:cNvCxnSpPr>
                <a:stCxn id="2951" idx="2"/>
                <a:endCxn id="2950" idx="6"/>
              </p:cNvCxnSpPr>
              <p:nvPr/>
            </p:nvCxnSpPr>
            <p:spPr>
              <a:xfrm rot="10800000">
                <a:off x="4281550" y="4014725"/>
                <a:ext cx="718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4" name="Google Shape;2964;p128"/>
              <p:cNvCxnSpPr>
                <a:stCxn id="2952" idx="2"/>
                <a:endCxn id="2951" idx="7"/>
              </p:cNvCxnSpPr>
              <p:nvPr/>
            </p:nvCxnSpPr>
            <p:spPr>
              <a:xfrm flipH="1">
                <a:off x="5513900" y="3368225"/>
                <a:ext cx="563100" cy="44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5" name="Google Shape;2965;p128"/>
              <p:cNvCxnSpPr>
                <a:stCxn id="2953" idx="2"/>
                <a:endCxn id="2951" idx="5"/>
              </p:cNvCxnSpPr>
              <p:nvPr/>
            </p:nvCxnSpPr>
            <p:spPr>
              <a:xfrm rot="10800000">
                <a:off x="5513900" y="4219975"/>
                <a:ext cx="563100" cy="5067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6" name="Google Shape;2966;p128"/>
              <p:cNvCxnSpPr>
                <a:stCxn id="2952" idx="5"/>
                <a:endCxn id="2955" idx="1"/>
              </p:cNvCxnSpPr>
              <p:nvPr/>
            </p:nvCxnSpPr>
            <p:spPr>
              <a:xfrm>
                <a:off x="6590412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7" name="Google Shape;2967;p128"/>
              <p:cNvCxnSpPr>
                <a:stCxn id="2954" idx="3"/>
                <a:endCxn id="2953" idx="7"/>
              </p:cNvCxnSpPr>
              <p:nvPr/>
            </p:nvCxnSpPr>
            <p:spPr>
              <a:xfrm flipH="1">
                <a:off x="6590438" y="3573357"/>
                <a:ext cx="1320600" cy="94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8" name="Google Shape;2968;p128"/>
              <p:cNvCxnSpPr>
                <a:stCxn id="2954" idx="2"/>
                <a:endCxn id="2952" idx="6"/>
              </p:cNvCxnSpPr>
              <p:nvPr/>
            </p:nvCxnSpPr>
            <p:spPr>
              <a:xfrm rot="10800000">
                <a:off x="6678450" y="3368225"/>
                <a:ext cx="1144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9" name="Google Shape;2969;p128"/>
              <p:cNvCxnSpPr>
                <a:stCxn id="2954" idx="4"/>
                <a:endCxn id="2955" idx="0"/>
              </p:cNvCxnSpPr>
              <p:nvPr/>
            </p:nvCxnSpPr>
            <p:spPr>
              <a:xfrm>
                <a:off x="8123700" y="3658325"/>
                <a:ext cx="0" cy="778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0" name="Google Shape;2970;p128"/>
              <p:cNvCxnSpPr>
                <a:stCxn id="2955" idx="2"/>
                <a:endCxn id="2953" idx="6"/>
              </p:cNvCxnSpPr>
              <p:nvPr/>
            </p:nvCxnSpPr>
            <p:spPr>
              <a:xfrm rot="10800000">
                <a:off x="6678650" y="4726675"/>
                <a:ext cx="1144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971" name="Google Shape;2971;p128"/>
            <p:cNvSpPr txBox="1"/>
            <p:nvPr/>
          </p:nvSpPr>
          <p:spPr>
            <a:xfrm>
              <a:off x="3604950" y="4864175"/>
              <a:ext cx="2008800" cy="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Borgatti and Everett’s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“Thinking Graph”</a:t>
              </a:r>
              <a:endParaRPr/>
            </a:p>
          </p:txBody>
        </p:sp>
      </p:grp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75" name="Shape 2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6" name="Google Shape;2976;p129"/>
          <p:cNvSpPr txBox="1"/>
          <p:nvPr/>
        </p:nvSpPr>
        <p:spPr>
          <a:xfrm>
            <a:off x="1040575" y="1230300"/>
            <a:ext cx="33933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Economica"/>
                <a:ea typeface="Economica"/>
                <a:cs typeface="Economica"/>
                <a:sym typeface="Economica"/>
              </a:rPr>
              <a:t>Regular Equivalence Blocked Matrix</a:t>
            </a:r>
            <a:endParaRPr b="1"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77" name="Google Shape;2977;p129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Blockmodeling based on regular equivalence</a:t>
            </a:r>
            <a:endParaRPr/>
          </a:p>
        </p:txBody>
      </p:sp>
      <p:graphicFrame>
        <p:nvGraphicFramePr>
          <p:cNvPr id="2978" name="Google Shape;2978;p129"/>
          <p:cNvGraphicFramePr/>
          <p:nvPr/>
        </p:nvGraphicFramePr>
        <p:xfrm>
          <a:off x="1040575" y="16547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{9227120C-EC75-4DFE-8548-D5B7FEFD94EF}</a:tableStyleId>
              </a:tblPr>
              <a:tblGrid>
                <a:gridCol w="302750"/>
                <a:gridCol w="302750"/>
                <a:gridCol w="302750"/>
                <a:gridCol w="302750"/>
                <a:gridCol w="302750"/>
                <a:gridCol w="302750"/>
                <a:gridCol w="302750"/>
                <a:gridCol w="302750"/>
                <a:gridCol w="302750"/>
                <a:gridCol w="302750"/>
                <a:gridCol w="302750"/>
              </a:tblGrid>
              <a:tr h="28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a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c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h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j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b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d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g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i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</a:t>
                      </a:r>
                      <a:endParaRPr b="1"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</a:t>
                      </a:r>
                      <a:endParaRPr b="1"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a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c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h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FF0000"/>
                          </a:solidFill>
                        </a:rPr>
                        <a:t>j</a:t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b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d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g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6AA84F"/>
                          </a:solidFill>
                        </a:rPr>
                        <a:t>i</a:t>
                      </a:r>
                      <a:endParaRPr b="1"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0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AA84F"/>
                          </a:solidFill>
                        </a:rPr>
                        <a:t>1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3C78D8"/>
                          </a:solidFill>
                        </a:rPr>
                        <a:t>e</a:t>
                      </a:r>
                      <a:endParaRPr b="1"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1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1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6AA84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3C78D8"/>
                          </a:solidFill>
                        </a:rPr>
                        <a:t>f</a:t>
                      </a:r>
                      <a:endParaRPr b="1"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0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1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3C78D8"/>
                          </a:solidFill>
                        </a:rPr>
                        <a:t>1</a:t>
                      </a:r>
                      <a:endParaRPr sz="1100">
                        <a:solidFill>
                          <a:srgbClr val="3C78D8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</a:t>
                      </a:r>
                      <a:endParaRPr sz="1100"/>
                    </a:p>
                  </a:txBody>
                  <a:tcPr marT="0" marB="0" marR="0" marL="0" anchor="ctr">
                    <a:lnL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</a:t>
                      </a:r>
                      <a:endParaRPr sz="1100"/>
                    </a:p>
                  </a:txBody>
                  <a:tcPr marT="0" marB="0" marR="0" marL="0" anchor="ctr">
                    <a:lnL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</a:tbl>
          </a:graphicData>
        </a:graphic>
      </p:graphicFrame>
      <p:sp>
        <p:nvSpPr>
          <p:cNvPr id="2979" name="Google Shape;2979;p129"/>
          <p:cNvSpPr/>
          <p:nvPr/>
        </p:nvSpPr>
        <p:spPr>
          <a:xfrm>
            <a:off x="4625925" y="2728455"/>
            <a:ext cx="335100" cy="3291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980" name="Google Shape;2980;p129"/>
          <p:cNvSpPr/>
          <p:nvPr/>
        </p:nvSpPr>
        <p:spPr>
          <a:xfrm>
            <a:off x="4626036" y="3370664"/>
            <a:ext cx="335100" cy="3291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981" name="Google Shape;2981;p129"/>
          <p:cNvSpPr/>
          <p:nvPr/>
        </p:nvSpPr>
        <p:spPr>
          <a:xfrm>
            <a:off x="5597827" y="2728455"/>
            <a:ext cx="335100" cy="329100"/>
          </a:xfrm>
          <a:prstGeom prst="ellipse">
            <a:avLst/>
          </a:prstGeom>
          <a:solidFill>
            <a:srgbClr val="6AA84F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2982" name="Google Shape;2982;p129"/>
          <p:cNvSpPr/>
          <p:nvPr/>
        </p:nvSpPr>
        <p:spPr>
          <a:xfrm>
            <a:off x="5597827" y="3370664"/>
            <a:ext cx="335100" cy="329100"/>
          </a:xfrm>
          <a:prstGeom prst="ellipse">
            <a:avLst/>
          </a:prstGeom>
          <a:solidFill>
            <a:srgbClr val="6AA84F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2983" name="Google Shape;2983;p129"/>
          <p:cNvSpPr/>
          <p:nvPr/>
        </p:nvSpPr>
        <p:spPr>
          <a:xfrm>
            <a:off x="6190949" y="3049541"/>
            <a:ext cx="335100" cy="329100"/>
          </a:xfrm>
          <a:prstGeom prst="ellipse">
            <a:avLst/>
          </a:prstGeom>
          <a:solidFill>
            <a:srgbClr val="3C78D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2984" name="Google Shape;2984;p129"/>
          <p:cNvSpPr/>
          <p:nvPr/>
        </p:nvSpPr>
        <p:spPr>
          <a:xfrm>
            <a:off x="6925963" y="3049578"/>
            <a:ext cx="335100" cy="329100"/>
          </a:xfrm>
          <a:prstGeom prst="ellipse">
            <a:avLst/>
          </a:prstGeom>
          <a:solidFill>
            <a:srgbClr val="3C78D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sp>
        <p:nvSpPr>
          <p:cNvPr id="2985" name="Google Shape;2985;p129"/>
          <p:cNvSpPr/>
          <p:nvPr/>
        </p:nvSpPr>
        <p:spPr>
          <a:xfrm>
            <a:off x="7525292" y="2728455"/>
            <a:ext cx="335100" cy="329100"/>
          </a:xfrm>
          <a:prstGeom prst="ellipse">
            <a:avLst/>
          </a:prstGeom>
          <a:solidFill>
            <a:srgbClr val="6AA84F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sp>
        <p:nvSpPr>
          <p:cNvPr id="2986" name="Google Shape;2986;p129"/>
          <p:cNvSpPr/>
          <p:nvPr/>
        </p:nvSpPr>
        <p:spPr>
          <a:xfrm>
            <a:off x="7525292" y="3403210"/>
            <a:ext cx="335100" cy="329100"/>
          </a:xfrm>
          <a:prstGeom prst="ellipse">
            <a:avLst/>
          </a:prstGeom>
          <a:solidFill>
            <a:srgbClr val="6AA84F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endParaRPr/>
          </a:p>
        </p:txBody>
      </p:sp>
      <p:sp>
        <p:nvSpPr>
          <p:cNvPr id="2987" name="Google Shape;2987;p129"/>
          <p:cNvSpPr/>
          <p:nvPr/>
        </p:nvSpPr>
        <p:spPr>
          <a:xfrm>
            <a:off x="8497194" y="2728455"/>
            <a:ext cx="335100" cy="3291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endParaRPr/>
          </a:p>
        </p:txBody>
      </p:sp>
      <p:sp>
        <p:nvSpPr>
          <p:cNvPr id="2988" name="Google Shape;2988;p129"/>
          <p:cNvSpPr/>
          <p:nvPr/>
        </p:nvSpPr>
        <p:spPr>
          <a:xfrm>
            <a:off x="8497138" y="3403210"/>
            <a:ext cx="335100" cy="329100"/>
          </a:xfrm>
          <a:prstGeom prst="ellipse">
            <a:avLst/>
          </a:prstGeom>
          <a:solidFill>
            <a:srgbClr val="FF0000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  <p:cxnSp>
        <p:nvCxnSpPr>
          <p:cNvPr id="2989" name="Google Shape;2989;p129"/>
          <p:cNvCxnSpPr>
            <a:stCxn id="2979" idx="6"/>
            <a:endCxn id="2981" idx="2"/>
          </p:cNvCxnSpPr>
          <p:nvPr/>
        </p:nvCxnSpPr>
        <p:spPr>
          <a:xfrm>
            <a:off x="4961025" y="2893005"/>
            <a:ext cx="636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0" name="Google Shape;2990;p129"/>
          <p:cNvCxnSpPr>
            <a:stCxn id="2979" idx="5"/>
            <a:endCxn id="2982" idx="1"/>
          </p:cNvCxnSpPr>
          <p:nvPr/>
        </p:nvCxnSpPr>
        <p:spPr>
          <a:xfrm>
            <a:off x="4911951" y="3009359"/>
            <a:ext cx="735000" cy="40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1" name="Google Shape;2991;p129"/>
          <p:cNvCxnSpPr>
            <a:stCxn id="2980" idx="7"/>
            <a:endCxn id="2981" idx="3"/>
          </p:cNvCxnSpPr>
          <p:nvPr/>
        </p:nvCxnSpPr>
        <p:spPr>
          <a:xfrm flipH="1" rot="10800000">
            <a:off x="4912062" y="3009359"/>
            <a:ext cx="734700" cy="40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2" name="Google Shape;2992;p129"/>
          <p:cNvCxnSpPr>
            <a:stCxn id="2979" idx="4"/>
            <a:endCxn id="2980" idx="0"/>
          </p:cNvCxnSpPr>
          <p:nvPr/>
        </p:nvCxnSpPr>
        <p:spPr>
          <a:xfrm>
            <a:off x="4793475" y="3057555"/>
            <a:ext cx="0" cy="31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3" name="Google Shape;2993;p129"/>
          <p:cNvCxnSpPr>
            <a:stCxn id="2980" idx="6"/>
            <a:endCxn id="2982" idx="2"/>
          </p:cNvCxnSpPr>
          <p:nvPr/>
        </p:nvCxnSpPr>
        <p:spPr>
          <a:xfrm>
            <a:off x="4961136" y="3535214"/>
            <a:ext cx="636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4" name="Google Shape;2994;p129"/>
          <p:cNvCxnSpPr>
            <a:stCxn id="2981" idx="6"/>
            <a:endCxn id="2983" idx="1"/>
          </p:cNvCxnSpPr>
          <p:nvPr/>
        </p:nvCxnSpPr>
        <p:spPr>
          <a:xfrm>
            <a:off x="5932927" y="2893005"/>
            <a:ext cx="307200" cy="204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5" name="Google Shape;2995;p129"/>
          <p:cNvCxnSpPr>
            <a:stCxn id="2983" idx="3"/>
            <a:endCxn id="2982" idx="6"/>
          </p:cNvCxnSpPr>
          <p:nvPr/>
        </p:nvCxnSpPr>
        <p:spPr>
          <a:xfrm flipH="1">
            <a:off x="5932823" y="3330445"/>
            <a:ext cx="307200" cy="2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6" name="Google Shape;2996;p129"/>
          <p:cNvCxnSpPr>
            <a:stCxn id="2984" idx="2"/>
            <a:endCxn id="2983" idx="6"/>
          </p:cNvCxnSpPr>
          <p:nvPr/>
        </p:nvCxnSpPr>
        <p:spPr>
          <a:xfrm rot="10800000">
            <a:off x="6526063" y="3214128"/>
            <a:ext cx="399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7" name="Google Shape;2997;p129"/>
          <p:cNvCxnSpPr>
            <a:stCxn id="2985" idx="2"/>
            <a:endCxn id="2984" idx="7"/>
          </p:cNvCxnSpPr>
          <p:nvPr/>
        </p:nvCxnSpPr>
        <p:spPr>
          <a:xfrm flipH="1">
            <a:off x="7212092" y="2893005"/>
            <a:ext cx="313200" cy="2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8" name="Google Shape;2998;p129"/>
          <p:cNvCxnSpPr>
            <a:stCxn id="2986" idx="2"/>
            <a:endCxn id="2984" idx="5"/>
          </p:cNvCxnSpPr>
          <p:nvPr/>
        </p:nvCxnSpPr>
        <p:spPr>
          <a:xfrm rot="10800000">
            <a:off x="7212092" y="3330460"/>
            <a:ext cx="313200" cy="23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9" name="Google Shape;2999;p129"/>
          <p:cNvCxnSpPr>
            <a:stCxn id="2985" idx="5"/>
            <a:endCxn id="2988" idx="1"/>
          </p:cNvCxnSpPr>
          <p:nvPr/>
        </p:nvCxnSpPr>
        <p:spPr>
          <a:xfrm>
            <a:off x="7811318" y="3009359"/>
            <a:ext cx="735000" cy="44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0" name="Google Shape;3000;p129"/>
          <p:cNvCxnSpPr>
            <a:stCxn id="2987" idx="3"/>
            <a:endCxn id="2986" idx="7"/>
          </p:cNvCxnSpPr>
          <p:nvPr/>
        </p:nvCxnSpPr>
        <p:spPr>
          <a:xfrm flipH="1">
            <a:off x="7811268" y="3009359"/>
            <a:ext cx="735000" cy="44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1" name="Google Shape;3001;p129"/>
          <p:cNvCxnSpPr>
            <a:stCxn id="2987" idx="2"/>
            <a:endCxn id="2985" idx="6"/>
          </p:cNvCxnSpPr>
          <p:nvPr/>
        </p:nvCxnSpPr>
        <p:spPr>
          <a:xfrm rot="10800000">
            <a:off x="7860294" y="2893005"/>
            <a:ext cx="636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2" name="Google Shape;3002;p129"/>
          <p:cNvCxnSpPr>
            <a:stCxn id="2987" idx="4"/>
            <a:endCxn id="2988" idx="0"/>
          </p:cNvCxnSpPr>
          <p:nvPr/>
        </p:nvCxnSpPr>
        <p:spPr>
          <a:xfrm>
            <a:off x="8664744" y="3057555"/>
            <a:ext cx="0" cy="3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3" name="Google Shape;3003;p129"/>
          <p:cNvCxnSpPr>
            <a:stCxn id="2988" idx="2"/>
            <a:endCxn id="2986" idx="6"/>
          </p:cNvCxnSpPr>
          <p:nvPr/>
        </p:nvCxnSpPr>
        <p:spPr>
          <a:xfrm rot="10800000">
            <a:off x="7860538" y="3567760"/>
            <a:ext cx="636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