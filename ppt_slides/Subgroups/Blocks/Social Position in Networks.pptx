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Economica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C5F191-EAEA-4921-B1B7-356B9574457A}">
  <a:tblStyle styleId="{DAC5F191-EAEA-4921-B1B7-356B957445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Economica-bold.fntdata"/><Relationship Id="rId30" Type="http://schemas.openxmlformats.org/officeDocument/2006/relationships/font" Target="fonts/Economica-regular.fntdata"/><Relationship Id="rId11" Type="http://schemas.openxmlformats.org/officeDocument/2006/relationships/slide" Target="slides/slide4.xml"/><Relationship Id="rId33" Type="http://schemas.openxmlformats.org/officeDocument/2006/relationships/font" Target="fonts/Economica-boldItalic.fntdata"/><Relationship Id="rId10" Type="http://schemas.openxmlformats.org/officeDocument/2006/relationships/slide" Target="slides/slide3.xml"/><Relationship Id="rId32" Type="http://schemas.openxmlformats.org/officeDocument/2006/relationships/font" Target="fonts/Economica-italic.fntdata"/><Relationship Id="rId13" Type="http://schemas.openxmlformats.org/officeDocument/2006/relationships/slide" Target="slides/slide6.xml"/><Relationship Id="rId35" Type="http://schemas.openxmlformats.org/officeDocument/2006/relationships/font" Target="fonts/OpenSans-bold.fntdata"/><Relationship Id="rId12" Type="http://schemas.openxmlformats.org/officeDocument/2006/relationships/slide" Target="slides/slide5.xml"/><Relationship Id="rId34" Type="http://schemas.openxmlformats.org/officeDocument/2006/relationships/font" Target="fonts/OpenSans-regular.fntdata"/><Relationship Id="rId15" Type="http://schemas.openxmlformats.org/officeDocument/2006/relationships/slide" Target="slides/slide8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7.xml"/><Relationship Id="rId36" Type="http://schemas.openxmlformats.org/officeDocument/2006/relationships/font" Target="fonts/OpenSans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335dd66f0_0_557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335dd66f0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335dd66f0_0_562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335dd66f0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335dd66f0_0_567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335dd66f0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335dd66f0_0_572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335dd66f0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335dd66f0_0_584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335dd66f0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c335dd66f0_0_590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c335dd66f0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335dd66f0_0_59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335dd66f0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c335dd66f0_0_62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c335dd66f0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c335dd66f0_0_64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c335dd66f0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c335dd66f0_0_68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c335dd66f0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c335dd66f0_0_71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c335dd66f0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c335dd66f0_0_74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c335dd66f0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c335dd66f0_0_78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c335dd66f0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c335dd66f0_0_82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c335dd66f0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c335dd66f0_0_8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c335dd66f0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c335dd66f0_0_86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c335dd66f0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c335dd66f0_0_89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c335dd66f0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c335dd66f0_0_92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c335dd66f0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c335dd66f0_0_96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c335dd66f0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c335dd66f0_0_99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c335dd66f0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c335dd66f0_0_102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c335dd66f0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c335dd66f0_0_103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c335dd66f0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945562"/>
            <a:ext cx="3054600" cy="203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Position in Networks</a:t>
            </a:r>
            <a:endParaRPr/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position in networks</a:t>
            </a:r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standard social science </a:t>
            </a:r>
            <a:r>
              <a:rPr lang="en">
                <a:solidFill>
                  <a:srgbClr val="FF0000"/>
                </a:solidFill>
              </a:rPr>
              <a:t>social position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/>
              <a:t>is measured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 </a:t>
            </a:r>
            <a:r>
              <a:rPr b="1" lang="en"/>
              <a:t>rank </a:t>
            </a:r>
            <a:r>
              <a:rPr lang="en"/>
              <a:t>on some kind of ordinal or continuous </a:t>
            </a:r>
            <a:r>
              <a:rPr b="1" lang="en"/>
              <a:t>scale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Wealth, income, 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</a:t>
            </a:r>
            <a:r>
              <a:rPr b="1" lang="en"/>
              <a:t>membership </a:t>
            </a:r>
            <a:r>
              <a:rPr lang="en"/>
              <a:t>in some kind of nominal </a:t>
            </a:r>
            <a:r>
              <a:rPr b="1" lang="en"/>
              <a:t>category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Gender, race, marital 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Standard social science measures social position as </a:t>
            </a:r>
            <a:r>
              <a:rPr b="1" lang="en"/>
              <a:t>attribute similarity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Two actors occupy the same social position is they have the same rank on scale (e.g., college educated) or are members of the same nominal category (e.g., gender)</a:t>
            </a:r>
            <a:endParaRPr i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position in networks</a:t>
            </a:r>
            <a:endParaRPr/>
          </a:p>
        </p:txBody>
      </p:sp>
      <p:sp>
        <p:nvSpPr>
          <p:cNvPr id="123" name="Google Shape;123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standard social science </a:t>
            </a:r>
            <a:r>
              <a:rPr lang="en">
                <a:solidFill>
                  <a:srgbClr val="FF0000"/>
                </a:solidFill>
              </a:rPr>
              <a:t>social position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/>
              <a:t>is measured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 </a:t>
            </a:r>
            <a:r>
              <a:rPr b="1" lang="en"/>
              <a:t>rank </a:t>
            </a:r>
            <a:r>
              <a:rPr lang="en"/>
              <a:t>on some kind of ordinal or continuous </a:t>
            </a:r>
            <a:r>
              <a:rPr b="1" lang="en"/>
              <a:t>scale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Wealth, income, 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</a:t>
            </a:r>
            <a:r>
              <a:rPr b="1" lang="en"/>
              <a:t>membership </a:t>
            </a:r>
            <a:r>
              <a:rPr lang="en"/>
              <a:t>in some kind of nominal </a:t>
            </a:r>
            <a:r>
              <a:rPr b="1" lang="en"/>
              <a:t>category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Gender, race, marital 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Standard social science measures social position as </a:t>
            </a:r>
            <a:r>
              <a:rPr b="1" lang="en"/>
              <a:t>attribute similarity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Two actors occupy the same social position is they have the same rank on scale (e.g., college educated) or are members of the same nominal category (e.g., gender)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social network analysis</a:t>
            </a:r>
            <a:r>
              <a:rPr lang="en"/>
              <a:t> </a:t>
            </a:r>
            <a:r>
              <a:rPr lang="en">
                <a:solidFill>
                  <a:srgbClr val="FF0000"/>
                </a:solidFill>
              </a:rPr>
              <a:t>social position </a:t>
            </a:r>
            <a:r>
              <a:rPr lang="en"/>
              <a:t>is measured by the pattern of relations each actor has with </a:t>
            </a:r>
            <a:r>
              <a:rPr lang="en"/>
              <a:t>other actors</a:t>
            </a:r>
            <a:r>
              <a:rPr lang="en"/>
              <a:t>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network analysis measures social position as </a:t>
            </a:r>
            <a:r>
              <a:rPr b="1" lang="en"/>
              <a:t>relational similarity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position in networks</a:t>
            </a:r>
            <a:endParaRPr/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311700" y="1225215"/>
            <a:ext cx="5029800" cy="3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Positional analysis</a:t>
            </a:r>
            <a:r>
              <a:rPr lang="en"/>
              <a:t> is the branch of social network analysis in charge of: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Defining different notions of network position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graph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Developing techniques to measure them: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matrix algebra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position of actor </a:t>
            </a:r>
            <a:r>
              <a:rPr b="1" lang="en"/>
              <a:t>b</a:t>
            </a:r>
            <a:r>
              <a:rPr lang="en"/>
              <a:t> in the network is given by their pattern of relations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How similar (or different) in terms of their connectivity pattern is b from other actors?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Can we create groups or classes of actors based on their relational similarity?</a:t>
            </a:r>
            <a:endParaRPr i="1">
              <a:solidFill>
                <a:srgbClr val="FF0000"/>
              </a:solidFill>
            </a:endParaRPr>
          </a:p>
        </p:txBody>
      </p:sp>
      <p:graphicFrame>
        <p:nvGraphicFramePr>
          <p:cNvPr id="130" name="Google Shape;130;p29"/>
          <p:cNvGraphicFramePr/>
          <p:nvPr/>
        </p:nvGraphicFramePr>
        <p:xfrm>
          <a:off x="5891688" y="22561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{DAC5F191-EAEA-4921-B1B7-356B9574457A}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</a:tbl>
          </a:graphicData>
        </a:graphic>
      </p:graphicFrame>
      <p:grpSp>
        <p:nvGrpSpPr>
          <p:cNvPr id="131" name="Google Shape;131;p29"/>
          <p:cNvGrpSpPr/>
          <p:nvPr/>
        </p:nvGrpSpPr>
        <p:grpSpPr>
          <a:xfrm>
            <a:off x="5341637" y="803350"/>
            <a:ext cx="3490675" cy="1452782"/>
            <a:chOff x="5264900" y="3059073"/>
            <a:chExt cx="3490675" cy="1614202"/>
          </a:xfrm>
        </p:grpSpPr>
        <p:pic>
          <p:nvPicPr>
            <p:cNvPr id="132" name="Google Shape;132;p29"/>
            <p:cNvPicPr preferRelativeResize="0"/>
            <p:nvPr/>
          </p:nvPicPr>
          <p:blipFill rotWithShape="1">
            <a:blip r:embed="rId3">
              <a:alphaModFix/>
            </a:blip>
            <a:srcRect b="54218" l="50926" r="2550" t="22708"/>
            <a:stretch/>
          </p:blipFill>
          <p:spPr>
            <a:xfrm>
              <a:off x="5264900" y="3059073"/>
              <a:ext cx="3490675" cy="13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29"/>
            <p:cNvSpPr txBox="1"/>
            <p:nvPr/>
          </p:nvSpPr>
          <p:spPr>
            <a:xfrm>
              <a:off x="5782900" y="4380775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  <a:latin typeface="Economica"/>
                  <a:ea typeface="Economica"/>
                  <a:cs typeface="Economica"/>
                  <a:sym typeface="Economica"/>
                </a:rPr>
                <a:t>Directed Graph</a:t>
              </a:r>
              <a:endParaRPr b="1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134" name="Google Shape;134;p29"/>
          <p:cNvSpPr/>
          <p:nvPr/>
        </p:nvSpPr>
        <p:spPr>
          <a:xfrm>
            <a:off x="6032750" y="1048118"/>
            <a:ext cx="655800" cy="541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9"/>
          <p:cNvSpPr/>
          <p:nvPr/>
        </p:nvSpPr>
        <p:spPr>
          <a:xfrm>
            <a:off x="6178275" y="2905492"/>
            <a:ext cx="2156400" cy="49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9"/>
          <p:cNvSpPr/>
          <p:nvPr/>
        </p:nvSpPr>
        <p:spPr>
          <a:xfrm>
            <a:off x="6621450" y="2529720"/>
            <a:ext cx="516000" cy="1899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 between positional and clique analysis</a:t>
            </a:r>
            <a:endParaRPr/>
          </a:p>
        </p:txBody>
      </p:sp>
      <p:sp>
        <p:nvSpPr>
          <p:cNvPr id="142" name="Google Shape;142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Positional analysis</a:t>
            </a:r>
            <a:r>
              <a:rPr lang="en"/>
              <a:t> is both similar and different </a:t>
            </a:r>
            <a:r>
              <a:rPr lang="en"/>
              <a:t>from</a:t>
            </a:r>
            <a:r>
              <a:rPr lang="en"/>
              <a:t> </a:t>
            </a:r>
            <a:r>
              <a:rPr b="1" lang="en"/>
              <a:t>cohesive subgroup (clique) analysis</a:t>
            </a:r>
            <a:r>
              <a:rPr lang="en"/>
              <a:t>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partition the original set of actors (nodes) into subsets (subgraphs). But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</a:t>
            </a:r>
            <a:r>
              <a:rPr b="1" lang="en"/>
              <a:t>cohesive subgroup analysis</a:t>
            </a:r>
            <a:r>
              <a:rPr lang="en"/>
              <a:t> the aim is to find clusters of actors that are </a:t>
            </a:r>
            <a:r>
              <a:rPr i="1" lang="en"/>
              <a:t>strongly connected to one another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</a:t>
            </a:r>
            <a:r>
              <a:rPr b="1" lang="en"/>
              <a:t>positional analysis</a:t>
            </a:r>
            <a:r>
              <a:rPr lang="en"/>
              <a:t> the aim is to find </a:t>
            </a:r>
            <a:r>
              <a:rPr lang="en"/>
              <a:t>a cluster</a:t>
            </a:r>
            <a:r>
              <a:rPr lang="en"/>
              <a:t> of actors who have </a:t>
            </a:r>
            <a:r>
              <a:rPr i="1" lang="en"/>
              <a:t>the same pattern of connections to other actors</a:t>
            </a:r>
            <a:endParaRPr i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43" name="Google Shape;1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750" y="3268078"/>
            <a:ext cx="4032506" cy="174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/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Positional analysis</a:t>
            </a: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both similar and different 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from</a:t>
            </a: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cohesive subgroup (clique) analysis</a:t>
            </a:r>
            <a:r>
              <a:rPr lang="en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Both partition the original set of actors (nodes) into subsets (subgraphs). But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■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Actors in the </a:t>
            </a:r>
            <a:r>
              <a:rPr i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same position</a:t>
            </a: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 a network </a:t>
            </a:r>
            <a:r>
              <a:rPr b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don’t need to be directly connected to one another!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Although they could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■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Actors in the </a:t>
            </a:r>
            <a:r>
              <a:rPr i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same subgroup</a:t>
            </a: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</a:t>
            </a:r>
            <a:r>
              <a:rPr b="1"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eed to be directly or indirectly connected to one another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 between positional and clique analysis</a:t>
            </a:r>
            <a:endParaRPr/>
          </a:p>
        </p:txBody>
      </p:sp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750" y="3268078"/>
            <a:ext cx="4032506" cy="174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56" name="Google Shape;156;p32"/>
          <p:cNvSpPr txBox="1"/>
          <p:nvPr>
            <p:ph idx="1" type="body"/>
          </p:nvPr>
        </p:nvSpPr>
        <p:spPr>
          <a:xfrm>
            <a:off x="311700" y="1225220"/>
            <a:ext cx="8520600" cy="16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Structural equivalence </a:t>
            </a:r>
            <a:r>
              <a:rPr lang="en"/>
              <a:t>is the simplest of the equivalence notions in positional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i="1" lang="en">
                <a:solidFill>
                  <a:srgbClr val="FF0000"/>
                </a:solidFill>
              </a:rPr>
              <a:t>Two nodes u and v are structurally equivalent if they are connected to the same others</a:t>
            </a:r>
            <a:endParaRPr b="1"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N(a) is the set of vertices vertex is connected to (a’s neighborhood)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N(b) is the set of vertices vertex b is connected to (b’s neighborhood)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Then a and b are structurally equivalent if N(a) = N(b)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Without counting a or b!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87" y="3194533"/>
            <a:ext cx="2112821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5594" y="3207413"/>
            <a:ext cx="2112831" cy="17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1222" y="3191536"/>
            <a:ext cx="2383011" cy="1738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2"/>
          <p:cNvSpPr/>
          <p:nvPr/>
        </p:nvSpPr>
        <p:spPr>
          <a:xfrm>
            <a:off x="1428275" y="4007813"/>
            <a:ext cx="235800" cy="237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2"/>
          <p:cNvSpPr/>
          <p:nvPr/>
        </p:nvSpPr>
        <p:spPr>
          <a:xfrm>
            <a:off x="1395050" y="3191505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2"/>
          <p:cNvSpPr/>
          <p:nvPr/>
        </p:nvSpPr>
        <p:spPr>
          <a:xfrm>
            <a:off x="2335025" y="37230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2099225" y="471070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2"/>
          <p:cNvSpPr/>
          <p:nvPr/>
        </p:nvSpPr>
        <p:spPr>
          <a:xfrm>
            <a:off x="951675" y="478662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2"/>
          <p:cNvSpPr/>
          <p:nvPr/>
        </p:nvSpPr>
        <p:spPr>
          <a:xfrm>
            <a:off x="489775" y="3907934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3515600" y="3173800"/>
            <a:ext cx="235800" cy="237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2"/>
          <p:cNvSpPr/>
          <p:nvPr/>
        </p:nvSpPr>
        <p:spPr>
          <a:xfrm>
            <a:off x="3515600" y="3950000"/>
            <a:ext cx="235800" cy="237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2"/>
          <p:cNvSpPr/>
          <p:nvPr/>
        </p:nvSpPr>
        <p:spPr>
          <a:xfrm>
            <a:off x="3479500" y="4726188"/>
            <a:ext cx="235800" cy="237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2"/>
          <p:cNvSpPr/>
          <p:nvPr/>
        </p:nvSpPr>
        <p:spPr>
          <a:xfrm>
            <a:off x="5392625" y="317425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2"/>
          <p:cNvSpPr/>
          <p:nvPr/>
        </p:nvSpPr>
        <p:spPr>
          <a:xfrm>
            <a:off x="5392625" y="3942510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2"/>
          <p:cNvSpPr/>
          <p:nvPr/>
        </p:nvSpPr>
        <p:spPr>
          <a:xfrm>
            <a:off x="5392625" y="472664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2"/>
          <p:cNvSpPr/>
          <p:nvPr/>
        </p:nvSpPr>
        <p:spPr>
          <a:xfrm>
            <a:off x="6541425" y="37230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2"/>
          <p:cNvSpPr/>
          <p:nvPr/>
        </p:nvSpPr>
        <p:spPr>
          <a:xfrm>
            <a:off x="6809000" y="45499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2"/>
          <p:cNvSpPr/>
          <p:nvPr/>
        </p:nvSpPr>
        <p:spPr>
          <a:xfrm>
            <a:off x="7385950" y="317424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2"/>
          <p:cNvSpPr/>
          <p:nvPr/>
        </p:nvSpPr>
        <p:spPr>
          <a:xfrm>
            <a:off x="8161500" y="37230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2"/>
          <p:cNvSpPr/>
          <p:nvPr/>
        </p:nvSpPr>
        <p:spPr>
          <a:xfrm>
            <a:off x="7925700" y="45499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22521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Structurally equivalent actors: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Have the same ego-networks </a:t>
            </a:r>
            <a:r>
              <a:rPr lang="en"/>
              <a:t>(they are connected to the same set of others)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Are part of the same </a:t>
            </a:r>
            <a:r>
              <a:rPr b="1" lang="en"/>
              <a:t>2-clique</a:t>
            </a:r>
            <a:r>
              <a:rPr lang="en" sz="1400"/>
              <a:t> (they are connected by at least a path of length 2)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the same </a:t>
            </a:r>
            <a:r>
              <a:rPr b="1" lang="en"/>
              <a:t>graph theoretic attributes</a:t>
            </a:r>
            <a:r>
              <a:rPr lang="en"/>
              <a:t> (e.g., centrality, clustering coefficient, etc.)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i="1" lang="en">
                <a:solidFill>
                  <a:srgbClr val="FF0000"/>
                </a:solidFill>
              </a:rPr>
              <a:t>But not necessarily the reverse!</a:t>
            </a:r>
            <a:endParaRPr b="1" i="1">
              <a:solidFill>
                <a:srgbClr val="FF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i="1" lang="en">
                <a:solidFill>
                  <a:srgbClr val="000000"/>
                </a:solidFill>
              </a:rPr>
              <a:t>Two actors can have the same graph theoretic attributes but not be connected to the same others</a:t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87" y="3194533"/>
            <a:ext cx="2112821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5594" y="3207413"/>
            <a:ext cx="2112831" cy="17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1222" y="3191536"/>
            <a:ext cx="2383011" cy="173867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/>
          <p:nvPr/>
        </p:nvSpPr>
        <p:spPr>
          <a:xfrm>
            <a:off x="1428275" y="4007813"/>
            <a:ext cx="235800" cy="237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3"/>
          <p:cNvSpPr/>
          <p:nvPr/>
        </p:nvSpPr>
        <p:spPr>
          <a:xfrm>
            <a:off x="1395050" y="3191505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3"/>
          <p:cNvSpPr/>
          <p:nvPr/>
        </p:nvSpPr>
        <p:spPr>
          <a:xfrm>
            <a:off x="2335025" y="37230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3"/>
          <p:cNvSpPr/>
          <p:nvPr/>
        </p:nvSpPr>
        <p:spPr>
          <a:xfrm>
            <a:off x="2099225" y="471070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3"/>
          <p:cNvSpPr/>
          <p:nvPr/>
        </p:nvSpPr>
        <p:spPr>
          <a:xfrm>
            <a:off x="951675" y="478662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3"/>
          <p:cNvSpPr/>
          <p:nvPr/>
        </p:nvSpPr>
        <p:spPr>
          <a:xfrm>
            <a:off x="489775" y="3907934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3"/>
          <p:cNvSpPr/>
          <p:nvPr/>
        </p:nvSpPr>
        <p:spPr>
          <a:xfrm>
            <a:off x="3515600" y="3173800"/>
            <a:ext cx="235800" cy="237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3"/>
          <p:cNvSpPr/>
          <p:nvPr/>
        </p:nvSpPr>
        <p:spPr>
          <a:xfrm>
            <a:off x="3515600" y="3950000"/>
            <a:ext cx="235800" cy="237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3"/>
          <p:cNvSpPr/>
          <p:nvPr/>
        </p:nvSpPr>
        <p:spPr>
          <a:xfrm>
            <a:off x="3479500" y="4726188"/>
            <a:ext cx="235800" cy="237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/>
          <p:nvPr/>
        </p:nvSpPr>
        <p:spPr>
          <a:xfrm>
            <a:off x="5392625" y="317425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3"/>
          <p:cNvSpPr/>
          <p:nvPr/>
        </p:nvSpPr>
        <p:spPr>
          <a:xfrm>
            <a:off x="5392625" y="3942510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3"/>
          <p:cNvSpPr/>
          <p:nvPr/>
        </p:nvSpPr>
        <p:spPr>
          <a:xfrm>
            <a:off x="5392625" y="472664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3"/>
          <p:cNvSpPr/>
          <p:nvPr/>
        </p:nvSpPr>
        <p:spPr>
          <a:xfrm>
            <a:off x="6541425" y="37230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/>
          <p:nvPr/>
        </p:nvSpPr>
        <p:spPr>
          <a:xfrm>
            <a:off x="6809000" y="45499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3"/>
          <p:cNvSpPr/>
          <p:nvPr/>
        </p:nvSpPr>
        <p:spPr>
          <a:xfrm>
            <a:off x="7385950" y="3174248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3"/>
          <p:cNvSpPr/>
          <p:nvPr/>
        </p:nvSpPr>
        <p:spPr>
          <a:xfrm>
            <a:off x="8161500" y="37230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3"/>
          <p:cNvSpPr/>
          <p:nvPr/>
        </p:nvSpPr>
        <p:spPr>
          <a:xfrm>
            <a:off x="7925700" y="4549923"/>
            <a:ext cx="235800" cy="236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3"/>
          <p:cNvSpPr/>
          <p:nvPr/>
        </p:nvSpPr>
        <p:spPr>
          <a:xfrm>
            <a:off x="3282788" y="2942588"/>
            <a:ext cx="893100" cy="2051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3"/>
          <p:cNvSpPr/>
          <p:nvPr/>
        </p:nvSpPr>
        <p:spPr>
          <a:xfrm>
            <a:off x="5034988" y="2942588"/>
            <a:ext cx="893100" cy="2051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/>
          <p:nvPr/>
        </p:nvSpPr>
        <p:spPr>
          <a:xfrm>
            <a:off x="5410397" y="2809148"/>
            <a:ext cx="3267000" cy="78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4"/>
          <p:cNvSpPr/>
          <p:nvPr/>
        </p:nvSpPr>
        <p:spPr>
          <a:xfrm>
            <a:off x="466600" y="2809148"/>
            <a:ext cx="3267000" cy="78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4"/>
          <p:cNvSpPr/>
          <p:nvPr/>
        </p:nvSpPr>
        <p:spPr>
          <a:xfrm>
            <a:off x="466600" y="4107410"/>
            <a:ext cx="3267000" cy="78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311700" y="1225216"/>
            <a:ext cx="8520600" cy="13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Kin and hierarchical relations provide the basic model of structural equivalence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Parents are structural equivalent (in relation to offspring)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Siblings are structurally equivalent (in relation to parents)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work settings people at the same level of the hierarchy are structurally equivalent</a:t>
            </a:r>
            <a:endParaRPr/>
          </a:p>
        </p:txBody>
      </p:sp>
      <p:sp>
        <p:nvSpPr>
          <p:cNvPr id="214" name="Google Shape;214;p34"/>
          <p:cNvSpPr/>
          <p:nvPr/>
        </p:nvSpPr>
        <p:spPr>
          <a:xfrm>
            <a:off x="1035360" y="4271740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4"/>
          <p:cNvSpPr/>
          <p:nvPr/>
        </p:nvSpPr>
        <p:spPr>
          <a:xfrm>
            <a:off x="1035360" y="3165140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4"/>
          <p:cNvSpPr/>
          <p:nvPr/>
        </p:nvSpPr>
        <p:spPr>
          <a:xfrm>
            <a:off x="2823669" y="3165140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/>
          <p:nvPr/>
        </p:nvSpPr>
        <p:spPr>
          <a:xfrm>
            <a:off x="2823669" y="4271740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" name="Google Shape;218;p34"/>
          <p:cNvCxnSpPr>
            <a:stCxn id="215" idx="5"/>
            <a:endCxn id="217" idx="1"/>
          </p:cNvCxnSpPr>
          <p:nvPr/>
        </p:nvCxnSpPr>
        <p:spPr>
          <a:xfrm>
            <a:off x="1369270" y="3438619"/>
            <a:ext cx="1511700" cy="87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4"/>
          <p:cNvCxnSpPr>
            <a:stCxn id="215" idx="4"/>
            <a:endCxn id="214" idx="0"/>
          </p:cNvCxnSpPr>
          <p:nvPr/>
        </p:nvCxnSpPr>
        <p:spPr>
          <a:xfrm>
            <a:off x="1230960" y="3485540"/>
            <a:ext cx="0" cy="78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4"/>
          <p:cNvCxnSpPr>
            <a:stCxn id="216" idx="4"/>
            <a:endCxn id="217" idx="0"/>
          </p:cNvCxnSpPr>
          <p:nvPr/>
        </p:nvCxnSpPr>
        <p:spPr>
          <a:xfrm>
            <a:off x="3019269" y="3485540"/>
            <a:ext cx="0" cy="78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34"/>
          <p:cNvCxnSpPr>
            <a:stCxn id="216" idx="3"/>
            <a:endCxn id="214" idx="7"/>
          </p:cNvCxnSpPr>
          <p:nvPr/>
        </p:nvCxnSpPr>
        <p:spPr>
          <a:xfrm flipH="1">
            <a:off x="1369259" y="3438619"/>
            <a:ext cx="1511700" cy="87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34"/>
          <p:cNvSpPr txBox="1"/>
          <p:nvPr/>
        </p:nvSpPr>
        <p:spPr>
          <a:xfrm>
            <a:off x="638296" y="2837202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3" name="Google Shape;223;p34"/>
          <p:cNvSpPr txBox="1"/>
          <p:nvPr/>
        </p:nvSpPr>
        <p:spPr>
          <a:xfrm>
            <a:off x="2426605" y="2837202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638296" y="4592270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2426605" y="4592270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Daughter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5954191" y="4305497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/>
          <p:nvPr/>
        </p:nvSpPr>
        <p:spPr>
          <a:xfrm>
            <a:off x="5954191" y="3198897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4"/>
          <p:cNvSpPr/>
          <p:nvPr/>
        </p:nvSpPr>
        <p:spPr>
          <a:xfrm>
            <a:off x="7742500" y="3198897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4"/>
          <p:cNvSpPr/>
          <p:nvPr/>
        </p:nvSpPr>
        <p:spPr>
          <a:xfrm>
            <a:off x="7742500" y="4305497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34"/>
          <p:cNvCxnSpPr>
            <a:stCxn id="227" idx="5"/>
            <a:endCxn id="229" idx="1"/>
          </p:cNvCxnSpPr>
          <p:nvPr/>
        </p:nvCxnSpPr>
        <p:spPr>
          <a:xfrm>
            <a:off x="6288101" y="3472376"/>
            <a:ext cx="1511700" cy="87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4"/>
          <p:cNvCxnSpPr>
            <a:stCxn id="227" idx="4"/>
            <a:endCxn id="226" idx="0"/>
          </p:cNvCxnSpPr>
          <p:nvPr/>
        </p:nvCxnSpPr>
        <p:spPr>
          <a:xfrm>
            <a:off x="6149791" y="3519297"/>
            <a:ext cx="0" cy="78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4"/>
          <p:cNvCxnSpPr>
            <a:stCxn id="228" idx="4"/>
            <a:endCxn id="229" idx="0"/>
          </p:cNvCxnSpPr>
          <p:nvPr/>
        </p:nvCxnSpPr>
        <p:spPr>
          <a:xfrm>
            <a:off x="7938100" y="3519297"/>
            <a:ext cx="0" cy="78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4"/>
          <p:cNvCxnSpPr>
            <a:stCxn id="228" idx="3"/>
            <a:endCxn id="226" idx="7"/>
          </p:cNvCxnSpPr>
          <p:nvPr/>
        </p:nvCxnSpPr>
        <p:spPr>
          <a:xfrm flipH="1">
            <a:off x="6288090" y="3472376"/>
            <a:ext cx="1511700" cy="87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34"/>
          <p:cNvSpPr txBox="1"/>
          <p:nvPr/>
        </p:nvSpPr>
        <p:spPr>
          <a:xfrm>
            <a:off x="5557127" y="2870959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Supervisor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5" name="Google Shape;235;p34"/>
          <p:cNvSpPr txBox="1"/>
          <p:nvPr/>
        </p:nvSpPr>
        <p:spPr>
          <a:xfrm>
            <a:off x="7345436" y="2870959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Supervisor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6" name="Google Shape;236;p34"/>
          <p:cNvSpPr txBox="1"/>
          <p:nvPr/>
        </p:nvSpPr>
        <p:spPr>
          <a:xfrm>
            <a:off x="5557127" y="4626027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Worker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7345436" y="4626027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Worker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8" name="Google Shape;238;p34"/>
          <p:cNvSpPr/>
          <p:nvPr/>
        </p:nvSpPr>
        <p:spPr>
          <a:xfrm>
            <a:off x="5410397" y="4107410"/>
            <a:ext cx="3267000" cy="78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44" name="Google Shape;244;p35"/>
          <p:cNvSpPr txBox="1"/>
          <p:nvPr/>
        </p:nvSpPr>
        <p:spPr>
          <a:xfrm>
            <a:off x="3604950" y="4377758"/>
            <a:ext cx="20088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Borgatti and Everett’s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“Thinking Graph”</a:t>
            </a:r>
            <a:endParaRPr/>
          </a:p>
        </p:txBody>
      </p:sp>
      <p:sp>
        <p:nvSpPr>
          <p:cNvPr id="245" name="Google Shape;245;p35"/>
          <p:cNvSpPr txBox="1"/>
          <p:nvPr>
            <p:ph idx="1" type="body"/>
          </p:nvPr>
        </p:nvSpPr>
        <p:spPr>
          <a:xfrm>
            <a:off x="311700" y="1225221"/>
            <a:ext cx="8520600" cy="14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positional analysis </a:t>
            </a:r>
            <a:r>
              <a:rPr lang="en"/>
              <a:t>finds a set of positions P = {l, m, n…}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each position (blocks) is a subset of </a:t>
            </a:r>
            <a:r>
              <a:rPr lang="en"/>
              <a:t>equivalent</a:t>
            </a:r>
            <a:r>
              <a:rPr lang="en"/>
              <a:t> nodes in the original network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symbol for equivalence is ≣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X ≣ Y reads as “X is (structurally) equivalent to Y”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5"/>
          <p:cNvSpPr/>
          <p:nvPr/>
        </p:nvSpPr>
        <p:spPr>
          <a:xfrm>
            <a:off x="831375" y="2879280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47" name="Google Shape;247;p35"/>
          <p:cNvSpPr/>
          <p:nvPr/>
        </p:nvSpPr>
        <p:spPr>
          <a:xfrm>
            <a:off x="831575" y="4042913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248" name="Google Shape;248;p35"/>
          <p:cNvSpPr/>
          <p:nvPr/>
        </p:nvSpPr>
        <p:spPr>
          <a:xfrm>
            <a:off x="2577325" y="2879280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49" name="Google Shape;249;p35"/>
          <p:cNvSpPr/>
          <p:nvPr/>
        </p:nvSpPr>
        <p:spPr>
          <a:xfrm>
            <a:off x="2577325" y="4042913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250" name="Google Shape;250;p35"/>
          <p:cNvSpPr/>
          <p:nvPr/>
        </p:nvSpPr>
        <p:spPr>
          <a:xfrm>
            <a:off x="3642825" y="3461063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51" name="Google Shape;251;p35"/>
          <p:cNvSpPr/>
          <p:nvPr/>
        </p:nvSpPr>
        <p:spPr>
          <a:xfrm>
            <a:off x="4963225" y="3461130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sp>
        <p:nvSpPr>
          <p:cNvPr id="252" name="Google Shape;252;p35"/>
          <p:cNvSpPr/>
          <p:nvPr/>
        </p:nvSpPr>
        <p:spPr>
          <a:xfrm>
            <a:off x="6039875" y="2879280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53" name="Google Shape;253;p35"/>
          <p:cNvSpPr/>
          <p:nvPr/>
        </p:nvSpPr>
        <p:spPr>
          <a:xfrm>
            <a:off x="6039875" y="4101885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</a:t>
            </a:r>
            <a:endParaRPr sz="1800"/>
          </a:p>
        </p:txBody>
      </p:sp>
      <p:sp>
        <p:nvSpPr>
          <p:cNvPr id="254" name="Google Shape;254;p35"/>
          <p:cNvSpPr/>
          <p:nvPr/>
        </p:nvSpPr>
        <p:spPr>
          <a:xfrm>
            <a:off x="7785825" y="2879280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sp>
        <p:nvSpPr>
          <p:cNvPr id="255" name="Google Shape;255;p35"/>
          <p:cNvSpPr/>
          <p:nvPr/>
        </p:nvSpPr>
        <p:spPr>
          <a:xfrm>
            <a:off x="7785725" y="4101885"/>
            <a:ext cx="601500" cy="522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cxnSp>
        <p:nvCxnSpPr>
          <p:cNvPr id="256" name="Google Shape;256;p35"/>
          <p:cNvCxnSpPr>
            <a:stCxn id="246" idx="6"/>
            <a:endCxn id="248" idx="2"/>
          </p:cNvCxnSpPr>
          <p:nvPr/>
        </p:nvCxnSpPr>
        <p:spPr>
          <a:xfrm>
            <a:off x="1432875" y="3140430"/>
            <a:ext cx="1144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5"/>
          <p:cNvCxnSpPr>
            <a:stCxn id="246" idx="5"/>
            <a:endCxn id="249" idx="1"/>
          </p:cNvCxnSpPr>
          <p:nvPr/>
        </p:nvCxnSpPr>
        <p:spPr>
          <a:xfrm>
            <a:off x="1344787" y="3325091"/>
            <a:ext cx="1320600" cy="79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35"/>
          <p:cNvCxnSpPr>
            <a:stCxn id="247" idx="7"/>
            <a:endCxn id="248" idx="3"/>
          </p:cNvCxnSpPr>
          <p:nvPr/>
        </p:nvCxnSpPr>
        <p:spPr>
          <a:xfrm flipH="1" rot="10800000">
            <a:off x="1344987" y="3325002"/>
            <a:ext cx="1320300" cy="79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5"/>
          <p:cNvCxnSpPr>
            <a:stCxn id="246" idx="4"/>
            <a:endCxn id="247" idx="0"/>
          </p:cNvCxnSpPr>
          <p:nvPr/>
        </p:nvCxnSpPr>
        <p:spPr>
          <a:xfrm>
            <a:off x="1132125" y="3401580"/>
            <a:ext cx="300" cy="64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5"/>
          <p:cNvCxnSpPr>
            <a:stCxn id="247" idx="6"/>
            <a:endCxn id="249" idx="2"/>
          </p:cNvCxnSpPr>
          <p:nvPr/>
        </p:nvCxnSpPr>
        <p:spPr>
          <a:xfrm>
            <a:off x="1433075" y="4304063"/>
            <a:ext cx="1144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5"/>
          <p:cNvCxnSpPr>
            <a:stCxn id="248" idx="6"/>
            <a:endCxn id="250" idx="1"/>
          </p:cNvCxnSpPr>
          <p:nvPr/>
        </p:nvCxnSpPr>
        <p:spPr>
          <a:xfrm>
            <a:off x="3178825" y="3140430"/>
            <a:ext cx="552000" cy="39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5"/>
          <p:cNvCxnSpPr>
            <a:stCxn id="250" idx="3"/>
            <a:endCxn id="249" idx="6"/>
          </p:cNvCxnSpPr>
          <p:nvPr/>
        </p:nvCxnSpPr>
        <p:spPr>
          <a:xfrm flipH="1">
            <a:off x="3178913" y="3906873"/>
            <a:ext cx="552000" cy="39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5"/>
          <p:cNvCxnSpPr>
            <a:stCxn id="251" idx="2"/>
            <a:endCxn id="250" idx="6"/>
          </p:cNvCxnSpPr>
          <p:nvPr/>
        </p:nvCxnSpPr>
        <p:spPr>
          <a:xfrm rot="10800000">
            <a:off x="4244425" y="3722280"/>
            <a:ext cx="71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5"/>
          <p:cNvCxnSpPr>
            <a:stCxn id="252" idx="2"/>
            <a:endCxn id="251" idx="7"/>
          </p:cNvCxnSpPr>
          <p:nvPr/>
        </p:nvCxnSpPr>
        <p:spPr>
          <a:xfrm flipH="1">
            <a:off x="5476775" y="3140430"/>
            <a:ext cx="563100" cy="39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5"/>
          <p:cNvCxnSpPr>
            <a:stCxn id="253" idx="2"/>
            <a:endCxn id="251" idx="5"/>
          </p:cNvCxnSpPr>
          <p:nvPr/>
        </p:nvCxnSpPr>
        <p:spPr>
          <a:xfrm rot="10800000">
            <a:off x="5476775" y="3907035"/>
            <a:ext cx="563100" cy="45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5"/>
          <p:cNvCxnSpPr>
            <a:stCxn id="252" idx="5"/>
            <a:endCxn id="255" idx="1"/>
          </p:cNvCxnSpPr>
          <p:nvPr/>
        </p:nvCxnSpPr>
        <p:spPr>
          <a:xfrm>
            <a:off x="6553287" y="3325091"/>
            <a:ext cx="1320600" cy="8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5"/>
          <p:cNvCxnSpPr>
            <a:stCxn id="254" idx="3"/>
            <a:endCxn id="253" idx="7"/>
          </p:cNvCxnSpPr>
          <p:nvPr/>
        </p:nvCxnSpPr>
        <p:spPr>
          <a:xfrm flipH="1">
            <a:off x="6553313" y="3325091"/>
            <a:ext cx="1320600" cy="8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5"/>
          <p:cNvCxnSpPr>
            <a:stCxn id="254" idx="2"/>
            <a:endCxn id="252" idx="6"/>
          </p:cNvCxnSpPr>
          <p:nvPr/>
        </p:nvCxnSpPr>
        <p:spPr>
          <a:xfrm rot="10800000">
            <a:off x="6641325" y="3140430"/>
            <a:ext cx="1144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5"/>
          <p:cNvCxnSpPr>
            <a:stCxn id="254" idx="4"/>
            <a:endCxn id="255" idx="0"/>
          </p:cNvCxnSpPr>
          <p:nvPr/>
        </p:nvCxnSpPr>
        <p:spPr>
          <a:xfrm>
            <a:off x="8086575" y="3401580"/>
            <a:ext cx="0" cy="70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35"/>
          <p:cNvCxnSpPr>
            <a:stCxn id="255" idx="2"/>
            <a:endCxn id="253" idx="6"/>
          </p:cNvCxnSpPr>
          <p:nvPr/>
        </p:nvCxnSpPr>
        <p:spPr>
          <a:xfrm rot="10800000">
            <a:off x="6641525" y="4363035"/>
            <a:ext cx="1144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76" name="Google Shape;276;p36"/>
          <p:cNvSpPr txBox="1"/>
          <p:nvPr/>
        </p:nvSpPr>
        <p:spPr>
          <a:xfrm>
            <a:off x="3604950" y="4377758"/>
            <a:ext cx="20088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Borgatti and Everett’s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“Thinking Graph”</a:t>
            </a:r>
            <a:endParaRPr/>
          </a:p>
        </p:txBody>
      </p:sp>
      <p:sp>
        <p:nvSpPr>
          <p:cNvPr id="277" name="Google Shape;277;p36"/>
          <p:cNvSpPr txBox="1"/>
          <p:nvPr>
            <p:ph idx="1" type="body"/>
          </p:nvPr>
        </p:nvSpPr>
        <p:spPr>
          <a:xfrm>
            <a:off x="311700" y="1225221"/>
            <a:ext cx="8520600" cy="14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positional analysis </a:t>
            </a:r>
            <a:r>
              <a:rPr lang="en"/>
              <a:t>finds a set of positions P = {l, m, n…}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each position (blocks) is a subset of the nodes in the original network that are seen as equivalent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case of positions defined as </a:t>
            </a:r>
            <a:r>
              <a:rPr b="1" lang="en"/>
              <a:t>structural equivalence</a:t>
            </a:r>
            <a:r>
              <a:rPr lang="en"/>
              <a:t> below: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 = {a ≣ c}, {b ≣ d}, {e ≣ e}, {f ≣ f}, {g ≣ i}, {h ≣ j}</a:t>
            </a:r>
            <a:endParaRPr/>
          </a:p>
        </p:txBody>
      </p:sp>
      <p:grpSp>
        <p:nvGrpSpPr>
          <p:cNvPr id="278" name="Google Shape;278;p36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279" name="Google Shape;279;p36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280" name="Google Shape;280;p36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281" name="Google Shape;281;p36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282" name="Google Shape;282;p36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283" name="Google Shape;283;p36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284" name="Google Shape;284;p36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FF00F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285" name="Google Shape;285;p36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286" name="Google Shape;286;p36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287" name="Google Shape;287;p36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288" name="Google Shape;288;p36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289" name="Google Shape;289;p36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290" name="Google Shape;290;p36"/>
              <p:cNvCxnSpPr>
                <a:stCxn id="280" idx="6"/>
                <a:endCxn id="282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" name="Google Shape;291;p36"/>
              <p:cNvCxnSpPr>
                <a:stCxn id="280" idx="5"/>
                <a:endCxn id="283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" name="Google Shape;292;p36"/>
              <p:cNvCxnSpPr>
                <a:stCxn id="281" idx="7"/>
                <a:endCxn id="282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36"/>
              <p:cNvCxnSpPr>
                <a:stCxn id="280" idx="4"/>
                <a:endCxn id="281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" name="Google Shape;294;p36"/>
              <p:cNvCxnSpPr>
                <a:stCxn id="281" idx="6"/>
                <a:endCxn id="283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36"/>
              <p:cNvCxnSpPr>
                <a:stCxn id="282" idx="6"/>
                <a:endCxn id="284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36"/>
              <p:cNvCxnSpPr>
                <a:stCxn id="284" idx="3"/>
                <a:endCxn id="283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36"/>
              <p:cNvCxnSpPr>
                <a:stCxn id="285" idx="2"/>
                <a:endCxn id="284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36"/>
              <p:cNvCxnSpPr>
                <a:stCxn id="286" idx="2"/>
                <a:endCxn id="285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36"/>
              <p:cNvCxnSpPr>
                <a:stCxn id="287" idx="2"/>
                <a:endCxn id="285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" name="Google Shape;300;p36"/>
              <p:cNvCxnSpPr>
                <a:stCxn id="286" idx="5"/>
                <a:endCxn id="289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" name="Google Shape;301;p36"/>
              <p:cNvCxnSpPr>
                <a:stCxn id="288" idx="3"/>
                <a:endCxn id="287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" name="Google Shape;302;p36"/>
              <p:cNvCxnSpPr>
                <a:stCxn id="288" idx="2"/>
                <a:endCxn id="286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" name="Google Shape;303;p36"/>
              <p:cNvCxnSpPr>
                <a:stCxn id="288" idx="4"/>
                <a:endCxn id="289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" name="Google Shape;304;p36"/>
              <p:cNvCxnSpPr>
                <a:stCxn id="289" idx="2"/>
                <a:endCxn id="287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5" name="Google Shape;305;p36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311" name="Google Shape;311;p37"/>
          <p:cNvSpPr txBox="1"/>
          <p:nvPr/>
        </p:nvSpPr>
        <p:spPr>
          <a:xfrm>
            <a:off x="3604950" y="4377758"/>
            <a:ext cx="20088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Borgatti and Everett’s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“Thinking Graph”</a:t>
            </a:r>
            <a:endParaRPr/>
          </a:p>
        </p:txBody>
      </p:sp>
      <p:sp>
        <p:nvSpPr>
          <p:cNvPr id="312" name="Google Shape;312;p37"/>
          <p:cNvSpPr txBox="1"/>
          <p:nvPr>
            <p:ph idx="1" type="body"/>
          </p:nvPr>
        </p:nvSpPr>
        <p:spPr>
          <a:xfrm>
            <a:off x="311700" y="1225221"/>
            <a:ext cx="8520600" cy="14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positional analysis </a:t>
            </a:r>
            <a:r>
              <a:rPr lang="en"/>
              <a:t>finds a set of positions P = {l, m, n…}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each position (blocks) is a subset of the nodes in the original network that are seen as equivalent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case of positions defined as </a:t>
            </a:r>
            <a:r>
              <a:rPr b="1" lang="en"/>
              <a:t>structural equivalence</a:t>
            </a:r>
            <a:r>
              <a:rPr lang="en"/>
              <a:t> below: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 = {a ≣ c}, {b ≣ d}, {e ≣ e}, {f ≣ f}, {g ≣ i}, {h ≣ j}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3" name="Google Shape;313;p37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314" name="Google Shape;314;p37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15" name="Google Shape;315;p37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16" name="Google Shape;316;p37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17" name="Google Shape;317;p37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18" name="Google Shape;318;p37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19" name="Google Shape;319;p37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FF00F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20" name="Google Shape;320;p37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21" name="Google Shape;321;p37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22" name="Google Shape;322;p37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23" name="Google Shape;323;p37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24" name="Google Shape;324;p37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25" name="Google Shape;325;p37"/>
              <p:cNvCxnSpPr>
                <a:stCxn id="315" idx="6"/>
                <a:endCxn id="317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37"/>
              <p:cNvCxnSpPr>
                <a:stCxn id="315" idx="5"/>
                <a:endCxn id="318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37"/>
              <p:cNvCxnSpPr>
                <a:stCxn id="316" idx="7"/>
                <a:endCxn id="317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" name="Google Shape;328;p37"/>
              <p:cNvCxnSpPr>
                <a:stCxn id="315" idx="4"/>
                <a:endCxn id="316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" name="Google Shape;329;p37"/>
              <p:cNvCxnSpPr>
                <a:stCxn id="316" idx="6"/>
                <a:endCxn id="318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" name="Google Shape;330;p37"/>
              <p:cNvCxnSpPr>
                <a:stCxn id="317" idx="6"/>
                <a:endCxn id="319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" name="Google Shape;331;p37"/>
              <p:cNvCxnSpPr>
                <a:stCxn id="319" idx="3"/>
                <a:endCxn id="318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p37"/>
              <p:cNvCxnSpPr>
                <a:stCxn id="320" idx="2"/>
                <a:endCxn id="319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" name="Google Shape;333;p37"/>
              <p:cNvCxnSpPr>
                <a:stCxn id="321" idx="2"/>
                <a:endCxn id="320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" name="Google Shape;334;p37"/>
              <p:cNvCxnSpPr>
                <a:stCxn id="322" idx="2"/>
                <a:endCxn id="320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" name="Google Shape;335;p37"/>
              <p:cNvCxnSpPr>
                <a:stCxn id="321" idx="5"/>
                <a:endCxn id="324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" name="Google Shape;336;p37"/>
              <p:cNvCxnSpPr>
                <a:stCxn id="323" idx="3"/>
                <a:endCxn id="322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" name="Google Shape;337;p37"/>
              <p:cNvCxnSpPr>
                <a:stCxn id="323" idx="2"/>
                <a:endCxn id="321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" name="Google Shape;338;p37"/>
              <p:cNvCxnSpPr>
                <a:stCxn id="323" idx="4"/>
                <a:endCxn id="324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" name="Google Shape;339;p37"/>
              <p:cNvCxnSpPr>
                <a:stCxn id="324" idx="2"/>
                <a:endCxn id="322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40" name="Google Shape;340;p37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  <p:sp>
        <p:nvSpPr>
          <p:cNvPr id="341" name="Google Shape;341;p37"/>
          <p:cNvSpPr/>
          <p:nvPr/>
        </p:nvSpPr>
        <p:spPr>
          <a:xfrm>
            <a:off x="636225" y="2724772"/>
            <a:ext cx="932400" cy="197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7"/>
          <p:cNvSpPr/>
          <p:nvPr/>
        </p:nvSpPr>
        <p:spPr>
          <a:xfrm>
            <a:off x="2404225" y="2744437"/>
            <a:ext cx="932400" cy="197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7"/>
          <p:cNvSpPr/>
          <p:nvPr/>
        </p:nvSpPr>
        <p:spPr>
          <a:xfrm>
            <a:off x="3446825" y="2744437"/>
            <a:ext cx="932400" cy="197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7"/>
          <p:cNvSpPr/>
          <p:nvPr/>
        </p:nvSpPr>
        <p:spPr>
          <a:xfrm>
            <a:off x="4786200" y="2744437"/>
            <a:ext cx="932400" cy="197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7"/>
          <p:cNvSpPr/>
          <p:nvPr/>
        </p:nvSpPr>
        <p:spPr>
          <a:xfrm>
            <a:off x="5882075" y="2744437"/>
            <a:ext cx="932400" cy="197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7"/>
          <p:cNvSpPr/>
          <p:nvPr/>
        </p:nvSpPr>
        <p:spPr>
          <a:xfrm>
            <a:off x="7541850" y="2744437"/>
            <a:ext cx="932400" cy="197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352" name="Google Shape;352;p38"/>
          <p:cNvSpPr txBox="1"/>
          <p:nvPr>
            <p:ph idx="1" type="body"/>
          </p:nvPr>
        </p:nvSpPr>
        <p:spPr>
          <a:xfrm>
            <a:off x="311700" y="1225215"/>
            <a:ext cx="8520600" cy="1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Structurally equivalent actors: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Have the same ego-networks </a:t>
            </a:r>
            <a:r>
              <a:rPr lang="en"/>
              <a:t>(they are connected to the same set of others)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Are part of the same </a:t>
            </a:r>
            <a:r>
              <a:rPr b="1" lang="en"/>
              <a:t>2-clique</a:t>
            </a:r>
            <a:r>
              <a:rPr lang="en" sz="1400"/>
              <a:t> (they are connected by at least a path of length 2)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the same </a:t>
            </a:r>
            <a:r>
              <a:rPr b="1" lang="en"/>
              <a:t>graph theoretic attributes</a:t>
            </a:r>
            <a:r>
              <a:rPr lang="en"/>
              <a:t> (e.g., centrality, clustering coefficient, etc.)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38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354" name="Google Shape;354;p38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55" name="Google Shape;355;p38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56" name="Google Shape;356;p38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57" name="Google Shape;357;p38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762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58" name="Google Shape;358;p38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762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59" name="Google Shape;359;p38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FF00F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60" name="Google Shape;360;p38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61" name="Google Shape;361;p38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62" name="Google Shape;362;p38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63" name="Google Shape;363;p38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64" name="Google Shape;364;p38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65" name="Google Shape;365;p38"/>
              <p:cNvCxnSpPr>
                <a:stCxn id="355" idx="6"/>
                <a:endCxn id="357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" name="Google Shape;366;p38"/>
              <p:cNvCxnSpPr>
                <a:stCxn id="355" idx="5"/>
                <a:endCxn id="358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" name="Google Shape;367;p38"/>
              <p:cNvCxnSpPr>
                <a:stCxn id="356" idx="7"/>
                <a:endCxn id="357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" name="Google Shape;368;p38"/>
              <p:cNvCxnSpPr>
                <a:stCxn id="355" idx="4"/>
                <a:endCxn id="356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" name="Google Shape;369;p38"/>
              <p:cNvCxnSpPr>
                <a:stCxn id="356" idx="6"/>
                <a:endCxn id="358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" name="Google Shape;370;p38"/>
              <p:cNvCxnSpPr>
                <a:stCxn id="357" idx="6"/>
                <a:endCxn id="359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" name="Google Shape;371;p38"/>
              <p:cNvCxnSpPr>
                <a:stCxn id="359" idx="3"/>
                <a:endCxn id="358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" name="Google Shape;372;p38"/>
              <p:cNvCxnSpPr>
                <a:stCxn id="360" idx="2"/>
                <a:endCxn id="359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" name="Google Shape;373;p38"/>
              <p:cNvCxnSpPr>
                <a:stCxn id="361" idx="2"/>
                <a:endCxn id="360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" name="Google Shape;374;p38"/>
              <p:cNvCxnSpPr>
                <a:stCxn id="362" idx="2"/>
                <a:endCxn id="360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" name="Google Shape;375;p38"/>
              <p:cNvCxnSpPr>
                <a:stCxn id="361" idx="5"/>
                <a:endCxn id="364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" name="Google Shape;376;p38"/>
              <p:cNvCxnSpPr>
                <a:stCxn id="363" idx="3"/>
                <a:endCxn id="362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" name="Google Shape;377;p38"/>
              <p:cNvCxnSpPr>
                <a:stCxn id="363" idx="2"/>
                <a:endCxn id="361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" name="Google Shape;378;p38"/>
              <p:cNvCxnSpPr>
                <a:stCxn id="363" idx="4"/>
                <a:endCxn id="364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" name="Google Shape;379;p38"/>
              <p:cNvCxnSpPr>
                <a:stCxn id="364" idx="2"/>
                <a:endCxn id="362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80" name="Google Shape;380;p38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  <p:sp>
        <p:nvSpPr>
          <p:cNvPr id="381" name="Google Shape;381;p38"/>
          <p:cNvSpPr/>
          <p:nvPr/>
        </p:nvSpPr>
        <p:spPr>
          <a:xfrm>
            <a:off x="636225" y="2724772"/>
            <a:ext cx="932400" cy="197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based on structural equivalence</a:t>
            </a:r>
            <a:endParaRPr/>
          </a:p>
        </p:txBody>
      </p:sp>
      <p:grpSp>
        <p:nvGrpSpPr>
          <p:cNvPr id="387" name="Google Shape;387;p39"/>
          <p:cNvGrpSpPr/>
          <p:nvPr/>
        </p:nvGrpSpPr>
        <p:grpSpPr>
          <a:xfrm>
            <a:off x="3922267" y="2622036"/>
            <a:ext cx="4952925" cy="1183158"/>
            <a:chOff x="868500" y="3078125"/>
            <a:chExt cx="7555950" cy="1938650"/>
          </a:xfrm>
        </p:grpSpPr>
        <p:sp>
          <p:nvSpPr>
            <p:cNvPr id="388" name="Google Shape;388;p39"/>
            <p:cNvSpPr/>
            <p:nvPr/>
          </p:nvSpPr>
          <p:spPr>
            <a:xfrm>
              <a:off x="868500" y="3078125"/>
              <a:ext cx="601500" cy="580200"/>
            </a:xfrm>
            <a:prstGeom prst="ellipse">
              <a:avLst/>
            </a:prstGeom>
            <a:solidFill>
              <a:srgbClr val="FF0000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389" name="Google Shape;389;p39"/>
            <p:cNvSpPr/>
            <p:nvPr/>
          </p:nvSpPr>
          <p:spPr>
            <a:xfrm>
              <a:off x="868700" y="4371050"/>
              <a:ext cx="601500" cy="580200"/>
            </a:xfrm>
            <a:prstGeom prst="ellipse">
              <a:avLst/>
            </a:prstGeom>
            <a:solidFill>
              <a:srgbClr val="FF0000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c</a:t>
              </a:r>
              <a:endParaRPr sz="1800"/>
            </a:p>
          </p:txBody>
        </p:sp>
        <p:sp>
          <p:nvSpPr>
            <p:cNvPr id="390" name="Google Shape;390;p39"/>
            <p:cNvSpPr/>
            <p:nvPr/>
          </p:nvSpPr>
          <p:spPr>
            <a:xfrm>
              <a:off x="2614450" y="3078125"/>
              <a:ext cx="601500" cy="580200"/>
            </a:xfrm>
            <a:prstGeom prst="ellipse">
              <a:avLst/>
            </a:prstGeom>
            <a:solidFill>
              <a:srgbClr val="6AA84F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391" name="Google Shape;391;p39"/>
            <p:cNvSpPr/>
            <p:nvPr/>
          </p:nvSpPr>
          <p:spPr>
            <a:xfrm>
              <a:off x="2614450" y="4371050"/>
              <a:ext cx="601500" cy="580200"/>
            </a:xfrm>
            <a:prstGeom prst="ellipse">
              <a:avLst/>
            </a:prstGeom>
            <a:solidFill>
              <a:srgbClr val="6AA84F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d</a:t>
              </a:r>
              <a:endParaRPr sz="1800"/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3679950" y="3724550"/>
              <a:ext cx="601500" cy="580200"/>
            </a:xfrm>
            <a:prstGeom prst="ellipse">
              <a:avLst/>
            </a:prstGeom>
            <a:solidFill>
              <a:srgbClr val="FF00FF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</a:t>
              </a:r>
              <a:endParaRPr sz="1800"/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5000350" y="3724625"/>
              <a:ext cx="601500" cy="580200"/>
            </a:xfrm>
            <a:prstGeom prst="ellipse">
              <a:avLst/>
            </a:prstGeom>
            <a:solidFill>
              <a:srgbClr val="3C78D8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f</a:t>
              </a:r>
              <a:endParaRPr sz="1800"/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6077000" y="3078125"/>
              <a:ext cx="601500" cy="580200"/>
            </a:xfrm>
            <a:prstGeom prst="ellipse">
              <a:avLst/>
            </a:prstGeom>
            <a:solidFill>
              <a:srgbClr val="E69138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g</a:t>
              </a:r>
              <a:endParaRPr sz="1800"/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6077000" y="4436575"/>
              <a:ext cx="601500" cy="580200"/>
            </a:xfrm>
            <a:prstGeom prst="ellipse">
              <a:avLst/>
            </a:prstGeom>
            <a:solidFill>
              <a:srgbClr val="E69138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i</a:t>
              </a:r>
              <a:endParaRPr sz="1800"/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7822950" y="3078125"/>
              <a:ext cx="601500" cy="580200"/>
            </a:xfrm>
            <a:prstGeom prst="ellipse">
              <a:avLst/>
            </a:prstGeom>
            <a:solidFill>
              <a:srgbClr val="C27BA0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h</a:t>
              </a:r>
              <a:endParaRPr sz="1800"/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7822850" y="4436575"/>
              <a:ext cx="601500" cy="580200"/>
            </a:xfrm>
            <a:prstGeom prst="ellipse">
              <a:avLst/>
            </a:prstGeom>
            <a:solidFill>
              <a:srgbClr val="C27BA0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j</a:t>
              </a:r>
              <a:endParaRPr sz="1800"/>
            </a:p>
          </p:txBody>
        </p:sp>
        <p:cxnSp>
          <p:nvCxnSpPr>
            <p:cNvPr id="398" name="Google Shape;398;p39"/>
            <p:cNvCxnSpPr>
              <a:stCxn id="388" idx="6"/>
              <a:endCxn id="390" idx="2"/>
            </p:cNvCxnSpPr>
            <p:nvPr/>
          </p:nvCxnSpPr>
          <p:spPr>
            <a:xfrm>
              <a:off x="1470000" y="3368225"/>
              <a:ext cx="11445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39"/>
            <p:cNvCxnSpPr>
              <a:stCxn id="388" idx="5"/>
              <a:endCxn id="391" idx="1"/>
            </p:cNvCxnSpPr>
            <p:nvPr/>
          </p:nvCxnSpPr>
          <p:spPr>
            <a:xfrm>
              <a:off x="1381912" y="3573357"/>
              <a:ext cx="1320600" cy="882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39"/>
            <p:cNvCxnSpPr>
              <a:stCxn id="389" idx="7"/>
              <a:endCxn id="390" idx="3"/>
            </p:cNvCxnSpPr>
            <p:nvPr/>
          </p:nvCxnSpPr>
          <p:spPr>
            <a:xfrm flipH="1" rot="10800000">
              <a:off x="1382112" y="3573418"/>
              <a:ext cx="1320300" cy="882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39"/>
            <p:cNvCxnSpPr>
              <a:stCxn id="388" idx="4"/>
              <a:endCxn id="389" idx="0"/>
            </p:cNvCxnSpPr>
            <p:nvPr/>
          </p:nvCxnSpPr>
          <p:spPr>
            <a:xfrm>
              <a:off x="1169250" y="3658325"/>
              <a:ext cx="300" cy="712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39"/>
            <p:cNvCxnSpPr>
              <a:stCxn id="389" idx="6"/>
              <a:endCxn id="391" idx="2"/>
            </p:cNvCxnSpPr>
            <p:nvPr/>
          </p:nvCxnSpPr>
          <p:spPr>
            <a:xfrm>
              <a:off x="1470200" y="4661150"/>
              <a:ext cx="1144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39"/>
            <p:cNvCxnSpPr>
              <a:stCxn id="390" idx="6"/>
              <a:endCxn id="392" idx="1"/>
            </p:cNvCxnSpPr>
            <p:nvPr/>
          </p:nvCxnSpPr>
          <p:spPr>
            <a:xfrm>
              <a:off x="3215950" y="3368225"/>
              <a:ext cx="552000" cy="441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39"/>
            <p:cNvCxnSpPr>
              <a:stCxn id="392" idx="3"/>
              <a:endCxn id="391" idx="6"/>
            </p:cNvCxnSpPr>
            <p:nvPr/>
          </p:nvCxnSpPr>
          <p:spPr>
            <a:xfrm flipH="1">
              <a:off x="3216038" y="4219782"/>
              <a:ext cx="552000" cy="441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39"/>
            <p:cNvCxnSpPr>
              <a:stCxn id="393" idx="2"/>
              <a:endCxn id="392" idx="6"/>
            </p:cNvCxnSpPr>
            <p:nvPr/>
          </p:nvCxnSpPr>
          <p:spPr>
            <a:xfrm rot="10800000">
              <a:off x="4281550" y="4014725"/>
              <a:ext cx="7188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39"/>
            <p:cNvCxnSpPr>
              <a:stCxn id="394" idx="2"/>
              <a:endCxn id="393" idx="7"/>
            </p:cNvCxnSpPr>
            <p:nvPr/>
          </p:nvCxnSpPr>
          <p:spPr>
            <a:xfrm flipH="1">
              <a:off x="5513900" y="3368225"/>
              <a:ext cx="563100" cy="441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39"/>
            <p:cNvCxnSpPr>
              <a:stCxn id="395" idx="2"/>
              <a:endCxn id="393" idx="5"/>
            </p:cNvCxnSpPr>
            <p:nvPr/>
          </p:nvCxnSpPr>
          <p:spPr>
            <a:xfrm rot="10800000">
              <a:off x="5513900" y="4219975"/>
              <a:ext cx="563100" cy="506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39"/>
            <p:cNvCxnSpPr>
              <a:stCxn id="394" idx="5"/>
              <a:endCxn id="397" idx="1"/>
            </p:cNvCxnSpPr>
            <p:nvPr/>
          </p:nvCxnSpPr>
          <p:spPr>
            <a:xfrm>
              <a:off x="6590412" y="3573357"/>
              <a:ext cx="1320600" cy="948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39"/>
            <p:cNvCxnSpPr>
              <a:stCxn id="396" idx="3"/>
              <a:endCxn id="395" idx="7"/>
            </p:cNvCxnSpPr>
            <p:nvPr/>
          </p:nvCxnSpPr>
          <p:spPr>
            <a:xfrm flipH="1">
              <a:off x="6590438" y="3573357"/>
              <a:ext cx="1320600" cy="948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39"/>
            <p:cNvCxnSpPr>
              <a:stCxn id="396" idx="2"/>
              <a:endCxn id="394" idx="6"/>
            </p:cNvCxnSpPr>
            <p:nvPr/>
          </p:nvCxnSpPr>
          <p:spPr>
            <a:xfrm rot="10800000">
              <a:off x="6678450" y="3368225"/>
              <a:ext cx="11445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39"/>
            <p:cNvCxnSpPr>
              <a:stCxn id="396" idx="4"/>
              <a:endCxn id="397" idx="0"/>
            </p:cNvCxnSpPr>
            <p:nvPr/>
          </p:nvCxnSpPr>
          <p:spPr>
            <a:xfrm>
              <a:off x="8123700" y="3658325"/>
              <a:ext cx="0" cy="778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39"/>
            <p:cNvCxnSpPr>
              <a:stCxn id="397" idx="2"/>
              <a:endCxn id="395" idx="6"/>
            </p:cNvCxnSpPr>
            <p:nvPr/>
          </p:nvCxnSpPr>
          <p:spPr>
            <a:xfrm rot="10800000">
              <a:off x="6678350" y="4726675"/>
              <a:ext cx="11445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3" name="Google Shape;413;p39"/>
          <p:cNvSpPr txBox="1"/>
          <p:nvPr/>
        </p:nvSpPr>
        <p:spPr>
          <a:xfrm>
            <a:off x="4733588" y="1929758"/>
            <a:ext cx="3330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The off-block cells have the same values for each block!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4" name="Google Shape;414;p39"/>
          <p:cNvCxnSpPr>
            <a:stCxn id="413" idx="1"/>
          </p:cNvCxnSpPr>
          <p:nvPr/>
        </p:nvCxnSpPr>
        <p:spPr>
          <a:xfrm flipH="1">
            <a:off x="3699788" y="2187008"/>
            <a:ext cx="1033800" cy="576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39"/>
          <p:cNvSpPr txBox="1"/>
          <p:nvPr/>
        </p:nvSpPr>
        <p:spPr>
          <a:xfrm>
            <a:off x="4619988" y="4054680"/>
            <a:ext cx="3330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People assigned to the same block are connected to the same others!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311700" y="1147253"/>
            <a:ext cx="3393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Structural Equivalence Blocked Matrix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17" name="Google Shape;417;p39"/>
          <p:cNvGraphicFramePr/>
          <p:nvPr/>
        </p:nvGraphicFramePr>
        <p:xfrm>
          <a:off x="343225" y="16378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{DAC5F191-EAEA-4921-B1B7-356B9574457A}</a:tableStyleId>
              </a:tblPr>
              <a:tblGrid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</a:tblGrid>
              <a:tr h="28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a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c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27BA0"/>
                          </a:solidFill>
                        </a:rPr>
                        <a:t>h</a:t>
                      </a:r>
                      <a:endParaRPr b="1" sz="1100">
                        <a:solidFill>
                          <a:srgbClr val="C27BA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27BA0"/>
                          </a:solidFill>
                        </a:rPr>
                        <a:t>j</a:t>
                      </a:r>
                      <a:endParaRPr b="1" sz="1100">
                        <a:solidFill>
                          <a:srgbClr val="C27BA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b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d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69138"/>
                          </a:solidFill>
                        </a:rPr>
                        <a:t>g</a:t>
                      </a:r>
                      <a:endParaRPr b="1"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69138"/>
                          </a:solidFill>
                        </a:rPr>
                        <a:t>i</a:t>
                      </a:r>
                      <a:endParaRPr b="1"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FF"/>
                          </a:solidFill>
                        </a:rPr>
                        <a:t>e</a:t>
                      </a:r>
                      <a:endParaRPr b="1"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A86E8"/>
                          </a:solidFill>
                        </a:rPr>
                        <a:t>f</a:t>
                      </a:r>
                      <a:endParaRPr b="1" sz="1100">
                        <a:solidFill>
                          <a:srgbClr val="4A86E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a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c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27BA0"/>
                          </a:solidFill>
                        </a:rPr>
                        <a:t>h</a:t>
                      </a:r>
                      <a:endParaRPr b="1" sz="1100">
                        <a:solidFill>
                          <a:srgbClr val="C27BA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1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1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C27BA0"/>
                          </a:solidFill>
                        </a:rPr>
                        <a:t>j</a:t>
                      </a:r>
                      <a:endParaRPr b="1" sz="1100">
                        <a:solidFill>
                          <a:srgbClr val="C27BA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1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1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0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b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27B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d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69138"/>
                          </a:solidFill>
                        </a:rPr>
                        <a:t>g</a:t>
                      </a:r>
                      <a:endParaRPr b="1"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1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1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1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69138"/>
                          </a:solidFill>
                        </a:rPr>
                        <a:t>i</a:t>
                      </a:r>
                      <a:endParaRPr b="1"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1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1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0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E69138"/>
                          </a:solidFill>
                        </a:rPr>
                        <a:t>1</a:t>
                      </a:r>
                      <a:endParaRPr sz="1100">
                        <a:solidFill>
                          <a:srgbClr val="E6913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FF"/>
                          </a:solidFill>
                        </a:rPr>
                        <a:t>e</a:t>
                      </a:r>
                      <a:endParaRPr b="1"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FF"/>
                          </a:solidFill>
                        </a:rPr>
                        <a:t>0</a:t>
                      </a:r>
                      <a:endParaRPr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FF"/>
                          </a:solidFill>
                        </a:rPr>
                        <a:t>0</a:t>
                      </a:r>
                      <a:endParaRPr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FF"/>
                          </a:solidFill>
                        </a:rPr>
                        <a:t>0</a:t>
                      </a:r>
                      <a:endParaRPr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FF"/>
                          </a:solidFill>
                        </a:rPr>
                        <a:t>0</a:t>
                      </a:r>
                      <a:endParaRPr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FF"/>
                          </a:solidFill>
                        </a:rPr>
                        <a:t>1</a:t>
                      </a:r>
                      <a:endParaRPr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FF"/>
                          </a:solidFill>
                        </a:rPr>
                        <a:t>1</a:t>
                      </a:r>
                      <a:endParaRPr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FF"/>
                          </a:solidFill>
                        </a:rPr>
                        <a:t>0</a:t>
                      </a:r>
                      <a:endParaRPr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FF"/>
                          </a:solidFill>
                        </a:rPr>
                        <a:t>0</a:t>
                      </a:r>
                      <a:endParaRPr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691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FF"/>
                          </a:solidFill>
                        </a:rPr>
                        <a:t>1</a:t>
                      </a:r>
                      <a:endParaRPr sz="1100">
                        <a:solidFill>
                          <a:srgbClr val="FF00FF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A86E8"/>
                          </a:solidFill>
                        </a:rPr>
                        <a:t>f</a:t>
                      </a:r>
                      <a:endParaRPr b="1" sz="1100">
                        <a:solidFill>
                          <a:srgbClr val="4A86E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155CC"/>
                          </a:solidFill>
                        </a:rPr>
                        <a:t>0</a:t>
                      </a:r>
                      <a:endParaRPr sz="11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155CC"/>
                          </a:solidFill>
                        </a:rPr>
                        <a:t>0</a:t>
                      </a:r>
                      <a:endParaRPr sz="11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155CC"/>
                          </a:solidFill>
                        </a:rPr>
                        <a:t>0</a:t>
                      </a:r>
                      <a:endParaRPr sz="11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155CC"/>
                          </a:solidFill>
                        </a:rPr>
                        <a:t>0</a:t>
                      </a:r>
                      <a:endParaRPr sz="11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155CC"/>
                          </a:solidFill>
                        </a:rPr>
                        <a:t>0</a:t>
                      </a:r>
                      <a:endParaRPr sz="11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155CC"/>
                          </a:solidFill>
                        </a:rPr>
                        <a:t>0</a:t>
                      </a:r>
                      <a:endParaRPr sz="11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155CC"/>
                          </a:solidFill>
                        </a:rPr>
                        <a:t>1</a:t>
                      </a:r>
                      <a:endParaRPr sz="11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155CC"/>
                          </a:solidFill>
                        </a:rPr>
                        <a:t>1</a:t>
                      </a:r>
                      <a:endParaRPr sz="11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155CC"/>
                          </a:solidFill>
                        </a:rPr>
                        <a:t>1</a:t>
                      </a:r>
                      <a:endParaRPr sz="11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423" name="Google Shape;423;p40"/>
          <p:cNvSpPr txBox="1"/>
          <p:nvPr>
            <p:ph idx="1" type="body"/>
          </p:nvPr>
        </p:nvSpPr>
        <p:spPr>
          <a:xfrm>
            <a:off x="311700" y="1225215"/>
            <a:ext cx="8520600" cy="15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regularly equivalent if they are </a:t>
            </a:r>
            <a:r>
              <a:rPr b="1" lang="en"/>
              <a:t>friends</a:t>
            </a:r>
            <a:r>
              <a:rPr lang="en"/>
              <a:t> with the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people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regularly equivalent if they </a:t>
            </a:r>
            <a:r>
              <a:rPr b="1" lang="en"/>
              <a:t>cite</a:t>
            </a:r>
            <a:r>
              <a:rPr lang="en"/>
              <a:t> a </a:t>
            </a:r>
            <a:r>
              <a:rPr i="1" lang="en"/>
              <a:t>similar</a:t>
            </a:r>
            <a:r>
              <a:rPr lang="en"/>
              <a:t> set of other </a:t>
            </a:r>
            <a:r>
              <a:rPr b="1" lang="en"/>
              <a:t>papers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regularly equivalent if they </a:t>
            </a:r>
            <a:r>
              <a:rPr b="1" lang="en"/>
              <a:t>feed</a:t>
            </a:r>
            <a:r>
              <a:rPr lang="en"/>
              <a:t> on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prey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regularly equivalent if they </a:t>
            </a:r>
            <a:r>
              <a:rPr b="1" lang="en"/>
              <a:t>share</a:t>
            </a:r>
            <a:r>
              <a:rPr lang="en"/>
              <a:t>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members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</a:t>
            </a:r>
            <a:r>
              <a:rPr lang="en"/>
              <a:t> are regularly equivalent if they </a:t>
            </a:r>
            <a:r>
              <a:rPr b="1" lang="en"/>
              <a:t>trade</a:t>
            </a:r>
            <a:r>
              <a:rPr lang="en"/>
              <a:t> with a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countries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424" name="Google Shape;4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3512" y="2895903"/>
            <a:ext cx="3236976" cy="1947378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0"/>
          <p:cNvSpPr txBox="1"/>
          <p:nvPr/>
        </p:nvSpPr>
        <p:spPr>
          <a:xfrm>
            <a:off x="660875" y="3453953"/>
            <a:ext cx="1902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Where similarity is graph theoretic similarity!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</a:t>
            </a:r>
            <a:endParaRPr/>
          </a:p>
        </p:txBody>
      </p:sp>
      <p:sp>
        <p:nvSpPr>
          <p:cNvPr id="431" name="Google Shape;431;p41"/>
          <p:cNvSpPr txBox="1"/>
          <p:nvPr>
            <p:ph idx="1" type="body"/>
          </p:nvPr>
        </p:nvSpPr>
        <p:spPr>
          <a:xfrm>
            <a:off x="311700" y="1225221"/>
            <a:ext cx="8520600" cy="14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Theoretically, the notion of role implies similar patterns of connectivity to </a:t>
            </a:r>
            <a:r>
              <a:rPr b="1" lang="en"/>
              <a:t>similarly positioned</a:t>
            </a:r>
            <a:r>
              <a:rPr lang="en"/>
              <a:t> actors not to literally the </a:t>
            </a:r>
            <a:r>
              <a:rPr b="1" lang="en"/>
              <a:t>same </a:t>
            </a:r>
            <a:r>
              <a:rPr lang="en"/>
              <a:t>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41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433" name="Google Shape;433;p41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434" name="Google Shape;434;p41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435" name="Google Shape;435;p41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436" name="Google Shape;436;p41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437" name="Google Shape;437;p41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438" name="Google Shape;438;p41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439" name="Google Shape;439;p41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440" name="Google Shape;440;p41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441" name="Google Shape;441;p41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442" name="Google Shape;442;p41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443" name="Google Shape;443;p41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444" name="Google Shape;444;p41"/>
              <p:cNvCxnSpPr>
                <a:stCxn id="434" idx="6"/>
                <a:endCxn id="436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" name="Google Shape;445;p41"/>
              <p:cNvCxnSpPr>
                <a:stCxn id="434" idx="5"/>
                <a:endCxn id="437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" name="Google Shape;446;p41"/>
              <p:cNvCxnSpPr>
                <a:stCxn id="435" idx="7"/>
                <a:endCxn id="436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" name="Google Shape;447;p41"/>
              <p:cNvCxnSpPr>
                <a:stCxn id="434" idx="4"/>
                <a:endCxn id="435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41"/>
              <p:cNvCxnSpPr>
                <a:stCxn id="435" idx="6"/>
                <a:endCxn id="437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" name="Google Shape;449;p41"/>
              <p:cNvCxnSpPr>
                <a:stCxn id="436" idx="6"/>
                <a:endCxn id="438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" name="Google Shape;450;p41"/>
              <p:cNvCxnSpPr>
                <a:stCxn id="438" idx="3"/>
                <a:endCxn id="437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" name="Google Shape;451;p41"/>
              <p:cNvCxnSpPr>
                <a:stCxn id="439" idx="2"/>
                <a:endCxn id="438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" name="Google Shape;452;p41"/>
              <p:cNvCxnSpPr>
                <a:stCxn id="440" idx="2"/>
                <a:endCxn id="439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" name="Google Shape;453;p41"/>
              <p:cNvCxnSpPr>
                <a:stCxn id="441" idx="2"/>
                <a:endCxn id="439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" name="Google Shape;454;p41"/>
              <p:cNvCxnSpPr>
                <a:stCxn id="440" idx="5"/>
                <a:endCxn id="443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" name="Google Shape;455;p41"/>
              <p:cNvCxnSpPr>
                <a:stCxn id="442" idx="3"/>
                <a:endCxn id="441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" name="Google Shape;456;p41"/>
              <p:cNvCxnSpPr>
                <a:stCxn id="442" idx="2"/>
                <a:endCxn id="440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" name="Google Shape;457;p41"/>
              <p:cNvCxnSpPr>
                <a:stCxn id="442" idx="4"/>
                <a:endCxn id="443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" name="Google Shape;458;p41"/>
              <p:cNvCxnSpPr>
                <a:stCxn id="443" idx="2"/>
                <a:endCxn id="441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59" name="Google Shape;459;p41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465" name="Google Shape;465;p42"/>
          <p:cNvSpPr txBox="1"/>
          <p:nvPr>
            <p:ph idx="1" type="body"/>
          </p:nvPr>
        </p:nvSpPr>
        <p:spPr>
          <a:xfrm>
            <a:off x="311700" y="1225221"/>
            <a:ext cx="8520600" cy="13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Theoretically, the notion of role implies similar patterns of connectivity to </a:t>
            </a:r>
            <a:r>
              <a:rPr b="1" lang="en"/>
              <a:t>similarly positioned</a:t>
            </a:r>
            <a:r>
              <a:rPr lang="en"/>
              <a:t> actors not to literally the </a:t>
            </a:r>
            <a:r>
              <a:rPr b="1" lang="en"/>
              <a:t>same </a:t>
            </a:r>
            <a:r>
              <a:rPr lang="en"/>
              <a:t>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 = {a ≣ b ≣ h ≣ j}, {b ≣ d ≣ g ≣ i}, {e ≣ f}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42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467" name="Google Shape;467;p42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468" name="Google Shape;468;p42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469" name="Google Shape;469;p42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470" name="Google Shape;470;p42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471" name="Google Shape;471;p42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472" name="Google Shape;472;p42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473" name="Google Shape;473;p42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474" name="Google Shape;474;p42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475" name="Google Shape;475;p42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476" name="Google Shape;476;p42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477" name="Google Shape;477;p42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478" name="Google Shape;478;p42"/>
              <p:cNvCxnSpPr>
                <a:stCxn id="468" idx="6"/>
                <a:endCxn id="470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" name="Google Shape;479;p42"/>
              <p:cNvCxnSpPr>
                <a:stCxn id="468" idx="5"/>
                <a:endCxn id="471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" name="Google Shape;480;p42"/>
              <p:cNvCxnSpPr>
                <a:stCxn id="469" idx="7"/>
                <a:endCxn id="470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42"/>
              <p:cNvCxnSpPr>
                <a:stCxn id="468" idx="4"/>
                <a:endCxn id="469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" name="Google Shape;482;p42"/>
              <p:cNvCxnSpPr>
                <a:stCxn id="469" idx="6"/>
                <a:endCxn id="471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42"/>
              <p:cNvCxnSpPr>
                <a:stCxn id="470" idx="6"/>
                <a:endCxn id="472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42"/>
              <p:cNvCxnSpPr>
                <a:stCxn id="472" idx="3"/>
                <a:endCxn id="471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" name="Google Shape;485;p42"/>
              <p:cNvCxnSpPr>
                <a:stCxn id="473" idx="2"/>
                <a:endCxn id="472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6" name="Google Shape;486;p42"/>
              <p:cNvCxnSpPr>
                <a:stCxn id="474" idx="2"/>
                <a:endCxn id="473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42"/>
              <p:cNvCxnSpPr>
                <a:stCxn id="475" idx="2"/>
                <a:endCxn id="473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42"/>
              <p:cNvCxnSpPr>
                <a:stCxn id="474" idx="5"/>
                <a:endCxn id="477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" name="Google Shape;489;p42"/>
              <p:cNvCxnSpPr>
                <a:stCxn id="476" idx="3"/>
                <a:endCxn id="475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" name="Google Shape;490;p42"/>
              <p:cNvCxnSpPr>
                <a:stCxn id="476" idx="2"/>
                <a:endCxn id="474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" name="Google Shape;491;p42"/>
              <p:cNvCxnSpPr>
                <a:stCxn id="476" idx="4"/>
                <a:endCxn id="477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Google Shape;492;p42"/>
              <p:cNvCxnSpPr>
                <a:stCxn id="477" idx="2"/>
                <a:endCxn id="475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93" name="Google Shape;493;p42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499" name="Google Shape;499;p43"/>
          <p:cNvSpPr txBox="1"/>
          <p:nvPr>
            <p:ph idx="1" type="body"/>
          </p:nvPr>
        </p:nvSpPr>
        <p:spPr>
          <a:xfrm>
            <a:off x="311700" y="1225221"/>
            <a:ext cx="8520600" cy="13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Theoretically, the notion of role implies similar patterns of connectivity to </a:t>
            </a:r>
            <a:r>
              <a:rPr b="1" lang="en"/>
              <a:t>similarly positioned</a:t>
            </a:r>
            <a:r>
              <a:rPr lang="en"/>
              <a:t> actors not to literally the </a:t>
            </a:r>
            <a:r>
              <a:rPr b="1" lang="en"/>
              <a:t>same </a:t>
            </a:r>
            <a:r>
              <a:rPr lang="en"/>
              <a:t>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nodes are </a:t>
            </a:r>
            <a:r>
              <a:rPr b="1" lang="en"/>
              <a:t>regularly equivalent</a:t>
            </a:r>
            <a:r>
              <a:rPr lang="en"/>
              <a:t> if they are connected to </a:t>
            </a:r>
            <a:r>
              <a:rPr b="1" lang="en"/>
              <a:t>equivalent</a:t>
            </a:r>
            <a:r>
              <a:rPr lang="en"/>
              <a:t> others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 = {a ≣ b ≣ h ≣ j}, {b ≣ d ≣ g ≣ i}, {e ≣ f}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0" name="Google Shape;500;p43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501" name="Google Shape;501;p43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502" name="Google Shape;502;p43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503" name="Google Shape;503;p43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504" name="Google Shape;504;p43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505" name="Google Shape;505;p43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506" name="Google Shape;506;p43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507" name="Google Shape;507;p43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508" name="Google Shape;508;p43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509" name="Google Shape;509;p43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510" name="Google Shape;510;p43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511" name="Google Shape;511;p43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512" name="Google Shape;512;p43"/>
              <p:cNvCxnSpPr>
                <a:stCxn id="502" idx="6"/>
                <a:endCxn id="504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" name="Google Shape;513;p43"/>
              <p:cNvCxnSpPr>
                <a:stCxn id="502" idx="5"/>
                <a:endCxn id="505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4" name="Google Shape;514;p43"/>
              <p:cNvCxnSpPr>
                <a:stCxn id="503" idx="7"/>
                <a:endCxn id="504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" name="Google Shape;515;p43"/>
              <p:cNvCxnSpPr>
                <a:stCxn id="502" idx="4"/>
                <a:endCxn id="503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" name="Google Shape;516;p43"/>
              <p:cNvCxnSpPr>
                <a:stCxn id="503" idx="6"/>
                <a:endCxn id="505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7" name="Google Shape;517;p43"/>
              <p:cNvCxnSpPr>
                <a:stCxn id="504" idx="6"/>
                <a:endCxn id="506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8" name="Google Shape;518;p43"/>
              <p:cNvCxnSpPr>
                <a:stCxn id="506" idx="3"/>
                <a:endCxn id="505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9" name="Google Shape;519;p43"/>
              <p:cNvCxnSpPr>
                <a:stCxn id="507" idx="2"/>
                <a:endCxn id="506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0" name="Google Shape;520;p43"/>
              <p:cNvCxnSpPr>
                <a:stCxn id="508" idx="2"/>
                <a:endCxn id="507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" name="Google Shape;521;p43"/>
              <p:cNvCxnSpPr>
                <a:stCxn id="509" idx="2"/>
                <a:endCxn id="507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" name="Google Shape;522;p43"/>
              <p:cNvCxnSpPr>
                <a:stCxn id="508" idx="5"/>
                <a:endCxn id="511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" name="Google Shape;523;p43"/>
              <p:cNvCxnSpPr>
                <a:stCxn id="510" idx="3"/>
                <a:endCxn id="509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4" name="Google Shape;524;p43"/>
              <p:cNvCxnSpPr>
                <a:stCxn id="510" idx="2"/>
                <a:endCxn id="508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5" name="Google Shape;525;p43"/>
              <p:cNvCxnSpPr>
                <a:stCxn id="510" idx="4"/>
                <a:endCxn id="511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" name="Google Shape;526;p43"/>
              <p:cNvCxnSpPr>
                <a:stCxn id="511" idx="2"/>
                <a:endCxn id="509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27" name="Google Shape;527;p43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533" name="Google Shape;533;p44"/>
          <p:cNvSpPr txBox="1"/>
          <p:nvPr>
            <p:ph idx="1" type="body"/>
          </p:nvPr>
        </p:nvSpPr>
        <p:spPr>
          <a:xfrm>
            <a:off x="311700" y="1225220"/>
            <a:ext cx="85206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regularly equivalent they have the same graph theoretic attributes, and </a:t>
            </a:r>
            <a:r>
              <a:rPr b="1" lang="en"/>
              <a:t>vice versa: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two actors share all graph theoretic attributes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 is a </a:t>
            </a:r>
            <a:r>
              <a:rPr b="1" lang="en"/>
              <a:t>non-local concept</a:t>
            </a:r>
            <a:endParaRPr/>
          </a:p>
        </p:txBody>
      </p:sp>
      <p:grpSp>
        <p:nvGrpSpPr>
          <p:cNvPr id="534" name="Google Shape;534;p44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535" name="Google Shape;535;p44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536" name="Google Shape;536;p44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537" name="Google Shape;537;p44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538" name="Google Shape;538;p44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539" name="Google Shape;539;p44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540" name="Google Shape;540;p44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541" name="Google Shape;541;p44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542" name="Google Shape;542;p44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543" name="Google Shape;543;p44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544" name="Google Shape;544;p44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545" name="Google Shape;545;p44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546" name="Google Shape;546;p44"/>
              <p:cNvCxnSpPr>
                <a:stCxn id="536" idx="6"/>
                <a:endCxn id="538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" name="Google Shape;547;p44"/>
              <p:cNvCxnSpPr>
                <a:stCxn id="536" idx="5"/>
                <a:endCxn id="539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8" name="Google Shape;548;p44"/>
              <p:cNvCxnSpPr>
                <a:stCxn id="537" idx="7"/>
                <a:endCxn id="538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" name="Google Shape;549;p44"/>
              <p:cNvCxnSpPr>
                <a:stCxn id="536" idx="4"/>
                <a:endCxn id="537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" name="Google Shape;550;p44"/>
              <p:cNvCxnSpPr>
                <a:stCxn id="537" idx="6"/>
                <a:endCxn id="539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" name="Google Shape;551;p44"/>
              <p:cNvCxnSpPr>
                <a:stCxn id="538" idx="6"/>
                <a:endCxn id="540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2" name="Google Shape;552;p44"/>
              <p:cNvCxnSpPr>
                <a:stCxn id="540" idx="3"/>
                <a:endCxn id="539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" name="Google Shape;553;p44"/>
              <p:cNvCxnSpPr>
                <a:stCxn id="541" idx="2"/>
                <a:endCxn id="540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" name="Google Shape;554;p44"/>
              <p:cNvCxnSpPr>
                <a:stCxn id="542" idx="2"/>
                <a:endCxn id="541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5" name="Google Shape;555;p44"/>
              <p:cNvCxnSpPr>
                <a:stCxn id="543" idx="2"/>
                <a:endCxn id="541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6" name="Google Shape;556;p44"/>
              <p:cNvCxnSpPr>
                <a:stCxn id="542" idx="5"/>
                <a:endCxn id="545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" name="Google Shape;557;p44"/>
              <p:cNvCxnSpPr>
                <a:stCxn id="544" idx="3"/>
                <a:endCxn id="543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" name="Google Shape;558;p44"/>
              <p:cNvCxnSpPr>
                <a:stCxn id="544" idx="2"/>
                <a:endCxn id="542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" name="Google Shape;559;p44"/>
              <p:cNvCxnSpPr>
                <a:stCxn id="544" idx="4"/>
                <a:endCxn id="545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" name="Google Shape;560;p44"/>
              <p:cNvCxnSpPr>
                <a:stCxn id="545" idx="2"/>
                <a:endCxn id="543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61" name="Google Shape;561;p44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5"/>
          <p:cNvSpPr txBox="1"/>
          <p:nvPr/>
        </p:nvSpPr>
        <p:spPr>
          <a:xfrm>
            <a:off x="1040575" y="1230300"/>
            <a:ext cx="3393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Regular Equivalence Blocked Matrix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67" name="Google Shape;567;p45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based on regular equivalence</a:t>
            </a:r>
            <a:endParaRPr/>
          </a:p>
        </p:txBody>
      </p:sp>
      <p:graphicFrame>
        <p:nvGraphicFramePr>
          <p:cNvPr id="568" name="Google Shape;568;p45"/>
          <p:cNvGraphicFramePr/>
          <p:nvPr/>
        </p:nvGraphicFramePr>
        <p:xfrm>
          <a:off x="1040575" y="16547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{DAC5F191-EAEA-4921-B1B7-356B9574457A}</a:tableStyleId>
              </a:tblPr>
              <a:tblGrid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</a:tblGrid>
              <a:tr h="28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a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c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h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j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b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d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g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i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</a:t>
                      </a:r>
                      <a:endParaRPr b="1"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</a:t>
                      </a:r>
                      <a:endParaRPr b="1"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a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c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h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j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b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d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g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i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C78D8"/>
                          </a:solidFill>
                        </a:rPr>
                        <a:t>e</a:t>
                      </a:r>
                      <a:endParaRPr b="1"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1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1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C78D8"/>
                          </a:solidFill>
                        </a:rPr>
                        <a:t>f</a:t>
                      </a:r>
                      <a:endParaRPr b="1"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1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1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--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</a:tbl>
          </a:graphicData>
        </a:graphic>
      </p:graphicFrame>
      <p:sp>
        <p:nvSpPr>
          <p:cNvPr id="569" name="Google Shape;569;p45"/>
          <p:cNvSpPr/>
          <p:nvPr/>
        </p:nvSpPr>
        <p:spPr>
          <a:xfrm>
            <a:off x="4625925" y="2728455"/>
            <a:ext cx="335100" cy="3291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70" name="Google Shape;570;p45"/>
          <p:cNvSpPr/>
          <p:nvPr/>
        </p:nvSpPr>
        <p:spPr>
          <a:xfrm>
            <a:off x="4626036" y="3370664"/>
            <a:ext cx="335100" cy="3291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71" name="Google Shape;571;p45"/>
          <p:cNvSpPr/>
          <p:nvPr/>
        </p:nvSpPr>
        <p:spPr>
          <a:xfrm>
            <a:off x="5597827" y="2728455"/>
            <a:ext cx="335100" cy="329100"/>
          </a:xfrm>
          <a:prstGeom prst="ellipse">
            <a:avLst/>
          </a:prstGeom>
          <a:solidFill>
            <a:srgbClr val="6AA84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572" name="Google Shape;572;p45"/>
          <p:cNvSpPr/>
          <p:nvPr/>
        </p:nvSpPr>
        <p:spPr>
          <a:xfrm>
            <a:off x="5597827" y="3370664"/>
            <a:ext cx="335100" cy="329100"/>
          </a:xfrm>
          <a:prstGeom prst="ellipse">
            <a:avLst/>
          </a:prstGeom>
          <a:solidFill>
            <a:srgbClr val="6AA84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573" name="Google Shape;573;p45"/>
          <p:cNvSpPr/>
          <p:nvPr/>
        </p:nvSpPr>
        <p:spPr>
          <a:xfrm>
            <a:off x="6190949" y="3049541"/>
            <a:ext cx="335100" cy="3291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574" name="Google Shape;574;p45"/>
          <p:cNvSpPr/>
          <p:nvPr/>
        </p:nvSpPr>
        <p:spPr>
          <a:xfrm>
            <a:off x="6925963" y="3049578"/>
            <a:ext cx="335100" cy="3291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sp>
        <p:nvSpPr>
          <p:cNvPr id="575" name="Google Shape;575;p45"/>
          <p:cNvSpPr/>
          <p:nvPr/>
        </p:nvSpPr>
        <p:spPr>
          <a:xfrm>
            <a:off x="7525292" y="2728455"/>
            <a:ext cx="335100" cy="329100"/>
          </a:xfrm>
          <a:prstGeom prst="ellipse">
            <a:avLst/>
          </a:prstGeom>
          <a:solidFill>
            <a:srgbClr val="6AA84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576" name="Google Shape;576;p45"/>
          <p:cNvSpPr/>
          <p:nvPr/>
        </p:nvSpPr>
        <p:spPr>
          <a:xfrm>
            <a:off x="7525292" y="3403210"/>
            <a:ext cx="335100" cy="329100"/>
          </a:xfrm>
          <a:prstGeom prst="ellipse">
            <a:avLst/>
          </a:prstGeom>
          <a:solidFill>
            <a:srgbClr val="6AA84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endParaRPr/>
          </a:p>
        </p:txBody>
      </p:sp>
      <p:sp>
        <p:nvSpPr>
          <p:cNvPr id="577" name="Google Shape;577;p45"/>
          <p:cNvSpPr/>
          <p:nvPr/>
        </p:nvSpPr>
        <p:spPr>
          <a:xfrm>
            <a:off x="8497194" y="2728455"/>
            <a:ext cx="335100" cy="3291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578" name="Google Shape;578;p45"/>
          <p:cNvSpPr/>
          <p:nvPr/>
        </p:nvSpPr>
        <p:spPr>
          <a:xfrm>
            <a:off x="8497138" y="3403210"/>
            <a:ext cx="335100" cy="3291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cxnSp>
        <p:nvCxnSpPr>
          <p:cNvPr id="579" name="Google Shape;579;p45"/>
          <p:cNvCxnSpPr>
            <a:stCxn id="569" idx="6"/>
            <a:endCxn id="571" idx="2"/>
          </p:cNvCxnSpPr>
          <p:nvPr/>
        </p:nvCxnSpPr>
        <p:spPr>
          <a:xfrm>
            <a:off x="4961025" y="2893005"/>
            <a:ext cx="636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5"/>
          <p:cNvCxnSpPr>
            <a:stCxn id="569" idx="5"/>
            <a:endCxn id="572" idx="1"/>
          </p:cNvCxnSpPr>
          <p:nvPr/>
        </p:nvCxnSpPr>
        <p:spPr>
          <a:xfrm>
            <a:off x="4911951" y="3009359"/>
            <a:ext cx="735000" cy="40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5"/>
          <p:cNvCxnSpPr>
            <a:stCxn id="570" idx="7"/>
            <a:endCxn id="571" idx="3"/>
          </p:cNvCxnSpPr>
          <p:nvPr/>
        </p:nvCxnSpPr>
        <p:spPr>
          <a:xfrm flipH="1" rot="10800000">
            <a:off x="4912062" y="3009359"/>
            <a:ext cx="734700" cy="40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5"/>
          <p:cNvCxnSpPr>
            <a:stCxn id="569" idx="4"/>
            <a:endCxn id="570" idx="0"/>
          </p:cNvCxnSpPr>
          <p:nvPr/>
        </p:nvCxnSpPr>
        <p:spPr>
          <a:xfrm>
            <a:off x="4793475" y="3057555"/>
            <a:ext cx="0" cy="3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5"/>
          <p:cNvCxnSpPr>
            <a:stCxn id="570" idx="6"/>
            <a:endCxn id="572" idx="2"/>
          </p:cNvCxnSpPr>
          <p:nvPr/>
        </p:nvCxnSpPr>
        <p:spPr>
          <a:xfrm>
            <a:off x="4961136" y="3535214"/>
            <a:ext cx="63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5"/>
          <p:cNvCxnSpPr>
            <a:stCxn id="571" idx="6"/>
            <a:endCxn id="573" idx="1"/>
          </p:cNvCxnSpPr>
          <p:nvPr/>
        </p:nvCxnSpPr>
        <p:spPr>
          <a:xfrm>
            <a:off x="5932927" y="2893005"/>
            <a:ext cx="307200" cy="20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5"/>
          <p:cNvCxnSpPr>
            <a:stCxn id="573" idx="3"/>
            <a:endCxn id="572" idx="6"/>
          </p:cNvCxnSpPr>
          <p:nvPr/>
        </p:nvCxnSpPr>
        <p:spPr>
          <a:xfrm flipH="1">
            <a:off x="5932823" y="3330445"/>
            <a:ext cx="307200" cy="2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45"/>
          <p:cNvCxnSpPr>
            <a:stCxn id="574" idx="2"/>
            <a:endCxn id="573" idx="6"/>
          </p:cNvCxnSpPr>
          <p:nvPr/>
        </p:nvCxnSpPr>
        <p:spPr>
          <a:xfrm rot="10800000">
            <a:off x="6526063" y="3214128"/>
            <a:ext cx="399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5"/>
          <p:cNvCxnSpPr>
            <a:stCxn id="575" idx="2"/>
            <a:endCxn id="574" idx="7"/>
          </p:cNvCxnSpPr>
          <p:nvPr/>
        </p:nvCxnSpPr>
        <p:spPr>
          <a:xfrm flipH="1">
            <a:off x="7212092" y="2893005"/>
            <a:ext cx="313200" cy="2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5"/>
          <p:cNvCxnSpPr>
            <a:stCxn id="576" idx="2"/>
            <a:endCxn id="574" idx="5"/>
          </p:cNvCxnSpPr>
          <p:nvPr/>
        </p:nvCxnSpPr>
        <p:spPr>
          <a:xfrm rot="10800000">
            <a:off x="7212092" y="3330460"/>
            <a:ext cx="313200" cy="23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45"/>
          <p:cNvCxnSpPr>
            <a:stCxn id="575" idx="5"/>
            <a:endCxn id="578" idx="1"/>
          </p:cNvCxnSpPr>
          <p:nvPr/>
        </p:nvCxnSpPr>
        <p:spPr>
          <a:xfrm>
            <a:off x="7811318" y="3009359"/>
            <a:ext cx="735000" cy="44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5"/>
          <p:cNvCxnSpPr>
            <a:stCxn id="577" idx="3"/>
            <a:endCxn id="576" idx="7"/>
          </p:cNvCxnSpPr>
          <p:nvPr/>
        </p:nvCxnSpPr>
        <p:spPr>
          <a:xfrm flipH="1">
            <a:off x="7811268" y="3009359"/>
            <a:ext cx="735000" cy="44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45"/>
          <p:cNvCxnSpPr>
            <a:stCxn id="577" idx="2"/>
            <a:endCxn id="575" idx="6"/>
          </p:cNvCxnSpPr>
          <p:nvPr/>
        </p:nvCxnSpPr>
        <p:spPr>
          <a:xfrm rot="10800000">
            <a:off x="7860294" y="2893005"/>
            <a:ext cx="636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45"/>
          <p:cNvCxnSpPr>
            <a:stCxn id="577" idx="4"/>
            <a:endCxn id="578" idx="0"/>
          </p:cNvCxnSpPr>
          <p:nvPr/>
        </p:nvCxnSpPr>
        <p:spPr>
          <a:xfrm>
            <a:off x="8664744" y="3057555"/>
            <a:ext cx="0" cy="3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45"/>
          <p:cNvCxnSpPr>
            <a:stCxn id="578" idx="2"/>
            <a:endCxn id="576" idx="6"/>
          </p:cNvCxnSpPr>
          <p:nvPr/>
        </p:nvCxnSpPr>
        <p:spPr>
          <a:xfrm rot="10800000">
            <a:off x="7860538" y="3567760"/>
            <a:ext cx="63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equivalence model</a:t>
            </a:r>
            <a:endParaRPr/>
          </a:p>
        </p:txBody>
      </p:sp>
      <p:sp>
        <p:nvSpPr>
          <p:cNvPr id="599" name="Google Shape;599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Cohesion-based network models presume that diffusion only happens between </a:t>
            </a:r>
            <a:r>
              <a:rPr b="1" lang="en"/>
              <a:t>connected</a:t>
            </a:r>
            <a:r>
              <a:rPr lang="en"/>
              <a:t> actors (direct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the diffusion mechanism can sometimes operate among </a:t>
            </a:r>
            <a:r>
              <a:rPr b="1" lang="en"/>
              <a:t>disconnected </a:t>
            </a:r>
            <a:r>
              <a:rPr lang="en"/>
              <a:t>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diffusion via </a:t>
            </a:r>
            <a:r>
              <a:rPr b="1" lang="en"/>
              <a:t>positional equivalence </a:t>
            </a:r>
            <a:r>
              <a:rPr lang="en"/>
              <a:t>(indirect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Remember: Positionally equivalent actors don’t have to be necessarily connected to one another!</a:t>
            </a:r>
            <a:endParaRPr/>
          </a:p>
        </p:txBody>
      </p:sp>
      <p:pic>
        <p:nvPicPr>
          <p:cNvPr id="600" name="Google Shape;6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399" y="2825981"/>
            <a:ext cx="4913191" cy="1931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7"/>
          <p:cNvSpPr txBox="1"/>
          <p:nvPr>
            <p:ph idx="1" type="body"/>
          </p:nvPr>
        </p:nvSpPr>
        <p:spPr>
          <a:xfrm>
            <a:off x="311700" y="1225221"/>
            <a:ext cx="8520600" cy="15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Cohesion-based network models presume that diffusion only happens between </a:t>
            </a:r>
            <a:r>
              <a:rPr b="1" lang="en"/>
              <a:t>connected</a:t>
            </a:r>
            <a:r>
              <a:rPr lang="en"/>
              <a:t> actors (direct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the diffusion mechanism can sometimes operate among </a:t>
            </a:r>
            <a:r>
              <a:rPr b="1" lang="en"/>
              <a:t>disconnected </a:t>
            </a:r>
            <a:r>
              <a:rPr lang="en"/>
              <a:t>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diffusion via </a:t>
            </a:r>
            <a:r>
              <a:rPr b="1" lang="en"/>
              <a:t>positional equivalence </a:t>
            </a:r>
            <a:r>
              <a:rPr lang="en"/>
              <a:t>(indirect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Mechanism: Comparison to similarly positioned others</a:t>
            </a:r>
            <a:endParaRPr/>
          </a:p>
        </p:txBody>
      </p:sp>
      <p:sp>
        <p:nvSpPr>
          <p:cNvPr id="606" name="Google Shape;606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equivalence model</a:t>
            </a:r>
            <a:endParaRPr/>
          </a:p>
        </p:txBody>
      </p:sp>
      <p:sp>
        <p:nvSpPr>
          <p:cNvPr id="607" name="Google Shape;607;p47"/>
          <p:cNvSpPr/>
          <p:nvPr/>
        </p:nvSpPr>
        <p:spPr>
          <a:xfrm>
            <a:off x="2061300" y="3260588"/>
            <a:ext cx="687600" cy="5898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08" name="Google Shape;608;p47"/>
          <p:cNvSpPr/>
          <p:nvPr/>
        </p:nvSpPr>
        <p:spPr>
          <a:xfrm>
            <a:off x="5331100" y="406536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09" name="Google Shape;609;p47"/>
          <p:cNvSpPr/>
          <p:nvPr/>
        </p:nvSpPr>
        <p:spPr>
          <a:xfrm>
            <a:off x="4136048" y="2844338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10" name="Google Shape;610;p47"/>
          <p:cNvCxnSpPr>
            <a:stCxn id="607" idx="7"/>
            <a:endCxn id="609" idx="1"/>
          </p:cNvCxnSpPr>
          <p:nvPr/>
        </p:nvCxnSpPr>
        <p:spPr>
          <a:xfrm rot="-5400000">
            <a:off x="3208003" y="2419062"/>
            <a:ext cx="368100" cy="14877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7"/>
          <p:cNvCxnSpPr>
            <a:stCxn id="609" idx="3"/>
            <a:endCxn id="612" idx="1"/>
          </p:cNvCxnSpPr>
          <p:nvPr/>
        </p:nvCxnSpPr>
        <p:spPr>
          <a:xfrm>
            <a:off x="4954748" y="2978738"/>
            <a:ext cx="1487700" cy="368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3" name="Google Shape;613;p47"/>
          <p:cNvSpPr/>
          <p:nvPr/>
        </p:nvSpPr>
        <p:spPr>
          <a:xfrm>
            <a:off x="4091950" y="3420967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Comparison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14" name="Google Shape;614;p47"/>
          <p:cNvCxnSpPr>
            <a:stCxn id="607" idx="6"/>
            <a:endCxn id="613" idx="1"/>
          </p:cNvCxnSpPr>
          <p:nvPr/>
        </p:nvCxnSpPr>
        <p:spPr>
          <a:xfrm>
            <a:off x="2748900" y="3555488"/>
            <a:ext cx="1343100" cy="6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7"/>
          <p:cNvCxnSpPr>
            <a:stCxn id="613" idx="3"/>
            <a:endCxn id="612" idx="2"/>
          </p:cNvCxnSpPr>
          <p:nvPr/>
        </p:nvCxnSpPr>
        <p:spPr>
          <a:xfrm>
            <a:off x="4998850" y="3555367"/>
            <a:ext cx="1343100" cy="6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6" name="Google Shape;616;p47"/>
          <p:cNvSpPr/>
          <p:nvPr/>
        </p:nvSpPr>
        <p:spPr>
          <a:xfrm>
            <a:off x="7352700" y="3984390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17" name="Google Shape;617;p47"/>
          <p:cNvSpPr/>
          <p:nvPr/>
        </p:nvSpPr>
        <p:spPr>
          <a:xfrm>
            <a:off x="6341900" y="443751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12" name="Google Shape;612;p47"/>
          <p:cNvSpPr/>
          <p:nvPr/>
        </p:nvSpPr>
        <p:spPr>
          <a:xfrm>
            <a:off x="6341900" y="3260588"/>
            <a:ext cx="687600" cy="589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18" name="Google Shape;618;p47"/>
          <p:cNvCxnSpPr/>
          <p:nvPr/>
        </p:nvCxnSpPr>
        <p:spPr>
          <a:xfrm flipH="1" rot="-5400000">
            <a:off x="6685700" y="4278960"/>
            <a:ext cx="6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47"/>
          <p:cNvCxnSpPr>
            <a:stCxn id="617" idx="0"/>
            <a:endCxn id="612" idx="4"/>
          </p:cNvCxnSpPr>
          <p:nvPr/>
        </p:nvCxnSpPr>
        <p:spPr>
          <a:xfrm rot="-5400000">
            <a:off x="6392450" y="4143668"/>
            <a:ext cx="5871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47"/>
          <p:cNvSpPr/>
          <p:nvPr/>
        </p:nvSpPr>
        <p:spPr>
          <a:xfrm>
            <a:off x="1103700" y="3984390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21" name="Google Shape;621;p47"/>
          <p:cNvSpPr/>
          <p:nvPr/>
        </p:nvSpPr>
        <p:spPr>
          <a:xfrm>
            <a:off x="3072100" y="406536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22" name="Google Shape;622;p47"/>
          <p:cNvSpPr/>
          <p:nvPr/>
        </p:nvSpPr>
        <p:spPr>
          <a:xfrm>
            <a:off x="2061300" y="4437530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23" name="Google Shape;623;p47"/>
          <p:cNvCxnSpPr/>
          <p:nvPr/>
        </p:nvCxnSpPr>
        <p:spPr>
          <a:xfrm flipH="1" rot="-5400000">
            <a:off x="2405100" y="4426380"/>
            <a:ext cx="6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47"/>
          <p:cNvCxnSpPr>
            <a:stCxn id="607" idx="4"/>
            <a:endCxn id="622" idx="0"/>
          </p:cNvCxnSpPr>
          <p:nvPr/>
        </p:nvCxnSpPr>
        <p:spPr>
          <a:xfrm flipH="1" rot="-5400000">
            <a:off x="2111850" y="4143638"/>
            <a:ext cx="587100" cy="600"/>
          </a:xfrm>
          <a:prstGeom prst="curved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47"/>
          <p:cNvCxnSpPr>
            <a:stCxn id="607" idx="3"/>
            <a:endCxn id="620" idx="7"/>
          </p:cNvCxnSpPr>
          <p:nvPr/>
        </p:nvCxnSpPr>
        <p:spPr>
          <a:xfrm flipH="1">
            <a:off x="1690697" y="3764013"/>
            <a:ext cx="471300" cy="30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47"/>
          <p:cNvCxnSpPr>
            <a:stCxn id="612" idx="3"/>
            <a:endCxn id="608" idx="7"/>
          </p:cNvCxnSpPr>
          <p:nvPr/>
        </p:nvCxnSpPr>
        <p:spPr>
          <a:xfrm flipH="1">
            <a:off x="5917897" y="3764013"/>
            <a:ext cx="524700" cy="38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47"/>
          <p:cNvCxnSpPr>
            <a:stCxn id="607" idx="5"/>
            <a:endCxn id="621" idx="1"/>
          </p:cNvCxnSpPr>
          <p:nvPr/>
        </p:nvCxnSpPr>
        <p:spPr>
          <a:xfrm>
            <a:off x="2648203" y="3764013"/>
            <a:ext cx="524700" cy="38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47"/>
          <p:cNvCxnSpPr>
            <a:stCxn id="612" idx="5"/>
            <a:endCxn id="616" idx="1"/>
          </p:cNvCxnSpPr>
          <p:nvPr/>
        </p:nvCxnSpPr>
        <p:spPr>
          <a:xfrm>
            <a:off x="6928803" y="3764013"/>
            <a:ext cx="524700" cy="30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