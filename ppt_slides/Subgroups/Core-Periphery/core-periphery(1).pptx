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b="0" i="0" sz="1200" u="none" cap="none" strike="noStrike"/>
          </a:p>
          <a:p>
            <a: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small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3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gif"/><Relationship Id="rId4" Type="http://schemas.openxmlformats.org/officeDocument/2006/relationships/image" Target="../media/image2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6.jpg"/><Relationship Id="rId5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Hyperedges: Another way to represent data in “network” form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3"/>
          <p:cNvGrpSpPr/>
          <p:nvPr/>
        </p:nvGrpSpPr>
        <p:grpSpPr>
          <a:xfrm>
            <a:off x="381000" y="1905000"/>
            <a:ext cx="8386255" cy="3886200"/>
            <a:chOff x="228600" y="1371600"/>
            <a:chExt cx="8386255" cy="3886200"/>
          </a:xfrm>
        </p:grpSpPr>
        <p:pic>
          <p:nvPicPr>
            <p:cNvPr id="90" name="Google Shape;90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8600" y="1752600"/>
              <a:ext cx="4526692" cy="32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715000" y="1371600"/>
              <a:ext cx="2899855" cy="3886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2" name="Google Shape;92;p13"/>
            <p:cNvCxnSpPr/>
            <p:nvPr/>
          </p:nvCxnSpPr>
          <p:spPr>
            <a:xfrm flipH="1" rot="10800000">
              <a:off x="4755292" y="3314700"/>
              <a:ext cx="959708" cy="38100"/>
            </a:xfrm>
            <a:prstGeom prst="straightConnector1">
              <a:avLst/>
            </a:prstGeom>
            <a:noFill/>
            <a:ln cap="flat" cmpd="sng" w="63500">
              <a:solidFill>
                <a:srgbClr val="4A7DBB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93" name="Google Shape;93;p13"/>
          <p:cNvSpPr txBox="1"/>
          <p:nvPr/>
        </p:nvSpPr>
        <p:spPr>
          <a:xfrm>
            <a:off x="6629400" y="1524000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  B  C   D  t1 t2 t3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clique?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us now turn to the concept of a clique. In a very intuitive way, when we use the term sociometric clique, we mean a highly cohesive subgroup of individuals. Cohesiveness, however, has two possible dimensions.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one dimension, which we will call </a:t>
            </a:r>
            <a:r>
              <a:rPr b="1" i="0" lang="en-US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completeness</a:t>
            </a:r>
            <a:r>
              <a:rPr b="0" i="0" lang="en-US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cohesive subgroup would be one in which a high proportion of its pairs possess the appropriate relation.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other, which we will call the </a:t>
            </a:r>
            <a:r>
              <a:rPr b="1" i="0" lang="en-US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centripetal-centrifuga</a:t>
            </a:r>
            <a:r>
              <a:rPr b="0" i="0" lang="en-US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dimension, a cohesive subgroup would be one in which relations among members of the subgroup are more important or more numerous than relations between members and non-members.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return later to a formalization of these two dimensions. It is interesting to note that many informal definitions of cliques (Spilerman, 1966; Abelson, 1966) have referred solely to the centripetal-centrifugal dimension of cohesiveness, while Luce and Perry (1949) present a formalization of the completeness dimension of cohesiveness (Alba 1973:  115-116).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228600"/>
            <a:ext cx="2554078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895600"/>
            <a:ext cx="3821777" cy="26808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5"/>
          <p:cNvCxnSpPr>
            <a:stCxn id="107" idx="2"/>
            <a:endCxn id="108" idx="0"/>
          </p:cNvCxnSpPr>
          <p:nvPr/>
        </p:nvCxnSpPr>
        <p:spPr>
          <a:xfrm>
            <a:off x="1886639" y="2362200"/>
            <a:ext cx="24300" cy="533400"/>
          </a:xfrm>
          <a:prstGeom prst="straightConnector1">
            <a:avLst/>
          </a:prstGeom>
          <a:noFill/>
          <a:ln cap="flat" cmpd="sng" w="38100">
            <a:solidFill>
              <a:srgbClr val="4A7DB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" name="Google Shape;109;p15"/>
          <p:cNvCxnSpPr>
            <a:stCxn id="108" idx="3"/>
            <a:endCxn id="110" idx="1"/>
          </p:cNvCxnSpPr>
          <p:nvPr/>
        </p:nvCxnSpPr>
        <p:spPr>
          <a:xfrm flipH="1" rot="10800000">
            <a:off x="3821777" y="4219827"/>
            <a:ext cx="1131300" cy="16200"/>
          </a:xfrm>
          <a:prstGeom prst="straightConnector1">
            <a:avLst/>
          </a:prstGeom>
          <a:noFill/>
          <a:ln cap="flat" cmpd="sng" w="38100">
            <a:solidFill>
              <a:srgbClr val="4A7DBB"/>
            </a:solidFill>
            <a:prstDash val="solid"/>
            <a:round/>
            <a:headEnd len="med" w="med" type="stealth"/>
            <a:tailEnd len="med" w="med" type="stealth"/>
          </a:ln>
        </p:spPr>
      </p:cxnSp>
      <p:pic>
        <p:nvPicPr>
          <p:cNvPr id="111" name="Google Shape;11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000" y="2819400"/>
            <a:ext cx="3790511" cy="280103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85800" y="5791200"/>
            <a:ext cx="289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Observed Adjacency Matrix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105400" y="5791200"/>
            <a:ext cx="3810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Adjacency Matrix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Exhibiting Core/Periphery Structure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4267200" y="3505200"/>
            <a:ext cx="457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228600" y="762000"/>
            <a:ext cx="868669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2895600"/>
            <a:ext cx="8475133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4495800"/>
            <a:ext cx="8621266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