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legreya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AlegreyaSans-boldItalic.fntdata"/><Relationship Id="rId10" Type="http://schemas.openxmlformats.org/officeDocument/2006/relationships/font" Target="fonts/AlegreyaSans-italic.fntdata"/><Relationship Id="rId9" Type="http://schemas.openxmlformats.org/officeDocument/2006/relationships/font" Target="fonts/Alegreya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legrey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7483aa2e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7483aa2e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50175" y="173900"/>
            <a:ext cx="2969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Theories of Culture and Networks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82535" y="1696725"/>
            <a:ext cx="20097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Constructural Theory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777660" y="1729700"/>
            <a:ext cx="20097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Cultural Holes Theory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57" name="Google Shape;57;p13"/>
          <p:cNvCxnSpPr>
            <a:stCxn id="54" idx="2"/>
            <a:endCxn id="55" idx="0"/>
          </p:cNvCxnSpPr>
          <p:nvPr/>
        </p:nvCxnSpPr>
        <p:spPr>
          <a:xfrm flipH="1">
            <a:off x="1687375" y="525800"/>
            <a:ext cx="2047500" cy="11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>
            <a:stCxn id="54" idx="2"/>
            <a:endCxn id="56" idx="0"/>
          </p:cNvCxnSpPr>
          <p:nvPr/>
        </p:nvCxnSpPr>
        <p:spPr>
          <a:xfrm>
            <a:off x="3734875" y="525800"/>
            <a:ext cx="2047500" cy="120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762775" y="3354625"/>
            <a:ext cx="1849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Culture Conversion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074875" y="3354575"/>
            <a:ext cx="1849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Cultural Matching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61" name="Google Shape;61;p13"/>
          <p:cNvCxnSpPr>
            <a:stCxn id="55" idx="2"/>
            <a:endCxn id="59" idx="0"/>
          </p:cNvCxnSpPr>
          <p:nvPr/>
        </p:nvCxnSpPr>
        <p:spPr>
          <a:xfrm>
            <a:off x="1687385" y="2048625"/>
            <a:ext cx="0" cy="13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60" idx="0"/>
            <a:endCxn id="55" idx="2"/>
          </p:cNvCxnSpPr>
          <p:nvPr/>
        </p:nvCxnSpPr>
        <p:spPr>
          <a:xfrm rot="10800000">
            <a:off x="1687375" y="2048675"/>
            <a:ext cx="2312100" cy="13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/>
          <p:nvPr/>
        </p:nvSpPr>
        <p:spPr>
          <a:xfrm>
            <a:off x="334525" y="4132225"/>
            <a:ext cx="2705700" cy="7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Restricted Conversion (Strong Culture)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Generalized Conversion (Weak Culture)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Dyadic Conversion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Local Cultural Ecologies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3048938" y="4132220"/>
            <a:ext cx="1901100" cy="7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Substantive Matching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Structural Matching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65" name="Google Shape;65;p13"/>
          <p:cNvCxnSpPr>
            <a:stCxn id="59" idx="2"/>
            <a:endCxn id="63" idx="0"/>
          </p:cNvCxnSpPr>
          <p:nvPr/>
        </p:nvCxnSpPr>
        <p:spPr>
          <a:xfrm>
            <a:off x="1687375" y="3706525"/>
            <a:ext cx="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64" idx="0"/>
            <a:endCxn id="60" idx="2"/>
          </p:cNvCxnSpPr>
          <p:nvPr/>
        </p:nvCxnSpPr>
        <p:spPr>
          <a:xfrm rot="10800000">
            <a:off x="3999488" y="3706520"/>
            <a:ext cx="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3"/>
          <p:cNvSpPr/>
          <p:nvPr/>
        </p:nvSpPr>
        <p:spPr>
          <a:xfrm>
            <a:off x="4715988" y="4132213"/>
            <a:ext cx="2133000" cy="7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Cultural Consumption &amp; Taste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Cultural Boundaries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Collaboration &amp; Creativity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857875" y="3354575"/>
            <a:ext cx="1849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Agent-Centric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934300" y="3354625"/>
            <a:ext cx="1849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Culture-Centric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70" name="Google Shape;70;p13"/>
          <p:cNvCxnSpPr>
            <a:stCxn id="56" idx="2"/>
            <a:endCxn id="68" idx="0"/>
          </p:cNvCxnSpPr>
          <p:nvPr/>
        </p:nvCxnSpPr>
        <p:spPr>
          <a:xfrm>
            <a:off x="5782510" y="2081600"/>
            <a:ext cx="0" cy="12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>
            <a:stCxn id="69" idx="0"/>
            <a:endCxn id="56" idx="2"/>
          </p:cNvCxnSpPr>
          <p:nvPr/>
        </p:nvCxnSpPr>
        <p:spPr>
          <a:xfrm rot="10800000">
            <a:off x="5782600" y="2081725"/>
            <a:ext cx="2076300" cy="12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>
            <a:stCxn id="67" idx="0"/>
            <a:endCxn id="68" idx="2"/>
          </p:cNvCxnSpPr>
          <p:nvPr/>
        </p:nvCxnSpPr>
        <p:spPr>
          <a:xfrm rot="10800000">
            <a:off x="5782488" y="3706513"/>
            <a:ext cx="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/>
          <p:nvPr/>
        </p:nvSpPr>
        <p:spPr>
          <a:xfrm>
            <a:off x="6908363" y="4192600"/>
            <a:ext cx="1901100" cy="7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Knowledge Production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legreya Sans"/>
              <a:buChar char="➔"/>
            </a:pPr>
            <a:r>
              <a:rPr lang="en" sz="1000">
                <a:latin typeface="Alegreya Sans"/>
                <a:ea typeface="Alegreya Sans"/>
                <a:cs typeface="Alegreya Sans"/>
                <a:sym typeface="Alegreya Sans"/>
              </a:rPr>
              <a:t>Text Corpora</a:t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74" name="Google Shape;74;p13"/>
          <p:cNvCxnSpPr>
            <a:stCxn id="73" idx="0"/>
            <a:endCxn id="69" idx="2"/>
          </p:cNvCxnSpPr>
          <p:nvPr/>
        </p:nvCxnSpPr>
        <p:spPr>
          <a:xfrm rot="10800000">
            <a:off x="7858913" y="3706600"/>
            <a:ext cx="0" cy="4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3"/>
          <p:cNvSpPr txBox="1"/>
          <p:nvPr/>
        </p:nvSpPr>
        <p:spPr>
          <a:xfrm>
            <a:off x="2535436" y="1729700"/>
            <a:ext cx="2399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greya Sans"/>
                <a:ea typeface="Alegreya Sans"/>
                <a:cs typeface="Alegreya Sans"/>
                <a:sym typeface="Alegreya Sans"/>
              </a:rPr>
              <a:t>Associational Diffusion Theory</a:t>
            </a:r>
            <a:endParaRPr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cxnSp>
        <p:nvCxnSpPr>
          <p:cNvPr id="76" name="Google Shape;76;p13"/>
          <p:cNvCxnSpPr>
            <a:stCxn id="54" idx="2"/>
            <a:endCxn id="75" idx="0"/>
          </p:cNvCxnSpPr>
          <p:nvPr/>
        </p:nvCxnSpPr>
        <p:spPr>
          <a:xfrm>
            <a:off x="3734875" y="525800"/>
            <a:ext cx="0" cy="120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