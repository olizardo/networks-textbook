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y="5143500" cx="9144000"/>
  <p:notesSz cx="6858000" cy="9144000"/>
  <p:embeddedFontLst>
    <p:embeddedFont>
      <p:font typeface="Economica"/>
      <p:regular r:id="rId60"/>
      <p:bold r:id="rId61"/>
      <p:italic r:id="rId62"/>
      <p:boldItalic r:id="rId63"/>
    </p:embeddedFont>
    <p:embeddedFont>
      <p:font typeface="Roboto"/>
      <p:regular r:id="rId64"/>
      <p:bold r:id="rId65"/>
      <p:italic r:id="rId66"/>
      <p:boldItalic r:id="rId67"/>
    </p:embeddedFont>
    <p:embeddedFont>
      <p:font typeface="Habibi"/>
      <p:regular r:id="rId68"/>
    </p:embeddedFont>
    <p:embeddedFont>
      <p:font typeface="Cantarell"/>
      <p:regular r:id="rId69"/>
      <p:bold r:id="rId70"/>
      <p:italic r:id="rId71"/>
      <p:boldItalic r:id="rId72"/>
    </p:embeddedFont>
    <p:embeddedFont>
      <p:font typeface="Poppins SemiBold"/>
      <p:regular r:id="rId73"/>
      <p:bold r:id="rId74"/>
      <p:italic r:id="rId75"/>
      <p:boldItalic r:id="rId76"/>
    </p:embeddedFont>
    <p:embeddedFont>
      <p:font typeface="Open Sans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C834E3-BFE3-4ED9-97F7-243BC349F02F}">
  <a:tblStyle styleId="{7DC834E3-BFE3-4ED9-97F7-243BC349F0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OpenSans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PoppinsSemiBold-regular.fntdata"/><Relationship Id="rId72" Type="http://schemas.openxmlformats.org/officeDocument/2006/relationships/font" Target="fonts/Cantarell-boldItalic.fntdata"/><Relationship Id="rId31" Type="http://schemas.openxmlformats.org/officeDocument/2006/relationships/slide" Target="slides/slide24.xml"/><Relationship Id="rId75" Type="http://schemas.openxmlformats.org/officeDocument/2006/relationships/font" Target="fonts/PoppinsSemiBold-italic.fntdata"/><Relationship Id="rId30" Type="http://schemas.openxmlformats.org/officeDocument/2006/relationships/slide" Target="slides/slide23.xml"/><Relationship Id="rId74" Type="http://schemas.openxmlformats.org/officeDocument/2006/relationships/font" Target="fonts/PoppinsSemiBold-bold.fntdata"/><Relationship Id="rId33" Type="http://schemas.openxmlformats.org/officeDocument/2006/relationships/slide" Target="slides/slide26.xml"/><Relationship Id="rId77" Type="http://schemas.openxmlformats.org/officeDocument/2006/relationships/font" Target="fonts/OpenSans-regular.fntdata"/><Relationship Id="rId32" Type="http://schemas.openxmlformats.org/officeDocument/2006/relationships/slide" Target="slides/slide25.xml"/><Relationship Id="rId76" Type="http://schemas.openxmlformats.org/officeDocument/2006/relationships/font" Target="fonts/PoppinsSemiBold-boldItalic.fntdata"/><Relationship Id="rId35" Type="http://schemas.openxmlformats.org/officeDocument/2006/relationships/slide" Target="slides/slide28.xml"/><Relationship Id="rId79" Type="http://schemas.openxmlformats.org/officeDocument/2006/relationships/font" Target="fonts/OpenSans-italic.fntdata"/><Relationship Id="rId34" Type="http://schemas.openxmlformats.org/officeDocument/2006/relationships/slide" Target="slides/slide27.xml"/><Relationship Id="rId78" Type="http://schemas.openxmlformats.org/officeDocument/2006/relationships/font" Target="fonts/OpenSans-bold.fntdata"/><Relationship Id="rId71" Type="http://schemas.openxmlformats.org/officeDocument/2006/relationships/font" Target="fonts/Cantarell-italic.fntdata"/><Relationship Id="rId70" Type="http://schemas.openxmlformats.org/officeDocument/2006/relationships/font" Target="fonts/Cantarell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Economica-italic.fntdata"/><Relationship Id="rId61" Type="http://schemas.openxmlformats.org/officeDocument/2006/relationships/font" Target="fonts/Economica-bold.fntdata"/><Relationship Id="rId20" Type="http://schemas.openxmlformats.org/officeDocument/2006/relationships/slide" Target="slides/slide13.xml"/><Relationship Id="rId64" Type="http://schemas.openxmlformats.org/officeDocument/2006/relationships/font" Target="fonts/Roboto-regular.fntdata"/><Relationship Id="rId63" Type="http://schemas.openxmlformats.org/officeDocument/2006/relationships/font" Target="fonts/Economica-boldItalic.fntdata"/><Relationship Id="rId22" Type="http://schemas.openxmlformats.org/officeDocument/2006/relationships/slide" Target="slides/slide15.xml"/><Relationship Id="rId66" Type="http://schemas.openxmlformats.org/officeDocument/2006/relationships/font" Target="fonts/Roboto-italic.fntdata"/><Relationship Id="rId21" Type="http://schemas.openxmlformats.org/officeDocument/2006/relationships/slide" Target="slides/slide14.xml"/><Relationship Id="rId65" Type="http://schemas.openxmlformats.org/officeDocument/2006/relationships/font" Target="fonts/Roboto-bold.fntdata"/><Relationship Id="rId24" Type="http://schemas.openxmlformats.org/officeDocument/2006/relationships/slide" Target="slides/slide17.xml"/><Relationship Id="rId68" Type="http://schemas.openxmlformats.org/officeDocument/2006/relationships/font" Target="fonts/Habibi-regular.fntdata"/><Relationship Id="rId23" Type="http://schemas.openxmlformats.org/officeDocument/2006/relationships/slide" Target="slides/slide16.xml"/><Relationship Id="rId67" Type="http://schemas.openxmlformats.org/officeDocument/2006/relationships/font" Target="fonts/Roboto-boldItalic.fntdata"/><Relationship Id="rId60" Type="http://schemas.openxmlformats.org/officeDocument/2006/relationships/font" Target="fonts/Economica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Cantarell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8193c26bb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8193c26bb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b94fbd6a31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b94fbd6a31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b94fbd6a31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b94fbd6a31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bc1f77c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bc1f77c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bc1f77c1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6bc1f77c1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bc1f77c1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bc1f77c1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bc1f77c1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6bc1f77c1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bc1f77c1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6bc1f77c1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6bc1f77c1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6bc1f77c1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b94fbd6a31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b94fbd6a31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b94fbd6a31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b94fbd6a31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02e3145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02e3145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18dd624e6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18dd624e6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8dd624e6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8dd624e6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02e31459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02e31459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18dd624e6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18dd624e6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18dd624e6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18dd624e6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02e31459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e02e31459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02e31459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e02e31459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18dd624e6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18dd624e6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18dd624e6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18dd624e6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8dd624e6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18dd624e6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02e31459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e02e3145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02e31459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02e31459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02e314596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e02e314596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02e314596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02e314596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e02e314596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e02e314596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18dd624e6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18dd624e6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08193c26b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08193c26b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08193c26b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08193c26b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08193c26bb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08193c26bb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08193c26b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08193c26b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08193c26b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108193c26b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8193c26bb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8193c26b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08193c26bb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08193c26bb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08193c26bb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08193c26bb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08193c26b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08193c26b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08193c26bb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08193c26b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e00389f2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e00389f2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08193c26bb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08193c26bb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e00389f2c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e00389f2c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e00389f2c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e00389f2c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e04a9b1f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e04a9b1f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e047aa81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e047aa81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e047aa81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e047aa81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e047aa817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e047aa81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e047aa817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e047aa817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e047aa817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e047aa817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e047aa817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e047aa817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e047aa817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e047aa817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e047aa817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e047aa817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e047aa817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e047aa817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gif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Theories of Ego Network Layers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7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16" name="Google Shape;116;p27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27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7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19" name="Google Shape;119;p27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27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21" name="Google Shape;121;p27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27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7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4" name="Google Shape;124;p27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" name="Google Shape;125;p27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26" name="Google Shape;126;p27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" name="Google Shape;127;p27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7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9" name="Google Shape;129;p27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27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31" name="Google Shape;131;p27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27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7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4" name="Google Shape;134;p27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27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36" name="Google Shape;136;p27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27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7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9" name="Google Shape;139;p27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" name="Google Shape;140;p27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41" name="Google Shape;141;p27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2" name="Google Shape;142;p27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3" name="Google Shape;143;p27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4" name="Google Shape;144;p27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5" name="Google Shape;145;p27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6" name="Google Shape;146;p27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7" name="Google Shape;147;p27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27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27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27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27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27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27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27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5" name="Google Shape;155;p27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6" name="Google Shape;156;p27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7" name="Google Shape;157;p27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58" name="Google Shape;158;p27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8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65" name="Google Shape;165;p2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6" name="Google Shape;166;p2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8" name="Google Shape;168;p2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9" name="Google Shape;169;p28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70" name="Google Shape;170;p2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1" name="Google Shape;171;p2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3" name="Google Shape;173;p2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" name="Google Shape;174;p28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75" name="Google Shape;175;p2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2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8" name="Google Shape;178;p28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9" name="Google Shape;179;p28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80" name="Google Shape;180;p2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" name="Google Shape;181;p2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3" name="Google Shape;183;p2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" name="Google Shape;184;p28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85" name="Google Shape;185;p2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6" name="Google Shape;186;p2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7" name="Google Shape;187;p2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8" name="Google Shape;188;p2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9" name="Google Shape;189;p2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0" name="Google Shape;190;p2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1" name="Google Shape;191;p2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2" name="Google Shape;192;p2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3" name="Google Shape;193;p2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4" name="Google Shape;194;p2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5" name="Google Shape;195;p2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6" name="Google Shape;196;p2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7" name="Google Shape;197;p2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8" name="Google Shape;198;p2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9" name="Google Shape;199;p2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0" name="Google Shape;200;p2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1" name="Google Shape;201;p2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202" name="Google Shape;202;p28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203" name="Google Shape;203;p2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4" name="Google Shape;204;p2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06" name="Google Shape;206;p28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7" name="Google Shape;207;p28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8" name="Google Shape;208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3707750" y="1206325"/>
            <a:ext cx="44850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Ego Networks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Social brain hypothesis</a:t>
            </a:r>
            <a:endParaRPr/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311700" y="1225225"/>
            <a:ext cx="4876200" cy="30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is your (human) head so big?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comparison to our closest primate ancestors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humans are very social animals!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Finding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Neocortex size scales with average group size for all primates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Explanation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brain is for keeping track of other people (among other things)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"/>
          <p:cNvSpPr txBox="1"/>
          <p:nvPr/>
        </p:nvSpPr>
        <p:spPr>
          <a:xfrm>
            <a:off x="282650" y="4341925"/>
            <a:ext cx="7960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Dunbar, R. I. M. (2003). Evolution of the social brain. </a:t>
            </a:r>
            <a:r>
              <a:rPr i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, 302, 1160 –1161.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217" name="Google Shape;217;p29"/>
          <p:cNvPicPr preferRelativeResize="0"/>
          <p:nvPr/>
        </p:nvPicPr>
        <p:blipFill rotWithShape="1">
          <a:blip r:embed="rId3">
            <a:alphaModFix/>
          </a:blip>
          <a:srcRect b="4304" l="0" r="0" t="2733"/>
          <a:stretch/>
        </p:blipFill>
        <p:spPr>
          <a:xfrm>
            <a:off x="5470700" y="1128250"/>
            <a:ext cx="3127800" cy="30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311700" y="1225225"/>
            <a:ext cx="4695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Ego-networks are organized by “layers”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“Closer” more intimate 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“Farther” less intimate 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Closer layers are smaller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Farther layers are larger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4" name="Google Shape;224;p30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{7DC834E3-BFE3-4ED9-97F7-243BC349F02F}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225" name="Google Shape;225;p30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226" name="Google Shape;226;p30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7" name="Google Shape;227;p30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311700" y="1225225"/>
            <a:ext cx="4695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Ego-networks are organized by “layers”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“Closer” more intimate 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“Farther” less intimate 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Closer layers are smaller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Farther layers are larger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relationships entails different “maintenance costs”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Cognitive/Emotional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Time/Energy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Costs determine the number of persons in each layer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4" name="Google Shape;234;p31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{7DC834E3-BFE3-4ED9-97F7-243BC349F02F}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235" name="Google Shape;235;p31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236" name="Google Shape;236;p31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7" name="Google Shape;237;p31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graphicFrame>
        <p:nvGraphicFramePr>
          <p:cNvPr id="243" name="Google Shape;243;p32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{7DC834E3-BFE3-4ED9-97F7-243BC349F02F}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244" name="Google Shape;244;p32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245" name="Google Shape;245;p32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6" name="Google Shape;246;p32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311700" y="1225225"/>
            <a:ext cx="495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clique (~ 4 - 5)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most intimate kin and best friends you can rely on them for crises and emergencies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2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graphicFrame>
        <p:nvGraphicFramePr>
          <p:cNvPr id="255" name="Google Shape;255;p33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{7DC834E3-BFE3-4ED9-97F7-243BC349F02F}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256" name="Google Shape;256;p33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257" name="Google Shape;257;p33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8" name="Google Shape;258;p33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311700" y="1225225"/>
            <a:ext cx="495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clique (~ 4 - 5)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most intimate kin and best friends you can rely on them for crises and emergencies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Sympathy group (~12 - 15)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 and good friends that can provide some services and that you interact with often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6059775" y="3111625"/>
            <a:ext cx="1866600" cy="17166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6230475" y="3395639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Sympathy Group (12-15)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graphicFrame>
        <p:nvGraphicFramePr>
          <p:cNvPr id="269" name="Google Shape;269;p34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{7DC834E3-BFE3-4ED9-97F7-243BC349F02F}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270" name="Google Shape;270;p34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271" name="Google Shape;271;p34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2" name="Google Shape;272;p34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311700" y="1225225"/>
            <a:ext cx="495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clique (~ 4 - 5)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most intimate kin and best friends you can rely on them for crises and emergencies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Sympathy group (~12 - 15)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 and good friends that can provide some services and that you interact with often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Affinity group (~ 45 - 50)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casual but still close friends, extended family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4"/>
          <p:cNvSpPr/>
          <p:nvPr/>
        </p:nvSpPr>
        <p:spPr>
          <a:xfrm>
            <a:off x="6585534" y="2586779"/>
            <a:ext cx="815100" cy="4749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5" name="Google Shape;275;p34"/>
          <p:cNvSpPr/>
          <p:nvPr/>
        </p:nvSpPr>
        <p:spPr>
          <a:xfrm>
            <a:off x="5561025" y="2081125"/>
            <a:ext cx="2864100" cy="2747100"/>
          </a:xfrm>
          <a:prstGeom prst="ellipse">
            <a:avLst/>
          </a:prstGeom>
          <a:solidFill>
            <a:srgbClr val="DD7E6B"/>
          </a:solidFill>
          <a:ln cap="flat" cmpd="sng" w="190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4"/>
          <p:cNvSpPr/>
          <p:nvPr/>
        </p:nvSpPr>
        <p:spPr>
          <a:xfrm>
            <a:off x="6059775" y="3111625"/>
            <a:ext cx="1866600" cy="17166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4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6230475" y="3395639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Sympathy Group (12-15)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0" name="Google Shape;280;p34"/>
          <p:cNvSpPr txBox="1"/>
          <p:nvPr/>
        </p:nvSpPr>
        <p:spPr>
          <a:xfrm>
            <a:off x="6159375" y="2438425"/>
            <a:ext cx="1667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Affinity Group (45-50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graphicFrame>
        <p:nvGraphicFramePr>
          <p:cNvPr id="286" name="Google Shape;286;p35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{7DC834E3-BFE3-4ED9-97F7-243BC349F02F}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287" name="Google Shape;287;p35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288" name="Google Shape;288;p35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9" name="Google Shape;289;p35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90" name="Google Shape;290;p35"/>
          <p:cNvSpPr txBox="1"/>
          <p:nvPr>
            <p:ph idx="1" type="body"/>
          </p:nvPr>
        </p:nvSpPr>
        <p:spPr>
          <a:xfrm>
            <a:off x="311700" y="1225225"/>
            <a:ext cx="495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clique (~ 4 - 5)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most intimate kin and best friends you can rely on them for crises and emergencies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Sympathy group (~12 - 15)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 and good friends that can provide some services and that you interact with often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Affinity group (~ 45 - 50)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casual but still close friends, extended family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"/>
          <p:cNvSpPr/>
          <p:nvPr/>
        </p:nvSpPr>
        <p:spPr>
          <a:xfrm>
            <a:off x="6585534" y="2586779"/>
            <a:ext cx="815100" cy="4749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5561025" y="2081125"/>
            <a:ext cx="2864100" cy="2747100"/>
          </a:xfrm>
          <a:prstGeom prst="ellipse">
            <a:avLst/>
          </a:prstGeom>
          <a:solidFill>
            <a:srgbClr val="DD7E6B"/>
          </a:solidFill>
          <a:ln cap="flat" cmpd="sng" w="190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5"/>
          <p:cNvSpPr/>
          <p:nvPr/>
        </p:nvSpPr>
        <p:spPr>
          <a:xfrm>
            <a:off x="6059775" y="3111625"/>
            <a:ext cx="1866600" cy="17166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5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6" name="Google Shape;296;p35"/>
          <p:cNvSpPr txBox="1"/>
          <p:nvPr/>
        </p:nvSpPr>
        <p:spPr>
          <a:xfrm>
            <a:off x="6230475" y="3395639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Sympathy Group (12-15)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6159375" y="2438425"/>
            <a:ext cx="1667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Affinity Group (45-50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Dunbar Circles</a:t>
            </a:r>
            <a:endParaRPr/>
          </a:p>
        </p:txBody>
      </p:sp>
      <p:graphicFrame>
        <p:nvGraphicFramePr>
          <p:cNvPr id="303" name="Google Shape;303;p36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{7DC834E3-BFE3-4ED9-97F7-243BC349F02F}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304" name="Google Shape;304;p36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305" name="Google Shape;305;p36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6" name="Google Shape;306;p36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Economica"/>
                  <a:ea typeface="Economica"/>
                  <a:cs typeface="Economica"/>
                  <a:sym typeface="Economica"/>
                </a:rPr>
                <a:t>Closeness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307" name="Google Shape;307;p36"/>
          <p:cNvSpPr txBox="1"/>
          <p:nvPr>
            <p:ph idx="1" type="body"/>
          </p:nvPr>
        </p:nvSpPr>
        <p:spPr>
          <a:xfrm>
            <a:off x="311700" y="1225225"/>
            <a:ext cx="495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clique (~ 4 - 5)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most intimate kin and best friends you can rely on them for crises and emergencies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Sympathy group (~12 - 15)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 and good friends that can provide some services and that you interact with often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Affinity group (~ 45 - 50)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casual but still close friends, extended family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Active Network (~120 - 150)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number people that you recognize by face/name and interact with at least once a year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6"/>
          <p:cNvSpPr/>
          <p:nvPr/>
        </p:nvSpPr>
        <p:spPr>
          <a:xfrm>
            <a:off x="5006625" y="976225"/>
            <a:ext cx="3972900" cy="38520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6"/>
          <p:cNvSpPr/>
          <p:nvPr/>
        </p:nvSpPr>
        <p:spPr>
          <a:xfrm>
            <a:off x="6585534" y="2586779"/>
            <a:ext cx="815100" cy="4749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5561025" y="2081125"/>
            <a:ext cx="2864100" cy="2747100"/>
          </a:xfrm>
          <a:prstGeom prst="ellipse">
            <a:avLst/>
          </a:prstGeom>
          <a:solidFill>
            <a:srgbClr val="DD7E6B"/>
          </a:solidFill>
          <a:ln cap="flat" cmpd="sng" w="190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6"/>
          <p:cNvSpPr/>
          <p:nvPr/>
        </p:nvSpPr>
        <p:spPr>
          <a:xfrm>
            <a:off x="6059775" y="3111625"/>
            <a:ext cx="1866600" cy="17166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6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313" name="Google Shape;313;p36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6230475" y="3395639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Sympathy Group (12-15)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6159375" y="2438425"/>
            <a:ext cx="1667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Affinity Group (45-50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6088125" y="1480521"/>
            <a:ext cx="1809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  <a:latin typeface="Economica"/>
                <a:ea typeface="Economica"/>
                <a:cs typeface="Economica"/>
                <a:sym typeface="Economica"/>
              </a:rPr>
              <a:t>Active Network(120-150)</a:t>
            </a:r>
            <a:endParaRPr b="1">
              <a:solidFill>
                <a:srgbClr val="FFFF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Strength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social ties can have different </a:t>
            </a:r>
            <a:r>
              <a:rPr i="1" lang="en"/>
              <a:t>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property of social ties is a characteristic that can be different for ties of the same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instance: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ties are </a:t>
            </a:r>
            <a:r>
              <a:rPr b="1" lang="en"/>
              <a:t>new</a:t>
            </a:r>
            <a:r>
              <a:rPr lang="en"/>
              <a:t>, and some ties are </a:t>
            </a:r>
            <a:r>
              <a:rPr b="1" lang="en"/>
              <a:t>old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New friends </a:t>
            </a:r>
            <a:r>
              <a:rPr lang="en"/>
              <a:t>versus </a:t>
            </a:r>
            <a:r>
              <a:rPr i="1" lang="en"/>
              <a:t>old friends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ties are </a:t>
            </a:r>
            <a:r>
              <a:rPr b="1" lang="en"/>
              <a:t>durable</a:t>
            </a:r>
            <a:r>
              <a:rPr lang="en"/>
              <a:t> (hard to break) others are </a:t>
            </a:r>
            <a:r>
              <a:rPr b="1" lang="en"/>
              <a:t>nondurable</a:t>
            </a:r>
            <a:r>
              <a:rPr lang="en"/>
              <a:t> (easy to break)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Durable relations </a:t>
            </a:r>
            <a:r>
              <a:rPr lang="en"/>
              <a:t>(mother) versus</a:t>
            </a:r>
            <a:r>
              <a:rPr i="1" lang="en"/>
              <a:t> nondurable relations</a:t>
            </a:r>
            <a:r>
              <a:rPr lang="en"/>
              <a:t> (coworker)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ties are </a:t>
            </a:r>
            <a:r>
              <a:rPr b="1" lang="en"/>
              <a:t>frequently activated</a:t>
            </a:r>
            <a:r>
              <a:rPr lang="en"/>
              <a:t> others are </a:t>
            </a:r>
            <a:r>
              <a:rPr b="1" lang="en"/>
              <a:t>infrequently activated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Friends you see all the time</a:t>
            </a:r>
            <a:r>
              <a:rPr lang="en"/>
              <a:t> versus </a:t>
            </a:r>
            <a:r>
              <a:rPr i="1" lang="en"/>
              <a:t>friends you see once in a while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ties are </a:t>
            </a:r>
            <a:r>
              <a:rPr b="1" lang="en"/>
              <a:t>intimate</a:t>
            </a:r>
            <a:r>
              <a:rPr lang="en"/>
              <a:t> and other ties are </a:t>
            </a:r>
            <a:r>
              <a:rPr b="1" lang="en"/>
              <a:t>not intimate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Friends you confide in</a:t>
            </a:r>
            <a:r>
              <a:rPr lang="en"/>
              <a:t> versus </a:t>
            </a:r>
            <a:r>
              <a:rPr i="1" lang="en"/>
              <a:t>Friends that you do not confide in</a:t>
            </a:r>
            <a:endParaRPr i="1"/>
          </a:p>
        </p:txBody>
      </p:sp>
      <p:sp>
        <p:nvSpPr>
          <p:cNvPr id="327" name="Google Shape;327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Social Ties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idx="1" type="body"/>
          </p:nvPr>
        </p:nvSpPr>
        <p:spPr>
          <a:xfrm>
            <a:off x="311700" y="1225225"/>
            <a:ext cx="8520600" cy="23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social ties can have different </a:t>
            </a:r>
            <a:r>
              <a:rPr i="1" lang="en"/>
              <a:t>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property of social ties is a characteristic that differentiates ties of the same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 of all the properties </a:t>
            </a:r>
            <a:r>
              <a:rPr b="1" i="1" lang="en">
                <a:solidFill>
                  <a:srgbClr val="FF0000"/>
                </a:solidFill>
              </a:rPr>
              <a:t>tie strength</a:t>
            </a:r>
            <a:r>
              <a:rPr lang="en"/>
              <a:t> is the most important 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ties are </a:t>
            </a:r>
            <a:r>
              <a:rPr b="1" lang="en"/>
              <a:t>strong</a:t>
            </a:r>
            <a:r>
              <a:rPr lang="en"/>
              <a:t> and some ties are </a:t>
            </a:r>
            <a:r>
              <a:rPr b="1" lang="en"/>
              <a:t>weak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“The strength of a tie is a...combination of the amount of time, the emotional intensity, the intimacy (mutual confiding) and the reciprocal services which characterize the tie”</a:t>
            </a:r>
            <a:r>
              <a:rPr lang="en"/>
              <a:t> (Granovetter 1973:  1361).</a:t>
            </a:r>
            <a:endParaRPr b="1"/>
          </a:p>
        </p:txBody>
      </p:sp>
      <p:sp>
        <p:nvSpPr>
          <p:cNvPr id="333" name="Google Shape;333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properties: Strength</a:t>
            </a:r>
            <a:endParaRPr/>
          </a:p>
        </p:txBody>
      </p:sp>
      <p:sp>
        <p:nvSpPr>
          <p:cNvPr id="334" name="Google Shape;334;p39"/>
          <p:cNvSpPr/>
          <p:nvPr/>
        </p:nvSpPr>
        <p:spPr>
          <a:xfrm>
            <a:off x="1478238" y="3600675"/>
            <a:ext cx="573900" cy="55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5" name="Google Shape;335;p39"/>
          <p:cNvCxnSpPr>
            <a:stCxn id="334" idx="6"/>
            <a:endCxn id="336" idx="2"/>
          </p:cNvCxnSpPr>
          <p:nvPr/>
        </p:nvCxnSpPr>
        <p:spPr>
          <a:xfrm>
            <a:off x="2052138" y="3876375"/>
            <a:ext cx="6078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9"/>
          <p:cNvSpPr/>
          <p:nvPr/>
        </p:nvSpPr>
        <p:spPr>
          <a:xfrm>
            <a:off x="2659856" y="3600675"/>
            <a:ext cx="573900" cy="55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7" name="Google Shape;337;p39"/>
          <p:cNvSpPr txBox="1"/>
          <p:nvPr/>
        </p:nvSpPr>
        <p:spPr>
          <a:xfrm>
            <a:off x="1813682" y="4130071"/>
            <a:ext cx="11295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Strong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39"/>
          <p:cNvSpPr/>
          <p:nvPr/>
        </p:nvSpPr>
        <p:spPr>
          <a:xfrm>
            <a:off x="5910238" y="3550475"/>
            <a:ext cx="573900" cy="55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9" name="Google Shape;339;p39"/>
          <p:cNvCxnSpPr>
            <a:stCxn id="338" idx="6"/>
            <a:endCxn id="340" idx="2"/>
          </p:cNvCxnSpPr>
          <p:nvPr/>
        </p:nvCxnSpPr>
        <p:spPr>
          <a:xfrm>
            <a:off x="6484138" y="3826175"/>
            <a:ext cx="607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0" name="Google Shape;340;p39"/>
          <p:cNvSpPr/>
          <p:nvPr/>
        </p:nvSpPr>
        <p:spPr>
          <a:xfrm>
            <a:off x="7091856" y="3550475"/>
            <a:ext cx="573900" cy="55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" name="Google Shape;341;p39"/>
          <p:cNvSpPr txBox="1"/>
          <p:nvPr/>
        </p:nvSpPr>
        <p:spPr>
          <a:xfrm>
            <a:off x="6245682" y="4079871"/>
            <a:ext cx="11295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Weak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39"/>
          <p:cNvSpPr txBox="1"/>
          <p:nvPr/>
        </p:nvSpPr>
        <p:spPr>
          <a:xfrm>
            <a:off x="408750" y="4506175"/>
            <a:ext cx="793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Granovetter, M. S. (1973). The strength of weak ties. </a:t>
            </a:r>
            <a:r>
              <a:rPr i="1"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American journal of sociology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, </a:t>
            </a:r>
            <a:r>
              <a:rPr i="1"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78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  <a:latin typeface="Economica"/>
                <a:ea typeface="Economica"/>
                <a:cs typeface="Economica"/>
                <a:sym typeface="Economica"/>
              </a:rPr>
              <a:t>(6), 1360-1380.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Four Pillars of Tie Strength</a:t>
            </a:r>
            <a:endParaRPr/>
          </a:p>
        </p:txBody>
      </p:sp>
      <p:pic>
        <p:nvPicPr>
          <p:cNvPr descr="image.png" id="348" name="Google Shape;3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73301"/>
            <a:ext cx="1947182" cy="303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339" y="1573301"/>
            <a:ext cx="1947182" cy="303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479" y="1573301"/>
            <a:ext cx="1947182" cy="303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9618" y="1573301"/>
            <a:ext cx="1947182" cy="303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094" y="1801499"/>
            <a:ext cx="367393" cy="36807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0"/>
          <p:cNvSpPr txBox="1"/>
          <p:nvPr/>
        </p:nvSpPr>
        <p:spPr>
          <a:xfrm>
            <a:off x="647693" y="2316800"/>
            <a:ext cx="1566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001A3D"/>
                </a:solidFill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40"/>
          <p:cNvSpPr txBox="1"/>
          <p:nvPr/>
        </p:nvSpPr>
        <p:spPr>
          <a:xfrm>
            <a:off x="684975" y="2714327"/>
            <a:ext cx="1491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Characterized by the amount of time, duration, and frequency of contact.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355" name="Google Shape;35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1234" y="1801499"/>
            <a:ext cx="367393" cy="36807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0"/>
          <p:cNvSpPr txBox="1"/>
          <p:nvPr/>
        </p:nvSpPr>
        <p:spPr>
          <a:xfrm>
            <a:off x="2741832" y="2316800"/>
            <a:ext cx="1566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001A3D"/>
                </a:solidFill>
                <a:latin typeface="Open Sans"/>
                <a:ea typeface="Open Sans"/>
                <a:cs typeface="Open Sans"/>
                <a:sym typeface="Open Sans"/>
              </a:rPr>
              <a:t>Intensity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2779116" y="2714327"/>
            <a:ext cx="1491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The emotional intensity and closeness that characterizes the tie.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358" name="Google Shape;358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7612" y="1801499"/>
            <a:ext cx="462915" cy="36807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0"/>
          <p:cNvSpPr txBox="1"/>
          <p:nvPr/>
        </p:nvSpPr>
        <p:spPr>
          <a:xfrm>
            <a:off x="4835971" y="2316800"/>
            <a:ext cx="1566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001A3D"/>
                </a:solidFill>
                <a:latin typeface="Open Sans"/>
                <a:ea typeface="Open Sans"/>
                <a:cs typeface="Open Sans"/>
                <a:sym typeface="Open Sans"/>
              </a:rPr>
              <a:t>Intimacy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0" name="Google Shape;360;p40"/>
          <p:cNvSpPr txBox="1"/>
          <p:nvPr/>
        </p:nvSpPr>
        <p:spPr>
          <a:xfrm>
            <a:off x="4873250" y="2714324"/>
            <a:ext cx="1491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Defined by mutual confiding and personal depth in the relationship.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361" name="Google Shape;361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81752" y="1801499"/>
            <a:ext cx="462915" cy="36807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0"/>
          <p:cNvSpPr txBox="1"/>
          <p:nvPr/>
        </p:nvSpPr>
        <p:spPr>
          <a:xfrm>
            <a:off x="6930111" y="2316800"/>
            <a:ext cx="1566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001A3D"/>
                </a:solidFill>
                <a:latin typeface="Open Sans"/>
                <a:ea typeface="Open Sans"/>
                <a:cs typeface="Open Sans"/>
                <a:sym typeface="Open Sans"/>
              </a:rPr>
              <a:t>Reciprocity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40"/>
          <p:cNvSpPr txBox="1"/>
          <p:nvPr/>
        </p:nvSpPr>
        <p:spPr>
          <a:xfrm>
            <a:off x="6967396" y="2714324"/>
            <a:ext cx="1491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The reciprocal services and mutual aid provided by </a:t>
            </a:r>
            <a:r>
              <a:rPr lang="en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each person.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properties: Strength</a:t>
            </a:r>
            <a:endParaRPr/>
          </a:p>
        </p:txBody>
      </p:sp>
      <p:sp>
        <p:nvSpPr>
          <p:cNvPr id="369" name="Google Shape;369;p41"/>
          <p:cNvSpPr txBox="1"/>
          <p:nvPr>
            <p:ph idx="1" type="body"/>
          </p:nvPr>
        </p:nvSpPr>
        <p:spPr>
          <a:xfrm>
            <a:off x="311700" y="1225225"/>
            <a:ext cx="8520600" cy="22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According to Granovetter, tie strength is a </a:t>
            </a:r>
            <a:r>
              <a:rPr i="1" lang="en"/>
              <a:t>combination of different tie properties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Ties are </a:t>
            </a:r>
            <a:r>
              <a:rPr b="1" lang="en"/>
              <a:t>strong</a:t>
            </a:r>
            <a:r>
              <a:rPr lang="en"/>
              <a:t> if: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lasted for a long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frequently activated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emotionally intimate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Feature exchanges of favors</a:t>
            </a:r>
            <a:endParaRPr/>
          </a:p>
        </p:txBody>
      </p:sp>
      <p:sp>
        <p:nvSpPr>
          <p:cNvPr id="370" name="Google Shape;370;p41"/>
          <p:cNvSpPr/>
          <p:nvPr/>
        </p:nvSpPr>
        <p:spPr>
          <a:xfrm>
            <a:off x="3652111" y="3540918"/>
            <a:ext cx="1825500" cy="5253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1" name="Google Shape;371;p41"/>
          <p:cNvSpPr/>
          <p:nvPr/>
        </p:nvSpPr>
        <p:spPr>
          <a:xfrm>
            <a:off x="82424" y="449448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Duration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2" name="Google Shape;372;p41"/>
          <p:cNvSpPr/>
          <p:nvPr/>
        </p:nvSpPr>
        <p:spPr>
          <a:xfrm>
            <a:off x="1901517" y="449449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Time Spent Together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73" name="Google Shape;373;p41"/>
          <p:cNvCxnSpPr>
            <a:stCxn id="370" idx="2"/>
            <a:endCxn id="372" idx="0"/>
          </p:cNvCxnSpPr>
          <p:nvPr/>
        </p:nvCxnSpPr>
        <p:spPr>
          <a:xfrm rot="5400000">
            <a:off x="3446311" y="3376068"/>
            <a:ext cx="428400" cy="18087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41"/>
          <p:cNvCxnSpPr>
            <a:stCxn id="371" idx="0"/>
            <a:endCxn id="370" idx="2"/>
          </p:cNvCxnSpPr>
          <p:nvPr/>
        </p:nvCxnSpPr>
        <p:spPr>
          <a:xfrm rot="-5400000">
            <a:off x="2536724" y="2466334"/>
            <a:ext cx="428400" cy="36279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41"/>
          <p:cNvSpPr/>
          <p:nvPr/>
        </p:nvSpPr>
        <p:spPr>
          <a:xfrm>
            <a:off x="3717443" y="449449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Emotional Intensity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6" name="Google Shape;376;p41"/>
          <p:cNvSpPr/>
          <p:nvPr/>
        </p:nvSpPr>
        <p:spPr>
          <a:xfrm>
            <a:off x="5580718" y="449448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Intimacy/Confiding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7" name="Google Shape;377;p41"/>
          <p:cNvSpPr/>
          <p:nvPr/>
        </p:nvSpPr>
        <p:spPr>
          <a:xfrm>
            <a:off x="7352485" y="4494488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Interaction Freq.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78" name="Google Shape;378;p41"/>
          <p:cNvCxnSpPr>
            <a:stCxn id="375" idx="0"/>
            <a:endCxn id="370" idx="2"/>
          </p:cNvCxnSpPr>
          <p:nvPr/>
        </p:nvCxnSpPr>
        <p:spPr>
          <a:xfrm flipH="1" rot="5400000">
            <a:off x="4354193" y="4276696"/>
            <a:ext cx="428400" cy="72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41"/>
          <p:cNvCxnSpPr>
            <a:stCxn id="376" idx="0"/>
            <a:endCxn id="370" idx="2"/>
          </p:cNvCxnSpPr>
          <p:nvPr/>
        </p:nvCxnSpPr>
        <p:spPr>
          <a:xfrm flipH="1" rot="5400000">
            <a:off x="5285818" y="3345034"/>
            <a:ext cx="428400" cy="18705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41"/>
          <p:cNvCxnSpPr>
            <a:stCxn id="370" idx="2"/>
            <a:endCxn id="377" idx="0"/>
          </p:cNvCxnSpPr>
          <p:nvPr/>
        </p:nvCxnSpPr>
        <p:spPr>
          <a:xfrm flipH="1" rot="-5400000">
            <a:off x="6171811" y="2459268"/>
            <a:ext cx="428400" cy="3642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properties: Strength</a:t>
            </a:r>
            <a:endParaRPr/>
          </a:p>
        </p:txBody>
      </p:sp>
      <p:sp>
        <p:nvSpPr>
          <p:cNvPr id="386" name="Google Shape;386;p42"/>
          <p:cNvSpPr txBox="1"/>
          <p:nvPr>
            <p:ph idx="1" type="body"/>
          </p:nvPr>
        </p:nvSpPr>
        <p:spPr>
          <a:xfrm>
            <a:off x="311700" y="1225225"/>
            <a:ext cx="8520600" cy="22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According to Granovetter, tie strength is a </a:t>
            </a:r>
            <a:r>
              <a:rPr i="1" lang="en"/>
              <a:t>combination of different tie properties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Ties are </a:t>
            </a:r>
            <a:r>
              <a:rPr b="1" lang="en"/>
              <a:t>weak</a:t>
            </a:r>
            <a:r>
              <a:rPr lang="en"/>
              <a:t> if: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recently started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infrequently activated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Lack emotional intimacy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Feature exchanges of favors</a:t>
            </a:r>
            <a:endParaRPr/>
          </a:p>
        </p:txBody>
      </p:sp>
      <p:sp>
        <p:nvSpPr>
          <p:cNvPr id="387" name="Google Shape;387;p42"/>
          <p:cNvSpPr/>
          <p:nvPr/>
        </p:nvSpPr>
        <p:spPr>
          <a:xfrm>
            <a:off x="3652111" y="3540918"/>
            <a:ext cx="1825500" cy="5253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8" name="Google Shape;388;p42"/>
          <p:cNvSpPr/>
          <p:nvPr/>
        </p:nvSpPr>
        <p:spPr>
          <a:xfrm>
            <a:off x="82424" y="449448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Duration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9" name="Google Shape;389;p42"/>
          <p:cNvSpPr/>
          <p:nvPr/>
        </p:nvSpPr>
        <p:spPr>
          <a:xfrm>
            <a:off x="1901517" y="449449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Time Spent Together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90" name="Google Shape;390;p42"/>
          <p:cNvCxnSpPr>
            <a:stCxn id="387" idx="2"/>
            <a:endCxn id="389" idx="0"/>
          </p:cNvCxnSpPr>
          <p:nvPr/>
        </p:nvCxnSpPr>
        <p:spPr>
          <a:xfrm rot="5400000">
            <a:off x="3446311" y="3376068"/>
            <a:ext cx="428400" cy="18087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42"/>
          <p:cNvCxnSpPr>
            <a:stCxn id="388" idx="0"/>
            <a:endCxn id="387" idx="2"/>
          </p:cNvCxnSpPr>
          <p:nvPr/>
        </p:nvCxnSpPr>
        <p:spPr>
          <a:xfrm rot="-5400000">
            <a:off x="2536724" y="2466334"/>
            <a:ext cx="428400" cy="36279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42"/>
          <p:cNvSpPr/>
          <p:nvPr/>
        </p:nvSpPr>
        <p:spPr>
          <a:xfrm>
            <a:off x="3717443" y="449449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Emotional Intensity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3" name="Google Shape;393;p42"/>
          <p:cNvSpPr/>
          <p:nvPr/>
        </p:nvSpPr>
        <p:spPr>
          <a:xfrm>
            <a:off x="5580718" y="449448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Intimacy/Confiding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4" name="Google Shape;394;p42"/>
          <p:cNvSpPr/>
          <p:nvPr/>
        </p:nvSpPr>
        <p:spPr>
          <a:xfrm>
            <a:off x="7352485" y="4494488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Interaction Freq.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95" name="Google Shape;395;p42"/>
          <p:cNvCxnSpPr>
            <a:stCxn id="392" idx="0"/>
            <a:endCxn id="387" idx="2"/>
          </p:cNvCxnSpPr>
          <p:nvPr/>
        </p:nvCxnSpPr>
        <p:spPr>
          <a:xfrm flipH="1" rot="5400000">
            <a:off x="4354193" y="4276696"/>
            <a:ext cx="428400" cy="72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42"/>
          <p:cNvCxnSpPr>
            <a:stCxn id="393" idx="0"/>
            <a:endCxn id="387" idx="2"/>
          </p:cNvCxnSpPr>
          <p:nvPr/>
        </p:nvCxnSpPr>
        <p:spPr>
          <a:xfrm flipH="1" rot="5400000">
            <a:off x="5285818" y="3345034"/>
            <a:ext cx="428400" cy="18705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42"/>
          <p:cNvCxnSpPr>
            <a:stCxn id="387" idx="2"/>
            <a:endCxn id="394" idx="0"/>
          </p:cNvCxnSpPr>
          <p:nvPr/>
        </p:nvCxnSpPr>
        <p:spPr>
          <a:xfrm flipH="1" rot="-5400000">
            <a:off x="6171811" y="2459268"/>
            <a:ext cx="428400" cy="3642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have a social tie?</a:t>
            </a:r>
            <a:endParaRPr/>
          </a:p>
        </p:txBody>
      </p:sp>
      <p:sp>
        <p:nvSpPr>
          <p:cNvPr id="403" name="Google Shape;403;p43"/>
          <p:cNvSpPr txBox="1"/>
          <p:nvPr>
            <p:ph idx="1" type="body"/>
          </p:nvPr>
        </p:nvSpPr>
        <p:spPr>
          <a:xfrm>
            <a:off x="311700" y="1225225"/>
            <a:ext cx="8520600" cy="15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We can divide the four different types of social ties into two clusters: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Similarities and relations are types of </a:t>
            </a:r>
            <a:r>
              <a:rPr b="1" lang="en">
                <a:solidFill>
                  <a:srgbClr val="FF0000"/>
                </a:solidFill>
              </a:rPr>
              <a:t>states</a:t>
            </a:r>
            <a:r>
              <a:rPr b="1" lang="en"/>
              <a:t> </a:t>
            </a:r>
            <a:r>
              <a:rPr lang="en"/>
              <a:t>(static situations)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 and flows are types of </a:t>
            </a:r>
            <a:r>
              <a:rPr b="1" lang="en">
                <a:solidFill>
                  <a:srgbClr val="0000FF"/>
                </a:solidFill>
              </a:rPr>
              <a:t>events</a:t>
            </a:r>
            <a:r>
              <a:rPr b="1" lang="en"/>
              <a:t> </a:t>
            </a:r>
            <a:r>
              <a:rPr lang="en"/>
              <a:t>(processes in time)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545400" y="4604300"/>
            <a:ext cx="8053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Borgatti, S. P., Mehra, A., Brass, D. J., &amp; Labianca, G. (2009). Network analysis in the social sciences.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, 323(5916), 892-895.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Screenshot 2017-08-22 at 09.35.16.png" id="405" name="Google Shape;405;p43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911963" y="2639000"/>
            <a:ext cx="7320075" cy="19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3"/>
          <p:cNvSpPr/>
          <p:nvPr/>
        </p:nvSpPr>
        <p:spPr>
          <a:xfrm>
            <a:off x="545400" y="2617550"/>
            <a:ext cx="57771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43"/>
          <p:cNvSpPr/>
          <p:nvPr/>
        </p:nvSpPr>
        <p:spPr>
          <a:xfrm>
            <a:off x="6173500" y="2617550"/>
            <a:ext cx="22803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 properties: Strength</a:t>
            </a:r>
            <a:endParaRPr/>
          </a:p>
        </p:txBody>
      </p:sp>
      <p:sp>
        <p:nvSpPr>
          <p:cNvPr id="413" name="Google Shape;413;p44"/>
          <p:cNvSpPr txBox="1"/>
          <p:nvPr/>
        </p:nvSpPr>
        <p:spPr>
          <a:xfrm>
            <a:off x="593100" y="3648950"/>
            <a:ext cx="79578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i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“The strength of a tie is a...combination of the amount of time, the emotional intensity, the intimacy (mutual confiding) and the reciprocal services which characterize the tie”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(Granovetter 1973:  1361).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4"/>
          <p:cNvSpPr/>
          <p:nvPr/>
        </p:nvSpPr>
        <p:spPr>
          <a:xfrm>
            <a:off x="3659261" y="1181868"/>
            <a:ext cx="1825500" cy="5253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5" name="Google Shape;415;p44"/>
          <p:cNvSpPr/>
          <p:nvPr/>
        </p:nvSpPr>
        <p:spPr>
          <a:xfrm>
            <a:off x="89574" y="213543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Duration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6" name="Google Shape;416;p44"/>
          <p:cNvSpPr/>
          <p:nvPr/>
        </p:nvSpPr>
        <p:spPr>
          <a:xfrm>
            <a:off x="1908667" y="213544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Time Spent Together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7" name="Google Shape;417;p44"/>
          <p:cNvSpPr/>
          <p:nvPr/>
        </p:nvSpPr>
        <p:spPr>
          <a:xfrm>
            <a:off x="6668684" y="3089003"/>
            <a:ext cx="1825500" cy="5253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Communication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8" name="Google Shape;418;p44"/>
          <p:cNvSpPr/>
          <p:nvPr/>
        </p:nvSpPr>
        <p:spPr>
          <a:xfrm>
            <a:off x="4662398" y="3089003"/>
            <a:ext cx="1825500" cy="5253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Exchanges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9" name="Google Shape;419;p44"/>
          <p:cNvSpPr/>
          <p:nvPr/>
        </p:nvSpPr>
        <p:spPr>
          <a:xfrm>
            <a:off x="2656100" y="3089003"/>
            <a:ext cx="1825500" cy="5253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Sentiment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0" name="Google Shape;420;p44"/>
          <p:cNvSpPr/>
          <p:nvPr/>
        </p:nvSpPr>
        <p:spPr>
          <a:xfrm>
            <a:off x="649814" y="3089003"/>
            <a:ext cx="1825500" cy="525300"/>
          </a:xfrm>
          <a:prstGeom prst="rect">
            <a:avLst/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21" name="Google Shape;421;p44"/>
          <p:cNvCxnSpPr>
            <a:stCxn id="414" idx="2"/>
            <a:endCxn id="416" idx="0"/>
          </p:cNvCxnSpPr>
          <p:nvPr/>
        </p:nvCxnSpPr>
        <p:spPr>
          <a:xfrm rot="5400000">
            <a:off x="3453461" y="1017018"/>
            <a:ext cx="428400" cy="18087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44"/>
          <p:cNvCxnSpPr>
            <a:stCxn id="415" idx="0"/>
            <a:endCxn id="414" idx="2"/>
          </p:cNvCxnSpPr>
          <p:nvPr/>
        </p:nvCxnSpPr>
        <p:spPr>
          <a:xfrm rot="-5400000">
            <a:off x="2543874" y="107284"/>
            <a:ext cx="428400" cy="36279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44"/>
          <p:cNvCxnSpPr>
            <a:stCxn id="420" idx="0"/>
            <a:endCxn id="415" idx="2"/>
          </p:cNvCxnSpPr>
          <p:nvPr/>
        </p:nvCxnSpPr>
        <p:spPr>
          <a:xfrm flipH="1" rot="5400000">
            <a:off x="1039214" y="2565653"/>
            <a:ext cx="428400" cy="618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44"/>
          <p:cNvSpPr/>
          <p:nvPr/>
        </p:nvSpPr>
        <p:spPr>
          <a:xfrm>
            <a:off x="3724593" y="213544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Emotional Intensity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5" name="Google Shape;425;p44"/>
          <p:cNvSpPr/>
          <p:nvPr/>
        </p:nvSpPr>
        <p:spPr>
          <a:xfrm>
            <a:off x="5587868" y="213543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Intimacy/Confiding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6" name="Google Shape;426;p44"/>
          <p:cNvSpPr/>
          <p:nvPr/>
        </p:nvSpPr>
        <p:spPr>
          <a:xfrm>
            <a:off x="7359635" y="2135438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Interaction Freq.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27" name="Google Shape;427;p44"/>
          <p:cNvCxnSpPr>
            <a:stCxn id="424" idx="0"/>
            <a:endCxn id="414" idx="2"/>
          </p:cNvCxnSpPr>
          <p:nvPr/>
        </p:nvCxnSpPr>
        <p:spPr>
          <a:xfrm flipH="1" rot="5400000">
            <a:off x="4361343" y="1917646"/>
            <a:ext cx="428400" cy="72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44"/>
          <p:cNvCxnSpPr>
            <a:stCxn id="425" idx="0"/>
            <a:endCxn id="414" idx="2"/>
          </p:cNvCxnSpPr>
          <p:nvPr/>
        </p:nvCxnSpPr>
        <p:spPr>
          <a:xfrm flipH="1" rot="5400000">
            <a:off x="5292968" y="985984"/>
            <a:ext cx="428400" cy="18705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44"/>
          <p:cNvCxnSpPr>
            <a:stCxn id="414" idx="2"/>
            <a:endCxn id="426" idx="0"/>
          </p:cNvCxnSpPr>
          <p:nvPr/>
        </p:nvCxnSpPr>
        <p:spPr>
          <a:xfrm flipH="1" rot="-5400000">
            <a:off x="6178961" y="100218"/>
            <a:ext cx="428400" cy="3642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44"/>
          <p:cNvCxnSpPr>
            <a:stCxn id="420" idx="0"/>
            <a:endCxn id="416" idx="2"/>
          </p:cNvCxnSpPr>
          <p:nvPr/>
        </p:nvCxnSpPr>
        <p:spPr>
          <a:xfrm rot="-5400000">
            <a:off x="1948664" y="2274503"/>
            <a:ext cx="428400" cy="1200600"/>
          </a:xfrm>
          <a:prstGeom prst="bentConnector3">
            <a:avLst>
              <a:gd fmla="val 49983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44"/>
          <p:cNvCxnSpPr>
            <a:stCxn id="419" idx="0"/>
            <a:endCxn id="424" idx="2"/>
          </p:cNvCxnSpPr>
          <p:nvPr/>
        </p:nvCxnSpPr>
        <p:spPr>
          <a:xfrm rot="-5400000">
            <a:off x="3859850" y="2369603"/>
            <a:ext cx="428400" cy="1010400"/>
          </a:xfrm>
          <a:prstGeom prst="bentConnector3">
            <a:avLst>
              <a:gd fmla="val 49983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44"/>
          <p:cNvCxnSpPr>
            <a:stCxn id="418" idx="0"/>
            <a:endCxn id="425" idx="2"/>
          </p:cNvCxnSpPr>
          <p:nvPr/>
        </p:nvCxnSpPr>
        <p:spPr>
          <a:xfrm rot="-5400000">
            <a:off x="5794598" y="2441153"/>
            <a:ext cx="428400" cy="867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44"/>
          <p:cNvCxnSpPr>
            <a:stCxn id="417" idx="0"/>
            <a:endCxn id="426" idx="2"/>
          </p:cNvCxnSpPr>
          <p:nvPr/>
        </p:nvCxnSpPr>
        <p:spPr>
          <a:xfrm rot="-5400000">
            <a:off x="7683584" y="2558453"/>
            <a:ext cx="428400" cy="6327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properties: Strength</a:t>
            </a:r>
            <a:endParaRPr/>
          </a:p>
        </p:txBody>
      </p:sp>
      <p:sp>
        <p:nvSpPr>
          <p:cNvPr id="439" name="Google Shape;439;p45"/>
          <p:cNvSpPr/>
          <p:nvPr/>
        </p:nvSpPr>
        <p:spPr>
          <a:xfrm>
            <a:off x="3652111" y="3540918"/>
            <a:ext cx="1825500" cy="5253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0" name="Google Shape;440;p45"/>
          <p:cNvSpPr/>
          <p:nvPr/>
        </p:nvSpPr>
        <p:spPr>
          <a:xfrm>
            <a:off x="82424" y="449448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Duration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1" name="Google Shape;441;p45"/>
          <p:cNvSpPr/>
          <p:nvPr/>
        </p:nvSpPr>
        <p:spPr>
          <a:xfrm>
            <a:off x="1901517" y="449449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Time Spent Together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42" name="Google Shape;442;p45"/>
          <p:cNvCxnSpPr>
            <a:stCxn id="439" idx="2"/>
            <a:endCxn id="441" idx="0"/>
          </p:cNvCxnSpPr>
          <p:nvPr/>
        </p:nvCxnSpPr>
        <p:spPr>
          <a:xfrm rot="5400000">
            <a:off x="3446311" y="3376068"/>
            <a:ext cx="428400" cy="18087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45"/>
          <p:cNvCxnSpPr>
            <a:stCxn id="440" idx="0"/>
            <a:endCxn id="439" idx="2"/>
          </p:cNvCxnSpPr>
          <p:nvPr/>
        </p:nvCxnSpPr>
        <p:spPr>
          <a:xfrm rot="-5400000">
            <a:off x="2536724" y="2466334"/>
            <a:ext cx="428400" cy="36279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45"/>
          <p:cNvSpPr/>
          <p:nvPr/>
        </p:nvSpPr>
        <p:spPr>
          <a:xfrm>
            <a:off x="3717443" y="449449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Emotional Intensity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5" name="Google Shape;445;p45"/>
          <p:cNvSpPr/>
          <p:nvPr/>
        </p:nvSpPr>
        <p:spPr>
          <a:xfrm>
            <a:off x="5580718" y="449448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Intimacy/Confiding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6" name="Google Shape;446;p45"/>
          <p:cNvSpPr/>
          <p:nvPr/>
        </p:nvSpPr>
        <p:spPr>
          <a:xfrm>
            <a:off x="7352485" y="4494488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Interaction Freq.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47" name="Google Shape;447;p45"/>
          <p:cNvCxnSpPr>
            <a:stCxn id="444" idx="0"/>
            <a:endCxn id="439" idx="2"/>
          </p:cNvCxnSpPr>
          <p:nvPr/>
        </p:nvCxnSpPr>
        <p:spPr>
          <a:xfrm flipH="1" rot="5400000">
            <a:off x="4354193" y="4276696"/>
            <a:ext cx="428400" cy="72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45"/>
          <p:cNvCxnSpPr>
            <a:stCxn id="445" idx="0"/>
            <a:endCxn id="439" idx="2"/>
          </p:cNvCxnSpPr>
          <p:nvPr/>
        </p:nvCxnSpPr>
        <p:spPr>
          <a:xfrm flipH="1" rot="5400000">
            <a:off x="5285818" y="3345034"/>
            <a:ext cx="428400" cy="18705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45"/>
          <p:cNvCxnSpPr>
            <a:stCxn id="439" idx="2"/>
            <a:endCxn id="446" idx="0"/>
          </p:cNvCxnSpPr>
          <p:nvPr/>
        </p:nvCxnSpPr>
        <p:spPr>
          <a:xfrm flipH="1" rot="-5400000">
            <a:off x="6171811" y="2459268"/>
            <a:ext cx="428400" cy="3642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45"/>
          <p:cNvSpPr txBox="1"/>
          <p:nvPr>
            <p:ph idx="1" type="body"/>
          </p:nvPr>
        </p:nvSpPr>
        <p:spPr>
          <a:xfrm>
            <a:off x="311700" y="1225225"/>
            <a:ext cx="8520600" cy="22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having one property (e.g., frequent activation) is not sufficient for a tie to count as strong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i="1" lang="en">
                <a:solidFill>
                  <a:srgbClr val="0000FF"/>
                </a:solidFill>
              </a:rPr>
              <a:t>You can see a coworker you hate every weekday</a:t>
            </a:r>
            <a:endParaRPr i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i="1" lang="en">
                <a:solidFill>
                  <a:srgbClr val="0000FF"/>
                </a:solidFill>
              </a:rPr>
              <a:t>You can tell an acquaintance an intimate secret</a:t>
            </a:r>
            <a:endParaRPr i="1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ties of a particular type (e.g., kin ties, same race ties) are </a:t>
            </a:r>
            <a:r>
              <a:rPr i="1" lang="en"/>
              <a:t>expected</a:t>
            </a:r>
            <a:r>
              <a:rPr lang="en"/>
              <a:t> to be strong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they don’t have to be!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i="1" lang="en">
                <a:solidFill>
                  <a:srgbClr val="0000FF"/>
                </a:solidFill>
              </a:rPr>
              <a:t>You can be estranged from your parents or siblings</a:t>
            </a:r>
            <a:endParaRPr i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properties: Strength</a:t>
            </a:r>
            <a:endParaRPr/>
          </a:p>
        </p:txBody>
      </p:sp>
      <p:sp>
        <p:nvSpPr>
          <p:cNvPr id="456" name="Google Shape;456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having one property (e.g., frequent activation) is not sufficient for a tie to count as strong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i="1" lang="en">
                <a:solidFill>
                  <a:srgbClr val="0000FF"/>
                </a:solidFill>
              </a:rPr>
              <a:t>You can see a coworker you hate every weekday</a:t>
            </a:r>
            <a:endParaRPr i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i="1" lang="en">
                <a:solidFill>
                  <a:srgbClr val="0000FF"/>
                </a:solidFill>
              </a:rPr>
              <a:t>You can tell an acquaintance an intimate secret</a:t>
            </a:r>
            <a:endParaRPr i="1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better to say that there is a </a:t>
            </a:r>
            <a:r>
              <a:rPr b="1" lang="en"/>
              <a:t>positive correlation</a:t>
            </a:r>
            <a:r>
              <a:rPr lang="en"/>
              <a:t> between a tie being of some type (e.g., similarity, kin, positive sentiment) and tie 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Similar-race ties are </a:t>
            </a:r>
            <a:r>
              <a:rPr i="1" lang="en"/>
              <a:t>likely </a:t>
            </a:r>
            <a:r>
              <a:rPr lang="en"/>
              <a:t>to be strong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Kin-ties are </a:t>
            </a:r>
            <a:r>
              <a:rPr i="1" lang="en"/>
              <a:t>likely </a:t>
            </a:r>
            <a:r>
              <a:rPr lang="en"/>
              <a:t>to be strong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Coworker ties are </a:t>
            </a:r>
            <a:r>
              <a:rPr i="1" lang="en"/>
              <a:t>likely </a:t>
            </a:r>
            <a:r>
              <a:rPr lang="en"/>
              <a:t>to be weak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Positive sentiment ties are </a:t>
            </a:r>
            <a:r>
              <a:rPr i="1" lang="en"/>
              <a:t>likely</a:t>
            </a:r>
            <a:r>
              <a:rPr lang="en"/>
              <a:t> to be strong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Same neighborhood ties are </a:t>
            </a:r>
            <a:r>
              <a:rPr i="1" lang="en"/>
              <a:t>likely </a:t>
            </a:r>
            <a:r>
              <a:rPr lang="en"/>
              <a:t>to be weak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Acquaintanceship ties are </a:t>
            </a:r>
            <a:r>
              <a:rPr i="1" lang="en"/>
              <a:t>likely</a:t>
            </a:r>
            <a:r>
              <a:rPr lang="en"/>
              <a:t> to be weak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properties: Strength</a:t>
            </a:r>
            <a:endParaRPr/>
          </a:p>
        </p:txBody>
      </p:sp>
      <p:sp>
        <p:nvSpPr>
          <p:cNvPr id="462" name="Google Shape;462;p47"/>
          <p:cNvSpPr/>
          <p:nvPr/>
        </p:nvSpPr>
        <p:spPr>
          <a:xfrm>
            <a:off x="3652111" y="3540918"/>
            <a:ext cx="1825500" cy="525300"/>
          </a:xfrm>
          <a:prstGeom prst="rect">
            <a:avLst/>
          </a:prstGeom>
          <a:solidFill>
            <a:srgbClr val="0856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Tie Strength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3" name="Google Shape;463;p47"/>
          <p:cNvSpPr/>
          <p:nvPr/>
        </p:nvSpPr>
        <p:spPr>
          <a:xfrm>
            <a:off x="82424" y="449448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Duration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4" name="Google Shape;464;p47"/>
          <p:cNvSpPr/>
          <p:nvPr/>
        </p:nvSpPr>
        <p:spPr>
          <a:xfrm>
            <a:off x="1901517" y="449449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Time Spent Together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65" name="Google Shape;465;p47"/>
          <p:cNvCxnSpPr>
            <a:stCxn id="462" idx="2"/>
            <a:endCxn id="464" idx="0"/>
          </p:cNvCxnSpPr>
          <p:nvPr/>
        </p:nvCxnSpPr>
        <p:spPr>
          <a:xfrm rot="5400000">
            <a:off x="3446311" y="3376068"/>
            <a:ext cx="428400" cy="18087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47"/>
          <p:cNvCxnSpPr>
            <a:stCxn id="463" idx="0"/>
            <a:endCxn id="462" idx="2"/>
          </p:cNvCxnSpPr>
          <p:nvPr/>
        </p:nvCxnSpPr>
        <p:spPr>
          <a:xfrm rot="-5400000">
            <a:off x="2536724" y="2466334"/>
            <a:ext cx="428400" cy="36279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47"/>
          <p:cNvSpPr/>
          <p:nvPr/>
        </p:nvSpPr>
        <p:spPr>
          <a:xfrm>
            <a:off x="3717443" y="4494496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Emotional Intensity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8" name="Google Shape;468;p47"/>
          <p:cNvSpPr/>
          <p:nvPr/>
        </p:nvSpPr>
        <p:spPr>
          <a:xfrm>
            <a:off x="5580718" y="4494484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Intimacy/Confiding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9" name="Google Shape;469;p47"/>
          <p:cNvSpPr/>
          <p:nvPr/>
        </p:nvSpPr>
        <p:spPr>
          <a:xfrm>
            <a:off x="7352485" y="4494488"/>
            <a:ext cx="1709100" cy="525300"/>
          </a:xfrm>
          <a:prstGeom prst="rect">
            <a:avLst/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Interaction Freq.</a:t>
            </a:r>
            <a:endParaRPr b="1" sz="18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70" name="Google Shape;470;p47"/>
          <p:cNvCxnSpPr>
            <a:stCxn id="467" idx="0"/>
            <a:endCxn id="462" idx="2"/>
          </p:cNvCxnSpPr>
          <p:nvPr/>
        </p:nvCxnSpPr>
        <p:spPr>
          <a:xfrm flipH="1" rot="5400000">
            <a:off x="4354193" y="4276696"/>
            <a:ext cx="428400" cy="7200"/>
          </a:xfrm>
          <a:prstGeom prst="bentConnector3">
            <a:avLst>
              <a:gd fmla="val 49986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47"/>
          <p:cNvCxnSpPr>
            <a:stCxn id="468" idx="0"/>
            <a:endCxn id="462" idx="2"/>
          </p:cNvCxnSpPr>
          <p:nvPr/>
        </p:nvCxnSpPr>
        <p:spPr>
          <a:xfrm flipH="1" rot="5400000">
            <a:off x="5285818" y="3345034"/>
            <a:ext cx="428400" cy="1870500"/>
          </a:xfrm>
          <a:prstGeom prst="bentConnector3">
            <a:avLst>
              <a:gd fmla="val 49984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47"/>
          <p:cNvCxnSpPr>
            <a:stCxn id="462" idx="2"/>
            <a:endCxn id="469" idx="0"/>
          </p:cNvCxnSpPr>
          <p:nvPr/>
        </p:nvCxnSpPr>
        <p:spPr>
          <a:xfrm flipH="1" rot="-5400000">
            <a:off x="6171811" y="2459268"/>
            <a:ext cx="428400" cy="3642300"/>
          </a:xfrm>
          <a:prstGeom prst="bentConnector3">
            <a:avLst>
              <a:gd fmla="val 49985" name="adj1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47"/>
          <p:cNvSpPr txBox="1"/>
          <p:nvPr>
            <p:ph idx="1" type="body"/>
          </p:nvPr>
        </p:nvSpPr>
        <p:spPr>
          <a:xfrm>
            <a:off x="311700" y="1225225"/>
            <a:ext cx="8520600" cy="22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having one property (e.g., frequent activation) is not sufficient for a tie to count as strong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i="1" lang="en">
                <a:solidFill>
                  <a:srgbClr val="0000FF"/>
                </a:solidFill>
              </a:rPr>
              <a:t>You can see a coworker you hate every weekday</a:t>
            </a:r>
            <a:endParaRPr i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i="1" lang="en">
                <a:solidFill>
                  <a:srgbClr val="0000FF"/>
                </a:solidFill>
              </a:rPr>
              <a:t>You can tell an acquaintance an intimate secret</a:t>
            </a:r>
            <a:endParaRPr i="1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ties sound great!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that mean that weak ties are useless?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No! We will see one way in which they are pretty useful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Ties Become Strong?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Friedkin’s Stage Model of Tie Strengthening</a:t>
            </a:r>
            <a:endParaRPr/>
          </a:p>
        </p:txBody>
      </p:sp>
      <p:sp>
        <p:nvSpPr>
          <p:cNvPr id="484" name="Google Shape;484;p49"/>
          <p:cNvSpPr txBox="1"/>
          <p:nvPr>
            <p:ph idx="1" type="body"/>
          </p:nvPr>
        </p:nvSpPr>
        <p:spPr>
          <a:xfrm>
            <a:off x="311700" y="1225225"/>
            <a:ext cx="85206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Friedkin (1990) proposes that interpersonal tie strength is not a simple linear combination of variables, but a qualitative progression through distinct developmental stages.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Friedkin’s Stage Model of Tie Strengthening</a:t>
            </a:r>
            <a:endParaRPr/>
          </a:p>
        </p:txBody>
      </p:sp>
      <p:sp>
        <p:nvSpPr>
          <p:cNvPr id="490" name="Google Shape;490;p50"/>
          <p:cNvSpPr txBox="1"/>
          <p:nvPr>
            <p:ph idx="1" type="body"/>
          </p:nvPr>
        </p:nvSpPr>
        <p:spPr>
          <a:xfrm>
            <a:off x="311700" y="1225225"/>
            <a:ext cx="85206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According to Friedkin ties usually beging by regular communication and frequent interaction.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91" name="Google Shape;49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86194"/>
            <a:ext cx="2312059" cy="2226102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0"/>
          <p:cNvSpPr txBox="1"/>
          <p:nvPr/>
        </p:nvSpPr>
        <p:spPr>
          <a:xfrm>
            <a:off x="1055587" y="3132047"/>
            <a:ext cx="2029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Frequent Discussion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3" name="Google Shape;493;p50"/>
          <p:cNvSpPr txBox="1"/>
          <p:nvPr/>
        </p:nvSpPr>
        <p:spPr>
          <a:xfrm>
            <a:off x="1103913" y="3504973"/>
            <a:ext cx="1933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Claims of regular interaction regarding school or professional matters. The baseline of attachment.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494" name="Google Shape;49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1440" y="2639026"/>
            <a:ext cx="397977" cy="316039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0"/>
          <p:cNvSpPr/>
          <p:nvPr/>
        </p:nvSpPr>
        <p:spPr>
          <a:xfrm>
            <a:off x="3163350" y="3504975"/>
            <a:ext cx="398100" cy="4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Friedkin’s Stage Model of Tie Strengthening</a:t>
            </a:r>
            <a:endParaRPr/>
          </a:p>
        </p:txBody>
      </p:sp>
      <p:sp>
        <p:nvSpPr>
          <p:cNvPr id="501" name="Google Shape;501;p51"/>
          <p:cNvSpPr txBox="1"/>
          <p:nvPr>
            <p:ph idx="1" type="body"/>
          </p:nvPr>
        </p:nvSpPr>
        <p:spPr>
          <a:xfrm>
            <a:off x="311700" y="1225225"/>
            <a:ext cx="85206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 seeking, support, and confiding, presupose some interactional basis so that usually comes next.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wouldn’t ask someone you don’t interact with often for help</a:t>
            </a:r>
            <a:endParaRPr/>
          </a:p>
        </p:txBody>
      </p:sp>
      <p:pic>
        <p:nvPicPr>
          <p:cNvPr descr="image.png" id="502" name="Google Shape;50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86194"/>
            <a:ext cx="2312059" cy="2226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5971" y="2386194"/>
            <a:ext cx="2312058" cy="2226102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1"/>
          <p:cNvSpPr txBox="1"/>
          <p:nvPr/>
        </p:nvSpPr>
        <p:spPr>
          <a:xfrm>
            <a:off x="1055587" y="3132047"/>
            <a:ext cx="2029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Frequent Discussion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5" name="Google Shape;505;p51"/>
          <p:cNvSpPr txBox="1"/>
          <p:nvPr/>
        </p:nvSpPr>
        <p:spPr>
          <a:xfrm>
            <a:off x="1103913" y="3504973"/>
            <a:ext cx="1933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Claims of regular interaction regarding school or professional matters. The baseline of attachment.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51"/>
          <p:cNvSpPr txBox="1"/>
          <p:nvPr/>
        </p:nvSpPr>
        <p:spPr>
          <a:xfrm>
            <a:off x="3557158" y="3132047"/>
            <a:ext cx="2029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Help Seeking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51"/>
          <p:cNvSpPr txBox="1"/>
          <p:nvPr/>
        </p:nvSpPr>
        <p:spPr>
          <a:xfrm>
            <a:off x="3605484" y="3504973"/>
            <a:ext cx="19332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Turning to the other for information or advice. Indicates trust and perceived credibility.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508" name="Google Shape;50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71440" y="2639026"/>
            <a:ext cx="397977" cy="316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9" name="Google Shape;50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5121" y="2639026"/>
            <a:ext cx="353757" cy="31603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1"/>
          <p:cNvSpPr/>
          <p:nvPr/>
        </p:nvSpPr>
        <p:spPr>
          <a:xfrm>
            <a:off x="3163350" y="3504975"/>
            <a:ext cx="398100" cy="4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51"/>
          <p:cNvSpPr/>
          <p:nvPr/>
        </p:nvSpPr>
        <p:spPr>
          <a:xfrm>
            <a:off x="5623813" y="3504975"/>
            <a:ext cx="398100" cy="4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Friedkin’s Stage Model of Tie Strengthening</a:t>
            </a:r>
            <a:endParaRPr/>
          </a:p>
        </p:txBody>
      </p:sp>
      <p:sp>
        <p:nvSpPr>
          <p:cNvPr id="517" name="Google Shape;517;p52"/>
          <p:cNvSpPr txBox="1"/>
          <p:nvPr>
            <p:ph idx="1" type="body"/>
          </p:nvPr>
        </p:nvSpPr>
        <p:spPr>
          <a:xfrm>
            <a:off x="311700" y="1225225"/>
            <a:ext cx="85206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Finally deeper more emotionally intimate friendship presupose both frequent </a:t>
            </a:r>
            <a:r>
              <a:rPr lang="en"/>
              <a:t>interaction</a:t>
            </a:r>
            <a:r>
              <a:rPr lang="en"/>
              <a:t> and having a history of support and confiding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18" name="Google Shape;51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86194"/>
            <a:ext cx="2312059" cy="2226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5971" y="2386194"/>
            <a:ext cx="2312058" cy="2226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7542" y="2386194"/>
            <a:ext cx="2312058" cy="2226102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1055587" y="3132047"/>
            <a:ext cx="2029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Frequent Discussion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2" name="Google Shape;522;p52"/>
          <p:cNvSpPr txBox="1"/>
          <p:nvPr/>
        </p:nvSpPr>
        <p:spPr>
          <a:xfrm>
            <a:off x="1103913" y="3504973"/>
            <a:ext cx="1933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Claims of regular interaction regarding school or professional matters. The baseline of attachment.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52"/>
          <p:cNvSpPr txBox="1"/>
          <p:nvPr/>
        </p:nvSpPr>
        <p:spPr>
          <a:xfrm>
            <a:off x="3557158" y="3132047"/>
            <a:ext cx="2029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Help Seeking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4" name="Google Shape;524;p52"/>
          <p:cNvSpPr txBox="1"/>
          <p:nvPr/>
        </p:nvSpPr>
        <p:spPr>
          <a:xfrm>
            <a:off x="3605484" y="3504973"/>
            <a:ext cx="19332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Turning to the other for information or advice. Indicates trust and perceived credibility.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p52"/>
          <p:cNvSpPr txBox="1"/>
          <p:nvPr/>
        </p:nvSpPr>
        <p:spPr>
          <a:xfrm>
            <a:off x="6058729" y="3132047"/>
            <a:ext cx="2029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1F3F"/>
                </a:solidFill>
                <a:latin typeface="Open Sans"/>
                <a:ea typeface="Open Sans"/>
                <a:cs typeface="Open Sans"/>
                <a:sym typeface="Open Sans"/>
              </a:rPr>
              <a:t>Close Friendship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6" name="Google Shape;526;p52"/>
          <p:cNvSpPr txBox="1"/>
          <p:nvPr/>
        </p:nvSpPr>
        <p:spPr>
          <a:xfrm>
            <a:off x="6107055" y="3504973"/>
            <a:ext cx="1933200" cy="6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Subjective claim of intimate bond. Represents the highest level of tie strength.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527" name="Google Shape;527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71440" y="2639026"/>
            <a:ext cx="397977" cy="316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8" name="Google Shape;528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5121" y="2639026"/>
            <a:ext cx="353757" cy="316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15644" y="2639026"/>
            <a:ext cx="315855" cy="31603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2"/>
          <p:cNvSpPr/>
          <p:nvPr/>
        </p:nvSpPr>
        <p:spPr>
          <a:xfrm>
            <a:off x="3163350" y="3504975"/>
            <a:ext cx="398100" cy="4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5623813" y="3504975"/>
            <a:ext cx="398100" cy="40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Capital and Tie Strength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social capital?</a:t>
            </a:r>
            <a:endParaRPr/>
          </a:p>
        </p:txBody>
      </p:sp>
      <p:sp>
        <p:nvSpPr>
          <p:cNvPr id="542" name="Google Shape;542;p54"/>
          <p:cNvSpPr txBox="1"/>
          <p:nvPr>
            <p:ph idx="1" type="body"/>
          </p:nvPr>
        </p:nvSpPr>
        <p:spPr>
          <a:xfrm>
            <a:off x="311700" y="1225225"/>
            <a:ext cx="553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capital: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accrued as the result of your connections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People who are better connected do better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you get from your connections?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Some benefits from strongly connected networks: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and emotional support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Trusting</a:t>
            </a:r>
            <a:r>
              <a:rPr lang="en"/>
              <a:t> somebody with an intimate secret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Companionship 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Having somebody to </a:t>
            </a:r>
            <a:r>
              <a:rPr b="1" lang="en"/>
              <a:t>hang out </a:t>
            </a:r>
            <a:r>
              <a:rPr lang="en"/>
              <a:t>with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Material support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knowing where to go in a time of </a:t>
            </a:r>
            <a:r>
              <a:rPr b="1" lang="en"/>
              <a:t>need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500" y="1771712"/>
            <a:ext cx="2989800" cy="22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social capital?</a:t>
            </a:r>
            <a:endParaRPr/>
          </a:p>
        </p:txBody>
      </p:sp>
      <p:sp>
        <p:nvSpPr>
          <p:cNvPr id="549" name="Google Shape;549;p55"/>
          <p:cNvSpPr txBox="1"/>
          <p:nvPr>
            <p:ph idx="1" type="body"/>
          </p:nvPr>
        </p:nvSpPr>
        <p:spPr>
          <a:xfrm>
            <a:off x="311700" y="1225225"/>
            <a:ext cx="553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capital: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accrued as the result of your connections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People who are better connected do better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you get from your connections?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Some benefits from weakly connected networks: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Novel information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Finding</a:t>
            </a:r>
            <a:r>
              <a:rPr lang="en"/>
              <a:t> </a:t>
            </a:r>
            <a:r>
              <a:rPr b="1" lang="en"/>
              <a:t>out</a:t>
            </a:r>
            <a:r>
              <a:rPr lang="en"/>
              <a:t> about things that your close contacts might not know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or cutting-edge ideas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Combining</a:t>
            </a:r>
            <a:r>
              <a:rPr lang="en"/>
              <a:t> different ideas into a new idea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Being </a:t>
            </a:r>
            <a:r>
              <a:rPr b="1" lang="en"/>
              <a:t>introduced</a:t>
            </a:r>
            <a:r>
              <a:rPr lang="en"/>
              <a:t> to people who can help </a:t>
            </a:r>
            <a:endParaRPr i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500" y="1771712"/>
            <a:ext cx="2989800" cy="22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Strength of Weak Ties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strength of weak ties theory</a:t>
            </a:r>
            <a:endParaRPr/>
          </a:p>
        </p:txBody>
      </p:sp>
      <p:sp>
        <p:nvSpPr>
          <p:cNvPr id="561" name="Google Shape;561;p57"/>
          <p:cNvSpPr txBox="1"/>
          <p:nvPr>
            <p:ph idx="1" type="body"/>
          </p:nvPr>
        </p:nvSpPr>
        <p:spPr>
          <a:xfrm>
            <a:off x="311700" y="1225225"/>
            <a:ext cx="505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Granovetter-transitivity</a:t>
            </a:r>
            <a:r>
              <a:rPr lang="en"/>
              <a:t> (g-transitivity)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1</a:t>
            </a:r>
            <a:r>
              <a:rPr lang="en"/>
              <a:t>: if two people are strongly connected they are likely to have a lot of other friends in common </a:t>
            </a:r>
            <a:endParaRPr i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grpSp>
        <p:nvGrpSpPr>
          <p:cNvPr id="562" name="Google Shape;562;p57"/>
          <p:cNvGrpSpPr/>
          <p:nvPr/>
        </p:nvGrpSpPr>
        <p:grpSpPr>
          <a:xfrm>
            <a:off x="5530698" y="1471890"/>
            <a:ext cx="3301598" cy="2860671"/>
            <a:chOff x="5842400" y="1989875"/>
            <a:chExt cx="2423725" cy="2017825"/>
          </a:xfrm>
        </p:grpSpPr>
        <p:sp>
          <p:nvSpPr>
            <p:cNvPr id="563" name="Google Shape;563;p57"/>
            <p:cNvSpPr/>
            <p:nvPr/>
          </p:nvSpPr>
          <p:spPr>
            <a:xfrm>
              <a:off x="5842400" y="3429000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4" name="Google Shape;564;p57"/>
            <p:cNvSpPr/>
            <p:nvPr/>
          </p:nvSpPr>
          <p:spPr>
            <a:xfrm>
              <a:off x="7763925" y="3429000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65" name="Google Shape;565;p57"/>
            <p:cNvCxnSpPr>
              <a:stCxn id="563" idx="6"/>
              <a:endCxn id="564" idx="2"/>
            </p:cNvCxnSpPr>
            <p:nvPr/>
          </p:nvCxnSpPr>
          <p:spPr>
            <a:xfrm>
              <a:off x="6344600" y="3663750"/>
              <a:ext cx="14193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6" name="Google Shape;566;p57"/>
            <p:cNvSpPr txBox="1"/>
            <p:nvPr/>
          </p:nvSpPr>
          <p:spPr>
            <a:xfrm>
              <a:off x="6486700" y="3756600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  <p:sp>
          <p:nvSpPr>
            <p:cNvPr id="567" name="Google Shape;567;p57"/>
            <p:cNvSpPr/>
            <p:nvPr/>
          </p:nvSpPr>
          <p:spPr>
            <a:xfrm>
              <a:off x="6224500" y="2279938"/>
              <a:ext cx="262200" cy="2511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57"/>
            <p:cNvSpPr/>
            <p:nvPr/>
          </p:nvSpPr>
          <p:spPr>
            <a:xfrm>
              <a:off x="6848100" y="1989875"/>
              <a:ext cx="262200" cy="2511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57"/>
            <p:cNvSpPr/>
            <p:nvPr/>
          </p:nvSpPr>
          <p:spPr>
            <a:xfrm>
              <a:off x="7469150" y="2279925"/>
              <a:ext cx="262200" cy="2511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57"/>
            <p:cNvSpPr/>
            <p:nvPr/>
          </p:nvSpPr>
          <p:spPr>
            <a:xfrm>
              <a:off x="6923150" y="2958000"/>
              <a:ext cx="262200" cy="2511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1" name="Google Shape;571;p57"/>
            <p:cNvCxnSpPr>
              <a:stCxn id="563" idx="0"/>
              <a:endCxn id="567" idx="4"/>
            </p:cNvCxnSpPr>
            <p:nvPr/>
          </p:nvCxnSpPr>
          <p:spPr>
            <a:xfrm flipH="1" rot="10800000">
              <a:off x="6093500" y="2531100"/>
              <a:ext cx="262200" cy="89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57"/>
            <p:cNvCxnSpPr>
              <a:stCxn id="568" idx="5"/>
              <a:endCxn id="564" idx="0"/>
            </p:cNvCxnSpPr>
            <p:nvPr/>
          </p:nvCxnSpPr>
          <p:spPr>
            <a:xfrm>
              <a:off x="7071902" y="2204202"/>
              <a:ext cx="943200" cy="122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57"/>
            <p:cNvCxnSpPr>
              <a:stCxn id="570" idx="6"/>
              <a:endCxn id="564" idx="0"/>
            </p:cNvCxnSpPr>
            <p:nvPr/>
          </p:nvCxnSpPr>
          <p:spPr>
            <a:xfrm>
              <a:off x="7185350" y="3083550"/>
              <a:ext cx="829800" cy="34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4" name="Google Shape;574;p57"/>
            <p:cNvCxnSpPr>
              <a:stCxn id="563" idx="0"/>
              <a:endCxn id="569" idx="3"/>
            </p:cNvCxnSpPr>
            <p:nvPr/>
          </p:nvCxnSpPr>
          <p:spPr>
            <a:xfrm flipH="1" rot="10800000">
              <a:off x="6093500" y="2494200"/>
              <a:ext cx="1413900" cy="93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" name="Google Shape;575;p57"/>
            <p:cNvCxnSpPr>
              <a:stCxn id="563" idx="0"/>
              <a:endCxn id="568" idx="3"/>
            </p:cNvCxnSpPr>
            <p:nvPr/>
          </p:nvCxnSpPr>
          <p:spPr>
            <a:xfrm flipH="1" rot="10800000">
              <a:off x="6093500" y="2204100"/>
              <a:ext cx="792900" cy="122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57"/>
            <p:cNvCxnSpPr>
              <a:stCxn id="563" idx="0"/>
              <a:endCxn id="570" idx="2"/>
            </p:cNvCxnSpPr>
            <p:nvPr/>
          </p:nvCxnSpPr>
          <p:spPr>
            <a:xfrm flipH="1" rot="10800000">
              <a:off x="6093500" y="3083700"/>
              <a:ext cx="829500" cy="34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p57"/>
            <p:cNvCxnSpPr>
              <a:stCxn id="567" idx="5"/>
              <a:endCxn id="564" idx="0"/>
            </p:cNvCxnSpPr>
            <p:nvPr/>
          </p:nvCxnSpPr>
          <p:spPr>
            <a:xfrm>
              <a:off x="6448302" y="2494265"/>
              <a:ext cx="1566600" cy="93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p57"/>
            <p:cNvCxnSpPr>
              <a:stCxn id="569" idx="4"/>
              <a:endCxn id="564" idx="0"/>
            </p:cNvCxnSpPr>
            <p:nvPr/>
          </p:nvCxnSpPr>
          <p:spPr>
            <a:xfrm>
              <a:off x="7600250" y="2531025"/>
              <a:ext cx="414900" cy="89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strength of weak ties theory</a:t>
            </a:r>
            <a:endParaRPr/>
          </a:p>
        </p:txBody>
      </p:sp>
      <p:sp>
        <p:nvSpPr>
          <p:cNvPr id="584" name="Google Shape;584;p58"/>
          <p:cNvSpPr txBox="1"/>
          <p:nvPr>
            <p:ph idx="1" type="body"/>
          </p:nvPr>
        </p:nvSpPr>
        <p:spPr>
          <a:xfrm>
            <a:off x="311700" y="1225225"/>
            <a:ext cx="521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Granovetter-transitivity</a:t>
            </a:r>
            <a:r>
              <a:rPr lang="en"/>
              <a:t> (g-transitivity)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1</a:t>
            </a:r>
            <a:r>
              <a:rPr lang="en"/>
              <a:t>: if two people are strongly connected they are likely to have a lot of other friends in common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2: </a:t>
            </a:r>
            <a:r>
              <a:rPr lang="en"/>
              <a:t>if A and B have a strong tie and B and C have a strong tie there should be </a:t>
            </a:r>
            <a:r>
              <a:rPr b="1" lang="en"/>
              <a:t>at least</a:t>
            </a:r>
            <a:r>
              <a:rPr lang="en"/>
              <a:t> a weak tie between A and C </a:t>
            </a:r>
            <a:endParaRPr i="1"/>
          </a:p>
        </p:txBody>
      </p:sp>
      <p:grpSp>
        <p:nvGrpSpPr>
          <p:cNvPr id="585" name="Google Shape;585;p58"/>
          <p:cNvGrpSpPr/>
          <p:nvPr/>
        </p:nvGrpSpPr>
        <p:grpSpPr>
          <a:xfrm>
            <a:off x="5849158" y="1537434"/>
            <a:ext cx="2983154" cy="2729568"/>
            <a:chOff x="6285650" y="1749913"/>
            <a:chExt cx="2546657" cy="2304600"/>
          </a:xfrm>
        </p:grpSpPr>
        <p:sp>
          <p:nvSpPr>
            <p:cNvPr id="586" name="Google Shape;586;p58"/>
            <p:cNvSpPr/>
            <p:nvPr/>
          </p:nvSpPr>
          <p:spPr>
            <a:xfrm>
              <a:off x="6285650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87" name="Google Shape;587;p58"/>
            <p:cNvSpPr/>
            <p:nvPr/>
          </p:nvSpPr>
          <p:spPr>
            <a:xfrm>
              <a:off x="8207175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88" name="Google Shape;588;p58"/>
            <p:cNvCxnSpPr>
              <a:stCxn id="586" idx="6"/>
              <a:endCxn id="587" idx="2"/>
            </p:cNvCxnSpPr>
            <p:nvPr/>
          </p:nvCxnSpPr>
          <p:spPr>
            <a:xfrm>
              <a:off x="6787850" y="3710563"/>
              <a:ext cx="14193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9" name="Google Shape;589;p58"/>
            <p:cNvSpPr txBox="1"/>
            <p:nvPr/>
          </p:nvSpPr>
          <p:spPr>
            <a:xfrm>
              <a:off x="6929950" y="3803413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  <p:sp>
          <p:nvSpPr>
            <p:cNvPr id="590" name="Google Shape;590;p58"/>
            <p:cNvSpPr/>
            <p:nvPr/>
          </p:nvSpPr>
          <p:spPr>
            <a:xfrm>
              <a:off x="8207175" y="17499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C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591" name="Google Shape;591;p58"/>
            <p:cNvCxnSpPr>
              <a:stCxn id="590" idx="4"/>
              <a:endCxn id="587" idx="0"/>
            </p:cNvCxnSpPr>
            <p:nvPr/>
          </p:nvCxnSpPr>
          <p:spPr>
            <a:xfrm>
              <a:off x="8458275" y="2219413"/>
              <a:ext cx="0" cy="1256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2" name="Google Shape;592;p58"/>
            <p:cNvSpPr txBox="1"/>
            <p:nvPr/>
          </p:nvSpPr>
          <p:spPr>
            <a:xfrm rot="-5400913">
              <a:off x="8141557" y="2722066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  <p:cxnSp>
          <p:nvCxnSpPr>
            <p:cNvPr id="593" name="Google Shape;593;p58"/>
            <p:cNvCxnSpPr>
              <a:stCxn id="586" idx="7"/>
              <a:endCxn id="590" idx="3"/>
            </p:cNvCxnSpPr>
            <p:nvPr/>
          </p:nvCxnSpPr>
          <p:spPr>
            <a:xfrm flipH="1" rot="10800000">
              <a:off x="6714305" y="2150769"/>
              <a:ext cx="1566300" cy="1393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594" name="Google Shape;594;p58"/>
          <p:cNvSpPr txBox="1"/>
          <p:nvPr/>
        </p:nvSpPr>
        <p:spPr>
          <a:xfrm>
            <a:off x="5849150" y="1147225"/>
            <a:ext cx="2126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Good probability of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existing tie!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95" name="Google Shape;595;p58"/>
          <p:cNvCxnSpPr>
            <a:stCxn id="594" idx="2"/>
          </p:cNvCxnSpPr>
          <p:nvPr/>
        </p:nvCxnSpPr>
        <p:spPr>
          <a:xfrm>
            <a:off x="6912350" y="1860925"/>
            <a:ext cx="6600" cy="117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strength of weak ties theory</a:t>
            </a:r>
            <a:endParaRPr/>
          </a:p>
        </p:txBody>
      </p:sp>
      <p:sp>
        <p:nvSpPr>
          <p:cNvPr id="601" name="Google Shape;601;p59"/>
          <p:cNvSpPr txBox="1"/>
          <p:nvPr>
            <p:ph idx="1" type="body"/>
          </p:nvPr>
        </p:nvSpPr>
        <p:spPr>
          <a:xfrm>
            <a:off x="311700" y="1225225"/>
            <a:ext cx="521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Granovetter-transitivity</a:t>
            </a:r>
            <a:r>
              <a:rPr lang="en"/>
              <a:t> (g-transitivity)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1</a:t>
            </a:r>
            <a:r>
              <a:rPr lang="en"/>
              <a:t>: if two people are strongly connected they are likely to have a lot of other friends in common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Rule 2: </a:t>
            </a:r>
            <a:r>
              <a:rPr lang="en"/>
              <a:t>if A and B have a strong tie and B and C have a strong tie there should be </a:t>
            </a:r>
            <a:r>
              <a:rPr b="1" lang="en"/>
              <a:t>at least</a:t>
            </a:r>
            <a:r>
              <a:rPr lang="en"/>
              <a:t> a weak tie between A and C 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Reasons for g-transitivity: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Demographic similarity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Shared memberships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Propinquity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2" name="Google Shape;602;p59"/>
          <p:cNvGrpSpPr/>
          <p:nvPr/>
        </p:nvGrpSpPr>
        <p:grpSpPr>
          <a:xfrm>
            <a:off x="5849158" y="1537434"/>
            <a:ext cx="2983154" cy="2729568"/>
            <a:chOff x="6285650" y="1749913"/>
            <a:chExt cx="2546657" cy="2304600"/>
          </a:xfrm>
        </p:grpSpPr>
        <p:sp>
          <p:nvSpPr>
            <p:cNvPr id="603" name="Google Shape;603;p59"/>
            <p:cNvSpPr/>
            <p:nvPr/>
          </p:nvSpPr>
          <p:spPr>
            <a:xfrm>
              <a:off x="6285650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04" name="Google Shape;604;p59"/>
            <p:cNvSpPr/>
            <p:nvPr/>
          </p:nvSpPr>
          <p:spPr>
            <a:xfrm>
              <a:off x="8207175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605" name="Google Shape;605;p59"/>
            <p:cNvCxnSpPr>
              <a:stCxn id="603" idx="6"/>
              <a:endCxn id="604" idx="2"/>
            </p:cNvCxnSpPr>
            <p:nvPr/>
          </p:nvCxnSpPr>
          <p:spPr>
            <a:xfrm>
              <a:off x="6787850" y="3710563"/>
              <a:ext cx="14193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6" name="Google Shape;606;p59"/>
            <p:cNvSpPr txBox="1"/>
            <p:nvPr/>
          </p:nvSpPr>
          <p:spPr>
            <a:xfrm>
              <a:off x="6929950" y="3803413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  <p:sp>
          <p:nvSpPr>
            <p:cNvPr id="607" name="Google Shape;607;p59"/>
            <p:cNvSpPr/>
            <p:nvPr/>
          </p:nvSpPr>
          <p:spPr>
            <a:xfrm>
              <a:off x="8207175" y="17499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C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608" name="Google Shape;608;p59"/>
            <p:cNvCxnSpPr>
              <a:stCxn id="607" idx="4"/>
              <a:endCxn id="604" idx="0"/>
            </p:cNvCxnSpPr>
            <p:nvPr/>
          </p:nvCxnSpPr>
          <p:spPr>
            <a:xfrm>
              <a:off x="8458275" y="2219413"/>
              <a:ext cx="0" cy="1256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9" name="Google Shape;609;p59"/>
            <p:cNvSpPr txBox="1"/>
            <p:nvPr/>
          </p:nvSpPr>
          <p:spPr>
            <a:xfrm rot="-5400913">
              <a:off x="8141557" y="2722066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  <p:cxnSp>
          <p:nvCxnSpPr>
            <p:cNvPr id="610" name="Google Shape;610;p59"/>
            <p:cNvCxnSpPr>
              <a:stCxn id="603" idx="7"/>
              <a:endCxn id="607" idx="3"/>
            </p:cNvCxnSpPr>
            <p:nvPr/>
          </p:nvCxnSpPr>
          <p:spPr>
            <a:xfrm flipH="1" rot="10800000">
              <a:off x="6714305" y="2150769"/>
              <a:ext cx="1566300" cy="1393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611" name="Google Shape;611;p59"/>
          <p:cNvSpPr txBox="1"/>
          <p:nvPr/>
        </p:nvSpPr>
        <p:spPr>
          <a:xfrm>
            <a:off x="5849150" y="1147225"/>
            <a:ext cx="2126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Good probability of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existing tie!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12" name="Google Shape;612;p59"/>
          <p:cNvCxnSpPr>
            <a:stCxn id="611" idx="2"/>
          </p:cNvCxnSpPr>
          <p:nvPr/>
        </p:nvCxnSpPr>
        <p:spPr>
          <a:xfrm>
            <a:off x="6912350" y="1860925"/>
            <a:ext cx="6600" cy="117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Granovetter’s strength of weak ties theory</a:t>
            </a:r>
            <a:endParaRPr/>
          </a:p>
        </p:txBody>
      </p:sp>
      <p:sp>
        <p:nvSpPr>
          <p:cNvPr id="618" name="Google Shape;618;p60"/>
          <p:cNvSpPr txBox="1"/>
          <p:nvPr>
            <p:ph idx="1" type="body"/>
          </p:nvPr>
        </p:nvSpPr>
        <p:spPr>
          <a:xfrm>
            <a:off x="311700" y="1225225"/>
            <a:ext cx="505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1" lang="en"/>
              <a:t>Granovetter’s weak tie principle: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Weak ties allow for a violation of g-transitivity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 don’t have to be connected to the people who are connected to the people whom you only have a weak tie connection to</a:t>
            </a:r>
            <a:endParaRPr i="1"/>
          </a:p>
        </p:txBody>
      </p:sp>
      <p:sp>
        <p:nvSpPr>
          <p:cNvPr id="619" name="Google Shape;619;p60"/>
          <p:cNvSpPr txBox="1"/>
          <p:nvPr/>
        </p:nvSpPr>
        <p:spPr>
          <a:xfrm>
            <a:off x="5849150" y="1147225"/>
            <a:ext cx="2126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Good probability of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no tie!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20" name="Google Shape;620;p60"/>
          <p:cNvCxnSpPr>
            <a:stCxn id="619" idx="2"/>
          </p:cNvCxnSpPr>
          <p:nvPr/>
        </p:nvCxnSpPr>
        <p:spPr>
          <a:xfrm>
            <a:off x="6912350" y="1860925"/>
            <a:ext cx="6600" cy="117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21" name="Google Shape;621;p60"/>
          <p:cNvGrpSpPr/>
          <p:nvPr/>
        </p:nvGrpSpPr>
        <p:grpSpPr>
          <a:xfrm>
            <a:off x="5849158" y="1537434"/>
            <a:ext cx="2983154" cy="2729568"/>
            <a:chOff x="6285650" y="1749913"/>
            <a:chExt cx="2546657" cy="2304600"/>
          </a:xfrm>
        </p:grpSpPr>
        <p:sp>
          <p:nvSpPr>
            <p:cNvPr id="622" name="Google Shape;622;p60"/>
            <p:cNvSpPr/>
            <p:nvPr/>
          </p:nvSpPr>
          <p:spPr>
            <a:xfrm>
              <a:off x="6285650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A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3" name="Google Shape;623;p60"/>
            <p:cNvSpPr/>
            <p:nvPr/>
          </p:nvSpPr>
          <p:spPr>
            <a:xfrm>
              <a:off x="8207175" y="34758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624" name="Google Shape;624;p60"/>
            <p:cNvCxnSpPr>
              <a:stCxn id="622" idx="6"/>
              <a:endCxn id="623" idx="2"/>
            </p:cNvCxnSpPr>
            <p:nvPr/>
          </p:nvCxnSpPr>
          <p:spPr>
            <a:xfrm>
              <a:off x="6787850" y="3710563"/>
              <a:ext cx="1419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625" name="Google Shape;625;p60"/>
            <p:cNvSpPr txBox="1"/>
            <p:nvPr/>
          </p:nvSpPr>
          <p:spPr>
            <a:xfrm>
              <a:off x="6929950" y="3803413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Weak Tie</a:t>
              </a:r>
              <a:endParaRPr/>
            </a:p>
          </p:txBody>
        </p:sp>
        <p:sp>
          <p:nvSpPr>
            <p:cNvPr id="626" name="Google Shape;626;p60"/>
            <p:cNvSpPr/>
            <p:nvPr/>
          </p:nvSpPr>
          <p:spPr>
            <a:xfrm>
              <a:off x="8207175" y="1749913"/>
              <a:ext cx="502200" cy="46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Open Sans"/>
                  <a:ea typeface="Open Sans"/>
                  <a:cs typeface="Open Sans"/>
                  <a:sym typeface="Open Sans"/>
                </a:rPr>
                <a:t>C</a:t>
              </a:r>
              <a:endParaRPr sz="2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627" name="Google Shape;627;p60"/>
            <p:cNvCxnSpPr>
              <a:stCxn id="626" idx="4"/>
              <a:endCxn id="623" idx="0"/>
            </p:cNvCxnSpPr>
            <p:nvPr/>
          </p:nvCxnSpPr>
          <p:spPr>
            <a:xfrm>
              <a:off x="8458275" y="2219413"/>
              <a:ext cx="0" cy="1256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8" name="Google Shape;628;p60"/>
            <p:cNvSpPr txBox="1"/>
            <p:nvPr/>
          </p:nvSpPr>
          <p:spPr>
            <a:xfrm rot="-5400913">
              <a:off x="8141557" y="2722066"/>
              <a:ext cx="1130100" cy="25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Strong Tie</a:t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 of weak ties theory</a:t>
            </a:r>
            <a:endParaRPr/>
          </a:p>
        </p:txBody>
      </p:sp>
      <p:sp>
        <p:nvSpPr>
          <p:cNvPr id="634" name="Google Shape;634;p61"/>
          <p:cNvSpPr txBox="1"/>
          <p:nvPr>
            <p:ph idx="1" type="body"/>
          </p:nvPr>
        </p:nvSpPr>
        <p:spPr>
          <a:xfrm>
            <a:off x="311700" y="1225225"/>
            <a:ext cx="3739500" cy="32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of the g-transitivity principle to ego-network layers: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G-transitivity more likely to apply to </a:t>
            </a:r>
            <a:r>
              <a:rPr b="1" lang="en"/>
              <a:t>strong ties </a:t>
            </a:r>
            <a:r>
              <a:rPr lang="en"/>
              <a:t>in your </a:t>
            </a:r>
            <a:r>
              <a:rPr b="1" lang="en"/>
              <a:t>support clique </a:t>
            </a:r>
            <a:r>
              <a:rPr lang="en"/>
              <a:t>and </a:t>
            </a:r>
            <a:r>
              <a:rPr b="1" lang="en"/>
              <a:t>sympathy group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Weak ties</a:t>
            </a:r>
            <a:r>
              <a:rPr lang="en"/>
              <a:t> in you </a:t>
            </a:r>
            <a:r>
              <a:rPr b="1" lang="en"/>
              <a:t>active network </a:t>
            </a:r>
            <a:r>
              <a:rPr lang="en"/>
              <a:t>less likely to be connected to one another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g%2525201Strong-Weak%252520ties-701724.jpg" id="635" name="Google Shape;635;p61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1"/>
          <p:cNvSpPr txBox="1"/>
          <p:nvPr/>
        </p:nvSpPr>
        <p:spPr>
          <a:xfrm>
            <a:off x="7336200" y="1190450"/>
            <a:ext cx="1496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G-transitive ties</a:t>
            </a:r>
            <a:endParaRPr/>
          </a:p>
        </p:txBody>
      </p:sp>
      <p:cxnSp>
        <p:nvCxnSpPr>
          <p:cNvPr id="637" name="Google Shape;637;p61"/>
          <p:cNvCxnSpPr>
            <a:stCxn id="636" idx="2"/>
          </p:cNvCxnSpPr>
          <p:nvPr/>
        </p:nvCxnSpPr>
        <p:spPr>
          <a:xfrm rot="5400000">
            <a:off x="6730200" y="1638500"/>
            <a:ext cx="1455300" cy="1252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8" name="Google Shape;638;p61"/>
          <p:cNvCxnSpPr>
            <a:stCxn id="636" idx="2"/>
          </p:cNvCxnSpPr>
          <p:nvPr/>
        </p:nvCxnSpPr>
        <p:spPr>
          <a:xfrm rot="5400000">
            <a:off x="7320900" y="1848500"/>
            <a:ext cx="1074600" cy="452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9" name="Google Shape;639;p61"/>
          <p:cNvSpPr/>
          <p:nvPr/>
        </p:nvSpPr>
        <p:spPr>
          <a:xfrm rot="-1688698">
            <a:off x="6288089" y="2489675"/>
            <a:ext cx="1883172" cy="795089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1"/>
          <p:cNvSpPr txBox="1"/>
          <p:nvPr/>
        </p:nvSpPr>
        <p:spPr>
          <a:xfrm>
            <a:off x="3859600" y="3890400"/>
            <a:ext cx="2035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G-transitivity violations</a:t>
            </a:r>
            <a:endParaRPr/>
          </a:p>
        </p:txBody>
      </p:sp>
      <p:sp>
        <p:nvSpPr>
          <p:cNvPr id="641" name="Google Shape;641;p61"/>
          <p:cNvSpPr/>
          <p:nvPr/>
        </p:nvSpPr>
        <p:spPr>
          <a:xfrm>
            <a:off x="5930725" y="2325338"/>
            <a:ext cx="369600" cy="346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1"/>
          <p:cNvSpPr/>
          <p:nvPr/>
        </p:nvSpPr>
        <p:spPr>
          <a:xfrm rot="-1208086">
            <a:off x="6450672" y="3449826"/>
            <a:ext cx="2459405" cy="811959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3" name="Google Shape;643;p61"/>
          <p:cNvCxnSpPr>
            <a:stCxn id="640" idx="2"/>
            <a:endCxn id="642" idx="4"/>
          </p:cNvCxnSpPr>
          <p:nvPr/>
        </p:nvCxnSpPr>
        <p:spPr>
          <a:xfrm flipH="1" rot="-5400000">
            <a:off x="6348400" y="2766150"/>
            <a:ext cx="600" cy="2942700"/>
          </a:xfrm>
          <a:prstGeom prst="bentConnector3">
            <a:avLst>
              <a:gd fmla="val 7105803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4" name="Google Shape;644;p61"/>
          <p:cNvCxnSpPr>
            <a:stCxn id="640" idx="0"/>
            <a:endCxn id="641" idx="2"/>
          </p:cNvCxnSpPr>
          <p:nvPr/>
        </p:nvCxnSpPr>
        <p:spPr>
          <a:xfrm rot="-5400000">
            <a:off x="4708150" y="2667900"/>
            <a:ext cx="1391700" cy="1053300"/>
          </a:xfrm>
          <a:prstGeom prst="bent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 of weak ties theory</a:t>
            </a:r>
            <a:endParaRPr/>
          </a:p>
        </p:txBody>
      </p:sp>
      <p:sp>
        <p:nvSpPr>
          <p:cNvPr id="650" name="Google Shape;650;p62"/>
          <p:cNvSpPr txBox="1"/>
          <p:nvPr>
            <p:ph idx="1" type="body"/>
          </p:nvPr>
        </p:nvSpPr>
        <p:spPr>
          <a:xfrm>
            <a:off x="311700" y="1225225"/>
            <a:ext cx="4781100" cy="32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of the g-transitivity principle to ego-network layers: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can function as </a:t>
            </a:r>
            <a:r>
              <a:rPr b="1" lang="en"/>
              <a:t>bridges</a:t>
            </a:r>
            <a:r>
              <a:rPr lang="en"/>
              <a:t> to parts of social structure to which you wouldn’t have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Absent weak ties: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will not have access to distant parts of the social 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 will tend to be local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Will put you at a </a:t>
            </a:r>
            <a:r>
              <a:rPr b="1" lang="en"/>
              <a:t>disadvantage </a:t>
            </a:r>
            <a:r>
              <a:rPr lang="en"/>
              <a:t>when </a:t>
            </a:r>
            <a:r>
              <a:rPr b="1" lang="en"/>
              <a:t>novel </a:t>
            </a:r>
            <a:r>
              <a:rPr lang="en"/>
              <a:t>information is </a:t>
            </a:r>
            <a:r>
              <a:rPr b="1" lang="en"/>
              <a:t>valuable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g%2525201Strong-Weak%252520ties-701724.jpg" id="651" name="Google Shape;651;p62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62"/>
          <p:cNvSpPr/>
          <p:nvPr/>
        </p:nvSpPr>
        <p:spPr>
          <a:xfrm rot="-1688698">
            <a:off x="6288089" y="2489675"/>
            <a:ext cx="1883172" cy="795089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62"/>
          <p:cNvSpPr/>
          <p:nvPr/>
        </p:nvSpPr>
        <p:spPr>
          <a:xfrm>
            <a:off x="5733200" y="2518813"/>
            <a:ext cx="369600" cy="346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62"/>
          <p:cNvSpPr/>
          <p:nvPr/>
        </p:nvSpPr>
        <p:spPr>
          <a:xfrm rot="-1208086">
            <a:off x="6450672" y="3449826"/>
            <a:ext cx="2459405" cy="811959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%2525201Strong-Weak%252520ties-701724.jpg" id="659" name="Google Shape;659;p63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63"/>
          <p:cNvSpPr txBox="1"/>
          <p:nvPr/>
        </p:nvSpPr>
        <p:spPr>
          <a:xfrm>
            <a:off x="5858800" y="4441525"/>
            <a:ext cx="1105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Bridging tie</a:t>
            </a:r>
            <a:endParaRPr/>
          </a:p>
        </p:txBody>
      </p:sp>
      <p:sp>
        <p:nvSpPr>
          <p:cNvPr id="661" name="Google Shape;661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 of weak ties theory</a:t>
            </a:r>
            <a:endParaRPr/>
          </a:p>
        </p:txBody>
      </p:sp>
      <p:sp>
        <p:nvSpPr>
          <p:cNvPr id="662" name="Google Shape;662;p63"/>
          <p:cNvSpPr/>
          <p:nvPr/>
        </p:nvSpPr>
        <p:spPr>
          <a:xfrm>
            <a:off x="5776900" y="2418900"/>
            <a:ext cx="163800" cy="213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63"/>
          <p:cNvSpPr txBox="1"/>
          <p:nvPr/>
        </p:nvSpPr>
        <p:spPr>
          <a:xfrm>
            <a:off x="5259225" y="3192200"/>
            <a:ext cx="768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</a:t>
            </a:r>
            <a:endParaRPr/>
          </a:p>
        </p:txBody>
      </p:sp>
      <p:sp>
        <p:nvSpPr>
          <p:cNvPr id="664" name="Google Shape;664;p63"/>
          <p:cNvSpPr/>
          <p:nvPr/>
        </p:nvSpPr>
        <p:spPr>
          <a:xfrm>
            <a:off x="5813425" y="2178750"/>
            <a:ext cx="462600" cy="346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63"/>
          <p:cNvSpPr txBox="1"/>
          <p:nvPr/>
        </p:nvSpPr>
        <p:spPr>
          <a:xfrm>
            <a:off x="7759075" y="844400"/>
            <a:ext cx="11910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who may know something your close friends don’t know</a:t>
            </a:r>
            <a:endParaRPr/>
          </a:p>
        </p:txBody>
      </p:sp>
      <p:sp>
        <p:nvSpPr>
          <p:cNvPr id="666" name="Google Shape;666;p63"/>
          <p:cNvSpPr/>
          <p:nvPr/>
        </p:nvSpPr>
        <p:spPr>
          <a:xfrm>
            <a:off x="4508600" y="1795500"/>
            <a:ext cx="831000" cy="62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63"/>
          <p:cNvSpPr txBox="1"/>
          <p:nvPr>
            <p:ph idx="1" type="body"/>
          </p:nvPr>
        </p:nvSpPr>
        <p:spPr>
          <a:xfrm>
            <a:off x="311700" y="1225225"/>
            <a:ext cx="4781100" cy="32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of the g-transitivity principle to ego-network layers: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can function as </a:t>
            </a:r>
            <a:r>
              <a:rPr b="1" lang="en"/>
              <a:t>bridges</a:t>
            </a:r>
            <a:r>
              <a:rPr lang="en"/>
              <a:t> to parts of social structure to which you wouldn’t have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Implication: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Absent weak ties: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will not have access to distant parts of the social 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 will tend to be local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Will put you at a </a:t>
            </a:r>
            <a:r>
              <a:rPr b="1" lang="en"/>
              <a:t>disadvantage </a:t>
            </a:r>
            <a:r>
              <a:rPr lang="en"/>
              <a:t>when </a:t>
            </a:r>
            <a:r>
              <a:rPr b="1" lang="en"/>
              <a:t>novel </a:t>
            </a:r>
            <a:r>
              <a:rPr lang="en"/>
              <a:t>information is </a:t>
            </a:r>
            <a:r>
              <a:rPr b="1" lang="en"/>
              <a:t>valuable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8" name="Google Shape;668;p63"/>
          <p:cNvCxnSpPr>
            <a:stCxn id="665" idx="1"/>
          </p:cNvCxnSpPr>
          <p:nvPr/>
        </p:nvCxnSpPr>
        <p:spPr>
          <a:xfrm flipH="1">
            <a:off x="5713375" y="1598300"/>
            <a:ext cx="2045700" cy="38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9" name="Google Shape;669;p63"/>
          <p:cNvCxnSpPr>
            <a:stCxn id="663" idx="0"/>
            <a:endCxn id="664" idx="4"/>
          </p:cNvCxnSpPr>
          <p:nvPr/>
        </p:nvCxnSpPr>
        <p:spPr>
          <a:xfrm flipH="1" rot="10800000">
            <a:off x="5643375" y="2525600"/>
            <a:ext cx="401400" cy="66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0" name="Google Shape;670;p63"/>
          <p:cNvCxnSpPr>
            <a:stCxn id="660" idx="0"/>
          </p:cNvCxnSpPr>
          <p:nvPr/>
        </p:nvCxnSpPr>
        <p:spPr>
          <a:xfrm flipH="1" rot="10800000">
            <a:off x="6411700" y="2659525"/>
            <a:ext cx="32400" cy="178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%2525201Strong-Weak%252520ties-701724.jpg" id="675" name="Google Shape;675;p64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4"/>
          <p:cNvSpPr txBox="1"/>
          <p:nvPr/>
        </p:nvSpPr>
        <p:spPr>
          <a:xfrm>
            <a:off x="5858800" y="4441525"/>
            <a:ext cx="1105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Bridging tie</a:t>
            </a:r>
            <a:endParaRPr/>
          </a:p>
        </p:txBody>
      </p:sp>
      <p:sp>
        <p:nvSpPr>
          <p:cNvPr id="677" name="Google Shape;677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Strength of weak ties theory</a:t>
            </a:r>
            <a:endParaRPr/>
          </a:p>
        </p:txBody>
      </p:sp>
      <p:sp>
        <p:nvSpPr>
          <p:cNvPr id="678" name="Google Shape;678;p64"/>
          <p:cNvSpPr/>
          <p:nvPr/>
        </p:nvSpPr>
        <p:spPr>
          <a:xfrm>
            <a:off x="5776900" y="2418900"/>
            <a:ext cx="163800" cy="213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64"/>
          <p:cNvSpPr txBox="1"/>
          <p:nvPr/>
        </p:nvSpPr>
        <p:spPr>
          <a:xfrm>
            <a:off x="5259225" y="3192200"/>
            <a:ext cx="768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</a:t>
            </a:r>
            <a:endParaRPr/>
          </a:p>
        </p:txBody>
      </p:sp>
      <p:sp>
        <p:nvSpPr>
          <p:cNvPr id="680" name="Google Shape;680;p64"/>
          <p:cNvSpPr/>
          <p:nvPr/>
        </p:nvSpPr>
        <p:spPr>
          <a:xfrm>
            <a:off x="5813425" y="2178750"/>
            <a:ext cx="462600" cy="346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64"/>
          <p:cNvSpPr txBox="1"/>
          <p:nvPr/>
        </p:nvSpPr>
        <p:spPr>
          <a:xfrm>
            <a:off x="7759075" y="844400"/>
            <a:ext cx="11910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who may know something your close friends don’t know</a:t>
            </a:r>
            <a:endParaRPr/>
          </a:p>
        </p:txBody>
      </p:sp>
      <p:sp>
        <p:nvSpPr>
          <p:cNvPr id="682" name="Google Shape;682;p64"/>
          <p:cNvSpPr/>
          <p:nvPr/>
        </p:nvSpPr>
        <p:spPr>
          <a:xfrm>
            <a:off x="4508600" y="1795500"/>
            <a:ext cx="831000" cy="62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64"/>
          <p:cNvSpPr txBox="1"/>
          <p:nvPr>
            <p:ph idx="1" type="body"/>
          </p:nvPr>
        </p:nvSpPr>
        <p:spPr>
          <a:xfrm>
            <a:off x="311700" y="1225225"/>
            <a:ext cx="4781100" cy="32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Acquaintances</a:t>
            </a:r>
            <a:r>
              <a:rPr lang="en"/>
              <a:t> less like to be connected to one another that close friends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graph theoretic terms: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subgraph of ego’s neighbors who are </a:t>
            </a:r>
            <a:r>
              <a:rPr b="1" lang="en"/>
              <a:t>strongly</a:t>
            </a:r>
            <a:r>
              <a:rPr lang="en"/>
              <a:t> tied to ego has </a:t>
            </a: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density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subgraph of ego’s neighbors who are </a:t>
            </a:r>
            <a:r>
              <a:rPr b="1" lang="en"/>
              <a:t>weakly</a:t>
            </a:r>
            <a:r>
              <a:rPr lang="en"/>
              <a:t> tied to ego has </a:t>
            </a:r>
            <a:r>
              <a:rPr b="1" lang="en"/>
              <a:t>low</a:t>
            </a:r>
            <a:r>
              <a:rPr lang="en"/>
              <a:t> </a:t>
            </a:r>
            <a:r>
              <a:rPr b="1" lang="en"/>
              <a:t>density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4" name="Google Shape;684;p64"/>
          <p:cNvCxnSpPr>
            <a:stCxn id="681" idx="1"/>
          </p:cNvCxnSpPr>
          <p:nvPr/>
        </p:nvCxnSpPr>
        <p:spPr>
          <a:xfrm flipH="1">
            <a:off x="5713375" y="1598300"/>
            <a:ext cx="2045700" cy="38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5" name="Google Shape;685;p64"/>
          <p:cNvCxnSpPr>
            <a:stCxn id="679" idx="0"/>
            <a:endCxn id="680" idx="4"/>
          </p:cNvCxnSpPr>
          <p:nvPr/>
        </p:nvCxnSpPr>
        <p:spPr>
          <a:xfrm flipH="1" rot="10800000">
            <a:off x="5643375" y="2525600"/>
            <a:ext cx="401400" cy="66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6" name="Google Shape;686;p64"/>
          <p:cNvCxnSpPr>
            <a:stCxn id="676" idx="0"/>
          </p:cNvCxnSpPr>
          <p:nvPr/>
        </p:nvCxnSpPr>
        <p:spPr>
          <a:xfrm flipH="1" rot="10800000">
            <a:off x="6411700" y="2659525"/>
            <a:ext cx="32400" cy="178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Getting a job</a:t>
            </a:r>
            <a:endParaRPr/>
          </a:p>
        </p:txBody>
      </p:sp>
      <p:sp>
        <p:nvSpPr>
          <p:cNvPr id="692" name="Google Shape;692;p65"/>
          <p:cNvSpPr txBox="1"/>
          <p:nvPr>
            <p:ph idx="1" type="body"/>
          </p:nvPr>
        </p:nvSpPr>
        <p:spPr>
          <a:xfrm>
            <a:off x="311700" y="1225225"/>
            <a:ext cx="5259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If social mobility (e.g. finding new job opportunities) depends on (new) information access: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having </a:t>
            </a:r>
            <a:r>
              <a:rPr b="1" lang="en"/>
              <a:t>weak ties</a:t>
            </a:r>
            <a:r>
              <a:rPr lang="en"/>
              <a:t> will be correlated with </a:t>
            </a:r>
            <a:r>
              <a:rPr b="1" lang="en"/>
              <a:t>mobility</a:t>
            </a:r>
            <a:r>
              <a:rPr lang="en"/>
              <a:t> and other forms of </a:t>
            </a:r>
            <a:r>
              <a:rPr b="1" lang="en"/>
              <a:t>success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Contacts with whom you are </a:t>
            </a:r>
            <a:r>
              <a:rPr b="1" lang="en"/>
              <a:t>weakly connected </a:t>
            </a:r>
            <a:r>
              <a:rPr lang="en"/>
              <a:t>will be more likely to </a:t>
            </a:r>
            <a:r>
              <a:rPr b="1" lang="en"/>
              <a:t>know something you don’t know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Weak ties</a:t>
            </a:r>
            <a:r>
              <a:rPr lang="en"/>
              <a:t> help you insofar as they connect you to others with access to both </a:t>
            </a:r>
            <a:r>
              <a:rPr b="1" lang="en"/>
              <a:t>information</a:t>
            </a:r>
            <a:r>
              <a:rPr lang="en"/>
              <a:t> and </a:t>
            </a:r>
            <a:r>
              <a:rPr b="1" lang="en"/>
              <a:t>resources</a:t>
            </a:r>
            <a:r>
              <a:rPr lang="en"/>
              <a:t> </a:t>
            </a:r>
            <a:endParaRPr/>
          </a:p>
        </p:txBody>
      </p:sp>
      <p:pic>
        <p:nvPicPr>
          <p:cNvPr descr="granov2.gif" id="693" name="Google Shape;69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000" y="1067738"/>
            <a:ext cx="3261300" cy="3668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Strength of weak ties theory: Whole Network</a:t>
            </a:r>
            <a:endParaRPr/>
          </a:p>
        </p:txBody>
      </p:sp>
      <p:sp>
        <p:nvSpPr>
          <p:cNvPr id="699" name="Google Shape;699;p66"/>
          <p:cNvSpPr txBox="1"/>
          <p:nvPr>
            <p:ph idx="1" type="body"/>
          </p:nvPr>
        </p:nvSpPr>
        <p:spPr>
          <a:xfrm>
            <a:off x="311700" y="1225225"/>
            <a:ext cx="46242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level of the social system  absence of weak ties implies: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Fragmentation</a:t>
            </a:r>
            <a:r>
              <a:rPr lang="en"/>
              <a:t> into disconnected communities characterized by </a:t>
            </a:r>
            <a:r>
              <a:rPr b="1" lang="en"/>
              <a:t>strong tie clusters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Diffusion</a:t>
            </a:r>
            <a:r>
              <a:rPr lang="en"/>
              <a:t> of </a:t>
            </a:r>
            <a:r>
              <a:rPr b="1" lang="en"/>
              <a:t>new</a:t>
            </a:r>
            <a:r>
              <a:rPr lang="en"/>
              <a:t> ideas in such a system would be </a:t>
            </a:r>
            <a:r>
              <a:rPr b="1" lang="en"/>
              <a:t>difficult</a:t>
            </a:r>
            <a:endParaRPr b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Innovations remain trapped in local clusters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Collective</a:t>
            </a:r>
            <a:r>
              <a:rPr lang="en"/>
              <a:t> </a:t>
            </a:r>
            <a:r>
              <a:rPr b="1" lang="en"/>
              <a:t>action</a:t>
            </a:r>
            <a:r>
              <a:rPr lang="en"/>
              <a:t> and global </a:t>
            </a:r>
            <a:r>
              <a:rPr b="1" lang="en"/>
              <a:t>coordination</a:t>
            </a:r>
            <a:r>
              <a:rPr lang="en"/>
              <a:t> would be </a:t>
            </a:r>
            <a:r>
              <a:rPr b="1" lang="en"/>
              <a:t>difficult</a:t>
            </a:r>
            <a:endParaRPr b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divisions will be salient </a:t>
            </a:r>
            <a:endParaRPr/>
          </a:p>
        </p:txBody>
      </p:sp>
      <p:pic>
        <p:nvPicPr>
          <p:cNvPr descr="Strength-Weak-Ties.jpg" id="700" name="Google Shape;70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6050" y="1225225"/>
            <a:ext cx="389624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Strength of weak ties theory: Whole Network</a:t>
            </a:r>
            <a:endParaRPr/>
          </a:p>
        </p:txBody>
      </p:sp>
      <p:sp>
        <p:nvSpPr>
          <p:cNvPr id="706" name="Google Shape;706;p67"/>
          <p:cNvSpPr txBox="1"/>
          <p:nvPr>
            <p:ph idx="1" type="body"/>
          </p:nvPr>
        </p:nvSpPr>
        <p:spPr>
          <a:xfrm>
            <a:off x="311700" y="1225225"/>
            <a:ext cx="46242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Classical sociological theory presumed that weak ties bred </a:t>
            </a:r>
            <a:r>
              <a:rPr b="1" lang="en"/>
              <a:t>alienation </a:t>
            </a:r>
            <a:r>
              <a:rPr lang="en"/>
              <a:t>and </a:t>
            </a:r>
            <a:r>
              <a:rPr b="1" lang="en"/>
              <a:t>disconnection </a:t>
            </a:r>
            <a:r>
              <a:rPr lang="en"/>
              <a:t>from others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weak tie argument suggests that weak ties actually </a:t>
            </a:r>
            <a:r>
              <a:rPr b="1" lang="en"/>
              <a:t>integrate </a:t>
            </a:r>
            <a:r>
              <a:rPr lang="en"/>
              <a:t>people into wider social structures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ties connect you similar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connect you to different others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Interacting with different others forces you to be flexible</a:t>
            </a:r>
            <a:endParaRPr/>
          </a:p>
        </p:txBody>
      </p:sp>
      <p:pic>
        <p:nvPicPr>
          <p:cNvPr descr="Strength-Weak-Ties.jpg" id="707" name="Google Shape;70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6050" y="1225225"/>
            <a:ext cx="389624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r>
              <a:rPr lang="en"/>
              <a:t> SWT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sp>
        <p:nvSpPr>
          <p:cNvPr id="718" name="Google Shape;718;p6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Despite 50 years of influence, previous studies testing SWT were largely correlational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typical design we can retrospectively ask individuals </a:t>
            </a:r>
            <a:r>
              <a:rPr i="1" lang="en"/>
              <a:t>how</a:t>
            </a:r>
            <a:r>
              <a:rPr lang="en"/>
              <a:t> they found a job and then compared jobs found via weak ties with jobs found via strong ties (or other methods)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approach cannot account for </a:t>
            </a:r>
            <a:r>
              <a:rPr b="1" lang="en"/>
              <a:t>selection bias</a:t>
            </a:r>
            <a:r>
              <a:rPr lang="en"/>
              <a:t> (e.g., high-ability individuals might naturally have more weak ties).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recent correlational studies even created a "paradox" by suggesting </a:t>
            </a:r>
            <a:r>
              <a:rPr b="1" lang="en"/>
              <a:t>strong</a:t>
            </a:r>
            <a:r>
              <a:rPr lang="en"/>
              <a:t> ties were actually </a:t>
            </a:r>
            <a:r>
              <a:rPr b="1" lang="en"/>
              <a:t>more valuable</a:t>
            </a:r>
            <a:r>
              <a:rPr lang="en"/>
              <a:t> for job mobility.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9" name="Google Shape;719;p69" title="Screenshot 2026-04-21 09.15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838" y="3464288"/>
            <a:ext cx="491032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sp>
        <p:nvSpPr>
          <p:cNvPr id="725" name="Google Shape;725;p7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experimental</a:t>
            </a:r>
            <a:r>
              <a:rPr lang="en"/>
              <a:t> approach in which the job search method (e.g., weak versus strong ties) is </a:t>
            </a:r>
            <a:r>
              <a:rPr i="1" lang="en"/>
              <a:t>exogeneously manipulated</a:t>
            </a:r>
            <a:r>
              <a:rPr lang="en"/>
              <a:t> would be the “dream </a:t>
            </a:r>
            <a:r>
              <a:rPr lang="en"/>
              <a:t>experiment</a:t>
            </a:r>
            <a:r>
              <a:rPr lang="en"/>
              <a:t>” to test STW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what Rakjumar et al. did in a 2022 paper published in the journal </a:t>
            </a:r>
            <a:r>
              <a:rPr i="1" lang="en"/>
              <a:t>Science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achieve true exogenous variation, users were randomized into one of seven “People You May Know” (PYMK) algorithm variants for follower recommendations divided into two broad types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726" name="Google Shape;726;p70" title="Screenshot 2026-04-21 09.15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838" y="3464288"/>
            <a:ext cx="491032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pic>
        <p:nvPicPr>
          <p:cNvPr id="732" name="Google Shape;732;p71" title="Screenshot 2026-04-21 09.15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838" y="3464288"/>
            <a:ext cx="4910329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3" name="Google Shape;733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13" y="1147228"/>
            <a:ext cx="3468087" cy="2499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4" name="Google Shape;734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1525" y="1147228"/>
            <a:ext cx="3468087" cy="2499056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1"/>
          <p:cNvSpPr txBox="1"/>
          <p:nvPr/>
        </p:nvSpPr>
        <p:spPr>
          <a:xfrm>
            <a:off x="1167096" y="1828897"/>
            <a:ext cx="3110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Weak-Tie Promoters</a:t>
            </a:r>
            <a:endParaRPr/>
          </a:p>
        </p:txBody>
      </p:sp>
      <p:sp>
        <p:nvSpPr>
          <p:cNvPr id="736" name="Google Shape;736;p71"/>
          <p:cNvSpPr txBox="1"/>
          <p:nvPr/>
        </p:nvSpPr>
        <p:spPr>
          <a:xfrm>
            <a:off x="1167100" y="2188676"/>
            <a:ext cx="296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Variants that algorithmically up-weighted connection recommendations with </a:t>
            </a:r>
            <a:r>
              <a:rPr b="1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fewer mutual friends</a:t>
            </a: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This randomly increased the probability of users forming structurally </a:t>
            </a:r>
            <a:r>
              <a:rPr b="1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weak</a:t>
            </a: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ties.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7" name="Google Shape;737;p71"/>
          <p:cNvSpPr txBox="1"/>
          <p:nvPr/>
        </p:nvSpPr>
        <p:spPr>
          <a:xfrm>
            <a:off x="5014209" y="1828897"/>
            <a:ext cx="3110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Strong-Tie Promoters</a:t>
            </a:r>
            <a:endParaRPr/>
          </a:p>
        </p:txBody>
      </p:sp>
      <p:sp>
        <p:nvSpPr>
          <p:cNvPr id="738" name="Google Shape;738;p71"/>
          <p:cNvSpPr txBox="1"/>
          <p:nvPr/>
        </p:nvSpPr>
        <p:spPr>
          <a:xfrm>
            <a:off x="5014200" y="2188678"/>
            <a:ext cx="29628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Variants that algorithmically up-weighted recommendations with </a:t>
            </a:r>
            <a:r>
              <a:rPr b="1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many mutual friends</a:t>
            </a: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This reinforced the formation of dense, </a:t>
            </a:r>
            <a:r>
              <a:rPr b="1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closed</a:t>
            </a: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network clusters.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739" name="Google Shape;739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7096" y="1450192"/>
            <a:ext cx="221098" cy="252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0" name="Google Shape;740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4209" y="1450192"/>
            <a:ext cx="252684" cy="252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pic>
        <p:nvPicPr>
          <p:cNvPr id="746" name="Google Shape;746;p72" title="Screenshot 2026-04-21 09.15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838" y="3464288"/>
            <a:ext cx="4910329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72"/>
          <p:cNvSpPr txBox="1"/>
          <p:nvPr>
            <p:ph idx="1" type="body"/>
          </p:nvPr>
        </p:nvSpPr>
        <p:spPr>
          <a:xfrm>
            <a:off x="311700" y="1225225"/>
            <a:ext cx="8520600" cy="21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5-Year Longitudinal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scale of this experiment provides robust causal inference at a massive global level.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study successfully tracked: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20 Million Experimental Subjects (People on LinkedIn)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Billion New Network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600,000 Job Transitions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pic>
        <p:nvPicPr>
          <p:cNvPr id="753" name="Google Shape;753;p73" title="Screenshot 2026-04-21 09.15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838" y="3464288"/>
            <a:ext cx="4910329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4" name="Google Shape;75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105137"/>
            <a:ext cx="2269942" cy="2729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5" name="Google Shape;755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7029" y="1105137"/>
            <a:ext cx="2269942" cy="2729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6" name="Google Shape;756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9658" y="1105137"/>
            <a:ext cx="2269942" cy="2729552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73"/>
          <p:cNvSpPr txBox="1"/>
          <p:nvPr/>
        </p:nvSpPr>
        <p:spPr>
          <a:xfrm>
            <a:off x="1103916" y="1888620"/>
            <a:ext cx="1804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Structural Strength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8" name="Google Shape;758;p73"/>
          <p:cNvSpPr txBox="1"/>
          <p:nvPr/>
        </p:nvSpPr>
        <p:spPr>
          <a:xfrm>
            <a:off x="1103916" y="2248769"/>
            <a:ext cx="1890900" cy="13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Measured by "Common Connections". More shared friends between two individuals indicate a structurally stronger tie in the graph.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9" name="Google Shape;759;p73"/>
          <p:cNvSpPr txBox="1"/>
          <p:nvPr/>
        </p:nvSpPr>
        <p:spPr>
          <a:xfrm>
            <a:off x="3626545" y="1888620"/>
            <a:ext cx="1910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Interaction Strength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0" name="Google Shape;760;p73"/>
          <p:cNvSpPr txBox="1"/>
          <p:nvPr/>
        </p:nvSpPr>
        <p:spPr>
          <a:xfrm>
            <a:off x="3626545" y="2248769"/>
            <a:ext cx="1890900" cy="1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Measured by "Message Intensity". Evaluates how frequently two users actually communicate directly on the platform.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1" name="Google Shape;761;p73"/>
          <p:cNvSpPr txBox="1"/>
          <p:nvPr/>
        </p:nvSpPr>
        <p:spPr>
          <a:xfrm>
            <a:off x="6149174" y="1888620"/>
            <a:ext cx="1698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Job Transmission</a:t>
            </a:r>
            <a:endParaRPr b="1"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2" name="Google Shape;762;p73"/>
          <p:cNvSpPr txBox="1"/>
          <p:nvPr/>
        </p:nvSpPr>
        <p:spPr>
          <a:xfrm>
            <a:off x="6149174" y="2248769"/>
            <a:ext cx="18909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key outcome metric: A user adds a connection and subsequently joins that connection’s exact employer.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763" name="Google Shape;763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3916" y="1389465"/>
            <a:ext cx="341128" cy="303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4" name="Google Shape;764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26545" y="1389465"/>
            <a:ext cx="379031" cy="303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5" name="Google Shape;765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49174" y="1389465"/>
            <a:ext cx="303225" cy="303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Operationalizing "Job Transmission"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Measuring the dependent variable required tracking a precise chronological sequence over the 5-year observation window: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chronological sequencing ensures the network tie explicitly preceded the job change, solidifying the causal direction.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pic>
        <p:nvPicPr>
          <p:cNvPr descr="image.png" id="772" name="Google Shape;77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1435" y="3405903"/>
            <a:ext cx="237087" cy="27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3" name="Google Shape;773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5509" y="3405903"/>
            <a:ext cx="237087" cy="27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4" name="Google Shape;774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9397" y="2831914"/>
            <a:ext cx="508043" cy="40614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74"/>
          <p:cNvSpPr txBox="1"/>
          <p:nvPr/>
        </p:nvSpPr>
        <p:spPr>
          <a:xfrm>
            <a:off x="728502" y="3373433"/>
            <a:ext cx="23898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 Connection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6" name="Google Shape;776;p74"/>
          <p:cNvSpPr txBox="1"/>
          <p:nvPr/>
        </p:nvSpPr>
        <p:spPr>
          <a:xfrm>
            <a:off x="785400" y="3759295"/>
            <a:ext cx="2276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User A and User B form a new tie on LinkedIn via PYMK.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777" name="Google Shape;777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2" y="2831914"/>
            <a:ext cx="304826" cy="40614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74"/>
          <p:cNvSpPr txBox="1"/>
          <p:nvPr/>
        </p:nvSpPr>
        <p:spPr>
          <a:xfrm>
            <a:off x="3377099" y="3373433"/>
            <a:ext cx="23898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Baseline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9" name="Google Shape;779;p74"/>
          <p:cNvSpPr txBox="1"/>
          <p:nvPr/>
        </p:nvSpPr>
        <p:spPr>
          <a:xfrm>
            <a:off x="3433999" y="3759295"/>
            <a:ext cx="22761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User A works at Company X.</a:t>
            </a:r>
            <a:br>
              <a:rPr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i="0" lang="en" sz="13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User B works at Company Y.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780" name="Google Shape;780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17395" y="2831914"/>
            <a:ext cx="406434" cy="40614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4"/>
          <p:cNvSpPr txBox="1"/>
          <p:nvPr/>
        </p:nvSpPr>
        <p:spPr>
          <a:xfrm>
            <a:off x="6025695" y="3373433"/>
            <a:ext cx="23898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 Transmission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2" name="Google Shape;782;p74"/>
          <p:cNvSpPr txBox="1"/>
          <p:nvPr/>
        </p:nvSpPr>
        <p:spPr>
          <a:xfrm>
            <a:off x="6082598" y="3759295"/>
            <a:ext cx="2276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User A leaves Company X and is hired at Company Y.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sp>
        <p:nvSpPr>
          <p:cNvPr id="788" name="Google Shape;788;p75"/>
          <p:cNvSpPr txBox="1"/>
          <p:nvPr>
            <p:ph idx="1" type="body"/>
          </p:nvPr>
        </p:nvSpPr>
        <p:spPr>
          <a:xfrm>
            <a:off x="311700" y="1225225"/>
            <a:ext cx="85206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Causal evidence confirms weak ties are effective, but the relationship is non-linear based on shared neighbors.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Moderate overlap provides enough familiarity to motivate help, while maintaining enough distance to provide novel informational value.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789" name="Google Shape;789;p75"/>
          <p:cNvPicPr preferRelativeResize="0"/>
          <p:nvPr/>
        </p:nvPicPr>
        <p:blipFill rotWithShape="1">
          <a:blip r:embed="rId3">
            <a:alphaModFix/>
          </a:blip>
          <a:srcRect b="22234" l="0" r="0" t="16969"/>
          <a:stretch/>
        </p:blipFill>
        <p:spPr>
          <a:xfrm>
            <a:off x="914400" y="2646350"/>
            <a:ext cx="7315201" cy="1891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sp>
        <p:nvSpPr>
          <p:cNvPr id="795" name="Google Shape;795;p76"/>
          <p:cNvSpPr txBox="1"/>
          <p:nvPr>
            <p:ph idx="1" type="body"/>
          </p:nvPr>
        </p:nvSpPr>
        <p:spPr>
          <a:xfrm>
            <a:off x="311700" y="1225225"/>
            <a:ext cx="85206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the causal test using the communication frequency dimension of tie strength yields unequivocal support for SWT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study evaluated "strength" using two distinct metrics, yielding nuanced but crucial differences in the results: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796" name="Google Shape;79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81923"/>
            <a:ext cx="3531258" cy="2590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7" name="Google Shape;797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8342" y="2281923"/>
            <a:ext cx="3531258" cy="259004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8" name="Google Shape;798;p76"/>
          <p:cNvSpPr txBox="1"/>
          <p:nvPr/>
        </p:nvSpPr>
        <p:spPr>
          <a:xfrm>
            <a:off x="1103913" y="3065253"/>
            <a:ext cx="33099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Structural Strength (Mutual Friends)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9" name="Google Shape;799;p76"/>
          <p:cNvSpPr txBox="1"/>
          <p:nvPr/>
        </p:nvSpPr>
        <p:spPr>
          <a:xfrm>
            <a:off x="1103925" y="3425325"/>
            <a:ext cx="31521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Displays the Inverted U-Shape shown previously. The most helpful ties are </a:t>
            </a:r>
            <a:r>
              <a:rPr i="1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moderately</a:t>
            </a: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weak (~10 mutuals). Total strangers (1 mutual) lacked the trust or motivation to assist in the hiring process.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0" name="Google Shape;800;p76"/>
          <p:cNvSpPr txBox="1"/>
          <p:nvPr/>
        </p:nvSpPr>
        <p:spPr>
          <a:xfrm>
            <a:off x="4887855" y="3065253"/>
            <a:ext cx="3190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Interaction Strength (Messaging)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1" name="Google Shape;801;p76"/>
          <p:cNvSpPr txBox="1"/>
          <p:nvPr/>
        </p:nvSpPr>
        <p:spPr>
          <a:xfrm>
            <a:off x="4887850" y="3425321"/>
            <a:ext cx="31521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Displays a Linear Negative Relationship. The ties with the </a:t>
            </a:r>
            <a:r>
              <a:rPr i="1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absolute lowest</a:t>
            </a: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message frequency (the most arms-length relationships) actually delivered the </a:t>
            </a:r>
            <a:r>
              <a:rPr b="1"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highest</a:t>
            </a:r>
            <a:r>
              <a:rPr i="0" lang="en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number of overall job transmissions.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802" name="Google Shape;802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3913" y="2566196"/>
            <a:ext cx="379026" cy="303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3" name="Google Shape;803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7855" y="2566196"/>
            <a:ext cx="303221" cy="30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SWT </a:t>
            </a:r>
            <a:endParaRPr/>
          </a:p>
        </p:txBody>
      </p:sp>
      <p:sp>
        <p:nvSpPr>
          <p:cNvPr id="809" name="Google Shape;809;p77"/>
          <p:cNvSpPr txBox="1"/>
          <p:nvPr>
            <p:ph idx="1" type="body"/>
          </p:nvPr>
        </p:nvSpPr>
        <p:spPr>
          <a:xfrm>
            <a:off x="311700" y="1225225"/>
            <a:ext cx="85206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Causal evidence confirms weak ties are effective, but the relationship is non-linear based on mutual connections.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 significantly outperform strong ties specifically within High-Tech and Digitally-Intense sectors.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810" name="Google Shape;81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75" y="2180850"/>
            <a:ext cx="643566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