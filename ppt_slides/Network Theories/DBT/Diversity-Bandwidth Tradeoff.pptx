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Economica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Economica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Economica-bold.fntdata"/><Relationship Id="rId18" Type="http://schemas.openxmlformats.org/officeDocument/2006/relationships/font" Target="fonts/Economic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8b2804f75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8b2804f75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8b2804f75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08b2804f75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8b2804f75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8b2804f75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08b2804f75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08b2804f75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8b2804f75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08b2804f75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08b2804f75_0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08b2804f75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8b2804f75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08b2804f75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08b2804f75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08b2804f75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8b2804f75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8b2804f75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08b2804f75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08b2804f75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08b2804f75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108b2804f75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311700" y="1225225"/>
            <a:ext cx="8520600" cy="14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 Granovetter argument conceives of the properties of ties (</a:t>
            </a:r>
            <a:r>
              <a:rPr lang="en"/>
              <a:t>e.g.,</a:t>
            </a:r>
            <a:r>
              <a:rPr lang="en"/>
              <a:t> strength) in static terms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Yet information transmission/access are events that happen in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original SWT argument: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ties: Novel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ties: Old/redundant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6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6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6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6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6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26"/>
          <p:cNvCxnSpPr>
            <a:stCxn id="112" idx="7"/>
            <a:endCxn id="113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26"/>
          <p:cNvCxnSpPr>
            <a:stCxn id="112" idx="5"/>
            <a:endCxn id="116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26"/>
          <p:cNvCxnSpPr>
            <a:stCxn id="116" idx="7"/>
            <a:endCxn id="115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26"/>
          <p:cNvCxnSpPr>
            <a:stCxn id="115" idx="0"/>
            <a:endCxn id="114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26"/>
          <p:cNvCxnSpPr>
            <a:stCxn id="114" idx="0"/>
            <a:endCxn id="113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6"/>
          <p:cNvCxnSpPr>
            <a:stCxn id="116" idx="0"/>
            <a:endCxn id="113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26"/>
          <p:cNvCxnSpPr>
            <a:stCxn id="116" idx="0"/>
            <a:endCxn id="114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26"/>
          <p:cNvCxnSpPr>
            <a:stCxn id="115" idx="1"/>
            <a:endCxn id="113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6"/>
          <p:cNvCxnSpPr>
            <a:stCxn id="112" idx="6"/>
            <a:endCxn id="114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26"/>
          <p:cNvCxnSpPr>
            <a:stCxn id="112" idx="6"/>
            <a:endCxn id="115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26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6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6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6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6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" name="Google Shape;132;p26"/>
          <p:cNvCxnSpPr>
            <a:stCxn id="127" idx="7"/>
            <a:endCxn id="128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6"/>
          <p:cNvCxnSpPr>
            <a:stCxn id="127" idx="5"/>
            <a:endCxn id="131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6"/>
          <p:cNvCxnSpPr>
            <a:stCxn id="130" idx="0"/>
            <a:endCxn id="129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6"/>
          <p:cNvCxnSpPr>
            <a:stCxn id="127" idx="6"/>
            <a:endCxn id="129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6"/>
          <p:cNvCxnSpPr>
            <a:stCxn id="127" idx="6"/>
            <a:endCxn id="130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6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8" name="Google Shape;138;p26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9" name="Google Shape;139;p26"/>
          <p:cNvCxnSpPr>
            <a:stCxn id="131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40" name="Google Shape;140;p26"/>
          <p:cNvCxnSpPr>
            <a:stCxn id="131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41" name="Google Shape;141;p26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6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6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" name="Google Shape;146;p26"/>
          <p:cNvCxnSpPr>
            <a:stCxn id="141" idx="7"/>
            <a:endCxn id="142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6"/>
          <p:cNvCxnSpPr>
            <a:stCxn id="141" idx="5"/>
            <a:endCxn id="145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6"/>
          <p:cNvCxnSpPr>
            <a:stCxn id="141" idx="6"/>
            <a:endCxn id="143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6"/>
          <p:cNvCxnSpPr>
            <a:stCxn id="141" idx="6"/>
            <a:endCxn id="144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6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1" name="Google Shape;151;p26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2" name="Google Shape;152;p26"/>
          <p:cNvCxnSpPr>
            <a:stCxn id="145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53" name="Google Shape;153;p26"/>
          <p:cNvCxnSpPr>
            <a:stCxn id="145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/>
          <p:nvPr/>
        </p:nvSpPr>
        <p:spPr>
          <a:xfrm>
            <a:off x="899338" y="2004988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1893162" y="1175092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2456406" y="1782946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2456406" y="2397935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1893162" y="2834473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" name="Google Shape;163;p27"/>
          <p:cNvCxnSpPr>
            <a:stCxn id="158" idx="7"/>
            <a:endCxn id="159" idx="3"/>
          </p:cNvCxnSpPr>
          <p:nvPr/>
        </p:nvCxnSpPr>
        <p:spPr>
          <a:xfrm flipH="1" rot="10800000">
            <a:off x="1223517" y="1482308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7"/>
          <p:cNvCxnSpPr>
            <a:stCxn id="158" idx="5"/>
            <a:endCxn id="162" idx="1"/>
          </p:cNvCxnSpPr>
          <p:nvPr/>
        </p:nvCxnSpPr>
        <p:spPr>
          <a:xfrm>
            <a:off x="1223517" y="2312267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7"/>
          <p:cNvCxnSpPr>
            <a:stCxn id="162" idx="7"/>
            <a:endCxn id="161" idx="3"/>
          </p:cNvCxnSpPr>
          <p:nvPr/>
        </p:nvCxnSpPr>
        <p:spPr>
          <a:xfrm flipH="1" rot="10800000">
            <a:off x="2217341" y="2705093"/>
            <a:ext cx="294600" cy="182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7"/>
          <p:cNvCxnSpPr>
            <a:stCxn id="161" idx="0"/>
            <a:endCxn id="160" idx="4"/>
          </p:cNvCxnSpPr>
          <p:nvPr/>
        </p:nvCxnSpPr>
        <p:spPr>
          <a:xfrm rot="10800000">
            <a:off x="2646306" y="2142935"/>
            <a:ext cx="0" cy="255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7"/>
          <p:cNvCxnSpPr>
            <a:stCxn id="160" idx="0"/>
            <a:endCxn id="159" idx="5"/>
          </p:cNvCxnSpPr>
          <p:nvPr/>
        </p:nvCxnSpPr>
        <p:spPr>
          <a:xfrm rot="10800000">
            <a:off x="2217306" y="1482346"/>
            <a:ext cx="429000" cy="30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7"/>
          <p:cNvCxnSpPr>
            <a:stCxn id="162" idx="0"/>
            <a:endCxn id="159" idx="4"/>
          </p:cNvCxnSpPr>
          <p:nvPr/>
        </p:nvCxnSpPr>
        <p:spPr>
          <a:xfrm rot="10800000">
            <a:off x="2083062" y="1535173"/>
            <a:ext cx="0" cy="1299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7"/>
          <p:cNvCxnSpPr>
            <a:stCxn id="162" idx="0"/>
            <a:endCxn id="160" idx="3"/>
          </p:cNvCxnSpPr>
          <p:nvPr/>
        </p:nvCxnSpPr>
        <p:spPr>
          <a:xfrm flipH="1" rot="10800000">
            <a:off x="2083062" y="2090173"/>
            <a:ext cx="429000" cy="744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7"/>
          <p:cNvCxnSpPr>
            <a:stCxn id="161" idx="1"/>
            <a:endCxn id="159" idx="4"/>
          </p:cNvCxnSpPr>
          <p:nvPr/>
        </p:nvCxnSpPr>
        <p:spPr>
          <a:xfrm rot="10800000">
            <a:off x="2083026" y="1535056"/>
            <a:ext cx="429000" cy="915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7"/>
          <p:cNvCxnSpPr>
            <a:stCxn id="158" idx="6"/>
            <a:endCxn id="160" idx="2"/>
          </p:cNvCxnSpPr>
          <p:nvPr/>
        </p:nvCxnSpPr>
        <p:spPr>
          <a:xfrm flipH="1" rot="10800000">
            <a:off x="1279138" y="1962988"/>
            <a:ext cx="1177200" cy="222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7"/>
          <p:cNvCxnSpPr>
            <a:stCxn id="158" idx="6"/>
            <a:endCxn id="161" idx="2"/>
          </p:cNvCxnSpPr>
          <p:nvPr/>
        </p:nvCxnSpPr>
        <p:spPr>
          <a:xfrm>
            <a:off x="1279138" y="2184988"/>
            <a:ext cx="1177200" cy="393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7"/>
          <p:cNvSpPr/>
          <p:nvPr/>
        </p:nvSpPr>
        <p:spPr>
          <a:xfrm>
            <a:off x="3589267" y="2069992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7"/>
          <p:cNvSpPr/>
          <p:nvPr/>
        </p:nvSpPr>
        <p:spPr>
          <a:xfrm>
            <a:off x="4583091" y="1240096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>
            <a:off x="5146335" y="184795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5146335" y="246293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4583091" y="289947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" name="Google Shape;178;p27"/>
          <p:cNvCxnSpPr>
            <a:stCxn id="173" idx="7"/>
            <a:endCxn id="174" idx="3"/>
          </p:cNvCxnSpPr>
          <p:nvPr/>
        </p:nvCxnSpPr>
        <p:spPr>
          <a:xfrm flipH="1" rot="10800000">
            <a:off x="3913446" y="1547313"/>
            <a:ext cx="725400" cy="575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7"/>
          <p:cNvCxnSpPr>
            <a:stCxn id="173" idx="5"/>
            <a:endCxn id="177" idx="1"/>
          </p:cNvCxnSpPr>
          <p:nvPr/>
        </p:nvCxnSpPr>
        <p:spPr>
          <a:xfrm>
            <a:off x="3913446" y="2377271"/>
            <a:ext cx="725400" cy="5748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7"/>
          <p:cNvCxnSpPr>
            <a:stCxn id="176" idx="0"/>
            <a:endCxn id="175" idx="4"/>
          </p:cNvCxnSpPr>
          <p:nvPr/>
        </p:nvCxnSpPr>
        <p:spPr>
          <a:xfrm rot="10800000">
            <a:off x="5336235" y="2207939"/>
            <a:ext cx="0" cy="2550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7"/>
          <p:cNvCxnSpPr>
            <a:stCxn id="173" idx="6"/>
            <a:endCxn id="175" idx="2"/>
          </p:cNvCxnSpPr>
          <p:nvPr/>
        </p:nvCxnSpPr>
        <p:spPr>
          <a:xfrm flipH="1" rot="10800000">
            <a:off x="3969067" y="2027992"/>
            <a:ext cx="1177200" cy="222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7"/>
          <p:cNvCxnSpPr>
            <a:stCxn id="173" idx="6"/>
            <a:endCxn id="176" idx="2"/>
          </p:cNvCxnSpPr>
          <p:nvPr/>
        </p:nvCxnSpPr>
        <p:spPr>
          <a:xfrm>
            <a:off x="3969067" y="2249992"/>
            <a:ext cx="1177200" cy="3930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7"/>
          <p:cNvCxnSpPr/>
          <p:nvPr/>
        </p:nvCxnSpPr>
        <p:spPr>
          <a:xfrm flipH="1" rot="10800000">
            <a:off x="4772940" y="777127"/>
            <a:ext cx="111900" cy="458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27"/>
          <p:cNvCxnSpPr/>
          <p:nvPr/>
        </p:nvCxnSpPr>
        <p:spPr>
          <a:xfrm flipH="1" rot="10800000">
            <a:off x="4907194" y="1033634"/>
            <a:ext cx="452400" cy="259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5" name="Google Shape;185;p27"/>
          <p:cNvCxnSpPr>
            <a:stCxn id="177" idx="6"/>
          </p:cNvCxnSpPr>
          <p:nvPr/>
        </p:nvCxnSpPr>
        <p:spPr>
          <a:xfrm>
            <a:off x="4962891" y="3079477"/>
            <a:ext cx="452100" cy="106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86" name="Google Shape;186;p27"/>
          <p:cNvCxnSpPr>
            <a:stCxn id="177" idx="5"/>
          </p:cNvCxnSpPr>
          <p:nvPr/>
        </p:nvCxnSpPr>
        <p:spPr>
          <a:xfrm>
            <a:off x="4907270" y="3206756"/>
            <a:ext cx="197100" cy="385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87" name="Google Shape;187;p27"/>
          <p:cNvSpPr/>
          <p:nvPr/>
        </p:nvSpPr>
        <p:spPr>
          <a:xfrm>
            <a:off x="6278951" y="2155449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/>
          <p:nvPr/>
        </p:nvSpPr>
        <p:spPr>
          <a:xfrm>
            <a:off x="7272775" y="1325553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7836019" y="193340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7836019" y="254839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/>
          <p:nvPr/>
        </p:nvSpPr>
        <p:spPr>
          <a:xfrm>
            <a:off x="7272775" y="2984934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27"/>
          <p:cNvCxnSpPr>
            <a:stCxn id="187" idx="7"/>
            <a:endCxn id="188" idx="3"/>
          </p:cNvCxnSpPr>
          <p:nvPr/>
        </p:nvCxnSpPr>
        <p:spPr>
          <a:xfrm flipH="1" rot="10800000">
            <a:off x="6603131" y="1632770"/>
            <a:ext cx="725400" cy="5754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7"/>
          <p:cNvCxnSpPr>
            <a:stCxn id="187" idx="5"/>
            <a:endCxn id="191" idx="1"/>
          </p:cNvCxnSpPr>
          <p:nvPr/>
        </p:nvCxnSpPr>
        <p:spPr>
          <a:xfrm>
            <a:off x="6603131" y="2462729"/>
            <a:ext cx="725400" cy="5748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7"/>
          <p:cNvCxnSpPr>
            <a:stCxn id="187" idx="6"/>
            <a:endCxn id="189" idx="2"/>
          </p:cNvCxnSpPr>
          <p:nvPr/>
        </p:nvCxnSpPr>
        <p:spPr>
          <a:xfrm flipH="1" rot="10800000">
            <a:off x="6658751" y="2113449"/>
            <a:ext cx="1177200" cy="222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7"/>
          <p:cNvCxnSpPr>
            <a:stCxn id="187" idx="6"/>
            <a:endCxn id="190" idx="2"/>
          </p:cNvCxnSpPr>
          <p:nvPr/>
        </p:nvCxnSpPr>
        <p:spPr>
          <a:xfrm>
            <a:off x="6658751" y="2335449"/>
            <a:ext cx="1177200" cy="3930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7"/>
          <p:cNvCxnSpPr/>
          <p:nvPr/>
        </p:nvCxnSpPr>
        <p:spPr>
          <a:xfrm flipH="1" rot="10800000">
            <a:off x="7462624" y="862584"/>
            <a:ext cx="111900" cy="458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7" name="Google Shape;197;p27"/>
          <p:cNvCxnSpPr/>
          <p:nvPr/>
        </p:nvCxnSpPr>
        <p:spPr>
          <a:xfrm flipH="1" rot="10800000">
            <a:off x="7596878" y="1119092"/>
            <a:ext cx="452400" cy="259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p27"/>
          <p:cNvCxnSpPr>
            <a:stCxn id="191" idx="6"/>
          </p:cNvCxnSpPr>
          <p:nvPr/>
        </p:nvCxnSpPr>
        <p:spPr>
          <a:xfrm>
            <a:off x="7652575" y="3164934"/>
            <a:ext cx="452100" cy="106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99" name="Google Shape;199;p27"/>
          <p:cNvCxnSpPr>
            <a:stCxn id="191" idx="5"/>
          </p:cNvCxnSpPr>
          <p:nvPr/>
        </p:nvCxnSpPr>
        <p:spPr>
          <a:xfrm>
            <a:off x="7596955" y="3292214"/>
            <a:ext cx="197100" cy="385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00" name="Google Shape;200;p27"/>
          <p:cNvCxnSpPr/>
          <p:nvPr/>
        </p:nvCxnSpPr>
        <p:spPr>
          <a:xfrm>
            <a:off x="249150" y="4392713"/>
            <a:ext cx="8645700" cy="7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201" name="Google Shape;201;p27"/>
          <p:cNvSpPr/>
          <p:nvPr/>
        </p:nvSpPr>
        <p:spPr>
          <a:xfrm>
            <a:off x="532000" y="4466825"/>
            <a:ext cx="343500" cy="3510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p27"/>
          <p:cNvCxnSpPr>
            <a:stCxn id="201" idx="6"/>
            <a:endCxn id="203" idx="2"/>
          </p:cNvCxnSpPr>
          <p:nvPr/>
        </p:nvCxnSpPr>
        <p:spPr>
          <a:xfrm>
            <a:off x="875500" y="4642325"/>
            <a:ext cx="6591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7"/>
          <p:cNvSpPr/>
          <p:nvPr/>
        </p:nvSpPr>
        <p:spPr>
          <a:xfrm>
            <a:off x="1534675" y="4466825"/>
            <a:ext cx="343500" cy="35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791025" y="4844250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7220475" y="4466825"/>
            <a:ext cx="343500" cy="351000"/>
          </a:xfrm>
          <a:prstGeom prst="ellipse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" name="Google Shape;206;p27"/>
          <p:cNvCxnSpPr>
            <a:stCxn id="205" idx="6"/>
            <a:endCxn id="207" idx="2"/>
          </p:cNvCxnSpPr>
          <p:nvPr/>
        </p:nvCxnSpPr>
        <p:spPr>
          <a:xfrm>
            <a:off x="7563975" y="4642325"/>
            <a:ext cx="659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7" name="Google Shape;207;p27"/>
          <p:cNvSpPr/>
          <p:nvPr/>
        </p:nvSpPr>
        <p:spPr>
          <a:xfrm>
            <a:off x="8223150" y="4466825"/>
            <a:ext cx="343500" cy="35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7479500" y="4844250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9" name="Google Shape;209;p27"/>
          <p:cNvCxnSpPr/>
          <p:nvPr/>
        </p:nvCxnSpPr>
        <p:spPr>
          <a:xfrm>
            <a:off x="362625" y="581625"/>
            <a:ext cx="8622000" cy="14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210" name="Google Shape;210;p27"/>
          <p:cNvSpPr txBox="1"/>
          <p:nvPr/>
        </p:nvSpPr>
        <p:spPr>
          <a:xfrm>
            <a:off x="2648675" y="4418775"/>
            <a:ext cx="3801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Channel Bandwidth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7"/>
          <p:cNvSpPr txBox="1"/>
          <p:nvPr/>
        </p:nvSpPr>
        <p:spPr>
          <a:xfrm>
            <a:off x="791013" y="298025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High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7479488" y="305100"/>
            <a:ext cx="8298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Low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27"/>
          <p:cNvSpPr txBox="1"/>
          <p:nvPr/>
        </p:nvSpPr>
        <p:spPr>
          <a:xfrm>
            <a:off x="2561900" y="197125"/>
            <a:ext cx="38013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Network Clustering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957525" y="3640225"/>
            <a:ext cx="2195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Clustered Network of Strong, High-Bandwidth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6393050" y="3693263"/>
            <a:ext cx="2195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Unclustered Network of Weak, Low-Bandwidth Ties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When taking into account temporal flow: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“Weak” ties: Information transmission at slower rates (less frequency)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“Strong” ties: Information transmission at higher rates (more frequency)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seeking information via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 tradeoff between novelty/diversity of information and tie “bandwidth”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8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8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8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28"/>
          <p:cNvCxnSpPr>
            <a:stCxn id="222" idx="7"/>
            <a:endCxn id="223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8"/>
          <p:cNvCxnSpPr>
            <a:stCxn id="222" idx="5"/>
            <a:endCxn id="226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8"/>
          <p:cNvCxnSpPr>
            <a:stCxn id="226" idx="7"/>
            <a:endCxn id="225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8"/>
          <p:cNvCxnSpPr>
            <a:stCxn id="225" idx="0"/>
            <a:endCxn id="224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8"/>
          <p:cNvCxnSpPr>
            <a:stCxn id="224" idx="0"/>
            <a:endCxn id="223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8"/>
          <p:cNvCxnSpPr>
            <a:stCxn id="226" idx="0"/>
            <a:endCxn id="223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8"/>
          <p:cNvCxnSpPr>
            <a:stCxn id="226" idx="0"/>
            <a:endCxn id="224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8"/>
          <p:cNvCxnSpPr>
            <a:stCxn id="225" idx="1"/>
            <a:endCxn id="223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8"/>
          <p:cNvCxnSpPr>
            <a:stCxn id="222" idx="6"/>
            <a:endCxn id="224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8"/>
          <p:cNvCxnSpPr>
            <a:stCxn id="222" idx="6"/>
            <a:endCxn id="225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8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8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8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8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28"/>
          <p:cNvCxnSpPr>
            <a:stCxn id="237" idx="7"/>
            <a:endCxn id="238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8"/>
          <p:cNvCxnSpPr>
            <a:stCxn id="237" idx="5"/>
            <a:endCxn id="241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8"/>
          <p:cNvCxnSpPr>
            <a:stCxn id="240" idx="0"/>
            <a:endCxn id="239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8"/>
          <p:cNvCxnSpPr>
            <a:stCxn id="237" idx="6"/>
            <a:endCxn id="239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8"/>
          <p:cNvCxnSpPr>
            <a:stCxn id="237" idx="6"/>
            <a:endCxn id="240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8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48" name="Google Shape;248;p28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49" name="Google Shape;249;p28"/>
          <p:cNvCxnSpPr>
            <a:stCxn id="241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50" name="Google Shape;250;p28"/>
          <p:cNvCxnSpPr>
            <a:stCxn id="241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51" name="Google Shape;251;p28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28"/>
          <p:cNvCxnSpPr>
            <a:stCxn id="251" idx="7"/>
            <a:endCxn id="252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8"/>
          <p:cNvCxnSpPr>
            <a:stCxn id="251" idx="5"/>
            <a:endCxn id="255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8"/>
          <p:cNvCxnSpPr>
            <a:stCxn id="251" idx="6"/>
            <a:endCxn id="253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8"/>
          <p:cNvCxnSpPr>
            <a:stCxn id="251" idx="6"/>
            <a:endCxn id="254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8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61" name="Google Shape;261;p28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62" name="Google Shape;262;p28"/>
          <p:cNvCxnSpPr>
            <a:stCxn id="255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63" name="Google Shape;263;p28"/>
          <p:cNvCxnSpPr>
            <a:stCxn id="255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269" name="Google Shape;269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about information complexity?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Low bandwidth ties: Novel but “simple” information 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Who’s hiring? What’s the best messaging app?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what about novel but complex information?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to do network analysis in R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In that case higher bandwidth ties are better!</a:t>
            </a:r>
            <a:endParaRPr b="1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9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9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9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9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29"/>
          <p:cNvCxnSpPr>
            <a:stCxn id="270" idx="7"/>
            <a:endCxn id="271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9"/>
          <p:cNvCxnSpPr>
            <a:stCxn id="270" idx="5"/>
            <a:endCxn id="274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9"/>
          <p:cNvCxnSpPr>
            <a:stCxn id="274" idx="7"/>
            <a:endCxn id="273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9"/>
          <p:cNvCxnSpPr>
            <a:stCxn id="273" idx="0"/>
            <a:endCxn id="272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9"/>
          <p:cNvCxnSpPr>
            <a:stCxn id="272" idx="0"/>
            <a:endCxn id="271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29"/>
          <p:cNvCxnSpPr>
            <a:stCxn id="274" idx="0"/>
            <a:endCxn id="271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29"/>
          <p:cNvCxnSpPr>
            <a:stCxn id="274" idx="0"/>
            <a:endCxn id="272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>
            <a:stCxn id="273" idx="1"/>
            <a:endCxn id="271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>
            <a:stCxn id="270" idx="6"/>
            <a:endCxn id="272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9"/>
          <p:cNvCxnSpPr>
            <a:stCxn id="270" idx="6"/>
            <a:endCxn id="273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9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9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0" name="Google Shape;290;p29"/>
          <p:cNvCxnSpPr>
            <a:stCxn id="285" idx="7"/>
            <a:endCxn id="286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9"/>
          <p:cNvCxnSpPr>
            <a:stCxn id="285" idx="5"/>
            <a:endCxn id="289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9"/>
          <p:cNvCxnSpPr>
            <a:stCxn id="288" idx="0"/>
            <a:endCxn id="287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9"/>
          <p:cNvCxnSpPr>
            <a:stCxn id="285" idx="6"/>
            <a:endCxn id="287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9"/>
          <p:cNvCxnSpPr>
            <a:stCxn id="285" idx="6"/>
            <a:endCxn id="288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9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96" name="Google Shape;296;p29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97" name="Google Shape;297;p29"/>
          <p:cNvCxnSpPr>
            <a:stCxn id="289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298" name="Google Shape;298;p29"/>
          <p:cNvCxnSpPr>
            <a:stCxn id="289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99" name="Google Shape;299;p29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9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9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9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29"/>
          <p:cNvCxnSpPr>
            <a:stCxn id="299" idx="7"/>
            <a:endCxn id="300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9"/>
          <p:cNvCxnSpPr>
            <a:stCxn id="299" idx="5"/>
            <a:endCxn id="303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9"/>
          <p:cNvCxnSpPr>
            <a:stCxn id="299" idx="6"/>
            <a:endCxn id="301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9"/>
          <p:cNvCxnSpPr>
            <a:stCxn id="299" idx="6"/>
            <a:endCxn id="302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9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09" name="Google Shape;309;p29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0" name="Google Shape;310;p29"/>
          <p:cNvCxnSpPr>
            <a:stCxn id="303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11" name="Google Shape;311;p29"/>
          <p:cNvCxnSpPr>
            <a:stCxn id="303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317" name="Google Shape;317;p30"/>
          <p:cNvSpPr txBox="1"/>
          <p:nvPr>
            <p:ph idx="1" type="body"/>
          </p:nvPr>
        </p:nvSpPr>
        <p:spPr>
          <a:xfrm>
            <a:off x="311700" y="1225225"/>
            <a:ext cx="8520600" cy="16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strength of high bandwidth ties: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trust, intimacy, and cooperativeness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memory of who knows what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effective at transferring complex, interdependent information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Creating new knowledge (</a:t>
            </a:r>
            <a:r>
              <a:rPr lang="en"/>
              <a:t>e.g.,</a:t>
            </a:r>
            <a:r>
              <a:rPr lang="en"/>
              <a:t> bringing together rather than keeping apart)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Commonality of interests and experience (homophily) </a:t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918850" y="3903079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1622542" y="331681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2021356" y="374622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2021356" y="4180668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"/>
          <p:cNvSpPr/>
          <p:nvPr/>
        </p:nvSpPr>
        <p:spPr>
          <a:xfrm>
            <a:off x="1622542" y="4489051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3" name="Google Shape;323;p30"/>
          <p:cNvCxnSpPr>
            <a:stCxn id="318" idx="7"/>
            <a:endCxn id="319" idx="3"/>
          </p:cNvCxnSpPr>
          <p:nvPr/>
        </p:nvCxnSpPr>
        <p:spPr>
          <a:xfrm flipH="1" rot="10800000">
            <a:off x="1148541" y="3533791"/>
            <a:ext cx="513300" cy="406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0"/>
          <p:cNvCxnSpPr>
            <a:stCxn id="318" idx="5"/>
            <a:endCxn id="322" idx="1"/>
          </p:cNvCxnSpPr>
          <p:nvPr/>
        </p:nvCxnSpPr>
        <p:spPr>
          <a:xfrm>
            <a:off x="1148541" y="4119967"/>
            <a:ext cx="513300" cy="406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0"/>
          <p:cNvCxnSpPr>
            <a:stCxn id="322" idx="7"/>
            <a:endCxn id="321" idx="3"/>
          </p:cNvCxnSpPr>
          <p:nvPr/>
        </p:nvCxnSpPr>
        <p:spPr>
          <a:xfrm flipH="1" rot="10800000">
            <a:off x="1852233" y="4397563"/>
            <a:ext cx="208500" cy="128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0"/>
          <p:cNvCxnSpPr>
            <a:stCxn id="321" idx="0"/>
            <a:endCxn id="320" idx="4"/>
          </p:cNvCxnSpPr>
          <p:nvPr/>
        </p:nvCxnSpPr>
        <p:spPr>
          <a:xfrm rot="10800000">
            <a:off x="2155906" y="4000368"/>
            <a:ext cx="0" cy="180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0"/>
          <p:cNvCxnSpPr>
            <a:stCxn id="320" idx="0"/>
            <a:endCxn id="319" idx="5"/>
          </p:cNvCxnSpPr>
          <p:nvPr/>
        </p:nvCxnSpPr>
        <p:spPr>
          <a:xfrm rot="10800000">
            <a:off x="1852306" y="3533822"/>
            <a:ext cx="303600" cy="21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30"/>
          <p:cNvCxnSpPr>
            <a:stCxn id="322" idx="0"/>
            <a:endCxn id="319" idx="4"/>
          </p:cNvCxnSpPr>
          <p:nvPr/>
        </p:nvCxnSpPr>
        <p:spPr>
          <a:xfrm rot="10800000">
            <a:off x="1757092" y="3571051"/>
            <a:ext cx="0" cy="9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0"/>
          <p:cNvCxnSpPr>
            <a:stCxn id="322" idx="0"/>
            <a:endCxn id="320" idx="3"/>
          </p:cNvCxnSpPr>
          <p:nvPr/>
        </p:nvCxnSpPr>
        <p:spPr>
          <a:xfrm flipH="1" rot="10800000">
            <a:off x="1757092" y="3963151"/>
            <a:ext cx="303600" cy="5259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0"/>
          <p:cNvCxnSpPr>
            <a:stCxn id="321" idx="1"/>
            <a:endCxn id="319" idx="4"/>
          </p:cNvCxnSpPr>
          <p:nvPr/>
        </p:nvCxnSpPr>
        <p:spPr>
          <a:xfrm rot="10800000">
            <a:off x="1757164" y="3570780"/>
            <a:ext cx="303600" cy="647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0"/>
          <p:cNvCxnSpPr>
            <a:stCxn id="318" idx="6"/>
            <a:endCxn id="320" idx="2"/>
          </p:cNvCxnSpPr>
          <p:nvPr/>
        </p:nvCxnSpPr>
        <p:spPr>
          <a:xfrm flipH="1" rot="10800000">
            <a:off x="1187950" y="3873229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0"/>
          <p:cNvCxnSpPr>
            <a:stCxn id="318" idx="6"/>
            <a:endCxn id="321" idx="2"/>
          </p:cNvCxnSpPr>
          <p:nvPr/>
        </p:nvCxnSpPr>
        <p:spPr>
          <a:xfrm>
            <a:off x="1187950" y="4030129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0"/>
          <p:cNvSpPr/>
          <p:nvPr/>
        </p:nvSpPr>
        <p:spPr>
          <a:xfrm>
            <a:off x="3941829" y="3792172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4645521" y="320604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0"/>
          <p:cNvSpPr/>
          <p:nvPr/>
        </p:nvSpPr>
        <p:spPr>
          <a:xfrm>
            <a:off x="5044335" y="3635352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"/>
          <p:cNvSpPr/>
          <p:nvPr/>
        </p:nvSpPr>
        <p:spPr>
          <a:xfrm>
            <a:off x="5044335" y="406969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0"/>
          <p:cNvSpPr/>
          <p:nvPr/>
        </p:nvSpPr>
        <p:spPr>
          <a:xfrm>
            <a:off x="4645521" y="4378007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8" name="Google Shape;338;p30"/>
          <p:cNvCxnSpPr>
            <a:stCxn id="333" idx="7"/>
            <a:endCxn id="334" idx="3"/>
          </p:cNvCxnSpPr>
          <p:nvPr/>
        </p:nvCxnSpPr>
        <p:spPr>
          <a:xfrm flipH="1" rot="10800000">
            <a:off x="4171520" y="3422884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30"/>
          <p:cNvCxnSpPr>
            <a:stCxn id="333" idx="5"/>
            <a:endCxn id="337" idx="1"/>
          </p:cNvCxnSpPr>
          <p:nvPr/>
        </p:nvCxnSpPr>
        <p:spPr>
          <a:xfrm>
            <a:off x="4171520" y="4009060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30"/>
          <p:cNvCxnSpPr>
            <a:stCxn id="336" idx="0"/>
            <a:endCxn id="335" idx="4"/>
          </p:cNvCxnSpPr>
          <p:nvPr/>
        </p:nvCxnSpPr>
        <p:spPr>
          <a:xfrm rot="10800000">
            <a:off x="5178885" y="3889397"/>
            <a:ext cx="0" cy="180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30"/>
          <p:cNvCxnSpPr>
            <a:stCxn id="333" idx="6"/>
            <a:endCxn id="335" idx="2"/>
          </p:cNvCxnSpPr>
          <p:nvPr/>
        </p:nvCxnSpPr>
        <p:spPr>
          <a:xfrm flipH="1" rot="10800000">
            <a:off x="4210929" y="3762322"/>
            <a:ext cx="833400" cy="1569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30"/>
          <p:cNvCxnSpPr>
            <a:stCxn id="333" idx="6"/>
            <a:endCxn id="336" idx="2"/>
          </p:cNvCxnSpPr>
          <p:nvPr/>
        </p:nvCxnSpPr>
        <p:spPr>
          <a:xfrm>
            <a:off x="4210929" y="3919222"/>
            <a:ext cx="833400" cy="27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0"/>
          <p:cNvCxnSpPr/>
          <p:nvPr/>
        </p:nvCxnSpPr>
        <p:spPr>
          <a:xfrm flipH="1" rot="10800000">
            <a:off x="4779947" y="2878820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44" name="Google Shape;344;p30"/>
          <p:cNvCxnSpPr/>
          <p:nvPr/>
        </p:nvCxnSpPr>
        <p:spPr>
          <a:xfrm flipH="1" rot="10800000">
            <a:off x="4875007" y="3060294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45" name="Google Shape;345;p30"/>
          <p:cNvCxnSpPr>
            <a:stCxn id="337" idx="6"/>
          </p:cNvCxnSpPr>
          <p:nvPr/>
        </p:nvCxnSpPr>
        <p:spPr>
          <a:xfrm>
            <a:off x="4914621" y="4505057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46" name="Google Shape;346;p30"/>
          <p:cNvCxnSpPr>
            <a:stCxn id="337" idx="5"/>
          </p:cNvCxnSpPr>
          <p:nvPr/>
        </p:nvCxnSpPr>
        <p:spPr>
          <a:xfrm>
            <a:off x="4875213" y="4594895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47" name="Google Shape;347;p30"/>
          <p:cNvSpPr/>
          <p:nvPr/>
        </p:nvSpPr>
        <p:spPr>
          <a:xfrm>
            <a:off x="6853539" y="3838130"/>
            <a:ext cx="269100" cy="254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"/>
          <p:cNvSpPr/>
          <p:nvPr/>
        </p:nvSpPr>
        <p:spPr>
          <a:xfrm>
            <a:off x="7557231" y="325200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0"/>
          <p:cNvSpPr/>
          <p:nvPr/>
        </p:nvSpPr>
        <p:spPr>
          <a:xfrm>
            <a:off x="7956044" y="3681310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"/>
          <p:cNvSpPr/>
          <p:nvPr/>
        </p:nvSpPr>
        <p:spPr>
          <a:xfrm>
            <a:off x="7956044" y="4115654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0"/>
          <p:cNvSpPr/>
          <p:nvPr/>
        </p:nvSpPr>
        <p:spPr>
          <a:xfrm>
            <a:off x="7557231" y="4423965"/>
            <a:ext cx="269100" cy="254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2" name="Google Shape;352;p30"/>
          <p:cNvCxnSpPr>
            <a:stCxn id="347" idx="7"/>
            <a:endCxn id="348" idx="3"/>
          </p:cNvCxnSpPr>
          <p:nvPr/>
        </p:nvCxnSpPr>
        <p:spPr>
          <a:xfrm flipH="1" rot="10800000">
            <a:off x="7083230" y="3468842"/>
            <a:ext cx="513300" cy="406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0"/>
          <p:cNvCxnSpPr>
            <a:stCxn id="347" idx="5"/>
            <a:endCxn id="351" idx="1"/>
          </p:cNvCxnSpPr>
          <p:nvPr/>
        </p:nvCxnSpPr>
        <p:spPr>
          <a:xfrm>
            <a:off x="7083230" y="4055018"/>
            <a:ext cx="513300" cy="406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0"/>
          <p:cNvCxnSpPr>
            <a:stCxn id="347" idx="6"/>
            <a:endCxn id="349" idx="2"/>
          </p:cNvCxnSpPr>
          <p:nvPr/>
        </p:nvCxnSpPr>
        <p:spPr>
          <a:xfrm flipH="1" rot="10800000">
            <a:off x="7122639" y="3808280"/>
            <a:ext cx="833400" cy="1569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0"/>
          <p:cNvCxnSpPr>
            <a:stCxn id="347" idx="6"/>
            <a:endCxn id="350" idx="2"/>
          </p:cNvCxnSpPr>
          <p:nvPr/>
        </p:nvCxnSpPr>
        <p:spPr>
          <a:xfrm>
            <a:off x="7122639" y="3965180"/>
            <a:ext cx="833400" cy="27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0"/>
          <p:cNvCxnSpPr/>
          <p:nvPr/>
        </p:nvCxnSpPr>
        <p:spPr>
          <a:xfrm flipH="1" rot="10800000">
            <a:off x="7691656" y="2924778"/>
            <a:ext cx="79200" cy="324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57" name="Google Shape;357;p30"/>
          <p:cNvCxnSpPr/>
          <p:nvPr/>
        </p:nvCxnSpPr>
        <p:spPr>
          <a:xfrm flipH="1" rot="10800000">
            <a:off x="7786717" y="3106252"/>
            <a:ext cx="320400" cy="183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58" name="Google Shape;358;p30"/>
          <p:cNvCxnSpPr>
            <a:stCxn id="351" idx="6"/>
          </p:cNvCxnSpPr>
          <p:nvPr/>
        </p:nvCxnSpPr>
        <p:spPr>
          <a:xfrm>
            <a:off x="7826331" y="4551015"/>
            <a:ext cx="319800" cy="75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59" name="Google Shape;359;p30"/>
          <p:cNvCxnSpPr>
            <a:stCxn id="351" idx="5"/>
          </p:cNvCxnSpPr>
          <p:nvPr/>
        </p:nvCxnSpPr>
        <p:spPr>
          <a:xfrm>
            <a:off x="7786922" y="4640853"/>
            <a:ext cx="139500" cy="27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365" name="Google Shape;365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thinking about preferences between low and high bandwidth ties we must take into account properties of the information environment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knows what?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what frequency is knowledge transmitted?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works better when contacts are diverse in information </a:t>
            </a:r>
            <a:endParaRPr/>
          </a:p>
        </p:txBody>
      </p:sp>
      <p:sp>
        <p:nvSpPr>
          <p:cNvPr id="366" name="Google Shape;366;p31"/>
          <p:cNvSpPr/>
          <p:nvPr/>
        </p:nvSpPr>
        <p:spPr>
          <a:xfrm>
            <a:off x="1011888" y="3759155"/>
            <a:ext cx="322200" cy="305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1"/>
          <p:cNvSpPr/>
          <p:nvPr/>
        </p:nvSpPr>
        <p:spPr>
          <a:xfrm>
            <a:off x="1855421" y="3055866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1"/>
          <p:cNvSpPr/>
          <p:nvPr/>
        </p:nvSpPr>
        <p:spPr>
          <a:xfrm>
            <a:off x="1855421" y="4462095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9" name="Google Shape;369;p31"/>
          <p:cNvCxnSpPr>
            <a:stCxn id="366" idx="7"/>
            <a:endCxn id="367" idx="3"/>
          </p:cNvCxnSpPr>
          <p:nvPr/>
        </p:nvCxnSpPr>
        <p:spPr>
          <a:xfrm flipH="1" rot="10800000">
            <a:off x="1286902" y="3316336"/>
            <a:ext cx="615600" cy="4875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1"/>
          <p:cNvCxnSpPr>
            <a:stCxn id="366" idx="5"/>
            <a:endCxn id="368" idx="1"/>
          </p:cNvCxnSpPr>
          <p:nvPr/>
        </p:nvCxnSpPr>
        <p:spPr>
          <a:xfrm>
            <a:off x="1286902" y="4019574"/>
            <a:ext cx="615600" cy="4872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71" name="Google Shape;371;p31"/>
          <p:cNvSpPr/>
          <p:nvPr/>
        </p:nvSpPr>
        <p:spPr>
          <a:xfrm>
            <a:off x="2248627" y="2997400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1, 2, 3, 4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2248627" y="4403623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5, 6, 7, 8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5588567" y="3759335"/>
            <a:ext cx="322200" cy="3051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1"/>
          <p:cNvSpPr/>
          <p:nvPr/>
        </p:nvSpPr>
        <p:spPr>
          <a:xfrm>
            <a:off x="6432100" y="3056046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1"/>
          <p:cNvSpPr/>
          <p:nvPr/>
        </p:nvSpPr>
        <p:spPr>
          <a:xfrm>
            <a:off x="6432100" y="4462275"/>
            <a:ext cx="322200" cy="3051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6" name="Google Shape;376;p31"/>
          <p:cNvCxnSpPr>
            <a:stCxn id="373" idx="7"/>
            <a:endCxn id="374" idx="3"/>
          </p:cNvCxnSpPr>
          <p:nvPr/>
        </p:nvCxnSpPr>
        <p:spPr>
          <a:xfrm flipH="1" rot="10800000">
            <a:off x="5863582" y="3316516"/>
            <a:ext cx="615600" cy="4875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1"/>
          <p:cNvCxnSpPr>
            <a:stCxn id="373" idx="5"/>
            <a:endCxn id="375" idx="1"/>
          </p:cNvCxnSpPr>
          <p:nvPr/>
        </p:nvCxnSpPr>
        <p:spPr>
          <a:xfrm>
            <a:off x="5863582" y="4019754"/>
            <a:ext cx="615600" cy="4872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" name="Google Shape;378;p31"/>
          <p:cNvSpPr/>
          <p:nvPr/>
        </p:nvSpPr>
        <p:spPr>
          <a:xfrm>
            <a:off x="6825307" y="2997580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1, 2, 3, 4</a:t>
            </a:r>
            <a:endParaRPr sz="1800">
              <a:solidFill>
                <a:srgbClr val="999999"/>
              </a:solidFill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6825307" y="4403804"/>
            <a:ext cx="1306800" cy="4224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99999"/>
                </a:solidFill>
              </a:rPr>
              <a:t>1, 2, 3, 4</a:t>
            </a:r>
            <a:endParaRPr sz="1800">
              <a:solidFill>
                <a:srgbClr val="999999"/>
              </a:solidFill>
            </a:endParaRPr>
          </a:p>
        </p:txBody>
      </p:sp>
      <p:cxnSp>
        <p:nvCxnSpPr>
          <p:cNvPr id="380" name="Google Shape;380;p31"/>
          <p:cNvCxnSpPr>
            <a:stCxn id="375" idx="0"/>
            <a:endCxn id="374" idx="4"/>
          </p:cNvCxnSpPr>
          <p:nvPr/>
        </p:nvCxnSpPr>
        <p:spPr>
          <a:xfrm rot="10800000">
            <a:off x="6593200" y="3361275"/>
            <a:ext cx="0" cy="11010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386" name="Google Shape;386;p32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2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2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p32"/>
          <p:cNvCxnSpPr>
            <a:stCxn id="386" idx="7"/>
            <a:endCxn id="387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2"/>
          <p:cNvCxnSpPr>
            <a:stCxn id="386" idx="5"/>
            <a:endCxn id="388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1" name="Google Shape;391;p32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392" name="Google Shape;392;p32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5, 6, 7, 8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2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2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6" name="Google Shape;396;p32"/>
          <p:cNvCxnSpPr>
            <a:stCxn id="393" idx="7"/>
            <a:endCxn id="394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32"/>
          <p:cNvCxnSpPr>
            <a:stCxn id="393" idx="5"/>
            <a:endCxn id="395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32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400" name="Google Shape;400;p32"/>
          <p:cNvCxnSpPr>
            <a:stCxn id="395" idx="0"/>
            <a:endCxn id="394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32"/>
          <p:cNvSpPr txBox="1"/>
          <p:nvPr/>
        </p:nvSpPr>
        <p:spPr>
          <a:xfrm>
            <a:off x="4179725" y="2093825"/>
            <a:ext cx="10599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better!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32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have diverse pools of information (different people you know different things)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Weak low bandwidth ties are better</a:t>
            </a:r>
            <a:endParaRPr/>
          </a:p>
        </p:txBody>
      </p:sp>
      <p:cxnSp>
        <p:nvCxnSpPr>
          <p:cNvPr id="403" name="Google Shape;403;p32"/>
          <p:cNvCxnSpPr>
            <a:stCxn id="401" idx="1"/>
          </p:cNvCxnSpPr>
          <p:nvPr/>
        </p:nvCxnSpPr>
        <p:spPr>
          <a:xfrm rot="10800000">
            <a:off x="3419225" y="2375525"/>
            <a:ext cx="760500" cy="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409" name="Google Shape;409;p33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3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2" name="Google Shape;412;p33"/>
          <p:cNvCxnSpPr>
            <a:stCxn id="409" idx="7"/>
            <a:endCxn id="410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33"/>
          <p:cNvCxnSpPr>
            <a:stCxn id="409" idx="5"/>
            <a:endCxn id="411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14" name="Google Shape;414;p33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5, 6, 7, 8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3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3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9" name="Google Shape;419;p33"/>
          <p:cNvCxnSpPr>
            <a:stCxn id="416" idx="7"/>
            <a:endCxn id="417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3"/>
          <p:cNvCxnSpPr>
            <a:stCxn id="416" idx="5"/>
            <a:endCxn id="418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3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423" name="Google Shape;423;p33"/>
          <p:cNvCxnSpPr>
            <a:stCxn id="418" idx="0"/>
            <a:endCxn id="417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33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do not have diverse pools </a:t>
            </a:r>
            <a:r>
              <a:rPr lang="en"/>
              <a:t>of information</a:t>
            </a:r>
            <a:r>
              <a:rPr lang="en"/>
              <a:t> (the people you know all know the same thing because they talk to one another)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Strong, high-bandwidth ties just give you the same information</a:t>
            </a:r>
            <a:endParaRPr/>
          </a:p>
        </p:txBody>
      </p:sp>
      <p:sp>
        <p:nvSpPr>
          <p:cNvPr id="425" name="Google Shape;425;p33"/>
          <p:cNvSpPr txBox="1"/>
          <p:nvPr/>
        </p:nvSpPr>
        <p:spPr>
          <a:xfrm>
            <a:off x="3655950" y="2093600"/>
            <a:ext cx="12735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redundant!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26" name="Google Shape;426;p33"/>
          <p:cNvCxnSpPr>
            <a:stCxn id="425" idx="3"/>
          </p:cNvCxnSpPr>
          <p:nvPr/>
        </p:nvCxnSpPr>
        <p:spPr>
          <a:xfrm>
            <a:off x="4929450" y="2381300"/>
            <a:ext cx="672900" cy="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432" name="Google Shape;432;p34"/>
          <p:cNvSpPr txBox="1"/>
          <p:nvPr>
            <p:ph idx="1" type="body"/>
          </p:nvPr>
        </p:nvSpPr>
        <p:spPr>
          <a:xfrm>
            <a:off x="311700" y="1225225"/>
            <a:ext cx="8520600" cy="15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thinking about preferences between low and high bandwidth ties we have to consider properties of the information environment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knows what?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what frequency is knowledge transmitted?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4"/>
          <p:cNvSpPr/>
          <p:nvPr/>
        </p:nvSpPr>
        <p:spPr>
          <a:xfrm>
            <a:off x="160988" y="33860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4"/>
          <p:cNvSpPr/>
          <p:nvPr/>
        </p:nvSpPr>
        <p:spPr>
          <a:xfrm>
            <a:off x="794696" y="28586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4"/>
          <p:cNvSpPr/>
          <p:nvPr/>
        </p:nvSpPr>
        <p:spPr>
          <a:xfrm>
            <a:off x="794696" y="39132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6" name="Google Shape;436;p34"/>
          <p:cNvCxnSpPr>
            <a:stCxn id="433" idx="7"/>
            <a:endCxn id="434" idx="3"/>
          </p:cNvCxnSpPr>
          <p:nvPr/>
        </p:nvCxnSpPr>
        <p:spPr>
          <a:xfrm flipH="1" rot="10800000">
            <a:off x="367633" y="30538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4"/>
          <p:cNvCxnSpPr>
            <a:stCxn id="433" idx="5"/>
            <a:endCxn id="435" idx="1"/>
          </p:cNvCxnSpPr>
          <p:nvPr/>
        </p:nvCxnSpPr>
        <p:spPr>
          <a:xfrm>
            <a:off x="367633" y="35811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8" name="Google Shape;438;p34"/>
          <p:cNvSpPr/>
          <p:nvPr/>
        </p:nvSpPr>
        <p:spPr>
          <a:xfrm>
            <a:off x="1090094" y="28147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1090094" y="38694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5, 6, 7, 8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3465788" y="33861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4"/>
          <p:cNvSpPr/>
          <p:nvPr/>
        </p:nvSpPr>
        <p:spPr>
          <a:xfrm>
            <a:off x="4099496" y="28587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4"/>
          <p:cNvSpPr/>
          <p:nvPr/>
        </p:nvSpPr>
        <p:spPr>
          <a:xfrm>
            <a:off x="4099496" y="39133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3" name="Google Shape;443;p34"/>
          <p:cNvCxnSpPr>
            <a:stCxn id="440" idx="7"/>
            <a:endCxn id="441" idx="3"/>
          </p:cNvCxnSpPr>
          <p:nvPr/>
        </p:nvCxnSpPr>
        <p:spPr>
          <a:xfrm flipH="1" rot="10800000">
            <a:off x="3672433" y="30539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34"/>
          <p:cNvCxnSpPr>
            <a:stCxn id="440" idx="5"/>
            <a:endCxn id="442" idx="1"/>
          </p:cNvCxnSpPr>
          <p:nvPr/>
        </p:nvCxnSpPr>
        <p:spPr>
          <a:xfrm>
            <a:off x="3672433" y="35812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5" name="Google Shape;445;p34"/>
          <p:cNvSpPr/>
          <p:nvPr/>
        </p:nvSpPr>
        <p:spPr>
          <a:xfrm>
            <a:off x="4394894" y="28148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4394894" y="38695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6770638" y="3386052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4"/>
          <p:cNvSpPr/>
          <p:nvPr/>
        </p:nvSpPr>
        <p:spPr>
          <a:xfrm>
            <a:off x="7404346" y="2858587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4"/>
          <p:cNvSpPr/>
          <p:nvPr/>
        </p:nvSpPr>
        <p:spPr>
          <a:xfrm>
            <a:off x="7404346" y="3913256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0" name="Google Shape;450;p34"/>
          <p:cNvCxnSpPr>
            <a:stCxn id="447" idx="7"/>
            <a:endCxn id="448" idx="3"/>
          </p:cNvCxnSpPr>
          <p:nvPr/>
        </p:nvCxnSpPr>
        <p:spPr>
          <a:xfrm flipH="1" rot="10800000">
            <a:off x="6977283" y="3053830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4"/>
          <p:cNvCxnSpPr>
            <a:stCxn id="447" idx="5"/>
            <a:endCxn id="449" idx="1"/>
          </p:cNvCxnSpPr>
          <p:nvPr/>
        </p:nvCxnSpPr>
        <p:spPr>
          <a:xfrm>
            <a:off x="6977283" y="3581174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2" name="Google Shape;452;p34"/>
          <p:cNvSpPr/>
          <p:nvPr/>
        </p:nvSpPr>
        <p:spPr>
          <a:xfrm>
            <a:off x="7699744" y="2814738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7699744" y="3869402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459" name="Google Shape;459;p35"/>
          <p:cNvSpPr txBox="1"/>
          <p:nvPr>
            <p:ph idx="1" type="body"/>
          </p:nvPr>
        </p:nvSpPr>
        <p:spPr>
          <a:xfrm>
            <a:off x="311675" y="1225225"/>
            <a:ext cx="8520600" cy="1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bandwidth works better when contacts are diverse in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Low bandwidth ties lose their advantage even when connecting ego to contacts with more homogeneous information, even if there is partial overlap of information across contacts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5"/>
          <p:cNvSpPr/>
          <p:nvPr/>
        </p:nvSpPr>
        <p:spPr>
          <a:xfrm>
            <a:off x="160988" y="33860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5"/>
          <p:cNvSpPr/>
          <p:nvPr/>
        </p:nvSpPr>
        <p:spPr>
          <a:xfrm>
            <a:off x="794696" y="28586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5"/>
          <p:cNvSpPr/>
          <p:nvPr/>
        </p:nvSpPr>
        <p:spPr>
          <a:xfrm>
            <a:off x="794696" y="39132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3" name="Google Shape;463;p35"/>
          <p:cNvCxnSpPr>
            <a:stCxn id="460" idx="7"/>
            <a:endCxn id="461" idx="3"/>
          </p:cNvCxnSpPr>
          <p:nvPr/>
        </p:nvCxnSpPr>
        <p:spPr>
          <a:xfrm flipH="1" rot="10800000">
            <a:off x="367633" y="30538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35"/>
          <p:cNvCxnSpPr>
            <a:stCxn id="460" idx="5"/>
            <a:endCxn id="462" idx="1"/>
          </p:cNvCxnSpPr>
          <p:nvPr/>
        </p:nvCxnSpPr>
        <p:spPr>
          <a:xfrm>
            <a:off x="367633" y="35811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65" name="Google Shape;465;p35"/>
          <p:cNvSpPr/>
          <p:nvPr/>
        </p:nvSpPr>
        <p:spPr>
          <a:xfrm>
            <a:off x="1090094" y="28147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1090094" y="38694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5, 6, 7, 8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3465788" y="3386177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5"/>
          <p:cNvSpPr/>
          <p:nvPr/>
        </p:nvSpPr>
        <p:spPr>
          <a:xfrm>
            <a:off x="4099496" y="2858712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5"/>
          <p:cNvSpPr/>
          <p:nvPr/>
        </p:nvSpPr>
        <p:spPr>
          <a:xfrm>
            <a:off x="4099496" y="3913381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0" name="Google Shape;470;p35"/>
          <p:cNvCxnSpPr>
            <a:stCxn id="467" idx="7"/>
            <a:endCxn id="468" idx="3"/>
          </p:cNvCxnSpPr>
          <p:nvPr/>
        </p:nvCxnSpPr>
        <p:spPr>
          <a:xfrm flipH="1" rot="10800000">
            <a:off x="3672433" y="3053955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35"/>
          <p:cNvCxnSpPr>
            <a:stCxn id="467" idx="5"/>
            <a:endCxn id="469" idx="1"/>
          </p:cNvCxnSpPr>
          <p:nvPr/>
        </p:nvCxnSpPr>
        <p:spPr>
          <a:xfrm>
            <a:off x="3672433" y="3581299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2" name="Google Shape;472;p35"/>
          <p:cNvSpPr/>
          <p:nvPr/>
        </p:nvSpPr>
        <p:spPr>
          <a:xfrm>
            <a:off x="4394894" y="2814863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3" name="Google Shape;473;p35"/>
          <p:cNvSpPr/>
          <p:nvPr/>
        </p:nvSpPr>
        <p:spPr>
          <a:xfrm>
            <a:off x="4394894" y="3869527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1, 2, 7, 8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4" name="Google Shape;474;p35"/>
          <p:cNvSpPr/>
          <p:nvPr/>
        </p:nvSpPr>
        <p:spPr>
          <a:xfrm>
            <a:off x="6770638" y="3386052"/>
            <a:ext cx="242100" cy="2286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5"/>
          <p:cNvSpPr/>
          <p:nvPr/>
        </p:nvSpPr>
        <p:spPr>
          <a:xfrm>
            <a:off x="7404346" y="2858587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5"/>
          <p:cNvSpPr/>
          <p:nvPr/>
        </p:nvSpPr>
        <p:spPr>
          <a:xfrm>
            <a:off x="7404346" y="3913256"/>
            <a:ext cx="242100" cy="2286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7" name="Google Shape;477;p35"/>
          <p:cNvCxnSpPr>
            <a:stCxn id="474" idx="7"/>
            <a:endCxn id="475" idx="3"/>
          </p:cNvCxnSpPr>
          <p:nvPr/>
        </p:nvCxnSpPr>
        <p:spPr>
          <a:xfrm flipH="1" rot="10800000">
            <a:off x="6977283" y="3053830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5"/>
          <p:cNvCxnSpPr>
            <a:stCxn id="474" idx="5"/>
            <a:endCxn id="476" idx="1"/>
          </p:cNvCxnSpPr>
          <p:nvPr/>
        </p:nvCxnSpPr>
        <p:spPr>
          <a:xfrm>
            <a:off x="6977283" y="3581174"/>
            <a:ext cx="462600" cy="3657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79" name="Google Shape;479;p35"/>
          <p:cNvSpPr/>
          <p:nvPr/>
        </p:nvSpPr>
        <p:spPr>
          <a:xfrm>
            <a:off x="7699744" y="2814738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80" name="Google Shape;480;p35"/>
          <p:cNvSpPr/>
          <p:nvPr/>
        </p:nvSpPr>
        <p:spPr>
          <a:xfrm>
            <a:off x="7699744" y="3869402"/>
            <a:ext cx="981900" cy="3168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1, 2, 3, 4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536725" y="4341025"/>
            <a:ext cx="1584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Low bandwidth ties are good here!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2" name="Google Shape;482;p35"/>
          <p:cNvSpPr txBox="1"/>
          <p:nvPr/>
        </p:nvSpPr>
        <p:spPr>
          <a:xfrm>
            <a:off x="3707900" y="4341025"/>
            <a:ext cx="1584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Low bandwidth ties not as good...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p35"/>
          <p:cNvSpPr txBox="1"/>
          <p:nvPr/>
        </p:nvSpPr>
        <p:spPr>
          <a:xfrm>
            <a:off x="7398400" y="4341025"/>
            <a:ext cx="15846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Low bandwidth ties are worse here!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35"/>
          <p:cNvSpPr txBox="1"/>
          <p:nvPr/>
        </p:nvSpPr>
        <p:spPr>
          <a:xfrm>
            <a:off x="437500" y="2390350"/>
            <a:ext cx="210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 Information Overlap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5" name="Google Shape;485;p35"/>
          <p:cNvSpPr txBox="1"/>
          <p:nvPr/>
        </p:nvSpPr>
        <p:spPr>
          <a:xfrm>
            <a:off x="3376775" y="2390400"/>
            <a:ext cx="239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Some Information Overlap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6" name="Google Shape;486;p35"/>
          <p:cNvSpPr txBox="1"/>
          <p:nvPr/>
        </p:nvSpPr>
        <p:spPr>
          <a:xfrm>
            <a:off x="6770650" y="2412250"/>
            <a:ext cx="239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Total Information Overlap</a:t>
            </a:r>
            <a:endParaRPr b="1"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Diversity-bandwidth tradeoff</a:t>
            </a:r>
            <a:endParaRPr/>
          </a:p>
        </p:txBody>
      </p:sp>
      <p:sp>
        <p:nvSpPr>
          <p:cNvPr id="492" name="Google Shape;492;p36"/>
          <p:cNvSpPr/>
          <p:nvPr/>
        </p:nvSpPr>
        <p:spPr>
          <a:xfrm>
            <a:off x="341313" y="2201513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6"/>
          <p:cNvSpPr/>
          <p:nvPr/>
        </p:nvSpPr>
        <p:spPr>
          <a:xfrm>
            <a:off x="1335137" y="1371617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6"/>
          <p:cNvSpPr/>
          <p:nvPr/>
        </p:nvSpPr>
        <p:spPr>
          <a:xfrm>
            <a:off x="1335137" y="3030998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5" name="Google Shape;495;p36"/>
          <p:cNvCxnSpPr>
            <a:stCxn id="492" idx="7"/>
            <a:endCxn id="493" idx="3"/>
          </p:cNvCxnSpPr>
          <p:nvPr/>
        </p:nvCxnSpPr>
        <p:spPr>
          <a:xfrm flipH="1" rot="10800000">
            <a:off x="665492" y="1678833"/>
            <a:ext cx="725400" cy="5754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36"/>
          <p:cNvCxnSpPr>
            <a:stCxn id="492" idx="5"/>
            <a:endCxn id="494" idx="1"/>
          </p:cNvCxnSpPr>
          <p:nvPr/>
        </p:nvCxnSpPr>
        <p:spPr>
          <a:xfrm>
            <a:off x="665492" y="2508792"/>
            <a:ext cx="725400" cy="5748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7" name="Google Shape;497;p36"/>
          <p:cNvSpPr/>
          <p:nvPr/>
        </p:nvSpPr>
        <p:spPr>
          <a:xfrm>
            <a:off x="1798400" y="1302625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498" name="Google Shape;498;p36"/>
          <p:cNvSpPr/>
          <p:nvPr/>
        </p:nvSpPr>
        <p:spPr>
          <a:xfrm>
            <a:off x="1798400" y="2962000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1, 2, 7, 8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499" name="Google Shape;499;p36"/>
          <p:cNvSpPr/>
          <p:nvPr/>
        </p:nvSpPr>
        <p:spPr>
          <a:xfrm>
            <a:off x="5733413" y="2201725"/>
            <a:ext cx="379800" cy="360000"/>
          </a:xfrm>
          <a:prstGeom prst="ellipse">
            <a:avLst/>
          </a:prstGeom>
          <a:solidFill>
            <a:srgbClr val="1155CC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6"/>
          <p:cNvSpPr/>
          <p:nvPr/>
        </p:nvSpPr>
        <p:spPr>
          <a:xfrm>
            <a:off x="6727237" y="1371829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6"/>
          <p:cNvSpPr/>
          <p:nvPr/>
        </p:nvSpPr>
        <p:spPr>
          <a:xfrm>
            <a:off x="6727237" y="3031210"/>
            <a:ext cx="379800" cy="3600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2" name="Google Shape;502;p36"/>
          <p:cNvCxnSpPr>
            <a:stCxn id="499" idx="7"/>
            <a:endCxn id="500" idx="3"/>
          </p:cNvCxnSpPr>
          <p:nvPr/>
        </p:nvCxnSpPr>
        <p:spPr>
          <a:xfrm flipH="1" rot="10800000">
            <a:off x="6057592" y="1679046"/>
            <a:ext cx="725400" cy="5754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6"/>
          <p:cNvCxnSpPr>
            <a:stCxn id="499" idx="5"/>
            <a:endCxn id="501" idx="1"/>
          </p:cNvCxnSpPr>
          <p:nvPr/>
        </p:nvCxnSpPr>
        <p:spPr>
          <a:xfrm>
            <a:off x="6057592" y="2509004"/>
            <a:ext cx="725400" cy="574800"/>
          </a:xfrm>
          <a:prstGeom prst="straightConnector1">
            <a:avLst/>
          </a:prstGeom>
          <a:noFill/>
          <a:ln cap="flat" cmpd="sng" w="762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36"/>
          <p:cNvSpPr/>
          <p:nvPr/>
        </p:nvSpPr>
        <p:spPr>
          <a:xfrm>
            <a:off x="7190500" y="1302838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7190500" y="2962213"/>
            <a:ext cx="1539300" cy="498000"/>
          </a:xfrm>
          <a:prstGeom prst="bracePair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9999"/>
                </a:solidFill>
              </a:rPr>
              <a:t>1, 2, 3, 4</a:t>
            </a:r>
            <a:endParaRPr sz="2400">
              <a:solidFill>
                <a:srgbClr val="999999"/>
              </a:solidFill>
            </a:endParaRPr>
          </a:p>
        </p:txBody>
      </p:sp>
      <p:cxnSp>
        <p:nvCxnSpPr>
          <p:cNvPr id="506" name="Google Shape;506;p36"/>
          <p:cNvCxnSpPr>
            <a:stCxn id="501" idx="0"/>
            <a:endCxn id="500" idx="4"/>
          </p:cNvCxnSpPr>
          <p:nvPr/>
        </p:nvCxnSpPr>
        <p:spPr>
          <a:xfrm rot="10800000">
            <a:off x="6917137" y="1731910"/>
            <a:ext cx="0" cy="12993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36"/>
          <p:cNvSpPr txBox="1"/>
          <p:nvPr>
            <p:ph idx="1" type="body"/>
          </p:nvPr>
        </p:nvSpPr>
        <p:spPr>
          <a:xfrm>
            <a:off x="311700" y="37055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your contacts do not have diverse pools </a:t>
            </a:r>
            <a:r>
              <a:rPr lang="en"/>
              <a:t>of information</a:t>
            </a:r>
            <a:r>
              <a:rPr lang="en"/>
              <a:t> (the people you know all know the same thing because they talk to one another)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Strong, high-bandwidth ties just give you the same information</a:t>
            </a:r>
            <a:endParaRPr/>
          </a:p>
        </p:txBody>
      </p:sp>
      <p:sp>
        <p:nvSpPr>
          <p:cNvPr id="508" name="Google Shape;508;p36"/>
          <p:cNvSpPr txBox="1"/>
          <p:nvPr/>
        </p:nvSpPr>
        <p:spPr>
          <a:xfrm>
            <a:off x="3655950" y="2093600"/>
            <a:ext cx="12735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This is better!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09" name="Google Shape;509;p36"/>
          <p:cNvCxnSpPr>
            <a:stCxn id="508" idx="3"/>
          </p:cNvCxnSpPr>
          <p:nvPr/>
        </p:nvCxnSpPr>
        <p:spPr>
          <a:xfrm>
            <a:off x="4929450" y="2381300"/>
            <a:ext cx="672900" cy="9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