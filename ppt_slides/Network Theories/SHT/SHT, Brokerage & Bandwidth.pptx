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Economica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regular.fntdata"/><Relationship Id="rId20" Type="http://schemas.openxmlformats.org/officeDocument/2006/relationships/slide" Target="slides/slide14.xml"/><Relationship Id="rId42" Type="http://schemas.openxmlformats.org/officeDocument/2006/relationships/font" Target="fonts/Economica-italic.fntdata"/><Relationship Id="rId41" Type="http://schemas.openxmlformats.org/officeDocument/2006/relationships/font" Target="fonts/Economica-bold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Economica-bold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82b1bd48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82b1bd48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aa25b2b6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aa25b2b6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aa25b2b6b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aa25b2b6b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aa25b2b6b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aa25b2b6b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82b1bd48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82b1bd48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82b1bd48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82b1bd48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82b1bd48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82b1bd48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82b1bd48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82b1bd48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82b1bd48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82b1bd48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82b1bd48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82b1bd48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82b1bd48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82b1bd48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aa25b2b6b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aa25b2b6b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aa25b2b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aa25b2b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aa25b2b6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aa25b2b6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aa25b2b6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aa25b2b6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aa25b2b6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aa25b2b6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aa25b2b6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aa25b2b6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aa25b2b6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aa25b2b6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aa25b2b6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aa25b2b6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ab0cd40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ab0cd40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c0b6c81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c0b6c81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c0b6c81f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c0b6c81f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c0b6c81f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c0b6c81f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c0b6c81f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c0b6c81f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c0b6c81f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c0b6c81f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c0b6c81f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dc0b6c81f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c0b6c81f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c0b6c81f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c0b6c81fe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c0b6c81f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c0b6c81fe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dc0b6c81fe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c0b6c81fe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dc0b6c81fe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dc0b6c81fe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dc0b6c81fe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dc0b6c81fe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dc0b6c81fe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dc0b6c81fe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dc0b6c81fe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comes from strong, dense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and emotional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Trusting</a:t>
            </a:r>
            <a:r>
              <a:rPr lang="en"/>
              <a:t> somebody with an intimate secret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Companionship 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somebody to </a:t>
            </a:r>
            <a:r>
              <a:rPr b="1" lang="en"/>
              <a:t>hang out </a:t>
            </a:r>
            <a:r>
              <a:rPr lang="en"/>
              <a:t>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Material support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knowing where to go in a time of </a:t>
            </a:r>
            <a:r>
              <a:rPr b="1" lang="en"/>
              <a:t>need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225225"/>
            <a:ext cx="553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capital: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accrued as the result of your connections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People who are better connected do better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can you get from your connections?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Some benefits come weakly connected, diverse networks: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Novel information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Finding out about things that your close contacts might not know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or cutting edge ideas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Combining different ideas into a new idea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people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Being introduced to people who can help </a:t>
            </a:r>
            <a:endParaRPr/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500" y="1771712"/>
            <a:ext cx="2989800" cy="226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social capital?</a:t>
            </a:r>
            <a:endParaRPr/>
          </a:p>
        </p:txBody>
      </p:sp>
      <p:sp>
        <p:nvSpPr>
          <p:cNvPr id="130" name="Google Shape;13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you get from your connections depends on how you are connected to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arguments: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Social capital as closure (Coleman 1990)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Having a core group of intimate friends who also know one another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Social capital as brokerage (Burt 2005: 4)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“Advantage created by a person’s location in a structure of relations”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one is the better form of capital?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Depends on what you want!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 we will focus on the second: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Social capital from being a connector (or being connected to people who connect) between different worlds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%2525201Strong-Weak%252520ties-701724.jpg" id="135" name="Google Shape;135;p30"/>
          <p:cNvPicPr preferRelativeResize="0"/>
          <p:nvPr/>
        </p:nvPicPr>
        <p:blipFill rotWithShape="1">
          <a:blip r:embed="rId3">
            <a:alphaModFix/>
          </a:blip>
          <a:srcRect b="0" l="0" r="12694" t="0"/>
          <a:stretch/>
        </p:blipFill>
        <p:spPr>
          <a:xfrm>
            <a:off x="5092925" y="1294088"/>
            <a:ext cx="3739375" cy="32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Strength of Weak Ties</a:t>
            </a:r>
            <a:r>
              <a:rPr lang="en"/>
              <a:t> is a theory about how you can connect to </a:t>
            </a:r>
            <a:r>
              <a:rPr b="1" lang="en"/>
              <a:t>brokers</a:t>
            </a:r>
            <a:r>
              <a:rPr lang="en"/>
              <a:t> by developing </a:t>
            </a:r>
            <a:r>
              <a:rPr b="1" lang="en"/>
              <a:t>bridging </a:t>
            </a:r>
            <a:r>
              <a:rPr lang="en"/>
              <a:t>ties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a theory of social capital as </a:t>
            </a:r>
            <a:r>
              <a:rPr b="1" lang="en"/>
              <a:t>information access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note that here the powerful person is the </a:t>
            </a:r>
            <a:r>
              <a:rPr b="1" lang="en"/>
              <a:t>broker</a:t>
            </a:r>
            <a:r>
              <a:rPr lang="en"/>
              <a:t> not </a:t>
            </a:r>
            <a:r>
              <a:rPr b="1" lang="en"/>
              <a:t>you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She controls the information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i="1" lang="en">
                <a:solidFill>
                  <a:srgbClr val="FF0000"/>
                </a:solidFill>
              </a:rPr>
              <a:t>What if you want to be the broker in control?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5776900" y="2418900"/>
            <a:ext cx="163800" cy="213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/>
          <p:nvPr/>
        </p:nvSpPr>
        <p:spPr>
          <a:xfrm>
            <a:off x="4508600" y="1795500"/>
            <a:ext cx="831000" cy="623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0"/>
          <p:cNvSpPr txBox="1"/>
          <p:nvPr/>
        </p:nvSpPr>
        <p:spPr>
          <a:xfrm>
            <a:off x="5858800" y="4441525"/>
            <a:ext cx="1105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tie</a:t>
            </a:r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5813425" y="2178750"/>
            <a:ext cx="462600" cy="346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 txBox="1"/>
          <p:nvPr/>
        </p:nvSpPr>
        <p:spPr>
          <a:xfrm>
            <a:off x="7759075" y="844400"/>
            <a:ext cx="1191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may know something your close friends don’t know</a:t>
            </a:r>
            <a:endParaRPr/>
          </a:p>
        </p:txBody>
      </p:sp>
      <p:cxnSp>
        <p:nvCxnSpPr>
          <p:cNvPr id="143" name="Google Shape;143;p30"/>
          <p:cNvCxnSpPr>
            <a:stCxn id="142" idx="1"/>
          </p:cNvCxnSpPr>
          <p:nvPr/>
        </p:nvCxnSpPr>
        <p:spPr>
          <a:xfrm flipH="1">
            <a:off x="5713375" y="1598300"/>
            <a:ext cx="2045700" cy="38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30"/>
          <p:cNvCxnSpPr>
            <a:endCxn id="141" idx="4"/>
          </p:cNvCxnSpPr>
          <p:nvPr/>
        </p:nvCxnSpPr>
        <p:spPr>
          <a:xfrm flipH="1" rot="10800000">
            <a:off x="5643325" y="2525550"/>
            <a:ext cx="401400" cy="6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30"/>
          <p:cNvCxnSpPr>
            <a:stCxn id="140" idx="0"/>
          </p:cNvCxnSpPr>
          <p:nvPr/>
        </p:nvCxnSpPr>
        <p:spPr>
          <a:xfrm flipH="1" rot="10800000">
            <a:off x="6411700" y="2659525"/>
            <a:ext cx="32400" cy="178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" name="Google Shape;146;p30"/>
          <p:cNvSpPr txBox="1"/>
          <p:nvPr/>
        </p:nvSpPr>
        <p:spPr>
          <a:xfrm>
            <a:off x="5259225" y="3192200"/>
            <a:ext cx="7683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Structural Holes </a:t>
            </a:r>
            <a:r>
              <a:rPr lang="en"/>
              <a:t>is a theory about how to configure your network so that you </a:t>
            </a:r>
            <a:r>
              <a:rPr b="1" lang="en"/>
              <a:t>control</a:t>
            </a:r>
            <a:r>
              <a:rPr lang="en"/>
              <a:t> the information: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Others depend on </a:t>
            </a:r>
            <a:r>
              <a:rPr b="1" lang="en"/>
              <a:t>you</a:t>
            </a:r>
            <a:r>
              <a:rPr lang="en"/>
              <a:t> for access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maximize social capital when you occupy a position “in between” others</a:t>
            </a:r>
            <a:r>
              <a:rPr b="1" lang="en"/>
              <a:t>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Violations of </a:t>
            </a:r>
            <a:r>
              <a:rPr b="1" lang="en"/>
              <a:t>g-transitivity </a:t>
            </a:r>
            <a:r>
              <a:rPr lang="en"/>
              <a:t>create “</a:t>
            </a:r>
            <a:r>
              <a:rPr b="1" lang="en"/>
              <a:t>holes</a:t>
            </a:r>
            <a:r>
              <a:rPr lang="en"/>
              <a:t>” in social structure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has the most social capital?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James or Robert?</a:t>
            </a:r>
            <a:endParaRPr/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Structural holes in networks provide two kinds of benefits: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Passive exposure effect: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get to know what other people know (a la Granovetter)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control effect (Burt 1995):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</a:t>
            </a:r>
            <a:r>
              <a:rPr b="1" lang="en"/>
              <a:t>decide</a:t>
            </a:r>
            <a:r>
              <a:rPr lang="en"/>
              <a:t> whether some people know some things or not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</a:t>
            </a:r>
            <a:r>
              <a:rPr b="1" lang="en"/>
              <a:t>shape</a:t>
            </a:r>
            <a:r>
              <a:rPr lang="en"/>
              <a:t> the way other people perceive 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</a:t>
            </a:r>
            <a:r>
              <a:rPr b="1" lang="en"/>
              <a:t>play</a:t>
            </a:r>
            <a:r>
              <a:rPr lang="en"/>
              <a:t> people against one another</a:t>
            </a:r>
            <a:endParaRPr/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2"/>
          <p:cNvSpPr/>
          <p:nvPr/>
        </p:nvSpPr>
        <p:spPr>
          <a:xfrm>
            <a:off x="6497625" y="2620900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in networks provide two kinds of benefits: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Passive exposure effect: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get to know what other people know (a la Granovetter)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Active control effect (Burt 1995):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less </a:t>
            </a:r>
            <a:r>
              <a:rPr b="1" lang="en"/>
              <a:t>bound</a:t>
            </a:r>
            <a:r>
              <a:rPr lang="en"/>
              <a:t> by the norms and expectations of any one group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</a:t>
            </a:r>
            <a:r>
              <a:rPr b="1" lang="en"/>
              <a:t>free</a:t>
            </a:r>
            <a:r>
              <a:rPr lang="en"/>
              <a:t> to move across the social structure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 different things to different people</a:t>
            </a:r>
            <a:endParaRPr/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/>
          <p:nvPr/>
        </p:nvSpPr>
        <p:spPr>
          <a:xfrm>
            <a:off x="6497625" y="2620900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311700" y="1225225"/>
            <a:ext cx="42831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opposite of having structural holes is what Burt calls </a:t>
            </a:r>
            <a:r>
              <a:rPr b="1" lang="en"/>
              <a:t>Network Constraint</a:t>
            </a:r>
            <a:endParaRPr b="1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In a high constraint network: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Your contacts are connected to one another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are subject to the strong expectations of a single group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depend on others for information access</a:t>
            </a:r>
            <a:endParaRPr/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4800" y="1373750"/>
            <a:ext cx="4244401" cy="30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4"/>
          <p:cNvSpPr/>
          <p:nvPr/>
        </p:nvSpPr>
        <p:spPr>
          <a:xfrm>
            <a:off x="8168425" y="2336975"/>
            <a:ext cx="764400" cy="862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311700" y="1225225"/>
            <a:ext cx="8520600" cy="1383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Evidence for structural holes argument (Burt 2005):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corporate settings people who have networks rich in structural holes (low constraint):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Receive higher salaries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 promoted faster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Receive better performance evaluations</a:t>
            </a:r>
            <a:endParaRPr/>
          </a:p>
          <a:p>
            <a:pPr indent="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327" y="2608225"/>
            <a:ext cx="5741349" cy="23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theory</a:t>
            </a:r>
            <a:endParaRPr/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311700" y="1225225"/>
            <a:ext cx="4408200" cy="358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Why do people located in between structural holes do better?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have better ideas (Burt 2005)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they have better ideas?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can combine elements from different sources to create novel combinations</a:t>
            </a:r>
            <a:endParaRPr/>
          </a:p>
          <a:p>
            <a:pPr indent="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6"/>
          <p:cNvPicPr preferRelativeResize="0"/>
          <p:nvPr/>
        </p:nvPicPr>
        <p:blipFill rotWithShape="1">
          <a:blip r:embed="rId3">
            <a:alphaModFix/>
          </a:blip>
          <a:srcRect b="16269" l="15117" r="10561" t="16917"/>
          <a:stretch/>
        </p:blipFill>
        <p:spPr>
          <a:xfrm>
            <a:off x="4719900" y="1470438"/>
            <a:ext cx="4112400" cy="27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2000" y="3324096"/>
            <a:ext cx="1918750" cy="13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Diagnosing your ego network</a:t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Theories of social capital as </a:t>
            </a:r>
            <a:r>
              <a:rPr b="1" lang="en"/>
              <a:t>brokerage</a:t>
            </a:r>
            <a:r>
              <a:rPr lang="en"/>
              <a:t> recommend that ego-network diversity is better than </a:t>
            </a:r>
            <a:r>
              <a:rPr b="1" lang="en"/>
              <a:t>homogeneity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Kinds of diversity in ego-networks: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Range (Size, Degree)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Demographic diversity of alters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 (low)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Average tie strength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Measures of brokerage: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Size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 Coefficient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Effective Size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700" y="1950275"/>
            <a:ext cx="4244401" cy="3056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11700" y="1225225"/>
            <a:ext cx="6400800" cy="356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</a:t>
            </a:r>
            <a:r>
              <a:rPr lang="en"/>
              <a:t>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311700" y="315925"/>
            <a:ext cx="6294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311700" y="1225225"/>
            <a:ext cx="6400800" cy="3566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local broker</a:t>
            </a:r>
            <a:r>
              <a:rPr lang="en"/>
              <a:t> or </a:t>
            </a:r>
            <a:r>
              <a:rPr b="1" lang="en"/>
              <a:t>coordinator</a:t>
            </a:r>
            <a:r>
              <a:rPr lang="en"/>
              <a:t> (B) is an actor that intermediates between members of the same group (A, C) while they also belong to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three parties belong to the same group</a:t>
            </a:r>
            <a:endParaRPr/>
          </a:p>
        </p:txBody>
      </p:sp>
      <p:sp>
        <p:nvSpPr>
          <p:cNvPr id="217" name="Google Shape;217;p40"/>
          <p:cNvSpPr/>
          <p:nvPr/>
        </p:nvSpPr>
        <p:spPr>
          <a:xfrm>
            <a:off x="6820573" y="7960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40"/>
          <p:cNvSpPr/>
          <p:nvPr/>
        </p:nvSpPr>
        <p:spPr>
          <a:xfrm>
            <a:off x="7642095" y="2743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40"/>
          <p:cNvSpPr/>
          <p:nvPr/>
        </p:nvSpPr>
        <p:spPr>
          <a:xfrm>
            <a:off x="8460009" y="7960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0" name="Google Shape;220;p40"/>
          <p:cNvCxnSpPr>
            <a:stCxn id="218" idx="2"/>
            <a:endCxn id="217" idx="7"/>
          </p:cNvCxnSpPr>
          <p:nvPr/>
        </p:nvCxnSpPr>
        <p:spPr>
          <a:xfrm flipH="1">
            <a:off x="7138395" y="4610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40"/>
          <p:cNvCxnSpPr>
            <a:stCxn id="219" idx="1"/>
            <a:endCxn id="218" idx="6"/>
          </p:cNvCxnSpPr>
          <p:nvPr/>
        </p:nvCxnSpPr>
        <p:spPr>
          <a:xfrm rot="10800000">
            <a:off x="8014431" y="4610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40"/>
          <p:cNvSpPr txBox="1"/>
          <p:nvPr/>
        </p:nvSpPr>
        <p:spPr>
          <a:xfrm>
            <a:off x="6964250" y="8510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Coordinator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315925"/>
            <a:ext cx="62298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225225"/>
            <a:ext cx="6400800" cy="3566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Cosmopolitan </a:t>
            </a:r>
            <a:r>
              <a:rPr lang="en"/>
              <a:t>or </a:t>
            </a:r>
            <a:r>
              <a:rPr b="1" lang="en"/>
              <a:t>Itinerant </a:t>
            </a:r>
            <a:r>
              <a:rPr lang="en"/>
              <a:t>broker (B) intermediates between members of the </a:t>
            </a:r>
            <a:r>
              <a:rPr i="1" lang="en"/>
              <a:t>same</a:t>
            </a:r>
            <a:r>
              <a:rPr lang="en"/>
              <a:t> group (A, C) but belongs to a </a:t>
            </a:r>
            <a:r>
              <a:rPr i="1" lang="en"/>
              <a:t>different</a:t>
            </a:r>
            <a:r>
              <a:rPr lang="en"/>
              <a:t> group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1"/>
          <p:cNvSpPr/>
          <p:nvPr/>
        </p:nvSpPr>
        <p:spPr>
          <a:xfrm>
            <a:off x="6820573" y="7960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7642095" y="2743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8460009" y="7960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2" name="Google Shape;232;p41"/>
          <p:cNvCxnSpPr>
            <a:stCxn id="230" idx="2"/>
            <a:endCxn id="229" idx="7"/>
          </p:cNvCxnSpPr>
          <p:nvPr/>
        </p:nvCxnSpPr>
        <p:spPr>
          <a:xfrm flipH="1">
            <a:off x="7138395" y="4610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41"/>
          <p:cNvCxnSpPr>
            <a:stCxn id="231" idx="1"/>
            <a:endCxn id="230" idx="6"/>
          </p:cNvCxnSpPr>
          <p:nvPr/>
        </p:nvCxnSpPr>
        <p:spPr>
          <a:xfrm rot="10800000">
            <a:off x="8014431" y="4610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41"/>
          <p:cNvSpPr txBox="1"/>
          <p:nvPr/>
        </p:nvSpPr>
        <p:spPr>
          <a:xfrm>
            <a:off x="6964250" y="8510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Coordinator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5" name="Google Shape;235;p41"/>
          <p:cNvSpPr/>
          <p:nvPr/>
        </p:nvSpPr>
        <p:spPr>
          <a:xfrm>
            <a:off x="6824210" y="17104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7645733" y="1188720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8463646" y="17104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8" name="Google Shape;238;p41"/>
          <p:cNvCxnSpPr>
            <a:stCxn id="236" idx="2"/>
            <a:endCxn id="235" idx="7"/>
          </p:cNvCxnSpPr>
          <p:nvPr/>
        </p:nvCxnSpPr>
        <p:spPr>
          <a:xfrm flipH="1">
            <a:off x="7142033" y="13754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41"/>
          <p:cNvCxnSpPr>
            <a:stCxn id="237" idx="1"/>
            <a:endCxn id="236" idx="6"/>
          </p:cNvCxnSpPr>
          <p:nvPr/>
        </p:nvCxnSpPr>
        <p:spPr>
          <a:xfrm rot="10800000">
            <a:off x="8018068" y="13754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41"/>
          <p:cNvSpPr txBox="1"/>
          <p:nvPr/>
        </p:nvSpPr>
        <p:spPr>
          <a:xfrm>
            <a:off x="6967888" y="17654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Itinerant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1225225"/>
            <a:ext cx="6400800" cy="3566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Gatekeeper </a:t>
            </a:r>
            <a:r>
              <a:rPr lang="en"/>
              <a:t>(B) deals with an outsider to the group (A) and decides whether to grant them access to a member of their same group </a:t>
            </a:r>
            <a:r>
              <a:rPr lang="en"/>
              <a:t>(C)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2"/>
          <p:cNvSpPr/>
          <p:nvPr/>
        </p:nvSpPr>
        <p:spPr>
          <a:xfrm>
            <a:off x="6820573" y="7960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7642095" y="2743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8460009" y="7960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0" name="Google Shape;250;p42"/>
          <p:cNvCxnSpPr>
            <a:stCxn id="248" idx="2"/>
            <a:endCxn id="247" idx="7"/>
          </p:cNvCxnSpPr>
          <p:nvPr/>
        </p:nvCxnSpPr>
        <p:spPr>
          <a:xfrm flipH="1">
            <a:off x="7138395" y="4610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42"/>
          <p:cNvCxnSpPr>
            <a:stCxn id="249" idx="1"/>
            <a:endCxn id="248" idx="6"/>
          </p:cNvCxnSpPr>
          <p:nvPr/>
        </p:nvCxnSpPr>
        <p:spPr>
          <a:xfrm rot="10800000">
            <a:off x="8014431" y="4610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42"/>
          <p:cNvSpPr txBox="1"/>
          <p:nvPr/>
        </p:nvSpPr>
        <p:spPr>
          <a:xfrm>
            <a:off x="6964250" y="8510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Coordinator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6824210" y="17104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7645733" y="1188720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8463646" y="17104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6" name="Google Shape;256;p42"/>
          <p:cNvCxnSpPr>
            <a:stCxn id="254" idx="2"/>
            <a:endCxn id="253" idx="7"/>
          </p:cNvCxnSpPr>
          <p:nvPr/>
        </p:nvCxnSpPr>
        <p:spPr>
          <a:xfrm flipH="1">
            <a:off x="7142033" y="13754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42"/>
          <p:cNvCxnSpPr>
            <a:stCxn id="255" idx="1"/>
            <a:endCxn id="254" idx="6"/>
          </p:cNvCxnSpPr>
          <p:nvPr/>
        </p:nvCxnSpPr>
        <p:spPr>
          <a:xfrm rot="10800000">
            <a:off x="8018068" y="13754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2"/>
          <p:cNvSpPr txBox="1"/>
          <p:nvPr/>
        </p:nvSpPr>
        <p:spPr>
          <a:xfrm>
            <a:off x="6967888" y="17654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Itinerant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9" name="Google Shape;259;p42"/>
          <p:cNvSpPr/>
          <p:nvPr/>
        </p:nvSpPr>
        <p:spPr>
          <a:xfrm>
            <a:off x="6822385" y="2624825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42"/>
          <p:cNvSpPr/>
          <p:nvPr/>
        </p:nvSpPr>
        <p:spPr>
          <a:xfrm>
            <a:off x="7643908" y="21031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42"/>
          <p:cNvSpPr/>
          <p:nvPr/>
        </p:nvSpPr>
        <p:spPr>
          <a:xfrm>
            <a:off x="8461821" y="26248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2" name="Google Shape;262;p42"/>
          <p:cNvCxnSpPr>
            <a:stCxn id="260" idx="2"/>
            <a:endCxn id="259" idx="7"/>
          </p:cNvCxnSpPr>
          <p:nvPr/>
        </p:nvCxnSpPr>
        <p:spPr>
          <a:xfrm flipH="1">
            <a:off x="7140208" y="22898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42"/>
          <p:cNvCxnSpPr>
            <a:stCxn id="261" idx="1"/>
            <a:endCxn id="260" idx="6"/>
          </p:cNvCxnSpPr>
          <p:nvPr/>
        </p:nvCxnSpPr>
        <p:spPr>
          <a:xfrm rot="10800000">
            <a:off x="8016243" y="22898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42"/>
          <p:cNvSpPr txBox="1"/>
          <p:nvPr/>
        </p:nvSpPr>
        <p:spPr>
          <a:xfrm>
            <a:off x="6966063" y="26798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Gatekeeper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311700" y="1225225"/>
            <a:ext cx="6400800" cy="3566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Representative</a:t>
            </a:r>
            <a:r>
              <a:rPr b="1" lang="en"/>
              <a:t> </a:t>
            </a:r>
            <a:r>
              <a:rPr lang="en"/>
              <a:t>(B) actively contacts an </a:t>
            </a:r>
            <a:r>
              <a:rPr lang="en"/>
              <a:t>outsider to the group (C) on behalf of a fellow in-group member (A)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3"/>
          <p:cNvSpPr/>
          <p:nvPr/>
        </p:nvSpPr>
        <p:spPr>
          <a:xfrm>
            <a:off x="6820573" y="7960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43"/>
          <p:cNvSpPr/>
          <p:nvPr/>
        </p:nvSpPr>
        <p:spPr>
          <a:xfrm>
            <a:off x="7642095" y="2743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3"/>
          <p:cNvSpPr/>
          <p:nvPr/>
        </p:nvSpPr>
        <p:spPr>
          <a:xfrm>
            <a:off x="8460009" y="7960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74" name="Google Shape;274;p43"/>
          <p:cNvCxnSpPr>
            <a:stCxn id="272" idx="2"/>
            <a:endCxn id="271" idx="7"/>
          </p:cNvCxnSpPr>
          <p:nvPr/>
        </p:nvCxnSpPr>
        <p:spPr>
          <a:xfrm flipH="1">
            <a:off x="7138395" y="4610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43"/>
          <p:cNvCxnSpPr>
            <a:stCxn id="273" idx="1"/>
            <a:endCxn id="272" idx="6"/>
          </p:cNvCxnSpPr>
          <p:nvPr/>
        </p:nvCxnSpPr>
        <p:spPr>
          <a:xfrm rot="10800000">
            <a:off x="8014431" y="4610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43"/>
          <p:cNvSpPr txBox="1"/>
          <p:nvPr/>
        </p:nvSpPr>
        <p:spPr>
          <a:xfrm>
            <a:off x="6964250" y="8510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Coordinator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7" name="Google Shape;277;p43"/>
          <p:cNvSpPr/>
          <p:nvPr/>
        </p:nvSpPr>
        <p:spPr>
          <a:xfrm>
            <a:off x="6824210" y="17104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43"/>
          <p:cNvSpPr/>
          <p:nvPr/>
        </p:nvSpPr>
        <p:spPr>
          <a:xfrm>
            <a:off x="7645733" y="1188720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43"/>
          <p:cNvSpPr/>
          <p:nvPr/>
        </p:nvSpPr>
        <p:spPr>
          <a:xfrm>
            <a:off x="8463646" y="17104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0" name="Google Shape;280;p43"/>
          <p:cNvCxnSpPr>
            <a:stCxn id="278" idx="2"/>
            <a:endCxn id="277" idx="7"/>
          </p:cNvCxnSpPr>
          <p:nvPr/>
        </p:nvCxnSpPr>
        <p:spPr>
          <a:xfrm flipH="1">
            <a:off x="7142033" y="13754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43"/>
          <p:cNvCxnSpPr>
            <a:stCxn id="279" idx="1"/>
            <a:endCxn id="278" idx="6"/>
          </p:cNvCxnSpPr>
          <p:nvPr/>
        </p:nvCxnSpPr>
        <p:spPr>
          <a:xfrm rot="10800000">
            <a:off x="8018068" y="13754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43"/>
          <p:cNvSpPr txBox="1"/>
          <p:nvPr/>
        </p:nvSpPr>
        <p:spPr>
          <a:xfrm>
            <a:off x="6967888" y="17654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Itinerant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6822385" y="2624825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7643908" y="21031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8461821" y="26248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6" name="Google Shape;286;p43"/>
          <p:cNvCxnSpPr>
            <a:stCxn id="284" idx="2"/>
            <a:endCxn id="283" idx="7"/>
          </p:cNvCxnSpPr>
          <p:nvPr/>
        </p:nvCxnSpPr>
        <p:spPr>
          <a:xfrm flipH="1">
            <a:off x="7140208" y="22898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43"/>
          <p:cNvCxnSpPr>
            <a:stCxn id="285" idx="1"/>
            <a:endCxn id="284" idx="6"/>
          </p:cNvCxnSpPr>
          <p:nvPr/>
        </p:nvCxnSpPr>
        <p:spPr>
          <a:xfrm rot="10800000">
            <a:off x="8016243" y="22898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43"/>
          <p:cNvSpPr txBox="1"/>
          <p:nvPr/>
        </p:nvSpPr>
        <p:spPr>
          <a:xfrm>
            <a:off x="6966063" y="26798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Gatekeeper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6822385" y="35392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7643908" y="30175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43"/>
          <p:cNvSpPr/>
          <p:nvPr/>
        </p:nvSpPr>
        <p:spPr>
          <a:xfrm>
            <a:off x="8461821" y="3539218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2" name="Google Shape;292;p43"/>
          <p:cNvCxnSpPr>
            <a:stCxn id="290" idx="2"/>
            <a:endCxn id="289" idx="7"/>
          </p:cNvCxnSpPr>
          <p:nvPr/>
        </p:nvCxnSpPr>
        <p:spPr>
          <a:xfrm flipH="1">
            <a:off x="7140208" y="32042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43"/>
          <p:cNvCxnSpPr>
            <a:stCxn id="291" idx="1"/>
            <a:endCxn id="290" idx="6"/>
          </p:cNvCxnSpPr>
          <p:nvPr/>
        </p:nvCxnSpPr>
        <p:spPr>
          <a:xfrm rot="10800000">
            <a:off x="8016243" y="32042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3"/>
          <p:cNvSpPr txBox="1"/>
          <p:nvPr/>
        </p:nvSpPr>
        <p:spPr>
          <a:xfrm>
            <a:off x="6966063" y="35942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Representative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311700" y="315925"/>
            <a:ext cx="62655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300" name="Google Shape;300;p44"/>
          <p:cNvSpPr txBox="1"/>
          <p:nvPr>
            <p:ph idx="1" type="body"/>
          </p:nvPr>
        </p:nvSpPr>
        <p:spPr>
          <a:xfrm>
            <a:off x="311700" y="1225225"/>
            <a:ext cx="6400800" cy="3566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Social Network Analysis </a:t>
            </a:r>
            <a:r>
              <a:rPr b="1" lang="en"/>
              <a:t>brokerage</a:t>
            </a:r>
            <a:r>
              <a:rPr lang="en"/>
              <a:t> refers to the capacity of certain actors to </a:t>
            </a:r>
            <a:r>
              <a:rPr b="1" lang="en"/>
              <a:t>intermediate</a:t>
            </a:r>
            <a:r>
              <a:rPr lang="en"/>
              <a:t> between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Thus brokerage is a relationship between </a:t>
            </a:r>
            <a:r>
              <a:rPr b="1" lang="en"/>
              <a:t>three</a:t>
            </a:r>
            <a:r>
              <a:rPr lang="en"/>
              <a:t> parties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analysts distinguish between </a:t>
            </a:r>
            <a:r>
              <a:rPr b="1" lang="en"/>
              <a:t>five types</a:t>
            </a:r>
            <a:r>
              <a:rPr lang="en"/>
              <a:t> of brokerage depending on the </a:t>
            </a:r>
            <a:r>
              <a:rPr b="1" lang="en"/>
              <a:t>groups</a:t>
            </a:r>
            <a:r>
              <a:rPr lang="en"/>
              <a:t> that the broker and the two other actors belong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Liason</a:t>
            </a:r>
            <a:r>
              <a:rPr b="1" lang="en"/>
              <a:t> </a:t>
            </a:r>
            <a:r>
              <a:rPr lang="en"/>
              <a:t>(B) is an outsider who intermediates between members of different groups (A, C)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4"/>
          <p:cNvSpPr/>
          <p:nvPr/>
        </p:nvSpPr>
        <p:spPr>
          <a:xfrm>
            <a:off x="6820573" y="7960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44"/>
          <p:cNvSpPr/>
          <p:nvPr/>
        </p:nvSpPr>
        <p:spPr>
          <a:xfrm>
            <a:off x="7642095" y="2743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44"/>
          <p:cNvSpPr/>
          <p:nvPr/>
        </p:nvSpPr>
        <p:spPr>
          <a:xfrm>
            <a:off x="8460009" y="7960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4" name="Google Shape;304;p44"/>
          <p:cNvCxnSpPr>
            <a:stCxn id="302" idx="2"/>
            <a:endCxn id="301" idx="7"/>
          </p:cNvCxnSpPr>
          <p:nvPr/>
        </p:nvCxnSpPr>
        <p:spPr>
          <a:xfrm flipH="1">
            <a:off x="7138395" y="4610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44"/>
          <p:cNvCxnSpPr>
            <a:stCxn id="303" idx="1"/>
            <a:endCxn id="302" idx="6"/>
          </p:cNvCxnSpPr>
          <p:nvPr/>
        </p:nvCxnSpPr>
        <p:spPr>
          <a:xfrm rot="10800000">
            <a:off x="8014431" y="4610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44"/>
          <p:cNvSpPr txBox="1"/>
          <p:nvPr/>
        </p:nvSpPr>
        <p:spPr>
          <a:xfrm>
            <a:off x="6964250" y="8510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Coordinator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7" name="Google Shape;307;p44"/>
          <p:cNvSpPr/>
          <p:nvPr/>
        </p:nvSpPr>
        <p:spPr>
          <a:xfrm>
            <a:off x="6824210" y="17104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44"/>
          <p:cNvSpPr/>
          <p:nvPr/>
        </p:nvSpPr>
        <p:spPr>
          <a:xfrm>
            <a:off x="7645733" y="1188720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p44"/>
          <p:cNvSpPr/>
          <p:nvPr/>
        </p:nvSpPr>
        <p:spPr>
          <a:xfrm>
            <a:off x="8463646" y="17104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0" name="Google Shape;310;p44"/>
          <p:cNvCxnSpPr>
            <a:stCxn id="308" idx="2"/>
            <a:endCxn id="307" idx="7"/>
          </p:cNvCxnSpPr>
          <p:nvPr/>
        </p:nvCxnSpPr>
        <p:spPr>
          <a:xfrm flipH="1">
            <a:off x="7142033" y="13754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44"/>
          <p:cNvCxnSpPr>
            <a:stCxn id="309" idx="1"/>
            <a:endCxn id="308" idx="6"/>
          </p:cNvCxnSpPr>
          <p:nvPr/>
        </p:nvCxnSpPr>
        <p:spPr>
          <a:xfrm rot="10800000">
            <a:off x="8018068" y="13754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4"/>
          <p:cNvSpPr txBox="1"/>
          <p:nvPr/>
        </p:nvSpPr>
        <p:spPr>
          <a:xfrm>
            <a:off x="6967888" y="17654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Itinerant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6822385" y="2624825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7643908" y="21031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44"/>
          <p:cNvSpPr/>
          <p:nvPr/>
        </p:nvSpPr>
        <p:spPr>
          <a:xfrm>
            <a:off x="8461821" y="2624818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6" name="Google Shape;316;p44"/>
          <p:cNvCxnSpPr>
            <a:stCxn id="314" idx="2"/>
            <a:endCxn id="313" idx="7"/>
          </p:cNvCxnSpPr>
          <p:nvPr/>
        </p:nvCxnSpPr>
        <p:spPr>
          <a:xfrm flipH="1">
            <a:off x="7140208" y="22898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4"/>
          <p:cNvCxnSpPr>
            <a:stCxn id="315" idx="1"/>
            <a:endCxn id="314" idx="6"/>
          </p:cNvCxnSpPr>
          <p:nvPr/>
        </p:nvCxnSpPr>
        <p:spPr>
          <a:xfrm rot="10800000">
            <a:off x="8016243" y="22898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44"/>
          <p:cNvSpPr txBox="1"/>
          <p:nvPr/>
        </p:nvSpPr>
        <p:spPr>
          <a:xfrm>
            <a:off x="6966063" y="26798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Gatekeeper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9" name="Google Shape;319;p44"/>
          <p:cNvSpPr/>
          <p:nvPr/>
        </p:nvSpPr>
        <p:spPr>
          <a:xfrm>
            <a:off x="6822385" y="3539225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44"/>
          <p:cNvSpPr/>
          <p:nvPr/>
        </p:nvSpPr>
        <p:spPr>
          <a:xfrm>
            <a:off x="7643908" y="30175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44"/>
          <p:cNvSpPr/>
          <p:nvPr/>
        </p:nvSpPr>
        <p:spPr>
          <a:xfrm>
            <a:off x="8461821" y="3539218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2" name="Google Shape;322;p44"/>
          <p:cNvCxnSpPr>
            <a:stCxn id="320" idx="2"/>
            <a:endCxn id="319" idx="7"/>
          </p:cNvCxnSpPr>
          <p:nvPr/>
        </p:nvCxnSpPr>
        <p:spPr>
          <a:xfrm flipH="1">
            <a:off x="7140208" y="32042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4"/>
          <p:cNvCxnSpPr>
            <a:stCxn id="321" idx="1"/>
            <a:endCxn id="320" idx="6"/>
          </p:cNvCxnSpPr>
          <p:nvPr/>
        </p:nvCxnSpPr>
        <p:spPr>
          <a:xfrm rot="10800000">
            <a:off x="8016243" y="32042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44"/>
          <p:cNvSpPr txBox="1"/>
          <p:nvPr/>
        </p:nvSpPr>
        <p:spPr>
          <a:xfrm>
            <a:off x="6966063" y="35942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Representative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5" name="Google Shape;325;p44"/>
          <p:cNvSpPr/>
          <p:nvPr/>
        </p:nvSpPr>
        <p:spPr>
          <a:xfrm>
            <a:off x="6826035" y="4453625"/>
            <a:ext cx="372300" cy="37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7647558" y="3931920"/>
            <a:ext cx="372300" cy="37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44"/>
          <p:cNvSpPr/>
          <p:nvPr/>
        </p:nvSpPr>
        <p:spPr>
          <a:xfrm>
            <a:off x="8465471" y="4453618"/>
            <a:ext cx="372300" cy="373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8" name="Google Shape;328;p44"/>
          <p:cNvCxnSpPr>
            <a:stCxn id="326" idx="2"/>
            <a:endCxn id="325" idx="7"/>
          </p:cNvCxnSpPr>
          <p:nvPr/>
        </p:nvCxnSpPr>
        <p:spPr>
          <a:xfrm flipH="1">
            <a:off x="7143858" y="4118670"/>
            <a:ext cx="5037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44"/>
          <p:cNvCxnSpPr>
            <a:stCxn id="327" idx="1"/>
            <a:endCxn id="326" idx="6"/>
          </p:cNvCxnSpPr>
          <p:nvPr/>
        </p:nvCxnSpPr>
        <p:spPr>
          <a:xfrm rot="10800000">
            <a:off x="8019893" y="4118616"/>
            <a:ext cx="500100" cy="389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44"/>
          <p:cNvSpPr txBox="1"/>
          <p:nvPr/>
        </p:nvSpPr>
        <p:spPr>
          <a:xfrm>
            <a:off x="6969713" y="4508633"/>
            <a:ext cx="1728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Liason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1" name="Google Shape;331;p44"/>
          <p:cNvSpPr txBox="1"/>
          <p:nvPr/>
        </p:nvSpPr>
        <p:spPr>
          <a:xfrm>
            <a:off x="298650" y="4273350"/>
            <a:ext cx="59655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Gould, R. V., &amp; Fernandez, R. M. (1989). Structures of mediation: A formal approach to brokerage in transaction networks. </a:t>
            </a:r>
            <a:r>
              <a:rPr i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Sociological Methodology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, 89-126.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311700" y="315925"/>
            <a:ext cx="62655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 in Networks</a:t>
            </a:r>
            <a:endParaRPr/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1700" y="1225225"/>
            <a:ext cx="5511600" cy="290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Brokerage is not just a </a:t>
            </a:r>
            <a:r>
              <a:rPr b="1" lang="en"/>
              <a:t>structural </a:t>
            </a:r>
            <a:r>
              <a:rPr lang="en"/>
              <a:t>configuration it is also a </a:t>
            </a:r>
            <a:r>
              <a:rPr b="1" lang="en"/>
              <a:t>process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the process perspective there are </a:t>
            </a:r>
            <a:r>
              <a:rPr lang="en"/>
              <a:t>three</a:t>
            </a:r>
            <a:r>
              <a:rPr lang="en"/>
              <a:t> types of brokerage behavior: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 as </a:t>
            </a:r>
            <a:r>
              <a:rPr b="1" lang="en"/>
              <a:t>conduit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Information/resource transfer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 as </a:t>
            </a:r>
            <a:r>
              <a:rPr b="1" lang="en"/>
              <a:t>divider </a:t>
            </a:r>
            <a:r>
              <a:rPr lang="en"/>
              <a:t>(</a:t>
            </a:r>
            <a:r>
              <a:rPr i="1" lang="en"/>
              <a:t>Tertius Gaudens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third who </a:t>
            </a:r>
            <a:r>
              <a:rPr b="1" lang="en"/>
              <a:t>benefits</a:t>
            </a:r>
            <a:r>
              <a:rPr lang="en"/>
              <a:t> (divide and conquer)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 as </a:t>
            </a:r>
            <a:r>
              <a:rPr b="1" lang="en"/>
              <a:t>uniter</a:t>
            </a:r>
            <a:r>
              <a:rPr lang="en"/>
              <a:t> (</a:t>
            </a:r>
            <a:r>
              <a:rPr i="1" lang="en"/>
              <a:t>Tertius Lungens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third who </a:t>
            </a:r>
            <a:r>
              <a:rPr b="1" lang="en"/>
              <a:t>joins</a:t>
            </a:r>
            <a:endParaRPr b="1"/>
          </a:p>
        </p:txBody>
      </p:sp>
      <p:sp>
        <p:nvSpPr>
          <p:cNvPr id="338" name="Google Shape;338;p45"/>
          <p:cNvSpPr txBox="1"/>
          <p:nvPr/>
        </p:nvSpPr>
        <p:spPr>
          <a:xfrm>
            <a:off x="311700" y="4130950"/>
            <a:ext cx="87645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Obstfeld, D., Borgatti, S. P., &amp; Davis, J. (2014). Brokerage as a process: Decoupling third party action from social network structure. In </a:t>
            </a:r>
            <a:r>
              <a:rPr i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Contemporary Perspectives on Organizational Social Networks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(pp. 135-159). Emerald Group Publishing Limited.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39" name="Google Shape;339;p45"/>
          <p:cNvPicPr preferRelativeResize="0"/>
          <p:nvPr/>
        </p:nvPicPr>
        <p:blipFill rotWithShape="1">
          <a:blip r:embed="rId3">
            <a:alphaModFix/>
          </a:blip>
          <a:srcRect b="7244" l="0" r="0" t="2763"/>
          <a:stretch/>
        </p:blipFill>
        <p:spPr>
          <a:xfrm>
            <a:off x="5739075" y="1224225"/>
            <a:ext cx="3404930" cy="290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Bandwidth-Tradeoff Theory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311700" y="1225225"/>
            <a:ext cx="85206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Granovetter argument conceives of the properties of ties (e.g., strength) in static terms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Yet information transmission/access are events that happen in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original Strength of Weak Ties argument: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ties: Novel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ties: Old/redundant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7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7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7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7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7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47"/>
          <p:cNvCxnSpPr>
            <a:stCxn id="351" idx="7"/>
            <a:endCxn id="352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7"/>
          <p:cNvCxnSpPr>
            <a:stCxn id="351" idx="5"/>
            <a:endCxn id="355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7"/>
          <p:cNvCxnSpPr>
            <a:stCxn id="355" idx="7"/>
            <a:endCxn id="354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7"/>
          <p:cNvCxnSpPr>
            <a:stCxn id="354" idx="0"/>
            <a:endCxn id="353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7"/>
          <p:cNvCxnSpPr>
            <a:stCxn id="353" idx="0"/>
            <a:endCxn id="352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7"/>
          <p:cNvCxnSpPr>
            <a:stCxn id="355" idx="0"/>
            <a:endCxn id="352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>
            <a:stCxn id="355" idx="0"/>
            <a:endCxn id="353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7"/>
          <p:cNvCxnSpPr>
            <a:stCxn id="354" idx="1"/>
            <a:endCxn id="352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47"/>
          <p:cNvCxnSpPr>
            <a:stCxn id="351" idx="6"/>
            <a:endCxn id="353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7"/>
          <p:cNvCxnSpPr>
            <a:stCxn id="351" idx="6"/>
            <a:endCxn id="354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7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7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7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7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7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47"/>
          <p:cNvCxnSpPr>
            <a:stCxn id="366" idx="7"/>
            <a:endCxn id="367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7"/>
          <p:cNvCxnSpPr>
            <a:stCxn id="366" idx="5"/>
            <a:endCxn id="370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7"/>
          <p:cNvCxnSpPr>
            <a:stCxn id="369" idx="0"/>
            <a:endCxn id="368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7"/>
          <p:cNvCxnSpPr>
            <a:stCxn id="366" idx="6"/>
            <a:endCxn id="368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47"/>
          <p:cNvCxnSpPr>
            <a:stCxn id="366" idx="6"/>
            <a:endCxn id="369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47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7" name="Google Shape;377;p47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8" name="Google Shape;378;p47"/>
          <p:cNvCxnSpPr>
            <a:stCxn id="370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9" name="Google Shape;379;p47"/>
          <p:cNvCxnSpPr>
            <a:stCxn id="370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80" name="Google Shape;380;p47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7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7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7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5" name="Google Shape;385;p47"/>
          <p:cNvCxnSpPr>
            <a:stCxn id="380" idx="7"/>
            <a:endCxn id="381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7"/>
          <p:cNvCxnSpPr>
            <a:stCxn id="380" idx="5"/>
            <a:endCxn id="384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7"/>
          <p:cNvCxnSpPr>
            <a:stCxn id="380" idx="6"/>
            <a:endCxn id="382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7"/>
          <p:cNvCxnSpPr>
            <a:stCxn id="380" idx="6"/>
            <a:endCxn id="383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7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0" name="Google Shape;390;p47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1" name="Google Shape;391;p47"/>
          <p:cNvCxnSpPr>
            <a:stCxn id="384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2" name="Google Shape;392;p47"/>
          <p:cNvCxnSpPr>
            <a:stCxn id="384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/>
          <p:nvPr/>
        </p:nvSpPr>
        <p:spPr>
          <a:xfrm>
            <a:off x="899338" y="2004988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8"/>
          <p:cNvSpPr/>
          <p:nvPr/>
        </p:nvSpPr>
        <p:spPr>
          <a:xfrm>
            <a:off x="1893162" y="1175092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8"/>
          <p:cNvSpPr/>
          <p:nvPr/>
        </p:nvSpPr>
        <p:spPr>
          <a:xfrm>
            <a:off x="2456406" y="178294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8"/>
          <p:cNvSpPr/>
          <p:nvPr/>
        </p:nvSpPr>
        <p:spPr>
          <a:xfrm>
            <a:off x="2456406" y="2397935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8"/>
          <p:cNvSpPr/>
          <p:nvPr/>
        </p:nvSpPr>
        <p:spPr>
          <a:xfrm>
            <a:off x="1893162" y="283447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2" name="Google Shape;402;p48"/>
          <p:cNvCxnSpPr>
            <a:stCxn id="397" idx="7"/>
            <a:endCxn id="398" idx="3"/>
          </p:cNvCxnSpPr>
          <p:nvPr/>
        </p:nvCxnSpPr>
        <p:spPr>
          <a:xfrm flipH="1" rot="10800000">
            <a:off x="1223517" y="1482308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48"/>
          <p:cNvCxnSpPr>
            <a:stCxn id="397" idx="5"/>
            <a:endCxn id="401" idx="1"/>
          </p:cNvCxnSpPr>
          <p:nvPr/>
        </p:nvCxnSpPr>
        <p:spPr>
          <a:xfrm>
            <a:off x="1223517" y="2312267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8"/>
          <p:cNvCxnSpPr>
            <a:stCxn id="401" idx="7"/>
            <a:endCxn id="400" idx="3"/>
          </p:cNvCxnSpPr>
          <p:nvPr/>
        </p:nvCxnSpPr>
        <p:spPr>
          <a:xfrm flipH="1" rot="10800000">
            <a:off x="2217341" y="2705093"/>
            <a:ext cx="294600" cy="18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8"/>
          <p:cNvCxnSpPr>
            <a:stCxn id="400" idx="0"/>
            <a:endCxn id="399" idx="4"/>
          </p:cNvCxnSpPr>
          <p:nvPr/>
        </p:nvCxnSpPr>
        <p:spPr>
          <a:xfrm rot="10800000">
            <a:off x="2646306" y="2142935"/>
            <a:ext cx="0" cy="25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48"/>
          <p:cNvCxnSpPr>
            <a:stCxn id="399" idx="0"/>
            <a:endCxn id="398" idx="5"/>
          </p:cNvCxnSpPr>
          <p:nvPr/>
        </p:nvCxnSpPr>
        <p:spPr>
          <a:xfrm rot="10800000">
            <a:off x="2217306" y="1482346"/>
            <a:ext cx="429000" cy="30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48"/>
          <p:cNvCxnSpPr>
            <a:stCxn id="401" idx="0"/>
            <a:endCxn id="398" idx="4"/>
          </p:cNvCxnSpPr>
          <p:nvPr/>
        </p:nvCxnSpPr>
        <p:spPr>
          <a:xfrm rot="10800000">
            <a:off x="2083062" y="1535173"/>
            <a:ext cx="0" cy="1299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8"/>
          <p:cNvCxnSpPr>
            <a:stCxn id="401" idx="0"/>
            <a:endCxn id="399" idx="3"/>
          </p:cNvCxnSpPr>
          <p:nvPr/>
        </p:nvCxnSpPr>
        <p:spPr>
          <a:xfrm flipH="1" rot="10800000">
            <a:off x="2083062" y="2090173"/>
            <a:ext cx="429000" cy="744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8"/>
          <p:cNvCxnSpPr>
            <a:stCxn id="400" idx="1"/>
            <a:endCxn id="398" idx="4"/>
          </p:cNvCxnSpPr>
          <p:nvPr/>
        </p:nvCxnSpPr>
        <p:spPr>
          <a:xfrm rot="10800000">
            <a:off x="2083026" y="1535056"/>
            <a:ext cx="429000" cy="915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8"/>
          <p:cNvCxnSpPr>
            <a:stCxn id="397" idx="6"/>
            <a:endCxn id="399" idx="2"/>
          </p:cNvCxnSpPr>
          <p:nvPr/>
        </p:nvCxnSpPr>
        <p:spPr>
          <a:xfrm flipH="1" rot="10800000">
            <a:off x="1279138" y="1962988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8"/>
          <p:cNvCxnSpPr>
            <a:stCxn id="397" idx="6"/>
            <a:endCxn id="400" idx="2"/>
          </p:cNvCxnSpPr>
          <p:nvPr/>
        </p:nvCxnSpPr>
        <p:spPr>
          <a:xfrm>
            <a:off x="1279138" y="2184988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48"/>
          <p:cNvSpPr/>
          <p:nvPr/>
        </p:nvSpPr>
        <p:spPr>
          <a:xfrm>
            <a:off x="3589267" y="2069992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8"/>
          <p:cNvSpPr/>
          <p:nvPr/>
        </p:nvSpPr>
        <p:spPr>
          <a:xfrm>
            <a:off x="4583091" y="124009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8"/>
          <p:cNvSpPr/>
          <p:nvPr/>
        </p:nvSpPr>
        <p:spPr>
          <a:xfrm>
            <a:off x="5146335" y="184795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8"/>
          <p:cNvSpPr/>
          <p:nvPr/>
        </p:nvSpPr>
        <p:spPr>
          <a:xfrm>
            <a:off x="5146335" y="246293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8"/>
          <p:cNvSpPr/>
          <p:nvPr/>
        </p:nvSpPr>
        <p:spPr>
          <a:xfrm>
            <a:off x="4583091" y="289947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48"/>
          <p:cNvCxnSpPr>
            <a:stCxn id="412" idx="7"/>
            <a:endCxn id="413" idx="3"/>
          </p:cNvCxnSpPr>
          <p:nvPr/>
        </p:nvCxnSpPr>
        <p:spPr>
          <a:xfrm flipH="1" rot="10800000">
            <a:off x="3913446" y="1547313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8"/>
          <p:cNvCxnSpPr>
            <a:stCxn id="412" idx="5"/>
            <a:endCxn id="416" idx="1"/>
          </p:cNvCxnSpPr>
          <p:nvPr/>
        </p:nvCxnSpPr>
        <p:spPr>
          <a:xfrm>
            <a:off x="3913446" y="2377271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8"/>
          <p:cNvCxnSpPr>
            <a:stCxn id="415" idx="0"/>
            <a:endCxn id="414" idx="4"/>
          </p:cNvCxnSpPr>
          <p:nvPr/>
        </p:nvCxnSpPr>
        <p:spPr>
          <a:xfrm rot="10800000">
            <a:off x="5336235" y="2207939"/>
            <a:ext cx="0" cy="255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8"/>
          <p:cNvCxnSpPr>
            <a:stCxn id="412" idx="6"/>
            <a:endCxn id="414" idx="2"/>
          </p:cNvCxnSpPr>
          <p:nvPr/>
        </p:nvCxnSpPr>
        <p:spPr>
          <a:xfrm flipH="1" rot="10800000">
            <a:off x="3969067" y="2027992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8"/>
          <p:cNvCxnSpPr>
            <a:stCxn id="412" idx="6"/>
            <a:endCxn id="415" idx="2"/>
          </p:cNvCxnSpPr>
          <p:nvPr/>
        </p:nvCxnSpPr>
        <p:spPr>
          <a:xfrm>
            <a:off x="3969067" y="2249992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8"/>
          <p:cNvCxnSpPr/>
          <p:nvPr/>
        </p:nvCxnSpPr>
        <p:spPr>
          <a:xfrm flipH="1" rot="10800000">
            <a:off x="4772940" y="777127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3" name="Google Shape;423;p48"/>
          <p:cNvCxnSpPr/>
          <p:nvPr/>
        </p:nvCxnSpPr>
        <p:spPr>
          <a:xfrm flipH="1" rot="10800000">
            <a:off x="4907194" y="1033634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4" name="Google Shape;424;p48"/>
          <p:cNvCxnSpPr>
            <a:stCxn id="416" idx="6"/>
          </p:cNvCxnSpPr>
          <p:nvPr/>
        </p:nvCxnSpPr>
        <p:spPr>
          <a:xfrm>
            <a:off x="4962891" y="3079477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5" name="Google Shape;425;p48"/>
          <p:cNvCxnSpPr>
            <a:stCxn id="416" idx="5"/>
          </p:cNvCxnSpPr>
          <p:nvPr/>
        </p:nvCxnSpPr>
        <p:spPr>
          <a:xfrm>
            <a:off x="4907270" y="3206756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6" name="Google Shape;426;p48"/>
          <p:cNvSpPr/>
          <p:nvPr/>
        </p:nvSpPr>
        <p:spPr>
          <a:xfrm>
            <a:off x="6278951" y="2155449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8"/>
          <p:cNvSpPr/>
          <p:nvPr/>
        </p:nvSpPr>
        <p:spPr>
          <a:xfrm>
            <a:off x="7272775" y="132555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8"/>
          <p:cNvSpPr/>
          <p:nvPr/>
        </p:nvSpPr>
        <p:spPr>
          <a:xfrm>
            <a:off x="7836019" y="193340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8"/>
          <p:cNvSpPr/>
          <p:nvPr/>
        </p:nvSpPr>
        <p:spPr>
          <a:xfrm>
            <a:off x="7836019" y="254839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8"/>
          <p:cNvSpPr/>
          <p:nvPr/>
        </p:nvSpPr>
        <p:spPr>
          <a:xfrm>
            <a:off x="7272775" y="2984934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1" name="Google Shape;431;p48"/>
          <p:cNvCxnSpPr>
            <a:stCxn id="426" idx="7"/>
            <a:endCxn id="427" idx="3"/>
          </p:cNvCxnSpPr>
          <p:nvPr/>
        </p:nvCxnSpPr>
        <p:spPr>
          <a:xfrm flipH="1" rot="10800000">
            <a:off x="6603131" y="1632770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8"/>
          <p:cNvCxnSpPr>
            <a:stCxn id="426" idx="5"/>
            <a:endCxn id="430" idx="1"/>
          </p:cNvCxnSpPr>
          <p:nvPr/>
        </p:nvCxnSpPr>
        <p:spPr>
          <a:xfrm>
            <a:off x="6603131" y="2462729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48"/>
          <p:cNvCxnSpPr>
            <a:stCxn id="426" idx="6"/>
            <a:endCxn id="428" idx="2"/>
          </p:cNvCxnSpPr>
          <p:nvPr/>
        </p:nvCxnSpPr>
        <p:spPr>
          <a:xfrm flipH="1" rot="10800000">
            <a:off x="6658751" y="2113449"/>
            <a:ext cx="1177200" cy="222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8"/>
          <p:cNvCxnSpPr>
            <a:stCxn id="426" idx="6"/>
            <a:endCxn id="429" idx="2"/>
          </p:cNvCxnSpPr>
          <p:nvPr/>
        </p:nvCxnSpPr>
        <p:spPr>
          <a:xfrm>
            <a:off x="6658751" y="2335449"/>
            <a:ext cx="1177200" cy="393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48"/>
          <p:cNvCxnSpPr/>
          <p:nvPr/>
        </p:nvCxnSpPr>
        <p:spPr>
          <a:xfrm flipH="1" rot="10800000">
            <a:off x="7462624" y="862584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6" name="Google Shape;436;p48"/>
          <p:cNvCxnSpPr/>
          <p:nvPr/>
        </p:nvCxnSpPr>
        <p:spPr>
          <a:xfrm flipH="1" rot="10800000">
            <a:off x="7596878" y="1119092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7" name="Google Shape;437;p48"/>
          <p:cNvCxnSpPr>
            <a:stCxn id="430" idx="6"/>
          </p:cNvCxnSpPr>
          <p:nvPr/>
        </p:nvCxnSpPr>
        <p:spPr>
          <a:xfrm>
            <a:off x="7652575" y="3164934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8" name="Google Shape;438;p48"/>
          <p:cNvCxnSpPr>
            <a:stCxn id="430" idx="5"/>
          </p:cNvCxnSpPr>
          <p:nvPr/>
        </p:nvCxnSpPr>
        <p:spPr>
          <a:xfrm>
            <a:off x="7596955" y="3292214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249150" y="4392713"/>
            <a:ext cx="8645700" cy="7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440" name="Google Shape;440;p48"/>
          <p:cNvSpPr/>
          <p:nvPr/>
        </p:nvSpPr>
        <p:spPr>
          <a:xfrm>
            <a:off x="532000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1" name="Google Shape;441;p48"/>
          <p:cNvCxnSpPr>
            <a:stCxn id="440" idx="6"/>
            <a:endCxn id="442" idx="2"/>
          </p:cNvCxnSpPr>
          <p:nvPr/>
        </p:nvCxnSpPr>
        <p:spPr>
          <a:xfrm>
            <a:off x="875500" y="4642325"/>
            <a:ext cx="6591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8"/>
          <p:cNvSpPr/>
          <p:nvPr/>
        </p:nvSpPr>
        <p:spPr>
          <a:xfrm>
            <a:off x="1534675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8"/>
          <p:cNvSpPr txBox="1"/>
          <p:nvPr/>
        </p:nvSpPr>
        <p:spPr>
          <a:xfrm>
            <a:off x="791025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7220475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48"/>
          <p:cNvCxnSpPr>
            <a:stCxn id="444" idx="6"/>
            <a:endCxn id="446" idx="2"/>
          </p:cNvCxnSpPr>
          <p:nvPr/>
        </p:nvCxnSpPr>
        <p:spPr>
          <a:xfrm>
            <a:off x="7563975" y="4642325"/>
            <a:ext cx="659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6" name="Google Shape;446;p48"/>
          <p:cNvSpPr/>
          <p:nvPr/>
        </p:nvSpPr>
        <p:spPr>
          <a:xfrm>
            <a:off x="8223150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8"/>
          <p:cNvSpPr txBox="1"/>
          <p:nvPr/>
        </p:nvSpPr>
        <p:spPr>
          <a:xfrm>
            <a:off x="7479500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48" name="Google Shape;448;p48"/>
          <p:cNvCxnSpPr/>
          <p:nvPr/>
        </p:nvCxnSpPr>
        <p:spPr>
          <a:xfrm>
            <a:off x="362625" y="581625"/>
            <a:ext cx="8622000" cy="1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449" name="Google Shape;449;p48"/>
          <p:cNvSpPr txBox="1"/>
          <p:nvPr/>
        </p:nvSpPr>
        <p:spPr>
          <a:xfrm>
            <a:off x="2648675" y="441877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Channel Bandwidth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p48"/>
          <p:cNvSpPr txBox="1"/>
          <p:nvPr/>
        </p:nvSpPr>
        <p:spPr>
          <a:xfrm>
            <a:off x="791013" y="298025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48"/>
          <p:cNvSpPr txBox="1"/>
          <p:nvPr/>
        </p:nvSpPr>
        <p:spPr>
          <a:xfrm>
            <a:off x="7479488" y="30510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48"/>
          <p:cNvSpPr txBox="1"/>
          <p:nvPr/>
        </p:nvSpPr>
        <p:spPr>
          <a:xfrm>
            <a:off x="2561900" y="19712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Network Clustering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3" name="Google Shape;453;p48"/>
          <p:cNvSpPr txBox="1"/>
          <p:nvPr/>
        </p:nvSpPr>
        <p:spPr>
          <a:xfrm>
            <a:off x="957525" y="3640225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Clustered Network of Strong, High-Bandwidth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48"/>
          <p:cNvSpPr txBox="1"/>
          <p:nvPr/>
        </p:nvSpPr>
        <p:spPr>
          <a:xfrm>
            <a:off x="6393050" y="3693263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Unclustered Network of Weak, Low-Bandwidth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60" name="Google Shape;460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When taking into account temporal 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“Weak” ties: Information transmission at slower rates (less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“Strong” ties: Information transmission at higher rates (more frequency)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seeking information via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tradeoff between novelty/diversity of information and tie “bandwidth”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9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9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9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9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9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p49"/>
          <p:cNvCxnSpPr>
            <a:stCxn id="461" idx="7"/>
            <a:endCxn id="462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49"/>
          <p:cNvCxnSpPr>
            <a:stCxn id="461" idx="5"/>
            <a:endCxn id="465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49"/>
          <p:cNvCxnSpPr>
            <a:stCxn id="465" idx="7"/>
            <a:endCxn id="464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49"/>
          <p:cNvCxnSpPr>
            <a:stCxn id="464" idx="0"/>
            <a:endCxn id="463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49"/>
          <p:cNvCxnSpPr>
            <a:stCxn id="463" idx="0"/>
            <a:endCxn id="462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49"/>
          <p:cNvCxnSpPr>
            <a:stCxn id="465" idx="0"/>
            <a:endCxn id="462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49"/>
          <p:cNvCxnSpPr>
            <a:stCxn id="465" idx="0"/>
            <a:endCxn id="463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49"/>
          <p:cNvCxnSpPr>
            <a:stCxn id="464" idx="1"/>
            <a:endCxn id="462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9"/>
          <p:cNvCxnSpPr>
            <a:stCxn id="461" idx="6"/>
            <a:endCxn id="463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49"/>
          <p:cNvCxnSpPr>
            <a:stCxn id="461" idx="6"/>
            <a:endCxn id="464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49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9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9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9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9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" name="Google Shape;481;p49"/>
          <p:cNvCxnSpPr>
            <a:stCxn id="476" idx="7"/>
            <a:endCxn id="477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9"/>
          <p:cNvCxnSpPr>
            <a:stCxn id="476" idx="5"/>
            <a:endCxn id="480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9"/>
          <p:cNvCxnSpPr>
            <a:stCxn id="479" idx="0"/>
            <a:endCxn id="478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9"/>
          <p:cNvCxnSpPr>
            <a:stCxn id="476" idx="6"/>
            <a:endCxn id="478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9"/>
          <p:cNvCxnSpPr>
            <a:stCxn id="476" idx="6"/>
            <a:endCxn id="479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9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7" name="Google Shape;487;p49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8" name="Google Shape;488;p49"/>
          <p:cNvCxnSpPr>
            <a:stCxn id="480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9" name="Google Shape;489;p49"/>
          <p:cNvCxnSpPr>
            <a:stCxn id="480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90" name="Google Shape;490;p49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9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9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9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49"/>
          <p:cNvCxnSpPr>
            <a:stCxn id="490" idx="7"/>
            <a:endCxn id="491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9"/>
          <p:cNvCxnSpPr>
            <a:stCxn id="490" idx="5"/>
            <a:endCxn id="494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49"/>
          <p:cNvCxnSpPr>
            <a:stCxn id="490" idx="6"/>
            <a:endCxn id="492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49"/>
          <p:cNvCxnSpPr>
            <a:stCxn id="490" idx="6"/>
            <a:endCxn id="493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9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00" name="Google Shape;500;p49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01" name="Google Shape;501;p49"/>
          <p:cNvCxnSpPr>
            <a:stCxn id="494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02" name="Google Shape;502;p49"/>
          <p:cNvCxnSpPr>
            <a:stCxn id="494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508" name="Google Shape;508;p5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information complexity?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ties: Novel but “simple” information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Who’s hiring? What’s the best messaging app?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about novel but complex information?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do network analysis in 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 that case higher bandwidth ties are better!</a:t>
            </a:r>
            <a:endParaRPr b="1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0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0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0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0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0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4" name="Google Shape;514;p50"/>
          <p:cNvCxnSpPr>
            <a:stCxn id="509" idx="7"/>
            <a:endCxn id="510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0"/>
          <p:cNvCxnSpPr>
            <a:stCxn id="509" idx="5"/>
            <a:endCxn id="513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0"/>
          <p:cNvCxnSpPr>
            <a:stCxn id="513" idx="7"/>
            <a:endCxn id="512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50"/>
          <p:cNvCxnSpPr>
            <a:stCxn id="512" idx="0"/>
            <a:endCxn id="511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0"/>
          <p:cNvCxnSpPr>
            <a:stCxn id="511" idx="0"/>
            <a:endCxn id="510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50"/>
          <p:cNvCxnSpPr>
            <a:stCxn id="513" idx="0"/>
            <a:endCxn id="510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50"/>
          <p:cNvCxnSpPr>
            <a:stCxn id="513" idx="0"/>
            <a:endCxn id="511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50"/>
          <p:cNvCxnSpPr>
            <a:stCxn id="512" idx="1"/>
            <a:endCxn id="510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50"/>
          <p:cNvCxnSpPr>
            <a:stCxn id="509" idx="6"/>
            <a:endCxn id="511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50"/>
          <p:cNvCxnSpPr>
            <a:stCxn id="509" idx="6"/>
            <a:endCxn id="512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50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0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9" name="Google Shape;529;p50"/>
          <p:cNvCxnSpPr>
            <a:stCxn id="524" idx="7"/>
            <a:endCxn id="525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50"/>
          <p:cNvCxnSpPr>
            <a:stCxn id="524" idx="5"/>
            <a:endCxn id="528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0"/>
          <p:cNvCxnSpPr>
            <a:stCxn id="527" idx="0"/>
            <a:endCxn id="526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50"/>
          <p:cNvCxnSpPr>
            <a:stCxn id="524" idx="6"/>
            <a:endCxn id="526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0"/>
          <p:cNvCxnSpPr>
            <a:stCxn id="524" idx="6"/>
            <a:endCxn id="527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50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5" name="Google Shape;535;p50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6" name="Google Shape;536;p50"/>
          <p:cNvCxnSpPr>
            <a:stCxn id="528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37" name="Google Shape;537;p50"/>
          <p:cNvCxnSpPr>
            <a:stCxn id="528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38" name="Google Shape;538;p50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0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0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0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0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3" name="Google Shape;543;p50"/>
          <p:cNvCxnSpPr>
            <a:stCxn id="538" idx="7"/>
            <a:endCxn id="539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50"/>
          <p:cNvCxnSpPr>
            <a:stCxn id="538" idx="5"/>
            <a:endCxn id="542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50"/>
          <p:cNvCxnSpPr>
            <a:stCxn id="538" idx="6"/>
            <a:endCxn id="540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50"/>
          <p:cNvCxnSpPr>
            <a:stCxn id="538" idx="6"/>
            <a:endCxn id="541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50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8" name="Google Shape;548;p50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9" name="Google Shape;549;p50"/>
          <p:cNvCxnSpPr>
            <a:stCxn id="542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50" name="Google Shape;550;p50"/>
          <p:cNvCxnSpPr>
            <a:stCxn id="542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556" name="Google Shape;556;p51"/>
          <p:cNvSpPr txBox="1"/>
          <p:nvPr>
            <p:ph idx="1" type="body"/>
          </p:nvPr>
        </p:nvSpPr>
        <p:spPr>
          <a:xfrm>
            <a:off x="311700" y="1225225"/>
            <a:ext cx="8520600" cy="16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strength of high bandwidth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trust, intimacy, and cooperativeness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memory of who knows what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effective at transferring complex, interdependent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new knowledge (e.g., bringing together rather than keeping apart)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Commonality of interests and experience (homophily) </a:t>
            </a:r>
            <a:endParaRPr/>
          </a:p>
        </p:txBody>
      </p:sp>
      <p:sp>
        <p:nvSpPr>
          <p:cNvPr id="557" name="Google Shape;557;p51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1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1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1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1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51"/>
          <p:cNvCxnSpPr>
            <a:stCxn id="557" idx="7"/>
            <a:endCxn id="558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51"/>
          <p:cNvCxnSpPr>
            <a:stCxn id="557" idx="5"/>
            <a:endCxn id="561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51"/>
          <p:cNvCxnSpPr>
            <a:stCxn id="561" idx="7"/>
            <a:endCxn id="560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51"/>
          <p:cNvCxnSpPr>
            <a:stCxn id="560" idx="0"/>
            <a:endCxn id="559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51"/>
          <p:cNvCxnSpPr>
            <a:stCxn id="559" idx="0"/>
            <a:endCxn id="558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51"/>
          <p:cNvCxnSpPr>
            <a:stCxn id="561" idx="0"/>
            <a:endCxn id="558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51"/>
          <p:cNvCxnSpPr>
            <a:stCxn id="561" idx="0"/>
            <a:endCxn id="559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51"/>
          <p:cNvCxnSpPr>
            <a:stCxn id="560" idx="1"/>
            <a:endCxn id="558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51"/>
          <p:cNvCxnSpPr>
            <a:stCxn id="557" idx="6"/>
            <a:endCxn id="559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51"/>
          <p:cNvCxnSpPr>
            <a:stCxn id="557" idx="6"/>
            <a:endCxn id="560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51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1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1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1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1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7" name="Google Shape;577;p51"/>
          <p:cNvCxnSpPr>
            <a:stCxn id="572" idx="7"/>
            <a:endCxn id="573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51"/>
          <p:cNvCxnSpPr>
            <a:stCxn id="572" idx="5"/>
            <a:endCxn id="576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51"/>
          <p:cNvCxnSpPr>
            <a:stCxn id="575" idx="0"/>
            <a:endCxn id="574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51"/>
          <p:cNvCxnSpPr>
            <a:stCxn id="572" idx="6"/>
            <a:endCxn id="574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51"/>
          <p:cNvCxnSpPr>
            <a:stCxn id="572" idx="6"/>
            <a:endCxn id="575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1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3" name="Google Shape;583;p51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4" name="Google Shape;584;p51"/>
          <p:cNvCxnSpPr>
            <a:stCxn id="576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51"/>
          <p:cNvCxnSpPr>
            <a:stCxn id="576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86" name="Google Shape;586;p51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1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1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1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1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1" name="Google Shape;591;p51"/>
          <p:cNvCxnSpPr>
            <a:stCxn id="586" idx="7"/>
            <a:endCxn id="587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1"/>
          <p:cNvCxnSpPr>
            <a:stCxn id="586" idx="5"/>
            <a:endCxn id="590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51"/>
          <p:cNvCxnSpPr>
            <a:stCxn id="586" idx="6"/>
            <a:endCxn id="588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51"/>
          <p:cNvCxnSpPr>
            <a:stCxn id="586" idx="6"/>
            <a:endCxn id="589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51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6" name="Google Shape;596;p51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7" name="Google Shape;597;p51"/>
          <p:cNvCxnSpPr>
            <a:stCxn id="590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51"/>
          <p:cNvCxnSpPr>
            <a:stCxn id="590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604" name="Google Shape;604;p5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must take into account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 </a:t>
            </a:r>
            <a:endParaRPr/>
          </a:p>
        </p:txBody>
      </p:sp>
      <p:sp>
        <p:nvSpPr>
          <p:cNvPr id="605" name="Google Shape;605;p52"/>
          <p:cNvSpPr/>
          <p:nvPr/>
        </p:nvSpPr>
        <p:spPr>
          <a:xfrm>
            <a:off x="1011888" y="375915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2"/>
          <p:cNvSpPr/>
          <p:nvPr/>
        </p:nvSpPr>
        <p:spPr>
          <a:xfrm>
            <a:off x="1855421" y="305586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2"/>
          <p:cNvSpPr/>
          <p:nvPr/>
        </p:nvSpPr>
        <p:spPr>
          <a:xfrm>
            <a:off x="1855421" y="446209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8" name="Google Shape;608;p52"/>
          <p:cNvCxnSpPr>
            <a:stCxn id="605" idx="7"/>
            <a:endCxn id="606" idx="3"/>
          </p:cNvCxnSpPr>
          <p:nvPr/>
        </p:nvCxnSpPr>
        <p:spPr>
          <a:xfrm flipH="1" rot="10800000">
            <a:off x="1286902" y="3316336"/>
            <a:ext cx="615600" cy="487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52"/>
          <p:cNvCxnSpPr>
            <a:stCxn id="605" idx="5"/>
            <a:endCxn id="607" idx="1"/>
          </p:cNvCxnSpPr>
          <p:nvPr/>
        </p:nvCxnSpPr>
        <p:spPr>
          <a:xfrm>
            <a:off x="1286902" y="4019574"/>
            <a:ext cx="615600" cy="4872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0" name="Google Shape;610;p52"/>
          <p:cNvSpPr/>
          <p:nvPr/>
        </p:nvSpPr>
        <p:spPr>
          <a:xfrm>
            <a:off x="2248627" y="299740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2248627" y="4403623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5, 6, 7, 8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5588567" y="375933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2"/>
          <p:cNvSpPr/>
          <p:nvPr/>
        </p:nvSpPr>
        <p:spPr>
          <a:xfrm>
            <a:off x="6432100" y="305604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2"/>
          <p:cNvSpPr/>
          <p:nvPr/>
        </p:nvSpPr>
        <p:spPr>
          <a:xfrm>
            <a:off x="6432100" y="446227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52"/>
          <p:cNvCxnSpPr>
            <a:stCxn id="612" idx="7"/>
            <a:endCxn id="613" idx="3"/>
          </p:cNvCxnSpPr>
          <p:nvPr/>
        </p:nvCxnSpPr>
        <p:spPr>
          <a:xfrm flipH="1" rot="10800000">
            <a:off x="5863582" y="3316516"/>
            <a:ext cx="615600" cy="48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52"/>
          <p:cNvCxnSpPr>
            <a:stCxn id="612" idx="5"/>
            <a:endCxn id="614" idx="1"/>
          </p:cNvCxnSpPr>
          <p:nvPr/>
        </p:nvCxnSpPr>
        <p:spPr>
          <a:xfrm>
            <a:off x="5863582" y="4019754"/>
            <a:ext cx="615600" cy="487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2"/>
          <p:cNvSpPr/>
          <p:nvPr/>
        </p:nvSpPr>
        <p:spPr>
          <a:xfrm>
            <a:off x="6825307" y="299758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6825307" y="4403804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cxnSp>
        <p:nvCxnSpPr>
          <p:cNvPr id="619" name="Google Shape;619;p52"/>
          <p:cNvCxnSpPr>
            <a:stCxn id="614" idx="0"/>
            <a:endCxn id="613" idx="4"/>
          </p:cNvCxnSpPr>
          <p:nvPr/>
        </p:nvCxnSpPr>
        <p:spPr>
          <a:xfrm rot="10800000">
            <a:off x="6593200" y="3361275"/>
            <a:ext cx="0" cy="1101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625" name="Google Shape;625;p53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3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3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8" name="Google Shape;628;p53"/>
          <p:cNvCxnSpPr>
            <a:stCxn id="625" idx="7"/>
            <a:endCxn id="626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53"/>
          <p:cNvCxnSpPr>
            <a:stCxn id="625" idx="5"/>
            <a:endCxn id="627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0" name="Google Shape;630;p53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31" name="Google Shape;631;p53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32" name="Google Shape;632;p53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3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3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5" name="Google Shape;635;p53"/>
          <p:cNvCxnSpPr>
            <a:stCxn id="632" idx="7"/>
            <a:endCxn id="633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3"/>
          <p:cNvCxnSpPr>
            <a:stCxn id="632" idx="5"/>
            <a:endCxn id="634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53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38" name="Google Shape;638;p53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639" name="Google Shape;639;p53"/>
          <p:cNvCxnSpPr>
            <a:stCxn id="634" idx="0"/>
            <a:endCxn id="633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53"/>
          <p:cNvSpPr txBox="1"/>
          <p:nvPr/>
        </p:nvSpPr>
        <p:spPr>
          <a:xfrm>
            <a:off x="4179725" y="2093825"/>
            <a:ext cx="10599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53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have diverse pools of information (different people you know different things)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low bandwidth ties are better</a:t>
            </a:r>
            <a:endParaRPr/>
          </a:p>
        </p:txBody>
      </p:sp>
      <p:cxnSp>
        <p:nvCxnSpPr>
          <p:cNvPr id="642" name="Google Shape;642;p53"/>
          <p:cNvCxnSpPr>
            <a:stCxn id="640" idx="1"/>
          </p:cNvCxnSpPr>
          <p:nvPr/>
        </p:nvCxnSpPr>
        <p:spPr>
          <a:xfrm rot="10800000">
            <a:off x="3419225" y="2375525"/>
            <a:ext cx="760500" cy="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648" name="Google Shape;648;p54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4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4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1" name="Google Shape;651;p54"/>
          <p:cNvCxnSpPr>
            <a:stCxn id="648" idx="7"/>
            <a:endCxn id="649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54"/>
          <p:cNvCxnSpPr>
            <a:stCxn id="648" idx="5"/>
            <a:endCxn id="650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3" name="Google Shape;653;p54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55" name="Google Shape;655;p54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4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4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8" name="Google Shape;658;p54"/>
          <p:cNvCxnSpPr>
            <a:stCxn id="655" idx="7"/>
            <a:endCxn id="656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4"/>
          <p:cNvCxnSpPr>
            <a:stCxn id="655" idx="5"/>
            <a:endCxn id="657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54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61" name="Google Shape;661;p54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662" name="Google Shape;662;p54"/>
          <p:cNvCxnSpPr>
            <a:stCxn id="657" idx="0"/>
            <a:endCxn id="656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54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just give you the same information</a:t>
            </a:r>
            <a:endParaRPr/>
          </a:p>
        </p:txBody>
      </p:sp>
      <p:sp>
        <p:nvSpPr>
          <p:cNvPr id="664" name="Google Shape;664;p54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redundant!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5" name="Google Shape;665;p54"/>
          <p:cNvCxnSpPr>
            <a:stCxn id="664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671" name="Google Shape;671;p55"/>
          <p:cNvSpPr txBox="1"/>
          <p:nvPr>
            <p:ph idx="1" type="body"/>
          </p:nvPr>
        </p:nvSpPr>
        <p:spPr>
          <a:xfrm>
            <a:off x="311700" y="1225225"/>
            <a:ext cx="85206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have to consider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</a:t>
            </a:r>
            <a:r>
              <a:rPr b="1" lang="en"/>
              <a:t>frequency </a:t>
            </a:r>
            <a:r>
              <a:rPr lang="en"/>
              <a:t>is knowledge transmitted?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5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5" name="Google Shape;675;p55"/>
          <p:cNvCxnSpPr>
            <a:stCxn id="672" idx="7"/>
            <a:endCxn id="673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5"/>
          <p:cNvCxnSpPr>
            <a:stCxn id="672" idx="5"/>
            <a:endCxn id="674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7" name="Google Shape;677;p55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78" name="Google Shape;678;p55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2" name="Google Shape;682;p55"/>
          <p:cNvCxnSpPr>
            <a:stCxn id="679" idx="7"/>
            <a:endCxn id="680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5"/>
          <p:cNvCxnSpPr>
            <a:stCxn id="679" idx="5"/>
            <a:endCxn id="681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4" name="Google Shape;684;p55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85" name="Google Shape;685;p55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86" name="Google Shape;686;p55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5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5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9" name="Google Shape;689;p55"/>
          <p:cNvCxnSpPr>
            <a:stCxn id="686" idx="7"/>
            <a:endCxn id="687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55"/>
          <p:cNvCxnSpPr>
            <a:stCxn id="686" idx="5"/>
            <a:endCxn id="688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1" name="Google Shape;691;p55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92" name="Google Shape;692;p55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698" name="Google Shape;698;p56"/>
          <p:cNvSpPr txBox="1"/>
          <p:nvPr>
            <p:ph idx="1" type="body"/>
          </p:nvPr>
        </p:nvSpPr>
        <p:spPr>
          <a:xfrm>
            <a:off x="311675" y="1225225"/>
            <a:ext cx="85206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 lose their advantage even when connecting ego to contacts with more </a:t>
            </a:r>
            <a:r>
              <a:rPr b="1" lang="en"/>
              <a:t>homogeneous </a:t>
            </a:r>
            <a:r>
              <a:rPr lang="en"/>
              <a:t>information, even if there is partial overlap of information across contacts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6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2" name="Google Shape;702;p56"/>
          <p:cNvCxnSpPr>
            <a:stCxn id="699" idx="7"/>
            <a:endCxn id="700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56"/>
          <p:cNvCxnSpPr>
            <a:stCxn id="699" idx="5"/>
            <a:endCxn id="701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4" name="Google Shape;704;p56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05" name="Google Shape;705;p56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06" name="Google Shape;706;p56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9" name="Google Shape;709;p56"/>
          <p:cNvCxnSpPr>
            <a:stCxn id="706" idx="7"/>
            <a:endCxn id="707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56"/>
          <p:cNvCxnSpPr>
            <a:stCxn id="706" idx="5"/>
            <a:endCxn id="708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1" name="Google Shape;711;p56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12" name="Google Shape;712;p56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13" name="Google Shape;713;p56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6" name="Google Shape;716;p56"/>
          <p:cNvCxnSpPr>
            <a:stCxn id="713" idx="7"/>
            <a:endCxn id="714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56"/>
          <p:cNvCxnSpPr>
            <a:stCxn id="713" idx="5"/>
            <a:endCxn id="715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8" name="Google Shape;718;p56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19" name="Google Shape;719;p56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20" name="Google Shape;720;p56"/>
          <p:cNvSpPr txBox="1"/>
          <p:nvPr/>
        </p:nvSpPr>
        <p:spPr>
          <a:xfrm>
            <a:off x="536725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good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1" name="Google Shape;721;p56"/>
          <p:cNvSpPr txBox="1"/>
          <p:nvPr/>
        </p:nvSpPr>
        <p:spPr>
          <a:xfrm>
            <a:off x="37079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not as good...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p56"/>
          <p:cNvSpPr txBox="1"/>
          <p:nvPr/>
        </p:nvSpPr>
        <p:spPr>
          <a:xfrm>
            <a:off x="73984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worse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56"/>
          <p:cNvSpPr txBox="1"/>
          <p:nvPr/>
        </p:nvSpPr>
        <p:spPr>
          <a:xfrm>
            <a:off x="437500" y="2390350"/>
            <a:ext cx="210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p56"/>
          <p:cNvSpPr txBox="1"/>
          <p:nvPr/>
        </p:nvSpPr>
        <p:spPr>
          <a:xfrm>
            <a:off x="3376775" y="239040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Some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p56"/>
          <p:cNvSpPr txBox="1"/>
          <p:nvPr/>
        </p:nvSpPr>
        <p:spPr>
          <a:xfrm>
            <a:off x="6770650" y="241225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Total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731" name="Google Shape;731;p57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7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4" name="Google Shape;734;p57"/>
          <p:cNvCxnSpPr>
            <a:stCxn id="731" idx="7"/>
            <a:endCxn id="732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57"/>
          <p:cNvCxnSpPr>
            <a:stCxn id="731" idx="5"/>
            <a:endCxn id="733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6" name="Google Shape;736;p57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37" name="Google Shape;737;p57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38" name="Google Shape;738;p57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7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7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1" name="Google Shape;741;p57"/>
          <p:cNvCxnSpPr>
            <a:stCxn id="738" idx="7"/>
            <a:endCxn id="739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57"/>
          <p:cNvCxnSpPr>
            <a:stCxn id="738" idx="5"/>
            <a:endCxn id="740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3" name="Google Shape;743;p57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44" name="Google Shape;744;p57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745" name="Google Shape;745;p57"/>
          <p:cNvCxnSpPr>
            <a:stCxn id="740" idx="0"/>
            <a:endCxn id="739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57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give faster access to more complex information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752" name="Google Shape;752;p58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8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8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5" name="Google Shape;755;p58"/>
          <p:cNvCxnSpPr>
            <a:stCxn id="752" idx="7"/>
            <a:endCxn id="753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58"/>
          <p:cNvCxnSpPr>
            <a:stCxn id="752" idx="5"/>
            <a:endCxn id="754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57" name="Google Shape;757;p58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58" name="Google Shape;758;p58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59" name="Google Shape;759;p58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8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8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2" name="Google Shape;762;p58"/>
          <p:cNvCxnSpPr>
            <a:stCxn id="759" idx="7"/>
            <a:endCxn id="760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58"/>
          <p:cNvCxnSpPr>
            <a:stCxn id="759" idx="5"/>
            <a:endCxn id="761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58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765" name="Google Shape;765;p58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766" name="Google Shape;766;p58"/>
          <p:cNvCxnSpPr>
            <a:stCxn id="761" idx="0"/>
            <a:endCxn id="760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58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of information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give faster access to more complex information</a:t>
            </a:r>
            <a:endParaRPr/>
          </a:p>
        </p:txBody>
      </p:sp>
      <p:sp>
        <p:nvSpPr>
          <p:cNvPr id="768" name="Google Shape;768;p58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9" name="Google Shape;769;p58"/>
          <p:cNvCxnSpPr>
            <a:stCxn id="768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