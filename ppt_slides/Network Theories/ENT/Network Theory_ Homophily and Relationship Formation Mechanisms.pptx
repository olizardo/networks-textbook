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6858000" cy="9144000"/>
  <p:embeddedFontLst>
    <p:embeddedFont>
      <p:font typeface="Economica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Economica-bold.fntdata"/><Relationship Id="rId27" Type="http://schemas.openxmlformats.org/officeDocument/2006/relationships/font" Target="fonts/Economic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Economica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penSans-regular.fntdata"/><Relationship Id="rId30" Type="http://schemas.openxmlformats.org/officeDocument/2006/relationships/font" Target="fonts/Economica-boldItalic.fntdata"/><Relationship Id="rId11" Type="http://schemas.openxmlformats.org/officeDocument/2006/relationships/slide" Target="slides/slide7.xml"/><Relationship Id="rId33" Type="http://schemas.openxmlformats.org/officeDocument/2006/relationships/font" Target="fonts/OpenSans-italic.fntdata"/><Relationship Id="rId10" Type="http://schemas.openxmlformats.org/officeDocument/2006/relationships/slide" Target="slides/slide6.xml"/><Relationship Id="rId32" Type="http://schemas.openxmlformats.org/officeDocument/2006/relationships/font" Target="fonts/OpenSans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7ca81c8f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7ca81c8f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7ca81c8f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7ca81c8f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7ca81c8f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7ca81c8f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7ca81c8f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7ca81c8f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7ca81c8f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7ca81c8f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7ca81c8f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7ca81c8f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7ca81c8f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7ca81c8f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ca81c8f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7ca81c8f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7ca81c8f9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7ca81c8f9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ca81c8f9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ca81c8f9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7ca81c8f9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7ca81c8f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7ca81c8f9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7ca81c8f9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7ca81c8f9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7ca81c8f9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7ca81c8f9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7ca81c8f9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7ca81c8f9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7ca81c8f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7ca81c8f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7ca81c8f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ca81c8f9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ca81c8f9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7ca81c8f9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7ca81c8f9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7ca81c8f9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7ca81c8f9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7ca81c8f9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7ca81c8f9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7ca81c8f9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7ca81c8f9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247096"/>
            <a:ext cx="3054600" cy="264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Homophily and Relationship Formation Mechanisms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Rather than being static social ties are produced via </a:t>
            </a:r>
            <a:r>
              <a:rPr b="1" lang="en"/>
              <a:t>generative </a:t>
            </a:r>
            <a:r>
              <a:rPr b="1" lang="en"/>
              <a:t>mechanisms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need to go from </a:t>
            </a:r>
            <a:r>
              <a:rPr b="1" lang="en"/>
              <a:t>network theory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What networks understood as static infra-structures do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</a:t>
            </a:r>
            <a:r>
              <a:rPr b="1" lang="en"/>
              <a:t>the theory of networks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Processes that account for the formation, maintenance and dissolution of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general classes of network formation mechanisms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Assortative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Relational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Proximity-based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Rather than being static social ties are produced via </a:t>
            </a:r>
            <a:r>
              <a:rPr b="1" lang="en"/>
              <a:t>generative mechanisms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need to go from </a:t>
            </a:r>
            <a:r>
              <a:rPr b="1" lang="en"/>
              <a:t>network theory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What networks understood as static infra-structures do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</a:t>
            </a:r>
            <a:r>
              <a:rPr b="1" lang="en"/>
              <a:t>the theory of networks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Processes that account for the formation, maintenance and dissolution of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general classes of network formation mechanisms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Assortative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Relational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Proximity-based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Assortative Mechanisms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Based on the idea that persons seek complementarity or matching on social </a:t>
            </a:r>
            <a:r>
              <a:rPr lang="en"/>
              <a:t>attributes</a:t>
            </a:r>
            <a:r>
              <a:rPr lang="en"/>
              <a:t> or ideas, beliefs, tastes and orientations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roots in Lazarsfeld and Merton’s idea of the distinction between “status” and “value homophily”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Status homophily: </a:t>
            </a:r>
            <a:r>
              <a:rPr lang="en"/>
              <a:t>Preference to form connections</a:t>
            </a:r>
            <a:r>
              <a:rPr lang="en"/>
              <a:t> with persons who share socio-demographic </a:t>
            </a:r>
            <a:r>
              <a:rPr lang="en"/>
              <a:t>attributes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Value homophily: Preference to form connections with persons who share values and beliefs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Homophily is one of the most well-established findings in all of the social science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been shown to exist for pretty much every socio-demographic factor we can think of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Race, gender, religion, ethnicity, nationality, education,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well as for various cognitive and cultural factors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Seems to be part of a self-fulfilling prophecy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expect similar alters to be more accepting, trustworthy, understanding, etc.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are factors that predict less conflict and strain in relationships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Which lead to stronger more durable relations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Tendencies toward homophily may be increased in certain contexts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where a category is a minority people may be increasingly drawn to seeking similar alters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Contextually “rare attributes”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Blacks in a majority white context such as a business school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(Mehra et al 1998)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Non-believers in a majority religious context such as Notre Dame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(Sepulvado et al 2015)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225225"/>
            <a:ext cx="3724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Heterophily may increase the hazard of relationship dissolution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Homophily may increase the odds of relationship survival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seems to be independent of whatever local values are encouraged in the setting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“diversity” 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hazard-by-type-gender.png"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8300" y="1299625"/>
            <a:ext cx="4803302" cy="3583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225225"/>
            <a:ext cx="3724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Heterophily may increase the hazard of relationship dissolution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Homophily may increase the odds of relationship survival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seems to be independent of whatever local values are encouraged in the setting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“diversity” 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hazard-by-type-race.png"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8300" y="1299625"/>
            <a:ext cx="4803302" cy="3583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225225"/>
            <a:ext cx="3724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Heterophily may increase the hazard of relationship dissolution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Homophily may increase the odds of relationship survival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seems to be independent of whatever local values are encouraged in the setting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“diversity”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hazard-by-type-class.png"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8300" y="1299625"/>
            <a:ext cx="4803302" cy="3583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225225"/>
            <a:ext cx="4627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Flashback: Blau’s Rule of “Multiform Heterogeneity”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Preferences for homophily in one-dimension may bring heterophily in another dimension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Depending on the macro-level correlation across dimensions of association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 U.S. Class Homophily among </a:t>
            </a:r>
            <a:r>
              <a:rPr b="1" lang="en"/>
              <a:t>whites</a:t>
            </a:r>
            <a:r>
              <a:rPr lang="en"/>
              <a:t> may connect them to more </a:t>
            </a:r>
            <a:r>
              <a:rPr b="1" lang="en"/>
              <a:t>asians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Class Homophily among </a:t>
            </a:r>
            <a:r>
              <a:rPr b="1" lang="en"/>
              <a:t>blacks</a:t>
            </a:r>
            <a:r>
              <a:rPr lang="en"/>
              <a:t> may connect them to more </a:t>
            </a:r>
            <a:r>
              <a:rPr b="1" lang="en"/>
              <a:t>hispanics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US_Race_Household_Income.png"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1550" y="1649027"/>
            <a:ext cx="3250749" cy="25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225225"/>
            <a:ext cx="4627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Flashback: Blau’s Rule of “Multiform Heterogeneity”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Preferences for homophily in one-dimension may bring heterophily in another dimension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Depending on the macro-level correlation across dimensions of association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 U.S. Class Homophily among </a:t>
            </a:r>
            <a:r>
              <a:rPr b="1" lang="en"/>
              <a:t>whites</a:t>
            </a:r>
            <a:r>
              <a:rPr lang="en"/>
              <a:t> may connect them to more </a:t>
            </a:r>
            <a:r>
              <a:rPr b="1" lang="en"/>
              <a:t>asians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Class Homophily among </a:t>
            </a:r>
            <a:r>
              <a:rPr b="1" lang="en"/>
              <a:t>blacks</a:t>
            </a:r>
            <a:r>
              <a:rPr lang="en"/>
              <a:t> may connect them to more </a:t>
            </a:r>
            <a:r>
              <a:rPr b="1" lang="en"/>
              <a:t>hispanics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hazard-by-type-race.png"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8900" y="1449799"/>
            <a:ext cx="3893402" cy="29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homophily is the norm where do diverse arise?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are both voluntary (context, coercion) and involuntary (choice) mechanisms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Team-building mechanisms are the most well-studied source of heterophily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Skill </a:t>
            </a:r>
            <a:r>
              <a:rPr lang="en"/>
              <a:t>complementarity</a:t>
            </a:r>
            <a:r>
              <a:rPr lang="en"/>
              <a:t> (you link with others who know how to do things that you don’t)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Also found in alliances and collaborations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Science, social movements, industry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Inter-organizational networks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“Instrumental” relationships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225225"/>
            <a:ext cx="8520600" cy="17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New ties may appear because actors prefer to connect with certain kinds of others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“Degree-dynamics” driven by “preferential attachment is the most well-studied version of this phenomenon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not the only possible one!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socially desirable feature would do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barabasisciam_Page_06.png" id="140" name="Google Shape;140;p25"/>
          <p:cNvPicPr preferRelativeResize="0"/>
          <p:nvPr/>
        </p:nvPicPr>
        <p:blipFill rotWithShape="1">
          <a:blip r:embed="rId3">
            <a:alphaModFix/>
          </a:blip>
          <a:srcRect b="63872" l="9418" r="7019" t="16348"/>
          <a:stretch/>
        </p:blipFill>
        <p:spPr>
          <a:xfrm>
            <a:off x="1639247" y="2986525"/>
            <a:ext cx="5865498" cy="183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225225"/>
            <a:ext cx="8520600" cy="3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human networks preferential attachment dynamics lead to inequality in popularity and connectivity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contrasts with “balance” based dynamics (e.g. closure, reciprocity) which lead to equality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human social networks may be the result of competing dynamics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tending towards hierarchy and inequality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tendings towards “balance” and equality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People are aversive to inequality but also seek to connect to desirable others (Gould 2002)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may add or delete ties at the local level until some equilibrium between these competing dynamics is reached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Where do social ties come from?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answer: Inherent tendencies within social networks: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Clustering, transitivity, or reciprocity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153" name="Google Shape;153;p27"/>
          <p:cNvGrpSpPr/>
          <p:nvPr/>
        </p:nvGrpSpPr>
        <p:grpSpPr>
          <a:xfrm>
            <a:off x="2481100" y="2380625"/>
            <a:ext cx="4181775" cy="1629750"/>
            <a:chOff x="1256700" y="2291950"/>
            <a:chExt cx="4181775" cy="1629750"/>
          </a:xfrm>
        </p:grpSpPr>
        <p:sp>
          <p:nvSpPr>
            <p:cNvPr id="154" name="Google Shape;154;p27"/>
            <p:cNvSpPr txBox="1"/>
            <p:nvPr/>
          </p:nvSpPr>
          <p:spPr>
            <a:xfrm>
              <a:off x="1256700" y="3512500"/>
              <a:ext cx="29538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From common relation to relation</a:t>
              </a:r>
              <a:endParaRPr/>
            </a:p>
          </p:txBody>
        </p:sp>
        <p:pic>
          <p:nvPicPr>
            <p:cNvPr id="155" name="Google Shape;155;p27"/>
            <p:cNvPicPr preferRelativeResize="0"/>
            <p:nvPr/>
          </p:nvPicPr>
          <p:blipFill rotWithShape="1">
            <a:blip r:embed="rId3">
              <a:alphaModFix/>
            </a:blip>
            <a:srcRect b="82105" l="29153" r="29336" t="9537"/>
            <a:stretch/>
          </p:blipFill>
          <p:spPr>
            <a:xfrm>
              <a:off x="1274325" y="2291950"/>
              <a:ext cx="4164150" cy="12205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311700" y="1225225"/>
            <a:ext cx="5566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observation: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Often social relations are organized around “circles,” or “common activities”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“foci” may themselves be a primary driver of which relations show up in people’s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“focus”?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“ a social, psychological, legal, or physical entity around which joint activities are organized (e.g., workplaces, voluntary organizations, hangouts, families, etc.” (Feld 1981: 1016)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62" name="Google Shape;162;p28"/>
          <p:cNvPicPr preferRelativeResize="0"/>
          <p:nvPr/>
        </p:nvPicPr>
        <p:blipFill rotWithShape="1">
          <a:blip r:embed="rId3">
            <a:alphaModFix/>
          </a:blip>
          <a:srcRect b="8042" l="25470" r="25922" t="70152"/>
          <a:stretch/>
        </p:blipFill>
        <p:spPr>
          <a:xfrm>
            <a:off x="5878500" y="1379163"/>
            <a:ext cx="3069726" cy="238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311700" y="1225225"/>
            <a:ext cx="8520600" cy="3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suggests two new mechanisms for where ties come from: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169" name="Google Shape;169;p29"/>
          <p:cNvGrpSpPr/>
          <p:nvPr/>
        </p:nvGrpSpPr>
        <p:grpSpPr>
          <a:xfrm>
            <a:off x="2504490" y="2056474"/>
            <a:ext cx="4135005" cy="2753453"/>
            <a:chOff x="457300" y="1874050"/>
            <a:chExt cx="4519625" cy="3013850"/>
          </a:xfrm>
        </p:grpSpPr>
        <p:pic>
          <p:nvPicPr>
            <p:cNvPr id="170" name="Google Shape;170;p29"/>
            <p:cNvPicPr preferRelativeResize="0"/>
            <p:nvPr/>
          </p:nvPicPr>
          <p:blipFill rotWithShape="1">
            <a:blip r:embed="rId3">
              <a:alphaModFix/>
            </a:blip>
            <a:srcRect b="78822" l="19131" r="24569" t="10521"/>
            <a:stretch/>
          </p:blipFill>
          <p:spPr>
            <a:xfrm>
              <a:off x="457300" y="1874050"/>
              <a:ext cx="4199400" cy="1157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29"/>
            <p:cNvSpPr txBox="1"/>
            <p:nvPr/>
          </p:nvSpPr>
          <p:spPr>
            <a:xfrm>
              <a:off x="777525" y="2968850"/>
              <a:ext cx="33726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From circle to relation</a:t>
              </a:r>
              <a:endParaRPr/>
            </a:p>
          </p:txBody>
        </p:sp>
        <p:pic>
          <p:nvPicPr>
            <p:cNvPr id="172" name="Google Shape;172;p29"/>
            <p:cNvPicPr preferRelativeResize="0"/>
            <p:nvPr/>
          </p:nvPicPr>
          <p:blipFill rotWithShape="1">
            <a:blip r:embed="rId3">
              <a:alphaModFix/>
            </a:blip>
            <a:srcRect b="11530" l="26337" r="24518" t="79547"/>
            <a:stretch/>
          </p:blipFill>
          <p:spPr>
            <a:xfrm>
              <a:off x="549000" y="3378050"/>
              <a:ext cx="4164150" cy="1100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29"/>
            <p:cNvSpPr txBox="1"/>
            <p:nvPr/>
          </p:nvSpPr>
          <p:spPr>
            <a:xfrm>
              <a:off x="777525" y="4478700"/>
              <a:ext cx="41994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From common activity to relation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319500" y="4218925"/>
            <a:ext cx="82539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Ashwin Bahulkar, Boleslaw K. Szymanski, Nitesh Chawla, Omar Lizardo, and Kevin Chan, “Influence of Personal Preferences on Link Dynamics in Social Networks,” </a:t>
            </a:r>
            <a:r>
              <a:rPr i="1" lang="en" sz="1600"/>
              <a:t>Complexity</a:t>
            </a:r>
            <a:r>
              <a:rPr lang="en" sz="1600"/>
              <a:t>, vol. 2017, Article ID 4543563, 12 pages, 2017. doi:10.1155/2017/4543563</a:t>
            </a:r>
            <a:endParaRPr sz="1600"/>
          </a:p>
        </p:txBody>
      </p:sp>
      <p:pic>
        <p:nvPicPr>
          <p:cNvPr descr="Screenshot 2017-10-10 at 07.00.30.png" id="179" name="Google Shape;17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88" y="196875"/>
            <a:ext cx="8253828" cy="391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185" name="Google Shape;185;p31"/>
          <p:cNvSpPr txBox="1"/>
          <p:nvPr>
            <p:ph idx="1" type="body"/>
          </p:nvPr>
        </p:nvSpPr>
        <p:spPr>
          <a:xfrm>
            <a:off x="311700" y="1225225"/>
            <a:ext cx="3515400" cy="3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 step: Study of the dynamic dependence of structural contexts (circles, foci) and social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Need to keep distinct three distinct patterns of effects: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Memberships affect the probability tie formation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Classic “Focus” Effect (Feld 1982)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descr="Selection.jpg" id="186" name="Google Shape;18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7100" y="1741888"/>
            <a:ext cx="5005202" cy="255136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1"/>
          <p:cNvSpPr txBox="1"/>
          <p:nvPr/>
        </p:nvSpPr>
        <p:spPr>
          <a:xfrm>
            <a:off x="6353725" y="4129050"/>
            <a:ext cx="19755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</a:rPr>
              <a:t>Blue = t_1</a:t>
            </a:r>
            <a:endParaRPr b="1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Red = t_2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311700" y="1225225"/>
            <a:ext cx="3515400" cy="3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 step: Study of the dynamic dependence of structural contexts (circles, foci) and social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Need to keep distinct three distinct patterns of effects: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Memberships “spread” via existing social ties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Classic “Contagion” Effect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descr="Inf1.jpg" id="194" name="Google Shape;19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7750" y="1814375"/>
            <a:ext cx="4824549" cy="240640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2"/>
          <p:cNvSpPr txBox="1"/>
          <p:nvPr/>
        </p:nvSpPr>
        <p:spPr>
          <a:xfrm>
            <a:off x="6353725" y="4129050"/>
            <a:ext cx="19755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</a:rPr>
              <a:t>Blue = t_1</a:t>
            </a:r>
            <a:endParaRPr b="1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Red = t_2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311700" y="1225225"/>
            <a:ext cx="3740700" cy="3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 step: Study of the dynamic dependence of structural contexts (circles, foci) and social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Need to keep distinct three distinct patterns of effects: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Memberships “spread” via other memberships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Focus</a:t>
            </a:r>
            <a:r>
              <a:rPr lang="en"/>
              <a:t> “Contagion” Effect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02" name="Google Shape;202;p33"/>
          <p:cNvSpPr txBox="1"/>
          <p:nvPr/>
        </p:nvSpPr>
        <p:spPr>
          <a:xfrm>
            <a:off x="6353725" y="4129050"/>
            <a:ext cx="19755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</a:rPr>
              <a:t>Blue = t_1</a:t>
            </a:r>
            <a:endParaRPr b="1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Red = t_2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descr="4cycles1.jpg" id="203" name="Google Shape;20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2450" y="1794338"/>
            <a:ext cx="4779857" cy="244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social ties come from?</a:t>
            </a:r>
            <a:endParaRPr/>
          </a:p>
        </p:txBody>
      </p:sp>
      <p:sp>
        <p:nvSpPr>
          <p:cNvPr id="209" name="Google Shape;209;p34"/>
          <p:cNvSpPr txBox="1"/>
          <p:nvPr>
            <p:ph idx="1" type="body"/>
          </p:nvPr>
        </p:nvSpPr>
        <p:spPr>
          <a:xfrm>
            <a:off x="311700" y="1225225"/>
            <a:ext cx="3950100" cy="3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preliminary results from NetSense data: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Student clubs </a:t>
            </a:r>
            <a:r>
              <a:rPr lang="en"/>
              <a:t>function as “classic” foci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They influence tie formation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do not “spread” via ties or other clubs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</a:t>
            </a:r>
            <a:r>
              <a:rPr b="1" lang="en"/>
              <a:t>ultural tastes </a:t>
            </a:r>
            <a:r>
              <a:rPr lang="en"/>
              <a:t>do not function like foci: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They are transmitted via 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They are transmitted via other tastes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210" name="Google Shape;210;p34"/>
          <p:cNvPicPr preferRelativeResize="0"/>
          <p:nvPr/>
        </p:nvPicPr>
        <p:blipFill rotWithShape="1">
          <a:blip r:embed="rId3">
            <a:alphaModFix/>
          </a:blip>
          <a:srcRect b="19608" l="0" r="0" t="0"/>
          <a:stretch/>
        </p:blipFill>
        <p:spPr>
          <a:xfrm>
            <a:off x="4261800" y="1147225"/>
            <a:ext cx="4547434" cy="1922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4"/>
          <p:cNvPicPr preferRelativeResize="0"/>
          <p:nvPr/>
        </p:nvPicPr>
        <p:blipFill rotWithShape="1">
          <a:blip r:embed="rId4">
            <a:alphaModFix/>
          </a:blip>
          <a:srcRect b="18470" l="0" r="0" t="7707"/>
          <a:stretch/>
        </p:blipFill>
        <p:spPr>
          <a:xfrm>
            <a:off x="4261788" y="3070075"/>
            <a:ext cx="4317700" cy="174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