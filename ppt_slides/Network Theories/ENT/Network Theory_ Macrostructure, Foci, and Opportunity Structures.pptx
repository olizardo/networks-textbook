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7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1994715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1994715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1994715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1994715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19e42a2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19e42a2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19e42a2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19e42a2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19e42a2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19e42a2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19e42a2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19e42a2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19e42a2e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19e42a2e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19e42a2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19e42a2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19e42a2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19e42a2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19e42a2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19e42a2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19e42a2e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19e42a2e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19e42a2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19e42a2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1994715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1994715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19e42a2e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19e42a2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19e42a2e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19e42a2e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19e42a2e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19e42a2e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42425"/>
            <a:ext cx="3343500" cy="21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The Role of Macrostructure, Foci, and Opportunity Structures</a:t>
            </a:r>
            <a:endParaRPr sz="34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social structure?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Distribution of people across social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distributions influence the chances that people will associate with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positions are based on the distinctions people make to differentiate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</a:t>
            </a:r>
            <a:r>
              <a:rPr lang="en"/>
              <a:t>occupy</a:t>
            </a:r>
            <a:r>
              <a:rPr lang="en"/>
              <a:t> multiples social positions at the same time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Religious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Educational Ranks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563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structure is defined as a multidimensional space within which people are distributed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pair of dimensions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probability that persons with a value m on dimension X</a:t>
            </a:r>
            <a:r>
              <a:rPr baseline="-25000" lang="en"/>
              <a:t>1</a:t>
            </a:r>
            <a:r>
              <a:rPr lang="en"/>
              <a:t> will come into contact with with persons with a value of n on dimension X</a:t>
            </a:r>
            <a:r>
              <a:rPr baseline="-25000"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defines the “social relations” between positions: “Macro-structure”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distinct from the social relations between people in social network analysis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“Micro-structure”</a:t>
            </a:r>
            <a:endParaRPr/>
          </a:p>
        </p:txBody>
      </p:sp>
      <p:pic>
        <p:nvPicPr>
          <p:cNvPr descr="Screenshot 2017-09-11 at 22.49.15.png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000" y="1572088"/>
            <a:ext cx="2893200" cy="266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563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Dimensions in multidimensional “Blau space” are called “parameters”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Parameters are social distinctions that make a difference when it comes to association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distinctions are categorical, with no inherent ordering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Gender, Race, Religion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Nominal parameters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distinctions are rank-ordered: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Education, Age, Income, Occupational Prestige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Graduated parameters</a:t>
            </a:r>
            <a:endParaRPr b="1"/>
          </a:p>
        </p:txBody>
      </p:sp>
      <p:pic>
        <p:nvPicPr>
          <p:cNvPr descr="Screenshot 2017-09-11 at 22.49.15.png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000" y="1572088"/>
            <a:ext cx="2893200" cy="266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563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Societies can be differentiated by the extent to which people are equally or unequally distributed across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Heterogeneity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extent to which people are equally/unequally distributed around nominal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Inequality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extent to which people are equally/unequally distributed around graduated parameters</a:t>
            </a:r>
            <a:endParaRPr/>
          </a:p>
        </p:txBody>
      </p:sp>
      <p:pic>
        <p:nvPicPr>
          <p:cNvPr descr="Screenshot 2017-09-11 at 22.49.15.png"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000" y="1572088"/>
            <a:ext cx="2893200" cy="266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563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Dimensions of social association are not orthogonal but are in fact correlated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Correlation among dimensions is another signature difference between different types of macro-structure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 and Income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 and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 and Income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Religion and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Nominal/graduated correlations pertain to status differences across 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Graduated/graduated correlations pertain to status consolidation in a society</a:t>
            </a:r>
            <a:endParaRPr/>
          </a:p>
        </p:txBody>
      </p:sp>
      <p:pic>
        <p:nvPicPr>
          <p:cNvPr descr="Screenshot 2017-09-11 at 22.49.15.png"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000" y="1572088"/>
            <a:ext cx="2893200" cy="266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25225"/>
            <a:ext cx="563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things equal, the more heterogeneity and the more inequality the less integration in the society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are more likely to associate with same-category members in nominal parameters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X</a:t>
            </a:r>
            <a:r>
              <a:rPr baseline="-25000" lang="en"/>
              <a:t>1</a:t>
            </a:r>
            <a:r>
              <a:rPr lang="en"/>
              <a:t> = X</a:t>
            </a:r>
            <a:r>
              <a:rPr baseline="-25000" lang="en"/>
              <a:t>2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E.g. Race “homophily”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are more likely to associate with proximate others in graduated parameters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X</a:t>
            </a:r>
            <a:r>
              <a:rPr baseline="-25000" lang="en"/>
              <a:t>1</a:t>
            </a:r>
            <a:r>
              <a:rPr lang="en"/>
              <a:t> - X</a:t>
            </a:r>
            <a:r>
              <a:rPr baseline="-25000" lang="en"/>
              <a:t>2</a:t>
            </a:r>
            <a:r>
              <a:rPr lang="en"/>
              <a:t> ≅ 0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E.g. Educational “homogamy” in marriage</a:t>
            </a:r>
            <a:endParaRPr/>
          </a:p>
        </p:txBody>
      </p:sp>
      <p:pic>
        <p:nvPicPr>
          <p:cNvPr descr="Screenshot 2017-09-11 at 22.49.15.png"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000" y="1572088"/>
            <a:ext cx="2893200" cy="266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Macro-structure versus micro-structure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social integration depends on intergroup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 type “caste”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within status relations and no cross-status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 type stratification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Perfect correlation between nominal and graduated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 type “open”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 probabilities of associating regardless of social position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No correlations between nominal and graduated parameters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Most real systems fall in-between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Tendency towards homophily but also cross-group relations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Correlations between nominal and graduated parameters: &gt; 0 &lt; 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225225"/>
            <a:ext cx="608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a nominal parameter divides the population into two or more groups: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 of numerically smaller groups will be proportionally more likely to have relations with majority group members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group size inequality increases members of the majority group will tend to have almost exclusively ingroup relations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Minorities benefit from outgroup ties?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diversity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Diversity of intellectual/cultural outlook</a:t>
            </a:r>
            <a:endParaRPr/>
          </a:p>
        </p:txBody>
      </p:sp>
      <p:pic>
        <p:nvPicPr>
          <p:cNvPr descr="PeterBlau.jpg"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450" y="1232300"/>
            <a:ext cx="2437850" cy="33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225225"/>
            <a:ext cx="608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a nominal parameter divides the population into two or more groups: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 of numerically smaller groups will be proportionally more likely to have relations with majority group members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group size inequality increases members of the majority group will tend to have almost exclusively ingroup relations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Minorities benefit from outgroup ties?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diversity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Diversity of intellectual/cultural outlook</a:t>
            </a:r>
            <a:endParaRPr/>
          </a:p>
        </p:txBody>
      </p:sp>
      <p:pic>
        <p:nvPicPr>
          <p:cNvPr descr="FT_15.06.12.Interracial.png"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900" y="1299625"/>
            <a:ext cx="2444700" cy="302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225225"/>
            <a:ext cx="608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a nominal parameter divides the population into two or more groups: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 of numerically smaller groups will be proportionally more likely to have relations with majority group members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group size inequality increases members of the majority group will tend to have almost exclusively ingroup relations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Minorities benefit from outgroup ties?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diversity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Diversity of intellectual/cultural outlook</a:t>
            </a:r>
            <a:endParaRPr/>
          </a:p>
        </p:txBody>
      </p:sp>
      <p:pic>
        <p:nvPicPr>
          <p:cNvPr descr="Percentages_of_the_us_population_by_race_-_2000.png"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500" y="1526150"/>
            <a:ext cx="2444699" cy="209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Example: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U.S. there are systematic correlations between religion and race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Choosing contacts based on race leads to biases in the representation of people of certain religions at the micro-structural level (And vice-versa)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Accordingly: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Can’t conclude that people prefer same (race/religion) contacts from micro-level observations of homogeneity!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0040817_1.gif"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573" y="1587425"/>
            <a:ext cx="3856725" cy="26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225225"/>
            <a:ext cx="526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applies to any </a:t>
            </a:r>
            <a:r>
              <a:rPr b="1" lang="en"/>
              <a:t>correlation</a:t>
            </a:r>
            <a:r>
              <a:rPr lang="en"/>
              <a:t> between dimensions of association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race associational preference may lead to higher/lower representation of people different social classes at the micro-structural level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negative correlations it goes the other way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diversity at the micro-level that we would expect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Age and education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US_Race_Household_Income.png"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550" y="1649027"/>
            <a:ext cx="3250749" cy="25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225225"/>
            <a:ext cx="556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do social ties come from?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answer: Inherent tendencies within social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 or </a:t>
            </a:r>
            <a:r>
              <a:rPr lang="en"/>
              <a:t>transitivity</a:t>
            </a:r>
            <a:r>
              <a:rPr lang="en"/>
              <a:t>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52" name="Google Shape;152;p26"/>
          <p:cNvGrpSpPr/>
          <p:nvPr/>
        </p:nvGrpSpPr>
        <p:grpSpPr>
          <a:xfrm>
            <a:off x="1004213" y="2549725"/>
            <a:ext cx="4181775" cy="1629750"/>
            <a:chOff x="1256700" y="2291950"/>
            <a:chExt cx="4181775" cy="1629750"/>
          </a:xfrm>
        </p:grpSpPr>
        <p:sp>
          <p:nvSpPr>
            <p:cNvPr id="153" name="Google Shape;153;p26"/>
            <p:cNvSpPr txBox="1"/>
            <p:nvPr/>
          </p:nvSpPr>
          <p:spPr>
            <a:xfrm>
              <a:off x="1256700" y="3512500"/>
              <a:ext cx="29538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relation to relation</a:t>
              </a:r>
              <a:endParaRPr/>
            </a:p>
          </p:txBody>
        </p:sp>
        <p:pic>
          <p:nvPicPr>
            <p:cNvPr id="154" name="Google Shape;154;p26"/>
            <p:cNvPicPr preferRelativeResize="0"/>
            <p:nvPr/>
          </p:nvPicPr>
          <p:blipFill rotWithShape="1">
            <a:blip r:embed="rId3">
              <a:alphaModFix/>
            </a:blip>
            <a:srcRect b="82105" l="29153" r="29336" t="9537"/>
            <a:stretch/>
          </p:blipFill>
          <p:spPr>
            <a:xfrm>
              <a:off x="1274325" y="2291950"/>
              <a:ext cx="4164150" cy="12205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225225"/>
            <a:ext cx="556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observation: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social relations are organized around “circles,” or “common activities”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“foci” may themselves be a primary driver of which relations show up in people’s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“focus”?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 a social, psychological, legal, or physical entity around which joint activities are organized (e.g., workplaces, voluntary organizations, hangouts, families, etc.” (Feld 1981: 1016)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 b="8042" l="25470" r="25922" t="70152"/>
          <a:stretch/>
        </p:blipFill>
        <p:spPr>
          <a:xfrm>
            <a:off x="5878500" y="1379163"/>
            <a:ext cx="3069726" cy="23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225225"/>
            <a:ext cx="55668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suggests two </a:t>
            </a:r>
            <a:r>
              <a:rPr lang="en"/>
              <a:t>new </a:t>
            </a:r>
            <a:r>
              <a:rPr lang="en"/>
              <a:t>mechanisms for where ties come from: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8"/>
          <p:cNvGrpSpPr/>
          <p:nvPr/>
        </p:nvGrpSpPr>
        <p:grpSpPr>
          <a:xfrm>
            <a:off x="1027590" y="2056524"/>
            <a:ext cx="4135005" cy="2753453"/>
            <a:chOff x="457300" y="1874050"/>
            <a:chExt cx="4519625" cy="3013850"/>
          </a:xfrm>
        </p:grpSpPr>
        <p:pic>
          <p:nvPicPr>
            <p:cNvPr id="171" name="Google Shape;171;p28"/>
            <p:cNvPicPr preferRelativeResize="0"/>
            <p:nvPr/>
          </p:nvPicPr>
          <p:blipFill rotWithShape="1">
            <a:blip r:embed="rId4">
              <a:alphaModFix/>
            </a:blip>
            <a:srcRect b="78822" l="19131" r="24569" t="10521"/>
            <a:stretch/>
          </p:blipFill>
          <p:spPr>
            <a:xfrm>
              <a:off x="457300" y="1874050"/>
              <a:ext cx="4199400" cy="115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8"/>
            <p:cNvSpPr txBox="1"/>
            <p:nvPr/>
          </p:nvSpPr>
          <p:spPr>
            <a:xfrm>
              <a:off x="777525" y="2968850"/>
              <a:ext cx="33726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circle to relation</a:t>
              </a:r>
              <a:endParaRPr/>
            </a:p>
          </p:txBody>
        </p:sp>
        <p:pic>
          <p:nvPicPr>
            <p:cNvPr id="173" name="Google Shape;173;p28"/>
            <p:cNvPicPr preferRelativeResize="0"/>
            <p:nvPr/>
          </p:nvPicPr>
          <p:blipFill rotWithShape="1">
            <a:blip r:embed="rId4">
              <a:alphaModFix/>
            </a:blip>
            <a:srcRect b="11530" l="26337" r="24518" t="79547"/>
            <a:stretch/>
          </p:blipFill>
          <p:spPr>
            <a:xfrm>
              <a:off x="549000" y="3378050"/>
              <a:ext cx="4164150" cy="110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8"/>
            <p:cNvSpPr txBox="1"/>
            <p:nvPr/>
          </p:nvSpPr>
          <p:spPr>
            <a:xfrm>
              <a:off x="777525" y="4478700"/>
              <a:ext cx="41994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activity to relation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225225"/>
            <a:ext cx="5567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around several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Levels of “constraint”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 and energy that they require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may emerge from pre-existing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form clubs, participate in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generally belong to multiple intersecting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“Cross-cutting” circles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at the ego-network level may be the result of constraining overlapping </a:t>
            </a:r>
            <a:r>
              <a:rPr lang="en"/>
              <a:t>foci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