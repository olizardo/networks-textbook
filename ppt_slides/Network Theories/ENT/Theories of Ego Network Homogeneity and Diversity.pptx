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Economica"/>
      <p:regular r:id="rId34"/>
      <p:bold r:id="rId35"/>
      <p:italic r:id="rId36"/>
      <p:boldItalic r:id="rId37"/>
    </p:embeddedFont>
    <p:embeddedFont>
      <p:font typeface="Habibi"/>
      <p:regular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5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Economica-bold.fntdata"/><Relationship Id="rId12" Type="http://schemas.openxmlformats.org/officeDocument/2006/relationships/slide" Target="slides/slide7.xml"/><Relationship Id="rId34" Type="http://schemas.openxmlformats.org/officeDocument/2006/relationships/font" Target="fonts/Economica-regular.fntdata"/><Relationship Id="rId15" Type="http://schemas.openxmlformats.org/officeDocument/2006/relationships/slide" Target="slides/slide10.xml"/><Relationship Id="rId37" Type="http://schemas.openxmlformats.org/officeDocument/2006/relationships/font" Target="fonts/Economica-boldItalic.fntdata"/><Relationship Id="rId14" Type="http://schemas.openxmlformats.org/officeDocument/2006/relationships/slide" Target="slides/slide9.xml"/><Relationship Id="rId36" Type="http://schemas.openxmlformats.org/officeDocument/2006/relationships/font" Target="fonts/Economica-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regular.fntdata"/><Relationship Id="rId16" Type="http://schemas.openxmlformats.org/officeDocument/2006/relationships/slide" Target="slides/slide11.xml"/><Relationship Id="rId38" Type="http://schemas.openxmlformats.org/officeDocument/2006/relationships/font" Target="fonts/Habibi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76348e60c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76348e60c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76348e60c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76348e60c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76348e60c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76348e60c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76348e60c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76348e60c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76348e60c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76348e60c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76348e60c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76348e60c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76348e60c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76348e60c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76348e60c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76348e60c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76348e60c_3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76348e60c_3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76348e60c_3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76348e60c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76348e60c_3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576348e60c_3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76348e60c_3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76348e60c_3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76348e60c_3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576348e60c_3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76348e60c_3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576348e60c_3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76348e60c_3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576348e60c_3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76348e60c_3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576348e60c_3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76348e60c_3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576348e60c_3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76348e60c_3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576348e60c_3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576348e60c_3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576348e60c_3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576348e60c_3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576348e60c_3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576348e60c_3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576348e60c_3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576348e60c_3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576348e60c_3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576348e60c_3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576348e60c_3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576348e60c_3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576348e60c_3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76348e60c_3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576348e60c_3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576348e60c_3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576348e60c_3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576348e60c_3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576348e60c_3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5827f440e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5827f440e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hyperlink" Target="https://en.wikipedia.org/wiki/Peter_Blau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jpg"/><Relationship Id="rId6" Type="http://schemas.openxmlformats.org/officeDocument/2006/relationships/hyperlink" Target="https://scholar.harvard.edu/pvmarsden/hom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jpg"/><Relationship Id="rId4" Type="http://schemas.openxmlformats.org/officeDocument/2006/relationships/hyperlink" Target="https://scholar.harvard.edu/pvmarsden/hom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Theories of Ego Network Homogeneity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Macrostructural Theory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225225"/>
            <a:ext cx="6576600" cy="29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composition</a:t>
            </a:r>
            <a:r>
              <a:rPr lang="en"/>
              <a:t> of your ego network is likely </a:t>
            </a:r>
            <a:r>
              <a:rPr b="1" lang="en"/>
              <a:t>biased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How</a:t>
            </a:r>
            <a:r>
              <a:rPr lang="en"/>
              <a:t> are your ego networks biased?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kinds of people are </a:t>
            </a:r>
            <a:r>
              <a:rPr b="1" lang="en"/>
              <a:t>over-represented </a:t>
            </a:r>
            <a:r>
              <a:rPr lang="en"/>
              <a:t>in your ego-network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kinds of people are </a:t>
            </a:r>
            <a:r>
              <a:rPr b="1" lang="en"/>
              <a:t>under-represented</a:t>
            </a:r>
            <a:r>
              <a:rPr lang="en"/>
              <a:t> in your ego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people who are </a:t>
            </a:r>
            <a:r>
              <a:rPr b="1" lang="en">
                <a:solidFill>
                  <a:srgbClr val="0000FF"/>
                </a:solidFill>
              </a:rPr>
              <a:t>over-represented</a:t>
            </a:r>
            <a:r>
              <a:rPr lang="en"/>
              <a:t> are more likely to be </a:t>
            </a:r>
            <a:r>
              <a:rPr b="1" lang="en">
                <a:solidFill>
                  <a:srgbClr val="0000FF"/>
                </a:solidFill>
              </a:rPr>
              <a:t>similar</a:t>
            </a:r>
            <a:r>
              <a:rPr lang="en"/>
              <a:t> to you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people who are </a:t>
            </a:r>
            <a:r>
              <a:rPr b="1" lang="en">
                <a:solidFill>
                  <a:srgbClr val="FF0000"/>
                </a:solidFill>
              </a:rPr>
              <a:t>under-represented</a:t>
            </a:r>
            <a:r>
              <a:rPr lang="en"/>
              <a:t> are more likely to be </a:t>
            </a:r>
            <a:r>
              <a:rPr b="1" lang="en">
                <a:solidFill>
                  <a:srgbClr val="FF0000"/>
                </a:solidFill>
              </a:rPr>
              <a:t>dissimilar</a:t>
            </a:r>
            <a:r>
              <a:rPr lang="en"/>
              <a:t> to you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These last two things are the basis of </a:t>
            </a:r>
            <a:r>
              <a:rPr b="1" lang="en"/>
              <a:t>homophily*</a:t>
            </a:r>
            <a:endParaRPr b="1"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154912" y="1880513"/>
            <a:ext cx="3410675" cy="1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311700" y="4370675"/>
            <a:ext cx="65766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*McPherson, M., Smith-Lovin, L., &amp; Cook, J. M. (2001). Birds of a feather: Homophily in social networks. </a:t>
            </a:r>
            <a:r>
              <a:rPr i="1" lang="en">
                <a:latin typeface="Economica"/>
                <a:ea typeface="Economica"/>
                <a:cs typeface="Economica"/>
                <a:sym typeface="Economica"/>
              </a:rPr>
              <a:t>Annual Review of Sociology,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 27(1), 415-444.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6807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i="1" lang="en"/>
              <a:t>what</a:t>
            </a:r>
            <a:r>
              <a:rPr lang="en"/>
              <a:t> </a:t>
            </a:r>
            <a:r>
              <a:rPr i="1" lang="en"/>
              <a:t>ways</a:t>
            </a:r>
            <a:r>
              <a:rPr lang="en"/>
              <a:t> are your networks biased toward </a:t>
            </a:r>
            <a:r>
              <a:rPr b="1" lang="en"/>
              <a:t>homophily</a:t>
            </a:r>
            <a:r>
              <a:rPr lang="en"/>
              <a:t>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According to pretty much any social distinction we can think of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Race/Ethnicity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Occupation/Income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what Peter Blau called </a:t>
            </a:r>
            <a:r>
              <a:rPr b="1" lang="en"/>
              <a:t>dimensions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association </a:t>
            </a:r>
            <a:r>
              <a:rPr lang="en"/>
              <a:t>or </a:t>
            </a:r>
            <a:r>
              <a:rPr b="1" lang="en"/>
              <a:t>parameters of social structure</a:t>
            </a:r>
            <a:endParaRPr b="1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154912" y="1880513"/>
            <a:ext cx="3410675" cy="19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5225"/>
            <a:ext cx="6807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i="1" lang="en"/>
              <a:t>what</a:t>
            </a:r>
            <a:r>
              <a:rPr lang="en"/>
              <a:t> </a:t>
            </a:r>
            <a:r>
              <a:rPr i="1" lang="en"/>
              <a:t>ways</a:t>
            </a:r>
            <a:r>
              <a:rPr lang="en"/>
              <a:t> are your networks biased toward </a:t>
            </a:r>
            <a:r>
              <a:rPr b="1" lang="en"/>
              <a:t>homophily</a:t>
            </a:r>
            <a:r>
              <a:rPr lang="en"/>
              <a:t>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According to pretty much any social distinction we can think of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Race/Ethnicity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Occupation/Income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</a:t>
            </a:r>
            <a:r>
              <a:rPr b="1" lang="en"/>
              <a:t>dimensions of association </a:t>
            </a:r>
            <a:r>
              <a:rPr lang="en"/>
              <a:t>are </a:t>
            </a:r>
            <a:r>
              <a:rPr b="1" lang="en"/>
              <a:t>categorical </a:t>
            </a:r>
            <a:r>
              <a:rPr lang="en"/>
              <a:t>(no inherent ordering)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race, gender identity, occupation, nationality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called </a:t>
            </a:r>
            <a:r>
              <a:rPr b="1" lang="en"/>
              <a:t>nominal parameters</a:t>
            </a:r>
            <a:endParaRPr b="1"/>
          </a:p>
          <a:p>
            <a:pPr indent="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154912" y="1880513"/>
            <a:ext cx="3410675" cy="19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225225"/>
            <a:ext cx="6807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i="1" lang="en"/>
              <a:t>what</a:t>
            </a:r>
            <a:r>
              <a:rPr lang="en"/>
              <a:t> </a:t>
            </a:r>
            <a:r>
              <a:rPr i="1" lang="en"/>
              <a:t>ways</a:t>
            </a:r>
            <a:r>
              <a:rPr lang="en"/>
              <a:t> are your networks biased toward </a:t>
            </a:r>
            <a:r>
              <a:rPr b="1" lang="en"/>
              <a:t>homophily</a:t>
            </a:r>
            <a:r>
              <a:rPr lang="en"/>
              <a:t>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According to pretty much any social distinction we can think of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Race/Ethnicity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Occupation/Income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</a:t>
            </a:r>
            <a:r>
              <a:rPr b="1" lang="en"/>
              <a:t>dimensions of association </a:t>
            </a:r>
            <a:r>
              <a:rPr lang="en"/>
              <a:t>are </a:t>
            </a:r>
            <a:r>
              <a:rPr b="1" lang="en"/>
              <a:t>continuous </a:t>
            </a:r>
            <a:r>
              <a:rPr lang="en"/>
              <a:t>or </a:t>
            </a:r>
            <a:r>
              <a:rPr b="1" lang="en"/>
              <a:t>ordinal </a:t>
            </a:r>
            <a:r>
              <a:rPr lang="en"/>
              <a:t>(inherent ordering)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age, education, income, net worth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called </a:t>
            </a:r>
            <a:r>
              <a:rPr b="1" lang="en"/>
              <a:t>graduated parameters</a:t>
            </a:r>
            <a:r>
              <a:rPr lang="en"/>
              <a:t> </a:t>
            </a:r>
            <a:endParaRPr/>
          </a:p>
          <a:p>
            <a:pPr indent="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154912" y="1880513"/>
            <a:ext cx="3410675" cy="19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225225"/>
            <a:ext cx="54612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Why</a:t>
            </a:r>
            <a:r>
              <a:rPr lang="en"/>
              <a:t> are your ego networks biased toward homophily?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</a:t>
            </a:r>
            <a:r>
              <a:rPr b="1" lang="en"/>
              <a:t>obvious</a:t>
            </a:r>
            <a:r>
              <a:rPr lang="en"/>
              <a:t> source of bias is what has been called* </a:t>
            </a:r>
            <a:r>
              <a:rPr b="1" lang="en"/>
              <a:t>choice homophily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You like to hang out with people who are similar to you (regardless)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</a:t>
            </a:r>
            <a:r>
              <a:rPr b="1" lang="en"/>
              <a:t>non-obvious</a:t>
            </a:r>
            <a:r>
              <a:rPr lang="en"/>
              <a:t> source of bias is what has been called* </a:t>
            </a:r>
            <a:r>
              <a:rPr b="1" lang="en"/>
              <a:t>induced homophily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The social context (nation, state, organization) where you reside determines the people who are available for you to hang out with</a:t>
            </a:r>
            <a:endParaRPr i="1"/>
          </a:p>
          <a:p>
            <a:pPr indent="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PeterBlau.jpg"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311700" y="4195050"/>
            <a:ext cx="60723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*McPherson, J. M., &amp; Smith-Lovin, L. (1987). Homophily in voluntary organizations: Status distance and the composition of face-to-face groups. </a:t>
            </a:r>
            <a:r>
              <a:rPr i="1" lang="en">
                <a:solidFill>
                  <a:srgbClr val="222222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American Sociological Review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, 370-379.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20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124" name="Google Shape;124;p20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5" name="Google Shape;125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26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31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6938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793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0" name="Google Shape;130;p20"/>
            <p:cNvCxnSpPr>
              <a:stCxn id="125" idx="1"/>
              <a:endCxn id="126" idx="2"/>
            </p:cNvCxnSpPr>
            <p:nvPr/>
          </p:nvCxnSpPr>
          <p:spPr>
            <a:xfrm rot="10800000">
              <a:off x="44396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20"/>
            <p:cNvCxnSpPr>
              <a:stCxn id="125" idx="0"/>
              <a:endCxn id="128" idx="2"/>
            </p:cNvCxnSpPr>
            <p:nvPr/>
          </p:nvCxnSpPr>
          <p:spPr>
            <a:xfrm rot="10800000">
              <a:off x="865330" y="3908625"/>
              <a:ext cx="232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20"/>
            <p:cNvCxnSpPr>
              <a:stCxn id="125" idx="0"/>
              <a:endCxn id="127" idx="2"/>
            </p:cNvCxnSpPr>
            <p:nvPr/>
          </p:nvCxnSpPr>
          <p:spPr>
            <a:xfrm flipH="1" rot="10800000">
              <a:off x="1098130" y="3908625"/>
              <a:ext cx="2034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" name="Google Shape;133;p20"/>
            <p:cNvCxnSpPr>
              <a:stCxn id="129" idx="2"/>
              <a:endCxn id="125" idx="3"/>
            </p:cNvCxnSpPr>
            <p:nvPr/>
          </p:nvCxnSpPr>
          <p:spPr>
            <a:xfrm flipH="1">
              <a:off x="124177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4" name="Google Shape;134;p20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135" name="Google Shape;135;p20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6" name="Google Shape;136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9" name="Google Shape;139;p20"/>
            <p:cNvCxnSpPr>
              <a:stCxn id="136" idx="1"/>
              <a:endCxn id="137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20"/>
            <p:cNvCxnSpPr>
              <a:stCxn id="136" idx="0"/>
              <a:endCxn id="141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20"/>
            <p:cNvCxnSpPr>
              <a:stCxn id="136" idx="0"/>
              <a:endCxn id="143" idx="2"/>
            </p:cNvCxnSpPr>
            <p:nvPr/>
          </p:nvCxnSpPr>
          <p:spPr>
            <a:xfrm flipH="1" rot="10800000">
              <a:off x="3407580" y="3908625"/>
              <a:ext cx="184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20"/>
            <p:cNvCxnSpPr>
              <a:stCxn id="138" idx="2"/>
              <a:endCxn id="136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41" name="Google Shape;141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48724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20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Unbiased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Your ego network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4" name="Google Shape;154;p20"/>
          <p:cNvCxnSpPr>
            <a:stCxn id="153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0"/>
          <p:cNvCxnSpPr>
            <a:stCxn id="153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0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 World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 World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2" name="Google Shape;16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163" name="Google Shape;16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Unbiased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238075" y="2824400"/>
            <a:ext cx="2060700" cy="1899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34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238" y="320673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96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21"/>
          <p:cNvCxnSpPr>
            <a:stCxn id="187" idx="1"/>
          </p:cNvCxnSpPr>
          <p:nvPr/>
        </p:nvCxnSpPr>
        <p:spPr>
          <a:xfrm rot="10800000">
            <a:off x="614200" y="3781025"/>
            <a:ext cx="4959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1"/>
          <p:cNvCxnSpPr>
            <a:stCxn id="187" idx="0"/>
            <a:endCxn id="184" idx="2"/>
          </p:cNvCxnSpPr>
          <p:nvPr/>
        </p:nvCxnSpPr>
        <p:spPr>
          <a:xfrm rot="10800000">
            <a:off x="1035625" y="3780987"/>
            <a:ext cx="2328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1"/>
          <p:cNvCxnSpPr>
            <a:stCxn id="187" idx="0"/>
            <a:endCxn id="183" idx="2"/>
          </p:cNvCxnSpPr>
          <p:nvPr/>
        </p:nvCxnSpPr>
        <p:spPr>
          <a:xfrm flipH="1" rot="10800000">
            <a:off x="1268425" y="3780987"/>
            <a:ext cx="2034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1"/>
          <p:cNvCxnSpPr>
            <a:stCxn id="185" idx="2"/>
            <a:endCxn id="187" idx="3"/>
          </p:cNvCxnSpPr>
          <p:nvPr/>
        </p:nvCxnSpPr>
        <p:spPr>
          <a:xfrm flipH="1">
            <a:off x="1426775" y="3781000"/>
            <a:ext cx="4812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7" name="Google Shape;18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100" y="4014087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21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192" name="Google Shape;192;p21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3" name="Google Shape;193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4" name="Google Shape;194;p21"/>
            <p:cNvCxnSpPr>
              <a:stCxn id="195" idx="1"/>
              <a:endCxn id="196" idx="2"/>
            </p:cNvCxnSpPr>
            <p:nvPr/>
          </p:nvCxnSpPr>
          <p:spPr>
            <a:xfrm rot="10800000">
              <a:off x="2776300" y="3908725"/>
              <a:ext cx="4878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21"/>
            <p:cNvCxnSpPr>
              <a:stCxn id="195" idx="0"/>
              <a:endCxn id="198" idx="2"/>
            </p:cNvCxnSpPr>
            <p:nvPr/>
          </p:nvCxnSpPr>
          <p:spPr>
            <a:xfrm rot="10800000">
              <a:off x="3193888" y="3908725"/>
              <a:ext cx="2649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21"/>
            <p:cNvCxnSpPr>
              <a:stCxn id="195" idx="0"/>
              <a:endCxn id="200" idx="2"/>
            </p:cNvCxnSpPr>
            <p:nvPr/>
          </p:nvCxnSpPr>
          <p:spPr>
            <a:xfrm flipH="1" rot="10800000">
              <a:off x="3407475" y="3908725"/>
              <a:ext cx="2040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1"/>
            <p:cNvCxnSpPr>
              <a:stCxn id="193" idx="2"/>
              <a:endCxn id="195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2" name="Google Shape;202;p21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200" name="Google Shape;20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675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9088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150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61" y="3206725"/>
            <a:ext cx="287138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Your ego network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5" name="Google Shape;205;p21"/>
          <p:cNvCxnSpPr>
            <a:stCxn id="204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21"/>
          <p:cNvCxnSpPr>
            <a:stCxn id="204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7" name="Google Shape;20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775" y="4014074"/>
            <a:ext cx="316650" cy="57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22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226" name="Google Shape;226;p22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7" name="Google Shape;227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26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31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6938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793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2" name="Google Shape;232;p22"/>
            <p:cNvCxnSpPr>
              <a:stCxn id="227" idx="1"/>
              <a:endCxn id="228" idx="2"/>
            </p:cNvCxnSpPr>
            <p:nvPr/>
          </p:nvCxnSpPr>
          <p:spPr>
            <a:xfrm rot="10800000">
              <a:off x="44396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" name="Google Shape;233;p22"/>
            <p:cNvCxnSpPr>
              <a:stCxn id="227" idx="0"/>
              <a:endCxn id="230" idx="2"/>
            </p:cNvCxnSpPr>
            <p:nvPr/>
          </p:nvCxnSpPr>
          <p:spPr>
            <a:xfrm rot="10800000">
              <a:off x="865330" y="3908625"/>
              <a:ext cx="232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" name="Google Shape;234;p22"/>
            <p:cNvCxnSpPr>
              <a:stCxn id="227" idx="0"/>
              <a:endCxn id="229" idx="2"/>
            </p:cNvCxnSpPr>
            <p:nvPr/>
          </p:nvCxnSpPr>
          <p:spPr>
            <a:xfrm flipH="1" rot="10800000">
              <a:off x="1098130" y="3908625"/>
              <a:ext cx="2034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" name="Google Shape;235;p22"/>
            <p:cNvCxnSpPr>
              <a:stCxn id="231" idx="2"/>
              <a:endCxn id="227" idx="3"/>
            </p:cNvCxnSpPr>
            <p:nvPr/>
          </p:nvCxnSpPr>
          <p:spPr>
            <a:xfrm flipH="1">
              <a:off x="124177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6" name="Google Shape;236;p22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237" name="Google Shape;237;p22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8" name="Google Shape;238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1" name="Google Shape;241;p22"/>
            <p:cNvCxnSpPr>
              <a:stCxn id="238" idx="1"/>
              <a:endCxn id="239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22"/>
            <p:cNvCxnSpPr>
              <a:stCxn id="238" idx="0"/>
              <a:endCxn id="243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2"/>
            <p:cNvCxnSpPr>
              <a:stCxn id="238" idx="0"/>
              <a:endCxn id="245" idx="2"/>
            </p:cNvCxnSpPr>
            <p:nvPr/>
          </p:nvCxnSpPr>
          <p:spPr>
            <a:xfrm flipH="1" rot="10800000">
              <a:off x="3407580" y="3908625"/>
              <a:ext cx="184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22"/>
            <p:cNvCxnSpPr>
              <a:stCxn id="240" idx="2"/>
              <a:endCxn id="238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43" name="Google Shape;243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48724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7" name="Google Shape;24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22"/>
          <p:cNvCxnSpPr>
            <a:stCxn id="254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22"/>
          <p:cNvCxnSpPr>
            <a:stCxn id="254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22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 World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Unbiased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Your ego network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Group Size Effects</a:t>
            </a:r>
            <a:endParaRPr/>
          </a:p>
        </p:txBody>
      </p:sp>
      <p:sp>
        <p:nvSpPr>
          <p:cNvPr id="265" name="Google Shape;265;p23"/>
          <p:cNvSpPr txBox="1"/>
          <p:nvPr>
            <p:ph idx="1" type="body"/>
          </p:nvPr>
        </p:nvSpPr>
        <p:spPr>
          <a:xfrm>
            <a:off x="311700" y="1225225"/>
            <a:ext cx="8520600" cy="16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If a categorical dimension divides the population into two or more groups: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Rule 1</a:t>
            </a:r>
            <a:r>
              <a:rPr lang="en"/>
              <a:t>:</a:t>
            </a:r>
            <a:r>
              <a:rPr i="1" lang="en"/>
              <a:t> Members of numerically smaller groups will be more likely to have relations with outgroup (different group) members</a:t>
            </a:r>
            <a:endParaRPr i="1"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Rule 2</a:t>
            </a:r>
            <a:r>
              <a:rPr lang="en"/>
              <a:t>: </a:t>
            </a:r>
            <a:r>
              <a:rPr i="1" lang="en"/>
              <a:t>Members of numerically larger groups will be more likely to have relations with ingroup (same group) members</a:t>
            </a:r>
            <a:endParaRPr i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These are called </a:t>
            </a:r>
            <a:r>
              <a:rPr b="1" lang="en"/>
              <a:t>group size effects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175" y="2940625"/>
            <a:ext cx="3130483" cy="197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7824" y="2107250"/>
            <a:ext cx="2779225" cy="28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Group Size Effects</a:t>
            </a:r>
            <a:endParaRPr/>
          </a:p>
        </p:txBody>
      </p:sp>
      <p:sp>
        <p:nvSpPr>
          <p:cNvPr id="273" name="Google Shape;273;p24"/>
          <p:cNvSpPr txBox="1"/>
          <p:nvPr>
            <p:ph idx="1" type="body"/>
          </p:nvPr>
        </p:nvSpPr>
        <p:spPr>
          <a:xfrm>
            <a:off x="311700" y="1225225"/>
            <a:ext cx="8520600" cy="16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If a categorical dimension divides the population into two or more groups: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Rule 1</a:t>
            </a:r>
            <a:r>
              <a:rPr lang="en"/>
              <a:t>:</a:t>
            </a:r>
            <a:r>
              <a:rPr i="1" lang="en"/>
              <a:t> Members of numerically smaller groups will be more likely to have relations with outgroup (different group) members</a:t>
            </a:r>
            <a:endParaRPr i="1"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Rule 2</a:t>
            </a:r>
            <a:r>
              <a:rPr lang="en"/>
              <a:t>: </a:t>
            </a:r>
            <a:r>
              <a:rPr i="1" lang="en"/>
              <a:t>Members of numerically larger groups will be more likely to have relations with ingroup (same group) members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These are called </a:t>
            </a:r>
            <a:r>
              <a:rPr b="1" lang="en"/>
              <a:t>group size effects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175" y="2940625"/>
            <a:ext cx="3130483" cy="197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/>
          <p:cNvPicPr preferRelativeResize="0"/>
          <p:nvPr/>
        </p:nvPicPr>
        <p:blipFill rotWithShape="1">
          <a:blip r:embed="rId4">
            <a:alphaModFix/>
          </a:blip>
          <a:srcRect b="3802" l="3341" r="929" t="4371"/>
          <a:stretch/>
        </p:blipFill>
        <p:spPr>
          <a:xfrm>
            <a:off x="5406825" y="2428900"/>
            <a:ext cx="3392675" cy="21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4161600" y="4604350"/>
            <a:ext cx="4670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Source: Joyner, K. &amp; Kao, G. (2000). School racial composition and adolescent racial homophily. </a:t>
            </a:r>
            <a:r>
              <a:rPr i="1" lang="en" sz="1100">
                <a:solidFill>
                  <a:schemeClr val="dk1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Social Science Quarterly, 81,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 810-825.</a:t>
            </a:r>
            <a:endParaRPr sz="11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Multiform Heterogeneity Effects</a:t>
            </a:r>
            <a:endParaRPr/>
          </a:p>
        </p:txBody>
      </p:sp>
      <p:sp>
        <p:nvSpPr>
          <p:cNvPr id="282" name="Google Shape;282;p25"/>
          <p:cNvSpPr txBox="1"/>
          <p:nvPr>
            <p:ph idx="1" type="body"/>
          </p:nvPr>
        </p:nvSpPr>
        <p:spPr>
          <a:xfrm>
            <a:off x="311700" y="1225225"/>
            <a:ext cx="8611800" cy="14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If people belong to multiple correlated categorical dimensions: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Rule 3: Preferences for association  in one dimension lead to biases in social contacts on the other dimension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is called the </a:t>
            </a:r>
            <a:r>
              <a:rPr b="1" lang="en"/>
              <a:t>Multiform Heterogeneity Effect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20040817_1.gif" id="283" name="Google Shape;2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9048" y="2660650"/>
            <a:ext cx="3200400" cy="21869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311700" y="2411875"/>
            <a:ext cx="539100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 the U.S. there are systematic correlations between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religion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race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Ego networks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biased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by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race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choice homophily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 will also be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biased by religion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Even if people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don’t have preferences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the religion of their contacts (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Induced homophily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Multiform Heterogeneity Effects</a:t>
            </a:r>
            <a:endParaRPr/>
          </a:p>
        </p:txBody>
      </p:sp>
      <p:sp>
        <p:nvSpPr>
          <p:cNvPr id="290" name="Google Shape;290;p26"/>
          <p:cNvSpPr txBox="1"/>
          <p:nvPr>
            <p:ph idx="1" type="body"/>
          </p:nvPr>
        </p:nvSpPr>
        <p:spPr>
          <a:xfrm>
            <a:off x="311700" y="1225225"/>
            <a:ext cx="8114100" cy="9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Char char="●"/>
            </a:pPr>
            <a:r>
              <a:rPr lang="en"/>
              <a:t>Rule 3 (multiform heterogeneity) applies to any </a:t>
            </a:r>
            <a:r>
              <a:rPr b="1" lang="en"/>
              <a:t>correlation</a:t>
            </a:r>
            <a:r>
              <a:rPr lang="en"/>
              <a:t> between dimensions of association regardless of whether they are </a:t>
            </a:r>
            <a:r>
              <a:rPr b="1" lang="en"/>
              <a:t>categorical</a:t>
            </a:r>
            <a:r>
              <a:rPr lang="en"/>
              <a:t> or </a:t>
            </a:r>
            <a:r>
              <a:rPr b="1" lang="en"/>
              <a:t>continuous</a:t>
            </a:r>
            <a:r>
              <a:rPr lang="en"/>
              <a:t>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4600" y="1920650"/>
            <a:ext cx="4114800" cy="271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311700" y="1859175"/>
            <a:ext cx="4662900" cy="28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Categorical-Categorical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(e.g.,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Race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Religion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Networks biased by religion will be biased by race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Categorical-Continuous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(e.g.,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Race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Income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Networks biased by race will be biased by income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Continuous-Continuous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(e.g.,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Income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Networks biased by age will be biased by income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Multiform Heterogeneity Effects</a:t>
            </a:r>
            <a:endParaRPr/>
          </a:p>
        </p:txBody>
      </p:sp>
      <p:sp>
        <p:nvSpPr>
          <p:cNvPr id="298" name="Google Shape;298;p27"/>
          <p:cNvSpPr txBox="1"/>
          <p:nvPr>
            <p:ph idx="1" type="body"/>
          </p:nvPr>
        </p:nvSpPr>
        <p:spPr>
          <a:xfrm>
            <a:off x="311700" y="1225225"/>
            <a:ext cx="8114100" cy="9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Char char="●"/>
            </a:pPr>
            <a:r>
              <a:rPr lang="en"/>
              <a:t>Rule 3 (multiform heterogeneity) applies to any </a:t>
            </a:r>
            <a:r>
              <a:rPr b="1" lang="en"/>
              <a:t>correlation</a:t>
            </a:r>
            <a:r>
              <a:rPr lang="en"/>
              <a:t> between dimensions of association regardless of whether they are </a:t>
            </a:r>
            <a:r>
              <a:rPr b="1" lang="en"/>
              <a:t>categorical</a:t>
            </a:r>
            <a:r>
              <a:rPr lang="en"/>
              <a:t> or </a:t>
            </a:r>
            <a:r>
              <a:rPr b="1" lang="en"/>
              <a:t>continuous</a:t>
            </a:r>
            <a:r>
              <a:rPr lang="en"/>
              <a:t>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311700" y="1859175"/>
            <a:ext cx="4662900" cy="28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Categorical-Categorical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(e.g.,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Race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Religion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Networks biased by religion will be biased by race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Categorical-Continuous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(e.g.,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Race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Income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Networks biased by race will be biased by income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Continuous-Continuous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(e.g.,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Income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Networks biased by age will be biased by income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0" name="Google Shape;300;p27"/>
          <p:cNvPicPr preferRelativeResize="0"/>
          <p:nvPr/>
        </p:nvPicPr>
        <p:blipFill rotWithShape="1">
          <a:blip r:embed="rId3">
            <a:alphaModFix/>
          </a:blip>
          <a:srcRect b="0" l="12483" r="9745" t="0"/>
          <a:stretch/>
        </p:blipFill>
        <p:spPr>
          <a:xfrm>
            <a:off x="4974600" y="1859163"/>
            <a:ext cx="3789974" cy="274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Feld’s Focus Theory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311" name="Google Shape;311;p29"/>
          <p:cNvSpPr txBox="1"/>
          <p:nvPr>
            <p:ph idx="1" type="body"/>
          </p:nvPr>
        </p:nvSpPr>
        <p:spPr>
          <a:xfrm>
            <a:off x="311700" y="1225225"/>
            <a:ext cx="473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One observation: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Often social relations are organized around “circles,” or “common activities”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These </a:t>
            </a:r>
            <a:r>
              <a:rPr b="1" lang="en"/>
              <a:t>foci</a:t>
            </a:r>
            <a:r>
              <a:rPr lang="en"/>
              <a:t> determine which relations show up in people’s networks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is a </a:t>
            </a:r>
            <a:r>
              <a:rPr b="1" lang="en"/>
              <a:t>focus</a:t>
            </a:r>
            <a:r>
              <a:rPr lang="en"/>
              <a:t>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/>
              <a:t>“ a social, psychological, legal, or physical entity around which joint activities are organized (e.g., workplaces, voluntary organizations, hangouts, families, etc.” (Feld 1981: 1016)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12" name="Google Shape;3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1600" y="1299625"/>
            <a:ext cx="3333750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grpSp>
        <p:nvGrpSpPr>
          <p:cNvPr id="319" name="Google Shape;319;p30"/>
          <p:cNvGrpSpPr/>
          <p:nvPr/>
        </p:nvGrpSpPr>
        <p:grpSpPr>
          <a:xfrm>
            <a:off x="497488" y="1147225"/>
            <a:ext cx="1689600" cy="1507500"/>
            <a:chOff x="124738" y="1082275"/>
            <a:chExt cx="1689600" cy="1507500"/>
          </a:xfrm>
        </p:grpSpPr>
        <p:sp>
          <p:nvSpPr>
            <p:cNvPr id="320" name="Google Shape;320;p30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321" name="Google Shape;321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5974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2711" y="145077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4" name="Google Shape;324;p30"/>
          <p:cNvGrpSpPr/>
          <p:nvPr/>
        </p:nvGrpSpPr>
        <p:grpSpPr>
          <a:xfrm>
            <a:off x="2371225" y="1147213"/>
            <a:ext cx="1689600" cy="1507500"/>
            <a:chOff x="1981925" y="1127113"/>
            <a:chExt cx="1689600" cy="1507500"/>
          </a:xfrm>
        </p:grpSpPr>
        <p:sp>
          <p:nvSpPr>
            <p:cNvPr id="325" name="Google Shape;325;p30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326" name="Google Shape;326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83174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79911" y="15157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9" name="Google Shape;329;p30"/>
          <p:cNvGrpSpPr/>
          <p:nvPr/>
        </p:nvGrpSpPr>
        <p:grpSpPr>
          <a:xfrm>
            <a:off x="4377663" y="1077075"/>
            <a:ext cx="1689600" cy="1507500"/>
            <a:chOff x="4020563" y="1127100"/>
            <a:chExt cx="1689600" cy="1507500"/>
          </a:xfrm>
        </p:grpSpPr>
        <p:sp>
          <p:nvSpPr>
            <p:cNvPr id="330" name="Google Shape;330;p30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331" name="Google Shape;331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1811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18549" y="15937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4" name="Google Shape;334;p30"/>
          <p:cNvGrpSpPr/>
          <p:nvPr/>
        </p:nvGrpSpPr>
        <p:grpSpPr>
          <a:xfrm>
            <a:off x="2899675" y="3125038"/>
            <a:ext cx="632700" cy="914700"/>
            <a:chOff x="2899675" y="3125038"/>
            <a:chExt cx="632700" cy="914700"/>
          </a:xfrm>
        </p:grpSpPr>
        <p:sp>
          <p:nvSpPr>
            <p:cNvPr id="335" name="Google Shape;335;p30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336" name="Google Shape;336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7" name="Google Shape;3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711" y="3419637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461" y="4353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199" y="3419637"/>
            <a:ext cx="287138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30"/>
          <p:cNvCxnSpPr>
            <a:stCxn id="335" idx="0"/>
            <a:endCxn id="320" idx="5"/>
          </p:cNvCxnSpPr>
          <p:nvPr/>
        </p:nvCxnSpPr>
        <p:spPr>
          <a:xfrm rot="10800000">
            <a:off x="1939525" y="2433838"/>
            <a:ext cx="1276500" cy="6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30"/>
          <p:cNvCxnSpPr>
            <a:stCxn id="335" idx="0"/>
            <a:endCxn id="325" idx="4"/>
          </p:cNvCxnSpPr>
          <p:nvPr/>
        </p:nvCxnSpPr>
        <p:spPr>
          <a:xfrm rot="10800000">
            <a:off x="3216025" y="2654638"/>
            <a:ext cx="0" cy="47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0"/>
          <p:cNvCxnSpPr>
            <a:stCxn id="335" idx="0"/>
            <a:endCxn id="330" idx="3"/>
          </p:cNvCxnSpPr>
          <p:nvPr/>
        </p:nvCxnSpPr>
        <p:spPr>
          <a:xfrm flipH="1" rot="10800000">
            <a:off x="3216025" y="2363938"/>
            <a:ext cx="1409100" cy="7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0"/>
          <p:cNvCxnSpPr>
            <a:stCxn id="335" idx="1"/>
            <a:endCxn id="337" idx="3"/>
          </p:cNvCxnSpPr>
          <p:nvPr/>
        </p:nvCxnSpPr>
        <p:spPr>
          <a:xfrm flipH="1">
            <a:off x="2120875" y="3582388"/>
            <a:ext cx="7788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0"/>
          <p:cNvCxnSpPr>
            <a:stCxn id="335" idx="2"/>
            <a:endCxn id="338" idx="0"/>
          </p:cNvCxnSpPr>
          <p:nvPr/>
        </p:nvCxnSpPr>
        <p:spPr>
          <a:xfrm>
            <a:off x="3216025" y="4039738"/>
            <a:ext cx="0" cy="3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0"/>
          <p:cNvCxnSpPr>
            <a:stCxn id="335" idx="3"/>
            <a:endCxn id="339" idx="1"/>
          </p:cNvCxnSpPr>
          <p:nvPr/>
        </p:nvCxnSpPr>
        <p:spPr>
          <a:xfrm>
            <a:off x="3532375" y="3582388"/>
            <a:ext cx="7788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30"/>
          <p:cNvSpPr txBox="1"/>
          <p:nvPr/>
        </p:nvSpPr>
        <p:spPr>
          <a:xfrm>
            <a:off x="562000" y="456165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Unbiased!</a:t>
            </a:r>
            <a:endParaRPr/>
          </a:p>
        </p:txBody>
      </p:sp>
      <p:pic>
        <p:nvPicPr>
          <p:cNvPr id="347" name="Google Shape;34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grpSp>
        <p:nvGrpSpPr>
          <p:cNvPr id="353" name="Google Shape;353;p31"/>
          <p:cNvGrpSpPr/>
          <p:nvPr/>
        </p:nvGrpSpPr>
        <p:grpSpPr>
          <a:xfrm>
            <a:off x="497488" y="1147225"/>
            <a:ext cx="1689600" cy="1507500"/>
            <a:chOff x="124738" y="1082275"/>
            <a:chExt cx="1689600" cy="1507500"/>
          </a:xfrm>
        </p:grpSpPr>
        <p:sp>
          <p:nvSpPr>
            <p:cNvPr id="354" name="Google Shape;354;p31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355" name="Google Shape;35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6" name="Google Shape;356;p31"/>
          <p:cNvGrpSpPr/>
          <p:nvPr/>
        </p:nvGrpSpPr>
        <p:grpSpPr>
          <a:xfrm>
            <a:off x="2371225" y="1147213"/>
            <a:ext cx="1689600" cy="1507500"/>
            <a:chOff x="1981925" y="1127113"/>
            <a:chExt cx="1689600" cy="1507500"/>
          </a:xfrm>
        </p:grpSpPr>
        <p:sp>
          <p:nvSpPr>
            <p:cNvPr id="357" name="Google Shape;357;p31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358" name="Google Shape;35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9" name="Google Shape;359;p31"/>
          <p:cNvGrpSpPr/>
          <p:nvPr/>
        </p:nvGrpSpPr>
        <p:grpSpPr>
          <a:xfrm>
            <a:off x="4377663" y="1077075"/>
            <a:ext cx="1689600" cy="1507500"/>
            <a:chOff x="4020563" y="1127100"/>
            <a:chExt cx="1689600" cy="1507500"/>
          </a:xfrm>
        </p:grpSpPr>
        <p:sp>
          <p:nvSpPr>
            <p:cNvPr id="360" name="Google Shape;360;p31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361" name="Google Shape;36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2" name="Google Shape;362;p31"/>
          <p:cNvGrpSpPr/>
          <p:nvPr/>
        </p:nvGrpSpPr>
        <p:grpSpPr>
          <a:xfrm>
            <a:off x="2899675" y="3125038"/>
            <a:ext cx="632700" cy="914700"/>
            <a:chOff x="2899675" y="3125038"/>
            <a:chExt cx="632700" cy="914700"/>
          </a:xfrm>
        </p:grpSpPr>
        <p:sp>
          <p:nvSpPr>
            <p:cNvPr id="363" name="Google Shape;363;p31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364" name="Google Shape;364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5" name="Google Shape;3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461" y="4353312"/>
            <a:ext cx="287138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6" name="Google Shape;366;p31"/>
          <p:cNvCxnSpPr>
            <a:stCxn id="363" idx="0"/>
            <a:endCxn id="354" idx="5"/>
          </p:cNvCxnSpPr>
          <p:nvPr/>
        </p:nvCxnSpPr>
        <p:spPr>
          <a:xfrm rot="10800000">
            <a:off x="1939525" y="2433838"/>
            <a:ext cx="1276500" cy="6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31"/>
          <p:cNvCxnSpPr>
            <a:stCxn id="363" idx="0"/>
            <a:endCxn id="357" idx="4"/>
          </p:cNvCxnSpPr>
          <p:nvPr/>
        </p:nvCxnSpPr>
        <p:spPr>
          <a:xfrm rot="10800000">
            <a:off x="3216025" y="2654638"/>
            <a:ext cx="0" cy="47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31"/>
          <p:cNvCxnSpPr>
            <a:stCxn id="363" idx="0"/>
            <a:endCxn id="360" idx="3"/>
          </p:cNvCxnSpPr>
          <p:nvPr/>
        </p:nvCxnSpPr>
        <p:spPr>
          <a:xfrm flipH="1" rot="10800000">
            <a:off x="3216025" y="2363938"/>
            <a:ext cx="1409100" cy="7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1"/>
          <p:cNvCxnSpPr>
            <a:stCxn id="363" idx="1"/>
            <a:endCxn id="370" idx="3"/>
          </p:cNvCxnSpPr>
          <p:nvPr/>
        </p:nvCxnSpPr>
        <p:spPr>
          <a:xfrm flipH="1">
            <a:off x="2123575" y="3582388"/>
            <a:ext cx="776100" cy="1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1"/>
          <p:cNvCxnSpPr>
            <a:stCxn id="363" idx="2"/>
            <a:endCxn id="365" idx="0"/>
          </p:cNvCxnSpPr>
          <p:nvPr/>
        </p:nvCxnSpPr>
        <p:spPr>
          <a:xfrm>
            <a:off x="3216025" y="4039738"/>
            <a:ext cx="0" cy="3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1"/>
          <p:cNvCxnSpPr>
            <a:stCxn id="363" idx="3"/>
            <a:endCxn id="373" idx="1"/>
          </p:cNvCxnSpPr>
          <p:nvPr/>
        </p:nvCxnSpPr>
        <p:spPr>
          <a:xfrm>
            <a:off x="3532375" y="3582388"/>
            <a:ext cx="776100" cy="1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0" name="Google Shape;37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6925" y="343883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8475" y="34388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3975" y="15040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075" y="15040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9950" y="15437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7700" y="1543699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138" y="1543699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900" y="1543712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1"/>
          <p:cNvSpPr txBox="1"/>
          <p:nvPr/>
        </p:nvSpPr>
        <p:spPr>
          <a:xfrm>
            <a:off x="562000" y="456165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Unbiased!</a:t>
            </a:r>
            <a:endParaRPr/>
          </a:p>
        </p:txBody>
      </p:sp>
      <p:sp>
        <p:nvSpPr>
          <p:cNvPr id="381" name="Google Shape;381;p31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pic>
        <p:nvPicPr>
          <p:cNvPr id="382" name="Google Shape;38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388" name="Google Shape;388;p32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pic>
        <p:nvPicPr>
          <p:cNvPr id="389" name="Google Shape;3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2"/>
          <p:cNvSpPr txBox="1"/>
          <p:nvPr>
            <p:ph idx="1" type="body"/>
          </p:nvPr>
        </p:nvSpPr>
        <p:spPr>
          <a:xfrm>
            <a:off x="311700" y="1225225"/>
            <a:ext cx="6046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typical settings </a:t>
            </a:r>
            <a:r>
              <a:rPr lang="en"/>
              <a:t>within which you interact as reference for bias: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Feld Rule</a:t>
            </a:r>
            <a:r>
              <a:rPr lang="en"/>
              <a:t>: If the settings within which you interact are biased towards a particular categorical or continuous dimension of association your ego-network will reflect that bias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Feld referred to these settings as </a:t>
            </a:r>
            <a:r>
              <a:rPr b="1" lang="en"/>
              <a:t>social foci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Therefore, this is the called the </a:t>
            </a:r>
            <a:r>
              <a:rPr b="1" lang="en"/>
              <a:t>focus effect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Foci</a:t>
            </a:r>
            <a:r>
              <a:rPr b="1" i="1" lang="en"/>
              <a:t> </a:t>
            </a:r>
            <a:r>
              <a:rPr i="1" lang="en"/>
              <a:t>make homophily happen via segregation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Conversely,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Desegregated foci reduce homophily </a:t>
            </a:r>
            <a:endParaRPr i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396" name="Google Shape;396;p33"/>
          <p:cNvSpPr txBox="1"/>
          <p:nvPr>
            <p:ph idx="1" type="body"/>
          </p:nvPr>
        </p:nvSpPr>
        <p:spPr>
          <a:xfrm>
            <a:off x="311700" y="1225225"/>
            <a:ext cx="55668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suggests two new mechanisms for where ties come from: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397" name="Google Shape;397;p33"/>
          <p:cNvGrpSpPr/>
          <p:nvPr/>
        </p:nvGrpSpPr>
        <p:grpSpPr>
          <a:xfrm>
            <a:off x="1027590" y="2056524"/>
            <a:ext cx="4135005" cy="2753453"/>
            <a:chOff x="457300" y="1874050"/>
            <a:chExt cx="4519625" cy="3013850"/>
          </a:xfrm>
        </p:grpSpPr>
        <p:pic>
          <p:nvPicPr>
            <p:cNvPr id="398" name="Google Shape;398;p33"/>
            <p:cNvPicPr preferRelativeResize="0"/>
            <p:nvPr/>
          </p:nvPicPr>
          <p:blipFill rotWithShape="1">
            <a:blip r:embed="rId3">
              <a:alphaModFix/>
            </a:blip>
            <a:srcRect b="78822" l="19131" r="24569" t="10521"/>
            <a:stretch/>
          </p:blipFill>
          <p:spPr>
            <a:xfrm>
              <a:off x="457300" y="1874050"/>
              <a:ext cx="4199400" cy="1157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" name="Google Shape;399;p33"/>
            <p:cNvSpPr txBox="1"/>
            <p:nvPr/>
          </p:nvSpPr>
          <p:spPr>
            <a:xfrm>
              <a:off x="777525" y="2968850"/>
              <a:ext cx="33726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circle to relation</a:t>
              </a:r>
              <a:endParaRPr/>
            </a:p>
          </p:txBody>
        </p:sp>
        <p:pic>
          <p:nvPicPr>
            <p:cNvPr id="400" name="Google Shape;400;p33"/>
            <p:cNvPicPr preferRelativeResize="0"/>
            <p:nvPr/>
          </p:nvPicPr>
          <p:blipFill rotWithShape="1">
            <a:blip r:embed="rId3">
              <a:alphaModFix/>
            </a:blip>
            <a:srcRect b="11530" l="26337" r="24518" t="79547"/>
            <a:stretch/>
          </p:blipFill>
          <p:spPr>
            <a:xfrm>
              <a:off x="549000" y="3378050"/>
              <a:ext cx="4164150" cy="110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3"/>
            <p:cNvSpPr txBox="1"/>
            <p:nvPr/>
          </p:nvSpPr>
          <p:spPr>
            <a:xfrm>
              <a:off x="777525" y="4478700"/>
              <a:ext cx="41994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common activity to relation</a:t>
              </a:r>
              <a:endParaRPr/>
            </a:p>
          </p:txBody>
        </p:sp>
      </p:grpSp>
      <p:sp>
        <p:nvSpPr>
          <p:cNvPr id="402" name="Google Shape;402;p33"/>
          <p:cNvSpPr/>
          <p:nvPr/>
        </p:nvSpPr>
        <p:spPr>
          <a:xfrm>
            <a:off x="6867750" y="26658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5841613" y="1704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7087723" y="14786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8016434" y="19838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6" name="Google Shape;406;p33"/>
          <p:cNvSpPr/>
          <p:nvPr/>
        </p:nvSpPr>
        <p:spPr>
          <a:xfrm>
            <a:off x="5841613" y="39635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6929023" y="41791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8" name="Google Shape;408;p33"/>
          <p:cNvSpPr/>
          <p:nvPr/>
        </p:nvSpPr>
        <p:spPr>
          <a:xfrm>
            <a:off x="8016434" y="39635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5357538" y="28288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8275938" y="28341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411" name="Google Shape;411;p33"/>
          <p:cNvCxnSpPr>
            <a:stCxn id="403" idx="3"/>
            <a:endCxn id="409" idx="0"/>
          </p:cNvCxnSpPr>
          <p:nvPr/>
        </p:nvCxnSpPr>
        <p:spPr>
          <a:xfrm flipH="1">
            <a:off x="5635710" y="2136083"/>
            <a:ext cx="287400" cy="692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33"/>
          <p:cNvCxnSpPr>
            <a:stCxn id="404" idx="3"/>
            <a:endCxn id="403" idx="6"/>
          </p:cNvCxnSpPr>
          <p:nvPr/>
        </p:nvCxnSpPr>
        <p:spPr>
          <a:xfrm flipH="1">
            <a:off x="6398221" y="19098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3"/>
          <p:cNvCxnSpPr>
            <a:stCxn id="404" idx="3"/>
            <a:endCxn id="409" idx="0"/>
          </p:cNvCxnSpPr>
          <p:nvPr/>
        </p:nvCxnSpPr>
        <p:spPr>
          <a:xfrm flipH="1">
            <a:off x="5635921" y="1909841"/>
            <a:ext cx="1533300" cy="919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33"/>
          <p:cNvCxnSpPr>
            <a:stCxn id="404" idx="3"/>
            <a:endCxn id="406" idx="0"/>
          </p:cNvCxnSpPr>
          <p:nvPr/>
        </p:nvCxnSpPr>
        <p:spPr>
          <a:xfrm flipH="1">
            <a:off x="6119821" y="19098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3"/>
          <p:cNvCxnSpPr>
            <a:stCxn id="409" idx="4"/>
            <a:endCxn id="406" idx="0"/>
          </p:cNvCxnSpPr>
          <p:nvPr/>
        </p:nvCxnSpPr>
        <p:spPr>
          <a:xfrm>
            <a:off x="5635788" y="3334093"/>
            <a:ext cx="484200" cy="629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3"/>
          <p:cNvCxnSpPr>
            <a:stCxn id="408" idx="2"/>
            <a:endCxn id="407" idx="6"/>
          </p:cNvCxnSpPr>
          <p:nvPr/>
        </p:nvCxnSpPr>
        <p:spPr>
          <a:xfrm flipH="1">
            <a:off x="7485434" y="4216118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33"/>
          <p:cNvCxnSpPr>
            <a:stCxn id="403" idx="4"/>
            <a:endCxn id="406" idx="0"/>
          </p:cNvCxnSpPr>
          <p:nvPr/>
        </p:nvCxnSpPr>
        <p:spPr>
          <a:xfrm>
            <a:off x="6119863" y="22100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33"/>
          <p:cNvCxnSpPr>
            <a:stCxn id="407" idx="2"/>
            <a:endCxn id="406" idx="6"/>
          </p:cNvCxnSpPr>
          <p:nvPr/>
        </p:nvCxnSpPr>
        <p:spPr>
          <a:xfrm rot="10800000">
            <a:off x="6398023" y="4216076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3"/>
          <p:cNvCxnSpPr>
            <a:stCxn id="410" idx="4"/>
            <a:endCxn id="408" idx="0"/>
          </p:cNvCxnSpPr>
          <p:nvPr/>
        </p:nvCxnSpPr>
        <p:spPr>
          <a:xfrm flipH="1">
            <a:off x="8294688" y="33393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3"/>
          <p:cNvCxnSpPr>
            <a:stCxn id="403" idx="5"/>
            <a:endCxn id="402" idx="1"/>
          </p:cNvCxnSpPr>
          <p:nvPr/>
        </p:nvCxnSpPr>
        <p:spPr>
          <a:xfrm>
            <a:off x="6316615" y="2136083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3"/>
          <p:cNvCxnSpPr>
            <a:stCxn id="409" idx="6"/>
            <a:endCxn id="402" idx="2"/>
          </p:cNvCxnSpPr>
          <p:nvPr/>
        </p:nvCxnSpPr>
        <p:spPr>
          <a:xfrm>
            <a:off x="5914038" y="3081493"/>
            <a:ext cx="953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3"/>
          <p:cNvCxnSpPr>
            <a:stCxn id="402" idx="3"/>
            <a:endCxn id="406" idx="7"/>
          </p:cNvCxnSpPr>
          <p:nvPr/>
        </p:nvCxnSpPr>
        <p:spPr>
          <a:xfrm flipH="1">
            <a:off x="6316518" y="33754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33"/>
          <p:cNvCxnSpPr>
            <a:stCxn id="402" idx="4"/>
            <a:endCxn id="407" idx="0"/>
          </p:cNvCxnSpPr>
          <p:nvPr/>
        </p:nvCxnSpPr>
        <p:spPr>
          <a:xfrm flipH="1">
            <a:off x="7207200" y="34971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33"/>
          <p:cNvCxnSpPr>
            <a:stCxn id="402" idx="5"/>
            <a:endCxn id="408" idx="1"/>
          </p:cNvCxnSpPr>
          <p:nvPr/>
        </p:nvCxnSpPr>
        <p:spPr>
          <a:xfrm>
            <a:off x="7580382" y="33754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33"/>
          <p:cNvCxnSpPr>
            <a:stCxn id="402" idx="6"/>
            <a:endCxn id="410" idx="2"/>
          </p:cNvCxnSpPr>
          <p:nvPr/>
        </p:nvCxnSpPr>
        <p:spPr>
          <a:xfrm>
            <a:off x="7702650" y="30815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33"/>
          <p:cNvCxnSpPr>
            <a:stCxn id="402" idx="7"/>
            <a:endCxn id="405" idx="3"/>
          </p:cNvCxnSpPr>
          <p:nvPr/>
        </p:nvCxnSpPr>
        <p:spPr>
          <a:xfrm flipH="1" rot="10800000">
            <a:off x="7580382" y="24149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3"/>
          <p:cNvCxnSpPr>
            <a:stCxn id="404" idx="4"/>
            <a:endCxn id="402" idx="0"/>
          </p:cNvCxnSpPr>
          <p:nvPr/>
        </p:nvCxnSpPr>
        <p:spPr>
          <a:xfrm flipH="1">
            <a:off x="7285273" y="1983826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3"/>
          <p:cNvCxnSpPr>
            <a:stCxn id="410" idx="4"/>
            <a:endCxn id="406" idx="6"/>
          </p:cNvCxnSpPr>
          <p:nvPr/>
        </p:nvCxnSpPr>
        <p:spPr>
          <a:xfrm flipH="1">
            <a:off x="6398088" y="33393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434" name="Google Shape;434;p34"/>
          <p:cNvSpPr txBox="1"/>
          <p:nvPr>
            <p:ph idx="1" type="body"/>
          </p:nvPr>
        </p:nvSpPr>
        <p:spPr>
          <a:xfrm>
            <a:off x="311700" y="1225225"/>
            <a:ext cx="4912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vary around several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Constraint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Time and energy that they require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Size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foci are big others are small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emerge from pre-existing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 form clubs, participate in common activities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intersecting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“Cross-cutting” circles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 at the ego-network level may be the result of constraining overlapping foci</a:t>
            </a:r>
            <a:endParaRPr/>
          </a:p>
        </p:txBody>
      </p:sp>
      <p:sp>
        <p:nvSpPr>
          <p:cNvPr id="435" name="Google Shape;435;p34"/>
          <p:cNvSpPr/>
          <p:nvPr/>
        </p:nvSpPr>
        <p:spPr>
          <a:xfrm>
            <a:off x="6867750" y="26658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5841613" y="1704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7087723" y="14786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8016434" y="19838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5841613" y="39635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6929023" y="41791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8016434" y="39635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5357538" y="28288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8275938" y="28341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444" name="Google Shape;444;p34"/>
          <p:cNvCxnSpPr>
            <a:stCxn id="436" idx="3"/>
            <a:endCxn id="442" idx="0"/>
          </p:cNvCxnSpPr>
          <p:nvPr/>
        </p:nvCxnSpPr>
        <p:spPr>
          <a:xfrm flipH="1">
            <a:off x="5635710" y="2136083"/>
            <a:ext cx="287400" cy="692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34"/>
          <p:cNvCxnSpPr>
            <a:stCxn id="437" idx="3"/>
            <a:endCxn id="436" idx="6"/>
          </p:cNvCxnSpPr>
          <p:nvPr/>
        </p:nvCxnSpPr>
        <p:spPr>
          <a:xfrm flipH="1">
            <a:off x="6398221" y="19098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34"/>
          <p:cNvCxnSpPr>
            <a:stCxn id="437" idx="3"/>
            <a:endCxn id="442" idx="0"/>
          </p:cNvCxnSpPr>
          <p:nvPr/>
        </p:nvCxnSpPr>
        <p:spPr>
          <a:xfrm flipH="1">
            <a:off x="5635921" y="1909841"/>
            <a:ext cx="1533300" cy="919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4"/>
          <p:cNvCxnSpPr>
            <a:stCxn id="437" idx="3"/>
            <a:endCxn id="439" idx="0"/>
          </p:cNvCxnSpPr>
          <p:nvPr/>
        </p:nvCxnSpPr>
        <p:spPr>
          <a:xfrm flipH="1">
            <a:off x="6119821" y="19098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4"/>
          <p:cNvCxnSpPr>
            <a:stCxn id="442" idx="4"/>
            <a:endCxn id="439" idx="0"/>
          </p:cNvCxnSpPr>
          <p:nvPr/>
        </p:nvCxnSpPr>
        <p:spPr>
          <a:xfrm>
            <a:off x="5635788" y="3334093"/>
            <a:ext cx="484200" cy="629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4"/>
          <p:cNvCxnSpPr>
            <a:stCxn id="441" idx="2"/>
            <a:endCxn id="440" idx="6"/>
          </p:cNvCxnSpPr>
          <p:nvPr/>
        </p:nvCxnSpPr>
        <p:spPr>
          <a:xfrm flipH="1">
            <a:off x="7485434" y="4216118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34"/>
          <p:cNvCxnSpPr>
            <a:stCxn id="436" idx="4"/>
            <a:endCxn id="439" idx="0"/>
          </p:cNvCxnSpPr>
          <p:nvPr/>
        </p:nvCxnSpPr>
        <p:spPr>
          <a:xfrm>
            <a:off x="6119863" y="22100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4"/>
          <p:cNvCxnSpPr>
            <a:stCxn id="440" idx="2"/>
            <a:endCxn id="439" idx="6"/>
          </p:cNvCxnSpPr>
          <p:nvPr/>
        </p:nvCxnSpPr>
        <p:spPr>
          <a:xfrm rot="10800000">
            <a:off x="6398023" y="4216076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4"/>
          <p:cNvCxnSpPr>
            <a:stCxn id="443" idx="4"/>
            <a:endCxn id="441" idx="0"/>
          </p:cNvCxnSpPr>
          <p:nvPr/>
        </p:nvCxnSpPr>
        <p:spPr>
          <a:xfrm flipH="1">
            <a:off x="8294688" y="33393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4"/>
          <p:cNvCxnSpPr>
            <a:stCxn id="436" idx="5"/>
            <a:endCxn id="435" idx="1"/>
          </p:cNvCxnSpPr>
          <p:nvPr/>
        </p:nvCxnSpPr>
        <p:spPr>
          <a:xfrm>
            <a:off x="6316615" y="2136083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4"/>
          <p:cNvCxnSpPr>
            <a:stCxn id="442" idx="6"/>
            <a:endCxn id="435" idx="2"/>
          </p:cNvCxnSpPr>
          <p:nvPr/>
        </p:nvCxnSpPr>
        <p:spPr>
          <a:xfrm>
            <a:off x="5914038" y="3081493"/>
            <a:ext cx="953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4"/>
          <p:cNvCxnSpPr>
            <a:stCxn id="435" idx="3"/>
            <a:endCxn id="439" idx="7"/>
          </p:cNvCxnSpPr>
          <p:nvPr/>
        </p:nvCxnSpPr>
        <p:spPr>
          <a:xfrm flipH="1">
            <a:off x="6316518" y="33754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4"/>
          <p:cNvCxnSpPr>
            <a:stCxn id="435" idx="4"/>
            <a:endCxn id="440" idx="0"/>
          </p:cNvCxnSpPr>
          <p:nvPr/>
        </p:nvCxnSpPr>
        <p:spPr>
          <a:xfrm flipH="1">
            <a:off x="7207200" y="34971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34"/>
          <p:cNvCxnSpPr>
            <a:stCxn id="435" idx="5"/>
            <a:endCxn id="441" idx="1"/>
          </p:cNvCxnSpPr>
          <p:nvPr/>
        </p:nvCxnSpPr>
        <p:spPr>
          <a:xfrm>
            <a:off x="7580382" y="33754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34"/>
          <p:cNvCxnSpPr>
            <a:stCxn id="435" idx="6"/>
            <a:endCxn id="443" idx="2"/>
          </p:cNvCxnSpPr>
          <p:nvPr/>
        </p:nvCxnSpPr>
        <p:spPr>
          <a:xfrm>
            <a:off x="7702650" y="30815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34"/>
          <p:cNvCxnSpPr>
            <a:stCxn id="435" idx="7"/>
            <a:endCxn id="438" idx="3"/>
          </p:cNvCxnSpPr>
          <p:nvPr/>
        </p:nvCxnSpPr>
        <p:spPr>
          <a:xfrm flipH="1" rot="10800000">
            <a:off x="7580382" y="24149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4"/>
          <p:cNvCxnSpPr>
            <a:stCxn id="437" idx="4"/>
            <a:endCxn id="435" idx="0"/>
          </p:cNvCxnSpPr>
          <p:nvPr/>
        </p:nvCxnSpPr>
        <p:spPr>
          <a:xfrm flipH="1">
            <a:off x="7285273" y="1983826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4"/>
          <p:cNvCxnSpPr>
            <a:stCxn id="443" idx="4"/>
            <a:endCxn id="439" idx="6"/>
          </p:cNvCxnSpPr>
          <p:nvPr/>
        </p:nvCxnSpPr>
        <p:spPr>
          <a:xfrm flipH="1">
            <a:off x="6398088" y="33393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Marden’s Theory of Ego Network Diversity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6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472" name="Google Shape;472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id="473" name="Google Shape;4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3" name="Google Shape;483;p36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484" name="Google Shape;484;p36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85" name="Google Shape;48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6" name="Google Shape;486;p36"/>
            <p:cNvCxnSpPr>
              <a:stCxn id="485" idx="0"/>
              <a:endCxn id="487" idx="2"/>
            </p:cNvCxnSpPr>
            <p:nvPr/>
          </p:nvCxnSpPr>
          <p:spPr>
            <a:xfrm rot="10800000">
              <a:off x="813430" y="3837525"/>
              <a:ext cx="284700" cy="31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36"/>
            <p:cNvCxnSpPr>
              <a:stCxn id="485" idx="0"/>
              <a:endCxn id="489" idx="2"/>
            </p:cNvCxnSpPr>
            <p:nvPr/>
          </p:nvCxnSpPr>
          <p:spPr>
            <a:xfrm flipH="1" rot="10800000">
              <a:off x="1098130" y="3837525"/>
              <a:ext cx="228900" cy="31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90" name="Google Shape;490;p36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491" name="Google Shape;491;p36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92" name="Google Shape;49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5" name="Google Shape;495;p36"/>
            <p:cNvCxnSpPr>
              <a:stCxn id="492" idx="1"/>
              <a:endCxn id="493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36"/>
            <p:cNvCxnSpPr>
              <a:stCxn id="492" idx="0"/>
              <a:endCxn id="497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8" name="Google Shape;498;p36"/>
            <p:cNvCxnSpPr>
              <a:stCxn id="492" idx="0"/>
              <a:endCxn id="499" idx="2"/>
            </p:cNvCxnSpPr>
            <p:nvPr/>
          </p:nvCxnSpPr>
          <p:spPr>
            <a:xfrm flipH="1" rot="10800000">
              <a:off x="3407580" y="3908625"/>
              <a:ext cx="1830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0" name="Google Shape;500;p36"/>
            <p:cNvCxnSpPr>
              <a:stCxn id="494" idx="2"/>
              <a:endCxn id="492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497" name="Google Shape;49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1" name="Google Shape;501;p36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biased</a:t>
            </a:r>
            <a:endParaRPr/>
          </a:p>
        </p:txBody>
      </p:sp>
      <p:sp>
        <p:nvSpPr>
          <p:cNvPr id="502" name="Google Shape;502;p36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Biased</a:t>
            </a:r>
            <a:endParaRPr/>
          </a:p>
        </p:txBody>
      </p:sp>
      <p:pic>
        <p:nvPicPr>
          <p:cNvPr id="503" name="Google Shape;50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6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510" name="Google Shape;510;p36"/>
          <p:cNvCxnSpPr>
            <a:stCxn id="509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36"/>
          <p:cNvCxnSpPr>
            <a:stCxn id="509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87" name="Google Shape;48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161" y="313547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3686" y="313547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638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6"/>
          <p:cNvSpPr txBox="1"/>
          <p:nvPr/>
        </p:nvSpPr>
        <p:spPr>
          <a:xfrm>
            <a:off x="1592350" y="4044875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</a:t>
            </a:r>
            <a:endParaRPr/>
          </a:p>
        </p:txBody>
      </p:sp>
      <p:sp>
        <p:nvSpPr>
          <p:cNvPr id="513" name="Google Shape;513;p36"/>
          <p:cNvSpPr txBox="1"/>
          <p:nvPr/>
        </p:nvSpPr>
        <p:spPr>
          <a:xfrm>
            <a:off x="3157950" y="4044875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</a:t>
            </a:r>
            <a:endParaRPr/>
          </a:p>
        </p:txBody>
      </p:sp>
      <p:pic>
        <p:nvPicPr>
          <p:cNvPr id="514" name="Google Shape;514;p36"/>
          <p:cNvPicPr preferRelativeResize="0"/>
          <p:nvPr/>
        </p:nvPicPr>
        <p:blipFill rotWithShape="1">
          <a:blip r:embed="rId5">
            <a:alphaModFix/>
          </a:blip>
          <a:srcRect b="0" l="44537" r="0" t="0"/>
          <a:stretch/>
        </p:blipFill>
        <p:spPr>
          <a:xfrm>
            <a:off x="6342675" y="1222950"/>
            <a:ext cx="2489625" cy="29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6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Peter Marsden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521" name="Google Shape;521;p37"/>
          <p:cNvSpPr txBox="1"/>
          <p:nvPr>
            <p:ph idx="1" type="body"/>
          </p:nvPr>
        </p:nvSpPr>
        <p:spPr>
          <a:xfrm>
            <a:off x="311700" y="1225225"/>
            <a:ext cx="5643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Overall, larger ego networks should be more diverse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Regardless of preferences for choice 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some point you run out of in-group alters!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But this effect should depend on group size effects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minorities should get more “bang from their buck” (in terms of diversity) from network size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you tell why?</a:t>
            </a:r>
            <a:endParaRPr/>
          </a:p>
        </p:txBody>
      </p:sp>
      <p:pic>
        <p:nvPicPr>
          <p:cNvPr id="522" name="Google Shape;522;p37"/>
          <p:cNvPicPr preferRelativeResize="0"/>
          <p:nvPr/>
        </p:nvPicPr>
        <p:blipFill rotWithShape="1">
          <a:blip r:embed="rId3">
            <a:alphaModFix/>
          </a:blip>
          <a:srcRect b="0" l="44537" r="0" t="0"/>
          <a:stretch/>
        </p:blipFill>
        <p:spPr>
          <a:xfrm>
            <a:off x="6342675" y="1222950"/>
            <a:ext cx="2489625" cy="29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7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V. Marsden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529" name="Google Shape;529;p38"/>
          <p:cNvSpPr txBox="1"/>
          <p:nvPr>
            <p:ph idx="1" type="body"/>
          </p:nvPr>
        </p:nvSpPr>
        <p:spPr>
          <a:xfrm>
            <a:off x="311700" y="1225225"/>
            <a:ext cx="5643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Overall, larger ego networks should be more diverse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Regardless of preferences for choice 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some point you run out of in-group alters!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But this effect should depend on group size effects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minorities should get more “bang from their buck” (in terms of diversity) from network size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you tell why?</a:t>
            </a:r>
            <a:endParaRPr/>
          </a:p>
        </p:txBody>
      </p:sp>
      <p:sp>
        <p:nvSpPr>
          <p:cNvPr id="530" name="Google Shape;530;p38"/>
          <p:cNvSpPr/>
          <p:nvPr/>
        </p:nvSpPr>
        <p:spPr>
          <a:xfrm>
            <a:off x="6713200" y="21637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31" name="Google Shape;531;p38"/>
          <p:cNvSpPr/>
          <p:nvPr/>
        </p:nvSpPr>
        <p:spPr>
          <a:xfrm>
            <a:off x="6713200" y="3436925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532" name="Google Shape;532;p38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8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8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8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8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8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8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9" name="Google Shape;539;p38"/>
          <p:cNvCxnSpPr>
            <a:stCxn id="531" idx="6"/>
            <a:endCxn id="535" idx="2"/>
          </p:cNvCxnSpPr>
          <p:nvPr/>
        </p:nvCxnSpPr>
        <p:spPr>
          <a:xfrm flipH="1" rot="10800000">
            <a:off x="7309600" y="2835875"/>
            <a:ext cx="681900" cy="804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38"/>
          <p:cNvCxnSpPr>
            <a:stCxn id="531" idx="6"/>
            <a:endCxn id="538" idx="2"/>
          </p:cNvCxnSpPr>
          <p:nvPr/>
        </p:nvCxnSpPr>
        <p:spPr>
          <a:xfrm>
            <a:off x="7309600" y="3639875"/>
            <a:ext cx="681900" cy="725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38"/>
          <p:cNvCxnSpPr>
            <a:stCxn id="530" idx="6"/>
            <a:endCxn id="532" idx="2"/>
          </p:cNvCxnSpPr>
          <p:nvPr/>
        </p:nvCxnSpPr>
        <p:spPr>
          <a:xfrm flipH="1" rot="10800000">
            <a:off x="7309600" y="1306750"/>
            <a:ext cx="681900" cy="1059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38"/>
          <p:cNvCxnSpPr>
            <a:stCxn id="530" idx="6"/>
            <a:endCxn id="533" idx="2"/>
          </p:cNvCxnSpPr>
          <p:nvPr/>
        </p:nvCxnSpPr>
        <p:spPr>
          <a:xfrm flipH="1" rot="10800000">
            <a:off x="7309600" y="1816450"/>
            <a:ext cx="681900" cy="55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38"/>
          <p:cNvCxnSpPr>
            <a:stCxn id="530" idx="6"/>
            <a:endCxn id="534" idx="2"/>
          </p:cNvCxnSpPr>
          <p:nvPr/>
        </p:nvCxnSpPr>
        <p:spPr>
          <a:xfrm flipH="1" rot="10800000">
            <a:off x="7309600" y="2326150"/>
            <a:ext cx="681900" cy="4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38"/>
          <p:cNvCxnSpPr>
            <a:stCxn id="530" idx="6"/>
            <a:endCxn id="535" idx="2"/>
          </p:cNvCxnSpPr>
          <p:nvPr/>
        </p:nvCxnSpPr>
        <p:spPr>
          <a:xfrm>
            <a:off x="7309600" y="2366650"/>
            <a:ext cx="681900" cy="469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38"/>
          <p:cNvCxnSpPr>
            <a:stCxn id="530" idx="6"/>
            <a:endCxn id="538" idx="2"/>
          </p:cNvCxnSpPr>
          <p:nvPr/>
        </p:nvCxnSpPr>
        <p:spPr>
          <a:xfrm>
            <a:off x="7309600" y="2366650"/>
            <a:ext cx="681900" cy="1998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8"/>
          <p:cNvCxnSpPr>
            <a:stCxn id="531" idx="6"/>
            <a:endCxn id="537" idx="2"/>
          </p:cNvCxnSpPr>
          <p:nvPr/>
        </p:nvCxnSpPr>
        <p:spPr>
          <a:xfrm>
            <a:off x="7309600" y="3639875"/>
            <a:ext cx="681900" cy="215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8"/>
          <p:cNvCxnSpPr>
            <a:stCxn id="531" idx="6"/>
            <a:endCxn id="533" idx="2"/>
          </p:cNvCxnSpPr>
          <p:nvPr/>
        </p:nvCxnSpPr>
        <p:spPr>
          <a:xfrm flipH="1" rot="10800000">
            <a:off x="7309600" y="1816475"/>
            <a:ext cx="681900" cy="1823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553" name="Google Shape;553;p39"/>
          <p:cNvSpPr/>
          <p:nvPr/>
        </p:nvSpPr>
        <p:spPr>
          <a:xfrm>
            <a:off x="6713200" y="21637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54" name="Google Shape;554;p39"/>
          <p:cNvSpPr/>
          <p:nvPr/>
        </p:nvSpPr>
        <p:spPr>
          <a:xfrm>
            <a:off x="6713200" y="3436925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555" name="Google Shape;555;p39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9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9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9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9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9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9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2" name="Google Shape;562;p39"/>
          <p:cNvCxnSpPr>
            <a:stCxn id="554" idx="6"/>
            <a:endCxn id="558" idx="2"/>
          </p:cNvCxnSpPr>
          <p:nvPr/>
        </p:nvCxnSpPr>
        <p:spPr>
          <a:xfrm flipH="1" rot="10800000">
            <a:off x="7309600" y="2835875"/>
            <a:ext cx="681900" cy="804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39"/>
          <p:cNvCxnSpPr>
            <a:stCxn id="554" idx="6"/>
            <a:endCxn id="561" idx="2"/>
          </p:cNvCxnSpPr>
          <p:nvPr/>
        </p:nvCxnSpPr>
        <p:spPr>
          <a:xfrm>
            <a:off x="7309600" y="3639875"/>
            <a:ext cx="681900" cy="725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39"/>
          <p:cNvCxnSpPr>
            <a:stCxn id="553" idx="6"/>
            <a:endCxn id="555" idx="2"/>
          </p:cNvCxnSpPr>
          <p:nvPr/>
        </p:nvCxnSpPr>
        <p:spPr>
          <a:xfrm flipH="1" rot="10800000">
            <a:off x="7309600" y="1306750"/>
            <a:ext cx="681900" cy="1059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39"/>
          <p:cNvCxnSpPr>
            <a:stCxn id="553" idx="6"/>
            <a:endCxn id="556" idx="2"/>
          </p:cNvCxnSpPr>
          <p:nvPr/>
        </p:nvCxnSpPr>
        <p:spPr>
          <a:xfrm flipH="1" rot="10800000">
            <a:off x="7309600" y="1816450"/>
            <a:ext cx="681900" cy="55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39"/>
          <p:cNvCxnSpPr>
            <a:stCxn id="553" idx="6"/>
            <a:endCxn id="557" idx="2"/>
          </p:cNvCxnSpPr>
          <p:nvPr/>
        </p:nvCxnSpPr>
        <p:spPr>
          <a:xfrm flipH="1" rot="10800000">
            <a:off x="7309600" y="2326150"/>
            <a:ext cx="681900" cy="4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39"/>
          <p:cNvCxnSpPr>
            <a:stCxn id="553" idx="6"/>
            <a:endCxn id="558" idx="2"/>
          </p:cNvCxnSpPr>
          <p:nvPr/>
        </p:nvCxnSpPr>
        <p:spPr>
          <a:xfrm>
            <a:off x="7309600" y="2366650"/>
            <a:ext cx="681900" cy="469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39"/>
          <p:cNvCxnSpPr>
            <a:stCxn id="553" idx="6"/>
            <a:endCxn id="561" idx="2"/>
          </p:cNvCxnSpPr>
          <p:nvPr/>
        </p:nvCxnSpPr>
        <p:spPr>
          <a:xfrm>
            <a:off x="7309600" y="2366650"/>
            <a:ext cx="681900" cy="1998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39"/>
          <p:cNvCxnSpPr>
            <a:stCxn id="554" idx="6"/>
            <a:endCxn id="560" idx="2"/>
          </p:cNvCxnSpPr>
          <p:nvPr/>
        </p:nvCxnSpPr>
        <p:spPr>
          <a:xfrm>
            <a:off x="7309600" y="3639875"/>
            <a:ext cx="681900" cy="215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39"/>
          <p:cNvCxnSpPr>
            <a:stCxn id="554" idx="6"/>
            <a:endCxn id="556" idx="2"/>
          </p:cNvCxnSpPr>
          <p:nvPr/>
        </p:nvCxnSpPr>
        <p:spPr>
          <a:xfrm flipH="1" rot="10800000">
            <a:off x="7309600" y="1816475"/>
            <a:ext cx="681900" cy="1823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Screenshot 2017-10-12 at 08.42.45.png" id="571" name="Google Shape;571;p39"/>
          <p:cNvPicPr preferRelativeResize="0"/>
          <p:nvPr/>
        </p:nvPicPr>
        <p:blipFill rotWithShape="1">
          <a:blip r:embed="rId3">
            <a:alphaModFix/>
          </a:blip>
          <a:srcRect b="5666" l="22272" r="24023" t="25407"/>
          <a:stretch/>
        </p:blipFill>
        <p:spPr>
          <a:xfrm>
            <a:off x="949025" y="1103825"/>
            <a:ext cx="5082326" cy="36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Some Propositions (Marsden 1987)</a:t>
            </a:r>
            <a:endParaRPr/>
          </a:p>
        </p:txBody>
      </p:sp>
      <p:sp>
        <p:nvSpPr>
          <p:cNvPr id="577" name="Google Shape;577;p40"/>
          <p:cNvSpPr txBox="1"/>
          <p:nvPr>
            <p:ph idx="1" type="body"/>
          </p:nvPr>
        </p:nvSpPr>
        <p:spPr>
          <a:xfrm>
            <a:off x="311700" y="1225225"/>
            <a:ext cx="4847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</a:t>
            </a:r>
            <a:r>
              <a:rPr b="1" lang="en"/>
              <a:t>larger </a:t>
            </a:r>
            <a:r>
              <a:rPr lang="en"/>
              <a:t>the ego network: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diverse, less homophilous, less clustered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smaller </a:t>
            </a:r>
            <a:r>
              <a:rPr lang="en"/>
              <a:t>the ego network: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clustered , less diverse, more homophily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more diverse</a:t>
            </a:r>
            <a:r>
              <a:rPr lang="en"/>
              <a:t> the ego network: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Less homophily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higher average </a:t>
            </a:r>
            <a:r>
              <a:rPr b="1" lang="en"/>
              <a:t>tie strength</a:t>
            </a:r>
            <a:r>
              <a:rPr lang="en"/>
              <a:t>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clustering, less diversity, more homophily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more </a:t>
            </a:r>
            <a:r>
              <a:rPr b="1" lang="en"/>
              <a:t>proportion kin</a:t>
            </a:r>
            <a:r>
              <a:rPr lang="en"/>
              <a:t>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homophily, less diversity, more clustering  </a:t>
            </a:r>
            <a:endParaRPr/>
          </a:p>
        </p:txBody>
      </p:sp>
      <p:sp>
        <p:nvSpPr>
          <p:cNvPr id="578" name="Google Shape;578;p40"/>
          <p:cNvSpPr/>
          <p:nvPr/>
        </p:nvSpPr>
        <p:spPr>
          <a:xfrm>
            <a:off x="6867750" y="26658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9" name="Google Shape;579;p40"/>
          <p:cNvSpPr/>
          <p:nvPr/>
        </p:nvSpPr>
        <p:spPr>
          <a:xfrm>
            <a:off x="5841613" y="1704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0" name="Google Shape;580;p40"/>
          <p:cNvSpPr/>
          <p:nvPr/>
        </p:nvSpPr>
        <p:spPr>
          <a:xfrm>
            <a:off x="7087723" y="14786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1" name="Google Shape;581;p40"/>
          <p:cNvSpPr/>
          <p:nvPr/>
        </p:nvSpPr>
        <p:spPr>
          <a:xfrm>
            <a:off x="8016434" y="19838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2" name="Google Shape;582;p40"/>
          <p:cNvSpPr/>
          <p:nvPr/>
        </p:nvSpPr>
        <p:spPr>
          <a:xfrm>
            <a:off x="5841613" y="39635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3" name="Google Shape;583;p40"/>
          <p:cNvSpPr/>
          <p:nvPr/>
        </p:nvSpPr>
        <p:spPr>
          <a:xfrm>
            <a:off x="6929023" y="41791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4" name="Google Shape;584;p40"/>
          <p:cNvSpPr/>
          <p:nvPr/>
        </p:nvSpPr>
        <p:spPr>
          <a:xfrm>
            <a:off x="8016434" y="39635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5" name="Google Shape;585;p40"/>
          <p:cNvSpPr/>
          <p:nvPr/>
        </p:nvSpPr>
        <p:spPr>
          <a:xfrm>
            <a:off x="5357538" y="28288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6" name="Google Shape;586;p40"/>
          <p:cNvSpPr/>
          <p:nvPr/>
        </p:nvSpPr>
        <p:spPr>
          <a:xfrm>
            <a:off x="8275938" y="28341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87" name="Google Shape;587;p40"/>
          <p:cNvCxnSpPr>
            <a:stCxn id="579" idx="3"/>
            <a:endCxn id="585" idx="0"/>
          </p:cNvCxnSpPr>
          <p:nvPr/>
        </p:nvCxnSpPr>
        <p:spPr>
          <a:xfrm flipH="1">
            <a:off x="5635710" y="2136083"/>
            <a:ext cx="287400" cy="692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40"/>
          <p:cNvCxnSpPr>
            <a:stCxn id="580" idx="3"/>
            <a:endCxn id="579" idx="6"/>
          </p:cNvCxnSpPr>
          <p:nvPr/>
        </p:nvCxnSpPr>
        <p:spPr>
          <a:xfrm flipH="1">
            <a:off x="6398221" y="19098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40"/>
          <p:cNvCxnSpPr>
            <a:stCxn id="580" idx="3"/>
            <a:endCxn id="585" idx="0"/>
          </p:cNvCxnSpPr>
          <p:nvPr/>
        </p:nvCxnSpPr>
        <p:spPr>
          <a:xfrm flipH="1">
            <a:off x="5635921" y="1909841"/>
            <a:ext cx="1533300" cy="919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40"/>
          <p:cNvCxnSpPr>
            <a:stCxn id="580" idx="3"/>
            <a:endCxn id="582" idx="0"/>
          </p:cNvCxnSpPr>
          <p:nvPr/>
        </p:nvCxnSpPr>
        <p:spPr>
          <a:xfrm flipH="1">
            <a:off x="6119821" y="19098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40"/>
          <p:cNvCxnSpPr>
            <a:stCxn id="585" idx="4"/>
            <a:endCxn id="582" idx="0"/>
          </p:cNvCxnSpPr>
          <p:nvPr/>
        </p:nvCxnSpPr>
        <p:spPr>
          <a:xfrm>
            <a:off x="5635788" y="3334093"/>
            <a:ext cx="484200" cy="629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40"/>
          <p:cNvCxnSpPr>
            <a:stCxn id="584" idx="2"/>
            <a:endCxn id="583" idx="6"/>
          </p:cNvCxnSpPr>
          <p:nvPr/>
        </p:nvCxnSpPr>
        <p:spPr>
          <a:xfrm flipH="1">
            <a:off x="7485434" y="4216118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40"/>
          <p:cNvCxnSpPr>
            <a:stCxn id="579" idx="4"/>
            <a:endCxn id="582" idx="0"/>
          </p:cNvCxnSpPr>
          <p:nvPr/>
        </p:nvCxnSpPr>
        <p:spPr>
          <a:xfrm>
            <a:off x="6119863" y="22100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40"/>
          <p:cNvCxnSpPr>
            <a:stCxn id="583" idx="2"/>
            <a:endCxn id="582" idx="6"/>
          </p:cNvCxnSpPr>
          <p:nvPr/>
        </p:nvCxnSpPr>
        <p:spPr>
          <a:xfrm rot="10800000">
            <a:off x="6398023" y="4216076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40"/>
          <p:cNvCxnSpPr>
            <a:stCxn id="586" idx="4"/>
            <a:endCxn id="584" idx="0"/>
          </p:cNvCxnSpPr>
          <p:nvPr/>
        </p:nvCxnSpPr>
        <p:spPr>
          <a:xfrm flipH="1">
            <a:off x="8294688" y="33393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40"/>
          <p:cNvCxnSpPr>
            <a:stCxn id="579" idx="5"/>
            <a:endCxn id="578" idx="1"/>
          </p:cNvCxnSpPr>
          <p:nvPr/>
        </p:nvCxnSpPr>
        <p:spPr>
          <a:xfrm>
            <a:off x="6316615" y="2136083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40"/>
          <p:cNvCxnSpPr>
            <a:stCxn id="585" idx="6"/>
            <a:endCxn id="578" idx="2"/>
          </p:cNvCxnSpPr>
          <p:nvPr/>
        </p:nvCxnSpPr>
        <p:spPr>
          <a:xfrm>
            <a:off x="5914038" y="3081493"/>
            <a:ext cx="953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40"/>
          <p:cNvCxnSpPr>
            <a:stCxn id="578" idx="3"/>
            <a:endCxn id="582" idx="7"/>
          </p:cNvCxnSpPr>
          <p:nvPr/>
        </p:nvCxnSpPr>
        <p:spPr>
          <a:xfrm flipH="1">
            <a:off x="6316518" y="33754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40"/>
          <p:cNvCxnSpPr>
            <a:stCxn id="578" idx="4"/>
            <a:endCxn id="583" idx="0"/>
          </p:cNvCxnSpPr>
          <p:nvPr/>
        </p:nvCxnSpPr>
        <p:spPr>
          <a:xfrm flipH="1">
            <a:off x="7207200" y="34971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40"/>
          <p:cNvCxnSpPr>
            <a:stCxn id="578" idx="5"/>
            <a:endCxn id="584" idx="1"/>
          </p:cNvCxnSpPr>
          <p:nvPr/>
        </p:nvCxnSpPr>
        <p:spPr>
          <a:xfrm>
            <a:off x="7580382" y="33754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40"/>
          <p:cNvCxnSpPr>
            <a:stCxn id="578" idx="6"/>
            <a:endCxn id="586" idx="2"/>
          </p:cNvCxnSpPr>
          <p:nvPr/>
        </p:nvCxnSpPr>
        <p:spPr>
          <a:xfrm>
            <a:off x="7702650" y="30815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40"/>
          <p:cNvCxnSpPr>
            <a:stCxn id="578" idx="7"/>
            <a:endCxn id="581" idx="3"/>
          </p:cNvCxnSpPr>
          <p:nvPr/>
        </p:nvCxnSpPr>
        <p:spPr>
          <a:xfrm flipH="1" rot="10800000">
            <a:off x="7580382" y="24149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40"/>
          <p:cNvCxnSpPr>
            <a:stCxn id="580" idx="4"/>
            <a:endCxn id="578" idx="0"/>
          </p:cNvCxnSpPr>
          <p:nvPr/>
        </p:nvCxnSpPr>
        <p:spPr>
          <a:xfrm flipH="1">
            <a:off x="7285273" y="1983826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0"/>
          <p:cNvCxnSpPr>
            <a:stCxn id="586" idx="4"/>
            <a:endCxn id="582" idx="6"/>
          </p:cNvCxnSpPr>
          <p:nvPr/>
        </p:nvCxnSpPr>
        <p:spPr>
          <a:xfrm flipH="1">
            <a:off x="6398088" y="33393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