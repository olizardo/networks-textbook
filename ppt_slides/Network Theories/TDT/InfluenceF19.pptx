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7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7b4f2171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7b4f2171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b4f217184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b4f21718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b4f21718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b4f21718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26b750a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26b750a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b4f217184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b4f21718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b4f217184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b4f21718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b4f217184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b4f21718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b4f217184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b4f217184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b4f217184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b4f217184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ac2e0ea0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ac2e0e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7b4f217184_2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7b4f21718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31c44eb14_0_59:notes"/>
          <p:cNvSpPr/>
          <p:nvPr>
            <p:ph idx="2" type="sldImg"/>
          </p:nvPr>
        </p:nvSpPr>
        <p:spPr>
          <a:xfrm>
            <a:off x="1143216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31c44eb1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41a5526e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41a552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ac2e0ea0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ac2e0ea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Contagion == each time interval x% convert,   diffusion not a function of thresholds,  everyone exposed, open and eager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Pressure ==  everyone exposed, but thresholds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Diffusions == network, contact sufficient p-differential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Authority == network, thresholds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ac2e0ea00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ac2e0ea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ac2e0ea00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7ac2e0ea0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7ac2e0ea00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7ac2e0ea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4155440"/>
            <a:ext cx="30546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47444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633633"/>
            <a:ext cx="39999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633633"/>
            <a:ext cx="39999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5625233"/>
            <a:ext cx="5998800" cy="7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nejm.org/doi/full/10.1056/nejmsa066082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Influence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4155440"/>
            <a:ext cx="30546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Network-Behavior Matching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</a:t>
            </a:r>
            <a:r>
              <a:rPr lang="en" sz="2400"/>
              <a:t>ersons tend to associate with persons who engage in similar behaviors as themselves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Homophily, assortative mixing, trait clustering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Smoking, physical activity, consumption, </a:t>
            </a:r>
            <a:r>
              <a:rPr lang="en" sz="2400"/>
              <a:t>alcohol</a:t>
            </a:r>
            <a:r>
              <a:rPr lang="en" sz="2400"/>
              <a:t>, sleep, happiness, sex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4 Mechanisms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Contagion, Influence and Imitation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Self- Selection, Choice Homophily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Avoidance and Withdrawal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Endogenous Dyadic </a:t>
            </a:r>
            <a:r>
              <a:rPr lang="en" sz="1800"/>
              <a:t>Processes, Tie Decay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Shared Interaction Settings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Contagion and Influence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Adopt when others associated with you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Transmission, interpersonal influence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Relatively static network with flows between nodes (pipe and flows model)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change after they start interacting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Relatively stable network, changing human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Threshold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Econometric lagged regression models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Example - </a:t>
            </a:r>
            <a:r>
              <a:rPr lang="en" u="sng">
                <a:solidFill>
                  <a:schemeClr val="hlink"/>
                </a:solidFill>
                <a:hlinkClick r:id="rId3"/>
              </a:rPr>
              <a:t>Spread of Obesity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Contagion/Influence:  Christakis &amp; Fowler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68025" y="1529725"/>
            <a:ext cx="90531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Lagged panel data model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Ego obesity(t+1) = f(ego attributes, ego obesity (t), alter’s obesity (t and t+1)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alter obesity (t) controls for homophily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influence if alter obesity (t+1) → ego obesity (t+1)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Results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Risk of obesity 45% higher if connected to an obese alter (1-hop)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20% higher if 2-hops from obese person, 10% for 3-hops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Confounding Factors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Direction of friendship matters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Increasing social distance (hops) decreases effect of alter on ego; increasing geographical distance does not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 neighbor effects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 simultaneous effects from contemporaneous exposure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Critique -- Stable network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Choice Homophily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 tie formation by ego-alter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Network-behavior matching because people choose to associate with similar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Interaction comes after behavioral matching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 durable behavioral dispositions and then select friends based on those dispositions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Dispositions and behaviors stable, social ties changing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Stochastic Actor-Oriented Models (SAOM, SABM)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Simulation (agent based model) and Regression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Estimates simultaneously effects of factors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Probability</a:t>
            </a:r>
            <a:r>
              <a:rPr lang="en"/>
              <a:t> of a tie (formation and decay)  like ERGMs but at node not tie level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Probability of a change in the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Exogenous and endogenous factors for tie existence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Actor can either form ties, dissolve ties, or change behaviors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 level of clustering into selection and influence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Selection and dissolution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Panel data, small 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Avoidance and Withdrawal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Network-behavior matching result of </a:t>
            </a:r>
            <a:r>
              <a:rPr lang="en"/>
              <a:t>differential</a:t>
            </a:r>
            <a:r>
              <a:rPr lang="en"/>
              <a:t> rates of tie decay.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 leads to loss of ties  (e.g. depression)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Remaining ties are more </a:t>
            </a:r>
            <a:r>
              <a:rPr lang="en"/>
              <a:t>homophilous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Actions of alters lead to network-behavior matching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Decay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Liability of newness, most ties do not last very long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types of ties are more likely to decay?  </a:t>
            </a:r>
            <a:r>
              <a:rPr lang="en"/>
              <a:t>Heterophilous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Selective dissolution of ties →  trait clustering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tie formation but differential 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Dissolution often more important than formation because extent of (dis)similarity unknown prior to social interaction resulting from tie formation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cause of both persons in dyad having the same property AND having a tie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Contextual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Foci:  similarity and tie formation, induced homophily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Martin:  Social Influence (Chapter 5)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57200" y="1600200"/>
            <a:ext cx="4281000" cy="49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	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preferential attachment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popularity tournament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Commitment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e.g. marriage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reciprocity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Dominance 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pecking order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hierarchy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influence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  is not dominance</a:t>
            </a:r>
            <a:endParaRPr b="1"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051" y="2549894"/>
            <a:ext cx="4283975" cy="29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Influence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6336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what network structures are we more likely to see influence?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is influence more likely to occur?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 we mean by influence?  What situations are “influence” situations?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Martin -- assemble social structures from network components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or Contagion?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515525" y="1633620"/>
            <a:ext cx="5316900" cy="4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 = probability of adopting independently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= proportion who have not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(k) of adopting in each time period and for each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 function of exposure (p)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of adopting (k) but also adoption a function of number of others who have adopted.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thresholds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network thresholds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529665"/>
            <a:ext cx="2883435" cy="3548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Forms of Diffusion</a:t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311700" y="1726625"/>
            <a:ext cx="5033100" cy="4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Diffusion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without a network, uniform probability of adopt. 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Diffusion without a network, varying probability of adopt.   Global Threshold Model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Diffusion with a network, adopt if exposed.  Disease Model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rabi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Diffusion with a network, thresholds (resistance).   Influence Model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lphaL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Credibility →  mutuality and cliques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AutoNum type="alphaLcPeriod"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Authority → command trees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182" y="1587865"/>
            <a:ext cx="2883435" cy="3548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Influence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185675" y="1581133"/>
            <a:ext cx="852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Contagion:  not specific, no resistance  (</a:t>
            </a:r>
            <a:r>
              <a:rPr i="1" lang="en"/>
              <a:t>diffusion without contagion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Pressure:  not specific, resistance  (</a:t>
            </a:r>
            <a:r>
              <a:rPr i="1" lang="en"/>
              <a:t>diffusion without a network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threshold model:  resist until enough others "infect"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critical mass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 Shaped curve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Roger’s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Diffusion:  specific, no resistance  (diffusion with a network, what I call contagion)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p-differential:  probability of contact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whatever increases probability of contact could be the cause of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spurious diffusion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asymmetry --&gt;  q-differential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00" y="62763"/>
            <a:ext cx="3555973" cy="14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756175" y="4891150"/>
            <a:ext cx="7698300" cy="122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dx/dt = pq</a:t>
            </a: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(N-</a:t>
            </a: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)</a:t>
            </a:r>
            <a:br>
              <a:rPr lang="en">
                <a:latin typeface="Open Sans"/>
                <a:ea typeface="Open Sans"/>
                <a:cs typeface="Open Sans"/>
                <a:sym typeface="Open Sans"/>
              </a:rPr>
            </a:b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- number of carriers					p -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probability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A- B tie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 - number of persons				q - probability of transmission A → B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Authority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57200" y="1577825"/>
            <a:ext cx="8123700" cy="22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q-differential:  probability of transmission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b="1" lang="en" sz="1800">
                <a:solidFill>
                  <a:srgbClr val="FF0000"/>
                </a:solidFill>
              </a:rPr>
              <a:t>Contact (exposure) not sufficient because resistance</a:t>
            </a:r>
            <a:endParaRPr b="1" sz="1800">
              <a:solidFill>
                <a:srgbClr val="FF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credibility vs. authority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credibility --&gt;  mutuality, cliques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authority --&gt;  command trees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/>
        </p:nvSpPr>
        <p:spPr>
          <a:xfrm>
            <a:off x="669900" y="4343600"/>
            <a:ext cx="7698300" cy="122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dx/dt = pqx(N-x)</a:t>
            </a:r>
            <a:br>
              <a:rPr lang="en">
                <a:latin typeface="Open Sans"/>
                <a:ea typeface="Open Sans"/>
                <a:cs typeface="Open Sans"/>
                <a:sym typeface="Open Sans"/>
              </a:rPr>
            </a:b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X - number of carriers					p - probability A- B tie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N - number of persons				q - probability of transmission A → B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00" y="62763"/>
            <a:ext cx="3555973" cy="14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Hierarchy Forms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457200" y="1600200"/>
            <a:ext cx="8229600" cy="33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q-differential - credibility --&gt;  cliques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in-group /  out-group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 --&gt;  status hierarchy, amplification, deference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center</a:t>
            </a:r>
            <a:r>
              <a:rPr lang="en" sz="1800"/>
              <a:t>-periphery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q-differential - authority --&gt;  command trees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specific starting place diffusion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pecking order (caged system) ??   emergent??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always accept influence from those higher in status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424" y="4654860"/>
            <a:ext cx="2551034" cy="183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9895" y="4654847"/>
            <a:ext cx="3723505" cy="163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434975" y="1586983"/>
            <a:ext cx="8520600" cy="11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Trisets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68975" y="4080550"/>
            <a:ext cx="86526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Never accept influence from someone lower than you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all arrows go down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n" sz="2000">
                <a:solidFill>
                  <a:srgbClr val="FF0000"/>
                </a:solidFill>
              </a:rPr>
              <a:t>Can reject influence</a:t>
            </a:r>
            <a:endParaRPr sz="20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Tendency not to directly influence someone who is far below you (mediation) 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Multiple influencers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Coordination????</a:t>
            </a:r>
            <a:endParaRPr sz="2000"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875" y="178550"/>
            <a:ext cx="5034476" cy="36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