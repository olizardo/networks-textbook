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715000" cx="9144000"/>
  <p:notesSz cx="6858000" cy="9144000"/>
  <p:embeddedFontLst>
    <p:embeddedFont>
      <p:font typeface="Economica"/>
      <p:regular r:id="rId23"/>
      <p:bold r:id="rId24"/>
      <p:italic r:id="rId25"/>
      <p:boldItalic r:id="rId26"/>
    </p:embeddedFont>
    <p:embeddedFont>
      <p:font typeface="Junge"/>
      <p:regular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Economica-bold.fntdata"/><Relationship Id="rId23" Type="http://schemas.openxmlformats.org/officeDocument/2006/relationships/font" Target="fonts/Economica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Economica-boldItalic.fntdata"/><Relationship Id="rId25" Type="http://schemas.openxmlformats.org/officeDocument/2006/relationships/font" Target="fonts/Economica-italic.fntdata"/><Relationship Id="rId28" Type="http://schemas.openxmlformats.org/officeDocument/2006/relationships/font" Target="fonts/OpenSans-regular.fntdata"/><Relationship Id="rId27" Type="http://schemas.openxmlformats.org/officeDocument/2006/relationships/font" Target="fonts/Junge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471b629ae_0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471b629ae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a93f6851_22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a93f685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1997 Social Networks Special Issue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Wellman:  Community Lost, Saved, Liberated; strong ties; life-course effects; not densisty or degree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Morgan:  Core and Periphery ties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/>
              <a:t>Bidert  Life course  3 types of trajectories 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/>
              <a:t>Martin:  Ego and dyad effect, e.g. homopholy, embeddedness.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a93f6851_1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a93f685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compatibility, learning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4727382cb_03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4727382cb_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compatibility, learning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a93f6851_22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a93f6851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measures of both direction of event and intensity of flow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a93f6851_22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a93f6851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a93f6851_23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a93f6851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a93f6851_24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a93f6851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a93f6851_25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a93f6851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a93f6851_25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a93f6851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71b629ae_04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71b629ae_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471b629ae_04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471b629ae_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471b629ae_05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471b629ae_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471b629ae_065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471b629ae_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471b629ae_072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471b629ae_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471b629ae_07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471b629ae_0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4727382cb_05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4727382cb_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840778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629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604728"/>
            <a:ext cx="3054600" cy="17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462867"/>
            <a:ext cx="3054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511361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953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2007167"/>
            <a:ext cx="7596600" cy="170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554889"/>
            <a:ext cx="2808000" cy="30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00167"/>
            <a:ext cx="5878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8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995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32528"/>
            <a:ext cx="4045200" cy="19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076667"/>
            <a:ext cx="4045200" cy="17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804667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687694"/>
            <a:ext cx="59988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063472"/>
            <a:ext cx="8520600" cy="236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513333"/>
            <a:ext cx="8520600" cy="11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Vertices to Edges</a:t>
            </a:r>
            <a:endParaRPr/>
          </a:p>
        </p:txBody>
      </p:sp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311700" y="1361350"/>
            <a:ext cx="48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 so far on Vertices (Nodes)</a:t>
            </a:r>
            <a:endParaRPr/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Actors/Agents</a:t>
            </a:r>
            <a:endParaRPr/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Property of Agent linked to  network property:</a:t>
            </a:r>
            <a:endParaRPr/>
          </a:p>
          <a:p>
            <a:pPr indent="-317500" lvl="2" marL="1371600" rtl="0" algn="l">
              <a:spcBef>
                <a:spcPts val="160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Centrality</a:t>
            </a:r>
            <a:endParaRPr/>
          </a:p>
          <a:p>
            <a:pPr indent="-317500" lvl="2" marL="1371600" rtl="0" algn="l">
              <a:spcBef>
                <a:spcPts val="160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Composition</a:t>
            </a:r>
            <a:endParaRPr/>
          </a:p>
          <a:p>
            <a:pPr indent="-317500" lvl="2" marL="1371600" rtl="0" algn="l">
              <a:spcBef>
                <a:spcPts val="160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Diversity</a:t>
            </a:r>
            <a:endParaRPr/>
          </a:p>
          <a:p>
            <a:pPr indent="-317500" lvl="2" marL="1371600" rtl="0" algn="l">
              <a:spcBef>
                <a:spcPts val="160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Density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Connected, Network, Team,"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1538" y="1361342"/>
            <a:ext cx="3620771" cy="3823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Vertices to Edges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457200" y="1333500"/>
            <a:ext cx="4513800" cy="4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Recall the definition of a network: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G = (V, E) with N vertices and M Edges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What about the edges (dyads)?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Critical for dynamic analysis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Tie formation and persistence (or decay)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Flows and weighted edges based on interaction events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1600"/>
              </a:spcAft>
              <a:buSzPts val="1200"/>
              <a:buChar char="○"/>
            </a:pPr>
            <a:r>
              <a:rPr lang="en"/>
              <a:t>Generative processes - network evolution </a:t>
            </a:r>
            <a:endParaRPr/>
          </a:p>
        </p:txBody>
      </p:sp>
      <p:pic>
        <p:nvPicPr>
          <p:cNvPr descr="Meso-level networks are low"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0975" y="2055225"/>
            <a:ext cx="3287104" cy="2696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idx="2" type="body"/>
          </p:nvPr>
        </p:nvSpPr>
        <p:spPr>
          <a:xfrm>
            <a:off x="4449250" y="1333500"/>
            <a:ext cx="4237500" cy="4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Tie formation and persistence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Longitudinal Data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Formation or Persistence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1600"/>
              </a:spcAft>
              <a:buSzPts val="1200"/>
              <a:buChar char="○"/>
            </a:pPr>
            <a:r>
              <a:rPr lang="en"/>
              <a:t>homophily --&gt; tie formation</a:t>
            </a:r>
            <a:endParaRPr/>
          </a:p>
        </p:txBody>
      </p:sp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457200" y="1333500"/>
            <a:ext cx="4575000" cy="4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Binary data (presence/absence)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Dyadic Census - 3 states: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Null Dyad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Asymmetric Dyad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Mutual Dyad 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Prior work: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Mutuals persist, asymmetric tend to  null than mutual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79" name="Google Shape;79;p15"/>
          <p:cNvGrpSpPr/>
          <p:nvPr/>
        </p:nvGrpSpPr>
        <p:grpSpPr>
          <a:xfrm>
            <a:off x="5239113" y="3696200"/>
            <a:ext cx="3353637" cy="387000"/>
            <a:chOff x="5239113" y="3696200"/>
            <a:chExt cx="3353637" cy="387000"/>
          </a:xfrm>
        </p:grpSpPr>
        <p:sp>
          <p:nvSpPr>
            <p:cNvPr id="80" name="Google Shape;80;p15"/>
            <p:cNvSpPr/>
            <p:nvPr/>
          </p:nvSpPr>
          <p:spPr>
            <a:xfrm>
              <a:off x="5239113" y="3696200"/>
              <a:ext cx="442800" cy="387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1" name="Google Shape;81;p15"/>
            <p:cNvCxnSpPr>
              <a:stCxn id="80" idx="6"/>
              <a:endCxn id="82" idx="2"/>
            </p:cNvCxnSpPr>
            <p:nvPr/>
          </p:nvCxnSpPr>
          <p:spPr>
            <a:xfrm>
              <a:off x="5681913" y="3889700"/>
              <a:ext cx="1095300" cy="0"/>
            </a:xfrm>
            <a:prstGeom prst="straightConnector1">
              <a:avLst/>
            </a:prstGeom>
            <a:noFill/>
            <a:ln cap="flat" cmpd="sng" w="28575">
              <a:solidFill>
                <a:srgbClr val="38761D"/>
              </a:solidFill>
              <a:prstDash val="solid"/>
              <a:round/>
              <a:headEnd len="med" w="med" type="stealth"/>
              <a:tailEnd len="med" w="med" type="stealth"/>
            </a:ln>
          </p:spPr>
        </p:cxnSp>
        <p:sp>
          <p:nvSpPr>
            <p:cNvPr id="82" name="Google Shape;82;p15"/>
            <p:cNvSpPr/>
            <p:nvPr/>
          </p:nvSpPr>
          <p:spPr>
            <a:xfrm>
              <a:off x="6777183" y="3696200"/>
              <a:ext cx="442800" cy="387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 txBox="1"/>
            <p:nvPr/>
          </p:nvSpPr>
          <p:spPr>
            <a:xfrm>
              <a:off x="7426950" y="3741654"/>
              <a:ext cx="11658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Junge"/>
                  <a:ea typeface="Junge"/>
                  <a:cs typeface="Junge"/>
                  <a:sym typeface="Junge"/>
                </a:rPr>
                <a:t>Mutual</a:t>
              </a:r>
              <a:endParaRPr b="1">
                <a:latin typeface="Junge"/>
                <a:ea typeface="Junge"/>
                <a:cs typeface="Junge"/>
                <a:sym typeface="Junge"/>
              </a:endParaRPr>
            </a:p>
          </p:txBody>
        </p:sp>
      </p:grpSp>
      <p:grpSp>
        <p:nvGrpSpPr>
          <p:cNvPr id="84" name="Google Shape;84;p15"/>
          <p:cNvGrpSpPr/>
          <p:nvPr/>
        </p:nvGrpSpPr>
        <p:grpSpPr>
          <a:xfrm>
            <a:off x="5239113" y="4278589"/>
            <a:ext cx="3353637" cy="387000"/>
            <a:chOff x="5239113" y="4278589"/>
            <a:chExt cx="3353637" cy="387000"/>
          </a:xfrm>
        </p:grpSpPr>
        <p:sp>
          <p:nvSpPr>
            <p:cNvPr id="85" name="Google Shape;85;p15"/>
            <p:cNvSpPr/>
            <p:nvPr/>
          </p:nvSpPr>
          <p:spPr>
            <a:xfrm>
              <a:off x="5239113" y="4278589"/>
              <a:ext cx="442800" cy="387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6777183" y="4278589"/>
              <a:ext cx="442800" cy="387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7" name="Google Shape;87;p15"/>
            <p:cNvCxnSpPr>
              <a:stCxn id="85" idx="6"/>
              <a:endCxn id="86" idx="2"/>
            </p:cNvCxnSpPr>
            <p:nvPr/>
          </p:nvCxnSpPr>
          <p:spPr>
            <a:xfrm>
              <a:off x="5681913" y="4472089"/>
              <a:ext cx="1095300" cy="0"/>
            </a:xfrm>
            <a:prstGeom prst="straightConnector1">
              <a:avLst/>
            </a:prstGeom>
            <a:noFill/>
            <a:ln cap="flat" cmpd="sng" w="28575">
              <a:solidFill>
                <a:srgbClr val="38761D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88" name="Google Shape;88;p15"/>
            <p:cNvSpPr txBox="1"/>
            <p:nvPr/>
          </p:nvSpPr>
          <p:spPr>
            <a:xfrm>
              <a:off x="7281150" y="4339190"/>
              <a:ext cx="13116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Junge"/>
                  <a:ea typeface="Junge"/>
                  <a:cs typeface="Junge"/>
                  <a:sym typeface="Junge"/>
                </a:rPr>
                <a:t>Asymmetric</a:t>
              </a:r>
              <a:endParaRPr b="1">
                <a:latin typeface="Junge"/>
                <a:ea typeface="Junge"/>
                <a:cs typeface="Junge"/>
                <a:sym typeface="Junge"/>
              </a:endParaRPr>
            </a:p>
          </p:txBody>
        </p:sp>
      </p:grpSp>
      <p:grpSp>
        <p:nvGrpSpPr>
          <p:cNvPr id="89" name="Google Shape;89;p15"/>
          <p:cNvGrpSpPr/>
          <p:nvPr/>
        </p:nvGrpSpPr>
        <p:grpSpPr>
          <a:xfrm>
            <a:off x="5239113" y="4861001"/>
            <a:ext cx="3292012" cy="387000"/>
            <a:chOff x="5239113" y="4861001"/>
            <a:chExt cx="3292012" cy="387000"/>
          </a:xfrm>
        </p:grpSpPr>
        <p:sp>
          <p:nvSpPr>
            <p:cNvPr id="90" name="Google Shape;90;p15"/>
            <p:cNvSpPr/>
            <p:nvPr/>
          </p:nvSpPr>
          <p:spPr>
            <a:xfrm>
              <a:off x="5239113" y="4861001"/>
              <a:ext cx="442800" cy="387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6777183" y="4861001"/>
              <a:ext cx="442800" cy="387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7365325" y="4906446"/>
              <a:ext cx="11658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Junge"/>
                  <a:ea typeface="Junge"/>
                  <a:cs typeface="Junge"/>
                  <a:sym typeface="Junge"/>
                </a:rPr>
                <a:t>Null</a:t>
              </a:r>
              <a:endParaRPr b="1">
                <a:latin typeface="Junge"/>
                <a:ea typeface="Junge"/>
                <a:cs typeface="Junge"/>
                <a:sym typeface="Junge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Burt:  Tie Decay</a:t>
            </a:r>
            <a:endParaRPr/>
          </a:p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3117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Formation vs. persistence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Liability of newness: </a:t>
            </a:r>
            <a:endParaRPr/>
          </a:p>
          <a:p>
            <a:pPr indent="-304800" lvl="2" marL="1371600" rtl="0" algn="l">
              <a:spcBef>
                <a:spcPts val="160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Ties are more likely to decay later on 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Longer in a state less likely to leave the state:</a:t>
            </a:r>
            <a:endParaRPr/>
          </a:p>
          <a:p>
            <a:pPr indent="-304800" lvl="2" marL="1371600" rtl="0" algn="l">
              <a:spcBef>
                <a:spcPts val="160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Unless other ties are disrupted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cxnSp>
        <p:nvCxnSpPr>
          <p:cNvPr id="99" name="Google Shape;99;p16"/>
          <p:cNvCxnSpPr/>
          <p:nvPr/>
        </p:nvCxnSpPr>
        <p:spPr>
          <a:xfrm flipH="1" rot="10800000">
            <a:off x="4699725" y="1373525"/>
            <a:ext cx="18000" cy="359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100" name="Google Shape;100;p16"/>
          <p:cNvGrpSpPr/>
          <p:nvPr/>
        </p:nvGrpSpPr>
        <p:grpSpPr>
          <a:xfrm>
            <a:off x="4021025" y="1355383"/>
            <a:ext cx="4567400" cy="4005027"/>
            <a:chOff x="4021025" y="1626525"/>
            <a:chExt cx="4567400" cy="4806225"/>
          </a:xfrm>
        </p:grpSpPr>
        <p:cxnSp>
          <p:nvCxnSpPr>
            <p:cNvPr id="101" name="Google Shape;101;p16"/>
            <p:cNvCxnSpPr/>
            <p:nvPr/>
          </p:nvCxnSpPr>
          <p:spPr>
            <a:xfrm>
              <a:off x="4690525" y="5956350"/>
              <a:ext cx="3897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02" name="Google Shape;102;p16"/>
            <p:cNvSpPr txBox="1"/>
            <p:nvPr/>
          </p:nvSpPr>
          <p:spPr>
            <a:xfrm rot="-5400000">
              <a:off x="1996925" y="3650625"/>
              <a:ext cx="4426200" cy="37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latin typeface="Junge"/>
                  <a:ea typeface="Junge"/>
                  <a:cs typeface="Junge"/>
                  <a:sym typeface="Junge"/>
                </a:rPr>
                <a:t>Probability of that the tie will be gone at next time step</a:t>
              </a:r>
              <a:endParaRPr b="1" sz="1300"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103" name="Google Shape;103;p16"/>
            <p:cNvSpPr txBox="1"/>
            <p:nvPr/>
          </p:nvSpPr>
          <p:spPr>
            <a:xfrm>
              <a:off x="4758750" y="6006300"/>
              <a:ext cx="3506400" cy="21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Junge"/>
                  <a:ea typeface="Junge"/>
                  <a:cs typeface="Junge"/>
                  <a:sym typeface="Junge"/>
                </a:rPr>
                <a:t>1	2	3	4	5	6	7	8</a:t>
              </a:r>
              <a:endParaRPr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4731450" y="6168750"/>
              <a:ext cx="3561000" cy="26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Junge"/>
                  <a:ea typeface="Junge"/>
                  <a:cs typeface="Junge"/>
                  <a:sym typeface="Junge"/>
                </a:rPr>
                <a:t>Time</a:t>
              </a:r>
              <a:endParaRPr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4799700" y="1803300"/>
              <a:ext cx="3679551" cy="4072655"/>
            </a:xfrm>
            <a:custGeom>
              <a:rect b="b" l="l" r="r" t="t"/>
              <a:pathLst>
                <a:path extrusionOk="0" h="160657" w="146815">
                  <a:moveTo>
                    <a:pt x="0" y="0"/>
                  </a:moveTo>
                  <a:cubicBezTo>
                    <a:pt x="3400" y="14572"/>
                    <a:pt x="12568" y="67396"/>
                    <a:pt x="20401" y="87433"/>
                  </a:cubicBezTo>
                  <a:cubicBezTo>
                    <a:pt x="28234" y="107470"/>
                    <a:pt x="30420" y="109473"/>
                    <a:pt x="46996" y="120220"/>
                  </a:cubicBezTo>
                  <a:cubicBezTo>
                    <a:pt x="63572" y="130967"/>
                    <a:pt x="103220" y="145175"/>
                    <a:pt x="119856" y="151914"/>
                  </a:cubicBezTo>
                  <a:cubicBezTo>
                    <a:pt x="136493" y="158654"/>
                    <a:pt x="142322" y="159200"/>
                    <a:pt x="146815" y="160657"/>
                  </a:cubicBezTo>
                </a:path>
              </a:pathLst>
            </a:cu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6" name="Google Shape;106;p16"/>
            <p:cNvSpPr txBox="1"/>
            <p:nvPr/>
          </p:nvSpPr>
          <p:spPr>
            <a:xfrm>
              <a:off x="5145775" y="1848825"/>
              <a:ext cx="1284300" cy="6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Liability of newness</a:t>
              </a:r>
              <a:endParaRPr>
                <a:solidFill>
                  <a:srgbClr val="FF0000"/>
                </a:solidFill>
              </a:endParaRPr>
            </a:p>
          </p:txBody>
        </p:sp>
        <p:cxnSp>
          <p:nvCxnSpPr>
            <p:cNvPr id="107" name="Google Shape;107;p16"/>
            <p:cNvCxnSpPr>
              <a:stCxn id="106" idx="2"/>
            </p:cNvCxnSpPr>
            <p:nvPr/>
          </p:nvCxnSpPr>
          <p:spPr>
            <a:xfrm flipH="1">
              <a:off x="5218525" y="2477325"/>
              <a:ext cx="569400" cy="6648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8" name="Google Shape;108;p16"/>
            <p:cNvSpPr txBox="1"/>
            <p:nvPr/>
          </p:nvSpPr>
          <p:spPr>
            <a:xfrm>
              <a:off x="4353450" y="1656150"/>
              <a:ext cx="378000" cy="42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Junge"/>
                  <a:ea typeface="Junge"/>
                  <a:cs typeface="Junge"/>
                  <a:sym typeface="Junge"/>
                </a:rPr>
                <a:t>1</a:t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Junge"/>
                  <a:ea typeface="Junge"/>
                  <a:cs typeface="Junge"/>
                  <a:sym typeface="Junge"/>
                </a:rPr>
                <a:t>.5</a:t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Junge"/>
                  <a:ea typeface="Junge"/>
                  <a:cs typeface="Junge"/>
                  <a:sym typeface="Junge"/>
                </a:rPr>
                <a:t>0</a:t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Burt:  Tie Decay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457200" y="1333500"/>
            <a:ext cx="3732300" cy="4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Tie Age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Node Attributes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Subjective Closeness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Colleague availability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Homophily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Embeddedness (number of third parties connecting A &amp; B)</a:t>
            </a:r>
            <a:endParaRPr/>
          </a:p>
          <a:p>
            <a:pPr indent="-304800" lvl="2" marL="1371600" rtl="0" algn="l">
              <a:spcBef>
                <a:spcPts val="160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Unless triad breaks up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cxnSp>
        <p:nvCxnSpPr>
          <p:cNvPr id="115" name="Google Shape;115;p17"/>
          <p:cNvCxnSpPr/>
          <p:nvPr/>
        </p:nvCxnSpPr>
        <p:spPr>
          <a:xfrm flipH="1" rot="10800000">
            <a:off x="4699725" y="1373525"/>
            <a:ext cx="18000" cy="359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6" name="Google Shape;116;p17"/>
          <p:cNvSpPr/>
          <p:nvPr/>
        </p:nvSpPr>
        <p:spPr>
          <a:xfrm>
            <a:off x="4763250" y="1563458"/>
            <a:ext cx="3615960" cy="3339235"/>
          </a:xfrm>
          <a:custGeom>
            <a:rect b="b" l="l" r="r" t="t"/>
            <a:pathLst>
              <a:path extrusionOk="0" h="160656" w="141719">
                <a:moveTo>
                  <a:pt x="0" y="0"/>
                </a:moveTo>
                <a:cubicBezTo>
                  <a:pt x="1165" y="13548"/>
                  <a:pt x="4013" y="59004"/>
                  <a:pt x="6988" y="81287"/>
                </a:cubicBezTo>
                <a:cubicBezTo>
                  <a:pt x="9963" y="103570"/>
                  <a:pt x="11548" y="121260"/>
                  <a:pt x="17851" y="133699"/>
                </a:cubicBezTo>
                <a:cubicBezTo>
                  <a:pt x="24155" y="146138"/>
                  <a:pt x="32362" y="151733"/>
                  <a:pt x="44809" y="155922"/>
                </a:cubicBezTo>
                <a:cubicBezTo>
                  <a:pt x="57256" y="160112"/>
                  <a:pt x="76381" y="158047"/>
                  <a:pt x="92533" y="158836"/>
                </a:cubicBezTo>
                <a:cubicBezTo>
                  <a:pt x="108685" y="159625"/>
                  <a:pt x="133521" y="160353"/>
                  <a:pt x="141719" y="160656"/>
                </a:cubicBezTo>
              </a:path>
            </a:pathLst>
          </a:cu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17" name="Google Shape;117;p17"/>
          <p:cNvGrpSpPr/>
          <p:nvPr/>
        </p:nvGrpSpPr>
        <p:grpSpPr>
          <a:xfrm>
            <a:off x="4021025" y="1355383"/>
            <a:ext cx="4567400" cy="4005027"/>
            <a:chOff x="4021025" y="1626525"/>
            <a:chExt cx="4567400" cy="4806225"/>
          </a:xfrm>
        </p:grpSpPr>
        <p:cxnSp>
          <p:nvCxnSpPr>
            <p:cNvPr id="118" name="Google Shape;118;p17"/>
            <p:cNvCxnSpPr/>
            <p:nvPr/>
          </p:nvCxnSpPr>
          <p:spPr>
            <a:xfrm>
              <a:off x="4690525" y="5956350"/>
              <a:ext cx="3897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19" name="Google Shape;119;p17"/>
            <p:cNvSpPr txBox="1"/>
            <p:nvPr/>
          </p:nvSpPr>
          <p:spPr>
            <a:xfrm rot="-5400000">
              <a:off x="1996925" y="3650625"/>
              <a:ext cx="4426200" cy="37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latin typeface="Junge"/>
                  <a:ea typeface="Junge"/>
                  <a:cs typeface="Junge"/>
                  <a:sym typeface="Junge"/>
                </a:rPr>
                <a:t>Probability of that the tie will be gone at next time step</a:t>
              </a:r>
              <a:endParaRPr b="1" sz="1300"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120" name="Google Shape;120;p17"/>
            <p:cNvSpPr txBox="1"/>
            <p:nvPr/>
          </p:nvSpPr>
          <p:spPr>
            <a:xfrm>
              <a:off x="4758750" y="6006300"/>
              <a:ext cx="3506400" cy="21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Junge"/>
                  <a:ea typeface="Junge"/>
                  <a:cs typeface="Junge"/>
                  <a:sym typeface="Junge"/>
                </a:rPr>
                <a:t>1	2	3	4	5	6	7	8</a:t>
              </a:r>
              <a:endParaRPr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121" name="Google Shape;121;p17"/>
            <p:cNvSpPr txBox="1"/>
            <p:nvPr/>
          </p:nvSpPr>
          <p:spPr>
            <a:xfrm>
              <a:off x="4731450" y="6168750"/>
              <a:ext cx="3561000" cy="26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Junge"/>
                  <a:ea typeface="Junge"/>
                  <a:cs typeface="Junge"/>
                  <a:sym typeface="Junge"/>
                </a:rPr>
                <a:t>Time</a:t>
              </a:r>
              <a:endParaRPr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4799700" y="1803300"/>
              <a:ext cx="3679551" cy="4072655"/>
            </a:xfrm>
            <a:custGeom>
              <a:rect b="b" l="l" r="r" t="t"/>
              <a:pathLst>
                <a:path extrusionOk="0" h="160657" w="146815">
                  <a:moveTo>
                    <a:pt x="0" y="0"/>
                  </a:moveTo>
                  <a:cubicBezTo>
                    <a:pt x="3400" y="14572"/>
                    <a:pt x="12568" y="67396"/>
                    <a:pt x="20401" y="87433"/>
                  </a:cubicBezTo>
                  <a:cubicBezTo>
                    <a:pt x="28234" y="107470"/>
                    <a:pt x="30420" y="109473"/>
                    <a:pt x="46996" y="120220"/>
                  </a:cubicBezTo>
                  <a:cubicBezTo>
                    <a:pt x="63572" y="130967"/>
                    <a:pt x="103220" y="145175"/>
                    <a:pt x="119856" y="151914"/>
                  </a:cubicBezTo>
                  <a:cubicBezTo>
                    <a:pt x="136493" y="158654"/>
                    <a:pt x="142322" y="159200"/>
                    <a:pt x="146815" y="160657"/>
                  </a:cubicBezTo>
                </a:path>
              </a:pathLst>
            </a:cu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3" name="Google Shape;123;p17"/>
            <p:cNvSpPr txBox="1"/>
            <p:nvPr/>
          </p:nvSpPr>
          <p:spPr>
            <a:xfrm>
              <a:off x="5145775" y="1848825"/>
              <a:ext cx="1284300" cy="6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Simmelian</a:t>
              </a:r>
              <a:r>
                <a:rPr lang="en">
                  <a:solidFill>
                    <a:srgbClr val="FF0000"/>
                  </a:solidFill>
                </a:rPr>
                <a:t> Dyads</a:t>
              </a:r>
              <a:endParaRPr>
                <a:solidFill>
                  <a:srgbClr val="FF0000"/>
                </a:solidFill>
              </a:endParaRPr>
            </a:p>
          </p:txBody>
        </p:sp>
        <p:cxnSp>
          <p:nvCxnSpPr>
            <p:cNvPr id="124" name="Google Shape;124;p17"/>
            <p:cNvCxnSpPr>
              <a:stCxn id="123" idx="2"/>
            </p:cNvCxnSpPr>
            <p:nvPr/>
          </p:nvCxnSpPr>
          <p:spPr>
            <a:xfrm flipH="1">
              <a:off x="5218525" y="2477325"/>
              <a:ext cx="569400" cy="6648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5" name="Google Shape;125;p17"/>
            <p:cNvSpPr txBox="1"/>
            <p:nvPr/>
          </p:nvSpPr>
          <p:spPr>
            <a:xfrm>
              <a:off x="6154300" y="4269025"/>
              <a:ext cx="1284300" cy="6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“Standalone” Dyads</a:t>
              </a:r>
              <a:endParaRPr>
                <a:solidFill>
                  <a:srgbClr val="FF0000"/>
                </a:solidFill>
              </a:endParaRPr>
            </a:p>
          </p:txBody>
        </p:sp>
        <p:cxnSp>
          <p:nvCxnSpPr>
            <p:cNvPr id="126" name="Google Shape;126;p17"/>
            <p:cNvCxnSpPr>
              <a:stCxn id="125" idx="2"/>
            </p:cNvCxnSpPr>
            <p:nvPr/>
          </p:nvCxnSpPr>
          <p:spPr>
            <a:xfrm flipH="1">
              <a:off x="6011050" y="4897525"/>
              <a:ext cx="785400" cy="7401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7" name="Google Shape;127;p17"/>
            <p:cNvSpPr txBox="1"/>
            <p:nvPr/>
          </p:nvSpPr>
          <p:spPr>
            <a:xfrm>
              <a:off x="4353450" y="1656150"/>
              <a:ext cx="378000" cy="42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Junge"/>
                  <a:ea typeface="Junge"/>
                  <a:cs typeface="Junge"/>
                  <a:sym typeface="Junge"/>
                </a:rPr>
                <a:t>1</a:t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Junge"/>
                  <a:ea typeface="Junge"/>
                  <a:cs typeface="Junge"/>
                  <a:sym typeface="Junge"/>
                </a:rPr>
                <a:t>.5</a:t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Junge"/>
                  <a:ea typeface="Junge"/>
                  <a:cs typeface="Junge"/>
                  <a:sym typeface="Junge"/>
                </a:rPr>
                <a:t>0</a:t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Ties and Interaction Events</a:t>
            </a:r>
            <a:endParaRPr/>
          </a:p>
        </p:txBody>
      </p:sp>
      <p:sp>
        <p:nvSpPr>
          <p:cNvPr id="133" name="Google Shape;133;p18"/>
          <p:cNvSpPr txBox="1"/>
          <p:nvPr>
            <p:ph idx="1" type="body"/>
          </p:nvPr>
        </p:nvSpPr>
        <p:spPr>
          <a:xfrm>
            <a:off x="457200" y="1333500"/>
            <a:ext cx="8229600" cy="4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What is a social tie?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Dyadic social interactions 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playing tennis, having sex, talking with, collaborating together on, exchanging with, giving to, receiving from) 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Events:  instances of interaction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event traits:  initiating, waiting times, sequencing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Communicative interactions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Initiating, who provides information, time talking, length of messages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Aggregating events by time period 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1600"/>
              </a:spcAft>
              <a:buSzPts val="1200"/>
              <a:buChar char="○"/>
            </a:pPr>
            <a:r>
              <a:rPr lang="en"/>
              <a:t>Tie:  at least one event in a given time period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Ties and Interaction Events</a:t>
            </a:r>
            <a:endParaRPr/>
          </a:p>
        </p:txBody>
      </p:sp>
      <p:sp>
        <p:nvSpPr>
          <p:cNvPr id="139" name="Google Shape;139;p19"/>
          <p:cNvSpPr txBox="1"/>
          <p:nvPr>
            <p:ph idx="1" type="body"/>
          </p:nvPr>
        </p:nvSpPr>
        <p:spPr>
          <a:xfrm>
            <a:off x="457200" y="1333500"/>
            <a:ext cx="8229600" cy="4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Tie:  Link through which events occur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Through ties events (interactions) "flow"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Directed flow:  initiated of event, sender and receiver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Strong ties:  Large flows (number of events), bandwidth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Reciprocal ties:  Balanced flows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Balanced counts aggregated from information on the occurrence and traits of interactional events within a time window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 temporal event sequence  A-&gt;B-&gt;A-&gt;B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Weighted Edge Graphs</a:t>
            </a:r>
            <a:endParaRPr/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457200" y="1333500"/>
            <a:ext cx="8229600" cy="21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</a:rPr>
              <a:t>Arc</a:t>
            </a:r>
            <a:r>
              <a:rPr lang="en" sz="2200">
                <a:solidFill>
                  <a:srgbClr val="000000"/>
                </a:solidFill>
              </a:rPr>
              <a:t> </a:t>
            </a:r>
            <a:r>
              <a:rPr b="1" lang="en" sz="2200">
                <a:solidFill>
                  <a:srgbClr val="000000"/>
                </a:solidFill>
              </a:rPr>
              <a:t>(x</a:t>
            </a:r>
            <a:r>
              <a:rPr b="1" baseline="-25000" lang="en" sz="2200">
                <a:solidFill>
                  <a:srgbClr val="000000"/>
                </a:solidFill>
              </a:rPr>
              <a:t>ij</a:t>
            </a:r>
            <a:r>
              <a:rPr b="1" lang="en" sz="2200">
                <a:solidFill>
                  <a:srgbClr val="000000"/>
                </a:solidFill>
              </a:rPr>
              <a:t> = 1)</a:t>
            </a:r>
            <a:r>
              <a:rPr lang="en" sz="2200">
                <a:solidFill>
                  <a:srgbClr val="000000"/>
                </a:solidFill>
              </a:rPr>
              <a:t>:  if  there was an interaction between i and j within a given time period and i initiated that interaction (e.g., a call from i to j)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</a:rPr>
              <a:t>Outflow Parameter (m</a:t>
            </a:r>
            <a:r>
              <a:rPr b="1" baseline="-25000" lang="en" sz="2200">
                <a:solidFill>
                  <a:srgbClr val="000000"/>
                </a:solidFill>
              </a:rPr>
              <a:t>ij</a:t>
            </a:r>
            <a:r>
              <a:rPr lang="en" sz="2200">
                <a:solidFill>
                  <a:srgbClr val="000000"/>
                </a:solidFill>
              </a:rPr>
              <a:t>):  Count of the number of interactions between i and j that were initiated by i  in a given time period (e.g., number of calls made by i to j)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5452" y="3436250"/>
            <a:ext cx="2491325" cy="211271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0"/>
          <p:cNvSpPr txBox="1"/>
          <p:nvPr/>
        </p:nvSpPr>
        <p:spPr>
          <a:xfrm>
            <a:off x="4594275" y="3505792"/>
            <a:ext cx="36156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x</a:t>
            </a:r>
            <a:r>
              <a:rPr baseline="-25000" lang="en" sz="2100"/>
              <a:t>12</a:t>
            </a:r>
            <a:r>
              <a:rPr lang="en" sz="2100"/>
              <a:t> = x</a:t>
            </a:r>
            <a:r>
              <a:rPr baseline="-25000" lang="en" sz="2100"/>
              <a:t>13</a:t>
            </a:r>
            <a:r>
              <a:rPr lang="en" sz="2100"/>
              <a:t> = x</a:t>
            </a:r>
            <a:r>
              <a:rPr baseline="-25000" lang="en" sz="2100"/>
              <a:t>14</a:t>
            </a:r>
            <a:r>
              <a:rPr lang="en" sz="2100"/>
              <a:t> = 1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m</a:t>
            </a:r>
            <a:r>
              <a:rPr baseline="-25000" lang="en" sz="2100"/>
              <a:t>12</a:t>
            </a:r>
            <a:r>
              <a:rPr lang="en" sz="2100"/>
              <a:t> = 5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m</a:t>
            </a:r>
            <a:r>
              <a:rPr baseline="-25000" lang="en" sz="2100"/>
              <a:t>13</a:t>
            </a:r>
            <a:r>
              <a:rPr lang="en" sz="2100"/>
              <a:t> = 3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m</a:t>
            </a:r>
            <a:r>
              <a:rPr baseline="-25000" lang="en" sz="2100"/>
              <a:t>14</a:t>
            </a:r>
            <a:r>
              <a:rPr lang="en" sz="2100"/>
              <a:t> = 1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Level Properties</a:t>
            </a:r>
            <a:endParaRPr/>
          </a:p>
        </p:txBody>
      </p:sp>
      <p:sp>
        <p:nvSpPr>
          <p:cNvPr id="153" name="Google Shape;153;p21"/>
          <p:cNvSpPr txBox="1"/>
          <p:nvPr>
            <p:ph idx="1" type="body"/>
          </p:nvPr>
        </p:nvSpPr>
        <p:spPr>
          <a:xfrm>
            <a:off x="457200" y="1333500"/>
            <a:ext cx="4798500" cy="4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" sz="2400"/>
              <a:t>Out-degree (d</a:t>
            </a:r>
            <a:r>
              <a:rPr b="1" baseline="-25000" lang="en" sz="2400"/>
              <a:t>i</a:t>
            </a:r>
            <a:r>
              <a:rPr b="1" lang="en" sz="2400"/>
              <a:t>)</a:t>
            </a:r>
            <a:r>
              <a:rPr lang="en" sz="2400"/>
              <a:t>: </a:t>
            </a:r>
            <a:r>
              <a:rPr lang="en" sz="2400">
                <a:solidFill>
                  <a:srgbClr val="000000"/>
                </a:solidFill>
              </a:rPr>
              <a:t>count of number of </a:t>
            </a:r>
            <a:r>
              <a:rPr i="1" lang="en" sz="2400">
                <a:solidFill>
                  <a:srgbClr val="000000"/>
                </a:solidFill>
              </a:rPr>
              <a:t>j</a:t>
            </a:r>
            <a:r>
              <a:rPr lang="en" sz="2400">
                <a:solidFill>
                  <a:srgbClr val="000000"/>
                </a:solidFill>
              </a:rPr>
              <a:t> nodes that </a:t>
            </a:r>
            <a:r>
              <a:rPr i="1" lang="en" sz="2400"/>
              <a:t>i</a:t>
            </a:r>
            <a:r>
              <a:rPr lang="en" sz="2400">
                <a:solidFill>
                  <a:srgbClr val="000000"/>
                </a:solidFill>
              </a:rPr>
              <a:t> has initiated interaction with in a given time period (e.g., number of people </a:t>
            </a:r>
            <a:r>
              <a:rPr i="1" lang="en" sz="2400">
                <a:solidFill>
                  <a:srgbClr val="000000"/>
                </a:solidFill>
              </a:rPr>
              <a:t>i</a:t>
            </a:r>
            <a:r>
              <a:rPr lang="en" sz="2400">
                <a:solidFill>
                  <a:srgbClr val="000000"/>
                </a:solidFill>
              </a:rPr>
              <a:t> called)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600"/>
              </a:spcBef>
              <a:spcAft>
                <a:spcPts val="1600"/>
              </a:spcAft>
              <a:buSzPts val="2400"/>
              <a:buChar char="●"/>
            </a:pPr>
            <a:r>
              <a:rPr lang="en" sz="2400"/>
              <a:t>V</a:t>
            </a:r>
            <a:r>
              <a:rPr b="1" lang="en" sz="2400"/>
              <a:t>ertex Strength (m</a:t>
            </a:r>
            <a:r>
              <a:rPr b="1" baseline="-25000" lang="en" sz="2400"/>
              <a:t>i+</a:t>
            </a:r>
            <a:r>
              <a:rPr b="1" lang="en" sz="2400"/>
              <a:t>): </a:t>
            </a:r>
            <a:r>
              <a:rPr lang="en" sz="2400">
                <a:solidFill>
                  <a:srgbClr val="000000"/>
                </a:solidFill>
              </a:rPr>
              <a:t>activity level of a node, i.e.  Count of the number of interactions initiated by </a:t>
            </a:r>
            <a:r>
              <a:rPr i="1" lang="en" sz="2400">
                <a:solidFill>
                  <a:srgbClr val="000000"/>
                </a:solidFill>
              </a:rPr>
              <a:t>i</a:t>
            </a:r>
            <a:r>
              <a:rPr lang="en" sz="2400">
                <a:solidFill>
                  <a:srgbClr val="000000"/>
                </a:solidFill>
              </a:rPr>
              <a:t> with all </a:t>
            </a:r>
            <a:r>
              <a:rPr i="1" lang="en" sz="2400">
                <a:solidFill>
                  <a:srgbClr val="000000"/>
                </a:solidFill>
              </a:rPr>
              <a:t>i</a:t>
            </a:r>
            <a:r>
              <a:rPr lang="en" sz="2400">
                <a:solidFill>
                  <a:srgbClr val="000000"/>
                </a:solidFill>
              </a:rPr>
              <a:t>’s </a:t>
            </a:r>
            <a:r>
              <a:rPr i="1" lang="en" sz="2400">
                <a:solidFill>
                  <a:srgbClr val="000000"/>
                </a:solidFill>
              </a:rPr>
              <a:t>j</a:t>
            </a:r>
            <a:r>
              <a:rPr lang="en" sz="2400">
                <a:solidFill>
                  <a:srgbClr val="000000"/>
                </a:solidFill>
              </a:rPr>
              <a:t> neighbors in a given time period (e.g., total number of calls made by </a:t>
            </a:r>
            <a:r>
              <a:rPr i="1" lang="en" sz="2400">
                <a:solidFill>
                  <a:srgbClr val="000000"/>
                </a:solidFill>
              </a:rPr>
              <a:t>i</a:t>
            </a:r>
            <a:r>
              <a:rPr lang="en" sz="2400">
                <a:solidFill>
                  <a:srgbClr val="000000"/>
                </a:solidFill>
              </a:rPr>
              <a:t>)</a:t>
            </a:r>
            <a:endParaRPr baseline="-25000" sz="2400"/>
          </a:p>
        </p:txBody>
      </p:sp>
      <p:pic>
        <p:nvPicPr>
          <p:cNvPr id="154" name="Google Shape;15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0593" y="1431771"/>
            <a:ext cx="1635711" cy="1850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7411" y="3730677"/>
            <a:ext cx="1707847" cy="80965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/>
          <p:nvPr/>
        </p:nvSpPr>
        <p:spPr>
          <a:xfrm>
            <a:off x="5998120" y="4667335"/>
            <a:ext cx="27078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</a:t>
            </a:r>
            <a:r>
              <a:rPr baseline="-25000" lang="en" sz="2400"/>
              <a:t>1+</a:t>
            </a:r>
            <a:r>
              <a:rPr lang="en" sz="2400"/>
              <a:t> = 5+3+1 = 9</a:t>
            </a:r>
            <a:endParaRPr sz="2400"/>
          </a:p>
        </p:txBody>
      </p:sp>
      <p:sp>
        <p:nvSpPr>
          <p:cNvPr id="157" name="Google Shape;157;p21"/>
          <p:cNvSpPr txBox="1"/>
          <p:nvPr/>
        </p:nvSpPr>
        <p:spPr>
          <a:xfrm>
            <a:off x="5821207" y="3385799"/>
            <a:ext cx="2123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</a:t>
            </a:r>
            <a:r>
              <a:rPr baseline="-25000" lang="en" sz="2400"/>
              <a:t>1</a:t>
            </a:r>
            <a:r>
              <a:rPr lang="en" sz="2400"/>
              <a:t> = 3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 Flows &amp; Vertex Stregth</a:t>
            </a:r>
            <a:endParaRPr/>
          </a:p>
        </p:txBody>
      </p:sp>
      <p:sp>
        <p:nvSpPr>
          <p:cNvPr id="163" name="Google Shape;163;p22"/>
          <p:cNvSpPr txBox="1"/>
          <p:nvPr>
            <p:ph idx="1" type="body"/>
          </p:nvPr>
        </p:nvSpPr>
        <p:spPr>
          <a:xfrm>
            <a:off x="368206" y="2348583"/>
            <a:ext cx="5170500" cy="1073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/>
              <a:t>conditional transition probability</a:t>
            </a:r>
            <a:r>
              <a:rPr lang="en" sz="2400"/>
              <a:t>:  probability, given that an event has been initiated by i, that it is with j. </a:t>
            </a:r>
            <a:endParaRPr sz="2400"/>
          </a:p>
        </p:txBody>
      </p:sp>
      <p:pic>
        <p:nvPicPr>
          <p:cNvPr id="164" name="Google Shape;16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554" y="1587726"/>
            <a:ext cx="1745577" cy="54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6850" y="1562594"/>
            <a:ext cx="1267675" cy="59941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2"/>
          <p:cNvSpPr txBox="1"/>
          <p:nvPr/>
        </p:nvSpPr>
        <p:spPr>
          <a:xfrm>
            <a:off x="801547" y="4211638"/>
            <a:ext cx="30813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</a:t>
            </a:r>
            <a:r>
              <a:rPr baseline="-25000" lang="en" sz="2400"/>
              <a:t>12</a:t>
            </a:r>
            <a:r>
              <a:rPr lang="en" sz="2400"/>
              <a:t> = (m</a:t>
            </a:r>
            <a:r>
              <a:rPr baseline="-25000" lang="en" sz="2400"/>
              <a:t>1+</a:t>
            </a:r>
            <a:r>
              <a:rPr lang="en" sz="2400"/>
              <a:t>) (p</a:t>
            </a:r>
            <a:r>
              <a:rPr baseline="-25000" lang="en" sz="2400"/>
              <a:t>12</a:t>
            </a:r>
            <a:r>
              <a:rPr lang="en" sz="2400"/>
              <a:t>)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5 = 9*(5/9)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67" name="Google Shape;167;p22"/>
          <p:cNvSpPr txBox="1"/>
          <p:nvPr/>
        </p:nvSpPr>
        <p:spPr>
          <a:xfrm>
            <a:off x="5194300" y="3862888"/>
            <a:ext cx="3419100" cy="16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p</a:t>
            </a:r>
            <a:r>
              <a:rPr baseline="-25000" lang="en" sz="2400"/>
              <a:t>12</a:t>
            </a:r>
            <a:r>
              <a:rPr lang="en" sz="2400"/>
              <a:t> = 5/9 = .556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p</a:t>
            </a:r>
            <a:r>
              <a:rPr baseline="-25000" lang="en" sz="2400"/>
              <a:t>13</a:t>
            </a:r>
            <a:r>
              <a:rPr lang="en" sz="2400"/>
              <a:t> = 3/9 = .333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p</a:t>
            </a:r>
            <a:r>
              <a:rPr baseline="-25000" lang="en" sz="2400"/>
              <a:t>14</a:t>
            </a:r>
            <a:r>
              <a:rPr lang="en" sz="2400"/>
              <a:t> = 1/9 = .111</a:t>
            </a:r>
            <a:endParaRPr/>
          </a:p>
        </p:txBody>
      </p:sp>
      <p:pic>
        <p:nvPicPr>
          <p:cNvPr id="168" name="Google Shape;16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0323" y="1794500"/>
            <a:ext cx="1635711" cy="185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(Arc) Strength</a:t>
            </a:r>
            <a:endParaRPr/>
          </a:p>
        </p:txBody>
      </p:sp>
      <p:sp>
        <p:nvSpPr>
          <p:cNvPr id="174" name="Google Shape;174;p23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Arc Flow</a:t>
            </a:r>
            <a:r>
              <a:rPr lang="en"/>
              <a:t>:  m</a:t>
            </a:r>
            <a:r>
              <a:rPr baseline="-25000" lang="en"/>
              <a:t>ij</a:t>
            </a:r>
            <a:r>
              <a:rPr lang="en"/>
              <a:t> = (m</a:t>
            </a:r>
            <a:r>
              <a:rPr baseline="-25000" lang="en"/>
              <a:t>i+</a:t>
            </a:r>
            <a:r>
              <a:rPr lang="en"/>
              <a:t>) (p</a:t>
            </a:r>
            <a:r>
              <a:rPr baseline="-25000" lang="en"/>
              <a:t>ij</a:t>
            </a:r>
            <a:r>
              <a:rPr lang="en"/>
              <a:t>)</a:t>
            </a:r>
            <a:endParaRPr baseline="-25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Transition Probability</a:t>
            </a:r>
            <a:r>
              <a:rPr lang="en"/>
              <a:t>:	  p</a:t>
            </a:r>
            <a:r>
              <a:rPr baseline="-25000" lang="en"/>
              <a:t>ij</a:t>
            </a:r>
            <a:endParaRPr baseline="-25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Relative Strength</a:t>
            </a:r>
            <a:r>
              <a:rPr lang="en"/>
              <a:t>:		m</a:t>
            </a:r>
            <a:r>
              <a:rPr baseline="-25000" lang="en"/>
              <a:t>ij</a:t>
            </a:r>
            <a:r>
              <a:rPr lang="en"/>
              <a:t>/max(m</a:t>
            </a:r>
            <a:r>
              <a:rPr baseline="-25000" lang="en"/>
              <a:t>ik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Vertex Strength</a:t>
            </a:r>
            <a:r>
              <a:rPr lang="en"/>
              <a:t>:    m</a:t>
            </a:r>
            <a:r>
              <a:rPr baseline="-25000" lang="en"/>
              <a:t>i+</a:t>
            </a:r>
            <a:endParaRPr baseline="-25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FF"/>
                </a:solidFill>
              </a:rPr>
              <a:t>Dyadic Edge Strength</a:t>
            </a:r>
            <a:r>
              <a:rPr lang="en"/>
              <a:t> </a:t>
            </a:r>
            <a:br>
              <a:rPr lang="en"/>
            </a:br>
            <a:r>
              <a:rPr lang="en"/>
              <a:t>(bandwidth)  </a:t>
            </a:r>
            <a:endParaRPr/>
          </a:p>
        </p:txBody>
      </p:sp>
      <p:pic>
        <p:nvPicPr>
          <p:cNvPr id="175" name="Google Shape;17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050" y="4006156"/>
            <a:ext cx="2305513" cy="705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perspectives on dyadic change</a:t>
            </a:r>
            <a:endParaRPr/>
          </a:p>
        </p:txBody>
      </p:sp>
      <p:sp>
        <p:nvSpPr>
          <p:cNvPr id="181" name="Google Shape;181;p24"/>
          <p:cNvSpPr txBox="1"/>
          <p:nvPr>
            <p:ph idx="1" type="body"/>
          </p:nvPr>
        </p:nvSpPr>
        <p:spPr>
          <a:xfrm>
            <a:off x="3117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Assortative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Actor-attribute match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Relational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Dyadic embeddedness in larger network structures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Proximity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Organization of interaction in time and space</a:t>
            </a:r>
            <a:endParaRPr/>
          </a:p>
        </p:txBody>
      </p:sp>
      <p:pic>
        <p:nvPicPr>
          <p:cNvPr descr="network diagram," id="182" name="Google Shape;18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4675" y="1361342"/>
            <a:ext cx="3387625" cy="3978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perspectives on dyadic change</a:t>
            </a:r>
            <a:endParaRPr/>
          </a:p>
        </p:txBody>
      </p:sp>
      <p:sp>
        <p:nvSpPr>
          <p:cNvPr id="188" name="Google Shape;188;p25"/>
          <p:cNvSpPr txBox="1"/>
          <p:nvPr>
            <p:ph idx="1" type="body"/>
          </p:nvPr>
        </p:nvSpPr>
        <p:spPr>
          <a:xfrm>
            <a:off x="457200" y="1333500"/>
            <a:ext cx="4235100" cy="4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Assortative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Relations form between similar others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Do actors always prefer similarity?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Balance between difference and similarity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Helps to explain network evolution</a:t>
            </a:r>
            <a:endParaRPr/>
          </a:p>
        </p:txBody>
      </p:sp>
      <p:sp>
        <p:nvSpPr>
          <p:cNvPr id="189" name="Google Shape;189;p25"/>
          <p:cNvSpPr txBox="1"/>
          <p:nvPr>
            <p:ph idx="2" type="body"/>
          </p:nvPr>
        </p:nvSpPr>
        <p:spPr>
          <a:xfrm>
            <a:off x="48324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Why homophily?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Trust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Belief concordance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Attachment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Friendship</a:t>
            </a:r>
            <a:endParaRPr/>
          </a:p>
        </p:txBody>
      </p:sp>
      <p:pic>
        <p:nvPicPr>
          <p:cNvPr descr="Friends" id="190" name="Google Shape;19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2075" y="3223771"/>
            <a:ext cx="1812417" cy="2115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perspectives on dyadic change</a:t>
            </a:r>
            <a:endParaRPr/>
          </a:p>
        </p:txBody>
      </p:sp>
      <p:sp>
        <p:nvSpPr>
          <p:cNvPr id="196" name="Google Shape;196;p26"/>
          <p:cNvSpPr txBox="1"/>
          <p:nvPr>
            <p:ph idx="1" type="body"/>
          </p:nvPr>
        </p:nvSpPr>
        <p:spPr>
          <a:xfrm>
            <a:off x="457200" y="1333500"/>
            <a:ext cx="5035200" cy="4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Not all attributes created the same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Rare attributes more conducive to homophily than common ones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Not all ties created the same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Homophilous relationships more stable than non-homophilous ones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Romance, marriage, Friends, digital media</a:t>
            </a:r>
            <a:endParaRPr/>
          </a:p>
        </p:txBody>
      </p:sp>
      <p:pic>
        <p:nvPicPr>
          <p:cNvPr descr="People, Crowd, Individuals" id="197" name="Google Shape;19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4350" y="1812558"/>
            <a:ext cx="2815584" cy="2547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perspectives on dyadic change</a:t>
            </a:r>
            <a:endParaRPr/>
          </a:p>
        </p:txBody>
      </p:sp>
      <p:sp>
        <p:nvSpPr>
          <p:cNvPr id="203" name="Google Shape;203;p27"/>
          <p:cNvSpPr txBox="1"/>
          <p:nvPr>
            <p:ph idx="1" type="body"/>
          </p:nvPr>
        </p:nvSpPr>
        <p:spPr>
          <a:xfrm>
            <a:off x="457200" y="1333500"/>
            <a:ext cx="4897200" cy="41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What happens when ties don’t match?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Forced diversification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Diversity policies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Diversity by choice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Collaborations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Teamwork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Complementarity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Alliances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Inter-organizational networks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“Multiform heterogeneity”</a:t>
            </a:r>
            <a:endParaRPr/>
          </a:p>
        </p:txBody>
      </p:sp>
      <p:pic>
        <p:nvPicPr>
          <p:cNvPr descr="Teamwork, Team, Group" id="204" name="Google Shape;20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225" y="2458187"/>
            <a:ext cx="3598811" cy="1799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perspectives on dyadic change</a:t>
            </a:r>
            <a:endParaRPr/>
          </a:p>
        </p:txBody>
      </p:sp>
      <p:sp>
        <p:nvSpPr>
          <p:cNvPr id="210" name="Google Shape;210;p28"/>
          <p:cNvSpPr txBox="1"/>
          <p:nvPr>
            <p:ph idx="1" type="body"/>
          </p:nvPr>
        </p:nvSpPr>
        <p:spPr>
          <a:xfrm>
            <a:off x="457200" y="1333500"/>
            <a:ext cx="4329600" cy="41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Relational mechanisms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Reciprocity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Ties tend to be reciprocated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Otherwise they decay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Links between reciprocity and homophily?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Contextual effects on reciprocity?</a:t>
            </a:r>
            <a:endParaRPr/>
          </a:p>
        </p:txBody>
      </p:sp>
      <p:pic>
        <p:nvPicPr>
          <p:cNvPr descr="givereceive__6a014e896e1820970d01538fea6199970b.png" id="211" name="Google Shape;21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8340" y="2302052"/>
            <a:ext cx="3090375" cy="2227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perspectives on dyadic change</a:t>
            </a:r>
            <a:endParaRPr/>
          </a:p>
        </p:txBody>
      </p:sp>
      <p:sp>
        <p:nvSpPr>
          <p:cNvPr id="217" name="Google Shape;217;p29"/>
          <p:cNvSpPr txBox="1"/>
          <p:nvPr>
            <p:ph idx="1" type="body"/>
          </p:nvPr>
        </p:nvSpPr>
        <p:spPr>
          <a:xfrm>
            <a:off x="457200" y="1333500"/>
            <a:ext cx="4697700" cy="41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Dynamic reciprocity: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Repeated interactions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Sign of trust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Mutual Positive Regard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Friendship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Clustering and Closure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Friends of friends are also friends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Close triad promote trust and attachment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Open triads tend to close</a:t>
            </a:r>
            <a:endParaRPr/>
          </a:p>
        </p:txBody>
      </p:sp>
      <p:pic>
        <p:nvPicPr>
          <p:cNvPr descr="Connected_350x248.gif" id="218" name="Google Shape;21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6275" y="2090999"/>
            <a:ext cx="3092104" cy="219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perspectives on dyadic change</a:t>
            </a:r>
            <a:endParaRPr/>
          </a:p>
        </p:txBody>
      </p:sp>
      <p:sp>
        <p:nvSpPr>
          <p:cNvPr id="224" name="Google Shape;224;p30"/>
          <p:cNvSpPr txBox="1"/>
          <p:nvPr>
            <p:ph idx="1" type="body"/>
          </p:nvPr>
        </p:nvSpPr>
        <p:spPr>
          <a:xfrm>
            <a:off x="457200" y="1333500"/>
            <a:ext cx="4697700" cy="41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Proximity Mechanisms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Spatial Location matters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Dorms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Organizational units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Effects on Formation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Effects on Persistence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Geographic mobility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Loss of shared foci	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Tie dissolution</a:t>
            </a:r>
            <a:endParaRPr/>
          </a:p>
        </p:txBody>
      </p:sp>
      <p:pic>
        <p:nvPicPr>
          <p:cNvPr descr="proximity2.jpg" id="225" name="Google Shape;22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4900" y="2135573"/>
            <a:ext cx="2813292" cy="2560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