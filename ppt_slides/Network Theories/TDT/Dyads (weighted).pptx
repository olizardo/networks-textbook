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Quattrocento"/>
      <p:regular r:id="rId28"/>
      <p:bold r:id="rId29"/>
    </p:embeddedFont>
    <p:embeddedFont>
      <p:font typeface="Economica"/>
      <p:regular r:id="rId30"/>
      <p:bold r:id="rId31"/>
      <p:italic r:id="rId32"/>
      <p:boldItalic r:id="rId33"/>
    </p:embeddedFont>
    <p:embeddedFont>
      <p:font typeface="Oxygen"/>
      <p:regular r:id="rId34"/>
      <p:bold r:id="rId35"/>
    </p:embeddedFont>
    <p:embeddedFont>
      <p:font typeface="Quattrocento Sans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98D1BB-5414-477D-8838-8B89ABF3315A}">
  <a:tblStyle styleId="{B598D1BB-5414-477D-8838-8B89ABF331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Quattrocen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slide" Target="slides/slide5.xml"/><Relationship Id="rId33" Type="http://schemas.openxmlformats.org/officeDocument/2006/relationships/font" Target="fonts/Economica-boldItalic.fntdata"/><Relationship Id="rId10" Type="http://schemas.openxmlformats.org/officeDocument/2006/relationships/slide" Target="slides/slide4.xml"/><Relationship Id="rId32" Type="http://schemas.openxmlformats.org/officeDocument/2006/relationships/font" Target="fonts/Economica-italic.fntdata"/><Relationship Id="rId13" Type="http://schemas.openxmlformats.org/officeDocument/2006/relationships/slide" Target="slides/slide7.xml"/><Relationship Id="rId35" Type="http://schemas.openxmlformats.org/officeDocument/2006/relationships/font" Target="fonts/Oxygen-bold.fntdata"/><Relationship Id="rId12" Type="http://schemas.openxmlformats.org/officeDocument/2006/relationships/slide" Target="slides/slide6.xml"/><Relationship Id="rId34" Type="http://schemas.openxmlformats.org/officeDocument/2006/relationships/font" Target="fonts/Oxygen-regular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bold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regular.fntdata"/><Relationship Id="rId17" Type="http://schemas.openxmlformats.org/officeDocument/2006/relationships/slide" Target="slides/slide11.xml"/><Relationship Id="rId39" Type="http://schemas.openxmlformats.org/officeDocument/2006/relationships/font" Target="fonts/Quattrocento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Quattrocento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46eebf40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46eebf4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46eebf409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46eebf40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93f6851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93f685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89629d8321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89629d8321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9629d8321_1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9629d8321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93f6851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a93f685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93f6851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93f685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93f6851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93f685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a93f6851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a93f685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93f6851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93f685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93f6851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93f685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logged means Rij = 0 when pij = pji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if mi+ = mj+  reduces to 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93f6851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93f685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bc1f5a32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bc1f5a3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4269a9d4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4269a9d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93f6851_2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93f6851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93f6851_2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93f6851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93f6851_2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93f6851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a93f6851_2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a93f685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48b75ec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648b75e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Equal disp → increases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Assort → increases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OBS net:   uneq disp → lower R   ;   assort → higher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Removes assort → lower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Create equal disp → higher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Best NET  :  equal disp and assort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Worst NET:  unequal and dissassortive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Unequal dispersion more important than dissassortativity in generating non-R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646eebf409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646eebf40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46eebf409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46eebf40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47444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457200" y="751680"/>
            <a:ext cx="8229600" cy="40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457200" y="4955190"/>
            <a:ext cx="82296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b="0">
                <a:solidFill>
                  <a:srgbClr val="DA000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Quattrocento Sans"/>
              <a:buChar char="○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Oxygen"/>
              <a:buChar char="■"/>
              <a:defRPr sz="1800">
                <a:latin typeface="Oxygen"/>
                <a:ea typeface="Oxygen"/>
                <a:cs typeface="Oxygen"/>
                <a:sym typeface="Oxygen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Quattrocento Sans"/>
              <a:buChar char="●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75" name="Google Shape;75;p16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81" name="Google Shape;81;p17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85" name="Google Shape;85;p18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89" name="Google Shape;89;p19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20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36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Char char="●"/>
              <a:defRPr sz="3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○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xygen"/>
              <a:buChar char="■"/>
              <a:defRPr sz="2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Char char="●"/>
              <a:defRPr sz="18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 of a Tie</a:t>
            </a:r>
            <a:endParaRPr/>
          </a:p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Ties (edges) have a life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Beginning 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Ending 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dynamics (changes):  3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evolution (maintenance)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 (Choice) 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Triadic closure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Preferential Attachment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evolution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an </a:t>
            </a:r>
            <a:r>
              <a:rPr b="1" lang="en"/>
              <a:t>edge</a:t>
            </a:r>
            <a:r>
              <a:rPr lang="en"/>
              <a:t> can change over time?</a:t>
            </a:r>
            <a:endParaRPr/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Similarity of vertices on a trait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Influence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Embeddedness</a:t>
            </a:r>
            <a:r>
              <a:rPr lang="en"/>
              <a:t> :  number of common “friends”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457200" y="13716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Tie:  Link through (over) which events occur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Through ties, events (interactions &amp; exchanges of resources) "flow"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flow:  initiated event, sender (giver) and receiver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ties:  Large flows (number of events), bandwidth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Reciprocal ties:  Balanced flows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Balanced counts aggregated from information on the occurrence and traits of interactional events within a time window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A temporal event sequence  A-&gt;B-&gt;A-&gt;B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268800" y="238867"/>
            <a:ext cx="86064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Interaction Events and Social Networks</a:t>
            </a:r>
            <a:endParaRPr sz="3400"/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social network?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Sets of vertices and edges:  G(N,M)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When does an edge between two vertices exist?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Social interaction event:  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</a:t>
            </a:r>
            <a:endParaRPr sz="18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communicative interaction</a:t>
            </a:r>
            <a:endParaRPr sz="1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Social Network Dynamics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Temporal pattern of the interactions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Beginning and end to a sequence of interactions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Dating Social Ties: Effective and Active</a:t>
            </a:r>
            <a:endParaRPr sz="3200"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457200" y="1600200"/>
            <a:ext cx="354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Begin date</a:t>
            </a:r>
            <a:r>
              <a:rPr lang="en" sz="1800"/>
              <a:t>:  time of first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| e</a:t>
            </a:r>
            <a:r>
              <a:rPr baseline="-25000" lang="en" sz="1800"/>
              <a:t>ij</a:t>
            </a:r>
            <a:r>
              <a:rPr lang="en" sz="1800"/>
              <a:t>(t&lt;t</a:t>
            </a:r>
            <a:r>
              <a:rPr baseline="-25000" lang="en" sz="1800"/>
              <a:t>k</a:t>
            </a:r>
            <a:r>
              <a:rPr lang="en" sz="1800"/>
              <a:t>) = 0  for all time points t &lt; t</a:t>
            </a:r>
            <a:r>
              <a:rPr baseline="-25000" lang="en" sz="1800"/>
              <a:t>k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End date</a:t>
            </a:r>
            <a:r>
              <a:rPr lang="en" sz="1800"/>
              <a:t>:  time of last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and e</a:t>
            </a:r>
            <a:r>
              <a:rPr baseline="-25000" lang="en" sz="1800"/>
              <a:t>ij</a:t>
            </a:r>
            <a:r>
              <a:rPr lang="en" sz="1800"/>
              <a:t>(t&gt;t</a:t>
            </a:r>
            <a:r>
              <a:rPr baseline="-25000" lang="en" sz="1800"/>
              <a:t>k</a:t>
            </a:r>
            <a:r>
              <a:rPr lang="en" sz="1800"/>
              <a:t>) = 0  for all time points t &gt;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Left and right censoring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4072975" y="1600200"/>
            <a:ext cx="46137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rgbClr val="FF0000"/>
                </a:solidFill>
              </a:rPr>
              <a:t>Active Tie</a:t>
            </a:r>
            <a:r>
              <a:rPr lang="en" sz="1800"/>
              <a:t>: 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Effective Tie</a:t>
            </a:r>
            <a:r>
              <a:rPr lang="en" sz="1800"/>
              <a:t>: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,t</a:t>
            </a:r>
            <a:r>
              <a:rPr baseline="-25000" lang="en" sz="1800"/>
              <a:t>k+∆t</a:t>
            </a:r>
            <a:r>
              <a:rPr lang="en" sz="1800"/>
              <a:t>) = 1 if</a:t>
            </a:r>
            <a:endParaRPr sz="1800"/>
          </a:p>
          <a:p>
            <a:pPr indent="-342900" lvl="2" marL="1371600" rtl="0" algn="l">
              <a:spcBef>
                <a:spcPts val="48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 1  at some point in time t prior to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1  at some point in time t after t</a:t>
            </a:r>
            <a:r>
              <a:rPr baseline="-25000" lang="en" sz="1800"/>
              <a:t>k</a:t>
            </a:r>
            <a:endParaRPr baseline="-25000"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Effective tie implies there could be interaction between i and j at any time between t</a:t>
            </a:r>
            <a:r>
              <a:rPr baseline="-25000" lang="en" sz="1800">
                <a:solidFill>
                  <a:srgbClr val="CC0000"/>
                </a:solidFill>
              </a:rPr>
              <a:t>k</a:t>
            </a:r>
            <a:r>
              <a:rPr lang="en" sz="1800">
                <a:solidFill>
                  <a:srgbClr val="CC0000"/>
                </a:solidFill>
              </a:rPr>
              <a:t> and t</a:t>
            </a:r>
            <a:r>
              <a:rPr baseline="-25000" lang="en" sz="1800">
                <a:solidFill>
                  <a:srgbClr val="CC0000"/>
                </a:solidFill>
              </a:rPr>
              <a:t>k+∆t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Weighted Edge Graphs</a:t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Arc</a:t>
            </a:r>
            <a:r>
              <a:rPr lang="en" sz="2200">
                <a:solidFill>
                  <a:srgbClr val="000000"/>
                </a:solidFill>
              </a:rPr>
              <a:t> </a:t>
            </a:r>
            <a:r>
              <a:rPr b="1" lang="en" sz="2200">
                <a:solidFill>
                  <a:srgbClr val="000000"/>
                </a:solidFill>
              </a:rPr>
              <a:t>(x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b="1" lang="en" sz="2200">
                <a:solidFill>
                  <a:srgbClr val="000000"/>
                </a:solidFill>
              </a:rPr>
              <a:t> = 1)</a:t>
            </a:r>
            <a:r>
              <a:rPr lang="en" sz="2200">
                <a:solidFill>
                  <a:srgbClr val="000000"/>
                </a:solidFill>
              </a:rPr>
              <a:t>:  if  there was an interaction between i and j within a given time period and i initiated that interaction (e.g., a call from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Outflow Parameter (m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lang="en" sz="2200">
                <a:solidFill>
                  <a:srgbClr val="000000"/>
                </a:solidFill>
              </a:rPr>
              <a:t>):  Count of the number of interaction events between i and j that were initiated by i  in a given time period (e.g., number of calls made by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452" y="4123500"/>
            <a:ext cx="2491325" cy="25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4594275" y="4206950"/>
            <a:ext cx="361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x</a:t>
            </a:r>
            <a:r>
              <a:rPr baseline="-25000" lang="en" sz="2100"/>
              <a:t>12</a:t>
            </a:r>
            <a:r>
              <a:rPr lang="en" sz="2100"/>
              <a:t> = x</a:t>
            </a:r>
            <a:r>
              <a:rPr baseline="-25000" lang="en" sz="2100"/>
              <a:t>13</a:t>
            </a:r>
            <a:r>
              <a:rPr lang="en" sz="2100"/>
              <a:t> = x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12</a:t>
            </a:r>
            <a:r>
              <a:rPr lang="en" sz="2100"/>
              <a:t> = 5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13</a:t>
            </a:r>
            <a:r>
              <a:rPr lang="en" sz="2100"/>
              <a:t> = 3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Level Properties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457200" y="14795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Out-degree (d</a:t>
            </a:r>
            <a:r>
              <a:rPr b="1" baseline="-25000" lang="en" sz="2400"/>
              <a:t>i</a:t>
            </a:r>
            <a:r>
              <a:rPr b="1" lang="en" sz="2400"/>
              <a:t>)</a:t>
            </a:r>
            <a:r>
              <a:rPr lang="en" sz="2400"/>
              <a:t>: </a:t>
            </a:r>
            <a:r>
              <a:rPr lang="en" sz="2400">
                <a:solidFill>
                  <a:srgbClr val="000000"/>
                </a:solidFill>
              </a:rPr>
              <a:t>count of number of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nodes that </a:t>
            </a:r>
            <a:r>
              <a:rPr i="1" lang="en" sz="2400"/>
              <a:t>i</a:t>
            </a:r>
            <a:r>
              <a:rPr lang="en" sz="2400">
                <a:solidFill>
                  <a:srgbClr val="000000"/>
                </a:solidFill>
              </a:rPr>
              <a:t> has initiated interaction with in a given time period (e.g., number of people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called)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b="1" lang="en" sz="2400"/>
              <a:t>Vertex Strength (m</a:t>
            </a:r>
            <a:r>
              <a:rPr b="1" baseline="-25000" lang="en" sz="2400"/>
              <a:t>i+</a:t>
            </a:r>
            <a:r>
              <a:rPr b="1" lang="en" sz="2400"/>
              <a:t>): </a:t>
            </a:r>
            <a:r>
              <a:rPr lang="en" sz="2400">
                <a:solidFill>
                  <a:srgbClr val="000000"/>
                </a:solidFill>
              </a:rPr>
              <a:t>activity level of a node, i.e.  count of the number of interactions initiated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with all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’s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neighbors in a given time period (e.g., total number of calls made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)</a:t>
            </a:r>
            <a:endParaRPr baseline="-25000" sz="2400"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200" y="4823175"/>
            <a:ext cx="1435525" cy="16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211" y="4705412"/>
            <a:ext cx="2049417" cy="9715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/>
        </p:nvSpPr>
        <p:spPr>
          <a:xfrm>
            <a:off x="5845720" y="5600802"/>
            <a:ext cx="2707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1+</a:t>
            </a:r>
            <a:r>
              <a:rPr lang="en" sz="2400"/>
              <a:t> = 5+3+1 = 9</a:t>
            </a:r>
            <a:endParaRPr sz="2400"/>
          </a:p>
        </p:txBody>
      </p:sp>
      <p:sp>
        <p:nvSpPr>
          <p:cNvPr id="142" name="Google Shape;142;p27"/>
          <p:cNvSpPr txBox="1"/>
          <p:nvPr/>
        </p:nvSpPr>
        <p:spPr>
          <a:xfrm>
            <a:off x="5821200" y="4291552"/>
            <a:ext cx="21234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r>
              <a:rPr baseline="-25000" lang="en" sz="2400"/>
              <a:t>1</a:t>
            </a:r>
            <a:r>
              <a:rPr lang="en" sz="2400"/>
              <a:t> = 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Flows &amp; Vertex Strength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/>
              <a:t>C</a:t>
            </a:r>
            <a:r>
              <a:rPr b="1" lang="en" sz="2400"/>
              <a:t>onditional Transition Probability</a:t>
            </a:r>
            <a:r>
              <a:rPr lang="en" sz="2400"/>
              <a:t>:  Probability, given that an event has been initiated by i, that it is with j. </a:t>
            </a:r>
            <a:endParaRPr sz="2400"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354" y="2714533"/>
            <a:ext cx="2094692" cy="6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700" y="3724400"/>
            <a:ext cx="1521210" cy="71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/>
        </p:nvSpPr>
        <p:spPr>
          <a:xfrm>
            <a:off x="801547" y="5053965"/>
            <a:ext cx="3081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12</a:t>
            </a:r>
            <a:r>
              <a:rPr lang="en" sz="2400"/>
              <a:t> = (m</a:t>
            </a:r>
            <a:r>
              <a:rPr baseline="-25000" lang="en" sz="2400"/>
              <a:t>1+</a:t>
            </a:r>
            <a:r>
              <a:rPr lang="en" sz="2400"/>
              <a:t>) (p</a:t>
            </a:r>
            <a:r>
              <a:rPr baseline="-25000" lang="en" sz="2400"/>
              <a:t>12</a:t>
            </a:r>
            <a:r>
              <a:rPr lang="en" sz="2400"/>
              <a:t>)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 = 9 x (5/9)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52" name="Google Shape;152;p28"/>
          <p:cNvSpPr txBox="1"/>
          <p:nvPr/>
        </p:nvSpPr>
        <p:spPr>
          <a:xfrm>
            <a:off x="5194300" y="4635465"/>
            <a:ext cx="34191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12</a:t>
            </a:r>
            <a:r>
              <a:rPr lang="en" sz="2400"/>
              <a:t> = 5/9 = .556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13</a:t>
            </a:r>
            <a:r>
              <a:rPr lang="en" sz="2400"/>
              <a:t> = 3/9 = .333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14</a:t>
            </a:r>
            <a:r>
              <a:rPr lang="en" sz="2400"/>
              <a:t> = 1/9 = .111</a:t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2900" y="2898775"/>
            <a:ext cx="1411550" cy="15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(Arc) Strength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Arc Flow</a:t>
            </a:r>
            <a:r>
              <a:rPr lang="en"/>
              <a:t>:  m</a:t>
            </a:r>
            <a:r>
              <a:rPr baseline="-25000" lang="en"/>
              <a:t>ij</a:t>
            </a:r>
            <a:r>
              <a:rPr lang="en"/>
              <a:t> = (m</a:t>
            </a:r>
            <a:r>
              <a:rPr baseline="-25000" lang="en"/>
              <a:t>i+</a:t>
            </a:r>
            <a:r>
              <a:rPr lang="en"/>
              <a:t>) (p</a:t>
            </a:r>
            <a:r>
              <a:rPr baseline="-25000" lang="en"/>
              <a:t>ij</a:t>
            </a:r>
            <a:r>
              <a:rPr lang="en"/>
              <a:t>)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Transition Probability</a:t>
            </a:r>
            <a:r>
              <a:rPr lang="en"/>
              <a:t>:	  p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Relative Strength</a:t>
            </a:r>
            <a:r>
              <a:rPr lang="en"/>
              <a:t>:		m</a:t>
            </a:r>
            <a:r>
              <a:rPr baseline="-25000" lang="en"/>
              <a:t>ij</a:t>
            </a:r>
            <a:r>
              <a:rPr lang="en"/>
              <a:t>/max(m</a:t>
            </a:r>
            <a:r>
              <a:rPr baseline="-25000" lang="en"/>
              <a:t>ik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Vertex Strength (Activity)</a:t>
            </a:r>
            <a:r>
              <a:rPr lang="en"/>
              <a:t>:    m</a:t>
            </a:r>
            <a:r>
              <a:rPr baseline="-25000" lang="en"/>
              <a:t>i+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FF"/>
                </a:solidFill>
              </a:rPr>
              <a:t>Dyadic Edge Strength</a:t>
            </a:r>
            <a:r>
              <a:rPr lang="en"/>
              <a:t> </a:t>
            </a:r>
            <a:br>
              <a:rPr lang="en"/>
            </a:br>
            <a:r>
              <a:rPr lang="en"/>
              <a:t>(bandwidth)  </a:t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300" y="4221138"/>
            <a:ext cx="2766616" cy="84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Simple Model	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(1) = |m</a:t>
            </a:r>
            <a:r>
              <a:rPr baseline="-25000" lang="en"/>
              <a:t>ij</a:t>
            </a:r>
            <a:r>
              <a:rPr lang="en"/>
              <a:t> - m</a:t>
            </a:r>
            <a:r>
              <a:rPr baseline="-25000" lang="en"/>
              <a:t>ji</a:t>
            </a:r>
            <a:r>
              <a:rPr lang="en"/>
              <a:t>|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(2) = ln(m</a:t>
            </a:r>
            <a:r>
              <a:rPr baseline="-25000" lang="en"/>
              <a:t>ij</a:t>
            </a:r>
            <a:r>
              <a:rPr lang="en"/>
              <a:t>) -  ln(m</a:t>
            </a:r>
            <a:r>
              <a:rPr baseline="-25000" lang="en"/>
              <a:t>ji</a:t>
            </a:r>
            <a:r>
              <a:rPr lang="en"/>
              <a:t>) = ln(m</a:t>
            </a:r>
            <a:r>
              <a:rPr baseline="-25000" lang="en"/>
              <a:t>ij</a:t>
            </a:r>
            <a:r>
              <a:rPr lang="en"/>
              <a:t>/m</a:t>
            </a:r>
            <a:r>
              <a:rPr baseline="-25000" lang="en"/>
              <a:t>ji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Behavioral Model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Why would j initiate interaction with </a:t>
            </a:r>
            <a:r>
              <a:rPr i="1" lang="en" sz="2400"/>
              <a:t>i</a:t>
            </a:r>
            <a:r>
              <a:rPr lang="en" sz="2400"/>
              <a:t> more (or less) than </a:t>
            </a:r>
            <a:r>
              <a:rPr i="1" lang="en" sz="2400"/>
              <a:t>i</a:t>
            </a:r>
            <a:r>
              <a:rPr lang="en" sz="2400"/>
              <a:t> initiates interaction with </a:t>
            </a:r>
            <a:r>
              <a:rPr i="1" lang="en" sz="2400"/>
              <a:t>j</a:t>
            </a:r>
            <a:r>
              <a:rPr lang="en" sz="2400"/>
              <a:t>?</a:t>
            </a:r>
            <a:endParaRPr sz="2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Local knowledge: </a:t>
            </a:r>
            <a:endParaRPr sz="24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 sz="1800"/>
              <a:t>i</a:t>
            </a:r>
            <a:r>
              <a:rPr lang="en" sz="1800"/>
              <a:t> knows: m</a:t>
            </a:r>
            <a:r>
              <a:rPr baseline="-25000" lang="en" sz="1800"/>
              <a:t>ij</a:t>
            </a:r>
            <a:r>
              <a:rPr lang="en" sz="1800"/>
              <a:t>, m</a:t>
            </a:r>
            <a:r>
              <a:rPr baseline="-25000" lang="en" sz="1800"/>
              <a:t>ji</a:t>
            </a:r>
            <a:r>
              <a:rPr lang="en" sz="1800"/>
              <a:t>, d</a:t>
            </a:r>
            <a:r>
              <a:rPr baseline="-25000" lang="en" sz="1800"/>
              <a:t>i</a:t>
            </a:r>
            <a:r>
              <a:rPr lang="en" sz="1800"/>
              <a:t>, m</a:t>
            </a:r>
            <a:r>
              <a:rPr baseline="-25000" lang="en" sz="1800"/>
              <a:t>i+</a:t>
            </a:r>
            <a:endParaRPr baseline="-25000"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 sz="1800"/>
              <a:t>i</a:t>
            </a:r>
            <a:r>
              <a:rPr lang="en" sz="1800"/>
              <a:t> does not know: d</a:t>
            </a:r>
            <a:r>
              <a:rPr baseline="-25000" lang="en" sz="1800"/>
              <a:t>j</a:t>
            </a:r>
            <a:r>
              <a:rPr lang="en" sz="1800"/>
              <a:t>, m</a:t>
            </a:r>
            <a:r>
              <a:rPr baseline="-25000" lang="en" sz="1800"/>
              <a:t>j+</a:t>
            </a:r>
            <a:endParaRPr baseline="-25000"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Rij (1) &amp; (2) </a:t>
            </a:r>
            <a:r>
              <a:rPr lang="en" sz="1800"/>
              <a:t>assumes m</a:t>
            </a:r>
            <a:r>
              <a:rPr baseline="-25000" lang="en" sz="1800"/>
              <a:t>j+</a:t>
            </a:r>
            <a:r>
              <a:rPr lang="en" sz="1800"/>
              <a:t> = m</a:t>
            </a:r>
            <a:r>
              <a:rPr baseline="-25000" lang="en" sz="1800"/>
              <a:t>i+</a:t>
            </a:r>
            <a:r>
              <a:rPr lang="en" sz="1800"/>
              <a:t>, d</a:t>
            </a:r>
            <a:r>
              <a:rPr baseline="-25000" lang="en" sz="1800"/>
              <a:t>j</a:t>
            </a:r>
            <a:r>
              <a:rPr lang="en" sz="1800"/>
              <a:t>= d</a:t>
            </a:r>
            <a:r>
              <a:rPr baseline="-25000" lang="en" sz="1800"/>
              <a:t>i</a:t>
            </a:r>
            <a:endParaRPr baseline="-2500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Alternative:  </a:t>
            </a:r>
            <a:r>
              <a:rPr lang="en" sz="2400"/>
              <a:t>Weight  m</a:t>
            </a:r>
            <a:r>
              <a:rPr baseline="-25000" lang="en" sz="2400"/>
              <a:t>ij</a:t>
            </a:r>
            <a:r>
              <a:rPr lang="en" sz="2400"/>
              <a:t> by m</a:t>
            </a:r>
            <a:r>
              <a:rPr baseline="-25000" lang="en" sz="2400"/>
              <a:t>j+</a:t>
            </a:r>
            <a:r>
              <a:rPr lang="en" sz="2400"/>
              <a:t>/m</a:t>
            </a:r>
            <a:r>
              <a:rPr baseline="-25000" lang="en" sz="2400"/>
              <a:t>i+</a:t>
            </a:r>
            <a:endParaRPr baseline="-25000" sz="24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Rij(3) 	=  |m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 - m</a:t>
            </a:r>
            <a:r>
              <a:rPr baseline="-25000" lang="en" sz="2400"/>
              <a:t>ji</a:t>
            </a:r>
            <a:r>
              <a:rPr lang="en" sz="2400"/>
              <a:t>|</a:t>
            </a:r>
            <a:endParaRPr sz="24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Rij(4) 	= |ln[m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)] - ln[m</a:t>
            </a:r>
            <a:r>
              <a:rPr baseline="-25000" lang="en" sz="2400"/>
              <a:t>ji</a:t>
            </a:r>
            <a:r>
              <a:rPr lang="en" sz="2400"/>
              <a:t>]|</a:t>
            </a:r>
            <a:endParaRPr sz="2400"/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= |ln[(m</a:t>
            </a:r>
            <a:r>
              <a:rPr baseline="-25000" lang="en" sz="2400"/>
              <a:t>ij</a:t>
            </a:r>
            <a:r>
              <a:rPr lang="en" sz="2400"/>
              <a:t>/m</a:t>
            </a:r>
            <a:r>
              <a:rPr baseline="-25000" lang="en" sz="2400"/>
              <a:t>i+</a:t>
            </a:r>
            <a:r>
              <a:rPr lang="en" sz="2400"/>
              <a:t>)/(m</a:t>
            </a:r>
            <a:r>
              <a:rPr baseline="-25000" lang="en" sz="2400"/>
              <a:t>ji</a:t>
            </a:r>
            <a:r>
              <a:rPr lang="en" sz="2400"/>
              <a:t>/m</a:t>
            </a:r>
            <a:r>
              <a:rPr baseline="-25000" lang="en" sz="2400"/>
              <a:t>j+</a:t>
            </a:r>
            <a:r>
              <a:rPr lang="en" sz="2400"/>
              <a:t>)]|</a:t>
            </a:r>
            <a:endParaRPr sz="2400"/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= |ln (p</a:t>
            </a:r>
            <a:r>
              <a:rPr baseline="-25000" lang="en" sz="2400"/>
              <a:t>ij</a:t>
            </a:r>
            <a:r>
              <a:rPr lang="en" sz="2400"/>
              <a:t>/p</a:t>
            </a:r>
            <a:r>
              <a:rPr baseline="-25000" lang="en" sz="2400"/>
              <a:t>ji</a:t>
            </a:r>
            <a:r>
              <a:rPr lang="en" sz="2400"/>
              <a:t>)|= |ln(p</a:t>
            </a:r>
            <a:r>
              <a:rPr baseline="-25000" lang="en" sz="2400"/>
              <a:t>ij</a:t>
            </a:r>
            <a:r>
              <a:rPr lang="en" sz="2400"/>
              <a:t>) - ln(p</a:t>
            </a:r>
            <a:r>
              <a:rPr baseline="-25000" lang="en" sz="2400"/>
              <a:t>ji</a:t>
            </a:r>
            <a:r>
              <a:rPr lang="en" sz="2400"/>
              <a:t>)|</a:t>
            </a:r>
            <a:endParaRPr sz="24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Information Gain</a:t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2356238"/>
            <a:ext cx="77343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Directional Reciprocity</a:t>
            </a: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725" y="1729475"/>
            <a:ext cx="31242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9625" y="2548625"/>
            <a:ext cx="2438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650" y="3391475"/>
            <a:ext cx="6200175" cy="31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non-reciprocity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norm of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explanations for non-reciprocity: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Degree disassortativity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has more friends than 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Unequal dispersion of activity among friends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A’s ties to her friends vary in their strength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Out-Degree Mismatch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47" y="2726488"/>
            <a:ext cx="7040905" cy="2965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650" y="4688335"/>
            <a:ext cx="4324194" cy="198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6"/>
          <p:cNvSpPr txBox="1"/>
          <p:nvPr/>
        </p:nvSpPr>
        <p:spPr>
          <a:xfrm>
            <a:off x="524275" y="1743050"/>
            <a:ext cx="5389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Unequal dispersion:  p</a:t>
            </a:r>
            <a:r>
              <a:rPr baseline="-25000" lang="en" sz="2400">
                <a:solidFill>
                  <a:schemeClr val="dk1"/>
                </a:solidFill>
              </a:rPr>
              <a:t>ij</a:t>
            </a:r>
            <a:r>
              <a:rPr lang="en" sz="2400">
                <a:solidFill>
                  <a:schemeClr val="dk1"/>
                </a:solidFill>
              </a:rPr>
              <a:t> ≠ p</a:t>
            </a:r>
            <a:r>
              <a:rPr baseline="-25000" lang="en" sz="2400">
                <a:solidFill>
                  <a:schemeClr val="dk1"/>
                </a:solidFill>
              </a:rPr>
              <a:t>ik</a:t>
            </a:r>
            <a:endParaRPr baseline="-25000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88" y="2318350"/>
            <a:ext cx="53816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6"/>
          <p:cNvSpPr txBox="1"/>
          <p:nvPr/>
        </p:nvSpPr>
        <p:spPr>
          <a:xfrm>
            <a:off x="6240875" y="2607775"/>
            <a:ext cx="25632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equidispersion, vertex strength drops out and reciprocity a function of degree differences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degree differences --&gt; non-reciprocity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unequal dispersion --&gt; non-reciprocity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6"/>
          <p:cNvSpPr txBox="1"/>
          <p:nvPr/>
        </p:nvSpPr>
        <p:spPr>
          <a:xfrm>
            <a:off x="6144150" y="5277475"/>
            <a:ext cx="1992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degree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 vertice overdisperses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Variants of Reciprocity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200"/>
              <a:t>Observed Network:  Assortative &amp; non-equidispersed</a:t>
            </a:r>
            <a:endParaRPr sz="22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200"/>
              <a:t>Equi-dispersed Model: Assortative &amp; equidispersed</a:t>
            </a:r>
            <a:endParaRPr sz="22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200"/>
              <a:t>Rewired:  Non-assortative and non-equidispersed</a:t>
            </a:r>
            <a:endParaRPr sz="2200"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en" sz="2200"/>
              <a:t>Rewi</a:t>
            </a:r>
            <a:r>
              <a:rPr lang="en" sz="2400"/>
              <a:t>red with Equi-dispersion</a:t>
            </a:r>
            <a:endParaRPr sz="2400"/>
          </a:p>
        </p:txBody>
      </p:sp>
      <p:pic>
        <p:nvPicPr>
          <p:cNvPr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91" y="4346255"/>
            <a:ext cx="5473271" cy="180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 Distribution	</a:t>
            </a:r>
            <a:endParaRPr/>
          </a:p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27% of mutual dyads are reciprocal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58% partially reciprocal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lang="en" sz="2400"/>
              <a:t>14% non-reciprocal</a:t>
            </a:r>
            <a:endParaRPr sz="2400"/>
          </a:p>
        </p:txBody>
      </p:sp>
      <p:pic>
        <p:nvPicPr>
          <p:cNvPr id="223" name="Google Shape;22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755" y="3485871"/>
            <a:ext cx="3899596" cy="3018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229" name="Google Shape;2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263" y="3182863"/>
            <a:ext cx="515302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9"/>
          <p:cNvSpPr txBox="1"/>
          <p:nvPr/>
        </p:nvSpPr>
        <p:spPr>
          <a:xfrm>
            <a:off x="693325" y="1838850"/>
            <a:ext cx="78981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Social Networks exhibit non-reciprocity because of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degree assortativity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unequal dispersion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Dyads?</a:t>
            </a:r>
            <a:endParaRPr/>
          </a:p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change over time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</a:t>
            </a:r>
            <a:r>
              <a:rPr lang="en"/>
              <a:t>assortativity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to predict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in similarity?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Life course of a tie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and Vertex Changes</a:t>
            </a:r>
            <a:endParaRPr/>
          </a:p>
        </p:txBody>
      </p:sp>
      <p:graphicFrame>
        <p:nvGraphicFramePr>
          <p:cNvPr id="242" name="Google Shape;242;p41"/>
          <p:cNvGraphicFramePr/>
          <p:nvPr/>
        </p:nvGraphicFramePr>
        <p:xfrm>
          <a:off x="753375" y="252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{B598D1BB-5414-477D-8838-8B89ABF3315A}</a:tableStyleId>
              </a:tblPr>
              <a:tblGrid>
                <a:gridCol w="3620700"/>
                <a:gridCol w="3620700"/>
              </a:tblGrid>
              <a:tr h="34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Dyad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Vertex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Tie formation &amp; decay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Degree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Assortativity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Homophily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Strength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Av. and SD tie strength; vertex strength; Dunbar circles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Reciprocity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Av. &amp; SD Reciprocity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