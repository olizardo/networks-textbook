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f75d97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f75d97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f75d97f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f75d97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f75d97f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f75d97f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f75d97f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f75d97f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f75d97f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f75d97f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8f75d97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8f75d97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f75d97fd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f75d97fd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f75d97fd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f75d97fd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f75d97f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f75d97f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8f75d97fd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8f75d97f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8f75d97f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8f75d97f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f75d97fd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f75d97f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8f75d97fd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8f75d97fd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f75d97fd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8f75d97fd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32348"/>
            <a:ext cx="3054600" cy="21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Simmelian tie theory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</a:t>
            </a:r>
            <a:r>
              <a:rPr lang="en"/>
              <a:t>transitivity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theory of triads or triplets is concerned with the </a:t>
            </a:r>
            <a:r>
              <a:rPr b="1" lang="en"/>
              <a:t>origins</a:t>
            </a:r>
            <a:r>
              <a:rPr lang="en"/>
              <a:t> not </a:t>
            </a:r>
            <a:r>
              <a:rPr b="1" lang="en"/>
              <a:t>consequences </a:t>
            </a:r>
            <a:r>
              <a:rPr lang="en"/>
              <a:t>of transitivity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rely on concepts of “balance” (Heider, Davis) which is a psychological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Cognitive or emotional pressures of a focal person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A introduces B and C because s/he is close to both of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sociological theory of foci (Feld) relies on a completely contextual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A meets both B and C because all three participate in same set of common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Granovetter’s SWT theory takes “strength” to be a dyadic process with consequences that </a:t>
            </a:r>
            <a:r>
              <a:rPr b="1" lang="en"/>
              <a:t>affect</a:t>
            </a:r>
            <a:r>
              <a:rPr lang="en"/>
              <a:t> the triad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5"/>
          <p:cNvCxnSpPr>
            <a:stCxn id="74" idx="7"/>
            <a:endCxn id="76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5"/>
          <p:cNvCxnSpPr>
            <a:stCxn id="74" idx="5"/>
            <a:endCxn id="7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5"/>
          <p:cNvCxnSpPr>
            <a:stCxn id="79" idx="7"/>
            <a:endCxn id="8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9" idx="5"/>
            <a:endCxn id="8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5"/>
          <p:cNvCxnSpPr>
            <a:stCxn id="83" idx="0"/>
            <a:endCxn id="8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5"/>
          <p:cNvCxnSpPr>
            <a:stCxn id="85" idx="7"/>
            <a:endCxn id="87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5"/>
          <p:cNvCxnSpPr>
            <a:stCxn id="85" idx="5"/>
            <a:endCxn id="89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5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Psychological Pressure</a:t>
            </a:r>
            <a:endParaRPr/>
          </a:p>
        </p:txBody>
      </p:sp>
      <p:cxnSp>
        <p:nvCxnSpPr>
          <p:cNvPr id="91" name="Google Shape;91;p15"/>
          <p:cNvCxnSpPr>
            <a:stCxn id="90" idx="2"/>
            <a:endCxn id="85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5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</a:t>
            </a:r>
            <a:r>
              <a:rPr lang="en"/>
              <a:t>of transitivity</a:t>
            </a:r>
            <a:endParaRPr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feels psychological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Ego relieves pressure by closing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link formation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</a:t>
            </a:r>
            <a:r>
              <a:rPr lang="en"/>
              <a:t>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Empty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Actors participates in common focus/joint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Closed triad (3-clique)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6"/>
          <p:cNvCxnSpPr>
            <a:stCxn id="105" idx="7"/>
            <a:endCxn id="10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5" idx="5"/>
            <a:endCxn id="10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6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6"/>
          <p:cNvCxnSpPr>
            <a:stCxn id="109" idx="0"/>
            <a:endCxn id="10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6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Focus</a:t>
            </a:r>
            <a:endParaRPr/>
          </a:p>
        </p:txBody>
      </p:sp>
      <p:cxnSp>
        <p:nvCxnSpPr>
          <p:cNvPr id="115" name="Google Shape;115;p16"/>
          <p:cNvCxnSpPr>
            <a:stCxn id="114" idx="2"/>
            <a:endCxn id="111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6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16"/>
          <p:cNvCxnSpPr>
            <a:stCxn id="114" idx="2"/>
            <a:endCxn id="112" idx="1"/>
          </p:cNvCxnSpPr>
          <p:nvPr/>
        </p:nvCxnSpPr>
        <p:spPr>
          <a:xfrm>
            <a:off x="3998263" y="3310075"/>
            <a:ext cx="1251900" cy="28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6"/>
          <p:cNvCxnSpPr>
            <a:stCxn id="114" idx="2"/>
            <a:endCxn id="113" idx="1"/>
          </p:cNvCxnSpPr>
          <p:nvPr/>
        </p:nvCxnSpPr>
        <p:spPr>
          <a:xfrm>
            <a:off x="3998263" y="3310075"/>
            <a:ext cx="1251900" cy="118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SWT</a:t>
            </a:r>
            <a:r>
              <a:rPr lang="en"/>
              <a:t>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17"/>
          <p:cNvCxnSpPr>
            <a:stCxn id="129" idx="7"/>
            <a:endCxn id="13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7"/>
          <p:cNvCxnSpPr>
            <a:stCxn id="129" idx="5"/>
            <a:endCxn id="13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7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17"/>
          <p:cNvCxnSpPr>
            <a:stCxn id="133" idx="0"/>
            <a:endCxn id="13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" name="Google Shape;135;p17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Effect</a:t>
            </a:r>
            <a:endParaRPr/>
          </a:p>
        </p:txBody>
      </p:sp>
      <p:cxnSp>
        <p:nvCxnSpPr>
          <p:cNvPr id="139" name="Google Shape;139;p17"/>
          <p:cNvCxnSpPr>
            <a:stCxn id="138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17"/>
          <p:cNvCxnSpPr>
            <a:stCxn id="138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7"/>
          <p:cNvCxnSpPr>
            <a:stCxn id="126" idx="7"/>
            <a:endCxn id="127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7"/>
          <p:cNvCxnSpPr>
            <a:stCxn id="126" idx="5"/>
            <a:endCxn id="12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>
            <a:stCxn id="135" idx="7"/>
            <a:endCxn id="136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>
            <a:stCxn id="135" idx="5"/>
            <a:endCxn id="137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SWT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Unbalanced triad with either strong or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Strength-driven link formation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18"/>
          <p:cNvCxnSpPr>
            <a:stCxn id="156" idx="7"/>
            <a:endCxn id="158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8"/>
          <p:cNvCxnSpPr>
            <a:stCxn id="156" idx="5"/>
            <a:endCxn id="160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8" name="Google Shape;158;p18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 Tie Effect</a:t>
            </a:r>
            <a:endParaRPr/>
          </a:p>
        </p:txBody>
      </p:sp>
      <p:cxnSp>
        <p:nvCxnSpPr>
          <p:cNvPr id="165" name="Google Shape;165;p18"/>
          <p:cNvCxnSpPr>
            <a:stCxn id="164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18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18"/>
          <p:cNvCxnSpPr>
            <a:stCxn id="164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8"/>
          <p:cNvCxnSpPr>
            <a:stCxn id="153" idx="7"/>
            <a:endCxn id="154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>
            <a:stCxn id="153" idx="5"/>
            <a:endCxn id="155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>
            <a:stCxn id="161" idx="7"/>
            <a:endCxn id="162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>
            <a:stCxn id="161" idx="5"/>
            <a:endCxn id="163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3702925" y="3449625"/>
            <a:ext cx="2020500" cy="1401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transitivity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311700" y="1225225"/>
            <a:ext cx="8520600" cy="22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Unanswered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psychological “pressures” towards balance enough to keep a triad existing over time?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triads always require a </a:t>
            </a:r>
            <a:r>
              <a:rPr b="1" lang="en"/>
              <a:t>common focus of activity</a:t>
            </a:r>
            <a:r>
              <a:rPr lang="en"/>
              <a:t> to remain “closed”?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strength a </a:t>
            </a:r>
            <a:r>
              <a:rPr b="1" lang="en"/>
              <a:t>determinant</a:t>
            </a:r>
            <a:r>
              <a:rPr lang="en"/>
              <a:t> or a </a:t>
            </a:r>
            <a:r>
              <a:rPr b="1" lang="en"/>
              <a:t>consequence</a:t>
            </a:r>
            <a:r>
              <a:rPr lang="en"/>
              <a:t> of triadic structure?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Incorporates </a:t>
            </a:r>
            <a:r>
              <a:rPr lang="en"/>
              <a:t>insights</a:t>
            </a:r>
            <a:r>
              <a:rPr lang="en"/>
              <a:t> from SWT but abandons pure ego or dyad-driven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Conceptualizes the triad as its own special focus of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have “top-down” effects on the dyads that compose them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19"/>
          <p:cNvCxnSpPr>
            <a:stCxn id="180" idx="7"/>
            <a:endCxn id="182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9"/>
          <p:cNvCxnSpPr>
            <a:stCxn id="180" idx="5"/>
            <a:endCxn id="184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19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19"/>
          <p:cNvCxnSpPr>
            <a:stCxn id="185" idx="7"/>
            <a:endCxn id="18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9"/>
          <p:cNvCxnSpPr>
            <a:stCxn id="185" idx="5"/>
            <a:endCxn id="18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19"/>
          <p:cNvCxnSpPr>
            <a:stCxn id="189" idx="0"/>
            <a:endCxn id="18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9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19"/>
          <p:cNvCxnSpPr>
            <a:stCxn id="191" idx="7"/>
            <a:endCxn id="193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9"/>
          <p:cNvCxnSpPr>
            <a:stCxn id="191" idx="5"/>
            <a:endCxn id="195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9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19"/>
          <p:cNvCxnSpPr>
            <a:stCxn id="184" idx="0"/>
            <a:endCxn id="182" idx="4"/>
          </p:cNvCxnSpPr>
          <p:nvPr/>
        </p:nvCxnSpPr>
        <p:spPr>
          <a:xfrm rot="10800000">
            <a:off x="2125938" y="375680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9"/>
          <p:cNvCxnSpPr>
            <a:stCxn id="177" idx="2"/>
          </p:cNvCxnSpPr>
          <p:nvPr/>
        </p:nvCxnSpPr>
        <p:spPr>
          <a:xfrm flipH="1" rot="10800000">
            <a:off x="4713175" y="4503525"/>
            <a:ext cx="4800" cy="34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9"/>
          <p:cNvCxnSpPr>
            <a:stCxn id="195" idx="0"/>
            <a:endCxn id="193" idx="4"/>
          </p:cNvCxnSpPr>
          <p:nvPr/>
        </p:nvCxnSpPr>
        <p:spPr>
          <a:xfrm rot="10800000">
            <a:off x="5362925" y="3839650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9"/>
          <p:cNvCxnSpPr>
            <a:stCxn id="177" idx="3"/>
          </p:cNvCxnSpPr>
          <p:nvPr/>
        </p:nvCxnSpPr>
        <p:spPr>
          <a:xfrm flipH="1">
            <a:off x="5394925" y="4150575"/>
            <a:ext cx="3285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19"/>
          <p:cNvCxnSpPr>
            <a:stCxn id="179" idx="2"/>
          </p:cNvCxnSpPr>
          <p:nvPr/>
        </p:nvCxnSpPr>
        <p:spPr>
          <a:xfrm>
            <a:off x="4572000" y="3452425"/>
            <a:ext cx="126900" cy="40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19"/>
          <p:cNvCxnSpPr>
            <a:stCxn id="177" idx="2"/>
            <a:endCxn id="191" idx="4"/>
          </p:cNvCxnSpPr>
          <p:nvPr/>
        </p:nvCxnSpPr>
        <p:spPr>
          <a:xfrm rot="10800000">
            <a:off x="3992275" y="4311825"/>
            <a:ext cx="720900" cy="53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19"/>
          <p:cNvCxnSpPr>
            <a:stCxn id="177" idx="3"/>
            <a:endCxn id="195" idx="7"/>
          </p:cNvCxnSpPr>
          <p:nvPr/>
        </p:nvCxnSpPr>
        <p:spPr>
          <a:xfrm flipH="1">
            <a:off x="5475925" y="4150575"/>
            <a:ext cx="247500" cy="34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19"/>
          <p:cNvCxnSpPr>
            <a:stCxn id="179" idx="2"/>
            <a:endCxn id="193" idx="1"/>
          </p:cNvCxnSpPr>
          <p:nvPr/>
        </p:nvCxnSpPr>
        <p:spPr>
          <a:xfrm>
            <a:off x="4572000" y="3452425"/>
            <a:ext cx="678000" cy="1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11" name="Google Shape;211;p20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 standalone dyad are more “their own person”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Have more individuality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 potential for unresolved differences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in an embedded (Simmelian) dyad can be “outvoted”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Hence more likely to conform to the “group”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 individuality and autonomy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2" idx="7"/>
            <a:endCxn id="214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>
            <a:stCxn id="212" idx="5"/>
            <a:endCxn id="216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20"/>
          <p:cNvCxnSpPr>
            <a:stCxn id="216" idx="0"/>
            <a:endCxn id="214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0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" name="Google Shape;219;p20"/>
          <p:cNvCxnSpPr>
            <a:stCxn id="212" idx="4"/>
            <a:endCxn id="218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People are “power-symmetric” in a standalone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either withdraws relationship dissolves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Any one ego is experiences “power-asymmetry” (dependence) in an a triad: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can withdraw but the other two people still have a relationship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S/he loses the benefits of </a:t>
            </a:r>
            <a:r>
              <a:rPr b="1" lang="en"/>
              <a:t>two</a:t>
            </a:r>
            <a:r>
              <a:rPr lang="en"/>
              <a:t> relationships</a:t>
            </a:r>
            <a:endParaRPr/>
          </a:p>
          <a:p>
            <a: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other ego only loses </a:t>
            </a:r>
            <a:r>
              <a:rPr b="1" lang="en"/>
              <a:t>one</a:t>
            </a:r>
            <a:endParaRPr b="1"/>
          </a:p>
        </p:txBody>
      </p:sp>
      <p:sp>
        <p:nvSpPr>
          <p:cNvPr id="226" name="Google Shape;226;p21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1"/>
          <p:cNvCxnSpPr>
            <a:stCxn id="226" idx="7"/>
            <a:endCxn id="22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1"/>
          <p:cNvCxnSpPr>
            <a:stCxn id="226" idx="5"/>
            <a:endCxn id="23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1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21"/>
          <p:cNvCxnSpPr>
            <a:stCxn id="230" idx="0"/>
            <a:endCxn id="22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1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1"/>
          <p:cNvCxnSpPr>
            <a:stCxn id="226" idx="4"/>
            <a:endCxn id="23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39" name="Google Shape;239;p22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This explains why conflict is more difficult to settle in standalone dyads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Also explains why sometimes the </a:t>
            </a:r>
            <a:r>
              <a:rPr b="1" lang="en"/>
              <a:t>only </a:t>
            </a:r>
            <a:r>
              <a:rPr lang="en"/>
              <a:t>conflict resolution recourse is to turn the standalone dyad into a “temporary” Simmelian dyad: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Arbitration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Mediation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Research shows that third parties are useful in alleviating dyadic conflicts 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22"/>
          <p:cNvCxnSpPr>
            <a:stCxn id="240" idx="7"/>
            <a:endCxn id="242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2"/>
          <p:cNvCxnSpPr>
            <a:stCxn id="240" idx="5"/>
            <a:endCxn id="244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2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22"/>
          <p:cNvCxnSpPr>
            <a:stCxn id="244" idx="0"/>
            <a:endCxn id="242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2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22"/>
          <p:cNvCxnSpPr>
            <a:stCxn id="240" idx="4"/>
            <a:endCxn id="246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53" name="Google Shape;253;p23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you could “split” the two networks and analyze them separately 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23"/>
          <p:cNvCxnSpPr>
            <a:stCxn id="254" idx="7"/>
            <a:endCxn id="256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3"/>
          <p:cNvCxnSpPr>
            <a:stCxn id="254" idx="5"/>
            <a:endCxn id="258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3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23"/>
          <p:cNvCxnSpPr>
            <a:stCxn id="258" idx="0"/>
            <a:endCxn id="256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3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3"/>
          <p:cNvCxnSpPr>
            <a:stCxn id="254" idx="4"/>
            <a:endCxn id="260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Non-Simmelian ties could either be “disembedded” dyads or dyads embedded in weak triads</a:t>
            </a:r>
            <a:endParaRPr/>
          </a:p>
        </p:txBody>
      </p:sp>
      <p:sp>
        <p:nvSpPr>
          <p:cNvPr id="268" name="Google Shape;268;p24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24"/>
          <p:cNvCxnSpPr>
            <a:stCxn id="268" idx="7"/>
            <a:endCxn id="270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4"/>
          <p:cNvCxnSpPr>
            <a:stCxn id="268" idx="5"/>
            <a:endCxn id="272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4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3" name="Google Shape;273;p24"/>
          <p:cNvCxnSpPr>
            <a:stCxn id="272" idx="0"/>
            <a:endCxn id="270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4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4"/>
          <p:cNvCxnSpPr>
            <a:stCxn id="268" idx="4"/>
            <a:endCxn id="274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Simmel’s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Triads are qualitatively different from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Dyads embedded in reciprocally strong triads are not the same as standalone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Graph theoretic repercussion: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Networks with closed triads are actually </a:t>
            </a:r>
            <a:r>
              <a:rPr b="1" lang="en"/>
              <a:t>multi-relational graphs </a:t>
            </a:r>
            <a:r>
              <a:rPr lang="en"/>
              <a:t>with two (mutually exclusive) types of ties: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u="sng">
                <a:solidFill>
                  <a:srgbClr val="FF0000"/>
                </a:solidFill>
              </a:rPr>
              <a:t>Simmelian ties</a:t>
            </a:r>
            <a:endParaRPr u="sng">
              <a:solidFill>
                <a:srgbClr val="FF0000"/>
              </a:solidFill>
            </a:endParaRPr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 directed graph, Non-Simmelian ties could be either “asymmetric” or “sole-symmetric”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25"/>
          <p:cNvCxnSpPr>
            <a:stCxn id="282" idx="7"/>
            <a:endCxn id="284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5"/>
          <p:cNvCxnSpPr>
            <a:stCxn id="282" idx="5"/>
            <a:endCxn id="286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5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25"/>
          <p:cNvCxnSpPr>
            <a:stCxn id="286" idx="0"/>
            <a:endCxn id="284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5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25"/>
          <p:cNvCxnSpPr>
            <a:stCxn id="282" idx="4"/>
            <a:endCxn id="288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95" name="Google Shape;295;p26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ties (e.g. information on both strength and direction: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Symmetric, Strong, and Embedded </a:t>
            </a:r>
            <a:r>
              <a:rPr lang="en">
                <a:solidFill>
                  <a:srgbClr val="FF0000"/>
                </a:solidFill>
              </a:rPr>
              <a:t> 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Non-Simmelian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■"/>
            </a:pPr>
            <a:r>
              <a:rPr lang="en">
                <a:solidFill>
                  <a:srgbClr val="38761D"/>
                </a:solidFill>
              </a:rPr>
              <a:t>Sole-Symmetric Weak </a:t>
            </a:r>
            <a:endParaRPr>
              <a:solidFill>
                <a:srgbClr val="38761D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1400"/>
              <a:buChar char="■"/>
            </a:pPr>
            <a:r>
              <a:rPr lang="en">
                <a:solidFill>
                  <a:srgbClr val="E69138"/>
                </a:solidFill>
              </a:rPr>
              <a:t>Sole-Symmetric Strong </a:t>
            </a:r>
            <a:endParaRPr>
              <a:solidFill>
                <a:srgbClr val="E69138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Char char="■"/>
            </a:pPr>
            <a:r>
              <a:rPr lang="en">
                <a:solidFill>
                  <a:srgbClr val="FF00FF"/>
                </a:solidFill>
              </a:rPr>
              <a:t>Asymmetric Weak (Embedded or Disembedded)</a:t>
            </a:r>
            <a:endParaRPr>
              <a:solidFill>
                <a:srgbClr val="FF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lang="en">
                <a:solidFill>
                  <a:srgbClr val="0000FF"/>
                </a:solidFill>
              </a:rPr>
              <a:t>Asymmetric Strong (Embedded or Disembedded)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26"/>
          <p:cNvCxnSpPr>
            <a:stCxn id="296" idx="7"/>
            <a:endCxn id="29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6"/>
          <p:cNvCxnSpPr>
            <a:stCxn id="296" idx="5"/>
            <a:endCxn id="30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8" name="Google Shape;298;p26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1" name="Google Shape;301;p26"/>
          <p:cNvCxnSpPr>
            <a:stCxn id="300" idx="0"/>
            <a:endCxn id="29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" name="Google Shape;302;p26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" name="Google Shape;303;p26"/>
          <p:cNvCxnSpPr>
            <a:stCxn id="296" idx="4"/>
            <a:endCxn id="30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6"/>
          <p:cNvCxnSpPr>
            <a:stCxn id="305" idx="2"/>
            <a:endCxn id="302" idx="6"/>
          </p:cNvCxnSpPr>
          <p:nvPr/>
        </p:nvCxnSpPr>
        <p:spPr>
          <a:xfrm flipH="1">
            <a:off x="6765891" y="3592915"/>
            <a:ext cx="1063200" cy="2994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26"/>
          <p:cNvSpPr/>
          <p:nvPr/>
        </p:nvSpPr>
        <p:spPr>
          <a:xfrm>
            <a:off x="7588451" y="427583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" name="Google Shape;307;p26"/>
          <p:cNvCxnSpPr>
            <a:stCxn id="302" idx="5"/>
            <a:endCxn id="306" idx="2"/>
          </p:cNvCxnSpPr>
          <p:nvPr/>
        </p:nvCxnSpPr>
        <p:spPr>
          <a:xfrm>
            <a:off x="6695377" y="4056543"/>
            <a:ext cx="893100" cy="4515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" name="Google Shape;308;p26"/>
          <p:cNvSpPr/>
          <p:nvPr/>
        </p:nvSpPr>
        <p:spPr>
          <a:xfrm>
            <a:off x="6998551" y="295376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26"/>
          <p:cNvCxnSpPr>
            <a:stCxn id="296" idx="4"/>
            <a:endCxn id="308" idx="1"/>
          </p:cNvCxnSpPr>
          <p:nvPr/>
        </p:nvCxnSpPr>
        <p:spPr>
          <a:xfrm>
            <a:off x="6525151" y="2445510"/>
            <a:ext cx="543900" cy="576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05" name="Google Shape;305;p26"/>
          <p:cNvSpPr/>
          <p:nvPr/>
        </p:nvSpPr>
        <p:spPr>
          <a:xfrm>
            <a:off x="7829091" y="336071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Consequences of 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 are more durable and/or resistance to disruption than non-Simmelian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 are relatively common given baseline graph theoretic expectations (e.g. number of nodes number of links)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a person is a “broker” between two cliques to which s/he is linked to via Simmelian ties there is a tradeoff between bridging and multiple norm constraint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Pure “structural holes” broker must keep non-Simmelian relations to be effective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But sacrifices trust 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27"/>
          <p:cNvCxnSpPr>
            <a:stCxn id="316" idx="7"/>
            <a:endCxn id="31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7"/>
          <p:cNvCxnSpPr>
            <a:stCxn id="316" idx="5"/>
            <a:endCxn id="32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27"/>
          <p:cNvCxnSpPr>
            <a:stCxn id="320" idx="0"/>
            <a:endCxn id="31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27"/>
          <p:cNvCxnSpPr>
            <a:stCxn id="316" idx="4"/>
            <a:endCxn id="32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