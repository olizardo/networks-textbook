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y="5143500" cx="9144000"/>
  <p:notesSz cx="6858000" cy="9144000"/>
  <p:embeddedFontLst>
    <p:embeddedFont>
      <p:font typeface="Josefin Slab"/>
      <p:regular r:id="rId40"/>
      <p:bold r:id="rId41"/>
      <p:italic r:id="rId42"/>
      <p:boldItalic r:id="rId43"/>
    </p:embeddedFont>
    <p:embeddedFont>
      <p:font typeface="Economica"/>
      <p:regular r:id="rId44"/>
      <p:bold r:id="rId45"/>
      <p:italic r:id="rId46"/>
      <p:boldItalic r:id="rId47"/>
    </p:embeddedFont>
    <p:embeddedFont>
      <p:font typeface="Open Sans"/>
      <p:regular r:id="rId48"/>
      <p:bold r:id="rId49"/>
      <p:italic r:id="rId50"/>
      <p:boldItalic r:id="rId5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648F947-F642-4E92-B43A-D35B068F1E99}">
  <a:tblStyle styleId="{8648F947-F642-4E92-B43A-D35B068F1E9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JosefinSlab-regular.fntdata"/><Relationship Id="rId42" Type="http://schemas.openxmlformats.org/officeDocument/2006/relationships/font" Target="fonts/JosefinSlab-italic.fntdata"/><Relationship Id="rId41" Type="http://schemas.openxmlformats.org/officeDocument/2006/relationships/font" Target="fonts/JosefinSlab-bold.fntdata"/><Relationship Id="rId44" Type="http://schemas.openxmlformats.org/officeDocument/2006/relationships/font" Target="fonts/Economica-regular.fntdata"/><Relationship Id="rId43" Type="http://schemas.openxmlformats.org/officeDocument/2006/relationships/font" Target="fonts/JosefinSlab-boldItalic.fntdata"/><Relationship Id="rId46" Type="http://schemas.openxmlformats.org/officeDocument/2006/relationships/font" Target="fonts/Economica-italic.fntdata"/><Relationship Id="rId45" Type="http://schemas.openxmlformats.org/officeDocument/2006/relationships/font" Target="fonts/Economica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font" Target="fonts/OpenSans-regular.fntdata"/><Relationship Id="rId47" Type="http://schemas.openxmlformats.org/officeDocument/2006/relationships/font" Target="fonts/Economica-boldItalic.fntdata"/><Relationship Id="rId49" Type="http://schemas.openxmlformats.org/officeDocument/2006/relationships/font" Target="fonts/OpenSans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OpenSans-boldItalic.fntdata"/><Relationship Id="rId50" Type="http://schemas.openxmlformats.org/officeDocument/2006/relationships/font" Target="fonts/OpenSans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7e507b5822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7e507b582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0c324cf2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0c324cf2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0c324cf28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0c324cf28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0c324cf28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0c324cf28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0c324cf28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0c324cf28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0c324cf28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0c324cf28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0c324cf28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0c324cf28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0c324cf28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0c324cf28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0c324cf28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0c324cf28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0c324cf28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0c324cf28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0c324cf28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0c324cf28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0c324cf28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0c324cf28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0c324cf28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0c324cf28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0c324cf28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0c324cf28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0c324cf28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0c324cf28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0c324cf28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0c324cf28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0c324cf28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0c324cf28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0c324cf28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0c324cf28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0c324cf28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0c324cf28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0c324cf28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0c324cf28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0c324cf28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30c324cf28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0c324cf28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30c324cf28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0c324cf28_0_2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30c324cf28_0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Foci discussed in lecture on composition of ego networks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0c324cf28_0_2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30c324cf28_0_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0c324cf28_0_2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30c324cf28_0_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0c324cf28_0_2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30c324cf28_0_2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0c324cf28_0_3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" name="Google Shape;389;g30c324cf28_0_3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0c324cf28_0_3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30c324cf28_0_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30c324cf28_0_3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" name="Google Shape;448;g30c324cf28_0_3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0c324cf28_0_3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30c324cf28_0_3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0c324cf28_0_3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g30c324cf28_0_3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0c324cf28_0_4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Google Shape;490;g30c324cf28_0_4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30c324cf28_0_4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4" name="Google Shape;504;g30c324cf28_0_4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56" name="Google Shape;56;p14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57" name="Google Shape;57;p14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2" name="Google Shape;62;p15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3" name="Google Shape;63;p15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3" name="Google Shape;73;p17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4" name="Google Shape;7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0" name="Google Shape;80;p19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1" name="Google Shape;81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0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20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5" name="Google Shape;85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1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8" name="Google Shape;88;p21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" name="Google Shape;89;p21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90" name="Google Shape;90;p21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91" name="Google Shape;91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2" name="Google Shape;9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2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95" name="Google Shape;95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3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3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9" name="Google Shape;99;p23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0" name="Google Shape;100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gif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gif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gif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gif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gif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gif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gif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gif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gif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gif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gif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gif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gif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gif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gif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gif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gif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Triad Census</a:t>
            </a:r>
            <a:endParaRPr/>
          </a:p>
        </p:txBody>
      </p:sp>
      <p:pic>
        <p:nvPicPr>
          <p:cNvPr id="108" name="Google Shape;10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4450" y="1239847"/>
            <a:ext cx="3649549" cy="323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52425" y="1292675"/>
            <a:ext cx="4113551" cy="3353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balance theory</a:t>
            </a:r>
            <a:endParaRPr/>
          </a:p>
        </p:txBody>
      </p:sp>
      <p:sp>
        <p:nvSpPr>
          <p:cNvPr id="115" name="Google Shape;115;p26"/>
          <p:cNvSpPr txBox="1"/>
          <p:nvPr>
            <p:ph idx="1" type="body"/>
          </p:nvPr>
        </p:nvSpPr>
        <p:spPr>
          <a:xfrm>
            <a:off x="311700" y="1225225"/>
            <a:ext cx="8520600" cy="12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Building blocks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set of actors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set of (directed) relationships defined on those actors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For example: Likes and Dislikes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2750" y="2465425"/>
            <a:ext cx="3918501" cy="224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balance theory</a:t>
            </a:r>
            <a:endParaRPr/>
          </a:p>
        </p:txBody>
      </p:sp>
      <p:sp>
        <p:nvSpPr>
          <p:cNvPr id="122" name="Google Shape;122;p27"/>
          <p:cNvSpPr txBox="1"/>
          <p:nvPr>
            <p:ph idx="1" type="body"/>
          </p:nvPr>
        </p:nvSpPr>
        <p:spPr>
          <a:xfrm>
            <a:off x="311700" y="1225225"/>
            <a:ext cx="8520600" cy="12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Considering triads containing directional arcs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is the key to balance theory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Solid</a:t>
            </a:r>
            <a:r>
              <a:rPr lang="en"/>
              <a:t> lines are positive sentiments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Null</a:t>
            </a:r>
            <a:r>
              <a:rPr lang="en"/>
              <a:t> (dashed) lines are negative sentiments</a:t>
            </a:r>
            <a:endParaRPr/>
          </a:p>
        </p:txBody>
      </p:sp>
      <p:pic>
        <p:nvPicPr>
          <p:cNvPr id="123" name="Google Shape;12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2750" y="2465425"/>
            <a:ext cx="3918501" cy="224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balance theory</a:t>
            </a:r>
            <a:endParaRPr/>
          </a:p>
        </p:txBody>
      </p:sp>
      <p:sp>
        <p:nvSpPr>
          <p:cNvPr id="129" name="Google Shape;129;p28"/>
          <p:cNvSpPr txBox="1"/>
          <p:nvPr>
            <p:ph idx="1" type="body"/>
          </p:nvPr>
        </p:nvSpPr>
        <p:spPr>
          <a:xfrm>
            <a:off x="311700" y="1225225"/>
            <a:ext cx="8520600" cy="12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structural balance theory, each vertex in the configuration is given a designation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Person (P):</a:t>
            </a:r>
            <a:r>
              <a:rPr lang="en"/>
              <a:t> "The individual whose behavior is being predicted by the theory" (Davis 1963: 445).</a:t>
            </a:r>
            <a:endParaRPr/>
          </a:p>
        </p:txBody>
      </p:sp>
      <p:pic>
        <p:nvPicPr>
          <p:cNvPr id="130" name="Google Shape;13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2750" y="2465425"/>
            <a:ext cx="3918501" cy="224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balance theory</a:t>
            </a:r>
            <a:endParaRPr/>
          </a:p>
        </p:txBody>
      </p:sp>
      <p:sp>
        <p:nvSpPr>
          <p:cNvPr id="136" name="Google Shape;136;p29"/>
          <p:cNvSpPr txBox="1"/>
          <p:nvPr>
            <p:ph idx="1" type="body"/>
          </p:nvPr>
        </p:nvSpPr>
        <p:spPr>
          <a:xfrm>
            <a:off x="311700" y="1225225"/>
            <a:ext cx="8520600" cy="12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structural balance theory, each vertex in the configuration is given a designation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Other (O): </a:t>
            </a:r>
            <a:r>
              <a:rPr lang="en"/>
              <a:t>An object (e.g another individual) towards which P is oriented.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37" name="Google Shape;13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2750" y="2465425"/>
            <a:ext cx="3918501" cy="224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balance theory</a:t>
            </a:r>
            <a:endParaRPr/>
          </a:p>
        </p:txBody>
      </p:sp>
      <p:sp>
        <p:nvSpPr>
          <p:cNvPr id="143" name="Google Shape;143;p30"/>
          <p:cNvSpPr txBox="1"/>
          <p:nvPr>
            <p:ph idx="1" type="body"/>
          </p:nvPr>
        </p:nvSpPr>
        <p:spPr>
          <a:xfrm>
            <a:off x="311700" y="1225225"/>
            <a:ext cx="8520600" cy="12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structural balance theory, each vertex in the configuration is given a designation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Q:</a:t>
            </a:r>
            <a:r>
              <a:rPr lang="en"/>
              <a:t> A third object (a value, group or another individual) towards which P and O are oriented.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44" name="Google Shape;144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2750" y="2465425"/>
            <a:ext cx="3918501" cy="224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balance theory</a:t>
            </a:r>
            <a:endParaRPr/>
          </a:p>
        </p:txBody>
      </p:sp>
      <p:sp>
        <p:nvSpPr>
          <p:cNvPr id="150" name="Google Shape;150;p31"/>
          <p:cNvSpPr txBox="1"/>
          <p:nvPr>
            <p:ph idx="1" type="body"/>
          </p:nvPr>
        </p:nvSpPr>
        <p:spPr>
          <a:xfrm>
            <a:off x="311700" y="1225225"/>
            <a:ext cx="8520600" cy="12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basic premise of the theory is that people are motivated to seek balance in the triadic configurations in which they are embedded.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51" name="Google Shape;151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2750" y="2465425"/>
            <a:ext cx="3918501" cy="224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balance theory</a:t>
            </a:r>
            <a:endParaRPr/>
          </a:p>
        </p:txBody>
      </p:sp>
      <p:sp>
        <p:nvSpPr>
          <p:cNvPr id="157" name="Google Shape;157;p32"/>
          <p:cNvSpPr txBox="1"/>
          <p:nvPr>
            <p:ph idx="1" type="body"/>
          </p:nvPr>
        </p:nvSpPr>
        <p:spPr>
          <a:xfrm>
            <a:off x="311700" y="1225225"/>
            <a:ext cx="8520600" cy="12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Balance is formally defined as the sign of the product of the weights attached to each edge in the cycle.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Positive</a:t>
            </a:r>
            <a:r>
              <a:rPr lang="en"/>
              <a:t> triads are balanced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Negative</a:t>
            </a:r>
            <a:r>
              <a:rPr lang="en"/>
              <a:t> triads are imbalanced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58" name="Google Shape;158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2750" y="2465425"/>
            <a:ext cx="3918501" cy="224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balance theory</a:t>
            </a:r>
            <a:endParaRPr/>
          </a:p>
        </p:txBody>
      </p:sp>
      <p:graphicFrame>
        <p:nvGraphicFramePr>
          <p:cNvPr id="164" name="Google Shape;164;p33"/>
          <p:cNvGraphicFramePr/>
          <p:nvPr/>
        </p:nvGraphicFramePr>
        <p:xfrm>
          <a:off x="952475" y="1147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{8648F947-F642-4E92-B43A-D35B068F1E99}</a:tableStyleId>
              </a:tblPr>
              <a:tblGrid>
                <a:gridCol w="1034150"/>
                <a:gridCol w="1034150"/>
                <a:gridCol w="1034150"/>
                <a:gridCol w="1034150"/>
                <a:gridCol w="1034150"/>
                <a:gridCol w="1034150"/>
                <a:gridCol w="10341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PQ</a:t>
                      </a:r>
                      <a:endParaRPr b="1" sz="30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30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OQ</a:t>
                      </a:r>
                      <a:endParaRPr b="1" sz="30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30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PO</a:t>
                      </a:r>
                      <a:endParaRPr b="1" sz="30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POQ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5" name="Google Shape;165;p33"/>
          <p:cNvSpPr/>
          <p:nvPr/>
        </p:nvSpPr>
        <p:spPr>
          <a:xfrm>
            <a:off x="1346800" y="1956525"/>
            <a:ext cx="349500" cy="378600"/>
          </a:xfrm>
          <a:prstGeom prst="mathPlus">
            <a:avLst>
              <a:gd fmla="val 23520" name="adj1"/>
            </a:avLst>
          </a:prstGeom>
          <a:solidFill>
            <a:srgbClr val="F68D0C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33"/>
          <p:cNvSpPr/>
          <p:nvPr/>
        </p:nvSpPr>
        <p:spPr>
          <a:xfrm>
            <a:off x="3370125" y="1956525"/>
            <a:ext cx="349500" cy="378600"/>
          </a:xfrm>
          <a:prstGeom prst="mathPlus">
            <a:avLst>
              <a:gd fmla="val 23520" name="adj1"/>
            </a:avLst>
          </a:prstGeom>
          <a:solidFill>
            <a:srgbClr val="0000FF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33"/>
          <p:cNvSpPr/>
          <p:nvPr/>
        </p:nvSpPr>
        <p:spPr>
          <a:xfrm>
            <a:off x="7472700" y="1927425"/>
            <a:ext cx="349500" cy="378600"/>
          </a:xfrm>
          <a:prstGeom prst="mathPlus">
            <a:avLst>
              <a:gd fmla="val 23520" name="adj1"/>
            </a:avLst>
          </a:prstGeom>
          <a:solidFill>
            <a:srgbClr val="257E12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33"/>
          <p:cNvSpPr/>
          <p:nvPr/>
        </p:nvSpPr>
        <p:spPr>
          <a:xfrm>
            <a:off x="7472700" y="2505138"/>
            <a:ext cx="349500" cy="378600"/>
          </a:xfrm>
          <a:prstGeom prst="mathPlus">
            <a:avLst>
              <a:gd fmla="val 23520" name="adj1"/>
            </a:avLst>
          </a:prstGeom>
          <a:solidFill>
            <a:srgbClr val="257E12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33"/>
          <p:cNvSpPr/>
          <p:nvPr/>
        </p:nvSpPr>
        <p:spPr>
          <a:xfrm>
            <a:off x="6442675" y="1956525"/>
            <a:ext cx="451500" cy="378600"/>
          </a:xfrm>
          <a:prstGeom prst="mathEqual">
            <a:avLst>
              <a:gd fmla="val 23520" name="adj1"/>
              <a:gd fmla="val 11760" name="adj2"/>
            </a:avLst>
          </a:prstGeom>
          <a:solidFill>
            <a:srgbClr val="CFD4D4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33"/>
          <p:cNvSpPr/>
          <p:nvPr/>
        </p:nvSpPr>
        <p:spPr>
          <a:xfrm>
            <a:off x="6442675" y="2534238"/>
            <a:ext cx="451500" cy="378600"/>
          </a:xfrm>
          <a:prstGeom prst="mathEqual">
            <a:avLst>
              <a:gd fmla="val 23520" name="adj1"/>
              <a:gd fmla="val 11760" name="adj2"/>
            </a:avLst>
          </a:prstGeom>
          <a:solidFill>
            <a:srgbClr val="CFD4D4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33"/>
          <p:cNvSpPr/>
          <p:nvPr/>
        </p:nvSpPr>
        <p:spPr>
          <a:xfrm>
            <a:off x="6442675" y="3104875"/>
            <a:ext cx="451500" cy="378600"/>
          </a:xfrm>
          <a:prstGeom prst="mathEqual">
            <a:avLst>
              <a:gd fmla="val 23520" name="adj1"/>
              <a:gd fmla="val 11760" name="adj2"/>
            </a:avLst>
          </a:prstGeom>
          <a:solidFill>
            <a:srgbClr val="CFD4D4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33"/>
          <p:cNvSpPr/>
          <p:nvPr/>
        </p:nvSpPr>
        <p:spPr>
          <a:xfrm>
            <a:off x="6442675" y="3775625"/>
            <a:ext cx="451500" cy="378600"/>
          </a:xfrm>
          <a:prstGeom prst="mathEqual">
            <a:avLst>
              <a:gd fmla="val 23520" name="adj1"/>
              <a:gd fmla="val 11760" name="adj2"/>
            </a:avLst>
          </a:prstGeom>
          <a:solidFill>
            <a:srgbClr val="CFD4D4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33"/>
          <p:cNvSpPr/>
          <p:nvPr/>
        </p:nvSpPr>
        <p:spPr>
          <a:xfrm>
            <a:off x="2267225" y="1956525"/>
            <a:ext cx="393000" cy="436800"/>
          </a:xfrm>
          <a:prstGeom prst="mathMultiply">
            <a:avLst>
              <a:gd fmla="val 23520" name="adj1"/>
            </a:avLst>
          </a:prstGeom>
          <a:solidFill>
            <a:srgbClr val="CFD4D4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33"/>
          <p:cNvSpPr/>
          <p:nvPr/>
        </p:nvSpPr>
        <p:spPr>
          <a:xfrm>
            <a:off x="2267225" y="2534238"/>
            <a:ext cx="393000" cy="436800"/>
          </a:xfrm>
          <a:prstGeom prst="mathMultiply">
            <a:avLst>
              <a:gd fmla="val 23520" name="adj1"/>
            </a:avLst>
          </a:prstGeom>
          <a:solidFill>
            <a:srgbClr val="CFD4D4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33"/>
          <p:cNvSpPr/>
          <p:nvPr/>
        </p:nvSpPr>
        <p:spPr>
          <a:xfrm>
            <a:off x="2267225" y="3104875"/>
            <a:ext cx="393000" cy="436800"/>
          </a:xfrm>
          <a:prstGeom prst="mathMultiply">
            <a:avLst>
              <a:gd fmla="val 23520" name="adj1"/>
            </a:avLst>
          </a:prstGeom>
          <a:solidFill>
            <a:srgbClr val="CFD4D4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33"/>
          <p:cNvSpPr/>
          <p:nvPr/>
        </p:nvSpPr>
        <p:spPr>
          <a:xfrm>
            <a:off x="2267225" y="3775625"/>
            <a:ext cx="393000" cy="436800"/>
          </a:xfrm>
          <a:prstGeom prst="mathMultiply">
            <a:avLst>
              <a:gd fmla="val 23520" name="adj1"/>
            </a:avLst>
          </a:prstGeom>
          <a:solidFill>
            <a:srgbClr val="CFD4D4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33"/>
          <p:cNvSpPr/>
          <p:nvPr/>
        </p:nvSpPr>
        <p:spPr>
          <a:xfrm>
            <a:off x="1281250" y="2527038"/>
            <a:ext cx="480600" cy="393000"/>
          </a:xfrm>
          <a:prstGeom prst="mathMinus">
            <a:avLst>
              <a:gd fmla="val 23520" name="adj1"/>
            </a:avLst>
          </a:prstGeom>
          <a:solidFill>
            <a:srgbClr val="F68D0C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33"/>
          <p:cNvSpPr/>
          <p:nvPr/>
        </p:nvSpPr>
        <p:spPr>
          <a:xfrm>
            <a:off x="3304575" y="3768425"/>
            <a:ext cx="480600" cy="393000"/>
          </a:xfrm>
          <a:prstGeom prst="mathMinus">
            <a:avLst>
              <a:gd fmla="val 23520" name="adj1"/>
            </a:avLst>
          </a:prstGeom>
          <a:solidFill>
            <a:srgbClr val="0000FF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33"/>
          <p:cNvSpPr/>
          <p:nvPr/>
        </p:nvSpPr>
        <p:spPr>
          <a:xfrm>
            <a:off x="4375500" y="1898325"/>
            <a:ext cx="393000" cy="436800"/>
          </a:xfrm>
          <a:prstGeom prst="mathMultiply">
            <a:avLst>
              <a:gd fmla="val 23520" name="adj1"/>
            </a:avLst>
          </a:prstGeom>
          <a:solidFill>
            <a:srgbClr val="CFD4D4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33"/>
          <p:cNvSpPr/>
          <p:nvPr/>
        </p:nvSpPr>
        <p:spPr>
          <a:xfrm>
            <a:off x="4375500" y="2476038"/>
            <a:ext cx="393000" cy="436800"/>
          </a:xfrm>
          <a:prstGeom prst="mathMultiply">
            <a:avLst>
              <a:gd fmla="val 23520" name="adj1"/>
            </a:avLst>
          </a:prstGeom>
          <a:solidFill>
            <a:srgbClr val="CFD4D4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33"/>
          <p:cNvSpPr/>
          <p:nvPr/>
        </p:nvSpPr>
        <p:spPr>
          <a:xfrm>
            <a:off x="4375500" y="3046675"/>
            <a:ext cx="393000" cy="436800"/>
          </a:xfrm>
          <a:prstGeom prst="mathMultiply">
            <a:avLst>
              <a:gd fmla="val 23520" name="adj1"/>
            </a:avLst>
          </a:prstGeom>
          <a:solidFill>
            <a:srgbClr val="CFD4D4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33"/>
          <p:cNvSpPr/>
          <p:nvPr/>
        </p:nvSpPr>
        <p:spPr>
          <a:xfrm>
            <a:off x="4375500" y="3717425"/>
            <a:ext cx="393000" cy="436800"/>
          </a:xfrm>
          <a:prstGeom prst="mathMultiply">
            <a:avLst>
              <a:gd fmla="val 23520" name="adj1"/>
            </a:avLst>
          </a:prstGeom>
          <a:solidFill>
            <a:srgbClr val="CFD4D4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33"/>
          <p:cNvSpPr/>
          <p:nvPr/>
        </p:nvSpPr>
        <p:spPr>
          <a:xfrm>
            <a:off x="5456825" y="1927425"/>
            <a:ext cx="349500" cy="378600"/>
          </a:xfrm>
          <a:prstGeom prst="mathPlus">
            <a:avLst>
              <a:gd fmla="val 23520" name="adj1"/>
            </a:avLst>
          </a:prstGeom>
          <a:solidFill>
            <a:srgbClr val="FF0000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33"/>
          <p:cNvSpPr/>
          <p:nvPr/>
        </p:nvSpPr>
        <p:spPr>
          <a:xfrm>
            <a:off x="7472700" y="3203038"/>
            <a:ext cx="349500" cy="378600"/>
          </a:xfrm>
          <a:prstGeom prst="mathPlus">
            <a:avLst>
              <a:gd fmla="val 23520" name="adj1"/>
            </a:avLst>
          </a:prstGeom>
          <a:solidFill>
            <a:srgbClr val="257E12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33"/>
          <p:cNvSpPr/>
          <p:nvPr/>
        </p:nvSpPr>
        <p:spPr>
          <a:xfrm>
            <a:off x="7472700" y="3775625"/>
            <a:ext cx="349500" cy="378600"/>
          </a:xfrm>
          <a:prstGeom prst="mathPlus">
            <a:avLst>
              <a:gd fmla="val 23520" name="adj1"/>
            </a:avLst>
          </a:prstGeom>
          <a:solidFill>
            <a:srgbClr val="257E12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33"/>
          <p:cNvSpPr/>
          <p:nvPr/>
        </p:nvSpPr>
        <p:spPr>
          <a:xfrm>
            <a:off x="3304575" y="2556138"/>
            <a:ext cx="480600" cy="393000"/>
          </a:xfrm>
          <a:prstGeom prst="mathMinus">
            <a:avLst>
              <a:gd fmla="val 23520" name="adj1"/>
            </a:avLst>
          </a:prstGeom>
          <a:solidFill>
            <a:srgbClr val="0000FF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33"/>
          <p:cNvSpPr/>
          <p:nvPr/>
        </p:nvSpPr>
        <p:spPr>
          <a:xfrm>
            <a:off x="5456825" y="2563338"/>
            <a:ext cx="349500" cy="378600"/>
          </a:xfrm>
          <a:prstGeom prst="mathPlus">
            <a:avLst>
              <a:gd fmla="val 23520" name="adj1"/>
            </a:avLst>
          </a:prstGeom>
          <a:solidFill>
            <a:srgbClr val="FF0000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33"/>
          <p:cNvSpPr/>
          <p:nvPr/>
        </p:nvSpPr>
        <p:spPr>
          <a:xfrm>
            <a:off x="1281250" y="3195838"/>
            <a:ext cx="480600" cy="393000"/>
          </a:xfrm>
          <a:prstGeom prst="mathMinus">
            <a:avLst>
              <a:gd fmla="val 23520" name="adj1"/>
            </a:avLst>
          </a:prstGeom>
          <a:solidFill>
            <a:srgbClr val="F68D0C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33"/>
          <p:cNvSpPr/>
          <p:nvPr/>
        </p:nvSpPr>
        <p:spPr>
          <a:xfrm>
            <a:off x="1281250" y="3804725"/>
            <a:ext cx="349500" cy="378600"/>
          </a:xfrm>
          <a:prstGeom prst="mathPlus">
            <a:avLst>
              <a:gd fmla="val 23520" name="adj1"/>
            </a:avLst>
          </a:prstGeom>
          <a:solidFill>
            <a:srgbClr val="F68D0C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33"/>
          <p:cNvSpPr/>
          <p:nvPr/>
        </p:nvSpPr>
        <p:spPr>
          <a:xfrm>
            <a:off x="3370125" y="3203038"/>
            <a:ext cx="349500" cy="378600"/>
          </a:xfrm>
          <a:prstGeom prst="mathPlus">
            <a:avLst>
              <a:gd fmla="val 23520" name="adj1"/>
            </a:avLst>
          </a:prstGeom>
          <a:solidFill>
            <a:srgbClr val="0000FF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33"/>
          <p:cNvSpPr/>
          <p:nvPr/>
        </p:nvSpPr>
        <p:spPr>
          <a:xfrm>
            <a:off x="5391275" y="3195838"/>
            <a:ext cx="480600" cy="393000"/>
          </a:xfrm>
          <a:prstGeom prst="mathMinus">
            <a:avLst>
              <a:gd fmla="val 23520" name="adj1"/>
            </a:avLst>
          </a:prstGeom>
          <a:solidFill>
            <a:srgbClr val="FF0000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33"/>
          <p:cNvSpPr/>
          <p:nvPr/>
        </p:nvSpPr>
        <p:spPr>
          <a:xfrm>
            <a:off x="5391275" y="3768425"/>
            <a:ext cx="480600" cy="393000"/>
          </a:xfrm>
          <a:prstGeom prst="mathMinus">
            <a:avLst>
              <a:gd fmla="val 23520" name="adj1"/>
            </a:avLst>
          </a:prstGeom>
          <a:solidFill>
            <a:srgbClr val="FF0000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balance theory</a:t>
            </a:r>
            <a:endParaRPr/>
          </a:p>
        </p:txBody>
      </p:sp>
      <p:sp>
        <p:nvSpPr>
          <p:cNvPr id="198" name="Google Shape;198;p34"/>
          <p:cNvSpPr txBox="1"/>
          <p:nvPr>
            <p:ph idx="1" type="body"/>
          </p:nvPr>
        </p:nvSpPr>
        <p:spPr>
          <a:xfrm>
            <a:off x="311700" y="1225225"/>
            <a:ext cx="8520600" cy="12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Balance is formally defined as the sign of the product of the weights attached to each edge in the cycle.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Balance reduces “tension” and is experienced as satisfactory (stable equilibrium)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99" name="Google Shape;199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2750" y="2465425"/>
            <a:ext cx="3918501" cy="224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balance theory</a:t>
            </a:r>
            <a:endParaRPr/>
          </a:p>
        </p:txBody>
      </p:sp>
      <p:sp>
        <p:nvSpPr>
          <p:cNvPr id="205" name="Google Shape;205;p35"/>
          <p:cNvSpPr txBox="1"/>
          <p:nvPr>
            <p:ph idx="1" type="body"/>
          </p:nvPr>
        </p:nvSpPr>
        <p:spPr>
          <a:xfrm>
            <a:off x="311700" y="1225225"/>
            <a:ext cx="8520600" cy="12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Balance is formally defined as the sign of the product of the weights attached to each edge in the cycle.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Imbalance is experienced as tension and discomfort (unstable state) that must be resolved (balanced)</a:t>
            </a:r>
            <a:endParaRPr b="1"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06" name="Google Shape;206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2750" y="2465425"/>
            <a:ext cx="3918501" cy="224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balance theory</a:t>
            </a:r>
            <a:endParaRPr/>
          </a:p>
        </p:txBody>
      </p:sp>
      <p:sp>
        <p:nvSpPr>
          <p:cNvPr id="212" name="Google Shape;212;p36"/>
          <p:cNvSpPr txBox="1"/>
          <p:nvPr>
            <p:ph idx="1" type="body"/>
          </p:nvPr>
        </p:nvSpPr>
        <p:spPr>
          <a:xfrm>
            <a:off x="311700" y="1225225"/>
            <a:ext cx="8520600" cy="12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Balance is formally defined as the sign of the product of the weights attached to each edge in the cycle.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Imbalance is experienced as tension and discomfort (unstable state) that must be resolved (balanced)</a:t>
            </a:r>
            <a:endParaRPr b="1"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13" name="Google Shape;213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71250" y="2465425"/>
            <a:ext cx="3801500" cy="2249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balance theory</a:t>
            </a:r>
            <a:endParaRPr/>
          </a:p>
        </p:txBody>
      </p:sp>
      <p:sp>
        <p:nvSpPr>
          <p:cNvPr id="219" name="Google Shape;219;p37"/>
          <p:cNvSpPr txBox="1"/>
          <p:nvPr>
            <p:ph idx="1" type="body"/>
          </p:nvPr>
        </p:nvSpPr>
        <p:spPr>
          <a:xfrm>
            <a:off x="311700" y="1225225"/>
            <a:ext cx="8520600" cy="12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Balance is formally defined as the sign of the product of the weights attached to each edge in the cycle.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Imbalance is experienced as tension and discomfort (unstable state) that must be resolved (balanced)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20" name="Google Shape;220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71250" y="2465425"/>
            <a:ext cx="3801500" cy="2249125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37"/>
          <p:cNvSpPr txBox="1"/>
          <p:nvPr/>
        </p:nvSpPr>
        <p:spPr>
          <a:xfrm>
            <a:off x="2533075" y="4118675"/>
            <a:ext cx="10926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mpact"/>
                <a:ea typeface="Impact"/>
                <a:cs typeface="Impact"/>
                <a:sym typeface="Impact"/>
              </a:rPr>
              <a:t>You</a:t>
            </a:r>
            <a:endParaRPr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22" name="Google Shape;222;p37"/>
          <p:cNvSpPr txBox="1"/>
          <p:nvPr/>
        </p:nvSpPr>
        <p:spPr>
          <a:xfrm>
            <a:off x="5095150" y="4118675"/>
            <a:ext cx="15468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mpact"/>
                <a:ea typeface="Impact"/>
                <a:cs typeface="Impact"/>
                <a:sym typeface="Impact"/>
              </a:rPr>
              <a:t>Clint Eastwood</a:t>
            </a:r>
            <a:endParaRPr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23" name="Google Shape;223;p37"/>
          <p:cNvSpPr txBox="1"/>
          <p:nvPr/>
        </p:nvSpPr>
        <p:spPr>
          <a:xfrm>
            <a:off x="3441900" y="2588800"/>
            <a:ext cx="18852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mpact"/>
                <a:ea typeface="Impact"/>
                <a:cs typeface="Impact"/>
                <a:sym typeface="Impact"/>
              </a:rPr>
              <a:t>Republican Party</a:t>
            </a:r>
            <a:endParaRPr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balance theory</a:t>
            </a:r>
            <a:endParaRPr/>
          </a:p>
        </p:txBody>
      </p:sp>
      <p:sp>
        <p:nvSpPr>
          <p:cNvPr id="229" name="Google Shape;229;p38"/>
          <p:cNvSpPr txBox="1"/>
          <p:nvPr>
            <p:ph idx="1" type="body"/>
          </p:nvPr>
        </p:nvSpPr>
        <p:spPr>
          <a:xfrm>
            <a:off x="311700" y="1225225"/>
            <a:ext cx="8520600" cy="12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Balance is formally defined as the sign of the product of the weights attached to each edge in the cycle.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Imbalance is experienced as tension and discomfort (unstable state) that must be resolved (balanced)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30" name="Google Shape;230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71250" y="2465425"/>
            <a:ext cx="3801500" cy="2249125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38"/>
          <p:cNvSpPr txBox="1"/>
          <p:nvPr/>
        </p:nvSpPr>
        <p:spPr>
          <a:xfrm>
            <a:off x="2533075" y="4118675"/>
            <a:ext cx="10926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Impact"/>
                <a:ea typeface="Impact"/>
                <a:cs typeface="Impact"/>
                <a:sym typeface="Impact"/>
              </a:rPr>
              <a:t>Americans</a:t>
            </a:r>
            <a:endParaRPr b="1"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32" name="Google Shape;232;p38"/>
          <p:cNvSpPr txBox="1"/>
          <p:nvPr/>
        </p:nvSpPr>
        <p:spPr>
          <a:xfrm>
            <a:off x="5095150" y="4118675"/>
            <a:ext cx="15468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Impact"/>
                <a:ea typeface="Impact"/>
                <a:cs typeface="Impact"/>
                <a:sym typeface="Impact"/>
              </a:rPr>
              <a:t>Public Education</a:t>
            </a:r>
            <a:endParaRPr b="1"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33" name="Google Shape;233;p38"/>
          <p:cNvSpPr txBox="1"/>
          <p:nvPr/>
        </p:nvSpPr>
        <p:spPr>
          <a:xfrm>
            <a:off x="3441900" y="2588800"/>
            <a:ext cx="18852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Impact"/>
                <a:ea typeface="Impact"/>
                <a:cs typeface="Impact"/>
                <a:sym typeface="Impact"/>
              </a:rPr>
              <a:t>Taxes</a:t>
            </a:r>
            <a:endParaRPr b="1"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balance theory</a:t>
            </a:r>
            <a:endParaRPr/>
          </a:p>
        </p:txBody>
      </p:sp>
      <p:sp>
        <p:nvSpPr>
          <p:cNvPr id="239" name="Google Shape;239;p39"/>
          <p:cNvSpPr txBox="1"/>
          <p:nvPr>
            <p:ph idx="1" type="body"/>
          </p:nvPr>
        </p:nvSpPr>
        <p:spPr>
          <a:xfrm>
            <a:off x="311700" y="1225225"/>
            <a:ext cx="8520600" cy="146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Balance "rules"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If P likes O, and O likes Q, P likes Q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P likes O, and O dislikes Q, P dislikes Q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P dislikes O, and O likes Q, P dislikes Q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P dislikes O and O dislikes Q, P likes Q</a:t>
            </a:r>
            <a:endParaRPr/>
          </a:p>
        </p:txBody>
      </p:sp>
      <p:pic>
        <p:nvPicPr>
          <p:cNvPr id="240" name="Google Shape;240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06325" y="2687725"/>
            <a:ext cx="3531340" cy="2027625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39"/>
          <p:cNvSpPr/>
          <p:nvPr/>
        </p:nvSpPr>
        <p:spPr>
          <a:xfrm>
            <a:off x="2745775" y="2687725"/>
            <a:ext cx="766500" cy="676800"/>
          </a:xfrm>
          <a:prstGeom prst="rect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balance theory</a:t>
            </a:r>
            <a:endParaRPr/>
          </a:p>
        </p:txBody>
      </p:sp>
      <p:sp>
        <p:nvSpPr>
          <p:cNvPr id="247" name="Google Shape;247;p40"/>
          <p:cNvSpPr txBox="1"/>
          <p:nvPr>
            <p:ph idx="1" type="body"/>
          </p:nvPr>
        </p:nvSpPr>
        <p:spPr>
          <a:xfrm>
            <a:off x="311700" y="1225225"/>
            <a:ext cx="8520600" cy="146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Balance "rules"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P likes O, and O likes Q, P likes Q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If P likes O, and O dislikes Q, P dislikes Q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P dislikes O, and O likes Q, P dislikes Q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P dislikes O and O dislikes Q, P likes Q</a:t>
            </a:r>
            <a:endParaRPr/>
          </a:p>
        </p:txBody>
      </p:sp>
      <p:pic>
        <p:nvPicPr>
          <p:cNvPr id="248" name="Google Shape;248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06325" y="2687725"/>
            <a:ext cx="3531340" cy="2027625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40"/>
          <p:cNvSpPr/>
          <p:nvPr/>
        </p:nvSpPr>
        <p:spPr>
          <a:xfrm>
            <a:off x="3681300" y="2687725"/>
            <a:ext cx="766500" cy="676800"/>
          </a:xfrm>
          <a:prstGeom prst="rect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balance theory</a:t>
            </a:r>
            <a:endParaRPr/>
          </a:p>
        </p:txBody>
      </p:sp>
      <p:sp>
        <p:nvSpPr>
          <p:cNvPr id="255" name="Google Shape;255;p41"/>
          <p:cNvSpPr txBox="1"/>
          <p:nvPr>
            <p:ph idx="1" type="body"/>
          </p:nvPr>
        </p:nvSpPr>
        <p:spPr>
          <a:xfrm>
            <a:off x="311700" y="1225225"/>
            <a:ext cx="8520600" cy="146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Balance "rules"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P likes O, and O likes Q, P likes Q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P likes O, and O dislikes Q, P dislikes Q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If P dislikes O, and O likes Q, P dislikes Q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P dislikes O and O dislikes Q, P likes Q</a:t>
            </a:r>
            <a:endParaRPr/>
          </a:p>
        </p:txBody>
      </p:sp>
      <p:pic>
        <p:nvPicPr>
          <p:cNvPr id="256" name="Google Shape;256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06325" y="2687725"/>
            <a:ext cx="3531340" cy="2027625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41"/>
          <p:cNvSpPr/>
          <p:nvPr/>
        </p:nvSpPr>
        <p:spPr>
          <a:xfrm>
            <a:off x="4631100" y="2687725"/>
            <a:ext cx="766500" cy="676800"/>
          </a:xfrm>
          <a:prstGeom prst="rect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balance theory</a:t>
            </a:r>
            <a:endParaRPr/>
          </a:p>
        </p:txBody>
      </p:sp>
      <p:sp>
        <p:nvSpPr>
          <p:cNvPr id="263" name="Google Shape;263;p42"/>
          <p:cNvSpPr txBox="1"/>
          <p:nvPr>
            <p:ph idx="1" type="body"/>
          </p:nvPr>
        </p:nvSpPr>
        <p:spPr>
          <a:xfrm>
            <a:off x="311700" y="1225225"/>
            <a:ext cx="8520600" cy="146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Balance "rules"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P likes O, and O likes Q, P likes Q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P likes O, and O dislikes Q, P dislikes Q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P dislikes O, and O likes Q, P dislikes Q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If P dislikes O and O dislikes Q, P likes Q</a:t>
            </a:r>
            <a:endParaRPr b="1"/>
          </a:p>
        </p:txBody>
      </p:sp>
      <p:pic>
        <p:nvPicPr>
          <p:cNvPr id="264" name="Google Shape;264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06325" y="2687725"/>
            <a:ext cx="3531340" cy="2027625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42"/>
          <p:cNvSpPr/>
          <p:nvPr/>
        </p:nvSpPr>
        <p:spPr>
          <a:xfrm>
            <a:off x="5571175" y="2687725"/>
            <a:ext cx="766500" cy="676800"/>
          </a:xfrm>
          <a:prstGeom prst="rect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balance theory</a:t>
            </a:r>
            <a:endParaRPr/>
          </a:p>
        </p:txBody>
      </p:sp>
      <p:sp>
        <p:nvSpPr>
          <p:cNvPr id="271" name="Google Shape;271;p43"/>
          <p:cNvSpPr txBox="1"/>
          <p:nvPr>
            <p:ph idx="1" type="body"/>
          </p:nvPr>
        </p:nvSpPr>
        <p:spPr>
          <a:xfrm>
            <a:off x="311700" y="1225225"/>
            <a:ext cx="8520600" cy="12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Considering relations of multiple others in relation to the same object can lead to more complex mixtures of balance and imbalance: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“cross-pressure” situation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pSp>
        <p:nvGrpSpPr>
          <p:cNvPr id="272" name="Google Shape;272;p43"/>
          <p:cNvGrpSpPr/>
          <p:nvPr/>
        </p:nvGrpSpPr>
        <p:grpSpPr>
          <a:xfrm>
            <a:off x="2260837" y="2465425"/>
            <a:ext cx="4622334" cy="2286477"/>
            <a:chOff x="2174275" y="2339700"/>
            <a:chExt cx="4795450" cy="2412150"/>
          </a:xfrm>
        </p:grpSpPr>
        <p:grpSp>
          <p:nvGrpSpPr>
            <p:cNvPr id="273" name="Google Shape;273;p43"/>
            <p:cNvGrpSpPr/>
            <p:nvPr/>
          </p:nvGrpSpPr>
          <p:grpSpPr>
            <a:xfrm>
              <a:off x="2174275" y="2465425"/>
              <a:ext cx="4795450" cy="2286425"/>
              <a:chOff x="1788625" y="2465425"/>
              <a:chExt cx="4795450" cy="2286425"/>
            </a:xfrm>
          </p:grpSpPr>
          <p:pic>
            <p:nvPicPr>
              <p:cNvPr id="274" name="Google Shape;274;p43"/>
              <p:cNvPicPr preferRelativeResize="0"/>
              <p:nvPr/>
            </p:nvPicPr>
            <p:blipFill rotWithShape="1">
              <a:blip r:embed="rId3">
                <a:alphaModFix/>
              </a:blip>
              <a:srcRect b="0" l="1786" r="15144" t="0"/>
              <a:stretch/>
            </p:blipFill>
            <p:spPr>
              <a:xfrm>
                <a:off x="1788625" y="2465425"/>
                <a:ext cx="4795450" cy="2286425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275" name="Google Shape;275;p43"/>
              <p:cNvCxnSpPr/>
              <p:nvPr/>
            </p:nvCxnSpPr>
            <p:spPr>
              <a:xfrm>
                <a:off x="4127828" y="2800028"/>
                <a:ext cx="11100" cy="11481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6" name="Google Shape;276;p43"/>
              <p:cNvCxnSpPr/>
              <p:nvPr/>
            </p:nvCxnSpPr>
            <p:spPr>
              <a:xfrm>
                <a:off x="4271696" y="2810112"/>
                <a:ext cx="0" cy="11685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dash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277" name="Google Shape;277;p43"/>
            <p:cNvSpPr txBox="1"/>
            <p:nvPr/>
          </p:nvSpPr>
          <p:spPr>
            <a:xfrm>
              <a:off x="4408725" y="2339700"/>
              <a:ext cx="367500" cy="34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" sz="1700">
                  <a:latin typeface="Impact"/>
                  <a:ea typeface="Impact"/>
                  <a:cs typeface="Impact"/>
                  <a:sym typeface="Impact"/>
                </a:rPr>
                <a:t>Q</a:t>
              </a:r>
              <a:endParaRPr b="1" i="1" sz="1700">
                <a:latin typeface="Impact"/>
                <a:ea typeface="Impact"/>
                <a:cs typeface="Impact"/>
                <a:sym typeface="Impact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balance theory</a:t>
            </a:r>
            <a:endParaRPr/>
          </a:p>
        </p:txBody>
      </p:sp>
      <p:sp>
        <p:nvSpPr>
          <p:cNvPr id="283" name="Google Shape;283;p4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Cartwright and Harary (1956) proved that if all of the triads in a signed value matrix are balanced, then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matrix can be blocked into </a:t>
            </a:r>
            <a:r>
              <a:rPr b="1" lang="en"/>
              <a:t>two mutually exclusive groups</a:t>
            </a:r>
            <a:r>
              <a:rPr lang="en"/>
              <a:t> such that: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All edges with positive weights are within blocks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All edges with negative weights are between blocks.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balance theory</a:t>
            </a:r>
            <a:endParaRPr/>
          </a:p>
        </p:txBody>
      </p:sp>
      <p:sp>
        <p:nvSpPr>
          <p:cNvPr id="289" name="Google Shape;289;p45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This "structural balance" formalizes a key intuition between balance processes at the micro-level and macro-level group structure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Balance seeking </a:t>
            </a:r>
            <a:r>
              <a:rPr lang="en"/>
              <a:t>at the micro-level leads to </a:t>
            </a:r>
            <a:r>
              <a:rPr b="1" lang="en"/>
              <a:t>group polarization</a:t>
            </a:r>
            <a:r>
              <a:rPr lang="en"/>
              <a:t> at the macro-level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balance theory</a:t>
            </a:r>
            <a:endParaRPr/>
          </a:p>
        </p:txBody>
      </p:sp>
      <p:grpSp>
        <p:nvGrpSpPr>
          <p:cNvPr id="295" name="Google Shape;295;p46"/>
          <p:cNvGrpSpPr/>
          <p:nvPr/>
        </p:nvGrpSpPr>
        <p:grpSpPr>
          <a:xfrm>
            <a:off x="352175" y="1147223"/>
            <a:ext cx="8480126" cy="3367100"/>
            <a:chOff x="352175" y="1147223"/>
            <a:chExt cx="8480126" cy="3367100"/>
          </a:xfrm>
        </p:grpSpPr>
        <p:pic>
          <p:nvPicPr>
            <p:cNvPr id="296" name="Google Shape;296;p4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388601" y="1147223"/>
              <a:ext cx="3443700" cy="33671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97" name="Google Shape;297;p46"/>
            <p:cNvGrpSpPr/>
            <p:nvPr/>
          </p:nvGrpSpPr>
          <p:grpSpPr>
            <a:xfrm>
              <a:off x="352175" y="1485176"/>
              <a:ext cx="4556901" cy="2172926"/>
              <a:chOff x="381175" y="1132288"/>
              <a:chExt cx="4556901" cy="2172926"/>
            </a:xfrm>
          </p:grpSpPr>
          <p:sp>
            <p:nvSpPr>
              <p:cNvPr id="298" name="Google Shape;298;p46"/>
              <p:cNvSpPr txBox="1"/>
              <p:nvPr/>
            </p:nvSpPr>
            <p:spPr>
              <a:xfrm>
                <a:off x="381175" y="2941614"/>
                <a:ext cx="1790100" cy="36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P(liberal retweeter)</a:t>
                </a:r>
                <a:endParaRPr/>
              </a:p>
            </p:txBody>
          </p:sp>
          <p:sp>
            <p:nvSpPr>
              <p:cNvPr id="299" name="Google Shape;299;p46"/>
              <p:cNvSpPr txBox="1"/>
              <p:nvPr/>
            </p:nvSpPr>
            <p:spPr>
              <a:xfrm>
                <a:off x="3280276" y="2941614"/>
                <a:ext cx="1657800" cy="36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O(liberal tweeter)</a:t>
                </a:r>
                <a:endParaRPr/>
              </a:p>
            </p:txBody>
          </p:sp>
          <p:sp>
            <p:nvSpPr>
              <p:cNvPr id="300" name="Google Shape;300;p46"/>
              <p:cNvSpPr txBox="1"/>
              <p:nvPr/>
            </p:nvSpPr>
            <p:spPr>
              <a:xfrm>
                <a:off x="1276219" y="1132288"/>
                <a:ext cx="2564100" cy="36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Q(liberal tweet)</a:t>
                </a:r>
                <a:endParaRPr/>
              </a:p>
            </p:txBody>
          </p:sp>
        </p:grpSp>
      </p:grpSp>
      <p:cxnSp>
        <p:nvCxnSpPr>
          <p:cNvPr id="301" name="Google Shape;301;p46"/>
          <p:cNvCxnSpPr>
            <a:stCxn id="298" idx="3"/>
            <a:endCxn id="299" idx="1"/>
          </p:cNvCxnSpPr>
          <p:nvPr/>
        </p:nvCxnSpPr>
        <p:spPr>
          <a:xfrm>
            <a:off x="2142275" y="3476302"/>
            <a:ext cx="1109100" cy="0"/>
          </a:xfrm>
          <a:prstGeom prst="straightConnector1">
            <a:avLst/>
          </a:prstGeom>
          <a:noFill/>
          <a:ln cap="flat" cmpd="sng" w="28575">
            <a:solidFill>
              <a:srgbClr val="5B595A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2" name="Google Shape;302;p46"/>
          <p:cNvCxnSpPr>
            <a:stCxn id="298" idx="0"/>
            <a:endCxn id="300" idx="2"/>
          </p:cNvCxnSpPr>
          <p:nvPr/>
        </p:nvCxnSpPr>
        <p:spPr>
          <a:xfrm flipH="1" rot="10800000">
            <a:off x="1247225" y="1848802"/>
            <a:ext cx="1281900" cy="1445700"/>
          </a:xfrm>
          <a:prstGeom prst="straightConnector1">
            <a:avLst/>
          </a:prstGeom>
          <a:noFill/>
          <a:ln cap="flat" cmpd="sng" w="28575">
            <a:solidFill>
              <a:srgbClr val="5B595A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3" name="Google Shape;303;p46"/>
          <p:cNvCxnSpPr>
            <a:stCxn id="299" idx="0"/>
            <a:endCxn id="300" idx="2"/>
          </p:cNvCxnSpPr>
          <p:nvPr/>
        </p:nvCxnSpPr>
        <p:spPr>
          <a:xfrm rot="10800000">
            <a:off x="2529176" y="1848802"/>
            <a:ext cx="1551000" cy="1445700"/>
          </a:xfrm>
          <a:prstGeom prst="straightConnector1">
            <a:avLst/>
          </a:prstGeom>
          <a:noFill/>
          <a:ln cap="flat" cmpd="sng" w="28575">
            <a:solidFill>
              <a:srgbClr val="5B595A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Causes</a:t>
            </a:r>
            <a:r>
              <a:rPr lang="en"/>
              <a:t> of transitivity</a:t>
            </a:r>
            <a:endParaRPr/>
          </a:p>
        </p:txBody>
      </p:sp>
      <p:sp>
        <p:nvSpPr>
          <p:cNvPr id="309" name="Google Shape;309;p47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Balance theory</a:t>
            </a:r>
            <a:r>
              <a:rPr lang="en"/>
              <a:t> is concerned with the </a:t>
            </a:r>
            <a:r>
              <a:rPr b="1" lang="en"/>
              <a:t>origins</a:t>
            </a:r>
            <a:r>
              <a:rPr lang="en"/>
              <a:t> not the </a:t>
            </a:r>
            <a:r>
              <a:rPr b="1" lang="en"/>
              <a:t>consequences </a:t>
            </a:r>
            <a:r>
              <a:rPr lang="en"/>
              <a:t>of transitivity </a:t>
            </a:r>
            <a:endParaRPr/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○"/>
            </a:pPr>
            <a:r>
              <a:rPr lang="en"/>
              <a:t>Cognitive or emotional pressures on a focal person</a:t>
            </a:r>
            <a:endParaRPr/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○"/>
            </a:pPr>
            <a:r>
              <a:rPr lang="en"/>
              <a:t>A likes B and A likes C, so B and C like each other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sociological theory of foci (Feld) relies on a completely contextual mechanism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meets both B and C because all three participate in same common activity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Granovetter’s SWT theory relies on the “strength” mechanism: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A and B have a strong tie and B and C also have a strong tie it is likely the A and C will have at least a weak tie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48"/>
          <p:cNvSpPr/>
          <p:nvPr/>
        </p:nvSpPr>
        <p:spPr>
          <a:xfrm>
            <a:off x="595738" y="3938900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15" name="Google Shape;315;p48"/>
          <p:cNvCxnSpPr>
            <a:stCxn id="314" idx="7"/>
            <a:endCxn id="316" idx="2"/>
          </p:cNvCxnSpPr>
          <p:nvPr/>
        </p:nvCxnSpPr>
        <p:spPr>
          <a:xfrm flipH="1" rot="10800000">
            <a:off x="868192" y="3611784"/>
            <a:ext cx="1098000" cy="369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7" name="Google Shape;317;p48"/>
          <p:cNvCxnSpPr>
            <a:stCxn id="314" idx="5"/>
            <a:endCxn id="318" idx="2"/>
          </p:cNvCxnSpPr>
          <p:nvPr/>
        </p:nvCxnSpPr>
        <p:spPr>
          <a:xfrm>
            <a:off x="868192" y="4186516"/>
            <a:ext cx="1098000" cy="332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6" name="Google Shape;316;p48"/>
          <p:cNvSpPr/>
          <p:nvPr/>
        </p:nvSpPr>
        <p:spPr>
          <a:xfrm>
            <a:off x="1966338" y="3466650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48"/>
          <p:cNvSpPr/>
          <p:nvPr/>
        </p:nvSpPr>
        <p:spPr>
          <a:xfrm>
            <a:off x="1966338" y="4374200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48"/>
          <p:cNvSpPr/>
          <p:nvPr/>
        </p:nvSpPr>
        <p:spPr>
          <a:xfrm>
            <a:off x="6858463" y="3957375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20" name="Google Shape;320;p48"/>
          <p:cNvCxnSpPr>
            <a:stCxn id="319" idx="7"/>
            <a:endCxn id="321" idx="2"/>
          </p:cNvCxnSpPr>
          <p:nvPr/>
        </p:nvCxnSpPr>
        <p:spPr>
          <a:xfrm flipH="1" rot="10800000">
            <a:off x="7130917" y="3630259"/>
            <a:ext cx="1098000" cy="369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2" name="Google Shape;322;p48"/>
          <p:cNvCxnSpPr>
            <a:stCxn id="319" idx="5"/>
            <a:endCxn id="323" idx="2"/>
          </p:cNvCxnSpPr>
          <p:nvPr/>
        </p:nvCxnSpPr>
        <p:spPr>
          <a:xfrm>
            <a:off x="7130917" y="4204991"/>
            <a:ext cx="1098000" cy="332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1" name="Google Shape;321;p48"/>
          <p:cNvSpPr/>
          <p:nvPr/>
        </p:nvSpPr>
        <p:spPr>
          <a:xfrm>
            <a:off x="8229063" y="3485125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48"/>
          <p:cNvSpPr/>
          <p:nvPr/>
        </p:nvSpPr>
        <p:spPr>
          <a:xfrm>
            <a:off x="8229063" y="4392675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24" name="Google Shape;324;p48"/>
          <p:cNvCxnSpPr>
            <a:stCxn id="323" idx="0"/>
            <a:endCxn id="321" idx="4"/>
          </p:cNvCxnSpPr>
          <p:nvPr/>
        </p:nvCxnSpPr>
        <p:spPr>
          <a:xfrm rot="10800000">
            <a:off x="8388663" y="3775275"/>
            <a:ext cx="0" cy="617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5" name="Google Shape;325;p48"/>
          <p:cNvSpPr/>
          <p:nvPr/>
        </p:nvSpPr>
        <p:spPr>
          <a:xfrm>
            <a:off x="3832725" y="4021750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26" name="Google Shape;326;p48"/>
          <p:cNvCxnSpPr>
            <a:stCxn id="325" idx="7"/>
            <a:endCxn id="327" idx="2"/>
          </p:cNvCxnSpPr>
          <p:nvPr/>
        </p:nvCxnSpPr>
        <p:spPr>
          <a:xfrm flipH="1" rot="10800000">
            <a:off x="4105179" y="3694634"/>
            <a:ext cx="1098000" cy="369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8" name="Google Shape;328;p48"/>
          <p:cNvCxnSpPr>
            <a:stCxn id="325" idx="5"/>
            <a:endCxn id="329" idx="2"/>
          </p:cNvCxnSpPr>
          <p:nvPr/>
        </p:nvCxnSpPr>
        <p:spPr>
          <a:xfrm>
            <a:off x="4105179" y="4269366"/>
            <a:ext cx="1098000" cy="332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7" name="Google Shape;327;p48"/>
          <p:cNvSpPr/>
          <p:nvPr/>
        </p:nvSpPr>
        <p:spPr>
          <a:xfrm>
            <a:off x="5203325" y="3549500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48"/>
          <p:cNvSpPr/>
          <p:nvPr/>
        </p:nvSpPr>
        <p:spPr>
          <a:xfrm>
            <a:off x="5203325" y="4457050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48"/>
          <p:cNvSpPr/>
          <p:nvPr/>
        </p:nvSpPr>
        <p:spPr>
          <a:xfrm>
            <a:off x="3302113" y="2845975"/>
            <a:ext cx="1392300" cy="4641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Psychological Pressure</a:t>
            </a:r>
            <a:endParaRPr/>
          </a:p>
        </p:txBody>
      </p:sp>
      <p:cxnSp>
        <p:nvCxnSpPr>
          <p:cNvPr id="331" name="Google Shape;331;p48"/>
          <p:cNvCxnSpPr>
            <a:stCxn id="330" idx="2"/>
            <a:endCxn id="325" idx="0"/>
          </p:cNvCxnSpPr>
          <p:nvPr/>
        </p:nvCxnSpPr>
        <p:spPr>
          <a:xfrm flipH="1">
            <a:off x="3992263" y="3310075"/>
            <a:ext cx="6000" cy="711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2" name="Google Shape;332;p48"/>
          <p:cNvSpPr/>
          <p:nvPr/>
        </p:nvSpPr>
        <p:spPr>
          <a:xfrm>
            <a:off x="2842338" y="4000450"/>
            <a:ext cx="386700" cy="332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48"/>
          <p:cNvSpPr/>
          <p:nvPr/>
        </p:nvSpPr>
        <p:spPr>
          <a:xfrm>
            <a:off x="6079338" y="4000450"/>
            <a:ext cx="386700" cy="332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4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Causes of transitivity</a:t>
            </a:r>
            <a:endParaRPr/>
          </a:p>
        </p:txBody>
      </p:sp>
      <p:sp>
        <p:nvSpPr>
          <p:cNvPr id="335" name="Google Shape;335;p48"/>
          <p:cNvSpPr txBox="1"/>
          <p:nvPr>
            <p:ph idx="1" type="body"/>
          </p:nvPr>
        </p:nvSpPr>
        <p:spPr>
          <a:xfrm>
            <a:off x="311700" y="1225225"/>
            <a:ext cx="8520600" cy="1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Heider’s </a:t>
            </a:r>
            <a:r>
              <a:rPr lang="en"/>
              <a:t>Balance theory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Unbalanced triad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Ego feels psychological pressure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Ego relieves pressure by closing the open triangle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Mechanism: Ego-driven link formation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Causes of transitivity</a:t>
            </a:r>
            <a:endParaRPr/>
          </a:p>
        </p:txBody>
      </p:sp>
      <p:sp>
        <p:nvSpPr>
          <p:cNvPr id="341" name="Google Shape;341;p49"/>
          <p:cNvSpPr txBox="1"/>
          <p:nvPr>
            <p:ph idx="1" type="body"/>
          </p:nvPr>
        </p:nvSpPr>
        <p:spPr>
          <a:xfrm>
            <a:off x="311700" y="1225225"/>
            <a:ext cx="8520600" cy="1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Feld’s </a:t>
            </a:r>
            <a:r>
              <a:rPr lang="en"/>
              <a:t>Focus theory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Empty triad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Actors participates in common focus/joint activity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Closed triad (3-clique)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Mechanism: Context-driven link formation</a:t>
            </a:r>
            <a:endParaRPr/>
          </a:p>
        </p:txBody>
      </p:sp>
      <p:sp>
        <p:nvSpPr>
          <p:cNvPr id="342" name="Google Shape;342;p49"/>
          <p:cNvSpPr/>
          <p:nvPr/>
        </p:nvSpPr>
        <p:spPr>
          <a:xfrm>
            <a:off x="595738" y="3938900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49"/>
          <p:cNvSpPr/>
          <p:nvPr/>
        </p:nvSpPr>
        <p:spPr>
          <a:xfrm>
            <a:off x="1966338" y="3466650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49"/>
          <p:cNvSpPr/>
          <p:nvPr/>
        </p:nvSpPr>
        <p:spPr>
          <a:xfrm>
            <a:off x="1966338" y="4374200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49"/>
          <p:cNvSpPr/>
          <p:nvPr/>
        </p:nvSpPr>
        <p:spPr>
          <a:xfrm>
            <a:off x="6858463" y="3957375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46" name="Google Shape;346;p49"/>
          <p:cNvCxnSpPr>
            <a:stCxn id="345" idx="7"/>
            <a:endCxn id="347" idx="2"/>
          </p:cNvCxnSpPr>
          <p:nvPr/>
        </p:nvCxnSpPr>
        <p:spPr>
          <a:xfrm flipH="1" rot="10800000">
            <a:off x="7130917" y="3630259"/>
            <a:ext cx="1098000" cy="369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8" name="Google Shape;348;p49"/>
          <p:cNvCxnSpPr>
            <a:stCxn id="345" idx="5"/>
            <a:endCxn id="349" idx="2"/>
          </p:cNvCxnSpPr>
          <p:nvPr/>
        </p:nvCxnSpPr>
        <p:spPr>
          <a:xfrm>
            <a:off x="7130917" y="4204991"/>
            <a:ext cx="1098000" cy="332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7" name="Google Shape;347;p49"/>
          <p:cNvSpPr/>
          <p:nvPr/>
        </p:nvSpPr>
        <p:spPr>
          <a:xfrm>
            <a:off x="8229063" y="3485125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49"/>
          <p:cNvSpPr/>
          <p:nvPr/>
        </p:nvSpPr>
        <p:spPr>
          <a:xfrm>
            <a:off x="8229063" y="4392675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50" name="Google Shape;350;p49"/>
          <p:cNvCxnSpPr>
            <a:stCxn id="349" idx="0"/>
            <a:endCxn id="347" idx="4"/>
          </p:cNvCxnSpPr>
          <p:nvPr/>
        </p:nvCxnSpPr>
        <p:spPr>
          <a:xfrm rot="10800000">
            <a:off x="8388663" y="3775275"/>
            <a:ext cx="0" cy="617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1" name="Google Shape;351;p49"/>
          <p:cNvSpPr/>
          <p:nvPr/>
        </p:nvSpPr>
        <p:spPr>
          <a:xfrm>
            <a:off x="3832725" y="4021750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49"/>
          <p:cNvSpPr/>
          <p:nvPr/>
        </p:nvSpPr>
        <p:spPr>
          <a:xfrm>
            <a:off x="5203325" y="3549500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49"/>
          <p:cNvSpPr/>
          <p:nvPr/>
        </p:nvSpPr>
        <p:spPr>
          <a:xfrm>
            <a:off x="5203325" y="4457050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49"/>
          <p:cNvSpPr/>
          <p:nvPr/>
        </p:nvSpPr>
        <p:spPr>
          <a:xfrm>
            <a:off x="3302113" y="2845975"/>
            <a:ext cx="1392300" cy="4641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Common Focus</a:t>
            </a:r>
            <a:endParaRPr/>
          </a:p>
        </p:txBody>
      </p:sp>
      <p:cxnSp>
        <p:nvCxnSpPr>
          <p:cNvPr id="355" name="Google Shape;355;p49"/>
          <p:cNvCxnSpPr>
            <a:stCxn id="354" idx="2"/>
            <a:endCxn id="351" idx="0"/>
          </p:cNvCxnSpPr>
          <p:nvPr/>
        </p:nvCxnSpPr>
        <p:spPr>
          <a:xfrm flipH="1">
            <a:off x="3992263" y="3310075"/>
            <a:ext cx="6000" cy="711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56" name="Google Shape;356;p49"/>
          <p:cNvSpPr/>
          <p:nvPr/>
        </p:nvSpPr>
        <p:spPr>
          <a:xfrm>
            <a:off x="2842338" y="4000450"/>
            <a:ext cx="386700" cy="332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49"/>
          <p:cNvSpPr/>
          <p:nvPr/>
        </p:nvSpPr>
        <p:spPr>
          <a:xfrm>
            <a:off x="6079338" y="4000450"/>
            <a:ext cx="386700" cy="332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58" name="Google Shape;358;p49"/>
          <p:cNvCxnSpPr>
            <a:stCxn id="354" idx="2"/>
            <a:endCxn id="352" idx="1"/>
          </p:cNvCxnSpPr>
          <p:nvPr/>
        </p:nvCxnSpPr>
        <p:spPr>
          <a:xfrm>
            <a:off x="3998263" y="3310075"/>
            <a:ext cx="1251900" cy="282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9" name="Google Shape;359;p49"/>
          <p:cNvCxnSpPr>
            <a:stCxn id="354" idx="2"/>
            <a:endCxn id="353" idx="1"/>
          </p:cNvCxnSpPr>
          <p:nvPr/>
        </p:nvCxnSpPr>
        <p:spPr>
          <a:xfrm>
            <a:off x="3998263" y="3310075"/>
            <a:ext cx="1251900" cy="1189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5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Causes of transitivity</a:t>
            </a:r>
            <a:endParaRPr/>
          </a:p>
        </p:txBody>
      </p:sp>
      <p:sp>
        <p:nvSpPr>
          <p:cNvPr id="365" name="Google Shape;365;p50"/>
          <p:cNvSpPr txBox="1"/>
          <p:nvPr>
            <p:ph idx="1" type="body"/>
          </p:nvPr>
        </p:nvSpPr>
        <p:spPr>
          <a:xfrm>
            <a:off x="311700" y="1225225"/>
            <a:ext cx="8520600" cy="1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Granovetter’s </a:t>
            </a:r>
            <a:r>
              <a:rPr lang="en"/>
              <a:t>SWT theory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Unbalanced triad with either strong or weak links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Depending on strength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Triad will either close or remain open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Mechanism: </a:t>
            </a:r>
            <a:r>
              <a:rPr lang="en"/>
              <a:t>Strength-driven link formation</a:t>
            </a:r>
            <a:endParaRPr/>
          </a:p>
        </p:txBody>
      </p:sp>
      <p:sp>
        <p:nvSpPr>
          <p:cNvPr id="366" name="Google Shape;366;p50"/>
          <p:cNvSpPr/>
          <p:nvPr/>
        </p:nvSpPr>
        <p:spPr>
          <a:xfrm>
            <a:off x="595738" y="3938900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50"/>
          <p:cNvSpPr/>
          <p:nvPr/>
        </p:nvSpPr>
        <p:spPr>
          <a:xfrm>
            <a:off x="1966338" y="3466650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50"/>
          <p:cNvSpPr/>
          <p:nvPr/>
        </p:nvSpPr>
        <p:spPr>
          <a:xfrm>
            <a:off x="1966338" y="4374200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50"/>
          <p:cNvSpPr/>
          <p:nvPr/>
        </p:nvSpPr>
        <p:spPr>
          <a:xfrm>
            <a:off x="6858463" y="3957375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70" name="Google Shape;370;p50"/>
          <p:cNvCxnSpPr>
            <a:stCxn id="369" idx="7"/>
            <a:endCxn id="371" idx="2"/>
          </p:cNvCxnSpPr>
          <p:nvPr/>
        </p:nvCxnSpPr>
        <p:spPr>
          <a:xfrm flipH="1" rot="10800000">
            <a:off x="7130917" y="3630259"/>
            <a:ext cx="1098000" cy="369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2" name="Google Shape;372;p50"/>
          <p:cNvCxnSpPr>
            <a:stCxn id="369" idx="5"/>
            <a:endCxn id="373" idx="2"/>
          </p:cNvCxnSpPr>
          <p:nvPr/>
        </p:nvCxnSpPr>
        <p:spPr>
          <a:xfrm>
            <a:off x="7130917" y="4204991"/>
            <a:ext cx="1098000" cy="3327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1" name="Google Shape;371;p50"/>
          <p:cNvSpPr/>
          <p:nvPr/>
        </p:nvSpPr>
        <p:spPr>
          <a:xfrm>
            <a:off x="8229063" y="3485125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50"/>
          <p:cNvSpPr/>
          <p:nvPr/>
        </p:nvSpPr>
        <p:spPr>
          <a:xfrm>
            <a:off x="8229063" y="4392675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74" name="Google Shape;374;p50"/>
          <p:cNvCxnSpPr>
            <a:stCxn id="373" idx="0"/>
            <a:endCxn id="371" idx="4"/>
          </p:cNvCxnSpPr>
          <p:nvPr/>
        </p:nvCxnSpPr>
        <p:spPr>
          <a:xfrm rot="10800000">
            <a:off x="8388663" y="3775275"/>
            <a:ext cx="0" cy="617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75" name="Google Shape;375;p50"/>
          <p:cNvSpPr/>
          <p:nvPr/>
        </p:nvSpPr>
        <p:spPr>
          <a:xfrm>
            <a:off x="3832725" y="4021750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50"/>
          <p:cNvSpPr/>
          <p:nvPr/>
        </p:nvSpPr>
        <p:spPr>
          <a:xfrm>
            <a:off x="5203325" y="3549500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50"/>
          <p:cNvSpPr/>
          <p:nvPr/>
        </p:nvSpPr>
        <p:spPr>
          <a:xfrm>
            <a:off x="5203325" y="4457050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50"/>
          <p:cNvSpPr/>
          <p:nvPr/>
        </p:nvSpPr>
        <p:spPr>
          <a:xfrm>
            <a:off x="3302113" y="2845975"/>
            <a:ext cx="1392300" cy="4641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Strength Effect?</a:t>
            </a:r>
            <a:endParaRPr/>
          </a:p>
        </p:txBody>
      </p:sp>
      <p:cxnSp>
        <p:nvCxnSpPr>
          <p:cNvPr id="379" name="Google Shape;379;p50"/>
          <p:cNvCxnSpPr>
            <a:stCxn id="378" idx="2"/>
          </p:cNvCxnSpPr>
          <p:nvPr/>
        </p:nvCxnSpPr>
        <p:spPr>
          <a:xfrm>
            <a:off x="3998263" y="3310075"/>
            <a:ext cx="613500" cy="574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80" name="Google Shape;380;p50"/>
          <p:cNvSpPr/>
          <p:nvPr/>
        </p:nvSpPr>
        <p:spPr>
          <a:xfrm>
            <a:off x="2842338" y="4000450"/>
            <a:ext cx="386700" cy="332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50"/>
          <p:cNvSpPr/>
          <p:nvPr/>
        </p:nvSpPr>
        <p:spPr>
          <a:xfrm>
            <a:off x="6079338" y="4000450"/>
            <a:ext cx="386700" cy="332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2" name="Google Shape;382;p50"/>
          <p:cNvCxnSpPr>
            <a:stCxn id="378" idx="2"/>
          </p:cNvCxnSpPr>
          <p:nvPr/>
        </p:nvCxnSpPr>
        <p:spPr>
          <a:xfrm>
            <a:off x="3998263" y="3310075"/>
            <a:ext cx="748800" cy="1145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3" name="Google Shape;383;p50"/>
          <p:cNvCxnSpPr>
            <a:stCxn id="366" idx="7"/>
            <a:endCxn id="367" idx="2"/>
          </p:cNvCxnSpPr>
          <p:nvPr/>
        </p:nvCxnSpPr>
        <p:spPr>
          <a:xfrm flipH="1" rot="10800000">
            <a:off x="868192" y="3611784"/>
            <a:ext cx="1098000" cy="369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4" name="Google Shape;384;p50"/>
          <p:cNvCxnSpPr>
            <a:stCxn id="366" idx="5"/>
            <a:endCxn id="368" idx="2"/>
          </p:cNvCxnSpPr>
          <p:nvPr/>
        </p:nvCxnSpPr>
        <p:spPr>
          <a:xfrm>
            <a:off x="868192" y="4186516"/>
            <a:ext cx="1098000" cy="3327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5" name="Google Shape;385;p50"/>
          <p:cNvCxnSpPr>
            <a:stCxn id="375" idx="7"/>
            <a:endCxn id="376" idx="2"/>
          </p:cNvCxnSpPr>
          <p:nvPr/>
        </p:nvCxnSpPr>
        <p:spPr>
          <a:xfrm flipH="1" rot="10800000">
            <a:off x="4105179" y="3694634"/>
            <a:ext cx="1098000" cy="369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6" name="Google Shape;386;p50"/>
          <p:cNvCxnSpPr>
            <a:stCxn id="375" idx="5"/>
            <a:endCxn id="377" idx="2"/>
          </p:cNvCxnSpPr>
          <p:nvPr/>
        </p:nvCxnSpPr>
        <p:spPr>
          <a:xfrm>
            <a:off x="4105179" y="4269366"/>
            <a:ext cx="1098000" cy="3327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5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Causes of transitivity</a:t>
            </a:r>
            <a:endParaRPr/>
          </a:p>
        </p:txBody>
      </p:sp>
      <p:sp>
        <p:nvSpPr>
          <p:cNvPr id="392" name="Google Shape;392;p51"/>
          <p:cNvSpPr txBox="1"/>
          <p:nvPr>
            <p:ph idx="1" type="body"/>
          </p:nvPr>
        </p:nvSpPr>
        <p:spPr>
          <a:xfrm>
            <a:off x="311700" y="1225225"/>
            <a:ext cx="8520600" cy="1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Granovetter’s SWT theory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Unbalanced triad with either strong or weak links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Depending on strength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Triad will either close or remain open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Mechanism: Strength-driven link formation</a:t>
            </a:r>
            <a:endParaRPr/>
          </a:p>
        </p:txBody>
      </p:sp>
      <p:sp>
        <p:nvSpPr>
          <p:cNvPr id="393" name="Google Shape;393;p51"/>
          <p:cNvSpPr/>
          <p:nvPr/>
        </p:nvSpPr>
        <p:spPr>
          <a:xfrm>
            <a:off x="595738" y="3938900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51"/>
          <p:cNvSpPr/>
          <p:nvPr/>
        </p:nvSpPr>
        <p:spPr>
          <a:xfrm>
            <a:off x="1966338" y="3466650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51"/>
          <p:cNvSpPr/>
          <p:nvPr/>
        </p:nvSpPr>
        <p:spPr>
          <a:xfrm>
            <a:off x="1966338" y="4374200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51"/>
          <p:cNvSpPr/>
          <p:nvPr/>
        </p:nvSpPr>
        <p:spPr>
          <a:xfrm>
            <a:off x="6858463" y="3957375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97" name="Google Shape;397;p51"/>
          <p:cNvCxnSpPr>
            <a:stCxn id="396" idx="7"/>
            <a:endCxn id="398" idx="2"/>
          </p:cNvCxnSpPr>
          <p:nvPr/>
        </p:nvCxnSpPr>
        <p:spPr>
          <a:xfrm flipH="1" rot="10800000">
            <a:off x="7130917" y="3630259"/>
            <a:ext cx="1098000" cy="369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99" name="Google Shape;399;p51"/>
          <p:cNvCxnSpPr>
            <a:stCxn id="396" idx="5"/>
            <a:endCxn id="400" idx="2"/>
          </p:cNvCxnSpPr>
          <p:nvPr/>
        </p:nvCxnSpPr>
        <p:spPr>
          <a:xfrm>
            <a:off x="7130917" y="4204991"/>
            <a:ext cx="1098000" cy="332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98" name="Google Shape;398;p51"/>
          <p:cNvSpPr/>
          <p:nvPr/>
        </p:nvSpPr>
        <p:spPr>
          <a:xfrm>
            <a:off x="8229063" y="3485125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51"/>
          <p:cNvSpPr/>
          <p:nvPr/>
        </p:nvSpPr>
        <p:spPr>
          <a:xfrm>
            <a:off x="8229063" y="4392675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51"/>
          <p:cNvSpPr/>
          <p:nvPr/>
        </p:nvSpPr>
        <p:spPr>
          <a:xfrm>
            <a:off x="3832725" y="4021750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51"/>
          <p:cNvSpPr/>
          <p:nvPr/>
        </p:nvSpPr>
        <p:spPr>
          <a:xfrm>
            <a:off x="5203325" y="3549500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51"/>
          <p:cNvSpPr/>
          <p:nvPr/>
        </p:nvSpPr>
        <p:spPr>
          <a:xfrm>
            <a:off x="5203325" y="4457050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51"/>
          <p:cNvSpPr/>
          <p:nvPr/>
        </p:nvSpPr>
        <p:spPr>
          <a:xfrm>
            <a:off x="3302113" y="2845975"/>
            <a:ext cx="1392300" cy="4641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 Strength Effect?</a:t>
            </a:r>
            <a:endParaRPr/>
          </a:p>
        </p:txBody>
      </p:sp>
      <p:cxnSp>
        <p:nvCxnSpPr>
          <p:cNvPr id="405" name="Google Shape;405;p51"/>
          <p:cNvCxnSpPr>
            <a:stCxn id="404" idx="2"/>
          </p:cNvCxnSpPr>
          <p:nvPr/>
        </p:nvCxnSpPr>
        <p:spPr>
          <a:xfrm>
            <a:off x="3998263" y="3310075"/>
            <a:ext cx="613500" cy="574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06" name="Google Shape;406;p51"/>
          <p:cNvSpPr/>
          <p:nvPr/>
        </p:nvSpPr>
        <p:spPr>
          <a:xfrm>
            <a:off x="2842338" y="4000450"/>
            <a:ext cx="386700" cy="332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51"/>
          <p:cNvSpPr/>
          <p:nvPr/>
        </p:nvSpPr>
        <p:spPr>
          <a:xfrm>
            <a:off x="6079338" y="4000450"/>
            <a:ext cx="386700" cy="332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8" name="Google Shape;408;p51"/>
          <p:cNvCxnSpPr>
            <a:stCxn id="404" idx="2"/>
          </p:cNvCxnSpPr>
          <p:nvPr/>
        </p:nvCxnSpPr>
        <p:spPr>
          <a:xfrm>
            <a:off x="3998263" y="3310075"/>
            <a:ext cx="748800" cy="1145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9" name="Google Shape;409;p51"/>
          <p:cNvCxnSpPr>
            <a:stCxn id="393" idx="7"/>
            <a:endCxn id="394" idx="2"/>
          </p:cNvCxnSpPr>
          <p:nvPr/>
        </p:nvCxnSpPr>
        <p:spPr>
          <a:xfrm flipH="1" rot="10800000">
            <a:off x="868192" y="3611784"/>
            <a:ext cx="1098000" cy="369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10" name="Google Shape;410;p51"/>
          <p:cNvCxnSpPr>
            <a:stCxn id="393" idx="5"/>
            <a:endCxn id="395" idx="2"/>
          </p:cNvCxnSpPr>
          <p:nvPr/>
        </p:nvCxnSpPr>
        <p:spPr>
          <a:xfrm>
            <a:off x="868192" y="4186516"/>
            <a:ext cx="1098000" cy="332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11" name="Google Shape;411;p51"/>
          <p:cNvCxnSpPr>
            <a:stCxn id="401" idx="7"/>
            <a:endCxn id="402" idx="2"/>
          </p:cNvCxnSpPr>
          <p:nvPr/>
        </p:nvCxnSpPr>
        <p:spPr>
          <a:xfrm flipH="1" rot="10800000">
            <a:off x="4105179" y="3694634"/>
            <a:ext cx="1098000" cy="369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12" name="Google Shape;412;p51"/>
          <p:cNvCxnSpPr>
            <a:stCxn id="401" idx="5"/>
            <a:endCxn id="403" idx="2"/>
          </p:cNvCxnSpPr>
          <p:nvPr/>
        </p:nvCxnSpPr>
        <p:spPr>
          <a:xfrm>
            <a:off x="4105179" y="4269366"/>
            <a:ext cx="1098000" cy="332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52"/>
          <p:cNvSpPr/>
          <p:nvPr/>
        </p:nvSpPr>
        <p:spPr>
          <a:xfrm>
            <a:off x="3702925" y="3449625"/>
            <a:ext cx="2020500" cy="14019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5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Causes of transitivity</a:t>
            </a:r>
            <a:endParaRPr/>
          </a:p>
        </p:txBody>
      </p:sp>
      <p:sp>
        <p:nvSpPr>
          <p:cNvPr id="419" name="Google Shape;419;p52"/>
          <p:cNvSpPr txBox="1"/>
          <p:nvPr>
            <p:ph idx="1" type="body"/>
          </p:nvPr>
        </p:nvSpPr>
        <p:spPr>
          <a:xfrm>
            <a:off x="311700" y="1225225"/>
            <a:ext cx="8520600" cy="222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Open</a:t>
            </a:r>
            <a:r>
              <a:rPr lang="en"/>
              <a:t> questions: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Are psychological “pressures” towards balance enough?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Do triads always require a </a:t>
            </a:r>
            <a:r>
              <a:rPr b="1" lang="en"/>
              <a:t>common focus of activity</a:t>
            </a:r>
            <a:r>
              <a:rPr lang="en"/>
              <a:t> to remain “closed”?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Is strength a </a:t>
            </a:r>
            <a:r>
              <a:rPr b="1" lang="en"/>
              <a:t>determinant</a:t>
            </a:r>
            <a:r>
              <a:rPr lang="en"/>
              <a:t> or a </a:t>
            </a:r>
            <a:r>
              <a:rPr b="1" lang="en"/>
              <a:t>consequence</a:t>
            </a:r>
            <a:r>
              <a:rPr lang="en"/>
              <a:t> of triadic structure?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Krackhardt’s Simmelian tie theory: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Incorporates insights from SWT but abandons pure ego or dyad-driven mechanisms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Conceptualizes the triad as its own special focus of activity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Triads have “top-down” effects on the dyads that compose them</a:t>
            </a:r>
            <a:endParaRPr/>
          </a:p>
        </p:txBody>
      </p:sp>
      <p:sp>
        <p:nvSpPr>
          <p:cNvPr id="420" name="Google Shape;420;p52"/>
          <p:cNvSpPr/>
          <p:nvPr/>
        </p:nvSpPr>
        <p:spPr>
          <a:xfrm>
            <a:off x="595738" y="3938900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21" name="Google Shape;421;p52"/>
          <p:cNvCxnSpPr>
            <a:stCxn id="420" idx="7"/>
            <a:endCxn id="422" idx="2"/>
          </p:cNvCxnSpPr>
          <p:nvPr/>
        </p:nvCxnSpPr>
        <p:spPr>
          <a:xfrm flipH="1" rot="10800000">
            <a:off x="868192" y="3611784"/>
            <a:ext cx="1098000" cy="369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3" name="Google Shape;423;p52"/>
          <p:cNvCxnSpPr>
            <a:stCxn id="420" idx="5"/>
            <a:endCxn id="424" idx="2"/>
          </p:cNvCxnSpPr>
          <p:nvPr/>
        </p:nvCxnSpPr>
        <p:spPr>
          <a:xfrm>
            <a:off x="868192" y="4186516"/>
            <a:ext cx="1098000" cy="332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2" name="Google Shape;422;p52"/>
          <p:cNvSpPr/>
          <p:nvPr/>
        </p:nvSpPr>
        <p:spPr>
          <a:xfrm>
            <a:off x="1966338" y="3466650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52"/>
          <p:cNvSpPr/>
          <p:nvPr/>
        </p:nvSpPr>
        <p:spPr>
          <a:xfrm>
            <a:off x="1966338" y="4374200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52"/>
          <p:cNvSpPr/>
          <p:nvPr/>
        </p:nvSpPr>
        <p:spPr>
          <a:xfrm>
            <a:off x="6858463" y="3957375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26" name="Google Shape;426;p52"/>
          <p:cNvCxnSpPr>
            <a:stCxn id="425" idx="7"/>
            <a:endCxn id="427" idx="2"/>
          </p:cNvCxnSpPr>
          <p:nvPr/>
        </p:nvCxnSpPr>
        <p:spPr>
          <a:xfrm flipH="1" rot="10800000">
            <a:off x="7130917" y="3630259"/>
            <a:ext cx="1098000" cy="369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8" name="Google Shape;428;p52"/>
          <p:cNvCxnSpPr>
            <a:stCxn id="425" idx="5"/>
            <a:endCxn id="429" idx="2"/>
          </p:cNvCxnSpPr>
          <p:nvPr/>
        </p:nvCxnSpPr>
        <p:spPr>
          <a:xfrm>
            <a:off x="7130917" y="4204991"/>
            <a:ext cx="1098000" cy="3327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7" name="Google Shape;427;p52"/>
          <p:cNvSpPr/>
          <p:nvPr/>
        </p:nvSpPr>
        <p:spPr>
          <a:xfrm>
            <a:off x="8229063" y="3485125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52"/>
          <p:cNvSpPr/>
          <p:nvPr/>
        </p:nvSpPr>
        <p:spPr>
          <a:xfrm>
            <a:off x="8229063" y="4392675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0" name="Google Shape;430;p52"/>
          <p:cNvCxnSpPr>
            <a:stCxn id="429" idx="0"/>
            <a:endCxn id="427" idx="4"/>
          </p:cNvCxnSpPr>
          <p:nvPr/>
        </p:nvCxnSpPr>
        <p:spPr>
          <a:xfrm rot="10800000">
            <a:off x="8388663" y="3775275"/>
            <a:ext cx="0" cy="6174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1" name="Google Shape;431;p52"/>
          <p:cNvSpPr/>
          <p:nvPr/>
        </p:nvSpPr>
        <p:spPr>
          <a:xfrm>
            <a:off x="3832725" y="4021750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2" name="Google Shape;432;p52"/>
          <p:cNvCxnSpPr>
            <a:stCxn id="431" idx="7"/>
            <a:endCxn id="433" idx="2"/>
          </p:cNvCxnSpPr>
          <p:nvPr/>
        </p:nvCxnSpPr>
        <p:spPr>
          <a:xfrm flipH="1" rot="10800000">
            <a:off x="4105179" y="3694634"/>
            <a:ext cx="1098000" cy="369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4" name="Google Shape;434;p52"/>
          <p:cNvCxnSpPr>
            <a:stCxn id="431" idx="5"/>
            <a:endCxn id="435" idx="2"/>
          </p:cNvCxnSpPr>
          <p:nvPr/>
        </p:nvCxnSpPr>
        <p:spPr>
          <a:xfrm>
            <a:off x="4105179" y="4269366"/>
            <a:ext cx="1098000" cy="332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3" name="Google Shape;433;p52"/>
          <p:cNvSpPr/>
          <p:nvPr/>
        </p:nvSpPr>
        <p:spPr>
          <a:xfrm>
            <a:off x="5203325" y="3549500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52"/>
          <p:cNvSpPr/>
          <p:nvPr/>
        </p:nvSpPr>
        <p:spPr>
          <a:xfrm>
            <a:off x="5203325" y="4457050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52"/>
          <p:cNvSpPr/>
          <p:nvPr/>
        </p:nvSpPr>
        <p:spPr>
          <a:xfrm>
            <a:off x="2842338" y="4000450"/>
            <a:ext cx="386700" cy="332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52"/>
          <p:cNvSpPr/>
          <p:nvPr/>
        </p:nvSpPr>
        <p:spPr>
          <a:xfrm>
            <a:off x="6079338" y="4000450"/>
            <a:ext cx="386700" cy="332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8" name="Google Shape;438;p52"/>
          <p:cNvCxnSpPr>
            <a:stCxn id="424" idx="0"/>
            <a:endCxn id="422" idx="4"/>
          </p:cNvCxnSpPr>
          <p:nvPr/>
        </p:nvCxnSpPr>
        <p:spPr>
          <a:xfrm rot="10800000">
            <a:off x="2125938" y="3756800"/>
            <a:ext cx="0" cy="617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9" name="Google Shape;439;p52"/>
          <p:cNvCxnSpPr>
            <a:stCxn id="417" idx="2"/>
          </p:cNvCxnSpPr>
          <p:nvPr/>
        </p:nvCxnSpPr>
        <p:spPr>
          <a:xfrm flipH="1" rot="10800000">
            <a:off x="4713175" y="4503525"/>
            <a:ext cx="4800" cy="34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0" name="Google Shape;440;p52"/>
          <p:cNvCxnSpPr>
            <a:stCxn id="435" idx="0"/>
            <a:endCxn id="433" idx="4"/>
          </p:cNvCxnSpPr>
          <p:nvPr/>
        </p:nvCxnSpPr>
        <p:spPr>
          <a:xfrm rot="10800000">
            <a:off x="5362925" y="3839650"/>
            <a:ext cx="0" cy="617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1" name="Google Shape;441;p52"/>
          <p:cNvCxnSpPr>
            <a:stCxn id="417" idx="3"/>
          </p:cNvCxnSpPr>
          <p:nvPr/>
        </p:nvCxnSpPr>
        <p:spPr>
          <a:xfrm flipH="1">
            <a:off x="5394925" y="4150575"/>
            <a:ext cx="328500" cy="4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2" name="Google Shape;442;p52"/>
          <p:cNvCxnSpPr>
            <a:stCxn id="419" idx="2"/>
          </p:cNvCxnSpPr>
          <p:nvPr/>
        </p:nvCxnSpPr>
        <p:spPr>
          <a:xfrm>
            <a:off x="4572000" y="3452425"/>
            <a:ext cx="126900" cy="403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3" name="Google Shape;443;p52"/>
          <p:cNvCxnSpPr>
            <a:stCxn id="417" idx="2"/>
            <a:endCxn id="431" idx="4"/>
          </p:cNvCxnSpPr>
          <p:nvPr/>
        </p:nvCxnSpPr>
        <p:spPr>
          <a:xfrm rot="10800000">
            <a:off x="3992275" y="4311825"/>
            <a:ext cx="720900" cy="539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4" name="Google Shape;444;p52"/>
          <p:cNvCxnSpPr>
            <a:stCxn id="417" idx="3"/>
            <a:endCxn id="435" idx="7"/>
          </p:cNvCxnSpPr>
          <p:nvPr/>
        </p:nvCxnSpPr>
        <p:spPr>
          <a:xfrm flipH="1">
            <a:off x="5475925" y="4150575"/>
            <a:ext cx="247500" cy="348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5" name="Google Shape;445;p52"/>
          <p:cNvCxnSpPr>
            <a:stCxn id="419" idx="2"/>
            <a:endCxn id="433" idx="1"/>
          </p:cNvCxnSpPr>
          <p:nvPr/>
        </p:nvCxnSpPr>
        <p:spPr>
          <a:xfrm>
            <a:off x="4572000" y="3452425"/>
            <a:ext cx="678000" cy="13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5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are triads so special?</a:t>
            </a:r>
            <a:endParaRPr/>
          </a:p>
        </p:txBody>
      </p:sp>
      <p:sp>
        <p:nvSpPr>
          <p:cNvPr id="451" name="Google Shape;451;p53"/>
          <p:cNvSpPr txBox="1"/>
          <p:nvPr>
            <p:ph idx="1" type="body"/>
          </p:nvPr>
        </p:nvSpPr>
        <p:spPr>
          <a:xfrm>
            <a:off x="311700" y="1225225"/>
            <a:ext cx="58161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Simmelian Tie Theory: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Triads are qualitatively different from dyads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Dyads </a:t>
            </a:r>
            <a:r>
              <a:rPr i="1" lang="en" u="sng">
                <a:solidFill>
                  <a:srgbClr val="FF0000"/>
                </a:solidFill>
              </a:rPr>
              <a:t>embedded</a:t>
            </a:r>
            <a:r>
              <a:rPr i="1" lang="en"/>
              <a:t> in reciprocally strong triangles are not the same as standalone dyads</a:t>
            </a:r>
            <a:endParaRPr i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People in a standalone dyad are more “their own person”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Have more individuality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More potential for unresolved differences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People in an </a:t>
            </a:r>
            <a:r>
              <a:rPr lang="en">
                <a:solidFill>
                  <a:srgbClr val="000000"/>
                </a:solidFill>
              </a:rPr>
              <a:t>embedded</a:t>
            </a:r>
            <a:r>
              <a:rPr lang="en"/>
              <a:t> (Simmelian) dyad can be “outvoted”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Hence more likely to conform to the “group”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Less individuality and autonomy</a:t>
            </a:r>
            <a:endParaRPr/>
          </a:p>
        </p:txBody>
      </p:sp>
      <p:sp>
        <p:nvSpPr>
          <p:cNvPr id="452" name="Google Shape;452;p53"/>
          <p:cNvSpPr/>
          <p:nvPr/>
        </p:nvSpPr>
        <p:spPr>
          <a:xfrm>
            <a:off x="6284401" y="1981110"/>
            <a:ext cx="481500" cy="4644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53" name="Google Shape;453;p53"/>
          <p:cNvCxnSpPr>
            <a:stCxn id="452" idx="7"/>
            <a:endCxn id="454" idx="2"/>
          </p:cNvCxnSpPr>
          <p:nvPr/>
        </p:nvCxnSpPr>
        <p:spPr>
          <a:xfrm flipH="1" rot="10800000">
            <a:off x="6695387" y="1457520"/>
            <a:ext cx="1655400" cy="5916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5" name="Google Shape;455;p53"/>
          <p:cNvCxnSpPr>
            <a:stCxn id="452" idx="5"/>
            <a:endCxn id="456" idx="2"/>
          </p:cNvCxnSpPr>
          <p:nvPr/>
        </p:nvCxnSpPr>
        <p:spPr>
          <a:xfrm>
            <a:off x="6695387" y="2377500"/>
            <a:ext cx="1655400" cy="532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4" name="Google Shape;454;p53"/>
          <p:cNvSpPr/>
          <p:nvPr/>
        </p:nvSpPr>
        <p:spPr>
          <a:xfrm>
            <a:off x="8350791" y="1225225"/>
            <a:ext cx="481500" cy="4644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53"/>
          <p:cNvSpPr/>
          <p:nvPr/>
        </p:nvSpPr>
        <p:spPr>
          <a:xfrm>
            <a:off x="8350791" y="2677853"/>
            <a:ext cx="481500" cy="4644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57" name="Google Shape;457;p53"/>
          <p:cNvCxnSpPr>
            <a:stCxn id="456" idx="0"/>
            <a:endCxn id="454" idx="4"/>
          </p:cNvCxnSpPr>
          <p:nvPr/>
        </p:nvCxnSpPr>
        <p:spPr>
          <a:xfrm rot="10800000">
            <a:off x="8591541" y="1689653"/>
            <a:ext cx="0" cy="9882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8" name="Google Shape;458;p53"/>
          <p:cNvSpPr/>
          <p:nvPr/>
        </p:nvSpPr>
        <p:spPr>
          <a:xfrm>
            <a:off x="6284391" y="3660153"/>
            <a:ext cx="481500" cy="4644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59" name="Google Shape;459;p53"/>
          <p:cNvCxnSpPr>
            <a:stCxn id="452" idx="4"/>
            <a:endCxn id="458" idx="0"/>
          </p:cNvCxnSpPr>
          <p:nvPr/>
        </p:nvCxnSpPr>
        <p:spPr>
          <a:xfrm>
            <a:off x="6525151" y="2445510"/>
            <a:ext cx="0" cy="12147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5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are triads so special?</a:t>
            </a:r>
            <a:endParaRPr/>
          </a:p>
        </p:txBody>
      </p:sp>
      <p:sp>
        <p:nvSpPr>
          <p:cNvPr id="465" name="Google Shape;465;p54"/>
          <p:cNvSpPr txBox="1"/>
          <p:nvPr>
            <p:ph idx="1" type="body"/>
          </p:nvPr>
        </p:nvSpPr>
        <p:spPr>
          <a:xfrm>
            <a:off x="6900" y="1682425"/>
            <a:ext cx="58161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</a:pPr>
            <a:r>
              <a:rPr lang="en"/>
              <a:t>People are “power-symmetric” in a standalone dyad:</a:t>
            </a:r>
            <a:endParaRPr/>
          </a:p>
          <a:p>
            <a: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If either withdraws relationship dissolves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Any one ego experiences “power-asymmetry” (dependence) in an a triad:</a:t>
            </a:r>
            <a:endParaRPr/>
          </a:p>
          <a:p>
            <a: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S/he can withdraw but the other two people still have a relationship</a:t>
            </a:r>
            <a:endParaRPr/>
          </a:p>
          <a:p>
            <a: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S/he loses the benefits of </a:t>
            </a:r>
            <a:r>
              <a:rPr b="1" lang="en"/>
              <a:t>two</a:t>
            </a:r>
            <a:r>
              <a:rPr lang="en"/>
              <a:t> relationships</a:t>
            </a:r>
            <a:endParaRPr/>
          </a:p>
          <a:p>
            <a: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Each other ego only loses </a:t>
            </a:r>
            <a:r>
              <a:rPr b="1" lang="en"/>
              <a:t>one</a:t>
            </a:r>
            <a:endParaRPr b="1"/>
          </a:p>
        </p:txBody>
      </p:sp>
      <p:sp>
        <p:nvSpPr>
          <p:cNvPr id="466" name="Google Shape;466;p54"/>
          <p:cNvSpPr/>
          <p:nvPr/>
        </p:nvSpPr>
        <p:spPr>
          <a:xfrm>
            <a:off x="6284401" y="1981110"/>
            <a:ext cx="481500" cy="4644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67" name="Google Shape;467;p54"/>
          <p:cNvCxnSpPr>
            <a:stCxn id="466" idx="7"/>
            <a:endCxn id="468" idx="2"/>
          </p:cNvCxnSpPr>
          <p:nvPr/>
        </p:nvCxnSpPr>
        <p:spPr>
          <a:xfrm flipH="1" rot="10800000">
            <a:off x="6695387" y="1457520"/>
            <a:ext cx="1655400" cy="5916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9" name="Google Shape;469;p54"/>
          <p:cNvCxnSpPr>
            <a:stCxn id="466" idx="5"/>
            <a:endCxn id="470" idx="2"/>
          </p:cNvCxnSpPr>
          <p:nvPr/>
        </p:nvCxnSpPr>
        <p:spPr>
          <a:xfrm>
            <a:off x="6695387" y="2377500"/>
            <a:ext cx="1655400" cy="532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8" name="Google Shape;468;p54"/>
          <p:cNvSpPr/>
          <p:nvPr/>
        </p:nvSpPr>
        <p:spPr>
          <a:xfrm>
            <a:off x="8350791" y="1225225"/>
            <a:ext cx="481500" cy="4644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54"/>
          <p:cNvSpPr/>
          <p:nvPr/>
        </p:nvSpPr>
        <p:spPr>
          <a:xfrm>
            <a:off x="8350791" y="2677853"/>
            <a:ext cx="481500" cy="4644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1" name="Google Shape;471;p54"/>
          <p:cNvCxnSpPr>
            <a:stCxn id="470" idx="0"/>
            <a:endCxn id="468" idx="4"/>
          </p:cNvCxnSpPr>
          <p:nvPr/>
        </p:nvCxnSpPr>
        <p:spPr>
          <a:xfrm rot="10800000">
            <a:off x="8591541" y="1689653"/>
            <a:ext cx="0" cy="9882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2" name="Google Shape;472;p54"/>
          <p:cNvSpPr/>
          <p:nvPr/>
        </p:nvSpPr>
        <p:spPr>
          <a:xfrm>
            <a:off x="6284391" y="3660153"/>
            <a:ext cx="481500" cy="4644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3" name="Google Shape;473;p54"/>
          <p:cNvCxnSpPr>
            <a:stCxn id="466" idx="4"/>
            <a:endCxn id="472" idx="0"/>
          </p:cNvCxnSpPr>
          <p:nvPr/>
        </p:nvCxnSpPr>
        <p:spPr>
          <a:xfrm>
            <a:off x="6525151" y="2445510"/>
            <a:ext cx="0" cy="12147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5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are triads so special?</a:t>
            </a:r>
            <a:endParaRPr/>
          </a:p>
        </p:txBody>
      </p:sp>
      <p:sp>
        <p:nvSpPr>
          <p:cNvPr id="479" name="Google Shape;479;p55"/>
          <p:cNvSpPr txBox="1"/>
          <p:nvPr>
            <p:ph idx="1" type="body"/>
          </p:nvPr>
        </p:nvSpPr>
        <p:spPr>
          <a:xfrm>
            <a:off x="-297900" y="1225225"/>
            <a:ext cx="58161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/>
          </a:p>
          <a:p>
            <a: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</a:pPr>
            <a:r>
              <a:rPr lang="en"/>
              <a:t>This explains why conflict is more difficult to settle in standalone dyads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Also explains why sometimes the </a:t>
            </a:r>
            <a:r>
              <a:rPr b="1" lang="en"/>
              <a:t>only </a:t>
            </a:r>
            <a:r>
              <a:rPr lang="en"/>
              <a:t>conflict resolution recourse is to turn the standalone dyad into a “temporary” Simmelian dyad:</a:t>
            </a:r>
            <a:endParaRPr/>
          </a:p>
          <a:p>
            <a: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Arbitration</a:t>
            </a:r>
            <a:endParaRPr/>
          </a:p>
          <a:p>
            <a: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Mediation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Research shows that third parties are useful in alleviating dyadic conflicts </a:t>
            </a:r>
            <a:endParaRPr/>
          </a:p>
        </p:txBody>
      </p:sp>
      <p:sp>
        <p:nvSpPr>
          <p:cNvPr id="480" name="Google Shape;480;p55"/>
          <p:cNvSpPr/>
          <p:nvPr/>
        </p:nvSpPr>
        <p:spPr>
          <a:xfrm>
            <a:off x="6284401" y="1981110"/>
            <a:ext cx="481500" cy="4644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81" name="Google Shape;481;p55"/>
          <p:cNvCxnSpPr>
            <a:stCxn id="480" idx="7"/>
            <a:endCxn id="482" idx="2"/>
          </p:cNvCxnSpPr>
          <p:nvPr/>
        </p:nvCxnSpPr>
        <p:spPr>
          <a:xfrm flipH="1" rot="10800000">
            <a:off x="6695387" y="1457520"/>
            <a:ext cx="1655400" cy="5916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3" name="Google Shape;483;p55"/>
          <p:cNvCxnSpPr>
            <a:stCxn id="480" idx="5"/>
            <a:endCxn id="484" idx="2"/>
          </p:cNvCxnSpPr>
          <p:nvPr/>
        </p:nvCxnSpPr>
        <p:spPr>
          <a:xfrm>
            <a:off x="6695387" y="2377500"/>
            <a:ext cx="1655400" cy="532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2" name="Google Shape;482;p55"/>
          <p:cNvSpPr/>
          <p:nvPr/>
        </p:nvSpPr>
        <p:spPr>
          <a:xfrm>
            <a:off x="8350791" y="1225225"/>
            <a:ext cx="481500" cy="4644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55"/>
          <p:cNvSpPr/>
          <p:nvPr/>
        </p:nvSpPr>
        <p:spPr>
          <a:xfrm>
            <a:off x="8350791" y="2677853"/>
            <a:ext cx="481500" cy="4644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85" name="Google Shape;485;p55"/>
          <p:cNvCxnSpPr>
            <a:stCxn id="484" idx="0"/>
            <a:endCxn id="482" idx="4"/>
          </p:cNvCxnSpPr>
          <p:nvPr/>
        </p:nvCxnSpPr>
        <p:spPr>
          <a:xfrm rot="10800000">
            <a:off x="8591541" y="1689653"/>
            <a:ext cx="0" cy="9882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6" name="Google Shape;486;p55"/>
          <p:cNvSpPr/>
          <p:nvPr/>
        </p:nvSpPr>
        <p:spPr>
          <a:xfrm>
            <a:off x="6284391" y="3660153"/>
            <a:ext cx="481500" cy="4644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87" name="Google Shape;487;p55"/>
          <p:cNvCxnSpPr>
            <a:stCxn id="480" idx="4"/>
            <a:endCxn id="486" idx="0"/>
          </p:cNvCxnSpPr>
          <p:nvPr/>
        </p:nvCxnSpPr>
        <p:spPr>
          <a:xfrm>
            <a:off x="6525151" y="2445510"/>
            <a:ext cx="0" cy="12147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5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are triads so special?</a:t>
            </a:r>
            <a:endParaRPr/>
          </a:p>
        </p:txBody>
      </p:sp>
      <p:sp>
        <p:nvSpPr>
          <p:cNvPr id="493" name="Google Shape;493;p56"/>
          <p:cNvSpPr txBox="1"/>
          <p:nvPr>
            <p:ph idx="1" type="body"/>
          </p:nvPr>
        </p:nvSpPr>
        <p:spPr>
          <a:xfrm>
            <a:off x="-297900" y="1225225"/>
            <a:ext cx="58161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/>
          </a:p>
          <a:p>
            <a:pPr indent="-317500" lvl="2" marL="1371600" rtl="0" algn="l">
              <a:spcBef>
                <a:spcPts val="160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Implication: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Networks with closed triads can have two (mutually exclusive) types of ties:</a:t>
            </a:r>
            <a:endParaRPr/>
          </a:p>
          <a:p>
            <a:pPr indent="-317500" lvl="4" marL="22860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○"/>
            </a:pPr>
            <a:r>
              <a:rPr lang="en" u="sng">
                <a:solidFill>
                  <a:srgbClr val="FF0000"/>
                </a:solidFill>
              </a:rPr>
              <a:t>Simmelian ties</a:t>
            </a:r>
            <a:endParaRPr u="sng">
              <a:solidFill>
                <a:srgbClr val="FF0000"/>
              </a:solidFill>
            </a:endParaRPr>
          </a:p>
          <a:p>
            <a:pPr indent="-317500" lvl="4" marL="228600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400"/>
              <a:buChar char="○"/>
            </a:pPr>
            <a:r>
              <a:rPr lang="en" u="sng">
                <a:solidFill>
                  <a:srgbClr val="0000FF"/>
                </a:solidFill>
              </a:rPr>
              <a:t>“Regular” (non-Simmelian) ties</a:t>
            </a:r>
            <a:endParaRPr u="sng">
              <a:solidFill>
                <a:srgbClr val="0000FF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This means that you could “split” the two networks and analyze them separately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Non-Simmelian ties could either be “disembedded” dyads or dyads embedded in weak triads</a:t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56"/>
          <p:cNvSpPr/>
          <p:nvPr/>
        </p:nvSpPr>
        <p:spPr>
          <a:xfrm>
            <a:off x="6284401" y="1981110"/>
            <a:ext cx="481500" cy="4644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95" name="Google Shape;495;p56"/>
          <p:cNvCxnSpPr>
            <a:stCxn id="494" idx="7"/>
            <a:endCxn id="496" idx="2"/>
          </p:cNvCxnSpPr>
          <p:nvPr/>
        </p:nvCxnSpPr>
        <p:spPr>
          <a:xfrm flipH="1" rot="10800000">
            <a:off x="6695387" y="1457520"/>
            <a:ext cx="1655400" cy="5916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7" name="Google Shape;497;p56"/>
          <p:cNvCxnSpPr>
            <a:stCxn id="494" idx="5"/>
            <a:endCxn id="498" idx="2"/>
          </p:cNvCxnSpPr>
          <p:nvPr/>
        </p:nvCxnSpPr>
        <p:spPr>
          <a:xfrm>
            <a:off x="6695387" y="2377500"/>
            <a:ext cx="1655400" cy="532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6" name="Google Shape;496;p56"/>
          <p:cNvSpPr/>
          <p:nvPr/>
        </p:nvSpPr>
        <p:spPr>
          <a:xfrm>
            <a:off x="8350791" y="1225225"/>
            <a:ext cx="481500" cy="4644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56"/>
          <p:cNvSpPr/>
          <p:nvPr/>
        </p:nvSpPr>
        <p:spPr>
          <a:xfrm>
            <a:off x="8350791" y="2677853"/>
            <a:ext cx="481500" cy="4644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99" name="Google Shape;499;p56"/>
          <p:cNvCxnSpPr>
            <a:stCxn id="498" idx="0"/>
            <a:endCxn id="496" idx="4"/>
          </p:cNvCxnSpPr>
          <p:nvPr/>
        </p:nvCxnSpPr>
        <p:spPr>
          <a:xfrm rot="10800000">
            <a:off x="8591541" y="1689653"/>
            <a:ext cx="0" cy="9882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0" name="Google Shape;500;p56"/>
          <p:cNvSpPr/>
          <p:nvPr/>
        </p:nvSpPr>
        <p:spPr>
          <a:xfrm>
            <a:off x="6284391" y="3660153"/>
            <a:ext cx="481500" cy="4644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1" name="Google Shape;501;p56"/>
          <p:cNvCxnSpPr>
            <a:stCxn id="494" idx="4"/>
            <a:endCxn id="500" idx="0"/>
          </p:cNvCxnSpPr>
          <p:nvPr/>
        </p:nvCxnSpPr>
        <p:spPr>
          <a:xfrm>
            <a:off x="6525151" y="2445510"/>
            <a:ext cx="0" cy="12147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5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are triads so special?</a:t>
            </a:r>
            <a:endParaRPr/>
          </a:p>
        </p:txBody>
      </p:sp>
      <p:sp>
        <p:nvSpPr>
          <p:cNvPr id="507" name="Google Shape;507;p57"/>
          <p:cNvSpPr txBox="1"/>
          <p:nvPr>
            <p:ph idx="1" type="body"/>
          </p:nvPr>
        </p:nvSpPr>
        <p:spPr>
          <a:xfrm>
            <a:off x="311700" y="1225225"/>
            <a:ext cx="58161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Consequences of Simmelian Tie Theory: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Simmelian ties are more durable and/or resistance to disruption than non-Simmelian ties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Simmelian ties are relatively common given baseline graph theoretic expectations (e.g. number of nodes number of links)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When a person is a “broker” between two cliques to which s/he is linked to via Simmelian ties there is a tradeoff between bridging and multiple norm constraint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Pure “structural holes” broker must keep non-Simmelian relations to be effective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But sacrifices trust </a:t>
            </a:r>
            <a:endParaRPr/>
          </a:p>
        </p:txBody>
      </p:sp>
      <p:sp>
        <p:nvSpPr>
          <p:cNvPr id="508" name="Google Shape;508;p57"/>
          <p:cNvSpPr/>
          <p:nvPr/>
        </p:nvSpPr>
        <p:spPr>
          <a:xfrm>
            <a:off x="6284401" y="1981110"/>
            <a:ext cx="481500" cy="4644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9" name="Google Shape;509;p57"/>
          <p:cNvCxnSpPr>
            <a:stCxn id="508" idx="7"/>
            <a:endCxn id="510" idx="2"/>
          </p:cNvCxnSpPr>
          <p:nvPr/>
        </p:nvCxnSpPr>
        <p:spPr>
          <a:xfrm flipH="1" rot="10800000">
            <a:off x="6695387" y="1457520"/>
            <a:ext cx="1655400" cy="5916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1" name="Google Shape;511;p57"/>
          <p:cNvCxnSpPr>
            <a:stCxn id="508" idx="5"/>
            <a:endCxn id="512" idx="2"/>
          </p:cNvCxnSpPr>
          <p:nvPr/>
        </p:nvCxnSpPr>
        <p:spPr>
          <a:xfrm>
            <a:off x="6695387" y="2377500"/>
            <a:ext cx="1655400" cy="532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0" name="Google Shape;510;p57"/>
          <p:cNvSpPr/>
          <p:nvPr/>
        </p:nvSpPr>
        <p:spPr>
          <a:xfrm>
            <a:off x="8350791" y="1225225"/>
            <a:ext cx="481500" cy="4644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57"/>
          <p:cNvSpPr/>
          <p:nvPr/>
        </p:nvSpPr>
        <p:spPr>
          <a:xfrm>
            <a:off x="8350791" y="2677853"/>
            <a:ext cx="481500" cy="4644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13" name="Google Shape;513;p57"/>
          <p:cNvCxnSpPr>
            <a:stCxn id="512" idx="0"/>
            <a:endCxn id="510" idx="4"/>
          </p:cNvCxnSpPr>
          <p:nvPr/>
        </p:nvCxnSpPr>
        <p:spPr>
          <a:xfrm rot="10800000">
            <a:off x="8591541" y="1689653"/>
            <a:ext cx="0" cy="9882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4" name="Google Shape;514;p57"/>
          <p:cNvSpPr/>
          <p:nvPr/>
        </p:nvSpPr>
        <p:spPr>
          <a:xfrm>
            <a:off x="6284391" y="3660153"/>
            <a:ext cx="481500" cy="4644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15" name="Google Shape;515;p57"/>
          <p:cNvCxnSpPr>
            <a:stCxn id="508" idx="4"/>
            <a:endCxn id="514" idx="0"/>
          </p:cNvCxnSpPr>
          <p:nvPr/>
        </p:nvCxnSpPr>
        <p:spPr>
          <a:xfrm>
            <a:off x="6525151" y="2445510"/>
            <a:ext cx="0" cy="12147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