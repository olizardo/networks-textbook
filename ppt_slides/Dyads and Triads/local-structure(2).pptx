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74" r:id="rId3"/>
    <p:sldId id="266" r:id="rId4"/>
    <p:sldId id="278" r:id="rId5"/>
    <p:sldId id="263" r:id="rId6"/>
    <p:sldId id="264" r:id="rId7"/>
    <p:sldId id="265" r:id="rId8"/>
    <p:sldId id="267" r:id="rId9"/>
    <p:sldId id="268" r:id="rId10"/>
    <p:sldId id="269" r:id="rId11"/>
    <p:sldId id="272" r:id="rId12"/>
    <p:sldId id="275" r:id="rId13"/>
    <p:sldId id="270" r:id="rId14"/>
    <p:sldId id="257" r:id="rId15"/>
    <p:sldId id="256" r:id="rId16"/>
    <p:sldId id="262" r:id="rId17"/>
    <p:sldId id="261" r:id="rId18"/>
    <p:sldId id="260" r:id="rId19"/>
    <p:sldId id="271" r:id="rId20"/>
    <p:sldId id="279" r:id="rId21"/>
    <p:sldId id="276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D476B-8CB7-4D79-BA03-400727A3306E}" type="datetimeFigureOut">
              <a:rPr lang="en-US" smtClean="0"/>
              <a:pPr/>
              <a:t>3/4/2009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D34B-415D-4EE6-A59C-7559BC564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D476B-8CB7-4D79-BA03-400727A3306E}" type="datetimeFigureOut">
              <a:rPr lang="en-US" smtClean="0"/>
              <a:pPr/>
              <a:t>3/4/2009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D34B-415D-4EE6-A59C-7559BC564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D476B-8CB7-4D79-BA03-400727A3306E}" type="datetimeFigureOut">
              <a:rPr lang="en-US" smtClean="0"/>
              <a:pPr/>
              <a:t>3/4/2009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D34B-415D-4EE6-A59C-7559BC564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D476B-8CB7-4D79-BA03-400727A3306E}" type="datetimeFigureOut">
              <a:rPr lang="en-US" smtClean="0"/>
              <a:pPr/>
              <a:t>3/4/2009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D34B-415D-4EE6-A59C-7559BC564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D476B-8CB7-4D79-BA03-400727A3306E}" type="datetimeFigureOut">
              <a:rPr lang="en-US" smtClean="0"/>
              <a:pPr/>
              <a:t>3/4/2009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D34B-415D-4EE6-A59C-7559BC564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D476B-8CB7-4D79-BA03-400727A3306E}" type="datetimeFigureOut">
              <a:rPr lang="en-US" smtClean="0"/>
              <a:pPr/>
              <a:t>3/4/2009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D34B-415D-4EE6-A59C-7559BC564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D476B-8CB7-4D79-BA03-400727A3306E}" type="datetimeFigureOut">
              <a:rPr lang="en-US" smtClean="0"/>
              <a:pPr/>
              <a:t>3/4/2009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D34B-415D-4EE6-A59C-7559BC564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D476B-8CB7-4D79-BA03-400727A3306E}" type="datetimeFigureOut">
              <a:rPr lang="en-US" smtClean="0"/>
              <a:pPr/>
              <a:t>3/4/2009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D34B-415D-4EE6-A59C-7559BC564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D476B-8CB7-4D79-BA03-400727A3306E}" type="datetimeFigureOut">
              <a:rPr lang="en-US" smtClean="0"/>
              <a:pPr/>
              <a:t>3/4/2009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D34B-415D-4EE6-A59C-7559BC564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D476B-8CB7-4D79-BA03-400727A3306E}" type="datetimeFigureOut">
              <a:rPr lang="en-US" smtClean="0"/>
              <a:pPr/>
              <a:t>3/4/2009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D34B-415D-4EE6-A59C-7559BC564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D476B-8CB7-4D79-BA03-400727A3306E}" type="datetimeFigureOut">
              <a:rPr lang="en-US" smtClean="0"/>
              <a:pPr/>
              <a:t>3/4/2009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D34B-415D-4EE6-A59C-7559BC564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D476B-8CB7-4D79-BA03-400727A3306E}" type="datetimeFigureOut">
              <a:rPr lang="en-US" smtClean="0"/>
              <a:pPr/>
              <a:t>3/4/2009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FD34B-415D-4EE6-A59C-7559BC564E3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#b38"/><Relationship Id="rId3" Type="http://schemas.openxmlformats.org/officeDocument/2006/relationships/hyperlink" Target="#b31"/><Relationship Id="rId7" Type="http://schemas.openxmlformats.org/officeDocument/2006/relationships/hyperlink" Target="#b38"/><Relationship Id="rId12" Type="http://schemas.openxmlformats.org/officeDocument/2006/relationships/hyperlink" Target="#b38"/><Relationship Id="rId2" Type="http://schemas.openxmlformats.org/officeDocument/2006/relationships/hyperlink" Target="#b15"/><Relationship Id="rId1" Type="http://schemas.openxmlformats.org/officeDocument/2006/relationships/slideLayout" Target="../slideLayouts/slideLayout2.xml"/><Relationship Id="rId6" Type="http://schemas.openxmlformats.org/officeDocument/2006/relationships/hyperlink" Target="#b31"/><Relationship Id="rId11" Type="http://schemas.openxmlformats.org/officeDocument/2006/relationships/hyperlink" Target="#b38"/><Relationship Id="rId5" Type="http://schemas.openxmlformats.org/officeDocument/2006/relationships/hyperlink" Target="#b31"/><Relationship Id="rId10" Type="http://schemas.openxmlformats.org/officeDocument/2006/relationships/hyperlink" Target="#b38"/><Relationship Id="rId4" Type="http://schemas.openxmlformats.org/officeDocument/2006/relationships/hyperlink" Target="#b31"/><Relationship Id="rId9" Type="http://schemas.openxmlformats.org/officeDocument/2006/relationships/hyperlink" Target="#b38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143000"/>
            <a:ext cx="7598879" cy="449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362200" y="2895600"/>
            <a:ext cx="381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+</a:t>
            </a:r>
            <a:endParaRPr lang="en-US" sz="2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038600" y="4419600"/>
            <a:ext cx="381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+</a:t>
            </a:r>
            <a:endParaRPr lang="en-US" sz="2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943600" y="2819400"/>
            <a:ext cx="381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-</a:t>
            </a:r>
            <a:endParaRPr lang="en-US" sz="2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143000"/>
            <a:ext cx="7598879" cy="449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362200" y="2895600"/>
            <a:ext cx="381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-</a:t>
            </a:r>
            <a:endParaRPr lang="en-US" sz="2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038600" y="4419600"/>
            <a:ext cx="381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-</a:t>
            </a:r>
            <a:endParaRPr lang="en-US" sz="2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943600" y="2819400"/>
            <a:ext cx="381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+</a:t>
            </a:r>
            <a:endParaRPr lang="en-US" sz="2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410200" y="4419600"/>
            <a:ext cx="2667000" cy="4924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(Rush Limbaugh)</a:t>
            </a:r>
            <a:endParaRPr lang="en-US" sz="2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4495800"/>
            <a:ext cx="2438400" cy="4924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(You)</a:t>
            </a:r>
            <a:endParaRPr lang="en-US" sz="26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971800" y="1371600"/>
            <a:ext cx="2819400" cy="4924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(Republican Party)</a:t>
            </a:r>
            <a:endParaRPr lang="en-US" sz="2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57400" y="2133600"/>
          <a:ext cx="4953000" cy="24384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870857"/>
                <a:gridCol w="208280"/>
                <a:gridCol w="749663"/>
                <a:gridCol w="1055914"/>
                <a:gridCol w="2068286"/>
              </a:tblGrid>
              <a:tr h="1270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PX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/>
                        <a:t>+</a:t>
                      </a:r>
                      <a:endParaRPr lang="en-US" sz="2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/>
                        <a:t>+</a:t>
                      </a:r>
                      <a:endParaRPr lang="en-US" sz="2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/>
                        <a:t>+</a:t>
                      </a:r>
                      <a:endParaRPr lang="en-US" sz="2800" baseline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/>
                        <a:t>-</a:t>
                      </a:r>
                      <a:endParaRPr lang="en-US" sz="2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/>
                        <a:t>+</a:t>
                      </a:r>
                      <a:endParaRPr lang="en-US" sz="2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/>
                        <a:t>-</a:t>
                      </a:r>
                      <a:endParaRPr lang="en-US" sz="2800" baseline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/>
                        <a:t>+</a:t>
                      </a:r>
                      <a:endParaRPr lang="en-US" sz="2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/>
                        <a:t>-</a:t>
                      </a:r>
                      <a:endParaRPr lang="en-US" sz="2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/>
                        <a:t>-</a:t>
                      </a:r>
                      <a:endParaRPr lang="en-US" sz="2800" baseline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/>
                        <a:t>-</a:t>
                      </a:r>
                      <a:endParaRPr lang="en-US" sz="2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*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/>
                        <a:t>-</a:t>
                      </a:r>
                      <a:endParaRPr lang="en-US" sz="2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/>
                        <a:t>+</a:t>
                      </a:r>
                      <a:endParaRPr lang="en-US" sz="2800" baseline="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result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Cartwright and </a:t>
            </a:r>
            <a:r>
              <a:rPr lang="en-US" dirty="0" err="1" smtClean="0"/>
              <a:t>Harary</a:t>
            </a:r>
            <a:r>
              <a:rPr lang="en-US" dirty="0" smtClean="0"/>
              <a:t> (1956) proved that:</a:t>
            </a:r>
          </a:p>
          <a:p>
            <a:pPr lvl="1"/>
            <a:r>
              <a:rPr lang="en-US" i="1" dirty="0" smtClean="0"/>
              <a:t>If </a:t>
            </a:r>
            <a:r>
              <a:rPr lang="en-US" dirty="0" smtClean="0"/>
              <a:t>all of the triads in a signed value matrix are balanced, then</a:t>
            </a:r>
            <a:r>
              <a:rPr lang="en-US" i="1" dirty="0" smtClean="0"/>
              <a:t>:</a:t>
            </a:r>
          </a:p>
          <a:p>
            <a:pPr lvl="2"/>
            <a:r>
              <a:rPr lang="en-US" dirty="0" smtClean="0"/>
              <a:t>The matrix can be blocked into two mutually exclusive groups such that:</a:t>
            </a:r>
          </a:p>
          <a:p>
            <a:pPr lvl="2"/>
            <a:r>
              <a:rPr lang="en-US" dirty="0" smtClean="0"/>
              <a:t>1) All edges with positive weights are </a:t>
            </a:r>
            <a:r>
              <a:rPr lang="en-US" i="1" dirty="0" smtClean="0"/>
              <a:t>within </a:t>
            </a:r>
            <a:r>
              <a:rPr lang="en-US" dirty="0" smtClean="0"/>
              <a:t>blocks</a:t>
            </a:r>
          </a:p>
          <a:p>
            <a:pPr lvl="2"/>
            <a:r>
              <a:rPr lang="en-US" dirty="0" smtClean="0"/>
              <a:t>2) All edges with negative weights are </a:t>
            </a:r>
            <a:r>
              <a:rPr lang="en-US" i="1" dirty="0" smtClean="0"/>
              <a:t>between</a:t>
            </a:r>
            <a:r>
              <a:rPr lang="en-US" dirty="0" smtClean="0"/>
              <a:t> blocks.</a:t>
            </a:r>
          </a:p>
          <a:p>
            <a:pPr lvl="1"/>
            <a:r>
              <a:rPr lang="en-US" dirty="0" smtClean="0"/>
              <a:t>Formalizes a key intuition between balance processes at the micro-level and macro-level group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762000"/>
            <a:ext cx="520515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2133600"/>
            <a:ext cx="6019800" cy="1483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47800" y="3657600"/>
            <a:ext cx="540173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143000"/>
            <a:ext cx="6594231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2590800"/>
            <a:ext cx="45815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219200"/>
            <a:ext cx="5050064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2971800"/>
            <a:ext cx="5132917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981200"/>
            <a:ext cx="7594768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Straight Arrow Connector 3"/>
          <p:cNvCxnSpPr/>
          <p:nvPr/>
        </p:nvCxnSpPr>
        <p:spPr>
          <a:xfrm rot="5400000" flipH="1" flipV="1">
            <a:off x="3353594" y="3275806"/>
            <a:ext cx="1676400" cy="158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rot="5400000" flipH="1" flipV="1">
            <a:off x="3124994" y="3275806"/>
            <a:ext cx="1676400" cy="158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67200" y="2895600"/>
            <a:ext cx="45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?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914400"/>
            <a:ext cx="4419600" cy="5303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Faust (2007) </a:t>
            </a:r>
            <a:r>
              <a:rPr lang="en-US" i="1" dirty="0" smtClean="0"/>
              <a:t>Sociological Methodology</a:t>
            </a:r>
            <a:endParaRPr lang="en-US" i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Since triads concern relations among social actors, most often they are studied using a social network formalization. Indeed, triads have been at the heart of theoretical and methodological advances in social network research for nearly half a century. Triads are implicated in many social network theories…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Faust (2007) </a:t>
            </a:r>
            <a:r>
              <a:rPr lang="en-US" i="1" dirty="0" smtClean="0"/>
              <a:t>Sociological Methodology</a:t>
            </a:r>
            <a:endParaRPr lang="en-US" i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As </a:t>
            </a:r>
            <a:r>
              <a:rPr lang="en-US" dirty="0"/>
              <a:t>introduced in papers by </a:t>
            </a:r>
            <a:r>
              <a:rPr lang="en-US" dirty="0">
                <a:hlinkClick r:id="rId2" action="ppaction://hlinkfile"/>
              </a:rPr>
              <a:t>Davis (1970, 1977, 1979)</a:t>
            </a:r>
            <a:r>
              <a:rPr lang="en-US" dirty="0"/>
              <a:t> </a:t>
            </a:r>
            <a:r>
              <a:rPr lang="en-US" dirty="0" err="1"/>
              <a:t>and</a:t>
            </a:r>
            <a:r>
              <a:rPr lang="en-US" dirty="0" err="1">
                <a:hlinkClick r:id="rId3" action="ppaction://hlinkfile"/>
              </a:rPr>
              <a:t>Holland</a:t>
            </a:r>
            <a:r>
              <a:rPr lang="en-US" dirty="0">
                <a:hlinkClick r:id="rId4" action="ppaction://hlinkfile"/>
              </a:rPr>
              <a:t> and </a:t>
            </a:r>
            <a:r>
              <a:rPr lang="en-US" dirty="0" err="1">
                <a:hlinkClick r:id="rId5" action="ppaction://hlinkfile"/>
              </a:rPr>
              <a:t>Leinhardt</a:t>
            </a:r>
            <a:r>
              <a:rPr lang="en-US" dirty="0">
                <a:hlinkClick r:id="rId6" action="ppaction://hlinkfile"/>
              </a:rPr>
              <a:t> (1970, 1971, 1972, 1973, 1976, 1979)</a:t>
            </a:r>
            <a:r>
              <a:rPr lang="en-US" dirty="0"/>
              <a:t>, and elaborated in the work of </a:t>
            </a:r>
            <a:r>
              <a:rPr lang="en-US" dirty="0" err="1">
                <a:hlinkClick r:id="rId7" action="ppaction://hlinkfile"/>
              </a:rPr>
              <a:t>Johnsen</a:t>
            </a:r>
            <a:r>
              <a:rPr lang="en-US" dirty="0">
                <a:hlinkClick r:id="rId8" action="ppaction://hlinkfile"/>
              </a:rPr>
              <a:t> (1985, 1986, </a:t>
            </a:r>
            <a:r>
              <a:rPr lang="en-US" dirty="0" err="1">
                <a:hlinkClick r:id="rId9" action="ppaction://hlinkfile"/>
              </a:rPr>
              <a:t>1989a</a:t>
            </a:r>
            <a:r>
              <a:rPr lang="en-US" dirty="0">
                <a:hlinkClick r:id="rId10" action="ppaction://hlinkfile"/>
              </a:rPr>
              <a:t>, </a:t>
            </a:r>
            <a:r>
              <a:rPr lang="en-US" dirty="0" err="1">
                <a:hlinkClick r:id="rId11" action="ppaction://hlinkfile"/>
              </a:rPr>
              <a:t>1989b</a:t>
            </a:r>
            <a:r>
              <a:rPr lang="en-US" dirty="0">
                <a:hlinkClick r:id="rId12" action="ppaction://hlinkfile"/>
              </a:rPr>
              <a:t>, 1998)</a:t>
            </a:r>
            <a:r>
              <a:rPr lang="en-US" dirty="0"/>
              <a:t>, </a:t>
            </a:r>
            <a:r>
              <a:rPr lang="en-US" b="1" dirty="0"/>
              <a:t>specific global structural patterns imply the presence and absence of specific triadic configurations, just as the occurrence and nonoccurrence of specific triadic patterns imply specific global structural configurations.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Faust (2007) </a:t>
            </a:r>
            <a:r>
              <a:rPr lang="en-US" i="1" dirty="0" smtClean="0"/>
              <a:t>Sociological Methodology</a:t>
            </a:r>
            <a:endParaRPr lang="en-US" i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Thus, the triad census is useful for evaluating theories about linkage between local processes and global structures because some theoretical global structures are contradicted by specific configurations of triads</a:t>
            </a:r>
            <a:r>
              <a:rPr lang="en-US" dirty="0" smtClean="0"/>
              <a:t>. Such a global theory is evaluated by examining empirical networks for substantial occurrence of triads inconsistent with the theory.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Faust (2007) </a:t>
            </a:r>
            <a:r>
              <a:rPr lang="en-US" i="1" dirty="0" smtClean="0"/>
              <a:t>Sociological 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/>
              <a:t>How much</a:t>
            </a:r>
            <a:r>
              <a:rPr lang="en-US" dirty="0"/>
              <a:t> of the triadic structure is accounted for by nodal and dyadic properties? This paper provides an answer to that question and shows that more than 90% of the triadic structure in a collection of diverse social networks is accounted for by lower-order properties. The implications of this result are far-reaching. If a substantial portion of triadic structure is explained by nodal and dyadic features, then the theoretical and methodological importance of </a:t>
            </a:r>
            <a:r>
              <a:rPr lang="en-US" i="1" dirty="0"/>
              <a:t>triadic</a:t>
            </a:r>
            <a:r>
              <a:rPr lang="en-US" dirty="0"/>
              <a:t> properties and processes are brought into question.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ody-19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90600"/>
            <a:ext cx="8075536" cy="4038600"/>
          </a:xfrm>
          <a:prstGeom prst="rect">
            <a:avLst/>
          </a:prstGeom>
          <a:ln w="254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457200"/>
            <a:ext cx="8458200" cy="5797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2438400" y="152399"/>
          <a:ext cx="4495800" cy="6546347"/>
        </p:xfrm>
        <a:graphic>
          <a:graphicData uri="http://schemas.openxmlformats.org/presentationml/2006/ole">
            <p:oleObj spid="_x0000_s19459" name="Acrobat Document" r:id="rId3" imgW="4448056" imgH="6476810" progId="AcroExch.Document.7">
              <p:embed/>
            </p:oleObj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0100" y="514350"/>
          <a:ext cx="7543800" cy="5829300"/>
        </p:xfrm>
        <a:graphic>
          <a:graphicData uri="http://schemas.openxmlformats.org/presentationml/2006/ole">
            <p:oleObj spid="_x0000_s18434" name="Acrobat Document" r:id="rId3" imgW="7543443" imgH="5829229" progId="AcroExch.Document.7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2590800"/>
            <a:ext cx="1905000" cy="892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4953000"/>
            <a:ext cx="330303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76400" y="838200"/>
            <a:ext cx="528066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362200" y="4114800"/>
            <a:ext cx="2514600" cy="64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19200" y="5943600"/>
            <a:ext cx="7311571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381000"/>
            <a:ext cx="3929204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</a:t>
            </a:r>
            <a:r>
              <a:rPr lang="en-US" dirty="0" err="1" smtClean="0"/>
              <a:t>Bonacich</a:t>
            </a:r>
            <a:r>
              <a:rPr lang="en-US" dirty="0" smtClean="0"/>
              <a:t> and Lloyd (2004)</a:t>
            </a:r>
            <a:endParaRPr lang="en-US" dirty="0"/>
          </a:p>
        </p:txBody>
      </p:sp>
      <p:pic>
        <p:nvPicPr>
          <p:cNvPr id="481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2133600"/>
            <a:ext cx="7841278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Another reason why </a:t>
            </a:r>
            <a:r>
              <a:rPr lang="en-US" dirty="0" err="1" smtClean="0"/>
              <a:t>SVD</a:t>
            </a:r>
            <a:r>
              <a:rPr lang="en-US" dirty="0" smtClean="0"/>
              <a:t> is your friend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Proposition </a:t>
            </a:r>
            <a:r>
              <a:rPr lang="en-US" b="1" dirty="0" smtClean="0"/>
              <a:t>1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>The eigenvector of a balanced symmetric matrix of affective relations reveals the clique </a:t>
            </a:r>
            <a:r>
              <a:rPr lang="en-US" i="1" dirty="0" smtClean="0"/>
              <a:t>structure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533400"/>
            <a:ext cx="2057400" cy="597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</TotalTime>
  <Words>265</Words>
  <Application>Microsoft Office PowerPoint</Application>
  <PresentationFormat>On-screen Show (4:3)</PresentationFormat>
  <Paragraphs>51</Paragraphs>
  <Slides>22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Office Theme</vt:lpstr>
      <vt:lpstr>Acrobat Document</vt:lpstr>
      <vt:lpstr>Slide 1</vt:lpstr>
      <vt:lpstr>Slide 2</vt:lpstr>
      <vt:lpstr>Slide 3</vt:lpstr>
      <vt:lpstr>Key result </vt:lpstr>
      <vt:lpstr>Slide 5</vt:lpstr>
      <vt:lpstr>Slide 6</vt:lpstr>
      <vt:lpstr>Slide 7</vt:lpstr>
      <vt:lpstr>Slide 8</vt:lpstr>
      <vt:lpstr>Slide 9</vt:lpstr>
      <vt:lpstr>Faust (2007) Sociological Methodology</vt:lpstr>
      <vt:lpstr>Faust (2007) Sociological Methodology</vt:lpstr>
      <vt:lpstr>Faust (2007) Sociological Methodology</vt:lpstr>
      <vt:lpstr>Faust (2007) Sociological Methodology</vt:lpstr>
      <vt:lpstr>Slide 14</vt:lpstr>
      <vt:lpstr>Slide 15</vt:lpstr>
      <vt:lpstr>Slide 16</vt:lpstr>
      <vt:lpstr>Slide 17</vt:lpstr>
      <vt:lpstr>Slide 18</vt:lpstr>
      <vt:lpstr>Slide 19</vt:lpstr>
      <vt:lpstr>From Bonacich and Lloyd (2004)</vt:lpstr>
      <vt:lpstr>Another reason why SVD is your friend</vt:lpstr>
      <vt:lpstr>Slide 22</vt:lpstr>
    </vt:vector>
  </TitlesOfParts>
  <Company>University of Notre Dame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Omar Lizardo</dc:creator>
  <cp:lastModifiedBy>Omar Lizardo</cp:lastModifiedBy>
  <cp:revision>27</cp:revision>
  <dcterms:created xsi:type="dcterms:W3CDTF">2009-03-03T18:06:58Z</dcterms:created>
  <dcterms:modified xsi:type="dcterms:W3CDTF">2009-03-04T13:59:46Z</dcterms:modified>
</cp:coreProperties>
</file>