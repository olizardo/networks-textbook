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Josefin Slab"/>
      <p:regular r:id="rId35"/>
      <p:bold r:id="rId36"/>
      <p:italic r:id="rId37"/>
      <p:boldItalic r:id="rId38"/>
    </p:embeddedFont>
    <p:embeddedFont>
      <p:font typeface="Economica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D01219-9702-482A-9B42-8BC4356D5E4A}">
  <a:tblStyle styleId="{D3D01219-9702-482A-9B42-8BC4356D5E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626B790-1765-4244-90C5-48145CBCF0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E576E37-7153-4A60-9E95-4E70AA07DF6E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20" Type="http://schemas.openxmlformats.org/officeDocument/2006/relationships/slide" Target="slides/slide15.xml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JosefinSlab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JosefinSlab-italic.fntdata"/><Relationship Id="rId14" Type="http://schemas.openxmlformats.org/officeDocument/2006/relationships/slide" Target="slides/slide9.xml"/><Relationship Id="rId36" Type="http://schemas.openxmlformats.org/officeDocument/2006/relationships/font" Target="fonts/JosefinSlab-bold.fntdata"/><Relationship Id="rId17" Type="http://schemas.openxmlformats.org/officeDocument/2006/relationships/slide" Target="slides/slide12.xml"/><Relationship Id="rId39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38" Type="http://schemas.openxmlformats.org/officeDocument/2006/relationships/font" Target="fonts/JosefinSlab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20d60c6a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20d60c6a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0d60c6a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0d60c6a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0d60c6a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0d60c6a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0d60c6a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20d60c6a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0d60c6a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0d60c6a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0d60c6a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0d60c6a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0d60c6a6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0d60c6a6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1187c6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1187c6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0d60c6a6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0d60c6a6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0d60c6a6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0d60c6a6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0d60c6a6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0d60c6a6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0d60c6a6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20d60c6a6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0d60c6a6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20d60c6a6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0d60c6a6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0d60c6a6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0d60c6a6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0d60c6a6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0d60c6a6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0d60c6a6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0d60c6a6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20d60c6a6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0f888c7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10f888c76_0_7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0f888c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0f888c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0d60c6a6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20d60c6a6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0d60c6a6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20d60c6a6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74640b49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74640b49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74640b49b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74640b49b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74640b49b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74640b49b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74640b49b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74640b49b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0f888c76_1_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10f888c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0f888c76_1_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10f888c7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0f888c76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g310f888c7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" sz="1800" u="none" cap="none" strike="noStrike"/>
              <a:t>Look at Sum d(i,k) n2 vs. n5</a:t>
            </a:r>
            <a:endParaRPr/>
          </a:p>
        </p:txBody>
      </p:sp>
      <p:sp>
        <p:nvSpPr>
          <p:cNvPr id="289" name="Google Shape;289;g310f888c76_1_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0f888c76_1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g310f888c76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" sz="1800" u="none" cap="none" strike="noStrike"/>
              <a:t>For an event:  irony,  if most members not in any other events, higher </a:t>
            </a:r>
            <a:r>
              <a:rPr lang="en" sz="1800"/>
              <a:t>betweenness</a:t>
            </a:r>
            <a:r>
              <a:rPr b="0" i="0" lang="en" sz="1800" u="none" cap="none" strike="noStrike"/>
              <a:t> centrality, i.e. non-central actors create high event </a:t>
            </a:r>
            <a:r>
              <a:rPr lang="en" sz="1800"/>
              <a:t>betweenness</a:t>
            </a:r>
            <a:r>
              <a:rPr b="0" i="0" lang="en" sz="1800" u="none" cap="none" strike="noStrike"/>
              <a:t>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" sz="1800" u="none" cap="none" strike="noStrike"/>
              <a:t>For an actor, if it belongs to an event with only one member (it), the actor gains betw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" sz="1800" u="none" cap="none" strike="noStrike"/>
              <a:t>LIKE  actors bridge events and have more centrality to the extent that only they do so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" sz="1800" u="none" cap="none" strike="noStrike"/>
              <a:t>events bridge actors and more more centrality to the extent that only the event does so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" sz="1800" u="none" cap="none" strike="noStrike"/>
              <a:t>Events: Look at n2 to n6,  must go through M2, which gives M2 higher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" sz="1800" u="none" cap="none" strike="noStrike"/>
              <a:t>Actors:  Look at N5 vs. N4 (or N2).  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" sz="1800" u="none" cap="none" strike="noStrike"/>
              <a:t>	N5 connects all three events, while N4 and N2 connect none (because they only belong to one event).  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10f888c76_1_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affiliation networks link persons to other kinds of entities (such as “groups”)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commonly groups or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are composed of: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</a:t>
            </a:r>
            <a:r>
              <a:rPr b="1" lang="en"/>
              <a:t>individuals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</a:t>
            </a:r>
            <a:r>
              <a:rPr b="1" lang="en"/>
              <a:t>groups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 set of </a:t>
            </a:r>
            <a:r>
              <a:rPr b="1" lang="en"/>
              <a:t>relations</a:t>
            </a:r>
            <a:r>
              <a:rPr lang="en"/>
              <a:t> linking individuals to groups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Subsets</a:t>
            </a:r>
            <a:r>
              <a:rPr lang="en"/>
              <a:t> of individuals belonging to the same groups</a:t>
            </a:r>
            <a:endParaRPr/>
          </a:p>
        </p:txBody>
      </p:sp>
      <p:pic>
        <p:nvPicPr>
          <p:cNvPr descr="slide_50.jpg" id="64" name="Google Shape;64;p13"/>
          <p:cNvPicPr preferRelativeResize="0"/>
          <p:nvPr/>
        </p:nvPicPr>
        <p:blipFill rotWithShape="1">
          <a:blip r:embed="rId3">
            <a:alphaModFix/>
          </a:blip>
          <a:srcRect b="7613" l="22541" r="23765" t="39555"/>
          <a:stretch/>
        </p:blipFill>
        <p:spPr>
          <a:xfrm>
            <a:off x="5478300" y="1334200"/>
            <a:ext cx="3354000" cy="2475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225225"/>
            <a:ext cx="4851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CEOs</a:t>
            </a:r>
            <a:r>
              <a:rPr lang="en"/>
              <a:t> and the </a:t>
            </a:r>
            <a:r>
              <a:rPr b="1" lang="en"/>
              <a:t>board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directors</a:t>
            </a:r>
            <a:r>
              <a:rPr lang="en"/>
              <a:t> that they sit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Community</a:t>
            </a:r>
            <a:r>
              <a:rPr lang="en"/>
              <a:t> </a:t>
            </a:r>
            <a:r>
              <a:rPr b="1" lang="en"/>
              <a:t>leaders</a:t>
            </a:r>
            <a:r>
              <a:rPr lang="en"/>
              <a:t> and the </a:t>
            </a:r>
            <a:r>
              <a:rPr b="1" lang="en"/>
              <a:t>associations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Broadway</a:t>
            </a:r>
            <a:r>
              <a:rPr lang="en"/>
              <a:t> </a:t>
            </a:r>
            <a:r>
              <a:rPr b="1" lang="en"/>
              <a:t>talent</a:t>
            </a:r>
            <a:r>
              <a:rPr lang="en"/>
              <a:t> and the </a:t>
            </a:r>
            <a:r>
              <a:rPr b="1" lang="en"/>
              <a:t>projects</a:t>
            </a:r>
            <a:r>
              <a:rPr lang="en"/>
              <a:t> that they collaborate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Scientific papers</a:t>
            </a:r>
            <a:r>
              <a:rPr lang="en"/>
              <a:t> and the </a:t>
            </a:r>
            <a:r>
              <a:rPr b="1" lang="en"/>
              <a:t>people</a:t>
            </a:r>
            <a:r>
              <a:rPr lang="en"/>
              <a:t> they cite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slide_50.jpg" id="71" name="Google Shape;71;p14"/>
          <p:cNvPicPr preferRelativeResize="0"/>
          <p:nvPr/>
        </p:nvPicPr>
        <p:blipFill rotWithShape="1">
          <a:blip r:embed="rId3">
            <a:alphaModFix/>
          </a:blip>
          <a:srcRect b="7613" l="22541" r="23765" t="39555"/>
          <a:stretch/>
        </p:blipFill>
        <p:spPr>
          <a:xfrm>
            <a:off x="5478300" y="1334200"/>
            <a:ext cx="3354000" cy="2475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marvel-3.png" id="77" name="Google Shape;77;p15"/>
          <p:cNvPicPr preferRelativeResize="0"/>
          <p:nvPr/>
        </p:nvPicPr>
        <p:blipFill rotWithShape="1">
          <a:blip r:embed="rId3">
            <a:alphaModFix/>
          </a:blip>
          <a:srcRect b="2471" l="2257" r="1691" t="263"/>
          <a:stretch/>
        </p:blipFill>
        <p:spPr>
          <a:xfrm>
            <a:off x="5956575" y="1186225"/>
            <a:ext cx="2875725" cy="3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Hollywood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actors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movies</a:t>
            </a:r>
            <a:r>
              <a:rPr lang="en">
                <a:solidFill>
                  <a:srgbClr val="FF0000"/>
                </a:solidFill>
              </a:rPr>
              <a:t> that they make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CEOs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board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of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directors</a:t>
            </a:r>
            <a:r>
              <a:rPr lang="en">
                <a:solidFill>
                  <a:srgbClr val="000000"/>
                </a:solidFill>
              </a:rPr>
              <a:t> that they sit 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Community</a:t>
            </a:r>
            <a:r>
              <a:rPr lang="en"/>
              <a:t> </a:t>
            </a:r>
            <a:r>
              <a:rPr b="1" lang="en"/>
              <a:t>leaders</a:t>
            </a:r>
            <a:r>
              <a:rPr lang="en"/>
              <a:t> and the </a:t>
            </a:r>
            <a:r>
              <a:rPr b="1" lang="en"/>
              <a:t>associations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Broadway</a:t>
            </a:r>
            <a:r>
              <a:rPr lang="en"/>
              <a:t> </a:t>
            </a:r>
            <a:r>
              <a:rPr b="1" lang="en"/>
              <a:t>talent</a:t>
            </a:r>
            <a:r>
              <a:rPr lang="en"/>
              <a:t> and the </a:t>
            </a:r>
            <a:r>
              <a:rPr b="1" lang="en"/>
              <a:t>projects</a:t>
            </a:r>
            <a:r>
              <a:rPr lang="en"/>
              <a:t> that they collaborate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Citigroup_corp_NetDraw.gif"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CEOs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board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of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directors</a:t>
            </a:r>
            <a:r>
              <a:rPr lang="en">
                <a:solidFill>
                  <a:srgbClr val="FF0000"/>
                </a:solidFill>
              </a:rPr>
              <a:t> that they sit on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Community</a:t>
            </a:r>
            <a:r>
              <a:rPr lang="en"/>
              <a:t> </a:t>
            </a:r>
            <a:r>
              <a:rPr b="1" lang="en"/>
              <a:t>leaders</a:t>
            </a:r>
            <a:r>
              <a:rPr lang="en"/>
              <a:t> and the </a:t>
            </a:r>
            <a:r>
              <a:rPr b="1" lang="en"/>
              <a:t>associations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Broadway</a:t>
            </a:r>
            <a:r>
              <a:rPr lang="en"/>
              <a:t> </a:t>
            </a:r>
            <a:r>
              <a:rPr b="1" lang="en"/>
              <a:t>talent</a:t>
            </a:r>
            <a:r>
              <a:rPr lang="en"/>
              <a:t> and the </a:t>
            </a:r>
            <a:r>
              <a:rPr b="1" lang="en"/>
              <a:t>projects</a:t>
            </a:r>
            <a:r>
              <a:rPr lang="en"/>
              <a:t> that they collaborate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image006.jpg"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CEOs</a:t>
            </a:r>
            <a:r>
              <a:rPr lang="en"/>
              <a:t> and the </a:t>
            </a:r>
            <a:r>
              <a:rPr b="1" lang="en"/>
              <a:t>board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directors</a:t>
            </a:r>
            <a:r>
              <a:rPr lang="en"/>
              <a:t> that they sit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Community</a:t>
            </a:r>
            <a:r>
              <a:rPr lang="en"/>
              <a:t> </a:t>
            </a:r>
            <a:r>
              <a:rPr b="1" lang="en"/>
              <a:t>leaders</a:t>
            </a:r>
            <a:r>
              <a:rPr lang="en"/>
              <a:t> and the </a:t>
            </a:r>
            <a:r>
              <a:rPr b="1" lang="en"/>
              <a:t>associations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Broadway</a:t>
            </a:r>
            <a:r>
              <a:rPr lang="en"/>
              <a:t> </a:t>
            </a:r>
            <a:r>
              <a:rPr b="1" lang="en"/>
              <a:t>talent</a:t>
            </a:r>
            <a:r>
              <a:rPr lang="en"/>
              <a:t> and the </a:t>
            </a:r>
            <a:r>
              <a:rPr b="1" lang="en"/>
              <a:t>projects</a:t>
            </a:r>
            <a:r>
              <a:rPr lang="en"/>
              <a:t> that they collaborate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Scientists </a:t>
            </a:r>
            <a:r>
              <a:rPr lang="en">
                <a:solidFill>
                  <a:srgbClr val="FF0000"/>
                </a:solidFill>
              </a:rPr>
              <a:t>and the </a:t>
            </a:r>
            <a:r>
              <a:rPr b="1" lang="en">
                <a:solidFill>
                  <a:srgbClr val="FF0000"/>
                </a:solidFill>
              </a:rPr>
              <a:t>journal</a:t>
            </a:r>
            <a:r>
              <a:rPr lang="en">
                <a:solidFill>
                  <a:srgbClr val="FF0000"/>
                </a:solidFill>
              </a:rPr>
              <a:t> they publish in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Bipartite graphs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networks analysis </a:t>
            </a:r>
            <a:r>
              <a:rPr b="1" lang="en"/>
              <a:t>affiliation</a:t>
            </a:r>
            <a:r>
              <a:rPr lang="en"/>
              <a:t> </a:t>
            </a:r>
            <a:r>
              <a:rPr b="1" lang="en"/>
              <a:t>networks</a:t>
            </a:r>
            <a:r>
              <a:rPr lang="en"/>
              <a:t> can be represented as </a:t>
            </a:r>
            <a:r>
              <a:rPr b="1" lang="en"/>
              <a:t>bipartite</a:t>
            </a:r>
            <a:r>
              <a:rPr lang="en"/>
              <a:t> </a:t>
            </a:r>
            <a:r>
              <a:rPr b="1" lang="en"/>
              <a:t>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bipartite graph is characterized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set of vertices (</a:t>
            </a:r>
            <a:r>
              <a:rPr b="1" lang="en"/>
              <a:t>g</a:t>
            </a:r>
            <a:r>
              <a:rPr lang="en"/>
              <a:t>) and (</a:t>
            </a:r>
            <a:r>
              <a:rPr b="1" lang="en"/>
              <a:t>h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relations (</a:t>
            </a:r>
            <a:r>
              <a:rPr b="1" lang="en"/>
              <a:t>e</a:t>
            </a:r>
            <a:r>
              <a:rPr lang="en"/>
              <a:t>) linking vertices from set </a:t>
            </a:r>
            <a:r>
              <a:rPr b="1" lang="en"/>
              <a:t>g</a:t>
            </a:r>
            <a:r>
              <a:rPr lang="en"/>
              <a:t> to vertices from set </a:t>
            </a:r>
            <a:r>
              <a:rPr b="1" lang="en"/>
              <a:t>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sets g and h are </a:t>
            </a:r>
            <a:r>
              <a:rPr b="1" lang="en"/>
              <a:t>disjoint</a:t>
            </a:r>
            <a:r>
              <a:rPr lang="en"/>
              <a:t> 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means they don’t share members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not </a:t>
            </a:r>
            <a:r>
              <a:rPr b="1" lang="en"/>
              <a:t>within</a:t>
            </a:r>
            <a:r>
              <a:rPr lang="en"/>
              <a:t> sets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220px-Simple-bipartite-graph.svg.png"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5823300" y="1193125"/>
            <a:ext cx="2664000" cy="28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sz="1600"/>
              <a:t>g                                     h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graphs: Matrix representation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225225"/>
            <a:ext cx="390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Bipartite graphs</a:t>
            </a:r>
            <a:r>
              <a:rPr lang="en"/>
              <a:t> are usually represented using an </a:t>
            </a:r>
            <a:r>
              <a:rPr b="1" lang="en"/>
              <a:t>affiliation matrix</a:t>
            </a:r>
            <a:r>
              <a:rPr lang="en"/>
              <a:t> A of dimensions g x h, where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is the number of </a:t>
            </a:r>
            <a:r>
              <a:rPr b="1" lang="en"/>
              <a:t>persons</a:t>
            </a:r>
            <a:r>
              <a:rPr lang="en"/>
              <a:t> (rows)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 is the number of </a:t>
            </a:r>
            <a:r>
              <a:rPr b="1" lang="en"/>
              <a:t>groups</a:t>
            </a:r>
            <a:r>
              <a:rPr lang="en"/>
              <a:t> (columns)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</a:t>
            </a:r>
            <a:r>
              <a:rPr b="1" baseline="-25000" lang="en"/>
              <a:t>ik</a:t>
            </a:r>
            <a:r>
              <a:rPr lang="en"/>
              <a:t> = 1 if actor i is affiliated with event k and zero otherwise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4218300" y="13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{D3D01219-9702-482A-9B42-8BC4356D5E4A}</a:tableStyleId>
              </a:tblPr>
              <a:tblGrid>
                <a:gridCol w="769000"/>
                <a:gridCol w="769000"/>
                <a:gridCol w="769000"/>
                <a:gridCol w="769000"/>
                <a:gridCol w="769000"/>
                <a:gridCol w="769000"/>
              </a:tblGrid>
              <a:tr h="6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Debate Club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Glee Club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Student Council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Swim Team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Track Team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Janice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Lena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Olive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graphs: Matrix representation</a:t>
            </a:r>
            <a:endParaRPr/>
          </a:p>
        </p:txBody>
      </p:sp>
      <p:graphicFrame>
        <p:nvGraphicFramePr>
          <p:cNvPr id="113" name="Google Shape;113;p20"/>
          <p:cNvGraphicFramePr/>
          <p:nvPr/>
        </p:nvGraphicFramePr>
        <p:xfrm>
          <a:off x="4218300" y="13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{D3D01219-9702-482A-9B42-8BC4356D5E4A}</a:tableStyleId>
              </a:tblPr>
              <a:tblGrid>
                <a:gridCol w="769000"/>
                <a:gridCol w="769000"/>
                <a:gridCol w="769000"/>
                <a:gridCol w="769000"/>
                <a:gridCol w="769000"/>
                <a:gridCol w="769000"/>
              </a:tblGrid>
              <a:tr h="6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Debate Club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Glee Club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Student Council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Swim Team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Track Team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Janice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Lena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Olive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4025"/>
            <a:ext cx="4065899" cy="2960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The Transpose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225225"/>
            <a:ext cx="3525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transpose (' or </a:t>
            </a:r>
            <a:r>
              <a:rPr baseline="30000" lang="en"/>
              <a:t>T</a:t>
            </a:r>
            <a:r>
              <a:rPr lang="en"/>
              <a:t>) of a matrix reverses the row and column dimensions.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baseline="30000" lang="en"/>
              <a:t>T</a:t>
            </a:r>
            <a:r>
              <a:rPr lang="en"/>
              <a:t>= A</a:t>
            </a:r>
            <a:r>
              <a:rPr baseline="-25000" lang="en"/>
              <a:t>ji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a g x h matrix becomes an h x g matrix</a:t>
            </a:r>
            <a:endParaRPr/>
          </a:p>
        </p:txBody>
      </p:sp>
      <p:graphicFrame>
        <p:nvGraphicFramePr>
          <p:cNvPr id="121" name="Google Shape;121;p21"/>
          <p:cNvGraphicFramePr/>
          <p:nvPr/>
        </p:nvGraphicFramePr>
        <p:xfrm>
          <a:off x="4072725" y="204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{8626B790-1765-4244-90C5-48145CBCF008}</a:tableStyleId>
              </a:tblPr>
              <a:tblGrid>
                <a:gridCol w="382850"/>
                <a:gridCol w="382850"/>
              </a:tblGrid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21"/>
          <p:cNvSpPr/>
          <p:nvPr/>
        </p:nvSpPr>
        <p:spPr>
          <a:xfrm>
            <a:off x="5074300" y="2578000"/>
            <a:ext cx="1530300" cy="46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3" name="Google Shape;123;p21"/>
          <p:cNvGraphicFramePr/>
          <p:nvPr/>
        </p:nvGraphicFramePr>
        <p:xfrm>
          <a:off x="6825325" y="230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{8626B790-1765-4244-90C5-48145CBCF008}</a:tableStyleId>
              </a:tblPr>
              <a:tblGrid>
                <a:gridCol w="449550"/>
                <a:gridCol w="449550"/>
                <a:gridCol w="449550"/>
              </a:tblGrid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21"/>
          <p:cNvSpPr txBox="1"/>
          <p:nvPr/>
        </p:nvSpPr>
        <p:spPr>
          <a:xfrm>
            <a:off x="4230125" y="1546638"/>
            <a:ext cx="450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endParaRPr b="1"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7184950" y="1546638"/>
            <a:ext cx="629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30000" lang="en" sz="22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endParaRPr b="1" baseline="30000"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22"/>
          <p:cNvGraphicFramePr/>
          <p:nvPr/>
        </p:nvGraphicFramePr>
        <p:xfrm>
          <a:off x="347875" y="142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{D3D01219-9702-482A-9B42-8BC4356D5E4A}</a:tableStyleId>
              </a:tblPr>
              <a:tblGrid>
                <a:gridCol w="664725"/>
                <a:gridCol w="664725"/>
                <a:gridCol w="664725"/>
                <a:gridCol w="664725"/>
                <a:gridCol w="664725"/>
                <a:gridCol w="664725"/>
              </a:tblGrid>
              <a:tr h="54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Debate Club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Glee Club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Student Council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Swim Team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Track Team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7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Janice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Kent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Max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Olive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7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1" name="Google Shape;131;p22"/>
          <p:cNvSpPr txBox="1"/>
          <p:nvPr/>
        </p:nvSpPr>
        <p:spPr>
          <a:xfrm>
            <a:off x="1680100" y="4198525"/>
            <a:ext cx="132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</a:t>
            </a:r>
            <a:r>
              <a:rPr baseline="-25000" lang="en" sz="3000"/>
              <a:t>6 x 5</a:t>
            </a:r>
            <a:endParaRPr baseline="-25000" sz="3000"/>
          </a:p>
        </p:txBody>
      </p:sp>
      <p:sp>
        <p:nvSpPr>
          <p:cNvPr id="132" name="Google Shape;132;p22"/>
          <p:cNvSpPr txBox="1"/>
          <p:nvPr/>
        </p:nvSpPr>
        <p:spPr>
          <a:xfrm>
            <a:off x="6051200" y="4198525"/>
            <a:ext cx="132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</a:t>
            </a:r>
            <a:r>
              <a:rPr baseline="30000" lang="en" sz="3000"/>
              <a:t>T</a:t>
            </a:r>
            <a:r>
              <a:rPr baseline="-25000" lang="en" sz="3000"/>
              <a:t>5 x 6</a:t>
            </a:r>
            <a:endParaRPr baseline="-25000" sz="3000"/>
          </a:p>
        </p:txBody>
      </p:sp>
      <p:graphicFrame>
        <p:nvGraphicFramePr>
          <p:cNvPr id="133" name="Google Shape;133;p22"/>
          <p:cNvGraphicFramePr/>
          <p:nvPr/>
        </p:nvGraphicFramePr>
        <p:xfrm>
          <a:off x="4512275" y="142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{D3D01219-9702-482A-9B42-8BC4356D5E4A}</a:tableStyleId>
              </a:tblPr>
              <a:tblGrid>
                <a:gridCol w="628825"/>
                <a:gridCol w="628825"/>
                <a:gridCol w="628825"/>
                <a:gridCol w="628825"/>
                <a:gridCol w="628825"/>
                <a:gridCol w="628825"/>
                <a:gridCol w="628825"/>
              </a:tblGrid>
              <a:tr h="3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Janice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Kent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Lena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Max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Olive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Pat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5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Debate Club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Glee Club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Student Council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Swim Team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0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Track Team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225225"/>
            <a:ext cx="833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matrix multiplication (x) of two matrices involves all elements of the matrix, and will often result in a matrix of new dimensions.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to be conformable, the inner dimensions (red) of both matrices must match.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resulting matrix has the dimensions a x b, where a is the outer dimension (green) of the left multiplier and b is the outer dimension (blue) of the right multiplier.  So:</a:t>
            </a:r>
            <a:endParaRPr/>
          </a:p>
        </p:txBody>
      </p:sp>
      <p:grpSp>
        <p:nvGrpSpPr>
          <p:cNvPr id="140" name="Google Shape;140;p23"/>
          <p:cNvGrpSpPr/>
          <p:nvPr/>
        </p:nvGrpSpPr>
        <p:grpSpPr>
          <a:xfrm>
            <a:off x="813184" y="2728816"/>
            <a:ext cx="7517650" cy="2178584"/>
            <a:chOff x="1280934" y="4304766"/>
            <a:chExt cx="7517650" cy="2178584"/>
          </a:xfrm>
        </p:grpSpPr>
        <p:sp>
          <p:nvSpPr>
            <p:cNvPr id="141" name="Google Shape;141;p23"/>
            <p:cNvSpPr/>
            <p:nvPr/>
          </p:nvSpPr>
          <p:spPr>
            <a:xfrm rot="-5345394">
              <a:off x="2173916" y="4598542"/>
              <a:ext cx="377748" cy="760899"/>
            </a:xfrm>
            <a:prstGeom prst="leftBrace">
              <a:avLst>
                <a:gd fmla="val 8333" name="adj1"/>
                <a:gd fmla="val 54154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3"/>
            <p:cNvSpPr/>
            <p:nvPr/>
          </p:nvSpPr>
          <p:spPr>
            <a:xfrm rot="-5344590">
              <a:off x="1606236" y="4903103"/>
              <a:ext cx="1507696" cy="1282662"/>
            </a:xfrm>
            <a:prstGeom prst="leftBrace">
              <a:avLst>
                <a:gd fmla="val 8333" name="adj1"/>
                <a:gd fmla="val 54471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3"/>
            <p:cNvSpPr txBox="1"/>
            <p:nvPr/>
          </p:nvSpPr>
          <p:spPr>
            <a:xfrm>
              <a:off x="1725963" y="5103416"/>
              <a:ext cx="13152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Inner dims. match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44" name="Google Shape;144;p23"/>
            <p:cNvSpPr txBox="1"/>
            <p:nvPr/>
          </p:nvSpPr>
          <p:spPr>
            <a:xfrm>
              <a:off x="1827290" y="6182750"/>
              <a:ext cx="11274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Outer dims.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45" name="Google Shape;145;p23"/>
            <p:cNvSpPr txBox="1"/>
            <p:nvPr/>
          </p:nvSpPr>
          <p:spPr>
            <a:xfrm>
              <a:off x="1280934" y="4304766"/>
              <a:ext cx="2921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A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x   A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0000FF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 = C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 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x </a:t>
              </a:r>
              <a:r>
                <a:rPr b="1" baseline="-25000" lang="en" sz="2200">
                  <a:solidFill>
                    <a:srgbClr val="0000FF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endParaRPr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46" name="Google Shape;146;p23"/>
            <p:cNvSpPr txBox="1"/>
            <p:nvPr/>
          </p:nvSpPr>
          <p:spPr>
            <a:xfrm>
              <a:off x="4890484" y="4304766"/>
              <a:ext cx="39081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A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x   B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0000FF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4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 = Not defined</a:t>
              </a:r>
              <a:endParaRPr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 rot="-5344964">
              <a:off x="5819971" y="4656038"/>
              <a:ext cx="449758" cy="732389"/>
            </a:xfrm>
            <a:prstGeom prst="leftBrace">
              <a:avLst>
                <a:gd fmla="val 8333" name="adj1"/>
                <a:gd fmla="val 51810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3"/>
            <p:cNvSpPr txBox="1"/>
            <p:nvPr/>
          </p:nvSpPr>
          <p:spPr>
            <a:xfrm>
              <a:off x="5063100" y="5174891"/>
              <a:ext cx="1963500" cy="5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Inner dimensions do not match 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cxnSp>
          <p:nvCxnSpPr>
            <p:cNvPr id="149" name="Google Shape;149;p23"/>
            <p:cNvCxnSpPr>
              <a:stCxn id="144" idx="3"/>
            </p:cNvCxnSpPr>
            <p:nvPr/>
          </p:nvCxnSpPr>
          <p:spPr>
            <a:xfrm flipH="1" rot="10800000">
              <a:off x="2954690" y="4857050"/>
              <a:ext cx="887700" cy="1476000"/>
            </a:xfrm>
            <a:prstGeom prst="straightConnector1">
              <a:avLst/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225225"/>
            <a:ext cx="833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matrix multiplication (x) of two matrices involves all elements of the matrix, and will often result in a matrix of new dimensions.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to be conformable, the inner dimensions (red) of both matrices must match.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Turns out that the product of any matrix A by its transpose is defined!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 is the product of the transpose times the original matrix!</a:t>
            </a:r>
            <a:endParaRPr b="1"/>
          </a:p>
        </p:txBody>
      </p:sp>
      <p:grpSp>
        <p:nvGrpSpPr>
          <p:cNvPr id="156" name="Google Shape;156;p24"/>
          <p:cNvGrpSpPr/>
          <p:nvPr/>
        </p:nvGrpSpPr>
        <p:grpSpPr>
          <a:xfrm>
            <a:off x="813184" y="2728816"/>
            <a:ext cx="2921700" cy="2178584"/>
            <a:chOff x="1280934" y="4304766"/>
            <a:chExt cx="2921700" cy="2178584"/>
          </a:xfrm>
        </p:grpSpPr>
        <p:sp>
          <p:nvSpPr>
            <p:cNvPr id="157" name="Google Shape;157;p24"/>
            <p:cNvSpPr/>
            <p:nvPr/>
          </p:nvSpPr>
          <p:spPr>
            <a:xfrm rot="-5345394">
              <a:off x="2173916" y="4598542"/>
              <a:ext cx="377748" cy="760899"/>
            </a:xfrm>
            <a:prstGeom prst="leftBrace">
              <a:avLst>
                <a:gd fmla="val 8333" name="adj1"/>
                <a:gd fmla="val 54154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4"/>
            <p:cNvSpPr/>
            <p:nvPr/>
          </p:nvSpPr>
          <p:spPr>
            <a:xfrm rot="-5344590">
              <a:off x="1606236" y="4903103"/>
              <a:ext cx="1507696" cy="1282662"/>
            </a:xfrm>
            <a:prstGeom prst="leftBrace">
              <a:avLst>
                <a:gd fmla="val 8333" name="adj1"/>
                <a:gd fmla="val 54471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4"/>
            <p:cNvSpPr txBox="1"/>
            <p:nvPr/>
          </p:nvSpPr>
          <p:spPr>
            <a:xfrm>
              <a:off x="1725963" y="5103416"/>
              <a:ext cx="13152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Inner dims. match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60" name="Google Shape;160;p24"/>
            <p:cNvSpPr txBox="1"/>
            <p:nvPr/>
          </p:nvSpPr>
          <p:spPr>
            <a:xfrm>
              <a:off x="1827290" y="6182750"/>
              <a:ext cx="11274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Outer dims.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61" name="Google Shape;161;p24"/>
            <p:cNvSpPr txBox="1"/>
            <p:nvPr/>
          </p:nvSpPr>
          <p:spPr>
            <a:xfrm>
              <a:off x="1280934" y="4304766"/>
              <a:ext cx="2921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A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x   A</a:t>
              </a:r>
              <a:r>
                <a:rPr baseline="30000" lang="en" sz="2200">
                  <a:latin typeface="Josefin Slab"/>
                  <a:ea typeface="Josefin Slab"/>
                  <a:cs typeface="Josefin Slab"/>
                  <a:sym typeface="Josefin Slab"/>
                </a:rPr>
                <a:t>T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 = C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 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x 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endParaRPr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cxnSp>
          <p:nvCxnSpPr>
            <p:cNvPr id="162" name="Google Shape;162;p24"/>
            <p:cNvCxnSpPr>
              <a:stCxn id="160" idx="3"/>
            </p:cNvCxnSpPr>
            <p:nvPr/>
          </p:nvCxnSpPr>
          <p:spPr>
            <a:xfrm flipH="1" rot="10800000">
              <a:off x="2954690" y="4857050"/>
              <a:ext cx="887700" cy="1476000"/>
            </a:xfrm>
            <a:prstGeom prst="straightConnector1">
              <a:avLst/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3" name="Google Shape;163;p24"/>
          <p:cNvGrpSpPr/>
          <p:nvPr/>
        </p:nvGrpSpPr>
        <p:grpSpPr>
          <a:xfrm>
            <a:off x="5277709" y="2728816"/>
            <a:ext cx="2921700" cy="2178584"/>
            <a:chOff x="1280934" y="4304766"/>
            <a:chExt cx="2921700" cy="2178584"/>
          </a:xfrm>
        </p:grpSpPr>
        <p:sp>
          <p:nvSpPr>
            <p:cNvPr id="164" name="Google Shape;164;p24"/>
            <p:cNvSpPr/>
            <p:nvPr/>
          </p:nvSpPr>
          <p:spPr>
            <a:xfrm rot="-5345394">
              <a:off x="2173916" y="4598542"/>
              <a:ext cx="377748" cy="760899"/>
            </a:xfrm>
            <a:prstGeom prst="leftBrace">
              <a:avLst>
                <a:gd fmla="val 8333" name="adj1"/>
                <a:gd fmla="val 54154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4"/>
            <p:cNvSpPr/>
            <p:nvPr/>
          </p:nvSpPr>
          <p:spPr>
            <a:xfrm rot="-5344590">
              <a:off x="1606236" y="4903103"/>
              <a:ext cx="1507696" cy="1282662"/>
            </a:xfrm>
            <a:prstGeom prst="leftBrace">
              <a:avLst>
                <a:gd fmla="val 8333" name="adj1"/>
                <a:gd fmla="val 54471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4"/>
            <p:cNvSpPr txBox="1"/>
            <p:nvPr/>
          </p:nvSpPr>
          <p:spPr>
            <a:xfrm>
              <a:off x="1725963" y="5103416"/>
              <a:ext cx="13152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Inner dims. match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67" name="Google Shape;167;p24"/>
            <p:cNvSpPr txBox="1"/>
            <p:nvPr/>
          </p:nvSpPr>
          <p:spPr>
            <a:xfrm>
              <a:off x="1827290" y="6182750"/>
              <a:ext cx="11274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Outer dims.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68" name="Google Shape;168;p24"/>
            <p:cNvSpPr txBox="1"/>
            <p:nvPr/>
          </p:nvSpPr>
          <p:spPr>
            <a:xfrm>
              <a:off x="1280934" y="4304766"/>
              <a:ext cx="2921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A</a:t>
              </a:r>
              <a:r>
                <a:rPr baseline="30000" lang="en" sz="2200">
                  <a:solidFill>
                    <a:schemeClr val="dk1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T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x   A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 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x 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 = C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 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x 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endParaRPr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cxnSp>
          <p:nvCxnSpPr>
            <p:cNvPr id="169" name="Google Shape;169;p24"/>
            <p:cNvCxnSpPr>
              <a:stCxn id="167" idx="3"/>
            </p:cNvCxnSpPr>
            <p:nvPr/>
          </p:nvCxnSpPr>
          <p:spPr>
            <a:xfrm flipH="1" rot="10800000">
              <a:off x="2954690" y="4857050"/>
              <a:ext cx="887700" cy="1476000"/>
            </a:xfrm>
            <a:prstGeom prst="straightConnector1">
              <a:avLst/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two mode to one-mode and back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when you multiply an affiliation A matrix by its transpose A</a:t>
            </a:r>
            <a:r>
              <a:rPr baseline="30000" lang="en"/>
              <a:t>T</a:t>
            </a:r>
            <a:r>
              <a:rPr lang="en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is g x h and g is the number of people and h is the number of events: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g x h</a:t>
            </a:r>
            <a:r>
              <a:rPr lang="en"/>
              <a:t> x A</a:t>
            </a:r>
            <a:r>
              <a:rPr baseline="30000" lang="en"/>
              <a:t>T</a:t>
            </a:r>
            <a:r>
              <a:rPr baseline="-25000" lang="en"/>
              <a:t>h x g</a:t>
            </a:r>
            <a:r>
              <a:rPr lang="en"/>
              <a:t> = C </a:t>
            </a:r>
            <a:r>
              <a:rPr baseline="-25000" lang="en"/>
              <a:t>g x g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is a g x g (square) </a:t>
            </a:r>
            <a:r>
              <a:rPr b="1" lang="en"/>
              <a:t>co-membership</a:t>
            </a:r>
            <a:r>
              <a:rPr lang="en"/>
              <a:t>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baseline="-25000" lang="en"/>
              <a:t>ij</a:t>
            </a:r>
            <a:r>
              <a:rPr lang="en"/>
              <a:t> is the number of </a:t>
            </a:r>
            <a:r>
              <a:rPr b="1" lang="en"/>
              <a:t>common group memberships</a:t>
            </a:r>
            <a:r>
              <a:rPr lang="en"/>
              <a:t> shared by person i and person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</a:t>
            </a:r>
            <a:r>
              <a:rPr baseline="-25000" lang="en"/>
              <a:t>ii </a:t>
            </a:r>
            <a:r>
              <a:rPr lang="en"/>
              <a:t>(diagonal) entries give the number of </a:t>
            </a:r>
            <a:r>
              <a:rPr b="1" lang="en"/>
              <a:t>total memberships</a:t>
            </a:r>
            <a:r>
              <a:rPr lang="en"/>
              <a:t> held by person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</a:t>
            </a:r>
            <a:r>
              <a:rPr lang="en"/>
              <a:t>discovered</a:t>
            </a:r>
            <a:r>
              <a:rPr lang="en"/>
              <a:t> by Breiger (1974)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two mode to one-mode and back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when you multiply the transpose of an affiliation matrix A</a:t>
            </a:r>
            <a:r>
              <a:rPr baseline="30000" lang="en"/>
              <a:t>T</a:t>
            </a:r>
            <a:r>
              <a:rPr lang="en"/>
              <a:t> by the original A?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is g x h and g is the number of people and h is the number of events: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30000" lang="en"/>
              <a:t>T</a:t>
            </a:r>
            <a:r>
              <a:rPr baseline="-25000" lang="en"/>
              <a:t>h x g</a:t>
            </a:r>
            <a:r>
              <a:rPr lang="en"/>
              <a:t> x A</a:t>
            </a:r>
            <a:r>
              <a:rPr baseline="-25000" lang="en"/>
              <a:t>g x h</a:t>
            </a:r>
            <a:r>
              <a:rPr lang="en"/>
              <a:t> = O </a:t>
            </a:r>
            <a:r>
              <a:rPr baseline="-25000" lang="en"/>
              <a:t>h x h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 is a h x h (square) </a:t>
            </a:r>
            <a:r>
              <a:rPr b="1" lang="en"/>
              <a:t>group</a:t>
            </a:r>
            <a:r>
              <a:rPr b="1" lang="en"/>
              <a:t>-overlap</a:t>
            </a:r>
            <a:r>
              <a:rPr lang="en"/>
              <a:t>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</a:t>
            </a:r>
            <a:r>
              <a:rPr baseline="-25000" lang="en"/>
              <a:t>ij</a:t>
            </a:r>
            <a:r>
              <a:rPr lang="en"/>
              <a:t> is the number of </a:t>
            </a:r>
            <a:r>
              <a:rPr b="1" lang="en"/>
              <a:t>shared members</a:t>
            </a:r>
            <a:r>
              <a:rPr lang="en"/>
              <a:t> between group i and group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</a:t>
            </a:r>
            <a:r>
              <a:rPr baseline="-25000" lang="en"/>
              <a:t>ii </a:t>
            </a:r>
            <a:r>
              <a:rPr lang="en"/>
              <a:t>(diagonal) entries give the </a:t>
            </a:r>
            <a:r>
              <a:rPr b="1" lang="en"/>
              <a:t>size</a:t>
            </a:r>
            <a:r>
              <a:rPr lang="en"/>
              <a:t> of group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</a:t>
            </a:r>
            <a:r>
              <a:rPr lang="en"/>
              <a:t>discovered</a:t>
            </a:r>
            <a:r>
              <a:rPr lang="en"/>
              <a:t> by Breiger (1974)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The duality of persons and groups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detailed treatment of affiliation networks is due to Breiger (1974) in a now classic paper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relations between entities are co-constituted by their relations to another set of entities (Simmel 1971)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Affiliation networks can be used to formalize a classic notion of how people indirectly relate to one another via their group memberships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/>
              <a:t>Duality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are related by the set of group memberships they have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Events are related by the set of persons who participate in both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Weighted graphs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featured edge weights are called weighted (valued)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 graphs can be thought of as a constrained case of weighted graphs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423099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mode projections as weighted graphs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mode projections of two mode networks can be thought of as matrix representations of weighted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People are linked to one another is they share memberships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more shared memberships the stronger the link (w</a:t>
            </a:r>
            <a:r>
              <a:rPr baseline="-25000" lang="en"/>
              <a:t>ij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Groups are linked to one another if they share members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more shared members the stronger the link (w</a:t>
            </a:r>
            <a:r>
              <a:rPr baseline="-25000" lang="en"/>
              <a:t>ij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binarize the weighted one-mode representation to get back to simple graphs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c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c*</a:t>
            </a:r>
            <a:r>
              <a:rPr baseline="-25000" lang="en"/>
              <a:t>ij</a:t>
            </a:r>
            <a:r>
              <a:rPr lang="en"/>
              <a:t> = 0; o*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o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o*</a:t>
            </a:r>
            <a:r>
              <a:rPr baseline="-25000" lang="en"/>
              <a:t>ij</a:t>
            </a:r>
            <a:r>
              <a:rPr lang="en"/>
              <a:t> = 0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>
                <a:solidFill>
                  <a:srgbClr val="FF0000"/>
                </a:solidFill>
              </a:rPr>
              <a:t>Note that co-membership and overlap relations are symmetric!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 can then calculate degree, betweenness, closeness, eigenvector, and other indices of vertex prominence and position 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Loss of information but gains in simplicity (Borgatti and Everett 2013)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bipartite graph</a:t>
            </a:r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 rotWithShape="1">
          <a:blip r:embed="rId3">
            <a:alphaModFix/>
          </a:blip>
          <a:srcRect b="12049" l="0" r="0" t="0"/>
          <a:stretch/>
        </p:blipFill>
        <p:spPr>
          <a:xfrm>
            <a:off x="4206100" y="3333600"/>
            <a:ext cx="1720125" cy="113880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348150" y="1210500"/>
            <a:ext cx="5926800" cy="16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affiliation network may also be represented as a </a:t>
            </a:r>
            <a:r>
              <a:rPr b="1" lang="en"/>
              <a:t>bipartite matrix</a:t>
            </a:r>
            <a:r>
              <a:rPr lang="en"/>
              <a:t> X</a:t>
            </a:r>
            <a:r>
              <a:rPr baseline="30000" lang="en"/>
              <a:t>NM </a:t>
            </a:r>
            <a:r>
              <a:rPr lang="en"/>
              <a:t>of dimensions (g + 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links exist only across the two types of vertices, the bipartite graph of an affiliation network has two "zero blocks"</a:t>
            </a:r>
            <a:endParaRPr/>
          </a:p>
        </p:txBody>
      </p:sp>
      <p:pic>
        <p:nvPicPr>
          <p:cNvPr id="208" name="Google Shape;208;p30"/>
          <p:cNvPicPr preferRelativeResize="0"/>
          <p:nvPr/>
        </p:nvPicPr>
        <p:blipFill rotWithShape="1">
          <a:blip r:embed="rId4">
            <a:alphaModFix/>
          </a:blip>
          <a:srcRect b="0" l="14581" r="0" t="0"/>
          <a:stretch/>
        </p:blipFill>
        <p:spPr>
          <a:xfrm>
            <a:off x="6274950" y="1379025"/>
            <a:ext cx="2557350" cy="3158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01600"/>
            <a:ext cx="3545706" cy="18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Google Shape;214;p31"/>
          <p:cNvGraphicFramePr/>
          <p:nvPr/>
        </p:nvGraphicFramePr>
        <p:xfrm>
          <a:off x="830550" y="3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{7E576E37-7153-4A60-9E95-4E70AA07DF6E}</a:tableStyleId>
              </a:tblPr>
              <a:tblGrid>
                <a:gridCol w="623575"/>
                <a:gridCol w="623575"/>
                <a:gridCol w="623575"/>
                <a:gridCol w="623575"/>
                <a:gridCol w="623575"/>
                <a:gridCol w="623575"/>
                <a:gridCol w="623575"/>
                <a:gridCol w="623575"/>
                <a:gridCol w="623575"/>
                <a:gridCol w="623575"/>
                <a:gridCol w="623575"/>
                <a:gridCol w="623575"/>
              </a:tblGrid>
              <a:tr h="47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 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Debate Club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Glee Club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Student Council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Swim Team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Track Team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Janice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Kent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Lena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Olive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Pat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Janice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Kent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Lena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Max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Olive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Pat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Debate Club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Glee Club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Student Council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Swim Team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Track Team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0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 in affiliation networks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311700" y="1225225"/>
            <a:ext cx="444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news. Degree is still degree! For people: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sums of affiliation matrix</a:t>
            </a:r>
            <a:r>
              <a:rPr lang="en"/>
              <a:t> (A) is the number of memberships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or column sums of weighted co-membership </a:t>
            </a:r>
            <a:r>
              <a:rPr lang="en"/>
              <a:t>(C)  matrix is the number of </a:t>
            </a:r>
            <a:r>
              <a:rPr i="1" lang="en"/>
              <a:t>potential non-unique contacts 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or column sums of binarized co-membership</a:t>
            </a:r>
            <a:r>
              <a:rPr lang="en"/>
              <a:t> (C*)  matrix is the number of </a:t>
            </a:r>
            <a:r>
              <a:rPr i="1" lang="en"/>
              <a:t>potential unique contacts</a:t>
            </a:r>
            <a:r>
              <a:rPr lang="en"/>
              <a:t> </a:t>
            </a:r>
            <a:r>
              <a:rPr i="1" lang="en"/>
              <a:t>of a person by dint of sharing a membership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c</a:t>
            </a:r>
            <a:r>
              <a:rPr baseline="-25000" lang="en"/>
              <a:t>ij </a:t>
            </a:r>
            <a:r>
              <a:rPr lang="en"/>
              <a:t>≥ 1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keaffiliation.png" id="221" name="Google Shape;2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300" y="1832751"/>
            <a:ext cx="3722200" cy="21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/>
          <p:nvPr/>
        </p:nvSpPr>
        <p:spPr>
          <a:xfrm>
            <a:off x="8521800" y="2283500"/>
            <a:ext cx="278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8521800" y="2596400"/>
            <a:ext cx="278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24" name="Google Shape;224;p32"/>
          <p:cNvSpPr txBox="1"/>
          <p:nvPr/>
        </p:nvSpPr>
        <p:spPr>
          <a:xfrm>
            <a:off x="8521800" y="2861300"/>
            <a:ext cx="278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25" name="Google Shape;225;p32"/>
          <p:cNvSpPr txBox="1"/>
          <p:nvPr/>
        </p:nvSpPr>
        <p:spPr>
          <a:xfrm>
            <a:off x="8521800" y="3126200"/>
            <a:ext cx="278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26" name="Google Shape;226;p32"/>
          <p:cNvSpPr txBox="1"/>
          <p:nvPr/>
        </p:nvSpPr>
        <p:spPr>
          <a:xfrm>
            <a:off x="8521800" y="3391100"/>
            <a:ext cx="278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27" name="Google Shape;227;p32"/>
          <p:cNvSpPr txBox="1"/>
          <p:nvPr/>
        </p:nvSpPr>
        <p:spPr>
          <a:xfrm>
            <a:off x="8521800" y="3656000"/>
            <a:ext cx="278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 in affiliation networks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225225"/>
            <a:ext cx="479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news. Degree is still degree! For groups: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Column sums of affiliation matrix</a:t>
            </a:r>
            <a:r>
              <a:rPr lang="en"/>
              <a:t> (A) is the size of the 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or column sums of weighted group-overlap </a:t>
            </a:r>
            <a:r>
              <a:rPr lang="en"/>
              <a:t>(O) </a:t>
            </a:r>
            <a:r>
              <a:rPr i="1" lang="en"/>
              <a:t>is the number of memberships of people who belong to the group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or column sums of binarized group-overlap</a:t>
            </a:r>
            <a:r>
              <a:rPr lang="en"/>
              <a:t> (O*)  matrix is the number of </a:t>
            </a:r>
            <a:r>
              <a:rPr i="1" lang="en"/>
              <a:t>unique groups</a:t>
            </a:r>
            <a:r>
              <a:rPr lang="en"/>
              <a:t> </a:t>
            </a:r>
            <a:r>
              <a:rPr i="1" lang="en"/>
              <a:t>the focal group is connected to by dint of sharing at least one member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o</a:t>
            </a:r>
            <a:r>
              <a:rPr baseline="-25000" lang="en"/>
              <a:t>ij </a:t>
            </a:r>
            <a:r>
              <a:rPr lang="en"/>
              <a:t>≥ 1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keaffiliation.png" id="234" name="Google Shape;2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100" y="1832751"/>
            <a:ext cx="3722200" cy="21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/>
          <p:nvPr/>
        </p:nvSpPr>
        <p:spPr>
          <a:xfrm>
            <a:off x="5962025" y="3971700"/>
            <a:ext cx="345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36" name="Google Shape;236;p33"/>
          <p:cNvSpPr txBox="1"/>
          <p:nvPr/>
        </p:nvSpPr>
        <p:spPr>
          <a:xfrm>
            <a:off x="6579825" y="3971700"/>
            <a:ext cx="345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37" name="Google Shape;237;p33"/>
          <p:cNvSpPr txBox="1"/>
          <p:nvPr/>
        </p:nvSpPr>
        <p:spPr>
          <a:xfrm>
            <a:off x="7125400" y="3971700"/>
            <a:ext cx="345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38" name="Google Shape;238;p33"/>
          <p:cNvSpPr txBox="1"/>
          <p:nvPr/>
        </p:nvSpPr>
        <p:spPr>
          <a:xfrm>
            <a:off x="7727175" y="3971700"/>
            <a:ext cx="345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39" name="Google Shape;239;p33"/>
          <p:cNvSpPr txBox="1"/>
          <p:nvPr/>
        </p:nvSpPr>
        <p:spPr>
          <a:xfrm>
            <a:off x="8328950" y="3971700"/>
            <a:ext cx="3450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means substantively? </a:t>
            </a:r>
            <a:endParaRPr/>
          </a:p>
        </p:txBody>
      </p:sp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Board interlock network (people by boards):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people: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affiliation matrix</a:t>
            </a:r>
            <a:r>
              <a:rPr lang="en"/>
              <a:t> is belonging to a lot of boards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binarized co-membership matrix</a:t>
            </a:r>
            <a:r>
              <a:rPr lang="en"/>
              <a:t> is the number of other board members encountered by virtue of sitting on a given number of boards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Citigroup_corp_NetDraw.gif"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means substantively? </a:t>
            </a:r>
            <a:endParaRPr/>
          </a:p>
        </p:txBody>
      </p:sp>
      <p:sp>
        <p:nvSpPr>
          <p:cNvPr id="252" name="Google Shape;252;p35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Board interlock network (people by boards):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boards: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affiliation matrix </a:t>
            </a:r>
            <a:r>
              <a:rPr lang="en"/>
              <a:t>is the size of the board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Centrality in </a:t>
            </a:r>
            <a:r>
              <a:rPr b="1" lang="en"/>
              <a:t>raw co-membership matrix</a:t>
            </a:r>
            <a:r>
              <a:rPr lang="en"/>
              <a:t> means board is composed of people who also sit on a lot of other boards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Citigroup_corp_NetDraw.gif" id="253" name="Google Shape;2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means substantively? </a:t>
            </a:r>
            <a:endParaRPr/>
          </a:p>
        </p:txBody>
      </p:sp>
      <p:sp>
        <p:nvSpPr>
          <p:cNvPr id="259" name="Google Shape;259;p36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Citation network (authors by journals):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authors: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affiliation matrix</a:t>
            </a:r>
            <a:r>
              <a:rPr lang="en"/>
              <a:t> means an author who publishes in lots of different journals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ij</a:t>
            </a:r>
            <a:r>
              <a:rPr baseline="30000" lang="en"/>
              <a:t>th </a:t>
            </a:r>
            <a:r>
              <a:rPr lang="en"/>
              <a:t>cell in </a:t>
            </a:r>
            <a:r>
              <a:rPr b="1" lang="en"/>
              <a:t>weighted co-membership matrix</a:t>
            </a:r>
            <a:r>
              <a:rPr lang="en"/>
              <a:t> tendency of authors i and j to publish in the same journals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006.jpg" id="260" name="Google Shape;26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means substantively? </a:t>
            </a:r>
            <a:endParaRPr/>
          </a:p>
        </p:txBody>
      </p:sp>
      <p:sp>
        <p:nvSpPr>
          <p:cNvPr id="266" name="Google Shape;266;p37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Citation network (authors by journals):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journals: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affiliation matrix</a:t>
            </a:r>
            <a:r>
              <a:rPr lang="en"/>
              <a:t> means journal to whom lots of authors contribute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weighted event-overlap matrix</a:t>
            </a:r>
            <a:r>
              <a:rPr lang="en"/>
              <a:t> means that a journal contributors also tend to publish in lots of other journals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006.jpg" id="267" name="Google Shape;26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Eigenvector centrality in affiliation networks</a:t>
            </a:r>
            <a:endParaRPr/>
          </a:p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457200" y="1200150"/>
            <a:ext cx="8229600" cy="17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gain centrality from participating in central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Events gain centrality when highly central persons participate in them</a:t>
            </a:r>
            <a:endParaRPr/>
          </a:p>
        </p:txBody>
      </p:sp>
      <p:grpSp>
        <p:nvGrpSpPr>
          <p:cNvPr id="274" name="Google Shape;274;p38"/>
          <p:cNvGrpSpPr/>
          <p:nvPr/>
        </p:nvGrpSpPr>
        <p:grpSpPr>
          <a:xfrm>
            <a:off x="3411138" y="3093869"/>
            <a:ext cx="2321719" cy="902475"/>
            <a:chOff x="3024188" y="3398794"/>
            <a:chExt cx="2321719" cy="902475"/>
          </a:xfrm>
        </p:grpSpPr>
        <p:pic>
          <p:nvPicPr>
            <p:cNvPr id="275" name="Google Shape;275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4188" y="3398794"/>
              <a:ext cx="2321719" cy="35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24188" y="3944081"/>
              <a:ext cx="2321719" cy="3571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Eigenvector centrality in affiliation networks</a:t>
            </a:r>
            <a:endParaRPr/>
          </a:p>
        </p:txBody>
      </p:sp>
      <p:sp>
        <p:nvSpPr>
          <p:cNvPr id="282" name="Google Shape;282;p39"/>
          <p:cNvSpPr txBox="1"/>
          <p:nvPr>
            <p:ph idx="1" type="body"/>
          </p:nvPr>
        </p:nvSpPr>
        <p:spPr>
          <a:xfrm>
            <a:off x="457200" y="1200150"/>
            <a:ext cx="82296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Eigenvector centralities of two mode networks explicitly incorporates the duality between actor and event centralities: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39"/>
          <p:cNvGrpSpPr/>
          <p:nvPr/>
        </p:nvGrpSpPr>
        <p:grpSpPr>
          <a:xfrm>
            <a:off x="2769613" y="2875525"/>
            <a:ext cx="3604763" cy="1255294"/>
            <a:chOff x="2148338" y="3108225"/>
            <a:chExt cx="3604763" cy="1255294"/>
          </a:xfrm>
        </p:grpSpPr>
        <p:pic>
          <p:nvPicPr>
            <p:cNvPr id="284" name="Google Shape;28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09800" y="3108225"/>
              <a:ext cx="3543300" cy="500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48338" y="3863456"/>
              <a:ext cx="3464719" cy="5000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/>
              <a:t>Closeness</a:t>
            </a:r>
            <a:endParaRPr/>
          </a:p>
        </p:txBody>
      </p:sp>
      <p:sp>
        <p:nvSpPr>
          <p:cNvPr id="292" name="Google Shape;292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Distances between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 and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 to all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an actor closeness centrality is a function of minimal distances from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of its events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of its events to other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an event, closeness centrality is a function of minimal distances from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its actors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its actors to other events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/>
              <a:t>Betweenness</a:t>
            </a:r>
            <a:endParaRPr/>
          </a:p>
        </p:txBody>
      </p:sp>
      <p:sp>
        <p:nvSpPr>
          <p:cNvPr id="299" name="Google Shape;299;p41"/>
          <p:cNvSpPr txBox="1"/>
          <p:nvPr>
            <p:ph idx="1" type="body"/>
          </p:nvPr>
        </p:nvSpPr>
        <p:spPr>
          <a:xfrm>
            <a:off x="304800" y="1200150"/>
            <a:ext cx="5369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Actors always on geodesics between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Events always on geodesics between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event gains </a:t>
            </a:r>
            <a:r>
              <a:rPr lang="en"/>
              <a:t>betweenness</a:t>
            </a:r>
            <a:r>
              <a:rPr lang="en"/>
              <a:t> centrality when pairs of its members only meet through that event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(i.e. its actors belong to no other events)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actor gains </a:t>
            </a:r>
            <a:r>
              <a:rPr lang="en"/>
              <a:t>betweenness</a:t>
            </a:r>
            <a:r>
              <a:rPr lang="en"/>
              <a:t> centrality when it is the only actor that is affiliated with a pair of events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(i.e.  the actor is the only member of the event) </a:t>
            </a:r>
            <a:endParaRPr/>
          </a:p>
        </p:txBody>
      </p:sp>
      <p:pic>
        <p:nvPicPr>
          <p:cNvPr id="300" name="Google Shape;300;p41"/>
          <p:cNvPicPr preferRelativeResize="0"/>
          <p:nvPr/>
        </p:nvPicPr>
        <p:blipFill rotWithShape="1">
          <a:blip r:embed="rId3">
            <a:alphaModFix/>
          </a:blip>
          <a:srcRect b="0" l="14775" r="8632" t="0"/>
          <a:stretch/>
        </p:blipFill>
        <p:spPr>
          <a:xfrm>
            <a:off x="5873800" y="1200150"/>
            <a:ext cx="2958500" cy="342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