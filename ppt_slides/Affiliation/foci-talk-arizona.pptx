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Comfortaa SemiBold"/>
      <p:regular r:id="rId39"/>
      <p:bold r:id="rId40"/>
    </p:embeddedFont>
    <p:embeddedFont>
      <p:font typeface="Comfortaa Light"/>
      <p:regular r:id="rId41"/>
      <p:bold r:id="rId42"/>
    </p:embeddedFont>
    <p:embeddedFont>
      <p:font typeface="Comfortaa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mfortaaSemiBold-bold.fntdata"/><Relationship Id="rId20" Type="http://schemas.openxmlformats.org/officeDocument/2006/relationships/slide" Target="slides/slide15.xml"/><Relationship Id="rId42" Type="http://schemas.openxmlformats.org/officeDocument/2006/relationships/font" Target="fonts/ComfortaaLight-bold.fntdata"/><Relationship Id="rId41" Type="http://schemas.openxmlformats.org/officeDocument/2006/relationships/font" Target="fonts/ComfortaaLight-regular.fntdata"/><Relationship Id="rId22" Type="http://schemas.openxmlformats.org/officeDocument/2006/relationships/slide" Target="slides/slide17.xml"/><Relationship Id="rId44" Type="http://schemas.openxmlformats.org/officeDocument/2006/relationships/font" Target="fonts/Comfortaa-bold.fntdata"/><Relationship Id="rId21" Type="http://schemas.openxmlformats.org/officeDocument/2006/relationships/slide" Target="slides/slide16.xml"/><Relationship Id="rId43" Type="http://schemas.openxmlformats.org/officeDocument/2006/relationships/font" Target="fonts/Comfortaa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ComfortaaSemiBold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bb6f9cb0d_1_27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bb6f9cb0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bb6f9cb0d_2_0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bb6f9cb0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bb6f9cb0d_2_32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bb6f9cb0d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bb6f9cb0d_2_64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bb6f9cb0d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bb6f9cb0d_2_100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bb6f9cb0d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bb6f9cb0d_2_135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9bb6f9cb0d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9bb6f9cb0d_2_175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9bb6f9cb0d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9bb6f9cb0d_2_209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9bb6f9cb0d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9bb6f9cb0d_2_244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9bb6f9cb0d_2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bb6f9cb0d_3_0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bb6f9cb0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9bb6f9cb0d_1_23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9bb6f9cb0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9bb6f9cb0d_0_0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9bb6f9cb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9bb6f9cb0d_0_6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9bb6f9cb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9bb6f9cb0d_0_15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9bb6f9cb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bb6f9cb0d_3_51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bb6f9cb0d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9bb6f9cb0d_0_24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9bb6f9cb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9bb6f9cb0d_0_35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9bb6f9cb0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9bb6f9cb0d_0_45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9bb6f9cb0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9bb6f9cb0d_0_55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9bb6f9cb0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9bb6f9cb0d_0_69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9bb6f9cb0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9bb6f9cb0d_0_85:notes"/>
          <p:cNvSpPr/>
          <p:nvPr>
            <p:ph idx="2" type="sldImg"/>
          </p:nvPr>
        </p:nvSpPr>
        <p:spPr>
          <a:xfrm>
            <a:off x="381332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9bb6f9cb0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9bb6f9cb0d_1_7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9bb6f9cb0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bb6f9cb0d_3_62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bb6f9cb0d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9bb6f9cb0d_3_68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9bb6f9cb0d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9bb6f9cb0d_3_74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9bb6f9cb0d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9bb6f9cb0d_3_84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9bb6f9cb0d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9bb6f9cb0d_3_89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9bb6f9cb0d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9bb6f9cb0d_3_94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9bb6f9cb0d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9bb6f9cb0d_3_99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9bb6f9cb0d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9bb6f9cb0d_1_15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9bb6f9cb0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9bb6f9cb0d_1_19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9bb6f9cb0d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9bb6f9cb0d_3_109:notes"/>
          <p:cNvSpPr/>
          <p:nvPr>
            <p:ph idx="2" type="sldImg"/>
          </p:nvPr>
        </p:nvSpPr>
        <p:spPr>
          <a:xfrm>
            <a:off x="38134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9bb6f9cb0d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900" cy="8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Font typeface="Comfortaa SemiBold"/>
              <a:buNone/>
              <a:defRPr sz="3800">
                <a:latin typeface="Comfortaa SemiBold"/>
                <a:ea typeface="Comfortaa SemiBold"/>
                <a:cs typeface="Comfortaa SemiBold"/>
                <a:sym typeface="Comfortaa SemiBold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  <a:defRPr sz="1400">
                <a:latin typeface="Comfortaa"/>
                <a:ea typeface="Comfortaa"/>
                <a:cs typeface="Comfortaa"/>
                <a:sym typeface="Comforta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●"/>
              <a:defRPr sz="1200">
                <a:latin typeface="Comfortaa"/>
                <a:ea typeface="Comfortaa"/>
                <a:cs typeface="Comfortaa"/>
                <a:sym typeface="Comforta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●"/>
              <a:defRPr sz="1200">
                <a:latin typeface="Comfortaa"/>
                <a:ea typeface="Comfortaa"/>
                <a:cs typeface="Comfortaa"/>
                <a:sym typeface="Comforta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  <a:defRPr sz="1400">
                <a:latin typeface="Comfortaa"/>
                <a:ea typeface="Comfortaa"/>
                <a:cs typeface="Comfortaa"/>
                <a:sym typeface="Comforta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●"/>
              <a:defRPr sz="1200">
                <a:latin typeface="Comfortaa"/>
                <a:ea typeface="Comfortaa"/>
                <a:cs typeface="Comfortaa"/>
                <a:sym typeface="Comforta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●"/>
              <a:defRPr sz="1200">
                <a:latin typeface="Comfortaa"/>
                <a:ea typeface="Comfortaa"/>
                <a:cs typeface="Comfortaa"/>
                <a:sym typeface="Comforta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●"/>
              <a:defRPr sz="1200">
                <a:latin typeface="Comfortaa"/>
                <a:ea typeface="Comfortaa"/>
                <a:cs typeface="Comfortaa"/>
                <a:sym typeface="Comforta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●"/>
              <a:defRPr sz="1200">
                <a:latin typeface="Comfortaa"/>
                <a:ea typeface="Comfortaa"/>
                <a:cs typeface="Comfortaa"/>
                <a:sym typeface="Comforta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●"/>
              <a:defRPr sz="1200">
                <a:latin typeface="Comfortaa"/>
                <a:ea typeface="Comfortaa"/>
                <a:cs typeface="Comfortaa"/>
                <a:sym typeface="Comforta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omfortaa"/>
              <a:buChar char="○"/>
              <a:defRPr sz="1200">
                <a:latin typeface="Comfortaa"/>
                <a:ea typeface="Comfortaa"/>
                <a:cs typeface="Comfortaa"/>
                <a:sym typeface="Comforta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omfortaa"/>
              <a:buChar char="■"/>
              <a:defRPr sz="12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Comfortaa"/>
              <a:buNone/>
              <a:defRPr sz="4800"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mfortaa"/>
              <a:buNone/>
              <a:defRPr sz="2800">
                <a:latin typeface="Comfortaa"/>
                <a:ea typeface="Comfortaa"/>
                <a:cs typeface="Comfortaa"/>
                <a:sym typeface="Comfortaa"/>
              </a:defRPr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9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900" cy="13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epulvado-brandon@norc.org" TargetMode="External"/><Relationship Id="rId4" Type="http://schemas.openxmlformats.org/officeDocument/2006/relationships/hyperlink" Target="mailto:chengwang@wayne.edu" TargetMode="External"/><Relationship Id="rId5" Type="http://schemas.openxmlformats.org/officeDocument/2006/relationships/hyperlink" Target="mailto:olizardo@soc.ucla.edu" TargetMode="External"/><Relationship Id="rId6" Type="http://schemas.openxmlformats.org/officeDocument/2006/relationships/hyperlink" Target="mailto:dhachen@nd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8708" y="0"/>
            <a:ext cx="8520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Incubators or Diffusers?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8700" y="2089550"/>
            <a:ext cx="8520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Examining the Dynamic Coupling of Context and Social Ties Across Multiple Foci</a:t>
            </a:r>
            <a:endParaRPr sz="2100"/>
          </a:p>
        </p:txBody>
      </p:sp>
      <p:sp>
        <p:nvSpPr>
          <p:cNvPr id="56" name="Google Shape;56;p13"/>
          <p:cNvSpPr txBox="1"/>
          <p:nvPr/>
        </p:nvSpPr>
        <p:spPr>
          <a:xfrm>
            <a:off x="238700" y="3180500"/>
            <a:ext cx="68919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Brandon Sepulvado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, </a:t>
            </a:r>
            <a:r>
              <a:rPr i="1" lang="en" sz="1100">
                <a:latin typeface="Comfortaa Light"/>
                <a:ea typeface="Comfortaa Light"/>
                <a:cs typeface="Comfortaa Light"/>
                <a:sym typeface="Comfortaa Light"/>
              </a:rPr>
              <a:t>NORC at the University of Chicago</a:t>
            </a:r>
            <a:endParaRPr i="1"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Comfortaa Light"/>
                <a:ea typeface="Comfortaa Light"/>
                <a:cs typeface="Comfortaa Light"/>
                <a:sym typeface="Comfortaa Light"/>
                <a:hlinkClick r:id="rId3"/>
              </a:rPr>
              <a:t>sepulvado-brandon@norc.org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endParaRPr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Cheng Wang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, </a:t>
            </a:r>
            <a:r>
              <a:rPr i="1" lang="en" sz="1100">
                <a:latin typeface="Comfortaa Light"/>
                <a:ea typeface="Comfortaa Light"/>
                <a:cs typeface="Comfortaa Light"/>
                <a:sym typeface="Comfortaa Light"/>
              </a:rPr>
              <a:t>Wayne State University</a:t>
            </a:r>
            <a:endParaRPr i="1"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Comfortaa Light"/>
                <a:ea typeface="Comfortaa Light"/>
                <a:cs typeface="Comfortaa Light"/>
                <a:sym typeface="Comfortaa Light"/>
                <a:hlinkClick r:id="rId4"/>
              </a:rPr>
              <a:t>chengwang@wayne.edu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endParaRPr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Omar Lizardo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, </a:t>
            </a:r>
            <a:r>
              <a:rPr i="1" lang="en" sz="1100">
                <a:latin typeface="Comfortaa Light"/>
                <a:ea typeface="Comfortaa Light"/>
                <a:cs typeface="Comfortaa Light"/>
                <a:sym typeface="Comfortaa Light"/>
              </a:rPr>
              <a:t>University of California, Los Angeles</a:t>
            </a:r>
            <a:endParaRPr i="1"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Comfortaa Light"/>
                <a:ea typeface="Comfortaa Light"/>
                <a:cs typeface="Comfortaa Light"/>
                <a:sym typeface="Comfortaa Light"/>
                <a:hlinkClick r:id="rId5"/>
              </a:rPr>
              <a:t>olizardo@soc.ucla.edu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endParaRPr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David Hachen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, </a:t>
            </a:r>
            <a:r>
              <a:rPr i="1" lang="en" sz="1100">
                <a:latin typeface="Comfortaa Light"/>
                <a:ea typeface="Comfortaa Light"/>
                <a:cs typeface="Comfortaa Light"/>
                <a:sym typeface="Comfortaa Light"/>
              </a:rPr>
              <a:t>University of Notre Dame</a:t>
            </a:r>
            <a:endParaRPr i="1"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Comfortaa Light"/>
                <a:ea typeface="Comfortaa Light"/>
                <a:cs typeface="Comfortaa Light"/>
                <a:sym typeface="Comfortaa Light"/>
                <a:hlinkClick r:id="rId6"/>
              </a:rPr>
              <a:t>dhachen@nd.edu</a:t>
            </a:r>
            <a:r>
              <a:rPr lang="en" sz="1100"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endParaRPr sz="110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50850"/>
            <a:ext cx="8520900" cy="8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530325" y="75275"/>
            <a:ext cx="73650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Theory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24825" y="3012475"/>
            <a:ext cx="5297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of the “Classic” ones!</a:t>
            </a:r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4507118" y="1351038"/>
            <a:ext cx="1386993" cy="1237356"/>
            <a:chOff x="124738" y="1082275"/>
            <a:chExt cx="1689600" cy="1507500"/>
          </a:xfrm>
        </p:grpSpPr>
        <p:sp>
          <p:nvSpPr>
            <p:cNvPr id="69" name="Google Shape;69;p15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70" name="Google Shape;7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" name="Google Shape;71;p15"/>
          <p:cNvGrpSpPr/>
          <p:nvPr/>
        </p:nvGrpSpPr>
        <p:grpSpPr>
          <a:xfrm>
            <a:off x="6045268" y="1351026"/>
            <a:ext cx="1386993" cy="1237356"/>
            <a:chOff x="1981925" y="1127113"/>
            <a:chExt cx="1689600" cy="1507500"/>
          </a:xfrm>
        </p:grpSpPr>
        <p:sp>
          <p:nvSpPr>
            <p:cNvPr id="72" name="Google Shape;72;p15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73" name="Google Shape;73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5"/>
          <p:cNvGrpSpPr/>
          <p:nvPr/>
        </p:nvGrpSpPr>
        <p:grpSpPr>
          <a:xfrm>
            <a:off x="7692354" y="1293455"/>
            <a:ext cx="1386993" cy="1237356"/>
            <a:chOff x="4020563" y="1127100"/>
            <a:chExt cx="1689600" cy="1507500"/>
          </a:xfrm>
        </p:grpSpPr>
        <p:sp>
          <p:nvSpPr>
            <p:cNvPr id="75" name="Google Shape;75;p15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76" name="Google Shape;7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" name="Google Shape;77;p15"/>
          <p:cNvGrpSpPr/>
          <p:nvPr/>
        </p:nvGrpSpPr>
        <p:grpSpPr>
          <a:xfrm>
            <a:off x="6479089" y="2974424"/>
            <a:ext cx="519383" cy="750786"/>
            <a:chOff x="2899675" y="3125038"/>
            <a:chExt cx="632700" cy="914700"/>
          </a:xfrm>
        </p:grpSpPr>
        <p:sp>
          <p:nvSpPr>
            <p:cNvPr id="78" name="Google Shape;78;p15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79" name="Google Shape;7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03" y="3982717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5"/>
          <p:cNvCxnSpPr>
            <a:stCxn id="78" idx="0"/>
            <a:endCxn id="69" idx="5"/>
          </p:cNvCxnSpPr>
          <p:nvPr/>
        </p:nvCxnSpPr>
        <p:spPr>
          <a:xfrm rot="10800000">
            <a:off x="5690880" y="2407124"/>
            <a:ext cx="1047900" cy="56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>
            <a:stCxn id="78" idx="0"/>
            <a:endCxn id="72" idx="4"/>
          </p:cNvCxnSpPr>
          <p:nvPr/>
        </p:nvCxnSpPr>
        <p:spPr>
          <a:xfrm rot="10800000">
            <a:off x="6738780" y="2588324"/>
            <a:ext cx="0" cy="386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5"/>
          <p:cNvCxnSpPr>
            <a:stCxn id="78" idx="0"/>
            <a:endCxn id="75" idx="3"/>
          </p:cNvCxnSpPr>
          <p:nvPr/>
        </p:nvCxnSpPr>
        <p:spPr>
          <a:xfrm flipH="1" rot="10800000">
            <a:off x="6738780" y="2349524"/>
            <a:ext cx="1156800" cy="62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>
            <a:stCxn id="78" idx="1"/>
            <a:endCxn id="85" idx="3"/>
          </p:cNvCxnSpPr>
          <p:nvPr/>
        </p:nvCxnSpPr>
        <p:spPr>
          <a:xfrm flipH="1">
            <a:off x="5841889" y="3349817"/>
            <a:ext cx="6372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5"/>
          <p:cNvCxnSpPr>
            <a:stCxn id="78" idx="2"/>
            <a:endCxn id="80" idx="0"/>
          </p:cNvCxnSpPr>
          <p:nvPr/>
        </p:nvCxnSpPr>
        <p:spPr>
          <a:xfrm>
            <a:off x="6738780" y="3725210"/>
            <a:ext cx="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5"/>
          <p:cNvCxnSpPr>
            <a:stCxn id="78" idx="3"/>
            <a:endCxn id="88" idx="1"/>
          </p:cNvCxnSpPr>
          <p:nvPr/>
        </p:nvCxnSpPr>
        <p:spPr>
          <a:xfrm>
            <a:off x="6998472" y="3349817"/>
            <a:ext cx="6369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976" y="323208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96" y="323207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2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957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398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686" y="167650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939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899" y="1676519"/>
            <a:ext cx="259925" cy="47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ctrTitle"/>
          </p:nvPr>
        </p:nvSpPr>
        <p:spPr>
          <a:xfrm>
            <a:off x="530325" y="75275"/>
            <a:ext cx="73650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 FAQ</a:t>
            </a:r>
            <a:endParaRPr/>
          </a:p>
        </p:txBody>
      </p:sp>
      <p:sp>
        <p:nvSpPr>
          <p:cNvPr id="100" name="Google Shape;100;p16"/>
          <p:cNvSpPr txBox="1"/>
          <p:nvPr>
            <p:ph idx="1" type="subTitle"/>
          </p:nvPr>
        </p:nvSpPr>
        <p:spPr>
          <a:xfrm>
            <a:off x="192100" y="3129100"/>
            <a:ext cx="4919700" cy="1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FF0000"/>
                </a:solidFill>
              </a:rPr>
              <a:t>[A]</a:t>
            </a:r>
            <a:r>
              <a:rPr lang="en" sz="2500">
                <a:solidFill>
                  <a:srgbClr val="FF0000"/>
                </a:solidFill>
              </a:rPr>
              <a:t>ny “social, psychological, legal, or physical entity around which joint activities are organized” (1981, p. 1016)</a:t>
            </a:r>
            <a:endParaRPr sz="2500">
              <a:solidFill>
                <a:srgbClr val="FF0000"/>
              </a:solidFill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4507118" y="1351038"/>
            <a:ext cx="1386993" cy="1237356"/>
            <a:chOff x="124738" y="1082275"/>
            <a:chExt cx="1689600" cy="1507500"/>
          </a:xfrm>
        </p:grpSpPr>
        <p:sp>
          <p:nvSpPr>
            <p:cNvPr id="102" name="Google Shape;102;p16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103" name="Google Shape;103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6"/>
          <p:cNvGrpSpPr/>
          <p:nvPr/>
        </p:nvGrpSpPr>
        <p:grpSpPr>
          <a:xfrm>
            <a:off x="6045268" y="1351026"/>
            <a:ext cx="1386993" cy="1237356"/>
            <a:chOff x="1981925" y="1127113"/>
            <a:chExt cx="1689600" cy="1507500"/>
          </a:xfrm>
        </p:grpSpPr>
        <p:sp>
          <p:nvSpPr>
            <p:cNvPr id="105" name="Google Shape;105;p16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106" name="Google Shape;10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6"/>
          <p:cNvGrpSpPr/>
          <p:nvPr/>
        </p:nvGrpSpPr>
        <p:grpSpPr>
          <a:xfrm>
            <a:off x="7692354" y="1293455"/>
            <a:ext cx="1386993" cy="1237356"/>
            <a:chOff x="4020563" y="1127100"/>
            <a:chExt cx="1689600" cy="1507500"/>
          </a:xfrm>
        </p:grpSpPr>
        <p:sp>
          <p:nvSpPr>
            <p:cNvPr id="108" name="Google Shape;108;p16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109" name="Google Shape;10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16"/>
          <p:cNvGrpSpPr/>
          <p:nvPr/>
        </p:nvGrpSpPr>
        <p:grpSpPr>
          <a:xfrm>
            <a:off x="6479089" y="2974424"/>
            <a:ext cx="519383" cy="750786"/>
            <a:chOff x="2899675" y="3125038"/>
            <a:chExt cx="632700" cy="914700"/>
          </a:xfrm>
        </p:grpSpPr>
        <p:sp>
          <p:nvSpPr>
            <p:cNvPr id="111" name="Google Shape;111;p16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112" name="Google Shape;11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03" y="3982717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6"/>
          <p:cNvCxnSpPr>
            <a:stCxn id="111" idx="0"/>
            <a:endCxn id="102" idx="5"/>
          </p:cNvCxnSpPr>
          <p:nvPr/>
        </p:nvCxnSpPr>
        <p:spPr>
          <a:xfrm rot="10800000">
            <a:off x="5690880" y="2407124"/>
            <a:ext cx="1047900" cy="56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6"/>
          <p:cNvCxnSpPr>
            <a:stCxn id="111" idx="0"/>
            <a:endCxn id="105" idx="4"/>
          </p:cNvCxnSpPr>
          <p:nvPr/>
        </p:nvCxnSpPr>
        <p:spPr>
          <a:xfrm rot="10800000">
            <a:off x="6738780" y="2588324"/>
            <a:ext cx="0" cy="386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6"/>
          <p:cNvCxnSpPr>
            <a:stCxn id="111" idx="0"/>
            <a:endCxn id="108" idx="3"/>
          </p:cNvCxnSpPr>
          <p:nvPr/>
        </p:nvCxnSpPr>
        <p:spPr>
          <a:xfrm flipH="1" rot="10800000">
            <a:off x="6738780" y="2349524"/>
            <a:ext cx="1156800" cy="62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6"/>
          <p:cNvCxnSpPr>
            <a:stCxn id="111" idx="1"/>
            <a:endCxn id="118" idx="3"/>
          </p:cNvCxnSpPr>
          <p:nvPr/>
        </p:nvCxnSpPr>
        <p:spPr>
          <a:xfrm flipH="1">
            <a:off x="5841889" y="3349817"/>
            <a:ext cx="6372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6"/>
          <p:cNvCxnSpPr>
            <a:stCxn id="111" idx="2"/>
            <a:endCxn id="113" idx="0"/>
          </p:cNvCxnSpPr>
          <p:nvPr/>
        </p:nvCxnSpPr>
        <p:spPr>
          <a:xfrm>
            <a:off x="6738780" y="3725210"/>
            <a:ext cx="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>
            <a:stCxn id="111" idx="3"/>
            <a:endCxn id="121" idx="1"/>
          </p:cNvCxnSpPr>
          <p:nvPr/>
        </p:nvCxnSpPr>
        <p:spPr>
          <a:xfrm>
            <a:off x="6998472" y="3349817"/>
            <a:ext cx="6369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976" y="323208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96" y="323207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2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957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398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686" y="167650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939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899" y="167651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>
            <p:ph idx="1" type="subTitle"/>
          </p:nvPr>
        </p:nvSpPr>
        <p:spPr>
          <a:xfrm>
            <a:off x="69550" y="1442863"/>
            <a:ext cx="4688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are foci anyway?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ctrTitle"/>
          </p:nvPr>
        </p:nvSpPr>
        <p:spPr>
          <a:xfrm>
            <a:off x="530325" y="75275"/>
            <a:ext cx="73650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 FAQ</a:t>
            </a:r>
            <a:endParaRPr/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>
            <a:off x="142200" y="2467100"/>
            <a:ext cx="38448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0000"/>
                </a:solidFill>
              </a:rPr>
              <a:t>Generate Ties</a:t>
            </a:r>
            <a:endParaRPr sz="1900">
              <a:solidFill>
                <a:srgbClr val="FF0000"/>
              </a:solidFill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4507118" y="1351038"/>
            <a:ext cx="1386993" cy="1237356"/>
            <a:chOff x="124738" y="1082275"/>
            <a:chExt cx="1689600" cy="1507500"/>
          </a:xfrm>
        </p:grpSpPr>
        <p:sp>
          <p:nvSpPr>
            <p:cNvPr id="136" name="Google Shape;136;p17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137" name="Google Shape;13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17"/>
          <p:cNvGrpSpPr/>
          <p:nvPr/>
        </p:nvGrpSpPr>
        <p:grpSpPr>
          <a:xfrm>
            <a:off x="6045268" y="1351026"/>
            <a:ext cx="1386993" cy="1237356"/>
            <a:chOff x="1981925" y="1127113"/>
            <a:chExt cx="1689600" cy="1507500"/>
          </a:xfrm>
        </p:grpSpPr>
        <p:sp>
          <p:nvSpPr>
            <p:cNvPr id="139" name="Google Shape;139;p17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140" name="Google Shape;14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7"/>
          <p:cNvGrpSpPr/>
          <p:nvPr/>
        </p:nvGrpSpPr>
        <p:grpSpPr>
          <a:xfrm>
            <a:off x="7692354" y="1293455"/>
            <a:ext cx="1386993" cy="1237356"/>
            <a:chOff x="4020563" y="1127100"/>
            <a:chExt cx="1689600" cy="1507500"/>
          </a:xfrm>
        </p:grpSpPr>
        <p:sp>
          <p:nvSpPr>
            <p:cNvPr id="142" name="Google Shape;142;p17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143" name="Google Shape;14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7"/>
          <p:cNvGrpSpPr/>
          <p:nvPr/>
        </p:nvGrpSpPr>
        <p:grpSpPr>
          <a:xfrm>
            <a:off x="6479089" y="2974424"/>
            <a:ext cx="519383" cy="750786"/>
            <a:chOff x="2899675" y="3125038"/>
            <a:chExt cx="632700" cy="914700"/>
          </a:xfrm>
        </p:grpSpPr>
        <p:sp>
          <p:nvSpPr>
            <p:cNvPr id="145" name="Google Shape;145;p17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146" name="Google Shape;14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7" name="Google Shape;1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03" y="3982717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7"/>
          <p:cNvCxnSpPr>
            <a:stCxn id="145" idx="0"/>
            <a:endCxn id="136" idx="5"/>
          </p:cNvCxnSpPr>
          <p:nvPr/>
        </p:nvCxnSpPr>
        <p:spPr>
          <a:xfrm rot="10800000">
            <a:off x="5690880" y="2407124"/>
            <a:ext cx="1047900" cy="56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7"/>
          <p:cNvCxnSpPr>
            <a:stCxn id="145" idx="0"/>
            <a:endCxn id="139" idx="4"/>
          </p:cNvCxnSpPr>
          <p:nvPr/>
        </p:nvCxnSpPr>
        <p:spPr>
          <a:xfrm rot="10800000">
            <a:off x="6738780" y="2588324"/>
            <a:ext cx="0" cy="386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7"/>
          <p:cNvCxnSpPr>
            <a:stCxn id="145" idx="0"/>
            <a:endCxn id="142" idx="3"/>
          </p:cNvCxnSpPr>
          <p:nvPr/>
        </p:nvCxnSpPr>
        <p:spPr>
          <a:xfrm flipH="1" rot="10800000">
            <a:off x="6738780" y="2349524"/>
            <a:ext cx="1156800" cy="62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7"/>
          <p:cNvCxnSpPr>
            <a:stCxn id="145" idx="1"/>
            <a:endCxn id="152" idx="3"/>
          </p:cNvCxnSpPr>
          <p:nvPr/>
        </p:nvCxnSpPr>
        <p:spPr>
          <a:xfrm flipH="1">
            <a:off x="5841889" y="3349817"/>
            <a:ext cx="6372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7"/>
          <p:cNvCxnSpPr>
            <a:stCxn id="145" idx="2"/>
            <a:endCxn id="147" idx="0"/>
          </p:cNvCxnSpPr>
          <p:nvPr/>
        </p:nvCxnSpPr>
        <p:spPr>
          <a:xfrm>
            <a:off x="6738780" y="3725210"/>
            <a:ext cx="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7"/>
          <p:cNvCxnSpPr>
            <a:stCxn id="145" idx="3"/>
            <a:endCxn id="155" idx="1"/>
          </p:cNvCxnSpPr>
          <p:nvPr/>
        </p:nvCxnSpPr>
        <p:spPr>
          <a:xfrm>
            <a:off x="6998472" y="3349817"/>
            <a:ext cx="6369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2" name="Google Shape;15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976" y="323208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96" y="323207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2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957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398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686" y="167650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939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899" y="167651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1026025" y="3517675"/>
            <a:ext cx="4044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</a:rPr>
              <a:t>Create Similarities </a:t>
            </a:r>
            <a:endParaRPr sz="1900">
              <a:solidFill>
                <a:srgbClr val="0000FF"/>
              </a:solidFill>
            </a:endParaRPr>
          </a:p>
        </p:txBody>
      </p:sp>
      <p:sp>
        <p:nvSpPr>
          <p:cNvPr id="163" name="Google Shape;163;p17"/>
          <p:cNvSpPr txBox="1"/>
          <p:nvPr>
            <p:ph idx="1" type="subTitle"/>
          </p:nvPr>
        </p:nvSpPr>
        <p:spPr>
          <a:xfrm>
            <a:off x="382175" y="4347175"/>
            <a:ext cx="65559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8761D"/>
                </a:solidFill>
              </a:rPr>
              <a:t>Account for “endogenous” effects</a:t>
            </a:r>
            <a:endParaRPr sz="1900">
              <a:solidFill>
                <a:srgbClr val="38761D"/>
              </a:solidFill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178375" y="1351050"/>
            <a:ext cx="4688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do foci do all day?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ctrTitle"/>
          </p:nvPr>
        </p:nvSpPr>
        <p:spPr>
          <a:xfrm>
            <a:off x="530325" y="75275"/>
            <a:ext cx="73650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 FAQ</a:t>
            </a:r>
            <a:endParaRPr/>
          </a:p>
        </p:txBody>
      </p:sp>
      <p:sp>
        <p:nvSpPr>
          <p:cNvPr id="170" name="Google Shape;170;p18"/>
          <p:cNvSpPr txBox="1"/>
          <p:nvPr>
            <p:ph idx="1" type="subTitle"/>
          </p:nvPr>
        </p:nvSpPr>
        <p:spPr>
          <a:xfrm>
            <a:off x="142200" y="2467100"/>
            <a:ext cx="38448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0000"/>
                </a:solidFill>
              </a:rPr>
              <a:t>Nope!</a:t>
            </a:r>
            <a:endParaRPr sz="1900">
              <a:solidFill>
                <a:srgbClr val="FF0000"/>
              </a:solidFill>
            </a:endParaRPr>
          </a:p>
        </p:txBody>
      </p:sp>
      <p:grpSp>
        <p:nvGrpSpPr>
          <p:cNvPr id="171" name="Google Shape;171;p18"/>
          <p:cNvGrpSpPr/>
          <p:nvPr/>
        </p:nvGrpSpPr>
        <p:grpSpPr>
          <a:xfrm>
            <a:off x="4507118" y="1351038"/>
            <a:ext cx="1386993" cy="1237356"/>
            <a:chOff x="124738" y="1082275"/>
            <a:chExt cx="1689600" cy="1507500"/>
          </a:xfrm>
        </p:grpSpPr>
        <p:sp>
          <p:nvSpPr>
            <p:cNvPr id="172" name="Google Shape;172;p18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173" name="Google Shape;17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18"/>
          <p:cNvGrpSpPr/>
          <p:nvPr/>
        </p:nvGrpSpPr>
        <p:grpSpPr>
          <a:xfrm>
            <a:off x="6045268" y="1351026"/>
            <a:ext cx="1386993" cy="1237356"/>
            <a:chOff x="1981925" y="1127113"/>
            <a:chExt cx="1689600" cy="1507500"/>
          </a:xfrm>
        </p:grpSpPr>
        <p:sp>
          <p:nvSpPr>
            <p:cNvPr id="175" name="Google Shape;175;p18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18"/>
          <p:cNvGrpSpPr/>
          <p:nvPr/>
        </p:nvGrpSpPr>
        <p:grpSpPr>
          <a:xfrm>
            <a:off x="7692354" y="1293455"/>
            <a:ext cx="1386993" cy="1237356"/>
            <a:chOff x="4020563" y="1127100"/>
            <a:chExt cx="1689600" cy="1507500"/>
          </a:xfrm>
        </p:grpSpPr>
        <p:sp>
          <p:nvSpPr>
            <p:cNvPr id="178" name="Google Shape;178;p18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179" name="Google Shape;17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18"/>
          <p:cNvGrpSpPr/>
          <p:nvPr/>
        </p:nvGrpSpPr>
        <p:grpSpPr>
          <a:xfrm>
            <a:off x="6479089" y="2974424"/>
            <a:ext cx="519383" cy="750786"/>
            <a:chOff x="2899675" y="3125038"/>
            <a:chExt cx="632700" cy="914700"/>
          </a:xfrm>
        </p:grpSpPr>
        <p:sp>
          <p:nvSpPr>
            <p:cNvPr id="181" name="Google Shape;181;p18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182" name="Google Shape;18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03" y="3982717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18"/>
          <p:cNvCxnSpPr>
            <a:stCxn id="181" idx="0"/>
            <a:endCxn id="172" idx="5"/>
          </p:cNvCxnSpPr>
          <p:nvPr/>
        </p:nvCxnSpPr>
        <p:spPr>
          <a:xfrm rot="10800000">
            <a:off x="5690880" y="2407124"/>
            <a:ext cx="1047900" cy="56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8"/>
          <p:cNvCxnSpPr>
            <a:stCxn id="181" idx="0"/>
            <a:endCxn id="175" idx="4"/>
          </p:cNvCxnSpPr>
          <p:nvPr/>
        </p:nvCxnSpPr>
        <p:spPr>
          <a:xfrm rot="10800000">
            <a:off x="6738780" y="2588324"/>
            <a:ext cx="0" cy="386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8"/>
          <p:cNvCxnSpPr>
            <a:stCxn id="181" idx="0"/>
            <a:endCxn id="178" idx="3"/>
          </p:cNvCxnSpPr>
          <p:nvPr/>
        </p:nvCxnSpPr>
        <p:spPr>
          <a:xfrm flipH="1" rot="10800000">
            <a:off x="6738780" y="2349524"/>
            <a:ext cx="1156800" cy="62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8"/>
          <p:cNvCxnSpPr>
            <a:stCxn id="181" idx="1"/>
            <a:endCxn id="188" idx="3"/>
          </p:cNvCxnSpPr>
          <p:nvPr/>
        </p:nvCxnSpPr>
        <p:spPr>
          <a:xfrm flipH="1">
            <a:off x="5841889" y="3349817"/>
            <a:ext cx="6372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8"/>
          <p:cNvCxnSpPr>
            <a:stCxn id="181" idx="2"/>
            <a:endCxn id="183" idx="0"/>
          </p:cNvCxnSpPr>
          <p:nvPr/>
        </p:nvCxnSpPr>
        <p:spPr>
          <a:xfrm>
            <a:off x="6738780" y="3725210"/>
            <a:ext cx="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8"/>
          <p:cNvCxnSpPr>
            <a:stCxn id="181" idx="3"/>
            <a:endCxn id="191" idx="1"/>
          </p:cNvCxnSpPr>
          <p:nvPr/>
        </p:nvCxnSpPr>
        <p:spPr>
          <a:xfrm>
            <a:off x="6998472" y="3349817"/>
            <a:ext cx="6369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8" name="Google Shape;1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976" y="323208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96" y="323207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2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957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398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686" y="167650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939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899" y="167651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>
            <p:ph idx="1" type="subTitle"/>
          </p:nvPr>
        </p:nvSpPr>
        <p:spPr>
          <a:xfrm>
            <a:off x="500275" y="3232075"/>
            <a:ext cx="4044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</a:rPr>
              <a:t>They could be </a:t>
            </a:r>
            <a:r>
              <a:rPr i="1" lang="en" sz="1700">
                <a:solidFill>
                  <a:srgbClr val="0000FF"/>
                </a:solidFill>
              </a:rPr>
              <a:t>any</a:t>
            </a:r>
            <a:r>
              <a:rPr lang="en" sz="1700">
                <a:solidFill>
                  <a:srgbClr val="0000FF"/>
                </a:solidFill>
              </a:rPr>
              <a:t> “</a:t>
            </a:r>
            <a:r>
              <a:rPr lang="en" sz="1700">
                <a:solidFill>
                  <a:srgbClr val="0000FF"/>
                </a:solidFill>
              </a:rPr>
              <a:t>social, psychological, legal, or physical” </a:t>
            </a:r>
            <a:r>
              <a:rPr b="1" lang="en" sz="1700">
                <a:solidFill>
                  <a:srgbClr val="0000FF"/>
                </a:solidFill>
              </a:rPr>
              <a:t>entity</a:t>
            </a:r>
            <a:r>
              <a:rPr lang="en" sz="1700">
                <a:solidFill>
                  <a:srgbClr val="0000FF"/>
                </a:solidFill>
              </a:rPr>
              <a:t> that organizes activities</a:t>
            </a:r>
            <a:endParaRPr sz="1700">
              <a:solidFill>
                <a:srgbClr val="0000FF"/>
              </a:solidFill>
            </a:endParaRPr>
          </a:p>
        </p:txBody>
      </p:sp>
      <p:sp>
        <p:nvSpPr>
          <p:cNvPr id="199" name="Google Shape;199;p18"/>
          <p:cNvSpPr txBox="1"/>
          <p:nvPr>
            <p:ph idx="1" type="subTitle"/>
          </p:nvPr>
        </p:nvSpPr>
        <p:spPr>
          <a:xfrm>
            <a:off x="382175" y="4347175"/>
            <a:ext cx="65559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8761D"/>
                </a:solidFill>
              </a:rPr>
              <a:t>So tastes, genres, interests, etc. also count</a:t>
            </a:r>
            <a:endParaRPr sz="1900">
              <a:solidFill>
                <a:srgbClr val="38761D"/>
              </a:solidFill>
            </a:endParaRPr>
          </a:p>
        </p:txBody>
      </p:sp>
      <p:sp>
        <p:nvSpPr>
          <p:cNvPr id="200" name="Google Shape;200;p18"/>
          <p:cNvSpPr txBox="1"/>
          <p:nvPr>
            <p:ph idx="1" type="subTitle"/>
          </p:nvPr>
        </p:nvSpPr>
        <p:spPr>
          <a:xfrm>
            <a:off x="178375" y="1351050"/>
            <a:ext cx="4688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Are foci just groups?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ctrTitle"/>
          </p:nvPr>
        </p:nvSpPr>
        <p:spPr>
          <a:xfrm>
            <a:off x="530325" y="75275"/>
            <a:ext cx="73650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 FAQ</a:t>
            </a:r>
            <a:endParaRPr/>
          </a:p>
        </p:txBody>
      </p:sp>
      <p:sp>
        <p:nvSpPr>
          <p:cNvPr id="206" name="Google Shape;206;p19"/>
          <p:cNvSpPr txBox="1"/>
          <p:nvPr>
            <p:ph idx="1" type="subTitle"/>
          </p:nvPr>
        </p:nvSpPr>
        <p:spPr>
          <a:xfrm>
            <a:off x="142200" y="2467100"/>
            <a:ext cx="38448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0000"/>
                </a:solidFill>
              </a:rPr>
              <a:t>Yes and no</a:t>
            </a:r>
            <a:endParaRPr sz="1900">
              <a:solidFill>
                <a:srgbClr val="FF0000"/>
              </a:solidFill>
            </a:endParaRPr>
          </a:p>
        </p:txBody>
      </p:sp>
      <p:grpSp>
        <p:nvGrpSpPr>
          <p:cNvPr id="207" name="Google Shape;207;p19"/>
          <p:cNvGrpSpPr/>
          <p:nvPr/>
        </p:nvGrpSpPr>
        <p:grpSpPr>
          <a:xfrm>
            <a:off x="4507118" y="1351038"/>
            <a:ext cx="1386993" cy="1237356"/>
            <a:chOff x="124738" y="1082275"/>
            <a:chExt cx="1689600" cy="1507500"/>
          </a:xfrm>
        </p:grpSpPr>
        <p:sp>
          <p:nvSpPr>
            <p:cNvPr id="208" name="Google Shape;208;p19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209" name="Google Shape;20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" name="Google Shape;210;p19"/>
          <p:cNvGrpSpPr/>
          <p:nvPr/>
        </p:nvGrpSpPr>
        <p:grpSpPr>
          <a:xfrm>
            <a:off x="6045268" y="1351026"/>
            <a:ext cx="1386993" cy="1237356"/>
            <a:chOff x="1981925" y="1127113"/>
            <a:chExt cx="1689600" cy="1507500"/>
          </a:xfrm>
        </p:grpSpPr>
        <p:sp>
          <p:nvSpPr>
            <p:cNvPr id="211" name="Google Shape;211;p19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212" name="Google Shape;212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" name="Google Shape;213;p19"/>
          <p:cNvGrpSpPr/>
          <p:nvPr/>
        </p:nvGrpSpPr>
        <p:grpSpPr>
          <a:xfrm>
            <a:off x="7692354" y="1293455"/>
            <a:ext cx="1386993" cy="1237356"/>
            <a:chOff x="4020563" y="1127100"/>
            <a:chExt cx="1689600" cy="1507500"/>
          </a:xfrm>
        </p:grpSpPr>
        <p:sp>
          <p:nvSpPr>
            <p:cNvPr id="214" name="Google Shape;214;p19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215" name="Google Shape;21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p19"/>
          <p:cNvGrpSpPr/>
          <p:nvPr/>
        </p:nvGrpSpPr>
        <p:grpSpPr>
          <a:xfrm>
            <a:off x="6479089" y="2974424"/>
            <a:ext cx="519383" cy="750786"/>
            <a:chOff x="2899675" y="3125038"/>
            <a:chExt cx="632700" cy="914700"/>
          </a:xfrm>
        </p:grpSpPr>
        <p:sp>
          <p:nvSpPr>
            <p:cNvPr id="217" name="Google Shape;217;p19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218" name="Google Shape;218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9" name="Google Shape;2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03" y="3982717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19"/>
          <p:cNvCxnSpPr>
            <a:stCxn id="217" idx="0"/>
            <a:endCxn id="208" idx="5"/>
          </p:cNvCxnSpPr>
          <p:nvPr/>
        </p:nvCxnSpPr>
        <p:spPr>
          <a:xfrm rot="10800000">
            <a:off x="5690880" y="2407124"/>
            <a:ext cx="1047900" cy="56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9"/>
          <p:cNvCxnSpPr>
            <a:stCxn id="217" idx="0"/>
            <a:endCxn id="211" idx="4"/>
          </p:cNvCxnSpPr>
          <p:nvPr/>
        </p:nvCxnSpPr>
        <p:spPr>
          <a:xfrm rot="10800000">
            <a:off x="6738780" y="2588324"/>
            <a:ext cx="0" cy="386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19"/>
          <p:cNvCxnSpPr>
            <a:stCxn id="217" idx="0"/>
            <a:endCxn id="214" idx="3"/>
          </p:cNvCxnSpPr>
          <p:nvPr/>
        </p:nvCxnSpPr>
        <p:spPr>
          <a:xfrm flipH="1" rot="10800000">
            <a:off x="6738780" y="2349524"/>
            <a:ext cx="1156800" cy="62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9"/>
          <p:cNvCxnSpPr>
            <a:stCxn id="217" idx="1"/>
            <a:endCxn id="224" idx="3"/>
          </p:cNvCxnSpPr>
          <p:nvPr/>
        </p:nvCxnSpPr>
        <p:spPr>
          <a:xfrm flipH="1">
            <a:off x="5841889" y="3349817"/>
            <a:ext cx="6372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9"/>
          <p:cNvCxnSpPr>
            <a:stCxn id="217" idx="2"/>
            <a:endCxn id="219" idx="0"/>
          </p:cNvCxnSpPr>
          <p:nvPr/>
        </p:nvCxnSpPr>
        <p:spPr>
          <a:xfrm>
            <a:off x="6738780" y="3725210"/>
            <a:ext cx="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19"/>
          <p:cNvCxnSpPr>
            <a:stCxn id="217" idx="3"/>
            <a:endCxn id="227" idx="1"/>
          </p:cNvCxnSpPr>
          <p:nvPr/>
        </p:nvCxnSpPr>
        <p:spPr>
          <a:xfrm>
            <a:off x="6998472" y="3349817"/>
            <a:ext cx="6369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4" name="Google Shape;2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976" y="323208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96" y="323207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2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957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398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686" y="167650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939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899" y="167651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>
            <p:ph idx="1" type="subTitle"/>
          </p:nvPr>
        </p:nvSpPr>
        <p:spPr>
          <a:xfrm>
            <a:off x="178375" y="1351050"/>
            <a:ext cx="4688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Do foci just make interpersonal ties happen?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ctrTitle"/>
          </p:nvPr>
        </p:nvSpPr>
        <p:spPr>
          <a:xfrm>
            <a:off x="530325" y="75275"/>
            <a:ext cx="73650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 FAQ</a:t>
            </a:r>
            <a:endParaRPr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4507118" y="1351038"/>
            <a:ext cx="1386993" cy="1237356"/>
            <a:chOff x="124738" y="1082275"/>
            <a:chExt cx="1689600" cy="1507500"/>
          </a:xfrm>
        </p:grpSpPr>
        <p:sp>
          <p:nvSpPr>
            <p:cNvPr id="241" name="Google Shape;241;p20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242" name="Google Shape;24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20"/>
          <p:cNvGrpSpPr/>
          <p:nvPr/>
        </p:nvGrpSpPr>
        <p:grpSpPr>
          <a:xfrm>
            <a:off x="6045268" y="1351026"/>
            <a:ext cx="1386993" cy="1237356"/>
            <a:chOff x="1981925" y="1127113"/>
            <a:chExt cx="1689600" cy="1507500"/>
          </a:xfrm>
        </p:grpSpPr>
        <p:sp>
          <p:nvSpPr>
            <p:cNvPr id="244" name="Google Shape;244;p20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245" name="Google Shape;24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20"/>
          <p:cNvGrpSpPr/>
          <p:nvPr/>
        </p:nvGrpSpPr>
        <p:grpSpPr>
          <a:xfrm>
            <a:off x="7692354" y="1293455"/>
            <a:ext cx="1386993" cy="1237356"/>
            <a:chOff x="4020563" y="1127100"/>
            <a:chExt cx="1689600" cy="1507500"/>
          </a:xfrm>
        </p:grpSpPr>
        <p:sp>
          <p:nvSpPr>
            <p:cNvPr id="247" name="Google Shape;247;p20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248" name="Google Shape;24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Google Shape;249;p20"/>
          <p:cNvGrpSpPr/>
          <p:nvPr/>
        </p:nvGrpSpPr>
        <p:grpSpPr>
          <a:xfrm>
            <a:off x="6479089" y="2974424"/>
            <a:ext cx="519383" cy="750786"/>
            <a:chOff x="2899675" y="3125038"/>
            <a:chExt cx="632700" cy="914700"/>
          </a:xfrm>
        </p:grpSpPr>
        <p:sp>
          <p:nvSpPr>
            <p:cNvPr id="250" name="Google Shape;250;p20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251" name="Google Shape;25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2" name="Google Shape;2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03" y="3982717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20"/>
          <p:cNvCxnSpPr>
            <a:stCxn id="250" idx="0"/>
            <a:endCxn id="241" idx="5"/>
          </p:cNvCxnSpPr>
          <p:nvPr/>
        </p:nvCxnSpPr>
        <p:spPr>
          <a:xfrm rot="10800000">
            <a:off x="5690880" y="2407124"/>
            <a:ext cx="1047900" cy="56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0"/>
          <p:cNvCxnSpPr>
            <a:stCxn id="250" idx="0"/>
            <a:endCxn id="244" idx="4"/>
          </p:cNvCxnSpPr>
          <p:nvPr/>
        </p:nvCxnSpPr>
        <p:spPr>
          <a:xfrm rot="10800000">
            <a:off x="6738780" y="2588324"/>
            <a:ext cx="0" cy="386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0"/>
          <p:cNvCxnSpPr>
            <a:stCxn id="250" idx="0"/>
            <a:endCxn id="247" idx="3"/>
          </p:cNvCxnSpPr>
          <p:nvPr/>
        </p:nvCxnSpPr>
        <p:spPr>
          <a:xfrm flipH="1" rot="10800000">
            <a:off x="6738780" y="2349524"/>
            <a:ext cx="1156800" cy="62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0"/>
          <p:cNvCxnSpPr>
            <a:stCxn id="250" idx="1"/>
            <a:endCxn id="257" idx="3"/>
          </p:cNvCxnSpPr>
          <p:nvPr/>
        </p:nvCxnSpPr>
        <p:spPr>
          <a:xfrm flipH="1">
            <a:off x="5841889" y="3349817"/>
            <a:ext cx="6372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0"/>
          <p:cNvCxnSpPr>
            <a:stCxn id="250" idx="2"/>
            <a:endCxn id="252" idx="0"/>
          </p:cNvCxnSpPr>
          <p:nvPr/>
        </p:nvCxnSpPr>
        <p:spPr>
          <a:xfrm>
            <a:off x="6738780" y="3725210"/>
            <a:ext cx="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0"/>
          <p:cNvCxnSpPr>
            <a:stCxn id="250" idx="3"/>
            <a:endCxn id="260" idx="1"/>
          </p:cNvCxnSpPr>
          <p:nvPr/>
        </p:nvCxnSpPr>
        <p:spPr>
          <a:xfrm>
            <a:off x="6998472" y="3349817"/>
            <a:ext cx="6369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7" name="Google Shape;2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976" y="323208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96" y="323207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2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957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398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686" y="167650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939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899" y="167651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>
            <p:ph idx="1" type="subTitle"/>
          </p:nvPr>
        </p:nvSpPr>
        <p:spPr>
          <a:xfrm>
            <a:off x="178375" y="1351050"/>
            <a:ext cx="4688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Do foci just make interpersonal ties happen?</a:t>
            </a:r>
            <a:endParaRPr sz="2400"/>
          </a:p>
        </p:txBody>
      </p:sp>
      <p:sp>
        <p:nvSpPr>
          <p:cNvPr id="268" name="Google Shape;268;p20"/>
          <p:cNvSpPr txBox="1"/>
          <p:nvPr>
            <p:ph idx="1" type="subTitle"/>
          </p:nvPr>
        </p:nvSpPr>
        <p:spPr>
          <a:xfrm>
            <a:off x="178375" y="2707100"/>
            <a:ext cx="4766400" cy="23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</a:rPr>
              <a:t>Feld Prop 1: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</a:rPr>
              <a:t>“[t]wo individuals who are related to the same focus are more likely to be tied than two people not so related” (Feld 1981: 1026)</a:t>
            </a:r>
            <a:endParaRPr sz="2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type="ctrTitle"/>
          </p:nvPr>
        </p:nvSpPr>
        <p:spPr>
          <a:xfrm>
            <a:off x="530325" y="75275"/>
            <a:ext cx="73650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 FAQ</a:t>
            </a:r>
            <a:endParaRPr/>
          </a:p>
        </p:txBody>
      </p:sp>
      <p:grpSp>
        <p:nvGrpSpPr>
          <p:cNvPr id="274" name="Google Shape;274;p21"/>
          <p:cNvGrpSpPr/>
          <p:nvPr/>
        </p:nvGrpSpPr>
        <p:grpSpPr>
          <a:xfrm>
            <a:off x="4507118" y="1351038"/>
            <a:ext cx="1386993" cy="1237356"/>
            <a:chOff x="124738" y="1082275"/>
            <a:chExt cx="1689600" cy="1507500"/>
          </a:xfrm>
        </p:grpSpPr>
        <p:sp>
          <p:nvSpPr>
            <p:cNvPr id="275" name="Google Shape;275;p21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276" name="Google Shape;27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" name="Google Shape;277;p21"/>
          <p:cNvGrpSpPr/>
          <p:nvPr/>
        </p:nvGrpSpPr>
        <p:grpSpPr>
          <a:xfrm>
            <a:off x="6045268" y="1351026"/>
            <a:ext cx="1386993" cy="1237356"/>
            <a:chOff x="1981925" y="1127113"/>
            <a:chExt cx="1689600" cy="1507500"/>
          </a:xfrm>
        </p:grpSpPr>
        <p:sp>
          <p:nvSpPr>
            <p:cNvPr id="278" name="Google Shape;278;p21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279" name="Google Shape;27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" name="Google Shape;280;p21"/>
          <p:cNvGrpSpPr/>
          <p:nvPr/>
        </p:nvGrpSpPr>
        <p:grpSpPr>
          <a:xfrm>
            <a:off x="7692354" y="1293455"/>
            <a:ext cx="1386993" cy="1237356"/>
            <a:chOff x="4020563" y="1127100"/>
            <a:chExt cx="1689600" cy="1507500"/>
          </a:xfrm>
        </p:grpSpPr>
        <p:sp>
          <p:nvSpPr>
            <p:cNvPr id="281" name="Google Shape;281;p21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282" name="Google Shape;28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" name="Google Shape;283;p21"/>
          <p:cNvGrpSpPr/>
          <p:nvPr/>
        </p:nvGrpSpPr>
        <p:grpSpPr>
          <a:xfrm>
            <a:off x="6479089" y="2974424"/>
            <a:ext cx="519383" cy="750786"/>
            <a:chOff x="2899675" y="3125038"/>
            <a:chExt cx="632700" cy="914700"/>
          </a:xfrm>
        </p:grpSpPr>
        <p:sp>
          <p:nvSpPr>
            <p:cNvPr id="284" name="Google Shape;284;p21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285" name="Google Shape;28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03" y="3982717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21"/>
          <p:cNvCxnSpPr>
            <a:stCxn id="284" idx="0"/>
            <a:endCxn id="275" idx="5"/>
          </p:cNvCxnSpPr>
          <p:nvPr/>
        </p:nvCxnSpPr>
        <p:spPr>
          <a:xfrm rot="10800000">
            <a:off x="5690880" y="2407124"/>
            <a:ext cx="1047900" cy="56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1"/>
          <p:cNvCxnSpPr>
            <a:stCxn id="284" idx="0"/>
            <a:endCxn id="278" idx="4"/>
          </p:cNvCxnSpPr>
          <p:nvPr/>
        </p:nvCxnSpPr>
        <p:spPr>
          <a:xfrm rot="10800000">
            <a:off x="6738780" y="2588324"/>
            <a:ext cx="0" cy="386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1"/>
          <p:cNvCxnSpPr>
            <a:stCxn id="284" idx="0"/>
            <a:endCxn id="281" idx="3"/>
          </p:cNvCxnSpPr>
          <p:nvPr/>
        </p:nvCxnSpPr>
        <p:spPr>
          <a:xfrm flipH="1" rot="10800000">
            <a:off x="6738780" y="2349524"/>
            <a:ext cx="1156800" cy="62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1"/>
          <p:cNvCxnSpPr>
            <a:stCxn id="284" idx="1"/>
            <a:endCxn id="291" idx="3"/>
          </p:cNvCxnSpPr>
          <p:nvPr/>
        </p:nvCxnSpPr>
        <p:spPr>
          <a:xfrm flipH="1">
            <a:off x="5841889" y="3349817"/>
            <a:ext cx="6372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1"/>
          <p:cNvCxnSpPr>
            <a:stCxn id="284" idx="2"/>
            <a:endCxn id="286" idx="0"/>
          </p:cNvCxnSpPr>
          <p:nvPr/>
        </p:nvCxnSpPr>
        <p:spPr>
          <a:xfrm>
            <a:off x="6738780" y="3725210"/>
            <a:ext cx="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1"/>
          <p:cNvCxnSpPr>
            <a:stCxn id="284" idx="3"/>
            <a:endCxn id="294" idx="1"/>
          </p:cNvCxnSpPr>
          <p:nvPr/>
        </p:nvCxnSpPr>
        <p:spPr>
          <a:xfrm>
            <a:off x="6998472" y="3349817"/>
            <a:ext cx="636900" cy="117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1" name="Google Shape;2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976" y="323208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396" y="323207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2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957" y="1643929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398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686" y="167650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939" y="167651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899" y="167651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>
            <p:ph idx="1" type="subTitle"/>
          </p:nvPr>
        </p:nvSpPr>
        <p:spPr>
          <a:xfrm>
            <a:off x="178375" y="1351050"/>
            <a:ext cx="4688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But!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02" name="Google Shape;302;p21"/>
          <p:cNvSpPr txBox="1"/>
          <p:nvPr>
            <p:ph idx="1" type="subTitle"/>
          </p:nvPr>
        </p:nvSpPr>
        <p:spPr>
          <a:xfrm>
            <a:off x="178375" y="2707100"/>
            <a:ext cx="4766400" cy="23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“...</a:t>
            </a:r>
            <a:r>
              <a:rPr b="1" lang="en" sz="1600"/>
              <a:t>it is important to remember that the formation of social networks and the relations to foci are interdependent</a:t>
            </a:r>
            <a:r>
              <a:rPr lang="en" sz="1600"/>
              <a:t>. Once there is a tie between two individuals, these individuals will tend to find and develop new foci around which to organize their joint activity” 1981:1019). </a:t>
            </a:r>
            <a:endParaRPr sz="1600"/>
          </a:p>
        </p:txBody>
      </p:sp>
      <p:sp>
        <p:nvSpPr>
          <p:cNvPr id="303" name="Google Shape;303;p21"/>
          <p:cNvSpPr txBox="1"/>
          <p:nvPr>
            <p:ph idx="1" type="subTitle"/>
          </p:nvPr>
        </p:nvSpPr>
        <p:spPr>
          <a:xfrm>
            <a:off x="178375" y="2328325"/>
            <a:ext cx="2349900" cy="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0000"/>
                </a:solidFill>
              </a:rPr>
              <a:t>Also Feld:</a:t>
            </a:r>
            <a:endParaRPr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/>
          <p:nvPr>
            <p:ph idx="1" type="subTitle"/>
          </p:nvPr>
        </p:nvSpPr>
        <p:spPr>
          <a:xfrm>
            <a:off x="178375" y="1351050"/>
            <a:ext cx="46884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So foci can be “generated” via interpersonal ties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09" name="Google Shape;309;p22"/>
          <p:cNvSpPr txBox="1"/>
          <p:nvPr>
            <p:ph idx="1" type="subTitle"/>
          </p:nvPr>
        </p:nvSpPr>
        <p:spPr>
          <a:xfrm>
            <a:off x="1065800" y="3271275"/>
            <a:ext cx="38448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0000"/>
                </a:solidFill>
              </a:rPr>
              <a:t>How best to think of this?</a:t>
            </a:r>
            <a:endParaRPr sz="1900">
              <a:solidFill>
                <a:srgbClr val="FF0000"/>
              </a:solidFill>
            </a:endParaRPr>
          </a:p>
        </p:txBody>
      </p:sp>
      <p:sp>
        <p:nvSpPr>
          <p:cNvPr id="310" name="Google Shape;310;p22"/>
          <p:cNvSpPr txBox="1"/>
          <p:nvPr>
            <p:ph idx="1" type="subTitle"/>
          </p:nvPr>
        </p:nvSpPr>
        <p:spPr>
          <a:xfrm>
            <a:off x="382175" y="4347175"/>
            <a:ext cx="65559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8761D"/>
                </a:solidFill>
              </a:rPr>
              <a:t>Multilayer Networks!</a:t>
            </a:r>
            <a:endParaRPr sz="1900">
              <a:solidFill>
                <a:srgbClr val="38761D"/>
              </a:solidFill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4512676" y="2772913"/>
            <a:ext cx="3321925" cy="183097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22"/>
          <p:cNvGrpSpPr/>
          <p:nvPr/>
        </p:nvGrpSpPr>
        <p:grpSpPr>
          <a:xfrm>
            <a:off x="5897614" y="2998749"/>
            <a:ext cx="519383" cy="750786"/>
            <a:chOff x="2899675" y="3125038"/>
            <a:chExt cx="632700" cy="914700"/>
          </a:xfrm>
        </p:grpSpPr>
        <p:sp>
          <p:nvSpPr>
            <p:cNvPr id="313" name="Google Shape;313;p22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14" name="Google Shape;31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5" name="Google Shape;3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403" y="4007042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22"/>
          <p:cNvCxnSpPr>
            <a:stCxn id="313" idx="1"/>
            <a:endCxn id="317" idx="3"/>
          </p:cNvCxnSpPr>
          <p:nvPr/>
        </p:nvCxnSpPr>
        <p:spPr>
          <a:xfrm flipH="1">
            <a:off x="5276914" y="3374142"/>
            <a:ext cx="620700" cy="1725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2"/>
          <p:cNvCxnSpPr>
            <a:stCxn id="317" idx="3"/>
            <a:endCxn id="315" idx="0"/>
          </p:cNvCxnSpPr>
          <p:nvPr/>
        </p:nvCxnSpPr>
        <p:spPr>
          <a:xfrm>
            <a:off x="5276901" y="3546755"/>
            <a:ext cx="464400" cy="4602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2"/>
          <p:cNvCxnSpPr>
            <a:stCxn id="313" idx="3"/>
            <a:endCxn id="320" idx="1"/>
          </p:cNvCxnSpPr>
          <p:nvPr/>
        </p:nvCxnSpPr>
        <p:spPr>
          <a:xfrm>
            <a:off x="6416997" y="3374142"/>
            <a:ext cx="498300" cy="117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7" name="Google Shape;3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976" y="3311064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46" y="325642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2"/>
          <p:cNvSpPr/>
          <p:nvPr/>
        </p:nvSpPr>
        <p:spPr>
          <a:xfrm>
            <a:off x="4512664" y="516350"/>
            <a:ext cx="3321925" cy="183097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2"/>
          <p:cNvGrpSpPr/>
          <p:nvPr/>
        </p:nvGrpSpPr>
        <p:grpSpPr>
          <a:xfrm>
            <a:off x="5913951" y="917737"/>
            <a:ext cx="519383" cy="750786"/>
            <a:chOff x="2899675" y="3125038"/>
            <a:chExt cx="632700" cy="914700"/>
          </a:xfrm>
        </p:grpSpPr>
        <p:sp>
          <p:nvSpPr>
            <p:cNvPr id="323" name="Google Shape;323;p22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24" name="Google Shape;32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5" name="Google Shape;3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578" y="1743467"/>
            <a:ext cx="235700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964" y="94967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46" y="1371954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5073875" y="516350"/>
            <a:ext cx="1239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Club</a:t>
            </a:r>
            <a:endParaRPr sz="1200"/>
          </a:p>
        </p:txBody>
      </p:sp>
      <p:sp>
        <p:nvSpPr>
          <p:cNvPr id="329" name="Google Shape;329;p22"/>
          <p:cNvSpPr txBox="1"/>
          <p:nvPr/>
        </p:nvSpPr>
        <p:spPr>
          <a:xfrm>
            <a:off x="6433450" y="516350"/>
            <a:ext cx="1173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School</a:t>
            </a:r>
            <a:endParaRPr sz="1200"/>
          </a:p>
        </p:txBody>
      </p:sp>
      <p:sp>
        <p:nvSpPr>
          <p:cNvPr id="330" name="Google Shape;330;p22"/>
          <p:cNvSpPr txBox="1"/>
          <p:nvPr/>
        </p:nvSpPr>
        <p:spPr>
          <a:xfrm>
            <a:off x="4968325" y="1794350"/>
            <a:ext cx="916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Rap</a:t>
            </a:r>
            <a:endParaRPr sz="1200"/>
          </a:p>
        </p:txBody>
      </p:sp>
      <p:cxnSp>
        <p:nvCxnSpPr>
          <p:cNvPr id="331" name="Google Shape;331;p22"/>
          <p:cNvCxnSpPr>
            <a:stCxn id="324" idx="1"/>
            <a:endCxn id="330" idx="0"/>
          </p:cNvCxnSpPr>
          <p:nvPr/>
        </p:nvCxnSpPr>
        <p:spPr>
          <a:xfrm flipH="1">
            <a:off x="5426691" y="1214569"/>
            <a:ext cx="629100" cy="5799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2"/>
          <p:cNvCxnSpPr>
            <a:stCxn id="326" idx="2"/>
            <a:endCxn id="330" idx="0"/>
          </p:cNvCxnSpPr>
          <p:nvPr/>
        </p:nvCxnSpPr>
        <p:spPr>
          <a:xfrm>
            <a:off x="5146926" y="1421059"/>
            <a:ext cx="279900" cy="373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2"/>
          <p:cNvCxnSpPr>
            <a:stCxn id="329" idx="2"/>
            <a:endCxn id="327" idx="0"/>
          </p:cNvCxnSpPr>
          <p:nvPr/>
        </p:nvCxnSpPr>
        <p:spPr>
          <a:xfrm>
            <a:off x="7020250" y="885950"/>
            <a:ext cx="25200" cy="486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2"/>
          <p:cNvCxnSpPr>
            <a:stCxn id="326" idx="3"/>
          </p:cNvCxnSpPr>
          <p:nvPr/>
        </p:nvCxnSpPr>
        <p:spPr>
          <a:xfrm flipH="1" rot="10800000">
            <a:off x="5276888" y="745267"/>
            <a:ext cx="1440600" cy="440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2"/>
          <p:cNvCxnSpPr>
            <a:stCxn id="328" idx="2"/>
            <a:endCxn id="325" idx="0"/>
          </p:cNvCxnSpPr>
          <p:nvPr/>
        </p:nvCxnSpPr>
        <p:spPr>
          <a:xfrm>
            <a:off x="5693525" y="885950"/>
            <a:ext cx="18000" cy="857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2"/>
          <p:cNvCxnSpPr>
            <a:stCxn id="326" idx="2"/>
            <a:endCxn id="317" idx="0"/>
          </p:cNvCxnSpPr>
          <p:nvPr/>
        </p:nvCxnSpPr>
        <p:spPr>
          <a:xfrm>
            <a:off x="5146926" y="1421059"/>
            <a:ext cx="0" cy="1890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22"/>
          <p:cNvCxnSpPr>
            <a:stCxn id="324" idx="2"/>
            <a:endCxn id="314" idx="0"/>
          </p:cNvCxnSpPr>
          <p:nvPr/>
        </p:nvCxnSpPr>
        <p:spPr>
          <a:xfrm flipH="1">
            <a:off x="6157447" y="1450252"/>
            <a:ext cx="16200" cy="16095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22"/>
          <p:cNvCxnSpPr>
            <a:endCxn id="315" idx="0"/>
          </p:cNvCxnSpPr>
          <p:nvPr/>
        </p:nvCxnSpPr>
        <p:spPr>
          <a:xfrm flipH="1">
            <a:off x="5741253" y="2197742"/>
            <a:ext cx="6300" cy="1809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2"/>
          <p:cNvCxnSpPr>
            <a:stCxn id="327" idx="2"/>
            <a:endCxn id="320" idx="0"/>
          </p:cNvCxnSpPr>
          <p:nvPr/>
        </p:nvCxnSpPr>
        <p:spPr>
          <a:xfrm>
            <a:off x="7045308" y="1843336"/>
            <a:ext cx="0" cy="141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2"/>
          <p:cNvCxnSpPr>
            <a:stCxn id="320" idx="1"/>
            <a:endCxn id="315" idx="3"/>
          </p:cNvCxnSpPr>
          <p:nvPr/>
        </p:nvCxnSpPr>
        <p:spPr>
          <a:xfrm flipH="1">
            <a:off x="5859046" y="3492120"/>
            <a:ext cx="1056300" cy="750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22"/>
          <p:cNvSpPr txBox="1"/>
          <p:nvPr/>
        </p:nvSpPr>
        <p:spPr>
          <a:xfrm>
            <a:off x="7352700" y="1364300"/>
            <a:ext cx="1791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mfortaa"/>
                <a:ea typeface="Comfortaa"/>
                <a:cs typeface="Comfortaa"/>
                <a:sym typeface="Comfortaa"/>
              </a:rPr>
              <a:t>Person-to-focus layer</a:t>
            </a:r>
            <a:endParaRPr b="1" sz="10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42" name="Google Shape;342;p22"/>
          <p:cNvCxnSpPr/>
          <p:nvPr/>
        </p:nvCxnSpPr>
        <p:spPr>
          <a:xfrm flipH="1">
            <a:off x="6016305" y="4054335"/>
            <a:ext cx="44580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2"/>
          <p:cNvSpPr txBox="1"/>
          <p:nvPr/>
        </p:nvSpPr>
        <p:spPr>
          <a:xfrm>
            <a:off x="7352700" y="3836775"/>
            <a:ext cx="1791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mfortaa"/>
                <a:ea typeface="Comfortaa"/>
                <a:cs typeface="Comfortaa"/>
                <a:sym typeface="Comfortaa"/>
              </a:rPr>
              <a:t>Interpersonal layer</a:t>
            </a:r>
            <a:endParaRPr b="1" sz="10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44" name="Google Shape;344;p22"/>
          <p:cNvCxnSpPr>
            <a:stCxn id="329" idx="2"/>
            <a:endCxn id="324" idx="3"/>
          </p:cNvCxnSpPr>
          <p:nvPr/>
        </p:nvCxnSpPr>
        <p:spPr>
          <a:xfrm flipH="1">
            <a:off x="6291550" y="885950"/>
            <a:ext cx="728700" cy="3285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"/>
          <p:cNvSpPr/>
          <p:nvPr/>
        </p:nvSpPr>
        <p:spPr>
          <a:xfrm>
            <a:off x="4512676" y="2772913"/>
            <a:ext cx="3321925" cy="183097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>
            <a:off x="5897614" y="2998749"/>
            <a:ext cx="519383" cy="750786"/>
            <a:chOff x="2899675" y="3125038"/>
            <a:chExt cx="632700" cy="914700"/>
          </a:xfrm>
        </p:grpSpPr>
        <p:sp>
          <p:nvSpPr>
            <p:cNvPr id="351" name="Google Shape;351;p23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52" name="Google Shape;35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3" name="Google Shape;3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403" y="4007042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4" name="Google Shape;354;p23"/>
          <p:cNvCxnSpPr>
            <a:stCxn id="351" idx="1"/>
            <a:endCxn id="355" idx="3"/>
          </p:cNvCxnSpPr>
          <p:nvPr/>
        </p:nvCxnSpPr>
        <p:spPr>
          <a:xfrm flipH="1">
            <a:off x="5276914" y="3374142"/>
            <a:ext cx="620700" cy="1725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3"/>
          <p:cNvCxnSpPr>
            <a:stCxn id="355" idx="3"/>
            <a:endCxn id="353" idx="0"/>
          </p:cNvCxnSpPr>
          <p:nvPr/>
        </p:nvCxnSpPr>
        <p:spPr>
          <a:xfrm>
            <a:off x="5276901" y="3546755"/>
            <a:ext cx="464400" cy="4602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23"/>
          <p:cNvCxnSpPr>
            <a:stCxn id="351" idx="3"/>
            <a:endCxn id="358" idx="1"/>
          </p:cNvCxnSpPr>
          <p:nvPr/>
        </p:nvCxnSpPr>
        <p:spPr>
          <a:xfrm>
            <a:off x="6416997" y="3374142"/>
            <a:ext cx="498300" cy="117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5" name="Google Shape;3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976" y="3311064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46" y="325642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3"/>
          <p:cNvSpPr/>
          <p:nvPr/>
        </p:nvSpPr>
        <p:spPr>
          <a:xfrm>
            <a:off x="4512664" y="516350"/>
            <a:ext cx="3321925" cy="183097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23"/>
          <p:cNvGrpSpPr/>
          <p:nvPr/>
        </p:nvGrpSpPr>
        <p:grpSpPr>
          <a:xfrm>
            <a:off x="5913951" y="917737"/>
            <a:ext cx="519383" cy="750786"/>
            <a:chOff x="2899675" y="3125038"/>
            <a:chExt cx="632700" cy="914700"/>
          </a:xfrm>
        </p:grpSpPr>
        <p:sp>
          <p:nvSpPr>
            <p:cNvPr id="361" name="Google Shape;361;p23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62" name="Google Shape;36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3" name="Google Shape;3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578" y="1743467"/>
            <a:ext cx="235700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964" y="94967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46" y="1371954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3"/>
          <p:cNvSpPr txBox="1"/>
          <p:nvPr/>
        </p:nvSpPr>
        <p:spPr>
          <a:xfrm>
            <a:off x="5073875" y="516350"/>
            <a:ext cx="1239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Club</a:t>
            </a:r>
            <a:endParaRPr sz="1200"/>
          </a:p>
        </p:txBody>
      </p:sp>
      <p:sp>
        <p:nvSpPr>
          <p:cNvPr id="367" name="Google Shape;367;p23"/>
          <p:cNvSpPr txBox="1"/>
          <p:nvPr/>
        </p:nvSpPr>
        <p:spPr>
          <a:xfrm>
            <a:off x="6433450" y="516350"/>
            <a:ext cx="1173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School</a:t>
            </a:r>
            <a:endParaRPr sz="1200"/>
          </a:p>
        </p:txBody>
      </p:sp>
      <p:sp>
        <p:nvSpPr>
          <p:cNvPr id="368" name="Google Shape;368;p23"/>
          <p:cNvSpPr txBox="1"/>
          <p:nvPr/>
        </p:nvSpPr>
        <p:spPr>
          <a:xfrm>
            <a:off x="4968325" y="1794350"/>
            <a:ext cx="916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Rap</a:t>
            </a:r>
            <a:endParaRPr sz="1200"/>
          </a:p>
        </p:txBody>
      </p:sp>
      <p:cxnSp>
        <p:nvCxnSpPr>
          <p:cNvPr id="369" name="Google Shape;369;p23"/>
          <p:cNvCxnSpPr>
            <a:stCxn id="362" idx="1"/>
            <a:endCxn id="368" idx="0"/>
          </p:cNvCxnSpPr>
          <p:nvPr/>
        </p:nvCxnSpPr>
        <p:spPr>
          <a:xfrm flipH="1">
            <a:off x="5426691" y="1214569"/>
            <a:ext cx="629100" cy="5799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3"/>
          <p:cNvCxnSpPr>
            <a:stCxn id="364" idx="2"/>
            <a:endCxn id="368" idx="0"/>
          </p:cNvCxnSpPr>
          <p:nvPr/>
        </p:nvCxnSpPr>
        <p:spPr>
          <a:xfrm>
            <a:off x="5146926" y="1421059"/>
            <a:ext cx="279900" cy="373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3"/>
          <p:cNvCxnSpPr>
            <a:stCxn id="367" idx="2"/>
            <a:endCxn id="365" idx="0"/>
          </p:cNvCxnSpPr>
          <p:nvPr/>
        </p:nvCxnSpPr>
        <p:spPr>
          <a:xfrm>
            <a:off x="7020250" y="885950"/>
            <a:ext cx="25200" cy="486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3"/>
          <p:cNvCxnSpPr>
            <a:stCxn id="364" idx="3"/>
          </p:cNvCxnSpPr>
          <p:nvPr/>
        </p:nvCxnSpPr>
        <p:spPr>
          <a:xfrm flipH="1" rot="10800000">
            <a:off x="5276888" y="745267"/>
            <a:ext cx="1440600" cy="440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3"/>
          <p:cNvCxnSpPr>
            <a:stCxn id="366" idx="2"/>
            <a:endCxn id="363" idx="0"/>
          </p:cNvCxnSpPr>
          <p:nvPr/>
        </p:nvCxnSpPr>
        <p:spPr>
          <a:xfrm>
            <a:off x="5693525" y="885950"/>
            <a:ext cx="18000" cy="857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3"/>
          <p:cNvCxnSpPr>
            <a:stCxn id="364" idx="2"/>
            <a:endCxn id="355" idx="0"/>
          </p:cNvCxnSpPr>
          <p:nvPr/>
        </p:nvCxnSpPr>
        <p:spPr>
          <a:xfrm>
            <a:off x="5146926" y="1421059"/>
            <a:ext cx="0" cy="1890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3"/>
          <p:cNvCxnSpPr>
            <a:stCxn id="362" idx="2"/>
            <a:endCxn id="352" idx="0"/>
          </p:cNvCxnSpPr>
          <p:nvPr/>
        </p:nvCxnSpPr>
        <p:spPr>
          <a:xfrm flipH="1">
            <a:off x="6157447" y="1450252"/>
            <a:ext cx="16200" cy="16095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3"/>
          <p:cNvCxnSpPr>
            <a:endCxn id="353" idx="0"/>
          </p:cNvCxnSpPr>
          <p:nvPr/>
        </p:nvCxnSpPr>
        <p:spPr>
          <a:xfrm flipH="1">
            <a:off x="5741253" y="2197742"/>
            <a:ext cx="6300" cy="1809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3"/>
          <p:cNvCxnSpPr>
            <a:stCxn id="365" idx="2"/>
            <a:endCxn id="358" idx="0"/>
          </p:cNvCxnSpPr>
          <p:nvPr/>
        </p:nvCxnSpPr>
        <p:spPr>
          <a:xfrm>
            <a:off x="7045308" y="1843336"/>
            <a:ext cx="0" cy="141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3"/>
          <p:cNvCxnSpPr>
            <a:stCxn id="358" idx="1"/>
            <a:endCxn id="353" idx="3"/>
          </p:cNvCxnSpPr>
          <p:nvPr/>
        </p:nvCxnSpPr>
        <p:spPr>
          <a:xfrm flipH="1">
            <a:off x="5859046" y="3492120"/>
            <a:ext cx="1056300" cy="750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23"/>
          <p:cNvSpPr txBox="1"/>
          <p:nvPr/>
        </p:nvSpPr>
        <p:spPr>
          <a:xfrm>
            <a:off x="7352700" y="1364300"/>
            <a:ext cx="1791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mfortaa"/>
                <a:ea typeface="Comfortaa"/>
                <a:cs typeface="Comfortaa"/>
                <a:sym typeface="Comfortaa"/>
              </a:rPr>
              <a:t>Person-to-focus layer</a:t>
            </a:r>
            <a:endParaRPr b="1" sz="10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80" name="Google Shape;380;p23"/>
          <p:cNvCxnSpPr/>
          <p:nvPr/>
        </p:nvCxnSpPr>
        <p:spPr>
          <a:xfrm flipH="1">
            <a:off x="6016305" y="4054335"/>
            <a:ext cx="44580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23"/>
          <p:cNvSpPr txBox="1"/>
          <p:nvPr/>
        </p:nvSpPr>
        <p:spPr>
          <a:xfrm>
            <a:off x="7352700" y="3836775"/>
            <a:ext cx="1791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mfortaa"/>
                <a:ea typeface="Comfortaa"/>
                <a:cs typeface="Comfortaa"/>
                <a:sym typeface="Comfortaa"/>
              </a:rPr>
              <a:t>Interpersonal layer</a:t>
            </a:r>
            <a:endParaRPr b="1" sz="10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82" name="Google Shape;382;p23"/>
          <p:cNvSpPr txBox="1"/>
          <p:nvPr>
            <p:ph idx="4294967295" type="subTitle"/>
          </p:nvPr>
        </p:nvSpPr>
        <p:spPr>
          <a:xfrm>
            <a:off x="93300" y="1450250"/>
            <a:ext cx="38448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Patterns of crosslayer dependence across coupled networks</a:t>
            </a:r>
            <a:endParaRPr sz="1900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83" name="Google Shape;383;p23"/>
          <p:cNvSpPr txBox="1"/>
          <p:nvPr>
            <p:ph idx="4294967295" type="subTitle"/>
          </p:nvPr>
        </p:nvSpPr>
        <p:spPr>
          <a:xfrm>
            <a:off x="199050" y="2843750"/>
            <a:ext cx="40602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Prop 1 is a special case! </a:t>
            </a:r>
            <a:endParaRPr sz="19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84" name="Google Shape;384;p23"/>
          <p:cNvSpPr txBox="1"/>
          <p:nvPr>
            <p:ph idx="4294967295" type="ctrTitle"/>
          </p:nvPr>
        </p:nvSpPr>
        <p:spPr>
          <a:xfrm>
            <a:off x="530325" y="75275"/>
            <a:ext cx="5011200" cy="12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Comfortaa"/>
                <a:ea typeface="Comfortaa"/>
                <a:cs typeface="Comfortaa"/>
                <a:sym typeface="Comfortaa"/>
              </a:rPr>
              <a:t>Generalized Focus Theory</a:t>
            </a:r>
            <a:endParaRPr sz="37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85" name="Google Shape;385;p23"/>
          <p:cNvSpPr txBox="1"/>
          <p:nvPr>
            <p:ph idx="4294967295" type="subTitle"/>
          </p:nvPr>
        </p:nvSpPr>
        <p:spPr>
          <a:xfrm>
            <a:off x="382175" y="4347175"/>
            <a:ext cx="65559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solidFill>
                  <a:srgbClr val="38761D"/>
                </a:solidFill>
                <a:latin typeface="Comfortaa"/>
                <a:ea typeface="Comfortaa"/>
                <a:cs typeface="Comfortaa"/>
                <a:sym typeface="Comfortaa"/>
              </a:rPr>
              <a:t>GFT is a </a:t>
            </a:r>
            <a:r>
              <a:rPr i="1" lang="en" sz="1900">
                <a:solidFill>
                  <a:srgbClr val="38761D"/>
                </a:solidFill>
                <a:latin typeface="Comfortaa"/>
                <a:ea typeface="Comfortaa"/>
                <a:cs typeface="Comfortaa"/>
                <a:sym typeface="Comfortaa"/>
              </a:rPr>
              <a:t>dynamic</a:t>
            </a:r>
            <a:r>
              <a:rPr lang="en" sz="1900">
                <a:solidFill>
                  <a:srgbClr val="38761D"/>
                </a:solidFill>
                <a:latin typeface="Comfortaa"/>
                <a:ea typeface="Comfortaa"/>
                <a:cs typeface="Comfortaa"/>
                <a:sym typeface="Comfortaa"/>
              </a:rPr>
              <a:t> theory</a:t>
            </a:r>
            <a:endParaRPr sz="1900">
              <a:solidFill>
                <a:srgbClr val="38761D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 txBox="1"/>
          <p:nvPr>
            <p:ph type="title"/>
          </p:nvPr>
        </p:nvSpPr>
        <p:spPr>
          <a:xfrm>
            <a:off x="311700" y="2150850"/>
            <a:ext cx="8520900" cy="8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Foci Effects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/>
          <p:nvPr/>
        </p:nvSpPr>
        <p:spPr>
          <a:xfrm>
            <a:off x="1953000" y="2023038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6002400" y="1977438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97" name="Google Shape;397;p25"/>
          <p:cNvCxnSpPr>
            <a:stCxn id="395" idx="6"/>
            <a:endCxn id="396" idx="1"/>
          </p:cNvCxnSpPr>
          <p:nvPr/>
        </p:nvCxnSpPr>
        <p:spPr>
          <a:xfrm>
            <a:off x="3053700" y="2571738"/>
            <a:ext cx="29487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98" name="Google Shape;398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Affiliation tendency </a:t>
            </a:r>
            <a:endParaRPr sz="3100"/>
          </a:p>
        </p:txBody>
      </p:sp>
      <p:pic>
        <p:nvPicPr>
          <p:cNvPr descr="y_{i+}=\sum_Ay_{iA}" id="399" name="Google Shape;399;p2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000" y="277925"/>
            <a:ext cx="321519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"/>
          <p:cNvSpPr/>
          <p:nvPr/>
        </p:nvSpPr>
        <p:spPr>
          <a:xfrm>
            <a:off x="1992600" y="4201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1992600" y="3625925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5962800" y="19774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07" name="Google Shape;407;p26"/>
          <p:cNvCxnSpPr>
            <a:stCxn id="404" idx="6"/>
            <a:endCxn id="406" idx="1"/>
          </p:cNvCxnSpPr>
          <p:nvPr/>
        </p:nvCxnSpPr>
        <p:spPr>
          <a:xfrm>
            <a:off x="3093300" y="9688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" name="Google Shape;408;p26"/>
          <p:cNvCxnSpPr>
            <a:stCxn id="405" idx="6"/>
            <a:endCxn id="406" idx="1"/>
          </p:cNvCxnSpPr>
          <p:nvPr/>
        </p:nvCxnSpPr>
        <p:spPr>
          <a:xfrm flipH="1" rot="10800000">
            <a:off x="3093300" y="2571725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9" name="Google Shape;409;p26"/>
          <p:cNvCxnSpPr>
            <a:stCxn id="405" idx="0"/>
            <a:endCxn id="404" idx="4"/>
          </p:cNvCxnSpPr>
          <p:nvPr/>
        </p:nvCxnSpPr>
        <p:spPr>
          <a:xfrm rot="10800000">
            <a:off x="2542950" y="1517525"/>
            <a:ext cx="0" cy="210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stealth"/>
            <a:tailEnd len="med" w="med" type="none"/>
          </a:ln>
        </p:spPr>
      </p:cxnSp>
      <p:pic>
        <p:nvPicPr>
          <p:cNvPr descr="x_{ij}\sum_{j,A}y_{iA}y_{jA}" id="410" name="Google Shape;410;p2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150" y="119450"/>
            <a:ext cx="306024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6"/>
          <p:cNvSpPr txBox="1"/>
          <p:nvPr>
            <p:ph idx="1" type="body"/>
          </p:nvPr>
        </p:nvSpPr>
        <p:spPr>
          <a:xfrm>
            <a:off x="4746550" y="4262425"/>
            <a:ext cx="4163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 Focus Effect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7"/>
          <p:cNvSpPr/>
          <p:nvPr/>
        </p:nvSpPr>
        <p:spPr>
          <a:xfrm>
            <a:off x="1992600" y="4201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1992600" y="3625925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5962800" y="19774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19" name="Google Shape;419;p27"/>
          <p:cNvCxnSpPr>
            <a:stCxn id="416" idx="6"/>
            <a:endCxn id="418" idx="1"/>
          </p:cNvCxnSpPr>
          <p:nvPr/>
        </p:nvCxnSpPr>
        <p:spPr>
          <a:xfrm>
            <a:off x="3093300" y="9688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0" name="Google Shape;420;p27"/>
          <p:cNvCxnSpPr>
            <a:stCxn id="417" idx="6"/>
            <a:endCxn id="418" idx="1"/>
          </p:cNvCxnSpPr>
          <p:nvPr/>
        </p:nvCxnSpPr>
        <p:spPr>
          <a:xfrm flipH="1" rot="10800000">
            <a:off x="3093300" y="2571725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1" name="Google Shape;421;p27"/>
          <p:cNvCxnSpPr>
            <a:stCxn id="417" idx="0"/>
            <a:endCxn id="416" idx="4"/>
          </p:cNvCxnSpPr>
          <p:nvPr/>
        </p:nvCxnSpPr>
        <p:spPr>
          <a:xfrm rot="10800000">
            <a:off x="2542950" y="1517525"/>
            <a:ext cx="0" cy="2108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y_{iA}\sum_{j,A}x_{ij}y_{jA}" id="422" name="Google Shape;422;p2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150" y="143300"/>
            <a:ext cx="306024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7"/>
          <p:cNvSpPr txBox="1"/>
          <p:nvPr>
            <p:ph idx="1" type="body"/>
          </p:nvPr>
        </p:nvSpPr>
        <p:spPr>
          <a:xfrm>
            <a:off x="3336100" y="4262425"/>
            <a:ext cx="5597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Focus “Diffusion”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1992600" y="4201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1992600" y="3625925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5962800" y="19774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31" name="Google Shape;431;p28"/>
          <p:cNvCxnSpPr>
            <a:stCxn id="428" idx="6"/>
            <a:endCxn id="430" idx="1"/>
          </p:cNvCxnSpPr>
          <p:nvPr/>
        </p:nvCxnSpPr>
        <p:spPr>
          <a:xfrm>
            <a:off x="3093300" y="9688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2" name="Google Shape;432;p28"/>
          <p:cNvCxnSpPr>
            <a:stCxn id="429" idx="6"/>
            <a:endCxn id="430" idx="1"/>
          </p:cNvCxnSpPr>
          <p:nvPr/>
        </p:nvCxnSpPr>
        <p:spPr>
          <a:xfrm flipH="1" rot="10800000">
            <a:off x="3093300" y="2571725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" name="Google Shape;433;p28"/>
          <p:cNvCxnSpPr>
            <a:stCxn id="429" idx="0"/>
            <a:endCxn id="428" idx="4"/>
          </p:cNvCxnSpPr>
          <p:nvPr/>
        </p:nvCxnSpPr>
        <p:spPr>
          <a:xfrm rot="10800000">
            <a:off x="2542950" y="1517525"/>
            <a:ext cx="0" cy="2108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y_{iA}\sum_{j,A}x_{ij}y_{jA}" id="434" name="Google Shape;434;p2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150" y="143300"/>
            <a:ext cx="306024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8"/>
          <p:cNvSpPr txBox="1"/>
          <p:nvPr>
            <p:ph idx="1" type="body"/>
          </p:nvPr>
        </p:nvSpPr>
        <p:spPr>
          <a:xfrm>
            <a:off x="3336100" y="4262425"/>
            <a:ext cx="5597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“Association-Based Closure” (Lomi and Stadtfeld 2014)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/>
          <p:nvPr/>
        </p:nvSpPr>
        <p:spPr>
          <a:xfrm>
            <a:off x="1588200" y="406007"/>
            <a:ext cx="1011900" cy="10092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1588200" y="3365016"/>
            <a:ext cx="1011900" cy="10092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5981972" y="374563"/>
            <a:ext cx="1092600" cy="1093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43" name="Google Shape;443;p29"/>
          <p:cNvCxnSpPr>
            <a:stCxn id="440" idx="6"/>
            <a:endCxn id="442" idx="1"/>
          </p:cNvCxnSpPr>
          <p:nvPr/>
        </p:nvCxnSpPr>
        <p:spPr>
          <a:xfrm>
            <a:off x="2600100" y="910607"/>
            <a:ext cx="33819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44" name="Google Shape;444;p29"/>
          <p:cNvCxnSpPr>
            <a:stCxn id="441" idx="6"/>
            <a:endCxn id="442" idx="1"/>
          </p:cNvCxnSpPr>
          <p:nvPr/>
        </p:nvCxnSpPr>
        <p:spPr>
          <a:xfrm flipH="1" rot="10800000">
            <a:off x="2600100" y="921216"/>
            <a:ext cx="3381900" cy="2948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5" name="Google Shape;445;p29"/>
          <p:cNvSpPr/>
          <p:nvPr/>
        </p:nvSpPr>
        <p:spPr>
          <a:xfrm>
            <a:off x="5981972" y="3323087"/>
            <a:ext cx="1092600" cy="1093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46" name="Google Shape;446;p29"/>
          <p:cNvCxnSpPr>
            <a:stCxn id="440" idx="6"/>
            <a:endCxn id="445" idx="1"/>
          </p:cNvCxnSpPr>
          <p:nvPr/>
        </p:nvCxnSpPr>
        <p:spPr>
          <a:xfrm>
            <a:off x="2600100" y="910607"/>
            <a:ext cx="3381900" cy="2959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7" name="Google Shape;447;p29"/>
          <p:cNvCxnSpPr>
            <a:stCxn id="441" idx="6"/>
            <a:endCxn id="445" idx="1"/>
          </p:cNvCxnSpPr>
          <p:nvPr/>
        </p:nvCxnSpPr>
        <p:spPr>
          <a:xfrm>
            <a:off x="2600100" y="3869616"/>
            <a:ext cx="3381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y_{iA}\sum_{j, A, B}y_{iB}y_{jA}y_{jB}" id="448" name="Google Shape;448;p2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50" y="2234442"/>
            <a:ext cx="355187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9"/>
          <p:cNvSpPr txBox="1"/>
          <p:nvPr>
            <p:ph idx="1" type="body"/>
          </p:nvPr>
        </p:nvSpPr>
        <p:spPr>
          <a:xfrm>
            <a:off x="93000" y="447010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Focus “Diffusion”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/>
          <p:nvPr/>
        </p:nvSpPr>
        <p:spPr>
          <a:xfrm>
            <a:off x="1992600" y="4201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1992600" y="20230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5962800" y="19774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57" name="Google Shape;457;p30"/>
          <p:cNvCxnSpPr>
            <a:stCxn id="454" idx="6"/>
            <a:endCxn id="456" idx="1"/>
          </p:cNvCxnSpPr>
          <p:nvPr/>
        </p:nvCxnSpPr>
        <p:spPr>
          <a:xfrm>
            <a:off x="3093300" y="9688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58" name="Google Shape;458;p30"/>
          <p:cNvCxnSpPr>
            <a:stCxn id="455" idx="6"/>
            <a:endCxn id="456" idx="1"/>
          </p:cNvCxnSpPr>
          <p:nvPr/>
        </p:nvCxnSpPr>
        <p:spPr>
          <a:xfrm>
            <a:off x="3093300" y="2571750"/>
            <a:ext cx="286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9" name="Google Shape;459;p30"/>
          <p:cNvSpPr/>
          <p:nvPr/>
        </p:nvSpPr>
        <p:spPr>
          <a:xfrm>
            <a:off x="1992600" y="3625950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60" name="Google Shape;460;p30"/>
          <p:cNvCxnSpPr>
            <a:stCxn id="459" idx="6"/>
            <a:endCxn id="456" idx="1"/>
          </p:cNvCxnSpPr>
          <p:nvPr/>
        </p:nvCxnSpPr>
        <p:spPr>
          <a:xfrm flipH="1" rot="10800000">
            <a:off x="3093300" y="2571750"/>
            <a:ext cx="28695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y_{iA}y^2_{+A}" id="461" name="Google Shape;461;p3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0475" y="183125"/>
            <a:ext cx="1426966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0"/>
          <p:cNvSpPr txBox="1"/>
          <p:nvPr>
            <p:ph idx="1" type="body"/>
          </p:nvPr>
        </p:nvSpPr>
        <p:spPr>
          <a:xfrm>
            <a:off x="4809100" y="4254450"/>
            <a:ext cx="4283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Attractiveness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/>
          <p:cNvSpPr/>
          <p:nvPr/>
        </p:nvSpPr>
        <p:spPr>
          <a:xfrm>
            <a:off x="1544225" y="2023013"/>
            <a:ext cx="1100700" cy="1097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6367200" y="374550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69" name="Google Shape;469;p31"/>
          <p:cNvCxnSpPr>
            <a:stCxn id="467" idx="6"/>
            <a:endCxn id="468" idx="1"/>
          </p:cNvCxnSpPr>
          <p:nvPr/>
        </p:nvCxnSpPr>
        <p:spPr>
          <a:xfrm flipH="1" rot="10800000">
            <a:off x="2644925" y="968813"/>
            <a:ext cx="3722400" cy="160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70" name="Google Shape;470;p31"/>
          <p:cNvSpPr/>
          <p:nvPr/>
        </p:nvSpPr>
        <p:spPr>
          <a:xfrm>
            <a:off x="6367200" y="35803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71" name="Google Shape;471;p31"/>
          <p:cNvCxnSpPr>
            <a:stCxn id="467" idx="6"/>
            <a:endCxn id="470" idx="1"/>
          </p:cNvCxnSpPr>
          <p:nvPr/>
        </p:nvCxnSpPr>
        <p:spPr>
          <a:xfrm>
            <a:off x="2644925" y="2571713"/>
            <a:ext cx="3722400" cy="1602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2" name="Google Shape;472;p31"/>
          <p:cNvSpPr/>
          <p:nvPr/>
        </p:nvSpPr>
        <p:spPr>
          <a:xfrm>
            <a:off x="6367200" y="2023025"/>
            <a:ext cx="1188600" cy="1188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73" name="Google Shape;473;p31"/>
          <p:cNvCxnSpPr>
            <a:stCxn id="467" idx="6"/>
            <a:endCxn id="472" idx="1"/>
          </p:cNvCxnSpPr>
          <p:nvPr/>
        </p:nvCxnSpPr>
        <p:spPr>
          <a:xfrm>
            <a:off x="2644925" y="2571713"/>
            <a:ext cx="3722400" cy="4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y_{iA}y^2_{i+}" id="474" name="Google Shape;474;p3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675" y="199050"/>
            <a:ext cx="129262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Activity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2"/>
          <p:cNvSpPr/>
          <p:nvPr/>
        </p:nvSpPr>
        <p:spPr>
          <a:xfrm>
            <a:off x="1617125" y="3106934"/>
            <a:ext cx="1004400" cy="10032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1" name="Google Shape;481;p32"/>
          <p:cNvSpPr/>
          <p:nvPr/>
        </p:nvSpPr>
        <p:spPr>
          <a:xfrm>
            <a:off x="6018762" y="135025"/>
            <a:ext cx="1084800" cy="1086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82" name="Google Shape;482;p32"/>
          <p:cNvCxnSpPr>
            <a:stCxn id="483" idx="6"/>
            <a:endCxn id="481" idx="1"/>
          </p:cNvCxnSpPr>
          <p:nvPr/>
        </p:nvCxnSpPr>
        <p:spPr>
          <a:xfrm flipH="1" rot="10800000">
            <a:off x="2621525" y="678237"/>
            <a:ext cx="3397200" cy="146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4" name="Google Shape;484;p32"/>
          <p:cNvSpPr/>
          <p:nvPr/>
        </p:nvSpPr>
        <p:spPr>
          <a:xfrm>
            <a:off x="6018762" y="3065264"/>
            <a:ext cx="1084800" cy="1086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85" name="Google Shape;485;p32"/>
          <p:cNvCxnSpPr>
            <a:stCxn id="486" idx="6"/>
            <a:endCxn id="484" idx="1"/>
          </p:cNvCxnSpPr>
          <p:nvPr/>
        </p:nvCxnSpPr>
        <p:spPr>
          <a:xfrm>
            <a:off x="2621525" y="678329"/>
            <a:ext cx="3397200" cy="2930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7" name="Google Shape;487;p32"/>
          <p:cNvSpPr/>
          <p:nvPr/>
        </p:nvSpPr>
        <p:spPr>
          <a:xfrm>
            <a:off x="6018762" y="1641814"/>
            <a:ext cx="1084800" cy="1086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88" name="Google Shape;488;p32"/>
          <p:cNvCxnSpPr>
            <a:stCxn id="480" idx="6"/>
            <a:endCxn id="481" idx="1"/>
          </p:cNvCxnSpPr>
          <p:nvPr/>
        </p:nvCxnSpPr>
        <p:spPr>
          <a:xfrm flipH="1" rot="10800000">
            <a:off x="2621525" y="678134"/>
            <a:ext cx="3397200" cy="2930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6" name="Google Shape;486;p32"/>
          <p:cNvSpPr/>
          <p:nvPr/>
        </p:nvSpPr>
        <p:spPr>
          <a:xfrm>
            <a:off x="1617125" y="176729"/>
            <a:ext cx="1004400" cy="10032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1617125" y="1641837"/>
            <a:ext cx="1004400" cy="10032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89" name="Google Shape;489;p32"/>
          <p:cNvCxnSpPr>
            <a:stCxn id="486" idx="6"/>
            <a:endCxn id="481" idx="1"/>
          </p:cNvCxnSpPr>
          <p:nvPr/>
        </p:nvCxnSpPr>
        <p:spPr>
          <a:xfrm flipH="1" rot="10800000">
            <a:off x="2621525" y="678029"/>
            <a:ext cx="3397200" cy="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90" name="Google Shape;490;p32"/>
          <p:cNvCxnSpPr>
            <a:stCxn id="486" idx="6"/>
          </p:cNvCxnSpPr>
          <p:nvPr/>
        </p:nvCxnSpPr>
        <p:spPr>
          <a:xfrm>
            <a:off x="2621525" y="678329"/>
            <a:ext cx="3397200" cy="150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y_{iA}y_{i+}y_{+A}" id="491" name="Google Shape;491;p3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538" y="3754300"/>
            <a:ext cx="2743200" cy="507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2"/>
          <p:cNvSpPr txBox="1"/>
          <p:nvPr>
            <p:ph idx="1" type="body"/>
          </p:nvPr>
        </p:nvSpPr>
        <p:spPr>
          <a:xfrm>
            <a:off x="290850" y="4407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Attractive Foci Attract Joiners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3"/>
          <p:cNvSpPr/>
          <p:nvPr/>
        </p:nvSpPr>
        <p:spPr>
          <a:xfrm>
            <a:off x="1490325" y="3577426"/>
            <a:ext cx="924600" cy="9228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h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98" name="Google Shape;498;p33"/>
          <p:cNvSpPr/>
          <p:nvPr/>
        </p:nvSpPr>
        <p:spPr>
          <a:xfrm>
            <a:off x="6435523" y="843550"/>
            <a:ext cx="998400" cy="999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99" name="Google Shape;499;p33"/>
          <p:cNvSpPr/>
          <p:nvPr/>
        </p:nvSpPr>
        <p:spPr>
          <a:xfrm>
            <a:off x="6435523" y="3539105"/>
            <a:ext cx="998400" cy="999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0" name="Google Shape;500;p33"/>
          <p:cNvSpPr/>
          <p:nvPr/>
        </p:nvSpPr>
        <p:spPr>
          <a:xfrm>
            <a:off x="6435523" y="2229659"/>
            <a:ext cx="998400" cy="999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3907544" y="2268012"/>
            <a:ext cx="924600" cy="9228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2" name="Google Shape;502;p33"/>
          <p:cNvSpPr/>
          <p:nvPr/>
        </p:nvSpPr>
        <p:spPr>
          <a:xfrm>
            <a:off x="1490346" y="2267991"/>
            <a:ext cx="924600" cy="9228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03" name="Google Shape;503;p33"/>
          <p:cNvCxnSpPr>
            <a:stCxn id="501" idx="6"/>
            <a:endCxn id="499" idx="1"/>
          </p:cNvCxnSpPr>
          <p:nvPr/>
        </p:nvCxnSpPr>
        <p:spPr>
          <a:xfrm>
            <a:off x="4832144" y="2729412"/>
            <a:ext cx="1603500" cy="1309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4" name="Google Shape;504;p33"/>
          <p:cNvCxnSpPr>
            <a:stCxn id="501" idx="6"/>
            <a:endCxn id="500" idx="1"/>
          </p:cNvCxnSpPr>
          <p:nvPr/>
        </p:nvCxnSpPr>
        <p:spPr>
          <a:xfrm>
            <a:off x="4832144" y="2729412"/>
            <a:ext cx="1603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5" name="Google Shape;505;p33"/>
          <p:cNvCxnSpPr>
            <a:stCxn id="501" idx="6"/>
            <a:endCxn id="498" idx="1"/>
          </p:cNvCxnSpPr>
          <p:nvPr/>
        </p:nvCxnSpPr>
        <p:spPr>
          <a:xfrm flipH="1" rot="10800000">
            <a:off x="4832144" y="1343112"/>
            <a:ext cx="1603500" cy="138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06" name="Google Shape;506;p33"/>
          <p:cNvSpPr/>
          <p:nvPr/>
        </p:nvSpPr>
        <p:spPr>
          <a:xfrm>
            <a:off x="1490346" y="881903"/>
            <a:ext cx="924600" cy="9228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07" name="Google Shape;507;p33"/>
          <p:cNvCxnSpPr>
            <a:stCxn id="501" idx="2"/>
            <a:endCxn id="506" idx="5"/>
          </p:cNvCxnSpPr>
          <p:nvPr/>
        </p:nvCxnSpPr>
        <p:spPr>
          <a:xfrm rot="10800000">
            <a:off x="2279444" y="1669512"/>
            <a:ext cx="1628100" cy="105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8" name="Google Shape;508;p33"/>
          <p:cNvCxnSpPr>
            <a:stCxn id="501" idx="2"/>
            <a:endCxn id="502" idx="6"/>
          </p:cNvCxnSpPr>
          <p:nvPr/>
        </p:nvCxnSpPr>
        <p:spPr>
          <a:xfrm rot="10800000">
            <a:off x="2415044" y="2729412"/>
            <a:ext cx="1492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9" name="Google Shape;509;p33"/>
          <p:cNvCxnSpPr>
            <a:stCxn id="501" idx="2"/>
            <a:endCxn id="497" idx="7"/>
          </p:cNvCxnSpPr>
          <p:nvPr/>
        </p:nvCxnSpPr>
        <p:spPr>
          <a:xfrm flipH="1">
            <a:off x="2279444" y="2729412"/>
            <a:ext cx="1628100" cy="983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y_{iA}x_{i+}y_{i+}" id="510" name="Google Shape;510;p3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650" y="208550"/>
            <a:ext cx="325641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3"/>
          <p:cNvSpPr txBox="1"/>
          <p:nvPr>
            <p:ph idx="1" type="body"/>
          </p:nvPr>
        </p:nvSpPr>
        <p:spPr>
          <a:xfrm>
            <a:off x="1462725" y="453840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 Kids are Also Joiners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4"/>
          <p:cNvSpPr/>
          <p:nvPr/>
        </p:nvSpPr>
        <p:spPr>
          <a:xfrm>
            <a:off x="6798817" y="1863694"/>
            <a:ext cx="973500" cy="974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Comfortaa"/>
                <a:ea typeface="Comfortaa"/>
                <a:cs typeface="Comfortaa"/>
                <a:sym typeface="Comfortaa"/>
              </a:rPr>
              <a:t>A</a:t>
            </a:r>
            <a:endParaRPr sz="3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7" name="Google Shape;517;p34"/>
          <p:cNvSpPr/>
          <p:nvPr/>
        </p:nvSpPr>
        <p:spPr>
          <a:xfrm>
            <a:off x="4045654" y="3023452"/>
            <a:ext cx="901500" cy="899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j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1371663" y="1831287"/>
            <a:ext cx="901500" cy="899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19" name="Google Shape;519;p34"/>
          <p:cNvCxnSpPr>
            <a:stCxn id="517" idx="6"/>
            <a:endCxn id="516" idx="1"/>
          </p:cNvCxnSpPr>
          <p:nvPr/>
        </p:nvCxnSpPr>
        <p:spPr>
          <a:xfrm flipH="1" rot="10800000">
            <a:off x="4947154" y="2350852"/>
            <a:ext cx="1851600" cy="1122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0" name="Google Shape;520;p34"/>
          <p:cNvSpPr/>
          <p:nvPr/>
        </p:nvSpPr>
        <p:spPr>
          <a:xfrm>
            <a:off x="4045644" y="778688"/>
            <a:ext cx="901500" cy="8994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omfortaa"/>
                <a:ea typeface="Comfortaa"/>
                <a:cs typeface="Comfortaa"/>
                <a:sym typeface="Comfortaa"/>
              </a:rPr>
              <a:t>i</a:t>
            </a:r>
            <a:endParaRPr sz="35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21" name="Google Shape;521;p34"/>
          <p:cNvCxnSpPr>
            <a:stCxn id="516" idx="1"/>
            <a:endCxn id="520" idx="6"/>
          </p:cNvCxnSpPr>
          <p:nvPr/>
        </p:nvCxnSpPr>
        <p:spPr>
          <a:xfrm rot="10800000">
            <a:off x="4947217" y="1228444"/>
            <a:ext cx="1851600" cy="112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522" name="Google Shape;522;p34"/>
          <p:cNvCxnSpPr>
            <a:stCxn id="517" idx="2"/>
            <a:endCxn id="518" idx="6"/>
          </p:cNvCxnSpPr>
          <p:nvPr/>
        </p:nvCxnSpPr>
        <p:spPr>
          <a:xfrm rot="10800000">
            <a:off x="2273254" y="2280952"/>
            <a:ext cx="1772400" cy="11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3" name="Google Shape;523;p34"/>
          <p:cNvCxnSpPr>
            <a:stCxn id="520" idx="2"/>
            <a:endCxn id="518" idx="6"/>
          </p:cNvCxnSpPr>
          <p:nvPr/>
        </p:nvCxnSpPr>
        <p:spPr>
          <a:xfrm flipH="1">
            <a:off x="2273244" y="1228388"/>
            <a:ext cx="1772400" cy="1052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y_{iA}x_{ik}x_{jk}y_{jA}" id="524" name="Google Shape;524;p3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00" y="143700"/>
            <a:ext cx="3628572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Two-Step Focus Diffusion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5"/>
          <p:cNvSpPr txBox="1"/>
          <p:nvPr>
            <p:ph type="title"/>
          </p:nvPr>
        </p:nvSpPr>
        <p:spPr>
          <a:xfrm>
            <a:off x="311700" y="2150850"/>
            <a:ext cx="8520900" cy="8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6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and methods</a:t>
            </a:r>
            <a:endParaRPr/>
          </a:p>
        </p:txBody>
      </p:sp>
      <p:sp>
        <p:nvSpPr>
          <p:cNvPr id="536" name="Google Shape;536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NetSense Study</a:t>
            </a:r>
            <a:endParaRPr i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</a:t>
            </a:r>
            <a:r>
              <a:rPr lang="en"/>
              <a:t>etwork and affiliation information over a 70-week period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196 University of Notre Dame undergraduate students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Begins fall of 2011.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Data are aggregated into two waves, covering 17 weeks: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Fall 2011 semester 2011 (i.e., week 1 to week 17) 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Spring 2012 semester 2012 (i.e., week 22 to week 38).</a:t>
            </a:r>
            <a:endParaRPr/>
          </a:p>
        </p:txBody>
      </p:sp>
      <p:sp>
        <p:nvSpPr>
          <p:cNvPr id="537" name="Google Shape;537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NetHealth</a:t>
            </a:r>
            <a:r>
              <a:rPr lang="en"/>
              <a:t> Study</a:t>
            </a:r>
            <a:endParaRPr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Network and affiliation information over a 104 week period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483</a:t>
            </a:r>
            <a:r>
              <a:rPr lang="en" sz="1200"/>
              <a:t> University of Notre Dame undergraduate students.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Begins fall of 2015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are aggregated into two waves, covering 17 weeks: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Fall 215 semester 2011 (i.e., week 1 to week 17)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1600"/>
              </a:spcAft>
              <a:buSzPts val="1200"/>
              <a:buChar char="○"/>
            </a:pPr>
            <a:r>
              <a:rPr lang="en"/>
              <a:t>Spring 2016 spring semester 2016 (i.e., week 21 to week 37).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and methods</a:t>
            </a:r>
            <a:endParaRPr/>
          </a:p>
        </p:txBody>
      </p:sp>
      <p:sp>
        <p:nvSpPr>
          <p:cNvPr id="543" name="Google Shape;543;p37"/>
          <p:cNvSpPr txBox="1"/>
          <p:nvPr>
            <p:ph idx="1" type="body"/>
          </p:nvPr>
        </p:nvSpPr>
        <p:spPr>
          <a:xfrm>
            <a:off x="311700" y="1152475"/>
            <a:ext cx="85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NetSense and NetHealth Studies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Interpersonal networks: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Texts collected from Android-powered smartphone backed up to a server administered by the project team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Affiliation Networks: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Obtained from periodic (once a semester) surveys and admin records: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Musical preferences (NetSense Only)	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Courses taken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Club memberships (Recoded into types)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Preferred activities (Up to nine)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75" y="1099900"/>
            <a:ext cx="8839200" cy="3208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763" y="152400"/>
            <a:ext cx="713647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01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552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4175"/>
            <a:ext cx="8839198" cy="4015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538" y="224050"/>
            <a:ext cx="7248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4"/>
          <p:cNvSpPr txBox="1"/>
          <p:nvPr>
            <p:ph type="title"/>
          </p:nvPr>
        </p:nvSpPr>
        <p:spPr>
          <a:xfrm>
            <a:off x="311700" y="2150850"/>
            <a:ext cx="8520900" cy="8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5"/>
          <p:cNvSpPr/>
          <p:nvPr/>
        </p:nvSpPr>
        <p:spPr>
          <a:xfrm>
            <a:off x="4512676" y="2772913"/>
            <a:ext cx="3321925" cy="183097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4" name="Google Shape;584;p45"/>
          <p:cNvGrpSpPr/>
          <p:nvPr/>
        </p:nvGrpSpPr>
        <p:grpSpPr>
          <a:xfrm>
            <a:off x="5897614" y="2998749"/>
            <a:ext cx="519383" cy="750786"/>
            <a:chOff x="2899675" y="3125038"/>
            <a:chExt cx="632700" cy="914700"/>
          </a:xfrm>
        </p:grpSpPr>
        <p:sp>
          <p:nvSpPr>
            <p:cNvPr id="585" name="Google Shape;585;p45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586" name="Google Shape;58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7" name="Google Shape;58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403" y="4007042"/>
            <a:ext cx="235700" cy="4713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8" name="Google Shape;588;p45"/>
          <p:cNvCxnSpPr>
            <a:stCxn id="585" idx="1"/>
            <a:endCxn id="589" idx="3"/>
          </p:cNvCxnSpPr>
          <p:nvPr/>
        </p:nvCxnSpPr>
        <p:spPr>
          <a:xfrm flipH="1">
            <a:off x="5276914" y="3374142"/>
            <a:ext cx="620700" cy="1725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5"/>
          <p:cNvCxnSpPr>
            <a:stCxn id="589" idx="3"/>
            <a:endCxn id="587" idx="0"/>
          </p:cNvCxnSpPr>
          <p:nvPr/>
        </p:nvCxnSpPr>
        <p:spPr>
          <a:xfrm>
            <a:off x="5276901" y="3546755"/>
            <a:ext cx="464400" cy="4602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45"/>
          <p:cNvCxnSpPr>
            <a:stCxn id="585" idx="3"/>
            <a:endCxn id="592" idx="1"/>
          </p:cNvCxnSpPr>
          <p:nvPr/>
        </p:nvCxnSpPr>
        <p:spPr>
          <a:xfrm>
            <a:off x="6416997" y="3374142"/>
            <a:ext cx="498300" cy="117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9" name="Google Shape;58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976" y="3311064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46" y="3256429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5"/>
          <p:cNvSpPr/>
          <p:nvPr/>
        </p:nvSpPr>
        <p:spPr>
          <a:xfrm>
            <a:off x="4512664" y="516350"/>
            <a:ext cx="3321925" cy="183097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45"/>
          <p:cNvGrpSpPr/>
          <p:nvPr/>
        </p:nvGrpSpPr>
        <p:grpSpPr>
          <a:xfrm>
            <a:off x="5913951" y="917737"/>
            <a:ext cx="519383" cy="750786"/>
            <a:chOff x="2899675" y="3125038"/>
            <a:chExt cx="632700" cy="914700"/>
          </a:xfrm>
        </p:grpSpPr>
        <p:sp>
          <p:nvSpPr>
            <p:cNvPr id="595" name="Google Shape;595;p45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596" name="Google Shape;59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7" name="Google Shape;5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578" y="1743467"/>
            <a:ext cx="235700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964" y="949676"/>
            <a:ext cx="259925" cy="47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46" y="1371954"/>
            <a:ext cx="259925" cy="4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5"/>
          <p:cNvSpPr txBox="1"/>
          <p:nvPr/>
        </p:nvSpPr>
        <p:spPr>
          <a:xfrm>
            <a:off x="5073875" y="516350"/>
            <a:ext cx="1239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Club</a:t>
            </a:r>
            <a:endParaRPr sz="1200"/>
          </a:p>
        </p:txBody>
      </p:sp>
      <p:sp>
        <p:nvSpPr>
          <p:cNvPr id="601" name="Google Shape;601;p45"/>
          <p:cNvSpPr txBox="1"/>
          <p:nvPr/>
        </p:nvSpPr>
        <p:spPr>
          <a:xfrm>
            <a:off x="6433450" y="516350"/>
            <a:ext cx="1173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School</a:t>
            </a:r>
            <a:endParaRPr sz="1200"/>
          </a:p>
        </p:txBody>
      </p:sp>
      <p:sp>
        <p:nvSpPr>
          <p:cNvPr id="602" name="Google Shape;602;p45"/>
          <p:cNvSpPr txBox="1"/>
          <p:nvPr/>
        </p:nvSpPr>
        <p:spPr>
          <a:xfrm>
            <a:off x="4968325" y="1794350"/>
            <a:ext cx="916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Rap</a:t>
            </a:r>
            <a:endParaRPr sz="1200"/>
          </a:p>
        </p:txBody>
      </p:sp>
      <p:cxnSp>
        <p:nvCxnSpPr>
          <p:cNvPr id="603" name="Google Shape;603;p45"/>
          <p:cNvCxnSpPr>
            <a:stCxn id="596" idx="1"/>
            <a:endCxn id="602" idx="0"/>
          </p:cNvCxnSpPr>
          <p:nvPr/>
        </p:nvCxnSpPr>
        <p:spPr>
          <a:xfrm flipH="1">
            <a:off x="5426691" y="1214569"/>
            <a:ext cx="629100" cy="5799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5"/>
          <p:cNvCxnSpPr>
            <a:stCxn id="598" idx="2"/>
            <a:endCxn id="602" idx="0"/>
          </p:cNvCxnSpPr>
          <p:nvPr/>
        </p:nvCxnSpPr>
        <p:spPr>
          <a:xfrm>
            <a:off x="5146926" y="1421059"/>
            <a:ext cx="279900" cy="373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45"/>
          <p:cNvCxnSpPr>
            <a:stCxn id="601" idx="2"/>
            <a:endCxn id="599" idx="0"/>
          </p:cNvCxnSpPr>
          <p:nvPr/>
        </p:nvCxnSpPr>
        <p:spPr>
          <a:xfrm>
            <a:off x="7020250" y="885950"/>
            <a:ext cx="25200" cy="486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45"/>
          <p:cNvCxnSpPr>
            <a:stCxn id="598" idx="3"/>
          </p:cNvCxnSpPr>
          <p:nvPr/>
        </p:nvCxnSpPr>
        <p:spPr>
          <a:xfrm flipH="1" rot="10800000">
            <a:off x="5276888" y="745267"/>
            <a:ext cx="1440600" cy="440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45"/>
          <p:cNvCxnSpPr>
            <a:stCxn id="600" idx="2"/>
            <a:endCxn id="597" idx="0"/>
          </p:cNvCxnSpPr>
          <p:nvPr/>
        </p:nvCxnSpPr>
        <p:spPr>
          <a:xfrm>
            <a:off x="5693525" y="885950"/>
            <a:ext cx="18000" cy="857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45"/>
          <p:cNvCxnSpPr>
            <a:stCxn id="598" idx="2"/>
            <a:endCxn id="589" idx="0"/>
          </p:cNvCxnSpPr>
          <p:nvPr/>
        </p:nvCxnSpPr>
        <p:spPr>
          <a:xfrm>
            <a:off x="5146926" y="1421059"/>
            <a:ext cx="0" cy="1890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5"/>
          <p:cNvCxnSpPr>
            <a:stCxn id="596" idx="2"/>
            <a:endCxn id="586" idx="0"/>
          </p:cNvCxnSpPr>
          <p:nvPr/>
        </p:nvCxnSpPr>
        <p:spPr>
          <a:xfrm flipH="1">
            <a:off x="6157447" y="1450252"/>
            <a:ext cx="16200" cy="16095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5"/>
          <p:cNvCxnSpPr>
            <a:endCxn id="587" idx="0"/>
          </p:cNvCxnSpPr>
          <p:nvPr/>
        </p:nvCxnSpPr>
        <p:spPr>
          <a:xfrm flipH="1">
            <a:off x="5741253" y="2197742"/>
            <a:ext cx="6300" cy="18093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5"/>
          <p:cNvCxnSpPr>
            <a:stCxn id="599" idx="2"/>
            <a:endCxn id="592" idx="0"/>
          </p:cNvCxnSpPr>
          <p:nvPr/>
        </p:nvCxnSpPr>
        <p:spPr>
          <a:xfrm>
            <a:off x="7045308" y="1843336"/>
            <a:ext cx="0" cy="14130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5"/>
          <p:cNvCxnSpPr>
            <a:stCxn id="592" idx="1"/>
            <a:endCxn id="587" idx="3"/>
          </p:cNvCxnSpPr>
          <p:nvPr/>
        </p:nvCxnSpPr>
        <p:spPr>
          <a:xfrm flipH="1">
            <a:off x="5859046" y="3492120"/>
            <a:ext cx="1056300" cy="750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45"/>
          <p:cNvSpPr txBox="1"/>
          <p:nvPr/>
        </p:nvSpPr>
        <p:spPr>
          <a:xfrm>
            <a:off x="7352700" y="1364300"/>
            <a:ext cx="1791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mfortaa"/>
                <a:ea typeface="Comfortaa"/>
                <a:cs typeface="Comfortaa"/>
                <a:sym typeface="Comfortaa"/>
              </a:rPr>
              <a:t>Person-to-focus layer</a:t>
            </a:r>
            <a:endParaRPr b="1" sz="10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14" name="Google Shape;614;p45"/>
          <p:cNvCxnSpPr/>
          <p:nvPr/>
        </p:nvCxnSpPr>
        <p:spPr>
          <a:xfrm flipH="1">
            <a:off x="6016305" y="4054335"/>
            <a:ext cx="445800" cy="257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45"/>
          <p:cNvSpPr txBox="1"/>
          <p:nvPr/>
        </p:nvSpPr>
        <p:spPr>
          <a:xfrm>
            <a:off x="7352700" y="3836775"/>
            <a:ext cx="1791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mfortaa"/>
                <a:ea typeface="Comfortaa"/>
                <a:cs typeface="Comfortaa"/>
                <a:sym typeface="Comfortaa"/>
              </a:rPr>
              <a:t>Interpersonal layer</a:t>
            </a:r>
            <a:endParaRPr b="1" sz="10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6" name="Google Shape;616;p45"/>
          <p:cNvSpPr txBox="1"/>
          <p:nvPr>
            <p:ph idx="4294967295" type="subTitle"/>
          </p:nvPr>
        </p:nvSpPr>
        <p:spPr>
          <a:xfrm>
            <a:off x="93300" y="1450250"/>
            <a:ext cx="38448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Both “standard” and “reverse” focus effects</a:t>
            </a:r>
            <a:endParaRPr sz="1900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7" name="Google Shape;617;p45"/>
          <p:cNvSpPr txBox="1"/>
          <p:nvPr>
            <p:ph idx="4294967295" type="subTitle"/>
          </p:nvPr>
        </p:nvSpPr>
        <p:spPr>
          <a:xfrm>
            <a:off x="199050" y="2843750"/>
            <a:ext cx="40602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Depends on the type of focus</a:t>
            </a:r>
            <a:endParaRPr sz="19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8" name="Google Shape;618;p45"/>
          <p:cNvSpPr txBox="1"/>
          <p:nvPr>
            <p:ph idx="4294967295" type="ctrTitle"/>
          </p:nvPr>
        </p:nvSpPr>
        <p:spPr>
          <a:xfrm>
            <a:off x="530325" y="75275"/>
            <a:ext cx="5011200" cy="12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Comfortaa"/>
                <a:ea typeface="Comfortaa"/>
                <a:cs typeface="Comfortaa"/>
                <a:sym typeface="Comfortaa"/>
              </a:rPr>
              <a:t>Generalized Focus Theory</a:t>
            </a:r>
            <a:endParaRPr sz="37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9" name="Google Shape;619;p45"/>
          <p:cNvSpPr txBox="1"/>
          <p:nvPr>
            <p:ph idx="4294967295" type="subTitle"/>
          </p:nvPr>
        </p:nvSpPr>
        <p:spPr>
          <a:xfrm>
            <a:off x="382175" y="4347175"/>
            <a:ext cx="65559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900">
                <a:solidFill>
                  <a:srgbClr val="38761D"/>
                </a:solidFill>
                <a:latin typeface="Comfortaa"/>
                <a:ea typeface="Comfortaa"/>
                <a:cs typeface="Comfortaa"/>
                <a:sym typeface="Comfortaa"/>
              </a:rPr>
              <a:t>Indirect focus diffusion!</a:t>
            </a:r>
            <a:endParaRPr sz="1900">
              <a:solidFill>
                <a:srgbClr val="38761D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