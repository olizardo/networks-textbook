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Josefin Slab"/>
      <p:regular r:id="rId51"/>
      <p:bold r:id="rId52"/>
      <p:italic r:id="rId53"/>
      <p:boldItalic r:id="rId54"/>
    </p:embeddedFont>
    <p:embeddedFont>
      <p:font typeface="Economica"/>
      <p:regular r:id="rId55"/>
      <p:bold r:id="rId56"/>
      <p:italic r:id="rId57"/>
      <p:boldItalic r:id="rId58"/>
    </p:embeddedFont>
    <p:embeddedFont>
      <p:font typeface="Antic Didone"/>
      <p:regular r:id="rId59"/>
    </p:embeddedFont>
    <p:embeddedFont>
      <p:font typeface="Comfortaa"/>
      <p:regular r:id="rId60"/>
      <p:bold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7429BE-8785-4A9C-89C1-89B649A712DF}">
  <a:tblStyle styleId="{8D7429BE-8785-4A9C-89C1-89B649A712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C08EFAE-EFFD-4453-AD26-6AAE8F41FEC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regular.fntdata"/><Relationship Id="rId61" Type="http://schemas.openxmlformats.org/officeDocument/2006/relationships/font" Target="fonts/Comfortaa-bold.fntdata"/><Relationship Id="rId20" Type="http://schemas.openxmlformats.org/officeDocument/2006/relationships/slide" Target="slides/slide14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Comfortaa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JosefinSlab-regular.fntdata"/><Relationship Id="rId50" Type="http://schemas.openxmlformats.org/officeDocument/2006/relationships/slide" Target="slides/slide44.xml"/><Relationship Id="rId53" Type="http://schemas.openxmlformats.org/officeDocument/2006/relationships/font" Target="fonts/JosefinSlab-italic.fntdata"/><Relationship Id="rId52" Type="http://schemas.openxmlformats.org/officeDocument/2006/relationships/font" Target="fonts/JosefinSlab-bold.fntdata"/><Relationship Id="rId11" Type="http://schemas.openxmlformats.org/officeDocument/2006/relationships/slide" Target="slides/slide5.xml"/><Relationship Id="rId55" Type="http://schemas.openxmlformats.org/officeDocument/2006/relationships/font" Target="fonts/Economica-regular.fntdata"/><Relationship Id="rId10" Type="http://schemas.openxmlformats.org/officeDocument/2006/relationships/slide" Target="slides/slide4.xml"/><Relationship Id="rId54" Type="http://schemas.openxmlformats.org/officeDocument/2006/relationships/font" Target="fonts/JosefinSlab-boldItalic.fntdata"/><Relationship Id="rId13" Type="http://schemas.openxmlformats.org/officeDocument/2006/relationships/slide" Target="slides/slide7.xml"/><Relationship Id="rId57" Type="http://schemas.openxmlformats.org/officeDocument/2006/relationships/font" Target="fonts/Economica-italic.fntdata"/><Relationship Id="rId12" Type="http://schemas.openxmlformats.org/officeDocument/2006/relationships/slide" Target="slides/slide6.xml"/><Relationship Id="rId56" Type="http://schemas.openxmlformats.org/officeDocument/2006/relationships/font" Target="fonts/Economica-bold.fntdata"/><Relationship Id="rId15" Type="http://schemas.openxmlformats.org/officeDocument/2006/relationships/slide" Target="slides/slide9.xml"/><Relationship Id="rId59" Type="http://schemas.openxmlformats.org/officeDocument/2006/relationships/font" Target="fonts/AnticDidone-regular.fntdata"/><Relationship Id="rId14" Type="http://schemas.openxmlformats.org/officeDocument/2006/relationships/slide" Target="slides/slide8.xml"/><Relationship Id="rId58" Type="http://schemas.openxmlformats.org/officeDocument/2006/relationships/font" Target="fonts/Economica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069e31e5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069e31e5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069e31e5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069e31e5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069e31e5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069e31e5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5069e31e5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5069e31e5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069e31e5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069e31e5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5069e31e57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5069e31e57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069e31e57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5069e31e5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069e31e5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069e31e5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069e31e57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069e31e5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5069e31e5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5069e31e5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5069e31e5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5069e31e5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069e31e57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5069e31e57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069e31e57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069e31e57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5069e31e57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5069e31e5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5069e31e57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5069e31e57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5069e31e57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5069e31e57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5069e31e57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5069e31e57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5069e31e57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5069e31e57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5069e31e57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5069e31e57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5069e31e57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5069e31e57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5069e31e57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5069e31e57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5069e31e57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5069e31e57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5069e31e57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5069e31e57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5069e31e57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5069e31e57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069e31e57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069e31e57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5069e31e57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5069e31e57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5069e31e5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5069e31e5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5069e31e57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5069e31e57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506c4c43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506c4c43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069e31e57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069e31e57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5069e31e57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5069e31e57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506c4c43d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506c4c43d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7e8984874b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7e8984874b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7e8984874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7e8984874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7e8984874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7e8984874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506c4c43d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506c4c43d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506c4c43d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506c4c43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506c4c43d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506c4c43d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506c4c43d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506c4c43d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506c4c43d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506c4c43d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7e898487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7e898487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7e8984874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7e8984874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7e8984874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7e8984874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 networks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 networks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a network is composed of relationships between </a:t>
            </a:r>
            <a:r>
              <a:rPr b="1" lang="en"/>
              <a:t>two types</a:t>
            </a:r>
            <a:r>
              <a:rPr lang="en"/>
              <a:t> of entities: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Persons</a:t>
            </a:r>
            <a:r>
              <a:rPr lang="en"/>
              <a:t> and </a:t>
            </a:r>
            <a:r>
              <a:rPr b="1" lang="en"/>
              <a:t>groups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Actors</a:t>
            </a:r>
            <a:r>
              <a:rPr lang="en" sz="1400"/>
              <a:t> and the </a:t>
            </a:r>
            <a:r>
              <a:rPr b="1" lang="en" sz="1400"/>
              <a:t>movies</a:t>
            </a:r>
            <a:r>
              <a:rPr lang="en" sz="1400"/>
              <a:t> they appear 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Scientists</a:t>
            </a:r>
            <a:r>
              <a:rPr lang="en" sz="1400"/>
              <a:t> and </a:t>
            </a:r>
            <a:r>
              <a:rPr b="1" lang="en" sz="1400"/>
              <a:t>papers</a:t>
            </a:r>
            <a:r>
              <a:rPr lang="en" sz="1400"/>
              <a:t> they write</a:t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 networks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a network is composed of relationships between </a:t>
            </a:r>
            <a:r>
              <a:rPr b="1" lang="en"/>
              <a:t>two types</a:t>
            </a:r>
            <a:r>
              <a:rPr lang="en"/>
              <a:t> of entities: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Persons</a:t>
            </a:r>
            <a:r>
              <a:rPr lang="en"/>
              <a:t> and </a:t>
            </a:r>
            <a:r>
              <a:rPr b="1" lang="en"/>
              <a:t>groups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Actors</a:t>
            </a:r>
            <a:r>
              <a:rPr lang="en" sz="1400"/>
              <a:t> and the </a:t>
            </a:r>
            <a:r>
              <a:rPr b="1" lang="en" sz="1400"/>
              <a:t>movies</a:t>
            </a:r>
            <a:r>
              <a:rPr lang="en" sz="1400"/>
              <a:t> they appear 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Scientists</a:t>
            </a:r>
            <a:r>
              <a:rPr lang="en" sz="1400"/>
              <a:t> and </a:t>
            </a:r>
            <a:r>
              <a:rPr b="1" lang="en" sz="1400"/>
              <a:t>papers</a:t>
            </a:r>
            <a:r>
              <a:rPr lang="en" sz="1400"/>
              <a:t> they write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two-mode</a:t>
            </a:r>
            <a:r>
              <a:rPr lang="en"/>
              <a:t> (or </a:t>
            </a:r>
            <a:r>
              <a:rPr b="1" lang="en"/>
              <a:t>affiliation</a:t>
            </a:r>
            <a:r>
              <a:rPr lang="en"/>
              <a:t>)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networks are therefore </a:t>
            </a:r>
            <a:r>
              <a:rPr b="1" lang="en"/>
              <a:t>one-mode</a:t>
            </a:r>
            <a:r>
              <a:rPr lang="en"/>
              <a:t> networks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Representing two mode networks as graphs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mode networks can be represented as </a:t>
            </a:r>
            <a:r>
              <a:rPr b="1" lang="en"/>
              <a:t>bipartite 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bipartite graph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Two sets are disjoint when they don’t share members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Affiliation or membership relations are </a:t>
            </a:r>
            <a:r>
              <a:rPr b="1" lang="en"/>
              <a:t>undirected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two sets can be of </a:t>
            </a:r>
            <a:r>
              <a:rPr b="1" lang="en"/>
              <a:t>different</a:t>
            </a:r>
            <a:r>
              <a:rPr lang="en"/>
              <a:t> cardinality (</a:t>
            </a:r>
            <a:r>
              <a:rPr b="1" lang="en"/>
              <a:t>size</a:t>
            </a:r>
            <a:r>
              <a:rPr lang="en"/>
              <a:t>)! (|U| = 6, |V| = 5)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9" name="Google Shape;99;p17"/>
          <p:cNvCxnSpPr>
            <a:stCxn id="93" idx="6"/>
            <a:endCxn id="9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7"/>
          <p:cNvCxnSpPr>
            <a:stCxn id="93" idx="6"/>
            <a:endCxn id="9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7"/>
          <p:cNvCxnSpPr>
            <a:stCxn id="92" idx="6"/>
            <a:endCxn id="9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7"/>
          <p:cNvCxnSpPr>
            <a:stCxn id="90" idx="6"/>
            <a:endCxn id="9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7"/>
          <p:cNvCxnSpPr>
            <a:stCxn id="93" idx="6"/>
            <a:endCxn id="9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>
            <a:stCxn id="88" idx="6"/>
            <a:endCxn id="9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>
            <a:stCxn id="88" idx="6"/>
            <a:endCxn id="9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>
            <a:stCxn id="89" idx="6"/>
            <a:endCxn id="9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7"/>
          <p:cNvCxnSpPr>
            <a:stCxn id="88" idx="6"/>
            <a:endCxn id="9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7"/>
          <p:cNvCxnSpPr>
            <a:stCxn id="91" idx="6"/>
            <a:endCxn id="9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7"/>
          <p:cNvCxnSpPr>
            <a:stCxn id="89" idx="6"/>
            <a:endCxn id="9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7"/>
          <p:cNvCxnSpPr>
            <a:stCxn id="92" idx="6"/>
            <a:endCxn id="9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7"/>
          <p:cNvCxnSpPr>
            <a:stCxn id="91" idx="6"/>
            <a:endCxn id="9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</a:t>
            </a:r>
            <a:r>
              <a:rPr lang="en"/>
              <a:t>bipartite</a:t>
            </a:r>
            <a:r>
              <a:rPr lang="en"/>
              <a:t> graph to affiliation matrix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30" name="Google Shape;130;p18"/>
          <p:cNvCxnSpPr>
            <a:stCxn id="124" idx="6"/>
            <a:endCxn id="129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8"/>
          <p:cNvCxnSpPr>
            <a:stCxn id="124" idx="6"/>
            <a:endCxn id="126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>
            <a:stCxn id="123" idx="6"/>
            <a:endCxn id="129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>
            <a:stCxn id="121" idx="6"/>
            <a:endCxn id="126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8"/>
          <p:cNvCxnSpPr>
            <a:stCxn id="124" idx="6"/>
            <a:endCxn id="128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8"/>
          <p:cNvCxnSpPr>
            <a:stCxn id="119" idx="6"/>
            <a:endCxn id="125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>
            <a:stCxn id="119" idx="6"/>
            <a:endCxn id="127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8"/>
          <p:cNvCxnSpPr>
            <a:stCxn id="120" idx="6"/>
            <a:endCxn id="126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8"/>
          <p:cNvCxnSpPr>
            <a:stCxn id="119" idx="6"/>
            <a:endCxn id="129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8"/>
          <p:cNvCxnSpPr>
            <a:stCxn id="122" idx="6"/>
            <a:endCxn id="127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8"/>
          <p:cNvCxnSpPr>
            <a:stCxn id="120" idx="6"/>
            <a:endCxn id="128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8"/>
          <p:cNvCxnSpPr>
            <a:stCxn id="123" idx="6"/>
            <a:endCxn id="126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8"/>
          <p:cNvCxnSpPr>
            <a:stCxn id="122" idx="6"/>
            <a:endCxn id="125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3" name="Google Shape;143;p18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/>
        </p:nvSpPr>
        <p:spPr>
          <a:xfrm>
            <a:off x="670850" y="4430025"/>
            <a:ext cx="6075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 affiliation matrix (A) has number of rows equals to the number of people and number of columns equal to the number of groups!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61" name="Google Shape;161;p19"/>
          <p:cNvCxnSpPr>
            <a:stCxn id="155" idx="6"/>
            <a:endCxn id="160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9"/>
          <p:cNvCxnSpPr>
            <a:stCxn id="155" idx="6"/>
            <a:endCxn id="157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9"/>
          <p:cNvCxnSpPr>
            <a:stCxn id="154" idx="6"/>
            <a:endCxn id="160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9"/>
          <p:cNvCxnSpPr>
            <a:stCxn id="152" idx="6"/>
            <a:endCxn id="157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9"/>
          <p:cNvCxnSpPr>
            <a:stCxn id="155" idx="6"/>
            <a:endCxn id="159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9"/>
          <p:cNvCxnSpPr>
            <a:stCxn id="150" idx="6"/>
            <a:endCxn id="156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9"/>
          <p:cNvCxnSpPr>
            <a:stCxn id="150" idx="6"/>
            <a:endCxn id="158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9"/>
          <p:cNvCxnSpPr>
            <a:stCxn id="151" idx="6"/>
            <a:endCxn id="157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9"/>
          <p:cNvCxnSpPr>
            <a:stCxn id="150" idx="6"/>
            <a:endCxn id="160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9"/>
          <p:cNvCxnSpPr>
            <a:stCxn id="153" idx="6"/>
            <a:endCxn id="158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9"/>
          <p:cNvCxnSpPr>
            <a:stCxn id="151" idx="6"/>
            <a:endCxn id="159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9"/>
          <p:cNvCxnSpPr>
            <a:stCxn id="154" idx="6"/>
            <a:endCxn id="157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9"/>
          <p:cNvCxnSpPr>
            <a:stCxn id="153" idx="6"/>
            <a:endCxn id="156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4" name="Google Shape;174;p19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5" name="Google Shape;175;p19"/>
          <p:cNvSpPr txBox="1"/>
          <p:nvPr/>
        </p:nvSpPr>
        <p:spPr>
          <a:xfrm>
            <a:off x="670850" y="4430025"/>
            <a:ext cx="8083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Because the number of people does not have to be the same as the number of groups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affiliation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matrices are usually rectangular not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square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like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adjacency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matrices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92" name="Google Shape;192;p20"/>
          <p:cNvCxnSpPr>
            <a:stCxn id="186" idx="6"/>
            <a:endCxn id="191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0"/>
          <p:cNvCxnSpPr>
            <a:stCxn id="186" idx="6"/>
            <a:endCxn id="188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0"/>
          <p:cNvCxnSpPr>
            <a:stCxn id="185" idx="6"/>
            <a:endCxn id="191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>
            <a:stCxn id="183" idx="6"/>
            <a:endCxn id="188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>
            <a:stCxn id="186" idx="6"/>
            <a:endCxn id="190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>
            <a:stCxn id="181" idx="6"/>
            <a:endCxn id="187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0"/>
          <p:cNvCxnSpPr>
            <a:stCxn id="181" idx="6"/>
            <a:endCxn id="189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>
            <a:stCxn id="182" idx="6"/>
            <a:endCxn id="188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>
            <a:stCxn id="181" idx="6"/>
            <a:endCxn id="191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>
            <a:stCxn id="184" idx="6"/>
            <a:endCxn id="189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>
            <a:stCxn id="182" idx="6"/>
            <a:endCxn id="190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0"/>
          <p:cNvCxnSpPr>
            <a:stCxn id="185" idx="6"/>
            <a:endCxn id="188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0"/>
          <p:cNvCxnSpPr>
            <a:stCxn id="184" idx="6"/>
            <a:endCxn id="187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5" name="Google Shape;205;p20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Gabriela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6" name="Google Shape;206;p20"/>
          <p:cNvSpPr txBox="1"/>
          <p:nvPr/>
        </p:nvSpPr>
        <p:spPr>
          <a:xfrm>
            <a:off x="670850" y="4430025"/>
            <a:ext cx="7898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fill out the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affiliation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matrix just like we did the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adjacency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matrix: Cell A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1 if person i is affiliated with group j. Otherwise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0.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23" name="Google Shape;223;p21"/>
          <p:cNvCxnSpPr>
            <a:stCxn id="217" idx="6"/>
            <a:endCxn id="222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1"/>
          <p:cNvCxnSpPr>
            <a:stCxn id="217" idx="6"/>
            <a:endCxn id="219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1"/>
          <p:cNvCxnSpPr>
            <a:stCxn id="216" idx="6"/>
            <a:endCxn id="222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1"/>
          <p:cNvCxnSpPr>
            <a:stCxn id="214" idx="6"/>
            <a:endCxn id="219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1"/>
          <p:cNvCxnSpPr>
            <a:stCxn id="217" idx="6"/>
            <a:endCxn id="221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1"/>
          <p:cNvCxnSpPr>
            <a:stCxn id="212" idx="6"/>
            <a:endCxn id="218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1"/>
          <p:cNvCxnSpPr>
            <a:stCxn id="212" idx="6"/>
            <a:endCxn id="220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1"/>
          <p:cNvCxnSpPr>
            <a:stCxn id="213" idx="6"/>
            <a:endCxn id="219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1"/>
          <p:cNvCxnSpPr>
            <a:stCxn id="212" idx="6"/>
            <a:endCxn id="222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1"/>
          <p:cNvCxnSpPr>
            <a:stCxn id="215" idx="6"/>
            <a:endCxn id="220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1"/>
          <p:cNvCxnSpPr>
            <a:stCxn id="213" idx="6"/>
            <a:endCxn id="221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1"/>
          <p:cNvCxnSpPr>
            <a:stCxn id="216" idx="6"/>
            <a:endCxn id="219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1"/>
          <p:cNvCxnSpPr>
            <a:stCxn id="215" idx="6"/>
            <a:endCxn id="218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36" name="Google Shape;236;p21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Gabriela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7" name="Google Shape;237;p21"/>
          <p:cNvSpPr txBox="1"/>
          <p:nvPr/>
        </p:nvSpPr>
        <p:spPr>
          <a:xfrm>
            <a:off x="670850" y="4430025"/>
            <a:ext cx="7898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So Gabriela gets a one in the columns corresponding to the Super Smash Bros., Nerdfighters, and the Fashion Club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graphicFrame>
        <p:nvGraphicFramePr>
          <p:cNvPr id="243" name="Google Shape;243;p22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4" name="Google Shape;244;p22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55" name="Google Shape;255;p22"/>
          <p:cNvCxnSpPr>
            <a:stCxn id="249" idx="6"/>
            <a:endCxn id="254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2"/>
          <p:cNvCxnSpPr>
            <a:stCxn id="249" idx="6"/>
            <a:endCxn id="251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2"/>
          <p:cNvCxnSpPr>
            <a:stCxn id="248" idx="6"/>
            <a:endCxn id="254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2"/>
          <p:cNvCxnSpPr>
            <a:stCxn id="246" idx="6"/>
            <a:endCxn id="251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2"/>
          <p:cNvCxnSpPr>
            <a:stCxn id="249" idx="6"/>
            <a:endCxn id="253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2"/>
          <p:cNvCxnSpPr>
            <a:stCxn id="244" idx="6"/>
            <a:endCxn id="250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2"/>
          <p:cNvCxnSpPr>
            <a:stCxn id="244" idx="6"/>
            <a:endCxn id="252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2"/>
          <p:cNvCxnSpPr>
            <a:stCxn id="245" idx="6"/>
            <a:endCxn id="251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2"/>
          <p:cNvCxnSpPr>
            <a:stCxn id="244" idx="6"/>
            <a:endCxn id="254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2"/>
          <p:cNvCxnSpPr>
            <a:stCxn id="247" idx="6"/>
            <a:endCxn id="252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2"/>
          <p:cNvCxnSpPr>
            <a:stCxn id="245" idx="6"/>
            <a:endCxn id="253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2"/>
          <p:cNvCxnSpPr>
            <a:stCxn id="248" idx="6"/>
            <a:endCxn id="251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2"/>
          <p:cNvCxnSpPr>
            <a:stCxn id="247" idx="6"/>
            <a:endCxn id="250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2"/>
          <p:cNvSpPr txBox="1"/>
          <p:nvPr/>
        </p:nvSpPr>
        <p:spPr>
          <a:xfrm>
            <a:off x="670850" y="4563225"/>
            <a:ext cx="78984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the full affiliation matrix corresponding to the bipartite graph on the right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graphicFrame>
        <p:nvGraphicFramePr>
          <p:cNvPr id="274" name="Google Shape;274;p23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3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86" name="Google Shape;286;p23"/>
          <p:cNvCxnSpPr>
            <a:stCxn id="280" idx="6"/>
            <a:endCxn id="285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3"/>
          <p:cNvCxnSpPr>
            <a:stCxn id="280" idx="6"/>
            <a:endCxn id="282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3"/>
          <p:cNvCxnSpPr>
            <a:stCxn id="279" idx="6"/>
            <a:endCxn id="285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3"/>
          <p:cNvCxnSpPr>
            <a:stCxn id="277" idx="6"/>
            <a:endCxn id="282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3"/>
          <p:cNvCxnSpPr>
            <a:stCxn id="280" idx="6"/>
            <a:endCxn id="284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3"/>
          <p:cNvCxnSpPr>
            <a:stCxn id="275" idx="6"/>
            <a:endCxn id="281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3"/>
          <p:cNvCxnSpPr>
            <a:stCxn id="275" idx="6"/>
            <a:endCxn id="283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3"/>
          <p:cNvCxnSpPr>
            <a:stCxn id="276" idx="6"/>
            <a:endCxn id="282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3"/>
          <p:cNvCxnSpPr>
            <a:stCxn id="275" idx="6"/>
            <a:endCxn id="285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3"/>
          <p:cNvCxnSpPr>
            <a:stCxn id="278" idx="6"/>
            <a:endCxn id="283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3"/>
          <p:cNvCxnSpPr>
            <a:stCxn id="276" idx="6"/>
            <a:endCxn id="284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3"/>
          <p:cNvCxnSpPr>
            <a:stCxn id="279" idx="6"/>
            <a:endCxn id="282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3"/>
          <p:cNvCxnSpPr>
            <a:stCxn id="278" idx="6"/>
            <a:endCxn id="281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9" name="Google Shape;299;p23"/>
          <p:cNvGraphicFramePr/>
          <p:nvPr/>
        </p:nvGraphicFramePr>
        <p:xfrm>
          <a:off x="8501025" y="1989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75700"/>
              </a:tblGrid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0" name="Google Shape;300;p23"/>
          <p:cNvSpPr txBox="1"/>
          <p:nvPr/>
        </p:nvSpPr>
        <p:spPr>
          <a:xfrm>
            <a:off x="670850" y="4430025"/>
            <a:ext cx="4663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sums of the affiliation matrix gives us the number of each memberships each person has!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1" name="Google Shape;301;p23"/>
          <p:cNvCxnSpPr/>
          <p:nvPr/>
        </p:nvCxnSpPr>
        <p:spPr>
          <a:xfrm>
            <a:off x="5299000" y="2071550"/>
            <a:ext cx="3203400" cy="10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sum_j A_{ij}" id="302" name="Google Shape;302;p2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511" y="4496625"/>
            <a:ext cx="958678" cy="4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graphicFrame>
        <p:nvGraphicFramePr>
          <p:cNvPr id="308" name="Google Shape;308;p24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24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20" name="Google Shape;320;p24"/>
          <p:cNvCxnSpPr>
            <a:stCxn id="314" idx="6"/>
            <a:endCxn id="319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4"/>
          <p:cNvCxnSpPr>
            <a:stCxn id="314" idx="6"/>
            <a:endCxn id="316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4"/>
          <p:cNvCxnSpPr>
            <a:stCxn id="313" idx="6"/>
            <a:endCxn id="319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4"/>
          <p:cNvCxnSpPr>
            <a:stCxn id="311" idx="6"/>
            <a:endCxn id="316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4"/>
          <p:cNvCxnSpPr>
            <a:stCxn id="314" idx="6"/>
            <a:endCxn id="318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4"/>
          <p:cNvCxnSpPr>
            <a:stCxn id="309" idx="6"/>
            <a:endCxn id="315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4"/>
          <p:cNvCxnSpPr>
            <a:stCxn id="309" idx="6"/>
            <a:endCxn id="317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4"/>
          <p:cNvCxnSpPr>
            <a:stCxn id="310" idx="6"/>
            <a:endCxn id="316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4"/>
          <p:cNvCxnSpPr>
            <a:stCxn id="309" idx="6"/>
            <a:endCxn id="319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4"/>
          <p:cNvCxnSpPr>
            <a:stCxn id="312" idx="6"/>
            <a:endCxn id="317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4"/>
          <p:cNvCxnSpPr>
            <a:stCxn id="310" idx="6"/>
            <a:endCxn id="318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4"/>
          <p:cNvCxnSpPr>
            <a:stCxn id="313" idx="6"/>
            <a:endCxn id="316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4"/>
          <p:cNvCxnSpPr>
            <a:stCxn id="312" idx="6"/>
            <a:endCxn id="315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33" name="Google Shape;333;p24"/>
          <p:cNvGraphicFramePr/>
          <p:nvPr/>
        </p:nvGraphicFramePr>
        <p:xfrm>
          <a:off x="5334450" y="4505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616775"/>
                <a:gridCol w="616775"/>
                <a:gridCol w="616775"/>
                <a:gridCol w="616775"/>
                <a:gridCol w="616775"/>
              </a:tblGrid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4" name="Google Shape;334;p24"/>
          <p:cNvSpPr txBox="1"/>
          <p:nvPr/>
        </p:nvSpPr>
        <p:spPr>
          <a:xfrm>
            <a:off x="670850" y="4430025"/>
            <a:ext cx="35988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column sums of the affiliation matrix gives us the size of each group!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35" name="Google Shape;335;p24"/>
          <p:cNvCxnSpPr/>
          <p:nvPr/>
        </p:nvCxnSpPr>
        <p:spPr>
          <a:xfrm flipH="1">
            <a:off x="5410050" y="2091750"/>
            <a:ext cx="10200" cy="2394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sum_i A_{ij}" id="336" name="Google Shape;336;p2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307" y="4527525"/>
            <a:ext cx="885492" cy="3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The Transpose</a:t>
            </a:r>
            <a:endParaRPr/>
          </a:p>
        </p:txBody>
      </p:sp>
      <p:sp>
        <p:nvSpPr>
          <p:cNvPr id="342" name="Google Shape;342;p25"/>
          <p:cNvSpPr txBox="1"/>
          <p:nvPr>
            <p:ph idx="1" type="body"/>
          </p:nvPr>
        </p:nvSpPr>
        <p:spPr>
          <a:xfrm>
            <a:off x="311700" y="1225225"/>
            <a:ext cx="4260300" cy="32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(' or </a:t>
            </a:r>
            <a:r>
              <a:rPr baseline="30000" lang="en"/>
              <a:t>T</a:t>
            </a:r>
            <a:r>
              <a:rPr lang="en"/>
              <a:t>) of a matrix reverses the row and column dimensions.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 x h matrix becomes a h x g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rows of the transpose </a:t>
            </a:r>
            <a:r>
              <a:rPr b="1" lang="en"/>
              <a:t>A</a:t>
            </a:r>
            <a:r>
              <a:rPr b="1" baseline="30000" lang="en" sz="1800"/>
              <a:t>T </a:t>
            </a:r>
            <a:r>
              <a:rPr lang="en"/>
              <a:t>is the number of columns of the original </a:t>
            </a:r>
            <a:r>
              <a:rPr b="1" lang="en"/>
              <a:t>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columns of the transpose </a:t>
            </a:r>
            <a:r>
              <a:rPr b="1" lang="en"/>
              <a:t>A</a:t>
            </a:r>
            <a:r>
              <a:rPr b="1" baseline="30000" lang="en" sz="1800"/>
              <a:t>T </a:t>
            </a:r>
            <a:r>
              <a:rPr lang="en"/>
              <a:t>is the number of rows of the original </a:t>
            </a:r>
            <a:r>
              <a:rPr b="1" lang="en"/>
              <a:t>A</a:t>
            </a:r>
            <a:endParaRPr/>
          </a:p>
        </p:txBody>
      </p:sp>
      <p:graphicFrame>
        <p:nvGraphicFramePr>
          <p:cNvPr id="343" name="Google Shape;343;p25"/>
          <p:cNvGraphicFramePr/>
          <p:nvPr/>
        </p:nvGraphicFramePr>
        <p:xfrm>
          <a:off x="4572000" y="204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{FC08EFAE-EFFD-4453-AD26-6AAE8F41FECD}</a:tableStyleId>
              </a:tblPr>
              <a:tblGrid>
                <a:gridCol w="382850"/>
                <a:gridCol w="382850"/>
              </a:tblGrid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p25"/>
          <p:cNvSpPr/>
          <p:nvPr/>
        </p:nvSpPr>
        <p:spPr>
          <a:xfrm>
            <a:off x="5573575" y="2578000"/>
            <a:ext cx="1530300" cy="4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5" name="Google Shape;345;p25"/>
          <p:cNvGraphicFramePr/>
          <p:nvPr/>
        </p:nvGraphicFramePr>
        <p:xfrm>
          <a:off x="7324600" y="230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{FC08EFAE-EFFD-4453-AD26-6AAE8F41FECD}</a:tableStyleId>
              </a:tblPr>
              <a:tblGrid>
                <a:gridCol w="449550"/>
                <a:gridCol w="449550"/>
                <a:gridCol w="449550"/>
              </a:tblGrid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6" name="Google Shape;346;p25"/>
          <p:cNvSpPr txBox="1"/>
          <p:nvPr/>
        </p:nvSpPr>
        <p:spPr>
          <a:xfrm>
            <a:off x="4572050" y="1235013"/>
            <a:ext cx="7656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3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504375" y="1225225"/>
            <a:ext cx="989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36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endParaRPr b="1" baseline="30000" sz="3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5573575" y="3863175"/>
            <a:ext cx="22941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A</a:t>
            </a:r>
            <a:r>
              <a:rPr b="1" baseline="-25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ij</a:t>
            </a:r>
            <a:r>
              <a:rPr b="1" baseline="30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T</a:t>
            </a:r>
            <a:r>
              <a:rPr b="1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= A</a:t>
            </a:r>
            <a:r>
              <a:rPr b="1" baseline="-25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ji</a:t>
            </a:r>
            <a:endParaRPr b="1" sz="3600">
              <a:latin typeface="Antic Didone"/>
              <a:ea typeface="Antic Didone"/>
              <a:cs typeface="Antic Didone"/>
              <a:sym typeface="Antic Didone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4572050" y="3684650"/>
            <a:ext cx="765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3 X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7655125" y="3374725"/>
            <a:ext cx="765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X 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26"/>
          <p:cNvGraphicFramePr/>
          <p:nvPr/>
        </p:nvGraphicFramePr>
        <p:xfrm>
          <a:off x="311700" y="114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6" name="Google Shape;356;p26"/>
          <p:cNvGraphicFramePr/>
          <p:nvPr/>
        </p:nvGraphicFramePr>
        <p:xfrm>
          <a:off x="4425075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690675"/>
                <a:gridCol w="638225"/>
                <a:gridCol w="638225"/>
                <a:gridCol w="638225"/>
                <a:gridCol w="638225"/>
                <a:gridCol w="638225"/>
                <a:gridCol w="638225"/>
              </a:tblGrid>
              <a:tr h="6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/>
                    </a:p>
                  </a:txBody>
                  <a:tcPr marT="91425" marB="91425" marR="0" marL="0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Cheese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Magic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Fashion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57" name="Google Shape;357;p26"/>
          <p:cNvSpPr txBox="1"/>
          <p:nvPr/>
        </p:nvSpPr>
        <p:spPr>
          <a:xfrm>
            <a:off x="1962275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 x 5)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26"/>
          <p:cNvSpPr txBox="1"/>
          <p:nvPr/>
        </p:nvSpPr>
        <p:spPr>
          <a:xfrm>
            <a:off x="6392197" y="4520500"/>
            <a:ext cx="13392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(5 x 6)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matrix (A) and its transpose (A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matrix (A) and its transpose (A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</p:txBody>
      </p:sp>
      <p:graphicFrame>
        <p:nvGraphicFramePr>
          <p:cNvPr id="365" name="Google Shape;365;p27"/>
          <p:cNvGraphicFramePr/>
          <p:nvPr/>
        </p:nvGraphicFramePr>
        <p:xfrm>
          <a:off x="311700" y="114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6" name="Google Shape;366;p27"/>
          <p:cNvGraphicFramePr/>
          <p:nvPr/>
        </p:nvGraphicFramePr>
        <p:xfrm>
          <a:off x="4425075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690675"/>
                <a:gridCol w="638225"/>
                <a:gridCol w="638225"/>
                <a:gridCol w="638225"/>
                <a:gridCol w="638225"/>
                <a:gridCol w="638225"/>
                <a:gridCol w="638225"/>
              </a:tblGrid>
              <a:tr h="6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/>
                    </a:p>
                  </a:txBody>
                  <a:tcPr marT="91425" marB="91425" marR="0" marL="0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Cheese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Magic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Fashion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67" name="Google Shape;367;p27"/>
          <p:cNvSpPr txBox="1"/>
          <p:nvPr/>
        </p:nvSpPr>
        <p:spPr>
          <a:xfrm>
            <a:off x="1962275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 x 5)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6392209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’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(5 x 6)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6151875" y="315925"/>
            <a:ext cx="2936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transpose of a matrix is the same matrix with the rows and columns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switched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around!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76" name="Google Shape;376;p28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80" name="Google Shape;380;p28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1" name="Google Shape;381;p28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2" name="Google Shape;382;p28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84" name="Google Shape;384;p28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5" name="Google Shape;385;p28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6" name="Google Shape;386;p28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28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28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399" name="Google Shape;399;p29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03" name="Google Shape;403;p29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04" name="Google Shape;404;p29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5" name="Google Shape;405;p29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07" name="Google Shape;407;p29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08" name="Google Shape;408;p29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" name="Google Shape;409;p29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29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9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6" name="Google Shape;416;p29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17" name="Google Shape;417;p29"/>
          <p:cNvCxnSpPr>
            <a:stCxn id="416" idx="1"/>
            <a:endCxn id="402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29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19" name="Google Shape;419;p29"/>
          <p:cNvCxnSpPr>
            <a:stCxn id="418" idx="3"/>
            <a:endCxn id="415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426" name="Google Shape;426;p30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8" name="Google Shape;428;p30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30" name="Google Shape;430;p30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1" name="Google Shape;431;p30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2" name="Google Shape;432;p30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34" name="Google Shape;434;p30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5" name="Google Shape;435;p30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6" name="Google Shape;436;p30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p30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p30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0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1" name="Google Shape;441;p30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4" name="Google Shape;444;p30"/>
          <p:cNvCxnSpPr>
            <a:stCxn id="443" idx="1"/>
            <a:endCxn id="429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30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6" name="Google Shape;446;p30"/>
          <p:cNvCxnSpPr>
            <a:stCxn id="445" idx="3"/>
            <a:endCxn id="442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7" name="Google Shape;4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1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455" name="Google Shape;455;p31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1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59" name="Google Shape;459;p31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0" name="Google Shape;460;p31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1" name="Google Shape;461;p31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31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63" name="Google Shape;463;p31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4" name="Google Shape;464;p31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5" name="Google Shape;465;p31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7" name="Google Shape;467;p31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1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1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70" name="Google Shape;470;p31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1" name="Google Shape;471;p31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72" name="Google Shape;472;p31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3" name="Google Shape;473;p31"/>
          <p:cNvCxnSpPr>
            <a:stCxn id="472" idx="1"/>
            <a:endCxn id="458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4" name="Google Shape;474;p31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5" name="Google Shape;475;p31"/>
          <p:cNvCxnSpPr>
            <a:stCxn id="474" idx="3"/>
            <a:endCxn id="471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76" name="Google Shape;4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2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484" name="Google Shape;484;p32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2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32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8" name="Google Shape;488;p32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2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2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2" name="Google Shape;492;p32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94" name="Google Shape;494;p32"/>
          <p:cNvCxnSpPr>
            <a:stCxn id="493" idx="1"/>
            <a:endCxn id="487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32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96" name="Google Shape;496;p32"/>
          <p:cNvCxnSpPr>
            <a:stCxn id="495" idx="3"/>
            <a:endCxn id="492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7" name="Google Shape;4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2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3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08" name="Google Shape;508;p33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33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0" name="Google Shape;510;p33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3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3" name="Google Shape;513;p33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33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5" name="Google Shape;515;p33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6" name="Google Shape;516;p33"/>
          <p:cNvCxnSpPr>
            <a:stCxn id="515" idx="1"/>
            <a:endCxn id="509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7" name="Google Shape;517;p33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8" name="Google Shape;518;p33"/>
          <p:cNvCxnSpPr>
            <a:stCxn id="517" idx="3"/>
            <a:endCxn id="514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p33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  <p:pic>
        <p:nvPicPr>
          <p:cNvPr id="520" name="Google Shape;5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4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528" name="Google Shape;528;p34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4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0" name="Google Shape;530;p34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" name="Google Shape;531;p34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4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3" name="Google Shape;533;p34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4" name="Google Shape;534;p34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5" name="Google Shape;535;p34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4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538" name="Google Shape;538;p34"/>
          <p:cNvSpPr txBox="1"/>
          <p:nvPr/>
        </p:nvSpPr>
        <p:spPr>
          <a:xfrm>
            <a:off x="2286600" y="2393400"/>
            <a:ext cx="2202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39" name="Google Shape;539;p34"/>
          <p:cNvCxnSpPr>
            <a:stCxn id="538" idx="0"/>
          </p:cNvCxnSpPr>
          <p:nvPr/>
        </p:nvCxnSpPr>
        <p:spPr>
          <a:xfrm rot="10800000">
            <a:off x="30195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5"/>
          <p:cNvSpPr/>
          <p:nvPr/>
        </p:nvSpPr>
        <p:spPr>
          <a:xfrm rot="-5344590">
            <a:off x="5603011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5"/>
          <p:cNvSpPr/>
          <p:nvPr/>
        </p:nvSpPr>
        <p:spPr>
          <a:xfrm rot="-5344590">
            <a:off x="1138486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5"/>
          <p:cNvSpPr txBox="1"/>
          <p:nvPr/>
        </p:nvSpPr>
        <p:spPr>
          <a:xfrm>
            <a:off x="813184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547" name="Google Shape;547;p35"/>
          <p:cNvSpPr txBox="1"/>
          <p:nvPr/>
        </p:nvSpPr>
        <p:spPr>
          <a:xfrm>
            <a:off x="1258213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match!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548" name="Google Shape;54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549" name="Google Shape;549;p35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Turns out that the product of any matrix (</a:t>
            </a:r>
            <a:r>
              <a:rPr b="1" lang="en"/>
              <a:t>A</a:t>
            </a:r>
            <a:r>
              <a:rPr lang="en"/>
              <a:t>) times its transpose (</a:t>
            </a:r>
            <a:r>
              <a:rPr b="1" lang="en"/>
              <a:t>A</a:t>
            </a:r>
            <a:r>
              <a:rPr b="1" baseline="30000" lang="en"/>
              <a:t>T</a:t>
            </a:r>
            <a:r>
              <a:rPr lang="en"/>
              <a:t>)</a:t>
            </a:r>
            <a:r>
              <a:rPr baseline="30000" lang="en"/>
              <a:t> </a:t>
            </a:r>
            <a:r>
              <a:rPr lang="en"/>
              <a:t>is always defined!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 is the product of the transpose (</a:t>
            </a:r>
            <a:r>
              <a:rPr b="1" lang="en"/>
              <a:t>A</a:t>
            </a:r>
            <a:r>
              <a:rPr b="1" baseline="30000" lang="en"/>
              <a:t>T</a:t>
            </a:r>
            <a:r>
              <a:rPr lang="en"/>
              <a:t>) times the original matrix (</a:t>
            </a:r>
            <a:r>
              <a:rPr b="1" lang="en"/>
              <a:t>A</a:t>
            </a:r>
            <a:r>
              <a:rPr lang="en"/>
              <a:t>)!</a:t>
            </a:r>
            <a:endParaRPr/>
          </a:p>
        </p:txBody>
      </p:sp>
      <p:sp>
        <p:nvSpPr>
          <p:cNvPr id="550" name="Google Shape;550;p35"/>
          <p:cNvSpPr/>
          <p:nvPr/>
        </p:nvSpPr>
        <p:spPr>
          <a:xfrm rot="-5345394">
            <a:off x="1706166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5"/>
          <p:cNvSpPr txBox="1"/>
          <p:nvPr/>
        </p:nvSpPr>
        <p:spPr>
          <a:xfrm>
            <a:off x="1359540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761D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38761D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552" name="Google Shape;552;p35"/>
          <p:cNvCxnSpPr>
            <a:stCxn id="551" idx="3"/>
          </p:cNvCxnSpPr>
          <p:nvPr/>
        </p:nvCxnSpPr>
        <p:spPr>
          <a:xfrm flipH="1" rot="10800000">
            <a:off x="2486940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35"/>
          <p:cNvSpPr/>
          <p:nvPr/>
        </p:nvSpPr>
        <p:spPr>
          <a:xfrm rot="-5345394">
            <a:off x="6170691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54" name="Google Shape;554;p35"/>
          <p:cNvSpPr txBox="1"/>
          <p:nvPr/>
        </p:nvSpPr>
        <p:spPr>
          <a:xfrm>
            <a:off x="5722738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match!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555" name="Google Shape;555;p35"/>
          <p:cNvSpPr txBox="1"/>
          <p:nvPr/>
        </p:nvSpPr>
        <p:spPr>
          <a:xfrm>
            <a:off x="5824065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257E12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556" name="Google Shape;556;p35"/>
          <p:cNvSpPr txBox="1"/>
          <p:nvPr/>
        </p:nvSpPr>
        <p:spPr>
          <a:xfrm>
            <a:off x="5277709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22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557" name="Google Shape;557;p35"/>
          <p:cNvCxnSpPr>
            <a:stCxn id="555" idx="3"/>
          </p:cNvCxnSpPr>
          <p:nvPr/>
        </p:nvCxnSpPr>
        <p:spPr>
          <a:xfrm flipH="1" rot="10800000">
            <a:off x="6951465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563" name="Google Shape;563;p36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4" name="Google Shape;564;p36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65" name="Google Shape;565;p36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566" name="Google Shape;566;p36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7" name="Google Shape;567;p36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36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p36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p36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p36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577" name="Google Shape;577;p37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8" name="Google Shape;578;p37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79" name="Google Shape;579;p37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580" name="Google Shape;580;p37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1" name="Google Shape;581;p37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2" name="Google Shape;582;p37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3" name="Google Shape;583;p37"/>
          <p:cNvSpPr txBox="1"/>
          <p:nvPr/>
        </p:nvSpPr>
        <p:spPr>
          <a:xfrm>
            <a:off x="6635675" y="3309825"/>
            <a:ext cx="23034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(1 * 0) + (0 * 1) + (1 * 0) + (0 * 1) + (1 * 0)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37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37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p37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592" name="Google Shape;592;p38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3" name="Google Shape;593;p38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94" name="Google Shape;594;p38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595" name="Google Shape;595;p38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6" name="Google Shape;596;p38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p38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p38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(0 * 1) + (1 * 0) + (0 * 1) + (1 * 0) + (0 *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9" name="Google Shape;599;p38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38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1" name="Google Shape;601;p38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607" name="Google Shape;607;p39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8" name="Google Shape;608;p39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09" name="Google Shape;609;p39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610" name="Google Shape;610;p39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1" name="Google Shape;611;p39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p39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9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(1 * 0)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p39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p39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622" name="Google Shape;622;p40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3" name="Google Shape;623;p40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24" name="Google Shape;624;p40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625" name="Google Shape;625;p40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6" name="Google Shape;626;p40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40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p40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9" name="Google Shape;629;p40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0" name="Google Shape;630;p40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637" name="Google Shape;637;p41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38" name="Google Shape;638;p41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39" name="Google Shape;639;p41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0" name="Google Shape;640;p41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41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p41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3" name="Google Shape;643;p41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4" name="Google Shape;644;p41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5" name="Google Shape;645;p41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sp>
        <p:nvSpPr>
          <p:cNvPr id="651" name="Google Shape;651;p42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3" name="Google Shape;653;p42"/>
          <p:cNvSpPr txBox="1"/>
          <p:nvPr>
            <p:ph idx="1" type="body"/>
          </p:nvPr>
        </p:nvSpPr>
        <p:spPr>
          <a:xfrm>
            <a:off x="311700" y="1225225"/>
            <a:ext cx="8520600" cy="18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X A</a:t>
            </a:r>
            <a:r>
              <a:rPr baseline="30000" lang="en"/>
              <a:t>T </a:t>
            </a:r>
            <a:r>
              <a:rPr lang="en"/>
              <a:t>returns</a:t>
            </a:r>
            <a:r>
              <a:rPr lang="en"/>
              <a:t> the </a:t>
            </a:r>
            <a:r>
              <a:rPr b="1" lang="en"/>
              <a:t>co-membership matrix</a:t>
            </a:r>
            <a:r>
              <a:rPr b="1" lang="en"/>
              <a:t>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3D85C6"/>
                </a:solidFill>
              </a:rPr>
              <a:t>off-diagonal</a:t>
            </a:r>
            <a:r>
              <a:rPr b="1" lang="en"/>
              <a:t> </a:t>
            </a:r>
            <a:r>
              <a:rPr lang="en"/>
              <a:t>cell (C</a:t>
            </a:r>
            <a:r>
              <a:rPr baseline="-25000" lang="en"/>
              <a:t>ij</a:t>
            </a:r>
            <a:r>
              <a:rPr lang="en"/>
              <a:t>) tell us </a:t>
            </a:r>
            <a:r>
              <a:rPr i="1" lang="en"/>
              <a:t>the number of affiliations that person i has in common with person 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E06666"/>
                </a:solidFill>
              </a:rPr>
              <a:t>diagonal</a:t>
            </a:r>
            <a:r>
              <a:rPr b="1" lang="en"/>
              <a:t> </a:t>
            </a:r>
            <a:r>
              <a:rPr lang="en"/>
              <a:t>cell (C</a:t>
            </a:r>
            <a:r>
              <a:rPr baseline="-25000" lang="en"/>
              <a:t>ii</a:t>
            </a:r>
            <a:r>
              <a:rPr lang="en"/>
              <a:t>) tells us the </a:t>
            </a:r>
            <a:r>
              <a:rPr i="1" lang="en"/>
              <a:t>number of total memberships person i has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represents a </a:t>
            </a:r>
            <a:r>
              <a:rPr b="1" lang="en"/>
              <a:t>weighted one-mode</a:t>
            </a:r>
            <a:r>
              <a:rPr lang="en"/>
              <a:t>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Strength of tie between i and j = number of common memberships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“similarity” relation (thus </a:t>
            </a:r>
            <a:r>
              <a:rPr b="1" lang="en"/>
              <a:t>symmetric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54" name="Google Shape;654;p42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Group Overlap matrix</a:t>
            </a:r>
            <a:endParaRPr/>
          </a:p>
        </p:txBody>
      </p:sp>
      <p:graphicFrame>
        <p:nvGraphicFramePr>
          <p:cNvPr id="660" name="Google Shape;660;p43"/>
          <p:cNvGraphicFramePr/>
          <p:nvPr/>
        </p:nvGraphicFramePr>
        <p:xfrm>
          <a:off x="4745975" y="13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61" name="Google Shape;661;p43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62" name="Google Shape;662;p43"/>
          <p:cNvGraphicFramePr/>
          <p:nvPr/>
        </p:nvGraphicFramePr>
        <p:xfrm>
          <a:off x="925188" y="122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63" name="Google Shape;663;p43"/>
          <p:cNvSpPr txBox="1"/>
          <p:nvPr/>
        </p:nvSpPr>
        <p:spPr>
          <a:xfrm>
            <a:off x="4015200" y="1999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43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43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43"/>
          <p:cNvSpPr txBox="1"/>
          <p:nvPr/>
        </p:nvSpPr>
        <p:spPr>
          <a:xfrm>
            <a:off x="7400400" y="18232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7" name="Google Shape;667;p43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68" name="Google Shape;668;p43"/>
          <p:cNvGraphicFramePr/>
          <p:nvPr/>
        </p:nvGraphicFramePr>
        <p:xfrm>
          <a:off x="2354938" y="318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687725"/>
                <a:gridCol w="693400"/>
                <a:gridCol w="693400"/>
                <a:gridCol w="693400"/>
                <a:gridCol w="693400"/>
                <a:gridCol w="693400"/>
              </a:tblGrid>
              <a:tr h="31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Group Overlap matrix</a:t>
            </a:r>
            <a:endParaRPr/>
          </a:p>
        </p:txBody>
      </p:sp>
      <p:sp>
        <p:nvSpPr>
          <p:cNvPr id="674" name="Google Shape;674;p44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5" name="Google Shape;675;p44"/>
          <p:cNvSpPr txBox="1"/>
          <p:nvPr>
            <p:ph idx="1" type="body"/>
          </p:nvPr>
        </p:nvSpPr>
        <p:spPr>
          <a:xfrm>
            <a:off x="311700" y="1225225"/>
            <a:ext cx="8520600" cy="18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baseline="30000" lang="en"/>
              <a:t>T</a:t>
            </a:r>
            <a:r>
              <a:rPr lang="en"/>
              <a:t> X A</a:t>
            </a:r>
            <a:r>
              <a:rPr baseline="30000" lang="en"/>
              <a:t> </a:t>
            </a:r>
            <a:r>
              <a:rPr lang="en"/>
              <a:t>returns</a:t>
            </a:r>
            <a:r>
              <a:rPr lang="en"/>
              <a:t> the </a:t>
            </a:r>
            <a:r>
              <a:rPr b="1" lang="en"/>
              <a:t>group overlap</a:t>
            </a:r>
            <a:r>
              <a:rPr b="1" lang="en"/>
              <a:t> matrix (G)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3C78D8"/>
                </a:solidFill>
              </a:rPr>
              <a:t>off-diagonal</a:t>
            </a:r>
            <a:r>
              <a:rPr b="1" lang="en"/>
              <a:t> </a:t>
            </a:r>
            <a:r>
              <a:rPr lang="en"/>
              <a:t>cell (G</a:t>
            </a:r>
            <a:r>
              <a:rPr baseline="-25000" lang="en"/>
              <a:t>ij</a:t>
            </a:r>
            <a:r>
              <a:rPr lang="en"/>
              <a:t>) tell us the number of members groups i and j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E06666"/>
                </a:solidFill>
              </a:rPr>
              <a:t>diagonal</a:t>
            </a:r>
            <a:r>
              <a:rPr b="1" lang="en"/>
              <a:t> </a:t>
            </a:r>
            <a:r>
              <a:rPr lang="en"/>
              <a:t>cell (G</a:t>
            </a:r>
            <a:r>
              <a:rPr baseline="-25000" lang="en"/>
              <a:t>ii</a:t>
            </a:r>
            <a:r>
              <a:rPr lang="en"/>
              <a:t>) tells us the number of total members in group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represents a </a:t>
            </a:r>
            <a:r>
              <a:rPr b="1" lang="en"/>
              <a:t>weighted one-mode</a:t>
            </a:r>
            <a:r>
              <a:rPr lang="en"/>
              <a:t>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groups are more strongly connected if they have lots of members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“similarity” relation (thus </a:t>
            </a:r>
            <a:r>
              <a:rPr b="1" lang="en"/>
              <a:t>symmetric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76" name="Google Shape;676;p44"/>
          <p:cNvGraphicFramePr/>
          <p:nvPr/>
        </p:nvGraphicFramePr>
        <p:xfrm>
          <a:off x="2354938" y="318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687725"/>
                <a:gridCol w="693400"/>
                <a:gridCol w="693400"/>
                <a:gridCol w="693400"/>
                <a:gridCol w="693400"/>
                <a:gridCol w="693400"/>
              </a:tblGrid>
              <a:tr h="31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Weighted graphs</a:t>
            </a:r>
            <a:endParaRPr/>
          </a:p>
        </p:txBody>
      </p:sp>
      <p:sp>
        <p:nvSpPr>
          <p:cNvPr id="682" name="Google Shape;682;p45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83" name="Google Shape;6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423099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8" name="Google Shape;688;p46"/>
          <p:cNvCxnSpPr>
            <a:stCxn id="689" idx="0"/>
            <a:endCxn id="690" idx="4"/>
          </p:cNvCxnSpPr>
          <p:nvPr/>
        </p:nvCxnSpPr>
        <p:spPr>
          <a:xfrm rot="10800000">
            <a:off x="6070175" y="2506176"/>
            <a:ext cx="1143000" cy="110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co-</a:t>
            </a:r>
            <a:r>
              <a:rPr lang="en"/>
              <a:t>membership</a:t>
            </a:r>
            <a:r>
              <a:rPr lang="en"/>
              <a:t> matrix back to graph</a:t>
            </a:r>
            <a:endParaRPr/>
          </a:p>
        </p:txBody>
      </p:sp>
      <p:graphicFrame>
        <p:nvGraphicFramePr>
          <p:cNvPr id="692" name="Google Shape;692;p46"/>
          <p:cNvGraphicFramePr/>
          <p:nvPr/>
        </p:nvGraphicFramePr>
        <p:xfrm>
          <a:off x="311700" y="187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567575"/>
                <a:gridCol w="572250"/>
                <a:gridCol w="572250"/>
                <a:gridCol w="572250"/>
                <a:gridCol w="572250"/>
                <a:gridCol w="572250"/>
                <a:gridCol w="572250"/>
              </a:tblGrid>
              <a:tr h="19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93" name="Google Shape;693;p46"/>
          <p:cNvSpPr txBox="1"/>
          <p:nvPr/>
        </p:nvSpPr>
        <p:spPr>
          <a:xfrm>
            <a:off x="364788" y="334345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Co-Membership Matrix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4" name="Google Shape;694;p46"/>
          <p:cNvSpPr/>
          <p:nvPr/>
        </p:nvSpPr>
        <p:spPr>
          <a:xfrm>
            <a:off x="4499950" y="2410138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6"/>
          <p:cNvSpPr/>
          <p:nvPr/>
        </p:nvSpPr>
        <p:spPr>
          <a:xfrm>
            <a:off x="5554788" y="2188597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5" name="Google Shape;695;p46"/>
          <p:cNvSpPr/>
          <p:nvPr/>
        </p:nvSpPr>
        <p:spPr>
          <a:xfrm>
            <a:off x="6697775" y="1463900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5554800" y="2985736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89" name="Google Shape;689;p46"/>
          <p:cNvSpPr/>
          <p:nvPr/>
        </p:nvSpPr>
        <p:spPr>
          <a:xfrm>
            <a:off x="6697775" y="3615276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7" name="Google Shape;697;p46"/>
          <p:cNvSpPr/>
          <p:nvPr/>
        </p:nvSpPr>
        <p:spPr>
          <a:xfrm>
            <a:off x="7648500" y="2188575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8" name="Google Shape;698;p46"/>
          <p:cNvSpPr/>
          <p:nvPr/>
        </p:nvSpPr>
        <p:spPr>
          <a:xfrm>
            <a:off x="7648500" y="2985738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cxnSp>
        <p:nvCxnSpPr>
          <p:cNvPr id="699" name="Google Shape;699;p46"/>
          <p:cNvCxnSpPr>
            <a:stCxn id="697" idx="2"/>
            <a:endCxn id="690" idx="6"/>
          </p:cNvCxnSpPr>
          <p:nvPr/>
        </p:nvCxnSpPr>
        <p:spPr>
          <a:xfrm rot="10800000">
            <a:off x="6585600" y="2347425"/>
            <a:ext cx="1062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46"/>
          <p:cNvCxnSpPr>
            <a:stCxn id="698" idx="2"/>
            <a:endCxn id="690" idx="6"/>
          </p:cNvCxnSpPr>
          <p:nvPr/>
        </p:nvCxnSpPr>
        <p:spPr>
          <a:xfrm rot="10800000">
            <a:off x="6585600" y="2347488"/>
            <a:ext cx="1062900" cy="79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6"/>
          <p:cNvCxnSpPr>
            <a:stCxn id="696" idx="6"/>
            <a:endCxn id="695" idx="4"/>
          </p:cNvCxnSpPr>
          <p:nvPr/>
        </p:nvCxnSpPr>
        <p:spPr>
          <a:xfrm flipH="1" rot="10800000">
            <a:off x="6585600" y="1781686"/>
            <a:ext cx="627600" cy="136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6"/>
          <p:cNvCxnSpPr>
            <a:stCxn id="697" idx="0"/>
            <a:endCxn id="695" idx="4"/>
          </p:cNvCxnSpPr>
          <p:nvPr/>
        </p:nvCxnSpPr>
        <p:spPr>
          <a:xfrm rot="10800000">
            <a:off x="7213200" y="1781475"/>
            <a:ext cx="9507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6"/>
          <p:cNvCxnSpPr>
            <a:stCxn id="698" idx="1"/>
            <a:endCxn id="695" idx="4"/>
          </p:cNvCxnSpPr>
          <p:nvPr/>
        </p:nvCxnSpPr>
        <p:spPr>
          <a:xfrm rot="10800000">
            <a:off x="7213257" y="1781564"/>
            <a:ext cx="586200" cy="1250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46"/>
          <p:cNvCxnSpPr>
            <a:stCxn id="696" idx="6"/>
            <a:endCxn id="697" idx="2"/>
          </p:cNvCxnSpPr>
          <p:nvPr/>
        </p:nvCxnSpPr>
        <p:spPr>
          <a:xfrm flipH="1" rot="10800000">
            <a:off x="6585600" y="2347486"/>
            <a:ext cx="1062900" cy="79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46"/>
          <p:cNvCxnSpPr>
            <a:stCxn id="696" idx="6"/>
            <a:endCxn id="698" idx="2"/>
          </p:cNvCxnSpPr>
          <p:nvPr/>
        </p:nvCxnSpPr>
        <p:spPr>
          <a:xfrm>
            <a:off x="6585600" y="3144586"/>
            <a:ext cx="1062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46"/>
          <p:cNvCxnSpPr>
            <a:stCxn id="698" idx="0"/>
            <a:endCxn id="697" idx="4"/>
          </p:cNvCxnSpPr>
          <p:nvPr/>
        </p:nvCxnSpPr>
        <p:spPr>
          <a:xfrm rot="10800000">
            <a:off x="8163900" y="2506338"/>
            <a:ext cx="0" cy="479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7" name="Google Shape;707;p46"/>
          <p:cNvSpPr txBox="1"/>
          <p:nvPr/>
        </p:nvSpPr>
        <p:spPr>
          <a:xfrm>
            <a:off x="5003738" y="424480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One-Mode Person-to-Person Network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p46"/>
          <p:cNvSpPr txBox="1"/>
          <p:nvPr/>
        </p:nvSpPr>
        <p:spPr>
          <a:xfrm>
            <a:off x="7090325" y="20982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" name="Google Shape;709;p46"/>
          <p:cNvSpPr txBox="1"/>
          <p:nvPr/>
        </p:nvSpPr>
        <p:spPr>
          <a:xfrm>
            <a:off x="7648500" y="179870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" name="Google Shape;710;p46"/>
          <p:cNvSpPr txBox="1"/>
          <p:nvPr/>
        </p:nvSpPr>
        <p:spPr>
          <a:xfrm>
            <a:off x="6776575" y="194170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1" name="Google Shape;711;p46"/>
          <p:cNvSpPr txBox="1"/>
          <p:nvPr/>
        </p:nvSpPr>
        <p:spPr>
          <a:xfrm>
            <a:off x="7648488" y="25755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p46"/>
          <p:cNvSpPr txBox="1"/>
          <p:nvPr/>
        </p:nvSpPr>
        <p:spPr>
          <a:xfrm>
            <a:off x="8163900" y="2623163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7090325" y="311835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4" name="Google Shape;714;p46"/>
          <p:cNvSpPr txBox="1"/>
          <p:nvPr/>
        </p:nvSpPr>
        <p:spPr>
          <a:xfrm>
            <a:off x="6452075" y="2702588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7213175" y="26214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0" name="Google Shape;720;p47"/>
          <p:cNvGraphicFramePr/>
          <p:nvPr/>
        </p:nvGraphicFramePr>
        <p:xfrm>
          <a:off x="311688" y="1825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{8D7429BE-8785-4A9C-89C1-89B649A712DF}</a:tableStyleId>
              </a:tblPr>
              <a:tblGrid>
                <a:gridCol w="662300"/>
                <a:gridCol w="667750"/>
                <a:gridCol w="667750"/>
                <a:gridCol w="667750"/>
                <a:gridCol w="667750"/>
                <a:gridCol w="66775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721" name="Google Shape;721;p47"/>
          <p:cNvSpPr txBox="1"/>
          <p:nvPr/>
        </p:nvSpPr>
        <p:spPr>
          <a:xfrm>
            <a:off x="364788" y="3311325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Group-Overlap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Matrix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p47"/>
          <p:cNvSpPr/>
          <p:nvPr/>
        </p:nvSpPr>
        <p:spPr>
          <a:xfrm>
            <a:off x="4628150" y="2398963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group overlap matrix back to graph</a:t>
            </a:r>
            <a:endParaRPr/>
          </a:p>
        </p:txBody>
      </p:sp>
      <p:sp>
        <p:nvSpPr>
          <p:cNvPr id="724" name="Google Shape;724;p47"/>
          <p:cNvSpPr/>
          <p:nvPr/>
        </p:nvSpPr>
        <p:spPr>
          <a:xfrm>
            <a:off x="6646025" y="1473376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25" name="Google Shape;725;p47"/>
          <p:cNvSpPr/>
          <p:nvPr/>
        </p:nvSpPr>
        <p:spPr>
          <a:xfrm>
            <a:off x="5644163" y="2505926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26" name="Google Shape;726;p47"/>
          <p:cNvSpPr/>
          <p:nvPr/>
        </p:nvSpPr>
        <p:spPr>
          <a:xfrm>
            <a:off x="7557550" y="3468551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27" name="Google Shape;727;p47"/>
          <p:cNvSpPr/>
          <p:nvPr/>
        </p:nvSpPr>
        <p:spPr>
          <a:xfrm>
            <a:off x="7557575" y="25057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28" name="Google Shape;728;p47"/>
          <p:cNvCxnSpPr>
            <a:stCxn id="725" idx="0"/>
            <a:endCxn id="724" idx="2"/>
          </p:cNvCxnSpPr>
          <p:nvPr/>
        </p:nvCxnSpPr>
        <p:spPr>
          <a:xfrm flipH="1" rot="10800000">
            <a:off x="6237113" y="1905926"/>
            <a:ext cx="1002000" cy="600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47"/>
          <p:cNvCxnSpPr>
            <a:stCxn id="724" idx="2"/>
            <a:endCxn id="727" idx="0"/>
          </p:cNvCxnSpPr>
          <p:nvPr/>
        </p:nvCxnSpPr>
        <p:spPr>
          <a:xfrm>
            <a:off x="7238975" y="1905976"/>
            <a:ext cx="911700" cy="59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47"/>
          <p:cNvSpPr/>
          <p:nvPr/>
        </p:nvSpPr>
        <p:spPr>
          <a:xfrm>
            <a:off x="5644175" y="3468565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31" name="Google Shape;731;p47"/>
          <p:cNvCxnSpPr>
            <a:stCxn id="726" idx="1"/>
            <a:endCxn id="730" idx="3"/>
          </p:cNvCxnSpPr>
          <p:nvPr/>
        </p:nvCxnSpPr>
        <p:spPr>
          <a:xfrm rot="10800000">
            <a:off x="6830050" y="3684851"/>
            <a:ext cx="7275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47"/>
          <p:cNvCxnSpPr>
            <a:stCxn id="730" idx="3"/>
            <a:endCxn id="727" idx="1"/>
          </p:cNvCxnSpPr>
          <p:nvPr/>
        </p:nvCxnSpPr>
        <p:spPr>
          <a:xfrm flipH="1" rot="10800000">
            <a:off x="6830075" y="2722165"/>
            <a:ext cx="727500" cy="962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7"/>
          <p:cNvCxnSpPr>
            <a:stCxn id="725" idx="3"/>
            <a:endCxn id="727" idx="1"/>
          </p:cNvCxnSpPr>
          <p:nvPr/>
        </p:nvCxnSpPr>
        <p:spPr>
          <a:xfrm flipH="1" rot="10800000">
            <a:off x="6830063" y="2721926"/>
            <a:ext cx="7275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47"/>
          <p:cNvCxnSpPr>
            <a:stCxn id="726" idx="0"/>
            <a:endCxn id="727" idx="2"/>
          </p:cNvCxnSpPr>
          <p:nvPr/>
        </p:nvCxnSpPr>
        <p:spPr>
          <a:xfrm rot="10800000">
            <a:off x="8150500" y="2938451"/>
            <a:ext cx="0" cy="53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47"/>
          <p:cNvSpPr txBox="1"/>
          <p:nvPr/>
        </p:nvSpPr>
        <p:spPr>
          <a:xfrm>
            <a:off x="7752825" y="19910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6" name="Google Shape;736;p47"/>
          <p:cNvSpPr txBox="1"/>
          <p:nvPr/>
        </p:nvSpPr>
        <p:spPr>
          <a:xfrm>
            <a:off x="8150500" y="30806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7" name="Google Shape;737;p47"/>
          <p:cNvSpPr txBox="1"/>
          <p:nvPr/>
        </p:nvSpPr>
        <p:spPr>
          <a:xfrm>
            <a:off x="7070963" y="24455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8" name="Google Shape;738;p47"/>
          <p:cNvSpPr txBox="1"/>
          <p:nvPr/>
        </p:nvSpPr>
        <p:spPr>
          <a:xfrm>
            <a:off x="6400325" y="19910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9" name="Google Shape;739;p47"/>
          <p:cNvSpPr txBox="1"/>
          <p:nvPr/>
        </p:nvSpPr>
        <p:spPr>
          <a:xfrm>
            <a:off x="6892525" y="2951688"/>
            <a:ext cx="24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0" name="Google Shape;740;p47"/>
          <p:cNvSpPr txBox="1"/>
          <p:nvPr/>
        </p:nvSpPr>
        <p:spPr>
          <a:xfrm>
            <a:off x="7070963" y="3397450"/>
            <a:ext cx="24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47"/>
          <p:cNvSpPr txBox="1"/>
          <p:nvPr/>
        </p:nvSpPr>
        <p:spPr>
          <a:xfrm>
            <a:off x="5003738" y="424480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One-Mode Group-to-Group Network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duality between persons and groups</a:t>
            </a:r>
            <a:endParaRPr/>
          </a:p>
        </p:txBody>
      </p:sp>
      <p:cxnSp>
        <p:nvCxnSpPr>
          <p:cNvPr id="747" name="Google Shape;747;p48"/>
          <p:cNvCxnSpPr>
            <a:stCxn id="748" idx="0"/>
            <a:endCxn id="749" idx="4"/>
          </p:cNvCxnSpPr>
          <p:nvPr/>
        </p:nvCxnSpPr>
        <p:spPr>
          <a:xfrm rot="10800000">
            <a:off x="557477" y="3491136"/>
            <a:ext cx="912900" cy="88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48"/>
          <p:cNvSpPr/>
          <p:nvPr/>
        </p:nvSpPr>
        <p:spPr>
          <a:xfrm>
            <a:off x="145991" y="3237605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Gabriela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50" name="Google Shape;750;p48"/>
          <p:cNvSpPr/>
          <p:nvPr/>
        </p:nvSpPr>
        <p:spPr>
          <a:xfrm>
            <a:off x="1058777" y="265927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Parker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51" name="Google Shape;751;p48"/>
          <p:cNvSpPr/>
          <p:nvPr/>
        </p:nvSpPr>
        <p:spPr>
          <a:xfrm>
            <a:off x="146001" y="387374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Brandon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48" name="Google Shape;748;p48"/>
          <p:cNvSpPr/>
          <p:nvPr/>
        </p:nvSpPr>
        <p:spPr>
          <a:xfrm>
            <a:off x="1058777" y="437613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Marie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52" name="Google Shape;752;p48"/>
          <p:cNvSpPr/>
          <p:nvPr/>
        </p:nvSpPr>
        <p:spPr>
          <a:xfrm>
            <a:off x="1818022" y="3237588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Rahul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53" name="Google Shape;753;p48"/>
          <p:cNvSpPr/>
          <p:nvPr/>
        </p:nvSpPr>
        <p:spPr>
          <a:xfrm>
            <a:off x="1818022" y="3873747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Minjoo</a:t>
            </a:r>
            <a:endParaRPr b="1" sz="800">
              <a:solidFill>
                <a:srgbClr val="FFFFFF"/>
              </a:solidFill>
            </a:endParaRPr>
          </a:p>
        </p:txBody>
      </p:sp>
      <p:cxnSp>
        <p:nvCxnSpPr>
          <p:cNvPr id="754" name="Google Shape;754;p48"/>
          <p:cNvCxnSpPr>
            <a:stCxn id="752" idx="2"/>
            <a:endCxn id="749" idx="6"/>
          </p:cNvCxnSpPr>
          <p:nvPr/>
        </p:nvCxnSpPr>
        <p:spPr>
          <a:xfrm rot="10800000">
            <a:off x="969322" y="3364338"/>
            <a:ext cx="84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8"/>
          <p:cNvCxnSpPr>
            <a:stCxn id="753" idx="2"/>
            <a:endCxn id="749" idx="6"/>
          </p:cNvCxnSpPr>
          <p:nvPr/>
        </p:nvCxnSpPr>
        <p:spPr>
          <a:xfrm rot="10800000">
            <a:off x="969322" y="3364497"/>
            <a:ext cx="848700" cy="6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8"/>
          <p:cNvCxnSpPr>
            <a:stCxn id="751" idx="6"/>
            <a:endCxn id="750" idx="4"/>
          </p:cNvCxnSpPr>
          <p:nvPr/>
        </p:nvCxnSpPr>
        <p:spPr>
          <a:xfrm flipH="1" rot="10800000">
            <a:off x="969201" y="2912696"/>
            <a:ext cx="501300" cy="10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48"/>
          <p:cNvCxnSpPr>
            <a:stCxn id="752" idx="0"/>
            <a:endCxn id="750" idx="4"/>
          </p:cNvCxnSpPr>
          <p:nvPr/>
        </p:nvCxnSpPr>
        <p:spPr>
          <a:xfrm rot="10800000">
            <a:off x="1470322" y="2912688"/>
            <a:ext cx="759300" cy="32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8"/>
          <p:cNvCxnSpPr>
            <a:stCxn id="753" idx="1"/>
            <a:endCxn id="750" idx="4"/>
          </p:cNvCxnSpPr>
          <p:nvPr/>
        </p:nvCxnSpPr>
        <p:spPr>
          <a:xfrm rot="10800000">
            <a:off x="1470277" y="2912771"/>
            <a:ext cx="468300" cy="998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8"/>
          <p:cNvCxnSpPr>
            <a:stCxn id="751" idx="6"/>
            <a:endCxn id="752" idx="2"/>
          </p:cNvCxnSpPr>
          <p:nvPr/>
        </p:nvCxnSpPr>
        <p:spPr>
          <a:xfrm flipH="1" rot="10800000">
            <a:off x="969201" y="3364196"/>
            <a:ext cx="848700" cy="63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8"/>
          <p:cNvCxnSpPr>
            <a:stCxn id="751" idx="6"/>
            <a:endCxn id="753" idx="2"/>
          </p:cNvCxnSpPr>
          <p:nvPr/>
        </p:nvCxnSpPr>
        <p:spPr>
          <a:xfrm>
            <a:off x="969201" y="4000496"/>
            <a:ext cx="848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8"/>
          <p:cNvCxnSpPr>
            <a:stCxn id="753" idx="0"/>
            <a:endCxn id="752" idx="4"/>
          </p:cNvCxnSpPr>
          <p:nvPr/>
        </p:nvCxnSpPr>
        <p:spPr>
          <a:xfrm rot="10800000">
            <a:off x="2229622" y="3490947"/>
            <a:ext cx="0" cy="38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48"/>
          <p:cNvSpPr txBox="1"/>
          <p:nvPr/>
        </p:nvSpPr>
        <p:spPr>
          <a:xfrm>
            <a:off x="113650" y="4781325"/>
            <a:ext cx="2670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One-Mode Person-to-Person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3" name="Google Shape;763;p48"/>
          <p:cNvSpPr txBox="1"/>
          <p:nvPr/>
        </p:nvSpPr>
        <p:spPr>
          <a:xfrm>
            <a:off x="1372266" y="316552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48"/>
          <p:cNvSpPr txBox="1"/>
          <p:nvPr/>
        </p:nvSpPr>
        <p:spPr>
          <a:xfrm>
            <a:off x="1818022" y="292645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5" name="Google Shape;765;p48"/>
          <p:cNvSpPr txBox="1"/>
          <p:nvPr/>
        </p:nvSpPr>
        <p:spPr>
          <a:xfrm>
            <a:off x="1121706" y="3040574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6" name="Google Shape;766;p48"/>
          <p:cNvSpPr txBox="1"/>
          <p:nvPr/>
        </p:nvSpPr>
        <p:spPr>
          <a:xfrm>
            <a:off x="1818012" y="354642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7" name="Google Shape;767;p48"/>
          <p:cNvSpPr txBox="1"/>
          <p:nvPr/>
        </p:nvSpPr>
        <p:spPr>
          <a:xfrm>
            <a:off x="1372266" y="397957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8" name="Google Shape;768;p48"/>
          <p:cNvSpPr txBox="1"/>
          <p:nvPr/>
        </p:nvSpPr>
        <p:spPr>
          <a:xfrm>
            <a:off x="862562" y="364778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9" name="Google Shape;769;p48"/>
          <p:cNvSpPr txBox="1"/>
          <p:nvPr/>
        </p:nvSpPr>
        <p:spPr>
          <a:xfrm>
            <a:off x="1470373" y="358301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0" name="Google Shape;770;p48"/>
          <p:cNvSpPr/>
          <p:nvPr/>
        </p:nvSpPr>
        <p:spPr>
          <a:xfrm>
            <a:off x="7420610" y="2603964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Super Smash Bros. 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71" name="Google Shape;771;p48"/>
          <p:cNvSpPr/>
          <p:nvPr/>
        </p:nvSpPr>
        <p:spPr>
          <a:xfrm>
            <a:off x="6620527" y="3427970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Nerdfighters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72" name="Google Shape;772;p48"/>
          <p:cNvSpPr/>
          <p:nvPr/>
        </p:nvSpPr>
        <p:spPr>
          <a:xfrm>
            <a:off x="8148551" y="4196172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Magic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73" name="Google Shape;773;p48"/>
          <p:cNvSpPr/>
          <p:nvPr/>
        </p:nvSpPr>
        <p:spPr>
          <a:xfrm>
            <a:off x="8148571" y="3427839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Fashion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774" name="Google Shape;774;p48"/>
          <p:cNvCxnSpPr>
            <a:stCxn id="771" idx="0"/>
            <a:endCxn id="770" idx="2"/>
          </p:cNvCxnSpPr>
          <p:nvPr/>
        </p:nvCxnSpPr>
        <p:spPr>
          <a:xfrm flipH="1" rot="10800000">
            <a:off x="7094077" y="2949170"/>
            <a:ext cx="800100" cy="478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48"/>
          <p:cNvCxnSpPr>
            <a:stCxn id="770" idx="2"/>
            <a:endCxn id="773" idx="0"/>
          </p:cNvCxnSpPr>
          <p:nvPr/>
        </p:nvCxnSpPr>
        <p:spPr>
          <a:xfrm>
            <a:off x="7894160" y="2949264"/>
            <a:ext cx="728100" cy="47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48"/>
          <p:cNvSpPr/>
          <p:nvPr/>
        </p:nvSpPr>
        <p:spPr>
          <a:xfrm>
            <a:off x="6620537" y="4196183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Cheese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777" name="Google Shape;777;p48"/>
          <p:cNvCxnSpPr>
            <a:stCxn id="772" idx="1"/>
            <a:endCxn id="776" idx="3"/>
          </p:cNvCxnSpPr>
          <p:nvPr/>
        </p:nvCxnSpPr>
        <p:spPr>
          <a:xfrm rot="10800000">
            <a:off x="7567751" y="4368822"/>
            <a:ext cx="5808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48"/>
          <p:cNvCxnSpPr>
            <a:stCxn id="776" idx="3"/>
            <a:endCxn id="773" idx="1"/>
          </p:cNvCxnSpPr>
          <p:nvPr/>
        </p:nvCxnSpPr>
        <p:spPr>
          <a:xfrm flipH="1" rot="10800000">
            <a:off x="7567637" y="3600533"/>
            <a:ext cx="580800" cy="768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48"/>
          <p:cNvCxnSpPr>
            <a:stCxn id="771" idx="3"/>
            <a:endCxn id="773" idx="1"/>
          </p:cNvCxnSpPr>
          <p:nvPr/>
        </p:nvCxnSpPr>
        <p:spPr>
          <a:xfrm>
            <a:off x="7567627" y="3600620"/>
            <a:ext cx="580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48"/>
          <p:cNvCxnSpPr>
            <a:stCxn id="772" idx="0"/>
            <a:endCxn id="773" idx="2"/>
          </p:cNvCxnSpPr>
          <p:nvPr/>
        </p:nvCxnSpPr>
        <p:spPr>
          <a:xfrm rot="10800000">
            <a:off x="8622101" y="3773172"/>
            <a:ext cx="0" cy="42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48"/>
          <p:cNvSpPr txBox="1"/>
          <p:nvPr/>
        </p:nvSpPr>
        <p:spPr>
          <a:xfrm>
            <a:off x="8304497" y="3017103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2" name="Google Shape;782;p48"/>
          <p:cNvSpPr txBox="1"/>
          <p:nvPr/>
        </p:nvSpPr>
        <p:spPr>
          <a:xfrm>
            <a:off x="8622079" y="388659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3" name="Google Shape;783;p48"/>
          <p:cNvSpPr txBox="1"/>
          <p:nvPr/>
        </p:nvSpPr>
        <p:spPr>
          <a:xfrm>
            <a:off x="7759964" y="3379768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4" name="Google Shape;784;p48"/>
          <p:cNvSpPr txBox="1"/>
          <p:nvPr/>
        </p:nvSpPr>
        <p:spPr>
          <a:xfrm>
            <a:off x="7224395" y="3017103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5" name="Google Shape;785;p48"/>
          <p:cNvSpPr txBox="1"/>
          <p:nvPr/>
        </p:nvSpPr>
        <p:spPr>
          <a:xfrm>
            <a:off x="7617464" y="3783700"/>
            <a:ext cx="196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6" name="Google Shape;786;p48"/>
          <p:cNvSpPr txBox="1"/>
          <p:nvPr/>
        </p:nvSpPr>
        <p:spPr>
          <a:xfrm>
            <a:off x="7759964" y="4139431"/>
            <a:ext cx="196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7" name="Google Shape;787;p48"/>
          <p:cNvSpPr txBox="1"/>
          <p:nvPr/>
        </p:nvSpPr>
        <p:spPr>
          <a:xfrm>
            <a:off x="6360051" y="4807600"/>
            <a:ext cx="2793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One-Mode Group-to-Group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8" name="Google Shape;788;p48"/>
          <p:cNvSpPr txBox="1"/>
          <p:nvPr>
            <p:ph idx="1" type="body"/>
          </p:nvPr>
        </p:nvSpPr>
        <p:spPr>
          <a:xfrm>
            <a:off x="311700" y="1225225"/>
            <a:ext cx="8520600" cy="10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between people are given by the groups they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between groups are given by the people that belong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the duality between persons and groups </a:t>
            </a:r>
            <a:endParaRPr b="1"/>
          </a:p>
        </p:txBody>
      </p:sp>
      <p:sp>
        <p:nvSpPr>
          <p:cNvPr id="789" name="Google Shape;789;p48"/>
          <p:cNvSpPr/>
          <p:nvPr/>
        </p:nvSpPr>
        <p:spPr>
          <a:xfrm>
            <a:off x="3421426" y="2391025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Gabriela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90" name="Google Shape;790;p48"/>
          <p:cNvSpPr/>
          <p:nvPr/>
        </p:nvSpPr>
        <p:spPr>
          <a:xfrm>
            <a:off x="3421426" y="2775960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Parker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91" name="Google Shape;791;p48"/>
          <p:cNvSpPr/>
          <p:nvPr/>
        </p:nvSpPr>
        <p:spPr>
          <a:xfrm>
            <a:off x="3421426" y="3212668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Brandon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92" name="Google Shape;792;p48"/>
          <p:cNvSpPr/>
          <p:nvPr/>
        </p:nvSpPr>
        <p:spPr>
          <a:xfrm>
            <a:off x="3421426" y="3633934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Marie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93" name="Google Shape;793;p48"/>
          <p:cNvSpPr/>
          <p:nvPr/>
        </p:nvSpPr>
        <p:spPr>
          <a:xfrm>
            <a:off x="3421426" y="4034309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Rahul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94" name="Google Shape;794;p48"/>
          <p:cNvSpPr/>
          <p:nvPr/>
        </p:nvSpPr>
        <p:spPr>
          <a:xfrm>
            <a:off x="3421426" y="4443950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Minjoo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795" name="Google Shape;795;p48"/>
          <p:cNvSpPr/>
          <p:nvPr/>
        </p:nvSpPr>
        <p:spPr>
          <a:xfrm>
            <a:off x="4940163" y="2553334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Super Smash Bros. 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96" name="Google Shape;796;p48"/>
          <p:cNvSpPr/>
          <p:nvPr/>
        </p:nvSpPr>
        <p:spPr>
          <a:xfrm>
            <a:off x="4940163" y="2975761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Cheese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97" name="Google Shape;797;p48"/>
          <p:cNvSpPr/>
          <p:nvPr/>
        </p:nvSpPr>
        <p:spPr>
          <a:xfrm>
            <a:off x="4940163" y="3380039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Nerdfighters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98" name="Google Shape;798;p48"/>
          <p:cNvSpPr/>
          <p:nvPr/>
        </p:nvSpPr>
        <p:spPr>
          <a:xfrm>
            <a:off x="4940163" y="3803098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Magic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99" name="Google Shape;799;p48"/>
          <p:cNvSpPr/>
          <p:nvPr/>
        </p:nvSpPr>
        <p:spPr>
          <a:xfrm>
            <a:off x="4940163" y="4202249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Fashion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800" name="Google Shape;800;p48"/>
          <p:cNvCxnSpPr>
            <a:stCxn id="794" idx="6"/>
            <a:endCxn id="799" idx="1"/>
          </p:cNvCxnSpPr>
          <p:nvPr/>
        </p:nvCxnSpPr>
        <p:spPr>
          <a:xfrm flipH="1" rot="10800000">
            <a:off x="4321726" y="4352450"/>
            <a:ext cx="618300" cy="220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8"/>
          <p:cNvCxnSpPr>
            <a:stCxn id="794" idx="6"/>
            <a:endCxn id="796" idx="1"/>
          </p:cNvCxnSpPr>
          <p:nvPr/>
        </p:nvCxnSpPr>
        <p:spPr>
          <a:xfrm flipH="1" rot="10800000">
            <a:off x="4321726" y="3126050"/>
            <a:ext cx="618300" cy="1446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8"/>
          <p:cNvCxnSpPr>
            <a:stCxn id="793" idx="6"/>
            <a:endCxn id="799" idx="1"/>
          </p:cNvCxnSpPr>
          <p:nvPr/>
        </p:nvCxnSpPr>
        <p:spPr>
          <a:xfrm>
            <a:off x="4321726" y="4163009"/>
            <a:ext cx="618300" cy="189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8"/>
          <p:cNvCxnSpPr>
            <a:stCxn id="791" idx="6"/>
            <a:endCxn id="796" idx="1"/>
          </p:cNvCxnSpPr>
          <p:nvPr/>
        </p:nvCxnSpPr>
        <p:spPr>
          <a:xfrm flipH="1" rot="10800000">
            <a:off x="4321726" y="3125968"/>
            <a:ext cx="618300" cy="215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8"/>
          <p:cNvCxnSpPr>
            <a:stCxn id="794" idx="6"/>
            <a:endCxn id="798" idx="1"/>
          </p:cNvCxnSpPr>
          <p:nvPr/>
        </p:nvCxnSpPr>
        <p:spPr>
          <a:xfrm flipH="1" rot="10800000">
            <a:off x="4321726" y="3953150"/>
            <a:ext cx="618300" cy="619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8"/>
          <p:cNvCxnSpPr>
            <a:stCxn id="789" idx="6"/>
            <a:endCxn id="795" idx="1"/>
          </p:cNvCxnSpPr>
          <p:nvPr/>
        </p:nvCxnSpPr>
        <p:spPr>
          <a:xfrm>
            <a:off x="4321726" y="2519725"/>
            <a:ext cx="618300" cy="183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8"/>
          <p:cNvCxnSpPr>
            <a:stCxn id="789" idx="6"/>
            <a:endCxn id="797" idx="1"/>
          </p:cNvCxnSpPr>
          <p:nvPr/>
        </p:nvCxnSpPr>
        <p:spPr>
          <a:xfrm>
            <a:off x="4321726" y="2519725"/>
            <a:ext cx="618300" cy="1010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8"/>
          <p:cNvCxnSpPr>
            <a:stCxn id="790" idx="6"/>
            <a:endCxn id="796" idx="1"/>
          </p:cNvCxnSpPr>
          <p:nvPr/>
        </p:nvCxnSpPr>
        <p:spPr>
          <a:xfrm>
            <a:off x="4321726" y="2904660"/>
            <a:ext cx="618300" cy="221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8"/>
          <p:cNvCxnSpPr>
            <a:stCxn id="789" idx="6"/>
            <a:endCxn id="799" idx="1"/>
          </p:cNvCxnSpPr>
          <p:nvPr/>
        </p:nvCxnSpPr>
        <p:spPr>
          <a:xfrm>
            <a:off x="4321726" y="2519725"/>
            <a:ext cx="618300" cy="183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8"/>
          <p:cNvCxnSpPr>
            <a:stCxn id="792" idx="6"/>
            <a:endCxn id="797" idx="1"/>
          </p:cNvCxnSpPr>
          <p:nvPr/>
        </p:nvCxnSpPr>
        <p:spPr>
          <a:xfrm flipH="1" rot="10800000">
            <a:off x="4321726" y="3530134"/>
            <a:ext cx="618300" cy="23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8"/>
          <p:cNvCxnSpPr>
            <a:stCxn id="790" idx="6"/>
            <a:endCxn id="798" idx="1"/>
          </p:cNvCxnSpPr>
          <p:nvPr/>
        </p:nvCxnSpPr>
        <p:spPr>
          <a:xfrm>
            <a:off x="4321726" y="2904660"/>
            <a:ext cx="618300" cy="104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48"/>
          <p:cNvCxnSpPr>
            <a:stCxn id="793" idx="6"/>
            <a:endCxn id="796" idx="1"/>
          </p:cNvCxnSpPr>
          <p:nvPr/>
        </p:nvCxnSpPr>
        <p:spPr>
          <a:xfrm flipH="1" rot="10800000">
            <a:off x="4321726" y="3125909"/>
            <a:ext cx="618300" cy="1037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48"/>
          <p:cNvCxnSpPr>
            <a:stCxn id="792" idx="6"/>
            <a:endCxn id="795" idx="1"/>
          </p:cNvCxnSpPr>
          <p:nvPr/>
        </p:nvCxnSpPr>
        <p:spPr>
          <a:xfrm flipH="1" rot="10800000">
            <a:off x="4321726" y="2703634"/>
            <a:ext cx="618300" cy="1059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48"/>
          <p:cNvSpPr/>
          <p:nvPr/>
        </p:nvSpPr>
        <p:spPr>
          <a:xfrm>
            <a:off x="5908863" y="3284413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48"/>
          <p:cNvSpPr/>
          <p:nvPr/>
        </p:nvSpPr>
        <p:spPr>
          <a:xfrm rot="10800000">
            <a:off x="2726775" y="3280488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8"/>
          <p:cNvSpPr txBox="1"/>
          <p:nvPr/>
        </p:nvSpPr>
        <p:spPr>
          <a:xfrm>
            <a:off x="3486228" y="4792875"/>
            <a:ext cx="2289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Original Two-Mode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mode projections as weighted graphs</a:t>
            </a:r>
            <a:endParaRPr/>
          </a:p>
        </p:txBody>
      </p:sp>
      <p:sp>
        <p:nvSpPr>
          <p:cNvPr id="821" name="Google Shape;821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mode projections of two mode networks can be thought of as matrix representations of weighted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People are linked to one another is they share memberships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more shared memberships the stronger the link (w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Groups are linked to one another if they share members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more shared members the stronger the link (w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binarize the weighted one-mode representation to get back to simple 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c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c*</a:t>
            </a:r>
            <a:r>
              <a:rPr baseline="-25000" lang="en"/>
              <a:t>ij</a:t>
            </a:r>
            <a:r>
              <a:rPr lang="en"/>
              <a:t> = 0; g*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g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g*</a:t>
            </a:r>
            <a:r>
              <a:rPr baseline="-25000" lang="en"/>
              <a:t>ij</a:t>
            </a:r>
            <a:r>
              <a:rPr lang="en"/>
              <a:t> = 0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Note that co-membership and overlap relations are symmetric!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 can then calculate degree, betweenness, closeness, eigenvector, and other indices of vertex prominence and position  </a:t>
            </a:r>
            <a:endParaRPr b="1"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marvel-3.png" id="827" name="Google Shape;827;p50"/>
          <p:cNvPicPr preferRelativeResize="0"/>
          <p:nvPr/>
        </p:nvPicPr>
        <p:blipFill rotWithShape="1">
          <a:blip r:embed="rId3">
            <a:alphaModFix/>
          </a:blip>
          <a:srcRect b="2471" l="2257" r="1691" t="263"/>
          <a:stretch/>
        </p:blipFill>
        <p:spPr>
          <a:xfrm>
            <a:off x="5626850" y="989475"/>
            <a:ext cx="3205450" cy="3825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50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Hollywood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actors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movies</a:t>
            </a:r>
            <a:r>
              <a:rPr lang="en">
                <a:solidFill>
                  <a:srgbClr val="FF0000"/>
                </a:solidFill>
              </a:rPr>
              <a:t> that they make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Citigroup_corp_NetDraw.gif" id="834" name="Google Shape;83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1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CEOs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board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of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directors</a:t>
            </a:r>
            <a:r>
              <a:rPr lang="en">
                <a:solidFill>
                  <a:srgbClr val="FF0000"/>
                </a:solidFill>
              </a:rPr>
              <a:t> that they sit 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841" name="Google Shape;841;p52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Hollywood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actors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movies</a:t>
            </a:r>
            <a:r>
              <a:rPr lang="en">
                <a:solidFill>
                  <a:srgbClr val="000000"/>
                </a:solidFill>
              </a:rPr>
              <a:t> that they make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Books </a:t>
            </a:r>
            <a:r>
              <a:rPr lang="en">
                <a:solidFill>
                  <a:srgbClr val="FF0000"/>
                </a:solidFill>
              </a:rPr>
              <a:t>and the people who buy them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842" name="Google Shape;842;p52"/>
          <p:cNvPicPr preferRelativeResize="0"/>
          <p:nvPr/>
        </p:nvPicPr>
        <p:blipFill rotWithShape="1">
          <a:blip r:embed="rId3">
            <a:alphaModFix/>
          </a:blip>
          <a:srcRect b="18702" l="51333" r="0" t="21586"/>
          <a:stretch/>
        </p:blipFill>
        <p:spPr>
          <a:xfrm>
            <a:off x="5233650" y="1225225"/>
            <a:ext cx="3644818" cy="33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image006.jpg" id="848" name="Google Shape;8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3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Scientists </a:t>
            </a:r>
            <a:r>
              <a:rPr lang="en">
                <a:solidFill>
                  <a:srgbClr val="FF0000"/>
                </a:solidFill>
              </a:rPr>
              <a:t>and the </a:t>
            </a:r>
            <a:r>
              <a:rPr b="1" lang="en">
                <a:solidFill>
                  <a:srgbClr val="FF0000"/>
                </a:solidFill>
              </a:rPr>
              <a:t>journal</a:t>
            </a:r>
            <a:r>
              <a:rPr lang="en">
                <a:solidFill>
                  <a:srgbClr val="FF0000"/>
                </a:solidFill>
              </a:rPr>
              <a:t> they publish in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image006.jpg" id="855" name="Google Shape;8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4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Scientists </a:t>
            </a:r>
            <a:r>
              <a:rPr lang="en">
                <a:solidFill>
                  <a:srgbClr val="FF0000"/>
                </a:solidFill>
              </a:rPr>
              <a:t>and the </a:t>
            </a:r>
            <a:r>
              <a:rPr b="1" lang="en">
                <a:solidFill>
                  <a:srgbClr val="FF0000"/>
                </a:solidFill>
              </a:rPr>
              <a:t>journal</a:t>
            </a:r>
            <a:r>
              <a:rPr lang="en">
                <a:solidFill>
                  <a:srgbClr val="FF0000"/>
                </a:solidFill>
              </a:rPr>
              <a:t> they publish in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of Key Terms (Two-Mode Networks)</a:t>
            </a:r>
            <a:endParaRPr/>
          </a:p>
        </p:txBody>
      </p:sp>
      <p:sp>
        <p:nvSpPr>
          <p:cNvPr id="862" name="Google Shape;862;p5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Two-mode network</a:t>
            </a:r>
            <a:r>
              <a:rPr b="1" lang="en"/>
              <a:t>:</a:t>
            </a:r>
            <a:r>
              <a:rPr lang="en"/>
              <a:t> A social network in which two types of entities (e.g., people and the books they bought) are linked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Affiliation network:</a:t>
            </a:r>
            <a:r>
              <a:rPr lang="en"/>
              <a:t> A type of two-mode networks in which </a:t>
            </a:r>
            <a:r>
              <a:rPr i="1" lang="en"/>
              <a:t>people </a:t>
            </a:r>
            <a:r>
              <a:rPr lang="en"/>
              <a:t>are linked to the </a:t>
            </a:r>
            <a:r>
              <a:rPr i="1" lang="en"/>
              <a:t>groups </a:t>
            </a:r>
            <a:r>
              <a:rPr lang="en"/>
              <a:t>they belong to (are affiliated with)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</a:t>
            </a:r>
            <a:r>
              <a:rPr b="1" lang="en"/>
              <a:t> Graph: </a:t>
            </a:r>
            <a:r>
              <a:rPr lang="en"/>
              <a:t>A graph with two disjoint set of nodes in which nodes link only to nodes in the other set but not with nodes in their own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Bipartite graphs are useful for representing two-mode networks!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Affiliation Matrix: </a:t>
            </a:r>
            <a:r>
              <a:rPr lang="en"/>
              <a:t>Matrix recording the </a:t>
            </a:r>
            <a:r>
              <a:rPr lang="en"/>
              <a:t>adjacency</a:t>
            </a:r>
            <a:r>
              <a:rPr lang="en"/>
              <a:t> relations between vertices in a bipartite graph representing a two-mode network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of Key Terms (Two-Mode Networks)</a:t>
            </a:r>
            <a:endParaRPr/>
          </a:p>
        </p:txBody>
      </p:sp>
      <p:sp>
        <p:nvSpPr>
          <p:cNvPr id="868" name="Google Shape;868;p5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Transpose: </a:t>
            </a:r>
            <a:r>
              <a:rPr lang="en"/>
              <a:t>A matrix operation that produces a new matrix (the transpose) by switching around the number of rows and the number of columns of the original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Co-membership Matrix:</a:t>
            </a:r>
            <a:r>
              <a:rPr lang="en"/>
              <a:t> Matrix that results from multiplying an affiliation matrix times its transpose. The off-diagonal cells of the co-membership matrix records the number of shared memberships each pair of people have in an affiliation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Group Overlap M</a:t>
            </a:r>
            <a:r>
              <a:rPr b="1" lang="en"/>
              <a:t>atrix:</a:t>
            </a:r>
            <a:r>
              <a:rPr lang="en"/>
              <a:t> Matrix that results from multiplying the transpose of an affiliation matrix times the original. The off-diagonal cells of the group overlap matrix records the number of shared members each pair of groups have in an affiliation network.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