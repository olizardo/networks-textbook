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47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</p:sldIdLst>
  <p:sldSz cy="5143500" cx="9144000"/>
  <p:notesSz cx="6858000" cy="9144000"/>
  <p:embeddedFontLst>
    <p:embeddedFont>
      <p:font typeface="Economica"/>
      <p:regular r:id="rId156"/>
      <p:bold r:id="rId157"/>
      <p:italic r:id="rId158"/>
      <p:boldItalic r:id="rId159"/>
    </p:embeddedFont>
    <p:embeddedFont>
      <p:font typeface="Oxygen"/>
      <p:regular r:id="rId160"/>
      <p:bold r:id="rId161"/>
    </p:embeddedFont>
    <p:embeddedFont>
      <p:font typeface="Garamond"/>
      <p:regular r:id="rId162"/>
      <p:bold r:id="rId163"/>
      <p:italic r:id="rId164"/>
      <p:boldItalic r:id="rId165"/>
    </p:embeddedFont>
    <p:embeddedFont>
      <p:font typeface="Cantarell"/>
      <p:regular r:id="rId166"/>
      <p:bold r:id="rId167"/>
      <p:italic r:id="rId168"/>
      <p:boldItalic r:id="rId169"/>
    </p:embeddedFont>
    <p:embeddedFont>
      <p:font typeface="Open Sans"/>
      <p:regular r:id="rId170"/>
      <p:bold r:id="rId171"/>
      <p:italic r:id="rId172"/>
      <p:boldItalic r:id="rId1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8509E5-6A5A-4EFC-9E5D-02DF6BC72988}">
  <a:tblStyle styleId="{508509E5-6A5A-4EFC-9E5D-02DF6BC7298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07" Type="http://schemas.openxmlformats.org/officeDocument/2006/relationships/slide" Target="slides/slide100.xml"/><Relationship Id="rId106" Type="http://schemas.openxmlformats.org/officeDocument/2006/relationships/slide" Target="slides/slide99.xml"/><Relationship Id="rId105" Type="http://schemas.openxmlformats.org/officeDocument/2006/relationships/slide" Target="slides/slide98.xml"/><Relationship Id="rId104" Type="http://schemas.openxmlformats.org/officeDocument/2006/relationships/slide" Target="slides/slide97.xml"/><Relationship Id="rId109" Type="http://schemas.openxmlformats.org/officeDocument/2006/relationships/slide" Target="slides/slide102.xml"/><Relationship Id="rId108" Type="http://schemas.openxmlformats.org/officeDocument/2006/relationships/slide" Target="slides/slide101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3" Type="http://schemas.openxmlformats.org/officeDocument/2006/relationships/slide" Target="slides/slide96.xml"/><Relationship Id="rId102" Type="http://schemas.openxmlformats.org/officeDocument/2006/relationships/slide" Target="slides/slide95.xml"/><Relationship Id="rId101" Type="http://schemas.openxmlformats.org/officeDocument/2006/relationships/slide" Target="slides/slide94.xml"/><Relationship Id="rId100" Type="http://schemas.openxmlformats.org/officeDocument/2006/relationships/slide" Target="slides/slide93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173" Type="http://schemas.openxmlformats.org/officeDocument/2006/relationships/font" Target="fonts/OpenSans-bold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29" Type="http://schemas.openxmlformats.org/officeDocument/2006/relationships/slide" Target="slides/slide122.xml"/><Relationship Id="rId128" Type="http://schemas.openxmlformats.org/officeDocument/2006/relationships/slide" Target="slides/slide121.xml"/><Relationship Id="rId127" Type="http://schemas.openxmlformats.org/officeDocument/2006/relationships/slide" Target="slides/slide120.xml"/><Relationship Id="rId126" Type="http://schemas.openxmlformats.org/officeDocument/2006/relationships/slide" Target="slides/slide119.xml"/><Relationship Id="rId26" Type="http://schemas.openxmlformats.org/officeDocument/2006/relationships/slide" Target="slides/slide19.xml"/><Relationship Id="rId121" Type="http://schemas.openxmlformats.org/officeDocument/2006/relationships/slide" Target="slides/slide114.xml"/><Relationship Id="rId25" Type="http://schemas.openxmlformats.org/officeDocument/2006/relationships/slide" Target="slides/slide18.xml"/><Relationship Id="rId120" Type="http://schemas.openxmlformats.org/officeDocument/2006/relationships/slide" Target="slides/slide113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125" Type="http://schemas.openxmlformats.org/officeDocument/2006/relationships/slide" Target="slides/slide118.xml"/><Relationship Id="rId29" Type="http://schemas.openxmlformats.org/officeDocument/2006/relationships/slide" Target="slides/slide22.xml"/><Relationship Id="rId124" Type="http://schemas.openxmlformats.org/officeDocument/2006/relationships/slide" Target="slides/slide117.xml"/><Relationship Id="rId123" Type="http://schemas.openxmlformats.org/officeDocument/2006/relationships/slide" Target="slides/slide116.xml"/><Relationship Id="rId122" Type="http://schemas.openxmlformats.org/officeDocument/2006/relationships/slide" Target="slides/slide115.xml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11" Type="http://schemas.openxmlformats.org/officeDocument/2006/relationships/slide" Target="slides/slide4.xml"/><Relationship Id="rId99" Type="http://schemas.openxmlformats.org/officeDocument/2006/relationships/slide" Target="slides/slide92.xml"/><Relationship Id="rId10" Type="http://schemas.openxmlformats.org/officeDocument/2006/relationships/slide" Target="slides/slide3.xml"/><Relationship Id="rId98" Type="http://schemas.openxmlformats.org/officeDocument/2006/relationships/slide" Target="slides/slide91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118" Type="http://schemas.openxmlformats.org/officeDocument/2006/relationships/slide" Target="slides/slide111.xml"/><Relationship Id="rId117" Type="http://schemas.openxmlformats.org/officeDocument/2006/relationships/slide" Target="slides/slide110.xml"/><Relationship Id="rId116" Type="http://schemas.openxmlformats.org/officeDocument/2006/relationships/slide" Target="slides/slide109.xml"/><Relationship Id="rId115" Type="http://schemas.openxmlformats.org/officeDocument/2006/relationships/slide" Target="slides/slide108.xml"/><Relationship Id="rId119" Type="http://schemas.openxmlformats.org/officeDocument/2006/relationships/slide" Target="slides/slide112.xml"/><Relationship Id="rId15" Type="http://schemas.openxmlformats.org/officeDocument/2006/relationships/slide" Target="slides/slide8.xml"/><Relationship Id="rId110" Type="http://schemas.openxmlformats.org/officeDocument/2006/relationships/slide" Target="slides/slide103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14" Type="http://schemas.openxmlformats.org/officeDocument/2006/relationships/slide" Target="slides/slide107.xml"/><Relationship Id="rId18" Type="http://schemas.openxmlformats.org/officeDocument/2006/relationships/slide" Target="slides/slide11.xml"/><Relationship Id="rId113" Type="http://schemas.openxmlformats.org/officeDocument/2006/relationships/slide" Target="slides/slide106.xml"/><Relationship Id="rId112" Type="http://schemas.openxmlformats.org/officeDocument/2006/relationships/slide" Target="slides/slide105.xml"/><Relationship Id="rId111" Type="http://schemas.openxmlformats.org/officeDocument/2006/relationships/slide" Target="slides/slide104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150" Type="http://schemas.openxmlformats.org/officeDocument/2006/relationships/slide" Target="slides/slide143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2.xml"/><Relationship Id="rId4" Type="http://schemas.openxmlformats.org/officeDocument/2006/relationships/tableStyles" Target="tableStyles.xml"/><Relationship Id="rId148" Type="http://schemas.openxmlformats.org/officeDocument/2006/relationships/slide" Target="slides/slide141.xml"/><Relationship Id="rId9" Type="http://schemas.openxmlformats.org/officeDocument/2006/relationships/slide" Target="slides/slide2.xml"/><Relationship Id="rId143" Type="http://schemas.openxmlformats.org/officeDocument/2006/relationships/slide" Target="slides/slide136.xml"/><Relationship Id="rId142" Type="http://schemas.openxmlformats.org/officeDocument/2006/relationships/slide" Target="slides/slide135.xml"/><Relationship Id="rId141" Type="http://schemas.openxmlformats.org/officeDocument/2006/relationships/slide" Target="slides/slide134.xml"/><Relationship Id="rId140" Type="http://schemas.openxmlformats.org/officeDocument/2006/relationships/slide" Target="slides/slide133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40.xml"/><Relationship Id="rId6" Type="http://schemas.openxmlformats.org/officeDocument/2006/relationships/slideMaster" Target="slideMasters/slideMaster2.xml"/><Relationship Id="rId146" Type="http://schemas.openxmlformats.org/officeDocument/2006/relationships/slide" Target="slides/slide139.xml"/><Relationship Id="rId7" Type="http://schemas.openxmlformats.org/officeDocument/2006/relationships/notesMaster" Target="notesMasters/notesMaster1.xml"/><Relationship Id="rId145" Type="http://schemas.openxmlformats.org/officeDocument/2006/relationships/slide" Target="slides/slide138.xml"/><Relationship Id="rId8" Type="http://schemas.openxmlformats.org/officeDocument/2006/relationships/slide" Target="slides/slide1.xml"/><Relationship Id="rId144" Type="http://schemas.openxmlformats.org/officeDocument/2006/relationships/slide" Target="slides/slide137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139" Type="http://schemas.openxmlformats.org/officeDocument/2006/relationships/slide" Target="slides/slide132.xml"/><Relationship Id="rId138" Type="http://schemas.openxmlformats.org/officeDocument/2006/relationships/slide" Target="slides/slide131.xml"/><Relationship Id="rId137" Type="http://schemas.openxmlformats.org/officeDocument/2006/relationships/slide" Target="slides/slide130.xml"/><Relationship Id="rId132" Type="http://schemas.openxmlformats.org/officeDocument/2006/relationships/slide" Target="slides/slide125.xml"/><Relationship Id="rId131" Type="http://schemas.openxmlformats.org/officeDocument/2006/relationships/slide" Target="slides/slide124.xml"/><Relationship Id="rId130" Type="http://schemas.openxmlformats.org/officeDocument/2006/relationships/slide" Target="slides/slide123.xml"/><Relationship Id="rId136" Type="http://schemas.openxmlformats.org/officeDocument/2006/relationships/slide" Target="slides/slide129.xml"/><Relationship Id="rId135" Type="http://schemas.openxmlformats.org/officeDocument/2006/relationships/slide" Target="slides/slide128.xml"/><Relationship Id="rId134" Type="http://schemas.openxmlformats.org/officeDocument/2006/relationships/slide" Target="slides/slide127.xml"/><Relationship Id="rId133" Type="http://schemas.openxmlformats.org/officeDocument/2006/relationships/slide" Target="slides/slide126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172" Type="http://schemas.openxmlformats.org/officeDocument/2006/relationships/font" Target="fonts/OpenSans-italic.fntdata"/><Relationship Id="rId65" Type="http://schemas.openxmlformats.org/officeDocument/2006/relationships/slide" Target="slides/slide58.xml"/><Relationship Id="rId171" Type="http://schemas.openxmlformats.org/officeDocument/2006/relationships/font" Target="fonts/OpenSans-bold.fntdata"/><Relationship Id="rId68" Type="http://schemas.openxmlformats.org/officeDocument/2006/relationships/slide" Target="slides/slide61.xml"/><Relationship Id="rId170" Type="http://schemas.openxmlformats.org/officeDocument/2006/relationships/font" Target="fonts/OpenSans-regular.fntdata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165" Type="http://schemas.openxmlformats.org/officeDocument/2006/relationships/font" Target="fonts/Garamond-boldItalic.fntdata"/><Relationship Id="rId69" Type="http://schemas.openxmlformats.org/officeDocument/2006/relationships/slide" Target="slides/slide62.xml"/><Relationship Id="rId164" Type="http://schemas.openxmlformats.org/officeDocument/2006/relationships/font" Target="fonts/Garamond-italic.fntdata"/><Relationship Id="rId163" Type="http://schemas.openxmlformats.org/officeDocument/2006/relationships/font" Target="fonts/Garamond-bold.fntdata"/><Relationship Id="rId162" Type="http://schemas.openxmlformats.org/officeDocument/2006/relationships/font" Target="fonts/Garamond-regular.fntdata"/><Relationship Id="rId169" Type="http://schemas.openxmlformats.org/officeDocument/2006/relationships/font" Target="fonts/Cantarell-boldItalic.fntdata"/><Relationship Id="rId168" Type="http://schemas.openxmlformats.org/officeDocument/2006/relationships/font" Target="fonts/Cantarell-italic.fntdata"/><Relationship Id="rId167" Type="http://schemas.openxmlformats.org/officeDocument/2006/relationships/font" Target="fonts/Cantarell-bold.fntdata"/><Relationship Id="rId166" Type="http://schemas.openxmlformats.org/officeDocument/2006/relationships/font" Target="fonts/Cantarell-regular.fntdata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161" Type="http://schemas.openxmlformats.org/officeDocument/2006/relationships/font" Target="fonts/Oxygen-bold.fntdata"/><Relationship Id="rId54" Type="http://schemas.openxmlformats.org/officeDocument/2006/relationships/slide" Target="slides/slide47.xml"/><Relationship Id="rId160" Type="http://schemas.openxmlformats.org/officeDocument/2006/relationships/font" Target="fonts/Oxygen-regular.fntdata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159" Type="http://schemas.openxmlformats.org/officeDocument/2006/relationships/font" Target="fonts/Economica-boldItalic.fntdata"/><Relationship Id="rId59" Type="http://schemas.openxmlformats.org/officeDocument/2006/relationships/slide" Target="slides/slide52.xml"/><Relationship Id="rId154" Type="http://schemas.openxmlformats.org/officeDocument/2006/relationships/slide" Target="slides/slide147.xml"/><Relationship Id="rId58" Type="http://schemas.openxmlformats.org/officeDocument/2006/relationships/slide" Target="slides/slide51.xml"/><Relationship Id="rId153" Type="http://schemas.openxmlformats.org/officeDocument/2006/relationships/slide" Target="slides/slide146.xml"/><Relationship Id="rId152" Type="http://schemas.openxmlformats.org/officeDocument/2006/relationships/slide" Target="slides/slide145.xml"/><Relationship Id="rId151" Type="http://schemas.openxmlformats.org/officeDocument/2006/relationships/slide" Target="slides/slide144.xml"/><Relationship Id="rId158" Type="http://schemas.openxmlformats.org/officeDocument/2006/relationships/font" Target="fonts/Economica-italic.fntdata"/><Relationship Id="rId157" Type="http://schemas.openxmlformats.org/officeDocument/2006/relationships/font" Target="fonts/Economica-bold.fntdata"/><Relationship Id="rId156" Type="http://schemas.openxmlformats.org/officeDocument/2006/relationships/font" Target="fonts/Economica-regular.fntdata"/><Relationship Id="rId155" Type="http://schemas.openxmlformats.org/officeDocument/2006/relationships/slide" Target="slides/slide14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b888669c3b_0_1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b888669c3b_0_1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b888669c3b_0_1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b888669c3b_0_1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b888669c3b_0_1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b888669c3b_0_1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b888669c3b_0_1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b888669c3b_0_1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b888669c3b_0_1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b888669c3b_0_1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1043b1a11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1043b1a11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b888669c3b_0_1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b888669c3b_0_1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10b30de290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10b30de290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b888669c3b_0_1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b888669c3b_0_1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b888669c3b_0_1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b888669c3b_0_1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b888669c3b_0_1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b888669c3b_0_1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b888669c3b_0_1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b888669c3b_0_1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b888669c3b_0_1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b888669c3b_0_1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b888669c3b_0_1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b888669c3b_0_1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b888669c3b_0_1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b888669c3b_0_1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b888669c3b_0_1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b888669c3b_0_1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b888669c3b_0_1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b888669c3b_0_1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b888669c3b_0_1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b888669c3b_0_1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b888669c3b_0_1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b888669c3b_0_1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b888669c3b_0_1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b888669c3b_0_1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b888669c3b_0_1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b888669c3b_0_1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b888669c3b_0_1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b888669c3b_0_1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b888669c3b_0_1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b888669c3b_0_1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daa83e3329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daa83e3329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daa83e3329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daa83e3329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daa83e3329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daa83e3329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daa83e3329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daa83e3329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daa83e3329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daa83e3329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daa83e3329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3daa83e3329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daa83e3329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daa83e3329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daa83e3329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3daa83e3329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daa83e3329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3daa83e3329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daa83e3329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3daa83e3329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daa83e3329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3daa83e3329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daa83e3329_0_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3daa83e3329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3daa83e3329_0_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3daa83e3329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daa83e3329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3daa83e3329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3daa83e3329_0_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3daa83e3329_0_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3daa83e3329_0_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3daa83e3329_0_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3daa83e3329_0_8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3daa83e3329_0_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3daa83e3329_0_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7" name="Google Shape;1217;g3daa83e3329_0_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3daa83e3329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3daa83e3329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110b30de290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9" name="Google Shape;1269;g110b30de290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b888669c3b_0_1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4" name="Google Shape;1274;gb888669c3b_0_1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b888669c3b_0_1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gb888669c3b_0_1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b888669c3b_0_1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b888669c3b_0_1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b888669c3b_0_1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4" name="Google Shape;1334;gb888669c3b_0_1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gb888669c3b_0_1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4" name="Google Shape;1354;gb888669c3b_0_1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b888669c3b_0_1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4" name="Google Shape;1374;gb888669c3b_0_1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gb888669c3b_0_1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5" name="Google Shape;1395;gb888669c3b_0_1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gb888669c3b_0_1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7" name="Google Shape;1417;gb888669c3b_0_1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b888669c3b_0_1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b888669c3b_0_1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g3debde5e964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1" name="Google Shape;1461;g3debde5e964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3debde5e964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3debde5e964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g3debde5e964_2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4" name="Google Shape;1504;g3debde5e964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3debde5e964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3debde5e964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g1092036382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4" name="Google Shape;1534;g1092036382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g1092036382d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2" name="Google Shape;1552;g1092036382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g1092036382d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0" name="Google Shape;1570;g1092036382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g1092036382d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3" name="Google Shape;1593;g1092036382d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g3daa83e3329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1" name="Google Shape;1611;g3daa83e3329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g2b3dab45eec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6" name="Google Shape;1616;g2b3dab45eec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2b3dab45eec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2b3dab45eec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g2b3dab45eec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4" name="Google Shape;1654;g2b3dab45eec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g2b3dab45eec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3" name="Google Shape;1673;g2b3dab45eec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g2b3dab45eec_1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2" name="Google Shape;1692;g2b3dab45eec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g2b3dab45eec_1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1" name="Google Shape;1711;g2b3dab45eec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g2b3dab45eec_1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0" name="Google Shape;1730;g2b3dab45eec_1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2b3dab45eec_1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9" name="Google Shape;1749;g2b3dab45eec_1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6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g2b3dab45eec_1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8" name="Google Shape;1768;g2b3dab45eec_1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g2b3dab45eec_1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7" name="Google Shape;1787;g2b3dab45eec_1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3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g2b3dab45eec_1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5" name="Google Shape;1815;g2b3dab45eec_1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g2b3dab45eec_1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3" name="Google Shape;1843;g2b3dab45eec_1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g2b3dab45eec_1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3" name="Google Shape;1873;g2b3dab45eec_1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g2b3dab45eec_1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1" name="Google Shape;1901;g2b3dab45eec_1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9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g2b3dab45eec_1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1" name="Google Shape;1931;g2b3dab45eec_1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g2b3dab45eec_1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9" name="Google Shape;1959;g2b3dab45eec_1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7" name="Shape 1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Google Shape;1988;g34bb7ca7bfe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9" name="Google Shape;1989;g34bb7ca7bfe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2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g34bb7ca7bfe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4" name="Google Shape;1994;g34bb7ca7bfe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3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g34bb7ca7bfe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5" name="Google Shape;2015;g34bb7ca7bfe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g34bb7ca7bfe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6" name="Google Shape;2036;g34bb7ca7bfe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5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g34bb7ca7bfe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7" name="Google Shape;2057;g34bb7ca7bfe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6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Google Shape;2077;g34bb7ca7bfe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8" name="Google Shape;2078;g34bb7ca7bfe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7" name="Shape 2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Google Shape;2098;g34bb7ca7bfe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9" name="Google Shape;2099;g34bb7ca7bfe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8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" name="Google Shape;2119;g34bb7ca7bfe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0" name="Google Shape;2120;g34bb7ca7bfe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9" name="Shape 2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Google Shape;2140;g34bb7ca7bfe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1" name="Google Shape;2141;g34bb7ca7bfe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0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Google Shape;2161;g34bb7ca7bfe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2" name="Google Shape;2162;g34bb7ca7bfe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g34bb7ca7bfe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3" name="Google Shape;2183;g34bb7ca7bfe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3" name="Shape 2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4" name="Google Shape;2204;g34bb7ca7bfe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5" name="Google Shape;2205;g34bb7ca7bfe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6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g34bb7ca7bfe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8" name="Google Shape;2228;g34bb7ca7bfe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8" name="Shape 2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9" name="Google Shape;2249;g34bb7ca7bfe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0" name="Google Shape;2250;g34bb7ca7bfe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Google Shape;2272;g34bb7ca7bfe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3" name="Google Shape;2273;g34bb7ca7bfe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0" name="Shape 2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Google Shape;2301;g34bb7ca7bfe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2" name="Google Shape;2302;g34bb7ca7bfe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9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g34bb7ca7bfe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1" name="Google Shape;2331;g34bb7ca7bfe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8" name="Shape 2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Google Shape;2359;g34bb7ca7bfe_0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0" name="Google Shape;2360;g34bb7ca7bfe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7" name="Shape 2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" name="Google Shape;2388;g34bb7ca7bfe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9" name="Google Shape;2389;g34bb7ca7bfe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6" name="Shape 2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7" name="Google Shape;2417;g34bb7ca7bfe_0_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8" name="Google Shape;2418;g34bb7ca7bfe_0_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5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6" name="Google Shape;2446;g34bb7ca7bfe_0_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7" name="Google Shape;2447;g34bb7ca7bfe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4" name="Shape 2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5" name="Google Shape;2475;g34bb7ca7bfe_0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6" name="Google Shape;2476;g34bb7ca7bfe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3" name="Shape 2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4" name="Google Shape;2504;g34bb7ca7bfe_0_6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5" name="Google Shape;2505;g34bb7ca7bfe_0_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2" name="Shape 2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3" name="Google Shape;2533;g34bb7ca7bfe_0_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4" name="Google Shape;2534;g34bb7ca7bfe_0_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1" name="Shape 2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2" name="Google Shape;2562;g34bb7ca7bfe_0_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3" name="Google Shape;2563;g34bb7ca7bfe_0_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0" name="Shape 2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1" name="Google Shape;2591;g34bb7ca7bfe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2" name="Google Shape;2592;g34bb7ca7bfe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9" name="Shape 2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0" name="Google Shape;2620;g34bb7ca7bfe_0_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1" name="Google Shape;2621;g34bb7ca7bfe_0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8" name="Shape 2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9" name="Google Shape;2649;g34bb7ca7bf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0" name="Google Shape;2650;g34bb7ca7bf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7" name="Shape 2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8" name="Google Shape;2678;g34bb7ca7bfe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9" name="Google Shape;2679;g34bb7ca7bfe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6" name="Shape 2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7" name="Google Shape;2707;g34bb7ca7bfe_0_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8" name="Google Shape;2708;g34bb7ca7bfe_0_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5" name="Shape 2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6" name="Google Shape;2736;g34bb7ca7bfe_0_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7" name="Google Shape;2737;g34bb7ca7bfe_0_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4" name="Shape 2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" name="Google Shape;2765;g34bb7ca7bfe_0_9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6" name="Google Shape;2766;g34bb7ca7bfe_0_9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3" name="Shape 2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4" name="Google Shape;2794;g34bb7ca7bfe_0_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5" name="Google Shape;2795;g34bb7ca7bfe_0_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2" name="Shape 2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3" name="Google Shape;2823;g34bb7ca7bfe_0_1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4" name="Google Shape;2824;g34bb7ca7bfe_0_1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1" name="Shape 2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2" name="Google Shape;2852;g34bb7ca7bfe_0_10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3" name="Google Shape;2853;g34bb7ca7bfe_0_1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0" name="Shape 2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1" name="Google Shape;2881;g34bb7ca7bfe_0_10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2" name="Google Shape;2882;g34bb7ca7bfe_0_10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9" name="Shape 2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0" name="Google Shape;2910;g34bb7ca7bfe_0_10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1" name="Google Shape;2911;g34bb7ca7bfe_0_1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8" name="Shape 2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9" name="Google Shape;2939;g34bb7ca7bfe_0_1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0" name="Google Shape;2940;g34bb7ca7bfe_0_1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7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34bb7ca7bfe_0_1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34bb7ca7bfe_0_1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6" name="Shape 2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7" name="Google Shape;2997;g34bb7ca7bfe_0_1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8" name="Google Shape;2998;g34bb7ca7bfe_0_1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5" name="Shape 3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6" name="Google Shape;3026;g34bb7ca7bfe_0_1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7" name="Google Shape;3027;g34bb7ca7bfe_0_1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4" name="Shape 3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5" name="Google Shape;3055;g34bb7ca7bfe_0_1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6" name="Google Shape;3056;g34bb7ca7bfe_0_1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3" name="Shape 3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4" name="Google Shape;3084;g34bb7ca7bfe_0_1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5" name="Google Shape;3085;g34bb7ca7bfe_0_1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2" name="Shape 3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3" name="Google Shape;3113;g34bb7ca7bfe_0_1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4" name="Google Shape;3114;g34bb7ca7bfe_0_1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2" name="Shape 3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" name="Google Shape;3143;g34bb7ca7bfe_0_1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4" name="Google Shape;3144;g34bb7ca7bfe_0_1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3" name="Shape 3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" name="Google Shape;3174;g34bb7ca7bfe_0_1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5" name="Google Shape;3175;g34bb7ca7bfe_0_1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4" name="Shape 3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" name="Google Shape;3205;g34bb7ca7bfe_0_1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6" name="Google Shape;3206;g34bb7ca7bfe_0_1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3" name="Shape 3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4" name="Google Shape;3234;g34bb7ca7bfe_0_1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5" name="Google Shape;3235;g34bb7ca7bfe_0_1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3" name="Shape 3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4" name="Google Shape;3264;g34bb7ca7bfe_0_1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5" name="Google Shape;3265;g34bb7ca7bfe_0_1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8" name="Shape 3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9" name="Google Shape;3269;g3daa83e332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0" name="Google Shape;3270;g3daa83e332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3" name="Shape 3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4" name="Google Shape;3294;g3daa83e332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5" name="Google Shape;3295;g3daa83e332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8" name="Shape 3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9" name="Google Shape;3319;g3daa83e332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0" name="Google Shape;3320;g3daa83e332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3" name="Shape 3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4" name="Google Shape;3344;g3daa83e332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5" name="Google Shape;3345;g3daa83e332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8" name="Shape 3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9" name="Google Shape;3369;g3daa83e33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0" name="Google Shape;3370;g3daa83e33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3" name="Shape 3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4" name="Google Shape;3374;g34bb7ca7bfe_0_1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5" name="Google Shape;3375;g34bb7ca7bfe_0_1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4" name="Shape 3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5" name="Google Shape;3395;g34bb7ca7bfe_0_1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6" name="Google Shape;3396;g34bb7ca7bfe_0_1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5" name="Shape 3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6" name="Google Shape;3416;g34bb7ca7bfe_0_1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7" name="Google Shape;3417;g34bb7ca7bfe_0_1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6" name="Shape 3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7" name="Google Shape;3437;g34bb7ca7bfe_0_1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8" name="Google Shape;3438;g34bb7ca7bfe_0_1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7" name="Shape 3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8" name="Google Shape;3458;g34bb7ca7bfe_0_1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9" name="Google Shape;3459;g34bb7ca7bfe_0_1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8" name="Shape 3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9" name="Google Shape;3479;g34bb7ca7bfe_0_1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0" name="Google Shape;3480;g34bb7ca7bfe_0_1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9" name="Shape 3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0" name="Google Shape;3500;g34bb7ca7bfe_0_1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1" name="Google Shape;3501;g34bb7ca7bfe_0_1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1" name="Shape 3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" name="Google Shape;3522;g34bb7ca7bfe_0_1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3" name="Google Shape;3523;g34bb7ca7bfe_0_1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2" name="Shape 3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" name="Google Shape;3543;g34bb7ca7bfe_0_1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4" name="Google Shape;3544;g34bb7ca7bfe_0_1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8" name="Shape 3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9" name="Google Shape;3569;g34bb7ca7bfe_0_1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0" name="Google Shape;3570;g34bb7ca7bfe_0_1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4" name="Shape 3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5" name="Google Shape;3595;g34bb7ca7bfe_0_1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6" name="Google Shape;3596;g34bb7ca7bfe_0_1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7" name="Shape 3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8" name="Google Shape;3618;g34bb7ca7bfe_0_1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9" name="Google Shape;3619;g34bb7ca7bfe_0_1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0" name="Shape 3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1" name="Google Shape;3641;g34bb7ca7bfe_0_1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2" name="Google Shape;3642;g34bb7ca7bfe_0_1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4" name="Shape 3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" name="Google Shape;3665;g34bb7ca7bfe_0_1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6" name="Google Shape;3666;g34bb7ca7bfe_0_1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7" name="Shape 3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8" name="Google Shape;3688;g34bb7ca7bfe_0_1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9" name="Google Shape;3689;g34bb7ca7bfe_0_1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0" name="Shape 3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1" name="Google Shape;3711;g34bb7ca7bfe_0_1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2" name="Google Shape;3712;g34bb7ca7bfe_0_1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3" name="Shape 3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4" name="Google Shape;3734;g34bb7ca7bfe_0_1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5" name="Google Shape;3735;g34bb7ca7bfe_0_1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Indirect Connections in Networks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Indirect relationships</a:t>
            </a:r>
            <a:endParaRPr/>
          </a:p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</a:t>
            </a:r>
            <a:r>
              <a:rPr lang="en"/>
              <a:t> relations get at </a:t>
            </a:r>
            <a:r>
              <a:rPr b="1" lang="en"/>
              <a:t>direct</a:t>
            </a:r>
            <a:r>
              <a:rPr lang="en"/>
              <a:t> connections between vertices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7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" name="Google Shape;118;p27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9" name="Google Shape;119;p27"/>
          <p:cNvCxnSpPr>
            <a:stCxn id="117" idx="6"/>
            <a:endCxn id="118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27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1" name="Google Shape;121;p27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2" name="Google Shape;122;p27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3" name="Google Shape;123;p27"/>
          <p:cNvCxnSpPr>
            <a:stCxn id="118" idx="7"/>
            <a:endCxn id="120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27"/>
          <p:cNvCxnSpPr>
            <a:stCxn id="122" idx="1"/>
            <a:endCxn id="120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27"/>
          <p:cNvCxnSpPr>
            <a:stCxn id="122" idx="3"/>
            <a:endCxn id="121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27"/>
          <p:cNvCxnSpPr>
            <a:stCxn id="121" idx="1"/>
            <a:endCxn id="118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27"/>
          <p:cNvCxnSpPr>
            <a:stCxn id="121" idx="0"/>
            <a:endCxn id="120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Indirect relationships</a:t>
            </a:r>
            <a:endParaRPr/>
          </a:p>
        </p:txBody>
      </p:sp>
      <p:sp>
        <p:nvSpPr>
          <p:cNvPr id="133" name="Google Shape;133;p28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</a:t>
            </a:r>
            <a:r>
              <a:rPr lang="en"/>
              <a:t> relations get at </a:t>
            </a:r>
            <a:r>
              <a:rPr b="1" lang="en"/>
              <a:t>direct</a:t>
            </a:r>
            <a:r>
              <a:rPr lang="en"/>
              <a:t> connections between vertices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8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5" name="Google Shape;135;p28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6" name="Google Shape;136;p28"/>
          <p:cNvCxnSpPr>
            <a:stCxn id="134" idx="6"/>
            <a:endCxn id="135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28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8" name="Google Shape;138;p28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" name="Google Shape;139;p28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0" name="Google Shape;140;p28"/>
          <p:cNvCxnSpPr>
            <a:stCxn id="135" idx="7"/>
            <a:endCxn id="13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28"/>
          <p:cNvCxnSpPr>
            <a:stCxn id="139" idx="1"/>
            <a:endCxn id="137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28"/>
          <p:cNvCxnSpPr>
            <a:stCxn id="139" idx="3"/>
            <a:endCxn id="138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28"/>
          <p:cNvCxnSpPr>
            <a:stCxn id="138" idx="1"/>
            <a:endCxn id="135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28"/>
          <p:cNvCxnSpPr>
            <a:stCxn id="138" idx="0"/>
            <a:endCxn id="137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" name="Google Shape;145;p28"/>
          <p:cNvSpPr txBox="1"/>
          <p:nvPr/>
        </p:nvSpPr>
        <p:spPr>
          <a:xfrm>
            <a:off x="5460650" y="725375"/>
            <a:ext cx="15933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E and C are Adjacent Vertices</a:t>
            </a:r>
            <a:endParaRPr sz="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46" name="Google Shape;146;p28"/>
          <p:cNvCxnSpPr>
            <a:stCxn id="145" idx="2"/>
            <a:endCxn id="135" idx="0"/>
          </p:cNvCxnSpPr>
          <p:nvPr/>
        </p:nvCxnSpPr>
        <p:spPr>
          <a:xfrm>
            <a:off x="6257300" y="1287575"/>
            <a:ext cx="19200" cy="131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28"/>
          <p:cNvCxnSpPr>
            <a:stCxn id="145" idx="2"/>
            <a:endCxn id="137" idx="2"/>
          </p:cNvCxnSpPr>
          <p:nvPr/>
        </p:nvCxnSpPr>
        <p:spPr>
          <a:xfrm>
            <a:off x="6257300" y="1287575"/>
            <a:ext cx="874200" cy="500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Indirect relationships</a:t>
            </a:r>
            <a:endParaRPr/>
          </a:p>
        </p:txBody>
      </p:sp>
      <p:sp>
        <p:nvSpPr>
          <p:cNvPr id="153" name="Google Shape;153;p29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</a:t>
            </a:r>
            <a:r>
              <a:rPr lang="en"/>
              <a:t> relations get at </a:t>
            </a:r>
            <a:r>
              <a:rPr b="1" lang="en"/>
              <a:t>direct</a:t>
            </a:r>
            <a:r>
              <a:rPr lang="en"/>
              <a:t> connections between vertices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sometimes we are interested in </a:t>
            </a:r>
            <a:r>
              <a:rPr b="1" lang="en"/>
              <a:t>indirect connections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and D are “connected” in the sense that they have a neighbor (E) in common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9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5" name="Google Shape;155;p29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6" name="Google Shape;156;p29"/>
          <p:cNvCxnSpPr>
            <a:stCxn id="154" idx="6"/>
            <a:endCxn id="155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29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8" name="Google Shape;158;p29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9" name="Google Shape;159;p29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0" name="Google Shape;160;p29"/>
          <p:cNvCxnSpPr>
            <a:stCxn id="155" idx="7"/>
            <a:endCxn id="15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29"/>
          <p:cNvCxnSpPr>
            <a:stCxn id="159" idx="1"/>
            <a:endCxn id="157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29"/>
          <p:cNvCxnSpPr>
            <a:stCxn id="159" idx="3"/>
            <a:endCxn id="158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9"/>
          <p:cNvCxnSpPr>
            <a:stCxn id="158" idx="1"/>
            <a:endCxn id="155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29"/>
          <p:cNvCxnSpPr>
            <a:stCxn id="158" idx="0"/>
            <a:endCxn id="157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9"/>
          <p:cNvSpPr txBox="1"/>
          <p:nvPr/>
        </p:nvSpPr>
        <p:spPr>
          <a:xfrm>
            <a:off x="4677750" y="4342950"/>
            <a:ext cx="20040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What’s the relation between B and D?</a:t>
            </a:r>
            <a:endParaRPr sz="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66" name="Google Shape;166;p29"/>
          <p:cNvCxnSpPr>
            <a:stCxn id="165" idx="0"/>
            <a:endCxn id="154" idx="4"/>
          </p:cNvCxnSpPr>
          <p:nvPr/>
        </p:nvCxnSpPr>
        <p:spPr>
          <a:xfrm rot="10800000">
            <a:off x="4935750" y="3202950"/>
            <a:ext cx="744000" cy="114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29"/>
          <p:cNvCxnSpPr>
            <a:stCxn id="165" idx="0"/>
            <a:endCxn id="158" idx="2"/>
          </p:cNvCxnSpPr>
          <p:nvPr/>
        </p:nvCxnSpPr>
        <p:spPr>
          <a:xfrm flipH="1" rot="10800000">
            <a:off x="5679750" y="3974850"/>
            <a:ext cx="1451700" cy="368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Indirect relationships</a:t>
            </a:r>
            <a:endParaRPr/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</a:t>
            </a:r>
            <a:r>
              <a:rPr lang="en"/>
              <a:t> relations get at </a:t>
            </a:r>
            <a:r>
              <a:rPr b="1" lang="en"/>
              <a:t>direct</a:t>
            </a:r>
            <a:r>
              <a:rPr lang="en"/>
              <a:t> connections between vertices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sometimes we are interested in </a:t>
            </a:r>
            <a:r>
              <a:rPr b="1" lang="en"/>
              <a:t>indirect connections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and D are “connected” in the sense that they have a neighbor (E) in common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they are </a:t>
            </a:r>
            <a:r>
              <a:rPr i="1" lang="en"/>
              <a:t>not</a:t>
            </a:r>
            <a:r>
              <a:rPr lang="en"/>
              <a:t> </a:t>
            </a:r>
            <a:r>
              <a:rPr b="1" lang="en"/>
              <a:t>adjacent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0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5" name="Google Shape;175;p30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6" name="Google Shape;176;p30"/>
          <p:cNvCxnSpPr>
            <a:stCxn id="174" idx="6"/>
            <a:endCxn id="175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30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8" name="Google Shape;178;p30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9" name="Google Shape;179;p30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80" name="Google Shape;180;p30"/>
          <p:cNvCxnSpPr>
            <a:stCxn id="175" idx="7"/>
            <a:endCxn id="17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30"/>
          <p:cNvCxnSpPr>
            <a:stCxn id="179" idx="1"/>
            <a:endCxn id="177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30"/>
          <p:cNvCxnSpPr>
            <a:stCxn id="179" idx="3"/>
            <a:endCxn id="178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30"/>
          <p:cNvCxnSpPr>
            <a:stCxn id="178" idx="1"/>
            <a:endCxn id="175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30"/>
          <p:cNvCxnSpPr>
            <a:stCxn id="178" idx="0"/>
            <a:endCxn id="177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30"/>
          <p:cNvSpPr txBox="1"/>
          <p:nvPr/>
        </p:nvSpPr>
        <p:spPr>
          <a:xfrm>
            <a:off x="4677750" y="4342950"/>
            <a:ext cx="20040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What’s the relation between B and D?</a:t>
            </a:r>
            <a:endParaRPr sz="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86" name="Google Shape;186;p30"/>
          <p:cNvCxnSpPr>
            <a:stCxn id="185" idx="0"/>
            <a:endCxn id="174" idx="4"/>
          </p:cNvCxnSpPr>
          <p:nvPr/>
        </p:nvCxnSpPr>
        <p:spPr>
          <a:xfrm rot="10800000">
            <a:off x="4935750" y="3202950"/>
            <a:ext cx="744000" cy="114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30"/>
          <p:cNvCxnSpPr>
            <a:stCxn id="185" idx="0"/>
            <a:endCxn id="178" idx="2"/>
          </p:cNvCxnSpPr>
          <p:nvPr/>
        </p:nvCxnSpPr>
        <p:spPr>
          <a:xfrm flipH="1" rot="10800000">
            <a:off x="5679750" y="3974850"/>
            <a:ext cx="1451700" cy="368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Indirect relationships</a:t>
            </a:r>
            <a:endParaRPr/>
          </a:p>
        </p:txBody>
      </p:sp>
      <p:sp>
        <p:nvSpPr>
          <p:cNvPr id="193" name="Google Shape;193;p31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</a:t>
            </a:r>
            <a:r>
              <a:rPr lang="en"/>
              <a:t> relations get at </a:t>
            </a:r>
            <a:r>
              <a:rPr b="1" lang="en"/>
              <a:t>direct</a:t>
            </a:r>
            <a:r>
              <a:rPr lang="en"/>
              <a:t> connections between vertices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sometimes we are interested in </a:t>
            </a:r>
            <a:r>
              <a:rPr b="1" lang="en"/>
              <a:t>indirect connections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and D are “connected” in the sense that they have a neighbor (E) in common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they are </a:t>
            </a:r>
            <a:r>
              <a:rPr i="1" lang="en"/>
              <a:t>not</a:t>
            </a:r>
            <a:r>
              <a:rPr lang="en"/>
              <a:t> </a:t>
            </a:r>
            <a:r>
              <a:rPr b="1" lang="en"/>
              <a:t>adjacent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a type of </a:t>
            </a:r>
            <a:r>
              <a:rPr b="1" lang="en"/>
              <a:t>indirect connection </a:t>
            </a:r>
            <a:r>
              <a:rPr lang="en"/>
              <a:t>between vertices in a graph</a:t>
            </a:r>
            <a:endParaRPr/>
          </a:p>
        </p:txBody>
      </p:sp>
      <p:sp>
        <p:nvSpPr>
          <p:cNvPr id="194" name="Google Shape;194;p31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5" name="Google Shape;195;p31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6" name="Google Shape;196;p31"/>
          <p:cNvCxnSpPr>
            <a:stCxn id="194" idx="6"/>
            <a:endCxn id="195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31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8" name="Google Shape;198;p31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9" name="Google Shape;199;p31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0" name="Google Shape;200;p31"/>
          <p:cNvCxnSpPr>
            <a:stCxn id="195" idx="7"/>
            <a:endCxn id="19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31"/>
          <p:cNvCxnSpPr>
            <a:stCxn id="199" idx="1"/>
            <a:endCxn id="197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31"/>
          <p:cNvCxnSpPr>
            <a:stCxn id="199" idx="3"/>
            <a:endCxn id="198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31"/>
          <p:cNvCxnSpPr>
            <a:stCxn id="198" idx="1"/>
            <a:endCxn id="195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31"/>
          <p:cNvCxnSpPr>
            <a:stCxn id="198" idx="0"/>
            <a:endCxn id="197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31"/>
          <p:cNvSpPr txBox="1"/>
          <p:nvPr/>
        </p:nvSpPr>
        <p:spPr>
          <a:xfrm>
            <a:off x="4677750" y="4342950"/>
            <a:ext cx="20040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What’s the relation between B and D?</a:t>
            </a:r>
            <a:endParaRPr sz="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06" name="Google Shape;206;p31"/>
          <p:cNvCxnSpPr>
            <a:stCxn id="205" idx="0"/>
            <a:endCxn id="194" idx="4"/>
          </p:cNvCxnSpPr>
          <p:nvPr/>
        </p:nvCxnSpPr>
        <p:spPr>
          <a:xfrm rot="10800000">
            <a:off x="4935750" y="3202950"/>
            <a:ext cx="744000" cy="114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" name="Google Shape;207;p31"/>
          <p:cNvCxnSpPr>
            <a:stCxn id="205" idx="0"/>
            <a:endCxn id="198" idx="2"/>
          </p:cNvCxnSpPr>
          <p:nvPr/>
        </p:nvCxnSpPr>
        <p:spPr>
          <a:xfrm flipH="1" rot="10800000">
            <a:off x="5679750" y="3974850"/>
            <a:ext cx="1451700" cy="368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Indirect relationships</a:t>
            </a:r>
            <a:endParaRPr/>
          </a:p>
        </p:txBody>
      </p:sp>
      <p:sp>
        <p:nvSpPr>
          <p:cNvPr id="213" name="Google Shape;213;p32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</a:t>
            </a:r>
            <a:r>
              <a:rPr lang="en"/>
              <a:t> relations get at </a:t>
            </a:r>
            <a:r>
              <a:rPr b="1" lang="en"/>
              <a:t>direct</a:t>
            </a:r>
            <a:r>
              <a:rPr lang="en"/>
              <a:t> connections between vertices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sometimes we are interested in </a:t>
            </a:r>
            <a:r>
              <a:rPr b="1" lang="en"/>
              <a:t>indirect connections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graph theory indirect connections are defined using the concepts of: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Path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Connectivity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Reachability</a:t>
            </a:r>
            <a:endParaRPr i="1"/>
          </a:p>
        </p:txBody>
      </p:sp>
      <p:sp>
        <p:nvSpPr>
          <p:cNvPr id="214" name="Google Shape;214;p32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5" name="Google Shape;215;p32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6" name="Google Shape;216;p32"/>
          <p:cNvCxnSpPr>
            <a:stCxn id="214" idx="6"/>
            <a:endCxn id="215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" name="Google Shape;217;p32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8" name="Google Shape;218;p32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9" name="Google Shape;219;p32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0" name="Google Shape;220;p32"/>
          <p:cNvCxnSpPr>
            <a:stCxn id="215" idx="7"/>
            <a:endCxn id="21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32"/>
          <p:cNvCxnSpPr>
            <a:stCxn id="219" idx="1"/>
            <a:endCxn id="217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32"/>
          <p:cNvCxnSpPr>
            <a:stCxn id="219" idx="3"/>
            <a:endCxn id="218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32"/>
          <p:cNvCxnSpPr>
            <a:stCxn id="218" idx="1"/>
            <a:endCxn id="215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32"/>
          <p:cNvCxnSpPr>
            <a:stCxn id="218" idx="0"/>
            <a:endCxn id="217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32"/>
          <p:cNvSpPr txBox="1"/>
          <p:nvPr/>
        </p:nvSpPr>
        <p:spPr>
          <a:xfrm>
            <a:off x="4677750" y="4342950"/>
            <a:ext cx="20040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What’s the relation between B and D?</a:t>
            </a:r>
            <a:endParaRPr sz="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6" name="Google Shape;226;p32"/>
          <p:cNvCxnSpPr>
            <a:stCxn id="225" idx="0"/>
            <a:endCxn id="214" idx="4"/>
          </p:cNvCxnSpPr>
          <p:nvPr/>
        </p:nvCxnSpPr>
        <p:spPr>
          <a:xfrm rot="10800000">
            <a:off x="4935750" y="3202950"/>
            <a:ext cx="744000" cy="114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32"/>
          <p:cNvCxnSpPr>
            <a:stCxn id="225" idx="0"/>
            <a:endCxn id="218" idx="2"/>
          </p:cNvCxnSpPr>
          <p:nvPr/>
        </p:nvCxnSpPr>
        <p:spPr>
          <a:xfrm flipH="1" rot="10800000">
            <a:off x="5679750" y="3974850"/>
            <a:ext cx="1451700" cy="368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238" name="Google Shape;238;p34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graph theory a </a:t>
            </a:r>
            <a:r>
              <a:rPr b="1" lang="en"/>
              <a:t>path</a:t>
            </a:r>
            <a:r>
              <a:rPr lang="en"/>
              <a:t> is a sequence of alternating nodes and edges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Begins with an </a:t>
            </a:r>
            <a:r>
              <a:rPr b="1" lang="en"/>
              <a:t>origin node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Ends with a </a:t>
            </a:r>
            <a:r>
              <a:rPr b="1" lang="en"/>
              <a:t>destination node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Includes at least </a:t>
            </a:r>
            <a:r>
              <a:rPr b="1" lang="en"/>
              <a:t>one more node </a:t>
            </a:r>
            <a:r>
              <a:rPr lang="en"/>
              <a:t>beyond these two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Does </a:t>
            </a:r>
            <a:r>
              <a:rPr b="1" lang="en"/>
              <a:t>not</a:t>
            </a:r>
            <a:r>
              <a:rPr lang="en"/>
              <a:t> repeat any nodes in the sequence</a:t>
            </a:r>
            <a:endParaRPr/>
          </a:p>
        </p:txBody>
      </p:sp>
      <p:sp>
        <p:nvSpPr>
          <p:cNvPr id="239" name="Google Shape;239;p34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0" name="Google Shape;240;p34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1" name="Google Shape;241;p34"/>
          <p:cNvCxnSpPr>
            <a:stCxn id="239" idx="6"/>
            <a:endCxn id="240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34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3" name="Google Shape;243;p34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4" name="Google Shape;244;p34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5" name="Google Shape;245;p34"/>
          <p:cNvCxnSpPr>
            <a:stCxn id="240" idx="7"/>
            <a:endCxn id="242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34"/>
          <p:cNvCxnSpPr>
            <a:stCxn id="244" idx="1"/>
            <a:endCxn id="242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34"/>
          <p:cNvCxnSpPr>
            <a:stCxn id="244" idx="3"/>
            <a:endCxn id="243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34"/>
          <p:cNvCxnSpPr>
            <a:stCxn id="243" idx="1"/>
            <a:endCxn id="240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34"/>
          <p:cNvCxnSpPr>
            <a:stCxn id="243" idx="0"/>
            <a:endCxn id="242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255" name="Google Shape;255;p35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usually write the path using the edge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B―D = {BE, ED}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say that node B can </a:t>
            </a:r>
            <a:r>
              <a:rPr b="1" lang="en"/>
              <a:t>reach</a:t>
            </a:r>
            <a:r>
              <a:rPr lang="en"/>
              <a:t> node D via a path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5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7" name="Google Shape;257;p35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8" name="Google Shape;258;p35"/>
          <p:cNvCxnSpPr>
            <a:stCxn id="256" idx="6"/>
            <a:endCxn id="257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35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0" name="Google Shape;260;p35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1" name="Google Shape;261;p35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62" name="Google Shape;262;p35"/>
          <p:cNvCxnSpPr>
            <a:stCxn id="257" idx="7"/>
            <a:endCxn id="259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35"/>
          <p:cNvCxnSpPr>
            <a:stCxn id="261" idx="1"/>
            <a:endCxn id="259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35"/>
          <p:cNvCxnSpPr>
            <a:stCxn id="261" idx="3"/>
            <a:endCxn id="260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35"/>
          <p:cNvCxnSpPr>
            <a:stCxn id="260" idx="1"/>
            <a:endCxn id="257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35"/>
          <p:cNvCxnSpPr>
            <a:stCxn id="260" idx="0"/>
            <a:endCxn id="259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35"/>
          <p:cNvSpPr/>
          <p:nvPr/>
        </p:nvSpPr>
        <p:spPr>
          <a:xfrm>
            <a:off x="4354300" y="3934749"/>
            <a:ext cx="2525400" cy="10560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Node B can reach node D via the {BE, ED} path!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68" name="Google Shape;268;p35"/>
          <p:cNvCxnSpPr>
            <a:stCxn id="267" idx="0"/>
          </p:cNvCxnSpPr>
          <p:nvPr/>
        </p:nvCxnSpPr>
        <p:spPr>
          <a:xfrm flipH="1" rot="10800000">
            <a:off x="5617000" y="3456249"/>
            <a:ext cx="794700" cy="478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274" name="Google Shape;274;p36"/>
          <p:cNvSpPr txBox="1"/>
          <p:nvPr>
            <p:ph idx="1" type="body"/>
          </p:nvPr>
        </p:nvSpPr>
        <p:spPr>
          <a:xfrm>
            <a:off x="311700" y="1225225"/>
            <a:ext cx="426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 graph</a:t>
            </a:r>
            <a:r>
              <a:rPr lang="en"/>
              <a:t> if a given path exists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B―D = {BE, ED}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the reverse path also exists!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D―B = {DE, EB}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6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6" name="Google Shape;276;p36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7" name="Google Shape;277;p36"/>
          <p:cNvCxnSpPr>
            <a:stCxn id="275" idx="6"/>
            <a:endCxn id="276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36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9" name="Google Shape;279;p36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0" name="Google Shape;280;p36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81" name="Google Shape;281;p36"/>
          <p:cNvCxnSpPr>
            <a:stCxn id="276" idx="7"/>
            <a:endCxn id="278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36"/>
          <p:cNvCxnSpPr>
            <a:stCxn id="280" idx="1"/>
            <a:endCxn id="278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6"/>
          <p:cNvCxnSpPr>
            <a:stCxn id="280" idx="3"/>
            <a:endCxn id="279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6"/>
          <p:cNvCxnSpPr>
            <a:stCxn id="279" idx="1"/>
            <a:endCxn id="276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36"/>
          <p:cNvCxnSpPr>
            <a:stCxn id="279" idx="0"/>
            <a:endCxn id="278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6" name="Google Shape;286;p36"/>
          <p:cNvSpPr/>
          <p:nvPr/>
        </p:nvSpPr>
        <p:spPr>
          <a:xfrm>
            <a:off x="4354300" y="3934749"/>
            <a:ext cx="2525400" cy="10560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Node D can also reach node B via the {DE, EB} path!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87" name="Google Shape;287;p36"/>
          <p:cNvCxnSpPr>
            <a:stCxn id="286" idx="0"/>
          </p:cNvCxnSpPr>
          <p:nvPr/>
        </p:nvCxnSpPr>
        <p:spPr>
          <a:xfrm flipH="1" rot="10800000">
            <a:off x="5617000" y="3456249"/>
            <a:ext cx="794700" cy="478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293" name="Google Shape;293;p37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B―D = {BE, ED} path: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is the </a:t>
            </a:r>
            <a:r>
              <a:rPr b="1" lang="en"/>
              <a:t>origin node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 is the </a:t>
            </a:r>
            <a:r>
              <a:rPr b="1" lang="en"/>
              <a:t>destination node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 is the </a:t>
            </a:r>
            <a:r>
              <a:rPr b="1" lang="en"/>
              <a:t>inner node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 that if the path was instead D―B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Then D would be the origin and B the destination!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Even in undirected graphs paths have a direction!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7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5" name="Google Shape;295;p37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6" name="Google Shape;296;p37"/>
          <p:cNvCxnSpPr>
            <a:stCxn id="294" idx="6"/>
            <a:endCxn id="295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" name="Google Shape;297;p37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8" name="Google Shape;298;p37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9" name="Google Shape;299;p37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0" name="Google Shape;300;p37"/>
          <p:cNvCxnSpPr>
            <a:stCxn id="295" idx="7"/>
            <a:endCxn id="29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37"/>
          <p:cNvCxnSpPr>
            <a:stCxn id="299" idx="1"/>
            <a:endCxn id="297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37"/>
          <p:cNvCxnSpPr>
            <a:stCxn id="299" idx="3"/>
            <a:endCxn id="298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37"/>
          <p:cNvCxnSpPr>
            <a:stCxn id="298" idx="1"/>
            <a:endCxn id="295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37"/>
          <p:cNvCxnSpPr>
            <a:stCxn id="298" idx="0"/>
            <a:endCxn id="297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37"/>
          <p:cNvSpPr txBox="1"/>
          <p:nvPr/>
        </p:nvSpPr>
        <p:spPr>
          <a:xfrm>
            <a:off x="4298050" y="1368450"/>
            <a:ext cx="1536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Origin node</a:t>
            </a:r>
            <a:endParaRPr b="1" sz="12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06" name="Google Shape;306;p37"/>
          <p:cNvCxnSpPr>
            <a:stCxn id="305" idx="2"/>
            <a:endCxn id="294" idx="0"/>
          </p:cNvCxnSpPr>
          <p:nvPr/>
        </p:nvCxnSpPr>
        <p:spPr>
          <a:xfrm flipH="1">
            <a:off x="4935550" y="1673550"/>
            <a:ext cx="130500" cy="928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7" name="Google Shape;307;p37"/>
          <p:cNvSpPr txBox="1"/>
          <p:nvPr/>
        </p:nvSpPr>
        <p:spPr>
          <a:xfrm>
            <a:off x="4103700" y="4579225"/>
            <a:ext cx="1536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Destination node</a:t>
            </a:r>
            <a:endParaRPr b="1" sz="12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08" name="Google Shape;308;p37"/>
          <p:cNvCxnSpPr>
            <a:stCxn id="307" idx="3"/>
            <a:endCxn id="298" idx="2"/>
          </p:cNvCxnSpPr>
          <p:nvPr/>
        </p:nvCxnSpPr>
        <p:spPr>
          <a:xfrm flipH="1" rot="10800000">
            <a:off x="5639700" y="3974875"/>
            <a:ext cx="1491900" cy="756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9" name="Google Shape;309;p37"/>
          <p:cNvSpPr txBox="1"/>
          <p:nvPr/>
        </p:nvSpPr>
        <p:spPr>
          <a:xfrm>
            <a:off x="4412925" y="3891625"/>
            <a:ext cx="1045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Inner node</a:t>
            </a:r>
            <a:endParaRPr b="1" sz="12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10" name="Google Shape;310;p37"/>
          <p:cNvCxnSpPr>
            <a:stCxn id="309" idx="3"/>
            <a:endCxn id="295" idx="3"/>
          </p:cNvCxnSpPr>
          <p:nvPr/>
        </p:nvCxnSpPr>
        <p:spPr>
          <a:xfrm flipH="1" rot="10800000">
            <a:off x="5458425" y="3114775"/>
            <a:ext cx="605400" cy="92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316" name="Google Shape;316;p38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B―D = {BE, ED} path: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is the </a:t>
            </a:r>
            <a:r>
              <a:rPr b="1" lang="en"/>
              <a:t>origin node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 is the </a:t>
            </a:r>
            <a:r>
              <a:rPr b="1" lang="en"/>
              <a:t>destination node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 is the </a:t>
            </a:r>
            <a:r>
              <a:rPr b="1" lang="en"/>
              <a:t>inner node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main characteristic of a path is its </a:t>
            </a:r>
            <a:r>
              <a:rPr b="1" lang="en"/>
              <a:t>length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length of a path is the </a:t>
            </a:r>
            <a:r>
              <a:rPr i="1" lang="en"/>
              <a:t>number of edges</a:t>
            </a:r>
            <a:r>
              <a:rPr lang="en"/>
              <a:t> in it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refer to path length using the letter </a:t>
            </a:r>
            <a:r>
              <a:rPr b="1" i="1" lang="en" sz="1500">
                <a:latin typeface="Garamond"/>
                <a:ea typeface="Garamond"/>
                <a:cs typeface="Garamond"/>
                <a:sym typeface="Garamond"/>
              </a:rPr>
              <a:t>l</a:t>
            </a:r>
            <a:endParaRPr b="1" i="1" sz="1500">
              <a:latin typeface="Garamond"/>
              <a:ea typeface="Garamond"/>
              <a:cs typeface="Garamond"/>
              <a:sym typeface="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the B―D path: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i="1" lang="en" sz="1500">
                <a:latin typeface="Garamond"/>
                <a:ea typeface="Garamond"/>
                <a:cs typeface="Garamond"/>
                <a:sym typeface="Garamond"/>
              </a:rPr>
              <a:t>l</a:t>
            </a:r>
            <a:r>
              <a:rPr lang="en"/>
              <a:t> = 2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8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8" name="Google Shape;318;p38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9" name="Google Shape;319;p38"/>
          <p:cNvCxnSpPr>
            <a:stCxn id="317" idx="6"/>
            <a:endCxn id="318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" name="Google Shape;320;p38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21" name="Google Shape;321;p38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22" name="Google Shape;322;p38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23" name="Google Shape;323;p38"/>
          <p:cNvCxnSpPr>
            <a:stCxn id="318" idx="7"/>
            <a:endCxn id="320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38"/>
          <p:cNvCxnSpPr>
            <a:stCxn id="322" idx="1"/>
            <a:endCxn id="320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38"/>
          <p:cNvCxnSpPr>
            <a:stCxn id="322" idx="3"/>
            <a:endCxn id="321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38"/>
          <p:cNvCxnSpPr>
            <a:stCxn id="321" idx="1"/>
            <a:endCxn id="318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38"/>
          <p:cNvCxnSpPr>
            <a:stCxn id="321" idx="0"/>
            <a:endCxn id="320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38"/>
          <p:cNvSpPr txBox="1"/>
          <p:nvPr/>
        </p:nvSpPr>
        <p:spPr>
          <a:xfrm>
            <a:off x="4677750" y="4342950"/>
            <a:ext cx="2004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A path of length two!</a:t>
            </a:r>
            <a:endParaRPr sz="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29" name="Google Shape;329;p38"/>
          <p:cNvCxnSpPr>
            <a:stCxn id="328" idx="0"/>
          </p:cNvCxnSpPr>
          <p:nvPr/>
        </p:nvCxnSpPr>
        <p:spPr>
          <a:xfrm flipH="1" rot="10800000">
            <a:off x="5679750" y="3374850"/>
            <a:ext cx="430200" cy="968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335" name="Google Shape;335;p39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same two nodes may be connected via </a:t>
            </a:r>
            <a:r>
              <a:rPr b="1" lang="en"/>
              <a:t>multiple paths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can reach A via: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9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37" name="Google Shape;337;p39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8" name="Google Shape;338;p39"/>
          <p:cNvCxnSpPr>
            <a:stCxn id="336" idx="6"/>
            <a:endCxn id="337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9" name="Google Shape;339;p39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0" name="Google Shape;340;p39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1" name="Google Shape;341;p39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2" name="Google Shape;342;p39"/>
          <p:cNvCxnSpPr>
            <a:stCxn id="337" idx="7"/>
            <a:endCxn id="339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39"/>
          <p:cNvCxnSpPr>
            <a:stCxn id="341" idx="1"/>
            <a:endCxn id="339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39"/>
          <p:cNvCxnSpPr>
            <a:stCxn id="341" idx="3"/>
            <a:endCxn id="340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39"/>
          <p:cNvCxnSpPr>
            <a:stCxn id="340" idx="1"/>
            <a:endCxn id="337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39"/>
          <p:cNvCxnSpPr>
            <a:stCxn id="340" idx="0"/>
            <a:endCxn id="339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352" name="Google Shape;352;p40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same two nodes may be connected via </a:t>
            </a:r>
            <a:r>
              <a:rPr b="1" lang="en"/>
              <a:t>multiple paths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can reach A via: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ED, DA}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0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4" name="Google Shape;354;p40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5" name="Google Shape;355;p40"/>
          <p:cNvCxnSpPr>
            <a:stCxn id="353" idx="6"/>
            <a:endCxn id="354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40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7" name="Google Shape;357;p40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8" name="Google Shape;358;p40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9" name="Google Shape;359;p40"/>
          <p:cNvCxnSpPr>
            <a:stCxn id="354" idx="7"/>
            <a:endCxn id="356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40"/>
          <p:cNvCxnSpPr>
            <a:stCxn id="358" idx="1"/>
            <a:endCxn id="356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40"/>
          <p:cNvCxnSpPr>
            <a:stCxn id="358" idx="3"/>
            <a:endCxn id="357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0"/>
          <p:cNvCxnSpPr>
            <a:stCxn id="357" idx="1"/>
            <a:endCxn id="354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40"/>
          <p:cNvCxnSpPr>
            <a:stCxn id="357" idx="0"/>
            <a:endCxn id="356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369" name="Google Shape;369;p41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same two nodes may be connected via </a:t>
            </a:r>
            <a:r>
              <a:rPr b="1" lang="en"/>
              <a:t>multiple paths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can reach A via: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ED, DA}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EC, CA}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1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1" name="Google Shape;371;p41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2" name="Google Shape;372;p41"/>
          <p:cNvCxnSpPr>
            <a:stCxn id="370" idx="6"/>
            <a:endCxn id="371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3" name="Google Shape;373;p41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4" name="Google Shape;374;p41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5" name="Google Shape;375;p41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6" name="Google Shape;376;p41"/>
          <p:cNvCxnSpPr>
            <a:stCxn id="371" idx="7"/>
            <a:endCxn id="373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41"/>
          <p:cNvCxnSpPr>
            <a:stCxn id="375" idx="1"/>
            <a:endCxn id="373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41"/>
          <p:cNvCxnSpPr>
            <a:stCxn id="375" idx="3"/>
            <a:endCxn id="374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41"/>
          <p:cNvCxnSpPr>
            <a:stCxn id="374" idx="1"/>
            <a:endCxn id="371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" name="Google Shape;380;p41"/>
          <p:cNvCxnSpPr>
            <a:stCxn id="374" idx="0"/>
            <a:endCxn id="373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386" name="Google Shape;386;p42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same two nodes may be connected via </a:t>
            </a:r>
            <a:r>
              <a:rPr b="1" lang="en"/>
              <a:t>multiple paths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can reach A via: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ED, DA}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EC, CA}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ED, DC, CA}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2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8" name="Google Shape;388;p42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9" name="Google Shape;389;p42"/>
          <p:cNvCxnSpPr>
            <a:stCxn id="387" idx="6"/>
            <a:endCxn id="388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0" name="Google Shape;390;p42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1" name="Google Shape;391;p42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2" name="Google Shape;392;p42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3" name="Google Shape;393;p42"/>
          <p:cNvCxnSpPr>
            <a:stCxn id="388" idx="7"/>
            <a:endCxn id="390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42"/>
          <p:cNvCxnSpPr>
            <a:stCxn id="392" idx="1"/>
            <a:endCxn id="390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42"/>
          <p:cNvCxnSpPr>
            <a:stCxn id="392" idx="3"/>
            <a:endCxn id="391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" name="Google Shape;396;p42"/>
          <p:cNvCxnSpPr>
            <a:stCxn id="391" idx="1"/>
            <a:endCxn id="388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" name="Google Shape;397;p42"/>
          <p:cNvCxnSpPr>
            <a:stCxn id="391" idx="0"/>
            <a:endCxn id="390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403" name="Google Shape;403;p43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same two nodes may be connected via </a:t>
            </a:r>
            <a:r>
              <a:rPr b="1" lang="en"/>
              <a:t>multiple paths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can reach A via: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ED, DA}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EC, CA}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ED, DC, CA}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EC, CD, DA}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3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5" name="Google Shape;405;p43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6" name="Google Shape;406;p43"/>
          <p:cNvCxnSpPr>
            <a:stCxn id="404" idx="6"/>
            <a:endCxn id="405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7" name="Google Shape;407;p43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8" name="Google Shape;408;p43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9" name="Google Shape;409;p43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0" name="Google Shape;410;p43"/>
          <p:cNvCxnSpPr>
            <a:stCxn id="405" idx="7"/>
            <a:endCxn id="40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43"/>
          <p:cNvCxnSpPr>
            <a:stCxn id="409" idx="1"/>
            <a:endCxn id="407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43"/>
          <p:cNvCxnSpPr>
            <a:stCxn id="409" idx="3"/>
            <a:endCxn id="408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43"/>
          <p:cNvCxnSpPr>
            <a:stCxn id="408" idx="1"/>
            <a:endCxn id="405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43"/>
          <p:cNvCxnSpPr>
            <a:stCxn id="408" idx="0"/>
            <a:endCxn id="407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420" name="Google Shape;420;p44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same two nodes may be connected via </a:t>
            </a:r>
            <a:r>
              <a:rPr b="1" lang="en"/>
              <a:t>multiple paths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can reach A via: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ED, DA}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EC, CA}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ED, DC, CA}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EC, CD, DA}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paths are different lengths!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4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22" name="Google Shape;422;p44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3" name="Google Shape;423;p44"/>
          <p:cNvCxnSpPr>
            <a:stCxn id="421" idx="6"/>
            <a:endCxn id="422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4" name="Google Shape;424;p44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25" name="Google Shape;425;p44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26" name="Google Shape;426;p44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7" name="Google Shape;427;p44"/>
          <p:cNvCxnSpPr>
            <a:stCxn id="422" idx="7"/>
            <a:endCxn id="42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44"/>
          <p:cNvCxnSpPr>
            <a:stCxn id="426" idx="1"/>
            <a:endCxn id="424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" name="Google Shape;429;p44"/>
          <p:cNvCxnSpPr>
            <a:stCxn id="426" idx="3"/>
            <a:endCxn id="425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" name="Google Shape;430;p44"/>
          <p:cNvCxnSpPr>
            <a:stCxn id="425" idx="1"/>
            <a:endCxn id="422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" name="Google Shape;431;p44"/>
          <p:cNvCxnSpPr>
            <a:stCxn id="425" idx="0"/>
            <a:endCxn id="424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</a:t>
            </a:r>
            <a:endParaRPr/>
          </a:p>
        </p:txBody>
      </p:sp>
      <p:sp>
        <p:nvSpPr>
          <p:cNvPr id="437" name="Google Shape;437;p45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same two nodes may be connected via </a:t>
            </a:r>
            <a:r>
              <a:rPr b="1" lang="en"/>
              <a:t>multiple paths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can reach A via: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b="1" lang="en">
                <a:solidFill>
                  <a:srgbClr val="FF0000"/>
                </a:solidFill>
              </a:rPr>
              <a:t>{BE, ED, DA}</a:t>
            </a:r>
            <a:endParaRPr b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b="1" lang="en">
                <a:solidFill>
                  <a:srgbClr val="FF0000"/>
                </a:solidFill>
              </a:rPr>
              <a:t>{BE, EC, CA}</a:t>
            </a:r>
            <a:endParaRPr b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ED, DC, CA}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{BE, EC, CD, DA}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paths are different lengths!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the </a:t>
            </a:r>
            <a:r>
              <a:rPr b="1" lang="en"/>
              <a:t>shortest path(s) </a:t>
            </a:r>
            <a:r>
              <a:rPr lang="en"/>
              <a:t>connecting B and A is: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i="1" lang="en" sz="1500">
                <a:latin typeface="Garamond"/>
                <a:ea typeface="Garamond"/>
                <a:cs typeface="Garamond"/>
                <a:sym typeface="Garamond"/>
              </a:rPr>
              <a:t>l</a:t>
            </a:r>
            <a:r>
              <a:rPr lang="en"/>
              <a:t> =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45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39" name="Google Shape;439;p45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40" name="Google Shape;440;p45"/>
          <p:cNvCxnSpPr>
            <a:stCxn id="438" idx="6"/>
            <a:endCxn id="439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1" name="Google Shape;441;p45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42" name="Google Shape;442;p45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43" name="Google Shape;443;p45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44" name="Google Shape;444;p45"/>
          <p:cNvCxnSpPr>
            <a:stCxn id="439" idx="7"/>
            <a:endCxn id="441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45"/>
          <p:cNvCxnSpPr>
            <a:stCxn id="443" idx="1"/>
            <a:endCxn id="441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45"/>
          <p:cNvCxnSpPr>
            <a:stCxn id="443" idx="3"/>
            <a:endCxn id="442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45"/>
          <p:cNvCxnSpPr>
            <a:stCxn id="442" idx="1"/>
            <a:endCxn id="439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45"/>
          <p:cNvCxnSpPr>
            <a:stCxn id="442" idx="0"/>
            <a:endCxn id="441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Cycles</a:t>
            </a:r>
            <a:endParaRPr/>
          </a:p>
        </p:txBody>
      </p:sp>
      <p:sp>
        <p:nvSpPr>
          <p:cNvPr id="454" name="Google Shape;454;p46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special case: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happens when a path begins and ends with the same node?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a </a:t>
            </a:r>
            <a:r>
              <a:rPr b="1" lang="en"/>
              <a:t>cycle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46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56" name="Google Shape;456;p46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57" name="Google Shape;457;p46"/>
          <p:cNvCxnSpPr>
            <a:stCxn id="455" idx="6"/>
            <a:endCxn id="456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8" name="Google Shape;458;p46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59" name="Google Shape;459;p46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60" name="Google Shape;460;p46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61" name="Google Shape;461;p46"/>
          <p:cNvCxnSpPr>
            <a:stCxn id="456" idx="7"/>
            <a:endCxn id="458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46"/>
          <p:cNvCxnSpPr>
            <a:stCxn id="460" idx="1"/>
            <a:endCxn id="458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" name="Google Shape;463;p46"/>
          <p:cNvCxnSpPr>
            <a:stCxn id="460" idx="3"/>
            <a:endCxn id="459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46"/>
          <p:cNvCxnSpPr>
            <a:stCxn id="459" idx="1"/>
            <a:endCxn id="456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" name="Google Shape;465;p46"/>
          <p:cNvCxnSpPr>
            <a:stCxn id="459" idx="0"/>
            <a:endCxn id="458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Cycles</a:t>
            </a:r>
            <a:endParaRPr/>
          </a:p>
        </p:txBody>
      </p:sp>
      <p:sp>
        <p:nvSpPr>
          <p:cNvPr id="471" name="Google Shape;471;p47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special case: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happens when a path begins and ends with the same node?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a </a:t>
            </a:r>
            <a:r>
              <a:rPr b="1" lang="en"/>
              <a:t>cycle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path {ED, DA, AC, CE} defines a cycle of length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47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3" name="Google Shape;473;p47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4" name="Google Shape;474;p47"/>
          <p:cNvCxnSpPr>
            <a:stCxn id="472" idx="6"/>
            <a:endCxn id="473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5" name="Google Shape;475;p47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6" name="Google Shape;476;p47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7" name="Google Shape;477;p47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8" name="Google Shape;478;p47"/>
          <p:cNvCxnSpPr>
            <a:stCxn id="473" idx="7"/>
            <a:endCxn id="475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47"/>
          <p:cNvCxnSpPr>
            <a:stCxn id="477" idx="1"/>
            <a:endCxn id="475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47"/>
          <p:cNvCxnSpPr>
            <a:stCxn id="477" idx="3"/>
            <a:endCxn id="476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47"/>
          <p:cNvCxnSpPr>
            <a:stCxn id="476" idx="1"/>
            <a:endCxn id="473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47"/>
          <p:cNvCxnSpPr>
            <a:stCxn id="476" idx="0"/>
            <a:endCxn id="475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Cycles</a:t>
            </a:r>
            <a:endParaRPr/>
          </a:p>
        </p:txBody>
      </p:sp>
      <p:sp>
        <p:nvSpPr>
          <p:cNvPr id="488" name="Google Shape;488;p48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special case: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happens when a path begins and ends with the same node?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a </a:t>
            </a:r>
            <a:r>
              <a:rPr b="1" lang="en"/>
              <a:t>cycle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path {ED, DA, AC, CE} defines a cycle of length 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path {ED, DC, CE} defines a cycle of length 3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is the smallest length a cycle can be!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48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90" name="Google Shape;490;p48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91" name="Google Shape;491;p48"/>
          <p:cNvCxnSpPr>
            <a:stCxn id="489" idx="6"/>
            <a:endCxn id="490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2" name="Google Shape;492;p48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93" name="Google Shape;493;p48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94" name="Google Shape;494;p48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95" name="Google Shape;495;p48"/>
          <p:cNvCxnSpPr>
            <a:stCxn id="490" idx="7"/>
            <a:endCxn id="492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" name="Google Shape;496;p48"/>
          <p:cNvCxnSpPr>
            <a:stCxn id="494" idx="1"/>
            <a:endCxn id="492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" name="Google Shape;497;p48"/>
          <p:cNvCxnSpPr>
            <a:stCxn id="494" idx="3"/>
            <a:endCxn id="493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8" name="Google Shape;498;p48"/>
          <p:cNvCxnSpPr>
            <a:stCxn id="493" idx="1"/>
            <a:endCxn id="490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48"/>
          <p:cNvCxnSpPr>
            <a:stCxn id="493" idx="0"/>
            <a:endCxn id="492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9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510" name="Google Shape;510;p50"/>
          <p:cNvSpPr txBox="1"/>
          <p:nvPr>
            <p:ph idx="1" type="body"/>
          </p:nvPr>
        </p:nvSpPr>
        <p:spPr>
          <a:xfrm>
            <a:off x="311700" y="1225225"/>
            <a:ext cx="4796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</a:t>
            </a:r>
            <a:r>
              <a:rPr b="1" lang="en"/>
              <a:t>path</a:t>
            </a:r>
            <a:r>
              <a:rPr lang="en"/>
              <a:t> between each pair of nodes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50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50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50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50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5" name="Google Shape;515;p50"/>
          <p:cNvCxnSpPr>
            <a:stCxn id="511" idx="3"/>
            <a:endCxn id="512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50"/>
          <p:cNvCxnSpPr>
            <a:stCxn id="514" idx="1"/>
            <a:endCxn id="512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Google Shape;517;p50"/>
          <p:cNvCxnSpPr>
            <a:stCxn id="511" idx="4"/>
            <a:endCxn id="514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50"/>
          <p:cNvCxnSpPr>
            <a:stCxn id="511" idx="5"/>
            <a:endCxn id="513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50"/>
          <p:cNvCxnSpPr>
            <a:stCxn id="513" idx="2"/>
            <a:endCxn id="512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" name="Google Shape;520;p50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50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50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50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4" name="Google Shape;524;p50"/>
          <p:cNvCxnSpPr>
            <a:stCxn id="520" idx="3"/>
            <a:endCxn id="521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50"/>
          <p:cNvCxnSpPr>
            <a:stCxn id="523" idx="0"/>
            <a:endCxn id="521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50"/>
          <p:cNvCxnSpPr>
            <a:stCxn id="520" idx="5"/>
            <a:endCxn id="522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" name="Google Shape;527;p50"/>
          <p:cNvCxnSpPr>
            <a:stCxn id="522" idx="2"/>
            <a:endCxn id="521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8" name="Google Shape;528;p50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9" name="Google Shape;529;p50"/>
          <p:cNvCxnSpPr>
            <a:stCxn id="528" idx="0"/>
            <a:endCxn id="521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" name="Google Shape;530;p50"/>
          <p:cNvCxnSpPr>
            <a:stCxn id="522" idx="3"/>
            <a:endCxn id="523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50"/>
          <p:cNvCxnSpPr>
            <a:stCxn id="522" idx="3"/>
            <a:endCxn id="528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50"/>
          <p:cNvCxnSpPr>
            <a:stCxn id="520" idx="4"/>
            <a:endCxn id="528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3" name="Google Shape;533;p50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50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50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50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7" name="Google Shape;537;p50"/>
          <p:cNvCxnSpPr>
            <a:stCxn id="533" idx="3"/>
            <a:endCxn id="534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8" name="Google Shape;538;p50"/>
          <p:cNvCxnSpPr>
            <a:stCxn id="536" idx="0"/>
            <a:endCxn id="534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" name="Google Shape;539;p50"/>
          <p:cNvCxnSpPr>
            <a:stCxn id="533" idx="5"/>
            <a:endCxn id="535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" name="Google Shape;540;p50"/>
          <p:cNvCxnSpPr>
            <a:stCxn id="535" idx="2"/>
            <a:endCxn id="534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1" name="Google Shape;541;p50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2" name="Google Shape;542;p50"/>
          <p:cNvCxnSpPr>
            <a:stCxn id="535" idx="3"/>
            <a:endCxn id="536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" name="Google Shape;543;p50"/>
          <p:cNvCxnSpPr>
            <a:stCxn id="541" idx="2"/>
            <a:endCxn id="534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" name="Google Shape;544;p50"/>
          <p:cNvCxnSpPr>
            <a:stCxn id="541" idx="0"/>
            <a:endCxn id="533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" name="Google Shape;545;p50"/>
          <p:cNvCxnSpPr>
            <a:stCxn id="536" idx="6"/>
            <a:endCxn id="541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50"/>
          <p:cNvCxnSpPr>
            <a:stCxn id="513" idx="5"/>
            <a:endCxn id="534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50"/>
          <p:cNvCxnSpPr>
            <a:stCxn id="513" idx="7"/>
            <a:endCxn id="523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" name="Google Shape;548;p50"/>
          <p:cNvCxnSpPr>
            <a:stCxn id="528" idx="3"/>
            <a:endCxn id="533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50"/>
          <p:cNvCxnSpPr>
            <a:stCxn id="522" idx="4"/>
            <a:endCxn id="535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0" name="Google Shape;550;p50"/>
          <p:cNvSpPr txBox="1"/>
          <p:nvPr/>
        </p:nvSpPr>
        <p:spPr>
          <a:xfrm>
            <a:off x="4080750" y="3946850"/>
            <a:ext cx="22899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connected graph! :)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551" name="Google Shape;551;p50"/>
          <p:cNvCxnSpPr>
            <a:stCxn id="550" idx="0"/>
          </p:cNvCxnSpPr>
          <p:nvPr/>
        </p:nvCxnSpPr>
        <p:spPr>
          <a:xfrm flipH="1" rot="10800000">
            <a:off x="5225700" y="3297950"/>
            <a:ext cx="1530300" cy="648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557" name="Google Shape;557;p51"/>
          <p:cNvSpPr txBox="1"/>
          <p:nvPr>
            <p:ph idx="1" type="body"/>
          </p:nvPr>
        </p:nvSpPr>
        <p:spPr>
          <a:xfrm>
            <a:off x="311700" y="1225225"/>
            <a:ext cx="4800600" cy="34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</a:t>
            </a:r>
            <a:r>
              <a:rPr b="1" lang="en"/>
              <a:t>path</a:t>
            </a:r>
            <a:r>
              <a:rPr lang="en"/>
              <a:t> between each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disconnected</a:t>
            </a:r>
            <a:r>
              <a:rPr lang="en"/>
              <a:t> if there does not exist a </a:t>
            </a:r>
            <a:r>
              <a:rPr b="1" lang="en"/>
              <a:t>path</a:t>
            </a:r>
            <a:r>
              <a:rPr lang="en"/>
              <a:t> connecting every pair of nodes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51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51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51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51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2" name="Google Shape;562;p51"/>
          <p:cNvCxnSpPr>
            <a:stCxn id="558" idx="3"/>
            <a:endCxn id="559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" name="Google Shape;563;p51"/>
          <p:cNvCxnSpPr>
            <a:stCxn id="561" idx="1"/>
            <a:endCxn id="559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4" name="Google Shape;564;p51"/>
          <p:cNvCxnSpPr>
            <a:stCxn id="558" idx="4"/>
            <a:endCxn id="561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5" name="Google Shape;565;p51"/>
          <p:cNvCxnSpPr>
            <a:stCxn id="558" idx="5"/>
            <a:endCxn id="560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" name="Google Shape;566;p51"/>
          <p:cNvCxnSpPr>
            <a:stCxn id="560" idx="2"/>
            <a:endCxn id="559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7" name="Google Shape;567;p51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51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51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51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1" name="Google Shape;571;p51"/>
          <p:cNvCxnSpPr>
            <a:stCxn id="567" idx="3"/>
            <a:endCxn id="568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" name="Google Shape;572;p51"/>
          <p:cNvCxnSpPr>
            <a:stCxn id="570" idx="0"/>
            <a:endCxn id="568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" name="Google Shape;573;p51"/>
          <p:cNvCxnSpPr>
            <a:stCxn id="567" idx="5"/>
            <a:endCxn id="569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" name="Google Shape;574;p51"/>
          <p:cNvCxnSpPr>
            <a:stCxn id="569" idx="2"/>
            <a:endCxn id="568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5" name="Google Shape;575;p51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6" name="Google Shape;576;p51"/>
          <p:cNvCxnSpPr>
            <a:stCxn id="575" idx="0"/>
            <a:endCxn id="568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" name="Google Shape;577;p51"/>
          <p:cNvCxnSpPr>
            <a:stCxn id="569" idx="3"/>
            <a:endCxn id="570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51"/>
          <p:cNvCxnSpPr>
            <a:stCxn id="569" idx="3"/>
            <a:endCxn id="575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51"/>
          <p:cNvCxnSpPr>
            <a:stCxn id="567" idx="4"/>
            <a:endCxn id="575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0" name="Google Shape;580;p51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51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51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51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4" name="Google Shape;584;p51"/>
          <p:cNvCxnSpPr>
            <a:stCxn id="580" idx="3"/>
            <a:endCxn id="581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51"/>
          <p:cNvCxnSpPr>
            <a:stCxn id="583" idx="0"/>
            <a:endCxn id="581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" name="Google Shape;586;p51"/>
          <p:cNvCxnSpPr>
            <a:stCxn id="580" idx="5"/>
            <a:endCxn id="582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7" name="Google Shape;587;p51"/>
          <p:cNvCxnSpPr>
            <a:stCxn id="582" idx="2"/>
            <a:endCxn id="581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8" name="Google Shape;588;p51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9" name="Google Shape;589;p51"/>
          <p:cNvCxnSpPr>
            <a:stCxn id="582" idx="3"/>
            <a:endCxn id="583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" name="Google Shape;590;p51"/>
          <p:cNvCxnSpPr>
            <a:stCxn id="588" idx="2"/>
            <a:endCxn id="581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" name="Google Shape;591;p51"/>
          <p:cNvCxnSpPr>
            <a:stCxn id="588" idx="0"/>
            <a:endCxn id="580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" name="Google Shape;592;p51"/>
          <p:cNvCxnSpPr>
            <a:stCxn id="583" idx="6"/>
            <a:endCxn id="588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3" name="Google Shape;593;p51"/>
          <p:cNvSpPr txBox="1"/>
          <p:nvPr/>
        </p:nvSpPr>
        <p:spPr>
          <a:xfrm>
            <a:off x="4080750" y="3946850"/>
            <a:ext cx="22899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is disconnected :(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594" name="Google Shape;594;p51"/>
          <p:cNvCxnSpPr>
            <a:stCxn id="593" idx="0"/>
          </p:cNvCxnSpPr>
          <p:nvPr/>
        </p:nvCxnSpPr>
        <p:spPr>
          <a:xfrm flipH="1" rot="10800000">
            <a:off x="5225700" y="3297950"/>
            <a:ext cx="1530300" cy="648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600" name="Google Shape;600;p52"/>
          <p:cNvSpPr txBox="1"/>
          <p:nvPr>
            <p:ph idx="1" type="body"/>
          </p:nvPr>
        </p:nvSpPr>
        <p:spPr>
          <a:xfrm>
            <a:off x="311700" y="1225225"/>
            <a:ext cx="4800600" cy="34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</a:t>
            </a:r>
            <a:r>
              <a:rPr b="1" lang="en"/>
              <a:t>path</a:t>
            </a:r>
            <a:r>
              <a:rPr lang="en"/>
              <a:t> between each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disconnected</a:t>
            </a:r>
            <a:r>
              <a:rPr lang="en"/>
              <a:t> if there does not exist a </a:t>
            </a:r>
            <a:r>
              <a:rPr b="1" lang="en"/>
              <a:t>path</a:t>
            </a:r>
            <a:r>
              <a:rPr lang="en"/>
              <a:t> connecting every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connected subgraph that is part of a larger disconnected graph is called a </a:t>
            </a:r>
            <a:r>
              <a:rPr b="1" lang="en"/>
              <a:t>component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52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52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52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52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5" name="Google Shape;605;p52"/>
          <p:cNvCxnSpPr>
            <a:stCxn id="601" idx="3"/>
            <a:endCxn id="602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6" name="Google Shape;606;p52"/>
          <p:cNvCxnSpPr>
            <a:stCxn id="604" idx="1"/>
            <a:endCxn id="602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" name="Google Shape;607;p52"/>
          <p:cNvCxnSpPr>
            <a:stCxn id="601" idx="4"/>
            <a:endCxn id="604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" name="Google Shape;608;p52"/>
          <p:cNvCxnSpPr>
            <a:stCxn id="601" idx="5"/>
            <a:endCxn id="603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52"/>
          <p:cNvCxnSpPr>
            <a:stCxn id="603" idx="2"/>
            <a:endCxn id="602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0" name="Google Shape;610;p52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52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52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2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4" name="Google Shape;614;p52"/>
          <p:cNvCxnSpPr>
            <a:stCxn id="610" idx="3"/>
            <a:endCxn id="611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52"/>
          <p:cNvCxnSpPr>
            <a:stCxn id="613" idx="0"/>
            <a:endCxn id="611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52"/>
          <p:cNvCxnSpPr>
            <a:stCxn id="610" idx="5"/>
            <a:endCxn id="612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52"/>
          <p:cNvCxnSpPr>
            <a:stCxn id="612" idx="2"/>
            <a:endCxn id="611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8" name="Google Shape;618;p52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9" name="Google Shape;619;p52"/>
          <p:cNvCxnSpPr>
            <a:stCxn id="618" idx="0"/>
            <a:endCxn id="611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52"/>
          <p:cNvCxnSpPr>
            <a:stCxn id="612" idx="3"/>
            <a:endCxn id="613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52"/>
          <p:cNvCxnSpPr>
            <a:stCxn id="612" idx="3"/>
            <a:endCxn id="618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2" name="Google Shape;622;p52"/>
          <p:cNvCxnSpPr>
            <a:stCxn id="610" idx="4"/>
            <a:endCxn id="618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3" name="Google Shape;623;p52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52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52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52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7" name="Google Shape;627;p52"/>
          <p:cNvCxnSpPr>
            <a:stCxn id="623" idx="3"/>
            <a:endCxn id="624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8" name="Google Shape;628;p52"/>
          <p:cNvCxnSpPr>
            <a:stCxn id="626" idx="0"/>
            <a:endCxn id="624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" name="Google Shape;629;p52"/>
          <p:cNvCxnSpPr>
            <a:stCxn id="623" idx="5"/>
            <a:endCxn id="625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0" name="Google Shape;630;p52"/>
          <p:cNvCxnSpPr>
            <a:stCxn id="625" idx="2"/>
            <a:endCxn id="624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1" name="Google Shape;631;p52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32" name="Google Shape;632;p52"/>
          <p:cNvCxnSpPr>
            <a:stCxn id="625" idx="3"/>
            <a:endCxn id="626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3" name="Google Shape;633;p52"/>
          <p:cNvCxnSpPr>
            <a:stCxn id="631" idx="2"/>
            <a:endCxn id="624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52"/>
          <p:cNvCxnSpPr>
            <a:stCxn id="631" idx="0"/>
            <a:endCxn id="623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52"/>
          <p:cNvCxnSpPr>
            <a:stCxn id="626" idx="6"/>
            <a:endCxn id="631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641" name="Google Shape;641;p53"/>
          <p:cNvSpPr txBox="1"/>
          <p:nvPr>
            <p:ph idx="1" type="body"/>
          </p:nvPr>
        </p:nvSpPr>
        <p:spPr>
          <a:xfrm>
            <a:off x="311700" y="1225225"/>
            <a:ext cx="4800600" cy="34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</a:t>
            </a:r>
            <a:r>
              <a:rPr b="1" lang="en"/>
              <a:t>path</a:t>
            </a:r>
            <a:r>
              <a:rPr lang="en"/>
              <a:t> between each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disconnected</a:t>
            </a:r>
            <a:r>
              <a:rPr lang="en"/>
              <a:t> if there does not exist a </a:t>
            </a:r>
            <a:r>
              <a:rPr b="1" lang="en"/>
              <a:t>path</a:t>
            </a:r>
            <a:r>
              <a:rPr lang="en"/>
              <a:t> connecting every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connected subgraph that is part of a larger disconnected graph is called a </a:t>
            </a:r>
            <a:r>
              <a:rPr b="1" lang="en"/>
              <a:t>component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53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53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53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53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6" name="Google Shape;646;p53"/>
          <p:cNvCxnSpPr>
            <a:stCxn id="642" idx="3"/>
            <a:endCxn id="643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7" name="Google Shape;647;p53"/>
          <p:cNvCxnSpPr>
            <a:stCxn id="645" idx="1"/>
            <a:endCxn id="643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8" name="Google Shape;648;p53"/>
          <p:cNvCxnSpPr>
            <a:stCxn id="642" idx="4"/>
            <a:endCxn id="645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9" name="Google Shape;649;p53"/>
          <p:cNvCxnSpPr>
            <a:stCxn id="642" idx="5"/>
            <a:endCxn id="644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" name="Google Shape;650;p53"/>
          <p:cNvCxnSpPr>
            <a:stCxn id="644" idx="2"/>
            <a:endCxn id="643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1" name="Google Shape;651;p53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53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53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53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5" name="Google Shape;655;p53"/>
          <p:cNvCxnSpPr>
            <a:stCxn id="651" idx="3"/>
            <a:endCxn id="652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6" name="Google Shape;656;p53"/>
          <p:cNvCxnSpPr>
            <a:stCxn id="654" idx="0"/>
            <a:endCxn id="652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7" name="Google Shape;657;p53"/>
          <p:cNvCxnSpPr>
            <a:stCxn id="651" idx="5"/>
            <a:endCxn id="653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" name="Google Shape;658;p53"/>
          <p:cNvCxnSpPr>
            <a:stCxn id="653" idx="2"/>
            <a:endCxn id="652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9" name="Google Shape;659;p53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60" name="Google Shape;660;p53"/>
          <p:cNvCxnSpPr>
            <a:stCxn id="659" idx="0"/>
            <a:endCxn id="652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" name="Google Shape;661;p53"/>
          <p:cNvCxnSpPr>
            <a:stCxn id="653" idx="3"/>
            <a:endCxn id="654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2" name="Google Shape;662;p53"/>
          <p:cNvCxnSpPr>
            <a:stCxn id="653" idx="3"/>
            <a:endCxn id="659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" name="Google Shape;663;p53"/>
          <p:cNvCxnSpPr>
            <a:stCxn id="651" idx="4"/>
            <a:endCxn id="659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4" name="Google Shape;664;p53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53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53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3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68" name="Google Shape;668;p53"/>
          <p:cNvCxnSpPr>
            <a:stCxn id="664" idx="3"/>
            <a:endCxn id="665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9" name="Google Shape;669;p53"/>
          <p:cNvCxnSpPr>
            <a:stCxn id="667" idx="0"/>
            <a:endCxn id="665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0" name="Google Shape;670;p53"/>
          <p:cNvCxnSpPr>
            <a:stCxn id="664" idx="5"/>
            <a:endCxn id="666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53"/>
          <p:cNvCxnSpPr>
            <a:stCxn id="666" idx="2"/>
            <a:endCxn id="665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2" name="Google Shape;672;p53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3" name="Google Shape;673;p53"/>
          <p:cNvCxnSpPr>
            <a:stCxn id="666" idx="3"/>
            <a:endCxn id="667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4" name="Google Shape;674;p53"/>
          <p:cNvCxnSpPr>
            <a:stCxn id="672" idx="2"/>
            <a:endCxn id="665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" name="Google Shape;675;p53"/>
          <p:cNvCxnSpPr>
            <a:stCxn id="672" idx="0"/>
            <a:endCxn id="664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53"/>
          <p:cNvCxnSpPr>
            <a:stCxn id="667" idx="6"/>
            <a:endCxn id="672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7" name="Google Shape;677;p53"/>
          <p:cNvSpPr txBox="1"/>
          <p:nvPr/>
        </p:nvSpPr>
        <p:spPr>
          <a:xfrm>
            <a:off x="4974336" y="4306824"/>
            <a:ext cx="22257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has three components!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78" name="Google Shape;678;p53"/>
          <p:cNvSpPr/>
          <p:nvPr/>
        </p:nvSpPr>
        <p:spPr>
          <a:xfrm>
            <a:off x="5177125" y="1797075"/>
            <a:ext cx="1713600" cy="1735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/>
          <p:nvPr/>
        </p:nvSpPr>
        <p:spPr>
          <a:xfrm>
            <a:off x="6883725" y="428525"/>
            <a:ext cx="1713600" cy="1735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53"/>
          <p:cNvSpPr/>
          <p:nvPr/>
        </p:nvSpPr>
        <p:spPr>
          <a:xfrm>
            <a:off x="7162850" y="2992275"/>
            <a:ext cx="1713600" cy="1735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686" name="Google Shape;686;p54"/>
          <p:cNvSpPr txBox="1"/>
          <p:nvPr>
            <p:ph idx="1" type="body"/>
          </p:nvPr>
        </p:nvSpPr>
        <p:spPr>
          <a:xfrm>
            <a:off x="311700" y="1225225"/>
            <a:ext cx="4800600" cy="34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</a:t>
            </a:r>
            <a:r>
              <a:rPr b="1" lang="en"/>
              <a:t>path</a:t>
            </a:r>
            <a:r>
              <a:rPr lang="en"/>
              <a:t> between each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disconnected</a:t>
            </a:r>
            <a:r>
              <a:rPr lang="en"/>
              <a:t> if there does not exist a </a:t>
            </a:r>
            <a:r>
              <a:rPr b="1" lang="en"/>
              <a:t>path</a:t>
            </a:r>
            <a:r>
              <a:rPr lang="en"/>
              <a:t> connecting every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connected subgraph that is part of a larger disconnected graph is called a </a:t>
            </a:r>
            <a:r>
              <a:rPr b="1" lang="en"/>
              <a:t>component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If a graph has more than one component it is by definition disconnected</a:t>
            </a:r>
            <a:endParaRPr i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54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54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54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91" name="Google Shape;691;p54"/>
          <p:cNvCxnSpPr>
            <a:stCxn id="687" idx="3"/>
            <a:endCxn id="688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" name="Google Shape;692;p54"/>
          <p:cNvCxnSpPr>
            <a:stCxn id="690" idx="1"/>
            <a:endCxn id="688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" name="Google Shape;693;p54"/>
          <p:cNvCxnSpPr>
            <a:stCxn id="687" idx="4"/>
            <a:endCxn id="690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" name="Google Shape;694;p54"/>
          <p:cNvCxnSpPr>
            <a:stCxn id="687" idx="5"/>
            <a:endCxn id="689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" name="Google Shape;695;p54"/>
          <p:cNvCxnSpPr>
            <a:stCxn id="689" idx="2"/>
            <a:endCxn id="688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6" name="Google Shape;696;p54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54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54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0" name="Google Shape;700;p54"/>
          <p:cNvCxnSpPr>
            <a:stCxn id="696" idx="3"/>
            <a:endCxn id="697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1" name="Google Shape;701;p54"/>
          <p:cNvCxnSpPr>
            <a:stCxn id="699" idx="0"/>
            <a:endCxn id="697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2" name="Google Shape;702;p54"/>
          <p:cNvCxnSpPr>
            <a:stCxn id="696" idx="5"/>
            <a:endCxn id="698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" name="Google Shape;703;p54"/>
          <p:cNvCxnSpPr>
            <a:stCxn id="698" idx="2"/>
            <a:endCxn id="697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4" name="Google Shape;704;p54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5" name="Google Shape;705;p54"/>
          <p:cNvCxnSpPr>
            <a:stCxn id="704" idx="0"/>
            <a:endCxn id="697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6" name="Google Shape;706;p54"/>
          <p:cNvCxnSpPr>
            <a:stCxn id="698" idx="3"/>
            <a:endCxn id="699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7" name="Google Shape;707;p54"/>
          <p:cNvCxnSpPr>
            <a:stCxn id="698" idx="3"/>
            <a:endCxn id="704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8" name="Google Shape;708;p54"/>
          <p:cNvCxnSpPr>
            <a:stCxn id="696" idx="4"/>
            <a:endCxn id="704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9" name="Google Shape;709;p54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54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4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4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3" name="Google Shape;713;p54"/>
          <p:cNvCxnSpPr>
            <a:stCxn id="709" idx="3"/>
            <a:endCxn id="710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4" name="Google Shape;714;p54"/>
          <p:cNvCxnSpPr>
            <a:stCxn id="712" idx="0"/>
            <a:endCxn id="710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5" name="Google Shape;715;p54"/>
          <p:cNvCxnSpPr>
            <a:stCxn id="709" idx="5"/>
            <a:endCxn id="711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6" name="Google Shape;716;p54"/>
          <p:cNvCxnSpPr>
            <a:stCxn id="711" idx="2"/>
            <a:endCxn id="710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7" name="Google Shape;717;p54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8" name="Google Shape;718;p54"/>
          <p:cNvCxnSpPr>
            <a:stCxn id="711" idx="3"/>
            <a:endCxn id="712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" name="Google Shape;719;p54"/>
          <p:cNvCxnSpPr>
            <a:stCxn id="717" idx="2"/>
            <a:endCxn id="710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" name="Google Shape;720;p54"/>
          <p:cNvCxnSpPr>
            <a:stCxn id="717" idx="0"/>
            <a:endCxn id="709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" name="Google Shape;721;p54"/>
          <p:cNvCxnSpPr>
            <a:stCxn id="712" idx="6"/>
            <a:endCxn id="717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2" name="Google Shape;722;p54"/>
          <p:cNvSpPr txBox="1"/>
          <p:nvPr/>
        </p:nvSpPr>
        <p:spPr>
          <a:xfrm>
            <a:off x="4974475" y="4306073"/>
            <a:ext cx="22257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has three components!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23" name="Google Shape;723;p54"/>
          <p:cNvSpPr/>
          <p:nvPr/>
        </p:nvSpPr>
        <p:spPr>
          <a:xfrm>
            <a:off x="5177125" y="1797075"/>
            <a:ext cx="1713600" cy="1735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54"/>
          <p:cNvSpPr/>
          <p:nvPr/>
        </p:nvSpPr>
        <p:spPr>
          <a:xfrm>
            <a:off x="6883725" y="428525"/>
            <a:ext cx="1713600" cy="1735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54"/>
          <p:cNvSpPr/>
          <p:nvPr/>
        </p:nvSpPr>
        <p:spPr>
          <a:xfrm>
            <a:off x="7162850" y="2992275"/>
            <a:ext cx="1713600" cy="1735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Connected and Disconnected Subgraphs</a:t>
            </a:r>
            <a:endParaRPr/>
          </a:p>
        </p:txBody>
      </p:sp>
      <p:sp>
        <p:nvSpPr>
          <p:cNvPr id="731" name="Google Shape;731;p55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G' = (V', E') of a graph G = (V, E) exists when: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is </a:t>
            </a:r>
            <a:r>
              <a:rPr b="1" lang="en"/>
              <a:t>connected </a:t>
            </a:r>
            <a:r>
              <a:rPr lang="en"/>
              <a:t>if every node within it can reach every other one via a path of some length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55"/>
          <p:cNvSpPr txBox="1"/>
          <p:nvPr/>
        </p:nvSpPr>
        <p:spPr>
          <a:xfrm>
            <a:off x="4156075" y="3648875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subgraph is connected :)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33" name="Google Shape;733;p55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55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55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55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7" name="Google Shape;737;p55"/>
          <p:cNvCxnSpPr>
            <a:stCxn id="733" idx="3"/>
            <a:endCxn id="734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8" name="Google Shape;738;p55"/>
          <p:cNvCxnSpPr>
            <a:stCxn id="736" idx="1"/>
            <a:endCxn id="734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" name="Google Shape;739;p55"/>
          <p:cNvCxnSpPr>
            <a:stCxn id="733" idx="4"/>
            <a:endCxn id="736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0" name="Google Shape;740;p55"/>
          <p:cNvCxnSpPr>
            <a:stCxn id="733" idx="5"/>
            <a:endCxn id="735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1" name="Google Shape;741;p55"/>
          <p:cNvCxnSpPr>
            <a:stCxn id="735" idx="2"/>
            <a:endCxn id="734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2" name="Google Shape;742;p55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55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55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55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6" name="Google Shape;746;p55"/>
          <p:cNvCxnSpPr>
            <a:stCxn id="742" idx="3"/>
            <a:endCxn id="743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7" name="Google Shape;747;p55"/>
          <p:cNvCxnSpPr>
            <a:stCxn id="745" idx="0"/>
            <a:endCxn id="743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8" name="Google Shape;748;p55"/>
          <p:cNvCxnSpPr>
            <a:stCxn id="742" idx="5"/>
            <a:endCxn id="744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9" name="Google Shape;749;p55"/>
          <p:cNvCxnSpPr>
            <a:stCxn id="744" idx="2"/>
            <a:endCxn id="743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0" name="Google Shape;750;p55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51" name="Google Shape;751;p55"/>
          <p:cNvCxnSpPr>
            <a:stCxn id="750" idx="0"/>
            <a:endCxn id="743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2" name="Google Shape;752;p55"/>
          <p:cNvCxnSpPr>
            <a:stCxn id="744" idx="3"/>
            <a:endCxn id="745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" name="Google Shape;753;p55"/>
          <p:cNvCxnSpPr>
            <a:stCxn id="744" idx="3"/>
            <a:endCxn id="750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" name="Google Shape;754;p55"/>
          <p:cNvCxnSpPr>
            <a:stCxn id="742" idx="4"/>
            <a:endCxn id="750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" name="Google Shape;755;p55"/>
          <p:cNvCxnSpPr>
            <a:stCxn id="735" idx="7"/>
            <a:endCxn id="745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" name="Google Shape;756;p55"/>
          <p:cNvCxnSpPr>
            <a:stCxn id="736" idx="7"/>
            <a:endCxn id="735" idx="3"/>
          </p:cNvCxnSpPr>
          <p:nvPr/>
        </p:nvCxnSpPr>
        <p:spPr>
          <a:xfrm flipH="1" rot="10800000">
            <a:off x="6021501" y="2675824"/>
            <a:ext cx="374100" cy="431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7" name="Google Shape;757;p55"/>
          <p:cNvCxnSpPr>
            <a:stCxn id="745" idx="6"/>
            <a:endCxn id="750" idx="1"/>
          </p:cNvCxnSpPr>
          <p:nvPr/>
        </p:nvCxnSpPr>
        <p:spPr>
          <a:xfrm>
            <a:off x="7417300" y="1580363"/>
            <a:ext cx="428700" cy="25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8" name="Google Shape;758;p55"/>
          <p:cNvCxnSpPr>
            <a:stCxn id="742" idx="4"/>
            <a:endCxn id="745" idx="7"/>
          </p:cNvCxnSpPr>
          <p:nvPr/>
        </p:nvCxnSpPr>
        <p:spPr>
          <a:xfrm flipH="1">
            <a:off x="7392100" y="825113"/>
            <a:ext cx="514500" cy="69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9" name="Google Shape;759;p55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55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1" name="Google Shape;761;p55"/>
          <p:cNvCxnSpPr>
            <a:stCxn id="759" idx="3"/>
            <a:endCxn id="760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2" name="Google Shape;762;p55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3" name="Google Shape;763;p55"/>
          <p:cNvCxnSpPr>
            <a:stCxn id="762" idx="2"/>
            <a:endCxn id="760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4" name="Google Shape;764;p55"/>
          <p:cNvCxnSpPr>
            <a:stCxn id="762" idx="0"/>
            <a:endCxn id="759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5" name="Google Shape;765;p55"/>
          <p:cNvCxnSpPr>
            <a:endCxn id="760" idx="1"/>
          </p:cNvCxnSpPr>
          <p:nvPr/>
        </p:nvCxnSpPr>
        <p:spPr>
          <a:xfrm>
            <a:off x="6516863" y="2675902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Connected and Disconnected Subgraphs</a:t>
            </a:r>
            <a:endParaRPr/>
          </a:p>
        </p:txBody>
      </p:sp>
      <p:sp>
        <p:nvSpPr>
          <p:cNvPr id="771" name="Google Shape;771;p56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G' = (V', E') of a graph G = (V, E) exists when: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is </a:t>
            </a:r>
            <a:r>
              <a:rPr b="1" lang="en"/>
              <a:t>connected </a:t>
            </a:r>
            <a:r>
              <a:rPr lang="en"/>
              <a:t>if every node within it can reach every other one via a path of some length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is </a:t>
            </a:r>
            <a:r>
              <a:rPr b="1" lang="en"/>
              <a:t>disconnected </a:t>
            </a:r>
            <a:r>
              <a:rPr lang="en"/>
              <a:t>if there are nodes that </a:t>
            </a:r>
            <a:r>
              <a:rPr b="1" lang="en"/>
              <a:t>cannot </a:t>
            </a:r>
            <a:r>
              <a:rPr lang="en"/>
              <a:t>reach other nodes via a path of any length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56"/>
          <p:cNvSpPr txBox="1"/>
          <p:nvPr/>
        </p:nvSpPr>
        <p:spPr>
          <a:xfrm>
            <a:off x="4915275" y="3648863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subgraph is disconnected :(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73" name="Google Shape;773;p56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56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56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56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7" name="Google Shape;777;p56"/>
          <p:cNvCxnSpPr>
            <a:stCxn id="773" idx="3"/>
            <a:endCxn id="774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8" name="Google Shape;778;p56"/>
          <p:cNvCxnSpPr>
            <a:stCxn id="776" idx="1"/>
            <a:endCxn id="774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9" name="Google Shape;779;p56"/>
          <p:cNvCxnSpPr>
            <a:stCxn id="773" idx="4"/>
            <a:endCxn id="776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0" name="Google Shape;780;p56"/>
          <p:cNvCxnSpPr>
            <a:stCxn id="773" idx="5"/>
            <a:endCxn id="775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1" name="Google Shape;781;p56"/>
          <p:cNvCxnSpPr>
            <a:stCxn id="775" idx="2"/>
            <a:endCxn id="774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2" name="Google Shape;782;p56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56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56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56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6" name="Google Shape;786;p56"/>
          <p:cNvCxnSpPr>
            <a:stCxn id="782" idx="3"/>
            <a:endCxn id="783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" name="Google Shape;787;p56"/>
          <p:cNvCxnSpPr>
            <a:stCxn id="785" idx="0"/>
            <a:endCxn id="783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" name="Google Shape;788;p56"/>
          <p:cNvCxnSpPr>
            <a:stCxn id="782" idx="5"/>
            <a:endCxn id="784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9" name="Google Shape;789;p56"/>
          <p:cNvCxnSpPr>
            <a:stCxn id="784" idx="2"/>
            <a:endCxn id="783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0" name="Google Shape;790;p56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1" name="Google Shape;791;p56"/>
          <p:cNvCxnSpPr>
            <a:stCxn id="790" idx="0"/>
            <a:endCxn id="783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2" name="Google Shape;792;p56"/>
          <p:cNvCxnSpPr>
            <a:stCxn id="784" idx="3"/>
            <a:endCxn id="785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3" name="Google Shape;793;p56"/>
          <p:cNvCxnSpPr>
            <a:stCxn id="784" idx="3"/>
            <a:endCxn id="790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4" name="Google Shape;794;p56"/>
          <p:cNvCxnSpPr>
            <a:stCxn id="782" idx="4"/>
            <a:endCxn id="790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5" name="Google Shape;795;p56"/>
          <p:cNvCxnSpPr>
            <a:stCxn id="775" idx="7"/>
            <a:endCxn id="785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6" name="Google Shape;796;p56"/>
          <p:cNvCxnSpPr>
            <a:stCxn id="776" idx="7"/>
            <a:endCxn id="775" idx="3"/>
          </p:cNvCxnSpPr>
          <p:nvPr/>
        </p:nvCxnSpPr>
        <p:spPr>
          <a:xfrm flipH="1" rot="10800000">
            <a:off x="6021501" y="2675824"/>
            <a:ext cx="374100" cy="43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7" name="Google Shape;797;p56"/>
          <p:cNvCxnSpPr>
            <a:stCxn id="785" idx="6"/>
            <a:endCxn id="790" idx="1"/>
          </p:cNvCxnSpPr>
          <p:nvPr/>
        </p:nvCxnSpPr>
        <p:spPr>
          <a:xfrm>
            <a:off x="7417300" y="1580363"/>
            <a:ext cx="428700" cy="25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8" name="Google Shape;798;p56"/>
          <p:cNvCxnSpPr>
            <a:stCxn id="782" idx="4"/>
            <a:endCxn id="785" idx="7"/>
          </p:cNvCxnSpPr>
          <p:nvPr/>
        </p:nvCxnSpPr>
        <p:spPr>
          <a:xfrm flipH="1">
            <a:off x="7392100" y="825113"/>
            <a:ext cx="514500" cy="69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9" name="Google Shape;799;p56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56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1" name="Google Shape;801;p56"/>
          <p:cNvCxnSpPr>
            <a:stCxn id="799" idx="3"/>
            <a:endCxn id="800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2" name="Google Shape;802;p56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3" name="Google Shape;803;p56"/>
          <p:cNvCxnSpPr>
            <a:stCxn id="802" idx="2"/>
            <a:endCxn id="800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4" name="Google Shape;804;p56"/>
          <p:cNvCxnSpPr>
            <a:stCxn id="802" idx="0"/>
            <a:endCxn id="799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5" name="Google Shape;805;p56"/>
          <p:cNvCxnSpPr>
            <a:endCxn id="800" idx="1"/>
          </p:cNvCxnSpPr>
          <p:nvPr/>
        </p:nvCxnSpPr>
        <p:spPr>
          <a:xfrm>
            <a:off x="6516863" y="2675902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811" name="Google Shape;811;p57"/>
          <p:cNvSpPr txBox="1"/>
          <p:nvPr>
            <p:ph idx="1" type="body"/>
          </p:nvPr>
        </p:nvSpPr>
        <p:spPr>
          <a:xfrm>
            <a:off x="311700" y="1225225"/>
            <a:ext cx="4800600" cy="34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</a:t>
            </a:r>
            <a:r>
              <a:rPr b="1" lang="en"/>
              <a:t>path</a:t>
            </a:r>
            <a:r>
              <a:rPr lang="en"/>
              <a:t> between each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disconnected</a:t>
            </a:r>
            <a:r>
              <a:rPr lang="en"/>
              <a:t> if there does not exist a </a:t>
            </a:r>
            <a:r>
              <a:rPr b="1" lang="en"/>
              <a:t>path</a:t>
            </a:r>
            <a:r>
              <a:rPr lang="en"/>
              <a:t> connecting every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connected subgraph of a disconnected graph containing the largest number of nodes is called the </a:t>
            </a:r>
            <a:r>
              <a:rPr b="1" lang="en"/>
              <a:t>giant component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2" name="Google Shape;812;p57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813" name="Google Shape;813;p57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57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57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57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17" name="Google Shape;817;p57"/>
            <p:cNvCxnSpPr>
              <a:stCxn id="813" idx="3"/>
              <a:endCxn id="814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8" name="Google Shape;818;p57"/>
            <p:cNvCxnSpPr>
              <a:stCxn id="816" idx="1"/>
              <a:endCxn id="814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9" name="Google Shape;819;p57"/>
            <p:cNvCxnSpPr>
              <a:stCxn id="813" idx="4"/>
              <a:endCxn id="816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0" name="Google Shape;820;p57"/>
            <p:cNvCxnSpPr>
              <a:stCxn id="813" idx="5"/>
              <a:endCxn id="815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1" name="Google Shape;821;p57"/>
            <p:cNvCxnSpPr>
              <a:stCxn id="815" idx="2"/>
              <a:endCxn id="814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22" name="Google Shape;822;p57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57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57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57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26" name="Google Shape;826;p57"/>
            <p:cNvCxnSpPr>
              <a:stCxn id="822" idx="3"/>
              <a:endCxn id="823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7" name="Google Shape;827;p57"/>
            <p:cNvCxnSpPr>
              <a:stCxn id="825" idx="0"/>
              <a:endCxn id="823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8" name="Google Shape;828;p57"/>
            <p:cNvCxnSpPr>
              <a:stCxn id="822" idx="5"/>
              <a:endCxn id="824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9" name="Google Shape;829;p57"/>
            <p:cNvCxnSpPr>
              <a:stCxn id="824" idx="2"/>
              <a:endCxn id="823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30" name="Google Shape;830;p57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31" name="Google Shape;831;p57"/>
            <p:cNvCxnSpPr>
              <a:stCxn id="830" idx="0"/>
              <a:endCxn id="823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2" name="Google Shape;832;p57"/>
            <p:cNvCxnSpPr>
              <a:stCxn id="824" idx="3"/>
              <a:endCxn id="825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3" name="Google Shape;833;p57"/>
            <p:cNvCxnSpPr>
              <a:stCxn id="824" idx="3"/>
              <a:endCxn id="830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4" name="Google Shape;834;p57"/>
            <p:cNvCxnSpPr>
              <a:stCxn id="822" idx="4"/>
              <a:endCxn id="830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35" name="Google Shape;835;p57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57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57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57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39" name="Google Shape;839;p57"/>
            <p:cNvCxnSpPr>
              <a:stCxn id="835" idx="3"/>
              <a:endCxn id="836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0" name="Google Shape;840;p57"/>
            <p:cNvCxnSpPr>
              <a:stCxn id="838" idx="0"/>
              <a:endCxn id="836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1" name="Google Shape;841;p57"/>
            <p:cNvCxnSpPr>
              <a:stCxn id="835" idx="5"/>
              <a:endCxn id="837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2" name="Google Shape;842;p57"/>
            <p:cNvCxnSpPr>
              <a:stCxn id="837" idx="2"/>
              <a:endCxn id="836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43" name="Google Shape;843;p57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44" name="Google Shape;844;p57"/>
            <p:cNvCxnSpPr>
              <a:stCxn id="837" idx="3"/>
              <a:endCxn id="838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5" name="Google Shape;845;p57"/>
            <p:cNvCxnSpPr>
              <a:stCxn id="843" idx="2"/>
              <a:endCxn id="836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6" name="Google Shape;846;p57"/>
            <p:cNvCxnSpPr>
              <a:stCxn id="843" idx="0"/>
              <a:endCxn id="835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7" name="Google Shape;847;p57"/>
            <p:cNvCxnSpPr>
              <a:stCxn id="838" idx="6"/>
              <a:endCxn id="843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8" name="Google Shape;848;p57"/>
            <p:cNvCxnSpPr>
              <a:stCxn id="830" idx="3"/>
              <a:endCxn id="835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9" name="Google Shape;849;p57"/>
            <p:cNvCxnSpPr>
              <a:stCxn id="824" idx="4"/>
              <a:endCxn id="837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855" name="Google Shape;855;p58"/>
          <p:cNvSpPr txBox="1"/>
          <p:nvPr>
            <p:ph idx="1" type="body"/>
          </p:nvPr>
        </p:nvSpPr>
        <p:spPr>
          <a:xfrm>
            <a:off x="311700" y="1225225"/>
            <a:ext cx="4800600" cy="34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</a:t>
            </a:r>
            <a:r>
              <a:rPr b="1" lang="en"/>
              <a:t>path</a:t>
            </a:r>
            <a:r>
              <a:rPr lang="en"/>
              <a:t> between each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disconnected</a:t>
            </a:r>
            <a:r>
              <a:rPr lang="en"/>
              <a:t> if there does not exist a </a:t>
            </a:r>
            <a:r>
              <a:rPr b="1" lang="en"/>
              <a:t>path</a:t>
            </a:r>
            <a:r>
              <a:rPr lang="en"/>
              <a:t> connecting every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connected subgraph of a disconnected graph containing the largest number of nodes is called the </a:t>
            </a:r>
            <a:r>
              <a:rPr b="1" lang="en"/>
              <a:t>giant component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6" name="Google Shape;856;p58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857" name="Google Shape;857;p58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58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58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58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61" name="Google Shape;861;p58"/>
            <p:cNvCxnSpPr>
              <a:stCxn id="857" idx="3"/>
              <a:endCxn id="858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2" name="Google Shape;862;p58"/>
            <p:cNvCxnSpPr>
              <a:stCxn id="860" idx="1"/>
              <a:endCxn id="858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3" name="Google Shape;863;p58"/>
            <p:cNvCxnSpPr>
              <a:stCxn id="857" idx="4"/>
              <a:endCxn id="860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4" name="Google Shape;864;p58"/>
            <p:cNvCxnSpPr>
              <a:stCxn id="857" idx="5"/>
              <a:endCxn id="859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5" name="Google Shape;865;p58"/>
            <p:cNvCxnSpPr>
              <a:stCxn id="859" idx="2"/>
              <a:endCxn id="858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66" name="Google Shape;866;p58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58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58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58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70" name="Google Shape;870;p58"/>
            <p:cNvCxnSpPr>
              <a:stCxn id="866" idx="3"/>
              <a:endCxn id="867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1" name="Google Shape;871;p58"/>
            <p:cNvCxnSpPr>
              <a:stCxn id="869" idx="0"/>
              <a:endCxn id="867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2" name="Google Shape;872;p58"/>
            <p:cNvCxnSpPr>
              <a:stCxn id="866" idx="5"/>
              <a:endCxn id="868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3" name="Google Shape;873;p58"/>
            <p:cNvCxnSpPr>
              <a:stCxn id="868" idx="2"/>
              <a:endCxn id="867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74" name="Google Shape;874;p58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75" name="Google Shape;875;p58"/>
            <p:cNvCxnSpPr>
              <a:stCxn id="874" idx="0"/>
              <a:endCxn id="867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6" name="Google Shape;876;p58"/>
            <p:cNvCxnSpPr>
              <a:stCxn id="868" idx="3"/>
              <a:endCxn id="869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7" name="Google Shape;877;p58"/>
            <p:cNvCxnSpPr>
              <a:stCxn id="868" idx="3"/>
              <a:endCxn id="874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8" name="Google Shape;878;p58"/>
            <p:cNvCxnSpPr>
              <a:stCxn id="866" idx="4"/>
              <a:endCxn id="874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79" name="Google Shape;879;p58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58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58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58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83" name="Google Shape;883;p58"/>
            <p:cNvCxnSpPr>
              <a:stCxn id="879" idx="3"/>
              <a:endCxn id="880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4" name="Google Shape;884;p58"/>
            <p:cNvCxnSpPr>
              <a:stCxn id="882" idx="0"/>
              <a:endCxn id="880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5" name="Google Shape;885;p58"/>
            <p:cNvCxnSpPr>
              <a:stCxn id="879" idx="5"/>
              <a:endCxn id="881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6" name="Google Shape;886;p58"/>
            <p:cNvCxnSpPr>
              <a:stCxn id="881" idx="2"/>
              <a:endCxn id="880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87" name="Google Shape;887;p58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rgbClr val="CCA677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88" name="Google Shape;888;p58"/>
            <p:cNvCxnSpPr>
              <a:stCxn id="881" idx="3"/>
              <a:endCxn id="882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9" name="Google Shape;889;p58"/>
            <p:cNvCxnSpPr>
              <a:stCxn id="887" idx="2"/>
              <a:endCxn id="880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0" name="Google Shape;890;p58"/>
            <p:cNvCxnSpPr>
              <a:stCxn id="887" idx="0"/>
              <a:endCxn id="879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1" name="Google Shape;891;p58"/>
            <p:cNvCxnSpPr>
              <a:stCxn id="882" idx="6"/>
              <a:endCxn id="887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2" name="Google Shape;892;p58"/>
            <p:cNvCxnSpPr>
              <a:stCxn id="874" idx="3"/>
              <a:endCxn id="879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3" name="Google Shape;893;p58"/>
            <p:cNvCxnSpPr>
              <a:stCxn id="868" idx="4"/>
              <a:endCxn id="881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94" name="Google Shape;894;p58"/>
          <p:cNvSpPr txBox="1"/>
          <p:nvPr/>
        </p:nvSpPr>
        <p:spPr>
          <a:xfrm>
            <a:off x="4974475" y="4306073"/>
            <a:ext cx="22257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the giant component!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95" name="Google Shape;895;p58"/>
          <p:cNvSpPr/>
          <p:nvPr/>
        </p:nvSpPr>
        <p:spPr>
          <a:xfrm>
            <a:off x="6688025" y="416750"/>
            <a:ext cx="2192100" cy="44904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901" name="Google Shape;901;p59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59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59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59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59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6" name="Google Shape;906;p59"/>
          <p:cNvCxnSpPr>
            <a:stCxn id="902" idx="3"/>
            <a:endCxn id="903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7" name="Google Shape;907;p59"/>
          <p:cNvCxnSpPr>
            <a:stCxn id="905" idx="1"/>
            <a:endCxn id="903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8" name="Google Shape;908;p59"/>
          <p:cNvCxnSpPr>
            <a:stCxn id="902" idx="4"/>
            <a:endCxn id="905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9" name="Google Shape;909;p59"/>
          <p:cNvCxnSpPr>
            <a:stCxn id="902" idx="5"/>
            <a:endCxn id="904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0" name="Google Shape;910;p59"/>
          <p:cNvCxnSpPr>
            <a:stCxn id="904" idx="2"/>
            <a:endCxn id="903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1" name="Google Shape;911;p59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59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59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59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5" name="Google Shape;915;p59"/>
          <p:cNvCxnSpPr>
            <a:stCxn id="911" idx="3"/>
            <a:endCxn id="912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59"/>
          <p:cNvCxnSpPr>
            <a:stCxn id="914" idx="0"/>
            <a:endCxn id="912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59"/>
          <p:cNvCxnSpPr>
            <a:stCxn id="911" idx="5"/>
            <a:endCxn id="913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59"/>
          <p:cNvCxnSpPr>
            <a:stCxn id="913" idx="2"/>
            <a:endCxn id="912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9" name="Google Shape;919;p59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0" name="Google Shape;920;p59"/>
          <p:cNvCxnSpPr>
            <a:stCxn id="919" idx="0"/>
            <a:endCxn id="912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1" name="Google Shape;921;p59"/>
          <p:cNvCxnSpPr>
            <a:stCxn id="913" idx="3"/>
            <a:endCxn id="914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2" name="Google Shape;922;p59"/>
          <p:cNvCxnSpPr>
            <a:stCxn id="913" idx="3"/>
            <a:endCxn id="919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3" name="Google Shape;923;p59"/>
          <p:cNvCxnSpPr>
            <a:stCxn id="911" idx="4"/>
            <a:endCxn id="919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4" name="Google Shape;924;p59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59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59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59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8" name="Google Shape;928;p59"/>
          <p:cNvCxnSpPr>
            <a:stCxn id="924" idx="3"/>
            <a:endCxn id="925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9" name="Google Shape;929;p59"/>
          <p:cNvCxnSpPr>
            <a:stCxn id="927" idx="0"/>
            <a:endCxn id="925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0" name="Google Shape;930;p59"/>
          <p:cNvCxnSpPr>
            <a:stCxn id="924" idx="5"/>
            <a:endCxn id="926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1" name="Google Shape;931;p59"/>
          <p:cNvCxnSpPr>
            <a:stCxn id="926" idx="2"/>
            <a:endCxn id="925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2" name="Google Shape;932;p59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3" name="Google Shape;933;p59"/>
          <p:cNvCxnSpPr>
            <a:stCxn id="926" idx="3"/>
            <a:endCxn id="927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4" name="Google Shape;934;p59"/>
          <p:cNvCxnSpPr>
            <a:stCxn id="932" idx="2"/>
            <a:endCxn id="925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5" name="Google Shape;935;p59"/>
          <p:cNvCxnSpPr>
            <a:stCxn id="932" idx="0"/>
            <a:endCxn id="924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6" name="Google Shape;936;p59"/>
          <p:cNvCxnSpPr>
            <a:stCxn id="927" idx="6"/>
            <a:endCxn id="932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7" name="Google Shape;937;p59"/>
          <p:cNvCxnSpPr>
            <a:stCxn id="904" idx="5"/>
            <a:endCxn id="925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8" name="Google Shape;938;p59"/>
          <p:cNvCxnSpPr>
            <a:stCxn id="904" idx="7"/>
            <a:endCxn id="914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9" name="Google Shape;939;p59"/>
          <p:cNvCxnSpPr>
            <a:stCxn id="919" idx="3"/>
            <a:endCxn id="924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0" name="Google Shape;940;p59"/>
          <p:cNvCxnSpPr>
            <a:stCxn id="913" idx="4"/>
            <a:endCxn id="926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946" name="Google Shape;946;p60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60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60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60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60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1" name="Google Shape;951;p60"/>
          <p:cNvCxnSpPr>
            <a:stCxn id="947" idx="3"/>
            <a:endCxn id="948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2" name="Google Shape;952;p60"/>
          <p:cNvCxnSpPr>
            <a:stCxn id="950" idx="1"/>
            <a:endCxn id="948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3" name="Google Shape;953;p60"/>
          <p:cNvCxnSpPr>
            <a:stCxn id="947" idx="4"/>
            <a:endCxn id="950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4" name="Google Shape;954;p60"/>
          <p:cNvCxnSpPr>
            <a:stCxn id="947" idx="5"/>
            <a:endCxn id="949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5" name="Google Shape;955;p60"/>
          <p:cNvCxnSpPr>
            <a:stCxn id="949" idx="2"/>
            <a:endCxn id="948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6" name="Google Shape;956;p60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60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60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60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0" name="Google Shape;960;p60"/>
          <p:cNvCxnSpPr>
            <a:stCxn id="956" idx="3"/>
            <a:endCxn id="957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1" name="Google Shape;961;p60"/>
          <p:cNvCxnSpPr>
            <a:stCxn id="959" idx="0"/>
            <a:endCxn id="957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2" name="Google Shape;962;p60"/>
          <p:cNvCxnSpPr>
            <a:stCxn id="956" idx="5"/>
            <a:endCxn id="958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3" name="Google Shape;963;p60"/>
          <p:cNvCxnSpPr>
            <a:stCxn id="958" idx="2"/>
            <a:endCxn id="957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4" name="Google Shape;964;p60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5" name="Google Shape;965;p60"/>
          <p:cNvCxnSpPr>
            <a:stCxn id="964" idx="0"/>
            <a:endCxn id="957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6" name="Google Shape;966;p60"/>
          <p:cNvCxnSpPr>
            <a:stCxn id="958" idx="3"/>
            <a:endCxn id="959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7" name="Google Shape;967;p60"/>
          <p:cNvCxnSpPr>
            <a:stCxn id="958" idx="3"/>
            <a:endCxn id="964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8" name="Google Shape;968;p60"/>
          <p:cNvCxnSpPr>
            <a:stCxn id="956" idx="4"/>
            <a:endCxn id="964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9" name="Google Shape;969;p60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60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60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60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3" name="Google Shape;973;p60"/>
          <p:cNvCxnSpPr>
            <a:stCxn id="969" idx="3"/>
            <a:endCxn id="970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4" name="Google Shape;974;p60"/>
          <p:cNvCxnSpPr>
            <a:stCxn id="972" idx="0"/>
            <a:endCxn id="970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5" name="Google Shape;975;p60"/>
          <p:cNvCxnSpPr>
            <a:stCxn id="969" idx="5"/>
            <a:endCxn id="971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6" name="Google Shape;976;p60"/>
          <p:cNvCxnSpPr>
            <a:stCxn id="971" idx="2"/>
            <a:endCxn id="970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7" name="Google Shape;977;p60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8" name="Google Shape;978;p60"/>
          <p:cNvCxnSpPr>
            <a:stCxn id="971" idx="3"/>
            <a:endCxn id="972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9" name="Google Shape;979;p60"/>
          <p:cNvCxnSpPr>
            <a:stCxn id="977" idx="2"/>
            <a:endCxn id="970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0" name="Google Shape;980;p60"/>
          <p:cNvCxnSpPr>
            <a:stCxn id="977" idx="0"/>
            <a:endCxn id="969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1" name="Google Shape;981;p60"/>
          <p:cNvCxnSpPr>
            <a:stCxn id="972" idx="6"/>
            <a:endCxn id="977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2" name="Google Shape;982;p60"/>
          <p:cNvCxnSpPr>
            <a:stCxn id="964" idx="3"/>
            <a:endCxn id="969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3" name="Google Shape;983;p60"/>
          <p:cNvCxnSpPr>
            <a:stCxn id="958" idx="4"/>
            <a:endCxn id="971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4" name="Google Shape;984;p60"/>
          <p:cNvSpPr txBox="1"/>
          <p:nvPr/>
        </p:nvSpPr>
        <p:spPr>
          <a:xfrm>
            <a:off x="4916650" y="896075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Oops! Disconnected!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990" name="Google Shape;990;p61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1" name="Google Shape;991;p61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992" name="Google Shape;992;p61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61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61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61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96" name="Google Shape;996;p61"/>
            <p:cNvCxnSpPr>
              <a:stCxn id="992" idx="3"/>
              <a:endCxn id="993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7" name="Google Shape;997;p61"/>
            <p:cNvCxnSpPr>
              <a:stCxn id="995" idx="1"/>
              <a:endCxn id="993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8" name="Google Shape;998;p61"/>
            <p:cNvCxnSpPr>
              <a:stCxn id="992" idx="4"/>
              <a:endCxn id="995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9" name="Google Shape;999;p61"/>
            <p:cNvCxnSpPr>
              <a:stCxn id="992" idx="5"/>
              <a:endCxn id="994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0" name="Google Shape;1000;p61"/>
            <p:cNvCxnSpPr>
              <a:stCxn id="994" idx="2"/>
              <a:endCxn id="993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01" name="Google Shape;1001;p61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61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61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61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05" name="Google Shape;1005;p61"/>
            <p:cNvCxnSpPr>
              <a:stCxn id="1001" idx="3"/>
              <a:endCxn id="1002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6" name="Google Shape;1006;p61"/>
            <p:cNvCxnSpPr>
              <a:stCxn id="1004" idx="0"/>
              <a:endCxn id="1002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7" name="Google Shape;1007;p61"/>
            <p:cNvCxnSpPr>
              <a:stCxn id="1001" idx="5"/>
              <a:endCxn id="1003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8" name="Google Shape;1008;p61"/>
            <p:cNvCxnSpPr>
              <a:stCxn id="1003" idx="2"/>
              <a:endCxn id="1002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09" name="Google Shape;1009;p61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10" name="Google Shape;1010;p61"/>
            <p:cNvCxnSpPr>
              <a:stCxn id="1009" idx="0"/>
              <a:endCxn id="1002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1" name="Google Shape;1011;p61"/>
            <p:cNvCxnSpPr>
              <a:stCxn id="1003" idx="3"/>
              <a:endCxn id="1004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2" name="Google Shape;1012;p61"/>
            <p:cNvCxnSpPr>
              <a:stCxn id="1003" idx="3"/>
              <a:endCxn id="1009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3" name="Google Shape;1013;p61"/>
            <p:cNvCxnSpPr>
              <a:stCxn id="1001" idx="4"/>
              <a:endCxn id="1009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14" name="Google Shape;1014;p61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61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61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61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18" name="Google Shape;1018;p61"/>
            <p:cNvCxnSpPr>
              <a:stCxn id="1014" idx="3"/>
              <a:endCxn id="1015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9" name="Google Shape;1019;p61"/>
            <p:cNvCxnSpPr>
              <a:stCxn id="1017" idx="0"/>
              <a:endCxn id="1015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0" name="Google Shape;1020;p61"/>
            <p:cNvCxnSpPr>
              <a:stCxn id="1014" idx="5"/>
              <a:endCxn id="1016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1" name="Google Shape;1021;p61"/>
            <p:cNvCxnSpPr>
              <a:stCxn id="1016" idx="2"/>
              <a:endCxn id="1015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22" name="Google Shape;1022;p61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23" name="Google Shape;1023;p61"/>
            <p:cNvCxnSpPr>
              <a:stCxn id="1016" idx="3"/>
              <a:endCxn id="1017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4" name="Google Shape;1024;p61"/>
            <p:cNvCxnSpPr>
              <a:stCxn id="1022" idx="2"/>
              <a:endCxn id="1015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5" name="Google Shape;1025;p61"/>
            <p:cNvCxnSpPr>
              <a:stCxn id="1022" idx="0"/>
              <a:endCxn id="1014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6" name="Google Shape;1026;p61"/>
            <p:cNvCxnSpPr>
              <a:stCxn id="1017" idx="6"/>
              <a:endCxn id="1022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7" name="Google Shape;1027;p61"/>
            <p:cNvCxnSpPr>
              <a:stCxn id="994" idx="5"/>
              <a:endCxn id="1015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8" name="Google Shape;1028;p61"/>
            <p:cNvCxnSpPr>
              <a:stCxn id="994" idx="7"/>
              <a:endCxn id="1004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9" name="Google Shape;1029;p61"/>
            <p:cNvCxnSpPr>
              <a:stCxn id="1009" idx="3"/>
              <a:endCxn id="1014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0" name="Google Shape;1030;p61"/>
            <p:cNvCxnSpPr>
              <a:stCxn id="1003" idx="4"/>
              <a:endCxn id="1016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036" name="Google Shape;1036;p62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62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62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9" name="Google Shape;1039;p62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040" name="Google Shape;1040;p62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62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62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62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44" name="Google Shape;1044;p62"/>
            <p:cNvCxnSpPr>
              <a:stCxn id="1040" idx="3"/>
              <a:endCxn id="1041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5" name="Google Shape;1045;p62"/>
            <p:cNvCxnSpPr>
              <a:stCxn id="1043" idx="1"/>
              <a:endCxn id="1041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6" name="Google Shape;1046;p62"/>
            <p:cNvCxnSpPr>
              <a:stCxn id="1040" idx="4"/>
              <a:endCxn id="1043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7" name="Google Shape;1047;p62"/>
            <p:cNvCxnSpPr>
              <a:stCxn id="1040" idx="5"/>
              <a:endCxn id="1042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8" name="Google Shape;1048;p62"/>
            <p:cNvCxnSpPr>
              <a:stCxn id="1042" idx="2"/>
              <a:endCxn id="1041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49" name="Google Shape;1049;p62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62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62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62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53" name="Google Shape;1053;p62"/>
            <p:cNvCxnSpPr>
              <a:stCxn id="1049" idx="3"/>
              <a:endCxn id="1050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4" name="Google Shape;1054;p62"/>
            <p:cNvCxnSpPr>
              <a:stCxn id="1052" idx="0"/>
              <a:endCxn id="1050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5" name="Google Shape;1055;p62"/>
            <p:cNvCxnSpPr>
              <a:stCxn id="1049" idx="5"/>
              <a:endCxn id="1051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6" name="Google Shape;1056;p62"/>
            <p:cNvCxnSpPr>
              <a:stCxn id="1051" idx="2"/>
              <a:endCxn id="1050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7" name="Google Shape;1057;p62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58" name="Google Shape;1058;p62"/>
            <p:cNvCxnSpPr>
              <a:stCxn id="1057" idx="0"/>
              <a:endCxn id="1050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9" name="Google Shape;1059;p62"/>
            <p:cNvCxnSpPr>
              <a:stCxn id="1051" idx="3"/>
              <a:endCxn id="1052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0" name="Google Shape;1060;p62"/>
            <p:cNvCxnSpPr>
              <a:stCxn id="1051" idx="3"/>
              <a:endCxn id="1057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1" name="Google Shape;1061;p62"/>
            <p:cNvCxnSpPr>
              <a:stCxn id="1049" idx="4"/>
              <a:endCxn id="1057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62" name="Google Shape;1062;p62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62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62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62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66" name="Google Shape;1066;p62"/>
            <p:cNvCxnSpPr>
              <a:stCxn id="1062" idx="3"/>
              <a:endCxn id="1063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7" name="Google Shape;1067;p62"/>
            <p:cNvCxnSpPr>
              <a:stCxn id="1065" idx="0"/>
              <a:endCxn id="1063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8" name="Google Shape;1068;p62"/>
            <p:cNvCxnSpPr>
              <a:stCxn id="1062" idx="5"/>
              <a:endCxn id="1064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9" name="Google Shape;1069;p62"/>
            <p:cNvCxnSpPr>
              <a:stCxn id="1064" idx="2"/>
              <a:endCxn id="1063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70" name="Google Shape;1070;p62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71" name="Google Shape;1071;p62"/>
            <p:cNvCxnSpPr>
              <a:stCxn id="1064" idx="3"/>
              <a:endCxn id="1065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2" name="Google Shape;1072;p62"/>
            <p:cNvCxnSpPr>
              <a:stCxn id="1070" idx="2"/>
              <a:endCxn id="1063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3" name="Google Shape;1073;p62"/>
            <p:cNvCxnSpPr>
              <a:stCxn id="1070" idx="0"/>
              <a:endCxn id="1062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4" name="Google Shape;1074;p62"/>
            <p:cNvCxnSpPr>
              <a:stCxn id="1065" idx="6"/>
              <a:endCxn id="1070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5" name="Google Shape;1075;p62"/>
            <p:cNvCxnSpPr>
              <a:stCxn id="1042" idx="5"/>
              <a:endCxn id="1063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6" name="Google Shape;1076;p62"/>
            <p:cNvCxnSpPr>
              <a:stCxn id="1051" idx="4"/>
              <a:endCxn id="1064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77" name="Google Shape;1077;p62"/>
          <p:cNvSpPr txBox="1"/>
          <p:nvPr/>
        </p:nvSpPr>
        <p:spPr>
          <a:xfrm>
            <a:off x="4916650" y="896075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We removed some edges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78" name="Google Shape;1078;p62"/>
          <p:cNvSpPr txBox="1"/>
          <p:nvPr/>
        </p:nvSpPr>
        <p:spPr>
          <a:xfrm>
            <a:off x="4099750" y="4076700"/>
            <a:ext cx="27174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Is this graph disconnected?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084" name="Google Shape;1084;p63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edges are more important than others when it comes to graph connectivity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63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63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63"/>
          <p:cNvSpPr txBox="1"/>
          <p:nvPr/>
        </p:nvSpPr>
        <p:spPr>
          <a:xfrm>
            <a:off x="4726150" y="3982175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Now it is!</a:t>
            </a:r>
            <a:endParaRPr b="1">
              <a:solidFill>
                <a:srgbClr val="FF0000"/>
              </a:solidFill>
            </a:endParaRPr>
          </a:p>
        </p:txBody>
      </p:sp>
      <p:grpSp>
        <p:nvGrpSpPr>
          <p:cNvPr id="1088" name="Google Shape;1088;p63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089" name="Google Shape;1089;p63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63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63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63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93" name="Google Shape;1093;p63"/>
            <p:cNvCxnSpPr>
              <a:stCxn id="1089" idx="3"/>
              <a:endCxn id="1090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4" name="Google Shape;1094;p63"/>
            <p:cNvCxnSpPr>
              <a:stCxn id="1092" idx="1"/>
              <a:endCxn id="1090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5" name="Google Shape;1095;p63"/>
            <p:cNvCxnSpPr>
              <a:stCxn id="1089" idx="4"/>
              <a:endCxn id="1092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6" name="Google Shape;1096;p63"/>
            <p:cNvCxnSpPr>
              <a:stCxn id="1089" idx="5"/>
              <a:endCxn id="1091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7" name="Google Shape;1097;p63"/>
            <p:cNvCxnSpPr>
              <a:stCxn id="1091" idx="2"/>
              <a:endCxn id="1090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98" name="Google Shape;1098;p63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63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63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63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02" name="Google Shape;1102;p63"/>
            <p:cNvCxnSpPr>
              <a:stCxn id="1098" idx="3"/>
              <a:endCxn id="1099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3" name="Google Shape;1103;p63"/>
            <p:cNvCxnSpPr>
              <a:stCxn id="1101" idx="0"/>
              <a:endCxn id="1099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4" name="Google Shape;1104;p63"/>
            <p:cNvCxnSpPr>
              <a:stCxn id="1098" idx="5"/>
              <a:endCxn id="1100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5" name="Google Shape;1105;p63"/>
            <p:cNvCxnSpPr>
              <a:stCxn id="1100" idx="2"/>
              <a:endCxn id="1099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06" name="Google Shape;1106;p63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07" name="Google Shape;1107;p63"/>
            <p:cNvCxnSpPr>
              <a:stCxn id="1106" idx="0"/>
              <a:endCxn id="1099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8" name="Google Shape;1108;p63"/>
            <p:cNvCxnSpPr>
              <a:stCxn id="1100" idx="3"/>
              <a:endCxn id="1101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9" name="Google Shape;1109;p63"/>
            <p:cNvCxnSpPr>
              <a:stCxn id="1100" idx="3"/>
              <a:endCxn id="1106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0" name="Google Shape;1110;p63"/>
            <p:cNvCxnSpPr>
              <a:stCxn id="1098" idx="4"/>
              <a:endCxn id="1106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11" name="Google Shape;1111;p63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63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63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63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15" name="Google Shape;1115;p63"/>
            <p:cNvCxnSpPr>
              <a:stCxn id="1111" idx="3"/>
              <a:endCxn id="1112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6" name="Google Shape;1116;p63"/>
            <p:cNvCxnSpPr>
              <a:stCxn id="1114" idx="0"/>
              <a:endCxn id="1112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7" name="Google Shape;1117;p63"/>
            <p:cNvCxnSpPr>
              <a:stCxn id="1111" idx="5"/>
              <a:endCxn id="1113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8" name="Google Shape;1118;p63"/>
            <p:cNvCxnSpPr>
              <a:stCxn id="1113" idx="2"/>
              <a:endCxn id="1112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19" name="Google Shape;1119;p63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20" name="Google Shape;1120;p63"/>
            <p:cNvCxnSpPr>
              <a:stCxn id="1113" idx="3"/>
              <a:endCxn id="1114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1" name="Google Shape;1121;p63"/>
            <p:cNvCxnSpPr>
              <a:stCxn id="1119" idx="2"/>
              <a:endCxn id="1112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2" name="Google Shape;1122;p63"/>
            <p:cNvCxnSpPr>
              <a:stCxn id="1119" idx="0"/>
              <a:endCxn id="1111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3" name="Google Shape;1123;p63"/>
            <p:cNvCxnSpPr>
              <a:stCxn id="1114" idx="6"/>
              <a:endCxn id="1119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4" name="Google Shape;1124;p63"/>
            <p:cNvCxnSpPr>
              <a:stCxn id="1091" idx="5"/>
              <a:endCxn id="1112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130" name="Google Shape;1130;p64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some graphs removing just </a:t>
            </a:r>
            <a:r>
              <a:rPr b="1" lang="en"/>
              <a:t>one edge</a:t>
            </a:r>
            <a:r>
              <a:rPr lang="en"/>
              <a:t> leads to disconnection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31" name="Google Shape;1131;p64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132" name="Google Shape;1132;p64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64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64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64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36" name="Google Shape;1136;p64"/>
            <p:cNvCxnSpPr>
              <a:stCxn id="1132" idx="3"/>
              <a:endCxn id="1133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7" name="Google Shape;1137;p64"/>
            <p:cNvCxnSpPr>
              <a:stCxn id="1135" idx="1"/>
              <a:endCxn id="1133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8" name="Google Shape;1138;p64"/>
            <p:cNvCxnSpPr>
              <a:stCxn id="1132" idx="4"/>
              <a:endCxn id="1135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9" name="Google Shape;1139;p64"/>
            <p:cNvCxnSpPr>
              <a:stCxn id="1132" idx="5"/>
              <a:endCxn id="1134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0" name="Google Shape;1140;p64"/>
            <p:cNvCxnSpPr>
              <a:stCxn id="1134" idx="2"/>
              <a:endCxn id="1133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1" name="Google Shape;1141;p64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64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64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64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45" name="Google Shape;1145;p64"/>
            <p:cNvCxnSpPr>
              <a:stCxn id="1141" idx="3"/>
              <a:endCxn id="1142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6" name="Google Shape;1146;p64"/>
            <p:cNvCxnSpPr>
              <a:stCxn id="1144" idx="0"/>
              <a:endCxn id="1142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7" name="Google Shape;1147;p64"/>
            <p:cNvCxnSpPr>
              <a:stCxn id="1141" idx="5"/>
              <a:endCxn id="1143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8" name="Google Shape;1148;p64"/>
            <p:cNvCxnSpPr>
              <a:stCxn id="1143" idx="2"/>
              <a:endCxn id="1142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9" name="Google Shape;1149;p64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50" name="Google Shape;1150;p64"/>
            <p:cNvCxnSpPr>
              <a:stCxn id="1149" idx="0"/>
              <a:endCxn id="1142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1" name="Google Shape;1151;p64"/>
            <p:cNvCxnSpPr>
              <a:stCxn id="1143" idx="3"/>
              <a:endCxn id="1144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2" name="Google Shape;1152;p64"/>
            <p:cNvCxnSpPr>
              <a:stCxn id="1143" idx="3"/>
              <a:endCxn id="1149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3" name="Google Shape;1153;p64"/>
            <p:cNvCxnSpPr>
              <a:stCxn id="1141" idx="4"/>
              <a:endCxn id="1149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54" name="Google Shape;1154;p64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64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64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64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58" name="Google Shape;1158;p64"/>
            <p:cNvCxnSpPr>
              <a:stCxn id="1154" idx="3"/>
              <a:endCxn id="1155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9" name="Google Shape;1159;p64"/>
            <p:cNvCxnSpPr>
              <a:stCxn id="1157" idx="0"/>
              <a:endCxn id="1155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0" name="Google Shape;1160;p64"/>
            <p:cNvCxnSpPr>
              <a:stCxn id="1154" idx="5"/>
              <a:endCxn id="1156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1" name="Google Shape;1161;p64"/>
            <p:cNvCxnSpPr>
              <a:stCxn id="1156" idx="2"/>
              <a:endCxn id="1155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62" name="Google Shape;1162;p64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63" name="Google Shape;1163;p64"/>
            <p:cNvCxnSpPr>
              <a:stCxn id="1156" idx="3"/>
              <a:endCxn id="1157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4" name="Google Shape;1164;p64"/>
            <p:cNvCxnSpPr>
              <a:stCxn id="1162" idx="2"/>
              <a:endCxn id="1155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5" name="Google Shape;1165;p64"/>
            <p:cNvCxnSpPr>
              <a:stCxn id="1162" idx="0"/>
              <a:endCxn id="1154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6" name="Google Shape;1166;p64"/>
            <p:cNvCxnSpPr>
              <a:stCxn id="1157" idx="6"/>
              <a:endCxn id="1162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7" name="Google Shape;1167;p64"/>
            <p:cNvCxnSpPr>
              <a:stCxn id="1134" idx="7"/>
              <a:endCxn id="1144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8" name="Google Shape;1168;p64"/>
            <p:cNvCxnSpPr>
              <a:stCxn id="1149" idx="3"/>
              <a:endCxn id="1154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9" name="Google Shape;1169;p64"/>
            <p:cNvCxnSpPr>
              <a:stCxn id="1143" idx="4"/>
              <a:endCxn id="1156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175" name="Google Shape;1175;p65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some graphs removing just </a:t>
            </a:r>
            <a:r>
              <a:rPr b="1" lang="en"/>
              <a:t>one edge</a:t>
            </a:r>
            <a:r>
              <a:rPr lang="en"/>
              <a:t> leads to disconnection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Edges with the property of being able to disconnect the graph upon removal are called </a:t>
            </a:r>
            <a:r>
              <a:rPr b="1" lang="en"/>
              <a:t>bridges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76" name="Google Shape;1176;p65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177" name="Google Shape;1177;p65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65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65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65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81" name="Google Shape;1181;p65"/>
            <p:cNvCxnSpPr>
              <a:stCxn id="1177" idx="3"/>
              <a:endCxn id="1178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2" name="Google Shape;1182;p65"/>
            <p:cNvCxnSpPr>
              <a:stCxn id="1180" idx="1"/>
              <a:endCxn id="1178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3" name="Google Shape;1183;p65"/>
            <p:cNvCxnSpPr>
              <a:stCxn id="1177" idx="4"/>
              <a:endCxn id="1180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4" name="Google Shape;1184;p65"/>
            <p:cNvCxnSpPr>
              <a:stCxn id="1177" idx="5"/>
              <a:endCxn id="1179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5" name="Google Shape;1185;p65"/>
            <p:cNvCxnSpPr>
              <a:stCxn id="1179" idx="2"/>
              <a:endCxn id="1178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86" name="Google Shape;1186;p65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65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65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65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90" name="Google Shape;1190;p65"/>
            <p:cNvCxnSpPr>
              <a:stCxn id="1186" idx="3"/>
              <a:endCxn id="1187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1" name="Google Shape;1191;p65"/>
            <p:cNvCxnSpPr>
              <a:stCxn id="1189" idx="0"/>
              <a:endCxn id="1187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2" name="Google Shape;1192;p65"/>
            <p:cNvCxnSpPr>
              <a:stCxn id="1186" idx="5"/>
              <a:endCxn id="1188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3" name="Google Shape;1193;p65"/>
            <p:cNvCxnSpPr>
              <a:stCxn id="1188" idx="2"/>
              <a:endCxn id="1187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94" name="Google Shape;1194;p65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95" name="Google Shape;1195;p65"/>
            <p:cNvCxnSpPr>
              <a:stCxn id="1194" idx="0"/>
              <a:endCxn id="1187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6" name="Google Shape;1196;p65"/>
            <p:cNvCxnSpPr>
              <a:stCxn id="1188" idx="3"/>
              <a:endCxn id="1189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7" name="Google Shape;1197;p65"/>
            <p:cNvCxnSpPr>
              <a:stCxn id="1188" idx="3"/>
              <a:endCxn id="1194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8" name="Google Shape;1198;p65"/>
            <p:cNvCxnSpPr>
              <a:stCxn id="1186" idx="4"/>
              <a:endCxn id="1194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99" name="Google Shape;1199;p65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65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65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65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03" name="Google Shape;1203;p65"/>
            <p:cNvCxnSpPr>
              <a:stCxn id="1199" idx="3"/>
              <a:endCxn id="1200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4" name="Google Shape;1204;p65"/>
            <p:cNvCxnSpPr>
              <a:stCxn id="1202" idx="0"/>
              <a:endCxn id="1200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5" name="Google Shape;1205;p65"/>
            <p:cNvCxnSpPr>
              <a:stCxn id="1199" idx="5"/>
              <a:endCxn id="1201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6" name="Google Shape;1206;p65"/>
            <p:cNvCxnSpPr>
              <a:stCxn id="1201" idx="2"/>
              <a:endCxn id="1200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07" name="Google Shape;1207;p65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08" name="Google Shape;1208;p65"/>
            <p:cNvCxnSpPr>
              <a:stCxn id="1201" idx="3"/>
              <a:endCxn id="1202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9" name="Google Shape;1209;p65"/>
            <p:cNvCxnSpPr>
              <a:stCxn id="1207" idx="2"/>
              <a:endCxn id="1200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0" name="Google Shape;1210;p65"/>
            <p:cNvCxnSpPr>
              <a:stCxn id="1207" idx="0"/>
              <a:endCxn id="1199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1" name="Google Shape;1211;p65"/>
            <p:cNvCxnSpPr>
              <a:stCxn id="1202" idx="6"/>
              <a:endCxn id="1207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2" name="Google Shape;1212;p65"/>
            <p:cNvCxnSpPr>
              <a:stCxn id="1179" idx="7"/>
              <a:endCxn id="1189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3" name="Google Shape;1213;p65"/>
            <p:cNvCxnSpPr>
              <a:stCxn id="1194" idx="3"/>
              <a:endCxn id="1199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4" name="Google Shape;1214;p65"/>
            <p:cNvCxnSpPr>
              <a:stCxn id="1188" idx="4"/>
              <a:endCxn id="1201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6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220" name="Google Shape;1220;p66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some graphs removing just one edge leads to disconnection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Edges with the property of being able to disconnect the graph upon removal are called </a:t>
            </a:r>
            <a:r>
              <a:rPr b="1" lang="en"/>
              <a:t>bridges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66"/>
          <p:cNvSpPr txBox="1"/>
          <p:nvPr/>
        </p:nvSpPr>
        <p:spPr>
          <a:xfrm>
            <a:off x="4626000" y="939800"/>
            <a:ext cx="16179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bridge</a:t>
            </a:r>
            <a:endParaRPr b="1">
              <a:solidFill>
                <a:srgbClr val="FF0000"/>
              </a:solidFill>
            </a:endParaRPr>
          </a:p>
        </p:txBody>
      </p:sp>
      <p:grpSp>
        <p:nvGrpSpPr>
          <p:cNvPr id="1222" name="Google Shape;1222;p66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1223" name="Google Shape;1223;p66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66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66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66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27" name="Google Shape;1227;p66"/>
            <p:cNvCxnSpPr>
              <a:stCxn id="1223" idx="3"/>
              <a:endCxn id="1224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8" name="Google Shape;1228;p66"/>
            <p:cNvCxnSpPr>
              <a:stCxn id="1226" idx="1"/>
              <a:endCxn id="1224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9" name="Google Shape;1229;p66"/>
            <p:cNvCxnSpPr>
              <a:stCxn id="1223" idx="4"/>
              <a:endCxn id="1226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0" name="Google Shape;1230;p66"/>
            <p:cNvCxnSpPr>
              <a:stCxn id="1223" idx="5"/>
              <a:endCxn id="1225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1" name="Google Shape;1231;p66"/>
            <p:cNvCxnSpPr>
              <a:stCxn id="1225" idx="2"/>
              <a:endCxn id="1224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32" name="Google Shape;1232;p66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66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66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66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36" name="Google Shape;1236;p66"/>
            <p:cNvCxnSpPr>
              <a:stCxn id="1232" idx="3"/>
              <a:endCxn id="1233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7" name="Google Shape;1237;p66"/>
            <p:cNvCxnSpPr>
              <a:stCxn id="1235" idx="0"/>
              <a:endCxn id="1233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8" name="Google Shape;1238;p66"/>
            <p:cNvCxnSpPr>
              <a:stCxn id="1232" idx="5"/>
              <a:endCxn id="1234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9" name="Google Shape;1239;p66"/>
            <p:cNvCxnSpPr>
              <a:stCxn id="1234" idx="2"/>
              <a:endCxn id="1233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40" name="Google Shape;1240;p66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41" name="Google Shape;1241;p66"/>
            <p:cNvCxnSpPr>
              <a:stCxn id="1240" idx="0"/>
              <a:endCxn id="1233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2" name="Google Shape;1242;p66"/>
            <p:cNvCxnSpPr>
              <a:stCxn id="1234" idx="3"/>
              <a:endCxn id="1235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3" name="Google Shape;1243;p66"/>
            <p:cNvCxnSpPr>
              <a:stCxn id="1234" idx="3"/>
              <a:endCxn id="1240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4" name="Google Shape;1244;p66"/>
            <p:cNvCxnSpPr>
              <a:stCxn id="1232" idx="4"/>
              <a:endCxn id="1240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45" name="Google Shape;1245;p66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66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66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66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49" name="Google Shape;1249;p66"/>
            <p:cNvCxnSpPr>
              <a:stCxn id="1245" idx="3"/>
              <a:endCxn id="1246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0" name="Google Shape;1250;p66"/>
            <p:cNvCxnSpPr>
              <a:stCxn id="1248" idx="0"/>
              <a:endCxn id="1246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1" name="Google Shape;1251;p66"/>
            <p:cNvCxnSpPr>
              <a:stCxn id="1245" idx="5"/>
              <a:endCxn id="1247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2" name="Google Shape;1252;p66"/>
            <p:cNvCxnSpPr>
              <a:stCxn id="1247" idx="2"/>
              <a:endCxn id="1246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53" name="Google Shape;1253;p66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54" name="Google Shape;1254;p66"/>
            <p:cNvCxnSpPr>
              <a:stCxn id="1247" idx="3"/>
              <a:endCxn id="1248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5" name="Google Shape;1255;p66"/>
            <p:cNvCxnSpPr>
              <a:stCxn id="1253" idx="2"/>
              <a:endCxn id="1246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6" name="Google Shape;1256;p66"/>
            <p:cNvCxnSpPr>
              <a:stCxn id="1253" idx="0"/>
              <a:endCxn id="1245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7" name="Google Shape;1257;p66"/>
            <p:cNvCxnSpPr>
              <a:stCxn id="1248" idx="6"/>
              <a:endCxn id="1253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8" name="Google Shape;1258;p66"/>
            <p:cNvCxnSpPr>
              <a:stCxn id="1225" idx="7"/>
              <a:endCxn id="1235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9" name="Google Shape;1259;p66"/>
            <p:cNvCxnSpPr>
              <a:stCxn id="1240" idx="3"/>
              <a:endCxn id="1245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0" name="Google Shape;1260;p66"/>
            <p:cNvCxnSpPr>
              <a:stCxn id="1234" idx="4"/>
              <a:endCxn id="1247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61" name="Google Shape;1261;p66"/>
          <p:cNvCxnSpPr>
            <a:stCxn id="1221" idx="2"/>
          </p:cNvCxnSpPr>
          <p:nvPr/>
        </p:nvCxnSpPr>
        <p:spPr>
          <a:xfrm>
            <a:off x="5434950" y="1379600"/>
            <a:ext cx="1384500" cy="456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accent6"/>
        </a:solidFill>
      </p:bgPr>
    </p:bg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6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68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6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  <p:sp>
        <p:nvSpPr>
          <p:cNvPr id="1277" name="Google Shape;1277;p69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paths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69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79" name="Google Shape;1279;p69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80" name="Google Shape;1280;p69"/>
          <p:cNvCxnSpPr>
            <a:stCxn id="1278" idx="5"/>
            <a:endCxn id="1279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281" name="Google Shape;1281;p69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82" name="Google Shape;1282;p69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83" name="Google Shape;1283;p69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84" name="Google Shape;1284;p69"/>
          <p:cNvCxnSpPr>
            <a:stCxn id="1279" idx="7"/>
            <a:endCxn id="1281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85" name="Google Shape;1285;p69"/>
          <p:cNvCxnSpPr>
            <a:stCxn id="1283" idx="1"/>
            <a:endCxn id="1281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86" name="Google Shape;1286;p69"/>
          <p:cNvCxnSpPr>
            <a:stCxn id="1283" idx="3"/>
            <a:endCxn id="1282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87" name="Google Shape;1287;p69"/>
          <p:cNvCxnSpPr>
            <a:stCxn id="1282" idx="1"/>
            <a:endCxn id="1281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88" name="Google Shape;1288;p69"/>
          <p:cNvCxnSpPr>
            <a:stCxn id="1282" idx="7"/>
            <a:endCxn id="1281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89" name="Google Shape;1289;p69"/>
          <p:cNvCxnSpPr>
            <a:stCxn id="1279" idx="1"/>
            <a:endCxn id="1278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90" name="Google Shape;1290;p69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91" name="Google Shape;1291;p69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7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  <p:sp>
        <p:nvSpPr>
          <p:cNvPr id="1297" name="Google Shape;1297;p70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paths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two directed paths of length 3 from A to B: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{AD, DE, EB}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70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99" name="Google Shape;1299;p70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00" name="Google Shape;1300;p70"/>
          <p:cNvCxnSpPr>
            <a:stCxn id="1298" idx="5"/>
            <a:endCxn id="1299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301" name="Google Shape;1301;p70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02" name="Google Shape;1302;p70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03" name="Google Shape;1303;p70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04" name="Google Shape;1304;p70"/>
          <p:cNvCxnSpPr>
            <a:stCxn id="1299" idx="7"/>
            <a:endCxn id="1301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05" name="Google Shape;1305;p70"/>
          <p:cNvCxnSpPr>
            <a:stCxn id="1303" idx="1"/>
            <a:endCxn id="1301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06" name="Google Shape;1306;p70"/>
          <p:cNvCxnSpPr>
            <a:stCxn id="1303" idx="3"/>
            <a:endCxn id="1302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07" name="Google Shape;1307;p70"/>
          <p:cNvCxnSpPr>
            <a:stCxn id="1302" idx="1"/>
            <a:endCxn id="1301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08" name="Google Shape;1308;p70"/>
          <p:cNvCxnSpPr>
            <a:stCxn id="1302" idx="7"/>
            <a:endCxn id="1301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09" name="Google Shape;1309;p70"/>
          <p:cNvCxnSpPr>
            <a:stCxn id="1299" idx="1"/>
            <a:endCxn id="1298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10" name="Google Shape;1310;p70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11" name="Google Shape;1311;p70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7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  <p:sp>
        <p:nvSpPr>
          <p:cNvPr id="1317" name="Google Shape;1317;p71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paths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two directed paths of length 3 from A to B: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{AD, DE, EB}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{AC, CE, EB}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71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19" name="Google Shape;1319;p71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20" name="Google Shape;1320;p71"/>
          <p:cNvCxnSpPr>
            <a:stCxn id="1318" idx="5"/>
            <a:endCxn id="1319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321" name="Google Shape;1321;p71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22" name="Google Shape;1322;p71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23" name="Google Shape;1323;p71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24" name="Google Shape;1324;p71"/>
          <p:cNvCxnSpPr>
            <a:stCxn id="1319" idx="7"/>
            <a:endCxn id="1321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25" name="Google Shape;1325;p71"/>
          <p:cNvCxnSpPr>
            <a:stCxn id="1323" idx="1"/>
            <a:endCxn id="1321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26" name="Google Shape;1326;p71"/>
          <p:cNvCxnSpPr>
            <a:stCxn id="1323" idx="3"/>
            <a:endCxn id="1322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27" name="Google Shape;1327;p71"/>
          <p:cNvCxnSpPr>
            <a:stCxn id="1322" idx="1"/>
            <a:endCxn id="1321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28" name="Google Shape;1328;p71"/>
          <p:cNvCxnSpPr>
            <a:stCxn id="1322" idx="7"/>
            <a:endCxn id="1321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29" name="Google Shape;1329;p71"/>
          <p:cNvCxnSpPr>
            <a:stCxn id="1319" idx="1"/>
            <a:endCxn id="1318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30" name="Google Shape;1330;p71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31" name="Google Shape;1331;p71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7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  <p:sp>
        <p:nvSpPr>
          <p:cNvPr id="1337" name="Google Shape;1337;p72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paths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also two directed paths of length 4 from A to B: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{AC, CD, DE, EB}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72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39" name="Google Shape;1339;p72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40" name="Google Shape;1340;p72"/>
          <p:cNvCxnSpPr>
            <a:stCxn id="1338" idx="5"/>
            <a:endCxn id="1339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341" name="Google Shape;1341;p72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42" name="Google Shape;1342;p72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43" name="Google Shape;1343;p72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44" name="Google Shape;1344;p72"/>
          <p:cNvCxnSpPr>
            <a:stCxn id="1339" idx="7"/>
            <a:endCxn id="1341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45" name="Google Shape;1345;p72"/>
          <p:cNvCxnSpPr>
            <a:stCxn id="1343" idx="1"/>
            <a:endCxn id="1341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46" name="Google Shape;1346;p72"/>
          <p:cNvCxnSpPr>
            <a:stCxn id="1343" idx="3"/>
            <a:endCxn id="1342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47" name="Google Shape;1347;p72"/>
          <p:cNvCxnSpPr>
            <a:stCxn id="1342" idx="1"/>
            <a:endCxn id="1341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48" name="Google Shape;1348;p72"/>
          <p:cNvCxnSpPr>
            <a:stCxn id="1342" idx="7"/>
            <a:endCxn id="1341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49" name="Google Shape;1349;p72"/>
          <p:cNvCxnSpPr>
            <a:stCxn id="1339" idx="1"/>
            <a:endCxn id="1338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50" name="Google Shape;1350;p72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51" name="Google Shape;1351;p72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7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  <p:sp>
        <p:nvSpPr>
          <p:cNvPr id="1357" name="Google Shape;1357;p73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paths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also two directed paths of length 4 from A to B: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{AC, CD, DE, EB}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{AD, DC, CE, EB}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73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59" name="Google Shape;1359;p73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60" name="Google Shape;1360;p73"/>
          <p:cNvCxnSpPr>
            <a:stCxn id="1358" idx="5"/>
            <a:endCxn id="1359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361" name="Google Shape;1361;p73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2" name="Google Shape;1362;p73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3" name="Google Shape;1363;p73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64" name="Google Shape;1364;p73"/>
          <p:cNvCxnSpPr>
            <a:stCxn id="1359" idx="7"/>
            <a:endCxn id="1361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65" name="Google Shape;1365;p73"/>
          <p:cNvCxnSpPr>
            <a:stCxn id="1363" idx="1"/>
            <a:endCxn id="1361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66" name="Google Shape;1366;p73"/>
          <p:cNvCxnSpPr>
            <a:stCxn id="1363" idx="3"/>
            <a:endCxn id="1362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67" name="Google Shape;1367;p73"/>
          <p:cNvCxnSpPr>
            <a:stCxn id="1362" idx="1"/>
            <a:endCxn id="1361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68" name="Google Shape;1368;p73"/>
          <p:cNvCxnSpPr>
            <a:stCxn id="1362" idx="7"/>
            <a:endCxn id="1361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69" name="Google Shape;1369;p73"/>
          <p:cNvCxnSpPr>
            <a:stCxn id="1359" idx="1"/>
            <a:endCxn id="1358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70" name="Google Shape;1370;p73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71" name="Google Shape;1371;p73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7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  <p:sp>
        <p:nvSpPr>
          <p:cNvPr id="1377" name="Google Shape;1377;p74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paths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there is no directed path connecting B to A!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74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79" name="Google Shape;1379;p74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80" name="Google Shape;1380;p74"/>
          <p:cNvCxnSpPr>
            <a:stCxn id="1378" idx="5"/>
            <a:endCxn id="1379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381" name="Google Shape;1381;p74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82" name="Google Shape;1382;p74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83" name="Google Shape;1383;p74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84" name="Google Shape;1384;p74"/>
          <p:cNvCxnSpPr>
            <a:stCxn id="1379" idx="7"/>
            <a:endCxn id="1381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85" name="Google Shape;1385;p74"/>
          <p:cNvCxnSpPr>
            <a:stCxn id="1383" idx="1"/>
            <a:endCxn id="1381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86" name="Google Shape;1386;p74"/>
          <p:cNvCxnSpPr>
            <a:stCxn id="1383" idx="3"/>
            <a:endCxn id="1382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87" name="Google Shape;1387;p74"/>
          <p:cNvCxnSpPr>
            <a:stCxn id="1382" idx="1"/>
            <a:endCxn id="1381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88" name="Google Shape;1388;p74"/>
          <p:cNvCxnSpPr>
            <a:stCxn id="1382" idx="7"/>
            <a:endCxn id="1381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89" name="Google Shape;1389;p74"/>
          <p:cNvCxnSpPr>
            <a:stCxn id="1379" idx="1"/>
            <a:endCxn id="1378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90" name="Google Shape;1390;p74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91" name="Google Shape;1391;p74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92" name="Google Shape;1392;p74"/>
          <p:cNvSpPr/>
          <p:nvPr/>
        </p:nvSpPr>
        <p:spPr>
          <a:xfrm>
            <a:off x="5061625" y="3344174"/>
            <a:ext cx="2525400" cy="1056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0000"/>
                </a:solidFill>
              </a:rPr>
              <a:t>?</a:t>
            </a:r>
            <a:endParaRPr b="1" sz="19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7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  <p:sp>
        <p:nvSpPr>
          <p:cNvPr id="1398" name="Google Shape;1398;p75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paths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there is no directed path connecting B to A!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That means that while A can </a:t>
            </a:r>
            <a:r>
              <a:rPr b="1" lang="en"/>
              <a:t>reach </a:t>
            </a:r>
            <a:r>
              <a:rPr lang="en"/>
              <a:t>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</a:t>
            </a:r>
            <a:r>
              <a:rPr b="1" lang="en"/>
              <a:t>cannot reach</a:t>
            </a:r>
            <a:r>
              <a:rPr lang="en"/>
              <a:t> A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75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00" name="Google Shape;1400;p75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01" name="Google Shape;1401;p75"/>
          <p:cNvCxnSpPr>
            <a:stCxn id="1399" idx="5"/>
            <a:endCxn id="1400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402" name="Google Shape;1402;p75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03" name="Google Shape;1403;p75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04" name="Google Shape;1404;p75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05" name="Google Shape;1405;p75"/>
          <p:cNvCxnSpPr>
            <a:stCxn id="1400" idx="7"/>
            <a:endCxn id="1402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06" name="Google Shape;1406;p75"/>
          <p:cNvCxnSpPr>
            <a:stCxn id="1404" idx="1"/>
            <a:endCxn id="1402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07" name="Google Shape;1407;p75"/>
          <p:cNvCxnSpPr>
            <a:stCxn id="1404" idx="3"/>
            <a:endCxn id="1403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08" name="Google Shape;1408;p75"/>
          <p:cNvCxnSpPr>
            <a:stCxn id="1403" idx="1"/>
            <a:endCxn id="1402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09" name="Google Shape;1409;p75"/>
          <p:cNvCxnSpPr>
            <a:stCxn id="1403" idx="7"/>
            <a:endCxn id="1402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10" name="Google Shape;1410;p75"/>
          <p:cNvCxnSpPr>
            <a:stCxn id="1400" idx="1"/>
            <a:endCxn id="1399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11" name="Google Shape;1411;p75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12" name="Google Shape;1412;p75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13" name="Google Shape;1413;p75"/>
          <p:cNvSpPr/>
          <p:nvPr/>
        </p:nvSpPr>
        <p:spPr>
          <a:xfrm>
            <a:off x="4354300" y="3934749"/>
            <a:ext cx="2525400" cy="10560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In directed graphs the reachability relation is asymmetric!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414" name="Google Shape;1414;p75"/>
          <p:cNvCxnSpPr>
            <a:stCxn id="1413" idx="0"/>
          </p:cNvCxnSpPr>
          <p:nvPr/>
        </p:nvCxnSpPr>
        <p:spPr>
          <a:xfrm flipH="1" rot="10800000">
            <a:off x="5617000" y="3456249"/>
            <a:ext cx="794700" cy="478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7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  <p:sp>
        <p:nvSpPr>
          <p:cNvPr id="1420" name="Google Shape;1420;p76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paths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there is no directed path connecting B to A!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That means that while A can </a:t>
            </a:r>
            <a:r>
              <a:rPr b="1" lang="en"/>
              <a:t>reach </a:t>
            </a:r>
            <a:r>
              <a:rPr lang="en"/>
              <a:t>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</a:t>
            </a:r>
            <a:r>
              <a:rPr b="1" lang="en"/>
              <a:t>cannot reach</a:t>
            </a:r>
            <a:r>
              <a:rPr lang="en"/>
              <a:t> 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Nonadjacent nodes may be</a:t>
            </a:r>
            <a:r>
              <a:rPr b="1" lang="en"/>
              <a:t> mutually reachable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76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22" name="Google Shape;1422;p76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23" name="Google Shape;1423;p76"/>
          <p:cNvCxnSpPr>
            <a:stCxn id="1421" idx="5"/>
            <a:endCxn id="1422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424" name="Google Shape;1424;p76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25" name="Google Shape;1425;p76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26" name="Google Shape;1426;p76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27" name="Google Shape;1427;p76"/>
          <p:cNvCxnSpPr>
            <a:stCxn id="1422" idx="7"/>
            <a:endCxn id="142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28" name="Google Shape;1428;p76"/>
          <p:cNvCxnSpPr>
            <a:stCxn id="1426" idx="1"/>
            <a:endCxn id="1424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29" name="Google Shape;1429;p76"/>
          <p:cNvCxnSpPr>
            <a:stCxn id="1426" idx="3"/>
            <a:endCxn id="1425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30" name="Google Shape;1430;p76"/>
          <p:cNvCxnSpPr>
            <a:stCxn id="1425" idx="1"/>
            <a:endCxn id="1424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31" name="Google Shape;1431;p76"/>
          <p:cNvCxnSpPr>
            <a:stCxn id="1425" idx="7"/>
            <a:endCxn id="1424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32" name="Google Shape;1432;p76"/>
          <p:cNvCxnSpPr>
            <a:stCxn id="1422" idx="1"/>
            <a:endCxn id="1421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0D5DDF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33" name="Google Shape;1433;p76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0D5DDF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34" name="Google Shape;1434;p76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35" name="Google Shape;1435;p76"/>
          <p:cNvSpPr/>
          <p:nvPr/>
        </p:nvSpPr>
        <p:spPr>
          <a:xfrm>
            <a:off x="2918550" y="4159450"/>
            <a:ext cx="49923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B and D are mutually reachable: B can reach D (blue directed path) and D can reach B (red directed path)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436" name="Google Shape;1436;p76"/>
          <p:cNvCxnSpPr>
            <a:stCxn id="1435" idx="0"/>
          </p:cNvCxnSpPr>
          <p:nvPr/>
        </p:nvCxnSpPr>
        <p:spPr>
          <a:xfrm flipH="1" rot="10800000">
            <a:off x="5414700" y="3570850"/>
            <a:ext cx="1040400" cy="588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7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Paths</a:t>
            </a:r>
            <a:endParaRPr/>
          </a:p>
        </p:txBody>
      </p:sp>
      <p:sp>
        <p:nvSpPr>
          <p:cNvPr id="1442" name="Google Shape;1442;p77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paths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there is no directed path connecting B to A!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That means that while A can </a:t>
            </a:r>
            <a:r>
              <a:rPr b="1" lang="en"/>
              <a:t>reach </a:t>
            </a:r>
            <a:r>
              <a:rPr lang="en"/>
              <a:t>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</a:t>
            </a:r>
            <a:r>
              <a:rPr b="1" lang="en"/>
              <a:t>cannot reach</a:t>
            </a:r>
            <a:r>
              <a:rPr lang="en"/>
              <a:t> 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Nonadjacent nodes may be</a:t>
            </a:r>
            <a:r>
              <a:rPr b="1" lang="en"/>
              <a:t> mutually reachable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77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44" name="Google Shape;1444;p77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45" name="Google Shape;1445;p77"/>
          <p:cNvCxnSpPr>
            <a:stCxn id="1443" idx="5"/>
            <a:endCxn id="1444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446" name="Google Shape;1446;p77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47" name="Google Shape;1447;p77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48" name="Google Shape;1448;p77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49" name="Google Shape;1449;p77"/>
          <p:cNvCxnSpPr>
            <a:stCxn id="1444" idx="7"/>
            <a:endCxn id="1446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50" name="Google Shape;1450;p77"/>
          <p:cNvCxnSpPr>
            <a:stCxn id="1448" idx="1"/>
            <a:endCxn id="1446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51" name="Google Shape;1451;p77"/>
          <p:cNvCxnSpPr>
            <a:stCxn id="1448" idx="3"/>
            <a:endCxn id="1447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52" name="Google Shape;1452;p77"/>
          <p:cNvCxnSpPr>
            <a:stCxn id="1447" idx="1"/>
            <a:endCxn id="1446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53" name="Google Shape;1453;p77"/>
          <p:cNvCxnSpPr>
            <a:stCxn id="1447" idx="7"/>
            <a:endCxn id="1446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54" name="Google Shape;1454;p77"/>
          <p:cNvCxnSpPr>
            <a:stCxn id="1444" idx="1"/>
            <a:endCxn id="1443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55" name="Google Shape;1455;p77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56" name="Google Shape;1456;p77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57" name="Google Shape;1457;p77"/>
          <p:cNvSpPr/>
          <p:nvPr/>
        </p:nvSpPr>
        <p:spPr>
          <a:xfrm>
            <a:off x="2918550" y="4159450"/>
            <a:ext cx="49923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A and B are NOT mutually reachable: A can reach B (red directed path) but B cannot reach A 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458" name="Google Shape;1458;p77"/>
          <p:cNvCxnSpPr>
            <a:stCxn id="1457" idx="0"/>
          </p:cNvCxnSpPr>
          <p:nvPr/>
        </p:nvCxnSpPr>
        <p:spPr>
          <a:xfrm flipH="1" rot="10800000">
            <a:off x="5414700" y="3570850"/>
            <a:ext cx="1040400" cy="588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7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Cycles</a:t>
            </a:r>
            <a:endParaRPr/>
          </a:p>
        </p:txBody>
      </p:sp>
      <p:sp>
        <p:nvSpPr>
          <p:cNvPr id="1464" name="Google Shape;1464;p78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cycles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78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66" name="Google Shape;1466;p78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67" name="Google Shape;1467;p78"/>
          <p:cNvCxnSpPr>
            <a:stCxn id="1465" idx="5"/>
            <a:endCxn id="1466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468" name="Google Shape;1468;p78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69" name="Google Shape;1469;p78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70" name="Google Shape;1470;p78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71" name="Google Shape;1471;p78"/>
          <p:cNvCxnSpPr>
            <a:stCxn id="1466" idx="7"/>
            <a:endCxn id="1468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72" name="Google Shape;1472;p78"/>
          <p:cNvCxnSpPr>
            <a:stCxn id="1470" idx="1"/>
            <a:endCxn id="1468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73" name="Google Shape;1473;p78"/>
          <p:cNvCxnSpPr>
            <a:stCxn id="1470" idx="3"/>
            <a:endCxn id="1469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74" name="Google Shape;1474;p78"/>
          <p:cNvCxnSpPr>
            <a:stCxn id="1469" idx="1"/>
            <a:endCxn id="1468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75" name="Google Shape;1475;p78"/>
          <p:cNvCxnSpPr>
            <a:stCxn id="1469" idx="7"/>
            <a:endCxn id="1468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76" name="Google Shape;1476;p78"/>
          <p:cNvCxnSpPr>
            <a:stCxn id="1466" idx="1"/>
            <a:endCxn id="1465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77" name="Google Shape;1477;p78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78" name="Google Shape;1478;p78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7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Cycles</a:t>
            </a:r>
            <a:endParaRPr/>
          </a:p>
        </p:txBody>
      </p:sp>
      <p:sp>
        <p:nvSpPr>
          <p:cNvPr id="1484" name="Google Shape;1484;p79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cycles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a directed cycle of length 3 that starts and end on node C!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79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86" name="Google Shape;1486;p79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87" name="Google Shape;1487;p79"/>
          <p:cNvCxnSpPr>
            <a:stCxn id="1485" idx="5"/>
            <a:endCxn id="1486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488" name="Google Shape;1488;p79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89" name="Google Shape;1489;p79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0" name="Google Shape;1490;p79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91" name="Google Shape;1491;p79"/>
          <p:cNvCxnSpPr>
            <a:stCxn id="1486" idx="7"/>
            <a:endCxn id="1488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92" name="Google Shape;1492;p79"/>
          <p:cNvCxnSpPr>
            <a:stCxn id="1490" idx="1"/>
            <a:endCxn id="1488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93" name="Google Shape;1493;p79"/>
          <p:cNvCxnSpPr>
            <a:stCxn id="1490" idx="3"/>
            <a:endCxn id="1489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94" name="Google Shape;1494;p79"/>
          <p:cNvCxnSpPr>
            <a:stCxn id="1489" idx="1"/>
            <a:endCxn id="1488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95" name="Google Shape;1495;p79"/>
          <p:cNvCxnSpPr>
            <a:stCxn id="1489" idx="7"/>
            <a:endCxn id="1488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96" name="Google Shape;1496;p79"/>
          <p:cNvCxnSpPr>
            <a:stCxn id="1486" idx="1"/>
            <a:endCxn id="1485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97" name="Google Shape;1497;p79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98" name="Google Shape;1498;p79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99" name="Google Shape;1499;p79"/>
          <p:cNvSpPr txBox="1"/>
          <p:nvPr/>
        </p:nvSpPr>
        <p:spPr>
          <a:xfrm>
            <a:off x="6577125" y="1966700"/>
            <a:ext cx="3384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0" name="Google Shape;1500;p79"/>
          <p:cNvSpPr txBox="1"/>
          <p:nvPr/>
        </p:nvSpPr>
        <p:spPr>
          <a:xfrm>
            <a:off x="6456075" y="3543325"/>
            <a:ext cx="3384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1" name="Google Shape;1501;p79"/>
          <p:cNvSpPr txBox="1"/>
          <p:nvPr/>
        </p:nvSpPr>
        <p:spPr>
          <a:xfrm>
            <a:off x="7690463" y="2673138"/>
            <a:ext cx="3384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8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Cycles</a:t>
            </a:r>
            <a:endParaRPr/>
          </a:p>
        </p:txBody>
      </p:sp>
      <p:sp>
        <p:nvSpPr>
          <p:cNvPr id="1507" name="Google Shape;1507;p80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cycles work in directed graphs?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before except that you need to respect direction!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another directed cycle of length 5 that starts and end on node C!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80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09" name="Google Shape;1509;p80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10" name="Google Shape;1510;p80"/>
          <p:cNvCxnSpPr>
            <a:stCxn id="1508" idx="5"/>
            <a:endCxn id="1509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511" name="Google Shape;1511;p80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2" name="Google Shape;1512;p80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3" name="Google Shape;1513;p80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14" name="Google Shape;1514;p80"/>
          <p:cNvCxnSpPr>
            <a:stCxn id="1509" idx="7"/>
            <a:endCxn id="1511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15" name="Google Shape;1515;p80"/>
          <p:cNvCxnSpPr>
            <a:stCxn id="1513" idx="1"/>
            <a:endCxn id="1511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16" name="Google Shape;1516;p80"/>
          <p:cNvCxnSpPr>
            <a:stCxn id="1513" idx="3"/>
            <a:endCxn id="1512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17" name="Google Shape;1517;p80"/>
          <p:cNvCxnSpPr>
            <a:stCxn id="1512" idx="1"/>
            <a:endCxn id="1511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18" name="Google Shape;1518;p80"/>
          <p:cNvCxnSpPr>
            <a:stCxn id="1512" idx="7"/>
            <a:endCxn id="1511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19" name="Google Shape;1519;p80"/>
          <p:cNvCxnSpPr>
            <a:stCxn id="1509" idx="1"/>
            <a:endCxn id="1508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20" name="Google Shape;1520;p80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21" name="Google Shape;1521;p80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22" name="Google Shape;1522;p80"/>
          <p:cNvSpPr txBox="1"/>
          <p:nvPr/>
        </p:nvSpPr>
        <p:spPr>
          <a:xfrm>
            <a:off x="6577125" y="1966700"/>
            <a:ext cx="3384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3" name="Google Shape;1523;p80"/>
          <p:cNvSpPr txBox="1"/>
          <p:nvPr/>
        </p:nvSpPr>
        <p:spPr>
          <a:xfrm>
            <a:off x="5503800" y="3114775"/>
            <a:ext cx="3384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4" name="Google Shape;1524;p80"/>
          <p:cNvSpPr txBox="1"/>
          <p:nvPr/>
        </p:nvSpPr>
        <p:spPr>
          <a:xfrm>
            <a:off x="5436863" y="2227775"/>
            <a:ext cx="3384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5" name="Google Shape;1525;p80"/>
          <p:cNvSpPr txBox="1"/>
          <p:nvPr/>
        </p:nvSpPr>
        <p:spPr>
          <a:xfrm>
            <a:off x="6361688" y="3478050"/>
            <a:ext cx="3384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6" name="Google Shape;1526;p80"/>
          <p:cNvSpPr txBox="1"/>
          <p:nvPr/>
        </p:nvSpPr>
        <p:spPr>
          <a:xfrm>
            <a:off x="7690463" y="2673138"/>
            <a:ext cx="3384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81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Acyclic Graphs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8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Acyclic Graphs</a:t>
            </a:r>
            <a:endParaRPr/>
          </a:p>
        </p:txBody>
      </p:sp>
      <p:sp>
        <p:nvSpPr>
          <p:cNvPr id="1537" name="Google Shape;1537;p82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Tree graphs</a:t>
            </a:r>
            <a:r>
              <a:rPr lang="en"/>
              <a:t> can be defined as directed graphs without any cycles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82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39" name="Google Shape;1539;p82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40" name="Google Shape;1540;p82"/>
          <p:cNvCxnSpPr>
            <a:stCxn id="1538" idx="0"/>
            <a:endCxn id="1539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541" name="Google Shape;1541;p82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42" name="Google Shape;1542;p82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43" name="Google Shape;1543;p82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44" name="Google Shape;1544;p82"/>
          <p:cNvCxnSpPr>
            <a:stCxn id="1539" idx="7"/>
            <a:endCxn id="1541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45" name="Google Shape;1545;p82"/>
          <p:cNvCxnSpPr>
            <a:stCxn id="1543" idx="1"/>
            <a:endCxn id="1541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46" name="Google Shape;1546;p82"/>
          <p:cNvCxnSpPr>
            <a:stCxn id="1543" idx="3"/>
            <a:endCxn id="1542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47" name="Google Shape;1547;p82"/>
          <p:cNvCxnSpPr>
            <a:stCxn id="1542" idx="0"/>
            <a:endCxn id="1541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48" name="Google Shape;1548;p82"/>
          <p:cNvCxnSpPr>
            <a:stCxn id="1542" idx="0"/>
            <a:endCxn id="1539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49" name="Google Shape;1549;p82"/>
          <p:cNvCxnSpPr>
            <a:stCxn id="1538" idx="0"/>
            <a:endCxn id="1541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8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Acyclic Graphs</a:t>
            </a:r>
            <a:endParaRPr/>
          </a:p>
        </p:txBody>
      </p:sp>
      <p:sp>
        <p:nvSpPr>
          <p:cNvPr id="1555" name="Google Shape;1555;p83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Tree graphs</a:t>
            </a:r>
            <a:r>
              <a:rPr lang="en"/>
              <a:t> can be defined as directed graphs without any cycles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That’s why they are sometimes called </a:t>
            </a:r>
            <a:r>
              <a:rPr b="1" lang="en"/>
              <a:t>directed acyclic graphs (DAGs)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83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57" name="Google Shape;1557;p83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58" name="Google Shape;1558;p83"/>
          <p:cNvCxnSpPr>
            <a:stCxn id="1556" idx="0"/>
            <a:endCxn id="1557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559" name="Google Shape;1559;p83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60" name="Google Shape;1560;p83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61" name="Google Shape;1561;p83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62" name="Google Shape;1562;p83"/>
          <p:cNvCxnSpPr>
            <a:stCxn id="1557" idx="7"/>
            <a:endCxn id="1559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63" name="Google Shape;1563;p83"/>
          <p:cNvCxnSpPr>
            <a:stCxn id="1561" idx="1"/>
            <a:endCxn id="1559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64" name="Google Shape;1564;p83"/>
          <p:cNvCxnSpPr>
            <a:stCxn id="1561" idx="3"/>
            <a:endCxn id="1560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65" name="Google Shape;1565;p83"/>
          <p:cNvCxnSpPr>
            <a:stCxn id="1560" idx="0"/>
            <a:endCxn id="1559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66" name="Google Shape;1566;p83"/>
          <p:cNvCxnSpPr>
            <a:stCxn id="1560" idx="0"/>
            <a:endCxn id="1557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67" name="Google Shape;1567;p83"/>
          <p:cNvCxnSpPr>
            <a:stCxn id="1556" idx="0"/>
            <a:endCxn id="1559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8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Acyclic Graphs</a:t>
            </a:r>
            <a:endParaRPr/>
          </a:p>
        </p:txBody>
      </p:sp>
      <p:sp>
        <p:nvSpPr>
          <p:cNvPr id="1573" name="Google Shape;1573;p84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Tree graphs</a:t>
            </a:r>
            <a:r>
              <a:rPr lang="en"/>
              <a:t> can be defined as directed graphs without any cycles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That’s why they are sometimes called </a:t>
            </a:r>
            <a:r>
              <a:rPr b="1" lang="en"/>
              <a:t>directed acyclic graphs (DAGs)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84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75" name="Google Shape;1575;p84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76" name="Google Shape;1576;p84"/>
          <p:cNvCxnSpPr>
            <a:stCxn id="1574" idx="0"/>
            <a:endCxn id="1575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577" name="Google Shape;1577;p84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78" name="Google Shape;1578;p84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79" name="Google Shape;1579;p84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80" name="Google Shape;1580;p84"/>
          <p:cNvCxnSpPr>
            <a:stCxn id="1575" idx="7"/>
            <a:endCxn id="1577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81" name="Google Shape;1581;p84"/>
          <p:cNvCxnSpPr>
            <a:stCxn id="1579" idx="1"/>
            <a:endCxn id="1577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82" name="Google Shape;1582;p84"/>
          <p:cNvCxnSpPr>
            <a:stCxn id="1579" idx="3"/>
            <a:endCxn id="1578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83" name="Google Shape;1583;p84"/>
          <p:cNvCxnSpPr>
            <a:stCxn id="1578" idx="0"/>
            <a:endCxn id="1577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84" name="Google Shape;1584;p84"/>
          <p:cNvCxnSpPr>
            <a:stCxn id="1578" idx="0"/>
            <a:endCxn id="1575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85" name="Google Shape;1585;p84"/>
          <p:cNvCxnSpPr>
            <a:stCxn id="1574" idx="0"/>
            <a:endCxn id="1577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86" name="Google Shape;1586;p84"/>
          <p:cNvCxnSpPr>
            <a:stCxn id="1578" idx="6"/>
            <a:endCxn id="1577" idx="6"/>
          </p:cNvCxnSpPr>
          <p:nvPr/>
        </p:nvCxnSpPr>
        <p:spPr>
          <a:xfrm flipH="1" rot="10800000">
            <a:off x="7123875" y="1318550"/>
            <a:ext cx="600" cy="2871300"/>
          </a:xfrm>
          <a:prstGeom prst="curvedConnector3">
            <a:avLst>
              <a:gd fmla="val 250054167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87" name="Google Shape;1587;p84"/>
          <p:cNvSpPr/>
          <p:nvPr/>
        </p:nvSpPr>
        <p:spPr>
          <a:xfrm>
            <a:off x="2815575" y="4125975"/>
            <a:ext cx="2309400" cy="9081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DC edge creates a cycle!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588" name="Google Shape;1588;p84"/>
          <p:cNvSpPr txBox="1"/>
          <p:nvPr/>
        </p:nvSpPr>
        <p:spPr>
          <a:xfrm>
            <a:off x="5981150" y="1537700"/>
            <a:ext cx="3384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9" name="Google Shape;1589;p84"/>
          <p:cNvSpPr txBox="1"/>
          <p:nvPr/>
        </p:nvSpPr>
        <p:spPr>
          <a:xfrm>
            <a:off x="5981100" y="3210025"/>
            <a:ext cx="3384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0" name="Google Shape;1590;p84"/>
          <p:cNvSpPr txBox="1"/>
          <p:nvPr/>
        </p:nvSpPr>
        <p:spPr>
          <a:xfrm>
            <a:off x="8624200" y="2430850"/>
            <a:ext cx="3384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8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Acyclic Graphs</a:t>
            </a:r>
            <a:endParaRPr/>
          </a:p>
        </p:txBody>
      </p:sp>
      <p:sp>
        <p:nvSpPr>
          <p:cNvPr id="1596" name="Google Shape;1596;p85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Tree graphs</a:t>
            </a:r>
            <a:r>
              <a:rPr lang="en"/>
              <a:t> can be defined as directed graphs without any cycles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That’s why they are sometimes called </a:t>
            </a:r>
            <a:r>
              <a:rPr b="1" lang="en"/>
              <a:t>directed acyclic graphs (DAGs)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Makes sense that there shouldn’t be cycles for </a:t>
            </a:r>
            <a:r>
              <a:rPr b="1" lang="en"/>
              <a:t>antisymmetric</a:t>
            </a:r>
            <a:r>
              <a:rPr lang="en"/>
              <a:t> links!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85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98" name="Google Shape;1598;p85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99" name="Google Shape;1599;p85"/>
          <p:cNvCxnSpPr>
            <a:stCxn id="1597" idx="0"/>
            <a:endCxn id="1598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600" name="Google Shape;1600;p85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01" name="Google Shape;1601;p85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02" name="Google Shape;1602;p85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03" name="Google Shape;1603;p85"/>
          <p:cNvCxnSpPr>
            <a:stCxn id="1598" idx="7"/>
            <a:endCxn id="1600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04" name="Google Shape;1604;p85"/>
          <p:cNvCxnSpPr>
            <a:stCxn id="1602" idx="1"/>
            <a:endCxn id="1600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05" name="Google Shape;1605;p85"/>
          <p:cNvCxnSpPr>
            <a:stCxn id="1602" idx="3"/>
            <a:endCxn id="1601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06" name="Google Shape;1606;p85"/>
          <p:cNvCxnSpPr>
            <a:stCxn id="1601" idx="0"/>
            <a:endCxn id="1600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07" name="Google Shape;1607;p85"/>
          <p:cNvCxnSpPr>
            <a:stCxn id="1601" idx="0"/>
            <a:endCxn id="1598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08" name="Google Shape;1608;p85"/>
          <p:cNvCxnSpPr>
            <a:stCxn id="1597" idx="0"/>
            <a:endCxn id="1600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8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Connectivity in Directed Graphs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8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Semipaths</a:t>
            </a:r>
            <a:endParaRPr/>
          </a:p>
        </p:txBody>
      </p:sp>
      <p:sp>
        <p:nvSpPr>
          <p:cNvPr id="1619" name="Google Shape;1619;p87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seen that there are two flavors of indirect connectivity in directed graphs: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87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21" name="Google Shape;1621;p87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22" name="Google Shape;1622;p87"/>
          <p:cNvCxnSpPr>
            <a:stCxn id="1620" idx="5"/>
            <a:endCxn id="1621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623" name="Google Shape;1623;p87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24" name="Google Shape;1624;p87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25" name="Google Shape;1625;p87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26" name="Google Shape;1626;p87"/>
          <p:cNvCxnSpPr>
            <a:stCxn id="1621" idx="7"/>
            <a:endCxn id="1623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27" name="Google Shape;1627;p87"/>
          <p:cNvCxnSpPr>
            <a:stCxn id="1625" idx="1"/>
            <a:endCxn id="1623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28" name="Google Shape;1628;p87"/>
          <p:cNvCxnSpPr>
            <a:stCxn id="1625" idx="3"/>
            <a:endCxn id="1624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29" name="Google Shape;1629;p87"/>
          <p:cNvCxnSpPr>
            <a:stCxn id="1624" idx="0"/>
            <a:endCxn id="1623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30" name="Google Shape;1630;p87"/>
          <p:cNvCxnSpPr>
            <a:stCxn id="1621" idx="1"/>
            <a:endCxn id="1620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31" name="Google Shape;1631;p87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32" name="Google Shape;1632;p87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8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Semipaths</a:t>
            </a:r>
            <a:endParaRPr/>
          </a:p>
        </p:txBody>
      </p:sp>
      <p:sp>
        <p:nvSpPr>
          <p:cNvPr id="1638" name="Google Shape;1638;p88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seen that there are two flavors of indirect connectivity in directed graphs: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One-way indirect connectivity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 can reach B via path {CE, EB}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But B cannot reach C!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88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40" name="Google Shape;1640;p88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41" name="Google Shape;1641;p88"/>
          <p:cNvCxnSpPr>
            <a:stCxn id="1639" idx="5"/>
            <a:endCxn id="1640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642" name="Google Shape;1642;p88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43" name="Google Shape;1643;p88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44" name="Google Shape;1644;p88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45" name="Google Shape;1645;p88"/>
          <p:cNvCxnSpPr>
            <a:stCxn id="1640" idx="7"/>
            <a:endCxn id="1642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46" name="Google Shape;1646;p88"/>
          <p:cNvCxnSpPr>
            <a:stCxn id="1644" idx="1"/>
            <a:endCxn id="1642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47" name="Google Shape;1647;p88"/>
          <p:cNvCxnSpPr>
            <a:stCxn id="1644" idx="3"/>
            <a:endCxn id="1643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48" name="Google Shape;1648;p88"/>
          <p:cNvCxnSpPr>
            <a:stCxn id="1643" idx="0"/>
            <a:endCxn id="1642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49" name="Google Shape;1649;p88"/>
          <p:cNvCxnSpPr>
            <a:stCxn id="1640" idx="1"/>
            <a:endCxn id="1639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50" name="Google Shape;1650;p88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51" name="Google Shape;1651;p88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8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Semipaths</a:t>
            </a:r>
            <a:endParaRPr/>
          </a:p>
        </p:txBody>
      </p:sp>
      <p:sp>
        <p:nvSpPr>
          <p:cNvPr id="1657" name="Google Shape;1657;p89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seen that there are two flavors of indirect connectivity in directed graphs: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One-way indirect connectivity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 can reach B via path {CE, EB}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But B cannot reach C!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Mutual Reachability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 can reach D via path {BE, ED}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 can reach B via path {DE, EB}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8" name="Google Shape;1658;p89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59" name="Google Shape;1659;p89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60" name="Google Shape;1660;p89"/>
          <p:cNvCxnSpPr>
            <a:stCxn id="1658" idx="5"/>
            <a:endCxn id="1659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661" name="Google Shape;1661;p89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62" name="Google Shape;1662;p89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63" name="Google Shape;1663;p89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64" name="Google Shape;1664;p89"/>
          <p:cNvCxnSpPr>
            <a:stCxn id="1659" idx="7"/>
            <a:endCxn id="1661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65" name="Google Shape;1665;p89"/>
          <p:cNvCxnSpPr>
            <a:stCxn id="1663" idx="1"/>
            <a:endCxn id="1661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66" name="Google Shape;1666;p89"/>
          <p:cNvCxnSpPr>
            <a:stCxn id="1663" idx="3"/>
            <a:endCxn id="1662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67" name="Google Shape;1667;p89"/>
          <p:cNvCxnSpPr>
            <a:stCxn id="1662" idx="0"/>
            <a:endCxn id="1661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68" name="Google Shape;1668;p89"/>
          <p:cNvCxnSpPr>
            <a:stCxn id="1659" idx="1"/>
            <a:endCxn id="1658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0D5DDF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69" name="Google Shape;1669;p89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0D5DDF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70" name="Google Shape;1670;p89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9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Semipaths</a:t>
            </a:r>
            <a:endParaRPr/>
          </a:p>
        </p:txBody>
      </p:sp>
      <p:sp>
        <p:nvSpPr>
          <p:cNvPr id="1676" name="Google Shape;1676;p90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what if we wanted to connect nodes in a directed graph but ignore the arrows?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90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78" name="Google Shape;1678;p90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79" name="Google Shape;1679;p90"/>
          <p:cNvCxnSpPr>
            <a:stCxn id="1677" idx="5"/>
            <a:endCxn id="1678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680" name="Google Shape;1680;p90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81" name="Google Shape;1681;p90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82" name="Google Shape;1682;p90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83" name="Google Shape;1683;p90"/>
          <p:cNvCxnSpPr>
            <a:stCxn id="1678" idx="7"/>
            <a:endCxn id="1680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84" name="Google Shape;1684;p90"/>
          <p:cNvCxnSpPr>
            <a:stCxn id="1682" idx="1"/>
            <a:endCxn id="1680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85" name="Google Shape;1685;p90"/>
          <p:cNvCxnSpPr>
            <a:stCxn id="1682" idx="3"/>
            <a:endCxn id="1681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86" name="Google Shape;1686;p90"/>
          <p:cNvCxnSpPr>
            <a:stCxn id="1681" idx="0"/>
            <a:endCxn id="1680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87" name="Google Shape;1687;p90"/>
          <p:cNvCxnSpPr>
            <a:stCxn id="1678" idx="1"/>
            <a:endCxn id="1677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88" name="Google Shape;1688;p90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89" name="Google Shape;1689;p90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p9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Semipaths</a:t>
            </a:r>
            <a:endParaRPr/>
          </a:p>
        </p:txBody>
      </p:sp>
      <p:sp>
        <p:nvSpPr>
          <p:cNvPr id="1695" name="Google Shape;1695;p91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what if we wanted to connect nodes in a directed graph but ignore the arrows?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a </a:t>
            </a:r>
            <a:r>
              <a:rPr b="1" lang="en"/>
              <a:t>semi-path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91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97" name="Google Shape;1697;p91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98" name="Google Shape;1698;p91"/>
          <p:cNvCxnSpPr>
            <a:stCxn id="1696" idx="5"/>
            <a:endCxn id="1697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699" name="Google Shape;1699;p91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00" name="Google Shape;1700;p91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01" name="Google Shape;1701;p91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02" name="Google Shape;1702;p91"/>
          <p:cNvCxnSpPr>
            <a:stCxn id="1697" idx="7"/>
            <a:endCxn id="1699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03" name="Google Shape;1703;p91"/>
          <p:cNvCxnSpPr>
            <a:stCxn id="1701" idx="1"/>
            <a:endCxn id="1699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04" name="Google Shape;1704;p91"/>
          <p:cNvCxnSpPr>
            <a:stCxn id="1701" idx="3"/>
            <a:endCxn id="1700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05" name="Google Shape;1705;p91"/>
          <p:cNvCxnSpPr>
            <a:stCxn id="1700" idx="0"/>
            <a:endCxn id="1699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06" name="Google Shape;1706;p91"/>
          <p:cNvCxnSpPr>
            <a:stCxn id="1697" idx="1"/>
            <a:endCxn id="1696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07" name="Google Shape;1707;p91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08" name="Google Shape;1708;p91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9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Semipaths</a:t>
            </a:r>
            <a:endParaRPr/>
          </a:p>
        </p:txBody>
      </p:sp>
      <p:sp>
        <p:nvSpPr>
          <p:cNvPr id="1714" name="Google Shape;1714;p92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what if we wanted to connect nodes in a directed graph but ignore the arrows?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a </a:t>
            </a:r>
            <a:r>
              <a:rPr b="1" lang="en"/>
              <a:t>semi-path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semipaths connecting nodes B and 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92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16" name="Google Shape;1716;p92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17" name="Google Shape;1717;p92"/>
          <p:cNvCxnSpPr>
            <a:stCxn id="1715" idx="5"/>
            <a:endCxn id="1716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718" name="Google Shape;1718;p92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19" name="Google Shape;1719;p92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20" name="Google Shape;1720;p92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21" name="Google Shape;1721;p92"/>
          <p:cNvCxnSpPr>
            <a:stCxn id="1716" idx="7"/>
            <a:endCxn id="1718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22" name="Google Shape;1722;p92"/>
          <p:cNvCxnSpPr>
            <a:stCxn id="1720" idx="1"/>
            <a:endCxn id="1718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23" name="Google Shape;1723;p92"/>
          <p:cNvCxnSpPr>
            <a:stCxn id="1720" idx="3"/>
            <a:endCxn id="1719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24" name="Google Shape;1724;p92"/>
          <p:cNvCxnSpPr>
            <a:stCxn id="1719" idx="0"/>
            <a:endCxn id="1718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25" name="Google Shape;1725;p92"/>
          <p:cNvCxnSpPr>
            <a:stCxn id="1716" idx="1"/>
            <a:endCxn id="1715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26" name="Google Shape;1726;p92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27" name="Google Shape;1727;p92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9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Semipaths</a:t>
            </a:r>
            <a:endParaRPr/>
          </a:p>
        </p:txBody>
      </p:sp>
      <p:sp>
        <p:nvSpPr>
          <p:cNvPr id="1733" name="Google Shape;1733;p93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what if we wanted to connect nodes in a directed graph but ignore the arrows?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a </a:t>
            </a:r>
            <a:r>
              <a:rPr b="1" lang="en"/>
              <a:t>semi-path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semipaths connecting nodes B and 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{BE, EC, CA}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93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35" name="Google Shape;1735;p93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36" name="Google Shape;1736;p93"/>
          <p:cNvCxnSpPr>
            <a:stCxn id="1734" idx="5"/>
            <a:endCxn id="1735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737" name="Google Shape;1737;p93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38" name="Google Shape;1738;p93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39" name="Google Shape;1739;p93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40" name="Google Shape;1740;p93"/>
          <p:cNvCxnSpPr>
            <a:stCxn id="1735" idx="7"/>
            <a:endCxn id="173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41" name="Google Shape;1741;p93"/>
          <p:cNvCxnSpPr>
            <a:stCxn id="1739" idx="1"/>
            <a:endCxn id="1737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42" name="Google Shape;1742;p93"/>
          <p:cNvCxnSpPr>
            <a:stCxn id="1739" idx="3"/>
            <a:endCxn id="1738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43" name="Google Shape;1743;p93"/>
          <p:cNvCxnSpPr>
            <a:stCxn id="1738" idx="0"/>
            <a:endCxn id="1737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44" name="Google Shape;1744;p93"/>
          <p:cNvCxnSpPr>
            <a:stCxn id="1735" idx="1"/>
            <a:endCxn id="1734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45" name="Google Shape;1745;p93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46" name="Google Shape;1746;p93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9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Semipaths</a:t>
            </a:r>
            <a:endParaRPr/>
          </a:p>
        </p:txBody>
      </p:sp>
      <p:sp>
        <p:nvSpPr>
          <p:cNvPr id="1752" name="Google Shape;1752;p94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what if we wanted to connect nodes in a directed graph but ignore the arrows?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a </a:t>
            </a:r>
            <a:r>
              <a:rPr b="1" lang="en"/>
              <a:t>semi-path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multiple semipaths connecting nodes B and 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{BE, EC, CA}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{BE, ED, DC, CA}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so forth, treating the graph just like we would an undirected graph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94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54" name="Google Shape;1754;p94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55" name="Google Shape;1755;p94"/>
          <p:cNvCxnSpPr>
            <a:stCxn id="1753" idx="5"/>
            <a:endCxn id="1754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756" name="Google Shape;1756;p94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57" name="Google Shape;1757;p94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58" name="Google Shape;1758;p94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59" name="Google Shape;1759;p94"/>
          <p:cNvCxnSpPr>
            <a:stCxn id="1754" idx="7"/>
            <a:endCxn id="1756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60" name="Google Shape;1760;p94"/>
          <p:cNvCxnSpPr>
            <a:stCxn id="1758" idx="1"/>
            <a:endCxn id="1756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61" name="Google Shape;1761;p94"/>
          <p:cNvCxnSpPr>
            <a:stCxn id="1758" idx="3"/>
            <a:endCxn id="1757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62" name="Google Shape;1762;p94"/>
          <p:cNvCxnSpPr>
            <a:stCxn id="1757" idx="0"/>
            <a:endCxn id="1756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63" name="Google Shape;1763;p94"/>
          <p:cNvCxnSpPr>
            <a:stCxn id="1754" idx="1"/>
            <a:endCxn id="1753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64" name="Google Shape;1764;p94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65" name="Google Shape;1765;p94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p9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Semipaths</a:t>
            </a:r>
            <a:endParaRPr/>
          </a:p>
        </p:txBody>
      </p:sp>
      <p:sp>
        <p:nvSpPr>
          <p:cNvPr id="1771" name="Google Shape;1771;p95"/>
          <p:cNvSpPr txBox="1"/>
          <p:nvPr>
            <p:ph idx="1" type="body"/>
          </p:nvPr>
        </p:nvSpPr>
        <p:spPr>
          <a:xfrm>
            <a:off x="311700" y="1225225"/>
            <a:ext cx="4179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what if we wanted to connect nodes in a directed graph but ignore the arrows?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a </a:t>
            </a:r>
            <a:r>
              <a:rPr b="1" lang="en"/>
              <a:t>semi-path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multiple semipaths connecting nodes B and 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{BE, EC, CA}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{BE, ED, DC, CA}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same thing goes for </a:t>
            </a:r>
            <a:r>
              <a:rPr b="1" lang="en"/>
              <a:t>semicycles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{CD, DA, AC} is a semicycle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95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73" name="Google Shape;1773;p95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74" name="Google Shape;1774;p95"/>
          <p:cNvCxnSpPr>
            <a:stCxn id="1772" idx="5"/>
            <a:endCxn id="1773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775" name="Google Shape;1775;p95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76" name="Google Shape;1776;p95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77" name="Google Shape;1777;p95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78" name="Google Shape;1778;p95"/>
          <p:cNvCxnSpPr>
            <a:stCxn id="1773" idx="7"/>
            <a:endCxn id="1775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79" name="Google Shape;1779;p95"/>
          <p:cNvCxnSpPr>
            <a:stCxn id="1777" idx="1"/>
            <a:endCxn id="1775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80" name="Google Shape;1780;p95"/>
          <p:cNvCxnSpPr>
            <a:stCxn id="1777" idx="3"/>
            <a:endCxn id="1776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81" name="Google Shape;1781;p95"/>
          <p:cNvCxnSpPr>
            <a:stCxn id="1776" idx="0"/>
            <a:endCxn id="1775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82" name="Google Shape;1782;p95"/>
          <p:cNvCxnSpPr>
            <a:stCxn id="1773" idx="1"/>
            <a:endCxn id="1772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83" name="Google Shape;1783;p95"/>
          <p:cNvCxnSpPr/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84" name="Google Shape;1784;p95"/>
          <p:cNvCxnSpPr/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8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p9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Flavors of Connectivity in Directed Graphs</a:t>
            </a:r>
            <a:endParaRPr/>
          </a:p>
        </p:txBody>
      </p:sp>
      <p:sp>
        <p:nvSpPr>
          <p:cNvPr id="1790" name="Google Shape;1790;p96"/>
          <p:cNvSpPr txBox="1"/>
          <p:nvPr>
            <p:ph idx="1" type="body"/>
          </p:nvPr>
        </p:nvSpPr>
        <p:spPr>
          <a:xfrm>
            <a:off x="311700" y="1225225"/>
            <a:ext cx="4207500" cy="3657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distinguish </a:t>
            </a:r>
            <a:r>
              <a:rPr b="1" lang="en"/>
              <a:t>three flavors</a:t>
            </a:r>
            <a:r>
              <a:rPr lang="en"/>
              <a:t> of connectivity in directed graphs: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96"/>
          <p:cNvSpPr/>
          <p:nvPr/>
        </p:nvSpPr>
        <p:spPr>
          <a:xfrm>
            <a:off x="4519313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92" name="Google Shape;1792;p96"/>
          <p:cNvSpPr/>
          <p:nvPr/>
        </p:nvSpPr>
        <p:spPr>
          <a:xfrm>
            <a:off x="5974724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93" name="Google Shape;1793;p96"/>
          <p:cNvSpPr/>
          <p:nvPr/>
        </p:nvSpPr>
        <p:spPr>
          <a:xfrm>
            <a:off x="721744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94" name="Google Shape;1794;p96"/>
          <p:cNvSpPr/>
          <p:nvPr/>
        </p:nvSpPr>
        <p:spPr>
          <a:xfrm>
            <a:off x="5974697" y="141157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95" name="Google Shape;1795;p96"/>
          <p:cNvSpPr/>
          <p:nvPr/>
        </p:nvSpPr>
        <p:spPr>
          <a:xfrm>
            <a:off x="597464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96" name="Google Shape;1796;p96"/>
          <p:cNvSpPr/>
          <p:nvPr/>
        </p:nvSpPr>
        <p:spPr>
          <a:xfrm>
            <a:off x="7217496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97" name="Google Shape;1797;p96"/>
          <p:cNvSpPr/>
          <p:nvPr/>
        </p:nvSpPr>
        <p:spPr>
          <a:xfrm>
            <a:off x="8672817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98" name="Google Shape;1798;p96"/>
          <p:cNvSpPr/>
          <p:nvPr/>
        </p:nvSpPr>
        <p:spPr>
          <a:xfrm>
            <a:off x="867276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99" name="Google Shape;1799;p96"/>
          <p:cNvCxnSpPr>
            <a:stCxn id="1791" idx="7"/>
            <a:endCxn id="1794" idx="2"/>
          </p:cNvCxnSpPr>
          <p:nvPr/>
        </p:nvCxnSpPr>
        <p:spPr>
          <a:xfrm flipH="1" rot="10800000">
            <a:off x="4876525" y="1614514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00" name="Google Shape;1800;p96"/>
          <p:cNvCxnSpPr>
            <a:stCxn id="1796" idx="6"/>
            <a:endCxn id="1797" idx="2"/>
          </p:cNvCxnSpPr>
          <p:nvPr/>
        </p:nvCxnSpPr>
        <p:spPr>
          <a:xfrm>
            <a:off x="7635996" y="290222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1" name="Google Shape;1801;p96"/>
          <p:cNvCxnSpPr>
            <a:stCxn id="1793" idx="6"/>
            <a:endCxn id="1798" idx="2"/>
          </p:cNvCxnSpPr>
          <p:nvPr/>
        </p:nvCxnSpPr>
        <p:spPr>
          <a:xfrm>
            <a:off x="7635948" y="4189910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2" name="Google Shape;1802;p96"/>
          <p:cNvCxnSpPr>
            <a:stCxn id="1796" idx="4"/>
            <a:endCxn id="1793" idx="0"/>
          </p:cNvCxnSpPr>
          <p:nvPr/>
        </p:nvCxnSpPr>
        <p:spPr>
          <a:xfrm>
            <a:off x="7426746" y="31051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3" name="Google Shape;1803;p96"/>
          <p:cNvCxnSpPr>
            <a:stCxn id="1792" idx="4"/>
            <a:endCxn id="1795" idx="0"/>
          </p:cNvCxnSpPr>
          <p:nvPr/>
        </p:nvCxnSpPr>
        <p:spPr>
          <a:xfrm>
            <a:off x="6183974" y="31051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04" name="Google Shape;1804;p96"/>
          <p:cNvCxnSpPr>
            <a:stCxn id="1791" idx="5"/>
            <a:endCxn id="1795" idx="2"/>
          </p:cNvCxnSpPr>
          <p:nvPr/>
        </p:nvCxnSpPr>
        <p:spPr>
          <a:xfrm>
            <a:off x="4876525" y="3045728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5" name="Google Shape;1805;p96"/>
          <p:cNvCxnSpPr>
            <a:stCxn id="1791" idx="6"/>
            <a:endCxn id="1792" idx="2"/>
          </p:cNvCxnSpPr>
          <p:nvPr/>
        </p:nvCxnSpPr>
        <p:spPr>
          <a:xfrm>
            <a:off x="4937813" y="290222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6" name="Google Shape;1806;p96"/>
          <p:cNvCxnSpPr>
            <a:stCxn id="1793" idx="2"/>
            <a:endCxn id="1795" idx="6"/>
          </p:cNvCxnSpPr>
          <p:nvPr/>
        </p:nvCxnSpPr>
        <p:spPr>
          <a:xfrm rot="10800000">
            <a:off x="6393048" y="4189910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7" name="Google Shape;1807;p96"/>
          <p:cNvCxnSpPr>
            <a:stCxn id="1798" idx="1"/>
            <a:endCxn id="1796" idx="5"/>
          </p:cNvCxnSpPr>
          <p:nvPr/>
        </p:nvCxnSpPr>
        <p:spPr>
          <a:xfrm rot="10800000">
            <a:off x="7574856" y="3045602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8" name="Google Shape;1808;p96"/>
          <p:cNvCxnSpPr>
            <a:stCxn id="1797" idx="1"/>
            <a:endCxn id="1794" idx="6"/>
          </p:cNvCxnSpPr>
          <p:nvPr/>
        </p:nvCxnSpPr>
        <p:spPr>
          <a:xfrm rot="10800000">
            <a:off x="6393205" y="1614514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9" name="Google Shape;1809;p96"/>
          <p:cNvCxnSpPr>
            <a:stCxn id="1794" idx="5"/>
            <a:endCxn id="1796" idx="1"/>
          </p:cNvCxnSpPr>
          <p:nvPr/>
        </p:nvCxnSpPr>
        <p:spPr>
          <a:xfrm>
            <a:off x="6331909" y="1758032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0" name="Google Shape;1810;p96"/>
          <p:cNvCxnSpPr>
            <a:stCxn id="1792" idx="0"/>
            <a:endCxn id="1794" idx="4"/>
          </p:cNvCxnSpPr>
          <p:nvPr/>
        </p:nvCxnSpPr>
        <p:spPr>
          <a:xfrm rot="10800000">
            <a:off x="6183974" y="18175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1" name="Google Shape;1811;p96"/>
          <p:cNvCxnSpPr>
            <a:stCxn id="1796" idx="3"/>
            <a:endCxn id="1795" idx="7"/>
          </p:cNvCxnSpPr>
          <p:nvPr/>
        </p:nvCxnSpPr>
        <p:spPr>
          <a:xfrm flipH="1">
            <a:off x="6331984" y="3045728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2" name="Google Shape;1812;p96"/>
          <p:cNvCxnSpPr>
            <a:stCxn id="1792" idx="6"/>
            <a:endCxn id="1796" idx="2"/>
          </p:cNvCxnSpPr>
          <p:nvPr/>
        </p:nvCxnSpPr>
        <p:spPr>
          <a:xfrm>
            <a:off x="6393224" y="2902221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9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Flavors of Connectivity in Directed Graphs</a:t>
            </a:r>
            <a:endParaRPr/>
          </a:p>
        </p:txBody>
      </p:sp>
      <p:sp>
        <p:nvSpPr>
          <p:cNvPr id="1818" name="Google Shape;1818;p97"/>
          <p:cNvSpPr txBox="1"/>
          <p:nvPr>
            <p:ph idx="1" type="body"/>
          </p:nvPr>
        </p:nvSpPr>
        <p:spPr>
          <a:xfrm>
            <a:off x="311700" y="1225225"/>
            <a:ext cx="4177500" cy="3657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distinguish </a:t>
            </a:r>
            <a:r>
              <a:rPr b="1" lang="en"/>
              <a:t>three flavors</a:t>
            </a:r>
            <a:r>
              <a:rPr lang="en"/>
              <a:t> of connectivity in directed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Strongly Connected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pair of nodes is </a:t>
            </a:r>
            <a:r>
              <a:rPr b="1" lang="en"/>
              <a:t>mutually reachable </a:t>
            </a:r>
            <a:r>
              <a:rPr lang="en"/>
              <a:t>from one another</a:t>
            </a:r>
            <a:endParaRPr/>
          </a:p>
        </p:txBody>
      </p:sp>
      <p:sp>
        <p:nvSpPr>
          <p:cNvPr id="1819" name="Google Shape;1819;p97"/>
          <p:cNvSpPr/>
          <p:nvPr/>
        </p:nvSpPr>
        <p:spPr>
          <a:xfrm>
            <a:off x="4519313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20" name="Google Shape;1820;p97"/>
          <p:cNvSpPr/>
          <p:nvPr/>
        </p:nvSpPr>
        <p:spPr>
          <a:xfrm>
            <a:off x="5974724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21" name="Google Shape;1821;p97"/>
          <p:cNvSpPr/>
          <p:nvPr/>
        </p:nvSpPr>
        <p:spPr>
          <a:xfrm>
            <a:off x="721744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22" name="Google Shape;1822;p97"/>
          <p:cNvSpPr/>
          <p:nvPr/>
        </p:nvSpPr>
        <p:spPr>
          <a:xfrm>
            <a:off x="5974697" y="141157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23" name="Google Shape;1823;p97"/>
          <p:cNvSpPr/>
          <p:nvPr/>
        </p:nvSpPr>
        <p:spPr>
          <a:xfrm>
            <a:off x="597464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24" name="Google Shape;1824;p97"/>
          <p:cNvSpPr/>
          <p:nvPr/>
        </p:nvSpPr>
        <p:spPr>
          <a:xfrm>
            <a:off x="7217496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25" name="Google Shape;1825;p97"/>
          <p:cNvSpPr/>
          <p:nvPr/>
        </p:nvSpPr>
        <p:spPr>
          <a:xfrm>
            <a:off x="8672817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26" name="Google Shape;1826;p97"/>
          <p:cNvSpPr/>
          <p:nvPr/>
        </p:nvSpPr>
        <p:spPr>
          <a:xfrm>
            <a:off x="867276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27" name="Google Shape;1827;p97"/>
          <p:cNvCxnSpPr>
            <a:stCxn id="1819" idx="7"/>
            <a:endCxn id="1822" idx="2"/>
          </p:cNvCxnSpPr>
          <p:nvPr/>
        </p:nvCxnSpPr>
        <p:spPr>
          <a:xfrm flipH="1" rot="10800000">
            <a:off x="4876525" y="1614514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28" name="Google Shape;1828;p97"/>
          <p:cNvCxnSpPr>
            <a:stCxn id="1824" idx="6"/>
            <a:endCxn id="1825" idx="2"/>
          </p:cNvCxnSpPr>
          <p:nvPr/>
        </p:nvCxnSpPr>
        <p:spPr>
          <a:xfrm>
            <a:off x="7635996" y="290222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9" name="Google Shape;1829;p97"/>
          <p:cNvCxnSpPr>
            <a:stCxn id="1821" idx="6"/>
            <a:endCxn id="1826" idx="2"/>
          </p:cNvCxnSpPr>
          <p:nvPr/>
        </p:nvCxnSpPr>
        <p:spPr>
          <a:xfrm>
            <a:off x="7635948" y="4189910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0" name="Google Shape;1830;p97"/>
          <p:cNvCxnSpPr>
            <a:stCxn id="1824" idx="4"/>
            <a:endCxn id="1821" idx="0"/>
          </p:cNvCxnSpPr>
          <p:nvPr/>
        </p:nvCxnSpPr>
        <p:spPr>
          <a:xfrm>
            <a:off x="7426746" y="31051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1" name="Google Shape;1831;p97"/>
          <p:cNvCxnSpPr>
            <a:stCxn id="1820" idx="4"/>
            <a:endCxn id="1823" idx="0"/>
          </p:cNvCxnSpPr>
          <p:nvPr/>
        </p:nvCxnSpPr>
        <p:spPr>
          <a:xfrm>
            <a:off x="6183974" y="31051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32" name="Google Shape;1832;p97"/>
          <p:cNvCxnSpPr>
            <a:stCxn id="1819" idx="5"/>
            <a:endCxn id="1823" idx="2"/>
          </p:cNvCxnSpPr>
          <p:nvPr/>
        </p:nvCxnSpPr>
        <p:spPr>
          <a:xfrm>
            <a:off x="4876525" y="3045728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3" name="Google Shape;1833;p97"/>
          <p:cNvCxnSpPr>
            <a:stCxn id="1819" idx="6"/>
            <a:endCxn id="1820" idx="2"/>
          </p:cNvCxnSpPr>
          <p:nvPr/>
        </p:nvCxnSpPr>
        <p:spPr>
          <a:xfrm>
            <a:off x="4937813" y="290222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4" name="Google Shape;1834;p97"/>
          <p:cNvCxnSpPr>
            <a:stCxn id="1821" idx="2"/>
            <a:endCxn id="1823" idx="6"/>
          </p:cNvCxnSpPr>
          <p:nvPr/>
        </p:nvCxnSpPr>
        <p:spPr>
          <a:xfrm rot="10800000">
            <a:off x="6393048" y="4189910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5" name="Google Shape;1835;p97"/>
          <p:cNvCxnSpPr>
            <a:stCxn id="1826" idx="1"/>
            <a:endCxn id="1824" idx="5"/>
          </p:cNvCxnSpPr>
          <p:nvPr/>
        </p:nvCxnSpPr>
        <p:spPr>
          <a:xfrm rot="10800000">
            <a:off x="7574856" y="3045602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6" name="Google Shape;1836;p97"/>
          <p:cNvCxnSpPr>
            <a:stCxn id="1825" idx="1"/>
            <a:endCxn id="1822" idx="6"/>
          </p:cNvCxnSpPr>
          <p:nvPr/>
        </p:nvCxnSpPr>
        <p:spPr>
          <a:xfrm rot="10800000">
            <a:off x="6393205" y="1614514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7" name="Google Shape;1837;p97"/>
          <p:cNvCxnSpPr>
            <a:stCxn id="1822" idx="5"/>
            <a:endCxn id="1824" idx="1"/>
          </p:cNvCxnSpPr>
          <p:nvPr/>
        </p:nvCxnSpPr>
        <p:spPr>
          <a:xfrm>
            <a:off x="6331909" y="1758032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8" name="Google Shape;1838;p97"/>
          <p:cNvCxnSpPr>
            <a:stCxn id="1820" idx="0"/>
            <a:endCxn id="1822" idx="4"/>
          </p:cNvCxnSpPr>
          <p:nvPr/>
        </p:nvCxnSpPr>
        <p:spPr>
          <a:xfrm rot="10800000">
            <a:off x="6183974" y="18175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9" name="Google Shape;1839;p97"/>
          <p:cNvCxnSpPr>
            <a:stCxn id="1824" idx="3"/>
            <a:endCxn id="1823" idx="7"/>
          </p:cNvCxnSpPr>
          <p:nvPr/>
        </p:nvCxnSpPr>
        <p:spPr>
          <a:xfrm flipH="1">
            <a:off x="6331984" y="3045728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0" name="Google Shape;1840;p97"/>
          <p:cNvCxnSpPr>
            <a:stCxn id="1820" idx="6"/>
            <a:endCxn id="1824" idx="2"/>
          </p:cNvCxnSpPr>
          <p:nvPr/>
        </p:nvCxnSpPr>
        <p:spPr>
          <a:xfrm>
            <a:off x="6393224" y="2902221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p9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Flavors of Connectivity in Directed Graphs</a:t>
            </a:r>
            <a:endParaRPr/>
          </a:p>
        </p:txBody>
      </p:sp>
      <p:sp>
        <p:nvSpPr>
          <p:cNvPr id="1846" name="Google Shape;1846;p98"/>
          <p:cNvSpPr txBox="1"/>
          <p:nvPr>
            <p:ph idx="1" type="body"/>
          </p:nvPr>
        </p:nvSpPr>
        <p:spPr>
          <a:xfrm>
            <a:off x="311700" y="1225225"/>
            <a:ext cx="4207500" cy="3657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distinguish three flavors of connectivity in directed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Strongly Connected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pair of nodes is </a:t>
            </a:r>
            <a:r>
              <a:rPr b="1" lang="en"/>
              <a:t>mutually reachable </a:t>
            </a:r>
            <a:r>
              <a:rPr lang="en"/>
              <a:t>from one another</a:t>
            </a:r>
            <a:endParaRPr/>
          </a:p>
        </p:txBody>
      </p:sp>
      <p:sp>
        <p:nvSpPr>
          <p:cNvPr id="1847" name="Google Shape;1847;p98"/>
          <p:cNvSpPr/>
          <p:nvPr/>
        </p:nvSpPr>
        <p:spPr>
          <a:xfrm>
            <a:off x="4519313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48" name="Google Shape;1848;p98"/>
          <p:cNvSpPr/>
          <p:nvPr/>
        </p:nvSpPr>
        <p:spPr>
          <a:xfrm>
            <a:off x="5974724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49" name="Google Shape;1849;p98"/>
          <p:cNvSpPr/>
          <p:nvPr/>
        </p:nvSpPr>
        <p:spPr>
          <a:xfrm>
            <a:off x="721744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50" name="Google Shape;1850;p98"/>
          <p:cNvSpPr/>
          <p:nvPr/>
        </p:nvSpPr>
        <p:spPr>
          <a:xfrm>
            <a:off x="5974697" y="141157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51" name="Google Shape;1851;p98"/>
          <p:cNvSpPr/>
          <p:nvPr/>
        </p:nvSpPr>
        <p:spPr>
          <a:xfrm>
            <a:off x="597464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52" name="Google Shape;1852;p98"/>
          <p:cNvSpPr/>
          <p:nvPr/>
        </p:nvSpPr>
        <p:spPr>
          <a:xfrm>
            <a:off x="7217496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53" name="Google Shape;1853;p98"/>
          <p:cNvSpPr/>
          <p:nvPr/>
        </p:nvSpPr>
        <p:spPr>
          <a:xfrm>
            <a:off x="8672817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54" name="Google Shape;1854;p98"/>
          <p:cNvSpPr/>
          <p:nvPr/>
        </p:nvSpPr>
        <p:spPr>
          <a:xfrm>
            <a:off x="867276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55" name="Google Shape;1855;p98"/>
          <p:cNvCxnSpPr>
            <a:stCxn id="1847" idx="7"/>
            <a:endCxn id="1850" idx="2"/>
          </p:cNvCxnSpPr>
          <p:nvPr/>
        </p:nvCxnSpPr>
        <p:spPr>
          <a:xfrm flipH="1" rot="10800000">
            <a:off x="4876525" y="1614514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56" name="Google Shape;1856;p98"/>
          <p:cNvCxnSpPr>
            <a:stCxn id="1852" idx="6"/>
            <a:endCxn id="1853" idx="2"/>
          </p:cNvCxnSpPr>
          <p:nvPr/>
        </p:nvCxnSpPr>
        <p:spPr>
          <a:xfrm>
            <a:off x="7635996" y="290222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7" name="Google Shape;1857;p98"/>
          <p:cNvCxnSpPr>
            <a:stCxn id="1849" idx="6"/>
            <a:endCxn id="1854" idx="2"/>
          </p:cNvCxnSpPr>
          <p:nvPr/>
        </p:nvCxnSpPr>
        <p:spPr>
          <a:xfrm>
            <a:off x="7635948" y="4189910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8" name="Google Shape;1858;p98"/>
          <p:cNvCxnSpPr>
            <a:stCxn id="1852" idx="4"/>
            <a:endCxn id="1849" idx="0"/>
          </p:cNvCxnSpPr>
          <p:nvPr/>
        </p:nvCxnSpPr>
        <p:spPr>
          <a:xfrm>
            <a:off x="7426746" y="31051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9" name="Google Shape;1859;p98"/>
          <p:cNvCxnSpPr>
            <a:stCxn id="1848" idx="4"/>
            <a:endCxn id="1851" idx="0"/>
          </p:cNvCxnSpPr>
          <p:nvPr/>
        </p:nvCxnSpPr>
        <p:spPr>
          <a:xfrm>
            <a:off x="6183974" y="31051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60" name="Google Shape;1860;p98"/>
          <p:cNvCxnSpPr>
            <a:stCxn id="1847" idx="5"/>
            <a:endCxn id="1851" idx="2"/>
          </p:cNvCxnSpPr>
          <p:nvPr/>
        </p:nvCxnSpPr>
        <p:spPr>
          <a:xfrm>
            <a:off x="4876525" y="3045728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1" name="Google Shape;1861;p98"/>
          <p:cNvCxnSpPr>
            <a:stCxn id="1847" idx="6"/>
            <a:endCxn id="1848" idx="2"/>
          </p:cNvCxnSpPr>
          <p:nvPr/>
        </p:nvCxnSpPr>
        <p:spPr>
          <a:xfrm>
            <a:off x="4937813" y="290222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2" name="Google Shape;1862;p98"/>
          <p:cNvCxnSpPr>
            <a:stCxn id="1849" idx="2"/>
            <a:endCxn id="1851" idx="6"/>
          </p:cNvCxnSpPr>
          <p:nvPr/>
        </p:nvCxnSpPr>
        <p:spPr>
          <a:xfrm rot="10800000">
            <a:off x="6393048" y="4189910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3" name="Google Shape;1863;p98"/>
          <p:cNvCxnSpPr>
            <a:stCxn id="1854" idx="1"/>
            <a:endCxn id="1852" idx="5"/>
          </p:cNvCxnSpPr>
          <p:nvPr/>
        </p:nvCxnSpPr>
        <p:spPr>
          <a:xfrm rot="10800000">
            <a:off x="7574856" y="3045602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4" name="Google Shape;1864;p98"/>
          <p:cNvCxnSpPr>
            <a:stCxn id="1853" idx="1"/>
            <a:endCxn id="1850" idx="6"/>
          </p:cNvCxnSpPr>
          <p:nvPr/>
        </p:nvCxnSpPr>
        <p:spPr>
          <a:xfrm rot="10800000">
            <a:off x="6393205" y="1614514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5" name="Google Shape;1865;p98"/>
          <p:cNvCxnSpPr>
            <a:stCxn id="1850" idx="5"/>
            <a:endCxn id="1852" idx="1"/>
          </p:cNvCxnSpPr>
          <p:nvPr/>
        </p:nvCxnSpPr>
        <p:spPr>
          <a:xfrm>
            <a:off x="6331909" y="1758032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6" name="Google Shape;1866;p98"/>
          <p:cNvCxnSpPr>
            <a:stCxn id="1848" idx="0"/>
            <a:endCxn id="1850" idx="4"/>
          </p:cNvCxnSpPr>
          <p:nvPr/>
        </p:nvCxnSpPr>
        <p:spPr>
          <a:xfrm rot="10800000">
            <a:off x="6183974" y="18175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7" name="Google Shape;1867;p98"/>
          <p:cNvCxnSpPr>
            <a:stCxn id="1852" idx="3"/>
            <a:endCxn id="1851" idx="7"/>
          </p:cNvCxnSpPr>
          <p:nvPr/>
        </p:nvCxnSpPr>
        <p:spPr>
          <a:xfrm flipH="1">
            <a:off x="6331984" y="3045728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8" name="Google Shape;1868;p98"/>
          <p:cNvCxnSpPr>
            <a:stCxn id="1848" idx="6"/>
            <a:endCxn id="1852" idx="2"/>
          </p:cNvCxnSpPr>
          <p:nvPr/>
        </p:nvCxnSpPr>
        <p:spPr>
          <a:xfrm>
            <a:off x="6393224" y="2902221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69" name="Google Shape;1869;p98"/>
          <p:cNvSpPr/>
          <p:nvPr/>
        </p:nvSpPr>
        <p:spPr>
          <a:xfrm>
            <a:off x="1887025" y="4068550"/>
            <a:ext cx="41415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directed graph is strongly connected!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870" name="Google Shape;1870;p98"/>
          <p:cNvCxnSpPr>
            <a:stCxn id="1869" idx="0"/>
          </p:cNvCxnSpPr>
          <p:nvPr/>
        </p:nvCxnSpPr>
        <p:spPr>
          <a:xfrm flipH="1" rot="10800000">
            <a:off x="3957775" y="3479950"/>
            <a:ext cx="1040400" cy="588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9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Flavors of Connectivity in Directed Graphs</a:t>
            </a:r>
            <a:endParaRPr/>
          </a:p>
        </p:txBody>
      </p:sp>
      <p:sp>
        <p:nvSpPr>
          <p:cNvPr id="1876" name="Google Shape;1876;p99"/>
          <p:cNvSpPr txBox="1"/>
          <p:nvPr>
            <p:ph idx="1" type="body"/>
          </p:nvPr>
        </p:nvSpPr>
        <p:spPr>
          <a:xfrm>
            <a:off x="311700" y="1225225"/>
            <a:ext cx="4207500" cy="3657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distinguish three flavors of connectivity in directed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Strongly Connected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pair of nodes is </a:t>
            </a:r>
            <a:r>
              <a:rPr b="1" lang="en"/>
              <a:t>mutually reachable </a:t>
            </a:r>
            <a:r>
              <a:rPr lang="en"/>
              <a:t>from one another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Unilaterally Connected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pair of nodes is connected by at least one directed path</a:t>
            </a:r>
            <a:endParaRPr/>
          </a:p>
        </p:txBody>
      </p:sp>
      <p:sp>
        <p:nvSpPr>
          <p:cNvPr id="1877" name="Google Shape;1877;p99"/>
          <p:cNvSpPr/>
          <p:nvPr/>
        </p:nvSpPr>
        <p:spPr>
          <a:xfrm>
            <a:off x="4519313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78" name="Google Shape;1878;p99"/>
          <p:cNvSpPr/>
          <p:nvPr/>
        </p:nvSpPr>
        <p:spPr>
          <a:xfrm>
            <a:off x="5974724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79" name="Google Shape;1879;p99"/>
          <p:cNvSpPr/>
          <p:nvPr/>
        </p:nvSpPr>
        <p:spPr>
          <a:xfrm>
            <a:off x="721744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80" name="Google Shape;1880;p99"/>
          <p:cNvSpPr/>
          <p:nvPr/>
        </p:nvSpPr>
        <p:spPr>
          <a:xfrm>
            <a:off x="5974697" y="141157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81" name="Google Shape;1881;p99"/>
          <p:cNvSpPr/>
          <p:nvPr/>
        </p:nvSpPr>
        <p:spPr>
          <a:xfrm>
            <a:off x="597464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82" name="Google Shape;1882;p99"/>
          <p:cNvSpPr/>
          <p:nvPr/>
        </p:nvSpPr>
        <p:spPr>
          <a:xfrm>
            <a:off x="7217496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83" name="Google Shape;1883;p99"/>
          <p:cNvSpPr/>
          <p:nvPr/>
        </p:nvSpPr>
        <p:spPr>
          <a:xfrm>
            <a:off x="8672817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84" name="Google Shape;1884;p99"/>
          <p:cNvSpPr/>
          <p:nvPr/>
        </p:nvSpPr>
        <p:spPr>
          <a:xfrm>
            <a:off x="867276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85" name="Google Shape;1885;p99"/>
          <p:cNvCxnSpPr>
            <a:stCxn id="1877" idx="7"/>
            <a:endCxn id="1880" idx="2"/>
          </p:cNvCxnSpPr>
          <p:nvPr/>
        </p:nvCxnSpPr>
        <p:spPr>
          <a:xfrm flipH="1" rot="10800000">
            <a:off x="4876525" y="1614514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6" name="Google Shape;1886;p99"/>
          <p:cNvCxnSpPr>
            <a:stCxn id="1882" idx="6"/>
            <a:endCxn id="1883" idx="2"/>
          </p:cNvCxnSpPr>
          <p:nvPr/>
        </p:nvCxnSpPr>
        <p:spPr>
          <a:xfrm>
            <a:off x="7635996" y="290222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7" name="Google Shape;1887;p99"/>
          <p:cNvCxnSpPr>
            <a:stCxn id="1879" idx="6"/>
            <a:endCxn id="1884" idx="2"/>
          </p:cNvCxnSpPr>
          <p:nvPr/>
        </p:nvCxnSpPr>
        <p:spPr>
          <a:xfrm>
            <a:off x="7635948" y="4189910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8" name="Google Shape;1888;p99"/>
          <p:cNvCxnSpPr>
            <a:stCxn id="1882" idx="4"/>
            <a:endCxn id="1879" idx="0"/>
          </p:cNvCxnSpPr>
          <p:nvPr/>
        </p:nvCxnSpPr>
        <p:spPr>
          <a:xfrm>
            <a:off x="7426746" y="31051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9" name="Google Shape;1889;p99"/>
          <p:cNvCxnSpPr>
            <a:stCxn id="1878" idx="4"/>
            <a:endCxn id="1881" idx="0"/>
          </p:cNvCxnSpPr>
          <p:nvPr/>
        </p:nvCxnSpPr>
        <p:spPr>
          <a:xfrm>
            <a:off x="6183974" y="31051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90" name="Google Shape;1890;p99"/>
          <p:cNvCxnSpPr>
            <a:stCxn id="1877" idx="5"/>
            <a:endCxn id="1881" idx="2"/>
          </p:cNvCxnSpPr>
          <p:nvPr/>
        </p:nvCxnSpPr>
        <p:spPr>
          <a:xfrm>
            <a:off x="4876525" y="3045728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1" name="Google Shape;1891;p99"/>
          <p:cNvCxnSpPr>
            <a:stCxn id="1877" idx="6"/>
            <a:endCxn id="1878" idx="2"/>
          </p:cNvCxnSpPr>
          <p:nvPr/>
        </p:nvCxnSpPr>
        <p:spPr>
          <a:xfrm>
            <a:off x="4937813" y="290222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2" name="Google Shape;1892;p99"/>
          <p:cNvCxnSpPr>
            <a:stCxn id="1879" idx="2"/>
            <a:endCxn id="1881" idx="6"/>
          </p:cNvCxnSpPr>
          <p:nvPr/>
        </p:nvCxnSpPr>
        <p:spPr>
          <a:xfrm rot="10800000">
            <a:off x="6393048" y="4189910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3" name="Google Shape;1893;p99"/>
          <p:cNvCxnSpPr>
            <a:stCxn id="1884" idx="1"/>
            <a:endCxn id="1882" idx="5"/>
          </p:cNvCxnSpPr>
          <p:nvPr/>
        </p:nvCxnSpPr>
        <p:spPr>
          <a:xfrm rot="10800000">
            <a:off x="7574856" y="3045602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4" name="Google Shape;1894;p99"/>
          <p:cNvCxnSpPr>
            <a:stCxn id="1883" idx="1"/>
            <a:endCxn id="1880" idx="6"/>
          </p:cNvCxnSpPr>
          <p:nvPr/>
        </p:nvCxnSpPr>
        <p:spPr>
          <a:xfrm rot="10800000">
            <a:off x="6393205" y="1614514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5" name="Google Shape;1895;p99"/>
          <p:cNvCxnSpPr>
            <a:stCxn id="1880" idx="5"/>
            <a:endCxn id="1882" idx="1"/>
          </p:cNvCxnSpPr>
          <p:nvPr/>
        </p:nvCxnSpPr>
        <p:spPr>
          <a:xfrm>
            <a:off x="6331909" y="1758032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6" name="Google Shape;1896;p99"/>
          <p:cNvCxnSpPr>
            <a:stCxn id="1878" idx="0"/>
            <a:endCxn id="1880" idx="4"/>
          </p:cNvCxnSpPr>
          <p:nvPr/>
        </p:nvCxnSpPr>
        <p:spPr>
          <a:xfrm rot="10800000">
            <a:off x="6183974" y="18175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7" name="Google Shape;1897;p99"/>
          <p:cNvCxnSpPr>
            <a:stCxn id="1882" idx="3"/>
            <a:endCxn id="1881" idx="7"/>
          </p:cNvCxnSpPr>
          <p:nvPr/>
        </p:nvCxnSpPr>
        <p:spPr>
          <a:xfrm flipH="1">
            <a:off x="6331984" y="3045728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8" name="Google Shape;1898;p99"/>
          <p:cNvCxnSpPr>
            <a:stCxn id="1878" idx="6"/>
            <a:endCxn id="1882" idx="2"/>
          </p:cNvCxnSpPr>
          <p:nvPr/>
        </p:nvCxnSpPr>
        <p:spPr>
          <a:xfrm>
            <a:off x="6393224" y="2902221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p10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Flavors of Connectivity in Directed Graphs</a:t>
            </a:r>
            <a:endParaRPr/>
          </a:p>
        </p:txBody>
      </p:sp>
      <p:sp>
        <p:nvSpPr>
          <p:cNvPr id="1904" name="Google Shape;1904;p100"/>
          <p:cNvSpPr txBox="1"/>
          <p:nvPr>
            <p:ph idx="1" type="body"/>
          </p:nvPr>
        </p:nvSpPr>
        <p:spPr>
          <a:xfrm>
            <a:off x="311700" y="1225225"/>
            <a:ext cx="4207500" cy="3657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distinguish three flavors of connectivity in directed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Strongly Connected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pair of nodes is </a:t>
            </a:r>
            <a:r>
              <a:rPr b="1" lang="en"/>
              <a:t>mutually reachable </a:t>
            </a:r>
            <a:r>
              <a:rPr lang="en"/>
              <a:t>from one another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Unilaterally Connected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pair of nodes is connected by at least one directed path</a:t>
            </a:r>
            <a:endParaRPr/>
          </a:p>
        </p:txBody>
      </p:sp>
      <p:sp>
        <p:nvSpPr>
          <p:cNvPr id="1905" name="Google Shape;1905;p100"/>
          <p:cNvSpPr/>
          <p:nvPr/>
        </p:nvSpPr>
        <p:spPr>
          <a:xfrm>
            <a:off x="4519313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06" name="Google Shape;1906;p100"/>
          <p:cNvSpPr/>
          <p:nvPr/>
        </p:nvSpPr>
        <p:spPr>
          <a:xfrm>
            <a:off x="5974724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07" name="Google Shape;1907;p100"/>
          <p:cNvSpPr/>
          <p:nvPr/>
        </p:nvSpPr>
        <p:spPr>
          <a:xfrm>
            <a:off x="721744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08" name="Google Shape;1908;p100"/>
          <p:cNvSpPr/>
          <p:nvPr/>
        </p:nvSpPr>
        <p:spPr>
          <a:xfrm>
            <a:off x="5974697" y="141157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09" name="Google Shape;1909;p100"/>
          <p:cNvSpPr/>
          <p:nvPr/>
        </p:nvSpPr>
        <p:spPr>
          <a:xfrm>
            <a:off x="597464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10" name="Google Shape;1910;p100"/>
          <p:cNvSpPr/>
          <p:nvPr/>
        </p:nvSpPr>
        <p:spPr>
          <a:xfrm>
            <a:off x="7217496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11" name="Google Shape;1911;p100"/>
          <p:cNvSpPr/>
          <p:nvPr/>
        </p:nvSpPr>
        <p:spPr>
          <a:xfrm>
            <a:off x="8672817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12" name="Google Shape;1912;p100"/>
          <p:cNvSpPr/>
          <p:nvPr/>
        </p:nvSpPr>
        <p:spPr>
          <a:xfrm>
            <a:off x="867276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13" name="Google Shape;1913;p100"/>
          <p:cNvCxnSpPr>
            <a:stCxn id="1905" idx="7"/>
            <a:endCxn id="1908" idx="2"/>
          </p:cNvCxnSpPr>
          <p:nvPr/>
        </p:nvCxnSpPr>
        <p:spPr>
          <a:xfrm flipH="1" rot="10800000">
            <a:off x="4876525" y="1614514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4" name="Google Shape;1914;p100"/>
          <p:cNvCxnSpPr>
            <a:stCxn id="1910" idx="6"/>
            <a:endCxn id="1911" idx="2"/>
          </p:cNvCxnSpPr>
          <p:nvPr/>
        </p:nvCxnSpPr>
        <p:spPr>
          <a:xfrm>
            <a:off x="7635996" y="290222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5" name="Google Shape;1915;p100"/>
          <p:cNvCxnSpPr>
            <a:stCxn id="1907" idx="6"/>
            <a:endCxn id="1912" idx="2"/>
          </p:cNvCxnSpPr>
          <p:nvPr/>
        </p:nvCxnSpPr>
        <p:spPr>
          <a:xfrm>
            <a:off x="7635948" y="4189910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6" name="Google Shape;1916;p100"/>
          <p:cNvCxnSpPr>
            <a:stCxn id="1910" idx="4"/>
            <a:endCxn id="1907" idx="0"/>
          </p:cNvCxnSpPr>
          <p:nvPr/>
        </p:nvCxnSpPr>
        <p:spPr>
          <a:xfrm>
            <a:off x="7426746" y="31051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7" name="Google Shape;1917;p100"/>
          <p:cNvCxnSpPr>
            <a:stCxn id="1906" idx="4"/>
            <a:endCxn id="1909" idx="0"/>
          </p:cNvCxnSpPr>
          <p:nvPr/>
        </p:nvCxnSpPr>
        <p:spPr>
          <a:xfrm>
            <a:off x="6183974" y="31051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18" name="Google Shape;1918;p100"/>
          <p:cNvCxnSpPr>
            <a:stCxn id="1905" idx="5"/>
            <a:endCxn id="1909" idx="2"/>
          </p:cNvCxnSpPr>
          <p:nvPr/>
        </p:nvCxnSpPr>
        <p:spPr>
          <a:xfrm>
            <a:off x="4876525" y="3045728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9" name="Google Shape;1919;p100"/>
          <p:cNvCxnSpPr>
            <a:stCxn id="1905" idx="6"/>
            <a:endCxn id="1906" idx="2"/>
          </p:cNvCxnSpPr>
          <p:nvPr/>
        </p:nvCxnSpPr>
        <p:spPr>
          <a:xfrm>
            <a:off x="4937813" y="290222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0" name="Google Shape;1920;p100"/>
          <p:cNvCxnSpPr>
            <a:stCxn id="1907" idx="2"/>
            <a:endCxn id="1909" idx="6"/>
          </p:cNvCxnSpPr>
          <p:nvPr/>
        </p:nvCxnSpPr>
        <p:spPr>
          <a:xfrm rot="10800000">
            <a:off x="6393048" y="4189910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1" name="Google Shape;1921;p100"/>
          <p:cNvCxnSpPr>
            <a:stCxn id="1912" idx="1"/>
            <a:endCxn id="1910" idx="5"/>
          </p:cNvCxnSpPr>
          <p:nvPr/>
        </p:nvCxnSpPr>
        <p:spPr>
          <a:xfrm rot="10800000">
            <a:off x="7574856" y="3045602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2" name="Google Shape;1922;p100"/>
          <p:cNvCxnSpPr>
            <a:stCxn id="1911" idx="1"/>
            <a:endCxn id="1908" idx="6"/>
          </p:cNvCxnSpPr>
          <p:nvPr/>
        </p:nvCxnSpPr>
        <p:spPr>
          <a:xfrm rot="10800000">
            <a:off x="6393205" y="1614514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3" name="Google Shape;1923;p100"/>
          <p:cNvCxnSpPr>
            <a:stCxn id="1908" idx="5"/>
            <a:endCxn id="1910" idx="1"/>
          </p:cNvCxnSpPr>
          <p:nvPr/>
        </p:nvCxnSpPr>
        <p:spPr>
          <a:xfrm>
            <a:off x="6331909" y="1758032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4" name="Google Shape;1924;p100"/>
          <p:cNvCxnSpPr>
            <a:stCxn id="1906" idx="0"/>
            <a:endCxn id="1908" idx="4"/>
          </p:cNvCxnSpPr>
          <p:nvPr/>
        </p:nvCxnSpPr>
        <p:spPr>
          <a:xfrm rot="10800000">
            <a:off x="6183974" y="18175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5" name="Google Shape;1925;p100"/>
          <p:cNvCxnSpPr>
            <a:stCxn id="1910" idx="3"/>
            <a:endCxn id="1909" idx="7"/>
          </p:cNvCxnSpPr>
          <p:nvPr/>
        </p:nvCxnSpPr>
        <p:spPr>
          <a:xfrm flipH="1">
            <a:off x="6331984" y="3045728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6" name="Google Shape;1926;p100"/>
          <p:cNvCxnSpPr>
            <a:stCxn id="1906" idx="6"/>
            <a:endCxn id="1910" idx="2"/>
          </p:cNvCxnSpPr>
          <p:nvPr/>
        </p:nvCxnSpPr>
        <p:spPr>
          <a:xfrm>
            <a:off x="6393224" y="2902221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7" name="Google Shape;1927;p100"/>
          <p:cNvSpPr/>
          <p:nvPr/>
        </p:nvSpPr>
        <p:spPr>
          <a:xfrm>
            <a:off x="2244600" y="4189900"/>
            <a:ext cx="38817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directed graph is unilaterally connected!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928" name="Google Shape;1928;p100"/>
          <p:cNvCxnSpPr>
            <a:stCxn id="1927" idx="0"/>
          </p:cNvCxnSpPr>
          <p:nvPr/>
        </p:nvCxnSpPr>
        <p:spPr>
          <a:xfrm flipH="1" rot="10800000">
            <a:off x="4185450" y="3601300"/>
            <a:ext cx="1040400" cy="588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p10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Flavors of Connectivity in Directed Graphs</a:t>
            </a:r>
            <a:endParaRPr/>
          </a:p>
        </p:txBody>
      </p:sp>
      <p:sp>
        <p:nvSpPr>
          <p:cNvPr id="1934" name="Google Shape;1934;p101"/>
          <p:cNvSpPr txBox="1"/>
          <p:nvPr>
            <p:ph idx="1" type="body"/>
          </p:nvPr>
        </p:nvSpPr>
        <p:spPr>
          <a:xfrm>
            <a:off x="311700" y="1225225"/>
            <a:ext cx="4207500" cy="3657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distinguish three flavors of connectivity in directed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Strongly Connected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pair of nodes is </a:t>
            </a:r>
            <a:r>
              <a:rPr b="1" lang="en"/>
              <a:t>mutually reachable </a:t>
            </a:r>
            <a:r>
              <a:rPr lang="en"/>
              <a:t>from one another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Unilaterally Connected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pair of nodes is connected by at least one directed path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Weakly Connected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pair of nodes is connected by at least a </a:t>
            </a:r>
            <a:r>
              <a:rPr b="1" lang="en"/>
              <a:t>semipath</a:t>
            </a:r>
            <a:endParaRPr b="1"/>
          </a:p>
        </p:txBody>
      </p:sp>
      <p:sp>
        <p:nvSpPr>
          <p:cNvPr id="1935" name="Google Shape;1935;p101"/>
          <p:cNvSpPr/>
          <p:nvPr/>
        </p:nvSpPr>
        <p:spPr>
          <a:xfrm>
            <a:off x="4519313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36" name="Google Shape;1936;p101"/>
          <p:cNvSpPr/>
          <p:nvPr/>
        </p:nvSpPr>
        <p:spPr>
          <a:xfrm>
            <a:off x="5974724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37" name="Google Shape;1937;p101"/>
          <p:cNvSpPr/>
          <p:nvPr/>
        </p:nvSpPr>
        <p:spPr>
          <a:xfrm>
            <a:off x="721744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38" name="Google Shape;1938;p101"/>
          <p:cNvSpPr/>
          <p:nvPr/>
        </p:nvSpPr>
        <p:spPr>
          <a:xfrm>
            <a:off x="5974697" y="141157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39" name="Google Shape;1939;p101"/>
          <p:cNvSpPr/>
          <p:nvPr/>
        </p:nvSpPr>
        <p:spPr>
          <a:xfrm>
            <a:off x="597464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40" name="Google Shape;1940;p101"/>
          <p:cNvSpPr/>
          <p:nvPr/>
        </p:nvSpPr>
        <p:spPr>
          <a:xfrm>
            <a:off x="7217496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41" name="Google Shape;1941;p101"/>
          <p:cNvSpPr/>
          <p:nvPr/>
        </p:nvSpPr>
        <p:spPr>
          <a:xfrm>
            <a:off x="8672817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42" name="Google Shape;1942;p101"/>
          <p:cNvSpPr/>
          <p:nvPr/>
        </p:nvSpPr>
        <p:spPr>
          <a:xfrm>
            <a:off x="867276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43" name="Google Shape;1943;p101"/>
          <p:cNvCxnSpPr>
            <a:stCxn id="1935" idx="7"/>
            <a:endCxn id="1938" idx="2"/>
          </p:cNvCxnSpPr>
          <p:nvPr/>
        </p:nvCxnSpPr>
        <p:spPr>
          <a:xfrm flipH="1" rot="10800000">
            <a:off x="4876525" y="1614514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4" name="Google Shape;1944;p101"/>
          <p:cNvCxnSpPr>
            <a:stCxn id="1940" idx="6"/>
            <a:endCxn id="1941" idx="2"/>
          </p:cNvCxnSpPr>
          <p:nvPr/>
        </p:nvCxnSpPr>
        <p:spPr>
          <a:xfrm>
            <a:off x="7635996" y="290222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45" name="Google Shape;1945;p101"/>
          <p:cNvCxnSpPr>
            <a:stCxn id="1937" idx="6"/>
            <a:endCxn id="1942" idx="2"/>
          </p:cNvCxnSpPr>
          <p:nvPr/>
        </p:nvCxnSpPr>
        <p:spPr>
          <a:xfrm>
            <a:off x="7635948" y="4189910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6" name="Google Shape;1946;p101"/>
          <p:cNvCxnSpPr>
            <a:stCxn id="1940" idx="4"/>
            <a:endCxn id="1937" idx="0"/>
          </p:cNvCxnSpPr>
          <p:nvPr/>
        </p:nvCxnSpPr>
        <p:spPr>
          <a:xfrm>
            <a:off x="7426746" y="31051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7" name="Google Shape;1947;p101"/>
          <p:cNvCxnSpPr>
            <a:stCxn id="1936" idx="4"/>
            <a:endCxn id="1939" idx="0"/>
          </p:cNvCxnSpPr>
          <p:nvPr/>
        </p:nvCxnSpPr>
        <p:spPr>
          <a:xfrm>
            <a:off x="6183974" y="31051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48" name="Google Shape;1948;p101"/>
          <p:cNvCxnSpPr>
            <a:stCxn id="1935" idx="5"/>
            <a:endCxn id="1939" idx="2"/>
          </p:cNvCxnSpPr>
          <p:nvPr/>
        </p:nvCxnSpPr>
        <p:spPr>
          <a:xfrm>
            <a:off x="4876525" y="3045728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9" name="Google Shape;1949;p101"/>
          <p:cNvCxnSpPr>
            <a:stCxn id="1935" idx="6"/>
            <a:endCxn id="1936" idx="2"/>
          </p:cNvCxnSpPr>
          <p:nvPr/>
        </p:nvCxnSpPr>
        <p:spPr>
          <a:xfrm>
            <a:off x="4937813" y="290222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0" name="Google Shape;1950;p101"/>
          <p:cNvCxnSpPr>
            <a:stCxn id="1937" idx="2"/>
            <a:endCxn id="1939" idx="6"/>
          </p:cNvCxnSpPr>
          <p:nvPr/>
        </p:nvCxnSpPr>
        <p:spPr>
          <a:xfrm rot="10800000">
            <a:off x="6393048" y="4189910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1" name="Google Shape;1951;p101"/>
          <p:cNvCxnSpPr>
            <a:stCxn id="1942" idx="1"/>
            <a:endCxn id="1940" idx="5"/>
          </p:cNvCxnSpPr>
          <p:nvPr/>
        </p:nvCxnSpPr>
        <p:spPr>
          <a:xfrm rot="10800000">
            <a:off x="7574856" y="3045602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2" name="Google Shape;1952;p101"/>
          <p:cNvCxnSpPr>
            <a:stCxn id="1941" idx="1"/>
            <a:endCxn id="1938" idx="6"/>
          </p:cNvCxnSpPr>
          <p:nvPr/>
        </p:nvCxnSpPr>
        <p:spPr>
          <a:xfrm rot="10800000">
            <a:off x="6393205" y="1614514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3" name="Google Shape;1953;p101"/>
          <p:cNvCxnSpPr>
            <a:stCxn id="1938" idx="5"/>
            <a:endCxn id="1940" idx="1"/>
          </p:cNvCxnSpPr>
          <p:nvPr/>
        </p:nvCxnSpPr>
        <p:spPr>
          <a:xfrm>
            <a:off x="6331909" y="1758032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4" name="Google Shape;1954;p101"/>
          <p:cNvCxnSpPr>
            <a:stCxn id="1936" idx="0"/>
            <a:endCxn id="1938" idx="4"/>
          </p:cNvCxnSpPr>
          <p:nvPr/>
        </p:nvCxnSpPr>
        <p:spPr>
          <a:xfrm rot="10800000">
            <a:off x="6183974" y="18175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5" name="Google Shape;1955;p101"/>
          <p:cNvCxnSpPr>
            <a:stCxn id="1940" idx="3"/>
            <a:endCxn id="1939" idx="7"/>
          </p:cNvCxnSpPr>
          <p:nvPr/>
        </p:nvCxnSpPr>
        <p:spPr>
          <a:xfrm flipH="1">
            <a:off x="6331984" y="3045728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6" name="Google Shape;1956;p101"/>
          <p:cNvCxnSpPr>
            <a:stCxn id="1936" idx="6"/>
            <a:endCxn id="1940" idx="2"/>
          </p:cNvCxnSpPr>
          <p:nvPr/>
        </p:nvCxnSpPr>
        <p:spPr>
          <a:xfrm>
            <a:off x="6393224" y="2902221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p10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Flavors of Connectivity in Directed Graphs</a:t>
            </a:r>
            <a:endParaRPr/>
          </a:p>
        </p:txBody>
      </p:sp>
      <p:sp>
        <p:nvSpPr>
          <p:cNvPr id="1962" name="Google Shape;1962;p102"/>
          <p:cNvSpPr txBox="1"/>
          <p:nvPr>
            <p:ph idx="1" type="body"/>
          </p:nvPr>
        </p:nvSpPr>
        <p:spPr>
          <a:xfrm>
            <a:off x="311700" y="1225225"/>
            <a:ext cx="4207500" cy="3657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distinguish three flavors of connectivity in directed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Strongly Connected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pair of nodes is </a:t>
            </a:r>
            <a:r>
              <a:rPr b="1" lang="en"/>
              <a:t>mutually reachable </a:t>
            </a:r>
            <a:r>
              <a:rPr lang="en"/>
              <a:t>from one another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Unilaterally Connected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pair of nodes is connected by at least one directed path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Weakly Connected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pair of nodes is connected by at least a </a:t>
            </a:r>
            <a:r>
              <a:rPr b="1" lang="en"/>
              <a:t>semipath</a:t>
            </a:r>
            <a:endParaRPr b="1"/>
          </a:p>
        </p:txBody>
      </p:sp>
      <p:sp>
        <p:nvSpPr>
          <p:cNvPr id="1963" name="Google Shape;1963;p102"/>
          <p:cNvSpPr/>
          <p:nvPr/>
        </p:nvSpPr>
        <p:spPr>
          <a:xfrm>
            <a:off x="4519313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64" name="Google Shape;1964;p102"/>
          <p:cNvSpPr/>
          <p:nvPr/>
        </p:nvSpPr>
        <p:spPr>
          <a:xfrm>
            <a:off x="5974724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65" name="Google Shape;1965;p102"/>
          <p:cNvSpPr/>
          <p:nvPr/>
        </p:nvSpPr>
        <p:spPr>
          <a:xfrm>
            <a:off x="721744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66" name="Google Shape;1966;p102"/>
          <p:cNvSpPr/>
          <p:nvPr/>
        </p:nvSpPr>
        <p:spPr>
          <a:xfrm>
            <a:off x="5974697" y="141157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67" name="Google Shape;1967;p102"/>
          <p:cNvSpPr/>
          <p:nvPr/>
        </p:nvSpPr>
        <p:spPr>
          <a:xfrm>
            <a:off x="597464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68" name="Google Shape;1968;p102"/>
          <p:cNvSpPr/>
          <p:nvPr/>
        </p:nvSpPr>
        <p:spPr>
          <a:xfrm>
            <a:off x="7217496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69" name="Google Shape;1969;p102"/>
          <p:cNvSpPr/>
          <p:nvPr/>
        </p:nvSpPr>
        <p:spPr>
          <a:xfrm>
            <a:off x="8672817" y="269927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70" name="Google Shape;1970;p102"/>
          <p:cNvSpPr/>
          <p:nvPr/>
        </p:nvSpPr>
        <p:spPr>
          <a:xfrm>
            <a:off x="8672768" y="398696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71" name="Google Shape;1971;p102"/>
          <p:cNvCxnSpPr>
            <a:stCxn id="1963" idx="7"/>
            <a:endCxn id="1966" idx="2"/>
          </p:cNvCxnSpPr>
          <p:nvPr/>
        </p:nvCxnSpPr>
        <p:spPr>
          <a:xfrm flipH="1" rot="10800000">
            <a:off x="4876525" y="1614514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2" name="Google Shape;1972;p102"/>
          <p:cNvCxnSpPr>
            <a:stCxn id="1968" idx="6"/>
            <a:endCxn id="1969" idx="2"/>
          </p:cNvCxnSpPr>
          <p:nvPr/>
        </p:nvCxnSpPr>
        <p:spPr>
          <a:xfrm>
            <a:off x="7635996" y="290222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73" name="Google Shape;1973;p102"/>
          <p:cNvCxnSpPr>
            <a:stCxn id="1965" idx="6"/>
            <a:endCxn id="1970" idx="2"/>
          </p:cNvCxnSpPr>
          <p:nvPr/>
        </p:nvCxnSpPr>
        <p:spPr>
          <a:xfrm>
            <a:off x="7635948" y="4189910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4" name="Google Shape;1974;p102"/>
          <p:cNvCxnSpPr>
            <a:stCxn id="1968" idx="4"/>
            <a:endCxn id="1965" idx="0"/>
          </p:cNvCxnSpPr>
          <p:nvPr/>
        </p:nvCxnSpPr>
        <p:spPr>
          <a:xfrm>
            <a:off x="7426746" y="31051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5" name="Google Shape;1975;p102"/>
          <p:cNvCxnSpPr>
            <a:stCxn id="1964" idx="4"/>
            <a:endCxn id="1967" idx="0"/>
          </p:cNvCxnSpPr>
          <p:nvPr/>
        </p:nvCxnSpPr>
        <p:spPr>
          <a:xfrm>
            <a:off x="6183974" y="31051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76" name="Google Shape;1976;p102"/>
          <p:cNvCxnSpPr>
            <a:stCxn id="1963" idx="5"/>
            <a:endCxn id="1967" idx="2"/>
          </p:cNvCxnSpPr>
          <p:nvPr/>
        </p:nvCxnSpPr>
        <p:spPr>
          <a:xfrm>
            <a:off x="4876525" y="3045728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7" name="Google Shape;1977;p102"/>
          <p:cNvCxnSpPr>
            <a:stCxn id="1963" idx="6"/>
            <a:endCxn id="1964" idx="2"/>
          </p:cNvCxnSpPr>
          <p:nvPr/>
        </p:nvCxnSpPr>
        <p:spPr>
          <a:xfrm>
            <a:off x="4937813" y="290222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8" name="Google Shape;1978;p102"/>
          <p:cNvCxnSpPr>
            <a:stCxn id="1965" idx="2"/>
            <a:endCxn id="1967" idx="6"/>
          </p:cNvCxnSpPr>
          <p:nvPr/>
        </p:nvCxnSpPr>
        <p:spPr>
          <a:xfrm rot="10800000">
            <a:off x="6393048" y="4189910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9" name="Google Shape;1979;p102"/>
          <p:cNvCxnSpPr>
            <a:stCxn id="1970" idx="1"/>
            <a:endCxn id="1968" idx="5"/>
          </p:cNvCxnSpPr>
          <p:nvPr/>
        </p:nvCxnSpPr>
        <p:spPr>
          <a:xfrm rot="10800000">
            <a:off x="7574856" y="3045602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0" name="Google Shape;1980;p102"/>
          <p:cNvCxnSpPr>
            <a:stCxn id="1969" idx="1"/>
            <a:endCxn id="1966" idx="6"/>
          </p:cNvCxnSpPr>
          <p:nvPr/>
        </p:nvCxnSpPr>
        <p:spPr>
          <a:xfrm rot="10800000">
            <a:off x="6393205" y="1614514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1" name="Google Shape;1981;p102"/>
          <p:cNvCxnSpPr>
            <a:stCxn id="1966" idx="5"/>
            <a:endCxn id="1968" idx="1"/>
          </p:cNvCxnSpPr>
          <p:nvPr/>
        </p:nvCxnSpPr>
        <p:spPr>
          <a:xfrm>
            <a:off x="6331909" y="1758032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2" name="Google Shape;1982;p102"/>
          <p:cNvCxnSpPr>
            <a:stCxn id="1964" idx="0"/>
            <a:endCxn id="1966" idx="4"/>
          </p:cNvCxnSpPr>
          <p:nvPr/>
        </p:nvCxnSpPr>
        <p:spPr>
          <a:xfrm rot="10800000">
            <a:off x="6183974" y="1817571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3" name="Google Shape;1983;p102"/>
          <p:cNvCxnSpPr>
            <a:stCxn id="1968" idx="3"/>
            <a:endCxn id="1967" idx="7"/>
          </p:cNvCxnSpPr>
          <p:nvPr/>
        </p:nvCxnSpPr>
        <p:spPr>
          <a:xfrm flipH="1">
            <a:off x="6331984" y="3045728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4" name="Google Shape;1984;p102"/>
          <p:cNvCxnSpPr>
            <a:stCxn id="1964" idx="6"/>
            <a:endCxn id="1968" idx="2"/>
          </p:cNvCxnSpPr>
          <p:nvPr/>
        </p:nvCxnSpPr>
        <p:spPr>
          <a:xfrm>
            <a:off x="6393224" y="2902221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5" name="Google Shape;1985;p102"/>
          <p:cNvSpPr/>
          <p:nvPr/>
        </p:nvSpPr>
        <p:spPr>
          <a:xfrm>
            <a:off x="1659150" y="1411575"/>
            <a:ext cx="3881700" cy="831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directed graph is weakly connected!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986" name="Google Shape;1986;p102"/>
          <p:cNvCxnSpPr>
            <a:stCxn id="1985" idx="4"/>
          </p:cNvCxnSpPr>
          <p:nvPr/>
        </p:nvCxnSpPr>
        <p:spPr>
          <a:xfrm>
            <a:off x="3600000" y="2242875"/>
            <a:ext cx="1278600" cy="287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990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Google Shape;1991;p10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5" name="Shape 1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Google Shape;1996;p10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1997" name="Google Shape;1997;p104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98" name="Google Shape;1998;p104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reachability matrix</a:t>
            </a:r>
            <a:r>
              <a:rPr lang="en"/>
              <a:t> (D</a:t>
            </a:r>
            <a:r>
              <a:rPr baseline="30000" lang="en"/>
              <a:t>r</a:t>
            </a:r>
            <a:r>
              <a:rPr lang="en"/>
              <a:t>) of a directed graph has a one in each cell if the corresponding pair of nodes are connected via a path of some length</a:t>
            </a:r>
            <a:endParaRPr/>
          </a:p>
        </p:txBody>
      </p:sp>
      <p:sp>
        <p:nvSpPr>
          <p:cNvPr id="1999" name="Google Shape;1999;p104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0" name="Google Shape;2000;p104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01" name="Google Shape;2001;p104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02" name="Google Shape;2002;p104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03" name="Google Shape;2003;p104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04" name="Google Shape;2004;p104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05" name="Google Shape;2005;p104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06" name="Google Shape;2006;p104"/>
          <p:cNvCxnSpPr>
            <a:stCxn id="2002" idx="7"/>
            <a:endCxn id="2003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07" name="Google Shape;2007;p104"/>
          <p:cNvCxnSpPr>
            <a:stCxn id="2005" idx="1"/>
            <a:endCxn id="2003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08" name="Google Shape;2008;p104"/>
          <p:cNvCxnSpPr>
            <a:stCxn id="2005" idx="3"/>
            <a:endCxn id="2004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09" name="Google Shape;2009;p104"/>
          <p:cNvCxnSpPr>
            <a:stCxn id="2004" idx="1"/>
            <a:endCxn id="2003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10" name="Google Shape;2010;p104"/>
          <p:cNvCxnSpPr>
            <a:stCxn id="2002" idx="1"/>
            <a:endCxn id="2001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11" name="Google Shape;2011;p104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012" name="Google Shape;2012;p104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p10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2018" name="Google Shape;2018;p105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19" name="Google Shape;2019;p105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fill it out we put a “1” in the </a:t>
            </a:r>
            <a:r>
              <a:rPr i="1" lang="en"/>
              <a:t>ij</a:t>
            </a:r>
            <a:r>
              <a:rPr baseline="30000" lang="en"/>
              <a:t>th</a:t>
            </a:r>
            <a:r>
              <a:rPr lang="en"/>
              <a:t> cell if node </a:t>
            </a:r>
            <a:r>
              <a:rPr i="1" lang="en"/>
              <a:t>i</a:t>
            </a:r>
            <a:r>
              <a:rPr lang="en"/>
              <a:t> can </a:t>
            </a:r>
            <a:r>
              <a:rPr b="1" lang="en"/>
              <a:t>reach</a:t>
            </a:r>
            <a:r>
              <a:rPr lang="en"/>
              <a:t> node </a:t>
            </a:r>
            <a:r>
              <a:rPr i="1" lang="en"/>
              <a:t>j</a:t>
            </a:r>
            <a:r>
              <a:rPr lang="en"/>
              <a:t> via a </a:t>
            </a:r>
            <a:r>
              <a:rPr b="1" lang="en"/>
              <a:t>directed path</a:t>
            </a:r>
            <a:r>
              <a:rPr lang="en"/>
              <a:t> of any length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a zero otherwise</a:t>
            </a:r>
            <a:endParaRPr/>
          </a:p>
        </p:txBody>
      </p:sp>
      <p:sp>
        <p:nvSpPr>
          <p:cNvPr id="2020" name="Google Shape;2020;p105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1" name="Google Shape;2021;p105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22" name="Google Shape;2022;p105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23" name="Google Shape;2023;p105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24" name="Google Shape;2024;p105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25" name="Google Shape;2025;p105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26" name="Google Shape;2026;p105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27" name="Google Shape;2027;p105"/>
          <p:cNvCxnSpPr>
            <a:stCxn id="2023" idx="7"/>
            <a:endCxn id="2024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28" name="Google Shape;2028;p105"/>
          <p:cNvCxnSpPr>
            <a:stCxn id="2026" idx="1"/>
            <a:endCxn id="2024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29" name="Google Shape;2029;p105"/>
          <p:cNvCxnSpPr>
            <a:stCxn id="2026" idx="3"/>
            <a:endCxn id="2025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30" name="Google Shape;2030;p105"/>
          <p:cNvCxnSpPr>
            <a:stCxn id="2025" idx="1"/>
            <a:endCxn id="2024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31" name="Google Shape;2031;p105"/>
          <p:cNvCxnSpPr>
            <a:stCxn id="2023" idx="1"/>
            <a:endCxn id="2022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32" name="Google Shape;2032;p105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033" name="Google Shape;2033;p105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7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p10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2039" name="Google Shape;2039;p106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40" name="Google Shape;2040;p106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fill it out we put a “1” in the </a:t>
            </a:r>
            <a:r>
              <a:rPr i="1" lang="en"/>
              <a:t>ij</a:t>
            </a:r>
            <a:r>
              <a:rPr baseline="30000" lang="en"/>
              <a:t>th</a:t>
            </a:r>
            <a:r>
              <a:rPr lang="en"/>
              <a:t> cell if node </a:t>
            </a:r>
            <a:r>
              <a:rPr i="1" lang="en"/>
              <a:t>i</a:t>
            </a:r>
            <a:r>
              <a:rPr lang="en"/>
              <a:t> can </a:t>
            </a:r>
            <a:r>
              <a:rPr b="1" lang="en"/>
              <a:t>reach</a:t>
            </a:r>
            <a:r>
              <a:rPr lang="en"/>
              <a:t> node </a:t>
            </a:r>
            <a:r>
              <a:rPr i="1" lang="en"/>
              <a:t>j</a:t>
            </a:r>
            <a:r>
              <a:rPr lang="en"/>
              <a:t> via a </a:t>
            </a:r>
            <a:r>
              <a:rPr b="1" lang="en"/>
              <a:t>directed path</a:t>
            </a:r>
            <a:r>
              <a:rPr lang="en"/>
              <a:t> of any length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direct link counts as a “path”! (of length 1)</a:t>
            </a:r>
            <a:endParaRPr/>
          </a:p>
        </p:txBody>
      </p:sp>
      <p:sp>
        <p:nvSpPr>
          <p:cNvPr id="2041" name="Google Shape;2041;p106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2" name="Google Shape;2042;p106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43" name="Google Shape;2043;p106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44" name="Google Shape;2044;p106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45" name="Google Shape;2045;p106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46" name="Google Shape;2046;p106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47" name="Google Shape;2047;p106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48" name="Google Shape;2048;p106"/>
          <p:cNvCxnSpPr>
            <a:stCxn id="2044" idx="7"/>
            <a:endCxn id="2045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49" name="Google Shape;2049;p106"/>
          <p:cNvCxnSpPr>
            <a:stCxn id="2047" idx="1"/>
            <a:endCxn id="2045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50" name="Google Shape;2050;p106"/>
          <p:cNvCxnSpPr>
            <a:stCxn id="2047" idx="3"/>
            <a:endCxn id="2046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51" name="Google Shape;2051;p106"/>
          <p:cNvCxnSpPr>
            <a:stCxn id="2046" idx="1"/>
            <a:endCxn id="2045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52" name="Google Shape;2052;p106"/>
          <p:cNvCxnSpPr>
            <a:stCxn id="2044" idx="1"/>
            <a:endCxn id="2043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53" name="Google Shape;2053;p106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054" name="Google Shape;2054;p106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8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p10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2060" name="Google Shape;2060;p107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61" name="Google Shape;2061;p107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begin with the first row node and ask: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</a:t>
            </a:r>
            <a:r>
              <a:rPr b="1" lang="en"/>
              <a:t>A</a:t>
            </a:r>
            <a:r>
              <a:rPr lang="en"/>
              <a:t> reach </a:t>
            </a:r>
            <a:r>
              <a:rPr b="1" lang="en"/>
              <a:t>B</a:t>
            </a:r>
            <a:r>
              <a:rPr lang="en"/>
              <a:t>?</a:t>
            </a:r>
            <a:endParaRPr/>
          </a:p>
        </p:txBody>
      </p:sp>
      <p:sp>
        <p:nvSpPr>
          <p:cNvPr id="2062" name="Google Shape;2062;p107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3" name="Google Shape;2063;p107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64" name="Google Shape;2064;p107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65" name="Google Shape;2065;p107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66" name="Google Shape;2066;p107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67" name="Google Shape;2067;p107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68" name="Google Shape;2068;p107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69" name="Google Shape;2069;p107"/>
          <p:cNvCxnSpPr>
            <a:stCxn id="2065" idx="7"/>
            <a:endCxn id="2066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70" name="Google Shape;2070;p107"/>
          <p:cNvCxnSpPr>
            <a:stCxn id="2068" idx="1"/>
            <a:endCxn id="2066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71" name="Google Shape;2071;p107"/>
          <p:cNvCxnSpPr>
            <a:stCxn id="2068" idx="3"/>
            <a:endCxn id="2067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72" name="Google Shape;2072;p107"/>
          <p:cNvCxnSpPr>
            <a:stCxn id="2067" idx="1"/>
            <a:endCxn id="2066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73" name="Google Shape;2073;p107"/>
          <p:cNvCxnSpPr>
            <a:stCxn id="2065" idx="1"/>
            <a:endCxn id="2064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74" name="Google Shape;2074;p107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075" name="Google Shape;2075;p107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9" name="Shape 2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" name="Google Shape;2080;p10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2081" name="Google Shape;2081;p108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82" name="Google Shape;2082;p108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begin with the first row node and ask: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</a:t>
            </a:r>
            <a:r>
              <a:rPr b="1" lang="en"/>
              <a:t>A</a:t>
            </a:r>
            <a:r>
              <a:rPr lang="en"/>
              <a:t> reach </a:t>
            </a:r>
            <a:r>
              <a:rPr b="1" lang="en"/>
              <a:t>B</a:t>
            </a:r>
            <a:r>
              <a:rPr lang="en"/>
              <a:t>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No! (d</a:t>
            </a:r>
            <a:r>
              <a:rPr baseline="30000" lang="en"/>
              <a:t>r</a:t>
            </a:r>
            <a:r>
              <a:rPr baseline="-25000" lang="en"/>
              <a:t>1,2</a:t>
            </a:r>
            <a:r>
              <a:rPr lang="en"/>
              <a:t> = 0) because no directed path exists</a:t>
            </a:r>
            <a:endParaRPr/>
          </a:p>
        </p:txBody>
      </p:sp>
      <p:sp>
        <p:nvSpPr>
          <p:cNvPr id="2083" name="Google Shape;2083;p108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4" name="Google Shape;2084;p108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85" name="Google Shape;2085;p108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86" name="Google Shape;2086;p108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87" name="Google Shape;2087;p108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88" name="Google Shape;2088;p108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89" name="Google Shape;2089;p108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90" name="Google Shape;2090;p108"/>
          <p:cNvCxnSpPr>
            <a:stCxn id="2086" idx="7"/>
            <a:endCxn id="2087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91" name="Google Shape;2091;p108"/>
          <p:cNvCxnSpPr>
            <a:stCxn id="2089" idx="1"/>
            <a:endCxn id="2087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92" name="Google Shape;2092;p108"/>
          <p:cNvCxnSpPr>
            <a:stCxn id="2089" idx="3"/>
            <a:endCxn id="2088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93" name="Google Shape;2093;p108"/>
          <p:cNvCxnSpPr>
            <a:stCxn id="2088" idx="1"/>
            <a:endCxn id="2087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94" name="Google Shape;2094;p108"/>
          <p:cNvCxnSpPr>
            <a:stCxn id="2086" idx="1"/>
            <a:endCxn id="2085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95" name="Google Shape;2095;p108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096" name="Google Shape;2096;p108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0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Google Shape;2101;p10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2102" name="Google Shape;2102;p109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03" name="Google Shape;2103;p109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begin with the first row node and ask: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</a:t>
            </a:r>
            <a:r>
              <a:rPr b="1" lang="en"/>
              <a:t>A</a:t>
            </a:r>
            <a:r>
              <a:rPr lang="en"/>
              <a:t> reach </a:t>
            </a:r>
            <a:r>
              <a:rPr b="1" lang="en"/>
              <a:t>C</a:t>
            </a:r>
            <a:r>
              <a:rPr lang="en"/>
              <a:t>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Yes! (d</a:t>
            </a:r>
            <a:r>
              <a:rPr baseline="30000" lang="en"/>
              <a:t>r</a:t>
            </a:r>
            <a:r>
              <a:rPr baseline="-25000" lang="en"/>
              <a:t>1,3</a:t>
            </a:r>
            <a:r>
              <a:rPr lang="en"/>
              <a:t> = 1) because they are adjacent</a:t>
            </a:r>
            <a:endParaRPr/>
          </a:p>
        </p:txBody>
      </p:sp>
      <p:sp>
        <p:nvSpPr>
          <p:cNvPr id="2104" name="Google Shape;2104;p109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5" name="Google Shape;2105;p109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06" name="Google Shape;2106;p109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07" name="Google Shape;2107;p109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08" name="Google Shape;2108;p109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09" name="Google Shape;2109;p109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10" name="Google Shape;2110;p109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11" name="Google Shape;2111;p109"/>
          <p:cNvCxnSpPr>
            <a:stCxn id="2107" idx="7"/>
            <a:endCxn id="2108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12" name="Google Shape;2112;p109"/>
          <p:cNvCxnSpPr>
            <a:stCxn id="2110" idx="1"/>
            <a:endCxn id="2108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13" name="Google Shape;2113;p109"/>
          <p:cNvCxnSpPr>
            <a:stCxn id="2110" idx="3"/>
            <a:endCxn id="2109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14" name="Google Shape;2114;p109"/>
          <p:cNvCxnSpPr>
            <a:stCxn id="2109" idx="1"/>
            <a:endCxn id="2108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15" name="Google Shape;2115;p109"/>
          <p:cNvCxnSpPr>
            <a:stCxn id="2107" idx="1"/>
            <a:endCxn id="2106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16" name="Google Shape;2116;p109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117" name="Google Shape;2117;p109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p11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2123" name="Google Shape;2123;p110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24" name="Google Shape;2124;p110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begin with the first row node and ask: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</a:t>
            </a:r>
            <a:r>
              <a:rPr b="1" lang="en"/>
              <a:t>A</a:t>
            </a:r>
            <a:r>
              <a:rPr lang="en"/>
              <a:t> reach </a:t>
            </a:r>
            <a:r>
              <a:rPr b="1" lang="en"/>
              <a:t>D</a:t>
            </a:r>
            <a:r>
              <a:rPr lang="en"/>
              <a:t>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Yes! (d</a:t>
            </a:r>
            <a:r>
              <a:rPr baseline="30000" lang="en"/>
              <a:t>r</a:t>
            </a:r>
            <a:r>
              <a:rPr baseline="-25000" lang="en"/>
              <a:t>1,4</a:t>
            </a:r>
            <a:r>
              <a:rPr lang="en"/>
              <a:t> = 1) because they are adjacent</a:t>
            </a:r>
            <a:endParaRPr/>
          </a:p>
        </p:txBody>
      </p:sp>
      <p:sp>
        <p:nvSpPr>
          <p:cNvPr id="2125" name="Google Shape;2125;p110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6" name="Google Shape;2126;p110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27" name="Google Shape;2127;p110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28" name="Google Shape;2128;p110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29" name="Google Shape;2129;p110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30" name="Google Shape;2130;p110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31" name="Google Shape;2131;p110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32" name="Google Shape;2132;p110"/>
          <p:cNvCxnSpPr>
            <a:stCxn id="2128" idx="7"/>
            <a:endCxn id="2129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33" name="Google Shape;2133;p110"/>
          <p:cNvCxnSpPr>
            <a:stCxn id="2131" idx="1"/>
            <a:endCxn id="2129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34" name="Google Shape;2134;p110"/>
          <p:cNvCxnSpPr>
            <a:stCxn id="2131" idx="3"/>
            <a:endCxn id="2130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35" name="Google Shape;2135;p110"/>
          <p:cNvCxnSpPr>
            <a:stCxn id="2130" idx="1"/>
            <a:endCxn id="2129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36" name="Google Shape;2136;p110"/>
          <p:cNvCxnSpPr>
            <a:stCxn id="2128" idx="1"/>
            <a:endCxn id="2127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37" name="Google Shape;2137;p110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138" name="Google Shape;2138;p110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2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p11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2144" name="Google Shape;2144;p111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45" name="Google Shape;2145;p111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begin with the first row node and ask: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</a:t>
            </a:r>
            <a:r>
              <a:rPr b="1" lang="en"/>
              <a:t>A</a:t>
            </a:r>
            <a:r>
              <a:rPr lang="en"/>
              <a:t> reach </a:t>
            </a:r>
            <a:r>
              <a:rPr b="1" lang="en"/>
              <a:t>e</a:t>
            </a:r>
            <a:r>
              <a:rPr lang="en"/>
              <a:t>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Yes! (d</a:t>
            </a:r>
            <a:r>
              <a:rPr baseline="30000" lang="en"/>
              <a:t>r</a:t>
            </a:r>
            <a:r>
              <a:rPr baseline="-25000" lang="en"/>
              <a:t>1,5</a:t>
            </a:r>
            <a:r>
              <a:rPr lang="en"/>
              <a:t> = 1) because directed path {AC, CE} exists</a:t>
            </a:r>
            <a:endParaRPr/>
          </a:p>
        </p:txBody>
      </p:sp>
      <p:sp>
        <p:nvSpPr>
          <p:cNvPr id="2146" name="Google Shape;2146;p111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7" name="Google Shape;2147;p111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48" name="Google Shape;2148;p111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49" name="Google Shape;2149;p111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50" name="Google Shape;2150;p111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51" name="Google Shape;2151;p111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52" name="Google Shape;2152;p111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53" name="Google Shape;2153;p111"/>
          <p:cNvCxnSpPr>
            <a:stCxn id="2149" idx="7"/>
            <a:endCxn id="2150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54" name="Google Shape;2154;p111"/>
          <p:cNvCxnSpPr>
            <a:stCxn id="2152" idx="1"/>
            <a:endCxn id="2150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55" name="Google Shape;2155;p111"/>
          <p:cNvCxnSpPr>
            <a:stCxn id="2152" idx="3"/>
            <a:endCxn id="2151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56" name="Google Shape;2156;p111"/>
          <p:cNvCxnSpPr>
            <a:stCxn id="2151" idx="1"/>
            <a:endCxn id="2150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57" name="Google Shape;2157;p111"/>
          <p:cNvCxnSpPr>
            <a:stCxn id="2149" idx="1"/>
            <a:endCxn id="2148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58" name="Google Shape;2158;p111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159" name="Google Shape;2159;p111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3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" name="Google Shape;2164;p11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2165" name="Google Shape;2165;p112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66" name="Google Shape;2166;p112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so on for each of the other nodes that A could potentially reach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do the same for each row object</a:t>
            </a:r>
            <a:endParaRPr/>
          </a:p>
        </p:txBody>
      </p:sp>
      <p:sp>
        <p:nvSpPr>
          <p:cNvPr id="2167" name="Google Shape;2167;p112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p112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69" name="Google Shape;2169;p112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70" name="Google Shape;2170;p112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71" name="Google Shape;2171;p112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72" name="Google Shape;2172;p112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73" name="Google Shape;2173;p112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74" name="Google Shape;2174;p112"/>
          <p:cNvCxnSpPr>
            <a:stCxn id="2170" idx="7"/>
            <a:endCxn id="2171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75" name="Google Shape;2175;p112"/>
          <p:cNvCxnSpPr>
            <a:stCxn id="2173" idx="1"/>
            <a:endCxn id="2171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76" name="Google Shape;2176;p112"/>
          <p:cNvCxnSpPr>
            <a:stCxn id="2173" idx="3"/>
            <a:endCxn id="2172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77" name="Google Shape;2177;p112"/>
          <p:cNvCxnSpPr>
            <a:stCxn id="2172" idx="1"/>
            <a:endCxn id="2171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78" name="Google Shape;2178;p112"/>
          <p:cNvCxnSpPr>
            <a:stCxn id="2170" idx="1"/>
            <a:endCxn id="2169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79" name="Google Shape;2179;p112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180" name="Google Shape;2180;p112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4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p1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2186" name="Google Shape;2186;p113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87" name="Google Shape;2187;p113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so on for each of the other nodes that A could potentially reach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do the same for each row object</a:t>
            </a:r>
            <a:endParaRPr/>
          </a:p>
        </p:txBody>
      </p:sp>
      <p:sp>
        <p:nvSpPr>
          <p:cNvPr id="2188" name="Google Shape;2188;p113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89" name="Google Shape;2189;p113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90" name="Google Shape;2190;p113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91" name="Google Shape;2191;p113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92" name="Google Shape;2192;p113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93" name="Google Shape;2193;p113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94" name="Google Shape;2194;p113"/>
          <p:cNvCxnSpPr>
            <a:stCxn id="2190" idx="7"/>
            <a:endCxn id="2191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95" name="Google Shape;2195;p113"/>
          <p:cNvCxnSpPr>
            <a:stCxn id="2193" idx="1"/>
            <a:endCxn id="2191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96" name="Google Shape;2196;p113"/>
          <p:cNvCxnSpPr>
            <a:stCxn id="2193" idx="3"/>
            <a:endCxn id="2192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97" name="Google Shape;2197;p113"/>
          <p:cNvCxnSpPr>
            <a:stCxn id="2192" idx="1"/>
            <a:endCxn id="2191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98" name="Google Shape;2198;p113"/>
          <p:cNvCxnSpPr>
            <a:stCxn id="2190" idx="1"/>
            <a:endCxn id="2189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99" name="Google Shape;2199;p113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200" name="Google Shape;2200;p113"/>
          <p:cNvSpPr/>
          <p:nvPr/>
        </p:nvSpPr>
        <p:spPr>
          <a:xfrm>
            <a:off x="3082200" y="1960925"/>
            <a:ext cx="3117600" cy="1105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Receiver nodes have all zeros in their corresponding row of the reachability matrix!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201" name="Google Shape;2201;p113"/>
          <p:cNvSpPr/>
          <p:nvPr/>
        </p:nvSpPr>
        <p:spPr>
          <a:xfrm>
            <a:off x="6164250" y="4034350"/>
            <a:ext cx="25764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202" name="Google Shape;2202;p113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6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p1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2208" name="Google Shape;2208;p114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09" name="Google Shape;2209;p114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so on for each of the other nodes that A could potentially reach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do the same for each row object</a:t>
            </a:r>
            <a:endParaRPr/>
          </a:p>
        </p:txBody>
      </p:sp>
      <p:sp>
        <p:nvSpPr>
          <p:cNvPr id="2210" name="Google Shape;2210;p114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211" name="Google Shape;2211;p114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12" name="Google Shape;2212;p114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13" name="Google Shape;2213;p114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14" name="Google Shape;2214;p114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15" name="Google Shape;2215;p114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16" name="Google Shape;2216;p114"/>
          <p:cNvCxnSpPr>
            <a:stCxn id="2212" idx="7"/>
            <a:endCxn id="2213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217" name="Google Shape;2217;p114"/>
          <p:cNvCxnSpPr>
            <a:stCxn id="2215" idx="1"/>
            <a:endCxn id="2213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18" name="Google Shape;2218;p114"/>
          <p:cNvCxnSpPr>
            <a:stCxn id="2215" idx="3"/>
            <a:endCxn id="2214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19" name="Google Shape;2219;p114"/>
          <p:cNvCxnSpPr>
            <a:stCxn id="2214" idx="1"/>
            <a:endCxn id="2213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220" name="Google Shape;2220;p114"/>
          <p:cNvCxnSpPr>
            <a:stCxn id="2212" idx="1"/>
            <a:endCxn id="2211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221" name="Google Shape;2221;p114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222" name="Google Shape;2222;p114"/>
          <p:cNvSpPr/>
          <p:nvPr/>
        </p:nvSpPr>
        <p:spPr>
          <a:xfrm>
            <a:off x="3082200" y="1960925"/>
            <a:ext cx="3117600" cy="1105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Receiver nodes have all zeros in their corresponding row of the reachability matrix!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223" name="Google Shape;2223;p114"/>
          <p:cNvSpPr/>
          <p:nvPr/>
        </p:nvSpPr>
        <p:spPr>
          <a:xfrm>
            <a:off x="6164250" y="4034350"/>
            <a:ext cx="25764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224" name="Google Shape;2224;p114"/>
          <p:cNvSpPr/>
          <p:nvPr/>
        </p:nvSpPr>
        <p:spPr>
          <a:xfrm>
            <a:off x="3212700" y="3880125"/>
            <a:ext cx="2856600" cy="8862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Receiver nodes can’t reach anyone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225" name="Google Shape;2225;p114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9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1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2231" name="Google Shape;2231;p115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32" name="Google Shape;2232;p115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so on for each of the other nodes that A could potentially reach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do the same for each row object</a:t>
            </a:r>
            <a:endParaRPr/>
          </a:p>
        </p:txBody>
      </p:sp>
      <p:sp>
        <p:nvSpPr>
          <p:cNvPr id="2233" name="Google Shape;2233;p115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234" name="Google Shape;2234;p115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35" name="Google Shape;2235;p115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36" name="Google Shape;2236;p115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37" name="Google Shape;2237;p115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38" name="Google Shape;2238;p115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39" name="Google Shape;2239;p115"/>
          <p:cNvCxnSpPr>
            <a:stCxn id="2235" idx="7"/>
            <a:endCxn id="2236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240" name="Google Shape;2240;p115"/>
          <p:cNvCxnSpPr>
            <a:stCxn id="2238" idx="1"/>
            <a:endCxn id="2236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41" name="Google Shape;2241;p115"/>
          <p:cNvCxnSpPr>
            <a:stCxn id="2238" idx="3"/>
            <a:endCxn id="2237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42" name="Google Shape;2242;p115"/>
          <p:cNvCxnSpPr>
            <a:stCxn id="2237" idx="1"/>
            <a:endCxn id="2236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243" name="Google Shape;2243;p115"/>
          <p:cNvCxnSpPr>
            <a:stCxn id="2235" idx="1"/>
            <a:endCxn id="2234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244" name="Google Shape;2244;p115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245" name="Google Shape;2245;p115"/>
          <p:cNvSpPr/>
          <p:nvPr/>
        </p:nvSpPr>
        <p:spPr>
          <a:xfrm>
            <a:off x="3111300" y="1882275"/>
            <a:ext cx="2963400" cy="1294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Transmitter nodes have all zeros in their corresponding column of the reachability matrix!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246" name="Google Shape;2246;p115"/>
          <p:cNvSpPr/>
          <p:nvPr/>
        </p:nvSpPr>
        <p:spPr>
          <a:xfrm rot="5400000">
            <a:off x="5538250" y="3520950"/>
            <a:ext cx="25764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247" name="Google Shape;2247;p115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1" name="Shape 2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" name="Google Shape;2252;p1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graphicFrame>
        <p:nvGraphicFramePr>
          <p:cNvPr id="2253" name="Google Shape;2253;p116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54" name="Google Shape;2254;p116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so on for each of the other nodes that A could potentially reach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do the same for each row object</a:t>
            </a:r>
            <a:endParaRPr/>
          </a:p>
        </p:txBody>
      </p:sp>
      <p:sp>
        <p:nvSpPr>
          <p:cNvPr id="2255" name="Google Shape;2255;p116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Reachability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256" name="Google Shape;2256;p116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57" name="Google Shape;2257;p116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58" name="Google Shape;2258;p116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59" name="Google Shape;2259;p116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0" name="Google Shape;2260;p116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61" name="Google Shape;2261;p116"/>
          <p:cNvCxnSpPr>
            <a:stCxn id="2257" idx="7"/>
            <a:endCxn id="2258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262" name="Google Shape;2262;p116"/>
          <p:cNvCxnSpPr>
            <a:stCxn id="2260" idx="1"/>
            <a:endCxn id="2258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63" name="Google Shape;2263;p116"/>
          <p:cNvCxnSpPr>
            <a:stCxn id="2260" idx="3"/>
            <a:endCxn id="2259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64" name="Google Shape;2264;p116"/>
          <p:cNvCxnSpPr>
            <a:stCxn id="2259" idx="1"/>
            <a:endCxn id="2258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265" name="Google Shape;2265;p116"/>
          <p:cNvCxnSpPr>
            <a:stCxn id="2257" idx="1"/>
            <a:endCxn id="2256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266" name="Google Shape;2266;p116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267" name="Google Shape;2267;p116"/>
          <p:cNvSpPr/>
          <p:nvPr/>
        </p:nvSpPr>
        <p:spPr>
          <a:xfrm rot="5400000">
            <a:off x="5538250" y="3520950"/>
            <a:ext cx="25764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268" name="Google Shape;2268;p116"/>
          <p:cNvSpPr/>
          <p:nvPr/>
        </p:nvSpPr>
        <p:spPr>
          <a:xfrm>
            <a:off x="3212700" y="3880125"/>
            <a:ext cx="2856600" cy="8862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Transmitter nodes can’t be reached by anyone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269" name="Google Shape;2269;p116"/>
          <p:cNvSpPr/>
          <p:nvPr/>
        </p:nvSpPr>
        <p:spPr>
          <a:xfrm>
            <a:off x="3111300" y="1882275"/>
            <a:ext cx="2963400" cy="1294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Transmitter nodes have all zeros in their corresponding column of the reachability matrix!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270" name="Google Shape;2270;p116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4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Google Shape;2275;p1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2276" name="Google Shape;2276;p117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77" name="Google Shape;2277;p117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78" name="Google Shape;2278;p117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79" name="Google Shape;2279;p117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80" name="Google Shape;2280;p117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81" name="Google Shape;2281;p117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82" name="Google Shape;2282;p117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83" name="Google Shape;2283;p117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84" name="Google Shape;2284;p117"/>
          <p:cNvCxnSpPr>
            <a:stCxn id="2276" idx="7"/>
            <a:endCxn id="2279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285" name="Google Shape;2285;p117"/>
          <p:cNvCxnSpPr>
            <a:stCxn id="2281" idx="6"/>
            <a:endCxn id="2282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6" name="Google Shape;2286;p117"/>
          <p:cNvCxnSpPr>
            <a:stCxn id="2278" idx="6"/>
            <a:endCxn id="2283" idx="2"/>
          </p:cNvCxnSpPr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7" name="Google Shape;2287;p117"/>
          <p:cNvCxnSpPr>
            <a:stCxn id="2281" idx="4"/>
            <a:endCxn id="2278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8" name="Google Shape;2288;p117"/>
          <p:cNvCxnSpPr>
            <a:stCxn id="2277" idx="4"/>
            <a:endCxn id="2280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289" name="Google Shape;2289;p117"/>
          <p:cNvCxnSpPr>
            <a:stCxn id="2276" idx="5"/>
            <a:endCxn id="2280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0" name="Google Shape;2290;p117"/>
          <p:cNvCxnSpPr>
            <a:stCxn id="2276" idx="6"/>
            <a:endCxn id="2277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1" name="Google Shape;2291;p117"/>
          <p:cNvCxnSpPr>
            <a:stCxn id="2278" idx="2"/>
            <a:endCxn id="2280" idx="6"/>
          </p:cNvCxnSpPr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2" name="Google Shape;2292;p117"/>
          <p:cNvCxnSpPr>
            <a:stCxn id="2283" idx="1"/>
            <a:endCxn id="2281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3" name="Google Shape;2293;p117"/>
          <p:cNvCxnSpPr>
            <a:stCxn id="2282" idx="1"/>
            <a:endCxn id="2279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4" name="Google Shape;2294;p117"/>
          <p:cNvCxnSpPr>
            <a:stCxn id="2279" idx="5"/>
            <a:endCxn id="2281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5" name="Google Shape;2295;p117"/>
          <p:cNvCxnSpPr>
            <a:stCxn id="2277" idx="0"/>
            <a:endCxn id="2279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6" name="Google Shape;2296;p117"/>
          <p:cNvCxnSpPr>
            <a:stCxn id="2281" idx="3"/>
            <a:endCxn id="2280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7" name="Google Shape;2297;p117"/>
          <p:cNvCxnSpPr>
            <a:stCxn id="2277" idx="6"/>
            <a:endCxn id="2281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98" name="Google Shape;2298;p117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299" name="Google Shape;2299;p117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3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p1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2305" name="Google Shape;2305;p118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06" name="Google Shape;2306;p118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07" name="Google Shape;2307;p118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08" name="Google Shape;2308;p118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09" name="Google Shape;2309;p118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10" name="Google Shape;2310;p118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11" name="Google Shape;2311;p118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12" name="Google Shape;2312;p118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13" name="Google Shape;2313;p118"/>
          <p:cNvCxnSpPr>
            <a:stCxn id="2305" idx="7"/>
            <a:endCxn id="2308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14" name="Google Shape;2314;p118"/>
          <p:cNvCxnSpPr>
            <a:stCxn id="2310" idx="6"/>
            <a:endCxn id="2311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5" name="Google Shape;2315;p118"/>
          <p:cNvCxnSpPr>
            <a:stCxn id="2307" idx="6"/>
            <a:endCxn id="2312" idx="2"/>
          </p:cNvCxnSpPr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6" name="Google Shape;2316;p118"/>
          <p:cNvCxnSpPr>
            <a:stCxn id="2310" idx="4"/>
            <a:endCxn id="2307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7" name="Google Shape;2317;p118"/>
          <p:cNvCxnSpPr>
            <a:stCxn id="2306" idx="4"/>
            <a:endCxn id="2309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18" name="Google Shape;2318;p118"/>
          <p:cNvCxnSpPr>
            <a:stCxn id="2305" idx="5"/>
            <a:endCxn id="2309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9" name="Google Shape;2319;p118"/>
          <p:cNvCxnSpPr>
            <a:stCxn id="2305" idx="6"/>
            <a:endCxn id="2306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0" name="Google Shape;2320;p118"/>
          <p:cNvCxnSpPr>
            <a:stCxn id="2307" idx="2"/>
            <a:endCxn id="2309" idx="6"/>
          </p:cNvCxnSpPr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1" name="Google Shape;2321;p118"/>
          <p:cNvCxnSpPr>
            <a:stCxn id="2312" idx="1"/>
            <a:endCxn id="2310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2" name="Google Shape;2322;p118"/>
          <p:cNvCxnSpPr>
            <a:stCxn id="2311" idx="1"/>
            <a:endCxn id="2308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3" name="Google Shape;2323;p118"/>
          <p:cNvCxnSpPr>
            <a:stCxn id="2308" idx="5"/>
            <a:endCxn id="2310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4" name="Google Shape;2324;p118"/>
          <p:cNvCxnSpPr>
            <a:stCxn id="2306" idx="0"/>
            <a:endCxn id="2308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5" name="Google Shape;2325;p118"/>
          <p:cNvCxnSpPr>
            <a:stCxn id="2310" idx="3"/>
            <a:endCxn id="2309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6" name="Google Shape;2326;p118"/>
          <p:cNvCxnSpPr>
            <a:stCxn id="2306" idx="6"/>
            <a:endCxn id="2310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27" name="Google Shape;2327;p118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328" name="Google Shape;2328;p118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2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p1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2334" name="Google Shape;2334;p119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335" name="Google Shape;2335;p119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336" name="Google Shape;2336;p119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37" name="Google Shape;2337;p119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38" name="Google Shape;2338;p119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39" name="Google Shape;2339;p119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40" name="Google Shape;2340;p119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41" name="Google Shape;2341;p119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42" name="Google Shape;2342;p119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43" name="Google Shape;2343;p119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44" name="Google Shape;2344;p119"/>
          <p:cNvCxnSpPr>
            <a:stCxn id="2336" idx="7"/>
            <a:endCxn id="2339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45" name="Google Shape;2345;p119"/>
          <p:cNvCxnSpPr>
            <a:stCxn id="2341" idx="6"/>
            <a:endCxn id="2342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6" name="Google Shape;2346;p119"/>
          <p:cNvCxnSpPr>
            <a:stCxn id="2341" idx="4"/>
            <a:endCxn id="2338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7" name="Google Shape;2347;p119"/>
          <p:cNvCxnSpPr>
            <a:stCxn id="2337" idx="4"/>
            <a:endCxn id="2340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48" name="Google Shape;2348;p119"/>
          <p:cNvCxnSpPr>
            <a:stCxn id="2336" idx="5"/>
            <a:endCxn id="2340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9" name="Google Shape;2349;p119"/>
          <p:cNvCxnSpPr>
            <a:stCxn id="2336" idx="6"/>
            <a:endCxn id="2337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0" name="Google Shape;2350;p119"/>
          <p:cNvCxnSpPr>
            <a:stCxn id="2343" idx="1"/>
            <a:endCxn id="2341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1" name="Google Shape;2351;p119"/>
          <p:cNvCxnSpPr>
            <a:stCxn id="2342" idx="1"/>
            <a:endCxn id="2339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2" name="Google Shape;2352;p119"/>
          <p:cNvCxnSpPr>
            <a:stCxn id="2339" idx="5"/>
            <a:endCxn id="2341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3" name="Google Shape;2353;p119"/>
          <p:cNvCxnSpPr>
            <a:stCxn id="2337" idx="0"/>
            <a:endCxn id="2339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4" name="Google Shape;2354;p119"/>
          <p:cNvCxnSpPr>
            <a:stCxn id="2341" idx="3"/>
            <a:endCxn id="2340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5" name="Google Shape;2355;p119"/>
          <p:cNvCxnSpPr>
            <a:stCxn id="2337" idx="6"/>
            <a:endCxn id="2341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6" name="Google Shape;2356;p119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7" name="Google Shape;2357;p119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362;p1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2363" name="Google Shape;2363;p120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364" name="Google Shape;2364;p120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365" name="Google Shape;2365;p120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66" name="Google Shape;2366;p120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67" name="Google Shape;2367;p120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68" name="Google Shape;2368;p120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69" name="Google Shape;2369;p120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70" name="Google Shape;2370;p120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71" name="Google Shape;2371;p120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72" name="Google Shape;2372;p120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73" name="Google Shape;2373;p120"/>
          <p:cNvCxnSpPr>
            <a:stCxn id="2365" idx="7"/>
            <a:endCxn id="2368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74" name="Google Shape;2374;p120"/>
          <p:cNvCxnSpPr>
            <a:stCxn id="2370" idx="6"/>
            <a:endCxn id="2371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5" name="Google Shape;2375;p120"/>
          <p:cNvCxnSpPr>
            <a:stCxn id="2370" idx="4"/>
            <a:endCxn id="2367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6" name="Google Shape;2376;p120"/>
          <p:cNvCxnSpPr>
            <a:stCxn id="2366" idx="4"/>
            <a:endCxn id="2369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77" name="Google Shape;2377;p120"/>
          <p:cNvCxnSpPr>
            <a:stCxn id="2365" idx="5"/>
            <a:endCxn id="2369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8" name="Google Shape;2378;p120"/>
          <p:cNvCxnSpPr>
            <a:stCxn id="2365" idx="6"/>
            <a:endCxn id="2366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9" name="Google Shape;2379;p120"/>
          <p:cNvCxnSpPr>
            <a:stCxn id="2372" idx="1"/>
            <a:endCxn id="2370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0" name="Google Shape;2380;p120"/>
          <p:cNvCxnSpPr>
            <a:stCxn id="2371" idx="1"/>
            <a:endCxn id="2368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1" name="Google Shape;2381;p120"/>
          <p:cNvCxnSpPr>
            <a:stCxn id="2368" idx="5"/>
            <a:endCxn id="2370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2" name="Google Shape;2382;p120"/>
          <p:cNvCxnSpPr>
            <a:stCxn id="2366" idx="0"/>
            <a:endCxn id="2368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3" name="Google Shape;2383;p120"/>
          <p:cNvCxnSpPr>
            <a:stCxn id="2370" idx="3"/>
            <a:endCxn id="2369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4" name="Google Shape;2384;p120"/>
          <p:cNvCxnSpPr>
            <a:stCxn id="2366" idx="6"/>
            <a:endCxn id="2370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5" name="Google Shape;2385;p120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6" name="Google Shape;2386;p120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0" name="Shape 2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1" name="Google Shape;2391;p1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2392" name="Google Shape;2392;p121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393" name="Google Shape;2393;p121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394" name="Google Shape;2394;p121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95" name="Google Shape;2395;p121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96" name="Google Shape;2396;p121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97" name="Google Shape;2397;p121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98" name="Google Shape;2398;p121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99" name="Google Shape;2399;p121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00" name="Google Shape;2400;p121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01" name="Google Shape;2401;p121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02" name="Google Shape;2402;p121"/>
          <p:cNvCxnSpPr>
            <a:stCxn id="2394" idx="7"/>
            <a:endCxn id="2397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03" name="Google Shape;2403;p121"/>
          <p:cNvCxnSpPr>
            <a:stCxn id="2399" idx="6"/>
            <a:endCxn id="2400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4" name="Google Shape;2404;p121"/>
          <p:cNvCxnSpPr>
            <a:stCxn id="2399" idx="4"/>
            <a:endCxn id="2396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5" name="Google Shape;2405;p121"/>
          <p:cNvCxnSpPr>
            <a:stCxn id="2395" idx="4"/>
            <a:endCxn id="2398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06" name="Google Shape;2406;p121"/>
          <p:cNvCxnSpPr>
            <a:stCxn id="2394" idx="5"/>
            <a:endCxn id="2398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7" name="Google Shape;2407;p121"/>
          <p:cNvCxnSpPr>
            <a:stCxn id="2394" idx="6"/>
            <a:endCxn id="2395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8" name="Google Shape;2408;p121"/>
          <p:cNvCxnSpPr>
            <a:stCxn id="2401" idx="1"/>
            <a:endCxn id="2399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9" name="Google Shape;2409;p121"/>
          <p:cNvCxnSpPr>
            <a:stCxn id="2400" idx="1"/>
            <a:endCxn id="2397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0" name="Google Shape;2410;p121"/>
          <p:cNvCxnSpPr>
            <a:stCxn id="2397" idx="5"/>
            <a:endCxn id="2399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1" name="Google Shape;2411;p121"/>
          <p:cNvCxnSpPr>
            <a:stCxn id="2395" idx="0"/>
            <a:endCxn id="2397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2" name="Google Shape;2412;p121"/>
          <p:cNvCxnSpPr>
            <a:stCxn id="2399" idx="3"/>
            <a:endCxn id="2398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3" name="Google Shape;2413;p121"/>
          <p:cNvCxnSpPr>
            <a:stCxn id="2395" idx="6"/>
            <a:endCxn id="2399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4" name="Google Shape;2414;p121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5" name="Google Shape;2415;p121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9" name="Shape 2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0" name="Google Shape;2420;p1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2421" name="Google Shape;2421;p122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422" name="Google Shape;2422;p122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423" name="Google Shape;2423;p122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24" name="Google Shape;2424;p122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25" name="Google Shape;2425;p122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26" name="Google Shape;2426;p122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27" name="Google Shape;2427;p122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28" name="Google Shape;2428;p122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29" name="Google Shape;2429;p122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30" name="Google Shape;2430;p122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31" name="Google Shape;2431;p122"/>
          <p:cNvCxnSpPr>
            <a:stCxn id="2423" idx="7"/>
            <a:endCxn id="2426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32" name="Google Shape;2432;p122"/>
          <p:cNvCxnSpPr>
            <a:stCxn id="2428" idx="6"/>
            <a:endCxn id="2429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3" name="Google Shape;2433;p122"/>
          <p:cNvCxnSpPr>
            <a:stCxn id="2428" idx="4"/>
            <a:endCxn id="2425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4" name="Google Shape;2434;p122"/>
          <p:cNvCxnSpPr>
            <a:stCxn id="2424" idx="4"/>
            <a:endCxn id="2427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35" name="Google Shape;2435;p122"/>
          <p:cNvCxnSpPr>
            <a:stCxn id="2423" idx="5"/>
            <a:endCxn id="2427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6" name="Google Shape;2436;p122"/>
          <p:cNvCxnSpPr>
            <a:stCxn id="2423" idx="6"/>
            <a:endCxn id="2424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7" name="Google Shape;2437;p122"/>
          <p:cNvCxnSpPr>
            <a:stCxn id="2430" idx="1"/>
            <a:endCxn id="2428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8" name="Google Shape;2438;p122"/>
          <p:cNvCxnSpPr>
            <a:stCxn id="2429" idx="1"/>
            <a:endCxn id="2426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9" name="Google Shape;2439;p122"/>
          <p:cNvCxnSpPr>
            <a:stCxn id="2426" idx="5"/>
            <a:endCxn id="2428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0" name="Google Shape;2440;p122"/>
          <p:cNvCxnSpPr>
            <a:stCxn id="2424" idx="0"/>
            <a:endCxn id="2426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1" name="Google Shape;2441;p122"/>
          <p:cNvCxnSpPr>
            <a:stCxn id="2428" idx="3"/>
            <a:endCxn id="2427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2" name="Google Shape;2442;p122"/>
          <p:cNvCxnSpPr>
            <a:stCxn id="2424" idx="6"/>
            <a:endCxn id="2428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3" name="Google Shape;2443;p122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4" name="Google Shape;2444;p122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8" name="Shape 2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9" name="Google Shape;2449;p1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2450" name="Google Shape;2450;p123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451" name="Google Shape;2451;p123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452" name="Google Shape;2452;p123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53" name="Google Shape;2453;p123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54" name="Google Shape;2454;p123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55" name="Google Shape;2455;p123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56" name="Google Shape;2456;p123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57" name="Google Shape;2457;p123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58" name="Google Shape;2458;p123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59" name="Google Shape;2459;p123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60" name="Google Shape;2460;p123"/>
          <p:cNvCxnSpPr>
            <a:stCxn id="2452" idx="7"/>
            <a:endCxn id="2455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61" name="Google Shape;2461;p123"/>
          <p:cNvCxnSpPr>
            <a:stCxn id="2457" idx="6"/>
            <a:endCxn id="2458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2" name="Google Shape;2462;p123"/>
          <p:cNvCxnSpPr>
            <a:stCxn id="2457" idx="4"/>
            <a:endCxn id="2454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3" name="Google Shape;2463;p123"/>
          <p:cNvCxnSpPr>
            <a:stCxn id="2453" idx="4"/>
            <a:endCxn id="2456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64" name="Google Shape;2464;p123"/>
          <p:cNvCxnSpPr>
            <a:stCxn id="2452" idx="5"/>
            <a:endCxn id="2456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5" name="Google Shape;2465;p123"/>
          <p:cNvCxnSpPr>
            <a:stCxn id="2452" idx="6"/>
            <a:endCxn id="2453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6" name="Google Shape;2466;p123"/>
          <p:cNvCxnSpPr>
            <a:stCxn id="2459" idx="1"/>
            <a:endCxn id="2457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7" name="Google Shape;2467;p123"/>
          <p:cNvCxnSpPr>
            <a:stCxn id="2458" idx="1"/>
            <a:endCxn id="2455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8" name="Google Shape;2468;p123"/>
          <p:cNvCxnSpPr>
            <a:stCxn id="2455" idx="5"/>
            <a:endCxn id="2457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9" name="Google Shape;2469;p123"/>
          <p:cNvCxnSpPr>
            <a:stCxn id="2453" idx="0"/>
            <a:endCxn id="2455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0" name="Google Shape;2470;p123"/>
          <p:cNvCxnSpPr>
            <a:stCxn id="2457" idx="3"/>
            <a:endCxn id="2456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1" name="Google Shape;2471;p123"/>
          <p:cNvCxnSpPr>
            <a:stCxn id="2453" idx="6"/>
            <a:endCxn id="2457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2" name="Google Shape;2472;p123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3" name="Google Shape;2473;p123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7" name="Shape 2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" name="Google Shape;2478;p1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2479" name="Google Shape;2479;p124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480" name="Google Shape;2480;p124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481" name="Google Shape;2481;p124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82" name="Google Shape;2482;p124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83" name="Google Shape;2483;p124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84" name="Google Shape;2484;p124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85" name="Google Shape;2485;p124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86" name="Google Shape;2486;p124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87" name="Google Shape;2487;p124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88" name="Google Shape;2488;p124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89" name="Google Shape;2489;p124"/>
          <p:cNvCxnSpPr>
            <a:stCxn id="2481" idx="7"/>
            <a:endCxn id="2484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90" name="Google Shape;2490;p124"/>
          <p:cNvCxnSpPr>
            <a:stCxn id="2486" idx="6"/>
            <a:endCxn id="2487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1" name="Google Shape;2491;p124"/>
          <p:cNvCxnSpPr>
            <a:stCxn id="2486" idx="4"/>
            <a:endCxn id="2483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2" name="Google Shape;2492;p124"/>
          <p:cNvCxnSpPr>
            <a:stCxn id="2482" idx="4"/>
            <a:endCxn id="2485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93" name="Google Shape;2493;p124"/>
          <p:cNvCxnSpPr>
            <a:stCxn id="2481" idx="5"/>
            <a:endCxn id="2485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4" name="Google Shape;2494;p124"/>
          <p:cNvCxnSpPr>
            <a:stCxn id="2481" idx="6"/>
            <a:endCxn id="2482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5" name="Google Shape;2495;p124"/>
          <p:cNvCxnSpPr>
            <a:stCxn id="2488" idx="1"/>
            <a:endCxn id="2486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6" name="Google Shape;2496;p124"/>
          <p:cNvCxnSpPr>
            <a:stCxn id="2487" idx="1"/>
            <a:endCxn id="2484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7" name="Google Shape;2497;p124"/>
          <p:cNvCxnSpPr>
            <a:stCxn id="2484" idx="5"/>
            <a:endCxn id="2486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8" name="Google Shape;2498;p124"/>
          <p:cNvCxnSpPr>
            <a:stCxn id="2482" idx="0"/>
            <a:endCxn id="2484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9" name="Google Shape;2499;p124"/>
          <p:cNvCxnSpPr>
            <a:stCxn id="2486" idx="3"/>
            <a:endCxn id="2485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0" name="Google Shape;2500;p124"/>
          <p:cNvCxnSpPr>
            <a:stCxn id="2482" idx="6"/>
            <a:endCxn id="2486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1" name="Google Shape;2501;p124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2" name="Google Shape;2502;p124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6" name="Shape 2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7" name="Google Shape;2507;p1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2508" name="Google Shape;2508;p125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509" name="Google Shape;2509;p125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510" name="Google Shape;2510;p125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11" name="Google Shape;2511;p125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12" name="Google Shape;2512;p125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13" name="Google Shape;2513;p125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14" name="Google Shape;2514;p125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15" name="Google Shape;2515;p125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16" name="Google Shape;2516;p125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17" name="Google Shape;2517;p125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518" name="Google Shape;2518;p125"/>
          <p:cNvCxnSpPr>
            <a:stCxn id="2510" idx="7"/>
            <a:endCxn id="2513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19" name="Google Shape;2519;p125"/>
          <p:cNvCxnSpPr>
            <a:stCxn id="2515" idx="6"/>
            <a:endCxn id="2516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0" name="Google Shape;2520;p125"/>
          <p:cNvCxnSpPr>
            <a:stCxn id="2515" idx="4"/>
            <a:endCxn id="2512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1" name="Google Shape;2521;p125"/>
          <p:cNvCxnSpPr>
            <a:stCxn id="2511" idx="4"/>
            <a:endCxn id="2514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22" name="Google Shape;2522;p125"/>
          <p:cNvCxnSpPr>
            <a:stCxn id="2510" idx="5"/>
            <a:endCxn id="2514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3" name="Google Shape;2523;p125"/>
          <p:cNvCxnSpPr>
            <a:stCxn id="2510" idx="6"/>
            <a:endCxn id="2511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4" name="Google Shape;2524;p125"/>
          <p:cNvCxnSpPr>
            <a:stCxn id="2517" idx="1"/>
            <a:endCxn id="2515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5" name="Google Shape;2525;p125"/>
          <p:cNvCxnSpPr>
            <a:stCxn id="2516" idx="1"/>
            <a:endCxn id="2513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6" name="Google Shape;2526;p125"/>
          <p:cNvCxnSpPr>
            <a:stCxn id="2513" idx="5"/>
            <a:endCxn id="2515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7" name="Google Shape;2527;p125"/>
          <p:cNvCxnSpPr>
            <a:stCxn id="2511" idx="0"/>
            <a:endCxn id="2513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8" name="Google Shape;2528;p125"/>
          <p:cNvCxnSpPr>
            <a:stCxn id="2515" idx="3"/>
            <a:endCxn id="2514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9" name="Google Shape;2529;p125"/>
          <p:cNvCxnSpPr>
            <a:stCxn id="2511" idx="6"/>
            <a:endCxn id="2515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0" name="Google Shape;2530;p125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1" name="Google Shape;2531;p125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5" name="Shape 2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6" name="Google Shape;2536;p1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2537" name="Google Shape;2537;p126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538" name="Google Shape;2538;p126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539" name="Google Shape;2539;p126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40" name="Google Shape;2540;p126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41" name="Google Shape;2541;p126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42" name="Google Shape;2542;p126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43" name="Google Shape;2543;p126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44" name="Google Shape;2544;p126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45" name="Google Shape;2545;p126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46" name="Google Shape;2546;p126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547" name="Google Shape;2547;p126"/>
          <p:cNvCxnSpPr>
            <a:stCxn id="2539" idx="7"/>
            <a:endCxn id="2542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48" name="Google Shape;2548;p126"/>
          <p:cNvCxnSpPr>
            <a:stCxn id="2544" idx="6"/>
            <a:endCxn id="2545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9" name="Google Shape;2549;p126"/>
          <p:cNvCxnSpPr>
            <a:stCxn id="2544" idx="4"/>
            <a:endCxn id="2541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0" name="Google Shape;2550;p126"/>
          <p:cNvCxnSpPr>
            <a:stCxn id="2540" idx="4"/>
            <a:endCxn id="2543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51" name="Google Shape;2551;p126"/>
          <p:cNvCxnSpPr>
            <a:stCxn id="2539" idx="5"/>
            <a:endCxn id="2543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2" name="Google Shape;2552;p126"/>
          <p:cNvCxnSpPr>
            <a:stCxn id="2539" idx="6"/>
            <a:endCxn id="2540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3" name="Google Shape;2553;p126"/>
          <p:cNvCxnSpPr>
            <a:stCxn id="2546" idx="1"/>
            <a:endCxn id="2544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4" name="Google Shape;2554;p126"/>
          <p:cNvCxnSpPr>
            <a:stCxn id="2545" idx="1"/>
            <a:endCxn id="2542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5" name="Google Shape;2555;p126"/>
          <p:cNvCxnSpPr>
            <a:stCxn id="2542" idx="5"/>
            <a:endCxn id="2544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6" name="Google Shape;2556;p126"/>
          <p:cNvCxnSpPr>
            <a:stCxn id="2540" idx="0"/>
            <a:endCxn id="2542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7" name="Google Shape;2557;p126"/>
          <p:cNvCxnSpPr>
            <a:stCxn id="2544" idx="3"/>
            <a:endCxn id="2543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8" name="Google Shape;2558;p126"/>
          <p:cNvCxnSpPr>
            <a:stCxn id="2540" idx="6"/>
            <a:endCxn id="2544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9" name="Google Shape;2559;p126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60" name="Google Shape;2560;p126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4" name="Shape 2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5" name="Google Shape;2565;p1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2566" name="Google Shape;2566;p127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567" name="Google Shape;2567;p127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568" name="Google Shape;2568;p127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69" name="Google Shape;2569;p127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70" name="Google Shape;2570;p127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71" name="Google Shape;2571;p127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72" name="Google Shape;2572;p127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73" name="Google Shape;2573;p127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74" name="Google Shape;2574;p127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75" name="Google Shape;2575;p127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576" name="Google Shape;2576;p127"/>
          <p:cNvCxnSpPr>
            <a:stCxn id="2568" idx="7"/>
            <a:endCxn id="2571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77" name="Google Shape;2577;p127"/>
          <p:cNvCxnSpPr>
            <a:stCxn id="2573" idx="6"/>
            <a:endCxn id="2574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8" name="Google Shape;2578;p127"/>
          <p:cNvCxnSpPr>
            <a:stCxn id="2573" idx="4"/>
            <a:endCxn id="2570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9" name="Google Shape;2579;p127"/>
          <p:cNvCxnSpPr>
            <a:stCxn id="2569" idx="4"/>
            <a:endCxn id="2572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80" name="Google Shape;2580;p127"/>
          <p:cNvCxnSpPr>
            <a:stCxn id="2568" idx="5"/>
            <a:endCxn id="2572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1" name="Google Shape;2581;p127"/>
          <p:cNvCxnSpPr>
            <a:stCxn id="2568" idx="6"/>
            <a:endCxn id="2569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2" name="Google Shape;2582;p127"/>
          <p:cNvCxnSpPr>
            <a:stCxn id="2575" idx="1"/>
            <a:endCxn id="2573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3" name="Google Shape;2583;p127"/>
          <p:cNvCxnSpPr>
            <a:stCxn id="2574" idx="1"/>
            <a:endCxn id="2571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4" name="Google Shape;2584;p127"/>
          <p:cNvCxnSpPr>
            <a:stCxn id="2571" idx="5"/>
            <a:endCxn id="2573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5" name="Google Shape;2585;p127"/>
          <p:cNvCxnSpPr>
            <a:stCxn id="2569" idx="0"/>
            <a:endCxn id="2571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6" name="Google Shape;2586;p127"/>
          <p:cNvCxnSpPr>
            <a:stCxn id="2573" idx="3"/>
            <a:endCxn id="2572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7" name="Google Shape;2587;p127"/>
          <p:cNvCxnSpPr>
            <a:stCxn id="2569" idx="6"/>
            <a:endCxn id="2573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8" name="Google Shape;2588;p127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9" name="Google Shape;2589;p127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3" name="Shape 2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4" name="Google Shape;2594;p1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2595" name="Google Shape;2595;p128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596" name="Google Shape;2596;p128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597" name="Google Shape;2597;p128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98" name="Google Shape;2598;p128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99" name="Google Shape;2599;p128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00" name="Google Shape;2600;p128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01" name="Google Shape;2601;p128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02" name="Google Shape;2602;p128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03" name="Google Shape;2603;p128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04" name="Google Shape;2604;p128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05" name="Google Shape;2605;p128"/>
          <p:cNvCxnSpPr>
            <a:stCxn id="2597" idx="7"/>
            <a:endCxn id="2600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06" name="Google Shape;2606;p128"/>
          <p:cNvCxnSpPr>
            <a:stCxn id="2602" idx="6"/>
            <a:endCxn id="2603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7" name="Google Shape;2607;p128"/>
          <p:cNvCxnSpPr>
            <a:stCxn id="2602" idx="4"/>
            <a:endCxn id="2599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8" name="Google Shape;2608;p128"/>
          <p:cNvCxnSpPr>
            <a:stCxn id="2598" idx="4"/>
            <a:endCxn id="2601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09" name="Google Shape;2609;p128"/>
          <p:cNvCxnSpPr>
            <a:stCxn id="2597" idx="5"/>
            <a:endCxn id="2601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0" name="Google Shape;2610;p128"/>
          <p:cNvCxnSpPr>
            <a:stCxn id="2597" idx="6"/>
            <a:endCxn id="2598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1" name="Google Shape;2611;p128"/>
          <p:cNvCxnSpPr>
            <a:stCxn id="2604" idx="1"/>
            <a:endCxn id="2602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2" name="Google Shape;2612;p128"/>
          <p:cNvCxnSpPr>
            <a:stCxn id="2603" idx="1"/>
            <a:endCxn id="2600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3" name="Google Shape;2613;p128"/>
          <p:cNvCxnSpPr>
            <a:stCxn id="2600" idx="5"/>
            <a:endCxn id="2602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4" name="Google Shape;2614;p128"/>
          <p:cNvCxnSpPr>
            <a:stCxn id="2598" idx="0"/>
            <a:endCxn id="2600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5" name="Google Shape;2615;p128"/>
          <p:cNvCxnSpPr>
            <a:stCxn id="2602" idx="3"/>
            <a:endCxn id="2601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6" name="Google Shape;2616;p128"/>
          <p:cNvCxnSpPr>
            <a:stCxn id="2598" idx="6"/>
            <a:endCxn id="2602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7" name="Google Shape;2617;p128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8" name="Google Shape;2618;p128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2" name="Shape 2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3" name="Google Shape;2623;p1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2624" name="Google Shape;2624;p129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625" name="Google Shape;2625;p129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626" name="Google Shape;2626;p129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27" name="Google Shape;2627;p129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28" name="Google Shape;2628;p129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29" name="Google Shape;2629;p129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30" name="Google Shape;2630;p129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31" name="Google Shape;2631;p129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32" name="Google Shape;2632;p129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33" name="Google Shape;2633;p129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34" name="Google Shape;2634;p129"/>
          <p:cNvCxnSpPr>
            <a:stCxn id="2626" idx="7"/>
            <a:endCxn id="2629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35" name="Google Shape;2635;p129"/>
          <p:cNvCxnSpPr>
            <a:stCxn id="2631" idx="6"/>
            <a:endCxn id="2632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6" name="Google Shape;2636;p129"/>
          <p:cNvCxnSpPr>
            <a:stCxn id="2631" idx="4"/>
            <a:endCxn id="2628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7" name="Google Shape;2637;p129"/>
          <p:cNvCxnSpPr>
            <a:stCxn id="2627" idx="4"/>
            <a:endCxn id="2630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38" name="Google Shape;2638;p129"/>
          <p:cNvCxnSpPr>
            <a:stCxn id="2626" idx="5"/>
            <a:endCxn id="2630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9" name="Google Shape;2639;p129"/>
          <p:cNvCxnSpPr>
            <a:stCxn id="2626" idx="6"/>
            <a:endCxn id="2627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0" name="Google Shape;2640;p129"/>
          <p:cNvCxnSpPr>
            <a:stCxn id="2633" idx="1"/>
            <a:endCxn id="2631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1" name="Google Shape;2641;p129"/>
          <p:cNvCxnSpPr>
            <a:stCxn id="2632" idx="1"/>
            <a:endCxn id="2629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2" name="Google Shape;2642;p129"/>
          <p:cNvCxnSpPr>
            <a:stCxn id="2629" idx="5"/>
            <a:endCxn id="2631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3" name="Google Shape;2643;p129"/>
          <p:cNvCxnSpPr>
            <a:stCxn id="2627" idx="0"/>
            <a:endCxn id="2629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4" name="Google Shape;2644;p129"/>
          <p:cNvCxnSpPr>
            <a:stCxn id="2631" idx="3"/>
            <a:endCxn id="2630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5" name="Google Shape;2645;p129"/>
          <p:cNvCxnSpPr>
            <a:stCxn id="2627" idx="6"/>
            <a:endCxn id="2631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6" name="Google Shape;2646;p129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7" name="Google Shape;2647;p129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1" name="Shape 2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" name="Google Shape;2652;p1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2653" name="Google Shape;2653;p130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654" name="Google Shape;2654;p130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655" name="Google Shape;2655;p130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56" name="Google Shape;2656;p130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57" name="Google Shape;2657;p130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58" name="Google Shape;2658;p130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59" name="Google Shape;2659;p130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60" name="Google Shape;2660;p130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61" name="Google Shape;2661;p130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62" name="Google Shape;2662;p130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63" name="Google Shape;2663;p130"/>
          <p:cNvCxnSpPr>
            <a:stCxn id="2655" idx="7"/>
            <a:endCxn id="2658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64" name="Google Shape;2664;p130"/>
          <p:cNvCxnSpPr>
            <a:stCxn id="2660" idx="6"/>
            <a:endCxn id="2661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5" name="Google Shape;2665;p130"/>
          <p:cNvCxnSpPr>
            <a:stCxn id="2660" idx="4"/>
            <a:endCxn id="2657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6" name="Google Shape;2666;p130"/>
          <p:cNvCxnSpPr>
            <a:stCxn id="2656" idx="4"/>
            <a:endCxn id="2659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67" name="Google Shape;2667;p130"/>
          <p:cNvCxnSpPr>
            <a:stCxn id="2655" idx="5"/>
            <a:endCxn id="2659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8" name="Google Shape;2668;p130"/>
          <p:cNvCxnSpPr>
            <a:stCxn id="2655" idx="6"/>
            <a:endCxn id="2656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9" name="Google Shape;2669;p130"/>
          <p:cNvCxnSpPr>
            <a:stCxn id="2662" idx="1"/>
            <a:endCxn id="2660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0" name="Google Shape;2670;p130"/>
          <p:cNvCxnSpPr>
            <a:stCxn id="2661" idx="1"/>
            <a:endCxn id="2658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1" name="Google Shape;2671;p130"/>
          <p:cNvCxnSpPr>
            <a:stCxn id="2658" idx="5"/>
            <a:endCxn id="2660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2" name="Google Shape;2672;p130"/>
          <p:cNvCxnSpPr>
            <a:stCxn id="2656" idx="0"/>
            <a:endCxn id="2658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3" name="Google Shape;2673;p130"/>
          <p:cNvCxnSpPr>
            <a:stCxn id="2660" idx="3"/>
            <a:endCxn id="2659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4" name="Google Shape;2674;p130"/>
          <p:cNvCxnSpPr>
            <a:stCxn id="2656" idx="6"/>
            <a:endCxn id="2660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5" name="Google Shape;2675;p130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6" name="Google Shape;2676;p130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0" name="Shape 2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1" name="Google Shape;2681;p1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2682" name="Google Shape;2682;p131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683" name="Google Shape;2683;p131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684" name="Google Shape;2684;p131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85" name="Google Shape;2685;p131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86" name="Google Shape;2686;p131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87" name="Google Shape;2687;p131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88" name="Google Shape;2688;p131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89" name="Google Shape;2689;p131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90" name="Google Shape;2690;p131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91" name="Google Shape;2691;p131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92" name="Google Shape;2692;p131"/>
          <p:cNvCxnSpPr>
            <a:stCxn id="2684" idx="7"/>
            <a:endCxn id="2687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93" name="Google Shape;2693;p131"/>
          <p:cNvCxnSpPr>
            <a:stCxn id="2689" idx="6"/>
            <a:endCxn id="2690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4" name="Google Shape;2694;p131"/>
          <p:cNvCxnSpPr>
            <a:stCxn id="2689" idx="4"/>
            <a:endCxn id="2686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5" name="Google Shape;2695;p131"/>
          <p:cNvCxnSpPr>
            <a:stCxn id="2685" idx="4"/>
            <a:endCxn id="2688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96" name="Google Shape;2696;p131"/>
          <p:cNvCxnSpPr>
            <a:stCxn id="2684" idx="5"/>
            <a:endCxn id="2688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7" name="Google Shape;2697;p131"/>
          <p:cNvCxnSpPr>
            <a:stCxn id="2684" idx="6"/>
            <a:endCxn id="2685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8" name="Google Shape;2698;p131"/>
          <p:cNvCxnSpPr>
            <a:stCxn id="2691" idx="1"/>
            <a:endCxn id="2689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9" name="Google Shape;2699;p131"/>
          <p:cNvCxnSpPr>
            <a:stCxn id="2690" idx="1"/>
            <a:endCxn id="2687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0" name="Google Shape;2700;p131"/>
          <p:cNvCxnSpPr>
            <a:stCxn id="2687" idx="5"/>
            <a:endCxn id="2689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1" name="Google Shape;2701;p131"/>
          <p:cNvCxnSpPr>
            <a:stCxn id="2685" idx="0"/>
            <a:endCxn id="2687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2" name="Google Shape;2702;p131"/>
          <p:cNvCxnSpPr>
            <a:stCxn id="2689" idx="3"/>
            <a:endCxn id="2688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3" name="Google Shape;2703;p131"/>
          <p:cNvCxnSpPr>
            <a:stCxn id="2685" idx="6"/>
            <a:endCxn id="2689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4" name="Google Shape;2704;p131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5" name="Google Shape;2705;p131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9" name="Shape 2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0" name="Google Shape;2710;p1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2711" name="Google Shape;2711;p132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712" name="Google Shape;2712;p132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713" name="Google Shape;2713;p132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14" name="Google Shape;2714;p132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15" name="Google Shape;2715;p132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16" name="Google Shape;2716;p132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17" name="Google Shape;2717;p132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18" name="Google Shape;2718;p132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19" name="Google Shape;2719;p132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20" name="Google Shape;2720;p132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21" name="Google Shape;2721;p132"/>
          <p:cNvCxnSpPr>
            <a:stCxn id="2713" idx="7"/>
            <a:endCxn id="2716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22" name="Google Shape;2722;p132"/>
          <p:cNvCxnSpPr>
            <a:stCxn id="2718" idx="6"/>
            <a:endCxn id="2719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3" name="Google Shape;2723;p132"/>
          <p:cNvCxnSpPr>
            <a:stCxn id="2718" idx="4"/>
            <a:endCxn id="2715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4" name="Google Shape;2724;p132"/>
          <p:cNvCxnSpPr>
            <a:stCxn id="2714" idx="4"/>
            <a:endCxn id="2717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25" name="Google Shape;2725;p132"/>
          <p:cNvCxnSpPr>
            <a:stCxn id="2713" idx="5"/>
            <a:endCxn id="2717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6" name="Google Shape;2726;p132"/>
          <p:cNvCxnSpPr>
            <a:stCxn id="2713" idx="6"/>
            <a:endCxn id="2714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7" name="Google Shape;2727;p132"/>
          <p:cNvCxnSpPr>
            <a:stCxn id="2720" idx="1"/>
            <a:endCxn id="2718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8" name="Google Shape;2728;p132"/>
          <p:cNvCxnSpPr>
            <a:stCxn id="2719" idx="1"/>
            <a:endCxn id="2716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9" name="Google Shape;2729;p132"/>
          <p:cNvCxnSpPr>
            <a:stCxn id="2716" idx="5"/>
            <a:endCxn id="2718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0" name="Google Shape;2730;p132"/>
          <p:cNvCxnSpPr>
            <a:stCxn id="2714" idx="0"/>
            <a:endCxn id="2716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1" name="Google Shape;2731;p132"/>
          <p:cNvCxnSpPr>
            <a:stCxn id="2718" idx="3"/>
            <a:endCxn id="2717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2" name="Google Shape;2732;p132"/>
          <p:cNvCxnSpPr>
            <a:stCxn id="2714" idx="6"/>
            <a:endCxn id="2718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3" name="Google Shape;2733;p132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4" name="Google Shape;2734;p132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8" name="Shape 2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9" name="Google Shape;2739;p1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2740" name="Google Shape;2740;p133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741" name="Google Shape;2741;p133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742" name="Google Shape;2742;p133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43" name="Google Shape;2743;p133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44" name="Google Shape;2744;p133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45" name="Google Shape;2745;p133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46" name="Google Shape;2746;p133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47" name="Google Shape;2747;p133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48" name="Google Shape;2748;p133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49" name="Google Shape;2749;p133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50" name="Google Shape;2750;p133"/>
          <p:cNvCxnSpPr>
            <a:stCxn id="2742" idx="7"/>
            <a:endCxn id="2745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51" name="Google Shape;2751;p133"/>
          <p:cNvCxnSpPr>
            <a:stCxn id="2747" idx="6"/>
            <a:endCxn id="2748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52" name="Google Shape;2752;p133"/>
          <p:cNvCxnSpPr>
            <a:stCxn id="2747" idx="4"/>
            <a:endCxn id="2744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53" name="Google Shape;2753;p133"/>
          <p:cNvCxnSpPr>
            <a:stCxn id="2743" idx="4"/>
            <a:endCxn id="2746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54" name="Google Shape;2754;p133"/>
          <p:cNvCxnSpPr>
            <a:stCxn id="2742" idx="5"/>
            <a:endCxn id="2746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55" name="Google Shape;2755;p133"/>
          <p:cNvCxnSpPr>
            <a:stCxn id="2742" idx="6"/>
            <a:endCxn id="2743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56" name="Google Shape;2756;p133"/>
          <p:cNvCxnSpPr>
            <a:stCxn id="2749" idx="1"/>
            <a:endCxn id="2747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57" name="Google Shape;2757;p133"/>
          <p:cNvCxnSpPr>
            <a:stCxn id="2748" idx="1"/>
            <a:endCxn id="2745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58" name="Google Shape;2758;p133"/>
          <p:cNvCxnSpPr>
            <a:stCxn id="2745" idx="5"/>
            <a:endCxn id="2747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59" name="Google Shape;2759;p133"/>
          <p:cNvCxnSpPr>
            <a:stCxn id="2743" idx="0"/>
            <a:endCxn id="2745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0" name="Google Shape;2760;p133"/>
          <p:cNvCxnSpPr>
            <a:stCxn id="2747" idx="3"/>
            <a:endCxn id="2746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1" name="Google Shape;2761;p133"/>
          <p:cNvCxnSpPr>
            <a:stCxn id="2743" idx="6"/>
            <a:endCxn id="2747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2" name="Google Shape;2762;p133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3" name="Google Shape;2763;p133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7" name="Shape 2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8" name="Google Shape;2768;p1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2769" name="Google Shape;2769;p134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770" name="Google Shape;2770;p134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771" name="Google Shape;2771;p134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72" name="Google Shape;2772;p134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73" name="Google Shape;2773;p134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74" name="Google Shape;2774;p134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75" name="Google Shape;2775;p134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76" name="Google Shape;2776;p134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77" name="Google Shape;2777;p134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78" name="Google Shape;2778;p134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79" name="Google Shape;2779;p134"/>
          <p:cNvCxnSpPr>
            <a:stCxn id="2771" idx="7"/>
            <a:endCxn id="2774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80" name="Google Shape;2780;p134"/>
          <p:cNvCxnSpPr>
            <a:stCxn id="2776" idx="6"/>
            <a:endCxn id="2777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1" name="Google Shape;2781;p134"/>
          <p:cNvCxnSpPr>
            <a:stCxn id="2776" idx="4"/>
            <a:endCxn id="2773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2" name="Google Shape;2782;p134"/>
          <p:cNvCxnSpPr>
            <a:stCxn id="2772" idx="4"/>
            <a:endCxn id="2775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83" name="Google Shape;2783;p134"/>
          <p:cNvCxnSpPr>
            <a:stCxn id="2771" idx="5"/>
            <a:endCxn id="2775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4" name="Google Shape;2784;p134"/>
          <p:cNvCxnSpPr>
            <a:stCxn id="2771" idx="6"/>
            <a:endCxn id="2772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5" name="Google Shape;2785;p134"/>
          <p:cNvCxnSpPr>
            <a:stCxn id="2778" idx="1"/>
            <a:endCxn id="2776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6" name="Google Shape;2786;p134"/>
          <p:cNvCxnSpPr>
            <a:stCxn id="2777" idx="1"/>
            <a:endCxn id="2774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7" name="Google Shape;2787;p134"/>
          <p:cNvCxnSpPr>
            <a:stCxn id="2774" idx="5"/>
            <a:endCxn id="2776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8" name="Google Shape;2788;p134"/>
          <p:cNvCxnSpPr>
            <a:stCxn id="2772" idx="0"/>
            <a:endCxn id="2774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9" name="Google Shape;2789;p134"/>
          <p:cNvCxnSpPr>
            <a:stCxn id="2776" idx="3"/>
            <a:endCxn id="2775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0" name="Google Shape;2790;p134"/>
          <p:cNvCxnSpPr>
            <a:stCxn id="2772" idx="6"/>
            <a:endCxn id="2776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1" name="Google Shape;2791;p134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2" name="Google Shape;2792;p134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6" name="Shape 2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7" name="Google Shape;2797;p1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2798" name="Google Shape;2798;p135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799" name="Google Shape;2799;p135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800" name="Google Shape;2800;p135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01" name="Google Shape;2801;p135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02" name="Google Shape;2802;p135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03" name="Google Shape;2803;p135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04" name="Google Shape;2804;p135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05" name="Google Shape;2805;p135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06" name="Google Shape;2806;p135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07" name="Google Shape;2807;p135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08" name="Google Shape;2808;p135"/>
          <p:cNvCxnSpPr>
            <a:stCxn id="2800" idx="7"/>
            <a:endCxn id="2803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09" name="Google Shape;2809;p135"/>
          <p:cNvCxnSpPr>
            <a:stCxn id="2805" idx="6"/>
            <a:endCxn id="2806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10" name="Google Shape;2810;p135"/>
          <p:cNvCxnSpPr>
            <a:stCxn id="2805" idx="4"/>
            <a:endCxn id="2802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11" name="Google Shape;2811;p135"/>
          <p:cNvCxnSpPr>
            <a:stCxn id="2801" idx="4"/>
            <a:endCxn id="2804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12" name="Google Shape;2812;p135"/>
          <p:cNvCxnSpPr>
            <a:stCxn id="2800" idx="5"/>
            <a:endCxn id="2804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13" name="Google Shape;2813;p135"/>
          <p:cNvCxnSpPr>
            <a:stCxn id="2800" idx="6"/>
            <a:endCxn id="2801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14" name="Google Shape;2814;p135"/>
          <p:cNvCxnSpPr>
            <a:stCxn id="2807" idx="1"/>
            <a:endCxn id="2805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15" name="Google Shape;2815;p135"/>
          <p:cNvCxnSpPr>
            <a:stCxn id="2806" idx="1"/>
            <a:endCxn id="2803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16" name="Google Shape;2816;p135"/>
          <p:cNvCxnSpPr>
            <a:stCxn id="2803" idx="5"/>
            <a:endCxn id="2805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17" name="Google Shape;2817;p135"/>
          <p:cNvCxnSpPr>
            <a:stCxn id="2801" idx="0"/>
            <a:endCxn id="2803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18" name="Google Shape;2818;p135"/>
          <p:cNvCxnSpPr>
            <a:stCxn id="2805" idx="3"/>
            <a:endCxn id="2804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19" name="Google Shape;2819;p135"/>
          <p:cNvCxnSpPr>
            <a:stCxn id="2801" idx="6"/>
            <a:endCxn id="2805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0" name="Google Shape;2820;p135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1" name="Google Shape;2821;p135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5" name="Shape 2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" name="Google Shape;2826;p1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2827" name="Google Shape;2827;p136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828" name="Google Shape;2828;p136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829" name="Google Shape;2829;p136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30" name="Google Shape;2830;p136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31" name="Google Shape;2831;p136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32" name="Google Shape;2832;p136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33" name="Google Shape;2833;p136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34" name="Google Shape;2834;p136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35" name="Google Shape;2835;p136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36" name="Google Shape;2836;p136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37" name="Google Shape;2837;p136"/>
          <p:cNvCxnSpPr>
            <a:stCxn id="2829" idx="7"/>
            <a:endCxn id="2832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38" name="Google Shape;2838;p136"/>
          <p:cNvCxnSpPr>
            <a:stCxn id="2834" idx="6"/>
            <a:endCxn id="2835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9" name="Google Shape;2839;p136"/>
          <p:cNvCxnSpPr>
            <a:stCxn id="2834" idx="4"/>
            <a:endCxn id="2831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40" name="Google Shape;2840;p136"/>
          <p:cNvCxnSpPr>
            <a:stCxn id="2830" idx="4"/>
            <a:endCxn id="2833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41" name="Google Shape;2841;p136"/>
          <p:cNvCxnSpPr>
            <a:stCxn id="2829" idx="5"/>
            <a:endCxn id="2833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42" name="Google Shape;2842;p136"/>
          <p:cNvCxnSpPr>
            <a:stCxn id="2829" idx="6"/>
            <a:endCxn id="2830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43" name="Google Shape;2843;p136"/>
          <p:cNvCxnSpPr>
            <a:stCxn id="2836" idx="1"/>
            <a:endCxn id="2834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44" name="Google Shape;2844;p136"/>
          <p:cNvCxnSpPr>
            <a:stCxn id="2835" idx="1"/>
            <a:endCxn id="2832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45" name="Google Shape;2845;p136"/>
          <p:cNvCxnSpPr>
            <a:stCxn id="2832" idx="5"/>
            <a:endCxn id="2834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46" name="Google Shape;2846;p136"/>
          <p:cNvCxnSpPr>
            <a:stCxn id="2830" idx="0"/>
            <a:endCxn id="2832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47" name="Google Shape;2847;p136"/>
          <p:cNvCxnSpPr>
            <a:stCxn id="2834" idx="3"/>
            <a:endCxn id="2833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48" name="Google Shape;2848;p136"/>
          <p:cNvCxnSpPr>
            <a:stCxn id="2830" idx="6"/>
            <a:endCxn id="2834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49" name="Google Shape;2849;p136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50" name="Google Shape;2850;p136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4" name="Shape 2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5" name="Google Shape;2855;p1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2856" name="Google Shape;2856;p137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857" name="Google Shape;2857;p137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858" name="Google Shape;2858;p137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59" name="Google Shape;2859;p137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60" name="Google Shape;2860;p137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61" name="Google Shape;2861;p137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62" name="Google Shape;2862;p137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63" name="Google Shape;2863;p137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64" name="Google Shape;2864;p137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65" name="Google Shape;2865;p137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66" name="Google Shape;2866;p137"/>
          <p:cNvCxnSpPr>
            <a:stCxn id="2858" idx="7"/>
            <a:endCxn id="2861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67" name="Google Shape;2867;p137"/>
          <p:cNvCxnSpPr>
            <a:stCxn id="2863" idx="6"/>
            <a:endCxn id="2864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8" name="Google Shape;2868;p137"/>
          <p:cNvCxnSpPr>
            <a:stCxn id="2863" idx="4"/>
            <a:endCxn id="2860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9" name="Google Shape;2869;p137"/>
          <p:cNvCxnSpPr>
            <a:stCxn id="2859" idx="4"/>
            <a:endCxn id="2862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70" name="Google Shape;2870;p137"/>
          <p:cNvCxnSpPr>
            <a:stCxn id="2858" idx="5"/>
            <a:endCxn id="2862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1" name="Google Shape;2871;p137"/>
          <p:cNvCxnSpPr>
            <a:stCxn id="2858" idx="6"/>
            <a:endCxn id="2859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2" name="Google Shape;2872;p137"/>
          <p:cNvCxnSpPr>
            <a:stCxn id="2865" idx="1"/>
            <a:endCxn id="2863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3" name="Google Shape;2873;p137"/>
          <p:cNvCxnSpPr>
            <a:stCxn id="2864" idx="1"/>
            <a:endCxn id="2861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4" name="Google Shape;2874;p137"/>
          <p:cNvCxnSpPr>
            <a:stCxn id="2861" idx="5"/>
            <a:endCxn id="2863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5" name="Google Shape;2875;p137"/>
          <p:cNvCxnSpPr>
            <a:stCxn id="2859" idx="0"/>
            <a:endCxn id="2861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6" name="Google Shape;2876;p137"/>
          <p:cNvCxnSpPr>
            <a:stCxn id="2863" idx="3"/>
            <a:endCxn id="2862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7" name="Google Shape;2877;p137"/>
          <p:cNvCxnSpPr>
            <a:stCxn id="2859" idx="6"/>
            <a:endCxn id="2863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8" name="Google Shape;2878;p137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9" name="Google Shape;2879;p137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3" name="Shape 2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4" name="Google Shape;2884;p1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2885" name="Google Shape;2885;p138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886" name="Google Shape;2886;p138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887" name="Google Shape;2887;p138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88" name="Google Shape;2888;p138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89" name="Google Shape;2889;p138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90" name="Google Shape;2890;p138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91" name="Google Shape;2891;p138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92" name="Google Shape;2892;p138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93" name="Google Shape;2893;p138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94" name="Google Shape;2894;p138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95" name="Google Shape;2895;p138"/>
          <p:cNvCxnSpPr>
            <a:stCxn id="2887" idx="7"/>
            <a:endCxn id="2890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96" name="Google Shape;2896;p138"/>
          <p:cNvCxnSpPr>
            <a:stCxn id="2892" idx="6"/>
            <a:endCxn id="2893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7" name="Google Shape;2897;p138"/>
          <p:cNvCxnSpPr>
            <a:stCxn id="2892" idx="4"/>
            <a:endCxn id="2889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8" name="Google Shape;2898;p138"/>
          <p:cNvCxnSpPr>
            <a:stCxn id="2888" idx="4"/>
            <a:endCxn id="2891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99" name="Google Shape;2899;p138"/>
          <p:cNvCxnSpPr>
            <a:stCxn id="2887" idx="5"/>
            <a:endCxn id="2891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0" name="Google Shape;2900;p138"/>
          <p:cNvCxnSpPr>
            <a:stCxn id="2887" idx="6"/>
            <a:endCxn id="2888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1" name="Google Shape;2901;p138"/>
          <p:cNvCxnSpPr>
            <a:stCxn id="2894" idx="1"/>
            <a:endCxn id="2892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2" name="Google Shape;2902;p138"/>
          <p:cNvCxnSpPr>
            <a:stCxn id="2893" idx="1"/>
            <a:endCxn id="2890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3" name="Google Shape;2903;p138"/>
          <p:cNvCxnSpPr>
            <a:stCxn id="2890" idx="5"/>
            <a:endCxn id="2892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4" name="Google Shape;2904;p138"/>
          <p:cNvCxnSpPr>
            <a:stCxn id="2888" idx="0"/>
            <a:endCxn id="2890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5" name="Google Shape;2905;p138"/>
          <p:cNvCxnSpPr>
            <a:stCxn id="2892" idx="3"/>
            <a:endCxn id="2891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6" name="Google Shape;2906;p138"/>
          <p:cNvCxnSpPr>
            <a:stCxn id="2888" idx="6"/>
            <a:endCxn id="2892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7" name="Google Shape;2907;p138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8" name="Google Shape;2908;p138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2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p1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2914" name="Google Shape;2914;p139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915" name="Google Shape;2915;p139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916" name="Google Shape;2916;p139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17" name="Google Shape;2917;p139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18" name="Google Shape;2918;p139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19" name="Google Shape;2919;p139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20" name="Google Shape;2920;p139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21" name="Google Shape;2921;p139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22" name="Google Shape;2922;p139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23" name="Google Shape;2923;p139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924" name="Google Shape;2924;p139"/>
          <p:cNvCxnSpPr>
            <a:stCxn id="2916" idx="7"/>
            <a:endCxn id="2919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925" name="Google Shape;2925;p139"/>
          <p:cNvCxnSpPr>
            <a:stCxn id="2921" idx="6"/>
            <a:endCxn id="2922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6" name="Google Shape;2926;p139"/>
          <p:cNvCxnSpPr>
            <a:stCxn id="2921" idx="4"/>
            <a:endCxn id="2918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7" name="Google Shape;2927;p139"/>
          <p:cNvCxnSpPr>
            <a:stCxn id="2917" idx="4"/>
            <a:endCxn id="2920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928" name="Google Shape;2928;p139"/>
          <p:cNvCxnSpPr>
            <a:stCxn id="2916" idx="5"/>
            <a:endCxn id="2920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9" name="Google Shape;2929;p139"/>
          <p:cNvCxnSpPr>
            <a:stCxn id="2916" idx="6"/>
            <a:endCxn id="2917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0" name="Google Shape;2930;p139"/>
          <p:cNvCxnSpPr>
            <a:stCxn id="2923" idx="1"/>
            <a:endCxn id="2921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1" name="Google Shape;2931;p139"/>
          <p:cNvCxnSpPr>
            <a:stCxn id="2922" idx="1"/>
            <a:endCxn id="2919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2" name="Google Shape;2932;p139"/>
          <p:cNvCxnSpPr>
            <a:stCxn id="2919" idx="5"/>
            <a:endCxn id="2921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3" name="Google Shape;2933;p139"/>
          <p:cNvCxnSpPr>
            <a:stCxn id="2917" idx="0"/>
            <a:endCxn id="2919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4" name="Google Shape;2934;p139"/>
          <p:cNvCxnSpPr>
            <a:stCxn id="2921" idx="3"/>
            <a:endCxn id="2920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5" name="Google Shape;2935;p139"/>
          <p:cNvCxnSpPr>
            <a:stCxn id="2917" idx="6"/>
            <a:endCxn id="2921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6" name="Google Shape;2936;p139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7" name="Google Shape;2937;p139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1" name="Shape 2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2" name="Google Shape;2942;p1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2943" name="Google Shape;2943;p140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944" name="Google Shape;2944;p140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945" name="Google Shape;2945;p140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46" name="Google Shape;2946;p140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47" name="Google Shape;2947;p140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48" name="Google Shape;2948;p140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49" name="Google Shape;2949;p140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50" name="Google Shape;2950;p140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51" name="Google Shape;2951;p140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52" name="Google Shape;2952;p140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953" name="Google Shape;2953;p140"/>
          <p:cNvCxnSpPr>
            <a:stCxn id="2945" idx="7"/>
            <a:endCxn id="2948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954" name="Google Shape;2954;p140"/>
          <p:cNvCxnSpPr>
            <a:stCxn id="2950" idx="6"/>
            <a:endCxn id="2951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5" name="Google Shape;2955;p140"/>
          <p:cNvCxnSpPr>
            <a:stCxn id="2950" idx="4"/>
            <a:endCxn id="2947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6" name="Google Shape;2956;p140"/>
          <p:cNvCxnSpPr>
            <a:stCxn id="2946" idx="4"/>
            <a:endCxn id="2949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957" name="Google Shape;2957;p140"/>
          <p:cNvCxnSpPr>
            <a:stCxn id="2945" idx="5"/>
            <a:endCxn id="2949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8" name="Google Shape;2958;p140"/>
          <p:cNvCxnSpPr>
            <a:stCxn id="2945" idx="6"/>
            <a:endCxn id="2946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9" name="Google Shape;2959;p140"/>
          <p:cNvCxnSpPr>
            <a:stCxn id="2952" idx="1"/>
            <a:endCxn id="2950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0" name="Google Shape;2960;p140"/>
          <p:cNvCxnSpPr>
            <a:stCxn id="2951" idx="1"/>
            <a:endCxn id="2948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1" name="Google Shape;2961;p140"/>
          <p:cNvCxnSpPr>
            <a:stCxn id="2948" idx="5"/>
            <a:endCxn id="2950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2" name="Google Shape;2962;p140"/>
          <p:cNvCxnSpPr>
            <a:stCxn id="2946" idx="0"/>
            <a:endCxn id="2948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3" name="Google Shape;2963;p140"/>
          <p:cNvCxnSpPr>
            <a:stCxn id="2950" idx="3"/>
            <a:endCxn id="2949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4" name="Google Shape;2964;p140"/>
          <p:cNvCxnSpPr>
            <a:stCxn id="2946" idx="6"/>
            <a:endCxn id="2950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5" name="Google Shape;2965;p140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6" name="Google Shape;2966;p140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0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" name="Google Shape;2971;p1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2972" name="Google Shape;2972;p141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973" name="Google Shape;2973;p141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974" name="Google Shape;2974;p141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75" name="Google Shape;2975;p141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76" name="Google Shape;2976;p141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77" name="Google Shape;2977;p141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78" name="Google Shape;2978;p141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79" name="Google Shape;2979;p141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80" name="Google Shape;2980;p141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81" name="Google Shape;2981;p141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982" name="Google Shape;2982;p141"/>
          <p:cNvCxnSpPr>
            <a:stCxn id="2974" idx="7"/>
            <a:endCxn id="2977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983" name="Google Shape;2983;p141"/>
          <p:cNvCxnSpPr>
            <a:stCxn id="2979" idx="6"/>
            <a:endCxn id="2980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4" name="Google Shape;2984;p141"/>
          <p:cNvCxnSpPr>
            <a:stCxn id="2979" idx="4"/>
            <a:endCxn id="2976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5" name="Google Shape;2985;p141"/>
          <p:cNvCxnSpPr>
            <a:stCxn id="2975" idx="4"/>
            <a:endCxn id="2978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986" name="Google Shape;2986;p141"/>
          <p:cNvCxnSpPr>
            <a:stCxn id="2974" idx="5"/>
            <a:endCxn id="2978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7" name="Google Shape;2987;p141"/>
          <p:cNvCxnSpPr>
            <a:stCxn id="2974" idx="6"/>
            <a:endCxn id="2975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8" name="Google Shape;2988;p141"/>
          <p:cNvCxnSpPr>
            <a:stCxn id="2981" idx="1"/>
            <a:endCxn id="2979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9" name="Google Shape;2989;p141"/>
          <p:cNvCxnSpPr>
            <a:stCxn id="2980" idx="1"/>
            <a:endCxn id="2977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0" name="Google Shape;2990;p141"/>
          <p:cNvCxnSpPr>
            <a:stCxn id="2977" idx="5"/>
            <a:endCxn id="2979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1" name="Google Shape;2991;p141"/>
          <p:cNvCxnSpPr>
            <a:stCxn id="2975" idx="0"/>
            <a:endCxn id="2977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2" name="Google Shape;2992;p141"/>
          <p:cNvCxnSpPr>
            <a:stCxn id="2979" idx="3"/>
            <a:endCxn id="2978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3" name="Google Shape;2993;p141"/>
          <p:cNvCxnSpPr>
            <a:stCxn id="2975" idx="6"/>
            <a:endCxn id="2979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4" name="Google Shape;2994;p141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5" name="Google Shape;2995;p141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9" name="Shape 2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" name="Google Shape;3000;p1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3001" name="Google Shape;3001;p142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3002" name="Google Shape;3002;p142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003" name="Google Shape;3003;p142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04" name="Google Shape;3004;p142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05" name="Google Shape;3005;p142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06" name="Google Shape;3006;p142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07" name="Google Shape;3007;p142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08" name="Google Shape;3008;p142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09" name="Google Shape;3009;p142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10" name="Google Shape;3010;p142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011" name="Google Shape;3011;p142"/>
          <p:cNvCxnSpPr>
            <a:stCxn id="3003" idx="7"/>
            <a:endCxn id="3006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12" name="Google Shape;3012;p142"/>
          <p:cNvCxnSpPr>
            <a:stCxn id="3008" idx="6"/>
            <a:endCxn id="3009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3" name="Google Shape;3013;p142"/>
          <p:cNvCxnSpPr>
            <a:stCxn id="3008" idx="4"/>
            <a:endCxn id="3005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4" name="Google Shape;3014;p142"/>
          <p:cNvCxnSpPr>
            <a:stCxn id="3004" idx="4"/>
            <a:endCxn id="3007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15" name="Google Shape;3015;p142"/>
          <p:cNvCxnSpPr>
            <a:stCxn id="3003" idx="5"/>
            <a:endCxn id="3007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6" name="Google Shape;3016;p142"/>
          <p:cNvCxnSpPr>
            <a:stCxn id="3003" idx="6"/>
            <a:endCxn id="3004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7" name="Google Shape;3017;p142"/>
          <p:cNvCxnSpPr>
            <a:stCxn id="3010" idx="1"/>
            <a:endCxn id="3008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8" name="Google Shape;3018;p142"/>
          <p:cNvCxnSpPr>
            <a:stCxn id="3009" idx="1"/>
            <a:endCxn id="3006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9" name="Google Shape;3019;p142"/>
          <p:cNvCxnSpPr>
            <a:stCxn id="3006" idx="5"/>
            <a:endCxn id="3008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0" name="Google Shape;3020;p142"/>
          <p:cNvCxnSpPr>
            <a:stCxn id="3004" idx="0"/>
            <a:endCxn id="3006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1" name="Google Shape;3021;p142"/>
          <p:cNvCxnSpPr>
            <a:stCxn id="3008" idx="3"/>
            <a:endCxn id="3007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2" name="Google Shape;3022;p142"/>
          <p:cNvCxnSpPr>
            <a:stCxn id="3004" idx="6"/>
            <a:endCxn id="3008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3" name="Google Shape;3023;p142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4" name="Google Shape;3024;p142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8" name="Shape 3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9" name="Google Shape;3029;p1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3030" name="Google Shape;3030;p143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3031" name="Google Shape;3031;p143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032" name="Google Shape;3032;p143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33" name="Google Shape;3033;p143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34" name="Google Shape;3034;p143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35" name="Google Shape;3035;p143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36" name="Google Shape;3036;p143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37" name="Google Shape;3037;p143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38" name="Google Shape;3038;p143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39" name="Google Shape;3039;p143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040" name="Google Shape;3040;p143"/>
          <p:cNvCxnSpPr>
            <a:stCxn id="3032" idx="7"/>
            <a:endCxn id="3035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41" name="Google Shape;3041;p143"/>
          <p:cNvCxnSpPr>
            <a:stCxn id="3037" idx="6"/>
            <a:endCxn id="3038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2" name="Google Shape;3042;p143"/>
          <p:cNvCxnSpPr>
            <a:stCxn id="3037" idx="4"/>
            <a:endCxn id="3034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3" name="Google Shape;3043;p143"/>
          <p:cNvCxnSpPr>
            <a:stCxn id="3033" idx="4"/>
            <a:endCxn id="3036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44" name="Google Shape;3044;p143"/>
          <p:cNvCxnSpPr>
            <a:stCxn id="3032" idx="5"/>
            <a:endCxn id="3036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5" name="Google Shape;3045;p143"/>
          <p:cNvCxnSpPr>
            <a:stCxn id="3032" idx="6"/>
            <a:endCxn id="3033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6" name="Google Shape;3046;p143"/>
          <p:cNvCxnSpPr>
            <a:stCxn id="3039" idx="1"/>
            <a:endCxn id="3037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7" name="Google Shape;3047;p143"/>
          <p:cNvCxnSpPr>
            <a:stCxn id="3038" idx="1"/>
            <a:endCxn id="3035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8" name="Google Shape;3048;p143"/>
          <p:cNvCxnSpPr>
            <a:stCxn id="3035" idx="5"/>
            <a:endCxn id="3037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9" name="Google Shape;3049;p143"/>
          <p:cNvCxnSpPr>
            <a:stCxn id="3033" idx="0"/>
            <a:endCxn id="3035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0" name="Google Shape;3050;p143"/>
          <p:cNvCxnSpPr>
            <a:stCxn id="3037" idx="3"/>
            <a:endCxn id="3036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1" name="Google Shape;3051;p143"/>
          <p:cNvCxnSpPr>
            <a:stCxn id="3033" idx="6"/>
            <a:endCxn id="3037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2" name="Google Shape;3052;p143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3" name="Google Shape;3053;p143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7" name="Shape 3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8" name="Google Shape;3058;p1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3059" name="Google Shape;3059;p144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3060" name="Google Shape;3060;p144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061" name="Google Shape;3061;p144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62" name="Google Shape;3062;p144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63" name="Google Shape;3063;p144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64" name="Google Shape;3064;p144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65" name="Google Shape;3065;p144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66" name="Google Shape;3066;p144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67" name="Google Shape;3067;p144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68" name="Google Shape;3068;p144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069" name="Google Shape;3069;p144"/>
          <p:cNvCxnSpPr>
            <a:stCxn id="3061" idx="7"/>
            <a:endCxn id="3064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70" name="Google Shape;3070;p144"/>
          <p:cNvCxnSpPr>
            <a:stCxn id="3066" idx="6"/>
            <a:endCxn id="3067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1" name="Google Shape;3071;p144"/>
          <p:cNvCxnSpPr>
            <a:stCxn id="3066" idx="4"/>
            <a:endCxn id="3063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2" name="Google Shape;3072;p144"/>
          <p:cNvCxnSpPr>
            <a:stCxn id="3062" idx="4"/>
            <a:endCxn id="3065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73" name="Google Shape;3073;p144"/>
          <p:cNvCxnSpPr>
            <a:stCxn id="3061" idx="5"/>
            <a:endCxn id="3065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4" name="Google Shape;3074;p144"/>
          <p:cNvCxnSpPr>
            <a:stCxn id="3061" idx="6"/>
            <a:endCxn id="3062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5" name="Google Shape;3075;p144"/>
          <p:cNvCxnSpPr>
            <a:stCxn id="3068" idx="1"/>
            <a:endCxn id="3066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6" name="Google Shape;3076;p144"/>
          <p:cNvCxnSpPr>
            <a:stCxn id="3067" idx="1"/>
            <a:endCxn id="3064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7" name="Google Shape;3077;p144"/>
          <p:cNvCxnSpPr>
            <a:stCxn id="3064" idx="5"/>
            <a:endCxn id="3066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8" name="Google Shape;3078;p144"/>
          <p:cNvCxnSpPr>
            <a:stCxn id="3062" idx="0"/>
            <a:endCxn id="3064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9" name="Google Shape;3079;p144"/>
          <p:cNvCxnSpPr>
            <a:stCxn id="3066" idx="3"/>
            <a:endCxn id="3065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0" name="Google Shape;3080;p144"/>
          <p:cNvCxnSpPr>
            <a:stCxn id="3062" idx="6"/>
            <a:endCxn id="3066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1" name="Google Shape;3081;p144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2" name="Google Shape;3082;p144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6" name="Shape 3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7" name="Google Shape;3087;p1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3088" name="Google Shape;3088;p145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3089" name="Google Shape;3089;p145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090" name="Google Shape;3090;p145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91" name="Google Shape;3091;p145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92" name="Google Shape;3092;p145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93" name="Google Shape;3093;p145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94" name="Google Shape;3094;p145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95" name="Google Shape;3095;p145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96" name="Google Shape;3096;p145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97" name="Google Shape;3097;p145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098" name="Google Shape;3098;p145"/>
          <p:cNvCxnSpPr>
            <a:stCxn id="3090" idx="7"/>
            <a:endCxn id="3093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99" name="Google Shape;3099;p145"/>
          <p:cNvCxnSpPr>
            <a:stCxn id="3095" idx="6"/>
            <a:endCxn id="3096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0" name="Google Shape;3100;p145"/>
          <p:cNvCxnSpPr>
            <a:stCxn id="3095" idx="4"/>
            <a:endCxn id="3092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1" name="Google Shape;3101;p145"/>
          <p:cNvCxnSpPr>
            <a:stCxn id="3091" idx="4"/>
            <a:endCxn id="3094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02" name="Google Shape;3102;p145"/>
          <p:cNvCxnSpPr>
            <a:stCxn id="3090" idx="5"/>
            <a:endCxn id="3094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3" name="Google Shape;3103;p145"/>
          <p:cNvCxnSpPr>
            <a:stCxn id="3090" idx="6"/>
            <a:endCxn id="3091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4" name="Google Shape;3104;p145"/>
          <p:cNvCxnSpPr>
            <a:stCxn id="3097" idx="1"/>
            <a:endCxn id="3095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5" name="Google Shape;3105;p145"/>
          <p:cNvCxnSpPr>
            <a:stCxn id="3096" idx="1"/>
            <a:endCxn id="3093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6" name="Google Shape;3106;p145"/>
          <p:cNvCxnSpPr>
            <a:stCxn id="3093" idx="5"/>
            <a:endCxn id="3095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7" name="Google Shape;3107;p145"/>
          <p:cNvCxnSpPr>
            <a:stCxn id="3091" idx="0"/>
            <a:endCxn id="3093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8" name="Google Shape;3108;p145"/>
          <p:cNvCxnSpPr>
            <a:stCxn id="3095" idx="3"/>
            <a:endCxn id="3094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9" name="Google Shape;3109;p145"/>
          <p:cNvCxnSpPr>
            <a:stCxn id="3091" idx="6"/>
            <a:endCxn id="3095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0" name="Google Shape;3110;p145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1" name="Google Shape;3111;p145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5" name="Shape 3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6" name="Google Shape;3116;p1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3117" name="Google Shape;3117;p146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Strongly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3118" name="Google Shape;3118;p146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119" name="Google Shape;3119;p146"/>
          <p:cNvSpPr/>
          <p:nvPr/>
        </p:nvSpPr>
        <p:spPr>
          <a:xfrm>
            <a:off x="86963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20" name="Google Shape;3120;p146"/>
          <p:cNvSpPr/>
          <p:nvPr/>
        </p:nvSpPr>
        <p:spPr>
          <a:xfrm>
            <a:off x="1542374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21" name="Google Shape;3121;p146"/>
          <p:cNvSpPr/>
          <p:nvPr/>
        </p:nvSpPr>
        <p:spPr>
          <a:xfrm>
            <a:off x="27850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22" name="Google Shape;3122;p146"/>
          <p:cNvSpPr/>
          <p:nvPr/>
        </p:nvSpPr>
        <p:spPr>
          <a:xfrm>
            <a:off x="1542347" y="1546450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23" name="Google Shape;3123;p146"/>
          <p:cNvSpPr/>
          <p:nvPr/>
        </p:nvSpPr>
        <p:spPr>
          <a:xfrm>
            <a:off x="154229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24" name="Google Shape;3124;p146"/>
          <p:cNvSpPr/>
          <p:nvPr/>
        </p:nvSpPr>
        <p:spPr>
          <a:xfrm>
            <a:off x="2785146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25" name="Google Shape;3125;p146"/>
          <p:cNvSpPr/>
          <p:nvPr/>
        </p:nvSpPr>
        <p:spPr>
          <a:xfrm>
            <a:off x="4240467" y="283414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26" name="Google Shape;3126;p146"/>
          <p:cNvSpPr/>
          <p:nvPr/>
        </p:nvSpPr>
        <p:spPr>
          <a:xfrm>
            <a:off x="4240418" y="4121835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127" name="Google Shape;3127;p146"/>
          <p:cNvCxnSpPr>
            <a:stCxn id="3119" idx="7"/>
            <a:endCxn id="3122" idx="2"/>
          </p:cNvCxnSpPr>
          <p:nvPr/>
        </p:nvCxnSpPr>
        <p:spPr>
          <a:xfrm flipH="1" rot="10800000">
            <a:off x="444175" y="1749389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28" name="Google Shape;3128;p146"/>
          <p:cNvCxnSpPr>
            <a:stCxn id="3124" idx="6"/>
            <a:endCxn id="3125" idx="2"/>
          </p:cNvCxnSpPr>
          <p:nvPr/>
        </p:nvCxnSpPr>
        <p:spPr>
          <a:xfrm>
            <a:off x="3203646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29" name="Google Shape;3129;p146"/>
          <p:cNvCxnSpPr>
            <a:stCxn id="3124" idx="4"/>
            <a:endCxn id="3121" idx="0"/>
          </p:cNvCxnSpPr>
          <p:nvPr/>
        </p:nvCxnSpPr>
        <p:spPr>
          <a:xfrm>
            <a:off x="2994396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0" name="Google Shape;3130;p146"/>
          <p:cNvCxnSpPr>
            <a:stCxn id="3120" idx="4"/>
            <a:endCxn id="3123" idx="0"/>
          </p:cNvCxnSpPr>
          <p:nvPr/>
        </p:nvCxnSpPr>
        <p:spPr>
          <a:xfrm>
            <a:off x="1751624" y="3240046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31" name="Google Shape;3131;p146"/>
          <p:cNvCxnSpPr>
            <a:stCxn id="3119" idx="5"/>
            <a:endCxn id="3123" idx="2"/>
          </p:cNvCxnSpPr>
          <p:nvPr/>
        </p:nvCxnSpPr>
        <p:spPr>
          <a:xfrm>
            <a:off x="444175" y="3180603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2" name="Google Shape;3132;p146"/>
          <p:cNvCxnSpPr>
            <a:stCxn id="3119" idx="6"/>
            <a:endCxn id="3120" idx="2"/>
          </p:cNvCxnSpPr>
          <p:nvPr/>
        </p:nvCxnSpPr>
        <p:spPr>
          <a:xfrm>
            <a:off x="505463" y="3037096"/>
            <a:ext cx="103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3" name="Google Shape;3133;p146"/>
          <p:cNvCxnSpPr>
            <a:stCxn id="3126" idx="1"/>
            <a:endCxn id="3124" idx="5"/>
          </p:cNvCxnSpPr>
          <p:nvPr/>
        </p:nvCxnSpPr>
        <p:spPr>
          <a:xfrm rot="10800000">
            <a:off x="3142506" y="3180477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4" name="Google Shape;3134;p146"/>
          <p:cNvCxnSpPr>
            <a:stCxn id="3125" idx="1"/>
            <a:endCxn id="3122" idx="6"/>
          </p:cNvCxnSpPr>
          <p:nvPr/>
        </p:nvCxnSpPr>
        <p:spPr>
          <a:xfrm rot="10800000">
            <a:off x="1960855" y="1749389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5" name="Google Shape;3135;p146"/>
          <p:cNvCxnSpPr>
            <a:stCxn id="3122" idx="5"/>
            <a:endCxn id="3124" idx="1"/>
          </p:cNvCxnSpPr>
          <p:nvPr/>
        </p:nvCxnSpPr>
        <p:spPr>
          <a:xfrm>
            <a:off x="1899559" y="1892907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6" name="Google Shape;3136;p146"/>
          <p:cNvCxnSpPr>
            <a:stCxn id="3120" idx="0"/>
            <a:endCxn id="3122" idx="4"/>
          </p:cNvCxnSpPr>
          <p:nvPr/>
        </p:nvCxnSpPr>
        <p:spPr>
          <a:xfrm rot="10800000">
            <a:off x="1751624" y="1952446"/>
            <a:ext cx="0" cy="88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7" name="Google Shape;3137;p146"/>
          <p:cNvCxnSpPr>
            <a:stCxn id="3124" idx="3"/>
            <a:endCxn id="3123" idx="7"/>
          </p:cNvCxnSpPr>
          <p:nvPr/>
        </p:nvCxnSpPr>
        <p:spPr>
          <a:xfrm flipH="1">
            <a:off x="1899634" y="318060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8" name="Google Shape;3138;p146"/>
          <p:cNvCxnSpPr>
            <a:stCxn id="3120" idx="6"/>
            <a:endCxn id="3124" idx="2"/>
          </p:cNvCxnSpPr>
          <p:nvPr/>
        </p:nvCxnSpPr>
        <p:spPr>
          <a:xfrm>
            <a:off x="1960874" y="3037096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9" name="Google Shape;3139;p146"/>
          <p:cNvCxnSpPr/>
          <p:nvPr/>
        </p:nvCxnSpPr>
        <p:spPr>
          <a:xfrm>
            <a:off x="3203598" y="4324785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0" name="Google Shape;3140;p146"/>
          <p:cNvCxnSpPr/>
          <p:nvPr/>
        </p:nvCxnSpPr>
        <p:spPr>
          <a:xfrm rot="10800000">
            <a:off x="1960698" y="4324785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41" name="Google Shape;3141;p146"/>
          <p:cNvSpPr/>
          <p:nvPr/>
        </p:nvSpPr>
        <p:spPr>
          <a:xfrm>
            <a:off x="2193275" y="1041350"/>
            <a:ext cx="3117600" cy="1105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In a strongly connected graph, the reachability matrix is the </a:t>
            </a:r>
            <a:r>
              <a:rPr b="1" lang="en">
                <a:solidFill>
                  <a:srgbClr val="0000FF"/>
                </a:solidFill>
              </a:rPr>
              <a:t>all-ones</a:t>
            </a:r>
            <a:r>
              <a:rPr b="1" lang="en">
                <a:solidFill>
                  <a:srgbClr val="FF0000"/>
                </a:solidFill>
              </a:rPr>
              <a:t> matrix!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5" name="Shape 3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6" name="Google Shape;3146;p1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3147" name="Google Shape;3147;p147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Unilaterally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3148" name="Google Shape;3148;p147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149" name="Google Shape;3149;p147"/>
          <p:cNvSpPr/>
          <p:nvPr/>
        </p:nvSpPr>
        <p:spPr>
          <a:xfrm>
            <a:off x="91440" y="2833032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50" name="Google Shape;3150;p147"/>
          <p:cNvSpPr/>
          <p:nvPr/>
        </p:nvSpPr>
        <p:spPr>
          <a:xfrm>
            <a:off x="1546851" y="2833032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51" name="Google Shape;3151;p147"/>
          <p:cNvSpPr/>
          <p:nvPr/>
        </p:nvSpPr>
        <p:spPr>
          <a:xfrm>
            <a:off x="2789575" y="412072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52" name="Google Shape;3152;p147"/>
          <p:cNvSpPr/>
          <p:nvPr/>
        </p:nvSpPr>
        <p:spPr>
          <a:xfrm>
            <a:off x="1546824" y="154533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53" name="Google Shape;3153;p147"/>
          <p:cNvSpPr/>
          <p:nvPr/>
        </p:nvSpPr>
        <p:spPr>
          <a:xfrm>
            <a:off x="1546776" y="412072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54" name="Google Shape;3154;p147"/>
          <p:cNvSpPr/>
          <p:nvPr/>
        </p:nvSpPr>
        <p:spPr>
          <a:xfrm>
            <a:off x="2789624" y="2833032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55" name="Google Shape;3155;p147"/>
          <p:cNvSpPr/>
          <p:nvPr/>
        </p:nvSpPr>
        <p:spPr>
          <a:xfrm>
            <a:off x="4244944" y="2833032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56" name="Google Shape;3156;p147"/>
          <p:cNvSpPr/>
          <p:nvPr/>
        </p:nvSpPr>
        <p:spPr>
          <a:xfrm>
            <a:off x="4244896" y="412072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157" name="Google Shape;3157;p147"/>
          <p:cNvCxnSpPr>
            <a:stCxn id="3149" idx="7"/>
            <a:endCxn id="3152" idx="2"/>
          </p:cNvCxnSpPr>
          <p:nvPr/>
        </p:nvCxnSpPr>
        <p:spPr>
          <a:xfrm flipH="1" rot="10800000">
            <a:off x="448652" y="1748275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8" name="Google Shape;3158;p147"/>
          <p:cNvCxnSpPr>
            <a:stCxn id="3154" idx="6"/>
            <a:endCxn id="3155" idx="2"/>
          </p:cNvCxnSpPr>
          <p:nvPr/>
        </p:nvCxnSpPr>
        <p:spPr>
          <a:xfrm>
            <a:off x="3208124" y="3035982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9" name="Google Shape;3159;p147"/>
          <p:cNvCxnSpPr>
            <a:stCxn id="3151" idx="6"/>
            <a:endCxn id="3156" idx="2"/>
          </p:cNvCxnSpPr>
          <p:nvPr/>
        </p:nvCxnSpPr>
        <p:spPr>
          <a:xfrm>
            <a:off x="3208075" y="432367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0" name="Google Shape;3160;p147"/>
          <p:cNvCxnSpPr>
            <a:stCxn id="3154" idx="4"/>
            <a:endCxn id="3151" idx="0"/>
          </p:cNvCxnSpPr>
          <p:nvPr/>
        </p:nvCxnSpPr>
        <p:spPr>
          <a:xfrm>
            <a:off x="2998874" y="3238932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1" name="Google Shape;3161;p147"/>
          <p:cNvCxnSpPr>
            <a:stCxn id="3150" idx="4"/>
            <a:endCxn id="3153" idx="0"/>
          </p:cNvCxnSpPr>
          <p:nvPr/>
        </p:nvCxnSpPr>
        <p:spPr>
          <a:xfrm>
            <a:off x="1756101" y="3238932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62" name="Google Shape;3162;p147"/>
          <p:cNvCxnSpPr>
            <a:stCxn id="3149" idx="5"/>
            <a:endCxn id="3153" idx="2"/>
          </p:cNvCxnSpPr>
          <p:nvPr/>
        </p:nvCxnSpPr>
        <p:spPr>
          <a:xfrm>
            <a:off x="448652" y="3179489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3" name="Google Shape;3163;p147"/>
          <p:cNvCxnSpPr>
            <a:stCxn id="3149" idx="6"/>
            <a:endCxn id="3150" idx="2"/>
          </p:cNvCxnSpPr>
          <p:nvPr/>
        </p:nvCxnSpPr>
        <p:spPr>
          <a:xfrm>
            <a:off x="509940" y="3035982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4" name="Google Shape;3164;p147"/>
          <p:cNvCxnSpPr>
            <a:stCxn id="3151" idx="2"/>
            <a:endCxn id="3153" idx="6"/>
          </p:cNvCxnSpPr>
          <p:nvPr/>
        </p:nvCxnSpPr>
        <p:spPr>
          <a:xfrm rot="10800000">
            <a:off x="1965175" y="4323671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5" name="Google Shape;3165;p147"/>
          <p:cNvCxnSpPr>
            <a:stCxn id="3156" idx="1"/>
            <a:endCxn id="3154" idx="5"/>
          </p:cNvCxnSpPr>
          <p:nvPr/>
        </p:nvCxnSpPr>
        <p:spPr>
          <a:xfrm rot="10800000">
            <a:off x="3146984" y="3179363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6" name="Google Shape;3166;p147"/>
          <p:cNvCxnSpPr>
            <a:stCxn id="3155" idx="1"/>
            <a:endCxn id="3152" idx="6"/>
          </p:cNvCxnSpPr>
          <p:nvPr/>
        </p:nvCxnSpPr>
        <p:spPr>
          <a:xfrm rot="10800000">
            <a:off x="1965332" y="1748275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7" name="Google Shape;3167;p147"/>
          <p:cNvCxnSpPr>
            <a:stCxn id="3152" idx="5"/>
            <a:endCxn id="3154" idx="1"/>
          </p:cNvCxnSpPr>
          <p:nvPr/>
        </p:nvCxnSpPr>
        <p:spPr>
          <a:xfrm>
            <a:off x="1904036" y="189179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8" name="Google Shape;3168;p147"/>
          <p:cNvCxnSpPr>
            <a:stCxn id="3150" idx="0"/>
            <a:endCxn id="3152" idx="4"/>
          </p:cNvCxnSpPr>
          <p:nvPr/>
        </p:nvCxnSpPr>
        <p:spPr>
          <a:xfrm rot="10800000">
            <a:off x="1756101" y="1951332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9" name="Google Shape;3169;p147"/>
          <p:cNvCxnSpPr>
            <a:stCxn id="3154" idx="3"/>
            <a:endCxn id="3153" idx="7"/>
          </p:cNvCxnSpPr>
          <p:nvPr/>
        </p:nvCxnSpPr>
        <p:spPr>
          <a:xfrm flipH="1">
            <a:off x="1904111" y="3179489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0" name="Google Shape;3170;p147"/>
          <p:cNvCxnSpPr>
            <a:stCxn id="3150" idx="6"/>
            <a:endCxn id="3154" idx="2"/>
          </p:cNvCxnSpPr>
          <p:nvPr/>
        </p:nvCxnSpPr>
        <p:spPr>
          <a:xfrm>
            <a:off x="1965351" y="3035982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71" name="Google Shape;3171;p147"/>
          <p:cNvSpPr/>
          <p:nvPr/>
        </p:nvSpPr>
        <p:spPr>
          <a:xfrm>
            <a:off x="2193275" y="1041350"/>
            <a:ext cx="3117600" cy="1105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Unilaterally connected graphs have zeroes in their reachability matrix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172" name="Google Shape;3172;p147"/>
          <p:cNvSpPr/>
          <p:nvPr/>
        </p:nvSpPr>
        <p:spPr>
          <a:xfrm rot="5400000">
            <a:off x="4502250" y="2871950"/>
            <a:ext cx="36999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6" name="Shape 3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7" name="Google Shape;3177;p1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3178" name="Google Shape;3178;p148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Unilaterally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3179" name="Google Shape;3179;p148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180" name="Google Shape;3180;p148"/>
          <p:cNvSpPr/>
          <p:nvPr/>
        </p:nvSpPr>
        <p:spPr>
          <a:xfrm>
            <a:off x="91440" y="2833032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81" name="Google Shape;3181;p148"/>
          <p:cNvSpPr/>
          <p:nvPr/>
        </p:nvSpPr>
        <p:spPr>
          <a:xfrm>
            <a:off x="1546851" y="2833032"/>
            <a:ext cx="418500" cy="405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82" name="Google Shape;3182;p148"/>
          <p:cNvSpPr/>
          <p:nvPr/>
        </p:nvSpPr>
        <p:spPr>
          <a:xfrm>
            <a:off x="2789575" y="4120721"/>
            <a:ext cx="418500" cy="405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83" name="Google Shape;3183;p148"/>
          <p:cNvSpPr/>
          <p:nvPr/>
        </p:nvSpPr>
        <p:spPr>
          <a:xfrm>
            <a:off x="1546824" y="1545336"/>
            <a:ext cx="418500" cy="405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84" name="Google Shape;3184;p148"/>
          <p:cNvSpPr/>
          <p:nvPr/>
        </p:nvSpPr>
        <p:spPr>
          <a:xfrm>
            <a:off x="1546776" y="4120721"/>
            <a:ext cx="418500" cy="405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85" name="Google Shape;3185;p148"/>
          <p:cNvSpPr/>
          <p:nvPr/>
        </p:nvSpPr>
        <p:spPr>
          <a:xfrm>
            <a:off x="2789624" y="2833032"/>
            <a:ext cx="418500" cy="405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86" name="Google Shape;3186;p148"/>
          <p:cNvSpPr/>
          <p:nvPr/>
        </p:nvSpPr>
        <p:spPr>
          <a:xfrm>
            <a:off x="4244944" y="2833032"/>
            <a:ext cx="418500" cy="405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87" name="Google Shape;3187;p148"/>
          <p:cNvSpPr/>
          <p:nvPr/>
        </p:nvSpPr>
        <p:spPr>
          <a:xfrm>
            <a:off x="4244896" y="4120721"/>
            <a:ext cx="418500" cy="405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188" name="Google Shape;3188;p148"/>
          <p:cNvCxnSpPr>
            <a:stCxn id="3180" idx="7"/>
            <a:endCxn id="3183" idx="2"/>
          </p:cNvCxnSpPr>
          <p:nvPr/>
        </p:nvCxnSpPr>
        <p:spPr>
          <a:xfrm flipH="1" rot="10800000">
            <a:off x="448652" y="1748275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9" name="Google Shape;3189;p148"/>
          <p:cNvCxnSpPr>
            <a:stCxn id="3185" idx="6"/>
            <a:endCxn id="3186" idx="2"/>
          </p:cNvCxnSpPr>
          <p:nvPr/>
        </p:nvCxnSpPr>
        <p:spPr>
          <a:xfrm>
            <a:off x="3208124" y="3035982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0" name="Google Shape;3190;p148"/>
          <p:cNvCxnSpPr>
            <a:stCxn id="3182" idx="6"/>
            <a:endCxn id="3187" idx="2"/>
          </p:cNvCxnSpPr>
          <p:nvPr/>
        </p:nvCxnSpPr>
        <p:spPr>
          <a:xfrm>
            <a:off x="3208075" y="432367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1" name="Google Shape;3191;p148"/>
          <p:cNvCxnSpPr>
            <a:stCxn id="3185" idx="4"/>
            <a:endCxn id="3182" idx="0"/>
          </p:cNvCxnSpPr>
          <p:nvPr/>
        </p:nvCxnSpPr>
        <p:spPr>
          <a:xfrm>
            <a:off x="2998874" y="3238932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2" name="Google Shape;3192;p148"/>
          <p:cNvCxnSpPr>
            <a:stCxn id="3181" idx="4"/>
            <a:endCxn id="3184" idx="0"/>
          </p:cNvCxnSpPr>
          <p:nvPr/>
        </p:nvCxnSpPr>
        <p:spPr>
          <a:xfrm>
            <a:off x="1756101" y="3238932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93" name="Google Shape;3193;p148"/>
          <p:cNvCxnSpPr>
            <a:stCxn id="3180" idx="5"/>
            <a:endCxn id="3184" idx="2"/>
          </p:cNvCxnSpPr>
          <p:nvPr/>
        </p:nvCxnSpPr>
        <p:spPr>
          <a:xfrm>
            <a:off x="448652" y="3179489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4" name="Google Shape;3194;p148"/>
          <p:cNvCxnSpPr>
            <a:stCxn id="3180" idx="6"/>
            <a:endCxn id="3181" idx="2"/>
          </p:cNvCxnSpPr>
          <p:nvPr/>
        </p:nvCxnSpPr>
        <p:spPr>
          <a:xfrm>
            <a:off x="509940" y="3035982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5" name="Google Shape;3195;p148"/>
          <p:cNvCxnSpPr>
            <a:stCxn id="3182" idx="2"/>
            <a:endCxn id="3184" idx="6"/>
          </p:cNvCxnSpPr>
          <p:nvPr/>
        </p:nvCxnSpPr>
        <p:spPr>
          <a:xfrm rot="10800000">
            <a:off x="1965175" y="4323671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6" name="Google Shape;3196;p148"/>
          <p:cNvCxnSpPr>
            <a:stCxn id="3187" idx="1"/>
            <a:endCxn id="3185" idx="5"/>
          </p:cNvCxnSpPr>
          <p:nvPr/>
        </p:nvCxnSpPr>
        <p:spPr>
          <a:xfrm rot="10800000">
            <a:off x="3146984" y="3179363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7" name="Google Shape;3197;p148"/>
          <p:cNvCxnSpPr>
            <a:stCxn id="3186" idx="1"/>
            <a:endCxn id="3183" idx="6"/>
          </p:cNvCxnSpPr>
          <p:nvPr/>
        </p:nvCxnSpPr>
        <p:spPr>
          <a:xfrm rot="10800000">
            <a:off x="1965332" y="1748275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8" name="Google Shape;3198;p148"/>
          <p:cNvCxnSpPr>
            <a:stCxn id="3183" idx="5"/>
            <a:endCxn id="3185" idx="1"/>
          </p:cNvCxnSpPr>
          <p:nvPr/>
        </p:nvCxnSpPr>
        <p:spPr>
          <a:xfrm>
            <a:off x="1904036" y="189179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9" name="Google Shape;3199;p148"/>
          <p:cNvCxnSpPr>
            <a:stCxn id="3181" idx="0"/>
            <a:endCxn id="3183" idx="4"/>
          </p:cNvCxnSpPr>
          <p:nvPr/>
        </p:nvCxnSpPr>
        <p:spPr>
          <a:xfrm rot="10800000">
            <a:off x="1756101" y="1951332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0" name="Google Shape;3200;p148"/>
          <p:cNvCxnSpPr>
            <a:stCxn id="3185" idx="3"/>
            <a:endCxn id="3184" idx="7"/>
          </p:cNvCxnSpPr>
          <p:nvPr/>
        </p:nvCxnSpPr>
        <p:spPr>
          <a:xfrm flipH="1">
            <a:off x="1904111" y="3179489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1" name="Google Shape;3201;p148"/>
          <p:cNvCxnSpPr>
            <a:stCxn id="3181" idx="6"/>
            <a:endCxn id="3185" idx="2"/>
          </p:cNvCxnSpPr>
          <p:nvPr/>
        </p:nvCxnSpPr>
        <p:spPr>
          <a:xfrm>
            <a:off x="1965351" y="3035982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02" name="Google Shape;3202;p148"/>
          <p:cNvSpPr/>
          <p:nvPr/>
        </p:nvSpPr>
        <p:spPr>
          <a:xfrm>
            <a:off x="2193275" y="1041350"/>
            <a:ext cx="3117600" cy="1105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But node 2 can still unilaterally reach all the other does in the graph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203" name="Google Shape;3203;p148"/>
          <p:cNvSpPr/>
          <p:nvPr/>
        </p:nvSpPr>
        <p:spPr>
          <a:xfrm>
            <a:off x="5336625" y="2086825"/>
            <a:ext cx="36999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7" name="Shape 3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8" name="Google Shape;3208;p1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3209" name="Google Shape;3209;p149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Weakly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3210" name="Google Shape;3210;p149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211" name="Google Shape;3211;p149"/>
          <p:cNvSpPr/>
          <p:nvPr/>
        </p:nvSpPr>
        <p:spPr>
          <a:xfrm>
            <a:off x="91440" y="2833032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12" name="Google Shape;3212;p149"/>
          <p:cNvSpPr/>
          <p:nvPr/>
        </p:nvSpPr>
        <p:spPr>
          <a:xfrm>
            <a:off x="1546851" y="2833032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13" name="Google Shape;3213;p149"/>
          <p:cNvSpPr/>
          <p:nvPr/>
        </p:nvSpPr>
        <p:spPr>
          <a:xfrm>
            <a:off x="2789575" y="412072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14" name="Google Shape;3214;p149"/>
          <p:cNvSpPr/>
          <p:nvPr/>
        </p:nvSpPr>
        <p:spPr>
          <a:xfrm>
            <a:off x="1546824" y="154533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15" name="Google Shape;3215;p149"/>
          <p:cNvSpPr/>
          <p:nvPr/>
        </p:nvSpPr>
        <p:spPr>
          <a:xfrm>
            <a:off x="1546776" y="412072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16" name="Google Shape;3216;p149"/>
          <p:cNvSpPr/>
          <p:nvPr/>
        </p:nvSpPr>
        <p:spPr>
          <a:xfrm>
            <a:off x="2789624" y="2833032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17" name="Google Shape;3217;p149"/>
          <p:cNvSpPr/>
          <p:nvPr/>
        </p:nvSpPr>
        <p:spPr>
          <a:xfrm>
            <a:off x="4244944" y="2833032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18" name="Google Shape;3218;p149"/>
          <p:cNvSpPr/>
          <p:nvPr/>
        </p:nvSpPr>
        <p:spPr>
          <a:xfrm>
            <a:off x="4244896" y="412072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219" name="Google Shape;3219;p149"/>
          <p:cNvCxnSpPr>
            <a:stCxn id="3211" idx="7"/>
            <a:endCxn id="3214" idx="2"/>
          </p:cNvCxnSpPr>
          <p:nvPr/>
        </p:nvCxnSpPr>
        <p:spPr>
          <a:xfrm flipH="1" rot="10800000">
            <a:off x="448652" y="1748275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0" name="Google Shape;3220;p149"/>
          <p:cNvCxnSpPr>
            <a:stCxn id="3216" idx="6"/>
            <a:endCxn id="3217" idx="2"/>
          </p:cNvCxnSpPr>
          <p:nvPr/>
        </p:nvCxnSpPr>
        <p:spPr>
          <a:xfrm>
            <a:off x="3208124" y="3035982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221" name="Google Shape;3221;p149"/>
          <p:cNvCxnSpPr>
            <a:stCxn id="3213" idx="6"/>
            <a:endCxn id="3218" idx="2"/>
          </p:cNvCxnSpPr>
          <p:nvPr/>
        </p:nvCxnSpPr>
        <p:spPr>
          <a:xfrm>
            <a:off x="3208075" y="432367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2" name="Google Shape;3222;p149"/>
          <p:cNvCxnSpPr>
            <a:stCxn id="3216" idx="4"/>
            <a:endCxn id="3213" idx="0"/>
          </p:cNvCxnSpPr>
          <p:nvPr/>
        </p:nvCxnSpPr>
        <p:spPr>
          <a:xfrm>
            <a:off x="2998874" y="3238932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3" name="Google Shape;3223;p149"/>
          <p:cNvCxnSpPr>
            <a:stCxn id="3212" idx="4"/>
            <a:endCxn id="3215" idx="0"/>
          </p:cNvCxnSpPr>
          <p:nvPr/>
        </p:nvCxnSpPr>
        <p:spPr>
          <a:xfrm>
            <a:off x="1756101" y="3238932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224" name="Google Shape;3224;p149"/>
          <p:cNvCxnSpPr>
            <a:stCxn id="3211" idx="5"/>
            <a:endCxn id="3215" idx="2"/>
          </p:cNvCxnSpPr>
          <p:nvPr/>
        </p:nvCxnSpPr>
        <p:spPr>
          <a:xfrm>
            <a:off x="448652" y="3179489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5" name="Google Shape;3225;p149"/>
          <p:cNvCxnSpPr>
            <a:stCxn id="3211" idx="6"/>
            <a:endCxn id="3212" idx="2"/>
          </p:cNvCxnSpPr>
          <p:nvPr/>
        </p:nvCxnSpPr>
        <p:spPr>
          <a:xfrm>
            <a:off x="509940" y="3035982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6" name="Google Shape;3226;p149"/>
          <p:cNvCxnSpPr>
            <a:stCxn id="3213" idx="2"/>
            <a:endCxn id="3215" idx="6"/>
          </p:cNvCxnSpPr>
          <p:nvPr/>
        </p:nvCxnSpPr>
        <p:spPr>
          <a:xfrm rot="10800000">
            <a:off x="1965175" y="4323671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7" name="Google Shape;3227;p149"/>
          <p:cNvCxnSpPr>
            <a:stCxn id="3218" idx="1"/>
            <a:endCxn id="3216" idx="5"/>
          </p:cNvCxnSpPr>
          <p:nvPr/>
        </p:nvCxnSpPr>
        <p:spPr>
          <a:xfrm rot="10800000">
            <a:off x="3146984" y="3179363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8" name="Google Shape;3228;p149"/>
          <p:cNvCxnSpPr>
            <a:stCxn id="3217" idx="1"/>
            <a:endCxn id="3214" idx="6"/>
          </p:cNvCxnSpPr>
          <p:nvPr/>
        </p:nvCxnSpPr>
        <p:spPr>
          <a:xfrm rot="10800000">
            <a:off x="1965332" y="1748275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9" name="Google Shape;3229;p149"/>
          <p:cNvCxnSpPr>
            <a:stCxn id="3214" idx="5"/>
            <a:endCxn id="3216" idx="1"/>
          </p:cNvCxnSpPr>
          <p:nvPr/>
        </p:nvCxnSpPr>
        <p:spPr>
          <a:xfrm>
            <a:off x="1904036" y="189179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0" name="Google Shape;3230;p149"/>
          <p:cNvCxnSpPr>
            <a:stCxn id="3212" idx="0"/>
            <a:endCxn id="3214" idx="4"/>
          </p:cNvCxnSpPr>
          <p:nvPr/>
        </p:nvCxnSpPr>
        <p:spPr>
          <a:xfrm rot="10800000">
            <a:off x="1756101" y="1951332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1" name="Google Shape;3231;p149"/>
          <p:cNvCxnSpPr>
            <a:stCxn id="3216" idx="3"/>
            <a:endCxn id="3215" idx="7"/>
          </p:cNvCxnSpPr>
          <p:nvPr/>
        </p:nvCxnSpPr>
        <p:spPr>
          <a:xfrm flipH="1">
            <a:off x="1904111" y="3179489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2" name="Google Shape;3232;p149"/>
          <p:cNvCxnSpPr>
            <a:stCxn id="3212" idx="6"/>
            <a:endCxn id="3216" idx="2"/>
          </p:cNvCxnSpPr>
          <p:nvPr/>
        </p:nvCxnSpPr>
        <p:spPr>
          <a:xfrm>
            <a:off x="1965351" y="3035982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6" name="Shape 3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7" name="Google Shape;3237;p1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Reachability Matrix</a:t>
            </a:r>
            <a:endParaRPr/>
          </a:p>
        </p:txBody>
      </p:sp>
      <p:sp>
        <p:nvSpPr>
          <p:cNvPr id="3238" name="Google Shape;3238;p150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Weakly Connected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3239" name="Google Shape;3239;p150"/>
          <p:cNvGraphicFramePr/>
          <p:nvPr/>
        </p:nvGraphicFramePr>
        <p:xfrm>
          <a:off x="5438563" y="13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v4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240" name="Google Shape;3240;p150"/>
          <p:cNvSpPr/>
          <p:nvPr/>
        </p:nvSpPr>
        <p:spPr>
          <a:xfrm>
            <a:off x="91440" y="2833032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41" name="Google Shape;3241;p150"/>
          <p:cNvSpPr/>
          <p:nvPr/>
        </p:nvSpPr>
        <p:spPr>
          <a:xfrm>
            <a:off x="1546851" y="2833032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42" name="Google Shape;3242;p150"/>
          <p:cNvSpPr/>
          <p:nvPr/>
        </p:nvSpPr>
        <p:spPr>
          <a:xfrm>
            <a:off x="2789575" y="412072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43" name="Google Shape;3243;p150"/>
          <p:cNvSpPr/>
          <p:nvPr/>
        </p:nvSpPr>
        <p:spPr>
          <a:xfrm>
            <a:off x="1546824" y="1545336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44" name="Google Shape;3244;p150"/>
          <p:cNvSpPr/>
          <p:nvPr/>
        </p:nvSpPr>
        <p:spPr>
          <a:xfrm>
            <a:off x="1546776" y="412072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45" name="Google Shape;3245;p150"/>
          <p:cNvSpPr/>
          <p:nvPr/>
        </p:nvSpPr>
        <p:spPr>
          <a:xfrm>
            <a:off x="2789624" y="2833032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46" name="Google Shape;3246;p150"/>
          <p:cNvSpPr/>
          <p:nvPr/>
        </p:nvSpPr>
        <p:spPr>
          <a:xfrm>
            <a:off x="4244944" y="2833032"/>
            <a:ext cx="418500" cy="405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47" name="Google Shape;3247;p150"/>
          <p:cNvSpPr/>
          <p:nvPr/>
        </p:nvSpPr>
        <p:spPr>
          <a:xfrm>
            <a:off x="4244896" y="4120721"/>
            <a:ext cx="418500" cy="405900"/>
          </a:xfrm>
          <a:prstGeom prst="ellipse">
            <a:avLst/>
          </a:prstGeom>
          <a:solidFill>
            <a:srgbClr val="607D8B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248" name="Google Shape;3248;p150"/>
          <p:cNvCxnSpPr>
            <a:stCxn id="3240" idx="7"/>
            <a:endCxn id="3243" idx="2"/>
          </p:cNvCxnSpPr>
          <p:nvPr/>
        </p:nvCxnSpPr>
        <p:spPr>
          <a:xfrm flipH="1" rot="10800000">
            <a:off x="448652" y="1748275"/>
            <a:ext cx="10983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9" name="Google Shape;3249;p150"/>
          <p:cNvCxnSpPr>
            <a:stCxn id="3245" idx="6"/>
            <a:endCxn id="3246" idx="2"/>
          </p:cNvCxnSpPr>
          <p:nvPr/>
        </p:nvCxnSpPr>
        <p:spPr>
          <a:xfrm>
            <a:off x="3208124" y="3035982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250" name="Google Shape;3250;p150"/>
          <p:cNvCxnSpPr>
            <a:stCxn id="3242" idx="6"/>
            <a:endCxn id="3247" idx="2"/>
          </p:cNvCxnSpPr>
          <p:nvPr/>
        </p:nvCxnSpPr>
        <p:spPr>
          <a:xfrm>
            <a:off x="3208075" y="4323671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1" name="Google Shape;3251;p150"/>
          <p:cNvCxnSpPr>
            <a:stCxn id="3245" idx="4"/>
            <a:endCxn id="3242" idx="0"/>
          </p:cNvCxnSpPr>
          <p:nvPr/>
        </p:nvCxnSpPr>
        <p:spPr>
          <a:xfrm>
            <a:off x="2998874" y="3238932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2" name="Google Shape;3252;p150"/>
          <p:cNvCxnSpPr>
            <a:stCxn id="3241" idx="4"/>
            <a:endCxn id="3244" idx="0"/>
          </p:cNvCxnSpPr>
          <p:nvPr/>
        </p:nvCxnSpPr>
        <p:spPr>
          <a:xfrm>
            <a:off x="1756101" y="3238932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253" name="Google Shape;3253;p150"/>
          <p:cNvCxnSpPr>
            <a:stCxn id="3240" idx="5"/>
            <a:endCxn id="3244" idx="2"/>
          </p:cNvCxnSpPr>
          <p:nvPr/>
        </p:nvCxnSpPr>
        <p:spPr>
          <a:xfrm>
            <a:off x="448652" y="3179489"/>
            <a:ext cx="10980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4" name="Google Shape;3254;p150"/>
          <p:cNvCxnSpPr>
            <a:stCxn id="3240" idx="6"/>
            <a:endCxn id="3241" idx="2"/>
          </p:cNvCxnSpPr>
          <p:nvPr/>
        </p:nvCxnSpPr>
        <p:spPr>
          <a:xfrm>
            <a:off x="509940" y="3035982"/>
            <a:ext cx="1036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5" name="Google Shape;3255;p150"/>
          <p:cNvCxnSpPr>
            <a:stCxn id="3242" idx="2"/>
            <a:endCxn id="3244" idx="6"/>
          </p:cNvCxnSpPr>
          <p:nvPr/>
        </p:nvCxnSpPr>
        <p:spPr>
          <a:xfrm rot="10800000">
            <a:off x="1965175" y="4323671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6" name="Google Shape;3256;p150"/>
          <p:cNvCxnSpPr>
            <a:stCxn id="3247" idx="1"/>
            <a:endCxn id="3245" idx="5"/>
          </p:cNvCxnSpPr>
          <p:nvPr/>
        </p:nvCxnSpPr>
        <p:spPr>
          <a:xfrm rot="10800000">
            <a:off x="3146984" y="3179363"/>
            <a:ext cx="11592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7" name="Google Shape;3257;p150"/>
          <p:cNvCxnSpPr>
            <a:stCxn id="3246" idx="1"/>
            <a:endCxn id="3243" idx="6"/>
          </p:cNvCxnSpPr>
          <p:nvPr/>
        </p:nvCxnSpPr>
        <p:spPr>
          <a:xfrm rot="10800000">
            <a:off x="1965332" y="1748275"/>
            <a:ext cx="2340900" cy="114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8" name="Google Shape;3258;p150"/>
          <p:cNvCxnSpPr>
            <a:stCxn id="3243" idx="5"/>
            <a:endCxn id="3245" idx="1"/>
          </p:cNvCxnSpPr>
          <p:nvPr/>
        </p:nvCxnSpPr>
        <p:spPr>
          <a:xfrm>
            <a:off x="1904036" y="1891793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9" name="Google Shape;3259;p150"/>
          <p:cNvCxnSpPr>
            <a:stCxn id="3241" idx="0"/>
            <a:endCxn id="3243" idx="4"/>
          </p:cNvCxnSpPr>
          <p:nvPr/>
        </p:nvCxnSpPr>
        <p:spPr>
          <a:xfrm rot="10800000">
            <a:off x="1756101" y="1951332"/>
            <a:ext cx="0" cy="881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0" name="Google Shape;3260;p150"/>
          <p:cNvCxnSpPr>
            <a:stCxn id="3245" idx="3"/>
            <a:endCxn id="3244" idx="7"/>
          </p:cNvCxnSpPr>
          <p:nvPr/>
        </p:nvCxnSpPr>
        <p:spPr>
          <a:xfrm flipH="1">
            <a:off x="1904111" y="3179489"/>
            <a:ext cx="946800" cy="100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1" name="Google Shape;3261;p150"/>
          <p:cNvCxnSpPr>
            <a:stCxn id="3241" idx="6"/>
            <a:endCxn id="3245" idx="2"/>
          </p:cNvCxnSpPr>
          <p:nvPr/>
        </p:nvCxnSpPr>
        <p:spPr>
          <a:xfrm>
            <a:off x="1965351" y="3035982"/>
            <a:ext cx="824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62" name="Google Shape;3262;p150"/>
          <p:cNvSpPr/>
          <p:nvPr/>
        </p:nvSpPr>
        <p:spPr>
          <a:xfrm>
            <a:off x="2136175" y="980050"/>
            <a:ext cx="3302400" cy="11442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In a weakly connected graph there is at least one pair of nodes that is mutually unreachable via strict paths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accent6"/>
        </a:solidFill>
      </p:bgPr>
    </p:bg>
    <p:spTree>
      <p:nvGrpSpPr>
        <p:cNvPr id="3266" name="Shape 3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7" name="Google Shape;3267;p151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Connectedness</a:t>
            </a:r>
            <a:endParaRPr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71" name="Shape 3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2" name="Google Shape;3272;p1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Connectedness</a:t>
            </a:r>
            <a:endParaRPr/>
          </a:p>
        </p:txBody>
      </p:sp>
      <p:sp>
        <p:nvSpPr>
          <p:cNvPr id="3273" name="Google Shape;3273;p152"/>
          <p:cNvSpPr txBox="1"/>
          <p:nvPr>
            <p:ph idx="1" type="body"/>
          </p:nvPr>
        </p:nvSpPr>
        <p:spPr>
          <a:xfrm>
            <a:off x="311700" y="1225225"/>
            <a:ext cx="53079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people can reach one another in a given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an ideal where everyone can reach everyone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connectedness (C)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given by the </a:t>
            </a:r>
            <a:r>
              <a:rPr b="1" lang="en"/>
              <a:t>density</a:t>
            </a:r>
            <a:r>
              <a:rPr lang="en"/>
              <a:t> of the directed graph’s </a:t>
            </a:r>
            <a:r>
              <a:rPr b="1" lang="en"/>
              <a:t>reachability matrix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matrix lingo: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cells containing a one divided by n(n-1) where n is the number of nodes</a:t>
            </a:r>
            <a:endParaRPr i="1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3274" name="Google Shape;3274;p152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75" name="Google Shape;3275;p152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76" name="Google Shape;3276;p152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77" name="Google Shape;3277;p152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78" name="Google Shape;3278;p152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79" name="Google Shape;3279;p152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280" name="Google Shape;3280;p152"/>
          <p:cNvCxnSpPr>
            <a:stCxn id="3274" idx="7"/>
            <a:endCxn id="3277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1" name="Google Shape;3281;p152"/>
          <p:cNvCxnSpPr>
            <a:stCxn id="3277" idx="3"/>
            <a:endCxn id="3275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2" name="Google Shape;3282;p152"/>
          <p:cNvCxnSpPr>
            <a:stCxn id="3279" idx="3"/>
            <a:endCxn id="3276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3" name="Google Shape;3283;p152"/>
          <p:cNvCxnSpPr>
            <a:stCxn id="3275" idx="4"/>
            <a:endCxn id="3278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4" name="Google Shape;3284;p152"/>
          <p:cNvCxnSpPr>
            <a:stCxn id="3274" idx="5"/>
            <a:endCxn id="3278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5" name="Google Shape;3285;p152"/>
          <p:cNvCxnSpPr>
            <a:stCxn id="3274" idx="6"/>
            <a:endCxn id="3275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6" name="Google Shape;3286;p152"/>
          <p:cNvCxnSpPr>
            <a:stCxn id="3276" idx="2"/>
            <a:endCxn id="3278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7" name="Google Shape;3287;p152"/>
          <p:cNvCxnSpPr>
            <a:stCxn id="3277" idx="5"/>
            <a:endCxn id="3279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8" name="Google Shape;3288;p152"/>
          <p:cNvCxnSpPr>
            <a:stCxn id="3275" idx="7"/>
            <a:endCxn id="3277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9" name="Google Shape;3289;p152"/>
          <p:cNvCxnSpPr>
            <a:stCxn id="3279" idx="3"/>
            <a:endCxn id="3278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0" name="Google Shape;3290;p152"/>
          <p:cNvCxnSpPr>
            <a:stCxn id="3275" idx="6"/>
            <a:endCxn id="3279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1" name="Google Shape;3291;p152"/>
          <p:cNvCxnSpPr>
            <a:stCxn id="3279" idx="5"/>
            <a:endCxn id="3276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3292" name="Google Shape;3292;p152"/>
          <p:cNvGraphicFramePr/>
          <p:nvPr/>
        </p:nvGraphicFramePr>
        <p:xfrm>
          <a:off x="5711963" y="24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96" name="Shape 3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" name="Google Shape;3297;p1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Connectedness</a:t>
            </a:r>
            <a:endParaRPr/>
          </a:p>
        </p:txBody>
      </p:sp>
      <p:sp>
        <p:nvSpPr>
          <p:cNvPr id="3298" name="Google Shape;3298;p153"/>
          <p:cNvSpPr txBox="1"/>
          <p:nvPr>
            <p:ph idx="1" type="body"/>
          </p:nvPr>
        </p:nvSpPr>
        <p:spPr>
          <a:xfrm>
            <a:off x="311700" y="1225225"/>
            <a:ext cx="53079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people can reach one another in a given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an ideal where everyone can reach everyone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connectedness (C)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given by the </a:t>
            </a:r>
            <a:r>
              <a:rPr b="1" lang="en"/>
              <a:t>density</a:t>
            </a:r>
            <a:r>
              <a:rPr lang="en"/>
              <a:t> of the directed graph’s </a:t>
            </a:r>
            <a:r>
              <a:rPr b="1" lang="en"/>
              <a:t>reachability matrix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matrix lingo: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cells containing a one divided by n(n-1) where n is the number of nodes</a:t>
            </a:r>
            <a:endParaRPr i="1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3299" name="Google Shape;3299;p153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00" name="Google Shape;3300;p153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01" name="Google Shape;3301;p153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02" name="Google Shape;3302;p153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03" name="Google Shape;3303;p153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04" name="Google Shape;3304;p153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305" name="Google Shape;3305;p153"/>
          <p:cNvCxnSpPr>
            <a:stCxn id="3299" idx="7"/>
            <a:endCxn id="3302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6" name="Google Shape;3306;p153"/>
          <p:cNvCxnSpPr>
            <a:stCxn id="3302" idx="3"/>
            <a:endCxn id="3300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7" name="Google Shape;3307;p153"/>
          <p:cNvCxnSpPr>
            <a:stCxn id="3304" idx="3"/>
            <a:endCxn id="3301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8" name="Google Shape;3308;p153"/>
          <p:cNvCxnSpPr>
            <a:stCxn id="3300" idx="4"/>
            <a:endCxn id="3303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9" name="Google Shape;3309;p153"/>
          <p:cNvCxnSpPr>
            <a:stCxn id="3299" idx="5"/>
            <a:endCxn id="3303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0" name="Google Shape;3310;p153"/>
          <p:cNvCxnSpPr>
            <a:stCxn id="3299" idx="6"/>
            <a:endCxn id="3300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1" name="Google Shape;3311;p153"/>
          <p:cNvCxnSpPr>
            <a:stCxn id="3301" idx="2"/>
            <a:endCxn id="3303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2" name="Google Shape;3312;p153"/>
          <p:cNvCxnSpPr>
            <a:stCxn id="3302" idx="5"/>
            <a:endCxn id="3304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3" name="Google Shape;3313;p153"/>
          <p:cNvCxnSpPr>
            <a:stCxn id="3300" idx="7"/>
            <a:endCxn id="3302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4" name="Google Shape;3314;p153"/>
          <p:cNvCxnSpPr>
            <a:stCxn id="3304" idx="3"/>
            <a:endCxn id="3303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5" name="Google Shape;3315;p153"/>
          <p:cNvCxnSpPr>
            <a:stCxn id="3300" idx="6"/>
            <a:endCxn id="3304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6" name="Google Shape;3316;p153"/>
          <p:cNvCxnSpPr>
            <a:stCxn id="3304" idx="5"/>
            <a:endCxn id="3301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3317" name="Google Shape;3317;p153"/>
          <p:cNvGraphicFramePr/>
          <p:nvPr/>
        </p:nvGraphicFramePr>
        <p:xfrm>
          <a:off x="5711963" y="24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21" name="Shape 3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2" name="Google Shape;3322;p1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Connectedness</a:t>
            </a:r>
            <a:endParaRPr/>
          </a:p>
        </p:txBody>
      </p:sp>
      <p:sp>
        <p:nvSpPr>
          <p:cNvPr id="3323" name="Google Shape;3323;p154"/>
          <p:cNvSpPr txBox="1"/>
          <p:nvPr>
            <p:ph idx="1" type="body"/>
          </p:nvPr>
        </p:nvSpPr>
        <p:spPr>
          <a:xfrm>
            <a:off x="311700" y="1225225"/>
            <a:ext cx="53079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people can reach one another in a given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an ideal where everyone can reach everyone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connectedness (C)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given by the </a:t>
            </a:r>
            <a:r>
              <a:rPr b="1" lang="en"/>
              <a:t>density</a:t>
            </a:r>
            <a:r>
              <a:rPr lang="en"/>
              <a:t> of the directed graph’s </a:t>
            </a:r>
            <a:r>
              <a:rPr b="1" lang="en"/>
              <a:t>reachability matrix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matrix lingo: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all cells: 17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n(n-1) = 6(6-1) = 6 X 5 = 30</a:t>
            </a:r>
            <a:endParaRPr/>
          </a:p>
        </p:txBody>
      </p:sp>
      <p:sp>
        <p:nvSpPr>
          <p:cNvPr id="3324" name="Google Shape;3324;p154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25" name="Google Shape;3325;p154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26" name="Google Shape;3326;p154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27" name="Google Shape;3327;p154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28" name="Google Shape;3328;p154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29" name="Google Shape;3329;p154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330" name="Google Shape;3330;p154"/>
          <p:cNvCxnSpPr>
            <a:stCxn id="3324" idx="7"/>
            <a:endCxn id="3327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1" name="Google Shape;3331;p154"/>
          <p:cNvCxnSpPr>
            <a:stCxn id="3327" idx="3"/>
            <a:endCxn id="3325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2" name="Google Shape;3332;p154"/>
          <p:cNvCxnSpPr>
            <a:stCxn id="3329" idx="3"/>
            <a:endCxn id="3326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3" name="Google Shape;3333;p154"/>
          <p:cNvCxnSpPr>
            <a:stCxn id="3325" idx="4"/>
            <a:endCxn id="3328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4" name="Google Shape;3334;p154"/>
          <p:cNvCxnSpPr>
            <a:stCxn id="3324" idx="5"/>
            <a:endCxn id="3328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5" name="Google Shape;3335;p154"/>
          <p:cNvCxnSpPr>
            <a:stCxn id="3324" idx="6"/>
            <a:endCxn id="3325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6" name="Google Shape;3336;p154"/>
          <p:cNvCxnSpPr>
            <a:stCxn id="3326" idx="2"/>
            <a:endCxn id="3328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7" name="Google Shape;3337;p154"/>
          <p:cNvCxnSpPr>
            <a:stCxn id="3327" idx="5"/>
            <a:endCxn id="3329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8" name="Google Shape;3338;p154"/>
          <p:cNvCxnSpPr>
            <a:stCxn id="3325" idx="7"/>
            <a:endCxn id="3327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9" name="Google Shape;3339;p154"/>
          <p:cNvCxnSpPr>
            <a:stCxn id="3329" idx="3"/>
            <a:endCxn id="3328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0" name="Google Shape;3340;p154"/>
          <p:cNvCxnSpPr>
            <a:stCxn id="3325" idx="6"/>
            <a:endCxn id="3329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1" name="Google Shape;3341;p154"/>
          <p:cNvCxnSpPr>
            <a:stCxn id="3329" idx="5"/>
            <a:endCxn id="3326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3342" name="Google Shape;3342;p154"/>
          <p:cNvGraphicFramePr/>
          <p:nvPr/>
        </p:nvGraphicFramePr>
        <p:xfrm>
          <a:off x="5711963" y="24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46" name="Shape 3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7" name="Google Shape;3347;p1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Connectedness</a:t>
            </a:r>
            <a:endParaRPr/>
          </a:p>
        </p:txBody>
      </p:sp>
      <p:sp>
        <p:nvSpPr>
          <p:cNvPr id="3348" name="Google Shape;3348;p155"/>
          <p:cNvSpPr txBox="1"/>
          <p:nvPr>
            <p:ph idx="1" type="body"/>
          </p:nvPr>
        </p:nvSpPr>
        <p:spPr>
          <a:xfrm>
            <a:off x="311700" y="1225225"/>
            <a:ext cx="53079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are interested in the extent to which people can reach one another in a given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extent to which the network approaches an ideal where everyone can reach everyone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graph connectedness (C)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given by the </a:t>
            </a:r>
            <a:r>
              <a:rPr b="1" lang="en"/>
              <a:t>density</a:t>
            </a:r>
            <a:r>
              <a:rPr lang="en"/>
              <a:t> of the directed graph’s </a:t>
            </a:r>
            <a:r>
              <a:rPr b="1" lang="en"/>
              <a:t>reachability matrix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matrix lingo: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all cells: 17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 = 17/30 = 0.56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3349" name="Google Shape;3349;p155"/>
          <p:cNvSpPr/>
          <p:nvPr/>
        </p:nvSpPr>
        <p:spPr>
          <a:xfrm>
            <a:off x="5907188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50" name="Google Shape;3350;p155"/>
          <p:cNvSpPr/>
          <p:nvPr/>
        </p:nvSpPr>
        <p:spPr>
          <a:xfrm>
            <a:off x="7130594" y="1060987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51" name="Google Shape;3351;p155"/>
          <p:cNvSpPr/>
          <p:nvPr/>
        </p:nvSpPr>
        <p:spPr>
          <a:xfrm>
            <a:off x="8526997" y="1972268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F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52" name="Google Shape;3352;p155"/>
          <p:cNvSpPr/>
          <p:nvPr/>
        </p:nvSpPr>
        <p:spPr>
          <a:xfrm>
            <a:off x="7130543" y="149413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53" name="Google Shape;3353;p155"/>
          <p:cNvSpPr/>
          <p:nvPr/>
        </p:nvSpPr>
        <p:spPr>
          <a:xfrm>
            <a:off x="7130531" y="1972555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54" name="Google Shape;3354;p155"/>
          <p:cNvSpPr/>
          <p:nvPr/>
        </p:nvSpPr>
        <p:spPr>
          <a:xfrm>
            <a:off x="8527066" y="1061159"/>
            <a:ext cx="351900" cy="34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b="1" sz="1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355" name="Google Shape;3355;p155"/>
          <p:cNvCxnSpPr>
            <a:stCxn id="3349" idx="7"/>
            <a:endCxn id="3352" idx="2"/>
          </p:cNvCxnSpPr>
          <p:nvPr/>
        </p:nvCxnSpPr>
        <p:spPr>
          <a:xfrm flipH="1" rot="10800000">
            <a:off x="6207553" y="319796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6" name="Google Shape;3356;p155"/>
          <p:cNvCxnSpPr>
            <a:stCxn id="3352" idx="3"/>
            <a:endCxn id="3350" idx="1"/>
          </p:cNvCxnSpPr>
          <p:nvPr/>
        </p:nvCxnSpPr>
        <p:spPr>
          <a:xfrm>
            <a:off x="7182077" y="440303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7" name="Google Shape;3357;p155"/>
          <p:cNvCxnSpPr>
            <a:stCxn id="3354" idx="3"/>
            <a:endCxn id="3351" idx="1"/>
          </p:cNvCxnSpPr>
          <p:nvPr/>
        </p:nvCxnSpPr>
        <p:spPr>
          <a:xfrm>
            <a:off x="857860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8" name="Google Shape;3358;p155"/>
          <p:cNvCxnSpPr>
            <a:stCxn id="3350" idx="4"/>
            <a:endCxn id="3353" idx="0"/>
          </p:cNvCxnSpPr>
          <p:nvPr/>
        </p:nvCxnSpPr>
        <p:spPr>
          <a:xfrm>
            <a:off x="7306544" y="1401787"/>
            <a:ext cx="0" cy="570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9" name="Google Shape;3359;p155"/>
          <p:cNvCxnSpPr>
            <a:stCxn id="3349" idx="5"/>
            <a:endCxn id="3353" idx="2"/>
          </p:cNvCxnSpPr>
          <p:nvPr/>
        </p:nvCxnSpPr>
        <p:spPr>
          <a:xfrm>
            <a:off x="6207553" y="1351878"/>
            <a:ext cx="923100" cy="7911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0" name="Google Shape;3360;p155"/>
          <p:cNvCxnSpPr>
            <a:stCxn id="3349" idx="6"/>
            <a:endCxn id="3350" idx="2"/>
          </p:cNvCxnSpPr>
          <p:nvPr/>
        </p:nvCxnSpPr>
        <p:spPr>
          <a:xfrm>
            <a:off x="6259088" y="1231387"/>
            <a:ext cx="8715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1" name="Google Shape;3361;p155"/>
          <p:cNvCxnSpPr>
            <a:stCxn id="3351" idx="2"/>
            <a:endCxn id="3353" idx="6"/>
          </p:cNvCxnSpPr>
          <p:nvPr/>
        </p:nvCxnSpPr>
        <p:spPr>
          <a:xfrm flipH="1">
            <a:off x="7482397" y="2142668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2" name="Google Shape;3362;p155"/>
          <p:cNvCxnSpPr>
            <a:stCxn id="3352" idx="5"/>
            <a:endCxn id="3354" idx="1"/>
          </p:cNvCxnSpPr>
          <p:nvPr/>
        </p:nvCxnSpPr>
        <p:spPr>
          <a:xfrm>
            <a:off x="7430908" y="440303"/>
            <a:ext cx="1147800" cy="670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3" name="Google Shape;3363;p155"/>
          <p:cNvCxnSpPr>
            <a:stCxn id="3350" idx="7"/>
            <a:endCxn id="3352" idx="5"/>
          </p:cNvCxnSpPr>
          <p:nvPr/>
        </p:nvCxnSpPr>
        <p:spPr>
          <a:xfrm rot="10800000">
            <a:off x="7430960" y="440396"/>
            <a:ext cx="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4" name="Google Shape;3364;p155"/>
          <p:cNvCxnSpPr>
            <a:stCxn id="3354" idx="3"/>
            <a:endCxn id="3353" idx="7"/>
          </p:cNvCxnSpPr>
          <p:nvPr/>
        </p:nvCxnSpPr>
        <p:spPr>
          <a:xfrm flipH="1">
            <a:off x="7430801" y="1352050"/>
            <a:ext cx="1147800" cy="670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5" name="Google Shape;3365;p155"/>
          <p:cNvCxnSpPr>
            <a:stCxn id="3350" idx="6"/>
            <a:endCxn id="3354" idx="2"/>
          </p:cNvCxnSpPr>
          <p:nvPr/>
        </p:nvCxnSpPr>
        <p:spPr>
          <a:xfrm>
            <a:off x="7482494" y="1231387"/>
            <a:ext cx="1044600" cy="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6" name="Google Shape;3366;p155"/>
          <p:cNvCxnSpPr>
            <a:stCxn id="3354" idx="5"/>
            <a:endCxn id="3351" idx="7"/>
          </p:cNvCxnSpPr>
          <p:nvPr/>
        </p:nvCxnSpPr>
        <p:spPr>
          <a:xfrm>
            <a:off x="8827431" y="1352050"/>
            <a:ext cx="0" cy="670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graphicFrame>
        <p:nvGraphicFramePr>
          <p:cNvPr id="3367" name="Google Shape;3367;p155"/>
          <p:cNvGraphicFramePr/>
          <p:nvPr/>
        </p:nvGraphicFramePr>
        <p:xfrm>
          <a:off x="5711963" y="24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55575"/>
                <a:gridCol w="455575"/>
                <a:gridCol w="455575"/>
                <a:gridCol w="455575"/>
                <a:gridCol w="455575"/>
                <a:gridCol w="455575"/>
                <a:gridCol w="45557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  <a:tr h="35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</a:tr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371" name="Shape 3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2" name="Google Shape;3372;p15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Geodesic Distance Matrix</a:t>
            </a:r>
            <a:endParaRPr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6" name="Shape 3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7" name="Google Shape;3377;p1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graphicFrame>
        <p:nvGraphicFramePr>
          <p:cNvPr id="3378" name="Google Shape;3378;p157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79" name="Google Shape;3379;p157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geodesic distance matrix</a:t>
            </a:r>
            <a:r>
              <a:rPr lang="en"/>
              <a:t> (D</a:t>
            </a:r>
            <a:r>
              <a:rPr baseline="30000" lang="en"/>
              <a:t>g</a:t>
            </a:r>
            <a:r>
              <a:rPr lang="en"/>
              <a:t>) of a directed graph records the </a:t>
            </a:r>
            <a:r>
              <a:rPr b="1" lang="en"/>
              <a:t>length of the shortest path</a:t>
            </a:r>
            <a:r>
              <a:rPr lang="en"/>
              <a:t> connecting each pair of nodes </a:t>
            </a:r>
            <a:endParaRPr/>
          </a:p>
        </p:txBody>
      </p:sp>
      <p:sp>
        <p:nvSpPr>
          <p:cNvPr id="3380" name="Google Shape;3380;p157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1" name="Google Shape;3381;p157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382" name="Google Shape;3382;p157"/>
          <p:cNvSpPr/>
          <p:nvPr/>
        </p:nvSpPr>
        <p:spPr>
          <a:xfrm>
            <a:off x="310896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383" name="Google Shape;3383;p157"/>
          <p:cNvSpPr/>
          <p:nvPr/>
        </p:nvSpPr>
        <p:spPr>
          <a:xfrm>
            <a:off x="1463881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84" name="Google Shape;3384;p157"/>
          <p:cNvCxnSpPr>
            <a:stCxn id="3382" idx="6"/>
            <a:endCxn id="3383" idx="2"/>
          </p:cNvCxnSpPr>
          <p:nvPr/>
        </p:nvCxnSpPr>
        <p:spPr>
          <a:xfrm>
            <a:off x="827796" y="3521733"/>
            <a:ext cx="6360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85" name="Google Shape;3385;p157"/>
          <p:cNvSpPr/>
          <p:nvPr/>
        </p:nvSpPr>
        <p:spPr>
          <a:xfrm>
            <a:off x="2457691" y="230428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386" name="Google Shape;3386;p157"/>
          <p:cNvSpPr/>
          <p:nvPr/>
        </p:nvSpPr>
        <p:spPr>
          <a:xfrm>
            <a:off x="2457691" y="4185985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387" name="Google Shape;3387;p157"/>
          <p:cNvSpPr/>
          <p:nvPr/>
        </p:nvSpPr>
        <p:spPr>
          <a:xfrm>
            <a:off x="3451501" y="329985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88" name="Google Shape;3388;p157"/>
          <p:cNvCxnSpPr>
            <a:stCxn id="3383" idx="7"/>
            <a:endCxn id="3385" idx="3"/>
          </p:cNvCxnSpPr>
          <p:nvPr/>
        </p:nvCxnSpPr>
        <p:spPr>
          <a:xfrm flipH="1" rot="10800000">
            <a:off x="1905082" y="2745969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9" name="Google Shape;3389;p157"/>
          <p:cNvCxnSpPr>
            <a:stCxn id="3387" idx="1"/>
            <a:endCxn id="3385" idx="5"/>
          </p:cNvCxnSpPr>
          <p:nvPr/>
        </p:nvCxnSpPr>
        <p:spPr>
          <a:xfrm rot="10800000">
            <a:off x="2898999" y="2745944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0" name="Google Shape;3390;p157"/>
          <p:cNvCxnSpPr>
            <a:stCxn id="3387" idx="3"/>
            <a:endCxn id="3386" idx="7"/>
          </p:cNvCxnSpPr>
          <p:nvPr/>
        </p:nvCxnSpPr>
        <p:spPr>
          <a:xfrm flipH="1">
            <a:off x="2898999" y="3741572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1" name="Google Shape;3391;p157"/>
          <p:cNvCxnSpPr>
            <a:stCxn id="3386" idx="1"/>
            <a:endCxn id="3383" idx="5"/>
          </p:cNvCxnSpPr>
          <p:nvPr/>
        </p:nvCxnSpPr>
        <p:spPr>
          <a:xfrm rot="10800000">
            <a:off x="1905189" y="3704671"/>
            <a:ext cx="628200" cy="557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2" name="Google Shape;3392;p157"/>
          <p:cNvCxnSpPr>
            <a:stCxn id="3386" idx="0"/>
            <a:endCxn id="3385" idx="4"/>
          </p:cNvCxnSpPr>
          <p:nvPr/>
        </p:nvCxnSpPr>
        <p:spPr>
          <a:xfrm rot="10800000">
            <a:off x="2716141" y="2821885"/>
            <a:ext cx="0" cy="1364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93" name="Google Shape;3393;p157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 Undirected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7" name="Shape 3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8" name="Google Shape;3398;p1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graphicFrame>
        <p:nvGraphicFramePr>
          <p:cNvPr id="3399" name="Google Shape;3399;p158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00" name="Google Shape;3400;p158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geodesic distance matrix</a:t>
            </a:r>
            <a:r>
              <a:rPr lang="en"/>
              <a:t> (D</a:t>
            </a:r>
            <a:r>
              <a:rPr baseline="30000" lang="en"/>
              <a:t>g</a:t>
            </a:r>
            <a:r>
              <a:rPr lang="en"/>
              <a:t>) of a directed graph records the </a:t>
            </a:r>
            <a:r>
              <a:rPr b="1" lang="en"/>
              <a:t>length of the shortest path</a:t>
            </a:r>
            <a:r>
              <a:rPr lang="en"/>
              <a:t> connecting each pair of nodes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shortest path between two nodes is also called a </a:t>
            </a:r>
            <a:r>
              <a:rPr b="1" lang="en"/>
              <a:t>geodesic</a:t>
            </a:r>
            <a:endParaRPr b="1"/>
          </a:p>
        </p:txBody>
      </p:sp>
      <p:sp>
        <p:nvSpPr>
          <p:cNvPr id="3401" name="Google Shape;3401;p158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2" name="Google Shape;3402;p158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403" name="Google Shape;3403;p158"/>
          <p:cNvSpPr/>
          <p:nvPr/>
        </p:nvSpPr>
        <p:spPr>
          <a:xfrm>
            <a:off x="310896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04" name="Google Shape;3404;p158"/>
          <p:cNvSpPr/>
          <p:nvPr/>
        </p:nvSpPr>
        <p:spPr>
          <a:xfrm>
            <a:off x="1463881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05" name="Google Shape;3405;p158"/>
          <p:cNvCxnSpPr>
            <a:stCxn id="3403" idx="6"/>
            <a:endCxn id="3404" idx="2"/>
          </p:cNvCxnSpPr>
          <p:nvPr/>
        </p:nvCxnSpPr>
        <p:spPr>
          <a:xfrm>
            <a:off x="827796" y="3521733"/>
            <a:ext cx="6360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6" name="Google Shape;3406;p158"/>
          <p:cNvSpPr/>
          <p:nvPr/>
        </p:nvSpPr>
        <p:spPr>
          <a:xfrm>
            <a:off x="2457691" y="230428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07" name="Google Shape;3407;p158"/>
          <p:cNvSpPr/>
          <p:nvPr/>
        </p:nvSpPr>
        <p:spPr>
          <a:xfrm>
            <a:off x="2457691" y="4185985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08" name="Google Shape;3408;p158"/>
          <p:cNvSpPr/>
          <p:nvPr/>
        </p:nvSpPr>
        <p:spPr>
          <a:xfrm>
            <a:off x="3451501" y="329985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09" name="Google Shape;3409;p158"/>
          <p:cNvCxnSpPr>
            <a:stCxn id="3404" idx="7"/>
            <a:endCxn id="3406" idx="3"/>
          </p:cNvCxnSpPr>
          <p:nvPr/>
        </p:nvCxnSpPr>
        <p:spPr>
          <a:xfrm flipH="1" rot="10800000">
            <a:off x="1905082" y="2745969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0" name="Google Shape;3410;p158"/>
          <p:cNvCxnSpPr>
            <a:stCxn id="3408" idx="1"/>
            <a:endCxn id="3406" idx="5"/>
          </p:cNvCxnSpPr>
          <p:nvPr/>
        </p:nvCxnSpPr>
        <p:spPr>
          <a:xfrm rot="10800000">
            <a:off x="2898999" y="2745944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1" name="Google Shape;3411;p158"/>
          <p:cNvCxnSpPr>
            <a:stCxn id="3408" idx="3"/>
            <a:endCxn id="3407" idx="7"/>
          </p:cNvCxnSpPr>
          <p:nvPr/>
        </p:nvCxnSpPr>
        <p:spPr>
          <a:xfrm flipH="1">
            <a:off x="2898999" y="3741572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2" name="Google Shape;3412;p158"/>
          <p:cNvCxnSpPr>
            <a:stCxn id="3407" idx="1"/>
            <a:endCxn id="3404" idx="5"/>
          </p:cNvCxnSpPr>
          <p:nvPr/>
        </p:nvCxnSpPr>
        <p:spPr>
          <a:xfrm rot="10800000">
            <a:off x="1905189" y="3704671"/>
            <a:ext cx="628200" cy="557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3" name="Google Shape;3413;p158"/>
          <p:cNvCxnSpPr>
            <a:stCxn id="3407" idx="0"/>
            <a:endCxn id="3406" idx="4"/>
          </p:cNvCxnSpPr>
          <p:nvPr/>
        </p:nvCxnSpPr>
        <p:spPr>
          <a:xfrm rot="10800000">
            <a:off x="2716141" y="2821885"/>
            <a:ext cx="0" cy="1364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4" name="Google Shape;3414;p158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 Undirected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8" name="Shape 3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9" name="Google Shape;3419;p1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graphicFrame>
        <p:nvGraphicFramePr>
          <p:cNvPr id="3420" name="Google Shape;3420;p159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21" name="Google Shape;3421;p159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geodesic distance matrix</a:t>
            </a:r>
            <a:r>
              <a:rPr lang="en"/>
              <a:t> (D</a:t>
            </a:r>
            <a:r>
              <a:rPr baseline="30000" lang="en"/>
              <a:t>g</a:t>
            </a:r>
            <a:r>
              <a:rPr lang="en"/>
              <a:t>) of a directed graph records the </a:t>
            </a:r>
            <a:r>
              <a:rPr b="1" lang="en"/>
              <a:t>length of the shortest path</a:t>
            </a:r>
            <a:r>
              <a:rPr lang="en"/>
              <a:t> connecting each pair of nodes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Adjacent nodes get a geodesic distance of 1.0! </a:t>
            </a:r>
            <a:endParaRPr/>
          </a:p>
        </p:txBody>
      </p:sp>
      <p:sp>
        <p:nvSpPr>
          <p:cNvPr id="3422" name="Google Shape;3422;p159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3" name="Google Shape;3423;p159"/>
          <p:cNvSpPr/>
          <p:nvPr/>
        </p:nvSpPr>
        <p:spPr>
          <a:xfrm>
            <a:off x="310896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24" name="Google Shape;3424;p159"/>
          <p:cNvSpPr/>
          <p:nvPr/>
        </p:nvSpPr>
        <p:spPr>
          <a:xfrm>
            <a:off x="1463881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25" name="Google Shape;3425;p159"/>
          <p:cNvCxnSpPr>
            <a:stCxn id="3423" idx="6"/>
            <a:endCxn id="3424" idx="2"/>
          </p:cNvCxnSpPr>
          <p:nvPr/>
        </p:nvCxnSpPr>
        <p:spPr>
          <a:xfrm>
            <a:off x="827796" y="3521733"/>
            <a:ext cx="6360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6" name="Google Shape;3426;p159"/>
          <p:cNvSpPr/>
          <p:nvPr/>
        </p:nvSpPr>
        <p:spPr>
          <a:xfrm>
            <a:off x="2457691" y="230428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27" name="Google Shape;3427;p159"/>
          <p:cNvSpPr/>
          <p:nvPr/>
        </p:nvSpPr>
        <p:spPr>
          <a:xfrm>
            <a:off x="2457691" y="4185985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28" name="Google Shape;3428;p159"/>
          <p:cNvSpPr/>
          <p:nvPr/>
        </p:nvSpPr>
        <p:spPr>
          <a:xfrm>
            <a:off x="3451501" y="329985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29" name="Google Shape;3429;p159"/>
          <p:cNvCxnSpPr>
            <a:stCxn id="3424" idx="7"/>
            <a:endCxn id="3426" idx="3"/>
          </p:cNvCxnSpPr>
          <p:nvPr/>
        </p:nvCxnSpPr>
        <p:spPr>
          <a:xfrm flipH="1" rot="10800000">
            <a:off x="1905082" y="2745969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0" name="Google Shape;3430;p159"/>
          <p:cNvCxnSpPr>
            <a:stCxn id="3428" idx="1"/>
            <a:endCxn id="3426" idx="5"/>
          </p:cNvCxnSpPr>
          <p:nvPr/>
        </p:nvCxnSpPr>
        <p:spPr>
          <a:xfrm rot="10800000">
            <a:off x="2898999" y="2745944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1" name="Google Shape;3431;p159"/>
          <p:cNvCxnSpPr>
            <a:stCxn id="3428" idx="3"/>
            <a:endCxn id="3427" idx="7"/>
          </p:cNvCxnSpPr>
          <p:nvPr/>
        </p:nvCxnSpPr>
        <p:spPr>
          <a:xfrm flipH="1">
            <a:off x="2898999" y="3741572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2" name="Google Shape;3432;p159"/>
          <p:cNvCxnSpPr>
            <a:stCxn id="3427" idx="1"/>
            <a:endCxn id="3424" idx="5"/>
          </p:cNvCxnSpPr>
          <p:nvPr/>
        </p:nvCxnSpPr>
        <p:spPr>
          <a:xfrm rot="10800000">
            <a:off x="1905189" y="3704671"/>
            <a:ext cx="628200" cy="557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3" name="Google Shape;3433;p159"/>
          <p:cNvCxnSpPr>
            <a:stCxn id="3427" idx="0"/>
            <a:endCxn id="3426" idx="4"/>
          </p:cNvCxnSpPr>
          <p:nvPr/>
        </p:nvCxnSpPr>
        <p:spPr>
          <a:xfrm rot="10800000">
            <a:off x="2716141" y="2821885"/>
            <a:ext cx="0" cy="1364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4" name="Google Shape;3434;p159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435" name="Google Shape;3435;p159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 Undirected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9" name="Shape 3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" name="Google Shape;3440;p1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graphicFrame>
        <p:nvGraphicFramePr>
          <p:cNvPr id="3441" name="Google Shape;3441;p160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42" name="Google Shape;3442;p160"/>
          <p:cNvSpPr txBox="1"/>
          <p:nvPr>
            <p:ph idx="1" type="body"/>
          </p:nvPr>
        </p:nvSpPr>
        <p:spPr>
          <a:xfrm>
            <a:off x="311700" y="1225750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geodesic distance matrix</a:t>
            </a:r>
            <a:r>
              <a:rPr lang="en"/>
              <a:t> (D</a:t>
            </a:r>
            <a:r>
              <a:rPr baseline="30000" lang="en"/>
              <a:t>g</a:t>
            </a:r>
            <a:r>
              <a:rPr lang="en"/>
              <a:t>) of a directed graph records the </a:t>
            </a:r>
            <a:r>
              <a:rPr b="1" lang="en"/>
              <a:t>length of the shortest path</a:t>
            </a:r>
            <a:r>
              <a:rPr lang="en"/>
              <a:t> connecting each pair of nodes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Non-adjacent nodes get the length of the shortest path connecting them! </a:t>
            </a:r>
            <a:endParaRPr/>
          </a:p>
        </p:txBody>
      </p:sp>
      <p:sp>
        <p:nvSpPr>
          <p:cNvPr id="3443" name="Google Shape;3443;p160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4" name="Google Shape;3444;p160"/>
          <p:cNvSpPr/>
          <p:nvPr/>
        </p:nvSpPr>
        <p:spPr>
          <a:xfrm>
            <a:off x="310896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45" name="Google Shape;3445;p160"/>
          <p:cNvSpPr/>
          <p:nvPr/>
        </p:nvSpPr>
        <p:spPr>
          <a:xfrm>
            <a:off x="1463881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46" name="Google Shape;3446;p160"/>
          <p:cNvCxnSpPr>
            <a:stCxn id="3444" idx="6"/>
            <a:endCxn id="3445" idx="2"/>
          </p:cNvCxnSpPr>
          <p:nvPr/>
        </p:nvCxnSpPr>
        <p:spPr>
          <a:xfrm>
            <a:off x="827796" y="3521733"/>
            <a:ext cx="6360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7" name="Google Shape;3447;p160"/>
          <p:cNvSpPr/>
          <p:nvPr/>
        </p:nvSpPr>
        <p:spPr>
          <a:xfrm>
            <a:off x="2457691" y="230428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48" name="Google Shape;3448;p160"/>
          <p:cNvSpPr/>
          <p:nvPr/>
        </p:nvSpPr>
        <p:spPr>
          <a:xfrm>
            <a:off x="2457691" y="4185985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49" name="Google Shape;3449;p160"/>
          <p:cNvSpPr/>
          <p:nvPr/>
        </p:nvSpPr>
        <p:spPr>
          <a:xfrm>
            <a:off x="3451501" y="329985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50" name="Google Shape;3450;p160"/>
          <p:cNvCxnSpPr>
            <a:stCxn id="3445" idx="7"/>
            <a:endCxn id="3447" idx="3"/>
          </p:cNvCxnSpPr>
          <p:nvPr/>
        </p:nvCxnSpPr>
        <p:spPr>
          <a:xfrm flipH="1" rot="10800000">
            <a:off x="1905082" y="2745969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1" name="Google Shape;3451;p160"/>
          <p:cNvCxnSpPr>
            <a:stCxn id="3449" idx="1"/>
            <a:endCxn id="3447" idx="5"/>
          </p:cNvCxnSpPr>
          <p:nvPr/>
        </p:nvCxnSpPr>
        <p:spPr>
          <a:xfrm rot="10800000">
            <a:off x="2898999" y="2745944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2" name="Google Shape;3452;p160"/>
          <p:cNvCxnSpPr>
            <a:stCxn id="3449" idx="3"/>
            <a:endCxn id="3448" idx="7"/>
          </p:cNvCxnSpPr>
          <p:nvPr/>
        </p:nvCxnSpPr>
        <p:spPr>
          <a:xfrm flipH="1">
            <a:off x="2898999" y="3741572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3" name="Google Shape;3453;p160"/>
          <p:cNvCxnSpPr>
            <a:stCxn id="3448" idx="1"/>
            <a:endCxn id="3445" idx="5"/>
          </p:cNvCxnSpPr>
          <p:nvPr/>
        </p:nvCxnSpPr>
        <p:spPr>
          <a:xfrm rot="10800000">
            <a:off x="1905189" y="3704671"/>
            <a:ext cx="628200" cy="557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4" name="Google Shape;3454;p160"/>
          <p:cNvCxnSpPr>
            <a:stCxn id="3448" idx="0"/>
            <a:endCxn id="3447" idx="4"/>
          </p:cNvCxnSpPr>
          <p:nvPr/>
        </p:nvCxnSpPr>
        <p:spPr>
          <a:xfrm rot="10800000">
            <a:off x="2716141" y="2821885"/>
            <a:ext cx="0" cy="1364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55" name="Google Shape;3455;p160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456" name="Google Shape;3456;p160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 Undirected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0" name="Shape 3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" name="Google Shape;3461;p1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graphicFrame>
        <p:nvGraphicFramePr>
          <p:cNvPr id="3462" name="Google Shape;3462;p161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63" name="Google Shape;3463;p161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geodesic distance matrix</a:t>
            </a:r>
            <a:r>
              <a:rPr lang="en"/>
              <a:t> (D</a:t>
            </a:r>
            <a:r>
              <a:rPr baseline="30000" lang="en"/>
              <a:t>g</a:t>
            </a:r>
            <a:r>
              <a:rPr lang="en"/>
              <a:t>) of a directed graph records the </a:t>
            </a:r>
            <a:r>
              <a:rPr b="1" lang="en"/>
              <a:t>length of the shortest path</a:t>
            </a:r>
            <a:r>
              <a:rPr lang="en"/>
              <a:t> connecting each pair of nodes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Non-adjacent nodes get the length of the shortest path connecting them! 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4" name="Google Shape;3464;p161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5" name="Google Shape;3465;p161"/>
          <p:cNvSpPr/>
          <p:nvPr/>
        </p:nvSpPr>
        <p:spPr>
          <a:xfrm>
            <a:off x="310896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66" name="Google Shape;3466;p161"/>
          <p:cNvSpPr/>
          <p:nvPr/>
        </p:nvSpPr>
        <p:spPr>
          <a:xfrm>
            <a:off x="1463881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67" name="Google Shape;3467;p161"/>
          <p:cNvCxnSpPr>
            <a:stCxn id="3465" idx="6"/>
            <a:endCxn id="3466" idx="2"/>
          </p:cNvCxnSpPr>
          <p:nvPr/>
        </p:nvCxnSpPr>
        <p:spPr>
          <a:xfrm>
            <a:off x="827796" y="3521733"/>
            <a:ext cx="6360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8" name="Google Shape;3468;p161"/>
          <p:cNvSpPr/>
          <p:nvPr/>
        </p:nvSpPr>
        <p:spPr>
          <a:xfrm>
            <a:off x="2457691" y="230428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69" name="Google Shape;3469;p161"/>
          <p:cNvSpPr/>
          <p:nvPr/>
        </p:nvSpPr>
        <p:spPr>
          <a:xfrm>
            <a:off x="2457691" y="4185985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70" name="Google Shape;3470;p161"/>
          <p:cNvSpPr/>
          <p:nvPr/>
        </p:nvSpPr>
        <p:spPr>
          <a:xfrm>
            <a:off x="3451501" y="329985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71" name="Google Shape;3471;p161"/>
          <p:cNvCxnSpPr>
            <a:stCxn id="3466" idx="7"/>
            <a:endCxn id="3468" idx="3"/>
          </p:cNvCxnSpPr>
          <p:nvPr/>
        </p:nvCxnSpPr>
        <p:spPr>
          <a:xfrm flipH="1" rot="10800000">
            <a:off x="1905082" y="2745969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2" name="Google Shape;3472;p161"/>
          <p:cNvCxnSpPr>
            <a:stCxn id="3470" idx="1"/>
            <a:endCxn id="3468" idx="5"/>
          </p:cNvCxnSpPr>
          <p:nvPr/>
        </p:nvCxnSpPr>
        <p:spPr>
          <a:xfrm rot="10800000">
            <a:off x="2898999" y="2745944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3" name="Google Shape;3473;p161"/>
          <p:cNvCxnSpPr>
            <a:stCxn id="3470" idx="3"/>
            <a:endCxn id="3469" idx="7"/>
          </p:cNvCxnSpPr>
          <p:nvPr/>
        </p:nvCxnSpPr>
        <p:spPr>
          <a:xfrm flipH="1">
            <a:off x="2898999" y="3741572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4" name="Google Shape;3474;p161"/>
          <p:cNvCxnSpPr>
            <a:stCxn id="3469" idx="1"/>
            <a:endCxn id="3466" idx="5"/>
          </p:cNvCxnSpPr>
          <p:nvPr/>
        </p:nvCxnSpPr>
        <p:spPr>
          <a:xfrm rot="10800000">
            <a:off x="1905189" y="3704671"/>
            <a:ext cx="628200" cy="557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5" name="Google Shape;3475;p161"/>
          <p:cNvCxnSpPr>
            <a:stCxn id="3469" idx="0"/>
            <a:endCxn id="3468" idx="4"/>
          </p:cNvCxnSpPr>
          <p:nvPr/>
        </p:nvCxnSpPr>
        <p:spPr>
          <a:xfrm rot="10800000">
            <a:off x="2716141" y="2821885"/>
            <a:ext cx="0" cy="1364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6" name="Google Shape;3476;p161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477" name="Google Shape;3477;p161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 Undirected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1" name="Shape 3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" name="Google Shape;3482;p1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graphicFrame>
        <p:nvGraphicFramePr>
          <p:cNvPr id="3483" name="Google Shape;3483;p162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45050"/>
                <a:gridCol w="3828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84" name="Google Shape;3484;p162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geodesic distance matrix</a:t>
            </a:r>
            <a:r>
              <a:rPr lang="en"/>
              <a:t> (D</a:t>
            </a:r>
            <a:r>
              <a:rPr baseline="30000" lang="en"/>
              <a:t>g</a:t>
            </a:r>
            <a:r>
              <a:rPr lang="en"/>
              <a:t>) of a directed graph records the </a:t>
            </a:r>
            <a:r>
              <a:rPr b="1" lang="en"/>
              <a:t>length of the shortest path</a:t>
            </a:r>
            <a:r>
              <a:rPr lang="en"/>
              <a:t> connecting each pair of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so on for each pair!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5" name="Google Shape;3485;p162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6" name="Google Shape;3486;p162"/>
          <p:cNvSpPr/>
          <p:nvPr/>
        </p:nvSpPr>
        <p:spPr>
          <a:xfrm>
            <a:off x="310896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87" name="Google Shape;3487;p162"/>
          <p:cNvSpPr/>
          <p:nvPr/>
        </p:nvSpPr>
        <p:spPr>
          <a:xfrm>
            <a:off x="1463881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88" name="Google Shape;3488;p162"/>
          <p:cNvCxnSpPr>
            <a:stCxn id="3486" idx="6"/>
            <a:endCxn id="3487" idx="2"/>
          </p:cNvCxnSpPr>
          <p:nvPr/>
        </p:nvCxnSpPr>
        <p:spPr>
          <a:xfrm>
            <a:off x="827796" y="3521733"/>
            <a:ext cx="636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89" name="Google Shape;3489;p162"/>
          <p:cNvSpPr/>
          <p:nvPr/>
        </p:nvSpPr>
        <p:spPr>
          <a:xfrm>
            <a:off x="2457691" y="230428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90" name="Google Shape;3490;p162"/>
          <p:cNvSpPr/>
          <p:nvPr/>
        </p:nvSpPr>
        <p:spPr>
          <a:xfrm>
            <a:off x="2457691" y="4185985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91" name="Google Shape;3491;p162"/>
          <p:cNvSpPr/>
          <p:nvPr/>
        </p:nvSpPr>
        <p:spPr>
          <a:xfrm>
            <a:off x="3451501" y="329985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92" name="Google Shape;3492;p162"/>
          <p:cNvCxnSpPr>
            <a:stCxn id="3487" idx="7"/>
            <a:endCxn id="3489" idx="3"/>
          </p:cNvCxnSpPr>
          <p:nvPr/>
        </p:nvCxnSpPr>
        <p:spPr>
          <a:xfrm flipH="1" rot="10800000">
            <a:off x="1905082" y="2745969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3" name="Google Shape;3493;p162"/>
          <p:cNvCxnSpPr>
            <a:stCxn id="3491" idx="1"/>
            <a:endCxn id="3489" idx="5"/>
          </p:cNvCxnSpPr>
          <p:nvPr/>
        </p:nvCxnSpPr>
        <p:spPr>
          <a:xfrm rot="10800000">
            <a:off x="2898999" y="2745944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4" name="Google Shape;3494;p162"/>
          <p:cNvCxnSpPr>
            <a:stCxn id="3491" idx="3"/>
            <a:endCxn id="3490" idx="7"/>
          </p:cNvCxnSpPr>
          <p:nvPr/>
        </p:nvCxnSpPr>
        <p:spPr>
          <a:xfrm flipH="1">
            <a:off x="2898999" y="3741572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5" name="Google Shape;3495;p162"/>
          <p:cNvCxnSpPr>
            <a:stCxn id="3490" idx="1"/>
            <a:endCxn id="3487" idx="5"/>
          </p:cNvCxnSpPr>
          <p:nvPr/>
        </p:nvCxnSpPr>
        <p:spPr>
          <a:xfrm rot="10800000">
            <a:off x="1905189" y="3704671"/>
            <a:ext cx="628200" cy="557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6" name="Google Shape;3496;p162"/>
          <p:cNvCxnSpPr>
            <a:stCxn id="3490" idx="0"/>
            <a:endCxn id="3489" idx="4"/>
          </p:cNvCxnSpPr>
          <p:nvPr/>
        </p:nvCxnSpPr>
        <p:spPr>
          <a:xfrm rot="10800000">
            <a:off x="2716141" y="2821885"/>
            <a:ext cx="0" cy="1364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7" name="Google Shape;3497;p162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498" name="Google Shape;3498;p162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 Undirected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2" name="Shape 3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3" name="Google Shape;3503;p1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graphicFrame>
        <p:nvGraphicFramePr>
          <p:cNvPr id="3504" name="Google Shape;3504;p163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45050"/>
                <a:gridCol w="3828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05" name="Google Shape;3505;p163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geodesic distance matrix</a:t>
            </a:r>
            <a:r>
              <a:rPr lang="en"/>
              <a:t> (D</a:t>
            </a:r>
            <a:r>
              <a:rPr baseline="30000" lang="en"/>
              <a:t>g</a:t>
            </a:r>
            <a:r>
              <a:rPr lang="en"/>
              <a:t>) of a directed graph records the </a:t>
            </a:r>
            <a:r>
              <a:rPr b="1" lang="en"/>
              <a:t>length of the shortest path</a:t>
            </a:r>
            <a:r>
              <a:rPr lang="en"/>
              <a:t> connecting each pair of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an undirected graph the geodesic distance matrix is </a:t>
            </a:r>
            <a:r>
              <a:rPr b="1" lang="en"/>
              <a:t>symmetric</a:t>
            </a:r>
            <a:r>
              <a:rPr lang="en"/>
              <a:t>!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6" name="Google Shape;3506;p163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7" name="Google Shape;3507;p163"/>
          <p:cNvSpPr/>
          <p:nvPr/>
        </p:nvSpPr>
        <p:spPr>
          <a:xfrm>
            <a:off x="310896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08" name="Google Shape;3508;p163"/>
          <p:cNvSpPr/>
          <p:nvPr/>
        </p:nvSpPr>
        <p:spPr>
          <a:xfrm>
            <a:off x="1463881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09" name="Google Shape;3509;p163"/>
          <p:cNvCxnSpPr>
            <a:stCxn id="3507" idx="6"/>
            <a:endCxn id="3508" idx="2"/>
          </p:cNvCxnSpPr>
          <p:nvPr/>
        </p:nvCxnSpPr>
        <p:spPr>
          <a:xfrm>
            <a:off x="827796" y="3521733"/>
            <a:ext cx="636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0" name="Google Shape;3510;p163"/>
          <p:cNvSpPr/>
          <p:nvPr/>
        </p:nvSpPr>
        <p:spPr>
          <a:xfrm>
            <a:off x="2457691" y="230428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11" name="Google Shape;3511;p163"/>
          <p:cNvSpPr/>
          <p:nvPr/>
        </p:nvSpPr>
        <p:spPr>
          <a:xfrm>
            <a:off x="2457691" y="4185985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12" name="Google Shape;3512;p163"/>
          <p:cNvSpPr/>
          <p:nvPr/>
        </p:nvSpPr>
        <p:spPr>
          <a:xfrm>
            <a:off x="3451501" y="329985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13" name="Google Shape;3513;p163"/>
          <p:cNvCxnSpPr>
            <a:stCxn id="3508" idx="7"/>
            <a:endCxn id="3510" idx="3"/>
          </p:cNvCxnSpPr>
          <p:nvPr/>
        </p:nvCxnSpPr>
        <p:spPr>
          <a:xfrm flipH="1" rot="10800000">
            <a:off x="1905082" y="2745969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4" name="Google Shape;3514;p163"/>
          <p:cNvCxnSpPr>
            <a:stCxn id="3512" idx="1"/>
            <a:endCxn id="3510" idx="5"/>
          </p:cNvCxnSpPr>
          <p:nvPr/>
        </p:nvCxnSpPr>
        <p:spPr>
          <a:xfrm rot="10800000">
            <a:off x="2898999" y="2745944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5" name="Google Shape;3515;p163"/>
          <p:cNvCxnSpPr>
            <a:stCxn id="3512" idx="3"/>
            <a:endCxn id="3511" idx="7"/>
          </p:cNvCxnSpPr>
          <p:nvPr/>
        </p:nvCxnSpPr>
        <p:spPr>
          <a:xfrm flipH="1">
            <a:off x="2898999" y="3741572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6" name="Google Shape;3516;p163"/>
          <p:cNvCxnSpPr>
            <a:stCxn id="3511" idx="1"/>
            <a:endCxn id="3508" idx="5"/>
          </p:cNvCxnSpPr>
          <p:nvPr/>
        </p:nvCxnSpPr>
        <p:spPr>
          <a:xfrm rot="10800000">
            <a:off x="1905189" y="3704671"/>
            <a:ext cx="628200" cy="557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7" name="Google Shape;3517;p163"/>
          <p:cNvCxnSpPr>
            <a:stCxn id="3511" idx="0"/>
            <a:endCxn id="3510" idx="4"/>
          </p:cNvCxnSpPr>
          <p:nvPr/>
        </p:nvCxnSpPr>
        <p:spPr>
          <a:xfrm rot="10800000">
            <a:off x="2716141" y="2821885"/>
            <a:ext cx="0" cy="1364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8" name="Google Shape;3518;p163"/>
          <p:cNvCxnSpPr/>
          <p:nvPr/>
        </p:nvCxnSpPr>
        <p:spPr>
          <a:xfrm>
            <a:off x="6239775" y="2516600"/>
            <a:ext cx="2461500" cy="2330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9" name="Google Shape;3519;p163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520" name="Google Shape;3520;p163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 Undirected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4" name="Shape 3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5" name="Google Shape;3525;p1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graphicFrame>
        <p:nvGraphicFramePr>
          <p:cNvPr id="3526" name="Google Shape;3526;p164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45050"/>
                <a:gridCol w="3828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27" name="Google Shape;3527;p164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eccentricity </a:t>
            </a:r>
            <a:r>
              <a:rPr lang="en"/>
              <a:t>of a node is the </a:t>
            </a:r>
            <a:r>
              <a:rPr b="1" lang="en"/>
              <a:t>maximum distance</a:t>
            </a:r>
            <a:r>
              <a:rPr lang="en"/>
              <a:t> between that node and the other nodes in the graph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8" name="Google Shape;3528;p164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9" name="Google Shape;3529;p164"/>
          <p:cNvSpPr/>
          <p:nvPr/>
        </p:nvSpPr>
        <p:spPr>
          <a:xfrm>
            <a:off x="310896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30" name="Google Shape;3530;p164"/>
          <p:cNvSpPr/>
          <p:nvPr/>
        </p:nvSpPr>
        <p:spPr>
          <a:xfrm>
            <a:off x="1463881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31" name="Google Shape;3531;p164"/>
          <p:cNvCxnSpPr>
            <a:stCxn id="3529" idx="6"/>
            <a:endCxn id="3530" idx="2"/>
          </p:cNvCxnSpPr>
          <p:nvPr/>
        </p:nvCxnSpPr>
        <p:spPr>
          <a:xfrm>
            <a:off x="827796" y="3521733"/>
            <a:ext cx="636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32" name="Google Shape;3532;p164"/>
          <p:cNvSpPr/>
          <p:nvPr/>
        </p:nvSpPr>
        <p:spPr>
          <a:xfrm>
            <a:off x="2457691" y="230428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33" name="Google Shape;3533;p164"/>
          <p:cNvSpPr/>
          <p:nvPr/>
        </p:nvSpPr>
        <p:spPr>
          <a:xfrm>
            <a:off x="2457691" y="4185985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34" name="Google Shape;3534;p164"/>
          <p:cNvSpPr/>
          <p:nvPr/>
        </p:nvSpPr>
        <p:spPr>
          <a:xfrm>
            <a:off x="3451501" y="329985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35" name="Google Shape;3535;p164"/>
          <p:cNvCxnSpPr>
            <a:stCxn id="3530" idx="7"/>
            <a:endCxn id="3532" idx="3"/>
          </p:cNvCxnSpPr>
          <p:nvPr/>
        </p:nvCxnSpPr>
        <p:spPr>
          <a:xfrm flipH="1" rot="10800000">
            <a:off x="1905082" y="2745969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6" name="Google Shape;3536;p164"/>
          <p:cNvCxnSpPr>
            <a:stCxn id="3534" idx="1"/>
            <a:endCxn id="3532" idx="5"/>
          </p:cNvCxnSpPr>
          <p:nvPr/>
        </p:nvCxnSpPr>
        <p:spPr>
          <a:xfrm rot="10800000">
            <a:off x="2898999" y="2745944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7" name="Google Shape;3537;p164"/>
          <p:cNvCxnSpPr>
            <a:stCxn id="3534" idx="3"/>
            <a:endCxn id="3533" idx="7"/>
          </p:cNvCxnSpPr>
          <p:nvPr/>
        </p:nvCxnSpPr>
        <p:spPr>
          <a:xfrm flipH="1">
            <a:off x="2898999" y="3741572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8" name="Google Shape;3538;p164"/>
          <p:cNvCxnSpPr>
            <a:stCxn id="3533" idx="1"/>
            <a:endCxn id="3530" idx="5"/>
          </p:cNvCxnSpPr>
          <p:nvPr/>
        </p:nvCxnSpPr>
        <p:spPr>
          <a:xfrm rot="10800000">
            <a:off x="1905189" y="3704671"/>
            <a:ext cx="628200" cy="557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9" name="Google Shape;3539;p164"/>
          <p:cNvCxnSpPr>
            <a:stCxn id="3533" idx="0"/>
            <a:endCxn id="3532" idx="4"/>
          </p:cNvCxnSpPr>
          <p:nvPr/>
        </p:nvCxnSpPr>
        <p:spPr>
          <a:xfrm rot="10800000">
            <a:off x="2716141" y="2821885"/>
            <a:ext cx="0" cy="1364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0" name="Google Shape;3540;p164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541" name="Google Shape;3541;p164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 Undirected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5" name="Shape 3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6" name="Google Shape;3546;p1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graphicFrame>
        <p:nvGraphicFramePr>
          <p:cNvPr id="3547" name="Google Shape;3547;p165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45050"/>
                <a:gridCol w="3828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48" name="Google Shape;3548;p165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eccentricity </a:t>
            </a:r>
            <a:r>
              <a:rPr lang="en"/>
              <a:t>of a node is the </a:t>
            </a:r>
            <a:r>
              <a:rPr b="1" lang="en"/>
              <a:t>maximum distance</a:t>
            </a:r>
            <a:r>
              <a:rPr lang="en"/>
              <a:t> between that node and the other nodes in the graph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9" name="Google Shape;3549;p165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0" name="Google Shape;3550;p165"/>
          <p:cNvSpPr/>
          <p:nvPr/>
        </p:nvSpPr>
        <p:spPr>
          <a:xfrm>
            <a:off x="310896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51" name="Google Shape;3551;p165"/>
          <p:cNvSpPr/>
          <p:nvPr/>
        </p:nvSpPr>
        <p:spPr>
          <a:xfrm>
            <a:off x="1463881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52" name="Google Shape;3552;p165"/>
          <p:cNvCxnSpPr>
            <a:stCxn id="3550" idx="6"/>
            <a:endCxn id="3551" idx="2"/>
          </p:cNvCxnSpPr>
          <p:nvPr/>
        </p:nvCxnSpPr>
        <p:spPr>
          <a:xfrm>
            <a:off x="827796" y="3521733"/>
            <a:ext cx="636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3" name="Google Shape;3553;p165"/>
          <p:cNvSpPr/>
          <p:nvPr/>
        </p:nvSpPr>
        <p:spPr>
          <a:xfrm>
            <a:off x="2457691" y="230428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54" name="Google Shape;3554;p165"/>
          <p:cNvSpPr/>
          <p:nvPr/>
        </p:nvSpPr>
        <p:spPr>
          <a:xfrm>
            <a:off x="2457691" y="4185985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55" name="Google Shape;3555;p165"/>
          <p:cNvSpPr/>
          <p:nvPr/>
        </p:nvSpPr>
        <p:spPr>
          <a:xfrm>
            <a:off x="3451501" y="329985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56" name="Google Shape;3556;p165"/>
          <p:cNvCxnSpPr>
            <a:stCxn id="3551" idx="7"/>
            <a:endCxn id="3553" idx="3"/>
          </p:cNvCxnSpPr>
          <p:nvPr/>
        </p:nvCxnSpPr>
        <p:spPr>
          <a:xfrm flipH="1" rot="10800000">
            <a:off x="1905082" y="2745969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7" name="Google Shape;3557;p165"/>
          <p:cNvCxnSpPr>
            <a:stCxn id="3555" idx="1"/>
            <a:endCxn id="3553" idx="5"/>
          </p:cNvCxnSpPr>
          <p:nvPr/>
        </p:nvCxnSpPr>
        <p:spPr>
          <a:xfrm rot="10800000">
            <a:off x="2898999" y="2745944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8" name="Google Shape;3558;p165"/>
          <p:cNvCxnSpPr>
            <a:stCxn id="3555" idx="3"/>
            <a:endCxn id="3554" idx="7"/>
          </p:cNvCxnSpPr>
          <p:nvPr/>
        </p:nvCxnSpPr>
        <p:spPr>
          <a:xfrm flipH="1">
            <a:off x="2898999" y="3741572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9" name="Google Shape;3559;p165"/>
          <p:cNvCxnSpPr>
            <a:stCxn id="3554" idx="1"/>
            <a:endCxn id="3551" idx="5"/>
          </p:cNvCxnSpPr>
          <p:nvPr/>
        </p:nvCxnSpPr>
        <p:spPr>
          <a:xfrm rot="10800000">
            <a:off x="1905189" y="3704671"/>
            <a:ext cx="628200" cy="557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0" name="Google Shape;3560;p165"/>
          <p:cNvCxnSpPr>
            <a:stCxn id="3554" idx="0"/>
            <a:endCxn id="3553" idx="4"/>
          </p:cNvCxnSpPr>
          <p:nvPr/>
        </p:nvCxnSpPr>
        <p:spPr>
          <a:xfrm rot="10800000">
            <a:off x="2716141" y="2821885"/>
            <a:ext cx="0" cy="1364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1" name="Google Shape;3561;p165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562" name="Google Shape;3562;p165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 Undirected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563" name="Google Shape;3563;p165"/>
          <p:cNvSpPr txBox="1"/>
          <p:nvPr/>
        </p:nvSpPr>
        <p:spPr>
          <a:xfrm>
            <a:off x="2562850" y="2025850"/>
            <a:ext cx="3066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64" name="Google Shape;3564;p165"/>
          <p:cNvSpPr txBox="1"/>
          <p:nvPr/>
        </p:nvSpPr>
        <p:spPr>
          <a:xfrm>
            <a:off x="3556650" y="2991825"/>
            <a:ext cx="3066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65" name="Google Shape;3565;p165"/>
          <p:cNvSpPr txBox="1"/>
          <p:nvPr/>
        </p:nvSpPr>
        <p:spPr>
          <a:xfrm>
            <a:off x="1537200" y="2943650"/>
            <a:ext cx="3066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66" name="Google Shape;3566;p165"/>
          <p:cNvSpPr txBox="1"/>
          <p:nvPr/>
        </p:nvSpPr>
        <p:spPr>
          <a:xfrm>
            <a:off x="416050" y="2991825"/>
            <a:ext cx="3066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67" name="Google Shape;3567;p165"/>
          <p:cNvSpPr txBox="1"/>
          <p:nvPr/>
        </p:nvSpPr>
        <p:spPr>
          <a:xfrm>
            <a:off x="3059800" y="4327575"/>
            <a:ext cx="3066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1" name="Shape 3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2" name="Google Shape;3572;p16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graphicFrame>
        <p:nvGraphicFramePr>
          <p:cNvPr id="3573" name="Google Shape;3573;p166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45050"/>
                <a:gridCol w="3828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74" name="Google Shape;3574;p166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diameter </a:t>
            </a:r>
            <a:r>
              <a:rPr lang="en"/>
              <a:t>of a graph (d) is the maximum geodesic distance for all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 = 3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5" name="Google Shape;3575;p166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6" name="Google Shape;3576;p166"/>
          <p:cNvSpPr/>
          <p:nvPr/>
        </p:nvSpPr>
        <p:spPr>
          <a:xfrm>
            <a:off x="310896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77" name="Google Shape;3577;p166"/>
          <p:cNvSpPr/>
          <p:nvPr/>
        </p:nvSpPr>
        <p:spPr>
          <a:xfrm>
            <a:off x="1463881" y="3262983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78" name="Google Shape;3578;p166"/>
          <p:cNvCxnSpPr>
            <a:stCxn id="3576" idx="6"/>
            <a:endCxn id="3577" idx="2"/>
          </p:cNvCxnSpPr>
          <p:nvPr/>
        </p:nvCxnSpPr>
        <p:spPr>
          <a:xfrm>
            <a:off x="827796" y="3521733"/>
            <a:ext cx="636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79" name="Google Shape;3579;p166"/>
          <p:cNvSpPr/>
          <p:nvPr/>
        </p:nvSpPr>
        <p:spPr>
          <a:xfrm>
            <a:off x="2457691" y="230428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80" name="Google Shape;3580;p166"/>
          <p:cNvSpPr/>
          <p:nvPr/>
        </p:nvSpPr>
        <p:spPr>
          <a:xfrm>
            <a:off x="2457691" y="4185985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81" name="Google Shape;3581;p166"/>
          <p:cNvSpPr/>
          <p:nvPr/>
        </p:nvSpPr>
        <p:spPr>
          <a:xfrm>
            <a:off x="3451501" y="3299858"/>
            <a:ext cx="516900" cy="5175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82" name="Google Shape;3582;p166"/>
          <p:cNvCxnSpPr>
            <a:stCxn id="3577" idx="7"/>
            <a:endCxn id="3579" idx="3"/>
          </p:cNvCxnSpPr>
          <p:nvPr/>
        </p:nvCxnSpPr>
        <p:spPr>
          <a:xfrm flipH="1" rot="10800000">
            <a:off x="1905082" y="2745969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3" name="Google Shape;3583;p166"/>
          <p:cNvCxnSpPr>
            <a:stCxn id="3581" idx="1"/>
            <a:endCxn id="3579" idx="5"/>
          </p:cNvCxnSpPr>
          <p:nvPr/>
        </p:nvCxnSpPr>
        <p:spPr>
          <a:xfrm rot="10800000">
            <a:off x="2898999" y="2745944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4" name="Google Shape;3584;p166"/>
          <p:cNvCxnSpPr>
            <a:stCxn id="3581" idx="3"/>
            <a:endCxn id="3580" idx="7"/>
          </p:cNvCxnSpPr>
          <p:nvPr/>
        </p:nvCxnSpPr>
        <p:spPr>
          <a:xfrm flipH="1">
            <a:off x="2898999" y="3741572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5" name="Google Shape;3585;p166"/>
          <p:cNvCxnSpPr>
            <a:stCxn id="3580" idx="1"/>
            <a:endCxn id="3577" idx="5"/>
          </p:cNvCxnSpPr>
          <p:nvPr/>
        </p:nvCxnSpPr>
        <p:spPr>
          <a:xfrm rot="10800000">
            <a:off x="1905189" y="3704671"/>
            <a:ext cx="628200" cy="557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6" name="Google Shape;3586;p166"/>
          <p:cNvCxnSpPr>
            <a:stCxn id="3580" idx="0"/>
            <a:endCxn id="3579" idx="4"/>
          </p:cNvCxnSpPr>
          <p:nvPr/>
        </p:nvCxnSpPr>
        <p:spPr>
          <a:xfrm rot="10800000">
            <a:off x="2716141" y="2821885"/>
            <a:ext cx="0" cy="1364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7" name="Google Shape;3587;p166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588" name="Google Shape;3588;p166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 Undirected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589" name="Google Shape;3589;p166"/>
          <p:cNvSpPr txBox="1"/>
          <p:nvPr/>
        </p:nvSpPr>
        <p:spPr>
          <a:xfrm>
            <a:off x="2562850" y="2025850"/>
            <a:ext cx="3066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90" name="Google Shape;3590;p166"/>
          <p:cNvSpPr txBox="1"/>
          <p:nvPr/>
        </p:nvSpPr>
        <p:spPr>
          <a:xfrm>
            <a:off x="3556650" y="2991825"/>
            <a:ext cx="3066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91" name="Google Shape;3591;p166"/>
          <p:cNvSpPr txBox="1"/>
          <p:nvPr/>
        </p:nvSpPr>
        <p:spPr>
          <a:xfrm>
            <a:off x="1537200" y="2943650"/>
            <a:ext cx="3066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92" name="Google Shape;3592;p166"/>
          <p:cNvSpPr txBox="1"/>
          <p:nvPr/>
        </p:nvSpPr>
        <p:spPr>
          <a:xfrm>
            <a:off x="416050" y="2991825"/>
            <a:ext cx="3066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93" name="Google Shape;3593;p166"/>
          <p:cNvSpPr txBox="1"/>
          <p:nvPr/>
        </p:nvSpPr>
        <p:spPr>
          <a:xfrm>
            <a:off x="3059800" y="4327575"/>
            <a:ext cx="3066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7" name="Shape 3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p16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graphicFrame>
        <p:nvGraphicFramePr>
          <p:cNvPr id="3599" name="Google Shape;3599;p167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600" name="Google Shape;3600;p167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geodesic distance matrix</a:t>
            </a:r>
            <a:r>
              <a:rPr lang="en"/>
              <a:t> (D</a:t>
            </a:r>
            <a:r>
              <a:rPr baseline="30000" lang="en"/>
              <a:t>g</a:t>
            </a:r>
            <a:r>
              <a:rPr lang="en"/>
              <a:t>) of a directed a graph records the </a:t>
            </a:r>
            <a:r>
              <a:rPr b="1" lang="en"/>
              <a:t>length of the shortest path</a:t>
            </a:r>
            <a:r>
              <a:rPr lang="en"/>
              <a:t> connecting each pair of nodes in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 for directed graphs! </a:t>
            </a:r>
            <a:endParaRPr/>
          </a:p>
        </p:txBody>
      </p:sp>
      <p:sp>
        <p:nvSpPr>
          <p:cNvPr id="3601" name="Google Shape;3601;p167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2" name="Google Shape;3602;p167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603" name="Google Shape;3603;p167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04" name="Google Shape;3604;p167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05" name="Google Shape;3605;p167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06" name="Google Shape;3606;p167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07" name="Google Shape;3607;p167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08" name="Google Shape;3608;p167"/>
          <p:cNvCxnSpPr>
            <a:stCxn id="3604" idx="7"/>
            <a:endCxn id="3605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609" name="Google Shape;3609;p167"/>
          <p:cNvCxnSpPr>
            <a:stCxn id="3607" idx="1"/>
            <a:endCxn id="3605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10" name="Google Shape;3610;p167"/>
          <p:cNvCxnSpPr>
            <a:stCxn id="3607" idx="3"/>
            <a:endCxn id="3606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11" name="Google Shape;3611;p167"/>
          <p:cNvCxnSpPr>
            <a:stCxn id="3606" idx="1"/>
            <a:endCxn id="3605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612" name="Google Shape;3612;p167"/>
          <p:cNvCxnSpPr>
            <a:stCxn id="3604" idx="1"/>
            <a:endCxn id="3603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613" name="Google Shape;3613;p167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614" name="Google Shape;3614;p167"/>
          <p:cNvCxnSpPr>
            <a:stCxn id="3603" idx="5"/>
            <a:endCxn id="3604" idx="3"/>
          </p:cNvCxnSpPr>
          <p:nvPr/>
        </p:nvCxnSpPr>
        <p:spPr>
          <a:xfrm>
            <a:off x="752902" y="3707084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615" name="Google Shape;3615;p167"/>
          <p:cNvCxnSpPr>
            <a:stCxn id="3606" idx="7"/>
            <a:endCxn id="3605" idx="5"/>
          </p:cNvCxnSpPr>
          <p:nvPr/>
        </p:nvCxnSpPr>
        <p:spPr>
          <a:xfrm rot="10800000">
            <a:off x="2899696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616" name="Google Shape;3616;p167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0" name="Shape 3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1" name="Google Shape;3621;p16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graphicFrame>
        <p:nvGraphicFramePr>
          <p:cNvPr id="3622" name="Google Shape;3622;p168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623" name="Google Shape;3623;p168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geodesic distance matrix</a:t>
            </a:r>
            <a:r>
              <a:rPr lang="en"/>
              <a:t> (D</a:t>
            </a:r>
            <a:r>
              <a:rPr baseline="30000" lang="en"/>
              <a:t>g</a:t>
            </a:r>
            <a:r>
              <a:rPr lang="en"/>
              <a:t>) of a directed a graph records the </a:t>
            </a:r>
            <a:r>
              <a:rPr b="1" lang="en"/>
              <a:t>length of the shortest path</a:t>
            </a:r>
            <a:r>
              <a:rPr lang="en"/>
              <a:t> connecting each pair of nodes in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 for directed graphs! </a:t>
            </a:r>
            <a:endParaRPr/>
          </a:p>
        </p:txBody>
      </p:sp>
      <p:sp>
        <p:nvSpPr>
          <p:cNvPr id="3624" name="Google Shape;3624;p168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5" name="Google Shape;3625;p168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626" name="Google Shape;3626;p168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27" name="Google Shape;3627;p168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28" name="Google Shape;3628;p168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29" name="Google Shape;3629;p168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30" name="Google Shape;3630;p168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31" name="Google Shape;3631;p168"/>
          <p:cNvCxnSpPr>
            <a:stCxn id="3627" idx="7"/>
            <a:endCxn id="3628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632" name="Google Shape;3632;p168"/>
          <p:cNvCxnSpPr>
            <a:stCxn id="3630" idx="1"/>
            <a:endCxn id="3628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33" name="Google Shape;3633;p168"/>
          <p:cNvCxnSpPr>
            <a:stCxn id="3630" idx="3"/>
            <a:endCxn id="3629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34" name="Google Shape;3634;p168"/>
          <p:cNvCxnSpPr>
            <a:stCxn id="3629" idx="1"/>
            <a:endCxn id="3628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635" name="Google Shape;3635;p168"/>
          <p:cNvCxnSpPr>
            <a:stCxn id="3627" idx="1"/>
            <a:endCxn id="3626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636" name="Google Shape;3636;p168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637" name="Google Shape;3637;p168"/>
          <p:cNvCxnSpPr>
            <a:stCxn id="3626" idx="5"/>
            <a:endCxn id="3627" idx="3"/>
          </p:cNvCxnSpPr>
          <p:nvPr/>
        </p:nvCxnSpPr>
        <p:spPr>
          <a:xfrm>
            <a:off x="752902" y="3707084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638" name="Google Shape;3638;p168"/>
          <p:cNvCxnSpPr>
            <a:stCxn id="3629" idx="7"/>
            <a:endCxn id="3628" idx="5"/>
          </p:cNvCxnSpPr>
          <p:nvPr/>
        </p:nvCxnSpPr>
        <p:spPr>
          <a:xfrm rot="10800000">
            <a:off x="2899696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639" name="Google Shape;3639;p168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3" name="Shape 3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4" name="Google Shape;3644;p16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graphicFrame>
        <p:nvGraphicFramePr>
          <p:cNvPr id="3645" name="Google Shape;3645;p169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?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646" name="Google Shape;3646;p169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geodesic distance matrix</a:t>
            </a:r>
            <a:r>
              <a:rPr lang="en"/>
              <a:t> (D</a:t>
            </a:r>
            <a:r>
              <a:rPr baseline="30000" lang="en"/>
              <a:t>g</a:t>
            </a:r>
            <a:r>
              <a:rPr lang="en"/>
              <a:t>) of a directed a graph records the </a:t>
            </a:r>
            <a:r>
              <a:rPr b="1" lang="en"/>
              <a:t>length of the shortest path</a:t>
            </a:r>
            <a:r>
              <a:rPr lang="en"/>
              <a:t> connecting each pair of nodes in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what happens if the path in the other direction doesn’t exist?</a:t>
            </a:r>
            <a:endParaRPr/>
          </a:p>
        </p:txBody>
      </p:sp>
      <p:sp>
        <p:nvSpPr>
          <p:cNvPr id="3647" name="Google Shape;3647;p169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8" name="Google Shape;3648;p169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649" name="Google Shape;3649;p169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50" name="Google Shape;3650;p169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51" name="Google Shape;3651;p169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52" name="Google Shape;3652;p169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53" name="Google Shape;3653;p169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54" name="Google Shape;3654;p169"/>
          <p:cNvCxnSpPr>
            <a:stCxn id="3650" idx="7"/>
            <a:endCxn id="3651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655" name="Google Shape;3655;p169"/>
          <p:cNvCxnSpPr>
            <a:stCxn id="3653" idx="1"/>
            <a:endCxn id="3651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56" name="Google Shape;3656;p169"/>
          <p:cNvCxnSpPr>
            <a:stCxn id="3653" idx="3"/>
            <a:endCxn id="3652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57" name="Google Shape;3657;p169"/>
          <p:cNvCxnSpPr>
            <a:stCxn id="3652" idx="1"/>
            <a:endCxn id="3651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658" name="Google Shape;3658;p169"/>
          <p:cNvCxnSpPr>
            <a:stCxn id="3650" idx="1"/>
            <a:endCxn id="3649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659" name="Google Shape;3659;p169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660" name="Google Shape;3660;p169"/>
          <p:cNvSpPr txBox="1"/>
          <p:nvPr/>
        </p:nvSpPr>
        <p:spPr>
          <a:xfrm>
            <a:off x="2617638" y="3419688"/>
            <a:ext cx="2895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  <a:endParaRPr b="1"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661" name="Google Shape;3661;p169"/>
          <p:cNvCxnSpPr/>
          <p:nvPr/>
        </p:nvCxnSpPr>
        <p:spPr>
          <a:xfrm>
            <a:off x="752902" y="3707084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662" name="Google Shape;3662;p169"/>
          <p:cNvCxnSpPr/>
          <p:nvPr/>
        </p:nvCxnSpPr>
        <p:spPr>
          <a:xfrm rot="10800000">
            <a:off x="2899696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663" name="Google Shape;3663;p169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7" name="Shape 3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8" name="Google Shape;3668;p17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graphicFrame>
        <p:nvGraphicFramePr>
          <p:cNvPr id="3669" name="Google Shape;3669;p170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670" name="Google Shape;3670;p170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geodesic distance matrix</a:t>
            </a:r>
            <a:r>
              <a:rPr lang="en"/>
              <a:t> (D</a:t>
            </a:r>
            <a:r>
              <a:rPr baseline="30000" lang="en"/>
              <a:t>g</a:t>
            </a:r>
            <a:r>
              <a:rPr lang="en"/>
              <a:t>) of a directed a graph records the </a:t>
            </a:r>
            <a:r>
              <a:rPr b="1" lang="en"/>
              <a:t>length of the shortest path</a:t>
            </a:r>
            <a:r>
              <a:rPr lang="en"/>
              <a:t> connecting each pair of nodes in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node cannot reach another node in a directed graph they are at </a:t>
            </a:r>
            <a:r>
              <a:rPr b="1" lang="en"/>
              <a:t>infinite </a:t>
            </a:r>
            <a:r>
              <a:rPr lang="en"/>
              <a:t>distance!</a:t>
            </a:r>
            <a:endParaRPr/>
          </a:p>
        </p:txBody>
      </p:sp>
      <p:sp>
        <p:nvSpPr>
          <p:cNvPr id="3671" name="Google Shape;3671;p170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2" name="Google Shape;3672;p170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673" name="Google Shape;3673;p170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74" name="Google Shape;3674;p170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75" name="Google Shape;3675;p170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76" name="Google Shape;3676;p170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77" name="Google Shape;3677;p170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78" name="Google Shape;3678;p170"/>
          <p:cNvCxnSpPr>
            <a:stCxn id="3674" idx="7"/>
            <a:endCxn id="3675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679" name="Google Shape;3679;p170"/>
          <p:cNvCxnSpPr>
            <a:stCxn id="3677" idx="1"/>
            <a:endCxn id="3675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80" name="Google Shape;3680;p170"/>
          <p:cNvCxnSpPr>
            <a:stCxn id="3677" idx="3"/>
            <a:endCxn id="3676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81" name="Google Shape;3681;p170"/>
          <p:cNvCxnSpPr>
            <a:stCxn id="3676" idx="1"/>
            <a:endCxn id="3675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682" name="Google Shape;3682;p170"/>
          <p:cNvCxnSpPr>
            <a:stCxn id="3674" idx="1"/>
            <a:endCxn id="3673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683" name="Google Shape;3683;p170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684" name="Google Shape;3684;p170"/>
          <p:cNvCxnSpPr/>
          <p:nvPr/>
        </p:nvCxnSpPr>
        <p:spPr>
          <a:xfrm>
            <a:off x="752902" y="3707084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685" name="Google Shape;3685;p170"/>
          <p:cNvCxnSpPr/>
          <p:nvPr/>
        </p:nvCxnSpPr>
        <p:spPr>
          <a:xfrm rot="10800000">
            <a:off x="2899696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686" name="Google Shape;3686;p170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0" name="Shape 3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1" name="Google Shape;3691;p17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sp>
        <p:nvSpPr>
          <p:cNvPr id="3692" name="Google Shape;3692;p171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geodesic distance matrix</a:t>
            </a:r>
            <a:r>
              <a:rPr lang="en"/>
              <a:t> (D</a:t>
            </a:r>
            <a:r>
              <a:rPr baseline="30000" lang="en"/>
              <a:t>g</a:t>
            </a:r>
            <a:r>
              <a:rPr lang="en"/>
              <a:t>) of a directed a graph records the </a:t>
            </a:r>
            <a:r>
              <a:rPr b="1" lang="en"/>
              <a:t>length of the shortest path</a:t>
            </a:r>
            <a:r>
              <a:rPr lang="en"/>
              <a:t> connecting each pair of nodes in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lengths of the shortest past of mutually connected nodes can be different!</a:t>
            </a:r>
            <a:endParaRPr/>
          </a:p>
        </p:txBody>
      </p:sp>
      <p:sp>
        <p:nvSpPr>
          <p:cNvPr id="3693" name="Google Shape;3693;p171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4" name="Google Shape;3694;p171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695" name="Google Shape;3695;p171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96" name="Google Shape;3696;p171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97" name="Google Shape;3697;p171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98" name="Google Shape;3698;p171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99" name="Google Shape;3699;p171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00" name="Google Shape;3700;p171"/>
          <p:cNvCxnSpPr>
            <a:stCxn id="3696" idx="7"/>
            <a:endCxn id="3697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701" name="Google Shape;3701;p171"/>
          <p:cNvCxnSpPr>
            <a:stCxn id="3699" idx="1"/>
            <a:endCxn id="3697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02" name="Google Shape;3702;p171"/>
          <p:cNvCxnSpPr>
            <a:stCxn id="3699" idx="3"/>
            <a:endCxn id="3698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03" name="Google Shape;3703;p171"/>
          <p:cNvCxnSpPr>
            <a:stCxn id="3698" idx="1"/>
            <a:endCxn id="3697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704" name="Google Shape;3704;p171"/>
          <p:cNvCxnSpPr>
            <a:stCxn id="3696" idx="1"/>
            <a:endCxn id="3695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705" name="Google Shape;3705;p171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graphicFrame>
        <p:nvGraphicFramePr>
          <p:cNvPr id="3706" name="Google Shape;3706;p171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707" name="Google Shape;3707;p171"/>
          <p:cNvCxnSpPr/>
          <p:nvPr/>
        </p:nvCxnSpPr>
        <p:spPr>
          <a:xfrm>
            <a:off x="752902" y="3707084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708" name="Google Shape;3708;p171"/>
          <p:cNvCxnSpPr/>
          <p:nvPr/>
        </p:nvCxnSpPr>
        <p:spPr>
          <a:xfrm rot="10800000">
            <a:off x="2899696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709" name="Google Shape;3709;p171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3" name="Shape 3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4" name="Google Shape;3714;p17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sp>
        <p:nvSpPr>
          <p:cNvPr id="3715" name="Google Shape;3715;p172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geodesic distance matrix</a:t>
            </a:r>
            <a:r>
              <a:rPr lang="en"/>
              <a:t> (D</a:t>
            </a:r>
            <a:r>
              <a:rPr baseline="30000" lang="en"/>
              <a:t>g</a:t>
            </a:r>
            <a:r>
              <a:rPr lang="en"/>
              <a:t>) of a directed a graph records the </a:t>
            </a:r>
            <a:r>
              <a:rPr b="1" lang="en"/>
              <a:t>length of the shortest path</a:t>
            </a:r>
            <a:r>
              <a:rPr lang="en"/>
              <a:t> connecting each pair of nodes in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lengths of the shortest past of mutually connected nodes can be different!</a:t>
            </a:r>
            <a:endParaRPr/>
          </a:p>
        </p:txBody>
      </p:sp>
      <p:sp>
        <p:nvSpPr>
          <p:cNvPr id="3716" name="Google Shape;3716;p172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7" name="Google Shape;3717;p172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718" name="Google Shape;3718;p172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19" name="Google Shape;3719;p172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20" name="Google Shape;3720;p172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21" name="Google Shape;3721;p172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22" name="Google Shape;3722;p172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23" name="Google Shape;3723;p172"/>
          <p:cNvCxnSpPr>
            <a:stCxn id="3719" idx="7"/>
            <a:endCxn id="3720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724" name="Google Shape;3724;p172"/>
          <p:cNvCxnSpPr>
            <a:stCxn id="3722" idx="1"/>
            <a:endCxn id="3720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25" name="Google Shape;3725;p172"/>
          <p:cNvCxnSpPr>
            <a:stCxn id="3722" idx="3"/>
            <a:endCxn id="3721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26" name="Google Shape;3726;p172"/>
          <p:cNvCxnSpPr>
            <a:stCxn id="3721" idx="1"/>
            <a:endCxn id="3720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727" name="Google Shape;3727;p172"/>
          <p:cNvCxnSpPr>
            <a:stCxn id="3719" idx="1"/>
            <a:endCxn id="3718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728" name="Google Shape;3728;p172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graphicFrame>
        <p:nvGraphicFramePr>
          <p:cNvPr id="3729" name="Google Shape;3729;p172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730" name="Google Shape;3730;p172"/>
          <p:cNvCxnSpPr/>
          <p:nvPr/>
        </p:nvCxnSpPr>
        <p:spPr>
          <a:xfrm>
            <a:off x="752902" y="3707084"/>
            <a:ext cx="7875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731" name="Google Shape;3731;p172"/>
          <p:cNvCxnSpPr/>
          <p:nvPr/>
        </p:nvCxnSpPr>
        <p:spPr>
          <a:xfrm rot="10800000">
            <a:off x="2899696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732" name="Google Shape;3732;p172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6" name="Shape 3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" name="Google Shape;3737;p17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(Geodesic) Distance Matrix</a:t>
            </a:r>
            <a:endParaRPr/>
          </a:p>
        </p:txBody>
      </p:sp>
      <p:sp>
        <p:nvSpPr>
          <p:cNvPr id="3738" name="Google Shape;3738;p173"/>
          <p:cNvSpPr txBox="1"/>
          <p:nvPr>
            <p:ph idx="1" type="body"/>
          </p:nvPr>
        </p:nvSpPr>
        <p:spPr>
          <a:xfrm>
            <a:off x="311700" y="1225225"/>
            <a:ext cx="85206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geodesic distance matrix</a:t>
            </a:r>
            <a:r>
              <a:rPr lang="en"/>
              <a:t> (D</a:t>
            </a:r>
            <a:r>
              <a:rPr baseline="30000" lang="en"/>
              <a:t>g</a:t>
            </a:r>
            <a:r>
              <a:rPr lang="en"/>
              <a:t>) of a directed a graph records the </a:t>
            </a:r>
            <a:r>
              <a:rPr b="1" lang="en"/>
              <a:t>length of the shortest path</a:t>
            </a:r>
            <a:r>
              <a:rPr lang="en"/>
              <a:t> connecting each pair of nodes in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so on for each pair!</a:t>
            </a:r>
            <a:endParaRPr/>
          </a:p>
        </p:txBody>
      </p:sp>
      <p:sp>
        <p:nvSpPr>
          <p:cNvPr id="3739" name="Google Shape;3739;p173"/>
          <p:cNvSpPr/>
          <p:nvPr/>
        </p:nvSpPr>
        <p:spPr>
          <a:xfrm>
            <a:off x="4270600" y="3108475"/>
            <a:ext cx="1638600" cy="831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0" name="Google Shape;3740;p173"/>
          <p:cNvSpPr txBox="1"/>
          <p:nvPr/>
        </p:nvSpPr>
        <p:spPr>
          <a:xfrm>
            <a:off x="6199800" y="2060325"/>
            <a:ext cx="24735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Distance Matrix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741" name="Google Shape;3741;p173"/>
          <p:cNvSpPr/>
          <p:nvPr/>
        </p:nvSpPr>
        <p:spPr>
          <a:xfrm>
            <a:off x="311700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42" name="Google Shape;3742;p173"/>
          <p:cNvSpPr/>
          <p:nvPr/>
        </p:nvSpPr>
        <p:spPr>
          <a:xfrm>
            <a:off x="1464685" y="3265370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43" name="Google Shape;3743;p173"/>
          <p:cNvSpPr/>
          <p:nvPr/>
        </p:nvSpPr>
        <p:spPr>
          <a:xfrm>
            <a:off x="2458495" y="230667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44" name="Google Shape;3744;p173"/>
          <p:cNvSpPr/>
          <p:nvPr/>
        </p:nvSpPr>
        <p:spPr>
          <a:xfrm>
            <a:off x="2458495" y="4188372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45" name="Google Shape;3745;p173"/>
          <p:cNvSpPr/>
          <p:nvPr/>
        </p:nvSpPr>
        <p:spPr>
          <a:xfrm>
            <a:off x="3452305" y="3302245"/>
            <a:ext cx="516900" cy="5175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46" name="Google Shape;3746;p173"/>
          <p:cNvCxnSpPr>
            <a:stCxn id="3742" idx="7"/>
            <a:endCxn id="3743" idx="3"/>
          </p:cNvCxnSpPr>
          <p:nvPr/>
        </p:nvCxnSpPr>
        <p:spPr>
          <a:xfrm flipH="1" rot="10800000">
            <a:off x="1905886" y="2748356"/>
            <a:ext cx="628200" cy="59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747" name="Google Shape;3747;p173"/>
          <p:cNvCxnSpPr>
            <a:stCxn id="3745" idx="1"/>
            <a:endCxn id="3743" idx="5"/>
          </p:cNvCxnSpPr>
          <p:nvPr/>
        </p:nvCxnSpPr>
        <p:spPr>
          <a:xfrm rot="10800000">
            <a:off x="2899803" y="2748331"/>
            <a:ext cx="6282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48" name="Google Shape;3748;p173"/>
          <p:cNvCxnSpPr>
            <a:stCxn id="3745" idx="3"/>
            <a:endCxn id="3744" idx="7"/>
          </p:cNvCxnSpPr>
          <p:nvPr/>
        </p:nvCxnSpPr>
        <p:spPr>
          <a:xfrm flipH="1">
            <a:off x="2899803" y="3743959"/>
            <a:ext cx="628200" cy="52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49" name="Google Shape;3749;p173"/>
          <p:cNvCxnSpPr>
            <a:stCxn id="3744" idx="1"/>
            <a:endCxn id="3743" idx="3"/>
          </p:cNvCxnSpPr>
          <p:nvPr/>
        </p:nvCxnSpPr>
        <p:spPr>
          <a:xfrm rot="10800000">
            <a:off x="2534193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750" name="Google Shape;3750;p173"/>
          <p:cNvCxnSpPr>
            <a:stCxn id="3742" idx="1"/>
            <a:endCxn id="3741" idx="7"/>
          </p:cNvCxnSpPr>
          <p:nvPr/>
        </p:nvCxnSpPr>
        <p:spPr>
          <a:xfrm rot="10800000">
            <a:off x="752883" y="3341156"/>
            <a:ext cx="787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751" name="Google Shape;3751;p173"/>
          <p:cNvCxnSpPr/>
          <p:nvPr/>
        </p:nvCxnSpPr>
        <p:spPr>
          <a:xfrm rot="10800000">
            <a:off x="1723195" y="3782859"/>
            <a:ext cx="735300" cy="66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graphicFrame>
        <p:nvGraphicFramePr>
          <p:cNvPr id="3752" name="Google Shape;3752;p173"/>
          <p:cNvGraphicFramePr/>
          <p:nvPr/>
        </p:nvGraphicFramePr>
        <p:xfrm>
          <a:off x="6210600" y="2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{508509E5-6A5A-4EFC-9E5D-02DF6BC72988}</a:tableStyleId>
              </a:tblPr>
              <a:tblGrid>
                <a:gridCol w="413950"/>
                <a:gridCol w="413950"/>
                <a:gridCol w="413950"/>
                <a:gridCol w="413950"/>
                <a:gridCol w="413950"/>
                <a:gridCol w="413950"/>
              </a:tblGrid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753" name="Google Shape;3753;p173"/>
          <p:cNvCxnSpPr/>
          <p:nvPr/>
        </p:nvCxnSpPr>
        <p:spPr>
          <a:xfrm>
            <a:off x="752902" y="3707084"/>
            <a:ext cx="787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754" name="Google Shape;3754;p173"/>
          <p:cNvCxnSpPr/>
          <p:nvPr/>
        </p:nvCxnSpPr>
        <p:spPr>
          <a:xfrm rot="10800000">
            <a:off x="2899696" y="2748258"/>
            <a:ext cx="0" cy="151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755" name="Google Shape;3755;p173"/>
          <p:cNvSpPr txBox="1"/>
          <p:nvPr/>
        </p:nvSpPr>
        <p:spPr>
          <a:xfrm>
            <a:off x="883000" y="4694675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 Directed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