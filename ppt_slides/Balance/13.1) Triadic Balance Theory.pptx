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embeddedFontLst>
    <p:embeddedFont>
      <p:font typeface="Economica"/>
      <p:regular r:id="rId38"/>
      <p:bold r:id="rId39"/>
      <p:italic r:id="rId40"/>
      <p:boldItalic r:id="rId41"/>
    </p:embeddedFont>
    <p:embeddedFont>
      <p:font typeface="Oxygen"/>
      <p:regular r:id="rId42"/>
      <p:bold r:id="rId43"/>
    </p:embeddedFont>
    <p:embeddedFont>
      <p:font typeface="Open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conomica-italic.fntdata"/><Relationship Id="rId20" Type="http://schemas.openxmlformats.org/officeDocument/2006/relationships/slide" Target="slides/slide14.xml"/><Relationship Id="rId42" Type="http://schemas.openxmlformats.org/officeDocument/2006/relationships/font" Target="fonts/Oxygen-regular.fntdata"/><Relationship Id="rId41" Type="http://schemas.openxmlformats.org/officeDocument/2006/relationships/font" Target="fonts/Economica-boldItalic.fntdata"/><Relationship Id="rId22" Type="http://schemas.openxmlformats.org/officeDocument/2006/relationships/slide" Target="slides/slide16.xml"/><Relationship Id="rId44" Type="http://schemas.openxmlformats.org/officeDocument/2006/relationships/font" Target="fonts/OpenSans-regular.fntdata"/><Relationship Id="rId21" Type="http://schemas.openxmlformats.org/officeDocument/2006/relationships/slide" Target="slides/slide15.xml"/><Relationship Id="rId43" Type="http://schemas.openxmlformats.org/officeDocument/2006/relationships/font" Target="fonts/Oxygen-bold.fntdata"/><Relationship Id="rId24" Type="http://schemas.openxmlformats.org/officeDocument/2006/relationships/slide" Target="slides/slide18.xml"/><Relationship Id="rId46" Type="http://schemas.openxmlformats.org/officeDocument/2006/relationships/font" Target="fonts/OpenSans-italic.fntdata"/><Relationship Id="rId23" Type="http://schemas.openxmlformats.org/officeDocument/2006/relationships/slide" Target="slides/slide17.xml"/><Relationship Id="rId45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font" Target="fonts/OpenSans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Economica-bold.fntdata"/><Relationship Id="rId16" Type="http://schemas.openxmlformats.org/officeDocument/2006/relationships/slide" Target="slides/slide10.xml"/><Relationship Id="rId38" Type="http://schemas.openxmlformats.org/officeDocument/2006/relationships/font" Target="fonts/Economica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03e590b7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03e590b7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be245583fc_0_1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be245583fc_0_1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be245583fc_0_1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be245583fc_0_1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be245583fc_0_1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be245583fc_0_1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be245583fc_0_17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be245583fc_0_1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be245583fc_0_1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be245583fc_0_1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be245583fc_0_1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be245583fc_0_1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be245583fc_0_1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be245583fc_0_1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be245583fc_0_1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be245583fc_0_1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be245583fc_0_1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be245583fc_0_1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be245583fc_0_1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be245583fc_0_1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be245583fc_0_1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be245583fc_0_1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be245583fc_0_1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be245583fc_0_1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be245583fc_0_1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be245583fc_0_1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be245583fc_0_19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be245583fc_0_19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be245583fc_0_1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be245583fc_0_1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be245583fc_0_20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be245583fc_0_2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1705eb9f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1705eb9f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1705eb9fc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1705eb9fc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be245583fc_0_2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be245583fc_0_2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be245583fc_0_2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be245583fc_0_2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be245583fc_0_2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be245583fc_0_2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be245583fc_0_2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be245583fc_0_2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be245583fc_0_2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be245583fc_0_2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be245583fc_0_2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be245583fc_0_2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be245583fc_0_2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be245583fc_0_2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be245583fc_0_2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be245583fc_0_2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be245583fc_0_2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be245583fc_0_2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be245583fc_0_2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be245583fc_0_2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be245583fc_0_2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be245583fc_0_2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11705eb9fcb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11705eb9fcb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Triadic Balance Theory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122" name="Google Shape;122;p28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(1) A person (P)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“look” at the triad from this person’s point of 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8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129" name="Google Shape;129;p29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(2) An object (O) towards which the focal person has some kind of sentiment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sentiment can be positive or negative</a:t>
            </a:r>
            <a:endParaRPr/>
          </a:p>
        </p:txBody>
      </p:sp>
      <p:sp>
        <p:nvSpPr>
          <p:cNvPr id="130" name="Google Shape;130;p29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1" name="Google Shape;131;p29"/>
          <p:cNvSpPr/>
          <p:nvPr/>
        </p:nvSpPr>
        <p:spPr>
          <a:xfrm>
            <a:off x="3715450" y="44060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137" name="Google Shape;137;p30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(3) A third party (Q) towards which both the person and the other also have some kind of sentiment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0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" name="Google Shape;139;p30"/>
          <p:cNvSpPr/>
          <p:nvPr/>
        </p:nvSpPr>
        <p:spPr>
          <a:xfrm>
            <a:off x="3715450" y="44060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0" name="Google Shape;140;p30"/>
          <p:cNvSpPr/>
          <p:nvPr/>
        </p:nvSpPr>
        <p:spPr>
          <a:xfrm>
            <a:off x="3715450" y="306482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146" name="Google Shape;146;p31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(4) A set of </a:t>
            </a:r>
            <a:r>
              <a:rPr b="1" lang="en"/>
              <a:t>directed signed edges</a:t>
            </a:r>
            <a:r>
              <a:rPr lang="en"/>
              <a:t> that indicate </a:t>
            </a:r>
            <a:r>
              <a:rPr b="1" lang="en"/>
              <a:t>positive</a:t>
            </a:r>
            <a:r>
              <a:rPr lang="en"/>
              <a:t> (</a:t>
            </a:r>
            <a:r>
              <a:rPr i="1" lang="en"/>
              <a:t>solid</a:t>
            </a:r>
            <a:r>
              <a:rPr lang="en"/>
              <a:t>) or </a:t>
            </a:r>
            <a:r>
              <a:rPr b="1" lang="en"/>
              <a:t>negative</a:t>
            </a:r>
            <a:r>
              <a:rPr lang="en"/>
              <a:t> (</a:t>
            </a:r>
            <a:r>
              <a:rPr i="1" lang="en"/>
              <a:t>dashed</a:t>
            </a:r>
            <a:r>
              <a:rPr lang="en"/>
              <a:t>) sentiments that P and O have toward the third party Q and P towards O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1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8" name="Google Shape;148;p31"/>
          <p:cNvSpPr/>
          <p:nvPr/>
        </p:nvSpPr>
        <p:spPr>
          <a:xfrm>
            <a:off x="3715450" y="44060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" name="Google Shape;149;p31"/>
          <p:cNvSpPr/>
          <p:nvPr/>
        </p:nvSpPr>
        <p:spPr>
          <a:xfrm>
            <a:off x="3715450" y="306482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0" name="Google Shape;150;p31"/>
          <p:cNvCxnSpPr>
            <a:stCxn id="147" idx="6"/>
            <a:endCxn id="148" idx="2"/>
          </p:cNvCxnSpPr>
          <p:nvPr/>
        </p:nvCxnSpPr>
        <p:spPr>
          <a:xfrm>
            <a:off x="2229650" y="3887625"/>
            <a:ext cx="1485900" cy="81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1" name="Google Shape;151;p31"/>
          <p:cNvCxnSpPr>
            <a:stCxn id="148" idx="0"/>
            <a:endCxn id="149" idx="4"/>
          </p:cNvCxnSpPr>
          <p:nvPr/>
        </p:nvCxnSpPr>
        <p:spPr>
          <a:xfrm rot="10800000">
            <a:off x="4016050" y="3665925"/>
            <a:ext cx="0" cy="74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2" name="Google Shape;152;p31"/>
          <p:cNvCxnSpPr>
            <a:stCxn id="147" idx="6"/>
            <a:endCxn id="149" idx="2"/>
          </p:cNvCxnSpPr>
          <p:nvPr/>
        </p:nvCxnSpPr>
        <p:spPr>
          <a:xfrm flipH="1" rot="10800000">
            <a:off x="2229650" y="3365325"/>
            <a:ext cx="1485900" cy="52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158" name="Google Shape;158;p32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(4) A set of </a:t>
            </a:r>
            <a:r>
              <a:rPr b="1" lang="en"/>
              <a:t>directed signed edges</a:t>
            </a:r>
            <a:r>
              <a:rPr lang="en"/>
              <a:t> that indicate </a:t>
            </a:r>
            <a:r>
              <a:rPr b="1" lang="en"/>
              <a:t>positive</a:t>
            </a:r>
            <a:r>
              <a:rPr lang="en"/>
              <a:t> (</a:t>
            </a:r>
            <a:r>
              <a:rPr i="1" lang="en"/>
              <a:t>solid</a:t>
            </a:r>
            <a:r>
              <a:rPr lang="en"/>
              <a:t>) or </a:t>
            </a:r>
            <a:r>
              <a:rPr b="1" lang="en"/>
              <a:t>negative</a:t>
            </a:r>
            <a:r>
              <a:rPr lang="en"/>
              <a:t> (</a:t>
            </a:r>
            <a:r>
              <a:rPr i="1" lang="en"/>
              <a:t>dashed</a:t>
            </a:r>
            <a:r>
              <a:rPr lang="en"/>
              <a:t>) sentiments that P and O have toward the third party Q and P towards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2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0" name="Google Shape;160;p32"/>
          <p:cNvSpPr/>
          <p:nvPr/>
        </p:nvSpPr>
        <p:spPr>
          <a:xfrm>
            <a:off x="3715450" y="44060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" name="Google Shape;161;p32"/>
          <p:cNvSpPr/>
          <p:nvPr/>
        </p:nvSpPr>
        <p:spPr>
          <a:xfrm>
            <a:off x="3715450" y="306482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2" name="Google Shape;162;p32"/>
          <p:cNvCxnSpPr>
            <a:stCxn id="159" idx="6"/>
            <a:endCxn id="160" idx="2"/>
          </p:cNvCxnSpPr>
          <p:nvPr/>
        </p:nvCxnSpPr>
        <p:spPr>
          <a:xfrm>
            <a:off x="2229650" y="3887625"/>
            <a:ext cx="1485900" cy="81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3" name="Google Shape;163;p32"/>
          <p:cNvCxnSpPr>
            <a:stCxn id="160" idx="0"/>
            <a:endCxn id="161" idx="4"/>
          </p:cNvCxnSpPr>
          <p:nvPr/>
        </p:nvCxnSpPr>
        <p:spPr>
          <a:xfrm rot="10800000">
            <a:off x="4016050" y="3665925"/>
            <a:ext cx="0" cy="74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4" name="Google Shape;164;p32"/>
          <p:cNvCxnSpPr>
            <a:stCxn id="159" idx="6"/>
            <a:endCxn id="161" idx="2"/>
          </p:cNvCxnSpPr>
          <p:nvPr/>
        </p:nvCxnSpPr>
        <p:spPr>
          <a:xfrm flipH="1" rot="10800000">
            <a:off x="2229650" y="3365325"/>
            <a:ext cx="1485900" cy="52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65" name="Google Shape;165;p32"/>
          <p:cNvSpPr/>
          <p:nvPr/>
        </p:nvSpPr>
        <p:spPr>
          <a:xfrm>
            <a:off x="4361875" y="3116175"/>
            <a:ext cx="4659000" cy="1839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reads: </a:t>
            </a:r>
            <a:endParaRPr b="1"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rabicPeriod"/>
            </a:pPr>
            <a:r>
              <a:rPr b="1" lang="en">
                <a:solidFill>
                  <a:srgbClr val="FF0000"/>
                </a:solidFill>
              </a:rPr>
              <a:t>Person (P) likes other (O)</a:t>
            </a:r>
            <a:endParaRPr b="1"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rabicPeriod"/>
            </a:pPr>
            <a:r>
              <a:rPr b="1" lang="en">
                <a:solidFill>
                  <a:srgbClr val="FF0000"/>
                </a:solidFill>
              </a:rPr>
              <a:t>Other (O) likes the third party (Q)</a:t>
            </a:r>
            <a:endParaRPr b="1"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rabicPeriod"/>
            </a:pPr>
            <a:r>
              <a:rPr b="1" lang="en">
                <a:solidFill>
                  <a:srgbClr val="FF0000"/>
                </a:solidFill>
              </a:rPr>
              <a:t>But person (P) dislikes the third party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171" name="Google Shape;171;p33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(4) A set of </a:t>
            </a:r>
            <a:r>
              <a:rPr b="1" lang="en"/>
              <a:t>directed signed edges</a:t>
            </a:r>
            <a:r>
              <a:rPr lang="en"/>
              <a:t> that indicate </a:t>
            </a:r>
            <a:r>
              <a:rPr b="1" lang="en"/>
              <a:t>positive</a:t>
            </a:r>
            <a:r>
              <a:rPr lang="en"/>
              <a:t> (</a:t>
            </a:r>
            <a:r>
              <a:rPr i="1" lang="en"/>
              <a:t>solid</a:t>
            </a:r>
            <a:r>
              <a:rPr lang="en"/>
              <a:t>) or </a:t>
            </a:r>
            <a:r>
              <a:rPr b="1" lang="en"/>
              <a:t>negative</a:t>
            </a:r>
            <a:r>
              <a:rPr lang="en"/>
              <a:t> (</a:t>
            </a:r>
            <a:r>
              <a:rPr i="1" lang="en"/>
              <a:t>dashed</a:t>
            </a:r>
            <a:r>
              <a:rPr lang="en"/>
              <a:t>) sentiments that P and O have toward the third party Q and P towards O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3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3" name="Google Shape;173;p33"/>
          <p:cNvSpPr/>
          <p:nvPr/>
        </p:nvSpPr>
        <p:spPr>
          <a:xfrm>
            <a:off x="3715450" y="44060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4" name="Google Shape;174;p33"/>
          <p:cNvSpPr/>
          <p:nvPr/>
        </p:nvSpPr>
        <p:spPr>
          <a:xfrm>
            <a:off x="3715450" y="306482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5" name="Google Shape;175;p33"/>
          <p:cNvCxnSpPr>
            <a:stCxn id="172" idx="6"/>
            <a:endCxn id="173" idx="2"/>
          </p:cNvCxnSpPr>
          <p:nvPr/>
        </p:nvCxnSpPr>
        <p:spPr>
          <a:xfrm>
            <a:off x="2229650" y="3887625"/>
            <a:ext cx="1485900" cy="81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6" name="Google Shape;176;p33"/>
          <p:cNvCxnSpPr>
            <a:stCxn id="173" idx="0"/>
            <a:endCxn id="174" idx="4"/>
          </p:cNvCxnSpPr>
          <p:nvPr/>
        </p:nvCxnSpPr>
        <p:spPr>
          <a:xfrm rot="10800000">
            <a:off x="4016050" y="3665925"/>
            <a:ext cx="0" cy="74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7" name="Google Shape;177;p33"/>
          <p:cNvCxnSpPr>
            <a:stCxn id="172" idx="6"/>
            <a:endCxn id="174" idx="2"/>
          </p:cNvCxnSpPr>
          <p:nvPr/>
        </p:nvCxnSpPr>
        <p:spPr>
          <a:xfrm flipH="1" rot="10800000">
            <a:off x="2229650" y="3365325"/>
            <a:ext cx="1485900" cy="52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78" name="Google Shape;178;p33"/>
          <p:cNvSpPr/>
          <p:nvPr/>
        </p:nvSpPr>
        <p:spPr>
          <a:xfrm>
            <a:off x="4361875" y="3116175"/>
            <a:ext cx="4659000" cy="1839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Example: You (P) have a friend (O) whom you like and they like another classmate (Q) who you dislike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Sounds dicey!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(4) A set of </a:t>
            </a:r>
            <a:r>
              <a:rPr b="1" lang="en"/>
              <a:t>directed signed edges</a:t>
            </a:r>
            <a:r>
              <a:rPr lang="en"/>
              <a:t> that indicate </a:t>
            </a:r>
            <a:r>
              <a:rPr b="1" lang="en"/>
              <a:t>positive</a:t>
            </a:r>
            <a:r>
              <a:rPr lang="en"/>
              <a:t> (</a:t>
            </a:r>
            <a:r>
              <a:rPr i="1" lang="en"/>
              <a:t>solid</a:t>
            </a:r>
            <a:r>
              <a:rPr lang="en"/>
              <a:t>) or </a:t>
            </a:r>
            <a:r>
              <a:rPr b="1" lang="en"/>
              <a:t>negative</a:t>
            </a:r>
            <a:r>
              <a:rPr lang="en"/>
              <a:t> (</a:t>
            </a:r>
            <a:r>
              <a:rPr i="1" lang="en"/>
              <a:t>dashed</a:t>
            </a:r>
            <a:r>
              <a:rPr lang="en"/>
              <a:t>) sentiments that P and O have toward the third party Q and P towards O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4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6" name="Google Shape;186;p34"/>
          <p:cNvSpPr/>
          <p:nvPr/>
        </p:nvSpPr>
        <p:spPr>
          <a:xfrm>
            <a:off x="3715450" y="44060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7" name="Google Shape;187;p34"/>
          <p:cNvSpPr/>
          <p:nvPr/>
        </p:nvSpPr>
        <p:spPr>
          <a:xfrm>
            <a:off x="3715450" y="306482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8" name="Google Shape;188;p34"/>
          <p:cNvCxnSpPr>
            <a:stCxn id="185" idx="6"/>
            <a:endCxn id="186" idx="2"/>
          </p:cNvCxnSpPr>
          <p:nvPr/>
        </p:nvCxnSpPr>
        <p:spPr>
          <a:xfrm>
            <a:off x="2229650" y="3887625"/>
            <a:ext cx="1485900" cy="81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9" name="Google Shape;189;p34"/>
          <p:cNvCxnSpPr>
            <a:stCxn id="186" idx="0"/>
            <a:endCxn id="187" idx="4"/>
          </p:cNvCxnSpPr>
          <p:nvPr/>
        </p:nvCxnSpPr>
        <p:spPr>
          <a:xfrm rot="10800000">
            <a:off x="4016050" y="3665925"/>
            <a:ext cx="0" cy="74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0" name="Google Shape;190;p34"/>
          <p:cNvCxnSpPr>
            <a:stCxn id="185" idx="6"/>
            <a:endCxn id="187" idx="2"/>
          </p:cNvCxnSpPr>
          <p:nvPr/>
        </p:nvCxnSpPr>
        <p:spPr>
          <a:xfrm flipH="1" rot="10800000">
            <a:off x="2229650" y="3365325"/>
            <a:ext cx="1485900" cy="52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1" name="Google Shape;191;p34"/>
          <p:cNvSpPr/>
          <p:nvPr/>
        </p:nvSpPr>
        <p:spPr>
          <a:xfrm>
            <a:off x="4361875" y="3116175"/>
            <a:ext cx="4659000" cy="1839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In this example, you (P) have a friend (O) who you like and they like another classmate (Q) whom you also like.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Everything’s fine!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197" name="Google Shape;197;p35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(4) A set of </a:t>
            </a:r>
            <a:r>
              <a:rPr b="1" lang="en"/>
              <a:t>directed signed edges</a:t>
            </a:r>
            <a:r>
              <a:rPr lang="en"/>
              <a:t> that indicate </a:t>
            </a:r>
            <a:r>
              <a:rPr b="1" lang="en"/>
              <a:t>positive</a:t>
            </a:r>
            <a:r>
              <a:rPr lang="en"/>
              <a:t> (</a:t>
            </a:r>
            <a:r>
              <a:rPr i="1" lang="en"/>
              <a:t>solid</a:t>
            </a:r>
            <a:r>
              <a:rPr lang="en"/>
              <a:t>) or </a:t>
            </a:r>
            <a:r>
              <a:rPr b="1" lang="en"/>
              <a:t>negative</a:t>
            </a:r>
            <a:r>
              <a:rPr lang="en"/>
              <a:t> (</a:t>
            </a:r>
            <a:r>
              <a:rPr i="1" lang="en"/>
              <a:t>dashed</a:t>
            </a:r>
            <a:r>
              <a:rPr lang="en"/>
              <a:t>) sentiments that P and O have toward the third party Q and P towards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5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9" name="Google Shape;199;p35"/>
          <p:cNvSpPr/>
          <p:nvPr/>
        </p:nvSpPr>
        <p:spPr>
          <a:xfrm>
            <a:off x="3715450" y="44060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0" name="Google Shape;200;p35"/>
          <p:cNvSpPr/>
          <p:nvPr/>
        </p:nvSpPr>
        <p:spPr>
          <a:xfrm>
            <a:off x="3715450" y="306482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1" name="Google Shape;201;p35"/>
          <p:cNvCxnSpPr>
            <a:stCxn id="198" idx="6"/>
            <a:endCxn id="199" idx="2"/>
          </p:cNvCxnSpPr>
          <p:nvPr/>
        </p:nvCxnSpPr>
        <p:spPr>
          <a:xfrm>
            <a:off x="2229650" y="3887625"/>
            <a:ext cx="1485900" cy="81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02" name="Google Shape;202;p35"/>
          <p:cNvCxnSpPr>
            <a:stCxn id="199" idx="0"/>
            <a:endCxn id="200" idx="4"/>
          </p:cNvCxnSpPr>
          <p:nvPr/>
        </p:nvCxnSpPr>
        <p:spPr>
          <a:xfrm rot="10800000">
            <a:off x="4016050" y="3665925"/>
            <a:ext cx="0" cy="74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3" name="Google Shape;203;p35"/>
          <p:cNvCxnSpPr>
            <a:stCxn id="198" idx="6"/>
            <a:endCxn id="200" idx="2"/>
          </p:cNvCxnSpPr>
          <p:nvPr/>
        </p:nvCxnSpPr>
        <p:spPr>
          <a:xfrm flipH="1" rot="10800000">
            <a:off x="2229650" y="3365325"/>
            <a:ext cx="1485900" cy="52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04" name="Google Shape;204;p35"/>
          <p:cNvSpPr/>
          <p:nvPr/>
        </p:nvSpPr>
        <p:spPr>
          <a:xfrm>
            <a:off x="4361875" y="3116175"/>
            <a:ext cx="4659000" cy="1839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In this example, you (P) have an enemy (O) who likes another classmate (Q) who you dislike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Seems fine?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210" name="Google Shape;210;p36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Q does not have to be a real person!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It could be </a:t>
            </a:r>
            <a:r>
              <a:rPr b="1" lang="en"/>
              <a:t>any</a:t>
            </a:r>
            <a:r>
              <a:rPr lang="en"/>
              <a:t> </a:t>
            </a:r>
            <a:r>
              <a:rPr b="1" lang="en"/>
              <a:t>object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6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2" name="Google Shape;212;p36"/>
          <p:cNvSpPr/>
          <p:nvPr/>
        </p:nvSpPr>
        <p:spPr>
          <a:xfrm>
            <a:off x="3715450" y="44060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3" name="Google Shape;213;p36"/>
          <p:cNvSpPr/>
          <p:nvPr/>
        </p:nvSpPr>
        <p:spPr>
          <a:xfrm>
            <a:off x="3715450" y="306482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4" name="Google Shape;214;p36"/>
          <p:cNvCxnSpPr>
            <a:stCxn id="211" idx="6"/>
            <a:endCxn id="212" idx="2"/>
          </p:cNvCxnSpPr>
          <p:nvPr/>
        </p:nvCxnSpPr>
        <p:spPr>
          <a:xfrm>
            <a:off x="2229650" y="3887625"/>
            <a:ext cx="1485900" cy="81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5" name="Google Shape;215;p36"/>
          <p:cNvCxnSpPr>
            <a:stCxn id="212" idx="0"/>
            <a:endCxn id="213" idx="4"/>
          </p:cNvCxnSpPr>
          <p:nvPr/>
        </p:nvCxnSpPr>
        <p:spPr>
          <a:xfrm rot="10800000">
            <a:off x="4016050" y="3665925"/>
            <a:ext cx="0" cy="74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16" name="Google Shape;216;p36"/>
          <p:cNvCxnSpPr>
            <a:stCxn id="211" idx="6"/>
            <a:endCxn id="213" idx="2"/>
          </p:cNvCxnSpPr>
          <p:nvPr/>
        </p:nvCxnSpPr>
        <p:spPr>
          <a:xfrm flipH="1" rot="10800000">
            <a:off x="2229650" y="3365325"/>
            <a:ext cx="1485900" cy="52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7" name="Google Shape;217;p36"/>
          <p:cNvSpPr/>
          <p:nvPr/>
        </p:nvSpPr>
        <p:spPr>
          <a:xfrm>
            <a:off x="4361875" y="3116175"/>
            <a:ext cx="4659000" cy="1839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In this example, you (P) love Marvel movies (Q) but your long time partner O (who you like duh!) hates them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Trouble in paradise!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223" name="Google Shape;223;p37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eight (8) configurations featuring one-way directed links from: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(P) to Other (O)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(P) to Third Party (Q)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(O) to Third Party (Q)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229" name="Google Shape;229;p38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eight (8) configurations featuring one-way directed links from: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(P) to Other (O)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(P) to Third Party (Q)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(O) to Third Party (Q)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8"/>
          <p:cNvSpPr/>
          <p:nvPr/>
        </p:nvSpPr>
        <p:spPr>
          <a:xfrm>
            <a:off x="5786638" y="381608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1" name="Google Shape;231;p38"/>
          <p:cNvSpPr/>
          <p:nvPr/>
        </p:nvSpPr>
        <p:spPr>
          <a:xfrm>
            <a:off x="6851372" y="423251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2" name="Google Shape;232;p38"/>
          <p:cNvSpPr/>
          <p:nvPr/>
        </p:nvSpPr>
        <p:spPr>
          <a:xfrm>
            <a:off x="6851372" y="355057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33" name="Google Shape;233;p38"/>
          <p:cNvCxnSpPr>
            <a:stCxn id="230" idx="6"/>
            <a:endCxn id="231" idx="2"/>
          </p:cNvCxnSpPr>
          <p:nvPr/>
        </p:nvCxnSpPr>
        <p:spPr>
          <a:xfrm>
            <a:off x="6093538" y="396893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34" name="Google Shape;234;p38"/>
          <p:cNvCxnSpPr>
            <a:stCxn id="231" idx="0"/>
            <a:endCxn id="232" idx="4"/>
          </p:cNvCxnSpPr>
          <p:nvPr/>
        </p:nvCxnSpPr>
        <p:spPr>
          <a:xfrm rot="10800000">
            <a:off x="7004822" y="385631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5" name="Google Shape;235;p38"/>
          <p:cNvCxnSpPr>
            <a:stCxn id="230" idx="6"/>
            <a:endCxn id="232" idx="2"/>
          </p:cNvCxnSpPr>
          <p:nvPr/>
        </p:nvCxnSpPr>
        <p:spPr>
          <a:xfrm flipH="1" rot="10800000">
            <a:off x="6093538" y="370343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36" name="Google Shape;236;p38"/>
          <p:cNvSpPr/>
          <p:nvPr/>
        </p:nvSpPr>
        <p:spPr>
          <a:xfrm>
            <a:off x="7460663" y="381610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7" name="Google Shape;237;p38"/>
          <p:cNvSpPr/>
          <p:nvPr/>
        </p:nvSpPr>
        <p:spPr>
          <a:xfrm>
            <a:off x="8525397" y="423252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8" name="Google Shape;238;p38"/>
          <p:cNvSpPr/>
          <p:nvPr/>
        </p:nvSpPr>
        <p:spPr>
          <a:xfrm>
            <a:off x="8525397" y="355058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39" name="Google Shape;239;p38"/>
          <p:cNvCxnSpPr>
            <a:stCxn id="236" idx="6"/>
            <a:endCxn id="237" idx="2"/>
          </p:cNvCxnSpPr>
          <p:nvPr/>
        </p:nvCxnSpPr>
        <p:spPr>
          <a:xfrm>
            <a:off x="7767563" y="396895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40" name="Google Shape;240;p38"/>
          <p:cNvCxnSpPr>
            <a:stCxn id="237" idx="0"/>
            <a:endCxn id="238" idx="4"/>
          </p:cNvCxnSpPr>
          <p:nvPr/>
        </p:nvCxnSpPr>
        <p:spPr>
          <a:xfrm rot="10800000">
            <a:off x="8678847" y="385632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41" name="Google Shape;241;p38"/>
          <p:cNvCxnSpPr>
            <a:stCxn id="236" idx="6"/>
            <a:endCxn id="238" idx="2"/>
          </p:cNvCxnSpPr>
          <p:nvPr/>
        </p:nvCxnSpPr>
        <p:spPr>
          <a:xfrm flipH="1" rot="10800000">
            <a:off x="7767563" y="370345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2" name="Google Shape;242;p38"/>
          <p:cNvSpPr txBox="1"/>
          <p:nvPr/>
        </p:nvSpPr>
        <p:spPr>
          <a:xfrm>
            <a:off x="6412950" y="4644825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43" name="Google Shape;243;p38"/>
          <p:cNvSpPr/>
          <p:nvPr/>
        </p:nvSpPr>
        <p:spPr>
          <a:xfrm>
            <a:off x="2766950" y="2316000"/>
            <a:ext cx="27897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Everything’s fine here!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44" name="Google Shape;244;p38"/>
          <p:cNvCxnSpPr>
            <a:stCxn id="243" idx="4"/>
          </p:cNvCxnSpPr>
          <p:nvPr/>
        </p:nvCxnSpPr>
        <p:spPr>
          <a:xfrm>
            <a:off x="4161800" y="3147300"/>
            <a:ext cx="1482900" cy="746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5" name="Google Shape;245;p38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6" name="Google Shape;246;p38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7" name="Google Shape;247;p38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8" name="Google Shape;248;p38"/>
          <p:cNvCxnSpPr>
            <a:stCxn id="245" idx="6"/>
            <a:endCxn id="246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9" name="Google Shape;249;p38"/>
          <p:cNvCxnSpPr>
            <a:stCxn id="246" idx="0"/>
            <a:endCxn id="247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0" name="Google Shape;250;p38"/>
          <p:cNvCxnSpPr>
            <a:stCxn id="245" idx="6"/>
            <a:endCxn id="247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1" name="Google Shape;251;p38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2" name="Google Shape;252;p38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3" name="Google Shape;253;p38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4" name="Google Shape;254;p38"/>
          <p:cNvCxnSpPr>
            <a:stCxn id="251" idx="6"/>
            <a:endCxn id="252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5" name="Google Shape;255;p38"/>
          <p:cNvCxnSpPr>
            <a:stCxn id="252" idx="0"/>
            <a:endCxn id="253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56" name="Google Shape;256;p38"/>
          <p:cNvCxnSpPr>
            <a:stCxn id="251" idx="6"/>
            <a:endCxn id="253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262" name="Google Shape;262;p39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eight (8) configurations featuring one-way directed links from: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(P) to Other (O)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(P) to Third Party (Q)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(O) to Third Party (Q)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9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4" name="Google Shape;264;p39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5" name="Google Shape;265;p39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6" name="Google Shape;266;p39"/>
          <p:cNvCxnSpPr>
            <a:stCxn id="263" idx="6"/>
            <a:endCxn id="264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7" name="Google Shape;267;p39"/>
          <p:cNvCxnSpPr>
            <a:stCxn id="264" idx="0"/>
            <a:endCxn id="265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8" name="Google Shape;268;p39"/>
          <p:cNvCxnSpPr>
            <a:stCxn id="263" idx="6"/>
            <a:endCxn id="265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69" name="Google Shape;269;p39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0" name="Google Shape;270;p39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1" name="Google Shape;271;p39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2" name="Google Shape;272;p39"/>
          <p:cNvCxnSpPr>
            <a:stCxn id="269" idx="6"/>
            <a:endCxn id="270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3" name="Google Shape;273;p39"/>
          <p:cNvCxnSpPr>
            <a:stCxn id="270" idx="0"/>
            <a:endCxn id="271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74" name="Google Shape;274;p39"/>
          <p:cNvCxnSpPr>
            <a:stCxn id="269" idx="6"/>
            <a:endCxn id="271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5" name="Google Shape;275;p39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6" name="Google Shape;276;p39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7" name="Google Shape;277;p39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8" name="Google Shape;278;p39"/>
          <p:cNvCxnSpPr>
            <a:stCxn id="275" idx="6"/>
            <a:endCxn id="276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79" name="Google Shape;279;p39"/>
          <p:cNvCxnSpPr>
            <a:stCxn id="276" idx="0"/>
            <a:endCxn id="277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0" name="Google Shape;280;p39"/>
          <p:cNvCxnSpPr>
            <a:stCxn id="275" idx="6"/>
            <a:endCxn id="277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1" name="Google Shape;281;p39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2" name="Google Shape;282;p39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3" name="Google Shape;283;p39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84" name="Google Shape;284;p39"/>
          <p:cNvCxnSpPr>
            <a:stCxn id="281" idx="6"/>
            <a:endCxn id="282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85" name="Google Shape;285;p39"/>
          <p:cNvCxnSpPr>
            <a:stCxn id="282" idx="0"/>
            <a:endCxn id="283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86" name="Google Shape;286;p39"/>
          <p:cNvCxnSpPr>
            <a:stCxn id="281" idx="6"/>
            <a:endCxn id="283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87" name="Google Shape;287;p39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8" name="Google Shape;288;p39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9" name="Google Shape;289;p39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0" name="Google Shape;290;p39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1" name="Google Shape;291;p39"/>
          <p:cNvCxnSpPr>
            <a:stCxn id="288" idx="6"/>
            <a:endCxn id="289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2" name="Google Shape;292;p39"/>
          <p:cNvCxnSpPr>
            <a:stCxn id="289" idx="0"/>
            <a:endCxn id="290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3" name="Google Shape;293;p39"/>
          <p:cNvCxnSpPr>
            <a:stCxn id="288" idx="6"/>
            <a:endCxn id="290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4" name="Google Shape;294;p39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5" name="Google Shape;295;p39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6" name="Google Shape;296;p39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7" name="Google Shape;297;p39"/>
          <p:cNvCxnSpPr>
            <a:stCxn id="294" idx="6"/>
            <a:endCxn id="295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8" name="Google Shape;298;p39"/>
          <p:cNvCxnSpPr>
            <a:stCxn id="295" idx="0"/>
            <a:endCxn id="296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99" name="Google Shape;299;p39"/>
          <p:cNvCxnSpPr>
            <a:stCxn id="294" idx="6"/>
            <a:endCxn id="296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00" name="Google Shape;300;p39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1" name="Google Shape;301;p39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2" name="Google Shape;302;p39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3" name="Google Shape;303;p39"/>
          <p:cNvCxnSpPr>
            <a:stCxn id="300" idx="6"/>
            <a:endCxn id="301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04" name="Google Shape;304;p39"/>
          <p:cNvCxnSpPr>
            <a:stCxn id="301" idx="0"/>
            <a:endCxn id="302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5" name="Google Shape;305;p39"/>
          <p:cNvCxnSpPr>
            <a:stCxn id="300" idx="6"/>
            <a:endCxn id="302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06" name="Google Shape;306;p39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7" name="Google Shape;307;p39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8" name="Google Shape;308;p39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9" name="Google Shape;309;p39"/>
          <p:cNvCxnSpPr>
            <a:stCxn id="306" idx="6"/>
            <a:endCxn id="307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10" name="Google Shape;310;p39"/>
          <p:cNvCxnSpPr>
            <a:stCxn id="307" idx="0"/>
            <a:endCxn id="308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11" name="Google Shape;311;p39"/>
          <p:cNvCxnSpPr>
            <a:stCxn id="306" idx="6"/>
            <a:endCxn id="308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12" name="Google Shape;312;p39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13" name="Google Shape;313;p39"/>
          <p:cNvSpPr/>
          <p:nvPr/>
        </p:nvSpPr>
        <p:spPr>
          <a:xfrm>
            <a:off x="3742225" y="1877600"/>
            <a:ext cx="24999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Trouble in paradise!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14" name="Google Shape;314;p39"/>
          <p:cNvCxnSpPr>
            <a:stCxn id="313" idx="4"/>
          </p:cNvCxnSpPr>
          <p:nvPr/>
        </p:nvCxnSpPr>
        <p:spPr>
          <a:xfrm flipH="1">
            <a:off x="3564175" y="2708900"/>
            <a:ext cx="1428000" cy="745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320" name="Google Shape;320;p40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idea is that unbalanced configurations will tend to transition to balanced configurations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Unbalanced configurations produce </a:t>
            </a:r>
            <a:r>
              <a:rPr b="1" lang="en"/>
              <a:t>tension</a:t>
            </a:r>
            <a:r>
              <a:rPr lang="en"/>
              <a:t> in P leading them to </a:t>
            </a:r>
            <a:r>
              <a:rPr b="1" lang="en"/>
              <a:t>change </a:t>
            </a:r>
            <a:r>
              <a:rPr lang="en"/>
              <a:t>their sentiments toward O or Q </a:t>
            </a:r>
            <a:r>
              <a:rPr lang="en"/>
              <a:t>to</a:t>
            </a:r>
            <a:r>
              <a:rPr lang="en"/>
              <a:t> generate balance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0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2" name="Google Shape;322;p40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3" name="Google Shape;323;p40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24" name="Google Shape;324;p40"/>
          <p:cNvCxnSpPr>
            <a:stCxn id="321" idx="6"/>
            <a:endCxn id="322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5" name="Google Shape;325;p40"/>
          <p:cNvCxnSpPr>
            <a:stCxn id="322" idx="0"/>
            <a:endCxn id="323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6" name="Google Shape;326;p40"/>
          <p:cNvCxnSpPr>
            <a:stCxn id="321" idx="6"/>
            <a:endCxn id="323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27" name="Google Shape;327;p40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8" name="Google Shape;328;p40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9" name="Google Shape;329;p40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0" name="Google Shape;330;p40"/>
          <p:cNvCxnSpPr>
            <a:stCxn id="327" idx="6"/>
            <a:endCxn id="328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1" name="Google Shape;331;p40"/>
          <p:cNvCxnSpPr>
            <a:stCxn id="328" idx="0"/>
            <a:endCxn id="329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32" name="Google Shape;332;p40"/>
          <p:cNvCxnSpPr>
            <a:stCxn id="327" idx="6"/>
            <a:endCxn id="329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33" name="Google Shape;333;p40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4" name="Google Shape;334;p40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5" name="Google Shape;335;p40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6" name="Google Shape;336;p40"/>
          <p:cNvCxnSpPr>
            <a:stCxn id="333" idx="6"/>
            <a:endCxn id="334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37" name="Google Shape;337;p40"/>
          <p:cNvCxnSpPr>
            <a:stCxn id="334" idx="0"/>
            <a:endCxn id="335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8" name="Google Shape;338;p40"/>
          <p:cNvCxnSpPr>
            <a:stCxn id="333" idx="6"/>
            <a:endCxn id="335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39" name="Google Shape;339;p40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0" name="Google Shape;340;p40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1" name="Google Shape;341;p40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2" name="Google Shape;342;p40"/>
          <p:cNvCxnSpPr>
            <a:stCxn id="339" idx="6"/>
            <a:endCxn id="340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43" name="Google Shape;343;p40"/>
          <p:cNvCxnSpPr>
            <a:stCxn id="340" idx="0"/>
            <a:endCxn id="341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44" name="Google Shape;344;p40"/>
          <p:cNvCxnSpPr>
            <a:stCxn id="339" idx="6"/>
            <a:endCxn id="341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45" name="Google Shape;345;p40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46" name="Google Shape;346;p40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7" name="Google Shape;347;p40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8" name="Google Shape;348;p40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9" name="Google Shape;349;p40"/>
          <p:cNvCxnSpPr>
            <a:stCxn id="346" idx="6"/>
            <a:endCxn id="347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0" name="Google Shape;350;p40"/>
          <p:cNvCxnSpPr>
            <a:stCxn id="347" idx="0"/>
            <a:endCxn id="348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1" name="Google Shape;351;p40"/>
          <p:cNvCxnSpPr>
            <a:stCxn id="346" idx="6"/>
            <a:endCxn id="348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52" name="Google Shape;352;p40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3" name="Google Shape;353;p40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4" name="Google Shape;354;p40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5" name="Google Shape;355;p40"/>
          <p:cNvCxnSpPr>
            <a:stCxn id="352" idx="6"/>
            <a:endCxn id="353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6" name="Google Shape;356;p40"/>
          <p:cNvCxnSpPr>
            <a:stCxn id="353" idx="0"/>
            <a:endCxn id="354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57" name="Google Shape;357;p40"/>
          <p:cNvCxnSpPr>
            <a:stCxn id="352" idx="6"/>
            <a:endCxn id="354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58" name="Google Shape;358;p40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9" name="Google Shape;359;p40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0" name="Google Shape;360;p40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1" name="Google Shape;361;p40"/>
          <p:cNvCxnSpPr>
            <a:stCxn id="358" idx="6"/>
            <a:endCxn id="359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62" name="Google Shape;362;p40"/>
          <p:cNvCxnSpPr>
            <a:stCxn id="359" idx="0"/>
            <a:endCxn id="360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3" name="Google Shape;363;p40"/>
          <p:cNvCxnSpPr>
            <a:stCxn id="358" idx="6"/>
            <a:endCxn id="360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64" name="Google Shape;364;p40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5" name="Google Shape;365;p40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6" name="Google Shape;366;p40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7" name="Google Shape;367;p40"/>
          <p:cNvCxnSpPr>
            <a:stCxn id="364" idx="6"/>
            <a:endCxn id="365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68" name="Google Shape;368;p40"/>
          <p:cNvCxnSpPr>
            <a:stCxn id="365" idx="0"/>
            <a:endCxn id="366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69" name="Google Shape;369;p40"/>
          <p:cNvCxnSpPr>
            <a:stCxn id="364" idx="6"/>
            <a:endCxn id="366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70" name="Google Shape;370;p40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71" name="Google Shape;371;p40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377" name="Google Shape;377;p41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idea is that unbalanced configurations will tend to transition to balanced configurations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Unbalanced configurations produce </a:t>
            </a:r>
            <a:r>
              <a:rPr b="1" lang="en"/>
              <a:t>tension</a:t>
            </a:r>
            <a:r>
              <a:rPr lang="en"/>
              <a:t> in P leading them to </a:t>
            </a:r>
            <a:r>
              <a:rPr b="1" lang="en"/>
              <a:t>change </a:t>
            </a:r>
            <a:r>
              <a:rPr lang="en"/>
              <a:t>their sentiments toward O or Q </a:t>
            </a:r>
            <a:r>
              <a:rPr lang="en"/>
              <a:t>to</a:t>
            </a:r>
            <a:r>
              <a:rPr lang="en"/>
              <a:t> generate balance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41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9" name="Google Shape;379;p41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0" name="Google Shape;380;p41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1" name="Google Shape;381;p41"/>
          <p:cNvCxnSpPr>
            <a:stCxn id="378" idx="6"/>
            <a:endCxn id="379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2" name="Google Shape;382;p41"/>
          <p:cNvCxnSpPr>
            <a:stCxn id="379" idx="0"/>
            <a:endCxn id="380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3" name="Google Shape;383;p41"/>
          <p:cNvCxnSpPr>
            <a:stCxn id="378" idx="6"/>
            <a:endCxn id="380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84" name="Google Shape;384;p41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5" name="Google Shape;385;p41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6" name="Google Shape;386;p41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7" name="Google Shape;387;p41"/>
          <p:cNvCxnSpPr>
            <a:stCxn id="384" idx="6"/>
            <a:endCxn id="385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8" name="Google Shape;388;p41"/>
          <p:cNvCxnSpPr>
            <a:stCxn id="385" idx="0"/>
            <a:endCxn id="386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89" name="Google Shape;389;p41"/>
          <p:cNvCxnSpPr>
            <a:stCxn id="384" idx="6"/>
            <a:endCxn id="386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90" name="Google Shape;390;p41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1" name="Google Shape;391;p41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2" name="Google Shape;392;p41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3" name="Google Shape;393;p41"/>
          <p:cNvCxnSpPr>
            <a:stCxn id="390" idx="6"/>
            <a:endCxn id="391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94" name="Google Shape;394;p41"/>
          <p:cNvCxnSpPr>
            <a:stCxn id="391" idx="0"/>
            <a:endCxn id="392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5" name="Google Shape;395;p41"/>
          <p:cNvCxnSpPr>
            <a:stCxn id="390" idx="6"/>
            <a:endCxn id="392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96" name="Google Shape;396;p41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7" name="Google Shape;397;p41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8" name="Google Shape;398;p41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9" name="Google Shape;399;p41"/>
          <p:cNvCxnSpPr>
            <a:stCxn id="396" idx="6"/>
            <a:endCxn id="397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00" name="Google Shape;400;p41"/>
          <p:cNvCxnSpPr>
            <a:stCxn id="397" idx="0"/>
            <a:endCxn id="398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01" name="Google Shape;401;p41"/>
          <p:cNvCxnSpPr>
            <a:stCxn id="396" idx="6"/>
            <a:endCxn id="398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402" name="Google Shape;402;p41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03" name="Google Shape;403;p41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4" name="Google Shape;404;p41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5" name="Google Shape;405;p41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6" name="Google Shape;406;p41"/>
          <p:cNvCxnSpPr>
            <a:stCxn id="403" idx="6"/>
            <a:endCxn id="404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7" name="Google Shape;407;p41"/>
          <p:cNvCxnSpPr>
            <a:stCxn id="404" idx="0"/>
            <a:endCxn id="405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8" name="Google Shape;408;p41"/>
          <p:cNvCxnSpPr>
            <a:stCxn id="403" idx="6"/>
            <a:endCxn id="405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09" name="Google Shape;409;p41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0" name="Google Shape;410;p41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1" name="Google Shape;411;p41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2" name="Google Shape;412;p41"/>
          <p:cNvCxnSpPr>
            <a:stCxn id="409" idx="6"/>
            <a:endCxn id="410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3" name="Google Shape;413;p41"/>
          <p:cNvCxnSpPr>
            <a:stCxn id="410" idx="0"/>
            <a:endCxn id="411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14" name="Google Shape;414;p41"/>
          <p:cNvCxnSpPr>
            <a:stCxn id="409" idx="6"/>
            <a:endCxn id="411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415" name="Google Shape;415;p41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6" name="Google Shape;416;p41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7" name="Google Shape;417;p41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8" name="Google Shape;418;p41"/>
          <p:cNvCxnSpPr>
            <a:stCxn id="415" idx="6"/>
            <a:endCxn id="416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19" name="Google Shape;419;p41"/>
          <p:cNvCxnSpPr>
            <a:stCxn id="416" idx="0"/>
            <a:endCxn id="417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0" name="Google Shape;420;p41"/>
          <p:cNvCxnSpPr>
            <a:stCxn id="415" idx="6"/>
            <a:endCxn id="417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421" name="Google Shape;421;p41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22" name="Google Shape;422;p41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23" name="Google Shape;423;p41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4" name="Google Shape;424;p41"/>
          <p:cNvCxnSpPr>
            <a:stCxn id="421" idx="6"/>
            <a:endCxn id="422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25" name="Google Shape;425;p41"/>
          <p:cNvCxnSpPr>
            <a:stCxn id="422" idx="0"/>
            <a:endCxn id="423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26" name="Google Shape;426;p41"/>
          <p:cNvCxnSpPr>
            <a:stCxn id="421" idx="6"/>
            <a:endCxn id="423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27" name="Google Shape;427;p41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28" name="Google Shape;428;p41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1"/>
          <p:cNvSpPr/>
          <p:nvPr/>
        </p:nvSpPr>
        <p:spPr>
          <a:xfrm>
            <a:off x="1991475" y="2410375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1"/>
          <p:cNvSpPr/>
          <p:nvPr/>
        </p:nvSpPr>
        <p:spPr>
          <a:xfrm>
            <a:off x="7341125" y="2399750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436" name="Google Shape;436;p42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idea is that unbalanced configurations will tend to transition to balanced configurations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Unbalanced configurations produce </a:t>
            </a:r>
            <a:r>
              <a:rPr b="1" lang="en"/>
              <a:t>tension</a:t>
            </a:r>
            <a:r>
              <a:rPr lang="en"/>
              <a:t> in P leading them to </a:t>
            </a:r>
            <a:r>
              <a:rPr b="1" lang="en"/>
              <a:t>change </a:t>
            </a:r>
            <a:r>
              <a:rPr lang="en"/>
              <a:t>their sentiments toward O or Q </a:t>
            </a:r>
            <a:r>
              <a:rPr lang="en"/>
              <a:t>to</a:t>
            </a:r>
            <a:r>
              <a:rPr lang="en"/>
              <a:t> generate balance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42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38" name="Google Shape;438;p42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39" name="Google Shape;439;p42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40" name="Google Shape;440;p42"/>
          <p:cNvCxnSpPr>
            <a:stCxn id="437" idx="6"/>
            <a:endCxn id="438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1" name="Google Shape;441;p42"/>
          <p:cNvCxnSpPr>
            <a:stCxn id="438" idx="0"/>
            <a:endCxn id="439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2" name="Google Shape;442;p42"/>
          <p:cNvCxnSpPr>
            <a:stCxn id="437" idx="6"/>
            <a:endCxn id="439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443" name="Google Shape;443;p42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44" name="Google Shape;444;p42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45" name="Google Shape;445;p42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46" name="Google Shape;446;p42"/>
          <p:cNvCxnSpPr>
            <a:stCxn id="443" idx="6"/>
            <a:endCxn id="444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7" name="Google Shape;447;p42"/>
          <p:cNvCxnSpPr>
            <a:stCxn id="444" idx="0"/>
            <a:endCxn id="445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48" name="Google Shape;448;p42"/>
          <p:cNvCxnSpPr>
            <a:stCxn id="443" idx="6"/>
            <a:endCxn id="445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49" name="Google Shape;449;p42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0" name="Google Shape;450;p42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1" name="Google Shape;451;p42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52" name="Google Shape;452;p42"/>
          <p:cNvCxnSpPr>
            <a:stCxn id="449" idx="6"/>
            <a:endCxn id="450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53" name="Google Shape;453;p42"/>
          <p:cNvCxnSpPr>
            <a:stCxn id="450" idx="0"/>
            <a:endCxn id="451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54" name="Google Shape;454;p42"/>
          <p:cNvCxnSpPr>
            <a:stCxn id="449" idx="6"/>
            <a:endCxn id="451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55" name="Google Shape;455;p42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6" name="Google Shape;456;p42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7" name="Google Shape;457;p42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58" name="Google Shape;458;p42"/>
          <p:cNvCxnSpPr>
            <a:stCxn id="455" idx="6"/>
            <a:endCxn id="456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59" name="Google Shape;459;p42"/>
          <p:cNvCxnSpPr>
            <a:stCxn id="456" idx="0"/>
            <a:endCxn id="457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60" name="Google Shape;460;p42"/>
          <p:cNvCxnSpPr>
            <a:stCxn id="455" idx="6"/>
            <a:endCxn id="457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461" name="Google Shape;461;p42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62" name="Google Shape;462;p42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63" name="Google Shape;463;p42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64" name="Google Shape;464;p42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65" name="Google Shape;465;p42"/>
          <p:cNvCxnSpPr>
            <a:stCxn id="462" idx="6"/>
            <a:endCxn id="463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6" name="Google Shape;466;p42"/>
          <p:cNvCxnSpPr>
            <a:stCxn id="463" idx="0"/>
            <a:endCxn id="464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7" name="Google Shape;467;p42"/>
          <p:cNvCxnSpPr>
            <a:stCxn id="462" idx="6"/>
            <a:endCxn id="464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68" name="Google Shape;468;p42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69" name="Google Shape;469;p42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0" name="Google Shape;470;p42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1" name="Google Shape;471;p42"/>
          <p:cNvCxnSpPr>
            <a:stCxn id="468" idx="6"/>
            <a:endCxn id="469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2" name="Google Shape;472;p42"/>
          <p:cNvCxnSpPr>
            <a:stCxn id="469" idx="0"/>
            <a:endCxn id="470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73" name="Google Shape;473;p42"/>
          <p:cNvCxnSpPr>
            <a:stCxn id="468" idx="6"/>
            <a:endCxn id="470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474" name="Google Shape;474;p42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5" name="Google Shape;475;p42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6" name="Google Shape;476;p42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7" name="Google Shape;477;p42"/>
          <p:cNvCxnSpPr>
            <a:stCxn id="474" idx="6"/>
            <a:endCxn id="475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78" name="Google Shape;478;p42"/>
          <p:cNvCxnSpPr>
            <a:stCxn id="475" idx="0"/>
            <a:endCxn id="476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9" name="Google Shape;479;p42"/>
          <p:cNvCxnSpPr>
            <a:stCxn id="474" idx="6"/>
            <a:endCxn id="476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480" name="Google Shape;480;p42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81" name="Google Shape;481;p42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82" name="Google Shape;482;p42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83" name="Google Shape;483;p42"/>
          <p:cNvCxnSpPr>
            <a:stCxn id="480" idx="6"/>
            <a:endCxn id="481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84" name="Google Shape;484;p42"/>
          <p:cNvCxnSpPr>
            <a:stCxn id="481" idx="0"/>
            <a:endCxn id="482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85" name="Google Shape;485;p42"/>
          <p:cNvCxnSpPr>
            <a:stCxn id="480" idx="6"/>
            <a:endCxn id="482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86" name="Google Shape;486;p42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87" name="Google Shape;487;p42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42"/>
          <p:cNvSpPr/>
          <p:nvPr/>
        </p:nvSpPr>
        <p:spPr>
          <a:xfrm>
            <a:off x="192175" y="2399738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2"/>
          <p:cNvSpPr/>
          <p:nvPr/>
        </p:nvSpPr>
        <p:spPr>
          <a:xfrm>
            <a:off x="5722263" y="2414025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495" name="Google Shape;495;p43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idea is that unbalanced configurations will tend to transition to balanced configurations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Unbalanced configurations produce </a:t>
            </a:r>
            <a:r>
              <a:rPr b="1" lang="en"/>
              <a:t>tension</a:t>
            </a:r>
            <a:r>
              <a:rPr lang="en"/>
              <a:t> in P leading them to </a:t>
            </a:r>
            <a:r>
              <a:rPr b="1" lang="en"/>
              <a:t>change </a:t>
            </a:r>
            <a:r>
              <a:rPr lang="en"/>
              <a:t>their sentiments toward O or Q </a:t>
            </a:r>
            <a:r>
              <a:rPr lang="en"/>
              <a:t>to</a:t>
            </a:r>
            <a:r>
              <a:rPr lang="en"/>
              <a:t> generate balance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43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97" name="Google Shape;497;p43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98" name="Google Shape;498;p43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99" name="Google Shape;499;p43"/>
          <p:cNvCxnSpPr>
            <a:stCxn id="496" idx="6"/>
            <a:endCxn id="497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0" name="Google Shape;500;p43"/>
          <p:cNvCxnSpPr>
            <a:stCxn id="497" idx="0"/>
            <a:endCxn id="498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1" name="Google Shape;501;p43"/>
          <p:cNvCxnSpPr>
            <a:stCxn id="496" idx="6"/>
            <a:endCxn id="498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02" name="Google Shape;502;p43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03" name="Google Shape;503;p43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04" name="Google Shape;504;p43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05" name="Google Shape;505;p43"/>
          <p:cNvCxnSpPr>
            <a:stCxn id="502" idx="6"/>
            <a:endCxn id="503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6" name="Google Shape;506;p43"/>
          <p:cNvCxnSpPr>
            <a:stCxn id="503" idx="0"/>
            <a:endCxn id="504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07" name="Google Shape;507;p43"/>
          <p:cNvCxnSpPr>
            <a:stCxn id="502" idx="6"/>
            <a:endCxn id="504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08" name="Google Shape;508;p43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09" name="Google Shape;509;p43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10" name="Google Shape;510;p43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11" name="Google Shape;511;p43"/>
          <p:cNvCxnSpPr>
            <a:stCxn id="508" idx="6"/>
            <a:endCxn id="509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12" name="Google Shape;512;p43"/>
          <p:cNvCxnSpPr>
            <a:stCxn id="509" idx="0"/>
            <a:endCxn id="510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3" name="Google Shape;513;p43"/>
          <p:cNvCxnSpPr>
            <a:stCxn id="508" idx="6"/>
            <a:endCxn id="510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14" name="Google Shape;514;p43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15" name="Google Shape;515;p43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16" name="Google Shape;516;p43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17" name="Google Shape;517;p43"/>
          <p:cNvCxnSpPr>
            <a:stCxn id="514" idx="6"/>
            <a:endCxn id="515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18" name="Google Shape;518;p43"/>
          <p:cNvCxnSpPr>
            <a:stCxn id="515" idx="0"/>
            <a:endCxn id="516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19" name="Google Shape;519;p43"/>
          <p:cNvCxnSpPr>
            <a:stCxn id="514" idx="6"/>
            <a:endCxn id="516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20" name="Google Shape;520;p43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21" name="Google Shape;521;p43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22" name="Google Shape;522;p43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23" name="Google Shape;523;p43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24" name="Google Shape;524;p43"/>
          <p:cNvCxnSpPr>
            <a:stCxn id="521" idx="6"/>
            <a:endCxn id="522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5" name="Google Shape;525;p43"/>
          <p:cNvCxnSpPr>
            <a:stCxn id="522" idx="0"/>
            <a:endCxn id="523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6" name="Google Shape;526;p43"/>
          <p:cNvCxnSpPr>
            <a:stCxn id="521" idx="6"/>
            <a:endCxn id="523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27" name="Google Shape;527;p43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28" name="Google Shape;528;p43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29" name="Google Shape;529;p43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30" name="Google Shape;530;p43"/>
          <p:cNvCxnSpPr>
            <a:stCxn id="527" idx="6"/>
            <a:endCxn id="528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31" name="Google Shape;531;p43"/>
          <p:cNvCxnSpPr>
            <a:stCxn id="528" idx="0"/>
            <a:endCxn id="529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32" name="Google Shape;532;p43"/>
          <p:cNvCxnSpPr>
            <a:stCxn id="527" idx="6"/>
            <a:endCxn id="529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33" name="Google Shape;533;p43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34" name="Google Shape;534;p43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35" name="Google Shape;535;p43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36" name="Google Shape;536;p43"/>
          <p:cNvCxnSpPr>
            <a:stCxn id="533" idx="6"/>
            <a:endCxn id="534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37" name="Google Shape;537;p43"/>
          <p:cNvCxnSpPr>
            <a:stCxn id="534" idx="0"/>
            <a:endCxn id="535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38" name="Google Shape;538;p43"/>
          <p:cNvCxnSpPr>
            <a:stCxn id="533" idx="6"/>
            <a:endCxn id="535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39" name="Google Shape;539;p43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0" name="Google Shape;540;p43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1" name="Google Shape;541;p43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42" name="Google Shape;542;p43"/>
          <p:cNvCxnSpPr>
            <a:stCxn id="539" idx="6"/>
            <a:endCxn id="540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43" name="Google Shape;543;p43"/>
          <p:cNvCxnSpPr>
            <a:stCxn id="540" idx="0"/>
            <a:endCxn id="541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44" name="Google Shape;544;p43"/>
          <p:cNvCxnSpPr>
            <a:stCxn id="539" idx="6"/>
            <a:endCxn id="541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45" name="Google Shape;545;p43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46" name="Google Shape;546;p43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3"/>
          <p:cNvSpPr/>
          <p:nvPr/>
        </p:nvSpPr>
        <p:spPr>
          <a:xfrm>
            <a:off x="192175" y="3493008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3"/>
          <p:cNvSpPr/>
          <p:nvPr/>
        </p:nvSpPr>
        <p:spPr>
          <a:xfrm>
            <a:off x="5722263" y="3507296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554" name="Google Shape;554;p44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idea is that unbalanced configurations will tend to transition to balanced configurations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Unbalanced configurations produce </a:t>
            </a:r>
            <a:r>
              <a:rPr b="1" lang="en"/>
              <a:t>tension</a:t>
            </a:r>
            <a:r>
              <a:rPr lang="en"/>
              <a:t> in P leading them to </a:t>
            </a:r>
            <a:r>
              <a:rPr b="1" lang="en"/>
              <a:t>change </a:t>
            </a:r>
            <a:r>
              <a:rPr lang="en"/>
              <a:t>their sentiments toward O or Q </a:t>
            </a:r>
            <a:r>
              <a:rPr lang="en"/>
              <a:t>to</a:t>
            </a:r>
            <a:r>
              <a:rPr lang="en"/>
              <a:t> generate balance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44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56" name="Google Shape;556;p44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57" name="Google Shape;557;p44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58" name="Google Shape;558;p44"/>
          <p:cNvCxnSpPr>
            <a:stCxn id="555" idx="6"/>
            <a:endCxn id="556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9" name="Google Shape;559;p44"/>
          <p:cNvCxnSpPr>
            <a:stCxn id="556" idx="0"/>
            <a:endCxn id="557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60" name="Google Shape;560;p44"/>
          <p:cNvCxnSpPr>
            <a:stCxn id="555" idx="6"/>
            <a:endCxn id="557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61" name="Google Shape;561;p44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62" name="Google Shape;562;p44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63" name="Google Shape;563;p44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64" name="Google Shape;564;p44"/>
          <p:cNvCxnSpPr>
            <a:stCxn id="561" idx="6"/>
            <a:endCxn id="562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65" name="Google Shape;565;p44"/>
          <p:cNvCxnSpPr>
            <a:stCxn id="562" idx="0"/>
            <a:endCxn id="563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66" name="Google Shape;566;p44"/>
          <p:cNvCxnSpPr>
            <a:stCxn id="561" idx="6"/>
            <a:endCxn id="563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67" name="Google Shape;567;p44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68" name="Google Shape;568;p44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69" name="Google Shape;569;p44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70" name="Google Shape;570;p44"/>
          <p:cNvCxnSpPr>
            <a:stCxn id="567" idx="6"/>
            <a:endCxn id="568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71" name="Google Shape;571;p44"/>
          <p:cNvCxnSpPr>
            <a:stCxn id="568" idx="0"/>
            <a:endCxn id="569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72" name="Google Shape;572;p44"/>
          <p:cNvCxnSpPr>
            <a:stCxn id="567" idx="6"/>
            <a:endCxn id="569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73" name="Google Shape;573;p44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4" name="Google Shape;574;p44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5" name="Google Shape;575;p44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76" name="Google Shape;576;p44"/>
          <p:cNvCxnSpPr>
            <a:stCxn id="573" idx="6"/>
            <a:endCxn id="574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77" name="Google Shape;577;p44"/>
          <p:cNvCxnSpPr>
            <a:stCxn id="574" idx="0"/>
            <a:endCxn id="575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78" name="Google Shape;578;p44"/>
          <p:cNvCxnSpPr>
            <a:stCxn id="573" idx="6"/>
            <a:endCxn id="575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79" name="Google Shape;579;p44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80" name="Google Shape;580;p44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81" name="Google Shape;581;p44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82" name="Google Shape;582;p44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83" name="Google Shape;583;p44"/>
          <p:cNvCxnSpPr>
            <a:stCxn id="580" idx="6"/>
            <a:endCxn id="581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4" name="Google Shape;584;p44"/>
          <p:cNvCxnSpPr>
            <a:stCxn id="581" idx="0"/>
            <a:endCxn id="582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5" name="Google Shape;585;p44"/>
          <p:cNvCxnSpPr>
            <a:stCxn id="580" idx="6"/>
            <a:endCxn id="582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86" name="Google Shape;586;p44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87" name="Google Shape;587;p44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88" name="Google Shape;588;p44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89" name="Google Shape;589;p44"/>
          <p:cNvCxnSpPr>
            <a:stCxn id="586" idx="6"/>
            <a:endCxn id="587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0" name="Google Shape;590;p44"/>
          <p:cNvCxnSpPr>
            <a:stCxn id="587" idx="0"/>
            <a:endCxn id="588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91" name="Google Shape;591;p44"/>
          <p:cNvCxnSpPr>
            <a:stCxn id="586" idx="6"/>
            <a:endCxn id="588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92" name="Google Shape;592;p44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3" name="Google Shape;593;p44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4" name="Google Shape;594;p44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95" name="Google Shape;595;p44"/>
          <p:cNvCxnSpPr>
            <a:stCxn id="592" idx="6"/>
            <a:endCxn id="593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96" name="Google Shape;596;p44"/>
          <p:cNvCxnSpPr>
            <a:stCxn id="593" idx="0"/>
            <a:endCxn id="594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7" name="Google Shape;597;p44"/>
          <p:cNvCxnSpPr>
            <a:stCxn id="592" idx="6"/>
            <a:endCxn id="594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98" name="Google Shape;598;p44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9" name="Google Shape;599;p44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00" name="Google Shape;600;p44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01" name="Google Shape;601;p44"/>
          <p:cNvCxnSpPr>
            <a:stCxn id="598" idx="6"/>
            <a:endCxn id="599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02" name="Google Shape;602;p44"/>
          <p:cNvCxnSpPr>
            <a:stCxn id="599" idx="0"/>
            <a:endCxn id="600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03" name="Google Shape;603;p44"/>
          <p:cNvCxnSpPr>
            <a:stCxn id="598" idx="6"/>
            <a:endCxn id="600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04" name="Google Shape;604;p44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05" name="Google Shape;605;p44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44"/>
          <p:cNvSpPr/>
          <p:nvPr/>
        </p:nvSpPr>
        <p:spPr>
          <a:xfrm>
            <a:off x="1991475" y="3503633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44"/>
          <p:cNvSpPr/>
          <p:nvPr/>
        </p:nvSpPr>
        <p:spPr>
          <a:xfrm>
            <a:off x="7341125" y="3493008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613" name="Google Shape;613;p45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Remember the rules of sign multiplication from basic algebra?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  * +1 = +1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  *  -1 =  -1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-1  *  -1 = +1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45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15" name="Google Shape;615;p45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16" name="Google Shape;616;p45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17" name="Google Shape;617;p45"/>
          <p:cNvCxnSpPr>
            <a:stCxn id="614" idx="6"/>
            <a:endCxn id="615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8" name="Google Shape;618;p45"/>
          <p:cNvCxnSpPr>
            <a:stCxn id="615" idx="0"/>
            <a:endCxn id="616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9" name="Google Shape;619;p45"/>
          <p:cNvCxnSpPr>
            <a:stCxn id="614" idx="6"/>
            <a:endCxn id="616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20" name="Google Shape;620;p45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1" name="Google Shape;621;p45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2" name="Google Shape;622;p45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23" name="Google Shape;623;p45"/>
          <p:cNvCxnSpPr>
            <a:stCxn id="620" idx="6"/>
            <a:endCxn id="621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24" name="Google Shape;624;p45"/>
          <p:cNvCxnSpPr>
            <a:stCxn id="621" idx="0"/>
            <a:endCxn id="622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25" name="Google Shape;625;p45"/>
          <p:cNvCxnSpPr>
            <a:stCxn id="620" idx="6"/>
            <a:endCxn id="622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26" name="Google Shape;626;p45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7" name="Google Shape;627;p45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8" name="Google Shape;628;p45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29" name="Google Shape;629;p45"/>
          <p:cNvCxnSpPr>
            <a:stCxn id="626" idx="6"/>
            <a:endCxn id="627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30" name="Google Shape;630;p45"/>
          <p:cNvCxnSpPr>
            <a:stCxn id="627" idx="0"/>
            <a:endCxn id="628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31" name="Google Shape;631;p45"/>
          <p:cNvCxnSpPr>
            <a:stCxn id="626" idx="6"/>
            <a:endCxn id="628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32" name="Google Shape;632;p45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3" name="Google Shape;633;p45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4" name="Google Shape;634;p45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35" name="Google Shape;635;p45"/>
          <p:cNvCxnSpPr>
            <a:stCxn id="632" idx="6"/>
            <a:endCxn id="633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36" name="Google Shape;636;p45"/>
          <p:cNvCxnSpPr>
            <a:stCxn id="633" idx="0"/>
            <a:endCxn id="634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37" name="Google Shape;637;p45"/>
          <p:cNvCxnSpPr>
            <a:stCxn id="632" idx="6"/>
            <a:endCxn id="634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38" name="Google Shape;638;p45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39" name="Google Shape;639;p45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40" name="Google Shape;640;p45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41" name="Google Shape;641;p45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42" name="Google Shape;642;p45"/>
          <p:cNvCxnSpPr>
            <a:stCxn id="639" idx="6"/>
            <a:endCxn id="640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3" name="Google Shape;643;p45"/>
          <p:cNvCxnSpPr>
            <a:stCxn id="640" idx="0"/>
            <a:endCxn id="641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4" name="Google Shape;644;p45"/>
          <p:cNvCxnSpPr>
            <a:stCxn id="639" idx="6"/>
            <a:endCxn id="641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45" name="Google Shape;645;p45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46" name="Google Shape;646;p45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47" name="Google Shape;647;p45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48" name="Google Shape;648;p45"/>
          <p:cNvCxnSpPr>
            <a:stCxn id="645" idx="6"/>
            <a:endCxn id="646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9" name="Google Shape;649;p45"/>
          <p:cNvCxnSpPr>
            <a:stCxn id="646" idx="0"/>
            <a:endCxn id="647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50" name="Google Shape;650;p45"/>
          <p:cNvCxnSpPr>
            <a:stCxn id="645" idx="6"/>
            <a:endCxn id="647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51" name="Google Shape;651;p45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2" name="Google Shape;652;p45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3" name="Google Shape;653;p45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54" name="Google Shape;654;p45"/>
          <p:cNvCxnSpPr>
            <a:stCxn id="651" idx="6"/>
            <a:endCxn id="652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55" name="Google Shape;655;p45"/>
          <p:cNvCxnSpPr>
            <a:stCxn id="652" idx="0"/>
            <a:endCxn id="653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6" name="Google Shape;656;p45"/>
          <p:cNvCxnSpPr>
            <a:stCxn id="651" idx="6"/>
            <a:endCxn id="653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57" name="Google Shape;657;p45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8" name="Google Shape;658;p45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9" name="Google Shape;659;p45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60" name="Google Shape;660;p45"/>
          <p:cNvCxnSpPr>
            <a:stCxn id="657" idx="6"/>
            <a:endCxn id="658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61" name="Google Shape;661;p45"/>
          <p:cNvCxnSpPr>
            <a:stCxn id="658" idx="0"/>
            <a:endCxn id="659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62" name="Google Shape;662;p45"/>
          <p:cNvCxnSpPr>
            <a:stCxn id="657" idx="6"/>
            <a:endCxn id="659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63" name="Google Shape;663;p45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64" name="Google Shape;664;p45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670" name="Google Shape;670;p46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Remember the rules of sign multiplication from basic algebra?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  * +1 = +1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  *  -1 =  -1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-1  *  -1 = +1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46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72" name="Google Shape;672;p46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73" name="Google Shape;673;p46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74" name="Google Shape;674;p46"/>
          <p:cNvCxnSpPr>
            <a:stCxn id="671" idx="6"/>
            <a:endCxn id="672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75" name="Google Shape;675;p46"/>
          <p:cNvCxnSpPr>
            <a:stCxn id="672" idx="0"/>
            <a:endCxn id="673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76" name="Google Shape;676;p46"/>
          <p:cNvCxnSpPr>
            <a:stCxn id="671" idx="6"/>
            <a:endCxn id="673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77" name="Google Shape;677;p46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78" name="Google Shape;678;p46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79" name="Google Shape;679;p46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80" name="Google Shape;680;p46"/>
          <p:cNvCxnSpPr>
            <a:stCxn id="677" idx="6"/>
            <a:endCxn id="678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1" name="Google Shape;681;p46"/>
          <p:cNvCxnSpPr>
            <a:stCxn id="678" idx="0"/>
            <a:endCxn id="679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82" name="Google Shape;682;p46"/>
          <p:cNvCxnSpPr>
            <a:stCxn id="677" idx="6"/>
            <a:endCxn id="679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83" name="Google Shape;683;p46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84" name="Google Shape;684;p46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85" name="Google Shape;685;p46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86" name="Google Shape;686;p46"/>
          <p:cNvCxnSpPr>
            <a:stCxn id="683" idx="6"/>
            <a:endCxn id="684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87" name="Google Shape;687;p46"/>
          <p:cNvCxnSpPr>
            <a:stCxn id="684" idx="0"/>
            <a:endCxn id="685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8" name="Google Shape;688;p46"/>
          <p:cNvCxnSpPr>
            <a:stCxn id="683" idx="6"/>
            <a:endCxn id="685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89" name="Google Shape;689;p46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0" name="Google Shape;690;p46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1" name="Google Shape;691;p46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92" name="Google Shape;692;p46"/>
          <p:cNvCxnSpPr>
            <a:stCxn id="689" idx="6"/>
            <a:endCxn id="690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93" name="Google Shape;693;p46"/>
          <p:cNvCxnSpPr>
            <a:stCxn id="690" idx="0"/>
            <a:endCxn id="691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94" name="Google Shape;694;p46"/>
          <p:cNvCxnSpPr>
            <a:stCxn id="689" idx="6"/>
            <a:endCxn id="691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95" name="Google Shape;695;p46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96" name="Google Shape;696;p46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7" name="Google Shape;697;p46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8" name="Google Shape;698;p46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99" name="Google Shape;699;p46"/>
          <p:cNvCxnSpPr>
            <a:stCxn id="696" idx="6"/>
            <a:endCxn id="697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0" name="Google Shape;700;p46"/>
          <p:cNvCxnSpPr>
            <a:stCxn id="697" idx="0"/>
            <a:endCxn id="698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1" name="Google Shape;701;p46"/>
          <p:cNvCxnSpPr>
            <a:stCxn id="696" idx="6"/>
            <a:endCxn id="698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02" name="Google Shape;702;p46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03" name="Google Shape;703;p46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04" name="Google Shape;704;p46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05" name="Google Shape;705;p46"/>
          <p:cNvCxnSpPr>
            <a:stCxn id="702" idx="6"/>
            <a:endCxn id="703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6" name="Google Shape;706;p46"/>
          <p:cNvCxnSpPr>
            <a:stCxn id="703" idx="0"/>
            <a:endCxn id="704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07" name="Google Shape;707;p46"/>
          <p:cNvCxnSpPr>
            <a:stCxn id="702" idx="6"/>
            <a:endCxn id="704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08" name="Google Shape;708;p46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09" name="Google Shape;709;p46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10" name="Google Shape;710;p46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11" name="Google Shape;711;p46"/>
          <p:cNvCxnSpPr>
            <a:stCxn id="708" idx="6"/>
            <a:endCxn id="709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12" name="Google Shape;712;p46"/>
          <p:cNvCxnSpPr>
            <a:stCxn id="709" idx="0"/>
            <a:endCxn id="710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13" name="Google Shape;713;p46"/>
          <p:cNvCxnSpPr>
            <a:stCxn id="708" idx="6"/>
            <a:endCxn id="710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14" name="Google Shape;714;p46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15" name="Google Shape;715;p46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16" name="Google Shape;716;p46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17" name="Google Shape;717;p46"/>
          <p:cNvCxnSpPr>
            <a:stCxn id="714" idx="6"/>
            <a:endCxn id="715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18" name="Google Shape;718;p46"/>
          <p:cNvCxnSpPr>
            <a:stCxn id="715" idx="0"/>
            <a:endCxn id="716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19" name="Google Shape;719;p46"/>
          <p:cNvCxnSpPr>
            <a:stCxn id="714" idx="6"/>
            <a:endCxn id="716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20" name="Google Shape;720;p46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21" name="Google Shape;721;p46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46"/>
          <p:cNvSpPr/>
          <p:nvPr/>
        </p:nvSpPr>
        <p:spPr>
          <a:xfrm>
            <a:off x="3563675" y="1718788"/>
            <a:ext cx="24999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They apply to balance theory!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728" name="Google Shape;728;p47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Turns out that if you multiply the signs of the edges of each of the </a:t>
            </a:r>
            <a:r>
              <a:rPr b="1" lang="en"/>
              <a:t>unbalanced</a:t>
            </a:r>
            <a:r>
              <a:rPr lang="en"/>
              <a:t> triads you get a </a:t>
            </a:r>
            <a:r>
              <a:rPr b="1" lang="en"/>
              <a:t>negative</a:t>
            </a:r>
            <a:r>
              <a:rPr lang="en"/>
              <a:t> number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Try it!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47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30" name="Google Shape;730;p47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31" name="Google Shape;731;p47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32" name="Google Shape;732;p47"/>
          <p:cNvCxnSpPr>
            <a:stCxn id="729" idx="6"/>
            <a:endCxn id="730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33" name="Google Shape;733;p47"/>
          <p:cNvCxnSpPr>
            <a:stCxn id="730" idx="0"/>
            <a:endCxn id="731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34" name="Google Shape;734;p47"/>
          <p:cNvCxnSpPr>
            <a:stCxn id="729" idx="6"/>
            <a:endCxn id="731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35" name="Google Shape;735;p47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36" name="Google Shape;736;p47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37" name="Google Shape;737;p47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38" name="Google Shape;738;p47"/>
          <p:cNvCxnSpPr>
            <a:stCxn id="735" idx="6"/>
            <a:endCxn id="736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39" name="Google Shape;739;p47"/>
          <p:cNvCxnSpPr>
            <a:stCxn id="736" idx="0"/>
            <a:endCxn id="737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40" name="Google Shape;740;p47"/>
          <p:cNvCxnSpPr>
            <a:stCxn id="735" idx="6"/>
            <a:endCxn id="737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41" name="Google Shape;741;p47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42" name="Google Shape;742;p47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43" name="Google Shape;743;p47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44" name="Google Shape;744;p47"/>
          <p:cNvCxnSpPr>
            <a:stCxn id="741" idx="6"/>
            <a:endCxn id="742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45" name="Google Shape;745;p47"/>
          <p:cNvCxnSpPr>
            <a:stCxn id="742" idx="0"/>
            <a:endCxn id="743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46" name="Google Shape;746;p47"/>
          <p:cNvCxnSpPr>
            <a:stCxn id="741" idx="6"/>
            <a:endCxn id="743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47" name="Google Shape;747;p47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48" name="Google Shape;748;p47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49" name="Google Shape;749;p47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50" name="Google Shape;750;p47"/>
          <p:cNvCxnSpPr>
            <a:stCxn id="747" idx="6"/>
            <a:endCxn id="748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51" name="Google Shape;751;p47"/>
          <p:cNvCxnSpPr>
            <a:stCxn id="748" idx="0"/>
            <a:endCxn id="749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52" name="Google Shape;752;p47"/>
          <p:cNvCxnSpPr>
            <a:stCxn id="747" idx="6"/>
            <a:endCxn id="749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53" name="Google Shape;753;p47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54" name="Google Shape;754;p47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55" name="Google Shape;755;p47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56" name="Google Shape;756;p47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57" name="Google Shape;757;p47"/>
          <p:cNvCxnSpPr>
            <a:stCxn id="754" idx="6"/>
            <a:endCxn id="755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8" name="Google Shape;758;p47"/>
          <p:cNvCxnSpPr>
            <a:stCxn id="755" idx="0"/>
            <a:endCxn id="756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9" name="Google Shape;759;p47"/>
          <p:cNvCxnSpPr>
            <a:stCxn id="754" idx="6"/>
            <a:endCxn id="756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60" name="Google Shape;760;p47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61" name="Google Shape;761;p47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62" name="Google Shape;762;p47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63" name="Google Shape;763;p47"/>
          <p:cNvCxnSpPr>
            <a:stCxn id="760" idx="6"/>
            <a:endCxn id="761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4" name="Google Shape;764;p47"/>
          <p:cNvCxnSpPr>
            <a:stCxn id="761" idx="0"/>
            <a:endCxn id="762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65" name="Google Shape;765;p47"/>
          <p:cNvCxnSpPr>
            <a:stCxn id="760" idx="6"/>
            <a:endCxn id="762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66" name="Google Shape;766;p47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67" name="Google Shape;767;p47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68" name="Google Shape;768;p47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69" name="Google Shape;769;p47"/>
          <p:cNvCxnSpPr>
            <a:stCxn id="766" idx="6"/>
            <a:endCxn id="767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70" name="Google Shape;770;p47"/>
          <p:cNvCxnSpPr>
            <a:stCxn id="767" idx="0"/>
            <a:endCxn id="768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1" name="Google Shape;771;p47"/>
          <p:cNvCxnSpPr>
            <a:stCxn id="766" idx="6"/>
            <a:endCxn id="768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72" name="Google Shape;772;p47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73" name="Google Shape;773;p47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74" name="Google Shape;774;p47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75" name="Google Shape;775;p47"/>
          <p:cNvCxnSpPr>
            <a:stCxn id="772" idx="6"/>
            <a:endCxn id="773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76" name="Google Shape;776;p47"/>
          <p:cNvCxnSpPr>
            <a:stCxn id="773" idx="0"/>
            <a:endCxn id="774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77" name="Google Shape;777;p47"/>
          <p:cNvCxnSpPr>
            <a:stCxn id="772" idx="6"/>
            <a:endCxn id="774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78" name="Google Shape;778;p47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79" name="Google Shape;779;p47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785" name="Google Shape;785;p48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Turns out that if you multiply the signs of the edges of each of the </a:t>
            </a:r>
            <a:r>
              <a:rPr b="1" lang="en"/>
              <a:t>unbalanced</a:t>
            </a:r>
            <a:r>
              <a:rPr lang="en"/>
              <a:t> triads you get a </a:t>
            </a:r>
            <a:r>
              <a:rPr b="1" lang="en"/>
              <a:t>negative</a:t>
            </a:r>
            <a:r>
              <a:rPr lang="en"/>
              <a:t> number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</a:t>
            </a:r>
            <a:r>
              <a:rPr baseline="-25000" lang="en"/>
              <a:t>PO </a:t>
            </a:r>
            <a:r>
              <a:rPr lang="en"/>
              <a:t>* -1</a:t>
            </a:r>
            <a:r>
              <a:rPr baseline="-25000" lang="en"/>
              <a:t>OQ</a:t>
            </a:r>
            <a:r>
              <a:rPr lang="en"/>
              <a:t> * +1</a:t>
            </a:r>
            <a:r>
              <a:rPr baseline="-25000" lang="en"/>
              <a:t>PQ</a:t>
            </a:r>
            <a:r>
              <a:rPr lang="en"/>
              <a:t> =  -1</a:t>
            </a:r>
            <a:r>
              <a:rPr baseline="-25000" lang="en"/>
              <a:t>POQ</a:t>
            </a:r>
            <a:endParaRPr baseline="-25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48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87" name="Google Shape;787;p48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88" name="Google Shape;788;p48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89" name="Google Shape;789;p48"/>
          <p:cNvCxnSpPr>
            <a:stCxn id="786" idx="6"/>
            <a:endCxn id="787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90" name="Google Shape;790;p48"/>
          <p:cNvCxnSpPr>
            <a:stCxn id="787" idx="0"/>
            <a:endCxn id="788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91" name="Google Shape;791;p48"/>
          <p:cNvCxnSpPr>
            <a:stCxn id="786" idx="6"/>
            <a:endCxn id="788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92" name="Google Shape;792;p48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93" name="Google Shape;793;p48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94" name="Google Shape;794;p48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95" name="Google Shape;795;p48"/>
          <p:cNvCxnSpPr>
            <a:stCxn id="792" idx="6"/>
            <a:endCxn id="793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96" name="Google Shape;796;p48"/>
          <p:cNvCxnSpPr>
            <a:stCxn id="793" idx="0"/>
            <a:endCxn id="794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97" name="Google Shape;797;p48"/>
          <p:cNvCxnSpPr>
            <a:stCxn id="792" idx="6"/>
            <a:endCxn id="794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98" name="Google Shape;798;p48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99" name="Google Shape;799;p48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00" name="Google Shape;800;p48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01" name="Google Shape;801;p48"/>
          <p:cNvCxnSpPr>
            <a:stCxn id="798" idx="6"/>
            <a:endCxn id="799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02" name="Google Shape;802;p48"/>
          <p:cNvCxnSpPr>
            <a:stCxn id="799" idx="0"/>
            <a:endCxn id="800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3" name="Google Shape;803;p48"/>
          <p:cNvCxnSpPr>
            <a:stCxn id="798" idx="6"/>
            <a:endCxn id="800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04" name="Google Shape;804;p48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05" name="Google Shape;805;p48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06" name="Google Shape;806;p48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07" name="Google Shape;807;p48"/>
          <p:cNvCxnSpPr>
            <a:stCxn id="804" idx="6"/>
            <a:endCxn id="805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08" name="Google Shape;808;p48"/>
          <p:cNvCxnSpPr>
            <a:stCxn id="805" idx="0"/>
            <a:endCxn id="806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09" name="Google Shape;809;p48"/>
          <p:cNvCxnSpPr>
            <a:stCxn id="804" idx="6"/>
            <a:endCxn id="806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810" name="Google Shape;810;p48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11" name="Google Shape;811;p48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12" name="Google Shape;812;p48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13" name="Google Shape;813;p48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14" name="Google Shape;814;p48"/>
          <p:cNvCxnSpPr>
            <a:stCxn id="811" idx="6"/>
            <a:endCxn id="812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5" name="Google Shape;815;p48"/>
          <p:cNvCxnSpPr>
            <a:stCxn id="812" idx="0"/>
            <a:endCxn id="813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6" name="Google Shape;816;p48"/>
          <p:cNvCxnSpPr>
            <a:stCxn id="811" idx="6"/>
            <a:endCxn id="813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17" name="Google Shape;817;p48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18" name="Google Shape;818;p48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19" name="Google Shape;819;p48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20" name="Google Shape;820;p48"/>
          <p:cNvCxnSpPr>
            <a:stCxn id="817" idx="6"/>
            <a:endCxn id="818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1" name="Google Shape;821;p48"/>
          <p:cNvCxnSpPr>
            <a:stCxn id="818" idx="0"/>
            <a:endCxn id="819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22" name="Google Shape;822;p48"/>
          <p:cNvCxnSpPr>
            <a:stCxn id="817" idx="6"/>
            <a:endCxn id="819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823" name="Google Shape;823;p48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24" name="Google Shape;824;p48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25" name="Google Shape;825;p48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26" name="Google Shape;826;p48"/>
          <p:cNvCxnSpPr>
            <a:stCxn id="823" idx="6"/>
            <a:endCxn id="824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27" name="Google Shape;827;p48"/>
          <p:cNvCxnSpPr>
            <a:stCxn id="824" idx="0"/>
            <a:endCxn id="825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8" name="Google Shape;828;p48"/>
          <p:cNvCxnSpPr>
            <a:stCxn id="823" idx="6"/>
            <a:endCxn id="825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829" name="Google Shape;829;p48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30" name="Google Shape;830;p48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31" name="Google Shape;831;p48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32" name="Google Shape;832;p48"/>
          <p:cNvCxnSpPr>
            <a:stCxn id="829" idx="6"/>
            <a:endCxn id="830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33" name="Google Shape;833;p48"/>
          <p:cNvCxnSpPr>
            <a:stCxn id="830" idx="0"/>
            <a:endCxn id="831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34" name="Google Shape;834;p48"/>
          <p:cNvCxnSpPr>
            <a:stCxn id="829" idx="6"/>
            <a:endCxn id="831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35" name="Google Shape;835;p48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36" name="Google Shape;836;p48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48"/>
          <p:cNvSpPr/>
          <p:nvPr/>
        </p:nvSpPr>
        <p:spPr>
          <a:xfrm>
            <a:off x="1920175" y="2399738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843" name="Google Shape;843;p49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Conversely, if you multiply the sign of the edges of the </a:t>
            </a:r>
            <a:r>
              <a:rPr b="1" lang="en"/>
              <a:t>balanced</a:t>
            </a:r>
            <a:r>
              <a:rPr lang="en"/>
              <a:t> triads you get a </a:t>
            </a:r>
            <a:r>
              <a:rPr b="1" lang="en"/>
              <a:t>positive</a:t>
            </a:r>
            <a:r>
              <a:rPr lang="en"/>
              <a:t> number: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-1</a:t>
            </a:r>
            <a:r>
              <a:rPr baseline="-25000" lang="en"/>
              <a:t>PO </a:t>
            </a:r>
            <a:r>
              <a:rPr lang="en"/>
              <a:t>* +1</a:t>
            </a:r>
            <a:r>
              <a:rPr baseline="-25000" lang="en"/>
              <a:t>OQ</a:t>
            </a:r>
            <a:r>
              <a:rPr lang="en"/>
              <a:t> * -1</a:t>
            </a:r>
            <a:r>
              <a:rPr baseline="-25000" lang="en"/>
              <a:t>PQ</a:t>
            </a:r>
            <a:r>
              <a:rPr lang="en"/>
              <a:t> =  +1</a:t>
            </a:r>
            <a:r>
              <a:rPr baseline="-25000" lang="en"/>
              <a:t>POQ</a:t>
            </a:r>
            <a:endParaRPr baseline="-25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49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45" name="Google Shape;845;p49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46" name="Google Shape;846;p49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47" name="Google Shape;847;p49"/>
          <p:cNvCxnSpPr>
            <a:stCxn id="844" idx="6"/>
            <a:endCxn id="845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48" name="Google Shape;848;p49"/>
          <p:cNvCxnSpPr>
            <a:stCxn id="845" idx="0"/>
            <a:endCxn id="846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49" name="Google Shape;849;p49"/>
          <p:cNvCxnSpPr>
            <a:stCxn id="844" idx="6"/>
            <a:endCxn id="846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850" name="Google Shape;850;p49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51" name="Google Shape;851;p49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52" name="Google Shape;852;p49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53" name="Google Shape;853;p49"/>
          <p:cNvCxnSpPr>
            <a:stCxn id="850" idx="6"/>
            <a:endCxn id="851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54" name="Google Shape;854;p49"/>
          <p:cNvCxnSpPr>
            <a:stCxn id="851" idx="0"/>
            <a:endCxn id="852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55" name="Google Shape;855;p49"/>
          <p:cNvCxnSpPr>
            <a:stCxn id="850" idx="6"/>
            <a:endCxn id="852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56" name="Google Shape;856;p49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57" name="Google Shape;857;p49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58" name="Google Shape;858;p49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59" name="Google Shape;859;p49"/>
          <p:cNvCxnSpPr>
            <a:stCxn id="856" idx="6"/>
            <a:endCxn id="857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60" name="Google Shape;860;p49"/>
          <p:cNvCxnSpPr>
            <a:stCxn id="857" idx="0"/>
            <a:endCxn id="858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61" name="Google Shape;861;p49"/>
          <p:cNvCxnSpPr>
            <a:stCxn id="856" idx="6"/>
            <a:endCxn id="858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62" name="Google Shape;862;p49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63" name="Google Shape;863;p49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64" name="Google Shape;864;p49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65" name="Google Shape;865;p49"/>
          <p:cNvCxnSpPr>
            <a:stCxn id="862" idx="6"/>
            <a:endCxn id="863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66" name="Google Shape;866;p49"/>
          <p:cNvCxnSpPr>
            <a:stCxn id="863" idx="0"/>
            <a:endCxn id="864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67" name="Google Shape;867;p49"/>
          <p:cNvCxnSpPr>
            <a:stCxn id="862" idx="6"/>
            <a:endCxn id="864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868" name="Google Shape;868;p49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69" name="Google Shape;869;p49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0" name="Google Shape;870;p49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1" name="Google Shape;871;p49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72" name="Google Shape;872;p49"/>
          <p:cNvCxnSpPr>
            <a:stCxn id="869" idx="6"/>
            <a:endCxn id="870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73" name="Google Shape;873;p49"/>
          <p:cNvCxnSpPr>
            <a:stCxn id="870" idx="0"/>
            <a:endCxn id="871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74" name="Google Shape;874;p49"/>
          <p:cNvCxnSpPr>
            <a:stCxn id="869" idx="6"/>
            <a:endCxn id="871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75" name="Google Shape;875;p49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6" name="Google Shape;876;p49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7" name="Google Shape;877;p49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78" name="Google Shape;878;p49"/>
          <p:cNvCxnSpPr>
            <a:stCxn id="875" idx="6"/>
            <a:endCxn id="876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79" name="Google Shape;879;p49"/>
          <p:cNvCxnSpPr>
            <a:stCxn id="876" idx="0"/>
            <a:endCxn id="877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80" name="Google Shape;880;p49"/>
          <p:cNvCxnSpPr>
            <a:stCxn id="875" idx="6"/>
            <a:endCxn id="877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881" name="Google Shape;881;p49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82" name="Google Shape;882;p49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83" name="Google Shape;883;p49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84" name="Google Shape;884;p49"/>
          <p:cNvCxnSpPr>
            <a:stCxn id="881" idx="6"/>
            <a:endCxn id="882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85" name="Google Shape;885;p49"/>
          <p:cNvCxnSpPr>
            <a:stCxn id="882" idx="0"/>
            <a:endCxn id="883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6" name="Google Shape;886;p49"/>
          <p:cNvCxnSpPr>
            <a:stCxn id="881" idx="6"/>
            <a:endCxn id="883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887" name="Google Shape;887;p49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88" name="Google Shape;888;p49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89" name="Google Shape;889;p49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90" name="Google Shape;890;p49"/>
          <p:cNvCxnSpPr>
            <a:stCxn id="887" idx="6"/>
            <a:endCxn id="888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91" name="Google Shape;891;p49"/>
          <p:cNvCxnSpPr>
            <a:stCxn id="888" idx="0"/>
            <a:endCxn id="889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92" name="Google Shape;892;p49"/>
          <p:cNvCxnSpPr>
            <a:stCxn id="887" idx="6"/>
            <a:endCxn id="889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93" name="Google Shape;893;p49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94" name="Google Shape;894;p49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49"/>
          <p:cNvSpPr/>
          <p:nvPr/>
        </p:nvSpPr>
        <p:spPr>
          <a:xfrm>
            <a:off x="5722263" y="3524463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901" name="Google Shape;901;p50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Conversely, if you multiply the sign of the edges of the </a:t>
            </a:r>
            <a:r>
              <a:rPr b="1" lang="en"/>
              <a:t>balanced</a:t>
            </a:r>
            <a:r>
              <a:rPr lang="en"/>
              <a:t> triads you get a </a:t>
            </a:r>
            <a:r>
              <a:rPr b="1" lang="en"/>
              <a:t>positive</a:t>
            </a:r>
            <a:r>
              <a:rPr lang="en"/>
              <a:t> number: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</a:t>
            </a:r>
            <a:r>
              <a:rPr baseline="-25000" lang="en"/>
              <a:t>PO </a:t>
            </a:r>
            <a:r>
              <a:rPr lang="en"/>
              <a:t>* -1</a:t>
            </a:r>
            <a:r>
              <a:rPr baseline="-25000" lang="en"/>
              <a:t>OQ</a:t>
            </a:r>
            <a:r>
              <a:rPr lang="en"/>
              <a:t> * -1</a:t>
            </a:r>
            <a:r>
              <a:rPr baseline="-25000" lang="en"/>
              <a:t>PQ</a:t>
            </a:r>
            <a:r>
              <a:rPr lang="en"/>
              <a:t> =  +1</a:t>
            </a:r>
            <a:r>
              <a:rPr baseline="-25000" lang="en"/>
              <a:t>POQ</a:t>
            </a:r>
            <a:endParaRPr baseline="-25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50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03" name="Google Shape;903;p50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04" name="Google Shape;904;p50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05" name="Google Shape;905;p50"/>
          <p:cNvCxnSpPr>
            <a:stCxn id="902" idx="6"/>
            <a:endCxn id="903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06" name="Google Shape;906;p50"/>
          <p:cNvCxnSpPr>
            <a:stCxn id="903" idx="0"/>
            <a:endCxn id="904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07" name="Google Shape;907;p50"/>
          <p:cNvCxnSpPr>
            <a:stCxn id="902" idx="6"/>
            <a:endCxn id="904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908" name="Google Shape;908;p50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09" name="Google Shape;909;p50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0" name="Google Shape;910;p50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11" name="Google Shape;911;p50"/>
          <p:cNvCxnSpPr>
            <a:stCxn id="908" idx="6"/>
            <a:endCxn id="909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2" name="Google Shape;912;p50"/>
          <p:cNvCxnSpPr>
            <a:stCxn id="909" idx="0"/>
            <a:endCxn id="910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13" name="Google Shape;913;p50"/>
          <p:cNvCxnSpPr>
            <a:stCxn id="908" idx="6"/>
            <a:endCxn id="910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14" name="Google Shape;914;p50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5" name="Google Shape;915;p50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6" name="Google Shape;916;p50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17" name="Google Shape;917;p50"/>
          <p:cNvCxnSpPr>
            <a:stCxn id="914" idx="6"/>
            <a:endCxn id="915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18" name="Google Shape;918;p50"/>
          <p:cNvCxnSpPr>
            <a:stCxn id="915" idx="0"/>
            <a:endCxn id="916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9" name="Google Shape;919;p50"/>
          <p:cNvCxnSpPr>
            <a:stCxn id="914" idx="6"/>
            <a:endCxn id="916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20" name="Google Shape;920;p50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1" name="Google Shape;921;p50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2" name="Google Shape;922;p50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23" name="Google Shape;923;p50"/>
          <p:cNvCxnSpPr>
            <a:stCxn id="920" idx="6"/>
            <a:endCxn id="921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24" name="Google Shape;924;p50"/>
          <p:cNvCxnSpPr>
            <a:stCxn id="921" idx="0"/>
            <a:endCxn id="922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25" name="Google Shape;925;p50"/>
          <p:cNvCxnSpPr>
            <a:stCxn id="920" idx="6"/>
            <a:endCxn id="922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926" name="Google Shape;926;p50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27" name="Google Shape;927;p50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8" name="Google Shape;928;p50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9" name="Google Shape;929;p50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30" name="Google Shape;930;p50"/>
          <p:cNvCxnSpPr>
            <a:stCxn id="927" idx="6"/>
            <a:endCxn id="928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1" name="Google Shape;931;p50"/>
          <p:cNvCxnSpPr>
            <a:stCxn id="928" idx="0"/>
            <a:endCxn id="929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2" name="Google Shape;932;p50"/>
          <p:cNvCxnSpPr>
            <a:stCxn id="927" idx="6"/>
            <a:endCxn id="929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33" name="Google Shape;933;p50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4" name="Google Shape;934;p50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5" name="Google Shape;935;p50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36" name="Google Shape;936;p50"/>
          <p:cNvCxnSpPr>
            <a:stCxn id="933" idx="6"/>
            <a:endCxn id="934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7" name="Google Shape;937;p50"/>
          <p:cNvCxnSpPr>
            <a:stCxn id="934" idx="0"/>
            <a:endCxn id="935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38" name="Google Shape;938;p50"/>
          <p:cNvCxnSpPr>
            <a:stCxn id="933" idx="6"/>
            <a:endCxn id="935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939" name="Google Shape;939;p50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0" name="Google Shape;940;p50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1" name="Google Shape;941;p50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42" name="Google Shape;942;p50"/>
          <p:cNvCxnSpPr>
            <a:stCxn id="939" idx="6"/>
            <a:endCxn id="940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43" name="Google Shape;943;p50"/>
          <p:cNvCxnSpPr>
            <a:stCxn id="940" idx="0"/>
            <a:endCxn id="941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4" name="Google Shape;944;p50"/>
          <p:cNvCxnSpPr>
            <a:stCxn id="939" idx="6"/>
            <a:endCxn id="941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945" name="Google Shape;945;p50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6" name="Google Shape;946;p50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7" name="Google Shape;947;p50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48" name="Google Shape;948;p50"/>
          <p:cNvCxnSpPr>
            <a:stCxn id="945" idx="6"/>
            <a:endCxn id="946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49" name="Google Shape;949;p50"/>
          <p:cNvCxnSpPr>
            <a:stCxn id="946" idx="0"/>
            <a:endCxn id="947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50" name="Google Shape;950;p50"/>
          <p:cNvCxnSpPr>
            <a:stCxn id="945" idx="6"/>
            <a:endCxn id="947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51" name="Google Shape;951;p50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52" name="Google Shape;952;p50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50"/>
          <p:cNvSpPr/>
          <p:nvPr/>
        </p:nvSpPr>
        <p:spPr>
          <a:xfrm>
            <a:off x="7379575" y="2414038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959" name="Google Shape;959;p51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link between mathematics and the logic of social relations!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“A friend of a friend is a friend”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</a:t>
            </a:r>
            <a:r>
              <a:rPr baseline="-25000" lang="en"/>
              <a:t>PO </a:t>
            </a:r>
            <a:r>
              <a:rPr lang="en"/>
              <a:t>* +1</a:t>
            </a:r>
            <a:r>
              <a:rPr baseline="-25000" lang="en"/>
              <a:t>OQ</a:t>
            </a:r>
            <a:r>
              <a:rPr lang="en"/>
              <a:t> * +1</a:t>
            </a:r>
            <a:r>
              <a:rPr baseline="-25000" lang="en"/>
              <a:t>PQ</a:t>
            </a:r>
            <a:r>
              <a:rPr lang="en"/>
              <a:t> =  +1</a:t>
            </a:r>
            <a:r>
              <a:rPr baseline="-25000" lang="en"/>
              <a:t>POQ</a:t>
            </a:r>
            <a:endParaRPr baseline="-25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51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61" name="Google Shape;961;p51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62" name="Google Shape;962;p51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63" name="Google Shape;963;p51"/>
          <p:cNvCxnSpPr>
            <a:stCxn id="960" idx="6"/>
            <a:endCxn id="961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64" name="Google Shape;964;p51"/>
          <p:cNvCxnSpPr>
            <a:stCxn id="961" idx="0"/>
            <a:endCxn id="962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65" name="Google Shape;965;p51"/>
          <p:cNvCxnSpPr>
            <a:stCxn id="960" idx="6"/>
            <a:endCxn id="962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966" name="Google Shape;966;p51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67" name="Google Shape;967;p51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68" name="Google Shape;968;p51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69" name="Google Shape;969;p51"/>
          <p:cNvCxnSpPr>
            <a:stCxn id="966" idx="6"/>
            <a:endCxn id="967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70" name="Google Shape;970;p51"/>
          <p:cNvCxnSpPr>
            <a:stCxn id="967" idx="0"/>
            <a:endCxn id="968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71" name="Google Shape;971;p51"/>
          <p:cNvCxnSpPr>
            <a:stCxn id="966" idx="6"/>
            <a:endCxn id="968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72" name="Google Shape;972;p51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3" name="Google Shape;973;p51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4" name="Google Shape;974;p51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75" name="Google Shape;975;p51"/>
          <p:cNvCxnSpPr>
            <a:stCxn id="972" idx="6"/>
            <a:endCxn id="973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76" name="Google Shape;976;p51"/>
          <p:cNvCxnSpPr>
            <a:stCxn id="973" idx="0"/>
            <a:endCxn id="974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77" name="Google Shape;977;p51"/>
          <p:cNvCxnSpPr>
            <a:stCxn id="972" idx="6"/>
            <a:endCxn id="974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78" name="Google Shape;978;p51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9" name="Google Shape;979;p51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0" name="Google Shape;980;p51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81" name="Google Shape;981;p51"/>
          <p:cNvCxnSpPr>
            <a:stCxn id="978" idx="6"/>
            <a:endCxn id="979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82" name="Google Shape;982;p51"/>
          <p:cNvCxnSpPr>
            <a:stCxn id="979" idx="0"/>
            <a:endCxn id="980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83" name="Google Shape;983;p51"/>
          <p:cNvCxnSpPr>
            <a:stCxn id="978" idx="6"/>
            <a:endCxn id="980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984" name="Google Shape;984;p51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85" name="Google Shape;985;p51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6" name="Google Shape;986;p51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7" name="Google Shape;987;p51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88" name="Google Shape;988;p51"/>
          <p:cNvCxnSpPr>
            <a:stCxn id="985" idx="6"/>
            <a:endCxn id="986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9" name="Google Shape;989;p51"/>
          <p:cNvCxnSpPr>
            <a:stCxn id="986" idx="0"/>
            <a:endCxn id="987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0" name="Google Shape;990;p51"/>
          <p:cNvCxnSpPr>
            <a:stCxn id="985" idx="6"/>
            <a:endCxn id="987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91" name="Google Shape;991;p51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2" name="Google Shape;992;p51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3" name="Google Shape;993;p51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94" name="Google Shape;994;p51"/>
          <p:cNvCxnSpPr>
            <a:stCxn id="991" idx="6"/>
            <a:endCxn id="992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5" name="Google Shape;995;p51"/>
          <p:cNvCxnSpPr>
            <a:stCxn id="992" idx="0"/>
            <a:endCxn id="993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96" name="Google Shape;996;p51"/>
          <p:cNvCxnSpPr>
            <a:stCxn id="991" idx="6"/>
            <a:endCxn id="993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997" name="Google Shape;997;p51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8" name="Google Shape;998;p51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9" name="Google Shape;999;p51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00" name="Google Shape;1000;p51"/>
          <p:cNvCxnSpPr>
            <a:stCxn id="997" idx="6"/>
            <a:endCxn id="998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01" name="Google Shape;1001;p51"/>
          <p:cNvCxnSpPr>
            <a:stCxn id="998" idx="0"/>
            <a:endCxn id="999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2" name="Google Shape;1002;p51"/>
          <p:cNvCxnSpPr>
            <a:stCxn id="997" idx="6"/>
            <a:endCxn id="999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03" name="Google Shape;1003;p51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4" name="Google Shape;1004;p51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5" name="Google Shape;1005;p51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06" name="Google Shape;1006;p51"/>
          <p:cNvCxnSpPr>
            <a:stCxn id="1003" idx="6"/>
            <a:endCxn id="1004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07" name="Google Shape;1007;p51"/>
          <p:cNvCxnSpPr>
            <a:stCxn id="1004" idx="0"/>
            <a:endCxn id="1005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08" name="Google Shape;1008;p51"/>
          <p:cNvCxnSpPr>
            <a:stCxn id="1003" idx="6"/>
            <a:endCxn id="1005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09" name="Google Shape;1009;p51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10" name="Google Shape;1010;p51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51"/>
          <p:cNvSpPr/>
          <p:nvPr/>
        </p:nvSpPr>
        <p:spPr>
          <a:xfrm>
            <a:off x="5722263" y="2399738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1017" name="Google Shape;1017;p52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link between mathematics and the logic of social relations!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“A friend of an enemy is an enemy”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-1</a:t>
            </a:r>
            <a:r>
              <a:rPr baseline="-25000" lang="en"/>
              <a:t>PO </a:t>
            </a:r>
            <a:r>
              <a:rPr lang="en"/>
              <a:t>* +1</a:t>
            </a:r>
            <a:r>
              <a:rPr baseline="-25000" lang="en"/>
              <a:t>OQ</a:t>
            </a:r>
            <a:r>
              <a:rPr lang="en"/>
              <a:t> * -1</a:t>
            </a:r>
            <a:r>
              <a:rPr baseline="-25000" lang="en"/>
              <a:t>PQ</a:t>
            </a:r>
            <a:r>
              <a:rPr lang="en"/>
              <a:t> =  +1</a:t>
            </a:r>
            <a:r>
              <a:rPr baseline="-25000" lang="en"/>
              <a:t>POQ</a:t>
            </a:r>
            <a:endParaRPr baseline="-25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52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9" name="Google Shape;1019;p52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0" name="Google Shape;1020;p52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21" name="Google Shape;1021;p52"/>
          <p:cNvCxnSpPr>
            <a:stCxn id="1018" idx="6"/>
            <a:endCxn id="1019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2" name="Google Shape;1022;p52"/>
          <p:cNvCxnSpPr>
            <a:stCxn id="1019" idx="0"/>
            <a:endCxn id="1020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3" name="Google Shape;1023;p52"/>
          <p:cNvCxnSpPr>
            <a:stCxn id="1018" idx="6"/>
            <a:endCxn id="1020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24" name="Google Shape;1024;p52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5" name="Google Shape;1025;p52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6" name="Google Shape;1026;p52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27" name="Google Shape;1027;p52"/>
          <p:cNvCxnSpPr>
            <a:stCxn id="1024" idx="6"/>
            <a:endCxn id="1025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8" name="Google Shape;1028;p52"/>
          <p:cNvCxnSpPr>
            <a:stCxn id="1025" idx="0"/>
            <a:endCxn id="1026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29" name="Google Shape;1029;p52"/>
          <p:cNvCxnSpPr>
            <a:stCxn id="1024" idx="6"/>
            <a:endCxn id="1026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30" name="Google Shape;1030;p52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1" name="Google Shape;1031;p52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2" name="Google Shape;1032;p52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33" name="Google Shape;1033;p52"/>
          <p:cNvCxnSpPr>
            <a:stCxn id="1030" idx="6"/>
            <a:endCxn id="1031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34" name="Google Shape;1034;p52"/>
          <p:cNvCxnSpPr>
            <a:stCxn id="1031" idx="0"/>
            <a:endCxn id="1032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35" name="Google Shape;1035;p52"/>
          <p:cNvCxnSpPr>
            <a:stCxn id="1030" idx="6"/>
            <a:endCxn id="1032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36" name="Google Shape;1036;p52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7" name="Google Shape;1037;p52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8" name="Google Shape;1038;p52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39" name="Google Shape;1039;p52"/>
          <p:cNvCxnSpPr>
            <a:stCxn id="1036" idx="6"/>
            <a:endCxn id="1037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40" name="Google Shape;1040;p52"/>
          <p:cNvCxnSpPr>
            <a:stCxn id="1037" idx="0"/>
            <a:endCxn id="1038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41" name="Google Shape;1041;p52"/>
          <p:cNvCxnSpPr>
            <a:stCxn id="1036" idx="6"/>
            <a:endCxn id="1038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42" name="Google Shape;1042;p52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43" name="Google Shape;1043;p52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44" name="Google Shape;1044;p52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45" name="Google Shape;1045;p52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46" name="Google Shape;1046;p52"/>
          <p:cNvCxnSpPr>
            <a:stCxn id="1043" idx="6"/>
            <a:endCxn id="1044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47" name="Google Shape;1047;p52"/>
          <p:cNvCxnSpPr>
            <a:stCxn id="1044" idx="0"/>
            <a:endCxn id="1045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48" name="Google Shape;1048;p52"/>
          <p:cNvCxnSpPr>
            <a:stCxn id="1043" idx="6"/>
            <a:endCxn id="1045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49" name="Google Shape;1049;p52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0" name="Google Shape;1050;p52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1" name="Google Shape;1051;p52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52" name="Google Shape;1052;p52"/>
          <p:cNvCxnSpPr>
            <a:stCxn id="1049" idx="6"/>
            <a:endCxn id="1050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53" name="Google Shape;1053;p52"/>
          <p:cNvCxnSpPr>
            <a:stCxn id="1050" idx="0"/>
            <a:endCxn id="1051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54" name="Google Shape;1054;p52"/>
          <p:cNvCxnSpPr>
            <a:stCxn id="1049" idx="6"/>
            <a:endCxn id="1051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55" name="Google Shape;1055;p52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6" name="Google Shape;1056;p52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7" name="Google Shape;1057;p52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58" name="Google Shape;1058;p52"/>
          <p:cNvCxnSpPr>
            <a:stCxn id="1055" idx="6"/>
            <a:endCxn id="1056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59" name="Google Shape;1059;p52"/>
          <p:cNvCxnSpPr>
            <a:stCxn id="1056" idx="0"/>
            <a:endCxn id="1057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60" name="Google Shape;1060;p52"/>
          <p:cNvCxnSpPr>
            <a:stCxn id="1055" idx="6"/>
            <a:endCxn id="1057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61" name="Google Shape;1061;p52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2" name="Google Shape;1062;p52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3" name="Google Shape;1063;p52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64" name="Google Shape;1064;p52"/>
          <p:cNvCxnSpPr>
            <a:stCxn id="1061" idx="6"/>
            <a:endCxn id="1062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65" name="Google Shape;1065;p52"/>
          <p:cNvCxnSpPr>
            <a:stCxn id="1062" idx="0"/>
            <a:endCxn id="1063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66" name="Google Shape;1066;p52"/>
          <p:cNvCxnSpPr>
            <a:stCxn id="1061" idx="6"/>
            <a:endCxn id="1063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67" name="Google Shape;1067;p52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68" name="Google Shape;1068;p52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52"/>
          <p:cNvSpPr/>
          <p:nvPr/>
        </p:nvSpPr>
        <p:spPr>
          <a:xfrm>
            <a:off x="5628450" y="3524463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1075" name="Google Shape;1075;p53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Turns out that if you multiply the signs of the edges of each of the </a:t>
            </a:r>
            <a:r>
              <a:rPr b="1" lang="en"/>
              <a:t>unbalanced</a:t>
            </a:r>
            <a:r>
              <a:rPr lang="en"/>
              <a:t> triads you get a </a:t>
            </a:r>
            <a:r>
              <a:rPr b="1" lang="en"/>
              <a:t>negative</a:t>
            </a:r>
            <a:r>
              <a:rPr lang="en"/>
              <a:t> number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</a:t>
            </a:r>
            <a:r>
              <a:rPr baseline="-25000" lang="en"/>
              <a:t>PO </a:t>
            </a:r>
            <a:r>
              <a:rPr lang="en"/>
              <a:t>* +1</a:t>
            </a:r>
            <a:r>
              <a:rPr baseline="-25000" lang="en"/>
              <a:t>OQ</a:t>
            </a:r>
            <a:r>
              <a:rPr lang="en"/>
              <a:t> * -1</a:t>
            </a:r>
            <a:r>
              <a:rPr baseline="-25000" lang="en"/>
              <a:t>PQ</a:t>
            </a:r>
            <a:r>
              <a:rPr lang="en"/>
              <a:t> =  -1</a:t>
            </a:r>
            <a:r>
              <a:rPr baseline="-25000" lang="en"/>
              <a:t>POQ</a:t>
            </a:r>
            <a:endParaRPr baseline="-25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53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77" name="Google Shape;1077;p53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78" name="Google Shape;1078;p53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79" name="Google Shape;1079;p53"/>
          <p:cNvCxnSpPr>
            <a:stCxn id="1076" idx="6"/>
            <a:endCxn id="1077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80" name="Google Shape;1080;p53"/>
          <p:cNvCxnSpPr>
            <a:stCxn id="1077" idx="0"/>
            <a:endCxn id="1078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81" name="Google Shape;1081;p53"/>
          <p:cNvCxnSpPr>
            <a:stCxn id="1076" idx="6"/>
            <a:endCxn id="1078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82" name="Google Shape;1082;p53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3" name="Google Shape;1083;p53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4" name="Google Shape;1084;p53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85" name="Google Shape;1085;p53"/>
          <p:cNvCxnSpPr>
            <a:stCxn id="1082" idx="6"/>
            <a:endCxn id="1083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86" name="Google Shape;1086;p53"/>
          <p:cNvCxnSpPr>
            <a:stCxn id="1083" idx="0"/>
            <a:endCxn id="1084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87" name="Google Shape;1087;p53"/>
          <p:cNvCxnSpPr>
            <a:stCxn id="1082" idx="6"/>
            <a:endCxn id="1084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88" name="Google Shape;1088;p53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9" name="Google Shape;1089;p53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0" name="Google Shape;1090;p53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91" name="Google Shape;1091;p53"/>
          <p:cNvCxnSpPr>
            <a:stCxn id="1088" idx="6"/>
            <a:endCxn id="1089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92" name="Google Shape;1092;p53"/>
          <p:cNvCxnSpPr>
            <a:stCxn id="1089" idx="0"/>
            <a:endCxn id="1090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93" name="Google Shape;1093;p53"/>
          <p:cNvCxnSpPr>
            <a:stCxn id="1088" idx="6"/>
            <a:endCxn id="1090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94" name="Google Shape;1094;p53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5" name="Google Shape;1095;p53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6" name="Google Shape;1096;p53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97" name="Google Shape;1097;p53"/>
          <p:cNvCxnSpPr>
            <a:stCxn id="1094" idx="6"/>
            <a:endCxn id="1095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98" name="Google Shape;1098;p53"/>
          <p:cNvCxnSpPr>
            <a:stCxn id="1095" idx="0"/>
            <a:endCxn id="1096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99" name="Google Shape;1099;p53"/>
          <p:cNvCxnSpPr>
            <a:stCxn id="1094" idx="6"/>
            <a:endCxn id="1096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00" name="Google Shape;1100;p53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01" name="Google Shape;1101;p53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2" name="Google Shape;1102;p53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3" name="Google Shape;1103;p53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04" name="Google Shape;1104;p53"/>
          <p:cNvCxnSpPr>
            <a:stCxn id="1101" idx="6"/>
            <a:endCxn id="1102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05" name="Google Shape;1105;p53"/>
          <p:cNvCxnSpPr>
            <a:stCxn id="1102" idx="0"/>
            <a:endCxn id="1103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06" name="Google Shape;1106;p53"/>
          <p:cNvCxnSpPr>
            <a:stCxn id="1101" idx="6"/>
            <a:endCxn id="1103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07" name="Google Shape;1107;p53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8" name="Google Shape;1108;p53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9" name="Google Shape;1109;p53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10" name="Google Shape;1110;p53"/>
          <p:cNvCxnSpPr>
            <a:stCxn id="1107" idx="6"/>
            <a:endCxn id="1108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11" name="Google Shape;1111;p53"/>
          <p:cNvCxnSpPr>
            <a:stCxn id="1108" idx="0"/>
            <a:endCxn id="1109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12" name="Google Shape;1112;p53"/>
          <p:cNvCxnSpPr>
            <a:stCxn id="1107" idx="6"/>
            <a:endCxn id="1109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13" name="Google Shape;1113;p53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4" name="Google Shape;1114;p53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5" name="Google Shape;1115;p53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16" name="Google Shape;1116;p53"/>
          <p:cNvCxnSpPr>
            <a:stCxn id="1113" idx="6"/>
            <a:endCxn id="1114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17" name="Google Shape;1117;p53"/>
          <p:cNvCxnSpPr>
            <a:stCxn id="1114" idx="0"/>
            <a:endCxn id="1115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18" name="Google Shape;1118;p53"/>
          <p:cNvCxnSpPr>
            <a:stCxn id="1113" idx="6"/>
            <a:endCxn id="1115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19" name="Google Shape;1119;p53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0" name="Google Shape;1120;p53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1" name="Google Shape;1121;p53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22" name="Google Shape;1122;p53"/>
          <p:cNvCxnSpPr>
            <a:stCxn id="1119" idx="6"/>
            <a:endCxn id="1120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23" name="Google Shape;1123;p53"/>
          <p:cNvCxnSpPr>
            <a:stCxn id="1120" idx="0"/>
            <a:endCxn id="1121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24" name="Google Shape;1124;p53"/>
          <p:cNvCxnSpPr>
            <a:stCxn id="1119" idx="6"/>
            <a:endCxn id="1121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25" name="Google Shape;1125;p53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26" name="Google Shape;1126;p53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53"/>
          <p:cNvSpPr/>
          <p:nvPr/>
        </p:nvSpPr>
        <p:spPr>
          <a:xfrm>
            <a:off x="192175" y="2399738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1133" name="Google Shape;1133;p54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link between mathematics and the logic of social relations!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“An enemy of a friend is an enemy”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</a:t>
            </a:r>
            <a:r>
              <a:rPr baseline="-25000" lang="en"/>
              <a:t>PO </a:t>
            </a:r>
            <a:r>
              <a:rPr lang="en"/>
              <a:t>* -1</a:t>
            </a:r>
            <a:r>
              <a:rPr baseline="-25000" lang="en"/>
              <a:t>OQ</a:t>
            </a:r>
            <a:r>
              <a:rPr lang="en"/>
              <a:t> * -1</a:t>
            </a:r>
            <a:r>
              <a:rPr baseline="-25000" lang="en"/>
              <a:t>PQ</a:t>
            </a:r>
            <a:r>
              <a:rPr lang="en"/>
              <a:t> =  +1</a:t>
            </a:r>
            <a:r>
              <a:rPr baseline="-25000" lang="en"/>
              <a:t>POQ</a:t>
            </a:r>
            <a:endParaRPr baseline="-25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54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35" name="Google Shape;1135;p54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36" name="Google Shape;1136;p54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37" name="Google Shape;1137;p54"/>
          <p:cNvCxnSpPr>
            <a:stCxn id="1134" idx="6"/>
            <a:endCxn id="1135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38" name="Google Shape;1138;p54"/>
          <p:cNvCxnSpPr>
            <a:stCxn id="1135" idx="0"/>
            <a:endCxn id="1136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39" name="Google Shape;1139;p54"/>
          <p:cNvCxnSpPr>
            <a:stCxn id="1134" idx="6"/>
            <a:endCxn id="1136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40" name="Google Shape;1140;p54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1" name="Google Shape;1141;p54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2" name="Google Shape;1142;p54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43" name="Google Shape;1143;p54"/>
          <p:cNvCxnSpPr>
            <a:stCxn id="1140" idx="6"/>
            <a:endCxn id="1141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44" name="Google Shape;1144;p54"/>
          <p:cNvCxnSpPr>
            <a:stCxn id="1141" idx="0"/>
            <a:endCxn id="1142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45" name="Google Shape;1145;p54"/>
          <p:cNvCxnSpPr>
            <a:stCxn id="1140" idx="6"/>
            <a:endCxn id="1142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46" name="Google Shape;1146;p54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7" name="Google Shape;1147;p54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8" name="Google Shape;1148;p54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49" name="Google Shape;1149;p54"/>
          <p:cNvCxnSpPr>
            <a:stCxn id="1146" idx="6"/>
            <a:endCxn id="1147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50" name="Google Shape;1150;p54"/>
          <p:cNvCxnSpPr>
            <a:stCxn id="1147" idx="0"/>
            <a:endCxn id="1148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51" name="Google Shape;1151;p54"/>
          <p:cNvCxnSpPr>
            <a:stCxn id="1146" idx="6"/>
            <a:endCxn id="1148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52" name="Google Shape;1152;p54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53" name="Google Shape;1153;p54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54" name="Google Shape;1154;p54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55" name="Google Shape;1155;p54"/>
          <p:cNvCxnSpPr>
            <a:stCxn id="1152" idx="6"/>
            <a:endCxn id="1153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56" name="Google Shape;1156;p54"/>
          <p:cNvCxnSpPr>
            <a:stCxn id="1153" idx="0"/>
            <a:endCxn id="1154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57" name="Google Shape;1157;p54"/>
          <p:cNvCxnSpPr>
            <a:stCxn id="1152" idx="6"/>
            <a:endCxn id="1154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58" name="Google Shape;1158;p54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59" name="Google Shape;1159;p54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0" name="Google Shape;1160;p54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1" name="Google Shape;1161;p54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62" name="Google Shape;1162;p54"/>
          <p:cNvCxnSpPr>
            <a:stCxn id="1159" idx="6"/>
            <a:endCxn id="1160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63" name="Google Shape;1163;p54"/>
          <p:cNvCxnSpPr>
            <a:stCxn id="1160" idx="0"/>
            <a:endCxn id="1161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64" name="Google Shape;1164;p54"/>
          <p:cNvCxnSpPr>
            <a:stCxn id="1159" idx="6"/>
            <a:endCxn id="1161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65" name="Google Shape;1165;p54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6" name="Google Shape;1166;p54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7" name="Google Shape;1167;p54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68" name="Google Shape;1168;p54"/>
          <p:cNvCxnSpPr>
            <a:stCxn id="1165" idx="6"/>
            <a:endCxn id="1166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69" name="Google Shape;1169;p54"/>
          <p:cNvCxnSpPr>
            <a:stCxn id="1166" idx="0"/>
            <a:endCxn id="1167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70" name="Google Shape;1170;p54"/>
          <p:cNvCxnSpPr>
            <a:stCxn id="1165" idx="6"/>
            <a:endCxn id="1167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71" name="Google Shape;1171;p54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2" name="Google Shape;1172;p54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3" name="Google Shape;1173;p54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74" name="Google Shape;1174;p54"/>
          <p:cNvCxnSpPr>
            <a:stCxn id="1171" idx="6"/>
            <a:endCxn id="1172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75" name="Google Shape;1175;p54"/>
          <p:cNvCxnSpPr>
            <a:stCxn id="1172" idx="0"/>
            <a:endCxn id="1173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76" name="Google Shape;1176;p54"/>
          <p:cNvCxnSpPr>
            <a:stCxn id="1171" idx="6"/>
            <a:endCxn id="1173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77" name="Google Shape;1177;p54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8" name="Google Shape;1178;p54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9" name="Google Shape;1179;p54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80" name="Google Shape;1180;p54"/>
          <p:cNvCxnSpPr>
            <a:stCxn id="1177" idx="6"/>
            <a:endCxn id="1178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81" name="Google Shape;1181;p54"/>
          <p:cNvCxnSpPr>
            <a:stCxn id="1178" idx="0"/>
            <a:endCxn id="1179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82" name="Google Shape;1182;p54"/>
          <p:cNvCxnSpPr>
            <a:stCxn id="1177" idx="6"/>
            <a:endCxn id="1179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83" name="Google Shape;1183;p54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84" name="Google Shape;1184;p54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54"/>
          <p:cNvSpPr/>
          <p:nvPr/>
        </p:nvSpPr>
        <p:spPr>
          <a:xfrm>
            <a:off x="7386450" y="2399738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1191" name="Google Shape;1191;p55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link between mathematics and the logic of social relations!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“An enemy of an enemy is a friend”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-1</a:t>
            </a:r>
            <a:r>
              <a:rPr baseline="-25000" lang="en"/>
              <a:t>PO </a:t>
            </a:r>
            <a:r>
              <a:rPr lang="en"/>
              <a:t>* -1</a:t>
            </a:r>
            <a:r>
              <a:rPr baseline="-25000" lang="en"/>
              <a:t>OQ</a:t>
            </a:r>
            <a:r>
              <a:rPr lang="en"/>
              <a:t> * +1</a:t>
            </a:r>
            <a:r>
              <a:rPr baseline="-25000" lang="en"/>
              <a:t>PQ</a:t>
            </a:r>
            <a:r>
              <a:rPr lang="en"/>
              <a:t> =  +1</a:t>
            </a:r>
            <a:r>
              <a:rPr baseline="-25000" lang="en"/>
              <a:t>POQ</a:t>
            </a:r>
            <a:endParaRPr baseline="-25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55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93" name="Google Shape;1193;p55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94" name="Google Shape;1194;p55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95" name="Google Shape;1195;p55"/>
          <p:cNvCxnSpPr>
            <a:stCxn id="1192" idx="6"/>
            <a:endCxn id="1193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96" name="Google Shape;1196;p55"/>
          <p:cNvCxnSpPr>
            <a:stCxn id="1193" idx="0"/>
            <a:endCxn id="1194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97" name="Google Shape;1197;p55"/>
          <p:cNvCxnSpPr>
            <a:stCxn id="1192" idx="6"/>
            <a:endCxn id="1194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98" name="Google Shape;1198;p55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99" name="Google Shape;1199;p55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00" name="Google Shape;1200;p55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01" name="Google Shape;1201;p55"/>
          <p:cNvCxnSpPr>
            <a:stCxn id="1198" idx="6"/>
            <a:endCxn id="1199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02" name="Google Shape;1202;p55"/>
          <p:cNvCxnSpPr>
            <a:stCxn id="1199" idx="0"/>
            <a:endCxn id="1200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03" name="Google Shape;1203;p55"/>
          <p:cNvCxnSpPr>
            <a:stCxn id="1198" idx="6"/>
            <a:endCxn id="1200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04" name="Google Shape;1204;p55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05" name="Google Shape;1205;p55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06" name="Google Shape;1206;p55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07" name="Google Shape;1207;p55"/>
          <p:cNvCxnSpPr>
            <a:stCxn id="1204" idx="6"/>
            <a:endCxn id="1205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08" name="Google Shape;1208;p55"/>
          <p:cNvCxnSpPr>
            <a:stCxn id="1205" idx="0"/>
            <a:endCxn id="1206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09" name="Google Shape;1209;p55"/>
          <p:cNvCxnSpPr>
            <a:stCxn id="1204" idx="6"/>
            <a:endCxn id="1206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10" name="Google Shape;1210;p55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1" name="Google Shape;1211;p55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2" name="Google Shape;1212;p55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13" name="Google Shape;1213;p55"/>
          <p:cNvCxnSpPr>
            <a:stCxn id="1210" idx="6"/>
            <a:endCxn id="1211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14" name="Google Shape;1214;p55"/>
          <p:cNvCxnSpPr>
            <a:stCxn id="1211" idx="0"/>
            <a:endCxn id="1212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15" name="Google Shape;1215;p55"/>
          <p:cNvCxnSpPr>
            <a:stCxn id="1210" idx="6"/>
            <a:endCxn id="1212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216" name="Google Shape;1216;p55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17" name="Google Shape;1217;p55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8" name="Google Shape;1218;p55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9" name="Google Shape;1219;p55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20" name="Google Shape;1220;p55"/>
          <p:cNvCxnSpPr>
            <a:stCxn id="1217" idx="6"/>
            <a:endCxn id="1218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21" name="Google Shape;1221;p55"/>
          <p:cNvCxnSpPr>
            <a:stCxn id="1218" idx="0"/>
            <a:endCxn id="1219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22" name="Google Shape;1222;p55"/>
          <p:cNvCxnSpPr>
            <a:stCxn id="1217" idx="6"/>
            <a:endCxn id="1219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23" name="Google Shape;1223;p55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4" name="Google Shape;1224;p55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5" name="Google Shape;1225;p55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26" name="Google Shape;1226;p55"/>
          <p:cNvCxnSpPr>
            <a:stCxn id="1223" idx="6"/>
            <a:endCxn id="1224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27" name="Google Shape;1227;p55"/>
          <p:cNvCxnSpPr>
            <a:stCxn id="1224" idx="0"/>
            <a:endCxn id="1225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28" name="Google Shape;1228;p55"/>
          <p:cNvCxnSpPr>
            <a:stCxn id="1223" idx="6"/>
            <a:endCxn id="1225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229" name="Google Shape;1229;p55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0" name="Google Shape;1230;p55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1" name="Google Shape;1231;p55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32" name="Google Shape;1232;p55"/>
          <p:cNvCxnSpPr>
            <a:stCxn id="1229" idx="6"/>
            <a:endCxn id="1230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33" name="Google Shape;1233;p55"/>
          <p:cNvCxnSpPr>
            <a:stCxn id="1230" idx="0"/>
            <a:endCxn id="1231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34" name="Google Shape;1234;p55"/>
          <p:cNvCxnSpPr>
            <a:stCxn id="1229" idx="6"/>
            <a:endCxn id="1231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235" name="Google Shape;1235;p55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6" name="Google Shape;1236;p55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7" name="Google Shape;1237;p55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38" name="Google Shape;1238;p55"/>
          <p:cNvCxnSpPr>
            <a:stCxn id="1235" idx="6"/>
            <a:endCxn id="1236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39" name="Google Shape;1239;p55"/>
          <p:cNvCxnSpPr>
            <a:stCxn id="1236" idx="0"/>
            <a:endCxn id="1237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40" name="Google Shape;1240;p55"/>
          <p:cNvCxnSpPr>
            <a:stCxn id="1235" idx="6"/>
            <a:endCxn id="1237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41" name="Google Shape;1241;p55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42" name="Google Shape;1242;p55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55"/>
          <p:cNvSpPr/>
          <p:nvPr/>
        </p:nvSpPr>
        <p:spPr>
          <a:xfrm>
            <a:off x="7400200" y="3524463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Cross-Pressure</a:t>
            </a:r>
            <a:endParaRPr/>
          </a:p>
        </p:txBody>
      </p:sp>
      <p:sp>
        <p:nvSpPr>
          <p:cNvPr id="1249" name="Google Shape;1249;p56"/>
          <p:cNvSpPr txBox="1"/>
          <p:nvPr>
            <p:ph idx="1" type="body"/>
          </p:nvPr>
        </p:nvSpPr>
        <p:spPr>
          <a:xfrm>
            <a:off x="311700" y="1225225"/>
            <a:ext cx="4260300" cy="35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we have multiple social relations we are sometimes caught between worlds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</a:t>
            </a:r>
            <a:r>
              <a:rPr b="1" lang="en"/>
              <a:t>cross-pressure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Having two friends with different attitudes towards the same object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theory predicts that P will have an </a:t>
            </a:r>
            <a:r>
              <a:rPr b="1" lang="en"/>
              <a:t>ambivalent </a:t>
            </a:r>
            <a:r>
              <a:rPr lang="en"/>
              <a:t>attitude toward Q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56"/>
          <p:cNvSpPr/>
          <p:nvPr/>
        </p:nvSpPr>
        <p:spPr>
          <a:xfrm>
            <a:off x="4903100" y="3380449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51" name="Google Shape;1251;p56"/>
          <p:cNvSpPr/>
          <p:nvPr/>
        </p:nvSpPr>
        <p:spPr>
          <a:xfrm>
            <a:off x="7742699" y="3380449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O1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52" name="Google Shape;1252;p56"/>
          <p:cNvSpPr/>
          <p:nvPr/>
        </p:nvSpPr>
        <p:spPr>
          <a:xfrm>
            <a:off x="7742699" y="1559325"/>
            <a:ext cx="818100" cy="8163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53" name="Google Shape;1253;p56"/>
          <p:cNvCxnSpPr>
            <a:stCxn id="1250" idx="6"/>
            <a:endCxn id="1251" idx="2"/>
          </p:cNvCxnSpPr>
          <p:nvPr/>
        </p:nvCxnSpPr>
        <p:spPr>
          <a:xfrm>
            <a:off x="5721200" y="3788599"/>
            <a:ext cx="202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54" name="Google Shape;1254;p56"/>
          <p:cNvCxnSpPr>
            <a:stCxn id="1251" idx="0"/>
            <a:endCxn id="1252" idx="4"/>
          </p:cNvCxnSpPr>
          <p:nvPr/>
        </p:nvCxnSpPr>
        <p:spPr>
          <a:xfrm rot="10800000">
            <a:off x="8151749" y="2375749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55" name="Google Shape;1255;p56"/>
          <p:cNvCxnSpPr>
            <a:stCxn id="1250" idx="7"/>
            <a:endCxn id="1252" idx="2"/>
          </p:cNvCxnSpPr>
          <p:nvPr/>
        </p:nvCxnSpPr>
        <p:spPr>
          <a:xfrm flipH="1" rot="10800000">
            <a:off x="5601392" y="1967594"/>
            <a:ext cx="2141400" cy="153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256" name="Google Shape;1256;p56"/>
          <p:cNvSpPr/>
          <p:nvPr/>
        </p:nvSpPr>
        <p:spPr>
          <a:xfrm>
            <a:off x="4903100" y="1559325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O2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57" name="Google Shape;1257;p56"/>
          <p:cNvCxnSpPr>
            <a:stCxn id="1250" idx="0"/>
            <a:endCxn id="1256" idx="4"/>
          </p:cNvCxnSpPr>
          <p:nvPr/>
        </p:nvCxnSpPr>
        <p:spPr>
          <a:xfrm rot="10800000">
            <a:off x="5312150" y="2375749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58" name="Google Shape;1258;p56"/>
          <p:cNvCxnSpPr>
            <a:stCxn id="1256" idx="6"/>
            <a:endCxn id="1252" idx="2"/>
          </p:cNvCxnSpPr>
          <p:nvPr/>
        </p:nvCxnSpPr>
        <p:spPr>
          <a:xfrm>
            <a:off x="5721200" y="1967475"/>
            <a:ext cx="202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59" name="Google Shape;1259;p56"/>
          <p:cNvCxnSpPr>
            <a:stCxn id="1250" idx="6"/>
            <a:endCxn id="1252" idx="3"/>
          </p:cNvCxnSpPr>
          <p:nvPr/>
        </p:nvCxnSpPr>
        <p:spPr>
          <a:xfrm flipH="1" rot="10800000">
            <a:off x="5721200" y="2256199"/>
            <a:ext cx="2141400" cy="153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