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3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</p:sldIdLst>
  <p:sldSz cy="5143500" cx="9144000"/>
  <p:notesSz cx="6858000" cy="9144000"/>
  <p:embeddedFontLst>
    <p:embeddedFont>
      <p:font typeface="Economica"/>
      <p:regular r:id="rId148"/>
      <p:bold r:id="rId149"/>
      <p:italic r:id="rId150"/>
      <p:boldItalic r:id="rId151"/>
    </p:embeddedFont>
    <p:embeddedFont>
      <p:font typeface="Oxygen"/>
      <p:regular r:id="rId152"/>
      <p:bold r:id="rId153"/>
    </p:embeddedFont>
    <p:embeddedFont>
      <p:font typeface="Open Sans SemiBold"/>
      <p:regular r:id="rId154"/>
      <p:bold r:id="rId155"/>
      <p:italic r:id="rId156"/>
      <p:boldItalic r:id="rId157"/>
    </p:embeddedFont>
    <p:embeddedFont>
      <p:font typeface="Open Sans Medium"/>
      <p:regular r:id="rId158"/>
      <p:bold r:id="rId159"/>
      <p:italic r:id="rId160"/>
      <p:boldItalic r:id="rId161"/>
    </p:embeddedFont>
    <p:embeddedFont>
      <p:font typeface="Open Sans"/>
      <p:regular r:id="rId162"/>
      <p:bold r:id="rId163"/>
      <p:italic r:id="rId164"/>
      <p:boldItalic r:id="rId1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773FF8F-8FC9-4D74-9ADC-7274F113E1BC}">
  <a:tblStyle styleId="{3773FF8F-8FC9-4D74-9ADC-7274F113E1B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07" Type="http://schemas.openxmlformats.org/officeDocument/2006/relationships/slide" Target="slides/slide100.xml"/><Relationship Id="rId106" Type="http://schemas.openxmlformats.org/officeDocument/2006/relationships/slide" Target="slides/slide99.xml"/><Relationship Id="rId105" Type="http://schemas.openxmlformats.org/officeDocument/2006/relationships/slide" Target="slides/slide98.xml"/><Relationship Id="rId104" Type="http://schemas.openxmlformats.org/officeDocument/2006/relationships/slide" Target="slides/slide97.xml"/><Relationship Id="rId109" Type="http://schemas.openxmlformats.org/officeDocument/2006/relationships/slide" Target="slides/slide102.xml"/><Relationship Id="rId108" Type="http://schemas.openxmlformats.org/officeDocument/2006/relationships/slide" Target="slides/slide101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103" Type="http://schemas.openxmlformats.org/officeDocument/2006/relationships/slide" Target="slides/slide96.xml"/><Relationship Id="rId102" Type="http://schemas.openxmlformats.org/officeDocument/2006/relationships/slide" Target="slides/slide95.xml"/><Relationship Id="rId101" Type="http://schemas.openxmlformats.org/officeDocument/2006/relationships/slide" Target="slides/slide94.xml"/><Relationship Id="rId100" Type="http://schemas.openxmlformats.org/officeDocument/2006/relationships/slide" Target="slides/slide93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29" Type="http://schemas.openxmlformats.org/officeDocument/2006/relationships/slide" Target="slides/slide122.xml"/><Relationship Id="rId128" Type="http://schemas.openxmlformats.org/officeDocument/2006/relationships/slide" Target="slides/slide121.xml"/><Relationship Id="rId127" Type="http://schemas.openxmlformats.org/officeDocument/2006/relationships/slide" Target="slides/slide120.xml"/><Relationship Id="rId126" Type="http://schemas.openxmlformats.org/officeDocument/2006/relationships/slide" Target="slides/slide119.xml"/><Relationship Id="rId26" Type="http://schemas.openxmlformats.org/officeDocument/2006/relationships/slide" Target="slides/slide19.xml"/><Relationship Id="rId121" Type="http://schemas.openxmlformats.org/officeDocument/2006/relationships/slide" Target="slides/slide114.xml"/><Relationship Id="rId25" Type="http://schemas.openxmlformats.org/officeDocument/2006/relationships/slide" Target="slides/slide18.xml"/><Relationship Id="rId120" Type="http://schemas.openxmlformats.org/officeDocument/2006/relationships/slide" Target="slides/slide113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125" Type="http://schemas.openxmlformats.org/officeDocument/2006/relationships/slide" Target="slides/slide118.xml"/><Relationship Id="rId29" Type="http://schemas.openxmlformats.org/officeDocument/2006/relationships/slide" Target="slides/slide22.xml"/><Relationship Id="rId124" Type="http://schemas.openxmlformats.org/officeDocument/2006/relationships/slide" Target="slides/slide117.xml"/><Relationship Id="rId123" Type="http://schemas.openxmlformats.org/officeDocument/2006/relationships/slide" Target="slides/slide116.xml"/><Relationship Id="rId122" Type="http://schemas.openxmlformats.org/officeDocument/2006/relationships/slide" Target="slides/slide115.xml"/><Relationship Id="rId95" Type="http://schemas.openxmlformats.org/officeDocument/2006/relationships/slide" Target="slides/slide88.xml"/><Relationship Id="rId94" Type="http://schemas.openxmlformats.org/officeDocument/2006/relationships/slide" Target="slides/slide87.xml"/><Relationship Id="rId97" Type="http://schemas.openxmlformats.org/officeDocument/2006/relationships/slide" Target="slides/slide90.xml"/><Relationship Id="rId96" Type="http://schemas.openxmlformats.org/officeDocument/2006/relationships/slide" Target="slides/slide89.xml"/><Relationship Id="rId11" Type="http://schemas.openxmlformats.org/officeDocument/2006/relationships/slide" Target="slides/slide4.xml"/><Relationship Id="rId99" Type="http://schemas.openxmlformats.org/officeDocument/2006/relationships/slide" Target="slides/slide92.xml"/><Relationship Id="rId10" Type="http://schemas.openxmlformats.org/officeDocument/2006/relationships/slide" Target="slides/slide3.xml"/><Relationship Id="rId98" Type="http://schemas.openxmlformats.org/officeDocument/2006/relationships/slide" Target="slides/slide91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91" Type="http://schemas.openxmlformats.org/officeDocument/2006/relationships/slide" Target="slides/slide84.xml"/><Relationship Id="rId90" Type="http://schemas.openxmlformats.org/officeDocument/2006/relationships/slide" Target="slides/slide83.xml"/><Relationship Id="rId93" Type="http://schemas.openxmlformats.org/officeDocument/2006/relationships/slide" Target="slides/slide86.xml"/><Relationship Id="rId92" Type="http://schemas.openxmlformats.org/officeDocument/2006/relationships/slide" Target="slides/slide85.xml"/><Relationship Id="rId118" Type="http://schemas.openxmlformats.org/officeDocument/2006/relationships/slide" Target="slides/slide111.xml"/><Relationship Id="rId117" Type="http://schemas.openxmlformats.org/officeDocument/2006/relationships/slide" Target="slides/slide110.xml"/><Relationship Id="rId116" Type="http://schemas.openxmlformats.org/officeDocument/2006/relationships/slide" Target="slides/slide109.xml"/><Relationship Id="rId115" Type="http://schemas.openxmlformats.org/officeDocument/2006/relationships/slide" Target="slides/slide108.xml"/><Relationship Id="rId119" Type="http://schemas.openxmlformats.org/officeDocument/2006/relationships/slide" Target="slides/slide112.xml"/><Relationship Id="rId15" Type="http://schemas.openxmlformats.org/officeDocument/2006/relationships/slide" Target="slides/slide8.xml"/><Relationship Id="rId110" Type="http://schemas.openxmlformats.org/officeDocument/2006/relationships/slide" Target="slides/slide103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14" Type="http://schemas.openxmlformats.org/officeDocument/2006/relationships/slide" Target="slides/slide107.xml"/><Relationship Id="rId18" Type="http://schemas.openxmlformats.org/officeDocument/2006/relationships/slide" Target="slides/slide11.xml"/><Relationship Id="rId113" Type="http://schemas.openxmlformats.org/officeDocument/2006/relationships/slide" Target="slides/slide106.xml"/><Relationship Id="rId112" Type="http://schemas.openxmlformats.org/officeDocument/2006/relationships/slide" Target="slides/slide105.xml"/><Relationship Id="rId111" Type="http://schemas.openxmlformats.org/officeDocument/2006/relationships/slide" Target="slides/slide104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slide" Target="slides/slide81.xml"/><Relationship Id="rId150" Type="http://schemas.openxmlformats.org/officeDocument/2006/relationships/font" Target="fonts/Economica-italic.fntdata"/><Relationship Id="rId87" Type="http://schemas.openxmlformats.org/officeDocument/2006/relationships/slide" Target="slides/slide80.xml"/><Relationship Id="rId89" Type="http://schemas.openxmlformats.org/officeDocument/2006/relationships/slide" Target="slides/slide82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font" Target="fonts/Economica-bold.fntdata"/><Relationship Id="rId4" Type="http://schemas.openxmlformats.org/officeDocument/2006/relationships/tableStyles" Target="tableStyles.xml"/><Relationship Id="rId148" Type="http://schemas.openxmlformats.org/officeDocument/2006/relationships/font" Target="fonts/Economica-regular.fntdata"/><Relationship Id="rId9" Type="http://schemas.openxmlformats.org/officeDocument/2006/relationships/slide" Target="slides/slide2.xml"/><Relationship Id="rId143" Type="http://schemas.openxmlformats.org/officeDocument/2006/relationships/slide" Target="slides/slide136.xml"/><Relationship Id="rId142" Type="http://schemas.openxmlformats.org/officeDocument/2006/relationships/slide" Target="slides/slide135.xml"/><Relationship Id="rId141" Type="http://schemas.openxmlformats.org/officeDocument/2006/relationships/slide" Target="slides/slide134.xml"/><Relationship Id="rId140" Type="http://schemas.openxmlformats.org/officeDocument/2006/relationships/slide" Target="slides/slide133.xml"/><Relationship Id="rId5" Type="http://schemas.openxmlformats.org/officeDocument/2006/relationships/slideMaster" Target="slideMasters/slideMaster1.xml"/><Relationship Id="rId147" Type="http://schemas.openxmlformats.org/officeDocument/2006/relationships/slide" Target="slides/slide140.xml"/><Relationship Id="rId6" Type="http://schemas.openxmlformats.org/officeDocument/2006/relationships/slideMaster" Target="slideMasters/slideMaster2.xml"/><Relationship Id="rId146" Type="http://schemas.openxmlformats.org/officeDocument/2006/relationships/slide" Target="slides/slide139.xml"/><Relationship Id="rId7" Type="http://schemas.openxmlformats.org/officeDocument/2006/relationships/notesMaster" Target="notesMasters/notesMaster1.xml"/><Relationship Id="rId145" Type="http://schemas.openxmlformats.org/officeDocument/2006/relationships/slide" Target="slides/slide138.xml"/><Relationship Id="rId8" Type="http://schemas.openxmlformats.org/officeDocument/2006/relationships/slide" Target="slides/slide1.xml"/><Relationship Id="rId144" Type="http://schemas.openxmlformats.org/officeDocument/2006/relationships/slide" Target="slides/slide137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139" Type="http://schemas.openxmlformats.org/officeDocument/2006/relationships/slide" Target="slides/slide132.xml"/><Relationship Id="rId138" Type="http://schemas.openxmlformats.org/officeDocument/2006/relationships/slide" Target="slides/slide131.xml"/><Relationship Id="rId137" Type="http://schemas.openxmlformats.org/officeDocument/2006/relationships/slide" Target="slides/slide130.xml"/><Relationship Id="rId132" Type="http://schemas.openxmlformats.org/officeDocument/2006/relationships/slide" Target="slides/slide125.xml"/><Relationship Id="rId131" Type="http://schemas.openxmlformats.org/officeDocument/2006/relationships/slide" Target="slides/slide124.xml"/><Relationship Id="rId130" Type="http://schemas.openxmlformats.org/officeDocument/2006/relationships/slide" Target="slides/slide123.xml"/><Relationship Id="rId136" Type="http://schemas.openxmlformats.org/officeDocument/2006/relationships/slide" Target="slides/slide129.xml"/><Relationship Id="rId135" Type="http://schemas.openxmlformats.org/officeDocument/2006/relationships/slide" Target="slides/slide128.xml"/><Relationship Id="rId134" Type="http://schemas.openxmlformats.org/officeDocument/2006/relationships/slide" Target="slides/slide127.xml"/><Relationship Id="rId133" Type="http://schemas.openxmlformats.org/officeDocument/2006/relationships/slide" Target="slides/slide126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165" Type="http://schemas.openxmlformats.org/officeDocument/2006/relationships/font" Target="fonts/OpenSans-boldItalic.fntdata"/><Relationship Id="rId69" Type="http://schemas.openxmlformats.org/officeDocument/2006/relationships/slide" Target="slides/slide62.xml"/><Relationship Id="rId164" Type="http://schemas.openxmlformats.org/officeDocument/2006/relationships/font" Target="fonts/OpenSans-italic.fntdata"/><Relationship Id="rId163" Type="http://schemas.openxmlformats.org/officeDocument/2006/relationships/font" Target="fonts/OpenSans-bold.fntdata"/><Relationship Id="rId162" Type="http://schemas.openxmlformats.org/officeDocument/2006/relationships/font" Target="fonts/OpenSans-regular.fntdata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161" Type="http://schemas.openxmlformats.org/officeDocument/2006/relationships/font" Target="fonts/OpenSansMedium-boldItalic.fntdata"/><Relationship Id="rId54" Type="http://schemas.openxmlformats.org/officeDocument/2006/relationships/slide" Target="slides/slide47.xml"/><Relationship Id="rId160" Type="http://schemas.openxmlformats.org/officeDocument/2006/relationships/font" Target="fonts/OpenSansMedium-italic.fntdata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159" Type="http://schemas.openxmlformats.org/officeDocument/2006/relationships/font" Target="fonts/OpenSansMedium-bold.fntdata"/><Relationship Id="rId59" Type="http://schemas.openxmlformats.org/officeDocument/2006/relationships/slide" Target="slides/slide52.xml"/><Relationship Id="rId154" Type="http://schemas.openxmlformats.org/officeDocument/2006/relationships/font" Target="fonts/OpenSansSemiBold-regular.fntdata"/><Relationship Id="rId58" Type="http://schemas.openxmlformats.org/officeDocument/2006/relationships/slide" Target="slides/slide51.xml"/><Relationship Id="rId153" Type="http://schemas.openxmlformats.org/officeDocument/2006/relationships/font" Target="fonts/Oxygen-bold.fntdata"/><Relationship Id="rId152" Type="http://schemas.openxmlformats.org/officeDocument/2006/relationships/font" Target="fonts/Oxygen-regular.fntdata"/><Relationship Id="rId151" Type="http://schemas.openxmlformats.org/officeDocument/2006/relationships/font" Target="fonts/Economica-boldItalic.fntdata"/><Relationship Id="rId158" Type="http://schemas.openxmlformats.org/officeDocument/2006/relationships/font" Target="fonts/OpenSansMedium-regular.fntdata"/><Relationship Id="rId157" Type="http://schemas.openxmlformats.org/officeDocument/2006/relationships/font" Target="fonts/OpenSansSemiBold-boldItalic.fntdata"/><Relationship Id="rId156" Type="http://schemas.openxmlformats.org/officeDocument/2006/relationships/font" Target="fonts/OpenSansSemiBold-italic.fntdata"/><Relationship Id="rId155" Type="http://schemas.openxmlformats.org/officeDocument/2006/relationships/font" Target="fonts/OpenSans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03e590b72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03e590b7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54bb1e4bb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54bb1e4bb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beab40210d_0_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beab40210d_0_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a7ec19a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a7ec19a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beab40210d_0_7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beab40210d_0_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beab40210d_0_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beab40210d_0_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4a7ec19ab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4a7ec19ab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4a7ec19ab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4a7ec19ab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beab40210d_0_7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beab40210d_0_7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54ec411e0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54ec411e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54ec411e0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54ec411e0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54ec411e0c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54ec411e0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54ec411e0c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54ec411e0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54ec411e0c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54ec411e0c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54ec411e0c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54ec411e0c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54ec411e0c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54ec411e0c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54ec411e0c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54ec411e0c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54ec411e0c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54ec411e0c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54ec411e0c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54ec411e0c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54ec411e0c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54ec411e0c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beab40210d_0_7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2beab40210d_0_7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be245583fc_0_16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be245583fc_0_1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be245583fc_0_1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be245583fc_0_1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be245583fc_0_16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be245583fc_0_1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be245583fc_0_17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be245583fc_0_17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be245583fc_0_1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be245583fc_0_1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be245583fc_0_17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be245583fc_0_1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be245583fc_0_17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be245583fc_0_17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be245583fc_0_17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be245583fc_0_1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be245583fc_0_17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be245583fc_0_1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be245583fc_0_1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be245583fc_0_1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be245583fc_0_17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be245583fc_0_17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be245583fc_0_17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be245583fc_0_1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be245583fc_0_18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be245583fc_0_18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be245583fc_0_19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be245583fc_0_19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be245583fc_0_19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be245583fc_0_19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be245583fc_0_20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be245583fc_0_2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11705eb9fc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11705eb9f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11705eb9fcb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5" name="Google Shape;915;g11705eb9fc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be245583fc_0_2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be245583fc_0_2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be245583fc_0_2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be245583fc_0_2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be245583fc_0_2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be245583fc_0_2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be245583fc_0_2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6" name="Google Shape;1146;gbe245583fc_0_2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be245583fc_0_2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be245583fc_0_2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be245583fc_0_2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gbe245583fc_0_2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gbe245583fc_0_2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0" name="Google Shape;1320;gbe245583fc_0_2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gbe245583fc_0_2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8" name="Google Shape;1378;gbe245583fc_0_2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be245583fc_0_2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6" name="Google Shape;1436;gbe245583fc_0_2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gbe245583fc_0_2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4" name="Google Shape;1494;gbe245583fc_0_2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gbe245583fc_0_2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2" name="Google Shape;1552;gbe245583fc_0_2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8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g11705eb9fcb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0" name="Google Shape;1610;g11705eb9fcb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g2beab40210d_0_7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2" name="Google Shape;1622;g2beab40210d_0_7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6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g2beab40210d_0_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8" name="Google Shape;1638;g2beab40210d_0_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g2beab40210d_0_7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4" name="Google Shape;1654;g2beab40210d_0_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g2beab40210d_0_8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0" name="Google Shape;1670;g2beab40210d_0_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g2beab40210d_0_8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6" name="Google Shape;1686;g2beab40210d_0_8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9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g2beab40210d_0_8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1" name="Google Shape;1701;g2beab40210d_0_8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4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g2beab40210d_0_8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6" name="Google Shape;1716;g2beab40210d_0_8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9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g2beab40210d_0_8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1" name="Google Shape;1731;g2beab40210d_0_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4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g2beab40210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6" name="Google Shape;1746;g2beab40210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6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Google Shape;1757;g2beab40210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8" name="Google Shape;1758;g2beab40210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0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g2beab40210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2" name="Google Shape;1772;g2beab40210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4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Google Shape;1785;g2beab40210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6" name="Google Shape;1786;g2beab40210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8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g2beab40210d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0" name="Google Shape;1800;g2beab40210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0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g34a7ec19ab7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2" name="Google Shape;1812;g34a7ec19ab7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5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Google Shape;1816;g2beab40210d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7" name="Google Shape;1817;g2beab40210d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8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g34a7ec19ab7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0" name="Google Shape;1840;g34a7ec19ab7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3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g34a7ec19ab7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5" name="Google Shape;1865;g34a7ec19ab7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g34a7ec19ab7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0" name="Google Shape;1890;g34a7ec19ab7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3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g34a7ec19ab7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5" name="Google Shape;1915;g34a7ec19ab7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8" name="Shape 1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9" name="Google Shape;1939;g34a7ec19ab7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0" name="Google Shape;1940;g34a7ec19ab7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3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Google Shape;1944;g34a7ec19ab7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5" name="Google Shape;1945;g34a7ec19ab7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g34a7ec19ab7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3" name="Google Shape;1973;g34a7ec19ab7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0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g2beab40210d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2" name="Google Shape;2002;g2beab40210d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4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Google Shape;2055;g2beab40210d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6" name="Google Shape;2056;g2beab40210d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0" name="Shape 2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1" name="Google Shape;2111;g2beab40210d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2" name="Google Shape;2112;g2beab40210d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4" name="Shape 2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5" name="Google Shape;2165;g2beab40210d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6" name="Google Shape;2166;g2beab40210d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8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g2beab40210d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0" name="Google Shape;2220;g2beab40210d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6" name="Shape 2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7" name="Google Shape;2247;g2beab40210d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8" name="Google Shape;2248;g2beab40210d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4" name="Shape 2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" name="Google Shape;2275;g2beab40210d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6" name="Google Shape;2276;g2beab40210d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2" name="Shape 2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g2beab40210d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4" name="Google Shape;2304;g2beab40210d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0" name="Shape 2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1" name="Google Shape;2331;g2beab40210d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2" name="Google Shape;2332;g2beab40210d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8" name="Shape 2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" name="Google Shape;2359;g2beab40210d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0" name="Google Shape;2360;g2beab40210d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6" name="Shape 2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7" name="Google Shape;2387;g2beab40210d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8" name="Google Shape;2388;g2beab40210d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4" name="Shape 2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5" name="Google Shape;2415;g2beab40210d_0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6" name="Google Shape;2416;g2beab40210d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2" name="Shape 2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3" name="Google Shape;2443;g2beab40210d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4" name="Google Shape;2444;g2beab40210d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0" name="Shape 2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1" name="Google Shape;2471;g34a7ec19ab7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2" name="Google Shape;2472;g34a7ec19ab7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9" name="Shape 2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0" name="Google Shape;2500;g34a7ec19ab7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1" name="Google Shape;2501;g34a7ec19ab7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8" name="Shape 2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" name="Google Shape;2529;g34a7ec19ab7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0" name="Google Shape;2530;g34a7ec19ab7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9" name="Shape 2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" name="Google Shape;2560;g2beab40210d_0_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1" name="Google Shape;2561;g2beab40210d_0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9" name="Shape 2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" name="Google Shape;2590;g2beab40210d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1" name="Google Shape;2591;g2beab40210d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9" name="Shape 2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0" name="Google Shape;2620;g2beab40210d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1" name="Google Shape;2621;g2beab40210d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3" name="Shape 2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4" name="Google Shape;2634;g2beab40210d_3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5" name="Google Shape;2635;g2beab40210d_3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7" name="Shape 2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8" name="Google Shape;2648;g2bee34d4ac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9" name="Google Shape;2649;g2bee34d4a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4" name="Shape 2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5" name="Google Shape;2675;g2bee34d4ac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6" name="Google Shape;2676;g2bee34d4ac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3" name="Shape 2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4" name="Google Shape;2704;g2bee34d4acb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5" name="Google Shape;2705;g2bee34d4ac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5" name="Shape 2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6" name="Google Shape;2736;g2bee34d4acb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7" name="Google Shape;2737;g2bee34d4acb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0" name="Shape 2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1" name="Google Shape;2771;g2bee34d4acb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2" name="Google Shape;2772;g2bee34d4acb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2" name="Shape 2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3" name="Google Shape;2813;g2bee34d4acb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4" name="Google Shape;2814;g2bee34d4acb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4" name="Shape 2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5" name="Google Shape;2855;g2befc7712a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6" name="Google Shape;2856;g2befc7712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6" name="Shape 2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" name="Google Shape;2897;g2befc7712af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8" name="Google Shape;2898;g2befc7712af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0" name="Shape 2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1" name="Google Shape;2941;g2befc7712a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2" name="Google Shape;2942;g2befc7712a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2" name="Shape 2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3" name="Google Shape;2983;g2befc7712af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4" name="Google Shape;2984;g2befc7712a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4" name="Shape 3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5" name="Google Shape;3025;g2befc7712af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6" name="Google Shape;3026;g2befc7712af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2" name="Shape 3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3" name="Google Shape;3043;g34a7ec19ab7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4" name="Google Shape;3044;g34a7ec19ab7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0" name="Shape 3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" name="Google Shape;3061;g2befc7712af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2" name="Google Shape;3062;g2befc7712af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8" name="Shape 3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Google Shape;3079;g34a7ec19ab7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0" name="Google Shape;3080;g34a7ec19ab7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6" name="Shape 3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7" name="Google Shape;3097;g2befc7712af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8" name="Google Shape;3098;g2befc7712af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5" name="Shape 3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6" name="Google Shape;3126;g34a7ec19ab7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7" name="Google Shape;3127;g34a7ec19ab7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4" name="Shape 3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5" name="Google Shape;3155;g2befc7712af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6" name="Google Shape;3156;g2befc7712af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6" name="Shape 3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7" name="Google Shape;3197;g2befc7712af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8" name="Google Shape;3198;g2befc7712af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8" name="Shape 3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9" name="Google Shape;3239;g2befc7712af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0" name="Google Shape;3240;g2befc7712af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0" name="Shape 3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1" name="Google Shape;3281;g2befc7712af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2" name="Google Shape;3282;g2befc7712af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3" name="Shape 3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4" name="Google Shape;3324;g2befc7712af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5" name="Google Shape;3325;g2befc7712af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6" name="Shape 3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7" name="Google Shape;3367;g2befc7712af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8" name="Google Shape;3368;g2befc7712af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9" name="Shape 3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0" name="Google Shape;3410;g2befc7712af_0_5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1" name="Google Shape;3411;g2befc7712af_0_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2" name="Shape 3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3" name="Google Shape;3453;g2befc7712af_0_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4" name="Google Shape;3454;g2befc7712af_0_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4" name="Shape 3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5" name="Google Shape;3495;g2befc7712af_0_9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6" name="Google Shape;3496;g2befc7712af_0_9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6" name="Shape 3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7" name="Google Shape;3537;g2befc7712af_0_9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8" name="Google Shape;3538;g2befc7712af_0_9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8" name="Shape 3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9" name="Google Shape;3579;g2befc7712af_0_9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0" name="Google Shape;3580;g2befc7712af_0_9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0" name="Shape 3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1" name="Google Shape;3621;g2befc7712af_0_10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2" name="Google Shape;3622;g2befc7712af_0_10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3" name="Shape 3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4" name="Google Shape;3664;g2befc7712af_0_10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5" name="Google Shape;3665;g2befc7712af_0_1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6" name="Shape 3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7" name="Google Shape;3707;g2befc7712af_0_1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8" name="Google Shape;3708;g2befc7712af_0_1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9" name="Shape 3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0" name="Google Shape;3750;g2befc7712af_0_1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1" name="Google Shape;3751;g2befc7712af_0_1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2" name="Shape 3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3" name="Google Shape;3793;g350729092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4" name="Google Shape;3794;g350729092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4" name="Shape 3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5" name="Google Shape;3825;g350729092d3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6" name="Google Shape;3826;g350729092d3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8" name="Shape 3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9" name="Google Shape;3859;g350729092d3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0" name="Google Shape;3860;g350729092d3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8" name="Shape 3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9" name="Google Shape;3929;g350729092d3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0" name="Google Shape;3930;g350729092d3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8" name="Shape 3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9" name="Google Shape;3999;g350729092d3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0" name="Google Shape;4000;g350729092d3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8" name="Shape 4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9" name="Google Shape;4059;g350729092d3_0_6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0" name="Google Shape;4060;g350729092d3_0_6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0" name="Shape 4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1" name="Google Shape;4091;g350729092d3_0_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2" name="Google Shape;4092;g350729092d3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2" name="Shape 4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3" name="Google Shape;4123;g350729092d3_0_7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4" name="Google Shape;4124;g350729092d3_0_7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4" name="Shape 4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5" name="Google Shape;4155;g350729092d3_0_8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6" name="Google Shape;4156;g350729092d3_0_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6" name="Shape 4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7" name="Google Shape;4187;g350729092d3_0_8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8" name="Google Shape;4188;g350729092d3_0_8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8" name="Shape 4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9" name="Google Shape;4219;g350729092d3_0_8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0" name="Google Shape;4220;g350729092d3_0_8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0" name="Shape 4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1" name="Google Shape;4251;g350729092d3_0_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2" name="Google Shape;4252;g350729092d3_0_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2" name="Shape 4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3" name="Google Shape;4283;g350729092d3_0_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4" name="Google Shape;4284;g350729092d3_0_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4" name="Shape 4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5" name="Google Shape;4315;g350729092d3_0_9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6" name="Google Shape;4316;g350729092d3_0_9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6" name="Shape 4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7" name="Google Shape;4347;g350729092d3_0_10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8" name="Google Shape;4348;g350729092d3_0_10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1" name="Shape 4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2" name="Google Shape;4382;g350729092d3_0_9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3" name="Google Shape;4383;g350729092d3_0_9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4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and Signed Graphs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Dyadic Balance Theory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Dyadic Balance: From Similarities to Interactions</a:t>
            </a:r>
            <a:endParaRPr/>
          </a:p>
        </p:txBody>
      </p:sp>
      <p:sp>
        <p:nvSpPr>
          <p:cNvPr id="121" name="Google Shape;121;p2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Ideas of </a:t>
            </a:r>
            <a:r>
              <a:rPr b="1" lang="en"/>
              <a:t>dyadic balance</a:t>
            </a:r>
            <a:r>
              <a:rPr lang="en"/>
              <a:t> were first described in a famous paper written by Fritz Heider in 1946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Differences between ties are based 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Similarities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Interactions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basic principle is that people seek </a:t>
            </a:r>
            <a:r>
              <a:rPr b="1" lang="en"/>
              <a:t>balance</a:t>
            </a:r>
            <a:r>
              <a:rPr lang="en"/>
              <a:t> between similarities and interactions: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tend to interact with people who are similar to them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𝛂 and 𝛃 are two people and S is a tie based on similarity and R is a tie based on interaction: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𝛂S𝛃 → 𝛂R𝛃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Dyadic Balance: From Similarities to Interactions</a:t>
            </a:r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Ideas of </a:t>
            </a:r>
            <a:r>
              <a:rPr b="1" lang="en"/>
              <a:t>dyadic balance</a:t>
            </a:r>
            <a:r>
              <a:rPr lang="en"/>
              <a:t> were first described in a famous paper written by Fritz Heider in 1946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Differences between ties are based 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Similarities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Interactions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basic principle is that people seek </a:t>
            </a:r>
            <a:r>
              <a:rPr b="1" lang="en"/>
              <a:t>balance</a:t>
            </a:r>
            <a:r>
              <a:rPr lang="en"/>
              <a:t> between similarities and interactions: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tend to interact with people who are similar to them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</a:t>
            </a:r>
            <a:r>
              <a:rPr lang="en"/>
              <a:t>𝛂</a:t>
            </a:r>
            <a:r>
              <a:rPr lang="en"/>
              <a:t> and </a:t>
            </a:r>
            <a:r>
              <a:rPr lang="en"/>
              <a:t>𝛃 </a:t>
            </a:r>
            <a:r>
              <a:rPr lang="en"/>
              <a:t>are two people and S is a tie based on similarity and R is a tie based on interaction: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𝛂</a:t>
            </a:r>
            <a:r>
              <a:rPr lang="en"/>
              <a:t>S</a:t>
            </a:r>
            <a:r>
              <a:rPr lang="en"/>
              <a:t>𝛃</a:t>
            </a:r>
            <a:r>
              <a:rPr lang="en"/>
              <a:t> → </a:t>
            </a:r>
            <a:r>
              <a:rPr lang="en"/>
              <a:t>𝛂</a:t>
            </a:r>
            <a:r>
              <a:rPr lang="en"/>
              <a:t>R</a:t>
            </a:r>
            <a:r>
              <a:rPr lang="en"/>
              <a:t>𝛃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reads: “A tie of type S between </a:t>
            </a:r>
            <a:r>
              <a:rPr lang="en"/>
              <a:t>𝛂 and 𝛃 leads to a tie of type R between 𝛂 and 𝛃”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Dyadic Balance: From Similarities to Interactions</a:t>
            </a:r>
            <a:endParaRPr/>
          </a:p>
        </p:txBody>
      </p:sp>
      <p:sp>
        <p:nvSpPr>
          <p:cNvPr id="133" name="Google Shape;133;p30"/>
          <p:cNvSpPr txBox="1"/>
          <p:nvPr>
            <p:ph idx="1" type="body"/>
          </p:nvPr>
        </p:nvSpPr>
        <p:spPr>
          <a:xfrm>
            <a:off x="311700" y="1225225"/>
            <a:ext cx="8520600" cy="13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Ideas of </a:t>
            </a:r>
            <a:r>
              <a:rPr b="1" lang="en"/>
              <a:t>dyadic balance</a:t>
            </a:r>
            <a:r>
              <a:rPr lang="en"/>
              <a:t> were first described in a famous paper written by Fritz Heider in 1946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applies to every combination of similarities and interactions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0"/>
          <p:cNvSpPr txBox="1"/>
          <p:nvPr/>
        </p:nvSpPr>
        <p:spPr>
          <a:xfrm>
            <a:off x="545400" y="4604300"/>
            <a:ext cx="8053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Borgatti, S. P., Mehra, A., Brass, D. J., &amp; Labianca, G. (2009). Network analysis in the social sciences. </a:t>
            </a:r>
            <a:r>
              <a:rPr i="1" lang="en">
                <a:latin typeface="Economica"/>
                <a:ea typeface="Economica"/>
                <a:cs typeface="Economica"/>
                <a:sym typeface="Economica"/>
              </a:rPr>
              <a:t>Science</a:t>
            </a:r>
            <a:r>
              <a:rPr lang="en">
                <a:latin typeface="Economica"/>
                <a:ea typeface="Economica"/>
                <a:cs typeface="Economica"/>
                <a:sym typeface="Economica"/>
              </a:rPr>
              <a:t>, 323(5916), 892-895.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descr="Screenshot 2017-08-22 at 09.35.16.png" id="135" name="Google Shape;135;p30"/>
          <p:cNvPicPr preferRelativeResize="0"/>
          <p:nvPr/>
        </p:nvPicPr>
        <p:blipFill rotWithShape="1">
          <a:blip r:embed="rId3">
            <a:alphaModFix/>
          </a:blip>
          <a:srcRect b="12480" l="0" r="0" t="0"/>
          <a:stretch/>
        </p:blipFill>
        <p:spPr>
          <a:xfrm>
            <a:off x="911963" y="2639000"/>
            <a:ext cx="7320075" cy="196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30"/>
          <p:cNvSpPr/>
          <p:nvPr/>
        </p:nvSpPr>
        <p:spPr>
          <a:xfrm>
            <a:off x="835650" y="2649475"/>
            <a:ext cx="2578200" cy="2008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30"/>
          <p:cNvSpPr/>
          <p:nvPr/>
        </p:nvSpPr>
        <p:spPr>
          <a:xfrm>
            <a:off x="6147575" y="2639000"/>
            <a:ext cx="1276200" cy="2008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Dyadic Balance: From Similarities to Interactions</a:t>
            </a:r>
            <a:endParaRPr/>
          </a:p>
        </p:txBody>
      </p:sp>
      <p:sp>
        <p:nvSpPr>
          <p:cNvPr id="143" name="Google Shape;143;p3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Ideas of </a:t>
            </a:r>
            <a:r>
              <a:rPr b="1" lang="en"/>
              <a:t>dyadic balance</a:t>
            </a:r>
            <a:r>
              <a:rPr lang="en"/>
              <a:t> were first described in a famous paper written by Fritz Heider in 1946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applies to every combination of similarities and interactions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Similarities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Propinquity (same place)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Homophily (same social category)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Co-memberships (same social groups)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Interactions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Communicating with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Liking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Helping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Dyadic Balance: From Similarities to Interactions</a:t>
            </a:r>
            <a:endParaRPr/>
          </a:p>
        </p:txBody>
      </p:sp>
      <p:sp>
        <p:nvSpPr>
          <p:cNvPr id="149" name="Google Shape;149;p32"/>
          <p:cNvSpPr txBox="1"/>
          <p:nvPr>
            <p:ph idx="1" type="body"/>
          </p:nvPr>
        </p:nvSpPr>
        <p:spPr>
          <a:xfrm>
            <a:off x="387125" y="1225225"/>
            <a:ext cx="8520600" cy="27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Ideas of </a:t>
            </a:r>
            <a:r>
              <a:rPr b="1" lang="en"/>
              <a:t>dyadic balance</a:t>
            </a:r>
            <a:r>
              <a:rPr lang="en"/>
              <a:t> were first described in a famous paper written by Fritz Heider in 1946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applies to every combination of similarities and interactions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tend to </a:t>
            </a:r>
            <a:r>
              <a:rPr b="1" lang="en"/>
              <a:t>like </a:t>
            </a:r>
            <a:r>
              <a:rPr lang="en"/>
              <a:t>with people who they </a:t>
            </a:r>
            <a:r>
              <a:rPr b="1" lang="en"/>
              <a:t>spend time </a:t>
            </a:r>
            <a:r>
              <a:rPr lang="en"/>
              <a:t>with: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2"/>
          <p:cNvSpPr/>
          <p:nvPr/>
        </p:nvSpPr>
        <p:spPr>
          <a:xfrm>
            <a:off x="387113" y="2683225"/>
            <a:ext cx="621000" cy="6051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Simbi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1" name="Google Shape;151;p32"/>
          <p:cNvCxnSpPr>
            <a:stCxn id="150" idx="6"/>
            <a:endCxn id="152" idx="2"/>
          </p:cNvCxnSpPr>
          <p:nvPr/>
        </p:nvCxnSpPr>
        <p:spPr>
          <a:xfrm flipH="1" rot="10800000">
            <a:off x="1008113" y="2977075"/>
            <a:ext cx="657300" cy="87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" name="Google Shape;152;p32"/>
          <p:cNvSpPr/>
          <p:nvPr/>
        </p:nvSpPr>
        <p:spPr>
          <a:xfrm>
            <a:off x="1665263" y="2674475"/>
            <a:ext cx="621000" cy="6051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Keryl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3" name="Google Shape;153;p32"/>
          <p:cNvCxnSpPr>
            <a:stCxn id="150" idx="5"/>
            <a:endCxn id="152" idx="3"/>
          </p:cNvCxnSpPr>
          <p:nvPr/>
        </p:nvCxnSpPr>
        <p:spPr>
          <a:xfrm rot="-5400000">
            <a:off x="1332369" y="2775810"/>
            <a:ext cx="8700" cy="839100"/>
          </a:xfrm>
          <a:prstGeom prst="curvedConnector3">
            <a:avLst>
              <a:gd fmla="val -375563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" name="Google Shape;154;p32"/>
          <p:cNvSpPr txBox="1"/>
          <p:nvPr/>
        </p:nvSpPr>
        <p:spPr>
          <a:xfrm>
            <a:off x="618575" y="3567025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Balanced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5" name="Google Shape;155;p32"/>
          <p:cNvSpPr/>
          <p:nvPr/>
        </p:nvSpPr>
        <p:spPr>
          <a:xfrm>
            <a:off x="6933138" y="2580500"/>
            <a:ext cx="621000" cy="6051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Simbi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6" name="Google Shape;156;p32"/>
          <p:cNvCxnSpPr>
            <a:stCxn id="155" idx="6"/>
            <a:endCxn id="157" idx="2"/>
          </p:cNvCxnSpPr>
          <p:nvPr/>
        </p:nvCxnSpPr>
        <p:spPr>
          <a:xfrm flipH="1" rot="10800000">
            <a:off x="7554138" y="2874350"/>
            <a:ext cx="657300" cy="87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" name="Google Shape;157;p32"/>
          <p:cNvSpPr/>
          <p:nvPr/>
        </p:nvSpPr>
        <p:spPr>
          <a:xfrm>
            <a:off x="8211288" y="2571750"/>
            <a:ext cx="621000" cy="6051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Keryl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8" name="Google Shape;158;p32"/>
          <p:cNvCxnSpPr>
            <a:stCxn id="155" idx="5"/>
            <a:endCxn id="157" idx="3"/>
          </p:cNvCxnSpPr>
          <p:nvPr/>
        </p:nvCxnSpPr>
        <p:spPr>
          <a:xfrm rot="-5400000">
            <a:off x="7878394" y="2673085"/>
            <a:ext cx="8700" cy="839100"/>
          </a:xfrm>
          <a:prstGeom prst="curvedConnector3">
            <a:avLst>
              <a:gd fmla="val -3755630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" name="Google Shape;159;p32"/>
          <p:cNvSpPr txBox="1"/>
          <p:nvPr/>
        </p:nvSpPr>
        <p:spPr>
          <a:xfrm>
            <a:off x="7164600" y="3464300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Unbalanced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0" name="Google Shape;160;p32"/>
          <p:cNvCxnSpPr/>
          <p:nvPr/>
        </p:nvCxnSpPr>
        <p:spPr>
          <a:xfrm>
            <a:off x="2474100" y="4120075"/>
            <a:ext cx="10869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32"/>
          <p:cNvCxnSpPr/>
          <p:nvPr/>
        </p:nvCxnSpPr>
        <p:spPr>
          <a:xfrm>
            <a:off x="2474100" y="4467388"/>
            <a:ext cx="10869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2" name="Google Shape;162;p32"/>
          <p:cNvSpPr txBox="1"/>
          <p:nvPr/>
        </p:nvSpPr>
        <p:spPr>
          <a:xfrm>
            <a:off x="3557495" y="3935725"/>
            <a:ext cx="31089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Symmetric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 Tie (Spend Time With)</a:t>
            </a:r>
            <a:endParaRPr sz="18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3" name="Google Shape;163;p32"/>
          <p:cNvSpPr txBox="1"/>
          <p:nvPr/>
        </p:nvSpPr>
        <p:spPr>
          <a:xfrm>
            <a:off x="3561000" y="4283050"/>
            <a:ext cx="31089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Asymmetric Tie (like)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4" name="Google Shape;164;p32"/>
          <p:cNvCxnSpPr/>
          <p:nvPr/>
        </p:nvCxnSpPr>
        <p:spPr>
          <a:xfrm>
            <a:off x="2474100" y="4786963"/>
            <a:ext cx="10869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5" name="Google Shape;165;p32"/>
          <p:cNvSpPr txBox="1"/>
          <p:nvPr/>
        </p:nvSpPr>
        <p:spPr>
          <a:xfrm>
            <a:off x="3561000" y="4602625"/>
            <a:ext cx="31089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Asymmetric Tie (like)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Dyadic Balance: From Similarities to Interactions</a:t>
            </a:r>
            <a:endParaRPr/>
          </a:p>
        </p:txBody>
      </p:sp>
      <p:sp>
        <p:nvSpPr>
          <p:cNvPr id="171" name="Google Shape;171;p33"/>
          <p:cNvSpPr txBox="1"/>
          <p:nvPr>
            <p:ph idx="1" type="body"/>
          </p:nvPr>
        </p:nvSpPr>
        <p:spPr>
          <a:xfrm>
            <a:off x="387125" y="1225225"/>
            <a:ext cx="8520600" cy="27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Ideas of </a:t>
            </a:r>
            <a:r>
              <a:rPr b="1" lang="en"/>
              <a:t>dyadic balance</a:t>
            </a:r>
            <a:r>
              <a:rPr lang="en"/>
              <a:t> were first described in a famous paper written by Fritz Heider in 1946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applies to every combination of similarities and interactions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tend to </a:t>
            </a:r>
            <a:r>
              <a:rPr b="1" lang="en"/>
              <a:t>help </a:t>
            </a:r>
            <a:r>
              <a:rPr lang="en"/>
              <a:t>with people who belong to the</a:t>
            </a:r>
            <a:r>
              <a:rPr b="1" lang="en"/>
              <a:t> same groups</a:t>
            </a:r>
            <a:r>
              <a:rPr lang="en"/>
              <a:t> as them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3"/>
          <p:cNvSpPr/>
          <p:nvPr/>
        </p:nvSpPr>
        <p:spPr>
          <a:xfrm>
            <a:off x="387113" y="2683225"/>
            <a:ext cx="621000" cy="6051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Simbi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3" name="Google Shape;173;p33"/>
          <p:cNvCxnSpPr>
            <a:stCxn id="172" idx="6"/>
            <a:endCxn id="174" idx="2"/>
          </p:cNvCxnSpPr>
          <p:nvPr/>
        </p:nvCxnSpPr>
        <p:spPr>
          <a:xfrm flipH="1" rot="10800000">
            <a:off x="1008113" y="2977075"/>
            <a:ext cx="657300" cy="87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33"/>
          <p:cNvSpPr/>
          <p:nvPr/>
        </p:nvSpPr>
        <p:spPr>
          <a:xfrm>
            <a:off x="1665263" y="2674475"/>
            <a:ext cx="621000" cy="6051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Keryl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5" name="Google Shape;175;p33"/>
          <p:cNvCxnSpPr>
            <a:stCxn id="172" idx="5"/>
            <a:endCxn id="174" idx="3"/>
          </p:cNvCxnSpPr>
          <p:nvPr/>
        </p:nvCxnSpPr>
        <p:spPr>
          <a:xfrm rot="-5400000">
            <a:off x="1332369" y="2775810"/>
            <a:ext cx="8700" cy="839100"/>
          </a:xfrm>
          <a:prstGeom prst="curvedConnector3">
            <a:avLst>
              <a:gd fmla="val -375563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" name="Google Shape;176;p33"/>
          <p:cNvSpPr txBox="1"/>
          <p:nvPr/>
        </p:nvSpPr>
        <p:spPr>
          <a:xfrm>
            <a:off x="618575" y="3567025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Balanced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77" name="Google Shape;177;p33"/>
          <p:cNvSpPr/>
          <p:nvPr/>
        </p:nvSpPr>
        <p:spPr>
          <a:xfrm>
            <a:off x="6933138" y="2580500"/>
            <a:ext cx="621000" cy="6051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Simbi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78" name="Google Shape;178;p33"/>
          <p:cNvSpPr/>
          <p:nvPr/>
        </p:nvSpPr>
        <p:spPr>
          <a:xfrm>
            <a:off x="8211288" y="2571750"/>
            <a:ext cx="621000" cy="6051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Keryl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9" name="Google Shape;179;p33"/>
          <p:cNvCxnSpPr>
            <a:stCxn id="177" idx="5"/>
            <a:endCxn id="178" idx="3"/>
          </p:cNvCxnSpPr>
          <p:nvPr/>
        </p:nvCxnSpPr>
        <p:spPr>
          <a:xfrm rot="-5400000">
            <a:off x="7878394" y="2673085"/>
            <a:ext cx="8700" cy="839100"/>
          </a:xfrm>
          <a:prstGeom prst="curvedConnector3">
            <a:avLst>
              <a:gd fmla="val -375563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0" name="Google Shape;180;p33"/>
          <p:cNvSpPr txBox="1"/>
          <p:nvPr/>
        </p:nvSpPr>
        <p:spPr>
          <a:xfrm>
            <a:off x="7164600" y="3464300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Unbalanced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81" name="Google Shape;181;p33"/>
          <p:cNvCxnSpPr/>
          <p:nvPr/>
        </p:nvCxnSpPr>
        <p:spPr>
          <a:xfrm>
            <a:off x="2474100" y="4120075"/>
            <a:ext cx="10869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33"/>
          <p:cNvCxnSpPr/>
          <p:nvPr/>
        </p:nvCxnSpPr>
        <p:spPr>
          <a:xfrm>
            <a:off x="2474100" y="4467388"/>
            <a:ext cx="10869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3" name="Google Shape;183;p33"/>
          <p:cNvSpPr txBox="1"/>
          <p:nvPr/>
        </p:nvSpPr>
        <p:spPr>
          <a:xfrm>
            <a:off x="3557495" y="3935725"/>
            <a:ext cx="31089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Symmetric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 Tie (Same Group)</a:t>
            </a:r>
            <a:endParaRPr sz="180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84" name="Google Shape;184;p33"/>
          <p:cNvSpPr txBox="1"/>
          <p:nvPr/>
        </p:nvSpPr>
        <p:spPr>
          <a:xfrm>
            <a:off x="3561000" y="4283050"/>
            <a:ext cx="31089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Asymmetric Tie (Help)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Dyadic Balance: From Similarities to Interactions</a:t>
            </a:r>
            <a:endParaRPr/>
          </a:p>
        </p:txBody>
      </p:sp>
      <p:sp>
        <p:nvSpPr>
          <p:cNvPr id="190" name="Google Shape;190;p3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Ideas of </a:t>
            </a:r>
            <a:r>
              <a:rPr b="1" lang="en"/>
              <a:t>dyadic balance</a:t>
            </a:r>
            <a:r>
              <a:rPr lang="en"/>
              <a:t> were first described in a famous paper written by Fritz Heider in 1946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the first cycle of similarities leading to interactions interactions can lead to further similarities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aRb → aSb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People tend to think like (have the same opinions, </a:t>
            </a:r>
            <a:r>
              <a:rPr lang="en"/>
              <a:t>attitudes</a:t>
            </a:r>
            <a:r>
              <a:rPr lang="en"/>
              <a:t>) the people they interact with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People tend to adopt the same tastes fashions, etc. as the people in the same organizations as them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People tend to spend time with the people they like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 in Social Networks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</a:t>
            </a:r>
            <a:endParaRPr/>
          </a:p>
        </p:txBody>
      </p:sp>
      <p:sp>
        <p:nvSpPr>
          <p:cNvPr id="201" name="Google Shape;201;p36"/>
          <p:cNvSpPr txBox="1"/>
          <p:nvPr>
            <p:ph idx="1" type="body"/>
          </p:nvPr>
        </p:nvSpPr>
        <p:spPr>
          <a:xfrm>
            <a:off x="311700" y="1225225"/>
            <a:ext cx="4528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Signed graphs</a:t>
            </a:r>
            <a:r>
              <a:rPr lang="en"/>
              <a:t> are a special kind of (multi)graph featuring: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edge set (V)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disjoint</a:t>
            </a:r>
            <a:r>
              <a:rPr lang="en"/>
              <a:t> sets of edges: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6"/>
          <p:cNvSpPr/>
          <p:nvPr/>
        </p:nvSpPr>
        <p:spPr>
          <a:xfrm>
            <a:off x="5176850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3" name="Google Shape;203;p36"/>
          <p:cNvSpPr/>
          <p:nvPr/>
        </p:nvSpPr>
        <p:spPr>
          <a:xfrm>
            <a:off x="517685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4" name="Google Shape;204;p36"/>
          <p:cNvCxnSpPr>
            <a:stCxn id="202" idx="0"/>
            <a:endCxn id="203" idx="4"/>
          </p:cNvCxnSpPr>
          <p:nvPr/>
        </p:nvCxnSpPr>
        <p:spPr>
          <a:xfrm rot="10800000">
            <a:off x="54774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" name="Google Shape;205;p36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6" name="Google Shape;206;p36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7" name="Google Shape;207;p36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8" name="Google Shape;208;p36"/>
          <p:cNvCxnSpPr>
            <a:stCxn id="203" idx="7"/>
            <a:endCxn id="205" idx="4"/>
          </p:cNvCxnSpPr>
          <p:nvPr/>
        </p:nvCxnSpPr>
        <p:spPr>
          <a:xfrm flipH="1" rot="10800000">
            <a:off x="5690006" y="1619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36"/>
          <p:cNvCxnSpPr>
            <a:stCxn id="207" idx="1"/>
            <a:endCxn id="205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36"/>
          <p:cNvCxnSpPr>
            <a:stCxn id="207" idx="3"/>
            <a:endCxn id="206" idx="0"/>
          </p:cNvCxnSpPr>
          <p:nvPr/>
        </p:nvCxnSpPr>
        <p:spPr>
          <a:xfrm flipH="1">
            <a:off x="6823144" y="2678606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36"/>
          <p:cNvCxnSpPr>
            <a:stCxn id="206" idx="0"/>
            <a:endCxn id="205" idx="4"/>
          </p:cNvCxnSpPr>
          <p:nvPr/>
        </p:nvCxnSpPr>
        <p:spPr>
          <a:xfrm rot="10800000">
            <a:off x="6823275" y="1619150"/>
            <a:ext cx="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36"/>
          <p:cNvCxnSpPr>
            <a:stCxn id="206" idx="0"/>
            <a:endCxn id="203" idx="5"/>
          </p:cNvCxnSpPr>
          <p:nvPr/>
        </p:nvCxnSpPr>
        <p:spPr>
          <a:xfrm rot="10800000">
            <a:off x="5689875" y="2678750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36"/>
          <p:cNvCxnSpPr>
            <a:stCxn id="202" idx="0"/>
            <a:endCxn id="205" idx="4"/>
          </p:cNvCxnSpPr>
          <p:nvPr/>
        </p:nvCxnSpPr>
        <p:spPr>
          <a:xfrm flipH="1" rot="10800000">
            <a:off x="5477450" y="1619150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" name="Google Shape;214;p36"/>
          <p:cNvSpPr txBox="1"/>
          <p:nvPr/>
        </p:nvSpPr>
        <p:spPr>
          <a:xfrm>
            <a:off x="5842650" y="165672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5" name="Google Shape;215;p36"/>
          <p:cNvSpPr txBox="1"/>
          <p:nvPr/>
        </p:nvSpPr>
        <p:spPr>
          <a:xfrm>
            <a:off x="7202700" y="16923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6" name="Google Shape;216;p36"/>
          <p:cNvSpPr txBox="1"/>
          <p:nvPr/>
        </p:nvSpPr>
        <p:spPr>
          <a:xfrm>
            <a:off x="5849750" y="22228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7" name="Google Shape;217;p36"/>
          <p:cNvSpPr txBox="1"/>
          <p:nvPr/>
        </p:nvSpPr>
        <p:spPr>
          <a:xfrm>
            <a:off x="6688975" y="248340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" name="Google Shape;218;p36"/>
          <p:cNvSpPr txBox="1"/>
          <p:nvPr/>
        </p:nvSpPr>
        <p:spPr>
          <a:xfrm>
            <a:off x="4992675" y="31095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9" name="Google Shape;219;p36"/>
          <p:cNvSpPr txBox="1"/>
          <p:nvPr/>
        </p:nvSpPr>
        <p:spPr>
          <a:xfrm>
            <a:off x="6045250" y="29791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0" name="Google Shape;220;p36"/>
          <p:cNvSpPr txBox="1"/>
          <p:nvPr/>
        </p:nvSpPr>
        <p:spPr>
          <a:xfrm>
            <a:off x="7361850" y="302761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1" name="Google Shape;221;p36"/>
          <p:cNvSpPr txBox="1"/>
          <p:nvPr/>
        </p:nvSpPr>
        <p:spPr>
          <a:xfrm>
            <a:off x="5591175" y="45792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</a:t>
            </a:r>
            <a:endParaRPr/>
          </a:p>
        </p:txBody>
      </p:sp>
      <p:sp>
        <p:nvSpPr>
          <p:cNvPr id="227" name="Google Shape;227;p37"/>
          <p:cNvSpPr txBox="1"/>
          <p:nvPr>
            <p:ph idx="1" type="body"/>
          </p:nvPr>
        </p:nvSpPr>
        <p:spPr>
          <a:xfrm>
            <a:off x="311700" y="1225225"/>
            <a:ext cx="4528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Signed graphs</a:t>
            </a:r>
            <a:r>
              <a:rPr lang="en"/>
              <a:t> are a special kind of (multi)graph featuring: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edge set (V)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disjoint</a:t>
            </a:r>
            <a:r>
              <a:rPr lang="en"/>
              <a:t> sets of edges: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>
                <a:solidFill>
                  <a:srgbClr val="0000FF"/>
                </a:solidFill>
              </a:rPr>
              <a:t>Positive links</a:t>
            </a:r>
            <a:r>
              <a:rPr lang="en"/>
              <a:t> (E</a:t>
            </a:r>
            <a:r>
              <a:rPr baseline="30000" lang="en"/>
              <a:t>+</a:t>
            </a:r>
            <a:r>
              <a:rPr lang="en"/>
              <a:t>)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7"/>
          <p:cNvSpPr/>
          <p:nvPr/>
        </p:nvSpPr>
        <p:spPr>
          <a:xfrm>
            <a:off x="5176850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9" name="Google Shape;229;p37"/>
          <p:cNvSpPr/>
          <p:nvPr/>
        </p:nvSpPr>
        <p:spPr>
          <a:xfrm>
            <a:off x="517685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30" name="Google Shape;230;p37"/>
          <p:cNvCxnSpPr>
            <a:stCxn id="228" idx="0"/>
            <a:endCxn id="229" idx="4"/>
          </p:cNvCxnSpPr>
          <p:nvPr/>
        </p:nvCxnSpPr>
        <p:spPr>
          <a:xfrm rot="10800000">
            <a:off x="54774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" name="Google Shape;231;p37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2" name="Google Shape;232;p37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3" name="Google Shape;233;p37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34" name="Google Shape;234;p37"/>
          <p:cNvCxnSpPr>
            <a:stCxn id="229" idx="7"/>
            <a:endCxn id="231" idx="4"/>
          </p:cNvCxnSpPr>
          <p:nvPr/>
        </p:nvCxnSpPr>
        <p:spPr>
          <a:xfrm flipH="1" rot="10800000">
            <a:off x="5690006" y="1619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37"/>
          <p:cNvCxnSpPr>
            <a:stCxn id="233" idx="1"/>
            <a:endCxn id="231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37"/>
          <p:cNvCxnSpPr>
            <a:stCxn id="233" idx="3"/>
            <a:endCxn id="232" idx="0"/>
          </p:cNvCxnSpPr>
          <p:nvPr/>
        </p:nvCxnSpPr>
        <p:spPr>
          <a:xfrm flipH="1">
            <a:off x="6823144" y="2678606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37"/>
          <p:cNvCxnSpPr>
            <a:stCxn id="232" idx="0"/>
            <a:endCxn id="231" idx="4"/>
          </p:cNvCxnSpPr>
          <p:nvPr/>
        </p:nvCxnSpPr>
        <p:spPr>
          <a:xfrm rot="10800000">
            <a:off x="6823275" y="1619150"/>
            <a:ext cx="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37"/>
          <p:cNvCxnSpPr>
            <a:stCxn id="232" idx="0"/>
            <a:endCxn id="229" idx="5"/>
          </p:cNvCxnSpPr>
          <p:nvPr/>
        </p:nvCxnSpPr>
        <p:spPr>
          <a:xfrm rot="10800000">
            <a:off x="5689875" y="2678750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37"/>
          <p:cNvCxnSpPr>
            <a:stCxn id="228" idx="0"/>
            <a:endCxn id="231" idx="4"/>
          </p:cNvCxnSpPr>
          <p:nvPr/>
        </p:nvCxnSpPr>
        <p:spPr>
          <a:xfrm flipH="1" rot="10800000">
            <a:off x="5477450" y="1619150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37"/>
          <p:cNvSpPr txBox="1"/>
          <p:nvPr/>
        </p:nvSpPr>
        <p:spPr>
          <a:xfrm>
            <a:off x="5842650" y="165672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1" name="Google Shape;241;p37"/>
          <p:cNvSpPr txBox="1"/>
          <p:nvPr/>
        </p:nvSpPr>
        <p:spPr>
          <a:xfrm>
            <a:off x="7202700" y="16923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2" name="Google Shape;242;p37"/>
          <p:cNvSpPr txBox="1"/>
          <p:nvPr/>
        </p:nvSpPr>
        <p:spPr>
          <a:xfrm>
            <a:off x="5849750" y="22228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3" name="Google Shape;243;p37"/>
          <p:cNvSpPr txBox="1"/>
          <p:nvPr/>
        </p:nvSpPr>
        <p:spPr>
          <a:xfrm>
            <a:off x="6688975" y="248340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4" name="Google Shape;244;p37"/>
          <p:cNvSpPr txBox="1"/>
          <p:nvPr/>
        </p:nvSpPr>
        <p:spPr>
          <a:xfrm>
            <a:off x="4992675" y="31095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5" name="Google Shape;245;p37"/>
          <p:cNvSpPr txBox="1"/>
          <p:nvPr/>
        </p:nvSpPr>
        <p:spPr>
          <a:xfrm>
            <a:off x="6045250" y="29791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6" name="Google Shape;246;p37"/>
          <p:cNvSpPr txBox="1"/>
          <p:nvPr/>
        </p:nvSpPr>
        <p:spPr>
          <a:xfrm>
            <a:off x="7361850" y="302761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7" name="Google Shape;247;p37"/>
          <p:cNvSpPr txBox="1"/>
          <p:nvPr/>
        </p:nvSpPr>
        <p:spPr>
          <a:xfrm>
            <a:off x="5591175" y="45792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</a:t>
            </a:r>
            <a:endParaRPr/>
          </a:p>
        </p:txBody>
      </p:sp>
      <p:sp>
        <p:nvSpPr>
          <p:cNvPr id="253" name="Google Shape;253;p38"/>
          <p:cNvSpPr txBox="1"/>
          <p:nvPr>
            <p:ph idx="1" type="body"/>
          </p:nvPr>
        </p:nvSpPr>
        <p:spPr>
          <a:xfrm>
            <a:off x="311700" y="1225225"/>
            <a:ext cx="4528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Signed graphs</a:t>
            </a:r>
            <a:r>
              <a:rPr lang="en"/>
              <a:t> are a special kind of (multi)graph featuring: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edge set (V)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disjoint</a:t>
            </a:r>
            <a:r>
              <a:rPr lang="en"/>
              <a:t> sets of edges: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>
                <a:solidFill>
                  <a:srgbClr val="0000FF"/>
                </a:solidFill>
              </a:rPr>
              <a:t>Positive links</a:t>
            </a:r>
            <a:r>
              <a:rPr lang="en"/>
              <a:t> (E</a:t>
            </a:r>
            <a:r>
              <a:rPr baseline="30000" lang="en"/>
              <a:t>+</a:t>
            </a:r>
            <a:r>
              <a:rPr lang="en"/>
              <a:t>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>
                <a:solidFill>
                  <a:srgbClr val="FF0000"/>
                </a:solidFill>
              </a:rPr>
              <a:t>Negative links</a:t>
            </a:r>
            <a:r>
              <a:rPr lang="en"/>
              <a:t> (E</a:t>
            </a:r>
            <a:r>
              <a:rPr baseline="30000" lang="en"/>
              <a:t>-</a:t>
            </a:r>
            <a:r>
              <a:rPr lang="en"/>
              <a:t>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G= {V, E</a:t>
            </a:r>
            <a:r>
              <a:rPr baseline="30000" lang="en"/>
              <a:t>+</a:t>
            </a:r>
            <a:r>
              <a:rPr lang="en"/>
              <a:t>, E</a:t>
            </a:r>
            <a:r>
              <a:rPr baseline="30000" lang="en"/>
              <a:t>-</a:t>
            </a:r>
            <a:r>
              <a:rPr lang="en"/>
              <a:t>}</a:t>
            </a:r>
            <a:endParaRPr/>
          </a:p>
        </p:txBody>
      </p:sp>
      <p:sp>
        <p:nvSpPr>
          <p:cNvPr id="254" name="Google Shape;254;p38"/>
          <p:cNvSpPr/>
          <p:nvPr/>
        </p:nvSpPr>
        <p:spPr>
          <a:xfrm>
            <a:off x="5176850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5" name="Google Shape;255;p38"/>
          <p:cNvSpPr/>
          <p:nvPr/>
        </p:nvSpPr>
        <p:spPr>
          <a:xfrm>
            <a:off x="517685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56" name="Google Shape;256;p38"/>
          <p:cNvCxnSpPr>
            <a:stCxn id="254" idx="0"/>
            <a:endCxn id="255" idx="4"/>
          </p:cNvCxnSpPr>
          <p:nvPr/>
        </p:nvCxnSpPr>
        <p:spPr>
          <a:xfrm rot="10800000">
            <a:off x="54774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38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8" name="Google Shape;258;p38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9" name="Google Shape;259;p38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60" name="Google Shape;260;p38"/>
          <p:cNvCxnSpPr>
            <a:stCxn id="255" idx="7"/>
            <a:endCxn id="257" idx="4"/>
          </p:cNvCxnSpPr>
          <p:nvPr/>
        </p:nvCxnSpPr>
        <p:spPr>
          <a:xfrm flipH="1" rot="10800000">
            <a:off x="5690006" y="1619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38"/>
          <p:cNvCxnSpPr>
            <a:stCxn id="259" idx="1"/>
            <a:endCxn id="257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38"/>
          <p:cNvCxnSpPr>
            <a:stCxn id="259" idx="3"/>
            <a:endCxn id="258" idx="0"/>
          </p:cNvCxnSpPr>
          <p:nvPr/>
        </p:nvCxnSpPr>
        <p:spPr>
          <a:xfrm flipH="1">
            <a:off x="6823144" y="2678606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38"/>
          <p:cNvCxnSpPr>
            <a:stCxn id="258" idx="0"/>
            <a:endCxn id="257" idx="4"/>
          </p:cNvCxnSpPr>
          <p:nvPr/>
        </p:nvCxnSpPr>
        <p:spPr>
          <a:xfrm rot="10800000">
            <a:off x="6823275" y="1619150"/>
            <a:ext cx="0" cy="2270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38"/>
          <p:cNvCxnSpPr>
            <a:stCxn id="258" idx="0"/>
            <a:endCxn id="255" idx="5"/>
          </p:cNvCxnSpPr>
          <p:nvPr/>
        </p:nvCxnSpPr>
        <p:spPr>
          <a:xfrm rot="10800000">
            <a:off x="5689875" y="2678750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38"/>
          <p:cNvCxnSpPr>
            <a:stCxn id="254" idx="0"/>
            <a:endCxn id="257" idx="4"/>
          </p:cNvCxnSpPr>
          <p:nvPr/>
        </p:nvCxnSpPr>
        <p:spPr>
          <a:xfrm flipH="1" rot="10800000">
            <a:off x="5477450" y="1619150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Google Shape;266;p38"/>
          <p:cNvSpPr txBox="1"/>
          <p:nvPr/>
        </p:nvSpPr>
        <p:spPr>
          <a:xfrm>
            <a:off x="5842650" y="165672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7" name="Google Shape;267;p38"/>
          <p:cNvSpPr txBox="1"/>
          <p:nvPr/>
        </p:nvSpPr>
        <p:spPr>
          <a:xfrm>
            <a:off x="7202700" y="16923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8" name="Google Shape;268;p38"/>
          <p:cNvSpPr txBox="1"/>
          <p:nvPr/>
        </p:nvSpPr>
        <p:spPr>
          <a:xfrm>
            <a:off x="5849750" y="22228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9" name="Google Shape;269;p38"/>
          <p:cNvSpPr txBox="1"/>
          <p:nvPr/>
        </p:nvSpPr>
        <p:spPr>
          <a:xfrm>
            <a:off x="6688975" y="248340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0" name="Google Shape;270;p38"/>
          <p:cNvSpPr txBox="1"/>
          <p:nvPr/>
        </p:nvSpPr>
        <p:spPr>
          <a:xfrm>
            <a:off x="4992675" y="31095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1" name="Google Shape;271;p38"/>
          <p:cNvSpPr txBox="1"/>
          <p:nvPr/>
        </p:nvSpPr>
        <p:spPr>
          <a:xfrm>
            <a:off x="6045250" y="29791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2" name="Google Shape;272;p38"/>
          <p:cNvSpPr txBox="1"/>
          <p:nvPr/>
        </p:nvSpPr>
        <p:spPr>
          <a:xfrm>
            <a:off x="7361850" y="302761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3" name="Google Shape;273;p38"/>
          <p:cNvSpPr txBox="1"/>
          <p:nvPr/>
        </p:nvSpPr>
        <p:spPr>
          <a:xfrm>
            <a:off x="5591175" y="45792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</a:t>
            </a:r>
            <a:endParaRPr/>
          </a:p>
        </p:txBody>
      </p:sp>
      <p:sp>
        <p:nvSpPr>
          <p:cNvPr id="279" name="Google Shape;279;p39"/>
          <p:cNvSpPr txBox="1"/>
          <p:nvPr>
            <p:ph idx="1" type="body"/>
          </p:nvPr>
        </p:nvSpPr>
        <p:spPr>
          <a:xfrm>
            <a:off x="311700" y="1225225"/>
            <a:ext cx="4528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Signed graphs</a:t>
            </a:r>
            <a:r>
              <a:rPr lang="en"/>
              <a:t> are a special kind of (multi)graph featuring: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edge set (V)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disjoint</a:t>
            </a:r>
            <a:r>
              <a:rPr lang="en"/>
              <a:t> sets of edges: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Positive links</a:t>
            </a:r>
            <a:r>
              <a:rPr lang="en"/>
              <a:t> (E</a:t>
            </a:r>
            <a:r>
              <a:rPr baseline="30000" lang="en"/>
              <a:t>+</a:t>
            </a:r>
            <a:r>
              <a:rPr lang="en"/>
              <a:t>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Negative links</a:t>
            </a:r>
            <a:r>
              <a:rPr lang="en"/>
              <a:t> (E</a:t>
            </a:r>
            <a:r>
              <a:rPr baseline="30000" lang="en"/>
              <a:t>-</a:t>
            </a:r>
            <a:r>
              <a:rPr lang="en"/>
              <a:t>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G= {V, E</a:t>
            </a:r>
            <a:r>
              <a:rPr baseline="30000" lang="en"/>
              <a:t>+</a:t>
            </a:r>
            <a:r>
              <a:rPr lang="en"/>
              <a:t>, E</a:t>
            </a:r>
            <a:r>
              <a:rPr baseline="30000" lang="en"/>
              <a:t>-</a:t>
            </a:r>
            <a:r>
              <a:rPr lang="en"/>
              <a:t>}</a:t>
            </a:r>
            <a:endParaRPr/>
          </a:p>
        </p:txBody>
      </p:sp>
      <p:sp>
        <p:nvSpPr>
          <p:cNvPr id="280" name="Google Shape;280;p39"/>
          <p:cNvSpPr/>
          <p:nvPr/>
        </p:nvSpPr>
        <p:spPr>
          <a:xfrm>
            <a:off x="481825" y="3597475"/>
            <a:ext cx="3950400" cy="1318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Two sets are disjoint when they don’t share any members! (Their intersection is the empty set ∅)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81" name="Google Shape;281;p39"/>
          <p:cNvSpPr/>
          <p:nvPr/>
        </p:nvSpPr>
        <p:spPr>
          <a:xfrm>
            <a:off x="5176850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2" name="Google Shape;282;p39"/>
          <p:cNvSpPr/>
          <p:nvPr/>
        </p:nvSpPr>
        <p:spPr>
          <a:xfrm>
            <a:off x="517685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83" name="Google Shape;283;p39"/>
          <p:cNvCxnSpPr>
            <a:stCxn id="281" idx="0"/>
            <a:endCxn id="282" idx="4"/>
          </p:cNvCxnSpPr>
          <p:nvPr/>
        </p:nvCxnSpPr>
        <p:spPr>
          <a:xfrm rot="10800000">
            <a:off x="54774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39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5" name="Google Shape;285;p39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6" name="Google Shape;286;p39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87" name="Google Shape;287;p39"/>
          <p:cNvCxnSpPr>
            <a:stCxn id="282" idx="7"/>
            <a:endCxn id="284" idx="4"/>
          </p:cNvCxnSpPr>
          <p:nvPr/>
        </p:nvCxnSpPr>
        <p:spPr>
          <a:xfrm flipH="1" rot="10800000">
            <a:off x="5690006" y="1619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39"/>
          <p:cNvCxnSpPr>
            <a:stCxn id="286" idx="1"/>
            <a:endCxn id="284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39"/>
          <p:cNvCxnSpPr>
            <a:stCxn id="286" idx="3"/>
            <a:endCxn id="285" idx="0"/>
          </p:cNvCxnSpPr>
          <p:nvPr/>
        </p:nvCxnSpPr>
        <p:spPr>
          <a:xfrm flipH="1">
            <a:off x="6823144" y="2678606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39"/>
          <p:cNvCxnSpPr>
            <a:stCxn id="285" idx="0"/>
            <a:endCxn id="284" idx="4"/>
          </p:cNvCxnSpPr>
          <p:nvPr/>
        </p:nvCxnSpPr>
        <p:spPr>
          <a:xfrm rot="10800000">
            <a:off x="6823275" y="1619150"/>
            <a:ext cx="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39"/>
          <p:cNvCxnSpPr>
            <a:stCxn id="285" idx="0"/>
            <a:endCxn id="282" idx="5"/>
          </p:cNvCxnSpPr>
          <p:nvPr/>
        </p:nvCxnSpPr>
        <p:spPr>
          <a:xfrm rot="10800000">
            <a:off x="5689875" y="2678750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39"/>
          <p:cNvCxnSpPr>
            <a:stCxn id="281" idx="0"/>
            <a:endCxn id="284" idx="4"/>
          </p:cNvCxnSpPr>
          <p:nvPr/>
        </p:nvCxnSpPr>
        <p:spPr>
          <a:xfrm flipH="1" rot="10800000">
            <a:off x="5477450" y="1619150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3" name="Google Shape;293;p39"/>
          <p:cNvSpPr txBox="1"/>
          <p:nvPr/>
        </p:nvSpPr>
        <p:spPr>
          <a:xfrm>
            <a:off x="5842650" y="165672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4" name="Google Shape;294;p39"/>
          <p:cNvSpPr txBox="1"/>
          <p:nvPr/>
        </p:nvSpPr>
        <p:spPr>
          <a:xfrm>
            <a:off x="7202700" y="16923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5" name="Google Shape;295;p39"/>
          <p:cNvSpPr txBox="1"/>
          <p:nvPr/>
        </p:nvSpPr>
        <p:spPr>
          <a:xfrm>
            <a:off x="5849750" y="22228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6" name="Google Shape;296;p39"/>
          <p:cNvSpPr txBox="1"/>
          <p:nvPr/>
        </p:nvSpPr>
        <p:spPr>
          <a:xfrm>
            <a:off x="6688975" y="248340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7" name="Google Shape;297;p39"/>
          <p:cNvSpPr txBox="1"/>
          <p:nvPr/>
        </p:nvSpPr>
        <p:spPr>
          <a:xfrm>
            <a:off x="4992675" y="31095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8" name="Google Shape;298;p39"/>
          <p:cNvSpPr txBox="1"/>
          <p:nvPr/>
        </p:nvSpPr>
        <p:spPr>
          <a:xfrm>
            <a:off x="6045250" y="29791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9" name="Google Shape;299;p39"/>
          <p:cNvSpPr txBox="1"/>
          <p:nvPr/>
        </p:nvSpPr>
        <p:spPr>
          <a:xfrm>
            <a:off x="7361850" y="302761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0" name="Google Shape;300;p39"/>
          <p:cNvSpPr txBox="1"/>
          <p:nvPr/>
        </p:nvSpPr>
        <p:spPr>
          <a:xfrm>
            <a:off x="5591175" y="45792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</a:t>
            </a:r>
            <a:endParaRPr/>
          </a:p>
        </p:txBody>
      </p:sp>
      <p:sp>
        <p:nvSpPr>
          <p:cNvPr id="306" name="Google Shape;306;p40"/>
          <p:cNvSpPr txBox="1"/>
          <p:nvPr>
            <p:ph idx="1" type="body"/>
          </p:nvPr>
        </p:nvSpPr>
        <p:spPr>
          <a:xfrm>
            <a:off x="311700" y="1225225"/>
            <a:ext cx="4528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Signed graphs</a:t>
            </a:r>
            <a:r>
              <a:rPr lang="en"/>
              <a:t> are a special kind of (multi)graph featuring: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edge set (V)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disjoint</a:t>
            </a:r>
            <a:r>
              <a:rPr lang="en"/>
              <a:t> sets of edges: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Positive links</a:t>
            </a:r>
            <a:r>
              <a:rPr lang="en"/>
              <a:t> (E</a:t>
            </a:r>
            <a:r>
              <a:rPr baseline="30000" lang="en"/>
              <a:t>+</a:t>
            </a:r>
            <a:r>
              <a:rPr lang="en"/>
              <a:t>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Negative links</a:t>
            </a:r>
            <a:r>
              <a:rPr lang="en"/>
              <a:t> (E</a:t>
            </a:r>
            <a:r>
              <a:rPr baseline="30000" lang="en"/>
              <a:t>-</a:t>
            </a:r>
            <a:r>
              <a:rPr lang="en"/>
              <a:t>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G= {V, E</a:t>
            </a:r>
            <a:r>
              <a:rPr baseline="30000" lang="en"/>
              <a:t>+</a:t>
            </a:r>
            <a:r>
              <a:rPr lang="en"/>
              <a:t>, E</a:t>
            </a:r>
            <a:r>
              <a:rPr baseline="30000" lang="en"/>
              <a:t>-</a:t>
            </a:r>
            <a:r>
              <a:rPr lang="en"/>
              <a:t>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Signed graphs can be either directed or undirected</a:t>
            </a:r>
            <a:endParaRPr/>
          </a:p>
        </p:txBody>
      </p:sp>
      <p:sp>
        <p:nvSpPr>
          <p:cNvPr id="307" name="Google Shape;307;p40"/>
          <p:cNvSpPr/>
          <p:nvPr/>
        </p:nvSpPr>
        <p:spPr>
          <a:xfrm>
            <a:off x="5176850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8" name="Google Shape;308;p40"/>
          <p:cNvSpPr/>
          <p:nvPr/>
        </p:nvSpPr>
        <p:spPr>
          <a:xfrm>
            <a:off x="517685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09" name="Google Shape;309;p40"/>
          <p:cNvCxnSpPr>
            <a:stCxn id="307" idx="0"/>
            <a:endCxn id="308" idx="4"/>
          </p:cNvCxnSpPr>
          <p:nvPr/>
        </p:nvCxnSpPr>
        <p:spPr>
          <a:xfrm rot="10800000">
            <a:off x="54774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0" name="Google Shape;310;p40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1" name="Google Shape;311;p40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2" name="Google Shape;312;p40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13" name="Google Shape;313;p40"/>
          <p:cNvCxnSpPr>
            <a:stCxn id="308" idx="7"/>
            <a:endCxn id="310" idx="4"/>
          </p:cNvCxnSpPr>
          <p:nvPr/>
        </p:nvCxnSpPr>
        <p:spPr>
          <a:xfrm flipH="1" rot="10800000">
            <a:off x="5690006" y="1619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" name="Google Shape;314;p40"/>
          <p:cNvCxnSpPr>
            <a:stCxn id="312" idx="1"/>
            <a:endCxn id="310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" name="Google Shape;315;p40"/>
          <p:cNvCxnSpPr>
            <a:stCxn id="312" idx="3"/>
            <a:endCxn id="311" idx="0"/>
          </p:cNvCxnSpPr>
          <p:nvPr/>
        </p:nvCxnSpPr>
        <p:spPr>
          <a:xfrm flipH="1">
            <a:off x="6823144" y="2678606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" name="Google Shape;316;p40"/>
          <p:cNvCxnSpPr>
            <a:stCxn id="311" idx="0"/>
            <a:endCxn id="310" idx="4"/>
          </p:cNvCxnSpPr>
          <p:nvPr/>
        </p:nvCxnSpPr>
        <p:spPr>
          <a:xfrm rot="10800000">
            <a:off x="6823275" y="1619150"/>
            <a:ext cx="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" name="Google Shape;317;p40"/>
          <p:cNvCxnSpPr>
            <a:stCxn id="311" idx="0"/>
            <a:endCxn id="308" idx="5"/>
          </p:cNvCxnSpPr>
          <p:nvPr/>
        </p:nvCxnSpPr>
        <p:spPr>
          <a:xfrm rot="10800000">
            <a:off x="5689875" y="2678750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40"/>
          <p:cNvCxnSpPr>
            <a:stCxn id="307" idx="0"/>
            <a:endCxn id="310" idx="4"/>
          </p:cNvCxnSpPr>
          <p:nvPr/>
        </p:nvCxnSpPr>
        <p:spPr>
          <a:xfrm flipH="1" rot="10800000">
            <a:off x="5477450" y="1619150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40"/>
          <p:cNvSpPr txBox="1"/>
          <p:nvPr/>
        </p:nvSpPr>
        <p:spPr>
          <a:xfrm>
            <a:off x="5842650" y="165672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0" name="Google Shape;320;p40"/>
          <p:cNvSpPr txBox="1"/>
          <p:nvPr/>
        </p:nvSpPr>
        <p:spPr>
          <a:xfrm>
            <a:off x="7202700" y="16923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1" name="Google Shape;321;p40"/>
          <p:cNvSpPr txBox="1"/>
          <p:nvPr/>
        </p:nvSpPr>
        <p:spPr>
          <a:xfrm>
            <a:off x="5849750" y="22228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2" name="Google Shape;322;p40"/>
          <p:cNvSpPr txBox="1"/>
          <p:nvPr/>
        </p:nvSpPr>
        <p:spPr>
          <a:xfrm>
            <a:off x="6688975" y="248340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3" name="Google Shape;323;p40"/>
          <p:cNvSpPr txBox="1"/>
          <p:nvPr/>
        </p:nvSpPr>
        <p:spPr>
          <a:xfrm>
            <a:off x="4992675" y="31095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4" name="Google Shape;324;p40"/>
          <p:cNvSpPr txBox="1"/>
          <p:nvPr/>
        </p:nvSpPr>
        <p:spPr>
          <a:xfrm>
            <a:off x="6045250" y="29791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p40"/>
          <p:cNvSpPr txBox="1"/>
          <p:nvPr/>
        </p:nvSpPr>
        <p:spPr>
          <a:xfrm>
            <a:off x="7361850" y="302761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6" name="Google Shape;326;p40"/>
          <p:cNvSpPr txBox="1"/>
          <p:nvPr/>
        </p:nvSpPr>
        <p:spPr>
          <a:xfrm>
            <a:off x="5591175" y="45792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Graphs: Matrix Representation</a:t>
            </a:r>
            <a:endParaRPr/>
          </a:p>
        </p:txBody>
      </p:sp>
      <p:sp>
        <p:nvSpPr>
          <p:cNvPr id="332" name="Google Shape;332;p41"/>
          <p:cNvSpPr/>
          <p:nvPr/>
        </p:nvSpPr>
        <p:spPr>
          <a:xfrm>
            <a:off x="495875" y="40184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33" name="Google Shape;333;p41"/>
          <p:cNvSpPr/>
          <p:nvPr/>
        </p:nvSpPr>
        <p:spPr>
          <a:xfrm>
            <a:off x="495875" y="22946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34" name="Google Shape;334;p41"/>
          <p:cNvCxnSpPr>
            <a:stCxn id="332" idx="0"/>
            <a:endCxn id="333" idx="4"/>
          </p:cNvCxnSpPr>
          <p:nvPr/>
        </p:nvCxnSpPr>
        <p:spPr>
          <a:xfrm rot="10800000">
            <a:off x="796475" y="2895875"/>
            <a:ext cx="0" cy="1122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5" name="Google Shape;335;p41"/>
          <p:cNvSpPr/>
          <p:nvPr/>
        </p:nvSpPr>
        <p:spPr>
          <a:xfrm>
            <a:off x="1841700" y="114722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36" name="Google Shape;336;p41"/>
          <p:cNvSpPr/>
          <p:nvPr/>
        </p:nvSpPr>
        <p:spPr>
          <a:xfrm>
            <a:off x="1841700" y="40184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37" name="Google Shape;337;p41"/>
          <p:cNvSpPr/>
          <p:nvPr/>
        </p:nvSpPr>
        <p:spPr>
          <a:xfrm>
            <a:off x="3000625" y="22946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38" name="Google Shape;338;p41"/>
          <p:cNvCxnSpPr>
            <a:stCxn id="333" idx="7"/>
            <a:endCxn id="335" idx="4"/>
          </p:cNvCxnSpPr>
          <p:nvPr/>
        </p:nvCxnSpPr>
        <p:spPr>
          <a:xfrm flipH="1" rot="10800000">
            <a:off x="1009031" y="1748519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" name="Google Shape;339;p41"/>
          <p:cNvCxnSpPr>
            <a:stCxn id="337" idx="1"/>
            <a:endCxn id="335" idx="4"/>
          </p:cNvCxnSpPr>
          <p:nvPr/>
        </p:nvCxnSpPr>
        <p:spPr>
          <a:xfrm rot="10800000">
            <a:off x="2142169" y="1748519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41"/>
          <p:cNvCxnSpPr>
            <a:stCxn id="337" idx="3"/>
            <a:endCxn id="336" idx="0"/>
          </p:cNvCxnSpPr>
          <p:nvPr/>
        </p:nvCxnSpPr>
        <p:spPr>
          <a:xfrm flipH="1">
            <a:off x="2142169" y="2807831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" name="Google Shape;341;p41"/>
          <p:cNvCxnSpPr>
            <a:stCxn id="336" idx="0"/>
            <a:endCxn id="335" idx="4"/>
          </p:cNvCxnSpPr>
          <p:nvPr/>
        </p:nvCxnSpPr>
        <p:spPr>
          <a:xfrm rot="10800000">
            <a:off x="2142300" y="1748375"/>
            <a:ext cx="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" name="Google Shape;342;p41"/>
          <p:cNvCxnSpPr>
            <a:stCxn id="336" idx="0"/>
            <a:endCxn id="333" idx="5"/>
          </p:cNvCxnSpPr>
          <p:nvPr/>
        </p:nvCxnSpPr>
        <p:spPr>
          <a:xfrm rot="10800000">
            <a:off x="1008900" y="2807975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" name="Google Shape;343;p41"/>
          <p:cNvCxnSpPr>
            <a:stCxn id="332" idx="0"/>
            <a:endCxn id="335" idx="4"/>
          </p:cNvCxnSpPr>
          <p:nvPr/>
        </p:nvCxnSpPr>
        <p:spPr>
          <a:xfrm flipH="1" rot="10800000">
            <a:off x="796475" y="1748375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41"/>
          <p:cNvSpPr txBox="1"/>
          <p:nvPr/>
        </p:nvSpPr>
        <p:spPr>
          <a:xfrm>
            <a:off x="1161675" y="17859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5" name="Google Shape;345;p41"/>
          <p:cNvSpPr txBox="1"/>
          <p:nvPr/>
        </p:nvSpPr>
        <p:spPr>
          <a:xfrm>
            <a:off x="2521725" y="18215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6" name="Google Shape;346;p41"/>
          <p:cNvSpPr txBox="1"/>
          <p:nvPr/>
        </p:nvSpPr>
        <p:spPr>
          <a:xfrm>
            <a:off x="1168775" y="235206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7" name="Google Shape;347;p41"/>
          <p:cNvSpPr txBox="1"/>
          <p:nvPr/>
        </p:nvSpPr>
        <p:spPr>
          <a:xfrm>
            <a:off x="2008000" y="261262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8" name="Google Shape;348;p41"/>
          <p:cNvSpPr txBox="1"/>
          <p:nvPr/>
        </p:nvSpPr>
        <p:spPr>
          <a:xfrm>
            <a:off x="311700" y="323876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9" name="Google Shape;349;p41"/>
          <p:cNvSpPr txBox="1"/>
          <p:nvPr/>
        </p:nvSpPr>
        <p:spPr>
          <a:xfrm>
            <a:off x="1364275" y="31083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0" name="Google Shape;350;p41"/>
          <p:cNvSpPr txBox="1"/>
          <p:nvPr/>
        </p:nvSpPr>
        <p:spPr>
          <a:xfrm>
            <a:off x="2680875" y="31568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1" name="Google Shape;351;p41"/>
          <p:cNvSpPr txBox="1"/>
          <p:nvPr/>
        </p:nvSpPr>
        <p:spPr>
          <a:xfrm>
            <a:off x="910200" y="4708450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352" name="Google Shape;352;p41"/>
          <p:cNvGraphicFramePr/>
          <p:nvPr/>
        </p:nvGraphicFramePr>
        <p:xfrm>
          <a:off x="5050038" y="12586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{3773FF8F-8FC9-4D74-9ADC-7274F113E1BC}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575"/>
              </a:tblGrid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Graphs: Matrix Representation</a:t>
            </a:r>
            <a:endParaRPr/>
          </a:p>
        </p:txBody>
      </p:sp>
      <p:sp>
        <p:nvSpPr>
          <p:cNvPr id="358" name="Google Shape;358;p42"/>
          <p:cNvSpPr/>
          <p:nvPr/>
        </p:nvSpPr>
        <p:spPr>
          <a:xfrm>
            <a:off x="495875" y="40184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9" name="Google Shape;359;p42"/>
          <p:cNvSpPr/>
          <p:nvPr/>
        </p:nvSpPr>
        <p:spPr>
          <a:xfrm>
            <a:off x="495875" y="22946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0" name="Google Shape;360;p42"/>
          <p:cNvCxnSpPr>
            <a:stCxn id="358" idx="0"/>
            <a:endCxn id="359" idx="4"/>
          </p:cNvCxnSpPr>
          <p:nvPr/>
        </p:nvCxnSpPr>
        <p:spPr>
          <a:xfrm rot="10800000">
            <a:off x="796475" y="2895875"/>
            <a:ext cx="0" cy="1122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1" name="Google Shape;361;p42"/>
          <p:cNvSpPr/>
          <p:nvPr/>
        </p:nvSpPr>
        <p:spPr>
          <a:xfrm>
            <a:off x="1841700" y="114722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2" name="Google Shape;362;p42"/>
          <p:cNvSpPr/>
          <p:nvPr/>
        </p:nvSpPr>
        <p:spPr>
          <a:xfrm>
            <a:off x="1841700" y="40184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3" name="Google Shape;363;p42"/>
          <p:cNvSpPr/>
          <p:nvPr/>
        </p:nvSpPr>
        <p:spPr>
          <a:xfrm>
            <a:off x="3000625" y="22946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4" name="Google Shape;364;p42"/>
          <p:cNvCxnSpPr>
            <a:stCxn id="359" idx="7"/>
            <a:endCxn id="361" idx="4"/>
          </p:cNvCxnSpPr>
          <p:nvPr/>
        </p:nvCxnSpPr>
        <p:spPr>
          <a:xfrm flipH="1" rot="10800000">
            <a:off x="1009031" y="1748519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" name="Google Shape;365;p42"/>
          <p:cNvCxnSpPr>
            <a:stCxn id="363" idx="1"/>
            <a:endCxn id="361" idx="4"/>
          </p:cNvCxnSpPr>
          <p:nvPr/>
        </p:nvCxnSpPr>
        <p:spPr>
          <a:xfrm rot="10800000">
            <a:off x="2142169" y="1748519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" name="Google Shape;366;p42"/>
          <p:cNvCxnSpPr>
            <a:stCxn id="363" idx="3"/>
            <a:endCxn id="362" idx="0"/>
          </p:cNvCxnSpPr>
          <p:nvPr/>
        </p:nvCxnSpPr>
        <p:spPr>
          <a:xfrm flipH="1">
            <a:off x="2142169" y="2807831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" name="Google Shape;367;p42"/>
          <p:cNvCxnSpPr>
            <a:stCxn id="362" idx="0"/>
            <a:endCxn id="361" idx="4"/>
          </p:cNvCxnSpPr>
          <p:nvPr/>
        </p:nvCxnSpPr>
        <p:spPr>
          <a:xfrm rot="10800000">
            <a:off x="2142300" y="1748375"/>
            <a:ext cx="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42"/>
          <p:cNvCxnSpPr>
            <a:stCxn id="362" idx="0"/>
            <a:endCxn id="359" idx="5"/>
          </p:cNvCxnSpPr>
          <p:nvPr/>
        </p:nvCxnSpPr>
        <p:spPr>
          <a:xfrm rot="10800000">
            <a:off x="1008900" y="2807975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42"/>
          <p:cNvCxnSpPr>
            <a:stCxn id="358" idx="0"/>
            <a:endCxn id="361" idx="4"/>
          </p:cNvCxnSpPr>
          <p:nvPr/>
        </p:nvCxnSpPr>
        <p:spPr>
          <a:xfrm flipH="1" rot="10800000">
            <a:off x="796475" y="1748375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" name="Google Shape;370;p42"/>
          <p:cNvSpPr txBox="1"/>
          <p:nvPr/>
        </p:nvSpPr>
        <p:spPr>
          <a:xfrm>
            <a:off x="1161675" y="17859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1" name="Google Shape;371;p42"/>
          <p:cNvSpPr txBox="1"/>
          <p:nvPr/>
        </p:nvSpPr>
        <p:spPr>
          <a:xfrm>
            <a:off x="2521725" y="18215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2" name="Google Shape;372;p42"/>
          <p:cNvSpPr txBox="1"/>
          <p:nvPr/>
        </p:nvSpPr>
        <p:spPr>
          <a:xfrm>
            <a:off x="1168775" y="235206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3" name="Google Shape;373;p42"/>
          <p:cNvSpPr txBox="1"/>
          <p:nvPr/>
        </p:nvSpPr>
        <p:spPr>
          <a:xfrm>
            <a:off x="2008000" y="261262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4" name="Google Shape;374;p42"/>
          <p:cNvSpPr txBox="1"/>
          <p:nvPr/>
        </p:nvSpPr>
        <p:spPr>
          <a:xfrm>
            <a:off x="311700" y="323876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5" name="Google Shape;375;p42"/>
          <p:cNvSpPr txBox="1"/>
          <p:nvPr/>
        </p:nvSpPr>
        <p:spPr>
          <a:xfrm>
            <a:off x="1364275" y="31083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6" name="Google Shape;376;p42"/>
          <p:cNvSpPr txBox="1"/>
          <p:nvPr/>
        </p:nvSpPr>
        <p:spPr>
          <a:xfrm>
            <a:off x="2680875" y="31568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7" name="Google Shape;377;p42"/>
          <p:cNvSpPr txBox="1"/>
          <p:nvPr/>
        </p:nvSpPr>
        <p:spPr>
          <a:xfrm>
            <a:off x="910200" y="4708450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378" name="Google Shape;378;p42"/>
          <p:cNvGraphicFramePr/>
          <p:nvPr/>
        </p:nvGraphicFramePr>
        <p:xfrm>
          <a:off x="5050038" y="12586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{3773FF8F-8FC9-4D74-9ADC-7274F113E1BC}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575"/>
              </a:tblGrid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Graphs: Matrix Representation</a:t>
            </a:r>
            <a:endParaRPr/>
          </a:p>
        </p:txBody>
      </p:sp>
      <p:sp>
        <p:nvSpPr>
          <p:cNvPr id="384" name="Google Shape;384;p43"/>
          <p:cNvSpPr/>
          <p:nvPr/>
        </p:nvSpPr>
        <p:spPr>
          <a:xfrm>
            <a:off x="495875" y="40184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5" name="Google Shape;385;p43"/>
          <p:cNvSpPr/>
          <p:nvPr/>
        </p:nvSpPr>
        <p:spPr>
          <a:xfrm>
            <a:off x="495875" y="22946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6" name="Google Shape;386;p43"/>
          <p:cNvCxnSpPr>
            <a:stCxn id="384" idx="0"/>
            <a:endCxn id="385" idx="4"/>
          </p:cNvCxnSpPr>
          <p:nvPr/>
        </p:nvCxnSpPr>
        <p:spPr>
          <a:xfrm rot="10800000">
            <a:off x="796475" y="2895875"/>
            <a:ext cx="0" cy="1122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7" name="Google Shape;387;p43"/>
          <p:cNvSpPr/>
          <p:nvPr/>
        </p:nvSpPr>
        <p:spPr>
          <a:xfrm>
            <a:off x="1841700" y="114722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8" name="Google Shape;388;p43"/>
          <p:cNvSpPr/>
          <p:nvPr/>
        </p:nvSpPr>
        <p:spPr>
          <a:xfrm>
            <a:off x="1841700" y="40184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9" name="Google Shape;389;p43"/>
          <p:cNvSpPr/>
          <p:nvPr/>
        </p:nvSpPr>
        <p:spPr>
          <a:xfrm>
            <a:off x="3000625" y="22946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0" name="Google Shape;390;p43"/>
          <p:cNvCxnSpPr>
            <a:stCxn id="385" idx="7"/>
            <a:endCxn id="387" idx="4"/>
          </p:cNvCxnSpPr>
          <p:nvPr/>
        </p:nvCxnSpPr>
        <p:spPr>
          <a:xfrm flipH="1" rot="10800000">
            <a:off x="1009031" y="1748519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" name="Google Shape;391;p43"/>
          <p:cNvCxnSpPr>
            <a:stCxn id="389" idx="1"/>
            <a:endCxn id="387" idx="4"/>
          </p:cNvCxnSpPr>
          <p:nvPr/>
        </p:nvCxnSpPr>
        <p:spPr>
          <a:xfrm rot="10800000">
            <a:off x="2142169" y="1748519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" name="Google Shape;392;p43"/>
          <p:cNvCxnSpPr>
            <a:stCxn id="389" idx="3"/>
            <a:endCxn id="388" idx="0"/>
          </p:cNvCxnSpPr>
          <p:nvPr/>
        </p:nvCxnSpPr>
        <p:spPr>
          <a:xfrm flipH="1">
            <a:off x="2142169" y="2807831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" name="Google Shape;393;p43"/>
          <p:cNvCxnSpPr>
            <a:stCxn id="388" idx="0"/>
            <a:endCxn id="387" idx="4"/>
          </p:cNvCxnSpPr>
          <p:nvPr/>
        </p:nvCxnSpPr>
        <p:spPr>
          <a:xfrm rot="10800000">
            <a:off x="2142300" y="1748375"/>
            <a:ext cx="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" name="Google Shape;394;p43"/>
          <p:cNvCxnSpPr>
            <a:stCxn id="388" idx="0"/>
            <a:endCxn id="385" idx="5"/>
          </p:cNvCxnSpPr>
          <p:nvPr/>
        </p:nvCxnSpPr>
        <p:spPr>
          <a:xfrm rot="10800000">
            <a:off x="1008900" y="2807975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43"/>
          <p:cNvCxnSpPr>
            <a:stCxn id="384" idx="0"/>
            <a:endCxn id="387" idx="4"/>
          </p:cNvCxnSpPr>
          <p:nvPr/>
        </p:nvCxnSpPr>
        <p:spPr>
          <a:xfrm flipH="1" rot="10800000">
            <a:off x="796475" y="1748375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" name="Google Shape;396;p43"/>
          <p:cNvSpPr txBox="1"/>
          <p:nvPr/>
        </p:nvSpPr>
        <p:spPr>
          <a:xfrm>
            <a:off x="1161675" y="17859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7" name="Google Shape;397;p43"/>
          <p:cNvSpPr txBox="1"/>
          <p:nvPr/>
        </p:nvSpPr>
        <p:spPr>
          <a:xfrm>
            <a:off x="2521725" y="18215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8" name="Google Shape;398;p43"/>
          <p:cNvSpPr txBox="1"/>
          <p:nvPr/>
        </p:nvSpPr>
        <p:spPr>
          <a:xfrm>
            <a:off x="1168775" y="235206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9" name="Google Shape;399;p43"/>
          <p:cNvSpPr txBox="1"/>
          <p:nvPr/>
        </p:nvSpPr>
        <p:spPr>
          <a:xfrm>
            <a:off x="2008000" y="261262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0" name="Google Shape;400;p43"/>
          <p:cNvSpPr txBox="1"/>
          <p:nvPr/>
        </p:nvSpPr>
        <p:spPr>
          <a:xfrm>
            <a:off x="311700" y="323876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1" name="Google Shape;401;p43"/>
          <p:cNvSpPr txBox="1"/>
          <p:nvPr/>
        </p:nvSpPr>
        <p:spPr>
          <a:xfrm>
            <a:off x="1364275" y="31083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2" name="Google Shape;402;p43"/>
          <p:cNvSpPr txBox="1"/>
          <p:nvPr/>
        </p:nvSpPr>
        <p:spPr>
          <a:xfrm>
            <a:off x="2680875" y="31568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3" name="Google Shape;403;p43"/>
          <p:cNvSpPr txBox="1"/>
          <p:nvPr/>
        </p:nvSpPr>
        <p:spPr>
          <a:xfrm>
            <a:off x="910200" y="4708450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404" name="Google Shape;404;p43"/>
          <p:cNvGraphicFramePr/>
          <p:nvPr/>
        </p:nvGraphicFramePr>
        <p:xfrm>
          <a:off x="5050038" y="12586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{3773FF8F-8FC9-4D74-9ADC-7274F113E1BC}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575"/>
              </a:tblGrid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405" name="Google Shape;405;p43"/>
          <p:cNvSpPr txBox="1"/>
          <p:nvPr/>
        </p:nvSpPr>
        <p:spPr>
          <a:xfrm>
            <a:off x="5314125" y="4614350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Symmetric Valued Matrix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Graphs: Matrix Representation</a:t>
            </a:r>
            <a:endParaRPr/>
          </a:p>
        </p:txBody>
      </p:sp>
      <p:sp>
        <p:nvSpPr>
          <p:cNvPr id="411" name="Google Shape;411;p44"/>
          <p:cNvSpPr/>
          <p:nvPr/>
        </p:nvSpPr>
        <p:spPr>
          <a:xfrm>
            <a:off x="495875" y="40184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12" name="Google Shape;412;p44"/>
          <p:cNvSpPr/>
          <p:nvPr/>
        </p:nvSpPr>
        <p:spPr>
          <a:xfrm>
            <a:off x="495875" y="22946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3" name="Google Shape;413;p44"/>
          <p:cNvCxnSpPr>
            <a:stCxn id="411" idx="0"/>
            <a:endCxn id="412" idx="4"/>
          </p:cNvCxnSpPr>
          <p:nvPr/>
        </p:nvCxnSpPr>
        <p:spPr>
          <a:xfrm rot="10800000">
            <a:off x="796475" y="2895875"/>
            <a:ext cx="0" cy="1122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4" name="Google Shape;414;p44"/>
          <p:cNvSpPr/>
          <p:nvPr/>
        </p:nvSpPr>
        <p:spPr>
          <a:xfrm>
            <a:off x="1841700" y="114722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15" name="Google Shape;415;p44"/>
          <p:cNvSpPr/>
          <p:nvPr/>
        </p:nvSpPr>
        <p:spPr>
          <a:xfrm>
            <a:off x="1841700" y="40184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16" name="Google Shape;416;p44"/>
          <p:cNvSpPr/>
          <p:nvPr/>
        </p:nvSpPr>
        <p:spPr>
          <a:xfrm>
            <a:off x="3000625" y="22946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7" name="Google Shape;417;p44"/>
          <p:cNvCxnSpPr>
            <a:stCxn id="412" idx="7"/>
            <a:endCxn id="414" idx="4"/>
          </p:cNvCxnSpPr>
          <p:nvPr/>
        </p:nvCxnSpPr>
        <p:spPr>
          <a:xfrm flipH="1" rot="10800000">
            <a:off x="1009031" y="1748519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" name="Google Shape;418;p44"/>
          <p:cNvCxnSpPr>
            <a:stCxn id="416" idx="1"/>
            <a:endCxn id="414" idx="4"/>
          </p:cNvCxnSpPr>
          <p:nvPr/>
        </p:nvCxnSpPr>
        <p:spPr>
          <a:xfrm rot="10800000">
            <a:off x="2142169" y="1748519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44"/>
          <p:cNvCxnSpPr>
            <a:stCxn id="416" idx="3"/>
            <a:endCxn id="415" idx="0"/>
          </p:cNvCxnSpPr>
          <p:nvPr/>
        </p:nvCxnSpPr>
        <p:spPr>
          <a:xfrm flipH="1">
            <a:off x="2142169" y="2807831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44"/>
          <p:cNvCxnSpPr>
            <a:stCxn id="415" idx="0"/>
            <a:endCxn id="414" idx="4"/>
          </p:cNvCxnSpPr>
          <p:nvPr/>
        </p:nvCxnSpPr>
        <p:spPr>
          <a:xfrm rot="10800000">
            <a:off x="2142300" y="1748375"/>
            <a:ext cx="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44"/>
          <p:cNvCxnSpPr>
            <a:stCxn id="415" idx="0"/>
            <a:endCxn id="412" idx="5"/>
          </p:cNvCxnSpPr>
          <p:nvPr/>
        </p:nvCxnSpPr>
        <p:spPr>
          <a:xfrm rot="10800000">
            <a:off x="1008900" y="2807975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44"/>
          <p:cNvCxnSpPr>
            <a:stCxn id="411" idx="0"/>
            <a:endCxn id="414" idx="4"/>
          </p:cNvCxnSpPr>
          <p:nvPr/>
        </p:nvCxnSpPr>
        <p:spPr>
          <a:xfrm flipH="1" rot="10800000">
            <a:off x="796475" y="1748375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3" name="Google Shape;423;p44"/>
          <p:cNvSpPr txBox="1"/>
          <p:nvPr/>
        </p:nvSpPr>
        <p:spPr>
          <a:xfrm>
            <a:off x="1161675" y="17859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4" name="Google Shape;424;p44"/>
          <p:cNvSpPr txBox="1"/>
          <p:nvPr/>
        </p:nvSpPr>
        <p:spPr>
          <a:xfrm>
            <a:off x="2521725" y="18215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5" name="Google Shape;425;p44"/>
          <p:cNvSpPr txBox="1"/>
          <p:nvPr/>
        </p:nvSpPr>
        <p:spPr>
          <a:xfrm>
            <a:off x="1168775" y="235206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6" name="Google Shape;426;p44"/>
          <p:cNvSpPr txBox="1"/>
          <p:nvPr/>
        </p:nvSpPr>
        <p:spPr>
          <a:xfrm>
            <a:off x="2008000" y="261262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7" name="Google Shape;427;p44"/>
          <p:cNvSpPr txBox="1"/>
          <p:nvPr/>
        </p:nvSpPr>
        <p:spPr>
          <a:xfrm>
            <a:off x="311700" y="323876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8" name="Google Shape;428;p44"/>
          <p:cNvSpPr txBox="1"/>
          <p:nvPr/>
        </p:nvSpPr>
        <p:spPr>
          <a:xfrm>
            <a:off x="1364275" y="31083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9" name="Google Shape;429;p44"/>
          <p:cNvSpPr txBox="1"/>
          <p:nvPr/>
        </p:nvSpPr>
        <p:spPr>
          <a:xfrm>
            <a:off x="2680875" y="31568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0" name="Google Shape;430;p44"/>
          <p:cNvSpPr txBox="1"/>
          <p:nvPr/>
        </p:nvSpPr>
        <p:spPr>
          <a:xfrm>
            <a:off x="910200" y="4708450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431" name="Google Shape;431;p44"/>
          <p:cNvGraphicFramePr/>
          <p:nvPr/>
        </p:nvGraphicFramePr>
        <p:xfrm>
          <a:off x="5050038" y="12586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{3773FF8F-8FC9-4D74-9ADC-7274F113E1BC}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575"/>
              </a:tblGrid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432" name="Google Shape;432;p44"/>
          <p:cNvSpPr txBox="1"/>
          <p:nvPr/>
        </p:nvSpPr>
        <p:spPr>
          <a:xfrm>
            <a:off x="5314125" y="4614350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Symmetric Valued Matrix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33" name="Google Shape;433;p44"/>
          <p:cNvSpPr/>
          <p:nvPr/>
        </p:nvSpPr>
        <p:spPr>
          <a:xfrm>
            <a:off x="5716750" y="2990200"/>
            <a:ext cx="5526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434" name="Google Shape;434;p44"/>
          <p:cNvSpPr/>
          <p:nvPr/>
        </p:nvSpPr>
        <p:spPr>
          <a:xfrm>
            <a:off x="6935850" y="1884975"/>
            <a:ext cx="5526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435" name="Google Shape;435;p44"/>
          <p:cNvSpPr/>
          <p:nvPr/>
        </p:nvSpPr>
        <p:spPr>
          <a:xfrm>
            <a:off x="2476938" y="3615575"/>
            <a:ext cx="27462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Symmetric cells have the same value!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436" name="Google Shape;436;p44"/>
          <p:cNvCxnSpPr/>
          <p:nvPr/>
        </p:nvCxnSpPr>
        <p:spPr>
          <a:xfrm>
            <a:off x="5805975" y="1994263"/>
            <a:ext cx="2845500" cy="2570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7" name="Google Shape;437;p44"/>
          <p:cNvSpPr txBox="1"/>
          <p:nvPr/>
        </p:nvSpPr>
        <p:spPr>
          <a:xfrm>
            <a:off x="3064975" y="1190700"/>
            <a:ext cx="1818300" cy="9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-25000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3,1</a:t>
            </a: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a</a:t>
            </a:r>
            <a:r>
              <a:rPr baseline="-25000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1,3</a:t>
            </a: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-1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2" name="Google Shape;442;p45"/>
          <p:cNvGraphicFramePr/>
          <p:nvPr/>
        </p:nvGraphicFramePr>
        <p:xfrm>
          <a:off x="5050038" y="12586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{3773FF8F-8FC9-4D74-9ADC-7274F113E1BC}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575"/>
              </a:tblGrid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/>
                </a:tc>
              </a:tr>
              <a:tr h="56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-1</a:t>
                      </a:r>
                      <a:endParaRPr sz="1800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--</a:t>
                      </a:r>
                      <a:endParaRPr sz="18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443" name="Google Shape;443;p45"/>
          <p:cNvSpPr/>
          <p:nvPr/>
        </p:nvSpPr>
        <p:spPr>
          <a:xfrm>
            <a:off x="8098050" y="2428700"/>
            <a:ext cx="5526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444" name="Google Shape;444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Graphs: Matrix Representation</a:t>
            </a:r>
            <a:endParaRPr/>
          </a:p>
        </p:txBody>
      </p:sp>
      <p:sp>
        <p:nvSpPr>
          <p:cNvPr id="445" name="Google Shape;445;p45"/>
          <p:cNvSpPr/>
          <p:nvPr/>
        </p:nvSpPr>
        <p:spPr>
          <a:xfrm>
            <a:off x="495875" y="40184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46" name="Google Shape;446;p45"/>
          <p:cNvSpPr/>
          <p:nvPr/>
        </p:nvSpPr>
        <p:spPr>
          <a:xfrm>
            <a:off x="495875" y="22946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47" name="Google Shape;447;p45"/>
          <p:cNvCxnSpPr>
            <a:stCxn id="445" idx="0"/>
            <a:endCxn id="446" idx="4"/>
          </p:cNvCxnSpPr>
          <p:nvPr/>
        </p:nvCxnSpPr>
        <p:spPr>
          <a:xfrm rot="10800000">
            <a:off x="796475" y="2895875"/>
            <a:ext cx="0" cy="1122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8" name="Google Shape;448;p45"/>
          <p:cNvSpPr/>
          <p:nvPr/>
        </p:nvSpPr>
        <p:spPr>
          <a:xfrm>
            <a:off x="1841700" y="114722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49" name="Google Shape;449;p45"/>
          <p:cNvSpPr/>
          <p:nvPr/>
        </p:nvSpPr>
        <p:spPr>
          <a:xfrm>
            <a:off x="1841700" y="40184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50" name="Google Shape;450;p45"/>
          <p:cNvSpPr/>
          <p:nvPr/>
        </p:nvSpPr>
        <p:spPr>
          <a:xfrm>
            <a:off x="3000625" y="2294675"/>
            <a:ext cx="601200" cy="601200"/>
          </a:xfrm>
          <a:prstGeom prst="ellipse">
            <a:avLst/>
          </a:prstGeom>
          <a:solidFill>
            <a:srgbClr val="CCA677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51" name="Google Shape;451;p45"/>
          <p:cNvCxnSpPr>
            <a:stCxn id="446" idx="7"/>
            <a:endCxn id="448" idx="4"/>
          </p:cNvCxnSpPr>
          <p:nvPr/>
        </p:nvCxnSpPr>
        <p:spPr>
          <a:xfrm flipH="1" rot="10800000">
            <a:off x="1009031" y="1748519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45"/>
          <p:cNvCxnSpPr>
            <a:stCxn id="450" idx="1"/>
            <a:endCxn id="448" idx="4"/>
          </p:cNvCxnSpPr>
          <p:nvPr/>
        </p:nvCxnSpPr>
        <p:spPr>
          <a:xfrm rot="10800000">
            <a:off x="2142169" y="1748519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" name="Google Shape;453;p45"/>
          <p:cNvCxnSpPr>
            <a:stCxn id="450" idx="3"/>
            <a:endCxn id="449" idx="0"/>
          </p:cNvCxnSpPr>
          <p:nvPr/>
        </p:nvCxnSpPr>
        <p:spPr>
          <a:xfrm flipH="1">
            <a:off x="2142169" y="2807831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" name="Google Shape;454;p45"/>
          <p:cNvCxnSpPr>
            <a:stCxn id="449" idx="0"/>
            <a:endCxn id="448" idx="4"/>
          </p:cNvCxnSpPr>
          <p:nvPr/>
        </p:nvCxnSpPr>
        <p:spPr>
          <a:xfrm rot="10800000">
            <a:off x="2142300" y="1748375"/>
            <a:ext cx="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" name="Google Shape;455;p45"/>
          <p:cNvCxnSpPr>
            <a:stCxn id="449" idx="0"/>
            <a:endCxn id="446" idx="5"/>
          </p:cNvCxnSpPr>
          <p:nvPr/>
        </p:nvCxnSpPr>
        <p:spPr>
          <a:xfrm rot="10800000">
            <a:off x="1008900" y="2807975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6" name="Google Shape;456;p45"/>
          <p:cNvCxnSpPr>
            <a:stCxn id="445" idx="0"/>
            <a:endCxn id="448" idx="4"/>
          </p:cNvCxnSpPr>
          <p:nvPr/>
        </p:nvCxnSpPr>
        <p:spPr>
          <a:xfrm flipH="1" rot="10800000">
            <a:off x="796475" y="1748375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7" name="Google Shape;457;p45"/>
          <p:cNvSpPr txBox="1"/>
          <p:nvPr/>
        </p:nvSpPr>
        <p:spPr>
          <a:xfrm>
            <a:off x="1161675" y="17859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8" name="Google Shape;458;p45"/>
          <p:cNvSpPr txBox="1"/>
          <p:nvPr/>
        </p:nvSpPr>
        <p:spPr>
          <a:xfrm>
            <a:off x="2521725" y="18215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9" name="Google Shape;459;p45"/>
          <p:cNvSpPr txBox="1"/>
          <p:nvPr/>
        </p:nvSpPr>
        <p:spPr>
          <a:xfrm>
            <a:off x="1168775" y="235206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0" name="Google Shape;460;p45"/>
          <p:cNvSpPr txBox="1"/>
          <p:nvPr/>
        </p:nvSpPr>
        <p:spPr>
          <a:xfrm>
            <a:off x="2008000" y="261262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1" name="Google Shape;461;p45"/>
          <p:cNvSpPr txBox="1"/>
          <p:nvPr/>
        </p:nvSpPr>
        <p:spPr>
          <a:xfrm>
            <a:off x="311700" y="323876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2" name="Google Shape;462;p45"/>
          <p:cNvSpPr txBox="1"/>
          <p:nvPr/>
        </p:nvSpPr>
        <p:spPr>
          <a:xfrm>
            <a:off x="1364275" y="31083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3" name="Google Shape;463;p45"/>
          <p:cNvSpPr txBox="1"/>
          <p:nvPr/>
        </p:nvSpPr>
        <p:spPr>
          <a:xfrm>
            <a:off x="2680875" y="31568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4" name="Google Shape;464;p45"/>
          <p:cNvSpPr txBox="1"/>
          <p:nvPr/>
        </p:nvSpPr>
        <p:spPr>
          <a:xfrm>
            <a:off x="910200" y="4708450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65" name="Google Shape;465;p45"/>
          <p:cNvSpPr txBox="1"/>
          <p:nvPr/>
        </p:nvSpPr>
        <p:spPr>
          <a:xfrm>
            <a:off x="5314125" y="4614350"/>
            <a:ext cx="33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Symmetric Valued Matrix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66" name="Google Shape;466;p45"/>
          <p:cNvSpPr/>
          <p:nvPr/>
        </p:nvSpPr>
        <p:spPr>
          <a:xfrm>
            <a:off x="6269250" y="4085525"/>
            <a:ext cx="552600" cy="46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467" name="Google Shape;467;p45"/>
          <p:cNvSpPr txBox="1"/>
          <p:nvPr/>
        </p:nvSpPr>
        <p:spPr>
          <a:xfrm>
            <a:off x="3064975" y="1190700"/>
            <a:ext cx="1818300" cy="9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-25000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3,1</a:t>
            </a: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a</a:t>
            </a:r>
            <a:r>
              <a:rPr baseline="-25000"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1,3</a:t>
            </a: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-1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-25000" lang="en" sz="1600">
                <a:latin typeface="Open Sans"/>
                <a:ea typeface="Open Sans"/>
                <a:cs typeface="Open Sans"/>
                <a:sym typeface="Open Sans"/>
              </a:rPr>
              <a:t>5,2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 = a</a:t>
            </a:r>
            <a:r>
              <a:rPr baseline="-25000" lang="en" sz="1600">
                <a:latin typeface="Open Sans"/>
                <a:ea typeface="Open Sans"/>
                <a:cs typeface="Open Sans"/>
                <a:sym typeface="Open Sans"/>
              </a:rPr>
              <a:t>2,5</a:t>
            </a: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 = 1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68" name="Google Shape;468;p45"/>
          <p:cNvCxnSpPr/>
          <p:nvPr/>
        </p:nvCxnSpPr>
        <p:spPr>
          <a:xfrm>
            <a:off x="5805975" y="1994263"/>
            <a:ext cx="2845500" cy="2570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9" name="Google Shape;469;p45"/>
          <p:cNvSpPr/>
          <p:nvPr/>
        </p:nvSpPr>
        <p:spPr>
          <a:xfrm>
            <a:off x="2476938" y="3615575"/>
            <a:ext cx="27462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Symmetric cells have the same value!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6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Triadic Balance Theory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480" name="Google Shape;480;p47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Balance theory</a:t>
            </a:r>
            <a:r>
              <a:rPr lang="en"/>
              <a:t> is a social psychological theory designed to explain expected triadic configurations in sentiment networks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Sentiment networks are built from </a:t>
            </a:r>
            <a:r>
              <a:rPr b="1" lang="en"/>
              <a:t>valenced</a:t>
            </a:r>
            <a:r>
              <a:rPr lang="en"/>
              <a:t> ties (e.g., positive or negative)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486" name="Google Shape;486;p48"/>
          <p:cNvSpPr txBox="1"/>
          <p:nvPr>
            <p:ph idx="1" type="body"/>
          </p:nvPr>
        </p:nvSpPr>
        <p:spPr>
          <a:xfrm>
            <a:off x="311700" y="1225225"/>
            <a:ext cx="8520600" cy="18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Balance theory</a:t>
            </a:r>
            <a:r>
              <a:rPr lang="en"/>
              <a:t> is a social psychological theory designed to explain expected triadic configurations in sentiment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Sentiment networks are built from </a:t>
            </a:r>
            <a:r>
              <a:rPr b="1" lang="en"/>
              <a:t>valenced</a:t>
            </a:r>
            <a:r>
              <a:rPr lang="en"/>
              <a:t> ties (e.g., positive or negative)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four building blocks in balance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(1) A person (P)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“look” at the triad from this person’s point of 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8"/>
          <p:cNvSpPr/>
          <p:nvPr/>
        </p:nvSpPr>
        <p:spPr>
          <a:xfrm>
            <a:off x="1628450" y="35870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P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493" name="Google Shape;493;p49"/>
          <p:cNvSpPr txBox="1"/>
          <p:nvPr>
            <p:ph idx="1" type="body"/>
          </p:nvPr>
        </p:nvSpPr>
        <p:spPr>
          <a:xfrm>
            <a:off x="311700" y="1225225"/>
            <a:ext cx="8520600" cy="18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Balance theory</a:t>
            </a:r>
            <a:r>
              <a:rPr lang="en"/>
              <a:t> is a social psychological theory designed to explain expected triadic configurations in sentiment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Sentiment networks are built from </a:t>
            </a:r>
            <a:r>
              <a:rPr b="1" lang="en"/>
              <a:t>valenced</a:t>
            </a:r>
            <a:r>
              <a:rPr lang="en"/>
              <a:t> ties (e.g., positive or negative)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four building blocks in balance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(2) An object (O) towards which the focal person has some kind of sentiment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sentiment can be positive or negative</a:t>
            </a:r>
            <a:endParaRPr/>
          </a:p>
        </p:txBody>
      </p:sp>
      <p:sp>
        <p:nvSpPr>
          <p:cNvPr id="494" name="Google Shape;494;p49"/>
          <p:cNvSpPr/>
          <p:nvPr/>
        </p:nvSpPr>
        <p:spPr>
          <a:xfrm>
            <a:off x="1628450" y="35870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P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95" name="Google Shape;495;p49"/>
          <p:cNvSpPr/>
          <p:nvPr/>
        </p:nvSpPr>
        <p:spPr>
          <a:xfrm>
            <a:off x="3715450" y="44060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O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501" name="Google Shape;501;p50"/>
          <p:cNvSpPr txBox="1"/>
          <p:nvPr>
            <p:ph idx="1" type="body"/>
          </p:nvPr>
        </p:nvSpPr>
        <p:spPr>
          <a:xfrm>
            <a:off x="311700" y="1225225"/>
            <a:ext cx="8520600" cy="18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Balance theory</a:t>
            </a:r>
            <a:r>
              <a:rPr lang="en"/>
              <a:t> is a social psychological theory designed to explain expected triadic configurations in sentiment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Sentiment networks are built from </a:t>
            </a:r>
            <a:r>
              <a:rPr b="1" lang="en"/>
              <a:t>valenced</a:t>
            </a:r>
            <a:r>
              <a:rPr lang="en"/>
              <a:t> ties (e.g., positive or negative)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four building blocks in balance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(3) A third party (Q) towards which both the person and the other also have some kind of sentiment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50"/>
          <p:cNvSpPr/>
          <p:nvPr/>
        </p:nvSpPr>
        <p:spPr>
          <a:xfrm>
            <a:off x="1628450" y="35870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P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03" name="Google Shape;503;p50"/>
          <p:cNvSpPr/>
          <p:nvPr/>
        </p:nvSpPr>
        <p:spPr>
          <a:xfrm>
            <a:off x="3715450" y="44060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O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04" name="Google Shape;504;p50"/>
          <p:cNvSpPr/>
          <p:nvPr/>
        </p:nvSpPr>
        <p:spPr>
          <a:xfrm>
            <a:off x="3715450" y="306482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Q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510" name="Google Shape;510;p51"/>
          <p:cNvSpPr txBox="1"/>
          <p:nvPr>
            <p:ph idx="1" type="body"/>
          </p:nvPr>
        </p:nvSpPr>
        <p:spPr>
          <a:xfrm>
            <a:off x="311700" y="1225225"/>
            <a:ext cx="8520600" cy="18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Balance theory</a:t>
            </a:r>
            <a:r>
              <a:rPr lang="en"/>
              <a:t> is a social psychological theory designed to explain expected triadic configurations in sentiment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Sentiment networks are built from </a:t>
            </a:r>
            <a:r>
              <a:rPr b="1" lang="en"/>
              <a:t>valenced</a:t>
            </a:r>
            <a:r>
              <a:rPr lang="en"/>
              <a:t> ties (e.g., positive or negative)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four building blocks in balance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(4) A set of </a:t>
            </a:r>
            <a:r>
              <a:rPr b="1" lang="en"/>
              <a:t>directed signed edges</a:t>
            </a:r>
            <a:r>
              <a:rPr lang="en"/>
              <a:t> that indicate </a:t>
            </a:r>
            <a:r>
              <a:rPr b="1" lang="en"/>
              <a:t>positive</a:t>
            </a:r>
            <a:r>
              <a:rPr lang="en"/>
              <a:t> (</a:t>
            </a:r>
            <a:r>
              <a:rPr i="1" lang="en"/>
              <a:t>solid</a:t>
            </a:r>
            <a:r>
              <a:rPr lang="en"/>
              <a:t>) or </a:t>
            </a:r>
            <a:r>
              <a:rPr b="1" lang="en"/>
              <a:t>negative</a:t>
            </a:r>
            <a:r>
              <a:rPr lang="en"/>
              <a:t> (</a:t>
            </a:r>
            <a:r>
              <a:rPr i="1" lang="en"/>
              <a:t>dashed</a:t>
            </a:r>
            <a:r>
              <a:rPr lang="en"/>
              <a:t>) sentiments that P and O have toward the third party Q and P towards O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51"/>
          <p:cNvSpPr/>
          <p:nvPr/>
        </p:nvSpPr>
        <p:spPr>
          <a:xfrm>
            <a:off x="1628450" y="35870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P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12" name="Google Shape;512;p51"/>
          <p:cNvSpPr/>
          <p:nvPr/>
        </p:nvSpPr>
        <p:spPr>
          <a:xfrm>
            <a:off x="3715450" y="44060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O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13" name="Google Shape;513;p51"/>
          <p:cNvSpPr/>
          <p:nvPr/>
        </p:nvSpPr>
        <p:spPr>
          <a:xfrm>
            <a:off x="3715450" y="306482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Q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14" name="Google Shape;514;p51"/>
          <p:cNvCxnSpPr>
            <a:stCxn id="511" idx="6"/>
            <a:endCxn id="512" idx="2"/>
          </p:cNvCxnSpPr>
          <p:nvPr/>
        </p:nvCxnSpPr>
        <p:spPr>
          <a:xfrm>
            <a:off x="2229650" y="3887625"/>
            <a:ext cx="1485900" cy="819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15" name="Google Shape;515;p51"/>
          <p:cNvCxnSpPr>
            <a:stCxn id="512" idx="0"/>
            <a:endCxn id="513" idx="4"/>
          </p:cNvCxnSpPr>
          <p:nvPr/>
        </p:nvCxnSpPr>
        <p:spPr>
          <a:xfrm rot="10800000">
            <a:off x="4016050" y="3665925"/>
            <a:ext cx="0" cy="74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16" name="Google Shape;516;p51"/>
          <p:cNvCxnSpPr>
            <a:stCxn id="511" idx="6"/>
            <a:endCxn id="513" idx="2"/>
          </p:cNvCxnSpPr>
          <p:nvPr/>
        </p:nvCxnSpPr>
        <p:spPr>
          <a:xfrm flipH="1" rot="10800000">
            <a:off x="2229650" y="3365325"/>
            <a:ext cx="1485900" cy="52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522" name="Google Shape;522;p52"/>
          <p:cNvSpPr txBox="1"/>
          <p:nvPr>
            <p:ph idx="1" type="body"/>
          </p:nvPr>
        </p:nvSpPr>
        <p:spPr>
          <a:xfrm>
            <a:off x="311700" y="1225225"/>
            <a:ext cx="8520600" cy="18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Balance theory</a:t>
            </a:r>
            <a:r>
              <a:rPr lang="en"/>
              <a:t> is a social psychological theory designed to explain expected triadic configurations in sentiment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Sentiment networks are built from </a:t>
            </a:r>
            <a:r>
              <a:rPr b="1" lang="en"/>
              <a:t>valenced</a:t>
            </a:r>
            <a:r>
              <a:rPr lang="en"/>
              <a:t> ties (e.g., positive or negative)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four building blocks in balance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(4) A set of </a:t>
            </a:r>
            <a:r>
              <a:rPr b="1" lang="en"/>
              <a:t>directed signed edges</a:t>
            </a:r>
            <a:r>
              <a:rPr lang="en"/>
              <a:t> that indicate </a:t>
            </a:r>
            <a:r>
              <a:rPr b="1" lang="en"/>
              <a:t>positive</a:t>
            </a:r>
            <a:r>
              <a:rPr lang="en"/>
              <a:t> (</a:t>
            </a:r>
            <a:r>
              <a:rPr i="1" lang="en"/>
              <a:t>solid</a:t>
            </a:r>
            <a:r>
              <a:rPr lang="en"/>
              <a:t>) or </a:t>
            </a:r>
            <a:r>
              <a:rPr b="1" lang="en"/>
              <a:t>negative</a:t>
            </a:r>
            <a:r>
              <a:rPr lang="en"/>
              <a:t> (</a:t>
            </a:r>
            <a:r>
              <a:rPr i="1" lang="en"/>
              <a:t>dashed</a:t>
            </a:r>
            <a:r>
              <a:rPr lang="en"/>
              <a:t>) sentiments that P and O have toward the third party Q and P towards 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52"/>
          <p:cNvSpPr/>
          <p:nvPr/>
        </p:nvSpPr>
        <p:spPr>
          <a:xfrm>
            <a:off x="1628450" y="35870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P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24" name="Google Shape;524;p52"/>
          <p:cNvSpPr/>
          <p:nvPr/>
        </p:nvSpPr>
        <p:spPr>
          <a:xfrm>
            <a:off x="3715450" y="44060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O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25" name="Google Shape;525;p52"/>
          <p:cNvSpPr/>
          <p:nvPr/>
        </p:nvSpPr>
        <p:spPr>
          <a:xfrm>
            <a:off x="3715450" y="306482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Q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26" name="Google Shape;526;p52"/>
          <p:cNvCxnSpPr>
            <a:stCxn id="523" idx="6"/>
            <a:endCxn id="524" idx="2"/>
          </p:cNvCxnSpPr>
          <p:nvPr/>
        </p:nvCxnSpPr>
        <p:spPr>
          <a:xfrm>
            <a:off x="2229650" y="3887625"/>
            <a:ext cx="1485900" cy="819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27" name="Google Shape;527;p52"/>
          <p:cNvCxnSpPr>
            <a:stCxn id="524" idx="0"/>
            <a:endCxn id="525" idx="4"/>
          </p:cNvCxnSpPr>
          <p:nvPr/>
        </p:nvCxnSpPr>
        <p:spPr>
          <a:xfrm rot="10800000">
            <a:off x="4016050" y="3665925"/>
            <a:ext cx="0" cy="74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28" name="Google Shape;528;p52"/>
          <p:cNvCxnSpPr>
            <a:stCxn id="523" idx="6"/>
            <a:endCxn id="525" idx="2"/>
          </p:cNvCxnSpPr>
          <p:nvPr/>
        </p:nvCxnSpPr>
        <p:spPr>
          <a:xfrm flipH="1" rot="10800000">
            <a:off x="2229650" y="3365325"/>
            <a:ext cx="1485900" cy="52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529" name="Google Shape;529;p52"/>
          <p:cNvSpPr/>
          <p:nvPr/>
        </p:nvSpPr>
        <p:spPr>
          <a:xfrm>
            <a:off x="4361875" y="3116175"/>
            <a:ext cx="4659000" cy="18396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reads: </a:t>
            </a:r>
            <a:endParaRPr b="1">
              <a:solidFill>
                <a:srgbClr val="FF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AutoNum type="arabicPeriod"/>
            </a:pPr>
            <a:r>
              <a:rPr b="1" lang="en">
                <a:solidFill>
                  <a:srgbClr val="FF0000"/>
                </a:solidFill>
              </a:rPr>
              <a:t>Person (P) likes other (O)</a:t>
            </a:r>
            <a:endParaRPr b="1">
              <a:solidFill>
                <a:srgbClr val="FF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AutoNum type="arabicPeriod"/>
            </a:pPr>
            <a:r>
              <a:rPr b="1" lang="en">
                <a:solidFill>
                  <a:srgbClr val="FF0000"/>
                </a:solidFill>
              </a:rPr>
              <a:t>Other (O) likes the third party (Q)</a:t>
            </a:r>
            <a:endParaRPr b="1">
              <a:solidFill>
                <a:srgbClr val="FF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AutoNum type="arabicPeriod"/>
            </a:pPr>
            <a:r>
              <a:rPr b="1" lang="en">
                <a:solidFill>
                  <a:srgbClr val="FF0000"/>
                </a:solidFill>
              </a:rPr>
              <a:t>But person (P) dislikes the third party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535" name="Google Shape;535;p53"/>
          <p:cNvSpPr txBox="1"/>
          <p:nvPr>
            <p:ph idx="1" type="body"/>
          </p:nvPr>
        </p:nvSpPr>
        <p:spPr>
          <a:xfrm>
            <a:off x="311700" y="1225225"/>
            <a:ext cx="8520600" cy="18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Balance theory</a:t>
            </a:r>
            <a:r>
              <a:rPr lang="en"/>
              <a:t> is a social psychological theory designed to explain expected triadic configurations in sentiment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Sentiment networks are built from </a:t>
            </a:r>
            <a:r>
              <a:rPr b="1" lang="en"/>
              <a:t>valenced</a:t>
            </a:r>
            <a:r>
              <a:rPr lang="en"/>
              <a:t> ties (e.g., positive or negative)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four building blocks in balance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(4) A set of </a:t>
            </a:r>
            <a:r>
              <a:rPr b="1" lang="en"/>
              <a:t>directed signed edges</a:t>
            </a:r>
            <a:r>
              <a:rPr lang="en"/>
              <a:t> that indicate </a:t>
            </a:r>
            <a:r>
              <a:rPr b="1" lang="en"/>
              <a:t>positive</a:t>
            </a:r>
            <a:r>
              <a:rPr lang="en"/>
              <a:t> (</a:t>
            </a:r>
            <a:r>
              <a:rPr i="1" lang="en"/>
              <a:t>solid</a:t>
            </a:r>
            <a:r>
              <a:rPr lang="en"/>
              <a:t>) or </a:t>
            </a:r>
            <a:r>
              <a:rPr b="1" lang="en"/>
              <a:t>negative</a:t>
            </a:r>
            <a:r>
              <a:rPr lang="en"/>
              <a:t> (</a:t>
            </a:r>
            <a:r>
              <a:rPr i="1" lang="en"/>
              <a:t>dashed</a:t>
            </a:r>
            <a:r>
              <a:rPr lang="en"/>
              <a:t>) sentiments that P and O have toward the third party Q and P towards O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53"/>
          <p:cNvSpPr/>
          <p:nvPr/>
        </p:nvSpPr>
        <p:spPr>
          <a:xfrm>
            <a:off x="1628450" y="35870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P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37" name="Google Shape;537;p53"/>
          <p:cNvSpPr/>
          <p:nvPr/>
        </p:nvSpPr>
        <p:spPr>
          <a:xfrm>
            <a:off x="3715450" y="44060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O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38" name="Google Shape;538;p53"/>
          <p:cNvSpPr/>
          <p:nvPr/>
        </p:nvSpPr>
        <p:spPr>
          <a:xfrm>
            <a:off x="3715450" y="306482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Q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39" name="Google Shape;539;p53"/>
          <p:cNvCxnSpPr>
            <a:stCxn id="536" idx="6"/>
            <a:endCxn id="537" idx="2"/>
          </p:cNvCxnSpPr>
          <p:nvPr/>
        </p:nvCxnSpPr>
        <p:spPr>
          <a:xfrm>
            <a:off x="2229650" y="3887625"/>
            <a:ext cx="1485900" cy="819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40" name="Google Shape;540;p53"/>
          <p:cNvCxnSpPr>
            <a:stCxn id="537" idx="0"/>
            <a:endCxn id="538" idx="4"/>
          </p:cNvCxnSpPr>
          <p:nvPr/>
        </p:nvCxnSpPr>
        <p:spPr>
          <a:xfrm rot="10800000">
            <a:off x="4016050" y="3665925"/>
            <a:ext cx="0" cy="74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41" name="Google Shape;541;p53"/>
          <p:cNvCxnSpPr>
            <a:stCxn id="536" idx="6"/>
            <a:endCxn id="538" idx="2"/>
          </p:cNvCxnSpPr>
          <p:nvPr/>
        </p:nvCxnSpPr>
        <p:spPr>
          <a:xfrm flipH="1" rot="10800000">
            <a:off x="2229650" y="3365325"/>
            <a:ext cx="1485900" cy="52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542" name="Google Shape;542;p53"/>
          <p:cNvSpPr/>
          <p:nvPr/>
        </p:nvSpPr>
        <p:spPr>
          <a:xfrm>
            <a:off x="4361875" y="3116175"/>
            <a:ext cx="4659000" cy="18396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Example: You (P) have a friend (O) whom you like and they like another classmate (Q) who you dislike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Sounds dicey!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548" name="Google Shape;548;p54"/>
          <p:cNvSpPr txBox="1"/>
          <p:nvPr>
            <p:ph idx="1" type="body"/>
          </p:nvPr>
        </p:nvSpPr>
        <p:spPr>
          <a:xfrm>
            <a:off x="311700" y="1225225"/>
            <a:ext cx="8520600" cy="18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Balance theory</a:t>
            </a:r>
            <a:r>
              <a:rPr lang="en"/>
              <a:t> is a social psychological theory designed to explain expected triadic configurations in sentiment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Sentiment networks are built from </a:t>
            </a:r>
            <a:r>
              <a:rPr b="1" lang="en"/>
              <a:t>valenced</a:t>
            </a:r>
            <a:r>
              <a:rPr lang="en"/>
              <a:t> ties (e.g., positive or negative)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four building blocks in balance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(4) A set of </a:t>
            </a:r>
            <a:r>
              <a:rPr b="1" lang="en"/>
              <a:t>directed signed edges</a:t>
            </a:r>
            <a:r>
              <a:rPr lang="en"/>
              <a:t> that indicate </a:t>
            </a:r>
            <a:r>
              <a:rPr b="1" lang="en"/>
              <a:t>positive</a:t>
            </a:r>
            <a:r>
              <a:rPr lang="en"/>
              <a:t> (</a:t>
            </a:r>
            <a:r>
              <a:rPr i="1" lang="en"/>
              <a:t>solid</a:t>
            </a:r>
            <a:r>
              <a:rPr lang="en"/>
              <a:t>) or </a:t>
            </a:r>
            <a:r>
              <a:rPr b="1" lang="en"/>
              <a:t>negative</a:t>
            </a:r>
            <a:r>
              <a:rPr lang="en"/>
              <a:t> (</a:t>
            </a:r>
            <a:r>
              <a:rPr i="1" lang="en"/>
              <a:t>dashed</a:t>
            </a:r>
            <a:r>
              <a:rPr lang="en"/>
              <a:t>) sentiments that P and O have toward the third party Q and P towards O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54"/>
          <p:cNvSpPr/>
          <p:nvPr/>
        </p:nvSpPr>
        <p:spPr>
          <a:xfrm>
            <a:off x="1628450" y="35870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P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50" name="Google Shape;550;p54"/>
          <p:cNvSpPr/>
          <p:nvPr/>
        </p:nvSpPr>
        <p:spPr>
          <a:xfrm>
            <a:off x="3715450" y="44060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O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51" name="Google Shape;551;p54"/>
          <p:cNvSpPr/>
          <p:nvPr/>
        </p:nvSpPr>
        <p:spPr>
          <a:xfrm>
            <a:off x="3715450" y="306482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Q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52" name="Google Shape;552;p54"/>
          <p:cNvCxnSpPr>
            <a:stCxn id="549" idx="6"/>
            <a:endCxn id="550" idx="2"/>
          </p:cNvCxnSpPr>
          <p:nvPr/>
        </p:nvCxnSpPr>
        <p:spPr>
          <a:xfrm>
            <a:off x="2229650" y="3887625"/>
            <a:ext cx="1485900" cy="819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53" name="Google Shape;553;p54"/>
          <p:cNvCxnSpPr>
            <a:stCxn id="550" idx="0"/>
            <a:endCxn id="551" idx="4"/>
          </p:cNvCxnSpPr>
          <p:nvPr/>
        </p:nvCxnSpPr>
        <p:spPr>
          <a:xfrm rot="10800000">
            <a:off x="4016050" y="3665925"/>
            <a:ext cx="0" cy="74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54" name="Google Shape;554;p54"/>
          <p:cNvCxnSpPr>
            <a:stCxn id="549" idx="6"/>
            <a:endCxn id="551" idx="2"/>
          </p:cNvCxnSpPr>
          <p:nvPr/>
        </p:nvCxnSpPr>
        <p:spPr>
          <a:xfrm flipH="1" rot="10800000">
            <a:off x="2229650" y="3365325"/>
            <a:ext cx="1485900" cy="52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55" name="Google Shape;555;p54"/>
          <p:cNvSpPr/>
          <p:nvPr/>
        </p:nvSpPr>
        <p:spPr>
          <a:xfrm>
            <a:off x="4361875" y="3116175"/>
            <a:ext cx="4659000" cy="18396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In this example, you (P) have a friend (O) who you like and they like another classmate (Q) whom you also like.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Everything’s fine!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561" name="Google Shape;561;p55"/>
          <p:cNvSpPr txBox="1"/>
          <p:nvPr>
            <p:ph idx="1" type="body"/>
          </p:nvPr>
        </p:nvSpPr>
        <p:spPr>
          <a:xfrm>
            <a:off x="311700" y="1225225"/>
            <a:ext cx="8520600" cy="18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Balance theory</a:t>
            </a:r>
            <a:r>
              <a:rPr lang="en"/>
              <a:t> is a social psychological theory designed to explain expected triadic configurations in sentiment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Sentiment networks are built from </a:t>
            </a:r>
            <a:r>
              <a:rPr b="1" lang="en"/>
              <a:t>valenced</a:t>
            </a:r>
            <a:r>
              <a:rPr lang="en"/>
              <a:t> ties (e.g., positive or negative)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four building blocks in balance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(4) A set of </a:t>
            </a:r>
            <a:r>
              <a:rPr b="1" lang="en"/>
              <a:t>directed signed edges</a:t>
            </a:r>
            <a:r>
              <a:rPr lang="en"/>
              <a:t> that indicate </a:t>
            </a:r>
            <a:r>
              <a:rPr b="1" lang="en"/>
              <a:t>positive</a:t>
            </a:r>
            <a:r>
              <a:rPr lang="en"/>
              <a:t> (</a:t>
            </a:r>
            <a:r>
              <a:rPr i="1" lang="en"/>
              <a:t>solid</a:t>
            </a:r>
            <a:r>
              <a:rPr lang="en"/>
              <a:t>) or </a:t>
            </a:r>
            <a:r>
              <a:rPr b="1" lang="en"/>
              <a:t>negative</a:t>
            </a:r>
            <a:r>
              <a:rPr lang="en"/>
              <a:t> (</a:t>
            </a:r>
            <a:r>
              <a:rPr i="1" lang="en"/>
              <a:t>dashed</a:t>
            </a:r>
            <a:r>
              <a:rPr lang="en"/>
              <a:t>) sentiments that P and O have toward the third party Q and P towards 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55"/>
          <p:cNvSpPr/>
          <p:nvPr/>
        </p:nvSpPr>
        <p:spPr>
          <a:xfrm>
            <a:off x="1628450" y="35870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P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63" name="Google Shape;563;p55"/>
          <p:cNvSpPr/>
          <p:nvPr/>
        </p:nvSpPr>
        <p:spPr>
          <a:xfrm>
            <a:off x="3715450" y="44060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O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64" name="Google Shape;564;p55"/>
          <p:cNvSpPr/>
          <p:nvPr/>
        </p:nvSpPr>
        <p:spPr>
          <a:xfrm>
            <a:off x="3715450" y="306482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Q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65" name="Google Shape;565;p55"/>
          <p:cNvCxnSpPr>
            <a:stCxn id="562" idx="6"/>
            <a:endCxn id="563" idx="2"/>
          </p:cNvCxnSpPr>
          <p:nvPr/>
        </p:nvCxnSpPr>
        <p:spPr>
          <a:xfrm>
            <a:off x="2229650" y="3887625"/>
            <a:ext cx="1485900" cy="819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66" name="Google Shape;566;p55"/>
          <p:cNvCxnSpPr>
            <a:stCxn id="563" idx="0"/>
            <a:endCxn id="564" idx="4"/>
          </p:cNvCxnSpPr>
          <p:nvPr/>
        </p:nvCxnSpPr>
        <p:spPr>
          <a:xfrm rot="10800000">
            <a:off x="4016050" y="3665925"/>
            <a:ext cx="0" cy="74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67" name="Google Shape;567;p55"/>
          <p:cNvCxnSpPr>
            <a:stCxn id="562" idx="6"/>
            <a:endCxn id="564" idx="2"/>
          </p:cNvCxnSpPr>
          <p:nvPr/>
        </p:nvCxnSpPr>
        <p:spPr>
          <a:xfrm flipH="1" rot="10800000">
            <a:off x="2229650" y="3365325"/>
            <a:ext cx="1485900" cy="52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568" name="Google Shape;568;p55"/>
          <p:cNvSpPr/>
          <p:nvPr/>
        </p:nvSpPr>
        <p:spPr>
          <a:xfrm>
            <a:off x="4361875" y="3116175"/>
            <a:ext cx="4659000" cy="18396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In this example, you (P) have an enemy (O) who likes another classmate (Q) who you dislike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Seems fine?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574" name="Google Shape;574;p56"/>
          <p:cNvSpPr txBox="1"/>
          <p:nvPr>
            <p:ph idx="1" type="body"/>
          </p:nvPr>
        </p:nvSpPr>
        <p:spPr>
          <a:xfrm>
            <a:off x="311700" y="1225225"/>
            <a:ext cx="8520600" cy="18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Balance theory</a:t>
            </a:r>
            <a:r>
              <a:rPr lang="en"/>
              <a:t> is a social psychological theory designed to explain expected triadic configurations in sentiment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Sentiment networks are built from </a:t>
            </a:r>
            <a:r>
              <a:rPr b="1" lang="en"/>
              <a:t>valenced</a:t>
            </a:r>
            <a:r>
              <a:rPr lang="en"/>
              <a:t> ties (e.g., positive or negative)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four building blocks in balance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Q does not have to be a real person!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It could be </a:t>
            </a:r>
            <a:r>
              <a:rPr b="1" lang="en"/>
              <a:t>any</a:t>
            </a:r>
            <a:r>
              <a:rPr lang="en"/>
              <a:t> </a:t>
            </a:r>
            <a:r>
              <a:rPr b="1" lang="en"/>
              <a:t>object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56"/>
          <p:cNvSpPr/>
          <p:nvPr/>
        </p:nvSpPr>
        <p:spPr>
          <a:xfrm>
            <a:off x="1628450" y="35870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P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76" name="Google Shape;576;p56"/>
          <p:cNvSpPr/>
          <p:nvPr/>
        </p:nvSpPr>
        <p:spPr>
          <a:xfrm>
            <a:off x="3715450" y="44060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O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77" name="Google Shape;577;p56"/>
          <p:cNvSpPr/>
          <p:nvPr/>
        </p:nvSpPr>
        <p:spPr>
          <a:xfrm>
            <a:off x="3715450" y="306482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Q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78" name="Google Shape;578;p56"/>
          <p:cNvCxnSpPr>
            <a:stCxn id="575" idx="6"/>
            <a:endCxn id="576" idx="2"/>
          </p:cNvCxnSpPr>
          <p:nvPr/>
        </p:nvCxnSpPr>
        <p:spPr>
          <a:xfrm>
            <a:off x="2229650" y="3887625"/>
            <a:ext cx="1485900" cy="819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79" name="Google Shape;579;p56"/>
          <p:cNvCxnSpPr>
            <a:stCxn id="576" idx="0"/>
            <a:endCxn id="577" idx="4"/>
          </p:cNvCxnSpPr>
          <p:nvPr/>
        </p:nvCxnSpPr>
        <p:spPr>
          <a:xfrm rot="10800000">
            <a:off x="4016050" y="3665925"/>
            <a:ext cx="0" cy="74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80" name="Google Shape;580;p56"/>
          <p:cNvCxnSpPr>
            <a:stCxn id="575" idx="6"/>
            <a:endCxn id="577" idx="2"/>
          </p:cNvCxnSpPr>
          <p:nvPr/>
        </p:nvCxnSpPr>
        <p:spPr>
          <a:xfrm flipH="1" rot="10800000">
            <a:off x="2229650" y="3365325"/>
            <a:ext cx="1485900" cy="52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81" name="Google Shape;581;p56"/>
          <p:cNvSpPr/>
          <p:nvPr/>
        </p:nvSpPr>
        <p:spPr>
          <a:xfrm>
            <a:off x="4361875" y="3116175"/>
            <a:ext cx="4659000" cy="18396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In this example, you (P) love Marvel movies (Q) but your long time partner O (who you like duh!) hates them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Trouble in paradise!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587" name="Google Shape;587;p57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eight (8) configurations featuring one-way directed links from: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 (P) to Other (O)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 (P) to Third Party (Q)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 (O) to Third Party (Q)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593" name="Google Shape;593;p58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eight (8) configurations featuring one-way directed links from: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 (P) to Other (O)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 (P) to Third Party (Q)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 (O) to Third Party (Q)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58"/>
          <p:cNvSpPr/>
          <p:nvPr/>
        </p:nvSpPr>
        <p:spPr>
          <a:xfrm>
            <a:off x="5786638" y="381608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95" name="Google Shape;595;p58"/>
          <p:cNvSpPr/>
          <p:nvPr/>
        </p:nvSpPr>
        <p:spPr>
          <a:xfrm>
            <a:off x="6851372" y="423251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96" name="Google Shape;596;p58"/>
          <p:cNvSpPr/>
          <p:nvPr/>
        </p:nvSpPr>
        <p:spPr>
          <a:xfrm>
            <a:off x="6851372" y="355057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97" name="Google Shape;597;p58"/>
          <p:cNvCxnSpPr>
            <a:stCxn id="594" idx="6"/>
            <a:endCxn id="595" idx="2"/>
          </p:cNvCxnSpPr>
          <p:nvPr/>
        </p:nvCxnSpPr>
        <p:spPr>
          <a:xfrm>
            <a:off x="6093538" y="396893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98" name="Google Shape;598;p58"/>
          <p:cNvCxnSpPr>
            <a:stCxn id="595" idx="0"/>
            <a:endCxn id="596" idx="4"/>
          </p:cNvCxnSpPr>
          <p:nvPr/>
        </p:nvCxnSpPr>
        <p:spPr>
          <a:xfrm rot="10800000">
            <a:off x="7004822" y="385631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99" name="Google Shape;599;p58"/>
          <p:cNvCxnSpPr>
            <a:stCxn id="594" idx="6"/>
            <a:endCxn id="596" idx="2"/>
          </p:cNvCxnSpPr>
          <p:nvPr/>
        </p:nvCxnSpPr>
        <p:spPr>
          <a:xfrm flipH="1" rot="10800000">
            <a:off x="6093538" y="370343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600" name="Google Shape;600;p58"/>
          <p:cNvSpPr/>
          <p:nvPr/>
        </p:nvSpPr>
        <p:spPr>
          <a:xfrm>
            <a:off x="7460663" y="381610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01" name="Google Shape;601;p58"/>
          <p:cNvSpPr/>
          <p:nvPr/>
        </p:nvSpPr>
        <p:spPr>
          <a:xfrm>
            <a:off x="8525397" y="423252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02" name="Google Shape;602;p58"/>
          <p:cNvSpPr/>
          <p:nvPr/>
        </p:nvSpPr>
        <p:spPr>
          <a:xfrm>
            <a:off x="8525397" y="355058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03" name="Google Shape;603;p58"/>
          <p:cNvCxnSpPr>
            <a:stCxn id="600" idx="6"/>
            <a:endCxn id="601" idx="2"/>
          </p:cNvCxnSpPr>
          <p:nvPr/>
        </p:nvCxnSpPr>
        <p:spPr>
          <a:xfrm>
            <a:off x="7767563" y="396895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04" name="Google Shape;604;p58"/>
          <p:cNvCxnSpPr>
            <a:stCxn id="601" idx="0"/>
            <a:endCxn id="602" idx="4"/>
          </p:cNvCxnSpPr>
          <p:nvPr/>
        </p:nvCxnSpPr>
        <p:spPr>
          <a:xfrm rot="10800000">
            <a:off x="8678847" y="385632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05" name="Google Shape;605;p58"/>
          <p:cNvCxnSpPr>
            <a:stCxn id="600" idx="6"/>
            <a:endCxn id="602" idx="2"/>
          </p:cNvCxnSpPr>
          <p:nvPr/>
        </p:nvCxnSpPr>
        <p:spPr>
          <a:xfrm flipH="1" rot="10800000">
            <a:off x="7767563" y="370345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06" name="Google Shape;606;p58"/>
          <p:cNvSpPr txBox="1"/>
          <p:nvPr/>
        </p:nvSpPr>
        <p:spPr>
          <a:xfrm>
            <a:off x="6412950" y="4644825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07" name="Google Shape;607;p58"/>
          <p:cNvSpPr/>
          <p:nvPr/>
        </p:nvSpPr>
        <p:spPr>
          <a:xfrm>
            <a:off x="2766950" y="2316000"/>
            <a:ext cx="27897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Everything’s fine here!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608" name="Google Shape;608;p58"/>
          <p:cNvCxnSpPr>
            <a:stCxn id="607" idx="4"/>
          </p:cNvCxnSpPr>
          <p:nvPr/>
        </p:nvCxnSpPr>
        <p:spPr>
          <a:xfrm>
            <a:off x="4161800" y="3147300"/>
            <a:ext cx="1482900" cy="746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9" name="Google Shape;609;p58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10" name="Google Shape;610;p58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11" name="Google Shape;611;p58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12" name="Google Shape;612;p58"/>
          <p:cNvCxnSpPr>
            <a:stCxn id="609" idx="6"/>
            <a:endCxn id="610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13" name="Google Shape;613;p58"/>
          <p:cNvCxnSpPr>
            <a:stCxn id="610" idx="0"/>
            <a:endCxn id="611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14" name="Google Shape;614;p58"/>
          <p:cNvCxnSpPr>
            <a:stCxn id="609" idx="6"/>
            <a:endCxn id="611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15" name="Google Shape;615;p58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16" name="Google Shape;616;p58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17" name="Google Shape;617;p58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18" name="Google Shape;618;p58"/>
          <p:cNvCxnSpPr>
            <a:stCxn id="615" idx="6"/>
            <a:endCxn id="616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19" name="Google Shape;619;p58"/>
          <p:cNvCxnSpPr>
            <a:stCxn id="616" idx="0"/>
            <a:endCxn id="617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20" name="Google Shape;620;p58"/>
          <p:cNvCxnSpPr>
            <a:stCxn id="615" idx="6"/>
            <a:endCxn id="617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626" name="Google Shape;626;p59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eight (8) configurations featuring one-way directed links from: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 (P) to Other (O)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 (P) to Third Party (Q)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 (O) to Third Party (Q)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59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28" name="Google Shape;628;p59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29" name="Google Shape;629;p59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30" name="Google Shape;630;p59"/>
          <p:cNvCxnSpPr>
            <a:stCxn id="627" idx="6"/>
            <a:endCxn id="628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31" name="Google Shape;631;p59"/>
          <p:cNvCxnSpPr>
            <a:stCxn id="628" idx="0"/>
            <a:endCxn id="629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32" name="Google Shape;632;p59"/>
          <p:cNvCxnSpPr>
            <a:stCxn id="627" idx="6"/>
            <a:endCxn id="629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633" name="Google Shape;633;p59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34" name="Google Shape;634;p59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35" name="Google Shape;635;p59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36" name="Google Shape;636;p59"/>
          <p:cNvCxnSpPr>
            <a:stCxn id="633" idx="6"/>
            <a:endCxn id="634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37" name="Google Shape;637;p59"/>
          <p:cNvCxnSpPr>
            <a:stCxn id="634" idx="0"/>
            <a:endCxn id="635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38" name="Google Shape;638;p59"/>
          <p:cNvCxnSpPr>
            <a:stCxn id="633" idx="6"/>
            <a:endCxn id="635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39" name="Google Shape;639;p59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40" name="Google Shape;640;p59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41" name="Google Shape;641;p59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42" name="Google Shape;642;p59"/>
          <p:cNvCxnSpPr>
            <a:stCxn id="639" idx="6"/>
            <a:endCxn id="640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43" name="Google Shape;643;p59"/>
          <p:cNvCxnSpPr>
            <a:stCxn id="640" idx="0"/>
            <a:endCxn id="641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44" name="Google Shape;644;p59"/>
          <p:cNvCxnSpPr>
            <a:stCxn id="639" idx="6"/>
            <a:endCxn id="641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45" name="Google Shape;645;p59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46" name="Google Shape;646;p59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47" name="Google Shape;647;p59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48" name="Google Shape;648;p59"/>
          <p:cNvCxnSpPr>
            <a:stCxn id="645" idx="6"/>
            <a:endCxn id="646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49" name="Google Shape;649;p59"/>
          <p:cNvCxnSpPr>
            <a:stCxn id="646" idx="0"/>
            <a:endCxn id="647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50" name="Google Shape;650;p59"/>
          <p:cNvCxnSpPr>
            <a:stCxn id="645" idx="6"/>
            <a:endCxn id="647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651" name="Google Shape;651;p59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52" name="Google Shape;652;p59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53" name="Google Shape;653;p59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54" name="Google Shape;654;p59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55" name="Google Shape;655;p59"/>
          <p:cNvCxnSpPr>
            <a:stCxn id="652" idx="6"/>
            <a:endCxn id="653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6" name="Google Shape;656;p59"/>
          <p:cNvCxnSpPr>
            <a:stCxn id="653" idx="0"/>
            <a:endCxn id="654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7" name="Google Shape;657;p59"/>
          <p:cNvCxnSpPr>
            <a:stCxn id="652" idx="6"/>
            <a:endCxn id="654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58" name="Google Shape;658;p59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59" name="Google Shape;659;p59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60" name="Google Shape;660;p59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61" name="Google Shape;661;p59"/>
          <p:cNvCxnSpPr>
            <a:stCxn id="658" idx="6"/>
            <a:endCxn id="659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62" name="Google Shape;662;p59"/>
          <p:cNvCxnSpPr>
            <a:stCxn id="659" idx="0"/>
            <a:endCxn id="660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63" name="Google Shape;663;p59"/>
          <p:cNvCxnSpPr>
            <a:stCxn id="658" idx="6"/>
            <a:endCxn id="660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664" name="Google Shape;664;p59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65" name="Google Shape;665;p59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66" name="Google Shape;666;p59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67" name="Google Shape;667;p59"/>
          <p:cNvCxnSpPr>
            <a:stCxn id="664" idx="6"/>
            <a:endCxn id="665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68" name="Google Shape;668;p59"/>
          <p:cNvCxnSpPr>
            <a:stCxn id="665" idx="0"/>
            <a:endCxn id="666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69" name="Google Shape;669;p59"/>
          <p:cNvCxnSpPr>
            <a:stCxn id="664" idx="6"/>
            <a:endCxn id="666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670" name="Google Shape;670;p59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71" name="Google Shape;671;p59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72" name="Google Shape;672;p59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73" name="Google Shape;673;p59"/>
          <p:cNvCxnSpPr>
            <a:stCxn id="670" idx="6"/>
            <a:endCxn id="671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74" name="Google Shape;674;p59"/>
          <p:cNvCxnSpPr>
            <a:stCxn id="671" idx="0"/>
            <a:endCxn id="672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75" name="Google Shape;675;p59"/>
          <p:cNvCxnSpPr>
            <a:stCxn id="670" idx="6"/>
            <a:endCxn id="672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76" name="Google Shape;676;p59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77" name="Google Shape;677;p59"/>
          <p:cNvSpPr/>
          <p:nvPr/>
        </p:nvSpPr>
        <p:spPr>
          <a:xfrm>
            <a:off x="3742225" y="1877600"/>
            <a:ext cx="24999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Trouble in paradise!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678" name="Google Shape;678;p59"/>
          <p:cNvCxnSpPr>
            <a:stCxn id="677" idx="4"/>
          </p:cNvCxnSpPr>
          <p:nvPr/>
        </p:nvCxnSpPr>
        <p:spPr>
          <a:xfrm flipH="1">
            <a:off x="3564175" y="2708900"/>
            <a:ext cx="1428000" cy="745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6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684" name="Google Shape;684;p60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idea is that unbalanced configurations will tend to transition to balanced configurations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Unbalanced configurations produce </a:t>
            </a:r>
            <a:r>
              <a:rPr b="1" lang="en"/>
              <a:t>tension</a:t>
            </a:r>
            <a:r>
              <a:rPr lang="en"/>
              <a:t> in P leading them to </a:t>
            </a:r>
            <a:r>
              <a:rPr b="1" lang="en"/>
              <a:t>change </a:t>
            </a:r>
            <a:r>
              <a:rPr lang="en"/>
              <a:t>their sentiments toward O or Q </a:t>
            </a:r>
            <a:r>
              <a:rPr lang="en"/>
              <a:t>to</a:t>
            </a:r>
            <a:r>
              <a:rPr lang="en"/>
              <a:t> generate balance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60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86" name="Google Shape;686;p60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87" name="Google Shape;687;p60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88" name="Google Shape;688;p60"/>
          <p:cNvCxnSpPr>
            <a:stCxn id="685" idx="6"/>
            <a:endCxn id="686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89" name="Google Shape;689;p60"/>
          <p:cNvCxnSpPr>
            <a:stCxn id="686" idx="0"/>
            <a:endCxn id="687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90" name="Google Shape;690;p60"/>
          <p:cNvCxnSpPr>
            <a:stCxn id="685" idx="6"/>
            <a:endCxn id="687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691" name="Google Shape;691;p60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92" name="Google Shape;692;p60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93" name="Google Shape;693;p60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94" name="Google Shape;694;p60"/>
          <p:cNvCxnSpPr>
            <a:stCxn id="691" idx="6"/>
            <a:endCxn id="692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95" name="Google Shape;695;p60"/>
          <p:cNvCxnSpPr>
            <a:stCxn id="692" idx="0"/>
            <a:endCxn id="693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96" name="Google Shape;696;p60"/>
          <p:cNvCxnSpPr>
            <a:stCxn id="691" idx="6"/>
            <a:endCxn id="693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97" name="Google Shape;697;p60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98" name="Google Shape;698;p60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99" name="Google Shape;699;p60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00" name="Google Shape;700;p60"/>
          <p:cNvCxnSpPr>
            <a:stCxn id="697" idx="6"/>
            <a:endCxn id="698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01" name="Google Shape;701;p60"/>
          <p:cNvCxnSpPr>
            <a:stCxn id="698" idx="0"/>
            <a:endCxn id="699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2" name="Google Shape;702;p60"/>
          <p:cNvCxnSpPr>
            <a:stCxn id="697" idx="6"/>
            <a:endCxn id="699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03" name="Google Shape;703;p60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04" name="Google Shape;704;p60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05" name="Google Shape;705;p60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06" name="Google Shape;706;p60"/>
          <p:cNvCxnSpPr>
            <a:stCxn id="703" idx="6"/>
            <a:endCxn id="704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07" name="Google Shape;707;p60"/>
          <p:cNvCxnSpPr>
            <a:stCxn id="704" idx="0"/>
            <a:endCxn id="705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08" name="Google Shape;708;p60"/>
          <p:cNvCxnSpPr>
            <a:stCxn id="703" idx="6"/>
            <a:endCxn id="705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709" name="Google Shape;709;p60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10" name="Google Shape;710;p60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11" name="Google Shape;711;p60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12" name="Google Shape;712;p60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13" name="Google Shape;713;p60"/>
          <p:cNvCxnSpPr>
            <a:stCxn id="710" idx="6"/>
            <a:endCxn id="711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14" name="Google Shape;714;p60"/>
          <p:cNvCxnSpPr>
            <a:stCxn id="711" idx="0"/>
            <a:endCxn id="712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15" name="Google Shape;715;p60"/>
          <p:cNvCxnSpPr>
            <a:stCxn id="710" idx="6"/>
            <a:endCxn id="712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16" name="Google Shape;716;p60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17" name="Google Shape;717;p60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18" name="Google Shape;718;p60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19" name="Google Shape;719;p60"/>
          <p:cNvCxnSpPr>
            <a:stCxn id="716" idx="6"/>
            <a:endCxn id="717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20" name="Google Shape;720;p60"/>
          <p:cNvCxnSpPr>
            <a:stCxn id="717" idx="0"/>
            <a:endCxn id="718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21" name="Google Shape;721;p60"/>
          <p:cNvCxnSpPr>
            <a:stCxn id="716" idx="6"/>
            <a:endCxn id="718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722" name="Google Shape;722;p60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23" name="Google Shape;723;p60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24" name="Google Shape;724;p60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25" name="Google Shape;725;p60"/>
          <p:cNvCxnSpPr>
            <a:stCxn id="722" idx="6"/>
            <a:endCxn id="723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26" name="Google Shape;726;p60"/>
          <p:cNvCxnSpPr>
            <a:stCxn id="723" idx="0"/>
            <a:endCxn id="724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27" name="Google Shape;727;p60"/>
          <p:cNvCxnSpPr>
            <a:stCxn id="722" idx="6"/>
            <a:endCxn id="724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728" name="Google Shape;728;p60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29" name="Google Shape;729;p60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30" name="Google Shape;730;p60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31" name="Google Shape;731;p60"/>
          <p:cNvCxnSpPr>
            <a:stCxn id="728" idx="6"/>
            <a:endCxn id="729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32" name="Google Shape;732;p60"/>
          <p:cNvCxnSpPr>
            <a:stCxn id="729" idx="0"/>
            <a:endCxn id="730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33" name="Google Shape;733;p60"/>
          <p:cNvCxnSpPr>
            <a:stCxn id="728" idx="6"/>
            <a:endCxn id="730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34" name="Google Shape;734;p60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35" name="Google Shape;735;p60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6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741" name="Google Shape;741;p61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idea is that unbalanced configurations will tend to transition to balanced configurations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Unbalanced configurations produce </a:t>
            </a:r>
            <a:r>
              <a:rPr b="1" lang="en"/>
              <a:t>tension</a:t>
            </a:r>
            <a:r>
              <a:rPr lang="en"/>
              <a:t> in P leading them to </a:t>
            </a:r>
            <a:r>
              <a:rPr b="1" lang="en"/>
              <a:t>change </a:t>
            </a:r>
            <a:r>
              <a:rPr lang="en"/>
              <a:t>their sentiments toward O or Q </a:t>
            </a:r>
            <a:r>
              <a:rPr lang="en"/>
              <a:t>to</a:t>
            </a:r>
            <a:r>
              <a:rPr lang="en"/>
              <a:t> generate balance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61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43" name="Google Shape;743;p61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44" name="Google Shape;744;p61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45" name="Google Shape;745;p61"/>
          <p:cNvCxnSpPr>
            <a:stCxn id="742" idx="6"/>
            <a:endCxn id="743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46" name="Google Shape;746;p61"/>
          <p:cNvCxnSpPr>
            <a:stCxn id="743" idx="0"/>
            <a:endCxn id="744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47" name="Google Shape;747;p61"/>
          <p:cNvCxnSpPr>
            <a:stCxn id="742" idx="6"/>
            <a:endCxn id="744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748" name="Google Shape;748;p61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49" name="Google Shape;749;p61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50" name="Google Shape;750;p61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51" name="Google Shape;751;p61"/>
          <p:cNvCxnSpPr>
            <a:stCxn id="748" idx="6"/>
            <a:endCxn id="749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52" name="Google Shape;752;p61"/>
          <p:cNvCxnSpPr>
            <a:stCxn id="749" idx="0"/>
            <a:endCxn id="750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53" name="Google Shape;753;p61"/>
          <p:cNvCxnSpPr>
            <a:stCxn id="748" idx="6"/>
            <a:endCxn id="750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54" name="Google Shape;754;p61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55" name="Google Shape;755;p61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56" name="Google Shape;756;p61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57" name="Google Shape;757;p61"/>
          <p:cNvCxnSpPr>
            <a:stCxn id="754" idx="6"/>
            <a:endCxn id="755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58" name="Google Shape;758;p61"/>
          <p:cNvCxnSpPr>
            <a:stCxn id="755" idx="0"/>
            <a:endCxn id="756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59" name="Google Shape;759;p61"/>
          <p:cNvCxnSpPr>
            <a:stCxn id="754" idx="6"/>
            <a:endCxn id="756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60" name="Google Shape;760;p61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61" name="Google Shape;761;p61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62" name="Google Shape;762;p61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63" name="Google Shape;763;p61"/>
          <p:cNvCxnSpPr>
            <a:stCxn id="760" idx="6"/>
            <a:endCxn id="761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64" name="Google Shape;764;p61"/>
          <p:cNvCxnSpPr>
            <a:stCxn id="761" idx="0"/>
            <a:endCxn id="762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65" name="Google Shape;765;p61"/>
          <p:cNvCxnSpPr>
            <a:stCxn id="760" idx="6"/>
            <a:endCxn id="762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766" name="Google Shape;766;p61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67" name="Google Shape;767;p61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68" name="Google Shape;768;p61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69" name="Google Shape;769;p61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70" name="Google Shape;770;p61"/>
          <p:cNvCxnSpPr>
            <a:stCxn id="767" idx="6"/>
            <a:endCxn id="768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71" name="Google Shape;771;p61"/>
          <p:cNvCxnSpPr>
            <a:stCxn id="768" idx="0"/>
            <a:endCxn id="769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72" name="Google Shape;772;p61"/>
          <p:cNvCxnSpPr>
            <a:stCxn id="767" idx="6"/>
            <a:endCxn id="769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73" name="Google Shape;773;p61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74" name="Google Shape;774;p61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75" name="Google Shape;775;p61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76" name="Google Shape;776;p61"/>
          <p:cNvCxnSpPr>
            <a:stCxn id="773" idx="6"/>
            <a:endCxn id="774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77" name="Google Shape;777;p61"/>
          <p:cNvCxnSpPr>
            <a:stCxn id="774" idx="0"/>
            <a:endCxn id="775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78" name="Google Shape;778;p61"/>
          <p:cNvCxnSpPr>
            <a:stCxn id="773" idx="6"/>
            <a:endCxn id="775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779" name="Google Shape;779;p61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80" name="Google Shape;780;p61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81" name="Google Shape;781;p61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82" name="Google Shape;782;p61"/>
          <p:cNvCxnSpPr>
            <a:stCxn id="779" idx="6"/>
            <a:endCxn id="780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83" name="Google Shape;783;p61"/>
          <p:cNvCxnSpPr>
            <a:stCxn id="780" idx="0"/>
            <a:endCxn id="781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84" name="Google Shape;784;p61"/>
          <p:cNvCxnSpPr>
            <a:stCxn id="779" idx="6"/>
            <a:endCxn id="781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785" name="Google Shape;785;p61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86" name="Google Shape;786;p61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87" name="Google Shape;787;p61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88" name="Google Shape;788;p61"/>
          <p:cNvCxnSpPr>
            <a:stCxn id="785" idx="6"/>
            <a:endCxn id="786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89" name="Google Shape;789;p61"/>
          <p:cNvCxnSpPr>
            <a:stCxn id="786" idx="0"/>
            <a:endCxn id="787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90" name="Google Shape;790;p61"/>
          <p:cNvCxnSpPr>
            <a:stCxn id="785" idx="6"/>
            <a:endCxn id="787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91" name="Google Shape;791;p61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92" name="Google Shape;792;p61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61"/>
          <p:cNvSpPr/>
          <p:nvPr/>
        </p:nvSpPr>
        <p:spPr>
          <a:xfrm>
            <a:off x="1991475" y="2410375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61"/>
          <p:cNvSpPr/>
          <p:nvPr/>
        </p:nvSpPr>
        <p:spPr>
          <a:xfrm>
            <a:off x="7341125" y="2399750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6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800" name="Google Shape;800;p62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idea is that unbalanced configurations will tend to transition to balanced configurations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Unbalanced configurations produce </a:t>
            </a:r>
            <a:r>
              <a:rPr b="1" lang="en"/>
              <a:t>tension</a:t>
            </a:r>
            <a:r>
              <a:rPr lang="en"/>
              <a:t> in P leading them to </a:t>
            </a:r>
            <a:r>
              <a:rPr b="1" lang="en"/>
              <a:t>change </a:t>
            </a:r>
            <a:r>
              <a:rPr lang="en"/>
              <a:t>their sentiments toward O or Q </a:t>
            </a:r>
            <a:r>
              <a:rPr lang="en"/>
              <a:t>to</a:t>
            </a:r>
            <a:r>
              <a:rPr lang="en"/>
              <a:t> generate balance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62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02" name="Google Shape;802;p62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03" name="Google Shape;803;p62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04" name="Google Shape;804;p62"/>
          <p:cNvCxnSpPr>
            <a:stCxn id="801" idx="6"/>
            <a:endCxn id="802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05" name="Google Shape;805;p62"/>
          <p:cNvCxnSpPr>
            <a:stCxn id="802" idx="0"/>
            <a:endCxn id="803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06" name="Google Shape;806;p62"/>
          <p:cNvCxnSpPr>
            <a:stCxn id="801" idx="6"/>
            <a:endCxn id="803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807" name="Google Shape;807;p62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08" name="Google Shape;808;p62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09" name="Google Shape;809;p62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10" name="Google Shape;810;p62"/>
          <p:cNvCxnSpPr>
            <a:stCxn id="807" idx="6"/>
            <a:endCxn id="808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11" name="Google Shape;811;p62"/>
          <p:cNvCxnSpPr>
            <a:stCxn id="808" idx="0"/>
            <a:endCxn id="809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12" name="Google Shape;812;p62"/>
          <p:cNvCxnSpPr>
            <a:stCxn id="807" idx="6"/>
            <a:endCxn id="809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13" name="Google Shape;813;p62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14" name="Google Shape;814;p62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15" name="Google Shape;815;p62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16" name="Google Shape;816;p62"/>
          <p:cNvCxnSpPr>
            <a:stCxn id="813" idx="6"/>
            <a:endCxn id="814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17" name="Google Shape;817;p62"/>
          <p:cNvCxnSpPr>
            <a:stCxn id="814" idx="0"/>
            <a:endCxn id="815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18" name="Google Shape;818;p62"/>
          <p:cNvCxnSpPr>
            <a:stCxn id="813" idx="6"/>
            <a:endCxn id="815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19" name="Google Shape;819;p62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20" name="Google Shape;820;p62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21" name="Google Shape;821;p62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22" name="Google Shape;822;p62"/>
          <p:cNvCxnSpPr>
            <a:stCxn id="819" idx="6"/>
            <a:endCxn id="820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23" name="Google Shape;823;p62"/>
          <p:cNvCxnSpPr>
            <a:stCxn id="820" idx="0"/>
            <a:endCxn id="821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24" name="Google Shape;824;p62"/>
          <p:cNvCxnSpPr>
            <a:stCxn id="819" idx="6"/>
            <a:endCxn id="821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825" name="Google Shape;825;p62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26" name="Google Shape;826;p62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27" name="Google Shape;827;p62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28" name="Google Shape;828;p62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29" name="Google Shape;829;p62"/>
          <p:cNvCxnSpPr>
            <a:stCxn id="826" idx="6"/>
            <a:endCxn id="827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30" name="Google Shape;830;p62"/>
          <p:cNvCxnSpPr>
            <a:stCxn id="827" idx="0"/>
            <a:endCxn id="828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31" name="Google Shape;831;p62"/>
          <p:cNvCxnSpPr>
            <a:stCxn id="826" idx="6"/>
            <a:endCxn id="828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32" name="Google Shape;832;p62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33" name="Google Shape;833;p62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34" name="Google Shape;834;p62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35" name="Google Shape;835;p62"/>
          <p:cNvCxnSpPr>
            <a:stCxn id="832" idx="6"/>
            <a:endCxn id="833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36" name="Google Shape;836;p62"/>
          <p:cNvCxnSpPr>
            <a:stCxn id="833" idx="0"/>
            <a:endCxn id="834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37" name="Google Shape;837;p62"/>
          <p:cNvCxnSpPr>
            <a:stCxn id="832" idx="6"/>
            <a:endCxn id="834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838" name="Google Shape;838;p62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39" name="Google Shape;839;p62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40" name="Google Shape;840;p62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41" name="Google Shape;841;p62"/>
          <p:cNvCxnSpPr>
            <a:stCxn id="838" idx="6"/>
            <a:endCxn id="839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42" name="Google Shape;842;p62"/>
          <p:cNvCxnSpPr>
            <a:stCxn id="839" idx="0"/>
            <a:endCxn id="840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43" name="Google Shape;843;p62"/>
          <p:cNvCxnSpPr>
            <a:stCxn id="838" idx="6"/>
            <a:endCxn id="840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844" name="Google Shape;844;p62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45" name="Google Shape;845;p62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46" name="Google Shape;846;p62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47" name="Google Shape;847;p62"/>
          <p:cNvCxnSpPr>
            <a:stCxn id="844" idx="6"/>
            <a:endCxn id="845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48" name="Google Shape;848;p62"/>
          <p:cNvCxnSpPr>
            <a:stCxn id="845" idx="0"/>
            <a:endCxn id="846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49" name="Google Shape;849;p62"/>
          <p:cNvCxnSpPr>
            <a:stCxn id="844" idx="6"/>
            <a:endCxn id="846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50" name="Google Shape;850;p62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51" name="Google Shape;851;p62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62"/>
          <p:cNvSpPr/>
          <p:nvPr/>
        </p:nvSpPr>
        <p:spPr>
          <a:xfrm>
            <a:off x="192175" y="2399738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62"/>
          <p:cNvSpPr/>
          <p:nvPr/>
        </p:nvSpPr>
        <p:spPr>
          <a:xfrm>
            <a:off x="5722263" y="2414025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6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859" name="Google Shape;859;p63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idea is that unbalanced configurations will tend to transition to balanced configurations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Unbalanced configurations produce </a:t>
            </a:r>
            <a:r>
              <a:rPr b="1" lang="en"/>
              <a:t>tension</a:t>
            </a:r>
            <a:r>
              <a:rPr lang="en"/>
              <a:t> in P leading them to </a:t>
            </a:r>
            <a:r>
              <a:rPr b="1" lang="en"/>
              <a:t>change </a:t>
            </a:r>
            <a:r>
              <a:rPr lang="en"/>
              <a:t>their sentiments toward O or Q </a:t>
            </a:r>
            <a:r>
              <a:rPr lang="en"/>
              <a:t>to</a:t>
            </a:r>
            <a:r>
              <a:rPr lang="en"/>
              <a:t> generate balance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63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61" name="Google Shape;861;p63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62" name="Google Shape;862;p63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63" name="Google Shape;863;p63"/>
          <p:cNvCxnSpPr>
            <a:stCxn id="860" idx="6"/>
            <a:endCxn id="861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64" name="Google Shape;864;p63"/>
          <p:cNvCxnSpPr>
            <a:stCxn id="861" idx="0"/>
            <a:endCxn id="862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65" name="Google Shape;865;p63"/>
          <p:cNvCxnSpPr>
            <a:stCxn id="860" idx="6"/>
            <a:endCxn id="862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866" name="Google Shape;866;p63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67" name="Google Shape;867;p63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68" name="Google Shape;868;p63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69" name="Google Shape;869;p63"/>
          <p:cNvCxnSpPr>
            <a:stCxn id="866" idx="6"/>
            <a:endCxn id="867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70" name="Google Shape;870;p63"/>
          <p:cNvCxnSpPr>
            <a:stCxn id="867" idx="0"/>
            <a:endCxn id="868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71" name="Google Shape;871;p63"/>
          <p:cNvCxnSpPr>
            <a:stCxn id="866" idx="6"/>
            <a:endCxn id="868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72" name="Google Shape;872;p63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73" name="Google Shape;873;p63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74" name="Google Shape;874;p63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75" name="Google Shape;875;p63"/>
          <p:cNvCxnSpPr>
            <a:stCxn id="872" idx="6"/>
            <a:endCxn id="873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76" name="Google Shape;876;p63"/>
          <p:cNvCxnSpPr>
            <a:stCxn id="873" idx="0"/>
            <a:endCxn id="874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77" name="Google Shape;877;p63"/>
          <p:cNvCxnSpPr>
            <a:stCxn id="872" idx="6"/>
            <a:endCxn id="874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78" name="Google Shape;878;p63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79" name="Google Shape;879;p63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80" name="Google Shape;880;p63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81" name="Google Shape;881;p63"/>
          <p:cNvCxnSpPr>
            <a:stCxn id="878" idx="6"/>
            <a:endCxn id="879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82" name="Google Shape;882;p63"/>
          <p:cNvCxnSpPr>
            <a:stCxn id="879" idx="0"/>
            <a:endCxn id="880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83" name="Google Shape;883;p63"/>
          <p:cNvCxnSpPr>
            <a:stCxn id="878" idx="6"/>
            <a:endCxn id="880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884" name="Google Shape;884;p63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85" name="Google Shape;885;p63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86" name="Google Shape;886;p63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87" name="Google Shape;887;p63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88" name="Google Shape;888;p63"/>
          <p:cNvCxnSpPr>
            <a:stCxn id="885" idx="6"/>
            <a:endCxn id="886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89" name="Google Shape;889;p63"/>
          <p:cNvCxnSpPr>
            <a:stCxn id="886" idx="0"/>
            <a:endCxn id="887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90" name="Google Shape;890;p63"/>
          <p:cNvCxnSpPr>
            <a:stCxn id="885" idx="6"/>
            <a:endCxn id="887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91" name="Google Shape;891;p63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92" name="Google Shape;892;p63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93" name="Google Shape;893;p63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94" name="Google Shape;894;p63"/>
          <p:cNvCxnSpPr>
            <a:stCxn id="891" idx="6"/>
            <a:endCxn id="892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95" name="Google Shape;895;p63"/>
          <p:cNvCxnSpPr>
            <a:stCxn id="892" idx="0"/>
            <a:endCxn id="893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96" name="Google Shape;896;p63"/>
          <p:cNvCxnSpPr>
            <a:stCxn id="891" idx="6"/>
            <a:endCxn id="893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897" name="Google Shape;897;p63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98" name="Google Shape;898;p63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99" name="Google Shape;899;p63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00" name="Google Shape;900;p63"/>
          <p:cNvCxnSpPr>
            <a:stCxn id="897" idx="6"/>
            <a:endCxn id="898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01" name="Google Shape;901;p63"/>
          <p:cNvCxnSpPr>
            <a:stCxn id="898" idx="0"/>
            <a:endCxn id="899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02" name="Google Shape;902;p63"/>
          <p:cNvCxnSpPr>
            <a:stCxn id="897" idx="6"/>
            <a:endCxn id="899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903" name="Google Shape;903;p63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04" name="Google Shape;904;p63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05" name="Google Shape;905;p63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06" name="Google Shape;906;p63"/>
          <p:cNvCxnSpPr>
            <a:stCxn id="903" idx="6"/>
            <a:endCxn id="904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07" name="Google Shape;907;p63"/>
          <p:cNvCxnSpPr>
            <a:stCxn id="904" idx="0"/>
            <a:endCxn id="905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08" name="Google Shape;908;p63"/>
          <p:cNvCxnSpPr>
            <a:stCxn id="903" idx="6"/>
            <a:endCxn id="905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09" name="Google Shape;909;p63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10" name="Google Shape;910;p63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63"/>
          <p:cNvSpPr/>
          <p:nvPr/>
        </p:nvSpPr>
        <p:spPr>
          <a:xfrm>
            <a:off x="192175" y="3493008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63"/>
          <p:cNvSpPr/>
          <p:nvPr/>
        </p:nvSpPr>
        <p:spPr>
          <a:xfrm>
            <a:off x="5722263" y="3507296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6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918" name="Google Shape;918;p64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idea is that unbalanced configurations will tend to transition to balanced configurations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Unbalanced configurations produce </a:t>
            </a:r>
            <a:r>
              <a:rPr b="1" lang="en"/>
              <a:t>tension</a:t>
            </a:r>
            <a:r>
              <a:rPr lang="en"/>
              <a:t> in P leading them to </a:t>
            </a:r>
            <a:r>
              <a:rPr b="1" lang="en"/>
              <a:t>change </a:t>
            </a:r>
            <a:r>
              <a:rPr lang="en"/>
              <a:t>their sentiments toward O or Q </a:t>
            </a:r>
            <a:r>
              <a:rPr lang="en"/>
              <a:t>to</a:t>
            </a:r>
            <a:r>
              <a:rPr lang="en"/>
              <a:t> generate balance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64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20" name="Google Shape;920;p64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21" name="Google Shape;921;p64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22" name="Google Shape;922;p64"/>
          <p:cNvCxnSpPr>
            <a:stCxn id="919" idx="6"/>
            <a:endCxn id="920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23" name="Google Shape;923;p64"/>
          <p:cNvCxnSpPr>
            <a:stCxn id="920" idx="0"/>
            <a:endCxn id="921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24" name="Google Shape;924;p64"/>
          <p:cNvCxnSpPr>
            <a:stCxn id="919" idx="6"/>
            <a:endCxn id="921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925" name="Google Shape;925;p64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26" name="Google Shape;926;p64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27" name="Google Shape;927;p64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28" name="Google Shape;928;p64"/>
          <p:cNvCxnSpPr>
            <a:stCxn id="925" idx="6"/>
            <a:endCxn id="926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29" name="Google Shape;929;p64"/>
          <p:cNvCxnSpPr>
            <a:stCxn id="926" idx="0"/>
            <a:endCxn id="927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30" name="Google Shape;930;p64"/>
          <p:cNvCxnSpPr>
            <a:stCxn id="925" idx="6"/>
            <a:endCxn id="927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31" name="Google Shape;931;p64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32" name="Google Shape;932;p64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33" name="Google Shape;933;p64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34" name="Google Shape;934;p64"/>
          <p:cNvCxnSpPr>
            <a:stCxn id="931" idx="6"/>
            <a:endCxn id="932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35" name="Google Shape;935;p64"/>
          <p:cNvCxnSpPr>
            <a:stCxn id="932" idx="0"/>
            <a:endCxn id="933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6" name="Google Shape;936;p64"/>
          <p:cNvCxnSpPr>
            <a:stCxn id="931" idx="6"/>
            <a:endCxn id="933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37" name="Google Shape;937;p64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38" name="Google Shape;938;p64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39" name="Google Shape;939;p64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40" name="Google Shape;940;p64"/>
          <p:cNvCxnSpPr>
            <a:stCxn id="937" idx="6"/>
            <a:endCxn id="938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41" name="Google Shape;941;p64"/>
          <p:cNvCxnSpPr>
            <a:stCxn id="938" idx="0"/>
            <a:endCxn id="939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42" name="Google Shape;942;p64"/>
          <p:cNvCxnSpPr>
            <a:stCxn id="937" idx="6"/>
            <a:endCxn id="939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943" name="Google Shape;943;p64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44" name="Google Shape;944;p64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45" name="Google Shape;945;p64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46" name="Google Shape;946;p64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47" name="Google Shape;947;p64"/>
          <p:cNvCxnSpPr>
            <a:stCxn id="944" idx="6"/>
            <a:endCxn id="945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48" name="Google Shape;948;p64"/>
          <p:cNvCxnSpPr>
            <a:stCxn id="945" idx="0"/>
            <a:endCxn id="946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49" name="Google Shape;949;p64"/>
          <p:cNvCxnSpPr>
            <a:stCxn id="944" idx="6"/>
            <a:endCxn id="946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50" name="Google Shape;950;p64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51" name="Google Shape;951;p64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52" name="Google Shape;952;p64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53" name="Google Shape;953;p64"/>
          <p:cNvCxnSpPr>
            <a:stCxn id="950" idx="6"/>
            <a:endCxn id="951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54" name="Google Shape;954;p64"/>
          <p:cNvCxnSpPr>
            <a:stCxn id="951" idx="0"/>
            <a:endCxn id="952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55" name="Google Shape;955;p64"/>
          <p:cNvCxnSpPr>
            <a:stCxn id="950" idx="6"/>
            <a:endCxn id="952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956" name="Google Shape;956;p64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57" name="Google Shape;957;p64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58" name="Google Shape;958;p64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59" name="Google Shape;959;p64"/>
          <p:cNvCxnSpPr>
            <a:stCxn id="956" idx="6"/>
            <a:endCxn id="957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60" name="Google Shape;960;p64"/>
          <p:cNvCxnSpPr>
            <a:stCxn id="957" idx="0"/>
            <a:endCxn id="958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61" name="Google Shape;961;p64"/>
          <p:cNvCxnSpPr>
            <a:stCxn id="956" idx="6"/>
            <a:endCxn id="958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962" name="Google Shape;962;p64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63" name="Google Shape;963;p64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64" name="Google Shape;964;p64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65" name="Google Shape;965;p64"/>
          <p:cNvCxnSpPr>
            <a:stCxn id="962" idx="6"/>
            <a:endCxn id="963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66" name="Google Shape;966;p64"/>
          <p:cNvCxnSpPr>
            <a:stCxn id="963" idx="0"/>
            <a:endCxn id="964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67" name="Google Shape;967;p64"/>
          <p:cNvCxnSpPr>
            <a:stCxn id="962" idx="6"/>
            <a:endCxn id="964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68" name="Google Shape;968;p64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69" name="Google Shape;969;p64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64"/>
          <p:cNvSpPr/>
          <p:nvPr/>
        </p:nvSpPr>
        <p:spPr>
          <a:xfrm>
            <a:off x="1991475" y="3503633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64"/>
          <p:cNvSpPr/>
          <p:nvPr/>
        </p:nvSpPr>
        <p:spPr>
          <a:xfrm>
            <a:off x="7341125" y="3493008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6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Mathematics of Balance Theory</a:t>
            </a:r>
            <a:endParaRPr/>
          </a:p>
        </p:txBody>
      </p:sp>
      <p:sp>
        <p:nvSpPr>
          <p:cNvPr id="977" name="Google Shape;977;p65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Remember the rules of sign multiplication from basic algebra?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+1  * +1 = +1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+1  *  -1 =  -1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 -1  *  -1 = +1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65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79" name="Google Shape;979;p65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80" name="Google Shape;980;p65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81" name="Google Shape;981;p65"/>
          <p:cNvCxnSpPr>
            <a:stCxn id="978" idx="6"/>
            <a:endCxn id="979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82" name="Google Shape;982;p65"/>
          <p:cNvCxnSpPr>
            <a:stCxn id="979" idx="0"/>
            <a:endCxn id="980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83" name="Google Shape;983;p65"/>
          <p:cNvCxnSpPr>
            <a:stCxn id="978" idx="6"/>
            <a:endCxn id="980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984" name="Google Shape;984;p65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85" name="Google Shape;985;p65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86" name="Google Shape;986;p65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87" name="Google Shape;987;p65"/>
          <p:cNvCxnSpPr>
            <a:stCxn id="984" idx="6"/>
            <a:endCxn id="985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88" name="Google Shape;988;p65"/>
          <p:cNvCxnSpPr>
            <a:stCxn id="985" idx="0"/>
            <a:endCxn id="986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89" name="Google Shape;989;p65"/>
          <p:cNvCxnSpPr>
            <a:stCxn id="984" idx="6"/>
            <a:endCxn id="986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90" name="Google Shape;990;p65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91" name="Google Shape;991;p65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92" name="Google Shape;992;p65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93" name="Google Shape;993;p65"/>
          <p:cNvCxnSpPr>
            <a:stCxn id="990" idx="6"/>
            <a:endCxn id="991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94" name="Google Shape;994;p65"/>
          <p:cNvCxnSpPr>
            <a:stCxn id="991" idx="0"/>
            <a:endCxn id="992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95" name="Google Shape;995;p65"/>
          <p:cNvCxnSpPr>
            <a:stCxn id="990" idx="6"/>
            <a:endCxn id="992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96" name="Google Shape;996;p65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97" name="Google Shape;997;p65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98" name="Google Shape;998;p65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99" name="Google Shape;999;p65"/>
          <p:cNvCxnSpPr>
            <a:stCxn id="996" idx="6"/>
            <a:endCxn id="997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00" name="Google Shape;1000;p65"/>
          <p:cNvCxnSpPr>
            <a:stCxn id="997" idx="0"/>
            <a:endCxn id="998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01" name="Google Shape;1001;p65"/>
          <p:cNvCxnSpPr>
            <a:stCxn id="996" idx="6"/>
            <a:endCxn id="998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002" name="Google Shape;1002;p65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03" name="Google Shape;1003;p65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04" name="Google Shape;1004;p65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05" name="Google Shape;1005;p65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06" name="Google Shape;1006;p65"/>
          <p:cNvCxnSpPr>
            <a:stCxn id="1003" idx="6"/>
            <a:endCxn id="1004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07" name="Google Shape;1007;p65"/>
          <p:cNvCxnSpPr>
            <a:stCxn id="1004" idx="0"/>
            <a:endCxn id="1005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08" name="Google Shape;1008;p65"/>
          <p:cNvCxnSpPr>
            <a:stCxn id="1003" idx="6"/>
            <a:endCxn id="1005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09" name="Google Shape;1009;p65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10" name="Google Shape;1010;p65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11" name="Google Shape;1011;p65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12" name="Google Shape;1012;p65"/>
          <p:cNvCxnSpPr>
            <a:stCxn id="1009" idx="6"/>
            <a:endCxn id="1010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13" name="Google Shape;1013;p65"/>
          <p:cNvCxnSpPr>
            <a:stCxn id="1010" idx="0"/>
            <a:endCxn id="1011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14" name="Google Shape;1014;p65"/>
          <p:cNvCxnSpPr>
            <a:stCxn id="1009" idx="6"/>
            <a:endCxn id="1011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015" name="Google Shape;1015;p65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16" name="Google Shape;1016;p65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17" name="Google Shape;1017;p65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18" name="Google Shape;1018;p65"/>
          <p:cNvCxnSpPr>
            <a:stCxn id="1015" idx="6"/>
            <a:endCxn id="1016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19" name="Google Shape;1019;p65"/>
          <p:cNvCxnSpPr>
            <a:stCxn id="1016" idx="0"/>
            <a:endCxn id="1017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20" name="Google Shape;1020;p65"/>
          <p:cNvCxnSpPr>
            <a:stCxn id="1015" idx="6"/>
            <a:endCxn id="1017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021" name="Google Shape;1021;p65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22" name="Google Shape;1022;p65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23" name="Google Shape;1023;p65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24" name="Google Shape;1024;p65"/>
          <p:cNvCxnSpPr>
            <a:stCxn id="1021" idx="6"/>
            <a:endCxn id="1022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25" name="Google Shape;1025;p65"/>
          <p:cNvCxnSpPr>
            <a:stCxn id="1022" idx="0"/>
            <a:endCxn id="1023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26" name="Google Shape;1026;p65"/>
          <p:cNvCxnSpPr>
            <a:stCxn id="1021" idx="6"/>
            <a:endCxn id="1023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27" name="Google Shape;1027;p65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28" name="Google Shape;1028;p65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6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Mathematics of Balance Theory</a:t>
            </a:r>
            <a:endParaRPr/>
          </a:p>
        </p:txBody>
      </p:sp>
      <p:sp>
        <p:nvSpPr>
          <p:cNvPr id="1034" name="Google Shape;1034;p66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Remember the rules of sign multiplication from basic algebra?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+1  * +1 = +1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+1  *  -1 =  -1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 -1  *  -1 = +1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66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36" name="Google Shape;1036;p66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37" name="Google Shape;1037;p66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38" name="Google Shape;1038;p66"/>
          <p:cNvCxnSpPr>
            <a:stCxn id="1035" idx="6"/>
            <a:endCxn id="1036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39" name="Google Shape;1039;p66"/>
          <p:cNvCxnSpPr>
            <a:stCxn id="1036" idx="0"/>
            <a:endCxn id="1037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40" name="Google Shape;1040;p66"/>
          <p:cNvCxnSpPr>
            <a:stCxn id="1035" idx="6"/>
            <a:endCxn id="1037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041" name="Google Shape;1041;p66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42" name="Google Shape;1042;p66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43" name="Google Shape;1043;p66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44" name="Google Shape;1044;p66"/>
          <p:cNvCxnSpPr>
            <a:stCxn id="1041" idx="6"/>
            <a:endCxn id="1042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45" name="Google Shape;1045;p66"/>
          <p:cNvCxnSpPr>
            <a:stCxn id="1042" idx="0"/>
            <a:endCxn id="1043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46" name="Google Shape;1046;p66"/>
          <p:cNvCxnSpPr>
            <a:stCxn id="1041" idx="6"/>
            <a:endCxn id="1043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47" name="Google Shape;1047;p66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48" name="Google Shape;1048;p66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49" name="Google Shape;1049;p66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50" name="Google Shape;1050;p66"/>
          <p:cNvCxnSpPr>
            <a:stCxn id="1047" idx="6"/>
            <a:endCxn id="1048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51" name="Google Shape;1051;p66"/>
          <p:cNvCxnSpPr>
            <a:stCxn id="1048" idx="0"/>
            <a:endCxn id="1049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52" name="Google Shape;1052;p66"/>
          <p:cNvCxnSpPr>
            <a:stCxn id="1047" idx="6"/>
            <a:endCxn id="1049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53" name="Google Shape;1053;p66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54" name="Google Shape;1054;p66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55" name="Google Shape;1055;p66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56" name="Google Shape;1056;p66"/>
          <p:cNvCxnSpPr>
            <a:stCxn id="1053" idx="6"/>
            <a:endCxn id="1054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57" name="Google Shape;1057;p66"/>
          <p:cNvCxnSpPr>
            <a:stCxn id="1054" idx="0"/>
            <a:endCxn id="1055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58" name="Google Shape;1058;p66"/>
          <p:cNvCxnSpPr>
            <a:stCxn id="1053" idx="6"/>
            <a:endCxn id="1055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059" name="Google Shape;1059;p66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60" name="Google Shape;1060;p66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61" name="Google Shape;1061;p66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62" name="Google Shape;1062;p66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63" name="Google Shape;1063;p66"/>
          <p:cNvCxnSpPr>
            <a:stCxn id="1060" idx="6"/>
            <a:endCxn id="1061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64" name="Google Shape;1064;p66"/>
          <p:cNvCxnSpPr>
            <a:stCxn id="1061" idx="0"/>
            <a:endCxn id="1062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65" name="Google Shape;1065;p66"/>
          <p:cNvCxnSpPr>
            <a:stCxn id="1060" idx="6"/>
            <a:endCxn id="1062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66" name="Google Shape;1066;p66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67" name="Google Shape;1067;p66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68" name="Google Shape;1068;p66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69" name="Google Shape;1069;p66"/>
          <p:cNvCxnSpPr>
            <a:stCxn id="1066" idx="6"/>
            <a:endCxn id="1067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70" name="Google Shape;1070;p66"/>
          <p:cNvCxnSpPr>
            <a:stCxn id="1067" idx="0"/>
            <a:endCxn id="1068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71" name="Google Shape;1071;p66"/>
          <p:cNvCxnSpPr>
            <a:stCxn id="1066" idx="6"/>
            <a:endCxn id="1068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072" name="Google Shape;1072;p66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73" name="Google Shape;1073;p66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74" name="Google Shape;1074;p66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75" name="Google Shape;1075;p66"/>
          <p:cNvCxnSpPr>
            <a:stCxn id="1072" idx="6"/>
            <a:endCxn id="1073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76" name="Google Shape;1076;p66"/>
          <p:cNvCxnSpPr>
            <a:stCxn id="1073" idx="0"/>
            <a:endCxn id="1074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77" name="Google Shape;1077;p66"/>
          <p:cNvCxnSpPr>
            <a:stCxn id="1072" idx="6"/>
            <a:endCxn id="1074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078" name="Google Shape;1078;p66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79" name="Google Shape;1079;p66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80" name="Google Shape;1080;p66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81" name="Google Shape;1081;p66"/>
          <p:cNvCxnSpPr>
            <a:stCxn id="1078" idx="6"/>
            <a:endCxn id="1079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82" name="Google Shape;1082;p66"/>
          <p:cNvCxnSpPr>
            <a:stCxn id="1079" idx="0"/>
            <a:endCxn id="1080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83" name="Google Shape;1083;p66"/>
          <p:cNvCxnSpPr>
            <a:stCxn id="1078" idx="6"/>
            <a:endCxn id="1080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84" name="Google Shape;1084;p66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85" name="Google Shape;1085;p66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66"/>
          <p:cNvSpPr/>
          <p:nvPr/>
        </p:nvSpPr>
        <p:spPr>
          <a:xfrm>
            <a:off x="3563675" y="1718788"/>
            <a:ext cx="24999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They apply to balance theory!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6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Mathematics of Balance Theory</a:t>
            </a:r>
            <a:endParaRPr/>
          </a:p>
        </p:txBody>
      </p:sp>
      <p:sp>
        <p:nvSpPr>
          <p:cNvPr id="1092" name="Google Shape;1092;p67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Turns out that if you multiply the signs of the edges of each of the </a:t>
            </a:r>
            <a:r>
              <a:rPr b="1" lang="en"/>
              <a:t>unbalanced</a:t>
            </a:r>
            <a:r>
              <a:rPr lang="en"/>
              <a:t> triads you get a </a:t>
            </a:r>
            <a:r>
              <a:rPr b="1" lang="en"/>
              <a:t>negative</a:t>
            </a:r>
            <a:r>
              <a:rPr lang="en"/>
              <a:t> number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Try it!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67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94" name="Google Shape;1094;p67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95" name="Google Shape;1095;p67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96" name="Google Shape;1096;p67"/>
          <p:cNvCxnSpPr>
            <a:stCxn id="1093" idx="6"/>
            <a:endCxn id="1094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97" name="Google Shape;1097;p67"/>
          <p:cNvCxnSpPr>
            <a:stCxn id="1094" idx="0"/>
            <a:endCxn id="1095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98" name="Google Shape;1098;p67"/>
          <p:cNvCxnSpPr>
            <a:stCxn id="1093" idx="6"/>
            <a:endCxn id="1095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099" name="Google Shape;1099;p67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00" name="Google Shape;1100;p67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01" name="Google Shape;1101;p67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02" name="Google Shape;1102;p67"/>
          <p:cNvCxnSpPr>
            <a:stCxn id="1099" idx="6"/>
            <a:endCxn id="1100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03" name="Google Shape;1103;p67"/>
          <p:cNvCxnSpPr>
            <a:stCxn id="1100" idx="0"/>
            <a:endCxn id="1101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04" name="Google Shape;1104;p67"/>
          <p:cNvCxnSpPr>
            <a:stCxn id="1099" idx="6"/>
            <a:endCxn id="1101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05" name="Google Shape;1105;p67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06" name="Google Shape;1106;p67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07" name="Google Shape;1107;p67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08" name="Google Shape;1108;p67"/>
          <p:cNvCxnSpPr>
            <a:stCxn id="1105" idx="6"/>
            <a:endCxn id="1106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09" name="Google Shape;1109;p67"/>
          <p:cNvCxnSpPr>
            <a:stCxn id="1106" idx="0"/>
            <a:endCxn id="1107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10" name="Google Shape;1110;p67"/>
          <p:cNvCxnSpPr>
            <a:stCxn id="1105" idx="6"/>
            <a:endCxn id="1107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11" name="Google Shape;1111;p67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12" name="Google Shape;1112;p67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13" name="Google Shape;1113;p67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14" name="Google Shape;1114;p67"/>
          <p:cNvCxnSpPr>
            <a:stCxn id="1111" idx="6"/>
            <a:endCxn id="1112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15" name="Google Shape;1115;p67"/>
          <p:cNvCxnSpPr>
            <a:stCxn id="1112" idx="0"/>
            <a:endCxn id="1113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16" name="Google Shape;1116;p67"/>
          <p:cNvCxnSpPr>
            <a:stCxn id="1111" idx="6"/>
            <a:endCxn id="1113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117" name="Google Shape;1117;p67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18" name="Google Shape;1118;p67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19" name="Google Shape;1119;p67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20" name="Google Shape;1120;p67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21" name="Google Shape;1121;p67"/>
          <p:cNvCxnSpPr>
            <a:stCxn id="1118" idx="6"/>
            <a:endCxn id="1119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2" name="Google Shape;1122;p67"/>
          <p:cNvCxnSpPr>
            <a:stCxn id="1119" idx="0"/>
            <a:endCxn id="1120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3" name="Google Shape;1123;p67"/>
          <p:cNvCxnSpPr>
            <a:stCxn id="1118" idx="6"/>
            <a:endCxn id="1120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24" name="Google Shape;1124;p67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25" name="Google Shape;1125;p67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26" name="Google Shape;1126;p67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27" name="Google Shape;1127;p67"/>
          <p:cNvCxnSpPr>
            <a:stCxn id="1124" idx="6"/>
            <a:endCxn id="1125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8" name="Google Shape;1128;p67"/>
          <p:cNvCxnSpPr>
            <a:stCxn id="1125" idx="0"/>
            <a:endCxn id="1126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29" name="Google Shape;1129;p67"/>
          <p:cNvCxnSpPr>
            <a:stCxn id="1124" idx="6"/>
            <a:endCxn id="1126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130" name="Google Shape;1130;p67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31" name="Google Shape;1131;p67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32" name="Google Shape;1132;p67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33" name="Google Shape;1133;p67"/>
          <p:cNvCxnSpPr>
            <a:stCxn id="1130" idx="6"/>
            <a:endCxn id="1131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34" name="Google Shape;1134;p67"/>
          <p:cNvCxnSpPr>
            <a:stCxn id="1131" idx="0"/>
            <a:endCxn id="1132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35" name="Google Shape;1135;p67"/>
          <p:cNvCxnSpPr>
            <a:stCxn id="1130" idx="6"/>
            <a:endCxn id="1132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136" name="Google Shape;1136;p67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37" name="Google Shape;1137;p67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38" name="Google Shape;1138;p67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39" name="Google Shape;1139;p67"/>
          <p:cNvCxnSpPr>
            <a:stCxn id="1136" idx="6"/>
            <a:endCxn id="1137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40" name="Google Shape;1140;p67"/>
          <p:cNvCxnSpPr>
            <a:stCxn id="1137" idx="0"/>
            <a:endCxn id="1138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41" name="Google Shape;1141;p67"/>
          <p:cNvCxnSpPr>
            <a:stCxn id="1136" idx="6"/>
            <a:endCxn id="1138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42" name="Google Shape;1142;p67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43" name="Google Shape;1143;p67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6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Mathematics of Balance Theory</a:t>
            </a:r>
            <a:endParaRPr/>
          </a:p>
        </p:txBody>
      </p:sp>
      <p:sp>
        <p:nvSpPr>
          <p:cNvPr id="1149" name="Google Shape;1149;p68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Turns out that if you multiply the signs of the edges of each of the </a:t>
            </a:r>
            <a:r>
              <a:rPr b="1" lang="en"/>
              <a:t>unbalanced</a:t>
            </a:r>
            <a:r>
              <a:rPr lang="en"/>
              <a:t> triads you get a </a:t>
            </a:r>
            <a:r>
              <a:rPr b="1" lang="en"/>
              <a:t>negative</a:t>
            </a:r>
            <a:r>
              <a:rPr lang="en"/>
              <a:t> number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+1</a:t>
            </a:r>
            <a:r>
              <a:rPr baseline="-25000" lang="en"/>
              <a:t>PO </a:t>
            </a:r>
            <a:r>
              <a:rPr lang="en"/>
              <a:t>* +1</a:t>
            </a:r>
            <a:r>
              <a:rPr baseline="-25000" lang="en"/>
              <a:t>OQ</a:t>
            </a:r>
            <a:r>
              <a:rPr lang="en"/>
              <a:t> * -1</a:t>
            </a:r>
            <a:r>
              <a:rPr baseline="-25000" lang="en"/>
              <a:t>PQ</a:t>
            </a:r>
            <a:r>
              <a:rPr lang="en"/>
              <a:t> =  -1</a:t>
            </a:r>
            <a:r>
              <a:rPr baseline="-25000" lang="en"/>
              <a:t>POQ</a:t>
            </a:r>
            <a:endParaRPr baseline="-25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68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51" name="Google Shape;1151;p68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52" name="Google Shape;1152;p68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53" name="Google Shape;1153;p68"/>
          <p:cNvCxnSpPr>
            <a:stCxn id="1150" idx="6"/>
            <a:endCxn id="1151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54" name="Google Shape;1154;p68"/>
          <p:cNvCxnSpPr>
            <a:stCxn id="1151" idx="0"/>
            <a:endCxn id="1152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55" name="Google Shape;1155;p68"/>
          <p:cNvCxnSpPr>
            <a:stCxn id="1150" idx="6"/>
            <a:endCxn id="1152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156" name="Google Shape;1156;p68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57" name="Google Shape;1157;p68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58" name="Google Shape;1158;p68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59" name="Google Shape;1159;p68"/>
          <p:cNvCxnSpPr>
            <a:stCxn id="1156" idx="6"/>
            <a:endCxn id="1157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60" name="Google Shape;1160;p68"/>
          <p:cNvCxnSpPr>
            <a:stCxn id="1157" idx="0"/>
            <a:endCxn id="1158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61" name="Google Shape;1161;p68"/>
          <p:cNvCxnSpPr>
            <a:stCxn id="1156" idx="6"/>
            <a:endCxn id="1158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62" name="Google Shape;1162;p68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63" name="Google Shape;1163;p68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64" name="Google Shape;1164;p68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65" name="Google Shape;1165;p68"/>
          <p:cNvCxnSpPr>
            <a:stCxn id="1162" idx="6"/>
            <a:endCxn id="1163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66" name="Google Shape;1166;p68"/>
          <p:cNvCxnSpPr>
            <a:stCxn id="1163" idx="0"/>
            <a:endCxn id="1164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67" name="Google Shape;1167;p68"/>
          <p:cNvCxnSpPr>
            <a:stCxn id="1162" idx="6"/>
            <a:endCxn id="1164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68" name="Google Shape;1168;p68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69" name="Google Shape;1169;p68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70" name="Google Shape;1170;p68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71" name="Google Shape;1171;p68"/>
          <p:cNvCxnSpPr>
            <a:stCxn id="1168" idx="6"/>
            <a:endCxn id="1169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72" name="Google Shape;1172;p68"/>
          <p:cNvCxnSpPr>
            <a:stCxn id="1169" idx="0"/>
            <a:endCxn id="1170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73" name="Google Shape;1173;p68"/>
          <p:cNvCxnSpPr>
            <a:stCxn id="1168" idx="6"/>
            <a:endCxn id="1170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174" name="Google Shape;1174;p68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75" name="Google Shape;1175;p68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76" name="Google Shape;1176;p68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77" name="Google Shape;1177;p68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78" name="Google Shape;1178;p68"/>
          <p:cNvCxnSpPr>
            <a:stCxn id="1175" idx="6"/>
            <a:endCxn id="1176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79" name="Google Shape;1179;p68"/>
          <p:cNvCxnSpPr>
            <a:stCxn id="1176" idx="0"/>
            <a:endCxn id="1177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80" name="Google Shape;1180;p68"/>
          <p:cNvCxnSpPr>
            <a:stCxn id="1175" idx="6"/>
            <a:endCxn id="1177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81" name="Google Shape;1181;p68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82" name="Google Shape;1182;p68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83" name="Google Shape;1183;p68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84" name="Google Shape;1184;p68"/>
          <p:cNvCxnSpPr>
            <a:stCxn id="1181" idx="6"/>
            <a:endCxn id="1182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85" name="Google Shape;1185;p68"/>
          <p:cNvCxnSpPr>
            <a:stCxn id="1182" idx="0"/>
            <a:endCxn id="1183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86" name="Google Shape;1186;p68"/>
          <p:cNvCxnSpPr>
            <a:stCxn id="1181" idx="6"/>
            <a:endCxn id="1183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187" name="Google Shape;1187;p68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88" name="Google Shape;1188;p68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89" name="Google Shape;1189;p68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90" name="Google Shape;1190;p68"/>
          <p:cNvCxnSpPr>
            <a:stCxn id="1187" idx="6"/>
            <a:endCxn id="1188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91" name="Google Shape;1191;p68"/>
          <p:cNvCxnSpPr>
            <a:stCxn id="1188" idx="0"/>
            <a:endCxn id="1189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92" name="Google Shape;1192;p68"/>
          <p:cNvCxnSpPr>
            <a:stCxn id="1187" idx="6"/>
            <a:endCxn id="1189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193" name="Google Shape;1193;p68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94" name="Google Shape;1194;p68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95" name="Google Shape;1195;p68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96" name="Google Shape;1196;p68"/>
          <p:cNvCxnSpPr>
            <a:stCxn id="1193" idx="6"/>
            <a:endCxn id="1194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97" name="Google Shape;1197;p68"/>
          <p:cNvCxnSpPr>
            <a:stCxn id="1194" idx="0"/>
            <a:endCxn id="1195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98" name="Google Shape;1198;p68"/>
          <p:cNvCxnSpPr>
            <a:stCxn id="1193" idx="6"/>
            <a:endCxn id="1195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99" name="Google Shape;1199;p68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00" name="Google Shape;1200;p68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68"/>
          <p:cNvSpPr/>
          <p:nvPr/>
        </p:nvSpPr>
        <p:spPr>
          <a:xfrm>
            <a:off x="192175" y="2399738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6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Mathematics of Balance Theory</a:t>
            </a:r>
            <a:endParaRPr/>
          </a:p>
        </p:txBody>
      </p:sp>
      <p:sp>
        <p:nvSpPr>
          <p:cNvPr id="1207" name="Google Shape;1207;p69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Turns out that if you multiply the signs of the edges of each of the </a:t>
            </a:r>
            <a:r>
              <a:rPr b="1" lang="en"/>
              <a:t>unbalanced</a:t>
            </a:r>
            <a:r>
              <a:rPr lang="en"/>
              <a:t> triads you get a </a:t>
            </a:r>
            <a:r>
              <a:rPr b="1" lang="en"/>
              <a:t>negative</a:t>
            </a:r>
            <a:r>
              <a:rPr lang="en"/>
              <a:t> number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+1</a:t>
            </a:r>
            <a:r>
              <a:rPr baseline="-25000" lang="en"/>
              <a:t>PO </a:t>
            </a:r>
            <a:r>
              <a:rPr lang="en"/>
              <a:t>* -1</a:t>
            </a:r>
            <a:r>
              <a:rPr baseline="-25000" lang="en"/>
              <a:t>OQ</a:t>
            </a:r>
            <a:r>
              <a:rPr lang="en"/>
              <a:t> * +1</a:t>
            </a:r>
            <a:r>
              <a:rPr baseline="-25000" lang="en"/>
              <a:t>PQ</a:t>
            </a:r>
            <a:r>
              <a:rPr lang="en"/>
              <a:t> =  -1</a:t>
            </a:r>
            <a:r>
              <a:rPr baseline="-25000" lang="en"/>
              <a:t>POQ</a:t>
            </a:r>
            <a:endParaRPr baseline="-25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69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09" name="Google Shape;1209;p69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10" name="Google Shape;1210;p69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11" name="Google Shape;1211;p69"/>
          <p:cNvCxnSpPr>
            <a:stCxn id="1208" idx="6"/>
            <a:endCxn id="1209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12" name="Google Shape;1212;p69"/>
          <p:cNvCxnSpPr>
            <a:stCxn id="1209" idx="0"/>
            <a:endCxn id="1210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13" name="Google Shape;1213;p69"/>
          <p:cNvCxnSpPr>
            <a:stCxn id="1208" idx="6"/>
            <a:endCxn id="1210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214" name="Google Shape;1214;p69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15" name="Google Shape;1215;p69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16" name="Google Shape;1216;p69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17" name="Google Shape;1217;p69"/>
          <p:cNvCxnSpPr>
            <a:stCxn id="1214" idx="6"/>
            <a:endCxn id="1215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18" name="Google Shape;1218;p69"/>
          <p:cNvCxnSpPr>
            <a:stCxn id="1215" idx="0"/>
            <a:endCxn id="1216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19" name="Google Shape;1219;p69"/>
          <p:cNvCxnSpPr>
            <a:stCxn id="1214" idx="6"/>
            <a:endCxn id="1216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20" name="Google Shape;1220;p69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21" name="Google Shape;1221;p69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22" name="Google Shape;1222;p69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23" name="Google Shape;1223;p69"/>
          <p:cNvCxnSpPr>
            <a:stCxn id="1220" idx="6"/>
            <a:endCxn id="1221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24" name="Google Shape;1224;p69"/>
          <p:cNvCxnSpPr>
            <a:stCxn id="1221" idx="0"/>
            <a:endCxn id="1222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25" name="Google Shape;1225;p69"/>
          <p:cNvCxnSpPr>
            <a:stCxn id="1220" idx="6"/>
            <a:endCxn id="1222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26" name="Google Shape;1226;p69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27" name="Google Shape;1227;p69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28" name="Google Shape;1228;p69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29" name="Google Shape;1229;p69"/>
          <p:cNvCxnSpPr>
            <a:stCxn id="1226" idx="6"/>
            <a:endCxn id="1227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30" name="Google Shape;1230;p69"/>
          <p:cNvCxnSpPr>
            <a:stCxn id="1227" idx="0"/>
            <a:endCxn id="1228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31" name="Google Shape;1231;p69"/>
          <p:cNvCxnSpPr>
            <a:stCxn id="1226" idx="6"/>
            <a:endCxn id="1228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232" name="Google Shape;1232;p69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33" name="Google Shape;1233;p69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34" name="Google Shape;1234;p69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35" name="Google Shape;1235;p69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36" name="Google Shape;1236;p69"/>
          <p:cNvCxnSpPr>
            <a:stCxn id="1233" idx="6"/>
            <a:endCxn id="1234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37" name="Google Shape;1237;p69"/>
          <p:cNvCxnSpPr>
            <a:stCxn id="1234" idx="0"/>
            <a:endCxn id="1235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38" name="Google Shape;1238;p69"/>
          <p:cNvCxnSpPr>
            <a:stCxn id="1233" idx="6"/>
            <a:endCxn id="1235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39" name="Google Shape;1239;p69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40" name="Google Shape;1240;p69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41" name="Google Shape;1241;p69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42" name="Google Shape;1242;p69"/>
          <p:cNvCxnSpPr>
            <a:stCxn id="1239" idx="6"/>
            <a:endCxn id="1240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43" name="Google Shape;1243;p69"/>
          <p:cNvCxnSpPr>
            <a:stCxn id="1240" idx="0"/>
            <a:endCxn id="1241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44" name="Google Shape;1244;p69"/>
          <p:cNvCxnSpPr>
            <a:stCxn id="1239" idx="6"/>
            <a:endCxn id="1241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245" name="Google Shape;1245;p69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46" name="Google Shape;1246;p69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47" name="Google Shape;1247;p69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48" name="Google Shape;1248;p69"/>
          <p:cNvCxnSpPr>
            <a:stCxn id="1245" idx="6"/>
            <a:endCxn id="1246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49" name="Google Shape;1249;p69"/>
          <p:cNvCxnSpPr>
            <a:stCxn id="1246" idx="0"/>
            <a:endCxn id="1247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50" name="Google Shape;1250;p69"/>
          <p:cNvCxnSpPr>
            <a:stCxn id="1245" idx="6"/>
            <a:endCxn id="1247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251" name="Google Shape;1251;p69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52" name="Google Shape;1252;p69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53" name="Google Shape;1253;p69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54" name="Google Shape;1254;p69"/>
          <p:cNvCxnSpPr>
            <a:stCxn id="1251" idx="6"/>
            <a:endCxn id="1252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55" name="Google Shape;1255;p69"/>
          <p:cNvCxnSpPr>
            <a:stCxn id="1252" idx="0"/>
            <a:endCxn id="1253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56" name="Google Shape;1256;p69"/>
          <p:cNvCxnSpPr>
            <a:stCxn id="1251" idx="6"/>
            <a:endCxn id="1253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57" name="Google Shape;1257;p69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58" name="Google Shape;1258;p69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69"/>
          <p:cNvSpPr/>
          <p:nvPr/>
        </p:nvSpPr>
        <p:spPr>
          <a:xfrm>
            <a:off x="1920175" y="2399738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7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Mathematics of Balance Theory</a:t>
            </a:r>
            <a:endParaRPr/>
          </a:p>
        </p:txBody>
      </p:sp>
      <p:sp>
        <p:nvSpPr>
          <p:cNvPr id="1265" name="Google Shape;1265;p70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Conversely, if you multiply the sign of the edges of the </a:t>
            </a:r>
            <a:r>
              <a:rPr b="1" lang="en"/>
              <a:t>balanced</a:t>
            </a:r>
            <a:r>
              <a:rPr lang="en"/>
              <a:t> triads you get a </a:t>
            </a:r>
            <a:r>
              <a:rPr b="1" lang="en"/>
              <a:t>positive</a:t>
            </a:r>
            <a:r>
              <a:rPr lang="en"/>
              <a:t> number: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-1</a:t>
            </a:r>
            <a:r>
              <a:rPr baseline="-25000" lang="en"/>
              <a:t>PO </a:t>
            </a:r>
            <a:r>
              <a:rPr lang="en"/>
              <a:t>* +1</a:t>
            </a:r>
            <a:r>
              <a:rPr baseline="-25000" lang="en"/>
              <a:t>OQ</a:t>
            </a:r>
            <a:r>
              <a:rPr lang="en"/>
              <a:t> * -1</a:t>
            </a:r>
            <a:r>
              <a:rPr baseline="-25000" lang="en"/>
              <a:t>PQ</a:t>
            </a:r>
            <a:r>
              <a:rPr lang="en"/>
              <a:t> =  +1</a:t>
            </a:r>
            <a:r>
              <a:rPr baseline="-25000" lang="en"/>
              <a:t>POQ</a:t>
            </a:r>
            <a:endParaRPr baseline="-250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70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67" name="Google Shape;1267;p70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68" name="Google Shape;1268;p70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69" name="Google Shape;1269;p70"/>
          <p:cNvCxnSpPr>
            <a:stCxn id="1266" idx="6"/>
            <a:endCxn id="1267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70" name="Google Shape;1270;p70"/>
          <p:cNvCxnSpPr>
            <a:stCxn id="1267" idx="0"/>
            <a:endCxn id="1268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71" name="Google Shape;1271;p70"/>
          <p:cNvCxnSpPr>
            <a:stCxn id="1266" idx="6"/>
            <a:endCxn id="1268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272" name="Google Shape;1272;p70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73" name="Google Shape;1273;p70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74" name="Google Shape;1274;p70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75" name="Google Shape;1275;p70"/>
          <p:cNvCxnSpPr>
            <a:stCxn id="1272" idx="6"/>
            <a:endCxn id="1273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76" name="Google Shape;1276;p70"/>
          <p:cNvCxnSpPr>
            <a:stCxn id="1273" idx="0"/>
            <a:endCxn id="1274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77" name="Google Shape;1277;p70"/>
          <p:cNvCxnSpPr>
            <a:stCxn id="1272" idx="6"/>
            <a:endCxn id="1274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78" name="Google Shape;1278;p70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79" name="Google Shape;1279;p70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80" name="Google Shape;1280;p70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81" name="Google Shape;1281;p70"/>
          <p:cNvCxnSpPr>
            <a:stCxn id="1278" idx="6"/>
            <a:endCxn id="1279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82" name="Google Shape;1282;p70"/>
          <p:cNvCxnSpPr>
            <a:stCxn id="1279" idx="0"/>
            <a:endCxn id="1280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83" name="Google Shape;1283;p70"/>
          <p:cNvCxnSpPr>
            <a:stCxn id="1278" idx="6"/>
            <a:endCxn id="1280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84" name="Google Shape;1284;p70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85" name="Google Shape;1285;p70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86" name="Google Shape;1286;p70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87" name="Google Shape;1287;p70"/>
          <p:cNvCxnSpPr>
            <a:stCxn id="1284" idx="6"/>
            <a:endCxn id="1285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88" name="Google Shape;1288;p70"/>
          <p:cNvCxnSpPr>
            <a:stCxn id="1285" idx="0"/>
            <a:endCxn id="1286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89" name="Google Shape;1289;p70"/>
          <p:cNvCxnSpPr>
            <a:stCxn id="1284" idx="6"/>
            <a:endCxn id="1286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290" name="Google Shape;1290;p70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91" name="Google Shape;1291;p70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92" name="Google Shape;1292;p70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93" name="Google Shape;1293;p70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94" name="Google Shape;1294;p70"/>
          <p:cNvCxnSpPr>
            <a:stCxn id="1291" idx="6"/>
            <a:endCxn id="1292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95" name="Google Shape;1295;p70"/>
          <p:cNvCxnSpPr>
            <a:stCxn id="1292" idx="0"/>
            <a:endCxn id="1293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96" name="Google Shape;1296;p70"/>
          <p:cNvCxnSpPr>
            <a:stCxn id="1291" idx="6"/>
            <a:endCxn id="1293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97" name="Google Shape;1297;p70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98" name="Google Shape;1298;p70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99" name="Google Shape;1299;p70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00" name="Google Shape;1300;p70"/>
          <p:cNvCxnSpPr>
            <a:stCxn id="1297" idx="6"/>
            <a:endCxn id="1298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01" name="Google Shape;1301;p70"/>
          <p:cNvCxnSpPr>
            <a:stCxn id="1298" idx="0"/>
            <a:endCxn id="1299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02" name="Google Shape;1302;p70"/>
          <p:cNvCxnSpPr>
            <a:stCxn id="1297" idx="6"/>
            <a:endCxn id="1299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303" name="Google Shape;1303;p70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04" name="Google Shape;1304;p70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05" name="Google Shape;1305;p70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06" name="Google Shape;1306;p70"/>
          <p:cNvCxnSpPr>
            <a:stCxn id="1303" idx="6"/>
            <a:endCxn id="1304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07" name="Google Shape;1307;p70"/>
          <p:cNvCxnSpPr>
            <a:stCxn id="1304" idx="0"/>
            <a:endCxn id="1305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08" name="Google Shape;1308;p70"/>
          <p:cNvCxnSpPr>
            <a:stCxn id="1303" idx="6"/>
            <a:endCxn id="1305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309" name="Google Shape;1309;p70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10" name="Google Shape;1310;p70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11" name="Google Shape;1311;p70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12" name="Google Shape;1312;p70"/>
          <p:cNvCxnSpPr>
            <a:stCxn id="1309" idx="6"/>
            <a:endCxn id="1310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13" name="Google Shape;1313;p70"/>
          <p:cNvCxnSpPr>
            <a:stCxn id="1310" idx="0"/>
            <a:endCxn id="1311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14" name="Google Shape;1314;p70"/>
          <p:cNvCxnSpPr>
            <a:stCxn id="1309" idx="6"/>
            <a:endCxn id="1311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15" name="Google Shape;1315;p70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16" name="Google Shape;1316;p70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70"/>
          <p:cNvSpPr/>
          <p:nvPr/>
        </p:nvSpPr>
        <p:spPr>
          <a:xfrm>
            <a:off x="5722263" y="3524463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7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Mathematics of Balance Theory</a:t>
            </a:r>
            <a:endParaRPr/>
          </a:p>
        </p:txBody>
      </p:sp>
      <p:sp>
        <p:nvSpPr>
          <p:cNvPr id="1323" name="Google Shape;1323;p71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Conversely, if you multiply the sign of the edges of the </a:t>
            </a:r>
            <a:r>
              <a:rPr b="1" lang="en"/>
              <a:t>balanced</a:t>
            </a:r>
            <a:r>
              <a:rPr lang="en"/>
              <a:t> triads you get a </a:t>
            </a:r>
            <a:r>
              <a:rPr b="1" lang="en"/>
              <a:t>positive</a:t>
            </a:r>
            <a:r>
              <a:rPr lang="en"/>
              <a:t> number: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+1</a:t>
            </a:r>
            <a:r>
              <a:rPr baseline="-25000" lang="en"/>
              <a:t>PO </a:t>
            </a:r>
            <a:r>
              <a:rPr lang="en"/>
              <a:t>* -1</a:t>
            </a:r>
            <a:r>
              <a:rPr baseline="-25000" lang="en"/>
              <a:t>OQ</a:t>
            </a:r>
            <a:r>
              <a:rPr lang="en"/>
              <a:t> * -1</a:t>
            </a:r>
            <a:r>
              <a:rPr baseline="-25000" lang="en"/>
              <a:t>PQ</a:t>
            </a:r>
            <a:r>
              <a:rPr lang="en"/>
              <a:t> =  +1</a:t>
            </a:r>
            <a:r>
              <a:rPr baseline="-25000" lang="en"/>
              <a:t>POQ</a:t>
            </a:r>
            <a:endParaRPr baseline="-250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71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25" name="Google Shape;1325;p71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26" name="Google Shape;1326;p71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27" name="Google Shape;1327;p71"/>
          <p:cNvCxnSpPr>
            <a:stCxn id="1324" idx="6"/>
            <a:endCxn id="1325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28" name="Google Shape;1328;p71"/>
          <p:cNvCxnSpPr>
            <a:stCxn id="1325" idx="0"/>
            <a:endCxn id="1326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29" name="Google Shape;1329;p71"/>
          <p:cNvCxnSpPr>
            <a:stCxn id="1324" idx="6"/>
            <a:endCxn id="1326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330" name="Google Shape;1330;p71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31" name="Google Shape;1331;p71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32" name="Google Shape;1332;p71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33" name="Google Shape;1333;p71"/>
          <p:cNvCxnSpPr>
            <a:stCxn id="1330" idx="6"/>
            <a:endCxn id="1331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34" name="Google Shape;1334;p71"/>
          <p:cNvCxnSpPr>
            <a:stCxn id="1331" idx="0"/>
            <a:endCxn id="1332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35" name="Google Shape;1335;p71"/>
          <p:cNvCxnSpPr>
            <a:stCxn id="1330" idx="6"/>
            <a:endCxn id="1332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36" name="Google Shape;1336;p71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37" name="Google Shape;1337;p71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38" name="Google Shape;1338;p71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39" name="Google Shape;1339;p71"/>
          <p:cNvCxnSpPr>
            <a:stCxn id="1336" idx="6"/>
            <a:endCxn id="1337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40" name="Google Shape;1340;p71"/>
          <p:cNvCxnSpPr>
            <a:stCxn id="1337" idx="0"/>
            <a:endCxn id="1338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41" name="Google Shape;1341;p71"/>
          <p:cNvCxnSpPr>
            <a:stCxn id="1336" idx="6"/>
            <a:endCxn id="1338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42" name="Google Shape;1342;p71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43" name="Google Shape;1343;p71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44" name="Google Shape;1344;p71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45" name="Google Shape;1345;p71"/>
          <p:cNvCxnSpPr>
            <a:stCxn id="1342" idx="6"/>
            <a:endCxn id="1343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46" name="Google Shape;1346;p71"/>
          <p:cNvCxnSpPr>
            <a:stCxn id="1343" idx="0"/>
            <a:endCxn id="1344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47" name="Google Shape;1347;p71"/>
          <p:cNvCxnSpPr>
            <a:stCxn id="1342" idx="6"/>
            <a:endCxn id="1344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348" name="Google Shape;1348;p71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49" name="Google Shape;1349;p71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50" name="Google Shape;1350;p71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51" name="Google Shape;1351;p71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52" name="Google Shape;1352;p71"/>
          <p:cNvCxnSpPr>
            <a:stCxn id="1349" idx="6"/>
            <a:endCxn id="1350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53" name="Google Shape;1353;p71"/>
          <p:cNvCxnSpPr>
            <a:stCxn id="1350" idx="0"/>
            <a:endCxn id="1351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54" name="Google Shape;1354;p71"/>
          <p:cNvCxnSpPr>
            <a:stCxn id="1349" idx="6"/>
            <a:endCxn id="1351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55" name="Google Shape;1355;p71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56" name="Google Shape;1356;p71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57" name="Google Shape;1357;p71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58" name="Google Shape;1358;p71"/>
          <p:cNvCxnSpPr>
            <a:stCxn id="1355" idx="6"/>
            <a:endCxn id="1356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59" name="Google Shape;1359;p71"/>
          <p:cNvCxnSpPr>
            <a:stCxn id="1356" idx="0"/>
            <a:endCxn id="1357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60" name="Google Shape;1360;p71"/>
          <p:cNvCxnSpPr>
            <a:stCxn id="1355" idx="6"/>
            <a:endCxn id="1357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361" name="Google Shape;1361;p71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62" name="Google Shape;1362;p71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63" name="Google Shape;1363;p71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64" name="Google Shape;1364;p71"/>
          <p:cNvCxnSpPr>
            <a:stCxn id="1361" idx="6"/>
            <a:endCxn id="1362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65" name="Google Shape;1365;p71"/>
          <p:cNvCxnSpPr>
            <a:stCxn id="1362" idx="0"/>
            <a:endCxn id="1363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66" name="Google Shape;1366;p71"/>
          <p:cNvCxnSpPr>
            <a:stCxn id="1361" idx="6"/>
            <a:endCxn id="1363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367" name="Google Shape;1367;p71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68" name="Google Shape;1368;p71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69" name="Google Shape;1369;p71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70" name="Google Shape;1370;p71"/>
          <p:cNvCxnSpPr>
            <a:stCxn id="1367" idx="6"/>
            <a:endCxn id="1368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71" name="Google Shape;1371;p71"/>
          <p:cNvCxnSpPr>
            <a:stCxn id="1368" idx="0"/>
            <a:endCxn id="1369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72" name="Google Shape;1372;p71"/>
          <p:cNvCxnSpPr>
            <a:stCxn id="1367" idx="6"/>
            <a:endCxn id="1369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73" name="Google Shape;1373;p71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74" name="Google Shape;1374;p71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71"/>
          <p:cNvSpPr/>
          <p:nvPr/>
        </p:nvSpPr>
        <p:spPr>
          <a:xfrm>
            <a:off x="7379575" y="2414038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7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Mathematics of Balance Theory</a:t>
            </a:r>
            <a:endParaRPr/>
          </a:p>
        </p:txBody>
      </p:sp>
      <p:sp>
        <p:nvSpPr>
          <p:cNvPr id="1381" name="Google Shape;1381;p72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link between mathematics and the logic of social relations!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“A friend of a friend is a friend”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+1</a:t>
            </a:r>
            <a:r>
              <a:rPr baseline="-25000" lang="en"/>
              <a:t>PO </a:t>
            </a:r>
            <a:r>
              <a:rPr lang="en"/>
              <a:t>* +1</a:t>
            </a:r>
            <a:r>
              <a:rPr baseline="-25000" lang="en"/>
              <a:t>OQ</a:t>
            </a:r>
            <a:r>
              <a:rPr lang="en"/>
              <a:t> * +1</a:t>
            </a:r>
            <a:r>
              <a:rPr baseline="-25000" lang="en"/>
              <a:t>PQ</a:t>
            </a:r>
            <a:r>
              <a:rPr lang="en"/>
              <a:t> =  +1</a:t>
            </a:r>
            <a:r>
              <a:rPr baseline="-25000" lang="en"/>
              <a:t>POQ</a:t>
            </a:r>
            <a:endParaRPr baseline="-250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72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83" name="Google Shape;1383;p72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84" name="Google Shape;1384;p72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85" name="Google Shape;1385;p72"/>
          <p:cNvCxnSpPr>
            <a:stCxn id="1382" idx="6"/>
            <a:endCxn id="1383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86" name="Google Shape;1386;p72"/>
          <p:cNvCxnSpPr>
            <a:stCxn id="1383" idx="0"/>
            <a:endCxn id="1384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87" name="Google Shape;1387;p72"/>
          <p:cNvCxnSpPr>
            <a:stCxn id="1382" idx="6"/>
            <a:endCxn id="1384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388" name="Google Shape;1388;p72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89" name="Google Shape;1389;p72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90" name="Google Shape;1390;p72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91" name="Google Shape;1391;p72"/>
          <p:cNvCxnSpPr>
            <a:stCxn id="1388" idx="6"/>
            <a:endCxn id="1389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92" name="Google Shape;1392;p72"/>
          <p:cNvCxnSpPr>
            <a:stCxn id="1389" idx="0"/>
            <a:endCxn id="1390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93" name="Google Shape;1393;p72"/>
          <p:cNvCxnSpPr>
            <a:stCxn id="1388" idx="6"/>
            <a:endCxn id="1390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94" name="Google Shape;1394;p72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95" name="Google Shape;1395;p72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96" name="Google Shape;1396;p72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97" name="Google Shape;1397;p72"/>
          <p:cNvCxnSpPr>
            <a:stCxn id="1394" idx="6"/>
            <a:endCxn id="1395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98" name="Google Shape;1398;p72"/>
          <p:cNvCxnSpPr>
            <a:stCxn id="1395" idx="0"/>
            <a:endCxn id="1396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99" name="Google Shape;1399;p72"/>
          <p:cNvCxnSpPr>
            <a:stCxn id="1394" idx="6"/>
            <a:endCxn id="1396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00" name="Google Shape;1400;p72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01" name="Google Shape;1401;p72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02" name="Google Shape;1402;p72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03" name="Google Shape;1403;p72"/>
          <p:cNvCxnSpPr>
            <a:stCxn id="1400" idx="6"/>
            <a:endCxn id="1401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404" name="Google Shape;1404;p72"/>
          <p:cNvCxnSpPr>
            <a:stCxn id="1401" idx="0"/>
            <a:endCxn id="1402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405" name="Google Shape;1405;p72"/>
          <p:cNvCxnSpPr>
            <a:stCxn id="1400" idx="6"/>
            <a:endCxn id="1402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406" name="Google Shape;1406;p72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07" name="Google Shape;1407;p72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08" name="Google Shape;1408;p72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09" name="Google Shape;1409;p72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10" name="Google Shape;1410;p72"/>
          <p:cNvCxnSpPr>
            <a:stCxn id="1407" idx="6"/>
            <a:endCxn id="1408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11" name="Google Shape;1411;p72"/>
          <p:cNvCxnSpPr>
            <a:stCxn id="1408" idx="0"/>
            <a:endCxn id="1409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12" name="Google Shape;1412;p72"/>
          <p:cNvCxnSpPr>
            <a:stCxn id="1407" idx="6"/>
            <a:endCxn id="1409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13" name="Google Shape;1413;p72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14" name="Google Shape;1414;p72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15" name="Google Shape;1415;p72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16" name="Google Shape;1416;p72"/>
          <p:cNvCxnSpPr>
            <a:stCxn id="1413" idx="6"/>
            <a:endCxn id="1414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17" name="Google Shape;1417;p72"/>
          <p:cNvCxnSpPr>
            <a:stCxn id="1414" idx="0"/>
            <a:endCxn id="1415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418" name="Google Shape;1418;p72"/>
          <p:cNvCxnSpPr>
            <a:stCxn id="1413" idx="6"/>
            <a:endCxn id="1415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419" name="Google Shape;1419;p72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20" name="Google Shape;1420;p72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21" name="Google Shape;1421;p72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22" name="Google Shape;1422;p72"/>
          <p:cNvCxnSpPr>
            <a:stCxn id="1419" idx="6"/>
            <a:endCxn id="1420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423" name="Google Shape;1423;p72"/>
          <p:cNvCxnSpPr>
            <a:stCxn id="1420" idx="0"/>
            <a:endCxn id="1421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24" name="Google Shape;1424;p72"/>
          <p:cNvCxnSpPr>
            <a:stCxn id="1419" idx="6"/>
            <a:endCxn id="1421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425" name="Google Shape;1425;p72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26" name="Google Shape;1426;p72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27" name="Google Shape;1427;p72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28" name="Google Shape;1428;p72"/>
          <p:cNvCxnSpPr>
            <a:stCxn id="1425" idx="6"/>
            <a:endCxn id="1426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429" name="Google Shape;1429;p72"/>
          <p:cNvCxnSpPr>
            <a:stCxn id="1426" idx="0"/>
            <a:endCxn id="1427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430" name="Google Shape;1430;p72"/>
          <p:cNvCxnSpPr>
            <a:stCxn id="1425" idx="6"/>
            <a:endCxn id="1427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31" name="Google Shape;1431;p72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32" name="Google Shape;1432;p72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72"/>
          <p:cNvSpPr/>
          <p:nvPr/>
        </p:nvSpPr>
        <p:spPr>
          <a:xfrm>
            <a:off x="5722263" y="2399738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7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Mathematics of Balance Theory</a:t>
            </a:r>
            <a:endParaRPr/>
          </a:p>
        </p:txBody>
      </p:sp>
      <p:sp>
        <p:nvSpPr>
          <p:cNvPr id="1439" name="Google Shape;1439;p73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link between mathematics and the logic of social relations!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“A friend of an enemy is an enemy”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-1</a:t>
            </a:r>
            <a:r>
              <a:rPr baseline="-25000" lang="en"/>
              <a:t>PO </a:t>
            </a:r>
            <a:r>
              <a:rPr lang="en"/>
              <a:t>* +1</a:t>
            </a:r>
            <a:r>
              <a:rPr baseline="-25000" lang="en"/>
              <a:t>OQ</a:t>
            </a:r>
            <a:r>
              <a:rPr lang="en"/>
              <a:t> * -1</a:t>
            </a:r>
            <a:r>
              <a:rPr baseline="-25000" lang="en"/>
              <a:t>PQ</a:t>
            </a:r>
            <a:r>
              <a:rPr lang="en"/>
              <a:t> =  +1</a:t>
            </a:r>
            <a:r>
              <a:rPr baseline="-25000" lang="en"/>
              <a:t>POQ</a:t>
            </a:r>
            <a:endParaRPr baseline="-250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73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41" name="Google Shape;1441;p73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42" name="Google Shape;1442;p73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43" name="Google Shape;1443;p73"/>
          <p:cNvCxnSpPr>
            <a:stCxn id="1440" idx="6"/>
            <a:endCxn id="1441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44" name="Google Shape;1444;p73"/>
          <p:cNvCxnSpPr>
            <a:stCxn id="1441" idx="0"/>
            <a:endCxn id="1442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45" name="Google Shape;1445;p73"/>
          <p:cNvCxnSpPr>
            <a:stCxn id="1440" idx="6"/>
            <a:endCxn id="1442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446" name="Google Shape;1446;p73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47" name="Google Shape;1447;p73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48" name="Google Shape;1448;p73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49" name="Google Shape;1449;p73"/>
          <p:cNvCxnSpPr>
            <a:stCxn id="1446" idx="6"/>
            <a:endCxn id="1447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50" name="Google Shape;1450;p73"/>
          <p:cNvCxnSpPr>
            <a:stCxn id="1447" idx="0"/>
            <a:endCxn id="1448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451" name="Google Shape;1451;p73"/>
          <p:cNvCxnSpPr>
            <a:stCxn id="1446" idx="6"/>
            <a:endCxn id="1448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52" name="Google Shape;1452;p73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53" name="Google Shape;1453;p73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54" name="Google Shape;1454;p73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55" name="Google Shape;1455;p73"/>
          <p:cNvCxnSpPr>
            <a:stCxn id="1452" idx="6"/>
            <a:endCxn id="1453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456" name="Google Shape;1456;p73"/>
          <p:cNvCxnSpPr>
            <a:stCxn id="1453" idx="0"/>
            <a:endCxn id="1454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57" name="Google Shape;1457;p73"/>
          <p:cNvCxnSpPr>
            <a:stCxn id="1452" idx="6"/>
            <a:endCxn id="1454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58" name="Google Shape;1458;p73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59" name="Google Shape;1459;p73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60" name="Google Shape;1460;p73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61" name="Google Shape;1461;p73"/>
          <p:cNvCxnSpPr>
            <a:stCxn id="1458" idx="6"/>
            <a:endCxn id="1459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462" name="Google Shape;1462;p73"/>
          <p:cNvCxnSpPr>
            <a:stCxn id="1459" idx="0"/>
            <a:endCxn id="1460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463" name="Google Shape;1463;p73"/>
          <p:cNvCxnSpPr>
            <a:stCxn id="1458" idx="6"/>
            <a:endCxn id="1460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464" name="Google Shape;1464;p73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65" name="Google Shape;1465;p73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66" name="Google Shape;1466;p73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67" name="Google Shape;1467;p73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68" name="Google Shape;1468;p73"/>
          <p:cNvCxnSpPr>
            <a:stCxn id="1465" idx="6"/>
            <a:endCxn id="1466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69" name="Google Shape;1469;p73"/>
          <p:cNvCxnSpPr>
            <a:stCxn id="1466" idx="0"/>
            <a:endCxn id="1467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70" name="Google Shape;1470;p73"/>
          <p:cNvCxnSpPr>
            <a:stCxn id="1465" idx="6"/>
            <a:endCxn id="1467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71" name="Google Shape;1471;p73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72" name="Google Shape;1472;p73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73" name="Google Shape;1473;p73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74" name="Google Shape;1474;p73"/>
          <p:cNvCxnSpPr>
            <a:stCxn id="1471" idx="6"/>
            <a:endCxn id="1472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75" name="Google Shape;1475;p73"/>
          <p:cNvCxnSpPr>
            <a:stCxn id="1472" idx="0"/>
            <a:endCxn id="1473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476" name="Google Shape;1476;p73"/>
          <p:cNvCxnSpPr>
            <a:stCxn id="1471" idx="6"/>
            <a:endCxn id="1473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477" name="Google Shape;1477;p73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78" name="Google Shape;1478;p73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79" name="Google Shape;1479;p73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80" name="Google Shape;1480;p73"/>
          <p:cNvCxnSpPr>
            <a:stCxn id="1477" idx="6"/>
            <a:endCxn id="1478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481" name="Google Shape;1481;p73"/>
          <p:cNvCxnSpPr>
            <a:stCxn id="1478" idx="0"/>
            <a:endCxn id="1479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82" name="Google Shape;1482;p73"/>
          <p:cNvCxnSpPr>
            <a:stCxn id="1477" idx="6"/>
            <a:endCxn id="1479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483" name="Google Shape;1483;p73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84" name="Google Shape;1484;p73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85" name="Google Shape;1485;p73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86" name="Google Shape;1486;p73"/>
          <p:cNvCxnSpPr>
            <a:stCxn id="1483" idx="6"/>
            <a:endCxn id="1484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487" name="Google Shape;1487;p73"/>
          <p:cNvCxnSpPr>
            <a:stCxn id="1484" idx="0"/>
            <a:endCxn id="1485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488" name="Google Shape;1488;p73"/>
          <p:cNvCxnSpPr>
            <a:stCxn id="1483" idx="6"/>
            <a:endCxn id="1485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89" name="Google Shape;1489;p73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90" name="Google Shape;1490;p73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73"/>
          <p:cNvSpPr/>
          <p:nvPr/>
        </p:nvSpPr>
        <p:spPr>
          <a:xfrm>
            <a:off x="5628450" y="3524463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p7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Mathematics of Balance Theory</a:t>
            </a:r>
            <a:endParaRPr/>
          </a:p>
        </p:txBody>
      </p:sp>
      <p:sp>
        <p:nvSpPr>
          <p:cNvPr id="1497" name="Google Shape;1497;p74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link between mathematics and the logic of social relations!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“An enemy of a friend is an enemy”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+1</a:t>
            </a:r>
            <a:r>
              <a:rPr baseline="-25000" lang="en"/>
              <a:t>PO </a:t>
            </a:r>
            <a:r>
              <a:rPr lang="en"/>
              <a:t>* -1</a:t>
            </a:r>
            <a:r>
              <a:rPr baseline="-25000" lang="en"/>
              <a:t>OQ</a:t>
            </a:r>
            <a:r>
              <a:rPr lang="en"/>
              <a:t> * -1</a:t>
            </a:r>
            <a:r>
              <a:rPr baseline="-25000" lang="en"/>
              <a:t>PQ</a:t>
            </a:r>
            <a:r>
              <a:rPr lang="en"/>
              <a:t> =  +1</a:t>
            </a:r>
            <a:r>
              <a:rPr baseline="-25000" lang="en"/>
              <a:t>POQ</a:t>
            </a:r>
            <a:endParaRPr baseline="-250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74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99" name="Google Shape;1499;p74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00" name="Google Shape;1500;p74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01" name="Google Shape;1501;p74"/>
          <p:cNvCxnSpPr>
            <a:stCxn id="1498" idx="6"/>
            <a:endCxn id="1499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02" name="Google Shape;1502;p74"/>
          <p:cNvCxnSpPr>
            <a:stCxn id="1499" idx="0"/>
            <a:endCxn id="1500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03" name="Google Shape;1503;p74"/>
          <p:cNvCxnSpPr>
            <a:stCxn id="1498" idx="6"/>
            <a:endCxn id="1500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504" name="Google Shape;1504;p74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05" name="Google Shape;1505;p74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06" name="Google Shape;1506;p74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07" name="Google Shape;1507;p74"/>
          <p:cNvCxnSpPr>
            <a:stCxn id="1504" idx="6"/>
            <a:endCxn id="1505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08" name="Google Shape;1508;p74"/>
          <p:cNvCxnSpPr>
            <a:stCxn id="1505" idx="0"/>
            <a:endCxn id="1506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09" name="Google Shape;1509;p74"/>
          <p:cNvCxnSpPr>
            <a:stCxn id="1504" idx="6"/>
            <a:endCxn id="1506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10" name="Google Shape;1510;p74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11" name="Google Shape;1511;p74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12" name="Google Shape;1512;p74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13" name="Google Shape;1513;p74"/>
          <p:cNvCxnSpPr>
            <a:stCxn id="1510" idx="6"/>
            <a:endCxn id="1511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14" name="Google Shape;1514;p74"/>
          <p:cNvCxnSpPr>
            <a:stCxn id="1511" idx="0"/>
            <a:endCxn id="1512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15" name="Google Shape;1515;p74"/>
          <p:cNvCxnSpPr>
            <a:stCxn id="1510" idx="6"/>
            <a:endCxn id="1512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16" name="Google Shape;1516;p74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17" name="Google Shape;1517;p74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18" name="Google Shape;1518;p74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19" name="Google Shape;1519;p74"/>
          <p:cNvCxnSpPr>
            <a:stCxn id="1516" idx="6"/>
            <a:endCxn id="1517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20" name="Google Shape;1520;p74"/>
          <p:cNvCxnSpPr>
            <a:stCxn id="1517" idx="0"/>
            <a:endCxn id="1518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21" name="Google Shape;1521;p74"/>
          <p:cNvCxnSpPr>
            <a:stCxn id="1516" idx="6"/>
            <a:endCxn id="1518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522" name="Google Shape;1522;p74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23" name="Google Shape;1523;p74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24" name="Google Shape;1524;p74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25" name="Google Shape;1525;p74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26" name="Google Shape;1526;p74"/>
          <p:cNvCxnSpPr>
            <a:stCxn id="1523" idx="6"/>
            <a:endCxn id="1524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27" name="Google Shape;1527;p74"/>
          <p:cNvCxnSpPr>
            <a:stCxn id="1524" idx="0"/>
            <a:endCxn id="1525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28" name="Google Shape;1528;p74"/>
          <p:cNvCxnSpPr>
            <a:stCxn id="1523" idx="6"/>
            <a:endCxn id="1525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29" name="Google Shape;1529;p74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30" name="Google Shape;1530;p74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31" name="Google Shape;1531;p74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32" name="Google Shape;1532;p74"/>
          <p:cNvCxnSpPr>
            <a:stCxn id="1529" idx="6"/>
            <a:endCxn id="1530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33" name="Google Shape;1533;p74"/>
          <p:cNvCxnSpPr>
            <a:stCxn id="1530" idx="0"/>
            <a:endCxn id="1531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34" name="Google Shape;1534;p74"/>
          <p:cNvCxnSpPr>
            <a:stCxn id="1529" idx="6"/>
            <a:endCxn id="1531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535" name="Google Shape;1535;p74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36" name="Google Shape;1536;p74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37" name="Google Shape;1537;p74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38" name="Google Shape;1538;p74"/>
          <p:cNvCxnSpPr>
            <a:stCxn id="1535" idx="6"/>
            <a:endCxn id="1536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39" name="Google Shape;1539;p74"/>
          <p:cNvCxnSpPr>
            <a:stCxn id="1536" idx="0"/>
            <a:endCxn id="1537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40" name="Google Shape;1540;p74"/>
          <p:cNvCxnSpPr>
            <a:stCxn id="1535" idx="6"/>
            <a:endCxn id="1537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541" name="Google Shape;1541;p74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42" name="Google Shape;1542;p74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43" name="Google Shape;1543;p74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44" name="Google Shape;1544;p74"/>
          <p:cNvCxnSpPr>
            <a:stCxn id="1541" idx="6"/>
            <a:endCxn id="1542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45" name="Google Shape;1545;p74"/>
          <p:cNvCxnSpPr>
            <a:stCxn id="1542" idx="0"/>
            <a:endCxn id="1543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46" name="Google Shape;1546;p74"/>
          <p:cNvCxnSpPr>
            <a:stCxn id="1541" idx="6"/>
            <a:endCxn id="1543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47" name="Google Shape;1547;p74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48" name="Google Shape;1548;p74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9" name="Google Shape;1549;p74"/>
          <p:cNvSpPr/>
          <p:nvPr/>
        </p:nvSpPr>
        <p:spPr>
          <a:xfrm>
            <a:off x="7386450" y="2399738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p7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Mathematics of Balance Theory</a:t>
            </a:r>
            <a:endParaRPr/>
          </a:p>
        </p:txBody>
      </p:sp>
      <p:sp>
        <p:nvSpPr>
          <p:cNvPr id="1555" name="Google Shape;1555;p75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link between mathematics and the logic of social relations!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“An enemy of an enemy is a friend”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-1</a:t>
            </a:r>
            <a:r>
              <a:rPr baseline="-25000" lang="en"/>
              <a:t>PO </a:t>
            </a:r>
            <a:r>
              <a:rPr lang="en"/>
              <a:t>* -1</a:t>
            </a:r>
            <a:r>
              <a:rPr baseline="-25000" lang="en"/>
              <a:t>OQ</a:t>
            </a:r>
            <a:r>
              <a:rPr lang="en"/>
              <a:t> * +1</a:t>
            </a:r>
            <a:r>
              <a:rPr baseline="-25000" lang="en"/>
              <a:t>PQ</a:t>
            </a:r>
            <a:r>
              <a:rPr lang="en"/>
              <a:t> =  +1</a:t>
            </a:r>
            <a:r>
              <a:rPr baseline="-25000" lang="en"/>
              <a:t>POQ</a:t>
            </a:r>
            <a:endParaRPr baseline="-250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75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57" name="Google Shape;1557;p75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58" name="Google Shape;1558;p75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59" name="Google Shape;1559;p75"/>
          <p:cNvCxnSpPr>
            <a:stCxn id="1556" idx="6"/>
            <a:endCxn id="1557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60" name="Google Shape;1560;p75"/>
          <p:cNvCxnSpPr>
            <a:stCxn id="1557" idx="0"/>
            <a:endCxn id="1558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61" name="Google Shape;1561;p75"/>
          <p:cNvCxnSpPr>
            <a:stCxn id="1556" idx="6"/>
            <a:endCxn id="1558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562" name="Google Shape;1562;p75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63" name="Google Shape;1563;p75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64" name="Google Shape;1564;p75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65" name="Google Shape;1565;p75"/>
          <p:cNvCxnSpPr>
            <a:stCxn id="1562" idx="6"/>
            <a:endCxn id="1563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66" name="Google Shape;1566;p75"/>
          <p:cNvCxnSpPr>
            <a:stCxn id="1563" idx="0"/>
            <a:endCxn id="1564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67" name="Google Shape;1567;p75"/>
          <p:cNvCxnSpPr>
            <a:stCxn id="1562" idx="6"/>
            <a:endCxn id="1564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68" name="Google Shape;1568;p75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69" name="Google Shape;1569;p75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70" name="Google Shape;1570;p75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71" name="Google Shape;1571;p75"/>
          <p:cNvCxnSpPr>
            <a:stCxn id="1568" idx="6"/>
            <a:endCxn id="1569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72" name="Google Shape;1572;p75"/>
          <p:cNvCxnSpPr>
            <a:stCxn id="1569" idx="0"/>
            <a:endCxn id="1570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73" name="Google Shape;1573;p75"/>
          <p:cNvCxnSpPr>
            <a:stCxn id="1568" idx="6"/>
            <a:endCxn id="1570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74" name="Google Shape;1574;p75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75" name="Google Shape;1575;p75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76" name="Google Shape;1576;p75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77" name="Google Shape;1577;p75"/>
          <p:cNvCxnSpPr>
            <a:stCxn id="1574" idx="6"/>
            <a:endCxn id="1575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78" name="Google Shape;1578;p75"/>
          <p:cNvCxnSpPr>
            <a:stCxn id="1575" idx="0"/>
            <a:endCxn id="1576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79" name="Google Shape;1579;p75"/>
          <p:cNvCxnSpPr>
            <a:stCxn id="1574" idx="6"/>
            <a:endCxn id="1576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580" name="Google Shape;1580;p75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81" name="Google Shape;1581;p75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82" name="Google Shape;1582;p75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83" name="Google Shape;1583;p75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84" name="Google Shape;1584;p75"/>
          <p:cNvCxnSpPr>
            <a:stCxn id="1581" idx="6"/>
            <a:endCxn id="1582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85" name="Google Shape;1585;p75"/>
          <p:cNvCxnSpPr>
            <a:stCxn id="1582" idx="0"/>
            <a:endCxn id="1583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86" name="Google Shape;1586;p75"/>
          <p:cNvCxnSpPr>
            <a:stCxn id="1581" idx="6"/>
            <a:endCxn id="1583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87" name="Google Shape;1587;p75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88" name="Google Shape;1588;p75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89" name="Google Shape;1589;p75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90" name="Google Shape;1590;p75"/>
          <p:cNvCxnSpPr>
            <a:stCxn id="1587" idx="6"/>
            <a:endCxn id="1588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91" name="Google Shape;1591;p75"/>
          <p:cNvCxnSpPr>
            <a:stCxn id="1588" idx="0"/>
            <a:endCxn id="1589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92" name="Google Shape;1592;p75"/>
          <p:cNvCxnSpPr>
            <a:stCxn id="1587" idx="6"/>
            <a:endCxn id="1589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593" name="Google Shape;1593;p75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94" name="Google Shape;1594;p75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95" name="Google Shape;1595;p75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96" name="Google Shape;1596;p75"/>
          <p:cNvCxnSpPr>
            <a:stCxn id="1593" idx="6"/>
            <a:endCxn id="1594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97" name="Google Shape;1597;p75"/>
          <p:cNvCxnSpPr>
            <a:stCxn id="1594" idx="0"/>
            <a:endCxn id="1595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98" name="Google Shape;1598;p75"/>
          <p:cNvCxnSpPr>
            <a:stCxn id="1593" idx="6"/>
            <a:endCxn id="1595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599" name="Google Shape;1599;p75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00" name="Google Shape;1600;p75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01" name="Google Shape;1601;p75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02" name="Google Shape;1602;p75"/>
          <p:cNvCxnSpPr>
            <a:stCxn id="1599" idx="6"/>
            <a:endCxn id="1600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603" name="Google Shape;1603;p75"/>
          <p:cNvCxnSpPr>
            <a:stCxn id="1600" idx="0"/>
            <a:endCxn id="1601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604" name="Google Shape;1604;p75"/>
          <p:cNvCxnSpPr>
            <a:stCxn id="1599" idx="6"/>
            <a:endCxn id="1601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05" name="Google Shape;1605;p75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06" name="Google Shape;1606;p75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75"/>
          <p:cNvSpPr/>
          <p:nvPr/>
        </p:nvSpPr>
        <p:spPr>
          <a:xfrm>
            <a:off x="7400200" y="3524463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p7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Cross-Pressure </a:t>
            </a:r>
            <a:endParaRPr/>
          </a:p>
        </p:txBody>
      </p:sp>
      <p:sp>
        <p:nvSpPr>
          <p:cNvPr id="1613" name="Google Shape;1613;p76"/>
          <p:cNvSpPr txBox="1"/>
          <p:nvPr>
            <p:ph idx="1" type="body"/>
          </p:nvPr>
        </p:nvSpPr>
        <p:spPr>
          <a:xfrm>
            <a:off x="311700" y="1225225"/>
            <a:ext cx="4260300" cy="35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Because we have multiple social relations we are sometimes caught between worlds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</a:t>
            </a:r>
            <a:r>
              <a:rPr b="1" lang="en"/>
              <a:t>cross-pressure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4" name="Google Shape;1614;p76"/>
          <p:cNvSpPr/>
          <p:nvPr/>
        </p:nvSpPr>
        <p:spPr>
          <a:xfrm>
            <a:off x="4903100" y="3380449"/>
            <a:ext cx="818100" cy="816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P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15" name="Google Shape;1615;p76"/>
          <p:cNvSpPr/>
          <p:nvPr/>
        </p:nvSpPr>
        <p:spPr>
          <a:xfrm>
            <a:off x="7742699" y="3380449"/>
            <a:ext cx="818100" cy="8163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O1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16" name="Google Shape;1616;p76"/>
          <p:cNvCxnSpPr>
            <a:stCxn id="1614" idx="6"/>
            <a:endCxn id="1615" idx="2"/>
          </p:cNvCxnSpPr>
          <p:nvPr/>
        </p:nvCxnSpPr>
        <p:spPr>
          <a:xfrm>
            <a:off x="5721200" y="3788599"/>
            <a:ext cx="2021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17" name="Google Shape;1617;p76"/>
          <p:cNvCxnSpPr>
            <a:stCxn id="1615" idx="0"/>
            <a:endCxn id="1618" idx="4"/>
          </p:cNvCxnSpPr>
          <p:nvPr/>
        </p:nvCxnSpPr>
        <p:spPr>
          <a:xfrm rot="10800000">
            <a:off x="8151749" y="2375749"/>
            <a:ext cx="0" cy="10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19" name="Google Shape;1619;p76"/>
          <p:cNvCxnSpPr>
            <a:stCxn id="1614" idx="6"/>
            <a:endCxn id="1618" idx="3"/>
          </p:cNvCxnSpPr>
          <p:nvPr/>
        </p:nvCxnSpPr>
        <p:spPr>
          <a:xfrm flipH="1" rot="10800000">
            <a:off x="5721200" y="2256199"/>
            <a:ext cx="2141400" cy="1532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18" name="Google Shape;1618;p76"/>
          <p:cNvSpPr/>
          <p:nvPr/>
        </p:nvSpPr>
        <p:spPr>
          <a:xfrm>
            <a:off x="7742699" y="1559325"/>
            <a:ext cx="818100" cy="8163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Q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p7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Cross-Pressure</a:t>
            </a:r>
            <a:endParaRPr/>
          </a:p>
        </p:txBody>
      </p:sp>
      <p:sp>
        <p:nvSpPr>
          <p:cNvPr id="1625" name="Google Shape;1625;p77"/>
          <p:cNvSpPr txBox="1"/>
          <p:nvPr>
            <p:ph idx="1" type="body"/>
          </p:nvPr>
        </p:nvSpPr>
        <p:spPr>
          <a:xfrm>
            <a:off x="311700" y="1225225"/>
            <a:ext cx="4260300" cy="35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Because we have multiple social relations we are sometimes caught between worlds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</a:t>
            </a:r>
            <a:r>
              <a:rPr b="1" lang="en"/>
              <a:t>cross-pressure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Having two friends with different attitudes towards the same object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77"/>
          <p:cNvSpPr/>
          <p:nvPr/>
        </p:nvSpPr>
        <p:spPr>
          <a:xfrm>
            <a:off x="4903100" y="3380449"/>
            <a:ext cx="818100" cy="816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P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27" name="Google Shape;1627;p77"/>
          <p:cNvSpPr/>
          <p:nvPr/>
        </p:nvSpPr>
        <p:spPr>
          <a:xfrm>
            <a:off x="7742699" y="3380449"/>
            <a:ext cx="818100" cy="8163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O1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28" name="Google Shape;1628;p77"/>
          <p:cNvSpPr/>
          <p:nvPr/>
        </p:nvSpPr>
        <p:spPr>
          <a:xfrm>
            <a:off x="7742699" y="1559325"/>
            <a:ext cx="818100" cy="8163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Q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29" name="Google Shape;1629;p77"/>
          <p:cNvCxnSpPr>
            <a:stCxn id="1626" idx="6"/>
            <a:endCxn id="1627" idx="2"/>
          </p:cNvCxnSpPr>
          <p:nvPr/>
        </p:nvCxnSpPr>
        <p:spPr>
          <a:xfrm>
            <a:off x="5721200" y="3788599"/>
            <a:ext cx="2021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30" name="Google Shape;1630;p77"/>
          <p:cNvCxnSpPr>
            <a:stCxn id="1627" idx="0"/>
            <a:endCxn id="1628" idx="4"/>
          </p:cNvCxnSpPr>
          <p:nvPr/>
        </p:nvCxnSpPr>
        <p:spPr>
          <a:xfrm rot="10800000">
            <a:off x="8151749" y="2375749"/>
            <a:ext cx="0" cy="10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31" name="Google Shape;1631;p77"/>
          <p:cNvCxnSpPr>
            <a:stCxn id="1626" idx="7"/>
            <a:endCxn id="1628" idx="2"/>
          </p:cNvCxnSpPr>
          <p:nvPr/>
        </p:nvCxnSpPr>
        <p:spPr>
          <a:xfrm flipH="1" rot="10800000">
            <a:off x="5601392" y="1967594"/>
            <a:ext cx="2141400" cy="1532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632" name="Google Shape;1632;p77"/>
          <p:cNvSpPr/>
          <p:nvPr/>
        </p:nvSpPr>
        <p:spPr>
          <a:xfrm>
            <a:off x="4903100" y="1559325"/>
            <a:ext cx="818100" cy="8163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O2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33" name="Google Shape;1633;p77"/>
          <p:cNvCxnSpPr>
            <a:stCxn id="1626" idx="0"/>
            <a:endCxn id="1632" idx="4"/>
          </p:cNvCxnSpPr>
          <p:nvPr/>
        </p:nvCxnSpPr>
        <p:spPr>
          <a:xfrm rot="10800000">
            <a:off x="5312150" y="2375749"/>
            <a:ext cx="0" cy="10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34" name="Google Shape;1634;p77"/>
          <p:cNvCxnSpPr>
            <a:stCxn id="1632" idx="6"/>
            <a:endCxn id="1628" idx="2"/>
          </p:cNvCxnSpPr>
          <p:nvPr/>
        </p:nvCxnSpPr>
        <p:spPr>
          <a:xfrm>
            <a:off x="5721200" y="1967475"/>
            <a:ext cx="2021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635" name="Google Shape;1635;p77"/>
          <p:cNvCxnSpPr>
            <a:stCxn id="1626" idx="6"/>
            <a:endCxn id="1628" idx="3"/>
          </p:cNvCxnSpPr>
          <p:nvPr/>
        </p:nvCxnSpPr>
        <p:spPr>
          <a:xfrm flipH="1" rot="10800000">
            <a:off x="5721200" y="2256199"/>
            <a:ext cx="2141400" cy="1532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9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7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Cross-Pressure</a:t>
            </a:r>
            <a:endParaRPr/>
          </a:p>
        </p:txBody>
      </p:sp>
      <p:sp>
        <p:nvSpPr>
          <p:cNvPr id="1641" name="Google Shape;1641;p78"/>
          <p:cNvSpPr txBox="1"/>
          <p:nvPr>
            <p:ph idx="1" type="body"/>
          </p:nvPr>
        </p:nvSpPr>
        <p:spPr>
          <a:xfrm>
            <a:off x="311700" y="1225225"/>
            <a:ext cx="4260300" cy="35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Because we have multiple social relations we are sometimes caught between worlds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</a:t>
            </a:r>
            <a:r>
              <a:rPr b="1" lang="en"/>
              <a:t>cross-pressure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Having two friends with different attitudes towards the same object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theory predicts that P will have an </a:t>
            </a:r>
            <a:r>
              <a:rPr b="1" lang="en"/>
              <a:t>ambivalent </a:t>
            </a:r>
            <a:r>
              <a:rPr lang="en"/>
              <a:t>attitude toward Q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2" name="Google Shape;1642;p78"/>
          <p:cNvSpPr/>
          <p:nvPr/>
        </p:nvSpPr>
        <p:spPr>
          <a:xfrm>
            <a:off x="4903100" y="3380449"/>
            <a:ext cx="818100" cy="816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P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43" name="Google Shape;1643;p78"/>
          <p:cNvSpPr/>
          <p:nvPr/>
        </p:nvSpPr>
        <p:spPr>
          <a:xfrm>
            <a:off x="7742699" y="3380449"/>
            <a:ext cx="818100" cy="8163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O1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44" name="Google Shape;1644;p78"/>
          <p:cNvSpPr/>
          <p:nvPr/>
        </p:nvSpPr>
        <p:spPr>
          <a:xfrm>
            <a:off x="7742699" y="1559325"/>
            <a:ext cx="818100" cy="8163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Q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45" name="Google Shape;1645;p78"/>
          <p:cNvCxnSpPr>
            <a:stCxn id="1642" idx="6"/>
            <a:endCxn id="1643" idx="2"/>
          </p:cNvCxnSpPr>
          <p:nvPr/>
        </p:nvCxnSpPr>
        <p:spPr>
          <a:xfrm>
            <a:off x="5721200" y="3788599"/>
            <a:ext cx="2021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46" name="Google Shape;1646;p78"/>
          <p:cNvCxnSpPr>
            <a:stCxn id="1643" idx="0"/>
            <a:endCxn id="1644" idx="4"/>
          </p:cNvCxnSpPr>
          <p:nvPr/>
        </p:nvCxnSpPr>
        <p:spPr>
          <a:xfrm rot="10800000">
            <a:off x="8151749" y="2375749"/>
            <a:ext cx="0" cy="10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47" name="Google Shape;1647;p78"/>
          <p:cNvCxnSpPr>
            <a:stCxn id="1642" idx="7"/>
            <a:endCxn id="1644" idx="2"/>
          </p:cNvCxnSpPr>
          <p:nvPr/>
        </p:nvCxnSpPr>
        <p:spPr>
          <a:xfrm flipH="1" rot="10800000">
            <a:off x="5601392" y="1967594"/>
            <a:ext cx="2141400" cy="1532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648" name="Google Shape;1648;p78"/>
          <p:cNvSpPr/>
          <p:nvPr/>
        </p:nvSpPr>
        <p:spPr>
          <a:xfrm>
            <a:off x="4903100" y="1559325"/>
            <a:ext cx="818100" cy="8163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O2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49" name="Google Shape;1649;p78"/>
          <p:cNvCxnSpPr>
            <a:stCxn id="1642" idx="0"/>
            <a:endCxn id="1648" idx="4"/>
          </p:cNvCxnSpPr>
          <p:nvPr/>
        </p:nvCxnSpPr>
        <p:spPr>
          <a:xfrm rot="10800000">
            <a:off x="5312150" y="2375749"/>
            <a:ext cx="0" cy="10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50" name="Google Shape;1650;p78"/>
          <p:cNvCxnSpPr>
            <a:stCxn id="1648" idx="6"/>
            <a:endCxn id="1644" idx="2"/>
          </p:cNvCxnSpPr>
          <p:nvPr/>
        </p:nvCxnSpPr>
        <p:spPr>
          <a:xfrm>
            <a:off x="5721200" y="1967475"/>
            <a:ext cx="2021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651" name="Google Shape;1651;p78"/>
          <p:cNvCxnSpPr>
            <a:stCxn id="1642" idx="6"/>
            <a:endCxn id="1644" idx="3"/>
          </p:cNvCxnSpPr>
          <p:nvPr/>
        </p:nvCxnSpPr>
        <p:spPr>
          <a:xfrm flipH="1" rot="10800000">
            <a:off x="5721200" y="2256199"/>
            <a:ext cx="2141400" cy="1532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7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Cross-Pressure</a:t>
            </a:r>
            <a:endParaRPr/>
          </a:p>
        </p:txBody>
      </p:sp>
      <p:sp>
        <p:nvSpPr>
          <p:cNvPr id="1657" name="Google Shape;1657;p79"/>
          <p:cNvSpPr txBox="1"/>
          <p:nvPr>
            <p:ph idx="1" type="body"/>
          </p:nvPr>
        </p:nvSpPr>
        <p:spPr>
          <a:xfrm>
            <a:off x="311700" y="1225225"/>
            <a:ext cx="4260300" cy="35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Because we have multiple social relations we are sometimes caught between worlds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</a:t>
            </a:r>
            <a:r>
              <a:rPr b="1" lang="en"/>
              <a:t>cross-pressure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Having two friends with different attitudes towards the same object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theory predicts that P will have an </a:t>
            </a:r>
            <a:r>
              <a:rPr b="1" lang="en"/>
              <a:t>ambivalent </a:t>
            </a:r>
            <a:r>
              <a:rPr lang="en"/>
              <a:t>attitude toward Q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8" name="Google Shape;1658;p79"/>
          <p:cNvSpPr/>
          <p:nvPr/>
        </p:nvSpPr>
        <p:spPr>
          <a:xfrm>
            <a:off x="4903100" y="3380449"/>
            <a:ext cx="818100" cy="816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P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59" name="Google Shape;1659;p79"/>
          <p:cNvSpPr/>
          <p:nvPr/>
        </p:nvSpPr>
        <p:spPr>
          <a:xfrm>
            <a:off x="7742699" y="3380449"/>
            <a:ext cx="818100" cy="8163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Friend 2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60" name="Google Shape;1660;p79"/>
          <p:cNvSpPr/>
          <p:nvPr/>
        </p:nvSpPr>
        <p:spPr>
          <a:xfrm>
            <a:off x="7742699" y="1559325"/>
            <a:ext cx="818100" cy="8163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Oxygen"/>
                <a:ea typeface="Oxygen"/>
                <a:cs typeface="Oxygen"/>
                <a:sym typeface="Oxygen"/>
              </a:rPr>
              <a:t>Taylor</a:t>
            </a:r>
            <a:endParaRPr sz="1500">
              <a:solidFill>
                <a:schemeClr val="lt1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61" name="Google Shape;1661;p79"/>
          <p:cNvCxnSpPr>
            <a:stCxn id="1658" idx="6"/>
            <a:endCxn id="1659" idx="2"/>
          </p:cNvCxnSpPr>
          <p:nvPr/>
        </p:nvCxnSpPr>
        <p:spPr>
          <a:xfrm>
            <a:off x="5721200" y="3788599"/>
            <a:ext cx="2021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62" name="Google Shape;1662;p79"/>
          <p:cNvCxnSpPr>
            <a:stCxn id="1659" idx="0"/>
            <a:endCxn id="1660" idx="4"/>
          </p:cNvCxnSpPr>
          <p:nvPr/>
        </p:nvCxnSpPr>
        <p:spPr>
          <a:xfrm rot="10800000">
            <a:off x="8151749" y="2375749"/>
            <a:ext cx="0" cy="10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63" name="Google Shape;1663;p79"/>
          <p:cNvCxnSpPr>
            <a:stCxn id="1658" idx="7"/>
            <a:endCxn id="1660" idx="2"/>
          </p:cNvCxnSpPr>
          <p:nvPr/>
        </p:nvCxnSpPr>
        <p:spPr>
          <a:xfrm flipH="1" rot="10800000">
            <a:off x="5601392" y="1967594"/>
            <a:ext cx="2141400" cy="1532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664" name="Google Shape;1664;p79"/>
          <p:cNvSpPr/>
          <p:nvPr/>
        </p:nvSpPr>
        <p:spPr>
          <a:xfrm>
            <a:off x="4903100" y="1559325"/>
            <a:ext cx="818100" cy="8163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Oxygen"/>
                <a:ea typeface="Oxygen"/>
                <a:cs typeface="Oxygen"/>
                <a:sym typeface="Oxygen"/>
              </a:rPr>
              <a:t>Friend 1</a:t>
            </a:r>
            <a:endParaRPr sz="13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65" name="Google Shape;1665;p79"/>
          <p:cNvCxnSpPr>
            <a:stCxn id="1658" idx="0"/>
            <a:endCxn id="1664" idx="4"/>
          </p:cNvCxnSpPr>
          <p:nvPr/>
        </p:nvCxnSpPr>
        <p:spPr>
          <a:xfrm rot="10800000">
            <a:off x="5312150" y="2375749"/>
            <a:ext cx="0" cy="10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66" name="Google Shape;1666;p79"/>
          <p:cNvCxnSpPr>
            <a:stCxn id="1664" idx="6"/>
            <a:endCxn id="1660" idx="2"/>
          </p:cNvCxnSpPr>
          <p:nvPr/>
        </p:nvCxnSpPr>
        <p:spPr>
          <a:xfrm>
            <a:off x="5721200" y="1967475"/>
            <a:ext cx="2021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667" name="Google Shape;1667;p79"/>
          <p:cNvCxnSpPr>
            <a:stCxn id="1658" idx="6"/>
            <a:endCxn id="1660" idx="3"/>
          </p:cNvCxnSpPr>
          <p:nvPr/>
        </p:nvCxnSpPr>
        <p:spPr>
          <a:xfrm flipH="1" rot="10800000">
            <a:off x="5721200" y="2256199"/>
            <a:ext cx="2141400" cy="1532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p8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Cross-Pressure</a:t>
            </a:r>
            <a:endParaRPr/>
          </a:p>
        </p:txBody>
      </p:sp>
      <p:sp>
        <p:nvSpPr>
          <p:cNvPr id="1673" name="Google Shape;1673;p80"/>
          <p:cNvSpPr txBox="1"/>
          <p:nvPr>
            <p:ph idx="1" type="body"/>
          </p:nvPr>
        </p:nvSpPr>
        <p:spPr>
          <a:xfrm>
            <a:off x="311700" y="1225225"/>
            <a:ext cx="4260300" cy="35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Because we have multiple social relations we are sometimes caught between worlds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</a:t>
            </a:r>
            <a:r>
              <a:rPr b="1" lang="en"/>
              <a:t>cross-pressure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Having two friends with different attitudes towards the same object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achieve balance and remove ambivalence: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Change attitude toward F1 or F2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4" name="Google Shape;1674;p80"/>
          <p:cNvSpPr/>
          <p:nvPr/>
        </p:nvSpPr>
        <p:spPr>
          <a:xfrm>
            <a:off x="4903100" y="3380449"/>
            <a:ext cx="818100" cy="816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P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75" name="Google Shape;1675;p80"/>
          <p:cNvSpPr/>
          <p:nvPr/>
        </p:nvSpPr>
        <p:spPr>
          <a:xfrm>
            <a:off x="7742699" y="3380449"/>
            <a:ext cx="818100" cy="8163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Friend 2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76" name="Google Shape;1676;p80"/>
          <p:cNvSpPr/>
          <p:nvPr/>
        </p:nvSpPr>
        <p:spPr>
          <a:xfrm>
            <a:off x="7742699" y="1559325"/>
            <a:ext cx="818100" cy="8163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Oxygen"/>
                <a:ea typeface="Oxygen"/>
                <a:cs typeface="Oxygen"/>
                <a:sym typeface="Oxygen"/>
              </a:rPr>
              <a:t>Taylor</a:t>
            </a:r>
            <a:endParaRPr sz="1500">
              <a:solidFill>
                <a:schemeClr val="lt1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77" name="Google Shape;1677;p80"/>
          <p:cNvCxnSpPr>
            <a:stCxn id="1674" idx="6"/>
            <a:endCxn id="1675" idx="2"/>
          </p:cNvCxnSpPr>
          <p:nvPr/>
        </p:nvCxnSpPr>
        <p:spPr>
          <a:xfrm>
            <a:off x="5721200" y="3788599"/>
            <a:ext cx="2021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78" name="Google Shape;1678;p80"/>
          <p:cNvCxnSpPr>
            <a:stCxn id="1675" idx="0"/>
            <a:endCxn id="1676" idx="4"/>
          </p:cNvCxnSpPr>
          <p:nvPr/>
        </p:nvCxnSpPr>
        <p:spPr>
          <a:xfrm rot="10800000">
            <a:off x="8151749" y="2375749"/>
            <a:ext cx="0" cy="10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79" name="Google Shape;1679;p80"/>
          <p:cNvCxnSpPr>
            <a:stCxn id="1674" idx="7"/>
            <a:endCxn id="1676" idx="2"/>
          </p:cNvCxnSpPr>
          <p:nvPr/>
        </p:nvCxnSpPr>
        <p:spPr>
          <a:xfrm flipH="1" rot="10800000">
            <a:off x="5601392" y="1967594"/>
            <a:ext cx="2141400" cy="1532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680" name="Google Shape;1680;p80"/>
          <p:cNvSpPr/>
          <p:nvPr/>
        </p:nvSpPr>
        <p:spPr>
          <a:xfrm>
            <a:off x="4903100" y="1559325"/>
            <a:ext cx="818100" cy="8163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Oxygen"/>
                <a:ea typeface="Oxygen"/>
                <a:cs typeface="Oxygen"/>
                <a:sym typeface="Oxygen"/>
              </a:rPr>
              <a:t>Friend 1</a:t>
            </a:r>
            <a:endParaRPr sz="13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81" name="Google Shape;1681;p80"/>
          <p:cNvCxnSpPr>
            <a:stCxn id="1674" idx="0"/>
            <a:endCxn id="1680" idx="4"/>
          </p:cNvCxnSpPr>
          <p:nvPr/>
        </p:nvCxnSpPr>
        <p:spPr>
          <a:xfrm rot="10800000">
            <a:off x="5312150" y="2375749"/>
            <a:ext cx="0" cy="10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82" name="Google Shape;1682;p80"/>
          <p:cNvCxnSpPr>
            <a:stCxn id="1680" idx="6"/>
            <a:endCxn id="1676" idx="2"/>
          </p:cNvCxnSpPr>
          <p:nvPr/>
        </p:nvCxnSpPr>
        <p:spPr>
          <a:xfrm>
            <a:off x="5721200" y="1967475"/>
            <a:ext cx="2021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683" name="Google Shape;1683;p80"/>
          <p:cNvCxnSpPr>
            <a:stCxn id="1674" idx="6"/>
            <a:endCxn id="1676" idx="3"/>
          </p:cNvCxnSpPr>
          <p:nvPr/>
        </p:nvCxnSpPr>
        <p:spPr>
          <a:xfrm flipH="1" rot="10800000">
            <a:off x="5721200" y="2256199"/>
            <a:ext cx="2141400" cy="1532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8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Cross-Pressure</a:t>
            </a:r>
            <a:endParaRPr/>
          </a:p>
        </p:txBody>
      </p:sp>
      <p:sp>
        <p:nvSpPr>
          <p:cNvPr id="1689" name="Google Shape;1689;p81"/>
          <p:cNvSpPr txBox="1"/>
          <p:nvPr>
            <p:ph idx="1" type="body"/>
          </p:nvPr>
        </p:nvSpPr>
        <p:spPr>
          <a:xfrm>
            <a:off x="311700" y="1225225"/>
            <a:ext cx="4260300" cy="35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Because we have multiple social relations we are sometimes caught between worlds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</a:t>
            </a:r>
            <a:r>
              <a:rPr b="1" lang="en"/>
              <a:t>cross-pressure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Having two friends with different attitudes towards the same object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achieve balance and remove ambivalence: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Change attitude toward F1 or F2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81"/>
          <p:cNvSpPr/>
          <p:nvPr/>
        </p:nvSpPr>
        <p:spPr>
          <a:xfrm>
            <a:off x="4903100" y="3380449"/>
            <a:ext cx="818100" cy="816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P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91" name="Google Shape;1691;p81"/>
          <p:cNvSpPr/>
          <p:nvPr/>
        </p:nvSpPr>
        <p:spPr>
          <a:xfrm>
            <a:off x="7742699" y="3380449"/>
            <a:ext cx="818100" cy="8163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Friend 2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92" name="Google Shape;1692;p81"/>
          <p:cNvSpPr/>
          <p:nvPr/>
        </p:nvSpPr>
        <p:spPr>
          <a:xfrm>
            <a:off x="7742699" y="1559325"/>
            <a:ext cx="818100" cy="8163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Oxygen"/>
                <a:ea typeface="Oxygen"/>
                <a:cs typeface="Oxygen"/>
                <a:sym typeface="Oxygen"/>
              </a:rPr>
              <a:t>Taylor</a:t>
            </a:r>
            <a:endParaRPr sz="1500">
              <a:solidFill>
                <a:schemeClr val="lt1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93" name="Google Shape;1693;p81"/>
          <p:cNvCxnSpPr>
            <a:stCxn id="1690" idx="6"/>
            <a:endCxn id="1691" idx="2"/>
          </p:cNvCxnSpPr>
          <p:nvPr/>
        </p:nvCxnSpPr>
        <p:spPr>
          <a:xfrm>
            <a:off x="5721200" y="3788599"/>
            <a:ext cx="2021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94" name="Google Shape;1694;p81"/>
          <p:cNvCxnSpPr>
            <a:stCxn id="1691" idx="0"/>
            <a:endCxn id="1692" idx="4"/>
          </p:cNvCxnSpPr>
          <p:nvPr/>
        </p:nvCxnSpPr>
        <p:spPr>
          <a:xfrm rot="10800000">
            <a:off x="8151749" y="2375749"/>
            <a:ext cx="0" cy="10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95" name="Google Shape;1695;p81"/>
          <p:cNvSpPr/>
          <p:nvPr/>
        </p:nvSpPr>
        <p:spPr>
          <a:xfrm>
            <a:off x="4903100" y="1559325"/>
            <a:ext cx="818100" cy="8163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Oxygen"/>
                <a:ea typeface="Oxygen"/>
                <a:cs typeface="Oxygen"/>
                <a:sym typeface="Oxygen"/>
              </a:rPr>
              <a:t>Friend 1</a:t>
            </a:r>
            <a:endParaRPr sz="13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96" name="Google Shape;1696;p81"/>
          <p:cNvCxnSpPr>
            <a:stCxn id="1690" idx="0"/>
            <a:endCxn id="1695" idx="4"/>
          </p:cNvCxnSpPr>
          <p:nvPr/>
        </p:nvCxnSpPr>
        <p:spPr>
          <a:xfrm rot="10800000">
            <a:off x="5312150" y="2375749"/>
            <a:ext cx="0" cy="10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697" name="Google Shape;1697;p81"/>
          <p:cNvCxnSpPr>
            <a:stCxn id="1695" idx="6"/>
            <a:endCxn id="1692" idx="2"/>
          </p:cNvCxnSpPr>
          <p:nvPr/>
        </p:nvCxnSpPr>
        <p:spPr>
          <a:xfrm>
            <a:off x="5721200" y="1967475"/>
            <a:ext cx="2021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698" name="Google Shape;1698;p81"/>
          <p:cNvCxnSpPr>
            <a:stCxn id="1690" idx="6"/>
            <a:endCxn id="1692" idx="3"/>
          </p:cNvCxnSpPr>
          <p:nvPr/>
        </p:nvCxnSpPr>
        <p:spPr>
          <a:xfrm flipH="1" rot="10800000">
            <a:off x="5721200" y="2256199"/>
            <a:ext cx="2141400" cy="1532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2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p8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Cross-Pressure</a:t>
            </a:r>
            <a:endParaRPr/>
          </a:p>
        </p:txBody>
      </p:sp>
      <p:sp>
        <p:nvSpPr>
          <p:cNvPr id="1704" name="Google Shape;1704;p82"/>
          <p:cNvSpPr txBox="1"/>
          <p:nvPr>
            <p:ph idx="1" type="body"/>
          </p:nvPr>
        </p:nvSpPr>
        <p:spPr>
          <a:xfrm>
            <a:off x="311700" y="1225225"/>
            <a:ext cx="4260300" cy="35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Because we have multiple social relations we are sometimes caught between worlds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</a:t>
            </a:r>
            <a:r>
              <a:rPr b="1" lang="en"/>
              <a:t>cross-pressure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Having two friends with different attitudes towards the same object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achieve balance and remove ambivalence: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Change attitude toward F1 or F2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5" name="Google Shape;1705;p82"/>
          <p:cNvSpPr/>
          <p:nvPr/>
        </p:nvSpPr>
        <p:spPr>
          <a:xfrm>
            <a:off x="4903100" y="3380449"/>
            <a:ext cx="818100" cy="816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P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06" name="Google Shape;1706;p82"/>
          <p:cNvSpPr/>
          <p:nvPr/>
        </p:nvSpPr>
        <p:spPr>
          <a:xfrm>
            <a:off x="7742699" y="3380449"/>
            <a:ext cx="818100" cy="8163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Friend 2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07" name="Google Shape;1707;p82"/>
          <p:cNvSpPr/>
          <p:nvPr/>
        </p:nvSpPr>
        <p:spPr>
          <a:xfrm>
            <a:off x="7742699" y="1559325"/>
            <a:ext cx="818100" cy="8163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Oxygen"/>
                <a:ea typeface="Oxygen"/>
                <a:cs typeface="Oxygen"/>
                <a:sym typeface="Oxygen"/>
              </a:rPr>
              <a:t>Taylor</a:t>
            </a:r>
            <a:endParaRPr sz="1500">
              <a:solidFill>
                <a:schemeClr val="lt1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708" name="Google Shape;1708;p82"/>
          <p:cNvCxnSpPr>
            <a:stCxn id="1705" idx="6"/>
            <a:endCxn id="1706" idx="2"/>
          </p:cNvCxnSpPr>
          <p:nvPr/>
        </p:nvCxnSpPr>
        <p:spPr>
          <a:xfrm>
            <a:off x="5721200" y="3788599"/>
            <a:ext cx="2021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709" name="Google Shape;1709;p82"/>
          <p:cNvCxnSpPr>
            <a:stCxn id="1706" idx="0"/>
            <a:endCxn id="1707" idx="4"/>
          </p:cNvCxnSpPr>
          <p:nvPr/>
        </p:nvCxnSpPr>
        <p:spPr>
          <a:xfrm rot="10800000">
            <a:off x="8151749" y="2375749"/>
            <a:ext cx="0" cy="10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10" name="Google Shape;1710;p82"/>
          <p:cNvSpPr/>
          <p:nvPr/>
        </p:nvSpPr>
        <p:spPr>
          <a:xfrm>
            <a:off x="4903100" y="1559325"/>
            <a:ext cx="818100" cy="8163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Oxygen"/>
                <a:ea typeface="Oxygen"/>
                <a:cs typeface="Oxygen"/>
                <a:sym typeface="Oxygen"/>
              </a:rPr>
              <a:t>Friend 1</a:t>
            </a:r>
            <a:endParaRPr sz="13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711" name="Google Shape;1711;p82"/>
          <p:cNvCxnSpPr>
            <a:stCxn id="1705" idx="0"/>
            <a:endCxn id="1710" idx="4"/>
          </p:cNvCxnSpPr>
          <p:nvPr/>
        </p:nvCxnSpPr>
        <p:spPr>
          <a:xfrm rot="10800000">
            <a:off x="5312150" y="2375749"/>
            <a:ext cx="0" cy="10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12" name="Google Shape;1712;p82"/>
          <p:cNvCxnSpPr>
            <a:stCxn id="1710" idx="6"/>
            <a:endCxn id="1707" idx="2"/>
          </p:cNvCxnSpPr>
          <p:nvPr/>
        </p:nvCxnSpPr>
        <p:spPr>
          <a:xfrm>
            <a:off x="5721200" y="1967475"/>
            <a:ext cx="2021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713" name="Google Shape;1713;p82"/>
          <p:cNvCxnSpPr/>
          <p:nvPr/>
        </p:nvCxnSpPr>
        <p:spPr>
          <a:xfrm flipH="1" rot="10800000">
            <a:off x="5601392" y="1967594"/>
            <a:ext cx="2141400" cy="1532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p8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Cross-Pressure</a:t>
            </a:r>
            <a:endParaRPr/>
          </a:p>
        </p:txBody>
      </p:sp>
      <p:sp>
        <p:nvSpPr>
          <p:cNvPr id="1719" name="Google Shape;1719;p83"/>
          <p:cNvSpPr txBox="1"/>
          <p:nvPr>
            <p:ph idx="1" type="body"/>
          </p:nvPr>
        </p:nvSpPr>
        <p:spPr>
          <a:xfrm>
            <a:off x="311700" y="1225225"/>
            <a:ext cx="4260300" cy="35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Because we have multiple social relations we are sometimes caught between worlds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</a:t>
            </a:r>
            <a:r>
              <a:rPr b="1" lang="en"/>
              <a:t>cross-pressure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Having two friends with different attitudes towards the same object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achieve balance and remove ambivalence: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Change attitude toward F1 or F2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Convince either F1 or F2 to change attitude toward O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0" name="Google Shape;1720;p83"/>
          <p:cNvSpPr/>
          <p:nvPr/>
        </p:nvSpPr>
        <p:spPr>
          <a:xfrm>
            <a:off x="4903100" y="3380449"/>
            <a:ext cx="818100" cy="816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P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21" name="Google Shape;1721;p83"/>
          <p:cNvSpPr/>
          <p:nvPr/>
        </p:nvSpPr>
        <p:spPr>
          <a:xfrm>
            <a:off x="7742699" y="3380449"/>
            <a:ext cx="818100" cy="8163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Friend 2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22" name="Google Shape;1722;p83"/>
          <p:cNvSpPr/>
          <p:nvPr/>
        </p:nvSpPr>
        <p:spPr>
          <a:xfrm>
            <a:off x="7742699" y="1559325"/>
            <a:ext cx="818100" cy="8163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Oxygen"/>
                <a:ea typeface="Oxygen"/>
                <a:cs typeface="Oxygen"/>
                <a:sym typeface="Oxygen"/>
              </a:rPr>
              <a:t>Taylor</a:t>
            </a:r>
            <a:endParaRPr sz="1500">
              <a:solidFill>
                <a:schemeClr val="lt1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723" name="Google Shape;1723;p83"/>
          <p:cNvCxnSpPr>
            <a:stCxn id="1720" idx="6"/>
            <a:endCxn id="1721" idx="2"/>
          </p:cNvCxnSpPr>
          <p:nvPr/>
        </p:nvCxnSpPr>
        <p:spPr>
          <a:xfrm>
            <a:off x="5721200" y="3788599"/>
            <a:ext cx="2021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24" name="Google Shape;1724;p83"/>
          <p:cNvCxnSpPr>
            <a:stCxn id="1721" idx="0"/>
            <a:endCxn id="1722" idx="4"/>
          </p:cNvCxnSpPr>
          <p:nvPr/>
        </p:nvCxnSpPr>
        <p:spPr>
          <a:xfrm rot="10800000">
            <a:off x="8151749" y="2375749"/>
            <a:ext cx="0" cy="10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725" name="Google Shape;1725;p83"/>
          <p:cNvCxnSpPr>
            <a:stCxn id="1720" idx="7"/>
            <a:endCxn id="1722" idx="2"/>
          </p:cNvCxnSpPr>
          <p:nvPr/>
        </p:nvCxnSpPr>
        <p:spPr>
          <a:xfrm flipH="1" rot="10800000">
            <a:off x="5601392" y="1967594"/>
            <a:ext cx="2141400" cy="1532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726" name="Google Shape;1726;p83"/>
          <p:cNvSpPr/>
          <p:nvPr/>
        </p:nvSpPr>
        <p:spPr>
          <a:xfrm>
            <a:off x="4903100" y="1559325"/>
            <a:ext cx="818100" cy="8163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Oxygen"/>
                <a:ea typeface="Oxygen"/>
                <a:cs typeface="Oxygen"/>
                <a:sym typeface="Oxygen"/>
              </a:rPr>
              <a:t>Friend 1</a:t>
            </a:r>
            <a:endParaRPr sz="13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727" name="Google Shape;1727;p83"/>
          <p:cNvCxnSpPr>
            <a:stCxn id="1720" idx="0"/>
            <a:endCxn id="1726" idx="4"/>
          </p:cNvCxnSpPr>
          <p:nvPr/>
        </p:nvCxnSpPr>
        <p:spPr>
          <a:xfrm rot="10800000">
            <a:off x="5312150" y="2375749"/>
            <a:ext cx="0" cy="10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28" name="Google Shape;1728;p83"/>
          <p:cNvCxnSpPr>
            <a:stCxn id="1726" idx="6"/>
            <a:endCxn id="1722" idx="2"/>
          </p:cNvCxnSpPr>
          <p:nvPr/>
        </p:nvCxnSpPr>
        <p:spPr>
          <a:xfrm>
            <a:off x="5721200" y="1967475"/>
            <a:ext cx="2021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2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p8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Cross-Pressure</a:t>
            </a:r>
            <a:endParaRPr/>
          </a:p>
        </p:txBody>
      </p:sp>
      <p:sp>
        <p:nvSpPr>
          <p:cNvPr id="1734" name="Google Shape;1734;p84"/>
          <p:cNvSpPr txBox="1"/>
          <p:nvPr>
            <p:ph idx="1" type="body"/>
          </p:nvPr>
        </p:nvSpPr>
        <p:spPr>
          <a:xfrm>
            <a:off x="311700" y="1225225"/>
            <a:ext cx="4260300" cy="35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Because we have multiple social relations we are sometimes caught between worlds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</a:t>
            </a:r>
            <a:r>
              <a:rPr b="1" lang="en"/>
              <a:t>cross-pressure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Having two friends with different attitudes towards the same object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achieve balance and remove ambivalence: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Change attitude toward F1 or F2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Convince either F1 or F2 to change attitude toward O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5" name="Google Shape;1735;p84"/>
          <p:cNvSpPr/>
          <p:nvPr/>
        </p:nvSpPr>
        <p:spPr>
          <a:xfrm>
            <a:off x="4903100" y="3380449"/>
            <a:ext cx="818100" cy="816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P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36" name="Google Shape;1736;p84"/>
          <p:cNvSpPr/>
          <p:nvPr/>
        </p:nvSpPr>
        <p:spPr>
          <a:xfrm>
            <a:off x="7742699" y="3380449"/>
            <a:ext cx="818100" cy="8163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Friend 2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37" name="Google Shape;1737;p84"/>
          <p:cNvSpPr/>
          <p:nvPr/>
        </p:nvSpPr>
        <p:spPr>
          <a:xfrm>
            <a:off x="7742699" y="1559325"/>
            <a:ext cx="818100" cy="8163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Oxygen"/>
                <a:ea typeface="Oxygen"/>
                <a:cs typeface="Oxygen"/>
                <a:sym typeface="Oxygen"/>
              </a:rPr>
              <a:t>Taylor</a:t>
            </a:r>
            <a:endParaRPr sz="1500">
              <a:solidFill>
                <a:schemeClr val="lt1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738" name="Google Shape;1738;p84"/>
          <p:cNvCxnSpPr>
            <a:stCxn id="1735" idx="6"/>
            <a:endCxn id="1736" idx="2"/>
          </p:cNvCxnSpPr>
          <p:nvPr/>
        </p:nvCxnSpPr>
        <p:spPr>
          <a:xfrm>
            <a:off x="5721200" y="3788599"/>
            <a:ext cx="2021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39" name="Google Shape;1739;p84"/>
          <p:cNvCxnSpPr>
            <a:stCxn id="1736" idx="0"/>
            <a:endCxn id="1737" idx="4"/>
          </p:cNvCxnSpPr>
          <p:nvPr/>
        </p:nvCxnSpPr>
        <p:spPr>
          <a:xfrm rot="10800000">
            <a:off x="8151749" y="2375749"/>
            <a:ext cx="0" cy="10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40" name="Google Shape;1740;p84"/>
          <p:cNvSpPr/>
          <p:nvPr/>
        </p:nvSpPr>
        <p:spPr>
          <a:xfrm>
            <a:off x="4903100" y="1559325"/>
            <a:ext cx="818100" cy="8163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Oxygen"/>
                <a:ea typeface="Oxygen"/>
                <a:cs typeface="Oxygen"/>
                <a:sym typeface="Oxygen"/>
              </a:rPr>
              <a:t>Friend 1</a:t>
            </a:r>
            <a:endParaRPr sz="13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741" name="Google Shape;1741;p84"/>
          <p:cNvCxnSpPr>
            <a:stCxn id="1735" idx="0"/>
            <a:endCxn id="1740" idx="4"/>
          </p:cNvCxnSpPr>
          <p:nvPr/>
        </p:nvCxnSpPr>
        <p:spPr>
          <a:xfrm rot="10800000">
            <a:off x="5312150" y="2375749"/>
            <a:ext cx="0" cy="10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42" name="Google Shape;1742;p84"/>
          <p:cNvCxnSpPr>
            <a:stCxn id="1740" idx="6"/>
            <a:endCxn id="1737" idx="2"/>
          </p:cNvCxnSpPr>
          <p:nvPr/>
        </p:nvCxnSpPr>
        <p:spPr>
          <a:xfrm>
            <a:off x="5721200" y="1967475"/>
            <a:ext cx="2021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43" name="Google Shape;1743;p84"/>
          <p:cNvCxnSpPr>
            <a:stCxn id="1735" idx="6"/>
            <a:endCxn id="1737" idx="3"/>
          </p:cNvCxnSpPr>
          <p:nvPr/>
        </p:nvCxnSpPr>
        <p:spPr>
          <a:xfrm flipH="1" rot="10800000">
            <a:off x="5721200" y="2256199"/>
            <a:ext cx="2141400" cy="1532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8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1749" name="Google Shape;1749;p85"/>
          <p:cNvSpPr txBox="1"/>
          <p:nvPr>
            <p:ph idx="1" type="body"/>
          </p:nvPr>
        </p:nvSpPr>
        <p:spPr>
          <a:xfrm>
            <a:off x="311700" y="1225225"/>
            <a:ext cx="4448100" cy="13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triad is balanced then it is so for both the person the 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just need to change the interpretation!</a:t>
            </a:r>
            <a:endParaRPr/>
          </a:p>
        </p:txBody>
      </p:sp>
      <p:sp>
        <p:nvSpPr>
          <p:cNvPr id="1750" name="Google Shape;1750;p85"/>
          <p:cNvSpPr/>
          <p:nvPr/>
        </p:nvSpPr>
        <p:spPr>
          <a:xfrm>
            <a:off x="4759775" y="2267185"/>
            <a:ext cx="818100" cy="816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P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51" name="Google Shape;1751;p85"/>
          <p:cNvSpPr/>
          <p:nvPr/>
        </p:nvSpPr>
        <p:spPr>
          <a:xfrm>
            <a:off x="7599474" y="3272174"/>
            <a:ext cx="818100" cy="8163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O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52" name="Google Shape;1752;p85"/>
          <p:cNvSpPr/>
          <p:nvPr/>
        </p:nvSpPr>
        <p:spPr>
          <a:xfrm>
            <a:off x="7599474" y="1451050"/>
            <a:ext cx="818100" cy="8163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Q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753" name="Google Shape;1753;p85"/>
          <p:cNvCxnSpPr>
            <a:stCxn id="1750" idx="6"/>
            <a:endCxn id="1751" idx="2"/>
          </p:cNvCxnSpPr>
          <p:nvPr/>
        </p:nvCxnSpPr>
        <p:spPr>
          <a:xfrm>
            <a:off x="5577875" y="2675335"/>
            <a:ext cx="2021700" cy="100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754" name="Google Shape;1754;p85"/>
          <p:cNvCxnSpPr>
            <a:stCxn id="1751" idx="0"/>
            <a:endCxn id="1752" idx="4"/>
          </p:cNvCxnSpPr>
          <p:nvPr/>
        </p:nvCxnSpPr>
        <p:spPr>
          <a:xfrm rot="10800000">
            <a:off x="8008524" y="2267474"/>
            <a:ext cx="0" cy="10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55" name="Google Shape;1755;p85"/>
          <p:cNvCxnSpPr>
            <a:stCxn id="1750" idx="6"/>
            <a:endCxn id="1752" idx="2"/>
          </p:cNvCxnSpPr>
          <p:nvPr/>
        </p:nvCxnSpPr>
        <p:spPr>
          <a:xfrm flipH="1" rot="10800000">
            <a:off x="5577875" y="1859335"/>
            <a:ext cx="2021700" cy="81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9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p8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1761" name="Google Shape;1761;p86"/>
          <p:cNvSpPr txBox="1"/>
          <p:nvPr>
            <p:ph idx="1" type="body"/>
          </p:nvPr>
        </p:nvSpPr>
        <p:spPr>
          <a:xfrm>
            <a:off x="311700" y="1225225"/>
            <a:ext cx="4448100" cy="13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triad is balanced then it is so for both the person the 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just need to change the interpretation!</a:t>
            </a:r>
            <a:endParaRPr/>
          </a:p>
        </p:txBody>
      </p:sp>
      <p:sp>
        <p:nvSpPr>
          <p:cNvPr id="1762" name="Google Shape;1762;p86"/>
          <p:cNvSpPr/>
          <p:nvPr/>
        </p:nvSpPr>
        <p:spPr>
          <a:xfrm>
            <a:off x="4759775" y="2267185"/>
            <a:ext cx="818100" cy="816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P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63" name="Google Shape;1763;p86"/>
          <p:cNvSpPr/>
          <p:nvPr/>
        </p:nvSpPr>
        <p:spPr>
          <a:xfrm>
            <a:off x="7599474" y="3272174"/>
            <a:ext cx="818100" cy="8163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O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64" name="Google Shape;1764;p86"/>
          <p:cNvSpPr/>
          <p:nvPr/>
        </p:nvSpPr>
        <p:spPr>
          <a:xfrm>
            <a:off x="7599474" y="1451050"/>
            <a:ext cx="818100" cy="8163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Q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765" name="Google Shape;1765;p86"/>
          <p:cNvCxnSpPr>
            <a:stCxn id="1762" idx="6"/>
            <a:endCxn id="1763" idx="2"/>
          </p:cNvCxnSpPr>
          <p:nvPr/>
        </p:nvCxnSpPr>
        <p:spPr>
          <a:xfrm>
            <a:off x="5577875" y="2675335"/>
            <a:ext cx="2021700" cy="100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766" name="Google Shape;1766;p86"/>
          <p:cNvCxnSpPr>
            <a:stCxn id="1763" idx="0"/>
            <a:endCxn id="1764" idx="4"/>
          </p:cNvCxnSpPr>
          <p:nvPr/>
        </p:nvCxnSpPr>
        <p:spPr>
          <a:xfrm rot="10800000">
            <a:off x="8008524" y="2267474"/>
            <a:ext cx="0" cy="10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67" name="Google Shape;1767;p86"/>
          <p:cNvCxnSpPr>
            <a:stCxn id="1762" idx="6"/>
            <a:endCxn id="1764" idx="2"/>
          </p:cNvCxnSpPr>
          <p:nvPr/>
        </p:nvCxnSpPr>
        <p:spPr>
          <a:xfrm flipH="1" rot="10800000">
            <a:off x="5577875" y="1859335"/>
            <a:ext cx="2021700" cy="81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768" name="Google Shape;1768;p86"/>
          <p:cNvSpPr/>
          <p:nvPr/>
        </p:nvSpPr>
        <p:spPr>
          <a:xfrm>
            <a:off x="231850" y="3427200"/>
            <a:ext cx="4369200" cy="13464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When this node is P, then it would be “a friend of an enemy is an enemy”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769" name="Google Shape;1769;p86"/>
          <p:cNvCxnSpPr>
            <a:stCxn id="1768" idx="7"/>
            <a:endCxn id="1762" idx="3"/>
          </p:cNvCxnSpPr>
          <p:nvPr/>
        </p:nvCxnSpPr>
        <p:spPr>
          <a:xfrm flipH="1" rot="10800000">
            <a:off x="3961195" y="2964076"/>
            <a:ext cx="918300" cy="660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3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p8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1775" name="Google Shape;1775;p87"/>
          <p:cNvSpPr txBox="1"/>
          <p:nvPr>
            <p:ph idx="1" type="body"/>
          </p:nvPr>
        </p:nvSpPr>
        <p:spPr>
          <a:xfrm>
            <a:off x="311700" y="1225225"/>
            <a:ext cx="4448100" cy="13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triad is balanced then it is so for both the person the 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just need to change the interpretation!</a:t>
            </a:r>
            <a:endParaRPr/>
          </a:p>
        </p:txBody>
      </p:sp>
      <p:sp>
        <p:nvSpPr>
          <p:cNvPr id="1776" name="Google Shape;1776;p87"/>
          <p:cNvSpPr/>
          <p:nvPr/>
        </p:nvSpPr>
        <p:spPr>
          <a:xfrm>
            <a:off x="4759775" y="2267185"/>
            <a:ext cx="818100" cy="8163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O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77" name="Google Shape;1777;p87"/>
          <p:cNvSpPr/>
          <p:nvPr/>
        </p:nvSpPr>
        <p:spPr>
          <a:xfrm>
            <a:off x="7599474" y="3272174"/>
            <a:ext cx="818100" cy="816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P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78" name="Google Shape;1778;p87"/>
          <p:cNvSpPr/>
          <p:nvPr/>
        </p:nvSpPr>
        <p:spPr>
          <a:xfrm>
            <a:off x="7599474" y="1451050"/>
            <a:ext cx="818100" cy="8163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Q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779" name="Google Shape;1779;p87"/>
          <p:cNvCxnSpPr>
            <a:stCxn id="1776" idx="6"/>
            <a:endCxn id="1777" idx="2"/>
          </p:cNvCxnSpPr>
          <p:nvPr/>
        </p:nvCxnSpPr>
        <p:spPr>
          <a:xfrm>
            <a:off x="5577875" y="2675335"/>
            <a:ext cx="2021700" cy="100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stealth"/>
            <a:tailEnd len="med" w="med" type="none"/>
          </a:ln>
        </p:spPr>
      </p:cxnSp>
      <p:cxnSp>
        <p:nvCxnSpPr>
          <p:cNvPr id="1780" name="Google Shape;1780;p87"/>
          <p:cNvCxnSpPr>
            <a:stCxn id="1777" idx="0"/>
            <a:endCxn id="1778" idx="4"/>
          </p:cNvCxnSpPr>
          <p:nvPr/>
        </p:nvCxnSpPr>
        <p:spPr>
          <a:xfrm rot="10800000">
            <a:off x="8008524" y="2267474"/>
            <a:ext cx="0" cy="10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81" name="Google Shape;1781;p87"/>
          <p:cNvCxnSpPr>
            <a:stCxn id="1776" idx="6"/>
            <a:endCxn id="1778" idx="2"/>
          </p:cNvCxnSpPr>
          <p:nvPr/>
        </p:nvCxnSpPr>
        <p:spPr>
          <a:xfrm flipH="1" rot="10800000">
            <a:off x="5577875" y="1859335"/>
            <a:ext cx="2021700" cy="81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782" name="Google Shape;1782;p87"/>
          <p:cNvSpPr/>
          <p:nvPr/>
        </p:nvSpPr>
        <p:spPr>
          <a:xfrm>
            <a:off x="231850" y="3427200"/>
            <a:ext cx="4369200" cy="13464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When this node is P, then it would be “an enemy of an enemy is a friend”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783" name="Google Shape;1783;p87"/>
          <p:cNvCxnSpPr>
            <a:stCxn id="1782" idx="6"/>
            <a:endCxn id="1777" idx="3"/>
          </p:cNvCxnSpPr>
          <p:nvPr/>
        </p:nvCxnSpPr>
        <p:spPr>
          <a:xfrm flipH="1" rot="10800000">
            <a:off x="4601050" y="3969000"/>
            <a:ext cx="3118200" cy="131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p8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1789" name="Google Shape;1789;p88"/>
          <p:cNvSpPr txBox="1"/>
          <p:nvPr>
            <p:ph idx="1" type="body"/>
          </p:nvPr>
        </p:nvSpPr>
        <p:spPr>
          <a:xfrm>
            <a:off x="311700" y="1225225"/>
            <a:ext cx="4448100" cy="13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triad is balanced then it is so for both the person the 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just need to change the interpretation!</a:t>
            </a:r>
            <a:endParaRPr/>
          </a:p>
        </p:txBody>
      </p:sp>
      <p:sp>
        <p:nvSpPr>
          <p:cNvPr id="1790" name="Google Shape;1790;p88"/>
          <p:cNvSpPr/>
          <p:nvPr/>
        </p:nvSpPr>
        <p:spPr>
          <a:xfrm>
            <a:off x="4759775" y="2267185"/>
            <a:ext cx="818100" cy="8163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Q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91" name="Google Shape;1791;p88"/>
          <p:cNvSpPr/>
          <p:nvPr/>
        </p:nvSpPr>
        <p:spPr>
          <a:xfrm>
            <a:off x="7599474" y="3272174"/>
            <a:ext cx="818100" cy="8163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O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92" name="Google Shape;1792;p88"/>
          <p:cNvSpPr/>
          <p:nvPr/>
        </p:nvSpPr>
        <p:spPr>
          <a:xfrm>
            <a:off x="7599474" y="1451050"/>
            <a:ext cx="818100" cy="816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P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793" name="Google Shape;1793;p88"/>
          <p:cNvCxnSpPr>
            <a:stCxn id="1790" idx="6"/>
            <a:endCxn id="1791" idx="2"/>
          </p:cNvCxnSpPr>
          <p:nvPr/>
        </p:nvCxnSpPr>
        <p:spPr>
          <a:xfrm>
            <a:off x="5577875" y="2675335"/>
            <a:ext cx="2021700" cy="100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stealth"/>
            <a:tailEnd len="med" w="med" type="none"/>
          </a:ln>
        </p:spPr>
      </p:cxnSp>
      <p:cxnSp>
        <p:nvCxnSpPr>
          <p:cNvPr id="1794" name="Google Shape;1794;p88"/>
          <p:cNvCxnSpPr>
            <a:stCxn id="1791" idx="0"/>
            <a:endCxn id="1792" idx="4"/>
          </p:cNvCxnSpPr>
          <p:nvPr/>
        </p:nvCxnSpPr>
        <p:spPr>
          <a:xfrm rot="10800000">
            <a:off x="8008524" y="2267474"/>
            <a:ext cx="0" cy="10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95" name="Google Shape;1795;p88"/>
          <p:cNvCxnSpPr>
            <a:stCxn id="1790" idx="6"/>
            <a:endCxn id="1792" idx="2"/>
          </p:cNvCxnSpPr>
          <p:nvPr/>
        </p:nvCxnSpPr>
        <p:spPr>
          <a:xfrm flipH="1" rot="10800000">
            <a:off x="5577875" y="1859335"/>
            <a:ext cx="2021700" cy="81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stealth"/>
            <a:tailEnd len="med" w="med" type="none"/>
          </a:ln>
        </p:spPr>
      </p:cxnSp>
      <p:sp>
        <p:nvSpPr>
          <p:cNvPr id="1796" name="Google Shape;1796;p88"/>
          <p:cNvSpPr/>
          <p:nvPr/>
        </p:nvSpPr>
        <p:spPr>
          <a:xfrm>
            <a:off x="231850" y="3427200"/>
            <a:ext cx="4369200" cy="13464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When this node is P, then it would be “an enemy of a friend is an enemy”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797" name="Google Shape;1797;p88"/>
          <p:cNvCxnSpPr>
            <a:stCxn id="1796" idx="6"/>
            <a:endCxn id="1792" idx="3"/>
          </p:cNvCxnSpPr>
          <p:nvPr/>
        </p:nvCxnSpPr>
        <p:spPr>
          <a:xfrm flipH="1" rot="10800000">
            <a:off x="4601050" y="2147700"/>
            <a:ext cx="3118200" cy="1952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Google Shape;1802;p8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1803" name="Google Shape;1803;p89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triad is balanced then it is so for both the person the 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just need to change the interpretation!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that we can define balance as a triad level property regardless of “perspective”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node A: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“Friends of enemies are enemies”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nodes B and C: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“Enemies of friends are enemies”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triad is balanced for everyone!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4" name="Google Shape;1804;p89"/>
          <p:cNvSpPr/>
          <p:nvPr/>
        </p:nvSpPr>
        <p:spPr>
          <a:xfrm>
            <a:off x="4759775" y="2267185"/>
            <a:ext cx="818100" cy="816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A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05" name="Google Shape;1805;p89"/>
          <p:cNvSpPr/>
          <p:nvPr/>
        </p:nvSpPr>
        <p:spPr>
          <a:xfrm>
            <a:off x="7599474" y="3272174"/>
            <a:ext cx="818100" cy="816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B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06" name="Google Shape;1806;p89"/>
          <p:cNvSpPr/>
          <p:nvPr/>
        </p:nvSpPr>
        <p:spPr>
          <a:xfrm>
            <a:off x="7599474" y="1451050"/>
            <a:ext cx="818100" cy="816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C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807" name="Google Shape;1807;p89"/>
          <p:cNvCxnSpPr>
            <a:stCxn id="1804" idx="6"/>
            <a:endCxn id="1805" idx="2"/>
          </p:cNvCxnSpPr>
          <p:nvPr/>
        </p:nvCxnSpPr>
        <p:spPr>
          <a:xfrm>
            <a:off x="5577875" y="2675335"/>
            <a:ext cx="2021700" cy="100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08" name="Google Shape;1808;p89"/>
          <p:cNvCxnSpPr>
            <a:stCxn id="1805" idx="0"/>
            <a:endCxn id="1806" idx="4"/>
          </p:cNvCxnSpPr>
          <p:nvPr/>
        </p:nvCxnSpPr>
        <p:spPr>
          <a:xfrm rot="10800000">
            <a:off x="8008524" y="2267474"/>
            <a:ext cx="0" cy="10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9" name="Google Shape;1809;p89"/>
          <p:cNvCxnSpPr>
            <a:stCxn id="1804" idx="6"/>
            <a:endCxn id="1806" idx="2"/>
          </p:cNvCxnSpPr>
          <p:nvPr/>
        </p:nvCxnSpPr>
        <p:spPr>
          <a:xfrm flipH="1" rot="10800000">
            <a:off x="5577875" y="1859335"/>
            <a:ext cx="2021700" cy="81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813" name="Shape 1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Google Shape;1814;p90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8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p91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Signed graphs</a:t>
            </a:r>
            <a:r>
              <a:rPr lang="en"/>
              <a:t> are a special kind of graph featuring: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edge set (V)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 = {A, B, C, D, E, F}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disjoint</a:t>
            </a:r>
            <a:r>
              <a:rPr lang="en"/>
              <a:t> sets of edges: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>
                <a:solidFill>
                  <a:srgbClr val="0000FF"/>
                </a:solidFill>
              </a:rPr>
              <a:t>Positive links</a:t>
            </a:r>
            <a:r>
              <a:rPr lang="en"/>
              <a:t> (E</a:t>
            </a:r>
            <a:r>
              <a:rPr baseline="30000" lang="en"/>
              <a:t>+</a:t>
            </a:r>
            <a:r>
              <a:rPr lang="en"/>
              <a:t>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</a:t>
            </a:r>
            <a:r>
              <a:rPr baseline="30000" lang="en"/>
              <a:t>+</a:t>
            </a:r>
            <a:r>
              <a:rPr lang="en"/>
              <a:t> = {AC, AE, AF, CF, CE}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>
                <a:solidFill>
                  <a:srgbClr val="FF0000"/>
                </a:solidFill>
              </a:rPr>
              <a:t>Negative links</a:t>
            </a:r>
            <a:r>
              <a:rPr lang="en"/>
              <a:t> (E</a:t>
            </a:r>
            <a:r>
              <a:rPr baseline="30000" lang="en"/>
              <a:t>-</a:t>
            </a:r>
            <a:r>
              <a:rPr lang="en"/>
              <a:t>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</a:t>
            </a:r>
            <a:r>
              <a:rPr baseline="30000" lang="en"/>
              <a:t>-</a:t>
            </a:r>
            <a:r>
              <a:rPr lang="en"/>
              <a:t> = {AB, BC, BD, CD, DF, EF}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G= {V, E</a:t>
            </a:r>
            <a:r>
              <a:rPr baseline="30000" lang="en"/>
              <a:t>+</a:t>
            </a:r>
            <a:r>
              <a:rPr lang="en"/>
              <a:t>, E</a:t>
            </a:r>
            <a:r>
              <a:rPr baseline="30000" lang="en"/>
              <a:t>-</a:t>
            </a:r>
            <a:r>
              <a:rPr lang="en"/>
              <a:t>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|V| = 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|E</a:t>
            </a:r>
            <a:r>
              <a:rPr baseline="30000" lang="en"/>
              <a:t>+</a:t>
            </a:r>
            <a:r>
              <a:rPr lang="en"/>
              <a:t>| = 5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|E</a:t>
            </a:r>
            <a:r>
              <a:rPr baseline="30000" lang="en"/>
              <a:t>-</a:t>
            </a:r>
            <a:r>
              <a:rPr lang="en"/>
              <a:t> | = 6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0" name="Google Shape;1820;p9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1821" name="Google Shape;1821;p91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22" name="Google Shape;1822;p91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823" name="Google Shape;1823;p91"/>
          <p:cNvCxnSpPr>
            <a:stCxn id="1821" idx="6"/>
            <a:endCxn id="1822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24" name="Google Shape;1824;p91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825" name="Google Shape;1825;p91"/>
          <p:cNvCxnSpPr>
            <a:stCxn id="1824" idx="2"/>
            <a:endCxn id="1822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26" name="Google Shape;1826;p91"/>
          <p:cNvSpPr/>
          <p:nvPr/>
        </p:nvSpPr>
        <p:spPr>
          <a:xfrm>
            <a:off x="8042008" y="3389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827" name="Google Shape;1827;p91"/>
          <p:cNvCxnSpPr>
            <a:stCxn id="1826" idx="2"/>
            <a:endCxn id="1824" idx="2"/>
          </p:cNvCxnSpPr>
          <p:nvPr/>
        </p:nvCxnSpPr>
        <p:spPr>
          <a:xfrm rot="10800000">
            <a:off x="8042008" y="2208421"/>
            <a:ext cx="0" cy="148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28" name="Google Shape;1828;p91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29" name="Google Shape;1829;p91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830" name="Google Shape;1830;p91"/>
          <p:cNvCxnSpPr>
            <a:stCxn id="1821" idx="6"/>
            <a:endCxn id="1829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1" name="Google Shape;1831;p91"/>
          <p:cNvCxnSpPr>
            <a:stCxn id="1829" idx="6"/>
            <a:endCxn id="1828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32" name="Google Shape;1832;p91"/>
          <p:cNvCxnSpPr>
            <a:stCxn id="1829" idx="6"/>
            <a:endCxn id="1826" idx="2"/>
          </p:cNvCxnSpPr>
          <p:nvPr/>
        </p:nvCxnSpPr>
        <p:spPr>
          <a:xfrm flipH="1" rot="10800000">
            <a:off x="5373308" y="3695521"/>
            <a:ext cx="2668800" cy="39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33" name="Google Shape;1833;p91"/>
          <p:cNvCxnSpPr>
            <a:stCxn id="1821" idx="6"/>
            <a:endCxn id="1824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4" name="Google Shape;1834;p91"/>
          <p:cNvCxnSpPr>
            <a:stCxn id="1828" idx="6"/>
            <a:endCxn id="1824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5" name="Google Shape;1835;p91"/>
          <p:cNvCxnSpPr>
            <a:stCxn id="1821" idx="6"/>
            <a:endCxn id="1828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6" name="Google Shape;1836;p91"/>
          <p:cNvCxnSpPr>
            <a:stCxn id="1829" idx="6"/>
            <a:endCxn id="1824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7" name="Google Shape;1837;p91"/>
          <p:cNvCxnSpPr>
            <a:stCxn id="1826" idx="2"/>
          </p:cNvCxnSpPr>
          <p:nvPr/>
        </p:nvCxnSpPr>
        <p:spPr>
          <a:xfrm rot="10800000">
            <a:off x="7166908" y="1749721"/>
            <a:ext cx="875100" cy="194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p92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Signed graphs</a:t>
            </a:r>
            <a:r>
              <a:rPr lang="en"/>
              <a:t> are a special kind of graph featuring: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edge set (V)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 = {A, B, C, D, E, F}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disjoint</a:t>
            </a:r>
            <a:r>
              <a:rPr lang="en"/>
              <a:t> sets of edges: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>
                <a:solidFill>
                  <a:srgbClr val="0000FF"/>
                </a:solidFill>
              </a:rPr>
              <a:t>Positive links</a:t>
            </a:r>
            <a:r>
              <a:rPr lang="en"/>
              <a:t> (E</a:t>
            </a:r>
            <a:r>
              <a:rPr baseline="30000" lang="en"/>
              <a:t>+</a:t>
            </a:r>
            <a:r>
              <a:rPr lang="en"/>
              <a:t>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</a:t>
            </a:r>
            <a:r>
              <a:rPr baseline="30000" lang="en"/>
              <a:t>+</a:t>
            </a:r>
            <a:r>
              <a:rPr lang="en"/>
              <a:t> = {AC, AE, AF, CF, CE}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>
                <a:solidFill>
                  <a:srgbClr val="FF0000"/>
                </a:solidFill>
              </a:rPr>
              <a:t>Negative links</a:t>
            </a:r>
            <a:r>
              <a:rPr lang="en"/>
              <a:t> (E</a:t>
            </a:r>
            <a:r>
              <a:rPr baseline="30000" lang="en"/>
              <a:t>-</a:t>
            </a:r>
            <a:r>
              <a:rPr lang="en"/>
              <a:t>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</a:t>
            </a:r>
            <a:r>
              <a:rPr baseline="30000" lang="en"/>
              <a:t>-</a:t>
            </a:r>
            <a:r>
              <a:rPr lang="en"/>
              <a:t> = {AB, BC, BD, CD, DF, EF}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G= {V, E</a:t>
            </a:r>
            <a:r>
              <a:rPr baseline="30000" lang="en"/>
              <a:t>+</a:t>
            </a:r>
            <a:r>
              <a:rPr lang="en"/>
              <a:t>, E</a:t>
            </a:r>
            <a:r>
              <a:rPr baseline="30000" lang="en"/>
              <a:t>-</a:t>
            </a:r>
            <a:r>
              <a:rPr lang="en"/>
              <a:t>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|V| = 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|E</a:t>
            </a:r>
            <a:r>
              <a:rPr baseline="30000" lang="en"/>
              <a:t>+</a:t>
            </a:r>
            <a:r>
              <a:rPr lang="en"/>
              <a:t>| = 5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|E</a:t>
            </a:r>
            <a:r>
              <a:rPr baseline="30000" lang="en"/>
              <a:t>-</a:t>
            </a:r>
            <a:r>
              <a:rPr lang="en"/>
              <a:t> | = 6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3" name="Google Shape;1843;p9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1844" name="Google Shape;1844;p92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45" name="Google Shape;1845;p92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846" name="Google Shape;1846;p92"/>
          <p:cNvCxnSpPr>
            <a:stCxn id="1844" idx="6"/>
            <a:endCxn id="1845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47" name="Google Shape;1847;p92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848" name="Google Shape;1848;p92"/>
          <p:cNvCxnSpPr>
            <a:stCxn id="1847" idx="2"/>
            <a:endCxn id="1845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49" name="Google Shape;1849;p92"/>
          <p:cNvSpPr/>
          <p:nvPr/>
        </p:nvSpPr>
        <p:spPr>
          <a:xfrm>
            <a:off x="8042008" y="3389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850" name="Google Shape;1850;p92"/>
          <p:cNvCxnSpPr>
            <a:stCxn id="1849" idx="2"/>
            <a:endCxn id="1847" idx="2"/>
          </p:cNvCxnSpPr>
          <p:nvPr/>
        </p:nvCxnSpPr>
        <p:spPr>
          <a:xfrm rot="10800000">
            <a:off x="8042008" y="2208421"/>
            <a:ext cx="0" cy="148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51" name="Google Shape;1851;p92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52" name="Google Shape;1852;p92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853" name="Google Shape;1853;p92"/>
          <p:cNvCxnSpPr>
            <a:stCxn id="1844" idx="6"/>
            <a:endCxn id="1852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4" name="Google Shape;1854;p92"/>
          <p:cNvCxnSpPr>
            <a:stCxn id="1852" idx="6"/>
            <a:endCxn id="1851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55" name="Google Shape;1855;p92"/>
          <p:cNvCxnSpPr>
            <a:stCxn id="1852" idx="6"/>
            <a:endCxn id="1849" idx="2"/>
          </p:cNvCxnSpPr>
          <p:nvPr/>
        </p:nvCxnSpPr>
        <p:spPr>
          <a:xfrm flipH="1" rot="10800000">
            <a:off x="5373308" y="3695521"/>
            <a:ext cx="2668800" cy="39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56" name="Google Shape;1856;p92"/>
          <p:cNvCxnSpPr>
            <a:stCxn id="1844" idx="6"/>
            <a:endCxn id="1847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7" name="Google Shape;1857;p92"/>
          <p:cNvCxnSpPr>
            <a:stCxn id="1851" idx="6"/>
            <a:endCxn id="1847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8" name="Google Shape;1858;p92"/>
          <p:cNvCxnSpPr>
            <a:stCxn id="1844" idx="6"/>
            <a:endCxn id="1851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9" name="Google Shape;1859;p92"/>
          <p:cNvCxnSpPr>
            <a:stCxn id="1852" idx="6"/>
            <a:endCxn id="1847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0" name="Google Shape;1860;p92"/>
          <p:cNvCxnSpPr>
            <a:stCxn id="1849" idx="2"/>
          </p:cNvCxnSpPr>
          <p:nvPr/>
        </p:nvCxnSpPr>
        <p:spPr>
          <a:xfrm rot="10800000">
            <a:off x="7166908" y="1749721"/>
            <a:ext cx="875100" cy="194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61" name="Google Shape;1861;p92"/>
          <p:cNvSpPr/>
          <p:nvPr/>
        </p:nvSpPr>
        <p:spPr>
          <a:xfrm>
            <a:off x="481825" y="3597475"/>
            <a:ext cx="3950400" cy="13188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Two sets are disjoint when they don’t share any members! (Their intersection is the empty set ∅)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862" name="Google Shape;1862;p92"/>
          <p:cNvSpPr txBox="1"/>
          <p:nvPr/>
        </p:nvSpPr>
        <p:spPr>
          <a:xfrm>
            <a:off x="5591175" y="45792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6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p93"/>
          <p:cNvSpPr txBox="1"/>
          <p:nvPr>
            <p:ph idx="1" type="body"/>
          </p:nvPr>
        </p:nvSpPr>
        <p:spPr>
          <a:xfrm>
            <a:off x="311700" y="1225225"/>
            <a:ext cx="4448100" cy="38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adjacency matrix of a signed graph works just like before: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put a </a:t>
            </a:r>
            <a:r>
              <a:rPr b="1" lang="en"/>
              <a:t>one</a:t>
            </a:r>
            <a:r>
              <a:rPr lang="en"/>
              <a:t> if nodes are linked by a </a:t>
            </a:r>
            <a:r>
              <a:rPr b="1" lang="en"/>
              <a:t>positive </a:t>
            </a:r>
            <a:r>
              <a:rPr lang="en"/>
              <a:t>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8" name="Google Shape;1868;p9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1869" name="Google Shape;1869;p93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70" name="Google Shape;1870;p93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871" name="Google Shape;1871;p93"/>
          <p:cNvCxnSpPr>
            <a:stCxn id="1869" idx="6"/>
            <a:endCxn id="1870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72" name="Google Shape;1872;p93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873" name="Google Shape;1873;p93"/>
          <p:cNvCxnSpPr>
            <a:stCxn id="1872" idx="2"/>
            <a:endCxn id="1870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74" name="Google Shape;1874;p93"/>
          <p:cNvSpPr/>
          <p:nvPr/>
        </p:nvSpPr>
        <p:spPr>
          <a:xfrm>
            <a:off x="8042008" y="3389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875" name="Google Shape;1875;p93"/>
          <p:cNvCxnSpPr>
            <a:stCxn id="1874" idx="2"/>
            <a:endCxn id="1872" idx="2"/>
          </p:cNvCxnSpPr>
          <p:nvPr/>
        </p:nvCxnSpPr>
        <p:spPr>
          <a:xfrm rot="10800000">
            <a:off x="8042008" y="2208421"/>
            <a:ext cx="0" cy="148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76" name="Google Shape;1876;p93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77" name="Google Shape;1877;p93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878" name="Google Shape;1878;p93"/>
          <p:cNvCxnSpPr>
            <a:stCxn id="1869" idx="6"/>
            <a:endCxn id="1877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9" name="Google Shape;1879;p93"/>
          <p:cNvCxnSpPr>
            <a:stCxn id="1877" idx="6"/>
            <a:endCxn id="1876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80" name="Google Shape;1880;p93"/>
          <p:cNvCxnSpPr>
            <a:stCxn id="1877" idx="6"/>
            <a:endCxn id="1874" idx="2"/>
          </p:cNvCxnSpPr>
          <p:nvPr/>
        </p:nvCxnSpPr>
        <p:spPr>
          <a:xfrm flipH="1" rot="10800000">
            <a:off x="5373308" y="3695521"/>
            <a:ext cx="2668800" cy="39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81" name="Google Shape;1881;p93"/>
          <p:cNvCxnSpPr>
            <a:stCxn id="1869" idx="6"/>
            <a:endCxn id="1872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2" name="Google Shape;1882;p93"/>
          <p:cNvCxnSpPr>
            <a:stCxn id="1876" idx="6"/>
            <a:endCxn id="1872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3" name="Google Shape;1883;p93"/>
          <p:cNvCxnSpPr>
            <a:stCxn id="1869" idx="6"/>
            <a:endCxn id="1876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4" name="Google Shape;1884;p93"/>
          <p:cNvCxnSpPr>
            <a:stCxn id="1877" idx="6"/>
            <a:endCxn id="1872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5" name="Google Shape;1885;p93"/>
          <p:cNvCxnSpPr>
            <a:stCxn id="1874" idx="2"/>
          </p:cNvCxnSpPr>
          <p:nvPr/>
        </p:nvCxnSpPr>
        <p:spPr>
          <a:xfrm rot="10800000">
            <a:off x="7166908" y="1749721"/>
            <a:ext cx="875100" cy="194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86" name="Google Shape;1886;p93"/>
          <p:cNvSpPr txBox="1"/>
          <p:nvPr/>
        </p:nvSpPr>
        <p:spPr>
          <a:xfrm>
            <a:off x="5591175" y="45792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1887" name="Google Shape;1887;p93"/>
          <p:cNvGraphicFramePr/>
          <p:nvPr/>
        </p:nvGraphicFramePr>
        <p:xfrm>
          <a:off x="816038" y="20463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{3773FF8F-8FC9-4D74-9ADC-7274F113E1BC}</a:tableStyleId>
              </a:tblPr>
              <a:tblGrid>
                <a:gridCol w="453575"/>
                <a:gridCol w="453575"/>
                <a:gridCol w="453575"/>
                <a:gridCol w="453575"/>
                <a:gridCol w="453575"/>
                <a:gridCol w="453575"/>
                <a:gridCol w="453575"/>
              </a:tblGrid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A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B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C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D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E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F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A</a:t>
                      </a:r>
                      <a:endParaRPr baseline="-25000"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B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C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D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E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  <a:tr h="336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F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Google Shape;1892;p94"/>
          <p:cNvSpPr txBox="1"/>
          <p:nvPr>
            <p:ph idx="1" type="body"/>
          </p:nvPr>
        </p:nvSpPr>
        <p:spPr>
          <a:xfrm>
            <a:off x="311700" y="1225225"/>
            <a:ext cx="4448100" cy="38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adjacency matrix of a signed graph works just like before: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put a </a:t>
            </a:r>
            <a:r>
              <a:rPr b="1" lang="en"/>
              <a:t>minus one</a:t>
            </a:r>
            <a:r>
              <a:rPr lang="en"/>
              <a:t> if nodes are linked by a </a:t>
            </a:r>
            <a:r>
              <a:rPr b="1" lang="en"/>
              <a:t>negative</a:t>
            </a:r>
            <a:r>
              <a:rPr b="1" lang="en"/>
              <a:t> </a:t>
            </a:r>
            <a:r>
              <a:rPr lang="en"/>
              <a:t>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3" name="Google Shape;1893;p9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1894" name="Google Shape;1894;p94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95" name="Google Shape;1895;p94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896" name="Google Shape;1896;p94"/>
          <p:cNvCxnSpPr>
            <a:stCxn id="1894" idx="6"/>
            <a:endCxn id="1895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97" name="Google Shape;1897;p94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898" name="Google Shape;1898;p94"/>
          <p:cNvCxnSpPr>
            <a:stCxn id="1897" idx="2"/>
            <a:endCxn id="1895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99" name="Google Shape;1899;p94"/>
          <p:cNvSpPr/>
          <p:nvPr/>
        </p:nvSpPr>
        <p:spPr>
          <a:xfrm>
            <a:off x="8042008" y="3389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900" name="Google Shape;1900;p94"/>
          <p:cNvCxnSpPr>
            <a:stCxn id="1899" idx="2"/>
            <a:endCxn id="1897" idx="2"/>
          </p:cNvCxnSpPr>
          <p:nvPr/>
        </p:nvCxnSpPr>
        <p:spPr>
          <a:xfrm rot="10800000">
            <a:off x="8042008" y="2208421"/>
            <a:ext cx="0" cy="1487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01" name="Google Shape;1901;p94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02" name="Google Shape;1902;p94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903" name="Google Shape;1903;p94"/>
          <p:cNvCxnSpPr>
            <a:stCxn id="1894" idx="6"/>
            <a:endCxn id="1902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4" name="Google Shape;1904;p94"/>
          <p:cNvCxnSpPr>
            <a:stCxn id="1902" idx="6"/>
            <a:endCxn id="1901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05" name="Google Shape;1905;p94"/>
          <p:cNvCxnSpPr>
            <a:stCxn id="1902" idx="6"/>
            <a:endCxn id="1899" idx="2"/>
          </p:cNvCxnSpPr>
          <p:nvPr/>
        </p:nvCxnSpPr>
        <p:spPr>
          <a:xfrm flipH="1" rot="10800000">
            <a:off x="5373308" y="3695521"/>
            <a:ext cx="2668800" cy="39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06" name="Google Shape;1906;p94"/>
          <p:cNvCxnSpPr>
            <a:stCxn id="1894" idx="6"/>
            <a:endCxn id="1897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7" name="Google Shape;1907;p94"/>
          <p:cNvCxnSpPr>
            <a:stCxn id="1901" idx="6"/>
            <a:endCxn id="1897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8" name="Google Shape;1908;p94"/>
          <p:cNvCxnSpPr>
            <a:stCxn id="1894" idx="6"/>
            <a:endCxn id="1901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9" name="Google Shape;1909;p94"/>
          <p:cNvCxnSpPr>
            <a:stCxn id="1902" idx="6"/>
            <a:endCxn id="1897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0" name="Google Shape;1910;p94"/>
          <p:cNvCxnSpPr>
            <a:stCxn id="1899" idx="2"/>
          </p:cNvCxnSpPr>
          <p:nvPr/>
        </p:nvCxnSpPr>
        <p:spPr>
          <a:xfrm rot="10800000">
            <a:off x="7166908" y="1749721"/>
            <a:ext cx="875100" cy="194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11" name="Google Shape;1911;p94"/>
          <p:cNvSpPr txBox="1"/>
          <p:nvPr/>
        </p:nvSpPr>
        <p:spPr>
          <a:xfrm>
            <a:off x="5591175" y="45792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1912" name="Google Shape;1912;p94"/>
          <p:cNvGraphicFramePr/>
          <p:nvPr/>
        </p:nvGraphicFramePr>
        <p:xfrm>
          <a:off x="816038" y="20463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{3773FF8F-8FC9-4D74-9ADC-7274F113E1BC}</a:tableStyleId>
              </a:tblPr>
              <a:tblGrid>
                <a:gridCol w="453575"/>
                <a:gridCol w="453575"/>
                <a:gridCol w="453575"/>
                <a:gridCol w="453575"/>
                <a:gridCol w="453575"/>
                <a:gridCol w="453575"/>
                <a:gridCol w="453575"/>
              </a:tblGrid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A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B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C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D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E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F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A</a:t>
                      </a:r>
                      <a:endParaRPr baseline="-25000"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B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C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D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E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336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F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6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p95"/>
          <p:cNvSpPr txBox="1"/>
          <p:nvPr>
            <p:ph idx="1" type="body"/>
          </p:nvPr>
        </p:nvSpPr>
        <p:spPr>
          <a:xfrm>
            <a:off x="311700" y="1225225"/>
            <a:ext cx="4448100" cy="38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adjacency matrix of a signed graph works just like before: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put a </a:t>
            </a:r>
            <a:r>
              <a:rPr b="1" lang="en"/>
              <a:t>zero</a:t>
            </a:r>
            <a:r>
              <a:rPr lang="en"/>
              <a:t> if nodes are </a:t>
            </a:r>
            <a:r>
              <a:rPr b="1" lang="en"/>
              <a:t>not adjacent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8" name="Google Shape;1918;p9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1919" name="Google Shape;1919;p95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20" name="Google Shape;1920;p95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921" name="Google Shape;1921;p95"/>
          <p:cNvCxnSpPr>
            <a:stCxn id="1919" idx="6"/>
            <a:endCxn id="1920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22" name="Google Shape;1922;p95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923" name="Google Shape;1923;p95"/>
          <p:cNvCxnSpPr>
            <a:stCxn id="1922" idx="2"/>
            <a:endCxn id="1920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24" name="Google Shape;1924;p95"/>
          <p:cNvSpPr/>
          <p:nvPr/>
        </p:nvSpPr>
        <p:spPr>
          <a:xfrm>
            <a:off x="8042008" y="3389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925" name="Google Shape;1925;p95"/>
          <p:cNvCxnSpPr>
            <a:stCxn id="1924" idx="2"/>
            <a:endCxn id="1922" idx="2"/>
          </p:cNvCxnSpPr>
          <p:nvPr/>
        </p:nvCxnSpPr>
        <p:spPr>
          <a:xfrm rot="10800000">
            <a:off x="8042008" y="2208421"/>
            <a:ext cx="0" cy="148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26" name="Google Shape;1926;p95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27" name="Google Shape;1927;p95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928" name="Google Shape;1928;p95"/>
          <p:cNvCxnSpPr>
            <a:stCxn id="1919" idx="6"/>
            <a:endCxn id="1927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9" name="Google Shape;1929;p95"/>
          <p:cNvCxnSpPr>
            <a:stCxn id="1927" idx="6"/>
            <a:endCxn id="1926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30" name="Google Shape;1930;p95"/>
          <p:cNvCxnSpPr>
            <a:stCxn id="1927" idx="6"/>
            <a:endCxn id="1924" idx="2"/>
          </p:cNvCxnSpPr>
          <p:nvPr/>
        </p:nvCxnSpPr>
        <p:spPr>
          <a:xfrm flipH="1" rot="10800000">
            <a:off x="5373308" y="3695521"/>
            <a:ext cx="2668800" cy="39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31" name="Google Shape;1931;p95"/>
          <p:cNvCxnSpPr>
            <a:stCxn id="1919" idx="6"/>
            <a:endCxn id="1922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2" name="Google Shape;1932;p95"/>
          <p:cNvCxnSpPr>
            <a:stCxn id="1926" idx="6"/>
            <a:endCxn id="1922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3" name="Google Shape;1933;p95"/>
          <p:cNvCxnSpPr>
            <a:stCxn id="1919" idx="6"/>
            <a:endCxn id="1926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4" name="Google Shape;1934;p95"/>
          <p:cNvCxnSpPr>
            <a:stCxn id="1927" idx="6"/>
            <a:endCxn id="1922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5" name="Google Shape;1935;p95"/>
          <p:cNvCxnSpPr>
            <a:stCxn id="1924" idx="2"/>
          </p:cNvCxnSpPr>
          <p:nvPr/>
        </p:nvCxnSpPr>
        <p:spPr>
          <a:xfrm rot="10800000">
            <a:off x="7166908" y="1749721"/>
            <a:ext cx="875100" cy="194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36" name="Google Shape;1936;p95"/>
          <p:cNvSpPr txBox="1"/>
          <p:nvPr/>
        </p:nvSpPr>
        <p:spPr>
          <a:xfrm>
            <a:off x="5591175" y="45792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1937" name="Google Shape;1937;p95"/>
          <p:cNvGraphicFramePr/>
          <p:nvPr/>
        </p:nvGraphicFramePr>
        <p:xfrm>
          <a:off x="816038" y="20463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{3773FF8F-8FC9-4D74-9ADC-7274F113E1BC}</a:tableStyleId>
              </a:tblPr>
              <a:tblGrid>
                <a:gridCol w="453575"/>
                <a:gridCol w="453575"/>
                <a:gridCol w="453575"/>
                <a:gridCol w="453575"/>
                <a:gridCol w="453575"/>
                <a:gridCol w="453575"/>
                <a:gridCol w="453575"/>
              </a:tblGrid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A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B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C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D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E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F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A</a:t>
                      </a:r>
                      <a:endParaRPr baseline="-25000"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B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0" marB="0" marR="0" marL="0" anchor="ctr"/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C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D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E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336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F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941" name="Shape 1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Google Shape;1942;p96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6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p9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1948" name="Google Shape;1948;p97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 Balance Theory applies to </a:t>
            </a:r>
            <a:r>
              <a:rPr b="1" lang="en"/>
              <a:t>complete signed graphs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complete signed graph is a graph in which every node is connected by </a:t>
            </a:r>
            <a:r>
              <a:rPr b="1" lang="en"/>
              <a:t>either</a:t>
            </a:r>
            <a:r>
              <a:rPr lang="en"/>
              <a:t> a positive line or a negative line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9" name="Google Shape;1949;p97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50" name="Google Shape;1950;p97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951" name="Google Shape;1951;p97"/>
          <p:cNvCxnSpPr>
            <a:stCxn id="1949" idx="6"/>
            <a:endCxn id="1950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2" name="Google Shape;1952;p97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953" name="Google Shape;1953;p97"/>
          <p:cNvCxnSpPr>
            <a:stCxn id="1952" idx="2"/>
            <a:endCxn id="1950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54" name="Google Shape;1954;p97"/>
          <p:cNvSpPr/>
          <p:nvPr/>
        </p:nvSpPr>
        <p:spPr>
          <a:xfrm>
            <a:off x="8042008" y="3389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955" name="Google Shape;1955;p97"/>
          <p:cNvCxnSpPr>
            <a:stCxn id="1954" idx="2"/>
            <a:endCxn id="1952" idx="2"/>
          </p:cNvCxnSpPr>
          <p:nvPr/>
        </p:nvCxnSpPr>
        <p:spPr>
          <a:xfrm rot="10800000">
            <a:off x="8042008" y="2208421"/>
            <a:ext cx="0" cy="148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6" name="Google Shape;1956;p97"/>
          <p:cNvCxnSpPr>
            <a:stCxn id="1949" idx="6"/>
            <a:endCxn id="1954" idx="2"/>
          </p:cNvCxnSpPr>
          <p:nvPr/>
        </p:nvCxnSpPr>
        <p:spPr>
          <a:xfrm>
            <a:off x="5373300" y="2208534"/>
            <a:ext cx="2668800" cy="148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57" name="Google Shape;1957;p97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58" name="Google Shape;1958;p97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959" name="Google Shape;1959;p97"/>
          <p:cNvCxnSpPr>
            <a:stCxn id="1949" idx="6"/>
            <a:endCxn id="1958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0" name="Google Shape;1960;p97"/>
          <p:cNvCxnSpPr>
            <a:stCxn id="1958" idx="6"/>
            <a:endCxn id="1957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61" name="Google Shape;1961;p97"/>
          <p:cNvCxnSpPr>
            <a:stCxn id="1957" idx="6"/>
            <a:endCxn id="1954" idx="2"/>
          </p:cNvCxnSpPr>
          <p:nvPr/>
        </p:nvCxnSpPr>
        <p:spPr>
          <a:xfrm flipH="1" rot="10800000">
            <a:off x="7014408" y="3695646"/>
            <a:ext cx="1027500" cy="57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2" name="Google Shape;1962;p97"/>
          <p:cNvCxnSpPr>
            <a:stCxn id="1958" idx="6"/>
            <a:endCxn id="1950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3" name="Google Shape;1963;p97"/>
          <p:cNvCxnSpPr>
            <a:stCxn id="1954" idx="2"/>
            <a:endCxn id="1950" idx="6"/>
          </p:cNvCxnSpPr>
          <p:nvPr/>
        </p:nvCxnSpPr>
        <p:spPr>
          <a:xfrm rot="10800000">
            <a:off x="7014508" y="1597321"/>
            <a:ext cx="1027500" cy="209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64" name="Google Shape;1964;p97"/>
          <p:cNvCxnSpPr>
            <a:stCxn id="1958" idx="6"/>
            <a:endCxn id="1954" idx="2"/>
          </p:cNvCxnSpPr>
          <p:nvPr/>
        </p:nvCxnSpPr>
        <p:spPr>
          <a:xfrm flipH="1" rot="10800000">
            <a:off x="5373308" y="3695521"/>
            <a:ext cx="2668800" cy="39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65" name="Google Shape;1965;p97"/>
          <p:cNvCxnSpPr>
            <a:stCxn id="1949" idx="6"/>
            <a:endCxn id="1952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66" name="Google Shape;1966;p97"/>
          <p:cNvCxnSpPr>
            <a:stCxn id="1957" idx="6"/>
            <a:endCxn id="1952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7" name="Google Shape;1967;p97"/>
          <p:cNvCxnSpPr>
            <a:stCxn id="1949" idx="6"/>
            <a:endCxn id="1957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68" name="Google Shape;1968;p97"/>
          <p:cNvCxnSpPr>
            <a:stCxn id="1957" idx="0"/>
            <a:endCxn id="1950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69" name="Google Shape;1969;p97"/>
          <p:cNvCxnSpPr>
            <a:stCxn id="1958" idx="6"/>
            <a:endCxn id="1952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70" name="Google Shape;1970;p97"/>
          <p:cNvSpPr txBox="1"/>
          <p:nvPr/>
        </p:nvSpPr>
        <p:spPr>
          <a:xfrm>
            <a:off x="5298675" y="4632025"/>
            <a:ext cx="2817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Complete </a:t>
            </a: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4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5" name="Google Shape;1975;p9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1976" name="Google Shape;1976;p98"/>
          <p:cNvSpPr txBox="1"/>
          <p:nvPr>
            <p:ph idx="1" type="body"/>
          </p:nvPr>
        </p:nvSpPr>
        <p:spPr>
          <a:xfrm>
            <a:off x="311700" y="1225225"/>
            <a:ext cx="4448100" cy="7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 Balance Theory applies to </a:t>
            </a:r>
            <a:r>
              <a:rPr b="1" lang="en"/>
              <a:t>complete signed graphs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7" name="Google Shape;1977;p98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78" name="Google Shape;1978;p98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979" name="Google Shape;1979;p98"/>
          <p:cNvCxnSpPr>
            <a:stCxn id="1977" idx="6"/>
            <a:endCxn id="1978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0" name="Google Shape;1980;p98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981" name="Google Shape;1981;p98"/>
          <p:cNvCxnSpPr>
            <a:stCxn id="1980" idx="2"/>
            <a:endCxn id="1978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82" name="Google Shape;1982;p98"/>
          <p:cNvSpPr/>
          <p:nvPr/>
        </p:nvSpPr>
        <p:spPr>
          <a:xfrm>
            <a:off x="8042008" y="3389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983" name="Google Shape;1983;p98"/>
          <p:cNvCxnSpPr>
            <a:stCxn id="1982" idx="2"/>
            <a:endCxn id="1980" idx="2"/>
          </p:cNvCxnSpPr>
          <p:nvPr/>
        </p:nvCxnSpPr>
        <p:spPr>
          <a:xfrm rot="10800000">
            <a:off x="8042008" y="2208421"/>
            <a:ext cx="0" cy="148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4" name="Google Shape;1984;p98"/>
          <p:cNvCxnSpPr>
            <a:stCxn id="1977" idx="6"/>
            <a:endCxn id="1982" idx="2"/>
          </p:cNvCxnSpPr>
          <p:nvPr/>
        </p:nvCxnSpPr>
        <p:spPr>
          <a:xfrm>
            <a:off x="5373300" y="2208534"/>
            <a:ext cx="2668800" cy="148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85" name="Google Shape;1985;p98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86" name="Google Shape;1986;p98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987" name="Google Shape;1987;p98"/>
          <p:cNvCxnSpPr>
            <a:stCxn id="1977" idx="6"/>
            <a:endCxn id="1986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8" name="Google Shape;1988;p98"/>
          <p:cNvCxnSpPr>
            <a:stCxn id="1986" idx="6"/>
            <a:endCxn id="1985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89" name="Google Shape;1989;p98"/>
          <p:cNvCxnSpPr>
            <a:stCxn id="1985" idx="6"/>
            <a:endCxn id="1982" idx="2"/>
          </p:cNvCxnSpPr>
          <p:nvPr/>
        </p:nvCxnSpPr>
        <p:spPr>
          <a:xfrm flipH="1" rot="10800000">
            <a:off x="7014408" y="3695646"/>
            <a:ext cx="1027500" cy="57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0" name="Google Shape;1990;p98"/>
          <p:cNvCxnSpPr>
            <a:stCxn id="1986" idx="6"/>
            <a:endCxn id="1978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1" name="Google Shape;1991;p98"/>
          <p:cNvCxnSpPr>
            <a:stCxn id="1982" idx="2"/>
            <a:endCxn id="1978" idx="6"/>
          </p:cNvCxnSpPr>
          <p:nvPr/>
        </p:nvCxnSpPr>
        <p:spPr>
          <a:xfrm rot="10800000">
            <a:off x="7014508" y="1597321"/>
            <a:ext cx="1027500" cy="209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92" name="Google Shape;1992;p98"/>
          <p:cNvCxnSpPr>
            <a:stCxn id="1986" idx="6"/>
            <a:endCxn id="1982" idx="2"/>
          </p:cNvCxnSpPr>
          <p:nvPr/>
        </p:nvCxnSpPr>
        <p:spPr>
          <a:xfrm flipH="1" rot="10800000">
            <a:off x="5373308" y="3695521"/>
            <a:ext cx="2668800" cy="39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93" name="Google Shape;1993;p98"/>
          <p:cNvCxnSpPr>
            <a:stCxn id="1977" idx="6"/>
            <a:endCxn id="1980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94" name="Google Shape;1994;p98"/>
          <p:cNvCxnSpPr>
            <a:stCxn id="1985" idx="6"/>
            <a:endCxn id="1980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5" name="Google Shape;1995;p98"/>
          <p:cNvCxnSpPr>
            <a:stCxn id="1977" idx="6"/>
            <a:endCxn id="1985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96" name="Google Shape;1996;p98"/>
          <p:cNvCxnSpPr>
            <a:stCxn id="1985" idx="0"/>
            <a:endCxn id="1978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97" name="Google Shape;1997;p98"/>
          <p:cNvCxnSpPr>
            <a:stCxn id="1986" idx="6"/>
            <a:endCxn id="1980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98" name="Google Shape;1998;p98"/>
          <p:cNvSpPr txBox="1"/>
          <p:nvPr/>
        </p:nvSpPr>
        <p:spPr>
          <a:xfrm>
            <a:off x="5298675" y="4632025"/>
            <a:ext cx="2817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Complete Undirected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1999" name="Google Shape;1999;p98"/>
          <p:cNvGraphicFramePr/>
          <p:nvPr/>
        </p:nvGraphicFramePr>
        <p:xfrm>
          <a:off x="816038" y="20463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{3773FF8F-8FC9-4D74-9ADC-7274F113E1BC}</a:tableStyleId>
              </a:tblPr>
              <a:tblGrid>
                <a:gridCol w="453575"/>
                <a:gridCol w="453575"/>
                <a:gridCol w="453575"/>
                <a:gridCol w="453575"/>
                <a:gridCol w="453575"/>
                <a:gridCol w="453575"/>
                <a:gridCol w="453575"/>
              </a:tblGrid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A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B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C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D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E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F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A</a:t>
                      </a:r>
                      <a:endParaRPr baseline="-25000"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B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/>
                    </a:p>
                  </a:txBody>
                  <a:tcPr marT="0" marB="0" marR="0" marL="0" anchor="ctr"/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C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D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E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/>
                </a:tc>
              </a:tr>
              <a:tr h="336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F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p99"/>
          <p:cNvSpPr txBox="1"/>
          <p:nvPr>
            <p:ph idx="1" type="body"/>
          </p:nvPr>
        </p:nvSpPr>
        <p:spPr>
          <a:xfrm>
            <a:off x="311700" y="1225225"/>
            <a:ext cx="4448100" cy="15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</a:t>
            </a:r>
            <a:r>
              <a:rPr b="1" lang="en"/>
              <a:t>complete signed graph </a:t>
            </a:r>
            <a:r>
              <a:rPr b="1" lang="en"/>
              <a:t>only</a:t>
            </a:r>
            <a:r>
              <a:rPr lang="en"/>
              <a:t> contains </a:t>
            </a:r>
            <a:r>
              <a:rPr b="1" lang="en"/>
              <a:t>balanced</a:t>
            </a:r>
            <a:r>
              <a:rPr lang="en"/>
              <a:t> </a:t>
            </a:r>
            <a:r>
              <a:rPr b="1" lang="en"/>
              <a:t>triads</a:t>
            </a:r>
            <a:r>
              <a:rPr lang="en"/>
              <a:t> then the graph is also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can be a whole network property!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5" name="Google Shape;2005;p9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2006" name="Google Shape;2006;p99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07" name="Google Shape;2007;p99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08" name="Google Shape;2008;p99"/>
          <p:cNvCxnSpPr>
            <a:stCxn id="2006" idx="6"/>
            <a:endCxn id="2007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9" name="Google Shape;2009;p99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10" name="Google Shape;2010;p99"/>
          <p:cNvCxnSpPr>
            <a:stCxn id="2009" idx="2"/>
            <a:endCxn id="2007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11" name="Google Shape;2011;p99"/>
          <p:cNvSpPr/>
          <p:nvPr/>
        </p:nvSpPr>
        <p:spPr>
          <a:xfrm>
            <a:off x="8042008" y="339242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12" name="Google Shape;2012;p99"/>
          <p:cNvCxnSpPr>
            <a:stCxn id="2011" idx="2"/>
            <a:endCxn id="2009" idx="2"/>
          </p:cNvCxnSpPr>
          <p:nvPr/>
        </p:nvCxnSpPr>
        <p:spPr>
          <a:xfrm rot="10800000">
            <a:off x="8042008" y="2208624"/>
            <a:ext cx="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3" name="Google Shape;2013;p99"/>
          <p:cNvCxnSpPr>
            <a:stCxn id="2006" idx="6"/>
            <a:endCxn id="2011" idx="2"/>
          </p:cNvCxnSpPr>
          <p:nvPr/>
        </p:nvCxnSpPr>
        <p:spPr>
          <a:xfrm>
            <a:off x="5373300" y="2208534"/>
            <a:ext cx="26688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14" name="Google Shape;2014;p99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15" name="Google Shape;2015;p99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16" name="Google Shape;2016;p99"/>
          <p:cNvCxnSpPr>
            <a:stCxn id="2006" idx="6"/>
            <a:endCxn id="2015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7" name="Google Shape;2017;p99"/>
          <p:cNvCxnSpPr>
            <a:stCxn id="2015" idx="6"/>
            <a:endCxn id="2014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18" name="Google Shape;2018;p99"/>
          <p:cNvCxnSpPr>
            <a:stCxn id="2014" idx="6"/>
            <a:endCxn id="2011" idx="2"/>
          </p:cNvCxnSpPr>
          <p:nvPr/>
        </p:nvCxnSpPr>
        <p:spPr>
          <a:xfrm flipH="1" rot="10800000">
            <a:off x="7014408" y="3698046"/>
            <a:ext cx="1027500" cy="5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9" name="Google Shape;2019;p99"/>
          <p:cNvCxnSpPr>
            <a:stCxn id="2015" idx="6"/>
            <a:endCxn id="2007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0" name="Google Shape;2020;p99"/>
          <p:cNvCxnSpPr>
            <a:stCxn id="2011" idx="2"/>
            <a:endCxn id="2007" idx="6"/>
          </p:cNvCxnSpPr>
          <p:nvPr/>
        </p:nvCxnSpPr>
        <p:spPr>
          <a:xfrm rot="10800000">
            <a:off x="7014508" y="1597224"/>
            <a:ext cx="1027500" cy="210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21" name="Google Shape;2021;p99"/>
          <p:cNvCxnSpPr>
            <a:stCxn id="2015" idx="6"/>
            <a:endCxn id="2011" idx="2"/>
          </p:cNvCxnSpPr>
          <p:nvPr/>
        </p:nvCxnSpPr>
        <p:spPr>
          <a:xfrm flipH="1" rot="10800000">
            <a:off x="5373308" y="3698221"/>
            <a:ext cx="2668800" cy="3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22" name="Google Shape;2022;p99"/>
          <p:cNvCxnSpPr>
            <a:stCxn id="2006" idx="6"/>
            <a:endCxn id="2009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23" name="Google Shape;2023;p99"/>
          <p:cNvCxnSpPr>
            <a:stCxn id="2014" idx="6"/>
            <a:endCxn id="2009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4" name="Google Shape;2024;p99"/>
          <p:cNvCxnSpPr>
            <a:stCxn id="2006" idx="6"/>
            <a:endCxn id="2014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25" name="Google Shape;2025;p99"/>
          <p:cNvCxnSpPr>
            <a:stCxn id="2014" idx="0"/>
            <a:endCxn id="2007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26" name="Google Shape;2026;p99"/>
          <p:cNvCxnSpPr>
            <a:stCxn id="2015" idx="6"/>
            <a:endCxn id="2009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27" name="Google Shape;2027;p99"/>
          <p:cNvSpPr/>
          <p:nvPr/>
        </p:nvSpPr>
        <p:spPr>
          <a:xfrm>
            <a:off x="1320625" y="275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28" name="Google Shape;2028;p99"/>
          <p:cNvSpPr/>
          <p:nvPr/>
        </p:nvSpPr>
        <p:spPr>
          <a:xfrm>
            <a:off x="1958416" y="305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29" name="Google Shape;2029;p99"/>
          <p:cNvCxnSpPr>
            <a:stCxn id="2027" idx="6"/>
            <a:endCxn id="2028" idx="2"/>
          </p:cNvCxnSpPr>
          <p:nvPr/>
        </p:nvCxnSpPr>
        <p:spPr>
          <a:xfrm>
            <a:off x="1559125" y="287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0" name="Google Shape;2030;p99"/>
          <p:cNvSpPr/>
          <p:nvPr/>
        </p:nvSpPr>
        <p:spPr>
          <a:xfrm>
            <a:off x="1320628" y="334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31" name="Google Shape;2031;p99"/>
          <p:cNvCxnSpPr>
            <a:stCxn id="2027" idx="4"/>
            <a:endCxn id="2030" idx="0"/>
          </p:cNvCxnSpPr>
          <p:nvPr/>
        </p:nvCxnSpPr>
        <p:spPr>
          <a:xfrm>
            <a:off x="1439875" y="299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2" name="Google Shape;2032;p99"/>
          <p:cNvCxnSpPr>
            <a:stCxn id="2030" idx="6"/>
            <a:endCxn id="2028" idx="2"/>
          </p:cNvCxnSpPr>
          <p:nvPr/>
        </p:nvCxnSpPr>
        <p:spPr>
          <a:xfrm flipH="1" rot="10800000">
            <a:off x="1559128" y="317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3" name="Google Shape;2033;p99"/>
          <p:cNvSpPr/>
          <p:nvPr/>
        </p:nvSpPr>
        <p:spPr>
          <a:xfrm>
            <a:off x="2730334" y="275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34" name="Google Shape;2034;p99"/>
          <p:cNvSpPr/>
          <p:nvPr/>
        </p:nvSpPr>
        <p:spPr>
          <a:xfrm>
            <a:off x="3368125" y="304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35" name="Google Shape;2035;p99"/>
          <p:cNvCxnSpPr>
            <a:stCxn id="2033" idx="6"/>
            <a:endCxn id="2034" idx="2"/>
          </p:cNvCxnSpPr>
          <p:nvPr/>
        </p:nvCxnSpPr>
        <p:spPr>
          <a:xfrm>
            <a:off x="2968834" y="287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36" name="Google Shape;2036;p99"/>
          <p:cNvSpPr/>
          <p:nvPr/>
        </p:nvSpPr>
        <p:spPr>
          <a:xfrm>
            <a:off x="2730337" y="334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37" name="Google Shape;2037;p99"/>
          <p:cNvCxnSpPr>
            <a:stCxn id="2033" idx="4"/>
            <a:endCxn id="2036" idx="0"/>
          </p:cNvCxnSpPr>
          <p:nvPr/>
        </p:nvCxnSpPr>
        <p:spPr>
          <a:xfrm>
            <a:off x="2849584" y="298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8" name="Google Shape;2038;p99"/>
          <p:cNvCxnSpPr>
            <a:stCxn id="2036" idx="6"/>
            <a:endCxn id="2034" idx="2"/>
          </p:cNvCxnSpPr>
          <p:nvPr/>
        </p:nvCxnSpPr>
        <p:spPr>
          <a:xfrm flipH="1" rot="10800000">
            <a:off x="2968837" y="316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39" name="Google Shape;2039;p99"/>
          <p:cNvSpPr/>
          <p:nvPr/>
        </p:nvSpPr>
        <p:spPr>
          <a:xfrm>
            <a:off x="1371575" y="394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40" name="Google Shape;2040;p99"/>
          <p:cNvSpPr/>
          <p:nvPr/>
        </p:nvSpPr>
        <p:spPr>
          <a:xfrm>
            <a:off x="2009366" y="424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41" name="Google Shape;2041;p99"/>
          <p:cNvCxnSpPr>
            <a:stCxn id="2039" idx="6"/>
            <a:endCxn id="2040" idx="2"/>
          </p:cNvCxnSpPr>
          <p:nvPr/>
        </p:nvCxnSpPr>
        <p:spPr>
          <a:xfrm>
            <a:off x="1610075" y="406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2" name="Google Shape;2042;p99"/>
          <p:cNvSpPr/>
          <p:nvPr/>
        </p:nvSpPr>
        <p:spPr>
          <a:xfrm>
            <a:off x="1371578" y="453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43" name="Google Shape;2043;p99"/>
          <p:cNvCxnSpPr>
            <a:stCxn id="2039" idx="4"/>
            <a:endCxn id="2042" idx="0"/>
          </p:cNvCxnSpPr>
          <p:nvPr/>
        </p:nvCxnSpPr>
        <p:spPr>
          <a:xfrm>
            <a:off x="1490825" y="418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4" name="Google Shape;2044;p99"/>
          <p:cNvCxnSpPr>
            <a:stCxn id="2042" idx="6"/>
            <a:endCxn id="2040" idx="2"/>
          </p:cNvCxnSpPr>
          <p:nvPr/>
        </p:nvCxnSpPr>
        <p:spPr>
          <a:xfrm flipH="1" rot="10800000">
            <a:off x="1610078" y="436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45" name="Google Shape;2045;p99"/>
          <p:cNvSpPr/>
          <p:nvPr/>
        </p:nvSpPr>
        <p:spPr>
          <a:xfrm>
            <a:off x="2781284" y="394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46" name="Google Shape;2046;p99"/>
          <p:cNvSpPr/>
          <p:nvPr/>
        </p:nvSpPr>
        <p:spPr>
          <a:xfrm>
            <a:off x="3419075" y="423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47" name="Google Shape;2047;p99"/>
          <p:cNvCxnSpPr>
            <a:stCxn id="2045" idx="6"/>
            <a:endCxn id="2046" idx="2"/>
          </p:cNvCxnSpPr>
          <p:nvPr/>
        </p:nvCxnSpPr>
        <p:spPr>
          <a:xfrm>
            <a:off x="3019784" y="406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48" name="Google Shape;2048;p99"/>
          <p:cNvSpPr/>
          <p:nvPr/>
        </p:nvSpPr>
        <p:spPr>
          <a:xfrm>
            <a:off x="2781287" y="453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49" name="Google Shape;2049;p99"/>
          <p:cNvCxnSpPr>
            <a:stCxn id="2045" idx="4"/>
            <a:endCxn id="2048" idx="0"/>
          </p:cNvCxnSpPr>
          <p:nvPr/>
        </p:nvCxnSpPr>
        <p:spPr>
          <a:xfrm>
            <a:off x="2900534" y="417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50" name="Google Shape;2050;p99"/>
          <p:cNvCxnSpPr>
            <a:stCxn id="2048" idx="6"/>
            <a:endCxn id="2046" idx="2"/>
          </p:cNvCxnSpPr>
          <p:nvPr/>
        </p:nvCxnSpPr>
        <p:spPr>
          <a:xfrm flipH="1" rot="10800000">
            <a:off x="3019787" y="435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51" name="Google Shape;2051;p99"/>
          <p:cNvSpPr txBox="1"/>
          <p:nvPr/>
        </p:nvSpPr>
        <p:spPr>
          <a:xfrm>
            <a:off x="1439875" y="3529688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052" name="Google Shape;2052;p99"/>
          <p:cNvSpPr txBox="1"/>
          <p:nvPr/>
        </p:nvSpPr>
        <p:spPr>
          <a:xfrm>
            <a:off x="1485350" y="4776875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Unbalanced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053" name="Google Shape;2053;p99"/>
          <p:cNvSpPr txBox="1"/>
          <p:nvPr/>
        </p:nvSpPr>
        <p:spPr>
          <a:xfrm>
            <a:off x="3840200" y="4651700"/>
            <a:ext cx="41373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Cartwright and Harary (1956: 284, Fig. 4)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7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p100"/>
          <p:cNvSpPr txBox="1"/>
          <p:nvPr>
            <p:ph idx="1" type="body"/>
          </p:nvPr>
        </p:nvSpPr>
        <p:spPr>
          <a:xfrm>
            <a:off x="311700" y="1225225"/>
            <a:ext cx="4448100" cy="15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whole signed graph </a:t>
            </a:r>
            <a:r>
              <a:rPr b="1" lang="en"/>
              <a:t>only</a:t>
            </a:r>
            <a:r>
              <a:rPr lang="en"/>
              <a:t> contains </a:t>
            </a:r>
            <a:r>
              <a:rPr b="1" lang="en"/>
              <a:t>balanced</a:t>
            </a:r>
            <a:r>
              <a:rPr lang="en"/>
              <a:t> triads then the graph is also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can be a whole network property!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9" name="Google Shape;2059;p10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2060" name="Google Shape;2060;p100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61" name="Google Shape;2061;p100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62" name="Google Shape;2062;p100"/>
          <p:cNvCxnSpPr>
            <a:stCxn id="2060" idx="6"/>
            <a:endCxn id="2061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3" name="Google Shape;2063;p100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64" name="Google Shape;2064;p100"/>
          <p:cNvCxnSpPr>
            <a:stCxn id="2063" idx="2"/>
            <a:endCxn id="2061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65" name="Google Shape;2065;p100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66" name="Google Shape;2066;p100"/>
          <p:cNvCxnSpPr>
            <a:stCxn id="2065" idx="2"/>
            <a:endCxn id="2063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7" name="Google Shape;2067;p100"/>
          <p:cNvCxnSpPr>
            <a:stCxn id="2060" idx="6"/>
            <a:endCxn id="2065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68" name="Google Shape;2068;p100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69" name="Google Shape;2069;p100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70" name="Google Shape;2070;p100"/>
          <p:cNvCxnSpPr>
            <a:stCxn id="2060" idx="6"/>
            <a:endCxn id="2069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1" name="Google Shape;2071;p100"/>
          <p:cNvCxnSpPr>
            <a:stCxn id="2069" idx="6"/>
            <a:endCxn id="2068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72" name="Google Shape;2072;p100"/>
          <p:cNvCxnSpPr>
            <a:stCxn id="2068" idx="6"/>
            <a:endCxn id="2065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3" name="Google Shape;2073;p100"/>
          <p:cNvCxnSpPr>
            <a:stCxn id="2069" idx="6"/>
            <a:endCxn id="2061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4" name="Google Shape;2074;p100"/>
          <p:cNvCxnSpPr>
            <a:stCxn id="2065" idx="2"/>
            <a:endCxn id="2061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75" name="Google Shape;2075;p100"/>
          <p:cNvCxnSpPr>
            <a:stCxn id="2069" idx="6"/>
            <a:endCxn id="2065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76" name="Google Shape;2076;p100"/>
          <p:cNvCxnSpPr>
            <a:stCxn id="2060" idx="6"/>
            <a:endCxn id="2063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77" name="Google Shape;2077;p100"/>
          <p:cNvCxnSpPr>
            <a:stCxn id="2068" idx="6"/>
            <a:endCxn id="2063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8" name="Google Shape;2078;p100"/>
          <p:cNvCxnSpPr>
            <a:stCxn id="2060" idx="6"/>
            <a:endCxn id="2068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79" name="Google Shape;2079;p100"/>
          <p:cNvCxnSpPr>
            <a:stCxn id="2068" idx="0"/>
            <a:endCxn id="2061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80" name="Google Shape;2080;p100"/>
          <p:cNvCxnSpPr>
            <a:stCxn id="2069" idx="6"/>
            <a:endCxn id="2063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81" name="Google Shape;2081;p100"/>
          <p:cNvSpPr/>
          <p:nvPr/>
        </p:nvSpPr>
        <p:spPr>
          <a:xfrm>
            <a:off x="3648288" y="4271225"/>
            <a:ext cx="2398800" cy="6450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Only these triads exist in a balanced graph!</a:t>
            </a:r>
            <a:endParaRPr b="1" sz="12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82" name="Google Shape;2082;p100"/>
          <p:cNvSpPr/>
          <p:nvPr/>
        </p:nvSpPr>
        <p:spPr>
          <a:xfrm>
            <a:off x="1320625" y="275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83" name="Google Shape;2083;p100"/>
          <p:cNvSpPr/>
          <p:nvPr/>
        </p:nvSpPr>
        <p:spPr>
          <a:xfrm>
            <a:off x="1958416" y="305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84" name="Google Shape;2084;p100"/>
          <p:cNvCxnSpPr>
            <a:stCxn id="2082" idx="6"/>
            <a:endCxn id="2083" idx="2"/>
          </p:cNvCxnSpPr>
          <p:nvPr/>
        </p:nvCxnSpPr>
        <p:spPr>
          <a:xfrm>
            <a:off x="1559125" y="287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5" name="Google Shape;2085;p100"/>
          <p:cNvSpPr/>
          <p:nvPr/>
        </p:nvSpPr>
        <p:spPr>
          <a:xfrm>
            <a:off x="1320628" y="334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86" name="Google Shape;2086;p100"/>
          <p:cNvCxnSpPr>
            <a:stCxn id="2082" idx="4"/>
            <a:endCxn id="2085" idx="0"/>
          </p:cNvCxnSpPr>
          <p:nvPr/>
        </p:nvCxnSpPr>
        <p:spPr>
          <a:xfrm>
            <a:off x="1439875" y="299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7" name="Google Shape;2087;p100"/>
          <p:cNvCxnSpPr>
            <a:stCxn id="2085" idx="6"/>
            <a:endCxn id="2083" idx="2"/>
          </p:cNvCxnSpPr>
          <p:nvPr/>
        </p:nvCxnSpPr>
        <p:spPr>
          <a:xfrm flipH="1" rot="10800000">
            <a:off x="1559128" y="317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8" name="Google Shape;2088;p100"/>
          <p:cNvSpPr/>
          <p:nvPr/>
        </p:nvSpPr>
        <p:spPr>
          <a:xfrm>
            <a:off x="2730334" y="275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89" name="Google Shape;2089;p100"/>
          <p:cNvSpPr/>
          <p:nvPr/>
        </p:nvSpPr>
        <p:spPr>
          <a:xfrm>
            <a:off x="3368125" y="304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90" name="Google Shape;2090;p100"/>
          <p:cNvCxnSpPr>
            <a:stCxn id="2088" idx="6"/>
            <a:endCxn id="2089" idx="2"/>
          </p:cNvCxnSpPr>
          <p:nvPr/>
        </p:nvCxnSpPr>
        <p:spPr>
          <a:xfrm>
            <a:off x="2968834" y="287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91" name="Google Shape;2091;p100"/>
          <p:cNvSpPr/>
          <p:nvPr/>
        </p:nvSpPr>
        <p:spPr>
          <a:xfrm>
            <a:off x="2730337" y="334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92" name="Google Shape;2092;p100"/>
          <p:cNvCxnSpPr>
            <a:stCxn id="2088" idx="4"/>
            <a:endCxn id="2091" idx="0"/>
          </p:cNvCxnSpPr>
          <p:nvPr/>
        </p:nvCxnSpPr>
        <p:spPr>
          <a:xfrm>
            <a:off x="2849584" y="298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3" name="Google Shape;2093;p100"/>
          <p:cNvCxnSpPr>
            <a:stCxn id="2091" idx="6"/>
            <a:endCxn id="2089" idx="2"/>
          </p:cNvCxnSpPr>
          <p:nvPr/>
        </p:nvCxnSpPr>
        <p:spPr>
          <a:xfrm flipH="1" rot="10800000">
            <a:off x="2968837" y="316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94" name="Google Shape;2094;p100"/>
          <p:cNvSpPr/>
          <p:nvPr/>
        </p:nvSpPr>
        <p:spPr>
          <a:xfrm>
            <a:off x="1371575" y="394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95" name="Google Shape;2095;p100"/>
          <p:cNvSpPr/>
          <p:nvPr/>
        </p:nvSpPr>
        <p:spPr>
          <a:xfrm>
            <a:off x="2009366" y="424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96" name="Google Shape;2096;p100"/>
          <p:cNvCxnSpPr>
            <a:stCxn id="2094" idx="6"/>
            <a:endCxn id="2095" idx="2"/>
          </p:cNvCxnSpPr>
          <p:nvPr/>
        </p:nvCxnSpPr>
        <p:spPr>
          <a:xfrm>
            <a:off x="1610075" y="406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7" name="Google Shape;2097;p100"/>
          <p:cNvSpPr/>
          <p:nvPr/>
        </p:nvSpPr>
        <p:spPr>
          <a:xfrm>
            <a:off x="1371578" y="453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98" name="Google Shape;2098;p100"/>
          <p:cNvCxnSpPr>
            <a:stCxn id="2094" idx="4"/>
            <a:endCxn id="2097" idx="0"/>
          </p:cNvCxnSpPr>
          <p:nvPr/>
        </p:nvCxnSpPr>
        <p:spPr>
          <a:xfrm>
            <a:off x="1490825" y="418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9" name="Google Shape;2099;p100"/>
          <p:cNvCxnSpPr>
            <a:stCxn id="2097" idx="6"/>
            <a:endCxn id="2095" idx="2"/>
          </p:cNvCxnSpPr>
          <p:nvPr/>
        </p:nvCxnSpPr>
        <p:spPr>
          <a:xfrm flipH="1" rot="10800000">
            <a:off x="1610078" y="436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100" name="Google Shape;2100;p100"/>
          <p:cNvSpPr/>
          <p:nvPr/>
        </p:nvSpPr>
        <p:spPr>
          <a:xfrm>
            <a:off x="2781284" y="394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01" name="Google Shape;2101;p100"/>
          <p:cNvSpPr/>
          <p:nvPr/>
        </p:nvSpPr>
        <p:spPr>
          <a:xfrm>
            <a:off x="3419075" y="423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102" name="Google Shape;2102;p100"/>
          <p:cNvCxnSpPr>
            <a:stCxn id="2100" idx="6"/>
            <a:endCxn id="2101" idx="2"/>
          </p:cNvCxnSpPr>
          <p:nvPr/>
        </p:nvCxnSpPr>
        <p:spPr>
          <a:xfrm>
            <a:off x="3019784" y="406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103" name="Google Shape;2103;p100"/>
          <p:cNvSpPr/>
          <p:nvPr/>
        </p:nvSpPr>
        <p:spPr>
          <a:xfrm>
            <a:off x="2781287" y="453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104" name="Google Shape;2104;p100"/>
          <p:cNvCxnSpPr>
            <a:stCxn id="2100" idx="4"/>
            <a:endCxn id="2103" idx="0"/>
          </p:cNvCxnSpPr>
          <p:nvPr/>
        </p:nvCxnSpPr>
        <p:spPr>
          <a:xfrm>
            <a:off x="2900534" y="417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05" name="Google Shape;2105;p100"/>
          <p:cNvCxnSpPr>
            <a:stCxn id="2103" idx="6"/>
            <a:endCxn id="2101" idx="2"/>
          </p:cNvCxnSpPr>
          <p:nvPr/>
        </p:nvCxnSpPr>
        <p:spPr>
          <a:xfrm flipH="1" rot="10800000">
            <a:off x="3019787" y="435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106" name="Google Shape;2106;p100"/>
          <p:cNvSpPr txBox="1"/>
          <p:nvPr/>
        </p:nvSpPr>
        <p:spPr>
          <a:xfrm>
            <a:off x="1439875" y="3529688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107" name="Google Shape;2107;p100"/>
          <p:cNvSpPr txBox="1"/>
          <p:nvPr/>
        </p:nvSpPr>
        <p:spPr>
          <a:xfrm>
            <a:off x="1485350" y="4776875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Unbalanced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108" name="Google Shape;2108;p100"/>
          <p:cNvSpPr/>
          <p:nvPr/>
        </p:nvSpPr>
        <p:spPr>
          <a:xfrm>
            <a:off x="933925" y="2647175"/>
            <a:ext cx="2856900" cy="1119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09" name="Google Shape;2109;p100"/>
          <p:cNvCxnSpPr>
            <a:stCxn id="2081" idx="1"/>
            <a:endCxn id="2106" idx="2"/>
          </p:cNvCxnSpPr>
          <p:nvPr/>
        </p:nvCxnSpPr>
        <p:spPr>
          <a:xfrm rot="10800000">
            <a:off x="2265884" y="3766583"/>
            <a:ext cx="1733700" cy="599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3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Google Shape;2114;p101"/>
          <p:cNvSpPr txBox="1"/>
          <p:nvPr>
            <p:ph idx="1" type="body"/>
          </p:nvPr>
        </p:nvSpPr>
        <p:spPr>
          <a:xfrm>
            <a:off x="311700" y="1225225"/>
            <a:ext cx="4448100" cy="15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whole signed graph </a:t>
            </a:r>
            <a:r>
              <a:rPr b="1" lang="en"/>
              <a:t>only</a:t>
            </a:r>
            <a:r>
              <a:rPr lang="en"/>
              <a:t> contains </a:t>
            </a:r>
            <a:r>
              <a:rPr b="1" lang="en"/>
              <a:t>balanced</a:t>
            </a:r>
            <a:r>
              <a:rPr lang="en"/>
              <a:t> triads then the graph is also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can be a whole network property!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5" name="Google Shape;2115;p10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2116" name="Google Shape;2116;p101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17" name="Google Shape;2117;p101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118" name="Google Shape;2118;p101"/>
          <p:cNvCxnSpPr>
            <a:stCxn id="2116" idx="6"/>
            <a:endCxn id="2117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9" name="Google Shape;2119;p101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120" name="Google Shape;2120;p101"/>
          <p:cNvCxnSpPr>
            <a:stCxn id="2119" idx="2"/>
            <a:endCxn id="2117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121" name="Google Shape;2121;p101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122" name="Google Shape;2122;p101"/>
          <p:cNvCxnSpPr>
            <a:stCxn id="2121" idx="2"/>
            <a:endCxn id="2119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3" name="Google Shape;2123;p101"/>
          <p:cNvCxnSpPr>
            <a:stCxn id="2116" idx="6"/>
            <a:endCxn id="2121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124" name="Google Shape;2124;p101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25" name="Google Shape;2125;p101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126" name="Google Shape;2126;p101"/>
          <p:cNvCxnSpPr>
            <a:stCxn id="2116" idx="6"/>
            <a:endCxn id="2125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7" name="Google Shape;2127;p101"/>
          <p:cNvCxnSpPr>
            <a:stCxn id="2125" idx="6"/>
            <a:endCxn id="2124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28" name="Google Shape;2128;p101"/>
          <p:cNvCxnSpPr>
            <a:stCxn id="2124" idx="6"/>
            <a:endCxn id="2121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9" name="Google Shape;2129;p101"/>
          <p:cNvCxnSpPr>
            <a:stCxn id="2125" idx="6"/>
            <a:endCxn id="2117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0" name="Google Shape;2130;p101"/>
          <p:cNvCxnSpPr>
            <a:stCxn id="2121" idx="2"/>
            <a:endCxn id="2117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31" name="Google Shape;2131;p101"/>
          <p:cNvCxnSpPr>
            <a:stCxn id="2125" idx="6"/>
            <a:endCxn id="2121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32" name="Google Shape;2132;p101"/>
          <p:cNvCxnSpPr>
            <a:stCxn id="2116" idx="6"/>
            <a:endCxn id="2119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33" name="Google Shape;2133;p101"/>
          <p:cNvCxnSpPr>
            <a:stCxn id="2124" idx="6"/>
            <a:endCxn id="2119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4" name="Google Shape;2134;p101"/>
          <p:cNvCxnSpPr>
            <a:stCxn id="2116" idx="6"/>
            <a:endCxn id="2124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35" name="Google Shape;2135;p101"/>
          <p:cNvCxnSpPr>
            <a:stCxn id="2124" idx="0"/>
            <a:endCxn id="2117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36" name="Google Shape;2136;p101"/>
          <p:cNvCxnSpPr>
            <a:stCxn id="2125" idx="6"/>
            <a:endCxn id="2119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137" name="Google Shape;2137;p101"/>
          <p:cNvSpPr/>
          <p:nvPr/>
        </p:nvSpPr>
        <p:spPr>
          <a:xfrm>
            <a:off x="3648300" y="4100925"/>
            <a:ext cx="2761800" cy="815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Trick: A triad is balanced if it has either zero or two negative links</a:t>
            </a:r>
            <a:endParaRPr b="1" sz="12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38" name="Google Shape;2138;p101"/>
          <p:cNvSpPr/>
          <p:nvPr/>
        </p:nvSpPr>
        <p:spPr>
          <a:xfrm>
            <a:off x="1320625" y="275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39" name="Google Shape;2139;p101"/>
          <p:cNvSpPr/>
          <p:nvPr/>
        </p:nvSpPr>
        <p:spPr>
          <a:xfrm>
            <a:off x="1958416" y="305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140" name="Google Shape;2140;p101"/>
          <p:cNvCxnSpPr>
            <a:stCxn id="2138" idx="6"/>
            <a:endCxn id="2139" idx="2"/>
          </p:cNvCxnSpPr>
          <p:nvPr/>
        </p:nvCxnSpPr>
        <p:spPr>
          <a:xfrm>
            <a:off x="1559125" y="287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1" name="Google Shape;2141;p101"/>
          <p:cNvSpPr/>
          <p:nvPr/>
        </p:nvSpPr>
        <p:spPr>
          <a:xfrm>
            <a:off x="1320628" y="334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142" name="Google Shape;2142;p101"/>
          <p:cNvCxnSpPr>
            <a:stCxn id="2138" idx="4"/>
            <a:endCxn id="2141" idx="0"/>
          </p:cNvCxnSpPr>
          <p:nvPr/>
        </p:nvCxnSpPr>
        <p:spPr>
          <a:xfrm>
            <a:off x="1439875" y="299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3" name="Google Shape;2143;p101"/>
          <p:cNvCxnSpPr>
            <a:stCxn id="2141" idx="6"/>
            <a:endCxn id="2139" idx="2"/>
          </p:cNvCxnSpPr>
          <p:nvPr/>
        </p:nvCxnSpPr>
        <p:spPr>
          <a:xfrm flipH="1" rot="10800000">
            <a:off x="1559128" y="317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4" name="Google Shape;2144;p101"/>
          <p:cNvSpPr/>
          <p:nvPr/>
        </p:nvSpPr>
        <p:spPr>
          <a:xfrm>
            <a:off x="2730334" y="275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45" name="Google Shape;2145;p101"/>
          <p:cNvSpPr/>
          <p:nvPr/>
        </p:nvSpPr>
        <p:spPr>
          <a:xfrm>
            <a:off x="3368125" y="304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146" name="Google Shape;2146;p101"/>
          <p:cNvCxnSpPr>
            <a:stCxn id="2144" idx="6"/>
            <a:endCxn id="2145" idx="2"/>
          </p:cNvCxnSpPr>
          <p:nvPr/>
        </p:nvCxnSpPr>
        <p:spPr>
          <a:xfrm>
            <a:off x="2968834" y="287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147" name="Google Shape;2147;p101"/>
          <p:cNvSpPr/>
          <p:nvPr/>
        </p:nvSpPr>
        <p:spPr>
          <a:xfrm>
            <a:off x="2730337" y="334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148" name="Google Shape;2148;p101"/>
          <p:cNvCxnSpPr>
            <a:stCxn id="2144" idx="4"/>
            <a:endCxn id="2147" idx="0"/>
          </p:cNvCxnSpPr>
          <p:nvPr/>
        </p:nvCxnSpPr>
        <p:spPr>
          <a:xfrm>
            <a:off x="2849584" y="298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9" name="Google Shape;2149;p101"/>
          <p:cNvCxnSpPr>
            <a:stCxn id="2147" idx="6"/>
            <a:endCxn id="2145" idx="2"/>
          </p:cNvCxnSpPr>
          <p:nvPr/>
        </p:nvCxnSpPr>
        <p:spPr>
          <a:xfrm flipH="1" rot="10800000">
            <a:off x="2968837" y="316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150" name="Google Shape;2150;p101"/>
          <p:cNvSpPr/>
          <p:nvPr/>
        </p:nvSpPr>
        <p:spPr>
          <a:xfrm>
            <a:off x="1371575" y="394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51" name="Google Shape;2151;p101"/>
          <p:cNvSpPr/>
          <p:nvPr/>
        </p:nvSpPr>
        <p:spPr>
          <a:xfrm>
            <a:off x="2009366" y="424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152" name="Google Shape;2152;p101"/>
          <p:cNvCxnSpPr>
            <a:stCxn id="2150" idx="6"/>
            <a:endCxn id="2151" idx="2"/>
          </p:cNvCxnSpPr>
          <p:nvPr/>
        </p:nvCxnSpPr>
        <p:spPr>
          <a:xfrm>
            <a:off x="1610075" y="406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3" name="Google Shape;2153;p101"/>
          <p:cNvSpPr/>
          <p:nvPr/>
        </p:nvSpPr>
        <p:spPr>
          <a:xfrm>
            <a:off x="1371578" y="453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154" name="Google Shape;2154;p101"/>
          <p:cNvCxnSpPr>
            <a:stCxn id="2150" idx="4"/>
            <a:endCxn id="2153" idx="0"/>
          </p:cNvCxnSpPr>
          <p:nvPr/>
        </p:nvCxnSpPr>
        <p:spPr>
          <a:xfrm>
            <a:off x="1490825" y="418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5" name="Google Shape;2155;p101"/>
          <p:cNvCxnSpPr>
            <a:stCxn id="2153" idx="6"/>
            <a:endCxn id="2151" idx="2"/>
          </p:cNvCxnSpPr>
          <p:nvPr/>
        </p:nvCxnSpPr>
        <p:spPr>
          <a:xfrm flipH="1" rot="10800000">
            <a:off x="1610078" y="436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156" name="Google Shape;2156;p101"/>
          <p:cNvSpPr/>
          <p:nvPr/>
        </p:nvSpPr>
        <p:spPr>
          <a:xfrm>
            <a:off x="2781284" y="394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57" name="Google Shape;2157;p101"/>
          <p:cNvSpPr/>
          <p:nvPr/>
        </p:nvSpPr>
        <p:spPr>
          <a:xfrm>
            <a:off x="3419075" y="423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158" name="Google Shape;2158;p101"/>
          <p:cNvCxnSpPr>
            <a:stCxn id="2156" idx="6"/>
            <a:endCxn id="2157" idx="2"/>
          </p:cNvCxnSpPr>
          <p:nvPr/>
        </p:nvCxnSpPr>
        <p:spPr>
          <a:xfrm>
            <a:off x="3019784" y="406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159" name="Google Shape;2159;p101"/>
          <p:cNvSpPr/>
          <p:nvPr/>
        </p:nvSpPr>
        <p:spPr>
          <a:xfrm>
            <a:off x="2781287" y="453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160" name="Google Shape;2160;p101"/>
          <p:cNvCxnSpPr>
            <a:stCxn id="2156" idx="4"/>
            <a:endCxn id="2159" idx="0"/>
          </p:cNvCxnSpPr>
          <p:nvPr/>
        </p:nvCxnSpPr>
        <p:spPr>
          <a:xfrm>
            <a:off x="2900534" y="417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61" name="Google Shape;2161;p101"/>
          <p:cNvCxnSpPr>
            <a:stCxn id="2159" idx="6"/>
            <a:endCxn id="2157" idx="2"/>
          </p:cNvCxnSpPr>
          <p:nvPr/>
        </p:nvCxnSpPr>
        <p:spPr>
          <a:xfrm flipH="1" rot="10800000">
            <a:off x="3019787" y="435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162" name="Google Shape;2162;p101"/>
          <p:cNvSpPr txBox="1"/>
          <p:nvPr/>
        </p:nvSpPr>
        <p:spPr>
          <a:xfrm>
            <a:off x="1439875" y="3529688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163" name="Google Shape;2163;p101"/>
          <p:cNvSpPr txBox="1"/>
          <p:nvPr/>
        </p:nvSpPr>
        <p:spPr>
          <a:xfrm>
            <a:off x="1485350" y="4776875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Unbalanced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7" name="Shape 2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8" name="Google Shape;2168;p102"/>
          <p:cNvSpPr txBox="1"/>
          <p:nvPr>
            <p:ph idx="1" type="body"/>
          </p:nvPr>
        </p:nvSpPr>
        <p:spPr>
          <a:xfrm>
            <a:off x="311700" y="1225225"/>
            <a:ext cx="4448100" cy="15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whole signed graph </a:t>
            </a:r>
            <a:r>
              <a:rPr b="1" lang="en"/>
              <a:t>only</a:t>
            </a:r>
            <a:r>
              <a:rPr lang="en"/>
              <a:t> contains </a:t>
            </a:r>
            <a:r>
              <a:rPr b="1" lang="en"/>
              <a:t>balanced</a:t>
            </a:r>
            <a:r>
              <a:rPr lang="en"/>
              <a:t> triads then the graph is also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can be a whole network property!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9" name="Google Shape;2169;p10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2170" name="Google Shape;2170;p102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71" name="Google Shape;2171;p102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172" name="Google Shape;2172;p102"/>
          <p:cNvCxnSpPr>
            <a:stCxn id="2170" idx="6"/>
            <a:endCxn id="2171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3" name="Google Shape;2173;p102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174" name="Google Shape;2174;p102"/>
          <p:cNvCxnSpPr>
            <a:stCxn id="2173" idx="2"/>
            <a:endCxn id="2171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175" name="Google Shape;2175;p102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176" name="Google Shape;2176;p102"/>
          <p:cNvCxnSpPr>
            <a:stCxn id="2175" idx="2"/>
            <a:endCxn id="2173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7" name="Google Shape;2177;p102"/>
          <p:cNvCxnSpPr>
            <a:stCxn id="2170" idx="6"/>
            <a:endCxn id="2175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178" name="Google Shape;2178;p102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79" name="Google Shape;2179;p102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180" name="Google Shape;2180;p102"/>
          <p:cNvCxnSpPr>
            <a:stCxn id="2170" idx="6"/>
            <a:endCxn id="2179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1" name="Google Shape;2181;p102"/>
          <p:cNvCxnSpPr>
            <a:stCxn id="2179" idx="6"/>
            <a:endCxn id="2178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82" name="Google Shape;2182;p102"/>
          <p:cNvCxnSpPr>
            <a:stCxn id="2178" idx="6"/>
            <a:endCxn id="2175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3" name="Google Shape;2183;p102"/>
          <p:cNvCxnSpPr>
            <a:stCxn id="2179" idx="6"/>
            <a:endCxn id="2171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4" name="Google Shape;2184;p102"/>
          <p:cNvCxnSpPr>
            <a:stCxn id="2175" idx="2"/>
            <a:endCxn id="2171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85" name="Google Shape;2185;p102"/>
          <p:cNvCxnSpPr>
            <a:stCxn id="2179" idx="6"/>
            <a:endCxn id="2175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86" name="Google Shape;2186;p102"/>
          <p:cNvCxnSpPr>
            <a:stCxn id="2170" idx="6"/>
            <a:endCxn id="2173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87" name="Google Shape;2187;p102"/>
          <p:cNvCxnSpPr>
            <a:stCxn id="2178" idx="6"/>
            <a:endCxn id="2173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8" name="Google Shape;2188;p102"/>
          <p:cNvCxnSpPr>
            <a:stCxn id="2170" idx="6"/>
            <a:endCxn id="2178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89" name="Google Shape;2189;p102"/>
          <p:cNvCxnSpPr>
            <a:stCxn id="2178" idx="0"/>
            <a:endCxn id="2171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90" name="Google Shape;2190;p102"/>
          <p:cNvCxnSpPr>
            <a:stCxn id="2179" idx="6"/>
            <a:endCxn id="2173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191" name="Google Shape;2191;p102"/>
          <p:cNvSpPr/>
          <p:nvPr/>
        </p:nvSpPr>
        <p:spPr>
          <a:xfrm>
            <a:off x="3648300" y="4100925"/>
            <a:ext cx="3232500" cy="815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Trick: A triad is unbalanced if the number of negative links is odd (one or three)</a:t>
            </a:r>
            <a:endParaRPr b="1" sz="12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92" name="Google Shape;2192;p102"/>
          <p:cNvSpPr/>
          <p:nvPr/>
        </p:nvSpPr>
        <p:spPr>
          <a:xfrm>
            <a:off x="1320625" y="275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93" name="Google Shape;2193;p102"/>
          <p:cNvSpPr/>
          <p:nvPr/>
        </p:nvSpPr>
        <p:spPr>
          <a:xfrm>
            <a:off x="1958416" y="305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194" name="Google Shape;2194;p102"/>
          <p:cNvCxnSpPr>
            <a:stCxn id="2192" idx="6"/>
            <a:endCxn id="2193" idx="2"/>
          </p:cNvCxnSpPr>
          <p:nvPr/>
        </p:nvCxnSpPr>
        <p:spPr>
          <a:xfrm>
            <a:off x="1559125" y="287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5" name="Google Shape;2195;p102"/>
          <p:cNvSpPr/>
          <p:nvPr/>
        </p:nvSpPr>
        <p:spPr>
          <a:xfrm>
            <a:off x="1320628" y="334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196" name="Google Shape;2196;p102"/>
          <p:cNvCxnSpPr>
            <a:stCxn id="2192" idx="4"/>
            <a:endCxn id="2195" idx="0"/>
          </p:cNvCxnSpPr>
          <p:nvPr/>
        </p:nvCxnSpPr>
        <p:spPr>
          <a:xfrm>
            <a:off x="1439875" y="299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7" name="Google Shape;2197;p102"/>
          <p:cNvCxnSpPr>
            <a:stCxn id="2195" idx="6"/>
            <a:endCxn id="2193" idx="2"/>
          </p:cNvCxnSpPr>
          <p:nvPr/>
        </p:nvCxnSpPr>
        <p:spPr>
          <a:xfrm flipH="1" rot="10800000">
            <a:off x="1559128" y="317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8" name="Google Shape;2198;p102"/>
          <p:cNvSpPr/>
          <p:nvPr/>
        </p:nvSpPr>
        <p:spPr>
          <a:xfrm>
            <a:off x="2730334" y="275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99" name="Google Shape;2199;p102"/>
          <p:cNvSpPr/>
          <p:nvPr/>
        </p:nvSpPr>
        <p:spPr>
          <a:xfrm>
            <a:off x="3368125" y="304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00" name="Google Shape;2200;p102"/>
          <p:cNvCxnSpPr>
            <a:stCxn id="2198" idx="6"/>
            <a:endCxn id="2199" idx="2"/>
          </p:cNvCxnSpPr>
          <p:nvPr/>
        </p:nvCxnSpPr>
        <p:spPr>
          <a:xfrm>
            <a:off x="2968834" y="287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201" name="Google Shape;2201;p102"/>
          <p:cNvSpPr/>
          <p:nvPr/>
        </p:nvSpPr>
        <p:spPr>
          <a:xfrm>
            <a:off x="2730337" y="334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02" name="Google Shape;2202;p102"/>
          <p:cNvCxnSpPr>
            <a:stCxn id="2198" idx="4"/>
            <a:endCxn id="2201" idx="0"/>
          </p:cNvCxnSpPr>
          <p:nvPr/>
        </p:nvCxnSpPr>
        <p:spPr>
          <a:xfrm>
            <a:off x="2849584" y="298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3" name="Google Shape;2203;p102"/>
          <p:cNvCxnSpPr>
            <a:stCxn id="2201" idx="6"/>
            <a:endCxn id="2199" idx="2"/>
          </p:cNvCxnSpPr>
          <p:nvPr/>
        </p:nvCxnSpPr>
        <p:spPr>
          <a:xfrm flipH="1" rot="10800000">
            <a:off x="2968837" y="316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204" name="Google Shape;2204;p102"/>
          <p:cNvSpPr/>
          <p:nvPr/>
        </p:nvSpPr>
        <p:spPr>
          <a:xfrm>
            <a:off x="1371575" y="394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05" name="Google Shape;2205;p102"/>
          <p:cNvSpPr/>
          <p:nvPr/>
        </p:nvSpPr>
        <p:spPr>
          <a:xfrm>
            <a:off x="2009366" y="424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06" name="Google Shape;2206;p102"/>
          <p:cNvCxnSpPr>
            <a:stCxn id="2204" idx="6"/>
            <a:endCxn id="2205" idx="2"/>
          </p:cNvCxnSpPr>
          <p:nvPr/>
        </p:nvCxnSpPr>
        <p:spPr>
          <a:xfrm>
            <a:off x="1610075" y="406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07" name="Google Shape;2207;p102"/>
          <p:cNvSpPr/>
          <p:nvPr/>
        </p:nvSpPr>
        <p:spPr>
          <a:xfrm>
            <a:off x="1371578" y="453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08" name="Google Shape;2208;p102"/>
          <p:cNvCxnSpPr>
            <a:stCxn id="2204" idx="4"/>
            <a:endCxn id="2207" idx="0"/>
          </p:cNvCxnSpPr>
          <p:nvPr/>
        </p:nvCxnSpPr>
        <p:spPr>
          <a:xfrm>
            <a:off x="1490825" y="418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9" name="Google Shape;2209;p102"/>
          <p:cNvCxnSpPr>
            <a:stCxn id="2207" idx="6"/>
            <a:endCxn id="2205" idx="2"/>
          </p:cNvCxnSpPr>
          <p:nvPr/>
        </p:nvCxnSpPr>
        <p:spPr>
          <a:xfrm flipH="1" rot="10800000">
            <a:off x="1610078" y="436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210" name="Google Shape;2210;p102"/>
          <p:cNvSpPr/>
          <p:nvPr/>
        </p:nvSpPr>
        <p:spPr>
          <a:xfrm>
            <a:off x="2781284" y="394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11" name="Google Shape;2211;p102"/>
          <p:cNvSpPr/>
          <p:nvPr/>
        </p:nvSpPr>
        <p:spPr>
          <a:xfrm>
            <a:off x="3419075" y="423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12" name="Google Shape;2212;p102"/>
          <p:cNvCxnSpPr>
            <a:stCxn id="2210" idx="6"/>
            <a:endCxn id="2211" idx="2"/>
          </p:cNvCxnSpPr>
          <p:nvPr/>
        </p:nvCxnSpPr>
        <p:spPr>
          <a:xfrm>
            <a:off x="3019784" y="406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213" name="Google Shape;2213;p102"/>
          <p:cNvSpPr/>
          <p:nvPr/>
        </p:nvSpPr>
        <p:spPr>
          <a:xfrm>
            <a:off x="2781287" y="453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14" name="Google Shape;2214;p102"/>
          <p:cNvCxnSpPr>
            <a:stCxn id="2210" idx="4"/>
            <a:endCxn id="2213" idx="0"/>
          </p:cNvCxnSpPr>
          <p:nvPr/>
        </p:nvCxnSpPr>
        <p:spPr>
          <a:xfrm>
            <a:off x="2900534" y="417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215" name="Google Shape;2215;p102"/>
          <p:cNvCxnSpPr>
            <a:stCxn id="2213" idx="6"/>
            <a:endCxn id="2211" idx="2"/>
          </p:cNvCxnSpPr>
          <p:nvPr/>
        </p:nvCxnSpPr>
        <p:spPr>
          <a:xfrm flipH="1" rot="10800000">
            <a:off x="3019787" y="435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216" name="Google Shape;2216;p102"/>
          <p:cNvSpPr txBox="1"/>
          <p:nvPr/>
        </p:nvSpPr>
        <p:spPr>
          <a:xfrm>
            <a:off x="1439875" y="3529688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217" name="Google Shape;2217;p102"/>
          <p:cNvSpPr txBox="1"/>
          <p:nvPr/>
        </p:nvSpPr>
        <p:spPr>
          <a:xfrm>
            <a:off x="1485350" y="4776875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Unbalanced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1" name="Shape 2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" name="Google Shape;2222;p10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2223" name="Google Shape;2223;p103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whole signed graph </a:t>
            </a:r>
            <a:r>
              <a:rPr b="1" lang="en"/>
              <a:t>only</a:t>
            </a:r>
            <a:r>
              <a:rPr lang="en"/>
              <a:t> contains </a:t>
            </a:r>
            <a:r>
              <a:rPr b="1" lang="en"/>
              <a:t>balanced</a:t>
            </a:r>
            <a:r>
              <a:rPr lang="en"/>
              <a:t> triads then the graph is also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can be a whole network property!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ABF triad: balanced!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4" name="Google Shape;2224;p103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25" name="Google Shape;2225;p103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26" name="Google Shape;2226;p103"/>
          <p:cNvCxnSpPr>
            <a:stCxn id="2224" idx="6"/>
            <a:endCxn id="2225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7" name="Google Shape;2227;p103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28" name="Google Shape;2228;p103"/>
          <p:cNvCxnSpPr>
            <a:stCxn id="2227" idx="2"/>
            <a:endCxn id="2225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229" name="Google Shape;2229;p103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30" name="Google Shape;2230;p103"/>
          <p:cNvCxnSpPr>
            <a:stCxn id="2229" idx="2"/>
            <a:endCxn id="2227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1" name="Google Shape;2231;p103"/>
          <p:cNvCxnSpPr>
            <a:stCxn id="2224" idx="6"/>
            <a:endCxn id="2229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232" name="Google Shape;2232;p103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33" name="Google Shape;2233;p103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34" name="Google Shape;2234;p103"/>
          <p:cNvCxnSpPr>
            <a:stCxn id="2224" idx="6"/>
            <a:endCxn id="2233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5" name="Google Shape;2235;p103"/>
          <p:cNvCxnSpPr>
            <a:stCxn id="2233" idx="6"/>
            <a:endCxn id="2232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236" name="Google Shape;2236;p103"/>
          <p:cNvCxnSpPr>
            <a:stCxn id="2232" idx="6"/>
            <a:endCxn id="2229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7" name="Google Shape;2237;p103"/>
          <p:cNvCxnSpPr>
            <a:stCxn id="2233" idx="6"/>
            <a:endCxn id="2225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8" name="Google Shape;2238;p103"/>
          <p:cNvCxnSpPr>
            <a:stCxn id="2229" idx="2"/>
            <a:endCxn id="2225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239" name="Google Shape;2239;p103"/>
          <p:cNvCxnSpPr>
            <a:stCxn id="2233" idx="6"/>
            <a:endCxn id="2229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240" name="Google Shape;2240;p103"/>
          <p:cNvCxnSpPr>
            <a:stCxn id="2224" idx="6"/>
            <a:endCxn id="2227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241" name="Google Shape;2241;p103"/>
          <p:cNvCxnSpPr>
            <a:stCxn id="2232" idx="6"/>
            <a:endCxn id="2227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2" name="Google Shape;2242;p103"/>
          <p:cNvCxnSpPr>
            <a:stCxn id="2224" idx="6"/>
            <a:endCxn id="2232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243" name="Google Shape;2243;p103"/>
          <p:cNvCxnSpPr>
            <a:stCxn id="2232" idx="0"/>
            <a:endCxn id="2225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244" name="Google Shape;2244;p103"/>
          <p:cNvCxnSpPr>
            <a:stCxn id="2233" idx="6"/>
            <a:endCxn id="2227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245" name="Google Shape;2245;p103"/>
          <p:cNvSpPr txBox="1"/>
          <p:nvPr/>
        </p:nvSpPr>
        <p:spPr>
          <a:xfrm>
            <a:off x="5296500" y="4632025"/>
            <a:ext cx="2817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Balance </a:t>
            </a: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9" name="Shape 2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0" name="Google Shape;2250;p10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2251" name="Google Shape;2251;p104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whole signed graph </a:t>
            </a:r>
            <a:r>
              <a:rPr b="1" lang="en"/>
              <a:t>only</a:t>
            </a:r>
            <a:r>
              <a:rPr lang="en"/>
              <a:t> contains </a:t>
            </a:r>
            <a:r>
              <a:rPr b="1" lang="en"/>
              <a:t>balanced</a:t>
            </a:r>
            <a:r>
              <a:rPr lang="en"/>
              <a:t> triads then the graph is also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can be a whole network property!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ABF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ABC triad: balanced!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2" name="Google Shape;2252;p104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53" name="Google Shape;2253;p104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54" name="Google Shape;2254;p104"/>
          <p:cNvCxnSpPr>
            <a:stCxn id="2252" idx="6"/>
            <a:endCxn id="2253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5" name="Google Shape;2255;p104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56" name="Google Shape;2256;p104"/>
          <p:cNvCxnSpPr>
            <a:stCxn id="2255" idx="2"/>
            <a:endCxn id="2253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257" name="Google Shape;2257;p104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58" name="Google Shape;2258;p104"/>
          <p:cNvCxnSpPr>
            <a:stCxn id="2257" idx="2"/>
            <a:endCxn id="2255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9" name="Google Shape;2259;p104"/>
          <p:cNvCxnSpPr>
            <a:stCxn id="2252" idx="6"/>
            <a:endCxn id="2257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260" name="Google Shape;2260;p104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61" name="Google Shape;2261;p104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62" name="Google Shape;2262;p104"/>
          <p:cNvCxnSpPr>
            <a:stCxn id="2252" idx="6"/>
            <a:endCxn id="2261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3" name="Google Shape;2263;p104"/>
          <p:cNvCxnSpPr>
            <a:stCxn id="2261" idx="6"/>
            <a:endCxn id="2260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264" name="Google Shape;2264;p104"/>
          <p:cNvCxnSpPr>
            <a:stCxn id="2260" idx="6"/>
            <a:endCxn id="2257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5" name="Google Shape;2265;p104"/>
          <p:cNvCxnSpPr>
            <a:stCxn id="2261" idx="6"/>
            <a:endCxn id="2253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6" name="Google Shape;2266;p104"/>
          <p:cNvCxnSpPr>
            <a:stCxn id="2257" idx="2"/>
            <a:endCxn id="2253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267" name="Google Shape;2267;p104"/>
          <p:cNvCxnSpPr>
            <a:stCxn id="2261" idx="6"/>
            <a:endCxn id="2257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268" name="Google Shape;2268;p104"/>
          <p:cNvCxnSpPr>
            <a:stCxn id="2252" idx="6"/>
            <a:endCxn id="2255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269" name="Google Shape;2269;p104"/>
          <p:cNvCxnSpPr>
            <a:stCxn id="2260" idx="6"/>
            <a:endCxn id="2255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0" name="Google Shape;2270;p104"/>
          <p:cNvCxnSpPr>
            <a:stCxn id="2252" idx="6"/>
            <a:endCxn id="2260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271" name="Google Shape;2271;p104"/>
          <p:cNvCxnSpPr>
            <a:stCxn id="2260" idx="0"/>
            <a:endCxn id="2253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272" name="Google Shape;2272;p104"/>
          <p:cNvCxnSpPr>
            <a:stCxn id="2261" idx="6"/>
            <a:endCxn id="2255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273" name="Google Shape;2273;p104"/>
          <p:cNvSpPr txBox="1"/>
          <p:nvPr/>
        </p:nvSpPr>
        <p:spPr>
          <a:xfrm>
            <a:off x="5296500" y="4632025"/>
            <a:ext cx="2817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Balance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7" name="Shape 2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8" name="Google Shape;2278;p10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2279" name="Google Shape;2279;p105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whole signed graph </a:t>
            </a:r>
            <a:r>
              <a:rPr b="1" lang="en"/>
              <a:t>only</a:t>
            </a:r>
            <a:r>
              <a:rPr lang="en"/>
              <a:t> contains </a:t>
            </a:r>
            <a:r>
              <a:rPr b="1" lang="en"/>
              <a:t>balanced</a:t>
            </a:r>
            <a:r>
              <a:rPr lang="en"/>
              <a:t> triads then the graph is also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can be a whole network property!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ABF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ABC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CDF triad: balanced!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0" name="Google Shape;2280;p105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81" name="Google Shape;2281;p105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82" name="Google Shape;2282;p105"/>
          <p:cNvCxnSpPr>
            <a:stCxn id="2280" idx="6"/>
            <a:endCxn id="2281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3" name="Google Shape;2283;p105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84" name="Google Shape;2284;p105"/>
          <p:cNvCxnSpPr>
            <a:stCxn id="2283" idx="2"/>
            <a:endCxn id="2281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285" name="Google Shape;2285;p105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86" name="Google Shape;2286;p105"/>
          <p:cNvCxnSpPr>
            <a:stCxn id="2285" idx="2"/>
            <a:endCxn id="2283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7" name="Google Shape;2287;p105"/>
          <p:cNvCxnSpPr>
            <a:stCxn id="2280" idx="6"/>
            <a:endCxn id="2285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288" name="Google Shape;2288;p105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89" name="Google Shape;2289;p105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90" name="Google Shape;2290;p105"/>
          <p:cNvCxnSpPr>
            <a:stCxn id="2280" idx="6"/>
            <a:endCxn id="2289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1" name="Google Shape;2291;p105"/>
          <p:cNvCxnSpPr>
            <a:stCxn id="2289" idx="6"/>
            <a:endCxn id="2288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292" name="Google Shape;2292;p105"/>
          <p:cNvCxnSpPr>
            <a:stCxn id="2288" idx="6"/>
            <a:endCxn id="2285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3" name="Google Shape;2293;p105"/>
          <p:cNvCxnSpPr>
            <a:stCxn id="2289" idx="6"/>
            <a:endCxn id="2281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4" name="Google Shape;2294;p105"/>
          <p:cNvCxnSpPr>
            <a:stCxn id="2285" idx="2"/>
            <a:endCxn id="2281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295" name="Google Shape;2295;p105"/>
          <p:cNvCxnSpPr>
            <a:stCxn id="2289" idx="6"/>
            <a:endCxn id="2285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296" name="Google Shape;2296;p105"/>
          <p:cNvCxnSpPr>
            <a:stCxn id="2280" idx="6"/>
            <a:endCxn id="2283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297" name="Google Shape;2297;p105"/>
          <p:cNvCxnSpPr>
            <a:stCxn id="2288" idx="6"/>
            <a:endCxn id="2283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8" name="Google Shape;2298;p105"/>
          <p:cNvCxnSpPr>
            <a:stCxn id="2280" idx="6"/>
            <a:endCxn id="2288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299" name="Google Shape;2299;p105"/>
          <p:cNvCxnSpPr>
            <a:stCxn id="2288" idx="0"/>
            <a:endCxn id="2281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00" name="Google Shape;2300;p105"/>
          <p:cNvCxnSpPr>
            <a:stCxn id="2289" idx="6"/>
            <a:endCxn id="2283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301" name="Google Shape;2301;p105"/>
          <p:cNvSpPr txBox="1"/>
          <p:nvPr/>
        </p:nvSpPr>
        <p:spPr>
          <a:xfrm>
            <a:off x="5296500" y="4632025"/>
            <a:ext cx="2817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Balance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5" name="Shape 2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6" name="Google Shape;2306;p10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2307" name="Google Shape;2307;p106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whole signed graph </a:t>
            </a:r>
            <a:r>
              <a:rPr b="1" lang="en"/>
              <a:t>only</a:t>
            </a:r>
            <a:r>
              <a:rPr lang="en"/>
              <a:t> contains </a:t>
            </a:r>
            <a:r>
              <a:rPr b="1" lang="en"/>
              <a:t>balanced</a:t>
            </a:r>
            <a:r>
              <a:rPr lang="en"/>
              <a:t> triads then graph is also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can be a whole network property!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ABF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ABC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CDF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BEF triad: balanced!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8" name="Google Shape;2308;p106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09" name="Google Shape;2309;p106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310" name="Google Shape;2310;p106"/>
          <p:cNvCxnSpPr>
            <a:stCxn id="2308" idx="6"/>
            <a:endCxn id="2309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1" name="Google Shape;2311;p106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312" name="Google Shape;2312;p106"/>
          <p:cNvCxnSpPr>
            <a:stCxn id="2311" idx="2"/>
            <a:endCxn id="2309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313" name="Google Shape;2313;p106"/>
          <p:cNvSpPr/>
          <p:nvPr/>
        </p:nvSpPr>
        <p:spPr>
          <a:xfrm>
            <a:off x="8042008" y="33919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314" name="Google Shape;2314;p106"/>
          <p:cNvCxnSpPr>
            <a:stCxn id="2313" idx="2"/>
            <a:endCxn id="2311" idx="2"/>
          </p:cNvCxnSpPr>
          <p:nvPr/>
        </p:nvCxnSpPr>
        <p:spPr>
          <a:xfrm rot="10800000">
            <a:off x="8042008" y="2208421"/>
            <a:ext cx="0" cy="148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5" name="Google Shape;2315;p106"/>
          <p:cNvCxnSpPr>
            <a:stCxn id="2308" idx="6"/>
            <a:endCxn id="2313" idx="2"/>
          </p:cNvCxnSpPr>
          <p:nvPr/>
        </p:nvCxnSpPr>
        <p:spPr>
          <a:xfrm>
            <a:off x="5373300" y="2208534"/>
            <a:ext cx="2668800" cy="148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316" name="Google Shape;2316;p106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17" name="Google Shape;2317;p106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318" name="Google Shape;2318;p106"/>
          <p:cNvCxnSpPr>
            <a:stCxn id="2308" idx="6"/>
            <a:endCxn id="2317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9" name="Google Shape;2319;p106"/>
          <p:cNvCxnSpPr>
            <a:stCxn id="2317" idx="6"/>
            <a:endCxn id="2316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20" name="Google Shape;2320;p106"/>
          <p:cNvCxnSpPr>
            <a:stCxn id="2316" idx="6"/>
            <a:endCxn id="2313" idx="2"/>
          </p:cNvCxnSpPr>
          <p:nvPr/>
        </p:nvCxnSpPr>
        <p:spPr>
          <a:xfrm flipH="1" rot="10800000">
            <a:off x="7014408" y="3697746"/>
            <a:ext cx="1027500" cy="573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1" name="Google Shape;2321;p106"/>
          <p:cNvCxnSpPr>
            <a:stCxn id="2317" idx="6"/>
            <a:endCxn id="2309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2" name="Google Shape;2322;p106"/>
          <p:cNvCxnSpPr>
            <a:stCxn id="2313" idx="2"/>
            <a:endCxn id="2309" idx="6"/>
          </p:cNvCxnSpPr>
          <p:nvPr/>
        </p:nvCxnSpPr>
        <p:spPr>
          <a:xfrm rot="10800000">
            <a:off x="7014508" y="1597321"/>
            <a:ext cx="1027500" cy="210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23" name="Google Shape;2323;p106"/>
          <p:cNvCxnSpPr>
            <a:stCxn id="2317" idx="6"/>
            <a:endCxn id="2313" idx="2"/>
          </p:cNvCxnSpPr>
          <p:nvPr/>
        </p:nvCxnSpPr>
        <p:spPr>
          <a:xfrm flipH="1" rot="10800000">
            <a:off x="5373308" y="3697621"/>
            <a:ext cx="2668800" cy="37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24" name="Google Shape;2324;p106"/>
          <p:cNvCxnSpPr>
            <a:stCxn id="2308" idx="6"/>
            <a:endCxn id="2311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25" name="Google Shape;2325;p106"/>
          <p:cNvCxnSpPr>
            <a:stCxn id="2316" idx="6"/>
            <a:endCxn id="2311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6" name="Google Shape;2326;p106"/>
          <p:cNvCxnSpPr>
            <a:stCxn id="2308" idx="6"/>
            <a:endCxn id="2316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27" name="Google Shape;2327;p106"/>
          <p:cNvCxnSpPr>
            <a:stCxn id="2316" idx="0"/>
            <a:endCxn id="2309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28" name="Google Shape;2328;p106"/>
          <p:cNvCxnSpPr>
            <a:stCxn id="2317" idx="6"/>
            <a:endCxn id="2311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329" name="Google Shape;2329;p106"/>
          <p:cNvSpPr txBox="1"/>
          <p:nvPr/>
        </p:nvSpPr>
        <p:spPr>
          <a:xfrm>
            <a:off x="5296500" y="4632025"/>
            <a:ext cx="2817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Balance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3" name="Shape 2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" name="Google Shape;2334;p10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2335" name="Google Shape;2335;p107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whole signed graph </a:t>
            </a:r>
            <a:r>
              <a:rPr b="1" lang="en"/>
              <a:t>only</a:t>
            </a:r>
            <a:r>
              <a:rPr lang="en"/>
              <a:t> contains </a:t>
            </a:r>
            <a:r>
              <a:rPr b="1" lang="en"/>
              <a:t>balanced</a:t>
            </a:r>
            <a:r>
              <a:rPr lang="en"/>
              <a:t> triads then graph is also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can be a whole network property!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ABF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ABC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CDF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BEF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ACE triad: balanced!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6" name="Google Shape;2336;p107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37" name="Google Shape;2337;p107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338" name="Google Shape;2338;p107"/>
          <p:cNvCxnSpPr>
            <a:stCxn id="2336" idx="6"/>
            <a:endCxn id="2337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9" name="Google Shape;2339;p107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340" name="Google Shape;2340;p107"/>
          <p:cNvCxnSpPr>
            <a:stCxn id="2339" idx="2"/>
            <a:endCxn id="2337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341" name="Google Shape;2341;p107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342" name="Google Shape;2342;p107"/>
          <p:cNvCxnSpPr>
            <a:stCxn id="2341" idx="2"/>
            <a:endCxn id="2339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3" name="Google Shape;2343;p107"/>
          <p:cNvCxnSpPr>
            <a:stCxn id="2336" idx="6"/>
            <a:endCxn id="2341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344" name="Google Shape;2344;p107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45" name="Google Shape;2345;p107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346" name="Google Shape;2346;p107"/>
          <p:cNvCxnSpPr>
            <a:stCxn id="2336" idx="6"/>
            <a:endCxn id="2345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7" name="Google Shape;2347;p107"/>
          <p:cNvCxnSpPr>
            <a:stCxn id="2345" idx="6"/>
            <a:endCxn id="2344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48" name="Google Shape;2348;p107"/>
          <p:cNvCxnSpPr>
            <a:stCxn id="2344" idx="6"/>
            <a:endCxn id="2341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9" name="Google Shape;2349;p107"/>
          <p:cNvCxnSpPr>
            <a:stCxn id="2345" idx="6"/>
            <a:endCxn id="2337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0" name="Google Shape;2350;p107"/>
          <p:cNvCxnSpPr>
            <a:stCxn id="2341" idx="2"/>
            <a:endCxn id="2337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51" name="Google Shape;2351;p107"/>
          <p:cNvCxnSpPr>
            <a:stCxn id="2345" idx="6"/>
            <a:endCxn id="2341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52" name="Google Shape;2352;p107"/>
          <p:cNvCxnSpPr>
            <a:stCxn id="2336" idx="6"/>
            <a:endCxn id="2339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53" name="Google Shape;2353;p107"/>
          <p:cNvCxnSpPr>
            <a:stCxn id="2344" idx="6"/>
            <a:endCxn id="2339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4" name="Google Shape;2354;p107"/>
          <p:cNvCxnSpPr>
            <a:stCxn id="2336" idx="6"/>
            <a:endCxn id="2344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55" name="Google Shape;2355;p107"/>
          <p:cNvCxnSpPr>
            <a:stCxn id="2344" idx="0"/>
            <a:endCxn id="2337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56" name="Google Shape;2356;p107"/>
          <p:cNvCxnSpPr>
            <a:stCxn id="2345" idx="6"/>
            <a:endCxn id="2339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357" name="Google Shape;2357;p107"/>
          <p:cNvSpPr txBox="1"/>
          <p:nvPr/>
        </p:nvSpPr>
        <p:spPr>
          <a:xfrm>
            <a:off x="5296500" y="4632025"/>
            <a:ext cx="2817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Balance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1" name="Shape 2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Google Shape;2362;p10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2363" name="Google Shape;2363;p108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64" name="Google Shape;2364;p108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365" name="Google Shape;2365;p108"/>
          <p:cNvCxnSpPr>
            <a:stCxn id="2363" idx="6"/>
            <a:endCxn id="2364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6" name="Google Shape;2366;p108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367" name="Google Shape;2367;p108"/>
          <p:cNvCxnSpPr>
            <a:stCxn id="2366" idx="2"/>
            <a:endCxn id="2364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368" name="Google Shape;2368;p108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369" name="Google Shape;2369;p108"/>
          <p:cNvCxnSpPr>
            <a:stCxn id="2368" idx="2"/>
            <a:endCxn id="2366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0" name="Google Shape;2370;p108"/>
          <p:cNvCxnSpPr>
            <a:stCxn id="2363" idx="6"/>
            <a:endCxn id="2368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371" name="Google Shape;2371;p108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72" name="Google Shape;2372;p108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373" name="Google Shape;2373;p108"/>
          <p:cNvCxnSpPr>
            <a:stCxn id="2363" idx="6"/>
            <a:endCxn id="2372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4" name="Google Shape;2374;p108"/>
          <p:cNvCxnSpPr>
            <a:stCxn id="2372" idx="6"/>
            <a:endCxn id="2371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75" name="Google Shape;2375;p108"/>
          <p:cNvCxnSpPr>
            <a:stCxn id="2371" idx="6"/>
            <a:endCxn id="2368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6" name="Google Shape;2376;p108"/>
          <p:cNvCxnSpPr>
            <a:stCxn id="2372" idx="6"/>
            <a:endCxn id="2364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7" name="Google Shape;2377;p108"/>
          <p:cNvCxnSpPr>
            <a:stCxn id="2368" idx="2"/>
            <a:endCxn id="2364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78" name="Google Shape;2378;p108"/>
          <p:cNvCxnSpPr>
            <a:stCxn id="2372" idx="6"/>
            <a:endCxn id="2368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79" name="Google Shape;2379;p108"/>
          <p:cNvCxnSpPr>
            <a:stCxn id="2363" idx="6"/>
            <a:endCxn id="2366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80" name="Google Shape;2380;p108"/>
          <p:cNvCxnSpPr>
            <a:stCxn id="2371" idx="6"/>
            <a:endCxn id="2366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1" name="Google Shape;2381;p108"/>
          <p:cNvCxnSpPr>
            <a:stCxn id="2363" idx="6"/>
            <a:endCxn id="2371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82" name="Google Shape;2382;p108"/>
          <p:cNvCxnSpPr>
            <a:stCxn id="2371" idx="0"/>
            <a:endCxn id="2364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83" name="Google Shape;2383;p108"/>
          <p:cNvCxnSpPr>
            <a:stCxn id="2372" idx="6"/>
            <a:endCxn id="2366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384" name="Google Shape;2384;p108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whole signed graph </a:t>
            </a:r>
            <a:r>
              <a:rPr b="1" lang="en"/>
              <a:t>only</a:t>
            </a:r>
            <a:r>
              <a:rPr lang="en"/>
              <a:t> contains </a:t>
            </a:r>
            <a:r>
              <a:rPr b="1" lang="en"/>
              <a:t>balanced</a:t>
            </a:r>
            <a:r>
              <a:rPr lang="en"/>
              <a:t> triads then graph is also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can be a whole network property!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ABF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ABC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CDF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BEF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ACE triad: balanced!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so on for all triads...</a:t>
            </a:r>
            <a:endParaRPr/>
          </a:p>
        </p:txBody>
      </p:sp>
      <p:sp>
        <p:nvSpPr>
          <p:cNvPr id="2385" name="Google Shape;2385;p108"/>
          <p:cNvSpPr txBox="1"/>
          <p:nvPr/>
        </p:nvSpPr>
        <p:spPr>
          <a:xfrm>
            <a:off x="5296500" y="4632025"/>
            <a:ext cx="2817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Balance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9" name="Shape 2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Google Shape;2390;p10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2391" name="Google Shape;2391;p109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fundamental theorem of structural balance</a:t>
            </a:r>
            <a:r>
              <a:rPr lang="en"/>
              <a:t> was discovered by the mathematicians Dorwin Cartwright and Frank Harary in 1956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2" name="Google Shape;2392;p109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93" name="Google Shape;2393;p109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394" name="Google Shape;2394;p109"/>
          <p:cNvCxnSpPr>
            <a:stCxn id="2392" idx="6"/>
            <a:endCxn id="2393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5" name="Google Shape;2395;p109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396" name="Google Shape;2396;p109"/>
          <p:cNvCxnSpPr>
            <a:stCxn id="2395" idx="2"/>
            <a:endCxn id="2393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397" name="Google Shape;2397;p109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398" name="Google Shape;2398;p109"/>
          <p:cNvCxnSpPr>
            <a:stCxn id="2397" idx="2"/>
            <a:endCxn id="2395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9" name="Google Shape;2399;p109"/>
          <p:cNvCxnSpPr>
            <a:stCxn id="2392" idx="6"/>
            <a:endCxn id="2397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400" name="Google Shape;2400;p109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01" name="Google Shape;2401;p109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02" name="Google Shape;2402;p109"/>
          <p:cNvCxnSpPr>
            <a:stCxn id="2392" idx="6"/>
            <a:endCxn id="2401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3" name="Google Shape;2403;p109"/>
          <p:cNvCxnSpPr>
            <a:stCxn id="2401" idx="6"/>
            <a:endCxn id="2400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04" name="Google Shape;2404;p109"/>
          <p:cNvCxnSpPr>
            <a:stCxn id="2400" idx="6"/>
            <a:endCxn id="2397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5" name="Google Shape;2405;p109"/>
          <p:cNvCxnSpPr>
            <a:stCxn id="2401" idx="6"/>
            <a:endCxn id="2393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6" name="Google Shape;2406;p109"/>
          <p:cNvCxnSpPr>
            <a:stCxn id="2397" idx="2"/>
            <a:endCxn id="2393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07" name="Google Shape;2407;p109"/>
          <p:cNvCxnSpPr>
            <a:stCxn id="2401" idx="6"/>
            <a:endCxn id="2397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08" name="Google Shape;2408;p109"/>
          <p:cNvCxnSpPr>
            <a:stCxn id="2392" idx="6"/>
            <a:endCxn id="2395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09" name="Google Shape;2409;p109"/>
          <p:cNvCxnSpPr>
            <a:stCxn id="2400" idx="6"/>
            <a:endCxn id="2395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0" name="Google Shape;2410;p109"/>
          <p:cNvCxnSpPr>
            <a:stCxn id="2392" idx="6"/>
            <a:endCxn id="2400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11" name="Google Shape;2411;p109"/>
          <p:cNvCxnSpPr>
            <a:stCxn id="2400" idx="0"/>
            <a:endCxn id="2393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12" name="Google Shape;2412;p109"/>
          <p:cNvCxnSpPr>
            <a:stCxn id="2401" idx="6"/>
            <a:endCxn id="2395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413" name="Google Shape;2413;p109"/>
          <p:cNvSpPr txBox="1"/>
          <p:nvPr/>
        </p:nvSpPr>
        <p:spPr>
          <a:xfrm>
            <a:off x="5296500" y="4632025"/>
            <a:ext cx="2817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Balance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7" name="Shape 2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8" name="Google Shape;2418;p11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2419" name="Google Shape;2419;p110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20" name="Google Shape;2420;p110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21" name="Google Shape;2421;p110"/>
          <p:cNvCxnSpPr>
            <a:stCxn id="2419" idx="6"/>
            <a:endCxn id="2420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2" name="Google Shape;2422;p110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23" name="Google Shape;2423;p110"/>
          <p:cNvCxnSpPr>
            <a:stCxn id="2422" idx="2"/>
            <a:endCxn id="2420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424" name="Google Shape;2424;p110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25" name="Google Shape;2425;p110"/>
          <p:cNvCxnSpPr>
            <a:stCxn id="2424" idx="2"/>
            <a:endCxn id="2422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6" name="Google Shape;2426;p110"/>
          <p:cNvCxnSpPr>
            <a:stCxn id="2419" idx="6"/>
            <a:endCxn id="2424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427" name="Google Shape;2427;p110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28" name="Google Shape;2428;p110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29" name="Google Shape;2429;p110"/>
          <p:cNvCxnSpPr>
            <a:stCxn id="2419" idx="6"/>
            <a:endCxn id="2428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0" name="Google Shape;2430;p110"/>
          <p:cNvCxnSpPr>
            <a:stCxn id="2428" idx="6"/>
            <a:endCxn id="2427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31" name="Google Shape;2431;p110"/>
          <p:cNvCxnSpPr>
            <a:stCxn id="2427" idx="6"/>
            <a:endCxn id="2424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2" name="Google Shape;2432;p110"/>
          <p:cNvCxnSpPr>
            <a:stCxn id="2428" idx="6"/>
            <a:endCxn id="2420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3" name="Google Shape;2433;p110"/>
          <p:cNvCxnSpPr>
            <a:stCxn id="2424" idx="2"/>
            <a:endCxn id="2420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34" name="Google Shape;2434;p110"/>
          <p:cNvCxnSpPr>
            <a:stCxn id="2428" idx="6"/>
            <a:endCxn id="2424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35" name="Google Shape;2435;p110"/>
          <p:cNvCxnSpPr>
            <a:stCxn id="2419" idx="6"/>
            <a:endCxn id="2422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36" name="Google Shape;2436;p110"/>
          <p:cNvCxnSpPr>
            <a:stCxn id="2427" idx="6"/>
            <a:endCxn id="2422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7" name="Google Shape;2437;p110"/>
          <p:cNvCxnSpPr>
            <a:stCxn id="2419" idx="6"/>
            <a:endCxn id="2427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38" name="Google Shape;2438;p110"/>
          <p:cNvCxnSpPr>
            <a:stCxn id="2427" idx="0"/>
            <a:endCxn id="2420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39" name="Google Shape;2439;p110"/>
          <p:cNvCxnSpPr>
            <a:stCxn id="2428" idx="6"/>
            <a:endCxn id="2422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440" name="Google Shape;2440;p110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fundamental theorem of structural balance</a:t>
            </a:r>
            <a:r>
              <a:rPr lang="en"/>
              <a:t> was discovered by the mathematicians Dorwin Cartwright and Frank Harary in 1956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states that when a graph is balanced, it can be split into </a:t>
            </a: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groups</a:t>
            </a:r>
            <a:r>
              <a:rPr lang="en"/>
              <a:t> such that there are only </a:t>
            </a:r>
            <a:r>
              <a:rPr b="1" lang="en">
                <a:solidFill>
                  <a:srgbClr val="0000FF"/>
                </a:solidFill>
              </a:rPr>
              <a:t>positive</a:t>
            </a:r>
            <a:r>
              <a:rPr lang="en"/>
              <a:t> links </a:t>
            </a:r>
            <a:r>
              <a:rPr b="1" i="1" lang="en">
                <a:solidFill>
                  <a:srgbClr val="0000FF"/>
                </a:solidFill>
              </a:rPr>
              <a:t>within</a:t>
            </a:r>
            <a:r>
              <a:rPr lang="en"/>
              <a:t> groups and only </a:t>
            </a:r>
            <a:r>
              <a:rPr b="1" lang="en">
                <a:solidFill>
                  <a:srgbClr val="FF0000"/>
                </a:solidFill>
              </a:rPr>
              <a:t>negative</a:t>
            </a:r>
            <a:r>
              <a:rPr lang="en"/>
              <a:t> links </a:t>
            </a:r>
            <a:r>
              <a:rPr b="1" i="1" lang="en">
                <a:solidFill>
                  <a:srgbClr val="FF0000"/>
                </a:solidFill>
              </a:rPr>
              <a:t>between</a:t>
            </a:r>
            <a:r>
              <a:rPr i="1" lang="en"/>
              <a:t> </a:t>
            </a:r>
            <a:r>
              <a:rPr lang="en"/>
              <a:t>groups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1" name="Google Shape;2441;p110"/>
          <p:cNvSpPr txBox="1"/>
          <p:nvPr/>
        </p:nvSpPr>
        <p:spPr>
          <a:xfrm>
            <a:off x="5296500" y="4632025"/>
            <a:ext cx="2817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Balance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5" name="Shape 2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6" name="Google Shape;2446;p11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2447" name="Google Shape;2447;p111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fundamental theorem of structural balance</a:t>
            </a:r>
            <a:r>
              <a:rPr lang="en"/>
              <a:t> was discovered by the mathematicians Dorwin Cartwright and Frank Harary in 1956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states that when a graph is balanced it can be split into </a:t>
            </a: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groups</a:t>
            </a:r>
            <a:r>
              <a:rPr lang="en"/>
              <a:t> such that there are only </a:t>
            </a:r>
            <a:r>
              <a:rPr b="1" lang="en">
                <a:solidFill>
                  <a:srgbClr val="0000FF"/>
                </a:solidFill>
              </a:rPr>
              <a:t>positive</a:t>
            </a:r>
            <a:r>
              <a:rPr lang="en"/>
              <a:t> links </a:t>
            </a:r>
            <a:r>
              <a:rPr b="1" i="1" lang="en">
                <a:solidFill>
                  <a:srgbClr val="0000FF"/>
                </a:solidFill>
              </a:rPr>
              <a:t>within</a:t>
            </a:r>
            <a:r>
              <a:rPr lang="en"/>
              <a:t> groups and only </a:t>
            </a:r>
            <a:r>
              <a:rPr b="1" lang="en">
                <a:solidFill>
                  <a:srgbClr val="FF0000"/>
                </a:solidFill>
              </a:rPr>
              <a:t>negative</a:t>
            </a:r>
            <a:r>
              <a:rPr lang="en"/>
              <a:t> links </a:t>
            </a:r>
            <a:r>
              <a:rPr b="1" i="1" lang="en">
                <a:solidFill>
                  <a:srgbClr val="FF0000"/>
                </a:solidFill>
              </a:rPr>
              <a:t>between</a:t>
            </a:r>
            <a:r>
              <a:rPr i="1" lang="en"/>
              <a:t> </a:t>
            </a:r>
            <a:r>
              <a:rPr lang="en"/>
              <a:t>groups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got it!</a:t>
            </a:r>
            <a:endParaRPr/>
          </a:p>
        </p:txBody>
      </p:sp>
      <p:sp>
        <p:nvSpPr>
          <p:cNvPr id="2448" name="Google Shape;2448;p111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49" name="Google Shape;2449;p111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50" name="Google Shape;2450;p111"/>
          <p:cNvCxnSpPr>
            <a:stCxn id="2448" idx="6"/>
            <a:endCxn id="2449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51" name="Google Shape;2451;p111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52" name="Google Shape;2452;p111"/>
          <p:cNvCxnSpPr>
            <a:stCxn id="2451" idx="2"/>
            <a:endCxn id="2449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453" name="Google Shape;2453;p111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54" name="Google Shape;2454;p111"/>
          <p:cNvCxnSpPr>
            <a:stCxn id="2453" idx="2"/>
            <a:endCxn id="2451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5" name="Google Shape;2455;p111"/>
          <p:cNvCxnSpPr>
            <a:stCxn id="2448" idx="6"/>
            <a:endCxn id="2453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456" name="Google Shape;2456;p111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57" name="Google Shape;2457;p111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58" name="Google Shape;2458;p111"/>
          <p:cNvCxnSpPr>
            <a:stCxn id="2448" idx="6"/>
            <a:endCxn id="2457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9" name="Google Shape;2459;p111"/>
          <p:cNvCxnSpPr>
            <a:stCxn id="2457" idx="6"/>
            <a:endCxn id="2456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60" name="Google Shape;2460;p111"/>
          <p:cNvCxnSpPr>
            <a:stCxn id="2456" idx="6"/>
            <a:endCxn id="2453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1" name="Google Shape;2461;p111"/>
          <p:cNvCxnSpPr>
            <a:stCxn id="2457" idx="6"/>
            <a:endCxn id="2449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2" name="Google Shape;2462;p111"/>
          <p:cNvCxnSpPr>
            <a:stCxn id="2453" idx="2"/>
            <a:endCxn id="2449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63" name="Google Shape;2463;p111"/>
          <p:cNvCxnSpPr>
            <a:stCxn id="2457" idx="6"/>
            <a:endCxn id="2453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64" name="Google Shape;2464;p111"/>
          <p:cNvCxnSpPr>
            <a:stCxn id="2448" idx="6"/>
            <a:endCxn id="2451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65" name="Google Shape;2465;p111"/>
          <p:cNvCxnSpPr>
            <a:stCxn id="2456" idx="6"/>
            <a:endCxn id="2451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6" name="Google Shape;2466;p111"/>
          <p:cNvCxnSpPr>
            <a:stCxn id="2448" idx="6"/>
            <a:endCxn id="2456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67" name="Google Shape;2467;p111"/>
          <p:cNvCxnSpPr>
            <a:stCxn id="2456" idx="0"/>
            <a:endCxn id="2449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68" name="Google Shape;2468;p111"/>
          <p:cNvCxnSpPr>
            <a:stCxn id="2457" idx="6"/>
            <a:endCxn id="2451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469" name="Google Shape;2469;p111"/>
          <p:cNvSpPr txBox="1"/>
          <p:nvPr/>
        </p:nvSpPr>
        <p:spPr>
          <a:xfrm>
            <a:off x="5296500" y="4632025"/>
            <a:ext cx="2817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Balance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3" name="Shape 2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4" name="Google Shape;2474;p11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2475" name="Google Shape;2475;p112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see the </a:t>
            </a:r>
            <a:r>
              <a:rPr b="1" lang="en"/>
              <a:t>blocks </a:t>
            </a:r>
            <a:r>
              <a:rPr lang="en"/>
              <a:t>if we </a:t>
            </a:r>
            <a:r>
              <a:rPr lang="en"/>
              <a:t>rearrange</a:t>
            </a:r>
            <a:r>
              <a:rPr lang="en"/>
              <a:t> the rows and </a:t>
            </a:r>
            <a:r>
              <a:rPr lang="en"/>
              <a:t>columns</a:t>
            </a:r>
            <a:r>
              <a:rPr lang="en"/>
              <a:t> of the </a:t>
            </a:r>
            <a:r>
              <a:rPr b="1" lang="en"/>
              <a:t>signed </a:t>
            </a:r>
            <a:r>
              <a:rPr b="1" lang="en"/>
              <a:t>adjacency</a:t>
            </a:r>
            <a:r>
              <a:rPr b="1" lang="en"/>
              <a:t> matrix</a:t>
            </a:r>
            <a:r>
              <a:rPr lang="en"/>
              <a:t>:</a:t>
            </a:r>
            <a:endParaRPr/>
          </a:p>
        </p:txBody>
      </p:sp>
      <p:sp>
        <p:nvSpPr>
          <p:cNvPr id="2476" name="Google Shape;2476;p112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77" name="Google Shape;2477;p112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78" name="Google Shape;2478;p112"/>
          <p:cNvCxnSpPr>
            <a:stCxn id="2476" idx="6"/>
            <a:endCxn id="2477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9" name="Google Shape;2479;p112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80" name="Google Shape;2480;p112"/>
          <p:cNvCxnSpPr>
            <a:stCxn id="2479" idx="2"/>
            <a:endCxn id="2477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481" name="Google Shape;2481;p112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82" name="Google Shape;2482;p112"/>
          <p:cNvCxnSpPr>
            <a:stCxn id="2481" idx="2"/>
            <a:endCxn id="2479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3" name="Google Shape;2483;p112"/>
          <p:cNvCxnSpPr>
            <a:stCxn id="2476" idx="6"/>
            <a:endCxn id="2481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484" name="Google Shape;2484;p112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85" name="Google Shape;2485;p112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86" name="Google Shape;2486;p112"/>
          <p:cNvCxnSpPr>
            <a:stCxn id="2476" idx="6"/>
            <a:endCxn id="2485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7" name="Google Shape;2487;p112"/>
          <p:cNvCxnSpPr>
            <a:stCxn id="2485" idx="6"/>
            <a:endCxn id="2484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88" name="Google Shape;2488;p112"/>
          <p:cNvCxnSpPr>
            <a:stCxn id="2484" idx="6"/>
            <a:endCxn id="2481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9" name="Google Shape;2489;p112"/>
          <p:cNvCxnSpPr>
            <a:stCxn id="2485" idx="6"/>
            <a:endCxn id="2477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0" name="Google Shape;2490;p112"/>
          <p:cNvCxnSpPr>
            <a:stCxn id="2481" idx="2"/>
            <a:endCxn id="2477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91" name="Google Shape;2491;p112"/>
          <p:cNvCxnSpPr>
            <a:stCxn id="2485" idx="6"/>
            <a:endCxn id="2481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92" name="Google Shape;2492;p112"/>
          <p:cNvCxnSpPr>
            <a:stCxn id="2476" idx="6"/>
            <a:endCxn id="2479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93" name="Google Shape;2493;p112"/>
          <p:cNvCxnSpPr>
            <a:stCxn id="2484" idx="6"/>
            <a:endCxn id="2479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4" name="Google Shape;2494;p112"/>
          <p:cNvCxnSpPr>
            <a:stCxn id="2476" idx="6"/>
            <a:endCxn id="2484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95" name="Google Shape;2495;p112"/>
          <p:cNvCxnSpPr>
            <a:stCxn id="2484" idx="0"/>
            <a:endCxn id="2477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96" name="Google Shape;2496;p112"/>
          <p:cNvCxnSpPr>
            <a:stCxn id="2485" idx="6"/>
            <a:endCxn id="2479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497" name="Google Shape;2497;p112"/>
          <p:cNvSpPr txBox="1"/>
          <p:nvPr/>
        </p:nvSpPr>
        <p:spPr>
          <a:xfrm>
            <a:off x="5296500" y="4632025"/>
            <a:ext cx="2817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Balance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498" name="Google Shape;2498;p112"/>
          <p:cNvGraphicFramePr/>
          <p:nvPr/>
        </p:nvGraphicFramePr>
        <p:xfrm>
          <a:off x="838663" y="23341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{3773FF8F-8FC9-4D74-9ADC-7274F113E1BC}</a:tableStyleId>
              </a:tblPr>
              <a:tblGrid>
                <a:gridCol w="453575"/>
                <a:gridCol w="453575"/>
                <a:gridCol w="453575"/>
                <a:gridCol w="453575"/>
                <a:gridCol w="453575"/>
                <a:gridCol w="453575"/>
                <a:gridCol w="453575"/>
              </a:tblGrid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A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B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C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D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E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F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A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B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C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D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E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F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2" name="Shape 2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3" name="Google Shape;2503;p1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2504" name="Google Shape;2504;p113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see the </a:t>
            </a:r>
            <a:r>
              <a:rPr b="1" lang="en"/>
              <a:t>blocks </a:t>
            </a:r>
            <a:r>
              <a:rPr lang="en"/>
              <a:t>if we rearrange the rows and columns of the </a:t>
            </a:r>
            <a:r>
              <a:rPr b="1" lang="en"/>
              <a:t>signed adjacency matrix</a:t>
            </a:r>
            <a:r>
              <a:rPr lang="en"/>
              <a:t>:</a:t>
            </a:r>
            <a:endParaRPr/>
          </a:p>
        </p:txBody>
      </p:sp>
      <p:sp>
        <p:nvSpPr>
          <p:cNvPr id="2505" name="Google Shape;2505;p113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06" name="Google Shape;2506;p113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507" name="Google Shape;2507;p113"/>
          <p:cNvCxnSpPr>
            <a:stCxn id="2505" idx="6"/>
            <a:endCxn id="2506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8" name="Google Shape;2508;p113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509" name="Google Shape;2509;p113"/>
          <p:cNvCxnSpPr>
            <a:stCxn id="2508" idx="2"/>
            <a:endCxn id="2506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510" name="Google Shape;2510;p113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511" name="Google Shape;2511;p113"/>
          <p:cNvCxnSpPr>
            <a:stCxn id="2510" idx="2"/>
            <a:endCxn id="2508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2" name="Google Shape;2512;p113"/>
          <p:cNvCxnSpPr>
            <a:stCxn id="2505" idx="6"/>
            <a:endCxn id="2510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513" name="Google Shape;2513;p113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14" name="Google Shape;2514;p113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515" name="Google Shape;2515;p113"/>
          <p:cNvCxnSpPr>
            <a:stCxn id="2505" idx="6"/>
            <a:endCxn id="2514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6" name="Google Shape;2516;p113"/>
          <p:cNvCxnSpPr>
            <a:stCxn id="2514" idx="6"/>
            <a:endCxn id="2513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517" name="Google Shape;2517;p113"/>
          <p:cNvCxnSpPr>
            <a:stCxn id="2513" idx="6"/>
            <a:endCxn id="2510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8" name="Google Shape;2518;p113"/>
          <p:cNvCxnSpPr>
            <a:stCxn id="2514" idx="6"/>
            <a:endCxn id="2506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9" name="Google Shape;2519;p113"/>
          <p:cNvCxnSpPr>
            <a:stCxn id="2510" idx="2"/>
            <a:endCxn id="2506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520" name="Google Shape;2520;p113"/>
          <p:cNvCxnSpPr>
            <a:stCxn id="2514" idx="6"/>
            <a:endCxn id="2510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521" name="Google Shape;2521;p113"/>
          <p:cNvCxnSpPr>
            <a:stCxn id="2505" idx="6"/>
            <a:endCxn id="2508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522" name="Google Shape;2522;p113"/>
          <p:cNvCxnSpPr>
            <a:stCxn id="2513" idx="6"/>
            <a:endCxn id="2508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3" name="Google Shape;2523;p113"/>
          <p:cNvCxnSpPr>
            <a:stCxn id="2505" idx="6"/>
            <a:endCxn id="2513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524" name="Google Shape;2524;p113"/>
          <p:cNvCxnSpPr>
            <a:stCxn id="2513" idx="0"/>
            <a:endCxn id="2506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525" name="Google Shape;2525;p113"/>
          <p:cNvCxnSpPr>
            <a:stCxn id="2514" idx="6"/>
            <a:endCxn id="2508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526" name="Google Shape;2526;p113"/>
          <p:cNvSpPr txBox="1"/>
          <p:nvPr/>
        </p:nvSpPr>
        <p:spPr>
          <a:xfrm>
            <a:off x="5296500" y="4632025"/>
            <a:ext cx="2817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Balance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527" name="Google Shape;2527;p113"/>
          <p:cNvGraphicFramePr/>
          <p:nvPr/>
        </p:nvGraphicFramePr>
        <p:xfrm>
          <a:off x="838663" y="23341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{3773FF8F-8FC9-4D74-9ADC-7274F113E1BC}</a:tableStyleId>
              </a:tblPr>
              <a:tblGrid>
                <a:gridCol w="453575"/>
                <a:gridCol w="453575"/>
                <a:gridCol w="453575"/>
                <a:gridCol w="453575"/>
                <a:gridCol w="453575"/>
                <a:gridCol w="453575"/>
                <a:gridCol w="453575"/>
              </a:tblGrid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A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B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F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C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D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E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A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B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F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C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D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E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1" name="Shape 2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2" name="Google Shape;2532;p1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2533" name="Google Shape;2533;p114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see the </a:t>
            </a:r>
            <a:r>
              <a:rPr b="1" lang="en"/>
              <a:t>blocks </a:t>
            </a:r>
            <a:r>
              <a:rPr lang="en"/>
              <a:t>if we rearrange the rows and columns of the </a:t>
            </a:r>
            <a:r>
              <a:rPr b="1" lang="en"/>
              <a:t>signed adjacency matrix</a:t>
            </a:r>
            <a:r>
              <a:rPr lang="en"/>
              <a:t>:</a:t>
            </a:r>
            <a:endParaRPr/>
          </a:p>
        </p:txBody>
      </p:sp>
      <p:sp>
        <p:nvSpPr>
          <p:cNvPr id="2534" name="Google Shape;2534;p114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35" name="Google Shape;2535;p114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536" name="Google Shape;2536;p114"/>
          <p:cNvCxnSpPr>
            <a:stCxn id="2534" idx="6"/>
            <a:endCxn id="2535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7" name="Google Shape;2537;p114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538" name="Google Shape;2538;p114"/>
          <p:cNvCxnSpPr>
            <a:stCxn id="2537" idx="2"/>
            <a:endCxn id="2535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539" name="Google Shape;2539;p114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540" name="Google Shape;2540;p114"/>
          <p:cNvCxnSpPr>
            <a:stCxn id="2539" idx="2"/>
            <a:endCxn id="2537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1" name="Google Shape;2541;p114"/>
          <p:cNvCxnSpPr>
            <a:stCxn id="2534" idx="6"/>
            <a:endCxn id="2539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542" name="Google Shape;2542;p114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43" name="Google Shape;2543;p114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544" name="Google Shape;2544;p114"/>
          <p:cNvCxnSpPr>
            <a:stCxn id="2534" idx="6"/>
            <a:endCxn id="2543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5" name="Google Shape;2545;p114"/>
          <p:cNvCxnSpPr>
            <a:stCxn id="2543" idx="6"/>
            <a:endCxn id="2542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546" name="Google Shape;2546;p114"/>
          <p:cNvCxnSpPr>
            <a:stCxn id="2542" idx="6"/>
            <a:endCxn id="2539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7" name="Google Shape;2547;p114"/>
          <p:cNvCxnSpPr>
            <a:stCxn id="2543" idx="6"/>
            <a:endCxn id="2535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8" name="Google Shape;2548;p114"/>
          <p:cNvCxnSpPr>
            <a:stCxn id="2539" idx="2"/>
            <a:endCxn id="2535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549" name="Google Shape;2549;p114"/>
          <p:cNvCxnSpPr>
            <a:stCxn id="2543" idx="6"/>
            <a:endCxn id="2539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550" name="Google Shape;2550;p114"/>
          <p:cNvCxnSpPr>
            <a:stCxn id="2534" idx="6"/>
            <a:endCxn id="2537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551" name="Google Shape;2551;p114"/>
          <p:cNvCxnSpPr>
            <a:stCxn id="2542" idx="6"/>
            <a:endCxn id="2537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2" name="Google Shape;2552;p114"/>
          <p:cNvCxnSpPr>
            <a:stCxn id="2534" idx="6"/>
            <a:endCxn id="2542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553" name="Google Shape;2553;p114"/>
          <p:cNvCxnSpPr>
            <a:stCxn id="2542" idx="0"/>
            <a:endCxn id="2535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554" name="Google Shape;2554;p114"/>
          <p:cNvCxnSpPr>
            <a:stCxn id="2543" idx="6"/>
            <a:endCxn id="2537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555" name="Google Shape;2555;p114"/>
          <p:cNvSpPr txBox="1"/>
          <p:nvPr/>
        </p:nvSpPr>
        <p:spPr>
          <a:xfrm>
            <a:off x="5296500" y="4632025"/>
            <a:ext cx="2817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Balance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556" name="Google Shape;2556;p114"/>
          <p:cNvGraphicFramePr/>
          <p:nvPr/>
        </p:nvGraphicFramePr>
        <p:xfrm>
          <a:off x="838663" y="23341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{3773FF8F-8FC9-4D74-9ADC-7274F113E1BC}</a:tableStyleId>
              </a:tblPr>
              <a:tblGrid>
                <a:gridCol w="453575"/>
                <a:gridCol w="453575"/>
                <a:gridCol w="453575"/>
                <a:gridCol w="453575"/>
                <a:gridCol w="453575"/>
                <a:gridCol w="453575"/>
                <a:gridCol w="453575"/>
              </a:tblGrid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A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B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F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C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D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E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A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B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F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C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D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E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57" name="Google Shape;2557;p114"/>
          <p:cNvSpPr/>
          <p:nvPr/>
        </p:nvSpPr>
        <p:spPr>
          <a:xfrm>
            <a:off x="852225" y="2334125"/>
            <a:ext cx="1800600" cy="1364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58" name="Google Shape;2558;p114"/>
          <p:cNvSpPr/>
          <p:nvPr/>
        </p:nvSpPr>
        <p:spPr>
          <a:xfrm>
            <a:off x="2652825" y="3693325"/>
            <a:ext cx="1360800" cy="1016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2" name="Shape 2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3" name="Google Shape;2563;p1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2564" name="Google Shape;2564;p115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fundamental theorem of structural balance</a:t>
            </a:r>
            <a:r>
              <a:rPr lang="en"/>
              <a:t> was discovered by the mathematicians Dorwin Cartwright and Frank Harary in 1956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states that when a graph is balanced it can be split into </a:t>
            </a: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groups</a:t>
            </a:r>
            <a:r>
              <a:rPr lang="en"/>
              <a:t> such that there are only </a:t>
            </a:r>
            <a:r>
              <a:rPr b="1" lang="en">
                <a:solidFill>
                  <a:srgbClr val="0000FF"/>
                </a:solidFill>
              </a:rPr>
              <a:t>positive</a:t>
            </a:r>
            <a:r>
              <a:rPr lang="en"/>
              <a:t> links </a:t>
            </a:r>
            <a:r>
              <a:rPr b="1" i="1" lang="en">
                <a:solidFill>
                  <a:srgbClr val="0000FF"/>
                </a:solidFill>
              </a:rPr>
              <a:t>within</a:t>
            </a:r>
            <a:r>
              <a:rPr lang="en"/>
              <a:t> groups and only </a:t>
            </a:r>
            <a:r>
              <a:rPr b="1" lang="en">
                <a:solidFill>
                  <a:srgbClr val="FF0000"/>
                </a:solidFill>
              </a:rPr>
              <a:t>negative</a:t>
            </a:r>
            <a:r>
              <a:rPr lang="en"/>
              <a:t> links </a:t>
            </a:r>
            <a:r>
              <a:rPr b="1" i="1" lang="en">
                <a:solidFill>
                  <a:srgbClr val="FF0000"/>
                </a:solidFill>
              </a:rPr>
              <a:t>between</a:t>
            </a:r>
            <a:r>
              <a:rPr i="1" lang="en"/>
              <a:t> </a:t>
            </a:r>
            <a:r>
              <a:rPr lang="en"/>
              <a:t>groups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is not necessarily good!</a:t>
            </a:r>
            <a:endParaRPr/>
          </a:p>
        </p:txBody>
      </p:sp>
      <p:sp>
        <p:nvSpPr>
          <p:cNvPr id="2565" name="Google Shape;2565;p115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66" name="Google Shape;2566;p115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567" name="Google Shape;2567;p115"/>
          <p:cNvCxnSpPr>
            <a:stCxn id="2565" idx="6"/>
            <a:endCxn id="2566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8" name="Google Shape;2568;p115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rgbClr val="CC412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569" name="Google Shape;2569;p115"/>
          <p:cNvCxnSpPr>
            <a:stCxn id="2568" idx="2"/>
            <a:endCxn id="2566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570" name="Google Shape;2570;p115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rgbClr val="CC412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571" name="Google Shape;2571;p115"/>
          <p:cNvCxnSpPr>
            <a:stCxn id="2570" idx="2"/>
            <a:endCxn id="2568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2" name="Google Shape;2572;p115"/>
          <p:cNvCxnSpPr>
            <a:stCxn id="2565" idx="6"/>
            <a:endCxn id="2570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573" name="Google Shape;2573;p115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rgbClr val="CC412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74" name="Google Shape;2574;p115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575" name="Google Shape;2575;p115"/>
          <p:cNvCxnSpPr>
            <a:stCxn id="2565" idx="6"/>
            <a:endCxn id="2574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6" name="Google Shape;2576;p115"/>
          <p:cNvCxnSpPr>
            <a:stCxn id="2574" idx="6"/>
            <a:endCxn id="2573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577" name="Google Shape;2577;p115"/>
          <p:cNvCxnSpPr>
            <a:stCxn id="2573" idx="6"/>
            <a:endCxn id="2570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8" name="Google Shape;2578;p115"/>
          <p:cNvCxnSpPr>
            <a:stCxn id="2574" idx="6"/>
            <a:endCxn id="2566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9" name="Google Shape;2579;p115"/>
          <p:cNvCxnSpPr>
            <a:stCxn id="2570" idx="2"/>
            <a:endCxn id="2566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580" name="Google Shape;2580;p115"/>
          <p:cNvCxnSpPr>
            <a:stCxn id="2574" idx="6"/>
            <a:endCxn id="2570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581" name="Google Shape;2581;p115"/>
          <p:cNvCxnSpPr>
            <a:stCxn id="2565" idx="6"/>
            <a:endCxn id="2568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582" name="Google Shape;2582;p115"/>
          <p:cNvCxnSpPr>
            <a:stCxn id="2573" idx="6"/>
            <a:endCxn id="2568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3" name="Google Shape;2583;p115"/>
          <p:cNvCxnSpPr>
            <a:stCxn id="2565" idx="6"/>
            <a:endCxn id="2573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584" name="Google Shape;2584;p115"/>
          <p:cNvCxnSpPr>
            <a:stCxn id="2573" idx="0"/>
            <a:endCxn id="2566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585" name="Google Shape;2585;p115"/>
          <p:cNvCxnSpPr>
            <a:stCxn id="2574" idx="6"/>
            <a:endCxn id="2568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2586" name="Google Shape;2586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4575" y="1068475"/>
            <a:ext cx="7315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7" name="Google Shape;2587;p1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5316" y="4003825"/>
            <a:ext cx="731519" cy="650239"/>
          </a:xfrm>
          <a:prstGeom prst="rect">
            <a:avLst/>
          </a:prstGeom>
          <a:noFill/>
          <a:ln>
            <a:noFill/>
          </a:ln>
        </p:spPr>
      </p:pic>
      <p:sp>
        <p:nvSpPr>
          <p:cNvPr id="2588" name="Google Shape;2588;p115"/>
          <p:cNvSpPr txBox="1"/>
          <p:nvPr/>
        </p:nvSpPr>
        <p:spPr>
          <a:xfrm>
            <a:off x="5296500" y="4632025"/>
            <a:ext cx="2817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Balance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2" name="Shape 2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3" name="Google Shape;2593;p1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2594" name="Google Shape;2594;p116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fundamental theorem of structural balance</a:t>
            </a:r>
            <a:r>
              <a:rPr lang="en"/>
              <a:t> was discovered by the mathematicians Dorwin Cartwright and Frank Harary in 1956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states that when a graph is balanced it can be split into </a:t>
            </a: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groups</a:t>
            </a:r>
            <a:r>
              <a:rPr lang="en"/>
              <a:t> such that there are only </a:t>
            </a:r>
            <a:r>
              <a:rPr b="1" lang="en">
                <a:solidFill>
                  <a:srgbClr val="0000FF"/>
                </a:solidFill>
              </a:rPr>
              <a:t>positive</a:t>
            </a:r>
            <a:r>
              <a:rPr lang="en"/>
              <a:t> links </a:t>
            </a:r>
            <a:r>
              <a:rPr b="1" i="1" lang="en">
                <a:solidFill>
                  <a:srgbClr val="0000FF"/>
                </a:solidFill>
              </a:rPr>
              <a:t>within</a:t>
            </a:r>
            <a:r>
              <a:rPr lang="en"/>
              <a:t> groups and only </a:t>
            </a:r>
            <a:r>
              <a:rPr b="1" lang="en">
                <a:solidFill>
                  <a:srgbClr val="FF0000"/>
                </a:solidFill>
              </a:rPr>
              <a:t>negative</a:t>
            </a:r>
            <a:r>
              <a:rPr lang="en"/>
              <a:t> links </a:t>
            </a:r>
            <a:r>
              <a:rPr b="1" i="1" lang="en">
                <a:solidFill>
                  <a:srgbClr val="FF0000"/>
                </a:solidFill>
              </a:rPr>
              <a:t>between</a:t>
            </a:r>
            <a:r>
              <a:rPr i="1" lang="en"/>
              <a:t> </a:t>
            </a:r>
            <a:r>
              <a:rPr lang="en"/>
              <a:t>groups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 balance is equivalent to perfect </a:t>
            </a:r>
            <a:r>
              <a:rPr b="1" lang="en"/>
              <a:t>group polarization</a:t>
            </a:r>
            <a:endParaRPr b="1"/>
          </a:p>
        </p:txBody>
      </p:sp>
      <p:sp>
        <p:nvSpPr>
          <p:cNvPr id="2595" name="Google Shape;2595;p116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96" name="Google Shape;2596;p116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597" name="Google Shape;2597;p116"/>
          <p:cNvCxnSpPr>
            <a:stCxn id="2595" idx="6"/>
            <a:endCxn id="2596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8" name="Google Shape;2598;p116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rgbClr val="CC412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599" name="Google Shape;2599;p116"/>
          <p:cNvCxnSpPr>
            <a:stCxn id="2598" idx="2"/>
            <a:endCxn id="2596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600" name="Google Shape;2600;p116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rgbClr val="CC412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601" name="Google Shape;2601;p116"/>
          <p:cNvCxnSpPr>
            <a:stCxn id="2600" idx="2"/>
            <a:endCxn id="2598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2" name="Google Shape;2602;p116"/>
          <p:cNvCxnSpPr>
            <a:stCxn id="2595" idx="6"/>
            <a:endCxn id="2600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603" name="Google Shape;2603;p116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rgbClr val="CC412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04" name="Google Shape;2604;p116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605" name="Google Shape;2605;p116"/>
          <p:cNvCxnSpPr>
            <a:stCxn id="2595" idx="6"/>
            <a:endCxn id="2604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6" name="Google Shape;2606;p116"/>
          <p:cNvCxnSpPr>
            <a:stCxn id="2604" idx="6"/>
            <a:endCxn id="2603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07" name="Google Shape;2607;p116"/>
          <p:cNvCxnSpPr>
            <a:stCxn id="2603" idx="6"/>
            <a:endCxn id="2600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8" name="Google Shape;2608;p116"/>
          <p:cNvCxnSpPr>
            <a:stCxn id="2604" idx="6"/>
            <a:endCxn id="2596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9" name="Google Shape;2609;p116"/>
          <p:cNvCxnSpPr>
            <a:stCxn id="2600" idx="2"/>
            <a:endCxn id="2596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10" name="Google Shape;2610;p116"/>
          <p:cNvCxnSpPr>
            <a:stCxn id="2604" idx="6"/>
            <a:endCxn id="2600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11" name="Google Shape;2611;p116"/>
          <p:cNvCxnSpPr>
            <a:stCxn id="2595" idx="6"/>
            <a:endCxn id="2598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12" name="Google Shape;2612;p116"/>
          <p:cNvCxnSpPr>
            <a:stCxn id="2603" idx="6"/>
            <a:endCxn id="2598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3" name="Google Shape;2613;p116"/>
          <p:cNvCxnSpPr>
            <a:stCxn id="2595" idx="6"/>
            <a:endCxn id="2603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14" name="Google Shape;2614;p116"/>
          <p:cNvCxnSpPr>
            <a:stCxn id="2603" idx="0"/>
            <a:endCxn id="2596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15" name="Google Shape;2615;p116"/>
          <p:cNvCxnSpPr>
            <a:stCxn id="2604" idx="6"/>
            <a:endCxn id="2598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2616" name="Google Shape;2616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4575" y="1068475"/>
            <a:ext cx="7315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7" name="Google Shape;2617;p1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5316" y="4003825"/>
            <a:ext cx="731519" cy="650239"/>
          </a:xfrm>
          <a:prstGeom prst="rect">
            <a:avLst/>
          </a:prstGeom>
          <a:noFill/>
          <a:ln>
            <a:noFill/>
          </a:ln>
        </p:spPr>
      </p:pic>
      <p:sp>
        <p:nvSpPr>
          <p:cNvPr id="2618" name="Google Shape;2618;p116"/>
          <p:cNvSpPr txBox="1"/>
          <p:nvPr/>
        </p:nvSpPr>
        <p:spPr>
          <a:xfrm>
            <a:off x="5296500" y="4632025"/>
            <a:ext cx="2817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Balance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22" name="Shape 2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3" name="Google Shape;2623;p1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grpSp>
        <p:nvGrpSpPr>
          <p:cNvPr id="2624" name="Google Shape;2624;p117"/>
          <p:cNvGrpSpPr/>
          <p:nvPr/>
        </p:nvGrpSpPr>
        <p:grpSpPr>
          <a:xfrm>
            <a:off x="352175" y="1147223"/>
            <a:ext cx="8480126" cy="3367100"/>
            <a:chOff x="352175" y="1147223"/>
            <a:chExt cx="8480126" cy="3367100"/>
          </a:xfrm>
        </p:grpSpPr>
        <p:pic>
          <p:nvPicPr>
            <p:cNvPr id="2625" name="Google Shape;2625;p1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388601" y="1147223"/>
              <a:ext cx="3443700" cy="33671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626" name="Google Shape;2626;p117"/>
            <p:cNvGrpSpPr/>
            <p:nvPr/>
          </p:nvGrpSpPr>
          <p:grpSpPr>
            <a:xfrm>
              <a:off x="352175" y="1485176"/>
              <a:ext cx="4556901" cy="2172926"/>
              <a:chOff x="381175" y="1132288"/>
              <a:chExt cx="4556901" cy="2172926"/>
            </a:xfrm>
          </p:grpSpPr>
          <p:sp>
            <p:nvSpPr>
              <p:cNvPr id="2627" name="Google Shape;2627;p117"/>
              <p:cNvSpPr txBox="1"/>
              <p:nvPr/>
            </p:nvSpPr>
            <p:spPr>
              <a:xfrm>
                <a:off x="381175" y="2941614"/>
                <a:ext cx="1790100" cy="36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P(liberal retweeter)</a:t>
                </a:r>
                <a:endParaRPr/>
              </a:p>
            </p:txBody>
          </p:sp>
          <p:sp>
            <p:nvSpPr>
              <p:cNvPr id="2628" name="Google Shape;2628;p117"/>
              <p:cNvSpPr txBox="1"/>
              <p:nvPr/>
            </p:nvSpPr>
            <p:spPr>
              <a:xfrm>
                <a:off x="3280276" y="2941614"/>
                <a:ext cx="1657800" cy="36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O(liberal tweeter)</a:t>
                </a:r>
                <a:endParaRPr/>
              </a:p>
            </p:txBody>
          </p:sp>
          <p:sp>
            <p:nvSpPr>
              <p:cNvPr id="2629" name="Google Shape;2629;p117"/>
              <p:cNvSpPr txBox="1"/>
              <p:nvPr/>
            </p:nvSpPr>
            <p:spPr>
              <a:xfrm>
                <a:off x="1276219" y="1132288"/>
                <a:ext cx="2564100" cy="36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Q(liberal tweet)</a:t>
                </a:r>
                <a:endParaRPr/>
              </a:p>
            </p:txBody>
          </p:sp>
        </p:grpSp>
      </p:grpSp>
      <p:cxnSp>
        <p:nvCxnSpPr>
          <p:cNvPr id="2630" name="Google Shape;2630;p117"/>
          <p:cNvCxnSpPr>
            <a:stCxn id="2627" idx="3"/>
            <a:endCxn id="2628" idx="1"/>
          </p:cNvCxnSpPr>
          <p:nvPr/>
        </p:nvCxnSpPr>
        <p:spPr>
          <a:xfrm>
            <a:off x="2142275" y="3476302"/>
            <a:ext cx="1109100" cy="0"/>
          </a:xfrm>
          <a:prstGeom prst="straightConnector1">
            <a:avLst/>
          </a:prstGeom>
          <a:noFill/>
          <a:ln cap="flat" cmpd="sng" w="28575">
            <a:solidFill>
              <a:srgbClr val="5B595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1" name="Google Shape;2631;p117"/>
          <p:cNvCxnSpPr>
            <a:stCxn id="2627" idx="0"/>
            <a:endCxn id="2629" idx="2"/>
          </p:cNvCxnSpPr>
          <p:nvPr/>
        </p:nvCxnSpPr>
        <p:spPr>
          <a:xfrm flipH="1" rot="10800000">
            <a:off x="1247225" y="1848802"/>
            <a:ext cx="1281900" cy="1445700"/>
          </a:xfrm>
          <a:prstGeom prst="straightConnector1">
            <a:avLst/>
          </a:prstGeom>
          <a:noFill/>
          <a:ln cap="flat" cmpd="sng" w="28575">
            <a:solidFill>
              <a:srgbClr val="5B595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2" name="Google Shape;2632;p117"/>
          <p:cNvCxnSpPr>
            <a:stCxn id="2628" idx="0"/>
            <a:endCxn id="2629" idx="2"/>
          </p:cNvCxnSpPr>
          <p:nvPr/>
        </p:nvCxnSpPr>
        <p:spPr>
          <a:xfrm rot="10800000">
            <a:off x="2529176" y="1848802"/>
            <a:ext cx="1551000" cy="1445700"/>
          </a:xfrm>
          <a:prstGeom prst="straightConnector1">
            <a:avLst/>
          </a:prstGeom>
          <a:noFill/>
          <a:ln cap="flat" cmpd="sng" w="28575">
            <a:solidFill>
              <a:srgbClr val="5B595A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36" name="Shape 2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7" name="Google Shape;2637;p1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grpSp>
        <p:nvGrpSpPr>
          <p:cNvPr id="2638" name="Google Shape;2638;p118"/>
          <p:cNvGrpSpPr/>
          <p:nvPr/>
        </p:nvGrpSpPr>
        <p:grpSpPr>
          <a:xfrm>
            <a:off x="352175" y="1147223"/>
            <a:ext cx="8480126" cy="3367100"/>
            <a:chOff x="352175" y="1147223"/>
            <a:chExt cx="8480126" cy="3367100"/>
          </a:xfrm>
        </p:grpSpPr>
        <p:pic>
          <p:nvPicPr>
            <p:cNvPr id="2639" name="Google Shape;2639;p1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388601" y="1147223"/>
              <a:ext cx="3443700" cy="33671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640" name="Google Shape;2640;p118"/>
            <p:cNvGrpSpPr/>
            <p:nvPr/>
          </p:nvGrpSpPr>
          <p:grpSpPr>
            <a:xfrm>
              <a:off x="352175" y="1485176"/>
              <a:ext cx="4556901" cy="2172926"/>
              <a:chOff x="381175" y="1132288"/>
              <a:chExt cx="4556901" cy="2172926"/>
            </a:xfrm>
          </p:grpSpPr>
          <p:sp>
            <p:nvSpPr>
              <p:cNvPr id="2641" name="Google Shape;2641;p118"/>
              <p:cNvSpPr txBox="1"/>
              <p:nvPr/>
            </p:nvSpPr>
            <p:spPr>
              <a:xfrm>
                <a:off x="381175" y="2941614"/>
                <a:ext cx="1790100" cy="36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P(cons. retweeter)</a:t>
                </a:r>
                <a:endParaRPr/>
              </a:p>
            </p:txBody>
          </p:sp>
          <p:sp>
            <p:nvSpPr>
              <p:cNvPr id="2642" name="Google Shape;2642;p118"/>
              <p:cNvSpPr txBox="1"/>
              <p:nvPr/>
            </p:nvSpPr>
            <p:spPr>
              <a:xfrm>
                <a:off x="3280276" y="2941614"/>
                <a:ext cx="1657800" cy="36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O(cons. tweeter)</a:t>
                </a:r>
                <a:endParaRPr/>
              </a:p>
            </p:txBody>
          </p:sp>
          <p:sp>
            <p:nvSpPr>
              <p:cNvPr id="2643" name="Google Shape;2643;p118"/>
              <p:cNvSpPr txBox="1"/>
              <p:nvPr/>
            </p:nvSpPr>
            <p:spPr>
              <a:xfrm>
                <a:off x="1276219" y="1132288"/>
                <a:ext cx="2564100" cy="36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Q(conservative tweet)</a:t>
                </a:r>
                <a:endParaRPr/>
              </a:p>
            </p:txBody>
          </p:sp>
        </p:grpSp>
      </p:grpSp>
      <p:cxnSp>
        <p:nvCxnSpPr>
          <p:cNvPr id="2644" name="Google Shape;2644;p118"/>
          <p:cNvCxnSpPr>
            <a:stCxn id="2641" idx="3"/>
            <a:endCxn id="2642" idx="1"/>
          </p:cNvCxnSpPr>
          <p:nvPr/>
        </p:nvCxnSpPr>
        <p:spPr>
          <a:xfrm>
            <a:off x="2142275" y="3476302"/>
            <a:ext cx="1109100" cy="0"/>
          </a:xfrm>
          <a:prstGeom prst="straightConnector1">
            <a:avLst/>
          </a:prstGeom>
          <a:noFill/>
          <a:ln cap="flat" cmpd="sng" w="28575">
            <a:solidFill>
              <a:srgbClr val="5B595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5" name="Google Shape;2645;p118"/>
          <p:cNvCxnSpPr>
            <a:stCxn id="2641" idx="0"/>
            <a:endCxn id="2643" idx="2"/>
          </p:cNvCxnSpPr>
          <p:nvPr/>
        </p:nvCxnSpPr>
        <p:spPr>
          <a:xfrm flipH="1" rot="10800000">
            <a:off x="1247225" y="1848802"/>
            <a:ext cx="1281900" cy="1445700"/>
          </a:xfrm>
          <a:prstGeom prst="straightConnector1">
            <a:avLst/>
          </a:prstGeom>
          <a:noFill/>
          <a:ln cap="flat" cmpd="sng" w="28575">
            <a:solidFill>
              <a:srgbClr val="5B595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6" name="Google Shape;2646;p118"/>
          <p:cNvCxnSpPr>
            <a:stCxn id="2642" idx="0"/>
            <a:endCxn id="2643" idx="2"/>
          </p:cNvCxnSpPr>
          <p:nvPr/>
        </p:nvCxnSpPr>
        <p:spPr>
          <a:xfrm rot="10800000">
            <a:off x="2529176" y="1848802"/>
            <a:ext cx="1551000" cy="1445700"/>
          </a:xfrm>
          <a:prstGeom prst="straightConnector1">
            <a:avLst/>
          </a:prstGeom>
          <a:noFill/>
          <a:ln cap="flat" cmpd="sng" w="28575">
            <a:solidFill>
              <a:srgbClr val="5B595A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0" name="Shape 2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1" name="Google Shape;2651;p1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2652" name="Google Shape;2652;p119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53" name="Google Shape;2653;p119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654" name="Google Shape;2654;p119"/>
          <p:cNvCxnSpPr>
            <a:stCxn id="2652" idx="6"/>
            <a:endCxn id="2653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5" name="Google Shape;2655;p119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656" name="Google Shape;2656;p119"/>
          <p:cNvCxnSpPr>
            <a:stCxn id="2655" idx="2"/>
            <a:endCxn id="2653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657" name="Google Shape;2657;p119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658" name="Google Shape;2658;p119"/>
          <p:cNvCxnSpPr>
            <a:stCxn id="2657" idx="2"/>
            <a:endCxn id="2655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9" name="Google Shape;2659;p119"/>
          <p:cNvCxnSpPr>
            <a:stCxn id="2652" idx="6"/>
            <a:endCxn id="2657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660" name="Google Shape;2660;p119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61" name="Google Shape;2661;p119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662" name="Google Shape;2662;p119"/>
          <p:cNvCxnSpPr>
            <a:stCxn id="2652" idx="6"/>
            <a:endCxn id="2661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3" name="Google Shape;2663;p119"/>
          <p:cNvCxnSpPr>
            <a:stCxn id="2661" idx="6"/>
            <a:endCxn id="2660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64" name="Google Shape;2664;p119"/>
          <p:cNvCxnSpPr>
            <a:stCxn id="2660" idx="6"/>
            <a:endCxn id="2657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5" name="Google Shape;2665;p119"/>
          <p:cNvCxnSpPr>
            <a:stCxn id="2661" idx="6"/>
            <a:endCxn id="2653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6" name="Google Shape;2666;p119"/>
          <p:cNvCxnSpPr>
            <a:stCxn id="2657" idx="2"/>
            <a:endCxn id="2653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67" name="Google Shape;2667;p119"/>
          <p:cNvCxnSpPr>
            <a:stCxn id="2661" idx="6"/>
            <a:endCxn id="2657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68" name="Google Shape;2668;p119"/>
          <p:cNvCxnSpPr>
            <a:stCxn id="2652" idx="6"/>
            <a:endCxn id="2655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69" name="Google Shape;2669;p119"/>
          <p:cNvCxnSpPr>
            <a:stCxn id="2660" idx="6"/>
            <a:endCxn id="2655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0" name="Google Shape;2670;p119"/>
          <p:cNvCxnSpPr>
            <a:stCxn id="2652" idx="6"/>
            <a:endCxn id="2660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71" name="Google Shape;2671;p119"/>
          <p:cNvCxnSpPr>
            <a:stCxn id="2660" idx="0"/>
            <a:endCxn id="2653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72" name="Google Shape;2672;p119"/>
          <p:cNvCxnSpPr>
            <a:stCxn id="2661" idx="6"/>
            <a:endCxn id="2655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673" name="Google Shape;2673;p119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Adding new nodes to the structure does not change </a:t>
            </a:r>
            <a:r>
              <a:rPr lang="en"/>
              <a:t>the</a:t>
            </a:r>
            <a:r>
              <a:rPr lang="en"/>
              <a:t> </a:t>
            </a:r>
            <a:r>
              <a:rPr b="1" lang="en"/>
              <a:t>group polarization </a:t>
            </a:r>
            <a:r>
              <a:rPr lang="en"/>
              <a:t>pattern as long as their relationships to every other node are balanced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7" name="Shape 2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8" name="Google Shape;2678;p1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2679" name="Google Shape;2679;p120"/>
          <p:cNvSpPr/>
          <p:nvPr/>
        </p:nvSpPr>
        <p:spPr>
          <a:xfrm>
            <a:off x="4704000" y="2112760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80" name="Google Shape;2680;p120"/>
          <p:cNvSpPr/>
          <p:nvPr/>
        </p:nvSpPr>
        <p:spPr>
          <a:xfrm>
            <a:off x="5780399" y="1389525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681" name="Google Shape;2681;p120"/>
          <p:cNvCxnSpPr>
            <a:stCxn id="2679" idx="6"/>
            <a:endCxn id="2680" idx="2"/>
          </p:cNvCxnSpPr>
          <p:nvPr/>
        </p:nvCxnSpPr>
        <p:spPr>
          <a:xfrm flipH="1" rot="10800000">
            <a:off x="5280000" y="1676260"/>
            <a:ext cx="5004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2" name="Google Shape;2682;p120"/>
          <p:cNvSpPr/>
          <p:nvPr/>
        </p:nvSpPr>
        <p:spPr>
          <a:xfrm>
            <a:off x="6960440" y="13895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683" name="Google Shape;2683;p120"/>
          <p:cNvCxnSpPr>
            <a:stCxn id="2682" idx="2"/>
            <a:endCxn id="2680" idx="6"/>
          </p:cNvCxnSpPr>
          <p:nvPr/>
        </p:nvCxnSpPr>
        <p:spPr>
          <a:xfrm rot="10800000">
            <a:off x="6356540" y="1676323"/>
            <a:ext cx="603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684" name="Google Shape;2684;p120"/>
          <p:cNvSpPr/>
          <p:nvPr/>
        </p:nvSpPr>
        <p:spPr>
          <a:xfrm>
            <a:off x="7843901" y="3517836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685" name="Google Shape;2685;p120"/>
          <p:cNvCxnSpPr>
            <a:stCxn id="2684" idx="0"/>
            <a:endCxn id="2682" idx="4"/>
          </p:cNvCxnSpPr>
          <p:nvPr/>
        </p:nvCxnSpPr>
        <p:spPr>
          <a:xfrm rot="10800000">
            <a:off x="7248401" y="1963236"/>
            <a:ext cx="883500" cy="155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6" name="Google Shape;2686;p120"/>
          <p:cNvCxnSpPr>
            <a:stCxn id="2679" idx="6"/>
            <a:endCxn id="2684" idx="2"/>
          </p:cNvCxnSpPr>
          <p:nvPr/>
        </p:nvCxnSpPr>
        <p:spPr>
          <a:xfrm>
            <a:off x="5280000" y="2399560"/>
            <a:ext cx="256380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687" name="Google Shape;2687;p120"/>
          <p:cNvSpPr/>
          <p:nvPr/>
        </p:nvSpPr>
        <p:spPr>
          <a:xfrm>
            <a:off x="6960448" y="4333831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88" name="Google Shape;2688;p120"/>
          <p:cNvSpPr/>
          <p:nvPr/>
        </p:nvSpPr>
        <p:spPr>
          <a:xfrm>
            <a:off x="4704008" y="3517829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689" name="Google Shape;2689;p120"/>
          <p:cNvCxnSpPr>
            <a:stCxn id="2679" idx="6"/>
            <a:endCxn id="2688" idx="6"/>
          </p:cNvCxnSpPr>
          <p:nvPr/>
        </p:nvCxnSpPr>
        <p:spPr>
          <a:xfrm>
            <a:off x="5280000" y="2399560"/>
            <a:ext cx="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0" name="Google Shape;2690;p120"/>
          <p:cNvCxnSpPr>
            <a:stCxn id="2688" idx="6"/>
            <a:endCxn id="2687" idx="2"/>
          </p:cNvCxnSpPr>
          <p:nvPr/>
        </p:nvCxnSpPr>
        <p:spPr>
          <a:xfrm>
            <a:off x="5280008" y="3804629"/>
            <a:ext cx="1680300" cy="81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91" name="Google Shape;2691;p120"/>
          <p:cNvCxnSpPr>
            <a:stCxn id="2687" idx="0"/>
            <a:endCxn id="2684" idx="2"/>
          </p:cNvCxnSpPr>
          <p:nvPr/>
        </p:nvCxnSpPr>
        <p:spPr>
          <a:xfrm flipH="1" rot="10800000">
            <a:off x="7248448" y="3804631"/>
            <a:ext cx="5955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2" name="Google Shape;2692;p120"/>
          <p:cNvCxnSpPr>
            <a:stCxn id="2688" idx="6"/>
            <a:endCxn id="2680" idx="2"/>
          </p:cNvCxnSpPr>
          <p:nvPr/>
        </p:nvCxnSpPr>
        <p:spPr>
          <a:xfrm flipH="1" rot="10800000">
            <a:off x="5280008" y="1676429"/>
            <a:ext cx="5004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3" name="Google Shape;2693;p120"/>
          <p:cNvCxnSpPr>
            <a:stCxn id="2684" idx="2"/>
            <a:endCxn id="2680" idx="5"/>
          </p:cNvCxnSpPr>
          <p:nvPr/>
        </p:nvCxnSpPr>
        <p:spPr>
          <a:xfrm rot="10800000">
            <a:off x="6271901" y="1879236"/>
            <a:ext cx="1572000" cy="192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94" name="Google Shape;2694;p120"/>
          <p:cNvCxnSpPr>
            <a:stCxn id="2688" idx="6"/>
            <a:endCxn id="2684" idx="2"/>
          </p:cNvCxnSpPr>
          <p:nvPr/>
        </p:nvCxnSpPr>
        <p:spPr>
          <a:xfrm>
            <a:off x="5280008" y="3804629"/>
            <a:ext cx="2563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95" name="Google Shape;2695;p120"/>
          <p:cNvCxnSpPr>
            <a:stCxn id="2679" idx="6"/>
            <a:endCxn id="2682" idx="2"/>
          </p:cNvCxnSpPr>
          <p:nvPr/>
        </p:nvCxnSpPr>
        <p:spPr>
          <a:xfrm flipH="1" rot="10800000">
            <a:off x="5280000" y="1676260"/>
            <a:ext cx="16803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96" name="Google Shape;2696;p120"/>
          <p:cNvCxnSpPr>
            <a:stCxn id="2687" idx="0"/>
            <a:endCxn id="2682" idx="4"/>
          </p:cNvCxnSpPr>
          <p:nvPr/>
        </p:nvCxnSpPr>
        <p:spPr>
          <a:xfrm rot="10800000">
            <a:off x="7248448" y="1963231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7" name="Google Shape;2697;p120"/>
          <p:cNvCxnSpPr>
            <a:stCxn id="2679" idx="6"/>
            <a:endCxn id="2687" idx="2"/>
          </p:cNvCxnSpPr>
          <p:nvPr/>
        </p:nvCxnSpPr>
        <p:spPr>
          <a:xfrm>
            <a:off x="5280000" y="2399560"/>
            <a:ext cx="1680300" cy="2221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98" name="Google Shape;2698;p120"/>
          <p:cNvCxnSpPr>
            <a:stCxn id="2687" idx="0"/>
            <a:endCxn id="2680" idx="4"/>
          </p:cNvCxnSpPr>
          <p:nvPr/>
        </p:nvCxnSpPr>
        <p:spPr>
          <a:xfrm rot="10800000">
            <a:off x="6068548" y="1963231"/>
            <a:ext cx="11799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99" name="Google Shape;2699;p120"/>
          <p:cNvCxnSpPr>
            <a:stCxn id="2688" idx="6"/>
            <a:endCxn id="2682" idx="2"/>
          </p:cNvCxnSpPr>
          <p:nvPr/>
        </p:nvCxnSpPr>
        <p:spPr>
          <a:xfrm flipH="1" rot="10800000">
            <a:off x="5280008" y="1676429"/>
            <a:ext cx="16803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700" name="Google Shape;2700;p120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Adding new nodes to the structure does not change the </a:t>
            </a:r>
            <a:r>
              <a:rPr b="1" lang="en"/>
              <a:t>group polarization </a:t>
            </a:r>
            <a:r>
              <a:rPr lang="en"/>
              <a:t>pattern as long as their relationships to every other node are balanced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1" name="Google Shape;2701;p120"/>
          <p:cNvSpPr/>
          <p:nvPr/>
        </p:nvSpPr>
        <p:spPr>
          <a:xfrm>
            <a:off x="7843890" y="2078948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I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02" name="Google Shape;2702;p120"/>
          <p:cNvSpPr/>
          <p:nvPr/>
        </p:nvSpPr>
        <p:spPr>
          <a:xfrm>
            <a:off x="5780390" y="43338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H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6" name="Shape 2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7" name="Google Shape;2707;p1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2708" name="Google Shape;2708;p121"/>
          <p:cNvSpPr/>
          <p:nvPr/>
        </p:nvSpPr>
        <p:spPr>
          <a:xfrm>
            <a:off x="4704000" y="2112760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09" name="Google Shape;2709;p121"/>
          <p:cNvSpPr/>
          <p:nvPr/>
        </p:nvSpPr>
        <p:spPr>
          <a:xfrm>
            <a:off x="5780399" y="1389525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710" name="Google Shape;2710;p121"/>
          <p:cNvCxnSpPr>
            <a:stCxn id="2708" idx="6"/>
            <a:endCxn id="2709" idx="2"/>
          </p:cNvCxnSpPr>
          <p:nvPr/>
        </p:nvCxnSpPr>
        <p:spPr>
          <a:xfrm flipH="1" rot="10800000">
            <a:off x="5280000" y="1676260"/>
            <a:ext cx="5004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11" name="Google Shape;2711;p121"/>
          <p:cNvSpPr/>
          <p:nvPr/>
        </p:nvSpPr>
        <p:spPr>
          <a:xfrm>
            <a:off x="6960440" y="13895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712" name="Google Shape;2712;p121"/>
          <p:cNvCxnSpPr>
            <a:stCxn id="2711" idx="2"/>
            <a:endCxn id="2709" idx="6"/>
          </p:cNvCxnSpPr>
          <p:nvPr/>
        </p:nvCxnSpPr>
        <p:spPr>
          <a:xfrm rot="10800000">
            <a:off x="6356540" y="1676323"/>
            <a:ext cx="603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713" name="Google Shape;2713;p121"/>
          <p:cNvSpPr/>
          <p:nvPr/>
        </p:nvSpPr>
        <p:spPr>
          <a:xfrm>
            <a:off x="7843901" y="3517836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714" name="Google Shape;2714;p121"/>
          <p:cNvCxnSpPr>
            <a:stCxn id="2713" idx="0"/>
            <a:endCxn id="2711" idx="4"/>
          </p:cNvCxnSpPr>
          <p:nvPr/>
        </p:nvCxnSpPr>
        <p:spPr>
          <a:xfrm rot="10800000">
            <a:off x="7248401" y="1963236"/>
            <a:ext cx="883500" cy="155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5" name="Google Shape;2715;p121"/>
          <p:cNvCxnSpPr>
            <a:stCxn id="2708" idx="6"/>
            <a:endCxn id="2713" idx="2"/>
          </p:cNvCxnSpPr>
          <p:nvPr/>
        </p:nvCxnSpPr>
        <p:spPr>
          <a:xfrm>
            <a:off x="5280000" y="2399560"/>
            <a:ext cx="256380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716" name="Google Shape;2716;p121"/>
          <p:cNvSpPr/>
          <p:nvPr/>
        </p:nvSpPr>
        <p:spPr>
          <a:xfrm>
            <a:off x="6960448" y="4333831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17" name="Google Shape;2717;p121"/>
          <p:cNvSpPr/>
          <p:nvPr/>
        </p:nvSpPr>
        <p:spPr>
          <a:xfrm>
            <a:off x="4704008" y="3517829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718" name="Google Shape;2718;p121"/>
          <p:cNvCxnSpPr>
            <a:stCxn id="2708" idx="6"/>
            <a:endCxn id="2717" idx="6"/>
          </p:cNvCxnSpPr>
          <p:nvPr/>
        </p:nvCxnSpPr>
        <p:spPr>
          <a:xfrm>
            <a:off x="5280000" y="2399560"/>
            <a:ext cx="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9" name="Google Shape;2719;p121"/>
          <p:cNvCxnSpPr>
            <a:stCxn id="2717" idx="6"/>
            <a:endCxn id="2716" idx="2"/>
          </p:cNvCxnSpPr>
          <p:nvPr/>
        </p:nvCxnSpPr>
        <p:spPr>
          <a:xfrm>
            <a:off x="5280008" y="3804629"/>
            <a:ext cx="1680300" cy="81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20" name="Google Shape;2720;p121"/>
          <p:cNvCxnSpPr>
            <a:stCxn id="2716" idx="0"/>
            <a:endCxn id="2713" idx="2"/>
          </p:cNvCxnSpPr>
          <p:nvPr/>
        </p:nvCxnSpPr>
        <p:spPr>
          <a:xfrm flipH="1" rot="10800000">
            <a:off x="7248448" y="3804631"/>
            <a:ext cx="5955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1" name="Google Shape;2721;p121"/>
          <p:cNvCxnSpPr>
            <a:stCxn id="2717" idx="6"/>
            <a:endCxn id="2709" idx="2"/>
          </p:cNvCxnSpPr>
          <p:nvPr/>
        </p:nvCxnSpPr>
        <p:spPr>
          <a:xfrm flipH="1" rot="10800000">
            <a:off x="5280008" y="1676429"/>
            <a:ext cx="5004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2" name="Google Shape;2722;p121"/>
          <p:cNvCxnSpPr>
            <a:stCxn id="2713" idx="2"/>
            <a:endCxn id="2709" idx="5"/>
          </p:cNvCxnSpPr>
          <p:nvPr/>
        </p:nvCxnSpPr>
        <p:spPr>
          <a:xfrm rot="10800000">
            <a:off x="6271901" y="1879236"/>
            <a:ext cx="1572000" cy="192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23" name="Google Shape;2723;p121"/>
          <p:cNvCxnSpPr>
            <a:stCxn id="2717" idx="6"/>
            <a:endCxn id="2713" idx="2"/>
          </p:cNvCxnSpPr>
          <p:nvPr/>
        </p:nvCxnSpPr>
        <p:spPr>
          <a:xfrm>
            <a:off x="5280008" y="3804629"/>
            <a:ext cx="2563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24" name="Google Shape;2724;p121"/>
          <p:cNvCxnSpPr>
            <a:stCxn id="2708" idx="6"/>
            <a:endCxn id="2711" idx="2"/>
          </p:cNvCxnSpPr>
          <p:nvPr/>
        </p:nvCxnSpPr>
        <p:spPr>
          <a:xfrm flipH="1" rot="10800000">
            <a:off x="5280000" y="1676260"/>
            <a:ext cx="16803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25" name="Google Shape;2725;p121"/>
          <p:cNvCxnSpPr>
            <a:stCxn id="2716" idx="0"/>
            <a:endCxn id="2711" idx="4"/>
          </p:cNvCxnSpPr>
          <p:nvPr/>
        </p:nvCxnSpPr>
        <p:spPr>
          <a:xfrm rot="10800000">
            <a:off x="7248448" y="1963231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6" name="Google Shape;2726;p121"/>
          <p:cNvCxnSpPr>
            <a:stCxn id="2708" idx="6"/>
            <a:endCxn id="2716" idx="2"/>
          </p:cNvCxnSpPr>
          <p:nvPr/>
        </p:nvCxnSpPr>
        <p:spPr>
          <a:xfrm>
            <a:off x="5280000" y="2399560"/>
            <a:ext cx="1680300" cy="2221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27" name="Google Shape;2727;p121"/>
          <p:cNvCxnSpPr>
            <a:stCxn id="2716" idx="0"/>
            <a:endCxn id="2709" idx="4"/>
          </p:cNvCxnSpPr>
          <p:nvPr/>
        </p:nvCxnSpPr>
        <p:spPr>
          <a:xfrm rot="10800000">
            <a:off x="6068548" y="1963231"/>
            <a:ext cx="11799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28" name="Google Shape;2728;p121"/>
          <p:cNvCxnSpPr>
            <a:stCxn id="2717" idx="6"/>
            <a:endCxn id="2711" idx="2"/>
          </p:cNvCxnSpPr>
          <p:nvPr/>
        </p:nvCxnSpPr>
        <p:spPr>
          <a:xfrm flipH="1" rot="10800000">
            <a:off x="5280008" y="1676429"/>
            <a:ext cx="16803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729" name="Google Shape;2729;p121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Adding new nodes to the structure does not change the </a:t>
            </a:r>
            <a:r>
              <a:rPr b="1" lang="en"/>
              <a:t>group polarization </a:t>
            </a:r>
            <a:r>
              <a:rPr lang="en"/>
              <a:t>pattern as long as their relationships to every other node are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 makes friends with C, D, 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0" name="Google Shape;2730;p121"/>
          <p:cNvSpPr/>
          <p:nvPr/>
        </p:nvSpPr>
        <p:spPr>
          <a:xfrm>
            <a:off x="7843890" y="2078948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I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31" name="Google Shape;2731;p121"/>
          <p:cNvSpPr/>
          <p:nvPr/>
        </p:nvSpPr>
        <p:spPr>
          <a:xfrm>
            <a:off x="5780390" y="43338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H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732" name="Google Shape;2732;p121"/>
          <p:cNvCxnSpPr>
            <a:stCxn id="2730" idx="1"/>
            <a:endCxn id="2711" idx="5"/>
          </p:cNvCxnSpPr>
          <p:nvPr/>
        </p:nvCxnSpPr>
        <p:spPr>
          <a:xfrm rot="10800000">
            <a:off x="7452143" y="1879150"/>
            <a:ext cx="476100" cy="283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3" name="Google Shape;2733;p121"/>
          <p:cNvCxnSpPr>
            <a:stCxn id="2713" idx="0"/>
            <a:endCxn id="2730" idx="4"/>
          </p:cNvCxnSpPr>
          <p:nvPr/>
        </p:nvCxnSpPr>
        <p:spPr>
          <a:xfrm rot="10800000">
            <a:off x="8131901" y="2652636"/>
            <a:ext cx="0" cy="865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4" name="Google Shape;2734;p121"/>
          <p:cNvCxnSpPr>
            <a:stCxn id="2716" idx="0"/>
            <a:endCxn id="2730" idx="3"/>
          </p:cNvCxnSpPr>
          <p:nvPr/>
        </p:nvCxnSpPr>
        <p:spPr>
          <a:xfrm flipH="1" rot="10800000">
            <a:off x="7248448" y="2568631"/>
            <a:ext cx="679800" cy="1765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8" name="Shape 2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9" name="Google Shape;2739;p1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2740" name="Google Shape;2740;p122"/>
          <p:cNvSpPr/>
          <p:nvPr/>
        </p:nvSpPr>
        <p:spPr>
          <a:xfrm>
            <a:off x="4704000" y="2112760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41" name="Google Shape;2741;p122"/>
          <p:cNvSpPr/>
          <p:nvPr/>
        </p:nvSpPr>
        <p:spPr>
          <a:xfrm>
            <a:off x="5780399" y="1389525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742" name="Google Shape;2742;p122"/>
          <p:cNvCxnSpPr>
            <a:stCxn id="2740" idx="6"/>
            <a:endCxn id="2741" idx="2"/>
          </p:cNvCxnSpPr>
          <p:nvPr/>
        </p:nvCxnSpPr>
        <p:spPr>
          <a:xfrm flipH="1" rot="10800000">
            <a:off x="5280000" y="1676260"/>
            <a:ext cx="5004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3" name="Google Shape;2743;p122"/>
          <p:cNvSpPr/>
          <p:nvPr/>
        </p:nvSpPr>
        <p:spPr>
          <a:xfrm>
            <a:off x="6960440" y="13895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744" name="Google Shape;2744;p122"/>
          <p:cNvCxnSpPr>
            <a:stCxn id="2743" idx="2"/>
            <a:endCxn id="2741" idx="6"/>
          </p:cNvCxnSpPr>
          <p:nvPr/>
        </p:nvCxnSpPr>
        <p:spPr>
          <a:xfrm rot="10800000">
            <a:off x="6356540" y="1676323"/>
            <a:ext cx="603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745" name="Google Shape;2745;p122"/>
          <p:cNvSpPr/>
          <p:nvPr/>
        </p:nvSpPr>
        <p:spPr>
          <a:xfrm>
            <a:off x="7843901" y="3517836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746" name="Google Shape;2746;p122"/>
          <p:cNvCxnSpPr>
            <a:stCxn id="2745" idx="0"/>
            <a:endCxn id="2743" idx="4"/>
          </p:cNvCxnSpPr>
          <p:nvPr/>
        </p:nvCxnSpPr>
        <p:spPr>
          <a:xfrm rot="10800000">
            <a:off x="7248401" y="1963236"/>
            <a:ext cx="883500" cy="155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7" name="Google Shape;2747;p122"/>
          <p:cNvCxnSpPr>
            <a:stCxn id="2740" idx="6"/>
            <a:endCxn id="2745" idx="2"/>
          </p:cNvCxnSpPr>
          <p:nvPr/>
        </p:nvCxnSpPr>
        <p:spPr>
          <a:xfrm>
            <a:off x="5280000" y="2399560"/>
            <a:ext cx="256380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748" name="Google Shape;2748;p122"/>
          <p:cNvSpPr/>
          <p:nvPr/>
        </p:nvSpPr>
        <p:spPr>
          <a:xfrm>
            <a:off x="6960448" y="4333831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49" name="Google Shape;2749;p122"/>
          <p:cNvSpPr/>
          <p:nvPr/>
        </p:nvSpPr>
        <p:spPr>
          <a:xfrm>
            <a:off x="4704008" y="3517829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750" name="Google Shape;2750;p122"/>
          <p:cNvCxnSpPr>
            <a:stCxn id="2740" idx="6"/>
            <a:endCxn id="2749" idx="6"/>
          </p:cNvCxnSpPr>
          <p:nvPr/>
        </p:nvCxnSpPr>
        <p:spPr>
          <a:xfrm>
            <a:off x="5280000" y="2399560"/>
            <a:ext cx="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1" name="Google Shape;2751;p122"/>
          <p:cNvCxnSpPr>
            <a:stCxn id="2749" idx="6"/>
            <a:endCxn id="2748" idx="2"/>
          </p:cNvCxnSpPr>
          <p:nvPr/>
        </p:nvCxnSpPr>
        <p:spPr>
          <a:xfrm>
            <a:off x="5280008" y="3804629"/>
            <a:ext cx="1680300" cy="81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52" name="Google Shape;2752;p122"/>
          <p:cNvCxnSpPr>
            <a:stCxn id="2748" idx="0"/>
            <a:endCxn id="2745" idx="2"/>
          </p:cNvCxnSpPr>
          <p:nvPr/>
        </p:nvCxnSpPr>
        <p:spPr>
          <a:xfrm flipH="1" rot="10800000">
            <a:off x="7248448" y="3804631"/>
            <a:ext cx="5955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3" name="Google Shape;2753;p122"/>
          <p:cNvCxnSpPr>
            <a:stCxn id="2749" idx="6"/>
            <a:endCxn id="2741" idx="2"/>
          </p:cNvCxnSpPr>
          <p:nvPr/>
        </p:nvCxnSpPr>
        <p:spPr>
          <a:xfrm flipH="1" rot="10800000">
            <a:off x="5280008" y="1676429"/>
            <a:ext cx="5004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4" name="Google Shape;2754;p122"/>
          <p:cNvCxnSpPr>
            <a:stCxn id="2745" idx="2"/>
            <a:endCxn id="2741" idx="5"/>
          </p:cNvCxnSpPr>
          <p:nvPr/>
        </p:nvCxnSpPr>
        <p:spPr>
          <a:xfrm rot="10800000">
            <a:off x="6271901" y="1879236"/>
            <a:ext cx="1572000" cy="192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55" name="Google Shape;2755;p122"/>
          <p:cNvCxnSpPr>
            <a:stCxn id="2749" idx="6"/>
            <a:endCxn id="2745" idx="2"/>
          </p:cNvCxnSpPr>
          <p:nvPr/>
        </p:nvCxnSpPr>
        <p:spPr>
          <a:xfrm>
            <a:off x="5280008" y="3804629"/>
            <a:ext cx="2563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56" name="Google Shape;2756;p122"/>
          <p:cNvCxnSpPr>
            <a:stCxn id="2740" idx="6"/>
            <a:endCxn id="2743" idx="2"/>
          </p:cNvCxnSpPr>
          <p:nvPr/>
        </p:nvCxnSpPr>
        <p:spPr>
          <a:xfrm flipH="1" rot="10800000">
            <a:off x="5280000" y="1676260"/>
            <a:ext cx="16803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57" name="Google Shape;2757;p122"/>
          <p:cNvCxnSpPr>
            <a:stCxn id="2748" idx="0"/>
            <a:endCxn id="2743" idx="4"/>
          </p:cNvCxnSpPr>
          <p:nvPr/>
        </p:nvCxnSpPr>
        <p:spPr>
          <a:xfrm rot="10800000">
            <a:off x="7248448" y="1963231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8" name="Google Shape;2758;p122"/>
          <p:cNvCxnSpPr>
            <a:stCxn id="2740" idx="6"/>
            <a:endCxn id="2748" idx="2"/>
          </p:cNvCxnSpPr>
          <p:nvPr/>
        </p:nvCxnSpPr>
        <p:spPr>
          <a:xfrm>
            <a:off x="5280000" y="2399560"/>
            <a:ext cx="1680300" cy="2221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59" name="Google Shape;2759;p122"/>
          <p:cNvCxnSpPr>
            <a:stCxn id="2748" idx="0"/>
            <a:endCxn id="2741" idx="4"/>
          </p:cNvCxnSpPr>
          <p:nvPr/>
        </p:nvCxnSpPr>
        <p:spPr>
          <a:xfrm rot="10800000">
            <a:off x="6068548" y="1963231"/>
            <a:ext cx="11799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60" name="Google Shape;2760;p122"/>
          <p:cNvCxnSpPr>
            <a:stCxn id="2749" idx="6"/>
            <a:endCxn id="2743" idx="2"/>
          </p:cNvCxnSpPr>
          <p:nvPr/>
        </p:nvCxnSpPr>
        <p:spPr>
          <a:xfrm flipH="1" rot="10800000">
            <a:off x="5280008" y="1676429"/>
            <a:ext cx="16803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761" name="Google Shape;2761;p122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Adding new nodes to the structure does not change the </a:t>
            </a:r>
            <a:r>
              <a:rPr b="1" lang="en"/>
              <a:t>group polarization </a:t>
            </a:r>
            <a:r>
              <a:rPr lang="en"/>
              <a:t>pattern as long as their relationships to every other node are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 makes friends with C, D, 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 makes friends with A, B, F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2" name="Google Shape;2762;p122"/>
          <p:cNvSpPr/>
          <p:nvPr/>
        </p:nvSpPr>
        <p:spPr>
          <a:xfrm>
            <a:off x="7843890" y="2078948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I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63" name="Google Shape;2763;p122"/>
          <p:cNvSpPr/>
          <p:nvPr/>
        </p:nvSpPr>
        <p:spPr>
          <a:xfrm>
            <a:off x="5780390" y="43338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H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764" name="Google Shape;2764;p122"/>
          <p:cNvCxnSpPr>
            <a:stCxn id="2762" idx="1"/>
            <a:endCxn id="2743" idx="5"/>
          </p:cNvCxnSpPr>
          <p:nvPr/>
        </p:nvCxnSpPr>
        <p:spPr>
          <a:xfrm rot="10800000">
            <a:off x="7452143" y="1879150"/>
            <a:ext cx="476100" cy="283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5" name="Google Shape;2765;p122"/>
          <p:cNvCxnSpPr>
            <a:stCxn id="2745" idx="0"/>
            <a:endCxn id="2762" idx="4"/>
          </p:cNvCxnSpPr>
          <p:nvPr/>
        </p:nvCxnSpPr>
        <p:spPr>
          <a:xfrm rot="10800000">
            <a:off x="8131901" y="2652636"/>
            <a:ext cx="0" cy="8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6" name="Google Shape;2766;p122"/>
          <p:cNvCxnSpPr>
            <a:stCxn id="2748" idx="0"/>
            <a:endCxn id="2762" idx="3"/>
          </p:cNvCxnSpPr>
          <p:nvPr/>
        </p:nvCxnSpPr>
        <p:spPr>
          <a:xfrm flipH="1" rot="10800000">
            <a:off x="7248448" y="2568631"/>
            <a:ext cx="6798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7" name="Google Shape;2767;p122"/>
          <p:cNvCxnSpPr>
            <a:stCxn id="2763" idx="0"/>
            <a:endCxn id="2749" idx="6"/>
          </p:cNvCxnSpPr>
          <p:nvPr/>
        </p:nvCxnSpPr>
        <p:spPr>
          <a:xfrm rot="10800000">
            <a:off x="5279990" y="3804623"/>
            <a:ext cx="788400" cy="529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8" name="Google Shape;2768;p122"/>
          <p:cNvCxnSpPr>
            <a:stCxn id="2763" idx="0"/>
            <a:endCxn id="2741" idx="4"/>
          </p:cNvCxnSpPr>
          <p:nvPr/>
        </p:nvCxnSpPr>
        <p:spPr>
          <a:xfrm rot="10800000">
            <a:off x="6068390" y="1963223"/>
            <a:ext cx="0" cy="2370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9" name="Google Shape;2769;p122"/>
          <p:cNvCxnSpPr>
            <a:stCxn id="2763" idx="0"/>
            <a:endCxn id="2740" idx="6"/>
          </p:cNvCxnSpPr>
          <p:nvPr/>
        </p:nvCxnSpPr>
        <p:spPr>
          <a:xfrm rot="10800000">
            <a:off x="5279990" y="2399423"/>
            <a:ext cx="788400" cy="1934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3" name="Shape 2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4" name="Google Shape;2774;p1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2775" name="Google Shape;2775;p123"/>
          <p:cNvSpPr/>
          <p:nvPr/>
        </p:nvSpPr>
        <p:spPr>
          <a:xfrm>
            <a:off x="4704000" y="2112760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76" name="Google Shape;2776;p123"/>
          <p:cNvSpPr/>
          <p:nvPr/>
        </p:nvSpPr>
        <p:spPr>
          <a:xfrm>
            <a:off x="5780399" y="1389525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777" name="Google Shape;2777;p123"/>
          <p:cNvCxnSpPr>
            <a:stCxn id="2775" idx="6"/>
            <a:endCxn id="2776" idx="2"/>
          </p:cNvCxnSpPr>
          <p:nvPr/>
        </p:nvCxnSpPr>
        <p:spPr>
          <a:xfrm flipH="1" rot="10800000">
            <a:off x="5280000" y="1676260"/>
            <a:ext cx="5004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78" name="Google Shape;2778;p123"/>
          <p:cNvSpPr/>
          <p:nvPr/>
        </p:nvSpPr>
        <p:spPr>
          <a:xfrm>
            <a:off x="6960440" y="13895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779" name="Google Shape;2779;p123"/>
          <p:cNvCxnSpPr>
            <a:stCxn id="2778" idx="2"/>
            <a:endCxn id="2776" idx="6"/>
          </p:cNvCxnSpPr>
          <p:nvPr/>
        </p:nvCxnSpPr>
        <p:spPr>
          <a:xfrm rot="10800000">
            <a:off x="6356540" y="1676323"/>
            <a:ext cx="603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780" name="Google Shape;2780;p123"/>
          <p:cNvSpPr/>
          <p:nvPr/>
        </p:nvSpPr>
        <p:spPr>
          <a:xfrm>
            <a:off x="7843901" y="3517836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781" name="Google Shape;2781;p123"/>
          <p:cNvCxnSpPr>
            <a:stCxn id="2780" idx="0"/>
            <a:endCxn id="2778" idx="4"/>
          </p:cNvCxnSpPr>
          <p:nvPr/>
        </p:nvCxnSpPr>
        <p:spPr>
          <a:xfrm rot="10800000">
            <a:off x="7248401" y="1963236"/>
            <a:ext cx="883500" cy="155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2" name="Google Shape;2782;p123"/>
          <p:cNvCxnSpPr>
            <a:stCxn id="2775" idx="6"/>
            <a:endCxn id="2780" idx="2"/>
          </p:cNvCxnSpPr>
          <p:nvPr/>
        </p:nvCxnSpPr>
        <p:spPr>
          <a:xfrm>
            <a:off x="5280000" y="2399560"/>
            <a:ext cx="256380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783" name="Google Shape;2783;p123"/>
          <p:cNvSpPr/>
          <p:nvPr/>
        </p:nvSpPr>
        <p:spPr>
          <a:xfrm>
            <a:off x="6960448" y="4333831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84" name="Google Shape;2784;p123"/>
          <p:cNvSpPr/>
          <p:nvPr/>
        </p:nvSpPr>
        <p:spPr>
          <a:xfrm>
            <a:off x="4704008" y="3517829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785" name="Google Shape;2785;p123"/>
          <p:cNvCxnSpPr>
            <a:stCxn id="2775" idx="6"/>
            <a:endCxn id="2784" idx="6"/>
          </p:cNvCxnSpPr>
          <p:nvPr/>
        </p:nvCxnSpPr>
        <p:spPr>
          <a:xfrm>
            <a:off x="5280000" y="2399560"/>
            <a:ext cx="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6" name="Google Shape;2786;p123"/>
          <p:cNvCxnSpPr>
            <a:stCxn id="2784" idx="6"/>
            <a:endCxn id="2783" idx="0"/>
          </p:cNvCxnSpPr>
          <p:nvPr/>
        </p:nvCxnSpPr>
        <p:spPr>
          <a:xfrm>
            <a:off x="5280008" y="3804629"/>
            <a:ext cx="19683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87" name="Google Shape;2787;p123"/>
          <p:cNvCxnSpPr>
            <a:stCxn id="2783" idx="0"/>
            <a:endCxn id="2780" idx="2"/>
          </p:cNvCxnSpPr>
          <p:nvPr/>
        </p:nvCxnSpPr>
        <p:spPr>
          <a:xfrm flipH="1" rot="10800000">
            <a:off x="7248448" y="3804631"/>
            <a:ext cx="5955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8" name="Google Shape;2788;p123"/>
          <p:cNvCxnSpPr>
            <a:stCxn id="2784" idx="6"/>
            <a:endCxn id="2776" idx="2"/>
          </p:cNvCxnSpPr>
          <p:nvPr/>
        </p:nvCxnSpPr>
        <p:spPr>
          <a:xfrm flipH="1" rot="10800000">
            <a:off x="5280008" y="1676429"/>
            <a:ext cx="5004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9" name="Google Shape;2789;p123"/>
          <p:cNvCxnSpPr>
            <a:stCxn id="2780" idx="2"/>
            <a:endCxn id="2776" idx="5"/>
          </p:cNvCxnSpPr>
          <p:nvPr/>
        </p:nvCxnSpPr>
        <p:spPr>
          <a:xfrm rot="10800000">
            <a:off x="6271901" y="1879236"/>
            <a:ext cx="1572000" cy="192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90" name="Google Shape;2790;p123"/>
          <p:cNvCxnSpPr>
            <a:stCxn id="2784" idx="6"/>
            <a:endCxn id="2780" idx="2"/>
          </p:cNvCxnSpPr>
          <p:nvPr/>
        </p:nvCxnSpPr>
        <p:spPr>
          <a:xfrm>
            <a:off x="5280008" y="3804629"/>
            <a:ext cx="2563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91" name="Google Shape;2791;p123"/>
          <p:cNvCxnSpPr>
            <a:stCxn id="2775" idx="6"/>
            <a:endCxn id="2778" idx="2"/>
          </p:cNvCxnSpPr>
          <p:nvPr/>
        </p:nvCxnSpPr>
        <p:spPr>
          <a:xfrm flipH="1" rot="10800000">
            <a:off x="5280000" y="1676260"/>
            <a:ext cx="16803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92" name="Google Shape;2792;p123"/>
          <p:cNvCxnSpPr>
            <a:stCxn id="2783" idx="0"/>
            <a:endCxn id="2778" idx="4"/>
          </p:cNvCxnSpPr>
          <p:nvPr/>
        </p:nvCxnSpPr>
        <p:spPr>
          <a:xfrm rot="10800000">
            <a:off x="7248448" y="1963231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3" name="Google Shape;2793;p123"/>
          <p:cNvCxnSpPr>
            <a:stCxn id="2775" idx="6"/>
            <a:endCxn id="2783" idx="0"/>
          </p:cNvCxnSpPr>
          <p:nvPr/>
        </p:nvCxnSpPr>
        <p:spPr>
          <a:xfrm>
            <a:off x="5280000" y="2399560"/>
            <a:ext cx="19683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94" name="Google Shape;2794;p123"/>
          <p:cNvCxnSpPr>
            <a:stCxn id="2783" idx="0"/>
            <a:endCxn id="2776" idx="4"/>
          </p:cNvCxnSpPr>
          <p:nvPr/>
        </p:nvCxnSpPr>
        <p:spPr>
          <a:xfrm rot="10800000">
            <a:off x="6068548" y="1963231"/>
            <a:ext cx="11799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95" name="Google Shape;2795;p123"/>
          <p:cNvCxnSpPr>
            <a:stCxn id="2784" idx="6"/>
            <a:endCxn id="2778" idx="2"/>
          </p:cNvCxnSpPr>
          <p:nvPr/>
        </p:nvCxnSpPr>
        <p:spPr>
          <a:xfrm flipH="1" rot="10800000">
            <a:off x="5280008" y="1676429"/>
            <a:ext cx="16803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796" name="Google Shape;2796;p123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Adding new nodes to the structure does not change the </a:t>
            </a:r>
            <a:r>
              <a:rPr b="1" lang="en"/>
              <a:t>group polarization </a:t>
            </a:r>
            <a:r>
              <a:rPr lang="en"/>
              <a:t>pattern as long as their relationships to every other node are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 makes friends with C, D, 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 makes friends with A, B, F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they balance out the rest of the relationships with others!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7" name="Google Shape;2797;p123"/>
          <p:cNvSpPr/>
          <p:nvPr/>
        </p:nvSpPr>
        <p:spPr>
          <a:xfrm>
            <a:off x="7843890" y="2078948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I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98" name="Google Shape;2798;p123"/>
          <p:cNvSpPr/>
          <p:nvPr/>
        </p:nvSpPr>
        <p:spPr>
          <a:xfrm>
            <a:off x="5780390" y="43338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H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799" name="Google Shape;2799;p123"/>
          <p:cNvCxnSpPr>
            <a:stCxn id="2797" idx="1"/>
            <a:endCxn id="2778" idx="5"/>
          </p:cNvCxnSpPr>
          <p:nvPr/>
        </p:nvCxnSpPr>
        <p:spPr>
          <a:xfrm rot="10800000">
            <a:off x="7452143" y="1879150"/>
            <a:ext cx="476100" cy="283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0" name="Google Shape;2800;p123"/>
          <p:cNvCxnSpPr>
            <a:stCxn id="2780" idx="0"/>
            <a:endCxn id="2797" idx="4"/>
          </p:cNvCxnSpPr>
          <p:nvPr/>
        </p:nvCxnSpPr>
        <p:spPr>
          <a:xfrm rot="10800000">
            <a:off x="8131901" y="2652636"/>
            <a:ext cx="0" cy="8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1" name="Google Shape;2801;p123"/>
          <p:cNvCxnSpPr>
            <a:stCxn id="2783" idx="0"/>
            <a:endCxn id="2797" idx="3"/>
          </p:cNvCxnSpPr>
          <p:nvPr/>
        </p:nvCxnSpPr>
        <p:spPr>
          <a:xfrm flipH="1" rot="10800000">
            <a:off x="7248448" y="2568631"/>
            <a:ext cx="6798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2" name="Google Shape;2802;p123"/>
          <p:cNvCxnSpPr>
            <a:stCxn id="2798" idx="0"/>
            <a:endCxn id="2784" idx="6"/>
          </p:cNvCxnSpPr>
          <p:nvPr/>
        </p:nvCxnSpPr>
        <p:spPr>
          <a:xfrm rot="10800000">
            <a:off x="5279990" y="3804623"/>
            <a:ext cx="7884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3" name="Google Shape;2803;p123"/>
          <p:cNvCxnSpPr>
            <a:stCxn id="2798" idx="0"/>
            <a:endCxn id="2776" idx="4"/>
          </p:cNvCxnSpPr>
          <p:nvPr/>
        </p:nvCxnSpPr>
        <p:spPr>
          <a:xfrm rot="10800000">
            <a:off x="6068390" y="1963223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4" name="Google Shape;2804;p123"/>
          <p:cNvCxnSpPr>
            <a:stCxn id="2798" idx="0"/>
            <a:endCxn id="2775" idx="6"/>
          </p:cNvCxnSpPr>
          <p:nvPr/>
        </p:nvCxnSpPr>
        <p:spPr>
          <a:xfrm rot="10800000">
            <a:off x="5279990" y="2399423"/>
            <a:ext cx="7884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5" name="Google Shape;2805;p123"/>
          <p:cNvCxnSpPr>
            <a:stCxn id="2798" idx="0"/>
            <a:endCxn id="2778" idx="4"/>
          </p:cNvCxnSpPr>
          <p:nvPr/>
        </p:nvCxnSpPr>
        <p:spPr>
          <a:xfrm flipH="1" rot="10800000">
            <a:off x="6068390" y="1963223"/>
            <a:ext cx="11802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06" name="Google Shape;2806;p123"/>
          <p:cNvCxnSpPr>
            <a:stCxn id="2798" idx="0"/>
            <a:endCxn id="2797" idx="3"/>
          </p:cNvCxnSpPr>
          <p:nvPr/>
        </p:nvCxnSpPr>
        <p:spPr>
          <a:xfrm flipH="1" rot="10800000">
            <a:off x="6068390" y="2568623"/>
            <a:ext cx="18600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07" name="Google Shape;2807;p123"/>
          <p:cNvCxnSpPr>
            <a:stCxn id="2798" idx="0"/>
            <a:endCxn id="2780" idx="2"/>
          </p:cNvCxnSpPr>
          <p:nvPr/>
        </p:nvCxnSpPr>
        <p:spPr>
          <a:xfrm flipH="1" rot="10800000">
            <a:off x="6068390" y="3804623"/>
            <a:ext cx="17754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08" name="Google Shape;2808;p123"/>
          <p:cNvCxnSpPr>
            <a:stCxn id="2798" idx="0"/>
            <a:endCxn id="2783" idx="0"/>
          </p:cNvCxnSpPr>
          <p:nvPr/>
        </p:nvCxnSpPr>
        <p:spPr>
          <a:xfrm>
            <a:off x="6068390" y="4333823"/>
            <a:ext cx="1180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09" name="Google Shape;2809;p123"/>
          <p:cNvCxnSpPr>
            <a:stCxn id="2775" idx="6"/>
            <a:endCxn id="2797" idx="2"/>
          </p:cNvCxnSpPr>
          <p:nvPr/>
        </p:nvCxnSpPr>
        <p:spPr>
          <a:xfrm flipH="1" rot="10800000">
            <a:off x="5280000" y="2365660"/>
            <a:ext cx="2563800" cy="3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10" name="Google Shape;2810;p123"/>
          <p:cNvCxnSpPr>
            <a:stCxn id="2776" idx="5"/>
            <a:endCxn id="2797" idx="2"/>
          </p:cNvCxnSpPr>
          <p:nvPr/>
        </p:nvCxnSpPr>
        <p:spPr>
          <a:xfrm>
            <a:off x="6272046" y="1879123"/>
            <a:ext cx="1571700" cy="48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11" name="Google Shape;2811;p123"/>
          <p:cNvCxnSpPr>
            <a:stCxn id="2784" idx="6"/>
            <a:endCxn id="2797" idx="2"/>
          </p:cNvCxnSpPr>
          <p:nvPr/>
        </p:nvCxnSpPr>
        <p:spPr>
          <a:xfrm flipH="1" rot="10800000">
            <a:off x="5280008" y="2365829"/>
            <a:ext cx="2563800" cy="143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5" name="Shape 2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" name="Google Shape;2816;p1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2817" name="Google Shape;2817;p124"/>
          <p:cNvSpPr/>
          <p:nvPr/>
        </p:nvSpPr>
        <p:spPr>
          <a:xfrm>
            <a:off x="4704000" y="2112760"/>
            <a:ext cx="576000" cy="573600"/>
          </a:xfrm>
          <a:prstGeom prst="ellipse">
            <a:avLst/>
          </a:prstGeom>
          <a:solidFill>
            <a:srgbClr val="3C78D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18" name="Google Shape;2818;p124"/>
          <p:cNvSpPr/>
          <p:nvPr/>
        </p:nvSpPr>
        <p:spPr>
          <a:xfrm>
            <a:off x="5780399" y="1389525"/>
            <a:ext cx="576000" cy="573600"/>
          </a:xfrm>
          <a:prstGeom prst="ellipse">
            <a:avLst/>
          </a:prstGeom>
          <a:solidFill>
            <a:srgbClr val="3C78D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819" name="Google Shape;2819;p124"/>
          <p:cNvCxnSpPr>
            <a:stCxn id="2817" idx="6"/>
            <a:endCxn id="2818" idx="2"/>
          </p:cNvCxnSpPr>
          <p:nvPr/>
        </p:nvCxnSpPr>
        <p:spPr>
          <a:xfrm flipH="1" rot="10800000">
            <a:off x="5280000" y="1676260"/>
            <a:ext cx="500400" cy="723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20" name="Google Shape;2820;p124"/>
          <p:cNvSpPr/>
          <p:nvPr/>
        </p:nvSpPr>
        <p:spPr>
          <a:xfrm>
            <a:off x="6960440" y="1389523"/>
            <a:ext cx="576000" cy="573600"/>
          </a:xfrm>
          <a:prstGeom prst="ellipse">
            <a:avLst/>
          </a:prstGeom>
          <a:solidFill>
            <a:srgbClr val="CC412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821" name="Google Shape;2821;p124"/>
          <p:cNvCxnSpPr>
            <a:stCxn id="2820" idx="2"/>
            <a:endCxn id="2818" idx="6"/>
          </p:cNvCxnSpPr>
          <p:nvPr/>
        </p:nvCxnSpPr>
        <p:spPr>
          <a:xfrm rot="10800000">
            <a:off x="6356540" y="1676323"/>
            <a:ext cx="6039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822" name="Google Shape;2822;p124"/>
          <p:cNvSpPr/>
          <p:nvPr/>
        </p:nvSpPr>
        <p:spPr>
          <a:xfrm>
            <a:off x="7843901" y="3517836"/>
            <a:ext cx="576000" cy="573600"/>
          </a:xfrm>
          <a:prstGeom prst="ellipse">
            <a:avLst/>
          </a:prstGeom>
          <a:solidFill>
            <a:srgbClr val="CC412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823" name="Google Shape;2823;p124"/>
          <p:cNvCxnSpPr>
            <a:stCxn id="2822" idx="0"/>
            <a:endCxn id="2820" idx="4"/>
          </p:cNvCxnSpPr>
          <p:nvPr/>
        </p:nvCxnSpPr>
        <p:spPr>
          <a:xfrm rot="10800000">
            <a:off x="7248401" y="1963236"/>
            <a:ext cx="883500" cy="1554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4" name="Google Shape;2824;p124"/>
          <p:cNvCxnSpPr>
            <a:stCxn id="2817" idx="6"/>
            <a:endCxn id="2822" idx="2"/>
          </p:cNvCxnSpPr>
          <p:nvPr/>
        </p:nvCxnSpPr>
        <p:spPr>
          <a:xfrm>
            <a:off x="5280000" y="2399560"/>
            <a:ext cx="2563800" cy="1405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825" name="Google Shape;2825;p124"/>
          <p:cNvSpPr/>
          <p:nvPr/>
        </p:nvSpPr>
        <p:spPr>
          <a:xfrm>
            <a:off x="6960448" y="4333831"/>
            <a:ext cx="576000" cy="573600"/>
          </a:xfrm>
          <a:prstGeom prst="ellipse">
            <a:avLst/>
          </a:prstGeom>
          <a:solidFill>
            <a:srgbClr val="CC412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26" name="Google Shape;2826;p124"/>
          <p:cNvSpPr/>
          <p:nvPr/>
        </p:nvSpPr>
        <p:spPr>
          <a:xfrm>
            <a:off x="4704008" y="3517829"/>
            <a:ext cx="576000" cy="573600"/>
          </a:xfrm>
          <a:prstGeom prst="ellipse">
            <a:avLst/>
          </a:prstGeom>
          <a:solidFill>
            <a:srgbClr val="3C78D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827" name="Google Shape;2827;p124"/>
          <p:cNvCxnSpPr>
            <a:stCxn id="2817" idx="6"/>
            <a:endCxn id="2826" idx="6"/>
          </p:cNvCxnSpPr>
          <p:nvPr/>
        </p:nvCxnSpPr>
        <p:spPr>
          <a:xfrm>
            <a:off x="5280000" y="2399560"/>
            <a:ext cx="0" cy="1405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8" name="Google Shape;2828;p124"/>
          <p:cNvCxnSpPr>
            <a:stCxn id="2826" idx="6"/>
            <a:endCxn id="2825" idx="0"/>
          </p:cNvCxnSpPr>
          <p:nvPr/>
        </p:nvCxnSpPr>
        <p:spPr>
          <a:xfrm>
            <a:off x="5280008" y="3804629"/>
            <a:ext cx="1968300" cy="529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29" name="Google Shape;2829;p124"/>
          <p:cNvCxnSpPr>
            <a:stCxn id="2825" idx="0"/>
            <a:endCxn id="2822" idx="2"/>
          </p:cNvCxnSpPr>
          <p:nvPr/>
        </p:nvCxnSpPr>
        <p:spPr>
          <a:xfrm flipH="1" rot="10800000">
            <a:off x="7248448" y="3804631"/>
            <a:ext cx="595500" cy="529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0" name="Google Shape;2830;p124"/>
          <p:cNvCxnSpPr>
            <a:stCxn id="2826" idx="6"/>
            <a:endCxn id="2818" idx="2"/>
          </p:cNvCxnSpPr>
          <p:nvPr/>
        </p:nvCxnSpPr>
        <p:spPr>
          <a:xfrm flipH="1" rot="10800000">
            <a:off x="5280008" y="1676429"/>
            <a:ext cx="500400" cy="2128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1" name="Google Shape;2831;p124"/>
          <p:cNvCxnSpPr>
            <a:stCxn id="2822" idx="2"/>
            <a:endCxn id="2818" idx="5"/>
          </p:cNvCxnSpPr>
          <p:nvPr/>
        </p:nvCxnSpPr>
        <p:spPr>
          <a:xfrm rot="10800000">
            <a:off x="6271901" y="1879236"/>
            <a:ext cx="1572000" cy="1925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32" name="Google Shape;2832;p124"/>
          <p:cNvCxnSpPr>
            <a:stCxn id="2826" idx="6"/>
            <a:endCxn id="2822" idx="2"/>
          </p:cNvCxnSpPr>
          <p:nvPr/>
        </p:nvCxnSpPr>
        <p:spPr>
          <a:xfrm>
            <a:off x="5280008" y="3804629"/>
            <a:ext cx="2563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33" name="Google Shape;2833;p124"/>
          <p:cNvCxnSpPr>
            <a:stCxn id="2817" idx="6"/>
            <a:endCxn id="2820" idx="2"/>
          </p:cNvCxnSpPr>
          <p:nvPr/>
        </p:nvCxnSpPr>
        <p:spPr>
          <a:xfrm flipH="1" rot="10800000">
            <a:off x="5280000" y="1676260"/>
            <a:ext cx="1680300" cy="723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34" name="Google Shape;2834;p124"/>
          <p:cNvCxnSpPr>
            <a:stCxn id="2825" idx="0"/>
            <a:endCxn id="2820" idx="4"/>
          </p:cNvCxnSpPr>
          <p:nvPr/>
        </p:nvCxnSpPr>
        <p:spPr>
          <a:xfrm rot="10800000">
            <a:off x="7248448" y="1963231"/>
            <a:ext cx="0" cy="2370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5" name="Google Shape;2835;p124"/>
          <p:cNvCxnSpPr>
            <a:stCxn id="2817" idx="6"/>
            <a:endCxn id="2825" idx="0"/>
          </p:cNvCxnSpPr>
          <p:nvPr/>
        </p:nvCxnSpPr>
        <p:spPr>
          <a:xfrm>
            <a:off x="5280000" y="2399560"/>
            <a:ext cx="1968300" cy="1934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36" name="Google Shape;2836;p124"/>
          <p:cNvCxnSpPr>
            <a:stCxn id="2825" idx="0"/>
            <a:endCxn id="2818" idx="4"/>
          </p:cNvCxnSpPr>
          <p:nvPr/>
        </p:nvCxnSpPr>
        <p:spPr>
          <a:xfrm rot="10800000">
            <a:off x="6068548" y="1963231"/>
            <a:ext cx="1179900" cy="2370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37" name="Google Shape;2837;p124"/>
          <p:cNvCxnSpPr>
            <a:stCxn id="2826" idx="6"/>
            <a:endCxn id="2820" idx="2"/>
          </p:cNvCxnSpPr>
          <p:nvPr/>
        </p:nvCxnSpPr>
        <p:spPr>
          <a:xfrm flipH="1" rot="10800000">
            <a:off x="5280008" y="1676429"/>
            <a:ext cx="1680300" cy="2128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838" name="Google Shape;2838;p124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Adding new nodes to the structure does not change the </a:t>
            </a:r>
            <a:r>
              <a:rPr b="1" lang="en"/>
              <a:t>group polarization </a:t>
            </a:r>
            <a:r>
              <a:rPr lang="en"/>
              <a:t>pattern as long as their relationships to every other node are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 makes friends with C, D, 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 makes friends with A, B, F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they balance out the rest of the relationships with others!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Still polarized!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9" name="Google Shape;2839;p124"/>
          <p:cNvSpPr/>
          <p:nvPr/>
        </p:nvSpPr>
        <p:spPr>
          <a:xfrm>
            <a:off x="7843890" y="2078948"/>
            <a:ext cx="576000" cy="573600"/>
          </a:xfrm>
          <a:prstGeom prst="ellipse">
            <a:avLst/>
          </a:prstGeom>
          <a:solidFill>
            <a:srgbClr val="CC412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I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40" name="Google Shape;2840;p124"/>
          <p:cNvSpPr/>
          <p:nvPr/>
        </p:nvSpPr>
        <p:spPr>
          <a:xfrm>
            <a:off x="5780390" y="4333823"/>
            <a:ext cx="576000" cy="573600"/>
          </a:xfrm>
          <a:prstGeom prst="ellipse">
            <a:avLst/>
          </a:prstGeom>
          <a:solidFill>
            <a:srgbClr val="3C78D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H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841" name="Google Shape;2841;p124"/>
          <p:cNvCxnSpPr>
            <a:stCxn id="2839" idx="1"/>
            <a:endCxn id="2820" idx="5"/>
          </p:cNvCxnSpPr>
          <p:nvPr/>
        </p:nvCxnSpPr>
        <p:spPr>
          <a:xfrm rot="10800000">
            <a:off x="7452143" y="1879150"/>
            <a:ext cx="476100" cy="283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2" name="Google Shape;2842;p124"/>
          <p:cNvCxnSpPr>
            <a:stCxn id="2822" idx="0"/>
            <a:endCxn id="2839" idx="4"/>
          </p:cNvCxnSpPr>
          <p:nvPr/>
        </p:nvCxnSpPr>
        <p:spPr>
          <a:xfrm rot="10800000">
            <a:off x="8131901" y="2652636"/>
            <a:ext cx="0" cy="865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3" name="Google Shape;2843;p124"/>
          <p:cNvCxnSpPr>
            <a:stCxn id="2825" idx="0"/>
            <a:endCxn id="2839" idx="2"/>
          </p:cNvCxnSpPr>
          <p:nvPr/>
        </p:nvCxnSpPr>
        <p:spPr>
          <a:xfrm flipH="1" rot="10800000">
            <a:off x="7248448" y="2365831"/>
            <a:ext cx="595500" cy="1968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4" name="Google Shape;2844;p124"/>
          <p:cNvCxnSpPr>
            <a:stCxn id="2840" idx="0"/>
            <a:endCxn id="2826" idx="6"/>
          </p:cNvCxnSpPr>
          <p:nvPr/>
        </p:nvCxnSpPr>
        <p:spPr>
          <a:xfrm rot="10800000">
            <a:off x="5279990" y="3804623"/>
            <a:ext cx="788400" cy="529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5" name="Google Shape;2845;p124"/>
          <p:cNvCxnSpPr>
            <a:stCxn id="2840" idx="0"/>
            <a:endCxn id="2818" idx="4"/>
          </p:cNvCxnSpPr>
          <p:nvPr/>
        </p:nvCxnSpPr>
        <p:spPr>
          <a:xfrm rot="10800000">
            <a:off x="6068390" y="1963223"/>
            <a:ext cx="0" cy="2370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6" name="Google Shape;2846;p124"/>
          <p:cNvCxnSpPr>
            <a:stCxn id="2840" idx="0"/>
            <a:endCxn id="2817" idx="6"/>
          </p:cNvCxnSpPr>
          <p:nvPr/>
        </p:nvCxnSpPr>
        <p:spPr>
          <a:xfrm rot="10800000">
            <a:off x="5279990" y="2399423"/>
            <a:ext cx="788400" cy="1934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7" name="Google Shape;2847;p124"/>
          <p:cNvCxnSpPr>
            <a:stCxn id="2840" idx="0"/>
            <a:endCxn id="2820" idx="4"/>
          </p:cNvCxnSpPr>
          <p:nvPr/>
        </p:nvCxnSpPr>
        <p:spPr>
          <a:xfrm flipH="1" rot="10800000">
            <a:off x="6068390" y="1963223"/>
            <a:ext cx="1180200" cy="2370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48" name="Google Shape;2848;p124"/>
          <p:cNvCxnSpPr>
            <a:stCxn id="2840" idx="0"/>
            <a:endCxn id="2839" idx="3"/>
          </p:cNvCxnSpPr>
          <p:nvPr/>
        </p:nvCxnSpPr>
        <p:spPr>
          <a:xfrm flipH="1" rot="10800000">
            <a:off x="6068390" y="2568623"/>
            <a:ext cx="1860000" cy="1765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49" name="Google Shape;2849;p124"/>
          <p:cNvCxnSpPr>
            <a:stCxn id="2840" idx="0"/>
            <a:endCxn id="2822" idx="2"/>
          </p:cNvCxnSpPr>
          <p:nvPr/>
        </p:nvCxnSpPr>
        <p:spPr>
          <a:xfrm flipH="1" rot="10800000">
            <a:off x="6068390" y="3804623"/>
            <a:ext cx="1775400" cy="529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50" name="Google Shape;2850;p124"/>
          <p:cNvCxnSpPr>
            <a:stCxn id="2840" idx="0"/>
            <a:endCxn id="2825" idx="0"/>
          </p:cNvCxnSpPr>
          <p:nvPr/>
        </p:nvCxnSpPr>
        <p:spPr>
          <a:xfrm>
            <a:off x="6068390" y="4333823"/>
            <a:ext cx="11802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51" name="Google Shape;2851;p124"/>
          <p:cNvCxnSpPr>
            <a:stCxn id="2817" idx="6"/>
            <a:endCxn id="2839" idx="2"/>
          </p:cNvCxnSpPr>
          <p:nvPr/>
        </p:nvCxnSpPr>
        <p:spPr>
          <a:xfrm flipH="1" rot="10800000">
            <a:off x="5280000" y="2365660"/>
            <a:ext cx="2563800" cy="33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52" name="Google Shape;2852;p124"/>
          <p:cNvCxnSpPr>
            <a:stCxn id="2818" idx="5"/>
            <a:endCxn id="2839" idx="2"/>
          </p:cNvCxnSpPr>
          <p:nvPr/>
        </p:nvCxnSpPr>
        <p:spPr>
          <a:xfrm>
            <a:off x="6272046" y="1879123"/>
            <a:ext cx="1571700" cy="486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53" name="Google Shape;2853;p124"/>
          <p:cNvCxnSpPr>
            <a:stCxn id="2826" idx="6"/>
            <a:endCxn id="2839" idx="2"/>
          </p:cNvCxnSpPr>
          <p:nvPr/>
        </p:nvCxnSpPr>
        <p:spPr>
          <a:xfrm flipH="1" rot="10800000">
            <a:off x="5280008" y="2365829"/>
            <a:ext cx="2563800" cy="1438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7" name="Shape 2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8" name="Google Shape;2858;p1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2859" name="Google Shape;2859;p125"/>
          <p:cNvSpPr/>
          <p:nvPr/>
        </p:nvSpPr>
        <p:spPr>
          <a:xfrm>
            <a:off x="4704000" y="2112760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60" name="Google Shape;2860;p125"/>
          <p:cNvSpPr/>
          <p:nvPr/>
        </p:nvSpPr>
        <p:spPr>
          <a:xfrm>
            <a:off x="5780399" y="1389525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861" name="Google Shape;2861;p125"/>
          <p:cNvCxnSpPr>
            <a:stCxn id="2859" idx="6"/>
            <a:endCxn id="2860" idx="2"/>
          </p:cNvCxnSpPr>
          <p:nvPr/>
        </p:nvCxnSpPr>
        <p:spPr>
          <a:xfrm flipH="1" rot="10800000">
            <a:off x="5280000" y="1676260"/>
            <a:ext cx="5004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62" name="Google Shape;2862;p125"/>
          <p:cNvSpPr/>
          <p:nvPr/>
        </p:nvSpPr>
        <p:spPr>
          <a:xfrm>
            <a:off x="6960440" y="13895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863" name="Google Shape;2863;p125"/>
          <p:cNvCxnSpPr>
            <a:stCxn id="2862" idx="2"/>
            <a:endCxn id="2860" idx="6"/>
          </p:cNvCxnSpPr>
          <p:nvPr/>
        </p:nvCxnSpPr>
        <p:spPr>
          <a:xfrm rot="10800000">
            <a:off x="6356540" y="1676323"/>
            <a:ext cx="603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864" name="Google Shape;2864;p125"/>
          <p:cNvSpPr/>
          <p:nvPr/>
        </p:nvSpPr>
        <p:spPr>
          <a:xfrm>
            <a:off x="7843901" y="3517836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865" name="Google Shape;2865;p125"/>
          <p:cNvCxnSpPr>
            <a:stCxn id="2864" idx="0"/>
            <a:endCxn id="2862" idx="4"/>
          </p:cNvCxnSpPr>
          <p:nvPr/>
        </p:nvCxnSpPr>
        <p:spPr>
          <a:xfrm rot="10800000">
            <a:off x="7248401" y="1963236"/>
            <a:ext cx="883500" cy="155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6" name="Google Shape;2866;p125"/>
          <p:cNvCxnSpPr>
            <a:stCxn id="2859" idx="6"/>
            <a:endCxn id="2864" idx="2"/>
          </p:cNvCxnSpPr>
          <p:nvPr/>
        </p:nvCxnSpPr>
        <p:spPr>
          <a:xfrm>
            <a:off x="5280000" y="2399560"/>
            <a:ext cx="256380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867" name="Google Shape;2867;p125"/>
          <p:cNvSpPr/>
          <p:nvPr/>
        </p:nvSpPr>
        <p:spPr>
          <a:xfrm>
            <a:off x="6960448" y="4333831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68" name="Google Shape;2868;p125"/>
          <p:cNvSpPr/>
          <p:nvPr/>
        </p:nvSpPr>
        <p:spPr>
          <a:xfrm>
            <a:off x="4704008" y="3517829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869" name="Google Shape;2869;p125"/>
          <p:cNvCxnSpPr>
            <a:stCxn id="2859" idx="6"/>
            <a:endCxn id="2868" idx="6"/>
          </p:cNvCxnSpPr>
          <p:nvPr/>
        </p:nvCxnSpPr>
        <p:spPr>
          <a:xfrm>
            <a:off x="5280000" y="2399560"/>
            <a:ext cx="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0" name="Google Shape;2870;p125"/>
          <p:cNvCxnSpPr>
            <a:stCxn id="2868" idx="6"/>
            <a:endCxn id="2867" idx="0"/>
          </p:cNvCxnSpPr>
          <p:nvPr/>
        </p:nvCxnSpPr>
        <p:spPr>
          <a:xfrm>
            <a:off x="5280008" y="3804629"/>
            <a:ext cx="19683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71" name="Google Shape;2871;p125"/>
          <p:cNvCxnSpPr>
            <a:stCxn id="2867" idx="0"/>
            <a:endCxn id="2864" idx="2"/>
          </p:cNvCxnSpPr>
          <p:nvPr/>
        </p:nvCxnSpPr>
        <p:spPr>
          <a:xfrm flipH="1" rot="10800000">
            <a:off x="7248448" y="3804631"/>
            <a:ext cx="5955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2" name="Google Shape;2872;p125"/>
          <p:cNvCxnSpPr>
            <a:stCxn id="2868" idx="6"/>
            <a:endCxn id="2860" idx="2"/>
          </p:cNvCxnSpPr>
          <p:nvPr/>
        </p:nvCxnSpPr>
        <p:spPr>
          <a:xfrm flipH="1" rot="10800000">
            <a:off x="5280008" y="1676429"/>
            <a:ext cx="5004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3" name="Google Shape;2873;p125"/>
          <p:cNvCxnSpPr>
            <a:stCxn id="2864" idx="2"/>
            <a:endCxn id="2860" idx="5"/>
          </p:cNvCxnSpPr>
          <p:nvPr/>
        </p:nvCxnSpPr>
        <p:spPr>
          <a:xfrm rot="10800000">
            <a:off x="6271901" y="1879236"/>
            <a:ext cx="1572000" cy="192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74" name="Google Shape;2874;p125"/>
          <p:cNvCxnSpPr>
            <a:stCxn id="2868" idx="6"/>
            <a:endCxn id="2864" idx="2"/>
          </p:cNvCxnSpPr>
          <p:nvPr/>
        </p:nvCxnSpPr>
        <p:spPr>
          <a:xfrm>
            <a:off x="5280008" y="3804629"/>
            <a:ext cx="2563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75" name="Google Shape;2875;p125"/>
          <p:cNvCxnSpPr>
            <a:stCxn id="2859" idx="6"/>
            <a:endCxn id="2862" idx="2"/>
          </p:cNvCxnSpPr>
          <p:nvPr/>
        </p:nvCxnSpPr>
        <p:spPr>
          <a:xfrm flipH="1" rot="10800000">
            <a:off x="5280000" y="1676260"/>
            <a:ext cx="16803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76" name="Google Shape;2876;p125"/>
          <p:cNvCxnSpPr>
            <a:stCxn id="2867" idx="0"/>
            <a:endCxn id="2862" idx="4"/>
          </p:cNvCxnSpPr>
          <p:nvPr/>
        </p:nvCxnSpPr>
        <p:spPr>
          <a:xfrm rot="10800000">
            <a:off x="7248448" y="1963231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7" name="Google Shape;2877;p125"/>
          <p:cNvCxnSpPr>
            <a:stCxn id="2859" idx="6"/>
            <a:endCxn id="2867" idx="0"/>
          </p:cNvCxnSpPr>
          <p:nvPr/>
        </p:nvCxnSpPr>
        <p:spPr>
          <a:xfrm>
            <a:off x="5280000" y="2399560"/>
            <a:ext cx="19683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78" name="Google Shape;2878;p125"/>
          <p:cNvCxnSpPr>
            <a:stCxn id="2867" idx="0"/>
            <a:endCxn id="2860" idx="4"/>
          </p:cNvCxnSpPr>
          <p:nvPr/>
        </p:nvCxnSpPr>
        <p:spPr>
          <a:xfrm rot="10800000">
            <a:off x="6068548" y="1963231"/>
            <a:ext cx="11799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79" name="Google Shape;2879;p125"/>
          <p:cNvCxnSpPr>
            <a:stCxn id="2868" idx="6"/>
            <a:endCxn id="2862" idx="2"/>
          </p:cNvCxnSpPr>
          <p:nvPr/>
        </p:nvCxnSpPr>
        <p:spPr>
          <a:xfrm flipH="1" rot="10800000">
            <a:off x="5280008" y="1676429"/>
            <a:ext cx="16803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880" name="Google Shape;2880;p125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Signed Graph in which every triple is balanced is called a </a:t>
            </a:r>
            <a:r>
              <a:rPr b="1" lang="en"/>
              <a:t>balanced signed graph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1" name="Google Shape;2881;p125"/>
          <p:cNvSpPr/>
          <p:nvPr/>
        </p:nvSpPr>
        <p:spPr>
          <a:xfrm>
            <a:off x="7843890" y="2078948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I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82" name="Google Shape;2882;p125"/>
          <p:cNvSpPr/>
          <p:nvPr/>
        </p:nvSpPr>
        <p:spPr>
          <a:xfrm>
            <a:off x="5780390" y="43338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H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883" name="Google Shape;2883;p125"/>
          <p:cNvCxnSpPr>
            <a:stCxn id="2881" idx="1"/>
            <a:endCxn id="2862" idx="5"/>
          </p:cNvCxnSpPr>
          <p:nvPr/>
        </p:nvCxnSpPr>
        <p:spPr>
          <a:xfrm rot="10800000">
            <a:off x="7452143" y="1879150"/>
            <a:ext cx="476100" cy="283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4" name="Google Shape;2884;p125"/>
          <p:cNvCxnSpPr>
            <a:stCxn id="2864" idx="0"/>
            <a:endCxn id="2881" idx="4"/>
          </p:cNvCxnSpPr>
          <p:nvPr/>
        </p:nvCxnSpPr>
        <p:spPr>
          <a:xfrm rot="10800000">
            <a:off x="8131901" y="2652636"/>
            <a:ext cx="0" cy="8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5" name="Google Shape;2885;p125"/>
          <p:cNvCxnSpPr>
            <a:stCxn id="2867" idx="0"/>
            <a:endCxn id="2881" idx="3"/>
          </p:cNvCxnSpPr>
          <p:nvPr/>
        </p:nvCxnSpPr>
        <p:spPr>
          <a:xfrm flipH="1" rot="10800000">
            <a:off x="7248448" y="2568631"/>
            <a:ext cx="6798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6" name="Google Shape;2886;p125"/>
          <p:cNvCxnSpPr>
            <a:stCxn id="2882" idx="0"/>
            <a:endCxn id="2868" idx="6"/>
          </p:cNvCxnSpPr>
          <p:nvPr/>
        </p:nvCxnSpPr>
        <p:spPr>
          <a:xfrm rot="10800000">
            <a:off x="5279990" y="3804623"/>
            <a:ext cx="7884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7" name="Google Shape;2887;p125"/>
          <p:cNvCxnSpPr>
            <a:stCxn id="2882" idx="0"/>
            <a:endCxn id="2860" idx="4"/>
          </p:cNvCxnSpPr>
          <p:nvPr/>
        </p:nvCxnSpPr>
        <p:spPr>
          <a:xfrm rot="10800000">
            <a:off x="6068390" y="1963223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8" name="Google Shape;2888;p125"/>
          <p:cNvCxnSpPr>
            <a:stCxn id="2882" idx="0"/>
            <a:endCxn id="2859" idx="6"/>
          </p:cNvCxnSpPr>
          <p:nvPr/>
        </p:nvCxnSpPr>
        <p:spPr>
          <a:xfrm rot="10800000">
            <a:off x="5279990" y="2399423"/>
            <a:ext cx="7884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9" name="Google Shape;2889;p125"/>
          <p:cNvCxnSpPr>
            <a:stCxn id="2882" idx="0"/>
            <a:endCxn id="2862" idx="4"/>
          </p:cNvCxnSpPr>
          <p:nvPr/>
        </p:nvCxnSpPr>
        <p:spPr>
          <a:xfrm flipH="1" rot="10800000">
            <a:off x="6068390" y="1963223"/>
            <a:ext cx="11802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90" name="Google Shape;2890;p125"/>
          <p:cNvCxnSpPr>
            <a:stCxn id="2882" idx="0"/>
            <a:endCxn id="2881" idx="3"/>
          </p:cNvCxnSpPr>
          <p:nvPr/>
        </p:nvCxnSpPr>
        <p:spPr>
          <a:xfrm flipH="1" rot="10800000">
            <a:off x="6068390" y="2568623"/>
            <a:ext cx="18600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91" name="Google Shape;2891;p125"/>
          <p:cNvCxnSpPr>
            <a:stCxn id="2882" idx="0"/>
            <a:endCxn id="2864" idx="2"/>
          </p:cNvCxnSpPr>
          <p:nvPr/>
        </p:nvCxnSpPr>
        <p:spPr>
          <a:xfrm flipH="1" rot="10800000">
            <a:off x="6068390" y="3804623"/>
            <a:ext cx="17754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92" name="Google Shape;2892;p125"/>
          <p:cNvCxnSpPr>
            <a:stCxn id="2882" idx="0"/>
            <a:endCxn id="2867" idx="0"/>
          </p:cNvCxnSpPr>
          <p:nvPr/>
        </p:nvCxnSpPr>
        <p:spPr>
          <a:xfrm>
            <a:off x="6068390" y="4333823"/>
            <a:ext cx="1180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93" name="Google Shape;2893;p125"/>
          <p:cNvCxnSpPr>
            <a:stCxn id="2859" idx="6"/>
            <a:endCxn id="2881" idx="2"/>
          </p:cNvCxnSpPr>
          <p:nvPr/>
        </p:nvCxnSpPr>
        <p:spPr>
          <a:xfrm flipH="1" rot="10800000">
            <a:off x="5280000" y="2365660"/>
            <a:ext cx="2563800" cy="3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94" name="Google Shape;2894;p125"/>
          <p:cNvCxnSpPr>
            <a:stCxn id="2860" idx="5"/>
            <a:endCxn id="2881" idx="2"/>
          </p:cNvCxnSpPr>
          <p:nvPr/>
        </p:nvCxnSpPr>
        <p:spPr>
          <a:xfrm>
            <a:off x="6272046" y="1879123"/>
            <a:ext cx="1571700" cy="48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95" name="Google Shape;2895;p125"/>
          <p:cNvCxnSpPr>
            <a:stCxn id="2868" idx="6"/>
            <a:endCxn id="2881" idx="2"/>
          </p:cNvCxnSpPr>
          <p:nvPr/>
        </p:nvCxnSpPr>
        <p:spPr>
          <a:xfrm flipH="1" rot="10800000">
            <a:off x="5280008" y="2365829"/>
            <a:ext cx="2563800" cy="143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9" name="Shape 2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0" name="Google Shape;2900;p1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2901" name="Google Shape;2901;p126"/>
          <p:cNvSpPr/>
          <p:nvPr/>
        </p:nvSpPr>
        <p:spPr>
          <a:xfrm>
            <a:off x="4704000" y="2112760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02" name="Google Shape;2902;p126"/>
          <p:cNvSpPr/>
          <p:nvPr/>
        </p:nvSpPr>
        <p:spPr>
          <a:xfrm>
            <a:off x="5780399" y="1389525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903" name="Google Shape;2903;p126"/>
          <p:cNvCxnSpPr>
            <a:stCxn id="2901" idx="6"/>
            <a:endCxn id="2902" idx="2"/>
          </p:cNvCxnSpPr>
          <p:nvPr/>
        </p:nvCxnSpPr>
        <p:spPr>
          <a:xfrm flipH="1" rot="10800000">
            <a:off x="5280000" y="1676260"/>
            <a:ext cx="5004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4" name="Google Shape;2904;p126"/>
          <p:cNvSpPr/>
          <p:nvPr/>
        </p:nvSpPr>
        <p:spPr>
          <a:xfrm>
            <a:off x="6960440" y="13895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905" name="Google Shape;2905;p126"/>
          <p:cNvCxnSpPr>
            <a:stCxn id="2904" idx="2"/>
            <a:endCxn id="2902" idx="6"/>
          </p:cNvCxnSpPr>
          <p:nvPr/>
        </p:nvCxnSpPr>
        <p:spPr>
          <a:xfrm rot="10800000">
            <a:off x="6356540" y="1676323"/>
            <a:ext cx="603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906" name="Google Shape;2906;p126"/>
          <p:cNvSpPr/>
          <p:nvPr/>
        </p:nvSpPr>
        <p:spPr>
          <a:xfrm>
            <a:off x="7843901" y="3517836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907" name="Google Shape;2907;p126"/>
          <p:cNvCxnSpPr>
            <a:stCxn id="2906" idx="0"/>
            <a:endCxn id="2904" idx="4"/>
          </p:cNvCxnSpPr>
          <p:nvPr/>
        </p:nvCxnSpPr>
        <p:spPr>
          <a:xfrm rot="10800000">
            <a:off x="7248401" y="1963236"/>
            <a:ext cx="883500" cy="155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8" name="Google Shape;2908;p126"/>
          <p:cNvCxnSpPr>
            <a:stCxn id="2901" idx="6"/>
            <a:endCxn id="2906" idx="2"/>
          </p:cNvCxnSpPr>
          <p:nvPr/>
        </p:nvCxnSpPr>
        <p:spPr>
          <a:xfrm>
            <a:off x="5280000" y="2399560"/>
            <a:ext cx="256380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909" name="Google Shape;2909;p126"/>
          <p:cNvSpPr/>
          <p:nvPr/>
        </p:nvSpPr>
        <p:spPr>
          <a:xfrm>
            <a:off x="6960448" y="4333831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10" name="Google Shape;2910;p126"/>
          <p:cNvSpPr/>
          <p:nvPr/>
        </p:nvSpPr>
        <p:spPr>
          <a:xfrm>
            <a:off x="4704008" y="3517829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911" name="Google Shape;2911;p126"/>
          <p:cNvCxnSpPr>
            <a:stCxn id="2901" idx="6"/>
            <a:endCxn id="2910" idx="6"/>
          </p:cNvCxnSpPr>
          <p:nvPr/>
        </p:nvCxnSpPr>
        <p:spPr>
          <a:xfrm>
            <a:off x="5280000" y="2399560"/>
            <a:ext cx="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2" name="Google Shape;2912;p126"/>
          <p:cNvCxnSpPr>
            <a:stCxn id="2910" idx="6"/>
            <a:endCxn id="2909" idx="0"/>
          </p:cNvCxnSpPr>
          <p:nvPr/>
        </p:nvCxnSpPr>
        <p:spPr>
          <a:xfrm>
            <a:off x="5280008" y="3804629"/>
            <a:ext cx="19683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13" name="Google Shape;2913;p126"/>
          <p:cNvCxnSpPr>
            <a:stCxn id="2909" idx="0"/>
            <a:endCxn id="2906" idx="2"/>
          </p:cNvCxnSpPr>
          <p:nvPr/>
        </p:nvCxnSpPr>
        <p:spPr>
          <a:xfrm flipH="1" rot="10800000">
            <a:off x="7248448" y="3804631"/>
            <a:ext cx="5955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4" name="Google Shape;2914;p126"/>
          <p:cNvCxnSpPr>
            <a:stCxn id="2910" idx="6"/>
            <a:endCxn id="2902" idx="2"/>
          </p:cNvCxnSpPr>
          <p:nvPr/>
        </p:nvCxnSpPr>
        <p:spPr>
          <a:xfrm flipH="1" rot="10800000">
            <a:off x="5280008" y="1676429"/>
            <a:ext cx="5004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5" name="Google Shape;2915;p126"/>
          <p:cNvCxnSpPr>
            <a:stCxn id="2906" idx="2"/>
            <a:endCxn id="2902" idx="5"/>
          </p:cNvCxnSpPr>
          <p:nvPr/>
        </p:nvCxnSpPr>
        <p:spPr>
          <a:xfrm rot="10800000">
            <a:off x="6271901" y="1879236"/>
            <a:ext cx="1572000" cy="192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16" name="Google Shape;2916;p126"/>
          <p:cNvCxnSpPr>
            <a:stCxn id="2910" idx="6"/>
            <a:endCxn id="2906" idx="2"/>
          </p:cNvCxnSpPr>
          <p:nvPr/>
        </p:nvCxnSpPr>
        <p:spPr>
          <a:xfrm>
            <a:off x="5280008" y="3804629"/>
            <a:ext cx="2563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17" name="Google Shape;2917;p126"/>
          <p:cNvCxnSpPr>
            <a:stCxn id="2901" idx="6"/>
            <a:endCxn id="2904" idx="2"/>
          </p:cNvCxnSpPr>
          <p:nvPr/>
        </p:nvCxnSpPr>
        <p:spPr>
          <a:xfrm flipH="1" rot="10800000">
            <a:off x="5280000" y="1676260"/>
            <a:ext cx="16803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18" name="Google Shape;2918;p126"/>
          <p:cNvCxnSpPr>
            <a:stCxn id="2909" idx="0"/>
            <a:endCxn id="2904" idx="4"/>
          </p:cNvCxnSpPr>
          <p:nvPr/>
        </p:nvCxnSpPr>
        <p:spPr>
          <a:xfrm rot="10800000">
            <a:off x="7248448" y="1963231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9" name="Google Shape;2919;p126"/>
          <p:cNvCxnSpPr>
            <a:stCxn id="2901" idx="6"/>
            <a:endCxn id="2909" idx="0"/>
          </p:cNvCxnSpPr>
          <p:nvPr/>
        </p:nvCxnSpPr>
        <p:spPr>
          <a:xfrm>
            <a:off x="5280000" y="2399560"/>
            <a:ext cx="19683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20" name="Google Shape;2920;p126"/>
          <p:cNvCxnSpPr>
            <a:stCxn id="2909" idx="0"/>
            <a:endCxn id="2902" idx="4"/>
          </p:cNvCxnSpPr>
          <p:nvPr/>
        </p:nvCxnSpPr>
        <p:spPr>
          <a:xfrm rot="10800000">
            <a:off x="6068548" y="1963231"/>
            <a:ext cx="11799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21" name="Google Shape;2921;p126"/>
          <p:cNvCxnSpPr>
            <a:stCxn id="2910" idx="6"/>
            <a:endCxn id="2904" idx="2"/>
          </p:cNvCxnSpPr>
          <p:nvPr/>
        </p:nvCxnSpPr>
        <p:spPr>
          <a:xfrm flipH="1" rot="10800000">
            <a:off x="5280008" y="1676429"/>
            <a:ext cx="16803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922" name="Google Shape;2922;p126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Signed Graph in which every triple is balanced is called a </a:t>
            </a:r>
            <a:r>
              <a:rPr b="1" lang="en"/>
              <a:t>balanced signed graph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3" name="Google Shape;2923;p126"/>
          <p:cNvSpPr/>
          <p:nvPr/>
        </p:nvSpPr>
        <p:spPr>
          <a:xfrm>
            <a:off x="7843890" y="2078948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I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24" name="Google Shape;2924;p126"/>
          <p:cNvSpPr/>
          <p:nvPr/>
        </p:nvSpPr>
        <p:spPr>
          <a:xfrm>
            <a:off x="5780390" y="43338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H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925" name="Google Shape;2925;p126"/>
          <p:cNvCxnSpPr>
            <a:stCxn id="2923" idx="1"/>
            <a:endCxn id="2904" idx="5"/>
          </p:cNvCxnSpPr>
          <p:nvPr/>
        </p:nvCxnSpPr>
        <p:spPr>
          <a:xfrm rot="10800000">
            <a:off x="7452143" y="1879150"/>
            <a:ext cx="476100" cy="283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6" name="Google Shape;2926;p126"/>
          <p:cNvCxnSpPr>
            <a:stCxn id="2906" idx="0"/>
            <a:endCxn id="2923" idx="4"/>
          </p:cNvCxnSpPr>
          <p:nvPr/>
        </p:nvCxnSpPr>
        <p:spPr>
          <a:xfrm rot="10800000">
            <a:off x="8131901" y="2652636"/>
            <a:ext cx="0" cy="8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7" name="Google Shape;2927;p126"/>
          <p:cNvCxnSpPr>
            <a:stCxn id="2909" idx="0"/>
            <a:endCxn id="2923" idx="3"/>
          </p:cNvCxnSpPr>
          <p:nvPr/>
        </p:nvCxnSpPr>
        <p:spPr>
          <a:xfrm flipH="1" rot="10800000">
            <a:off x="7248448" y="2568631"/>
            <a:ext cx="6798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8" name="Google Shape;2928;p126"/>
          <p:cNvCxnSpPr>
            <a:stCxn id="2924" idx="0"/>
            <a:endCxn id="2910" idx="6"/>
          </p:cNvCxnSpPr>
          <p:nvPr/>
        </p:nvCxnSpPr>
        <p:spPr>
          <a:xfrm rot="10800000">
            <a:off x="5279990" y="3804623"/>
            <a:ext cx="7884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9" name="Google Shape;2929;p126"/>
          <p:cNvCxnSpPr>
            <a:stCxn id="2924" idx="0"/>
            <a:endCxn id="2902" idx="4"/>
          </p:cNvCxnSpPr>
          <p:nvPr/>
        </p:nvCxnSpPr>
        <p:spPr>
          <a:xfrm rot="10800000">
            <a:off x="6068390" y="1963223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0" name="Google Shape;2930;p126"/>
          <p:cNvCxnSpPr>
            <a:stCxn id="2924" idx="0"/>
            <a:endCxn id="2901" idx="6"/>
          </p:cNvCxnSpPr>
          <p:nvPr/>
        </p:nvCxnSpPr>
        <p:spPr>
          <a:xfrm rot="10800000">
            <a:off x="5279990" y="2399423"/>
            <a:ext cx="7884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1" name="Google Shape;2931;p126"/>
          <p:cNvCxnSpPr>
            <a:stCxn id="2924" idx="0"/>
            <a:endCxn id="2904" idx="4"/>
          </p:cNvCxnSpPr>
          <p:nvPr/>
        </p:nvCxnSpPr>
        <p:spPr>
          <a:xfrm flipH="1" rot="10800000">
            <a:off x="6068390" y="1963223"/>
            <a:ext cx="11802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32" name="Google Shape;2932;p126"/>
          <p:cNvCxnSpPr>
            <a:stCxn id="2924" idx="0"/>
            <a:endCxn id="2923" idx="3"/>
          </p:cNvCxnSpPr>
          <p:nvPr/>
        </p:nvCxnSpPr>
        <p:spPr>
          <a:xfrm flipH="1" rot="10800000">
            <a:off x="6068390" y="2568623"/>
            <a:ext cx="18600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33" name="Google Shape;2933;p126"/>
          <p:cNvCxnSpPr>
            <a:stCxn id="2924" idx="0"/>
            <a:endCxn id="2906" idx="2"/>
          </p:cNvCxnSpPr>
          <p:nvPr/>
        </p:nvCxnSpPr>
        <p:spPr>
          <a:xfrm flipH="1" rot="10800000">
            <a:off x="6068390" y="3804623"/>
            <a:ext cx="17754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34" name="Google Shape;2934;p126"/>
          <p:cNvCxnSpPr>
            <a:stCxn id="2924" idx="0"/>
            <a:endCxn id="2909" idx="0"/>
          </p:cNvCxnSpPr>
          <p:nvPr/>
        </p:nvCxnSpPr>
        <p:spPr>
          <a:xfrm>
            <a:off x="6068390" y="4333823"/>
            <a:ext cx="1180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35" name="Google Shape;2935;p126"/>
          <p:cNvCxnSpPr>
            <a:stCxn id="2901" idx="6"/>
            <a:endCxn id="2923" idx="2"/>
          </p:cNvCxnSpPr>
          <p:nvPr/>
        </p:nvCxnSpPr>
        <p:spPr>
          <a:xfrm flipH="1" rot="10800000">
            <a:off x="5280000" y="2365660"/>
            <a:ext cx="2563800" cy="3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36" name="Google Shape;2936;p126"/>
          <p:cNvCxnSpPr>
            <a:stCxn id="2902" idx="5"/>
            <a:endCxn id="2923" idx="2"/>
          </p:cNvCxnSpPr>
          <p:nvPr/>
        </p:nvCxnSpPr>
        <p:spPr>
          <a:xfrm>
            <a:off x="6272046" y="1879123"/>
            <a:ext cx="1571700" cy="48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37" name="Google Shape;2937;p126"/>
          <p:cNvCxnSpPr>
            <a:stCxn id="2910" idx="6"/>
            <a:endCxn id="2923" idx="2"/>
          </p:cNvCxnSpPr>
          <p:nvPr/>
        </p:nvCxnSpPr>
        <p:spPr>
          <a:xfrm flipH="1" rot="10800000">
            <a:off x="5280008" y="2365829"/>
            <a:ext cx="2563800" cy="143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938" name="Google Shape;2938;p126"/>
          <p:cNvSpPr/>
          <p:nvPr/>
        </p:nvSpPr>
        <p:spPr>
          <a:xfrm>
            <a:off x="2006900" y="3517825"/>
            <a:ext cx="2448600" cy="968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balanced signed graph!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2939" name="Google Shape;2939;p126"/>
          <p:cNvCxnSpPr>
            <a:stCxn id="2938" idx="7"/>
          </p:cNvCxnSpPr>
          <p:nvPr/>
        </p:nvCxnSpPr>
        <p:spPr>
          <a:xfrm flipH="1" rot="10800000">
            <a:off x="4096911" y="2999388"/>
            <a:ext cx="918300" cy="660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3" name="Shape 2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4" name="Google Shape;2944;p1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2945" name="Google Shape;2945;p127"/>
          <p:cNvSpPr/>
          <p:nvPr/>
        </p:nvSpPr>
        <p:spPr>
          <a:xfrm>
            <a:off x="4704000" y="2112760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46" name="Google Shape;2946;p127"/>
          <p:cNvSpPr/>
          <p:nvPr/>
        </p:nvSpPr>
        <p:spPr>
          <a:xfrm>
            <a:off x="5780399" y="1389525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947" name="Google Shape;2947;p127"/>
          <p:cNvCxnSpPr>
            <a:stCxn id="2945" idx="6"/>
            <a:endCxn id="2946" idx="2"/>
          </p:cNvCxnSpPr>
          <p:nvPr/>
        </p:nvCxnSpPr>
        <p:spPr>
          <a:xfrm flipH="1" rot="10800000">
            <a:off x="5280000" y="1676260"/>
            <a:ext cx="5004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48" name="Google Shape;2948;p127"/>
          <p:cNvSpPr/>
          <p:nvPr/>
        </p:nvSpPr>
        <p:spPr>
          <a:xfrm>
            <a:off x="6960440" y="13895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949" name="Google Shape;2949;p127"/>
          <p:cNvCxnSpPr>
            <a:stCxn id="2948" idx="2"/>
            <a:endCxn id="2946" idx="6"/>
          </p:cNvCxnSpPr>
          <p:nvPr/>
        </p:nvCxnSpPr>
        <p:spPr>
          <a:xfrm rot="10800000">
            <a:off x="6356540" y="1676323"/>
            <a:ext cx="603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950" name="Google Shape;2950;p127"/>
          <p:cNvSpPr/>
          <p:nvPr/>
        </p:nvSpPr>
        <p:spPr>
          <a:xfrm>
            <a:off x="7843901" y="3517836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951" name="Google Shape;2951;p127"/>
          <p:cNvCxnSpPr>
            <a:stCxn id="2950" idx="0"/>
            <a:endCxn id="2948" idx="4"/>
          </p:cNvCxnSpPr>
          <p:nvPr/>
        </p:nvCxnSpPr>
        <p:spPr>
          <a:xfrm rot="10800000">
            <a:off x="7248401" y="1963236"/>
            <a:ext cx="883500" cy="155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2" name="Google Shape;2952;p127"/>
          <p:cNvCxnSpPr>
            <a:stCxn id="2945" idx="6"/>
            <a:endCxn id="2950" idx="2"/>
          </p:cNvCxnSpPr>
          <p:nvPr/>
        </p:nvCxnSpPr>
        <p:spPr>
          <a:xfrm>
            <a:off x="5280000" y="2399560"/>
            <a:ext cx="256380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953" name="Google Shape;2953;p127"/>
          <p:cNvSpPr/>
          <p:nvPr/>
        </p:nvSpPr>
        <p:spPr>
          <a:xfrm>
            <a:off x="6960448" y="4333831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54" name="Google Shape;2954;p127"/>
          <p:cNvSpPr/>
          <p:nvPr/>
        </p:nvSpPr>
        <p:spPr>
          <a:xfrm>
            <a:off x="4704008" y="3517829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955" name="Google Shape;2955;p127"/>
          <p:cNvCxnSpPr>
            <a:stCxn id="2945" idx="6"/>
            <a:endCxn id="2954" idx="6"/>
          </p:cNvCxnSpPr>
          <p:nvPr/>
        </p:nvCxnSpPr>
        <p:spPr>
          <a:xfrm>
            <a:off x="5280000" y="2399560"/>
            <a:ext cx="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6" name="Google Shape;2956;p127"/>
          <p:cNvCxnSpPr>
            <a:stCxn id="2954" idx="6"/>
            <a:endCxn id="2953" idx="0"/>
          </p:cNvCxnSpPr>
          <p:nvPr/>
        </p:nvCxnSpPr>
        <p:spPr>
          <a:xfrm>
            <a:off x="5280008" y="3804629"/>
            <a:ext cx="19683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57" name="Google Shape;2957;p127"/>
          <p:cNvCxnSpPr>
            <a:stCxn id="2953" idx="0"/>
            <a:endCxn id="2950" idx="2"/>
          </p:cNvCxnSpPr>
          <p:nvPr/>
        </p:nvCxnSpPr>
        <p:spPr>
          <a:xfrm flipH="1" rot="10800000">
            <a:off x="7248448" y="3804631"/>
            <a:ext cx="5955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8" name="Google Shape;2958;p127"/>
          <p:cNvCxnSpPr>
            <a:stCxn id="2954" idx="6"/>
            <a:endCxn id="2946" idx="2"/>
          </p:cNvCxnSpPr>
          <p:nvPr/>
        </p:nvCxnSpPr>
        <p:spPr>
          <a:xfrm flipH="1" rot="10800000">
            <a:off x="5280008" y="1676429"/>
            <a:ext cx="5004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9" name="Google Shape;2959;p127"/>
          <p:cNvCxnSpPr>
            <a:stCxn id="2950" idx="2"/>
            <a:endCxn id="2946" idx="5"/>
          </p:cNvCxnSpPr>
          <p:nvPr/>
        </p:nvCxnSpPr>
        <p:spPr>
          <a:xfrm rot="10800000">
            <a:off x="6271901" y="1879236"/>
            <a:ext cx="1572000" cy="192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60" name="Google Shape;2960;p127"/>
          <p:cNvCxnSpPr>
            <a:stCxn id="2954" idx="6"/>
            <a:endCxn id="2950" idx="2"/>
          </p:cNvCxnSpPr>
          <p:nvPr/>
        </p:nvCxnSpPr>
        <p:spPr>
          <a:xfrm>
            <a:off x="5280008" y="3804629"/>
            <a:ext cx="2563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61" name="Google Shape;2961;p127"/>
          <p:cNvCxnSpPr>
            <a:stCxn id="2945" idx="6"/>
            <a:endCxn id="2948" idx="2"/>
          </p:cNvCxnSpPr>
          <p:nvPr/>
        </p:nvCxnSpPr>
        <p:spPr>
          <a:xfrm flipH="1" rot="10800000">
            <a:off x="5280000" y="1676260"/>
            <a:ext cx="16803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62" name="Google Shape;2962;p127"/>
          <p:cNvCxnSpPr>
            <a:stCxn id="2953" idx="0"/>
            <a:endCxn id="2948" idx="4"/>
          </p:cNvCxnSpPr>
          <p:nvPr/>
        </p:nvCxnSpPr>
        <p:spPr>
          <a:xfrm rot="10800000">
            <a:off x="7248448" y="1963231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3" name="Google Shape;2963;p127"/>
          <p:cNvCxnSpPr>
            <a:stCxn id="2945" idx="6"/>
            <a:endCxn id="2953" idx="0"/>
          </p:cNvCxnSpPr>
          <p:nvPr/>
        </p:nvCxnSpPr>
        <p:spPr>
          <a:xfrm>
            <a:off x="5280000" y="2399560"/>
            <a:ext cx="19683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64" name="Google Shape;2964;p127"/>
          <p:cNvCxnSpPr>
            <a:stCxn id="2953" idx="0"/>
            <a:endCxn id="2946" idx="4"/>
          </p:cNvCxnSpPr>
          <p:nvPr/>
        </p:nvCxnSpPr>
        <p:spPr>
          <a:xfrm rot="10800000">
            <a:off x="6068548" y="1963231"/>
            <a:ext cx="11799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65" name="Google Shape;2965;p127"/>
          <p:cNvCxnSpPr>
            <a:stCxn id="2954" idx="6"/>
            <a:endCxn id="2948" idx="2"/>
          </p:cNvCxnSpPr>
          <p:nvPr/>
        </p:nvCxnSpPr>
        <p:spPr>
          <a:xfrm flipH="1" rot="10800000">
            <a:off x="5280008" y="1676429"/>
            <a:ext cx="16803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966" name="Google Shape;2966;p127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Signed Graph in which every triple is balanced is called a </a:t>
            </a:r>
            <a:r>
              <a:rPr b="1" lang="en"/>
              <a:t>balanced signed graph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Balanced signed graphs have some interesting properties: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7" name="Google Shape;2967;p127"/>
          <p:cNvSpPr/>
          <p:nvPr/>
        </p:nvSpPr>
        <p:spPr>
          <a:xfrm>
            <a:off x="7843890" y="2078948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I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68" name="Google Shape;2968;p127"/>
          <p:cNvSpPr/>
          <p:nvPr/>
        </p:nvSpPr>
        <p:spPr>
          <a:xfrm>
            <a:off x="5780390" y="43338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H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969" name="Google Shape;2969;p127"/>
          <p:cNvCxnSpPr>
            <a:stCxn id="2967" idx="1"/>
            <a:endCxn id="2948" idx="5"/>
          </p:cNvCxnSpPr>
          <p:nvPr/>
        </p:nvCxnSpPr>
        <p:spPr>
          <a:xfrm rot="10800000">
            <a:off x="7452143" y="1879150"/>
            <a:ext cx="476100" cy="283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0" name="Google Shape;2970;p127"/>
          <p:cNvCxnSpPr>
            <a:stCxn id="2950" idx="0"/>
            <a:endCxn id="2967" idx="4"/>
          </p:cNvCxnSpPr>
          <p:nvPr/>
        </p:nvCxnSpPr>
        <p:spPr>
          <a:xfrm rot="10800000">
            <a:off x="8131901" y="2652636"/>
            <a:ext cx="0" cy="8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1" name="Google Shape;2971;p127"/>
          <p:cNvCxnSpPr>
            <a:stCxn id="2953" idx="0"/>
            <a:endCxn id="2967" idx="3"/>
          </p:cNvCxnSpPr>
          <p:nvPr/>
        </p:nvCxnSpPr>
        <p:spPr>
          <a:xfrm flipH="1" rot="10800000">
            <a:off x="7248448" y="2568631"/>
            <a:ext cx="6798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2" name="Google Shape;2972;p127"/>
          <p:cNvCxnSpPr>
            <a:stCxn id="2968" idx="0"/>
            <a:endCxn id="2954" idx="6"/>
          </p:cNvCxnSpPr>
          <p:nvPr/>
        </p:nvCxnSpPr>
        <p:spPr>
          <a:xfrm rot="10800000">
            <a:off x="5279990" y="3804623"/>
            <a:ext cx="7884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3" name="Google Shape;2973;p127"/>
          <p:cNvCxnSpPr>
            <a:stCxn id="2968" idx="0"/>
            <a:endCxn id="2946" idx="4"/>
          </p:cNvCxnSpPr>
          <p:nvPr/>
        </p:nvCxnSpPr>
        <p:spPr>
          <a:xfrm rot="10800000">
            <a:off x="6068390" y="1963223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4" name="Google Shape;2974;p127"/>
          <p:cNvCxnSpPr>
            <a:stCxn id="2968" idx="0"/>
            <a:endCxn id="2945" idx="6"/>
          </p:cNvCxnSpPr>
          <p:nvPr/>
        </p:nvCxnSpPr>
        <p:spPr>
          <a:xfrm rot="10800000">
            <a:off x="5279990" y="2399423"/>
            <a:ext cx="7884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5" name="Google Shape;2975;p127"/>
          <p:cNvCxnSpPr>
            <a:stCxn id="2968" idx="0"/>
            <a:endCxn id="2948" idx="4"/>
          </p:cNvCxnSpPr>
          <p:nvPr/>
        </p:nvCxnSpPr>
        <p:spPr>
          <a:xfrm flipH="1" rot="10800000">
            <a:off x="6068390" y="1963223"/>
            <a:ext cx="11802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76" name="Google Shape;2976;p127"/>
          <p:cNvCxnSpPr>
            <a:stCxn id="2968" idx="0"/>
            <a:endCxn id="2967" idx="3"/>
          </p:cNvCxnSpPr>
          <p:nvPr/>
        </p:nvCxnSpPr>
        <p:spPr>
          <a:xfrm flipH="1" rot="10800000">
            <a:off x="6068390" y="2568623"/>
            <a:ext cx="18600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77" name="Google Shape;2977;p127"/>
          <p:cNvCxnSpPr>
            <a:stCxn id="2968" idx="0"/>
            <a:endCxn id="2950" idx="2"/>
          </p:cNvCxnSpPr>
          <p:nvPr/>
        </p:nvCxnSpPr>
        <p:spPr>
          <a:xfrm flipH="1" rot="10800000">
            <a:off x="6068390" y="3804623"/>
            <a:ext cx="17754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78" name="Google Shape;2978;p127"/>
          <p:cNvCxnSpPr>
            <a:stCxn id="2968" idx="0"/>
            <a:endCxn id="2953" idx="0"/>
          </p:cNvCxnSpPr>
          <p:nvPr/>
        </p:nvCxnSpPr>
        <p:spPr>
          <a:xfrm>
            <a:off x="6068390" y="4333823"/>
            <a:ext cx="1180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79" name="Google Shape;2979;p127"/>
          <p:cNvCxnSpPr>
            <a:stCxn id="2945" idx="6"/>
            <a:endCxn id="2967" idx="2"/>
          </p:cNvCxnSpPr>
          <p:nvPr/>
        </p:nvCxnSpPr>
        <p:spPr>
          <a:xfrm flipH="1" rot="10800000">
            <a:off x="5280000" y="2365660"/>
            <a:ext cx="2563800" cy="3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80" name="Google Shape;2980;p127"/>
          <p:cNvCxnSpPr>
            <a:stCxn id="2946" idx="5"/>
            <a:endCxn id="2967" idx="2"/>
          </p:cNvCxnSpPr>
          <p:nvPr/>
        </p:nvCxnSpPr>
        <p:spPr>
          <a:xfrm>
            <a:off x="6272046" y="1879123"/>
            <a:ext cx="1571700" cy="48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81" name="Google Shape;2981;p127"/>
          <p:cNvCxnSpPr>
            <a:stCxn id="2954" idx="6"/>
            <a:endCxn id="2967" idx="2"/>
          </p:cNvCxnSpPr>
          <p:nvPr/>
        </p:nvCxnSpPr>
        <p:spPr>
          <a:xfrm flipH="1" rot="10800000">
            <a:off x="5280008" y="2365829"/>
            <a:ext cx="2563800" cy="143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5" name="Shape 2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6" name="Google Shape;2986;p1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2987" name="Google Shape;2987;p128"/>
          <p:cNvSpPr/>
          <p:nvPr/>
        </p:nvSpPr>
        <p:spPr>
          <a:xfrm>
            <a:off x="4704000" y="2112760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88" name="Google Shape;2988;p128"/>
          <p:cNvSpPr/>
          <p:nvPr/>
        </p:nvSpPr>
        <p:spPr>
          <a:xfrm>
            <a:off x="5780399" y="1389525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989" name="Google Shape;2989;p128"/>
          <p:cNvCxnSpPr>
            <a:stCxn id="2987" idx="6"/>
            <a:endCxn id="2988" idx="2"/>
          </p:cNvCxnSpPr>
          <p:nvPr/>
        </p:nvCxnSpPr>
        <p:spPr>
          <a:xfrm flipH="1" rot="10800000">
            <a:off x="5280000" y="1676260"/>
            <a:ext cx="5004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0" name="Google Shape;2990;p128"/>
          <p:cNvSpPr/>
          <p:nvPr/>
        </p:nvSpPr>
        <p:spPr>
          <a:xfrm>
            <a:off x="6960440" y="13895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991" name="Google Shape;2991;p128"/>
          <p:cNvCxnSpPr>
            <a:stCxn id="2990" idx="2"/>
            <a:endCxn id="2988" idx="6"/>
          </p:cNvCxnSpPr>
          <p:nvPr/>
        </p:nvCxnSpPr>
        <p:spPr>
          <a:xfrm rot="10800000">
            <a:off x="6356540" y="1676323"/>
            <a:ext cx="603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992" name="Google Shape;2992;p128"/>
          <p:cNvSpPr/>
          <p:nvPr/>
        </p:nvSpPr>
        <p:spPr>
          <a:xfrm>
            <a:off x="7843901" y="3517836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993" name="Google Shape;2993;p128"/>
          <p:cNvCxnSpPr>
            <a:stCxn id="2992" idx="0"/>
            <a:endCxn id="2990" idx="4"/>
          </p:cNvCxnSpPr>
          <p:nvPr/>
        </p:nvCxnSpPr>
        <p:spPr>
          <a:xfrm rot="10800000">
            <a:off x="7248401" y="1963236"/>
            <a:ext cx="883500" cy="155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4" name="Google Shape;2994;p128"/>
          <p:cNvCxnSpPr>
            <a:stCxn id="2987" idx="6"/>
            <a:endCxn id="2992" idx="2"/>
          </p:cNvCxnSpPr>
          <p:nvPr/>
        </p:nvCxnSpPr>
        <p:spPr>
          <a:xfrm>
            <a:off x="5280000" y="2399560"/>
            <a:ext cx="256380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995" name="Google Shape;2995;p128"/>
          <p:cNvSpPr/>
          <p:nvPr/>
        </p:nvSpPr>
        <p:spPr>
          <a:xfrm>
            <a:off x="6960448" y="4333831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96" name="Google Shape;2996;p128"/>
          <p:cNvSpPr/>
          <p:nvPr/>
        </p:nvSpPr>
        <p:spPr>
          <a:xfrm>
            <a:off x="4704008" y="3517829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997" name="Google Shape;2997;p128"/>
          <p:cNvCxnSpPr>
            <a:stCxn id="2987" idx="6"/>
            <a:endCxn id="2996" idx="6"/>
          </p:cNvCxnSpPr>
          <p:nvPr/>
        </p:nvCxnSpPr>
        <p:spPr>
          <a:xfrm>
            <a:off x="5280000" y="2399560"/>
            <a:ext cx="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8" name="Google Shape;2998;p128"/>
          <p:cNvCxnSpPr>
            <a:stCxn id="2996" idx="6"/>
            <a:endCxn id="2995" idx="0"/>
          </p:cNvCxnSpPr>
          <p:nvPr/>
        </p:nvCxnSpPr>
        <p:spPr>
          <a:xfrm>
            <a:off x="5280008" y="3804629"/>
            <a:ext cx="19683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99" name="Google Shape;2999;p128"/>
          <p:cNvCxnSpPr>
            <a:stCxn id="2995" idx="0"/>
            <a:endCxn id="2992" idx="2"/>
          </p:cNvCxnSpPr>
          <p:nvPr/>
        </p:nvCxnSpPr>
        <p:spPr>
          <a:xfrm flipH="1" rot="10800000">
            <a:off x="7248448" y="3804631"/>
            <a:ext cx="5955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0" name="Google Shape;3000;p128"/>
          <p:cNvCxnSpPr>
            <a:stCxn id="2996" idx="6"/>
            <a:endCxn id="2988" idx="2"/>
          </p:cNvCxnSpPr>
          <p:nvPr/>
        </p:nvCxnSpPr>
        <p:spPr>
          <a:xfrm flipH="1" rot="10800000">
            <a:off x="5280008" y="1676429"/>
            <a:ext cx="5004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1" name="Google Shape;3001;p128"/>
          <p:cNvCxnSpPr>
            <a:stCxn id="2992" idx="2"/>
            <a:endCxn id="2988" idx="5"/>
          </p:cNvCxnSpPr>
          <p:nvPr/>
        </p:nvCxnSpPr>
        <p:spPr>
          <a:xfrm rot="10800000">
            <a:off x="6271901" y="1879236"/>
            <a:ext cx="1572000" cy="192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02" name="Google Shape;3002;p128"/>
          <p:cNvCxnSpPr>
            <a:stCxn id="2996" idx="6"/>
            <a:endCxn id="2992" idx="2"/>
          </p:cNvCxnSpPr>
          <p:nvPr/>
        </p:nvCxnSpPr>
        <p:spPr>
          <a:xfrm>
            <a:off x="5280008" y="3804629"/>
            <a:ext cx="2563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03" name="Google Shape;3003;p128"/>
          <p:cNvCxnSpPr>
            <a:stCxn id="2987" idx="6"/>
            <a:endCxn id="2990" idx="2"/>
          </p:cNvCxnSpPr>
          <p:nvPr/>
        </p:nvCxnSpPr>
        <p:spPr>
          <a:xfrm flipH="1" rot="10800000">
            <a:off x="5280000" y="1676260"/>
            <a:ext cx="16803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04" name="Google Shape;3004;p128"/>
          <p:cNvCxnSpPr>
            <a:stCxn id="2995" idx="0"/>
            <a:endCxn id="2990" idx="4"/>
          </p:cNvCxnSpPr>
          <p:nvPr/>
        </p:nvCxnSpPr>
        <p:spPr>
          <a:xfrm rot="10800000">
            <a:off x="7248448" y="1963231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5" name="Google Shape;3005;p128"/>
          <p:cNvCxnSpPr>
            <a:stCxn id="2987" idx="6"/>
            <a:endCxn id="2995" idx="0"/>
          </p:cNvCxnSpPr>
          <p:nvPr/>
        </p:nvCxnSpPr>
        <p:spPr>
          <a:xfrm>
            <a:off x="5280000" y="2399560"/>
            <a:ext cx="19683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06" name="Google Shape;3006;p128"/>
          <p:cNvCxnSpPr>
            <a:stCxn id="2995" idx="0"/>
            <a:endCxn id="2988" idx="4"/>
          </p:cNvCxnSpPr>
          <p:nvPr/>
        </p:nvCxnSpPr>
        <p:spPr>
          <a:xfrm rot="10800000">
            <a:off x="6068548" y="1963231"/>
            <a:ext cx="11799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07" name="Google Shape;3007;p128"/>
          <p:cNvCxnSpPr>
            <a:stCxn id="2996" idx="6"/>
            <a:endCxn id="2990" idx="2"/>
          </p:cNvCxnSpPr>
          <p:nvPr/>
        </p:nvCxnSpPr>
        <p:spPr>
          <a:xfrm flipH="1" rot="10800000">
            <a:off x="5280008" y="1676429"/>
            <a:ext cx="16803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008" name="Google Shape;3008;p128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Signed Graph in which every triple is balanced is called a </a:t>
            </a:r>
            <a:r>
              <a:rPr b="1" lang="en"/>
              <a:t>balanced signed graph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Balanced signed graphs have some interesting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 graph G is balanced: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Any subgraph of G is also balanced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9" name="Google Shape;3009;p128"/>
          <p:cNvSpPr/>
          <p:nvPr/>
        </p:nvSpPr>
        <p:spPr>
          <a:xfrm>
            <a:off x="7843890" y="2078948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I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10" name="Google Shape;3010;p128"/>
          <p:cNvSpPr/>
          <p:nvPr/>
        </p:nvSpPr>
        <p:spPr>
          <a:xfrm>
            <a:off x="5780390" y="43338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H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011" name="Google Shape;3011;p128"/>
          <p:cNvCxnSpPr>
            <a:stCxn id="3009" idx="1"/>
            <a:endCxn id="2990" idx="5"/>
          </p:cNvCxnSpPr>
          <p:nvPr/>
        </p:nvCxnSpPr>
        <p:spPr>
          <a:xfrm rot="10800000">
            <a:off x="7452143" y="1879150"/>
            <a:ext cx="476100" cy="283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2" name="Google Shape;3012;p128"/>
          <p:cNvCxnSpPr>
            <a:stCxn id="2992" idx="0"/>
            <a:endCxn id="3009" idx="4"/>
          </p:cNvCxnSpPr>
          <p:nvPr/>
        </p:nvCxnSpPr>
        <p:spPr>
          <a:xfrm rot="10800000">
            <a:off x="8131901" y="2652636"/>
            <a:ext cx="0" cy="8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3" name="Google Shape;3013;p128"/>
          <p:cNvCxnSpPr>
            <a:stCxn id="2995" idx="0"/>
            <a:endCxn id="3009" idx="3"/>
          </p:cNvCxnSpPr>
          <p:nvPr/>
        </p:nvCxnSpPr>
        <p:spPr>
          <a:xfrm flipH="1" rot="10800000">
            <a:off x="7248448" y="2568631"/>
            <a:ext cx="6798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4" name="Google Shape;3014;p128"/>
          <p:cNvCxnSpPr>
            <a:stCxn id="3010" idx="0"/>
            <a:endCxn id="2996" idx="6"/>
          </p:cNvCxnSpPr>
          <p:nvPr/>
        </p:nvCxnSpPr>
        <p:spPr>
          <a:xfrm rot="10800000">
            <a:off x="5279990" y="3804623"/>
            <a:ext cx="7884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5" name="Google Shape;3015;p128"/>
          <p:cNvCxnSpPr>
            <a:stCxn id="3010" idx="0"/>
            <a:endCxn id="2988" idx="4"/>
          </p:cNvCxnSpPr>
          <p:nvPr/>
        </p:nvCxnSpPr>
        <p:spPr>
          <a:xfrm rot="10800000">
            <a:off x="6068390" y="1963223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6" name="Google Shape;3016;p128"/>
          <p:cNvCxnSpPr>
            <a:stCxn id="3010" idx="0"/>
            <a:endCxn id="2987" idx="6"/>
          </p:cNvCxnSpPr>
          <p:nvPr/>
        </p:nvCxnSpPr>
        <p:spPr>
          <a:xfrm rot="10800000">
            <a:off x="5279990" y="2399423"/>
            <a:ext cx="7884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7" name="Google Shape;3017;p128"/>
          <p:cNvCxnSpPr>
            <a:stCxn id="3010" idx="0"/>
            <a:endCxn id="2990" idx="4"/>
          </p:cNvCxnSpPr>
          <p:nvPr/>
        </p:nvCxnSpPr>
        <p:spPr>
          <a:xfrm flipH="1" rot="10800000">
            <a:off x="6068390" y="1963223"/>
            <a:ext cx="11802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18" name="Google Shape;3018;p128"/>
          <p:cNvCxnSpPr>
            <a:stCxn id="3010" idx="0"/>
            <a:endCxn id="3009" idx="3"/>
          </p:cNvCxnSpPr>
          <p:nvPr/>
        </p:nvCxnSpPr>
        <p:spPr>
          <a:xfrm flipH="1" rot="10800000">
            <a:off x="6068390" y="2568623"/>
            <a:ext cx="18600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19" name="Google Shape;3019;p128"/>
          <p:cNvCxnSpPr>
            <a:stCxn id="3010" idx="0"/>
            <a:endCxn id="2992" idx="2"/>
          </p:cNvCxnSpPr>
          <p:nvPr/>
        </p:nvCxnSpPr>
        <p:spPr>
          <a:xfrm flipH="1" rot="10800000">
            <a:off x="6068390" y="3804623"/>
            <a:ext cx="17754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20" name="Google Shape;3020;p128"/>
          <p:cNvCxnSpPr>
            <a:stCxn id="3010" idx="0"/>
            <a:endCxn id="2995" idx="0"/>
          </p:cNvCxnSpPr>
          <p:nvPr/>
        </p:nvCxnSpPr>
        <p:spPr>
          <a:xfrm>
            <a:off x="6068390" y="4333823"/>
            <a:ext cx="1180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21" name="Google Shape;3021;p128"/>
          <p:cNvCxnSpPr>
            <a:stCxn id="2987" idx="6"/>
            <a:endCxn id="3009" idx="2"/>
          </p:cNvCxnSpPr>
          <p:nvPr/>
        </p:nvCxnSpPr>
        <p:spPr>
          <a:xfrm flipH="1" rot="10800000">
            <a:off x="5280000" y="2365660"/>
            <a:ext cx="2563800" cy="3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22" name="Google Shape;3022;p128"/>
          <p:cNvCxnSpPr>
            <a:stCxn id="2988" idx="5"/>
            <a:endCxn id="3009" idx="2"/>
          </p:cNvCxnSpPr>
          <p:nvPr/>
        </p:nvCxnSpPr>
        <p:spPr>
          <a:xfrm>
            <a:off x="6272046" y="1879123"/>
            <a:ext cx="1571700" cy="48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23" name="Google Shape;3023;p128"/>
          <p:cNvCxnSpPr>
            <a:stCxn id="2996" idx="6"/>
            <a:endCxn id="3009" idx="2"/>
          </p:cNvCxnSpPr>
          <p:nvPr/>
        </p:nvCxnSpPr>
        <p:spPr>
          <a:xfrm flipH="1" rot="10800000">
            <a:off x="5280008" y="2365829"/>
            <a:ext cx="2563800" cy="143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7" name="Shape 3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8" name="Google Shape;3028;p1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3029" name="Google Shape;3029;p129"/>
          <p:cNvSpPr/>
          <p:nvPr/>
        </p:nvSpPr>
        <p:spPr>
          <a:xfrm>
            <a:off x="4704000" y="2112760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30" name="Google Shape;3030;p129"/>
          <p:cNvSpPr/>
          <p:nvPr/>
        </p:nvSpPr>
        <p:spPr>
          <a:xfrm>
            <a:off x="5780399" y="1389525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031" name="Google Shape;3031;p129"/>
          <p:cNvCxnSpPr>
            <a:stCxn id="3029" idx="6"/>
            <a:endCxn id="3030" idx="2"/>
          </p:cNvCxnSpPr>
          <p:nvPr/>
        </p:nvCxnSpPr>
        <p:spPr>
          <a:xfrm flipH="1" rot="10800000">
            <a:off x="5280000" y="1676260"/>
            <a:ext cx="5004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32" name="Google Shape;3032;p129"/>
          <p:cNvSpPr/>
          <p:nvPr/>
        </p:nvSpPr>
        <p:spPr>
          <a:xfrm>
            <a:off x="6960440" y="13895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033" name="Google Shape;3033;p129"/>
          <p:cNvCxnSpPr>
            <a:stCxn id="3032" idx="2"/>
            <a:endCxn id="3030" idx="6"/>
          </p:cNvCxnSpPr>
          <p:nvPr/>
        </p:nvCxnSpPr>
        <p:spPr>
          <a:xfrm rot="10800000">
            <a:off x="6356540" y="1676323"/>
            <a:ext cx="603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34" name="Google Shape;3034;p129"/>
          <p:cNvCxnSpPr>
            <a:stCxn id="3029" idx="6"/>
            <a:endCxn id="3032" idx="2"/>
          </p:cNvCxnSpPr>
          <p:nvPr/>
        </p:nvCxnSpPr>
        <p:spPr>
          <a:xfrm flipH="1" rot="10800000">
            <a:off x="5280000" y="1676260"/>
            <a:ext cx="16803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035" name="Google Shape;3035;p129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Signed Graph in which every triple is balanced is called a </a:t>
            </a:r>
            <a:r>
              <a:rPr b="1" lang="en"/>
              <a:t>balanced signed graph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Balanced signed graphs have some interesting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 graph G is balanced: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Any subgraph of G is also balanced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6" name="Google Shape;3036;p129"/>
          <p:cNvSpPr/>
          <p:nvPr/>
        </p:nvSpPr>
        <p:spPr>
          <a:xfrm>
            <a:off x="7843890" y="2078948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I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037" name="Google Shape;3037;p129"/>
          <p:cNvCxnSpPr>
            <a:stCxn id="3036" idx="1"/>
            <a:endCxn id="3032" idx="5"/>
          </p:cNvCxnSpPr>
          <p:nvPr/>
        </p:nvCxnSpPr>
        <p:spPr>
          <a:xfrm rot="10800000">
            <a:off x="7452143" y="1879150"/>
            <a:ext cx="476100" cy="283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8" name="Google Shape;3038;p129"/>
          <p:cNvCxnSpPr>
            <a:stCxn id="3029" idx="6"/>
            <a:endCxn id="3036" idx="2"/>
          </p:cNvCxnSpPr>
          <p:nvPr/>
        </p:nvCxnSpPr>
        <p:spPr>
          <a:xfrm flipH="1" rot="10800000">
            <a:off x="5280000" y="2365660"/>
            <a:ext cx="2563800" cy="3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39" name="Google Shape;3039;p129"/>
          <p:cNvCxnSpPr>
            <a:stCxn id="3030" idx="5"/>
            <a:endCxn id="3036" idx="2"/>
          </p:cNvCxnSpPr>
          <p:nvPr/>
        </p:nvCxnSpPr>
        <p:spPr>
          <a:xfrm>
            <a:off x="6272046" y="1879123"/>
            <a:ext cx="1571700" cy="48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040" name="Google Shape;3040;p129"/>
          <p:cNvSpPr/>
          <p:nvPr/>
        </p:nvSpPr>
        <p:spPr>
          <a:xfrm>
            <a:off x="3263750" y="3447000"/>
            <a:ext cx="2448600" cy="968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subgraph is balanced!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3041" name="Google Shape;3041;p129"/>
          <p:cNvCxnSpPr>
            <a:stCxn id="3040" idx="7"/>
          </p:cNvCxnSpPr>
          <p:nvPr/>
        </p:nvCxnSpPr>
        <p:spPr>
          <a:xfrm flipH="1" rot="10800000">
            <a:off x="5353761" y="2928563"/>
            <a:ext cx="918300" cy="660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5" name="Shape 3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6" name="Google Shape;3046;p1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3047" name="Google Shape;3047;p130"/>
          <p:cNvSpPr/>
          <p:nvPr/>
        </p:nvSpPr>
        <p:spPr>
          <a:xfrm>
            <a:off x="4704000" y="2112760"/>
            <a:ext cx="576000" cy="5736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48" name="Google Shape;3048;p130"/>
          <p:cNvSpPr/>
          <p:nvPr/>
        </p:nvSpPr>
        <p:spPr>
          <a:xfrm>
            <a:off x="5780399" y="1389525"/>
            <a:ext cx="576000" cy="5736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049" name="Google Shape;3049;p130"/>
          <p:cNvCxnSpPr>
            <a:stCxn id="3047" idx="6"/>
            <a:endCxn id="3048" idx="2"/>
          </p:cNvCxnSpPr>
          <p:nvPr/>
        </p:nvCxnSpPr>
        <p:spPr>
          <a:xfrm flipH="1" rot="10800000">
            <a:off x="5280000" y="1676260"/>
            <a:ext cx="500400" cy="723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50" name="Google Shape;3050;p130"/>
          <p:cNvSpPr/>
          <p:nvPr/>
        </p:nvSpPr>
        <p:spPr>
          <a:xfrm>
            <a:off x="6960440" y="1389523"/>
            <a:ext cx="576000" cy="573600"/>
          </a:xfrm>
          <a:prstGeom prst="ellipse">
            <a:avLst/>
          </a:prstGeom>
          <a:solidFill>
            <a:srgbClr val="CC0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051" name="Google Shape;3051;p130"/>
          <p:cNvCxnSpPr>
            <a:stCxn id="3050" idx="2"/>
            <a:endCxn id="3048" idx="6"/>
          </p:cNvCxnSpPr>
          <p:nvPr/>
        </p:nvCxnSpPr>
        <p:spPr>
          <a:xfrm rot="10800000">
            <a:off x="6356540" y="1676323"/>
            <a:ext cx="6039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52" name="Google Shape;3052;p130"/>
          <p:cNvCxnSpPr>
            <a:stCxn id="3047" idx="6"/>
            <a:endCxn id="3050" idx="2"/>
          </p:cNvCxnSpPr>
          <p:nvPr/>
        </p:nvCxnSpPr>
        <p:spPr>
          <a:xfrm flipH="1" rot="10800000">
            <a:off x="5280000" y="1676260"/>
            <a:ext cx="1680300" cy="723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053" name="Google Shape;3053;p130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Signed Graph in which every triple is balanced is called a </a:t>
            </a:r>
            <a:r>
              <a:rPr b="1" lang="en"/>
              <a:t>balanced signed graph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Balanced signed graphs have some interesting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 graph G is balanced: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Any subgraph of G is also balanced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4" name="Google Shape;3054;p130"/>
          <p:cNvSpPr/>
          <p:nvPr/>
        </p:nvSpPr>
        <p:spPr>
          <a:xfrm>
            <a:off x="7843890" y="2078948"/>
            <a:ext cx="576000" cy="573600"/>
          </a:xfrm>
          <a:prstGeom prst="ellipse">
            <a:avLst/>
          </a:prstGeom>
          <a:solidFill>
            <a:srgbClr val="CC0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I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055" name="Google Shape;3055;p130"/>
          <p:cNvCxnSpPr>
            <a:stCxn id="3054" idx="1"/>
            <a:endCxn id="3050" idx="5"/>
          </p:cNvCxnSpPr>
          <p:nvPr/>
        </p:nvCxnSpPr>
        <p:spPr>
          <a:xfrm rot="10800000">
            <a:off x="7452143" y="1879150"/>
            <a:ext cx="476100" cy="283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6" name="Google Shape;3056;p130"/>
          <p:cNvCxnSpPr>
            <a:stCxn id="3047" idx="6"/>
            <a:endCxn id="3054" idx="2"/>
          </p:cNvCxnSpPr>
          <p:nvPr/>
        </p:nvCxnSpPr>
        <p:spPr>
          <a:xfrm flipH="1" rot="10800000">
            <a:off x="5280000" y="2365660"/>
            <a:ext cx="2563800" cy="33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57" name="Google Shape;3057;p130"/>
          <p:cNvCxnSpPr>
            <a:stCxn id="3048" idx="5"/>
            <a:endCxn id="3054" idx="2"/>
          </p:cNvCxnSpPr>
          <p:nvPr/>
        </p:nvCxnSpPr>
        <p:spPr>
          <a:xfrm>
            <a:off x="6272046" y="1879123"/>
            <a:ext cx="1571700" cy="486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058" name="Google Shape;3058;p130"/>
          <p:cNvSpPr/>
          <p:nvPr/>
        </p:nvSpPr>
        <p:spPr>
          <a:xfrm>
            <a:off x="3263750" y="3447000"/>
            <a:ext cx="2448600" cy="968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subgraph is balanced!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3059" name="Google Shape;3059;p130"/>
          <p:cNvCxnSpPr>
            <a:stCxn id="3058" idx="7"/>
          </p:cNvCxnSpPr>
          <p:nvPr/>
        </p:nvCxnSpPr>
        <p:spPr>
          <a:xfrm flipH="1" rot="10800000">
            <a:off x="5353761" y="2928563"/>
            <a:ext cx="918300" cy="660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3" name="Shape 3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4" name="Google Shape;3064;p1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3065" name="Google Shape;3065;p131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Signed Graph in which every triple is balanced is called a </a:t>
            </a:r>
            <a:r>
              <a:rPr b="1" lang="en"/>
              <a:t>balanced signed graph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Balanced signed graphs have some interesting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 graph G is balanced: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Any subgraph of G is also balanced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6" name="Google Shape;3066;p131"/>
          <p:cNvSpPr/>
          <p:nvPr/>
        </p:nvSpPr>
        <p:spPr>
          <a:xfrm>
            <a:off x="5780399" y="1389525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67" name="Google Shape;3067;p131"/>
          <p:cNvSpPr/>
          <p:nvPr/>
        </p:nvSpPr>
        <p:spPr>
          <a:xfrm>
            <a:off x="6960440" y="13895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068" name="Google Shape;3068;p131"/>
          <p:cNvCxnSpPr>
            <a:stCxn id="3067" idx="2"/>
            <a:endCxn id="3066" idx="6"/>
          </p:cNvCxnSpPr>
          <p:nvPr/>
        </p:nvCxnSpPr>
        <p:spPr>
          <a:xfrm rot="10800000">
            <a:off x="6356540" y="1676323"/>
            <a:ext cx="603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069" name="Google Shape;3069;p131"/>
          <p:cNvSpPr/>
          <p:nvPr/>
        </p:nvSpPr>
        <p:spPr>
          <a:xfrm>
            <a:off x="6960448" y="4333831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070" name="Google Shape;3070;p131"/>
          <p:cNvCxnSpPr>
            <a:stCxn id="3069" idx="0"/>
            <a:endCxn id="3067" idx="4"/>
          </p:cNvCxnSpPr>
          <p:nvPr/>
        </p:nvCxnSpPr>
        <p:spPr>
          <a:xfrm rot="10800000">
            <a:off x="7248448" y="1963231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1" name="Google Shape;3071;p131"/>
          <p:cNvCxnSpPr>
            <a:stCxn id="3069" idx="0"/>
            <a:endCxn id="3066" idx="4"/>
          </p:cNvCxnSpPr>
          <p:nvPr/>
        </p:nvCxnSpPr>
        <p:spPr>
          <a:xfrm rot="10800000">
            <a:off x="6068548" y="1963231"/>
            <a:ext cx="11799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072" name="Google Shape;3072;p131"/>
          <p:cNvSpPr/>
          <p:nvPr/>
        </p:nvSpPr>
        <p:spPr>
          <a:xfrm>
            <a:off x="5780390" y="43338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H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073" name="Google Shape;3073;p131"/>
          <p:cNvCxnSpPr>
            <a:stCxn id="3072" idx="0"/>
            <a:endCxn id="3066" idx="4"/>
          </p:cNvCxnSpPr>
          <p:nvPr/>
        </p:nvCxnSpPr>
        <p:spPr>
          <a:xfrm rot="10800000">
            <a:off x="6068390" y="1963223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4" name="Google Shape;3074;p131"/>
          <p:cNvCxnSpPr>
            <a:stCxn id="3072" idx="0"/>
            <a:endCxn id="3067" idx="4"/>
          </p:cNvCxnSpPr>
          <p:nvPr/>
        </p:nvCxnSpPr>
        <p:spPr>
          <a:xfrm flipH="1" rot="10800000">
            <a:off x="6068390" y="1963223"/>
            <a:ext cx="11802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75" name="Google Shape;3075;p131"/>
          <p:cNvCxnSpPr>
            <a:stCxn id="3072" idx="0"/>
            <a:endCxn id="3069" idx="0"/>
          </p:cNvCxnSpPr>
          <p:nvPr/>
        </p:nvCxnSpPr>
        <p:spPr>
          <a:xfrm>
            <a:off x="6068390" y="4333823"/>
            <a:ext cx="1180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076" name="Google Shape;3076;p131"/>
          <p:cNvSpPr/>
          <p:nvPr/>
        </p:nvSpPr>
        <p:spPr>
          <a:xfrm>
            <a:off x="3263750" y="3447000"/>
            <a:ext cx="2448600" cy="968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subgraph is also balanced!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3077" name="Google Shape;3077;p131"/>
          <p:cNvCxnSpPr>
            <a:stCxn id="3076" idx="7"/>
          </p:cNvCxnSpPr>
          <p:nvPr/>
        </p:nvCxnSpPr>
        <p:spPr>
          <a:xfrm flipH="1" rot="10800000">
            <a:off x="5353761" y="2928563"/>
            <a:ext cx="918300" cy="660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1" name="Shape 3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Google Shape;3082;p1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3083" name="Google Shape;3083;p132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Signed Graph in which every triple is balanced is called a </a:t>
            </a:r>
            <a:r>
              <a:rPr b="1" lang="en"/>
              <a:t>balanced signed graph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Balanced signed graphs have some interesting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 graph G is balanced: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Any subgraph of G is also balanced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4" name="Google Shape;3084;p132"/>
          <p:cNvSpPr/>
          <p:nvPr/>
        </p:nvSpPr>
        <p:spPr>
          <a:xfrm>
            <a:off x="5780399" y="1389525"/>
            <a:ext cx="576000" cy="573600"/>
          </a:xfrm>
          <a:prstGeom prst="ellipse">
            <a:avLst/>
          </a:prstGeom>
          <a:solidFill>
            <a:srgbClr val="3C78D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85" name="Google Shape;3085;p132"/>
          <p:cNvSpPr/>
          <p:nvPr/>
        </p:nvSpPr>
        <p:spPr>
          <a:xfrm>
            <a:off x="6960440" y="1389523"/>
            <a:ext cx="576000" cy="573600"/>
          </a:xfrm>
          <a:prstGeom prst="ellipse">
            <a:avLst/>
          </a:prstGeom>
          <a:solidFill>
            <a:srgbClr val="CC0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086" name="Google Shape;3086;p132"/>
          <p:cNvCxnSpPr>
            <a:stCxn id="3085" idx="2"/>
            <a:endCxn id="3084" idx="6"/>
          </p:cNvCxnSpPr>
          <p:nvPr/>
        </p:nvCxnSpPr>
        <p:spPr>
          <a:xfrm rot="10800000">
            <a:off x="6356540" y="1676323"/>
            <a:ext cx="6039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087" name="Google Shape;3087;p132"/>
          <p:cNvSpPr/>
          <p:nvPr/>
        </p:nvSpPr>
        <p:spPr>
          <a:xfrm>
            <a:off x="6960448" y="4333831"/>
            <a:ext cx="576000" cy="573600"/>
          </a:xfrm>
          <a:prstGeom prst="ellipse">
            <a:avLst/>
          </a:prstGeom>
          <a:solidFill>
            <a:srgbClr val="CC0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088" name="Google Shape;3088;p132"/>
          <p:cNvCxnSpPr>
            <a:stCxn id="3087" idx="0"/>
            <a:endCxn id="3085" idx="4"/>
          </p:cNvCxnSpPr>
          <p:nvPr/>
        </p:nvCxnSpPr>
        <p:spPr>
          <a:xfrm rot="10800000">
            <a:off x="7248448" y="1963231"/>
            <a:ext cx="0" cy="2370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9" name="Google Shape;3089;p132"/>
          <p:cNvCxnSpPr>
            <a:stCxn id="3087" idx="0"/>
            <a:endCxn id="3084" idx="4"/>
          </p:cNvCxnSpPr>
          <p:nvPr/>
        </p:nvCxnSpPr>
        <p:spPr>
          <a:xfrm rot="10800000">
            <a:off x="6068548" y="1963231"/>
            <a:ext cx="1179900" cy="2370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090" name="Google Shape;3090;p132"/>
          <p:cNvSpPr/>
          <p:nvPr/>
        </p:nvSpPr>
        <p:spPr>
          <a:xfrm>
            <a:off x="5780390" y="4333823"/>
            <a:ext cx="576000" cy="573600"/>
          </a:xfrm>
          <a:prstGeom prst="ellipse">
            <a:avLst/>
          </a:prstGeom>
          <a:solidFill>
            <a:srgbClr val="3C78D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H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091" name="Google Shape;3091;p132"/>
          <p:cNvCxnSpPr>
            <a:stCxn id="3090" idx="0"/>
            <a:endCxn id="3084" idx="4"/>
          </p:cNvCxnSpPr>
          <p:nvPr/>
        </p:nvCxnSpPr>
        <p:spPr>
          <a:xfrm rot="10800000">
            <a:off x="6068390" y="1963223"/>
            <a:ext cx="0" cy="2370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2" name="Google Shape;3092;p132"/>
          <p:cNvCxnSpPr>
            <a:stCxn id="3090" idx="0"/>
            <a:endCxn id="3085" idx="4"/>
          </p:cNvCxnSpPr>
          <p:nvPr/>
        </p:nvCxnSpPr>
        <p:spPr>
          <a:xfrm flipH="1" rot="10800000">
            <a:off x="6068390" y="1963223"/>
            <a:ext cx="1180200" cy="2370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93" name="Google Shape;3093;p132"/>
          <p:cNvCxnSpPr>
            <a:stCxn id="3090" idx="0"/>
            <a:endCxn id="3087" idx="0"/>
          </p:cNvCxnSpPr>
          <p:nvPr/>
        </p:nvCxnSpPr>
        <p:spPr>
          <a:xfrm>
            <a:off x="6068390" y="4333823"/>
            <a:ext cx="11802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094" name="Google Shape;3094;p132"/>
          <p:cNvSpPr/>
          <p:nvPr/>
        </p:nvSpPr>
        <p:spPr>
          <a:xfrm>
            <a:off x="3263750" y="3447000"/>
            <a:ext cx="2448600" cy="968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subgraph is also balanced!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3095" name="Google Shape;3095;p132"/>
          <p:cNvCxnSpPr>
            <a:stCxn id="3094" idx="7"/>
          </p:cNvCxnSpPr>
          <p:nvPr/>
        </p:nvCxnSpPr>
        <p:spPr>
          <a:xfrm flipH="1" rot="10800000">
            <a:off x="5353761" y="2928563"/>
            <a:ext cx="918300" cy="660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9" name="Shape 3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0" name="Google Shape;3100;p133"/>
          <p:cNvSpPr/>
          <p:nvPr/>
        </p:nvSpPr>
        <p:spPr>
          <a:xfrm>
            <a:off x="4704000" y="2112760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01" name="Google Shape;3101;p133"/>
          <p:cNvSpPr/>
          <p:nvPr/>
        </p:nvSpPr>
        <p:spPr>
          <a:xfrm>
            <a:off x="5780399" y="1389525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102" name="Google Shape;3102;p133"/>
          <p:cNvCxnSpPr>
            <a:stCxn id="3100" idx="6"/>
            <a:endCxn id="3101" idx="2"/>
          </p:cNvCxnSpPr>
          <p:nvPr/>
        </p:nvCxnSpPr>
        <p:spPr>
          <a:xfrm flipH="1" rot="10800000">
            <a:off x="5280000" y="1676260"/>
            <a:ext cx="5004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03" name="Google Shape;3103;p133"/>
          <p:cNvSpPr/>
          <p:nvPr/>
        </p:nvSpPr>
        <p:spPr>
          <a:xfrm>
            <a:off x="7843901" y="3517836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104" name="Google Shape;3104;p133"/>
          <p:cNvCxnSpPr>
            <a:stCxn id="3100" idx="6"/>
            <a:endCxn id="3103" idx="2"/>
          </p:cNvCxnSpPr>
          <p:nvPr/>
        </p:nvCxnSpPr>
        <p:spPr>
          <a:xfrm>
            <a:off x="5280000" y="2399560"/>
            <a:ext cx="256380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105" name="Google Shape;3105;p133"/>
          <p:cNvSpPr/>
          <p:nvPr/>
        </p:nvSpPr>
        <p:spPr>
          <a:xfrm>
            <a:off x="6960448" y="4333831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06" name="Google Shape;3106;p133"/>
          <p:cNvSpPr/>
          <p:nvPr/>
        </p:nvSpPr>
        <p:spPr>
          <a:xfrm>
            <a:off x="4704008" y="3517829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107" name="Google Shape;3107;p133"/>
          <p:cNvCxnSpPr>
            <a:stCxn id="3100" idx="6"/>
            <a:endCxn id="3106" idx="6"/>
          </p:cNvCxnSpPr>
          <p:nvPr/>
        </p:nvCxnSpPr>
        <p:spPr>
          <a:xfrm>
            <a:off x="5280000" y="2399560"/>
            <a:ext cx="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8" name="Google Shape;3108;p133"/>
          <p:cNvCxnSpPr>
            <a:stCxn id="3106" idx="6"/>
            <a:endCxn id="3105" idx="0"/>
          </p:cNvCxnSpPr>
          <p:nvPr/>
        </p:nvCxnSpPr>
        <p:spPr>
          <a:xfrm>
            <a:off x="5280008" y="3804629"/>
            <a:ext cx="19683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09" name="Google Shape;3109;p133"/>
          <p:cNvCxnSpPr>
            <a:stCxn id="3105" idx="0"/>
            <a:endCxn id="3103" idx="2"/>
          </p:cNvCxnSpPr>
          <p:nvPr/>
        </p:nvCxnSpPr>
        <p:spPr>
          <a:xfrm flipH="1" rot="10800000">
            <a:off x="7248448" y="3804631"/>
            <a:ext cx="5955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0" name="Google Shape;3110;p133"/>
          <p:cNvCxnSpPr>
            <a:stCxn id="3106" idx="6"/>
            <a:endCxn id="3101" idx="2"/>
          </p:cNvCxnSpPr>
          <p:nvPr/>
        </p:nvCxnSpPr>
        <p:spPr>
          <a:xfrm flipH="1" rot="10800000">
            <a:off x="5280008" y="1676429"/>
            <a:ext cx="5004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1" name="Google Shape;3111;p133"/>
          <p:cNvCxnSpPr>
            <a:stCxn id="3103" idx="2"/>
            <a:endCxn id="3101" idx="5"/>
          </p:cNvCxnSpPr>
          <p:nvPr/>
        </p:nvCxnSpPr>
        <p:spPr>
          <a:xfrm rot="10800000">
            <a:off x="6271901" y="1879236"/>
            <a:ext cx="1572000" cy="192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12" name="Google Shape;3112;p133"/>
          <p:cNvCxnSpPr>
            <a:stCxn id="3106" idx="6"/>
            <a:endCxn id="3103" idx="2"/>
          </p:cNvCxnSpPr>
          <p:nvPr/>
        </p:nvCxnSpPr>
        <p:spPr>
          <a:xfrm>
            <a:off x="5280008" y="3804629"/>
            <a:ext cx="2563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13" name="Google Shape;3113;p133"/>
          <p:cNvCxnSpPr>
            <a:stCxn id="3100" idx="6"/>
            <a:endCxn id="3105" idx="0"/>
          </p:cNvCxnSpPr>
          <p:nvPr/>
        </p:nvCxnSpPr>
        <p:spPr>
          <a:xfrm>
            <a:off x="5280000" y="2399560"/>
            <a:ext cx="19683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14" name="Google Shape;3114;p133"/>
          <p:cNvCxnSpPr>
            <a:stCxn id="3105" idx="0"/>
            <a:endCxn id="3101" idx="4"/>
          </p:cNvCxnSpPr>
          <p:nvPr/>
        </p:nvCxnSpPr>
        <p:spPr>
          <a:xfrm rot="10800000">
            <a:off x="6068548" y="1963231"/>
            <a:ext cx="11799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115" name="Google Shape;3115;p133"/>
          <p:cNvSpPr/>
          <p:nvPr/>
        </p:nvSpPr>
        <p:spPr>
          <a:xfrm>
            <a:off x="5780390" y="43338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H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116" name="Google Shape;3116;p133"/>
          <p:cNvCxnSpPr>
            <a:stCxn id="3115" idx="0"/>
            <a:endCxn id="3106" idx="6"/>
          </p:cNvCxnSpPr>
          <p:nvPr/>
        </p:nvCxnSpPr>
        <p:spPr>
          <a:xfrm rot="10800000">
            <a:off x="5279990" y="3804623"/>
            <a:ext cx="7884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7" name="Google Shape;3117;p133"/>
          <p:cNvCxnSpPr>
            <a:stCxn id="3115" idx="0"/>
            <a:endCxn id="3101" idx="4"/>
          </p:cNvCxnSpPr>
          <p:nvPr/>
        </p:nvCxnSpPr>
        <p:spPr>
          <a:xfrm rot="10800000">
            <a:off x="6068390" y="1963223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8" name="Google Shape;3118;p133"/>
          <p:cNvCxnSpPr>
            <a:stCxn id="3115" idx="0"/>
            <a:endCxn id="3100" idx="6"/>
          </p:cNvCxnSpPr>
          <p:nvPr/>
        </p:nvCxnSpPr>
        <p:spPr>
          <a:xfrm rot="10800000">
            <a:off x="5279990" y="2399423"/>
            <a:ext cx="7884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9" name="Google Shape;3119;p133"/>
          <p:cNvCxnSpPr>
            <a:stCxn id="3115" idx="0"/>
            <a:endCxn id="3103" idx="2"/>
          </p:cNvCxnSpPr>
          <p:nvPr/>
        </p:nvCxnSpPr>
        <p:spPr>
          <a:xfrm flipH="1" rot="10800000">
            <a:off x="6068390" y="3804623"/>
            <a:ext cx="17754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20" name="Google Shape;3120;p133"/>
          <p:cNvCxnSpPr>
            <a:stCxn id="3115" idx="0"/>
            <a:endCxn id="3105" idx="0"/>
          </p:cNvCxnSpPr>
          <p:nvPr/>
        </p:nvCxnSpPr>
        <p:spPr>
          <a:xfrm>
            <a:off x="6068390" y="4333823"/>
            <a:ext cx="1180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121" name="Google Shape;3121;p1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3122" name="Google Shape;3122;p133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Signed Graph in which every triple is balanced is called a </a:t>
            </a:r>
            <a:r>
              <a:rPr b="1" lang="en"/>
              <a:t>balanced signed graph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Balanced signed graphs have some interesting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 graph G is balanced: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Any subgraph of G is also balanced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3" name="Google Shape;3123;p133"/>
          <p:cNvSpPr/>
          <p:nvPr/>
        </p:nvSpPr>
        <p:spPr>
          <a:xfrm>
            <a:off x="1384825" y="3844088"/>
            <a:ext cx="2448600" cy="968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subgraph is also balanced!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3124" name="Google Shape;3124;p133"/>
          <p:cNvCxnSpPr>
            <a:stCxn id="3123" idx="7"/>
          </p:cNvCxnSpPr>
          <p:nvPr/>
        </p:nvCxnSpPr>
        <p:spPr>
          <a:xfrm flipH="1" rot="10800000">
            <a:off x="3474836" y="3325650"/>
            <a:ext cx="918300" cy="660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8" name="Shape 3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9" name="Google Shape;3129;p134"/>
          <p:cNvSpPr/>
          <p:nvPr/>
        </p:nvSpPr>
        <p:spPr>
          <a:xfrm>
            <a:off x="4704000" y="2112760"/>
            <a:ext cx="576000" cy="573600"/>
          </a:xfrm>
          <a:prstGeom prst="ellipse">
            <a:avLst/>
          </a:prstGeom>
          <a:solidFill>
            <a:srgbClr val="3C78D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30" name="Google Shape;3130;p134"/>
          <p:cNvSpPr/>
          <p:nvPr/>
        </p:nvSpPr>
        <p:spPr>
          <a:xfrm>
            <a:off x="5780399" y="1389525"/>
            <a:ext cx="576000" cy="573600"/>
          </a:xfrm>
          <a:prstGeom prst="ellipse">
            <a:avLst/>
          </a:prstGeom>
          <a:solidFill>
            <a:srgbClr val="3C78D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131" name="Google Shape;3131;p134"/>
          <p:cNvCxnSpPr>
            <a:stCxn id="3129" idx="6"/>
            <a:endCxn id="3130" idx="2"/>
          </p:cNvCxnSpPr>
          <p:nvPr/>
        </p:nvCxnSpPr>
        <p:spPr>
          <a:xfrm flipH="1" rot="10800000">
            <a:off x="5280000" y="1676260"/>
            <a:ext cx="500400" cy="723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32" name="Google Shape;3132;p134"/>
          <p:cNvSpPr/>
          <p:nvPr/>
        </p:nvSpPr>
        <p:spPr>
          <a:xfrm>
            <a:off x="7843901" y="3517836"/>
            <a:ext cx="576000" cy="573600"/>
          </a:xfrm>
          <a:prstGeom prst="ellipse">
            <a:avLst/>
          </a:prstGeom>
          <a:solidFill>
            <a:srgbClr val="CC0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133" name="Google Shape;3133;p134"/>
          <p:cNvCxnSpPr>
            <a:stCxn id="3129" idx="6"/>
            <a:endCxn id="3132" idx="2"/>
          </p:cNvCxnSpPr>
          <p:nvPr/>
        </p:nvCxnSpPr>
        <p:spPr>
          <a:xfrm>
            <a:off x="5280000" y="2399560"/>
            <a:ext cx="2563800" cy="1405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134" name="Google Shape;3134;p134"/>
          <p:cNvSpPr/>
          <p:nvPr/>
        </p:nvSpPr>
        <p:spPr>
          <a:xfrm>
            <a:off x="6960448" y="4333831"/>
            <a:ext cx="576000" cy="573600"/>
          </a:xfrm>
          <a:prstGeom prst="ellipse">
            <a:avLst/>
          </a:prstGeom>
          <a:solidFill>
            <a:srgbClr val="CC0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35" name="Google Shape;3135;p134"/>
          <p:cNvSpPr/>
          <p:nvPr/>
        </p:nvSpPr>
        <p:spPr>
          <a:xfrm>
            <a:off x="4704008" y="3517829"/>
            <a:ext cx="576000" cy="573600"/>
          </a:xfrm>
          <a:prstGeom prst="ellipse">
            <a:avLst/>
          </a:prstGeom>
          <a:solidFill>
            <a:srgbClr val="3C78D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136" name="Google Shape;3136;p134"/>
          <p:cNvCxnSpPr>
            <a:stCxn id="3129" idx="6"/>
            <a:endCxn id="3135" idx="6"/>
          </p:cNvCxnSpPr>
          <p:nvPr/>
        </p:nvCxnSpPr>
        <p:spPr>
          <a:xfrm>
            <a:off x="5280000" y="2399560"/>
            <a:ext cx="0" cy="1405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7" name="Google Shape;3137;p134"/>
          <p:cNvCxnSpPr>
            <a:stCxn id="3135" idx="6"/>
            <a:endCxn id="3134" idx="0"/>
          </p:cNvCxnSpPr>
          <p:nvPr/>
        </p:nvCxnSpPr>
        <p:spPr>
          <a:xfrm>
            <a:off x="5280008" y="3804629"/>
            <a:ext cx="1968300" cy="529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38" name="Google Shape;3138;p134"/>
          <p:cNvCxnSpPr>
            <a:stCxn id="3134" idx="0"/>
            <a:endCxn id="3132" idx="2"/>
          </p:cNvCxnSpPr>
          <p:nvPr/>
        </p:nvCxnSpPr>
        <p:spPr>
          <a:xfrm flipH="1" rot="10800000">
            <a:off x="7248448" y="3804631"/>
            <a:ext cx="595500" cy="529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9" name="Google Shape;3139;p134"/>
          <p:cNvCxnSpPr>
            <a:stCxn id="3135" idx="6"/>
            <a:endCxn id="3130" idx="2"/>
          </p:cNvCxnSpPr>
          <p:nvPr/>
        </p:nvCxnSpPr>
        <p:spPr>
          <a:xfrm flipH="1" rot="10800000">
            <a:off x="5280008" y="1676429"/>
            <a:ext cx="500400" cy="2128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0" name="Google Shape;3140;p134"/>
          <p:cNvCxnSpPr>
            <a:stCxn id="3132" idx="2"/>
            <a:endCxn id="3130" idx="5"/>
          </p:cNvCxnSpPr>
          <p:nvPr/>
        </p:nvCxnSpPr>
        <p:spPr>
          <a:xfrm rot="10800000">
            <a:off x="6271901" y="1879236"/>
            <a:ext cx="1572000" cy="1925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41" name="Google Shape;3141;p134"/>
          <p:cNvCxnSpPr>
            <a:stCxn id="3135" idx="6"/>
            <a:endCxn id="3132" idx="2"/>
          </p:cNvCxnSpPr>
          <p:nvPr/>
        </p:nvCxnSpPr>
        <p:spPr>
          <a:xfrm>
            <a:off x="5280008" y="3804629"/>
            <a:ext cx="2563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42" name="Google Shape;3142;p134"/>
          <p:cNvCxnSpPr>
            <a:stCxn id="3129" idx="6"/>
            <a:endCxn id="3134" idx="0"/>
          </p:cNvCxnSpPr>
          <p:nvPr/>
        </p:nvCxnSpPr>
        <p:spPr>
          <a:xfrm>
            <a:off x="5280000" y="2399560"/>
            <a:ext cx="1968300" cy="1934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43" name="Google Shape;3143;p134"/>
          <p:cNvCxnSpPr>
            <a:stCxn id="3134" idx="0"/>
            <a:endCxn id="3130" idx="4"/>
          </p:cNvCxnSpPr>
          <p:nvPr/>
        </p:nvCxnSpPr>
        <p:spPr>
          <a:xfrm rot="10800000">
            <a:off x="6068548" y="1963231"/>
            <a:ext cx="1179900" cy="2370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144" name="Google Shape;3144;p134"/>
          <p:cNvSpPr/>
          <p:nvPr/>
        </p:nvSpPr>
        <p:spPr>
          <a:xfrm>
            <a:off x="5780390" y="4333823"/>
            <a:ext cx="576000" cy="573600"/>
          </a:xfrm>
          <a:prstGeom prst="ellipse">
            <a:avLst/>
          </a:prstGeom>
          <a:solidFill>
            <a:srgbClr val="3C78D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H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145" name="Google Shape;3145;p134"/>
          <p:cNvCxnSpPr>
            <a:stCxn id="3144" idx="0"/>
            <a:endCxn id="3135" idx="6"/>
          </p:cNvCxnSpPr>
          <p:nvPr/>
        </p:nvCxnSpPr>
        <p:spPr>
          <a:xfrm rot="10800000">
            <a:off x="5279990" y="3804623"/>
            <a:ext cx="788400" cy="529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6" name="Google Shape;3146;p134"/>
          <p:cNvCxnSpPr>
            <a:stCxn id="3144" idx="0"/>
            <a:endCxn id="3130" idx="4"/>
          </p:cNvCxnSpPr>
          <p:nvPr/>
        </p:nvCxnSpPr>
        <p:spPr>
          <a:xfrm rot="10800000">
            <a:off x="6068390" y="1963223"/>
            <a:ext cx="0" cy="2370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7" name="Google Shape;3147;p134"/>
          <p:cNvCxnSpPr>
            <a:stCxn id="3144" idx="0"/>
            <a:endCxn id="3129" idx="6"/>
          </p:cNvCxnSpPr>
          <p:nvPr/>
        </p:nvCxnSpPr>
        <p:spPr>
          <a:xfrm rot="10800000">
            <a:off x="5279990" y="2399423"/>
            <a:ext cx="788400" cy="1934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8" name="Google Shape;3148;p134"/>
          <p:cNvCxnSpPr>
            <a:stCxn id="3144" idx="0"/>
            <a:endCxn id="3132" idx="2"/>
          </p:cNvCxnSpPr>
          <p:nvPr/>
        </p:nvCxnSpPr>
        <p:spPr>
          <a:xfrm flipH="1" rot="10800000">
            <a:off x="6068390" y="3804623"/>
            <a:ext cx="1775400" cy="529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49" name="Google Shape;3149;p134"/>
          <p:cNvCxnSpPr>
            <a:stCxn id="3144" idx="0"/>
            <a:endCxn id="3134" idx="0"/>
          </p:cNvCxnSpPr>
          <p:nvPr/>
        </p:nvCxnSpPr>
        <p:spPr>
          <a:xfrm>
            <a:off x="6068390" y="4333823"/>
            <a:ext cx="11802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150" name="Google Shape;3150;p1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3151" name="Google Shape;3151;p134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Signed Graph in which every triple is balanced is called a </a:t>
            </a:r>
            <a:r>
              <a:rPr b="1" lang="en"/>
              <a:t>balanced signed graph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Balanced signed graphs have some interesting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 graph G is balanced: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Any subgraph of G is also balanced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2" name="Google Shape;3152;p134"/>
          <p:cNvSpPr/>
          <p:nvPr/>
        </p:nvSpPr>
        <p:spPr>
          <a:xfrm>
            <a:off x="1384825" y="3844088"/>
            <a:ext cx="2448600" cy="968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subgraph is also balanced!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3153" name="Google Shape;3153;p134"/>
          <p:cNvCxnSpPr>
            <a:stCxn id="3152" idx="7"/>
          </p:cNvCxnSpPr>
          <p:nvPr/>
        </p:nvCxnSpPr>
        <p:spPr>
          <a:xfrm flipH="1" rot="10800000">
            <a:off x="3474836" y="3325650"/>
            <a:ext cx="918300" cy="660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7" name="Shape 3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8" name="Google Shape;3158;p1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3159" name="Google Shape;3159;p135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Signed Graph in which every triple is balanced is called a </a:t>
            </a:r>
            <a:r>
              <a:rPr b="1" lang="en"/>
              <a:t>balanced signed graph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Balanced signed graphs have some interesting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 graph G is balanced: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Any subgraph of G is also balanced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All paths between the same pair of nodes have the same sign as the link between them!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0" name="Google Shape;3160;p135"/>
          <p:cNvSpPr/>
          <p:nvPr/>
        </p:nvSpPr>
        <p:spPr>
          <a:xfrm>
            <a:off x="4704000" y="2112760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61" name="Google Shape;3161;p135"/>
          <p:cNvSpPr/>
          <p:nvPr/>
        </p:nvSpPr>
        <p:spPr>
          <a:xfrm>
            <a:off x="5780399" y="1389525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162" name="Google Shape;3162;p135"/>
          <p:cNvCxnSpPr>
            <a:stCxn id="3160" idx="6"/>
            <a:endCxn id="3161" idx="2"/>
          </p:cNvCxnSpPr>
          <p:nvPr/>
        </p:nvCxnSpPr>
        <p:spPr>
          <a:xfrm flipH="1" rot="10800000">
            <a:off x="5280000" y="1676260"/>
            <a:ext cx="5004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63" name="Google Shape;3163;p135"/>
          <p:cNvSpPr/>
          <p:nvPr/>
        </p:nvSpPr>
        <p:spPr>
          <a:xfrm>
            <a:off x="6960440" y="13895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164" name="Google Shape;3164;p135"/>
          <p:cNvCxnSpPr>
            <a:stCxn id="3163" idx="2"/>
            <a:endCxn id="3161" idx="6"/>
          </p:cNvCxnSpPr>
          <p:nvPr/>
        </p:nvCxnSpPr>
        <p:spPr>
          <a:xfrm rot="10800000">
            <a:off x="6356540" y="1676323"/>
            <a:ext cx="603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165" name="Google Shape;3165;p135"/>
          <p:cNvSpPr/>
          <p:nvPr/>
        </p:nvSpPr>
        <p:spPr>
          <a:xfrm>
            <a:off x="7843901" y="3517836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166" name="Google Shape;3166;p135"/>
          <p:cNvCxnSpPr>
            <a:stCxn id="3165" idx="0"/>
            <a:endCxn id="3163" idx="4"/>
          </p:cNvCxnSpPr>
          <p:nvPr/>
        </p:nvCxnSpPr>
        <p:spPr>
          <a:xfrm rot="10800000">
            <a:off x="7248401" y="1963236"/>
            <a:ext cx="883500" cy="155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7" name="Google Shape;3167;p135"/>
          <p:cNvCxnSpPr>
            <a:stCxn id="3160" idx="6"/>
            <a:endCxn id="3165" idx="2"/>
          </p:cNvCxnSpPr>
          <p:nvPr/>
        </p:nvCxnSpPr>
        <p:spPr>
          <a:xfrm>
            <a:off x="5280000" y="2399560"/>
            <a:ext cx="256380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168" name="Google Shape;3168;p135"/>
          <p:cNvSpPr/>
          <p:nvPr/>
        </p:nvSpPr>
        <p:spPr>
          <a:xfrm>
            <a:off x="6960448" y="4333831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69" name="Google Shape;3169;p135"/>
          <p:cNvSpPr/>
          <p:nvPr/>
        </p:nvSpPr>
        <p:spPr>
          <a:xfrm>
            <a:off x="4704008" y="3517829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170" name="Google Shape;3170;p135"/>
          <p:cNvCxnSpPr>
            <a:stCxn id="3160" idx="6"/>
            <a:endCxn id="3169" idx="6"/>
          </p:cNvCxnSpPr>
          <p:nvPr/>
        </p:nvCxnSpPr>
        <p:spPr>
          <a:xfrm>
            <a:off x="5280000" y="2399560"/>
            <a:ext cx="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1" name="Google Shape;3171;p135"/>
          <p:cNvCxnSpPr>
            <a:stCxn id="3169" idx="6"/>
            <a:endCxn id="3168" idx="0"/>
          </p:cNvCxnSpPr>
          <p:nvPr/>
        </p:nvCxnSpPr>
        <p:spPr>
          <a:xfrm>
            <a:off x="5280008" y="3804629"/>
            <a:ext cx="19683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72" name="Google Shape;3172;p135"/>
          <p:cNvCxnSpPr>
            <a:stCxn id="3168" idx="0"/>
            <a:endCxn id="3165" idx="2"/>
          </p:cNvCxnSpPr>
          <p:nvPr/>
        </p:nvCxnSpPr>
        <p:spPr>
          <a:xfrm flipH="1" rot="10800000">
            <a:off x="7248448" y="3804631"/>
            <a:ext cx="5955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3" name="Google Shape;3173;p135"/>
          <p:cNvCxnSpPr>
            <a:stCxn id="3169" idx="6"/>
            <a:endCxn id="3161" idx="2"/>
          </p:cNvCxnSpPr>
          <p:nvPr/>
        </p:nvCxnSpPr>
        <p:spPr>
          <a:xfrm flipH="1" rot="10800000">
            <a:off x="5280008" y="1676429"/>
            <a:ext cx="5004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4" name="Google Shape;3174;p135"/>
          <p:cNvCxnSpPr>
            <a:stCxn id="3165" idx="2"/>
            <a:endCxn id="3161" idx="5"/>
          </p:cNvCxnSpPr>
          <p:nvPr/>
        </p:nvCxnSpPr>
        <p:spPr>
          <a:xfrm rot="10800000">
            <a:off x="6271901" y="1879236"/>
            <a:ext cx="1572000" cy="192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75" name="Google Shape;3175;p135"/>
          <p:cNvCxnSpPr>
            <a:stCxn id="3169" idx="6"/>
            <a:endCxn id="3165" idx="2"/>
          </p:cNvCxnSpPr>
          <p:nvPr/>
        </p:nvCxnSpPr>
        <p:spPr>
          <a:xfrm>
            <a:off x="5280008" y="3804629"/>
            <a:ext cx="2563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76" name="Google Shape;3176;p135"/>
          <p:cNvCxnSpPr>
            <a:stCxn id="3160" idx="6"/>
            <a:endCxn id="3163" idx="2"/>
          </p:cNvCxnSpPr>
          <p:nvPr/>
        </p:nvCxnSpPr>
        <p:spPr>
          <a:xfrm flipH="1" rot="10800000">
            <a:off x="5280000" y="1676260"/>
            <a:ext cx="16803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77" name="Google Shape;3177;p135"/>
          <p:cNvCxnSpPr>
            <a:stCxn id="3168" idx="0"/>
            <a:endCxn id="3163" idx="4"/>
          </p:cNvCxnSpPr>
          <p:nvPr/>
        </p:nvCxnSpPr>
        <p:spPr>
          <a:xfrm rot="10800000">
            <a:off x="7248448" y="1963231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8" name="Google Shape;3178;p135"/>
          <p:cNvCxnSpPr>
            <a:stCxn id="3160" idx="6"/>
            <a:endCxn id="3168" idx="0"/>
          </p:cNvCxnSpPr>
          <p:nvPr/>
        </p:nvCxnSpPr>
        <p:spPr>
          <a:xfrm>
            <a:off x="5280000" y="2399560"/>
            <a:ext cx="19683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79" name="Google Shape;3179;p135"/>
          <p:cNvCxnSpPr>
            <a:stCxn id="3168" idx="0"/>
            <a:endCxn id="3161" idx="4"/>
          </p:cNvCxnSpPr>
          <p:nvPr/>
        </p:nvCxnSpPr>
        <p:spPr>
          <a:xfrm rot="10800000">
            <a:off x="6068548" y="1963231"/>
            <a:ext cx="11799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80" name="Google Shape;3180;p135"/>
          <p:cNvCxnSpPr>
            <a:stCxn id="3169" idx="6"/>
            <a:endCxn id="3163" idx="2"/>
          </p:cNvCxnSpPr>
          <p:nvPr/>
        </p:nvCxnSpPr>
        <p:spPr>
          <a:xfrm flipH="1" rot="10800000">
            <a:off x="5280008" y="1676429"/>
            <a:ext cx="16803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181" name="Google Shape;3181;p135"/>
          <p:cNvSpPr/>
          <p:nvPr/>
        </p:nvSpPr>
        <p:spPr>
          <a:xfrm>
            <a:off x="7843890" y="2078948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I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82" name="Google Shape;3182;p135"/>
          <p:cNvSpPr/>
          <p:nvPr/>
        </p:nvSpPr>
        <p:spPr>
          <a:xfrm>
            <a:off x="5780390" y="43338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H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183" name="Google Shape;3183;p135"/>
          <p:cNvCxnSpPr>
            <a:stCxn id="3181" idx="1"/>
            <a:endCxn id="3163" idx="5"/>
          </p:cNvCxnSpPr>
          <p:nvPr/>
        </p:nvCxnSpPr>
        <p:spPr>
          <a:xfrm rot="10800000">
            <a:off x="7452143" y="1879150"/>
            <a:ext cx="476100" cy="283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4" name="Google Shape;3184;p135"/>
          <p:cNvCxnSpPr>
            <a:stCxn id="3165" idx="0"/>
            <a:endCxn id="3181" idx="4"/>
          </p:cNvCxnSpPr>
          <p:nvPr/>
        </p:nvCxnSpPr>
        <p:spPr>
          <a:xfrm rot="10800000">
            <a:off x="8131901" y="2652636"/>
            <a:ext cx="0" cy="8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5" name="Google Shape;3185;p135"/>
          <p:cNvCxnSpPr>
            <a:stCxn id="3168" idx="0"/>
            <a:endCxn id="3181" idx="3"/>
          </p:cNvCxnSpPr>
          <p:nvPr/>
        </p:nvCxnSpPr>
        <p:spPr>
          <a:xfrm flipH="1" rot="10800000">
            <a:off x="7248448" y="2568631"/>
            <a:ext cx="6798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6" name="Google Shape;3186;p135"/>
          <p:cNvCxnSpPr>
            <a:stCxn id="3182" idx="0"/>
            <a:endCxn id="3169" idx="6"/>
          </p:cNvCxnSpPr>
          <p:nvPr/>
        </p:nvCxnSpPr>
        <p:spPr>
          <a:xfrm rot="10800000">
            <a:off x="5279990" y="3804623"/>
            <a:ext cx="7884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7" name="Google Shape;3187;p135"/>
          <p:cNvCxnSpPr>
            <a:stCxn id="3182" idx="0"/>
            <a:endCxn id="3161" idx="4"/>
          </p:cNvCxnSpPr>
          <p:nvPr/>
        </p:nvCxnSpPr>
        <p:spPr>
          <a:xfrm rot="10800000">
            <a:off x="6068390" y="1963223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8" name="Google Shape;3188;p135"/>
          <p:cNvCxnSpPr>
            <a:stCxn id="3182" idx="0"/>
            <a:endCxn id="3160" idx="6"/>
          </p:cNvCxnSpPr>
          <p:nvPr/>
        </p:nvCxnSpPr>
        <p:spPr>
          <a:xfrm rot="10800000">
            <a:off x="5279990" y="2399423"/>
            <a:ext cx="7884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9" name="Google Shape;3189;p135"/>
          <p:cNvCxnSpPr>
            <a:stCxn id="3182" idx="0"/>
            <a:endCxn id="3163" idx="4"/>
          </p:cNvCxnSpPr>
          <p:nvPr/>
        </p:nvCxnSpPr>
        <p:spPr>
          <a:xfrm flipH="1" rot="10800000">
            <a:off x="6068390" y="1963223"/>
            <a:ext cx="11802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90" name="Google Shape;3190;p135"/>
          <p:cNvCxnSpPr>
            <a:stCxn id="3182" idx="0"/>
            <a:endCxn id="3181" idx="3"/>
          </p:cNvCxnSpPr>
          <p:nvPr/>
        </p:nvCxnSpPr>
        <p:spPr>
          <a:xfrm flipH="1" rot="10800000">
            <a:off x="6068390" y="2568623"/>
            <a:ext cx="18600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91" name="Google Shape;3191;p135"/>
          <p:cNvCxnSpPr>
            <a:stCxn id="3182" idx="0"/>
            <a:endCxn id="3165" idx="2"/>
          </p:cNvCxnSpPr>
          <p:nvPr/>
        </p:nvCxnSpPr>
        <p:spPr>
          <a:xfrm flipH="1" rot="10800000">
            <a:off x="6068390" y="3804623"/>
            <a:ext cx="17754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92" name="Google Shape;3192;p135"/>
          <p:cNvCxnSpPr>
            <a:stCxn id="3182" idx="0"/>
            <a:endCxn id="3168" idx="0"/>
          </p:cNvCxnSpPr>
          <p:nvPr/>
        </p:nvCxnSpPr>
        <p:spPr>
          <a:xfrm>
            <a:off x="6068390" y="4333823"/>
            <a:ext cx="1180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93" name="Google Shape;3193;p135"/>
          <p:cNvCxnSpPr>
            <a:stCxn id="3160" idx="6"/>
            <a:endCxn id="3181" idx="2"/>
          </p:cNvCxnSpPr>
          <p:nvPr/>
        </p:nvCxnSpPr>
        <p:spPr>
          <a:xfrm flipH="1" rot="10800000">
            <a:off x="5280000" y="2365660"/>
            <a:ext cx="2563800" cy="3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94" name="Google Shape;3194;p135"/>
          <p:cNvCxnSpPr>
            <a:stCxn id="3161" idx="5"/>
            <a:endCxn id="3181" idx="2"/>
          </p:cNvCxnSpPr>
          <p:nvPr/>
        </p:nvCxnSpPr>
        <p:spPr>
          <a:xfrm>
            <a:off x="6272046" y="1879123"/>
            <a:ext cx="1571700" cy="48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95" name="Google Shape;3195;p135"/>
          <p:cNvCxnSpPr>
            <a:stCxn id="3169" idx="6"/>
            <a:endCxn id="3181" idx="2"/>
          </p:cNvCxnSpPr>
          <p:nvPr/>
        </p:nvCxnSpPr>
        <p:spPr>
          <a:xfrm flipH="1" rot="10800000">
            <a:off x="5280008" y="2365829"/>
            <a:ext cx="2563800" cy="143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9" name="Shape 3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0" name="Google Shape;3200;p1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3201" name="Google Shape;3201;p136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Signed Graph in which every triple is balanced is called a </a:t>
            </a:r>
            <a:r>
              <a:rPr b="1" lang="en"/>
              <a:t>balanced signed graph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Balanced signed graphs have some interesting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 graph G is balanced: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Any subgraph of G is also balanced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All paths between the same pair of nodes have the same sign as the link between them!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The sign of a path is the product of the signs of each edge in it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2" name="Google Shape;3202;p136"/>
          <p:cNvSpPr/>
          <p:nvPr/>
        </p:nvSpPr>
        <p:spPr>
          <a:xfrm>
            <a:off x="4704000" y="2112760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203" name="Google Shape;3203;p136"/>
          <p:cNvSpPr/>
          <p:nvPr/>
        </p:nvSpPr>
        <p:spPr>
          <a:xfrm>
            <a:off x="5780399" y="1389525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204" name="Google Shape;3204;p136"/>
          <p:cNvCxnSpPr>
            <a:stCxn id="3202" idx="6"/>
            <a:endCxn id="3203" idx="2"/>
          </p:cNvCxnSpPr>
          <p:nvPr/>
        </p:nvCxnSpPr>
        <p:spPr>
          <a:xfrm flipH="1" rot="10800000">
            <a:off x="5280000" y="1676260"/>
            <a:ext cx="5004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05" name="Google Shape;3205;p136"/>
          <p:cNvSpPr/>
          <p:nvPr/>
        </p:nvSpPr>
        <p:spPr>
          <a:xfrm>
            <a:off x="6960440" y="13895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206" name="Google Shape;3206;p136"/>
          <p:cNvCxnSpPr>
            <a:stCxn id="3205" idx="2"/>
            <a:endCxn id="3203" idx="6"/>
          </p:cNvCxnSpPr>
          <p:nvPr/>
        </p:nvCxnSpPr>
        <p:spPr>
          <a:xfrm rot="10800000">
            <a:off x="6356540" y="1676323"/>
            <a:ext cx="603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207" name="Google Shape;3207;p136"/>
          <p:cNvSpPr/>
          <p:nvPr/>
        </p:nvSpPr>
        <p:spPr>
          <a:xfrm>
            <a:off x="7843901" y="3517836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208" name="Google Shape;3208;p136"/>
          <p:cNvCxnSpPr>
            <a:stCxn id="3207" idx="0"/>
            <a:endCxn id="3205" idx="4"/>
          </p:cNvCxnSpPr>
          <p:nvPr/>
        </p:nvCxnSpPr>
        <p:spPr>
          <a:xfrm rot="10800000">
            <a:off x="7248401" y="1963236"/>
            <a:ext cx="883500" cy="155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9" name="Google Shape;3209;p136"/>
          <p:cNvCxnSpPr>
            <a:stCxn id="3202" idx="6"/>
            <a:endCxn id="3207" idx="2"/>
          </p:cNvCxnSpPr>
          <p:nvPr/>
        </p:nvCxnSpPr>
        <p:spPr>
          <a:xfrm>
            <a:off x="5280000" y="2399560"/>
            <a:ext cx="256380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210" name="Google Shape;3210;p136"/>
          <p:cNvSpPr/>
          <p:nvPr/>
        </p:nvSpPr>
        <p:spPr>
          <a:xfrm>
            <a:off x="6960448" y="4333831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211" name="Google Shape;3211;p136"/>
          <p:cNvSpPr/>
          <p:nvPr/>
        </p:nvSpPr>
        <p:spPr>
          <a:xfrm>
            <a:off x="4704008" y="3517829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212" name="Google Shape;3212;p136"/>
          <p:cNvCxnSpPr>
            <a:stCxn id="3202" idx="6"/>
            <a:endCxn id="3211" idx="6"/>
          </p:cNvCxnSpPr>
          <p:nvPr/>
        </p:nvCxnSpPr>
        <p:spPr>
          <a:xfrm>
            <a:off x="5280000" y="2399560"/>
            <a:ext cx="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3" name="Google Shape;3213;p136"/>
          <p:cNvCxnSpPr>
            <a:stCxn id="3211" idx="6"/>
            <a:endCxn id="3210" idx="0"/>
          </p:cNvCxnSpPr>
          <p:nvPr/>
        </p:nvCxnSpPr>
        <p:spPr>
          <a:xfrm>
            <a:off x="5280008" y="3804629"/>
            <a:ext cx="19683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14" name="Google Shape;3214;p136"/>
          <p:cNvCxnSpPr>
            <a:stCxn id="3210" idx="0"/>
            <a:endCxn id="3207" idx="2"/>
          </p:cNvCxnSpPr>
          <p:nvPr/>
        </p:nvCxnSpPr>
        <p:spPr>
          <a:xfrm flipH="1" rot="10800000">
            <a:off x="7248448" y="3804631"/>
            <a:ext cx="5955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5" name="Google Shape;3215;p136"/>
          <p:cNvCxnSpPr>
            <a:stCxn id="3211" idx="6"/>
            <a:endCxn id="3203" idx="2"/>
          </p:cNvCxnSpPr>
          <p:nvPr/>
        </p:nvCxnSpPr>
        <p:spPr>
          <a:xfrm flipH="1" rot="10800000">
            <a:off x="5280008" y="1676429"/>
            <a:ext cx="5004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6" name="Google Shape;3216;p136"/>
          <p:cNvCxnSpPr>
            <a:stCxn id="3207" idx="2"/>
            <a:endCxn id="3203" idx="5"/>
          </p:cNvCxnSpPr>
          <p:nvPr/>
        </p:nvCxnSpPr>
        <p:spPr>
          <a:xfrm rot="10800000">
            <a:off x="6271901" y="1879236"/>
            <a:ext cx="1572000" cy="192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17" name="Google Shape;3217;p136"/>
          <p:cNvCxnSpPr>
            <a:stCxn id="3211" idx="6"/>
            <a:endCxn id="3207" idx="2"/>
          </p:cNvCxnSpPr>
          <p:nvPr/>
        </p:nvCxnSpPr>
        <p:spPr>
          <a:xfrm>
            <a:off x="5280008" y="3804629"/>
            <a:ext cx="2563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18" name="Google Shape;3218;p136"/>
          <p:cNvCxnSpPr>
            <a:stCxn id="3202" idx="6"/>
            <a:endCxn id="3205" idx="2"/>
          </p:cNvCxnSpPr>
          <p:nvPr/>
        </p:nvCxnSpPr>
        <p:spPr>
          <a:xfrm flipH="1" rot="10800000">
            <a:off x="5280000" y="1676260"/>
            <a:ext cx="16803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19" name="Google Shape;3219;p136"/>
          <p:cNvCxnSpPr>
            <a:stCxn id="3210" idx="0"/>
            <a:endCxn id="3205" idx="4"/>
          </p:cNvCxnSpPr>
          <p:nvPr/>
        </p:nvCxnSpPr>
        <p:spPr>
          <a:xfrm rot="10800000">
            <a:off x="7248448" y="1963231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0" name="Google Shape;3220;p136"/>
          <p:cNvCxnSpPr>
            <a:stCxn id="3202" idx="6"/>
            <a:endCxn id="3210" idx="0"/>
          </p:cNvCxnSpPr>
          <p:nvPr/>
        </p:nvCxnSpPr>
        <p:spPr>
          <a:xfrm>
            <a:off x="5280000" y="2399560"/>
            <a:ext cx="19683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21" name="Google Shape;3221;p136"/>
          <p:cNvCxnSpPr>
            <a:stCxn id="3210" idx="0"/>
            <a:endCxn id="3203" idx="4"/>
          </p:cNvCxnSpPr>
          <p:nvPr/>
        </p:nvCxnSpPr>
        <p:spPr>
          <a:xfrm rot="10800000">
            <a:off x="6068548" y="1963231"/>
            <a:ext cx="11799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22" name="Google Shape;3222;p136"/>
          <p:cNvCxnSpPr>
            <a:stCxn id="3211" idx="6"/>
            <a:endCxn id="3205" idx="2"/>
          </p:cNvCxnSpPr>
          <p:nvPr/>
        </p:nvCxnSpPr>
        <p:spPr>
          <a:xfrm flipH="1" rot="10800000">
            <a:off x="5280008" y="1676429"/>
            <a:ext cx="16803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223" name="Google Shape;3223;p136"/>
          <p:cNvSpPr/>
          <p:nvPr/>
        </p:nvSpPr>
        <p:spPr>
          <a:xfrm>
            <a:off x="7843890" y="2078948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I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224" name="Google Shape;3224;p136"/>
          <p:cNvSpPr/>
          <p:nvPr/>
        </p:nvSpPr>
        <p:spPr>
          <a:xfrm>
            <a:off x="5780390" y="43338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H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225" name="Google Shape;3225;p136"/>
          <p:cNvCxnSpPr>
            <a:stCxn id="3223" idx="1"/>
            <a:endCxn id="3205" idx="5"/>
          </p:cNvCxnSpPr>
          <p:nvPr/>
        </p:nvCxnSpPr>
        <p:spPr>
          <a:xfrm rot="10800000">
            <a:off x="7452143" y="1879150"/>
            <a:ext cx="476100" cy="283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6" name="Google Shape;3226;p136"/>
          <p:cNvCxnSpPr>
            <a:stCxn id="3207" idx="0"/>
            <a:endCxn id="3223" idx="4"/>
          </p:cNvCxnSpPr>
          <p:nvPr/>
        </p:nvCxnSpPr>
        <p:spPr>
          <a:xfrm rot="10800000">
            <a:off x="8131901" y="2652636"/>
            <a:ext cx="0" cy="8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7" name="Google Shape;3227;p136"/>
          <p:cNvCxnSpPr>
            <a:stCxn id="3210" idx="0"/>
            <a:endCxn id="3223" idx="3"/>
          </p:cNvCxnSpPr>
          <p:nvPr/>
        </p:nvCxnSpPr>
        <p:spPr>
          <a:xfrm flipH="1" rot="10800000">
            <a:off x="7248448" y="2568631"/>
            <a:ext cx="6798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8" name="Google Shape;3228;p136"/>
          <p:cNvCxnSpPr>
            <a:stCxn id="3224" idx="0"/>
            <a:endCxn id="3211" idx="6"/>
          </p:cNvCxnSpPr>
          <p:nvPr/>
        </p:nvCxnSpPr>
        <p:spPr>
          <a:xfrm rot="10800000">
            <a:off x="5279990" y="3804623"/>
            <a:ext cx="7884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9" name="Google Shape;3229;p136"/>
          <p:cNvCxnSpPr>
            <a:stCxn id="3224" idx="0"/>
            <a:endCxn id="3203" idx="4"/>
          </p:cNvCxnSpPr>
          <p:nvPr/>
        </p:nvCxnSpPr>
        <p:spPr>
          <a:xfrm rot="10800000">
            <a:off x="6068390" y="1963223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0" name="Google Shape;3230;p136"/>
          <p:cNvCxnSpPr>
            <a:stCxn id="3224" idx="0"/>
            <a:endCxn id="3202" idx="6"/>
          </p:cNvCxnSpPr>
          <p:nvPr/>
        </p:nvCxnSpPr>
        <p:spPr>
          <a:xfrm rot="10800000">
            <a:off x="5279990" y="2399423"/>
            <a:ext cx="7884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1" name="Google Shape;3231;p136"/>
          <p:cNvCxnSpPr>
            <a:stCxn id="3224" idx="0"/>
            <a:endCxn id="3205" idx="4"/>
          </p:cNvCxnSpPr>
          <p:nvPr/>
        </p:nvCxnSpPr>
        <p:spPr>
          <a:xfrm flipH="1" rot="10800000">
            <a:off x="6068390" y="1963223"/>
            <a:ext cx="11802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32" name="Google Shape;3232;p136"/>
          <p:cNvCxnSpPr>
            <a:stCxn id="3224" idx="0"/>
            <a:endCxn id="3223" idx="3"/>
          </p:cNvCxnSpPr>
          <p:nvPr/>
        </p:nvCxnSpPr>
        <p:spPr>
          <a:xfrm flipH="1" rot="10800000">
            <a:off x="6068390" y="2568623"/>
            <a:ext cx="18600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33" name="Google Shape;3233;p136"/>
          <p:cNvCxnSpPr>
            <a:stCxn id="3224" idx="0"/>
            <a:endCxn id="3207" idx="2"/>
          </p:cNvCxnSpPr>
          <p:nvPr/>
        </p:nvCxnSpPr>
        <p:spPr>
          <a:xfrm flipH="1" rot="10800000">
            <a:off x="6068390" y="3804623"/>
            <a:ext cx="17754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34" name="Google Shape;3234;p136"/>
          <p:cNvCxnSpPr>
            <a:stCxn id="3224" idx="0"/>
            <a:endCxn id="3210" idx="0"/>
          </p:cNvCxnSpPr>
          <p:nvPr/>
        </p:nvCxnSpPr>
        <p:spPr>
          <a:xfrm>
            <a:off x="6068390" y="4333823"/>
            <a:ext cx="1180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35" name="Google Shape;3235;p136"/>
          <p:cNvCxnSpPr>
            <a:stCxn id="3202" idx="6"/>
            <a:endCxn id="3223" idx="2"/>
          </p:cNvCxnSpPr>
          <p:nvPr/>
        </p:nvCxnSpPr>
        <p:spPr>
          <a:xfrm flipH="1" rot="10800000">
            <a:off x="5280000" y="2365660"/>
            <a:ext cx="2563800" cy="3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36" name="Google Shape;3236;p136"/>
          <p:cNvCxnSpPr>
            <a:stCxn id="3203" idx="5"/>
            <a:endCxn id="3223" idx="2"/>
          </p:cNvCxnSpPr>
          <p:nvPr/>
        </p:nvCxnSpPr>
        <p:spPr>
          <a:xfrm>
            <a:off x="6272046" y="1879123"/>
            <a:ext cx="1571700" cy="48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37" name="Google Shape;3237;p136"/>
          <p:cNvCxnSpPr>
            <a:stCxn id="3211" idx="6"/>
            <a:endCxn id="3223" idx="2"/>
          </p:cNvCxnSpPr>
          <p:nvPr/>
        </p:nvCxnSpPr>
        <p:spPr>
          <a:xfrm flipH="1" rot="10800000">
            <a:off x="5280008" y="2365829"/>
            <a:ext cx="2563800" cy="143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1" name="Shape 3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2" name="Google Shape;3242;p1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3243" name="Google Shape;3243;p137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Signed Graph in which every triple is balanced is called a </a:t>
            </a:r>
            <a:r>
              <a:rPr b="1" lang="en"/>
              <a:t>balanced signed graph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Balanced signed graphs have some interesting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 graph G is balanced: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Any subgraph of G is also balanced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All paths between the same pair of nodes have the same sign as the link between them!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b="1" lang="en">
                <a:solidFill>
                  <a:srgbClr val="FF0000"/>
                </a:solidFill>
              </a:rPr>
              <a:t>F and I have a negative connection</a:t>
            </a:r>
            <a:endParaRPr b="1"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4" name="Google Shape;3244;p137"/>
          <p:cNvSpPr/>
          <p:nvPr/>
        </p:nvSpPr>
        <p:spPr>
          <a:xfrm>
            <a:off x="4704000" y="2112760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245" name="Google Shape;3245;p137"/>
          <p:cNvSpPr/>
          <p:nvPr/>
        </p:nvSpPr>
        <p:spPr>
          <a:xfrm>
            <a:off x="5780399" y="1389525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246" name="Google Shape;3246;p137"/>
          <p:cNvCxnSpPr>
            <a:stCxn id="3244" idx="6"/>
            <a:endCxn id="3245" idx="2"/>
          </p:cNvCxnSpPr>
          <p:nvPr/>
        </p:nvCxnSpPr>
        <p:spPr>
          <a:xfrm flipH="1" rot="10800000">
            <a:off x="5280000" y="1676260"/>
            <a:ext cx="5004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47" name="Google Shape;3247;p137"/>
          <p:cNvSpPr/>
          <p:nvPr/>
        </p:nvSpPr>
        <p:spPr>
          <a:xfrm>
            <a:off x="6960440" y="13895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248" name="Google Shape;3248;p137"/>
          <p:cNvCxnSpPr>
            <a:stCxn id="3247" idx="2"/>
            <a:endCxn id="3245" idx="6"/>
          </p:cNvCxnSpPr>
          <p:nvPr/>
        </p:nvCxnSpPr>
        <p:spPr>
          <a:xfrm rot="10800000">
            <a:off x="6356540" y="1676323"/>
            <a:ext cx="603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249" name="Google Shape;3249;p137"/>
          <p:cNvSpPr/>
          <p:nvPr/>
        </p:nvSpPr>
        <p:spPr>
          <a:xfrm>
            <a:off x="7843901" y="3517836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250" name="Google Shape;3250;p137"/>
          <p:cNvCxnSpPr>
            <a:stCxn id="3249" idx="0"/>
            <a:endCxn id="3247" idx="4"/>
          </p:cNvCxnSpPr>
          <p:nvPr/>
        </p:nvCxnSpPr>
        <p:spPr>
          <a:xfrm rot="10800000">
            <a:off x="7248401" y="1963236"/>
            <a:ext cx="883500" cy="155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1" name="Google Shape;3251;p137"/>
          <p:cNvCxnSpPr>
            <a:stCxn id="3244" idx="6"/>
            <a:endCxn id="3249" idx="2"/>
          </p:cNvCxnSpPr>
          <p:nvPr/>
        </p:nvCxnSpPr>
        <p:spPr>
          <a:xfrm>
            <a:off x="5280000" y="2399560"/>
            <a:ext cx="256380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252" name="Google Shape;3252;p137"/>
          <p:cNvSpPr/>
          <p:nvPr/>
        </p:nvSpPr>
        <p:spPr>
          <a:xfrm>
            <a:off x="6960448" y="4333831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253" name="Google Shape;3253;p137"/>
          <p:cNvSpPr/>
          <p:nvPr/>
        </p:nvSpPr>
        <p:spPr>
          <a:xfrm>
            <a:off x="4704008" y="3517829"/>
            <a:ext cx="576000" cy="5736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254" name="Google Shape;3254;p137"/>
          <p:cNvCxnSpPr>
            <a:stCxn id="3244" idx="6"/>
            <a:endCxn id="3253" idx="6"/>
          </p:cNvCxnSpPr>
          <p:nvPr/>
        </p:nvCxnSpPr>
        <p:spPr>
          <a:xfrm>
            <a:off x="5280000" y="2399560"/>
            <a:ext cx="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5" name="Google Shape;3255;p137"/>
          <p:cNvCxnSpPr>
            <a:stCxn id="3253" idx="6"/>
            <a:endCxn id="3252" idx="0"/>
          </p:cNvCxnSpPr>
          <p:nvPr/>
        </p:nvCxnSpPr>
        <p:spPr>
          <a:xfrm>
            <a:off x="5280008" y="3804629"/>
            <a:ext cx="19683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56" name="Google Shape;3256;p137"/>
          <p:cNvCxnSpPr>
            <a:stCxn id="3252" idx="0"/>
            <a:endCxn id="3249" idx="2"/>
          </p:cNvCxnSpPr>
          <p:nvPr/>
        </p:nvCxnSpPr>
        <p:spPr>
          <a:xfrm flipH="1" rot="10800000">
            <a:off x="7248448" y="3804631"/>
            <a:ext cx="5955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7" name="Google Shape;3257;p137"/>
          <p:cNvCxnSpPr>
            <a:stCxn id="3253" idx="6"/>
            <a:endCxn id="3245" idx="2"/>
          </p:cNvCxnSpPr>
          <p:nvPr/>
        </p:nvCxnSpPr>
        <p:spPr>
          <a:xfrm flipH="1" rot="10800000">
            <a:off x="5280008" y="1676429"/>
            <a:ext cx="5004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8" name="Google Shape;3258;p137"/>
          <p:cNvCxnSpPr>
            <a:stCxn id="3249" idx="2"/>
            <a:endCxn id="3245" idx="5"/>
          </p:cNvCxnSpPr>
          <p:nvPr/>
        </p:nvCxnSpPr>
        <p:spPr>
          <a:xfrm rot="10800000">
            <a:off x="6271901" y="1879236"/>
            <a:ext cx="1572000" cy="192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59" name="Google Shape;3259;p137"/>
          <p:cNvCxnSpPr>
            <a:stCxn id="3253" idx="6"/>
            <a:endCxn id="3249" idx="2"/>
          </p:cNvCxnSpPr>
          <p:nvPr/>
        </p:nvCxnSpPr>
        <p:spPr>
          <a:xfrm>
            <a:off x="5280008" y="3804629"/>
            <a:ext cx="2563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60" name="Google Shape;3260;p137"/>
          <p:cNvCxnSpPr>
            <a:stCxn id="3244" idx="6"/>
            <a:endCxn id="3247" idx="2"/>
          </p:cNvCxnSpPr>
          <p:nvPr/>
        </p:nvCxnSpPr>
        <p:spPr>
          <a:xfrm flipH="1" rot="10800000">
            <a:off x="5280000" y="1676260"/>
            <a:ext cx="16803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61" name="Google Shape;3261;p137"/>
          <p:cNvCxnSpPr>
            <a:stCxn id="3252" idx="0"/>
            <a:endCxn id="3247" idx="4"/>
          </p:cNvCxnSpPr>
          <p:nvPr/>
        </p:nvCxnSpPr>
        <p:spPr>
          <a:xfrm rot="10800000">
            <a:off x="7248448" y="1963231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2" name="Google Shape;3262;p137"/>
          <p:cNvCxnSpPr>
            <a:stCxn id="3244" idx="6"/>
            <a:endCxn id="3252" idx="0"/>
          </p:cNvCxnSpPr>
          <p:nvPr/>
        </p:nvCxnSpPr>
        <p:spPr>
          <a:xfrm>
            <a:off x="5280000" y="2399560"/>
            <a:ext cx="19683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63" name="Google Shape;3263;p137"/>
          <p:cNvCxnSpPr>
            <a:stCxn id="3252" idx="0"/>
            <a:endCxn id="3245" idx="4"/>
          </p:cNvCxnSpPr>
          <p:nvPr/>
        </p:nvCxnSpPr>
        <p:spPr>
          <a:xfrm rot="10800000">
            <a:off x="6068548" y="1963231"/>
            <a:ext cx="11799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64" name="Google Shape;3264;p137"/>
          <p:cNvCxnSpPr>
            <a:stCxn id="3253" idx="6"/>
            <a:endCxn id="3247" idx="2"/>
          </p:cNvCxnSpPr>
          <p:nvPr/>
        </p:nvCxnSpPr>
        <p:spPr>
          <a:xfrm flipH="1" rot="10800000">
            <a:off x="5280008" y="1676429"/>
            <a:ext cx="16803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265" name="Google Shape;3265;p137"/>
          <p:cNvSpPr/>
          <p:nvPr/>
        </p:nvSpPr>
        <p:spPr>
          <a:xfrm>
            <a:off x="7843890" y="2078948"/>
            <a:ext cx="576000" cy="5736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I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266" name="Google Shape;3266;p137"/>
          <p:cNvSpPr/>
          <p:nvPr/>
        </p:nvSpPr>
        <p:spPr>
          <a:xfrm>
            <a:off x="5780390" y="43338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H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267" name="Google Shape;3267;p137"/>
          <p:cNvCxnSpPr>
            <a:stCxn id="3265" idx="1"/>
            <a:endCxn id="3247" idx="5"/>
          </p:cNvCxnSpPr>
          <p:nvPr/>
        </p:nvCxnSpPr>
        <p:spPr>
          <a:xfrm rot="10800000">
            <a:off x="7452143" y="1879150"/>
            <a:ext cx="476100" cy="283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8" name="Google Shape;3268;p137"/>
          <p:cNvCxnSpPr>
            <a:stCxn id="3249" idx="0"/>
            <a:endCxn id="3265" idx="4"/>
          </p:cNvCxnSpPr>
          <p:nvPr/>
        </p:nvCxnSpPr>
        <p:spPr>
          <a:xfrm rot="10800000">
            <a:off x="8131901" y="2652636"/>
            <a:ext cx="0" cy="8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9" name="Google Shape;3269;p137"/>
          <p:cNvCxnSpPr>
            <a:stCxn id="3252" idx="0"/>
            <a:endCxn id="3265" idx="3"/>
          </p:cNvCxnSpPr>
          <p:nvPr/>
        </p:nvCxnSpPr>
        <p:spPr>
          <a:xfrm flipH="1" rot="10800000">
            <a:off x="7248448" y="2568631"/>
            <a:ext cx="6798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0" name="Google Shape;3270;p137"/>
          <p:cNvCxnSpPr>
            <a:stCxn id="3266" idx="0"/>
            <a:endCxn id="3253" idx="6"/>
          </p:cNvCxnSpPr>
          <p:nvPr/>
        </p:nvCxnSpPr>
        <p:spPr>
          <a:xfrm rot="10800000">
            <a:off x="5279990" y="3804623"/>
            <a:ext cx="7884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1" name="Google Shape;3271;p137"/>
          <p:cNvCxnSpPr>
            <a:stCxn id="3266" idx="0"/>
            <a:endCxn id="3245" idx="4"/>
          </p:cNvCxnSpPr>
          <p:nvPr/>
        </p:nvCxnSpPr>
        <p:spPr>
          <a:xfrm rot="10800000">
            <a:off x="6068390" y="1963223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2" name="Google Shape;3272;p137"/>
          <p:cNvCxnSpPr>
            <a:stCxn id="3266" idx="0"/>
            <a:endCxn id="3244" idx="6"/>
          </p:cNvCxnSpPr>
          <p:nvPr/>
        </p:nvCxnSpPr>
        <p:spPr>
          <a:xfrm rot="10800000">
            <a:off x="5279990" y="2399423"/>
            <a:ext cx="7884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3" name="Google Shape;3273;p137"/>
          <p:cNvCxnSpPr>
            <a:stCxn id="3266" idx="0"/>
            <a:endCxn id="3247" idx="4"/>
          </p:cNvCxnSpPr>
          <p:nvPr/>
        </p:nvCxnSpPr>
        <p:spPr>
          <a:xfrm flipH="1" rot="10800000">
            <a:off x="6068390" y="1963223"/>
            <a:ext cx="11802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74" name="Google Shape;3274;p137"/>
          <p:cNvCxnSpPr>
            <a:stCxn id="3266" idx="0"/>
            <a:endCxn id="3265" idx="3"/>
          </p:cNvCxnSpPr>
          <p:nvPr/>
        </p:nvCxnSpPr>
        <p:spPr>
          <a:xfrm flipH="1" rot="10800000">
            <a:off x="6068390" y="2568623"/>
            <a:ext cx="18600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75" name="Google Shape;3275;p137"/>
          <p:cNvCxnSpPr>
            <a:stCxn id="3266" idx="0"/>
            <a:endCxn id="3249" idx="2"/>
          </p:cNvCxnSpPr>
          <p:nvPr/>
        </p:nvCxnSpPr>
        <p:spPr>
          <a:xfrm flipH="1" rot="10800000">
            <a:off x="6068390" y="3804623"/>
            <a:ext cx="17754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76" name="Google Shape;3276;p137"/>
          <p:cNvCxnSpPr>
            <a:stCxn id="3266" idx="0"/>
            <a:endCxn id="3252" idx="0"/>
          </p:cNvCxnSpPr>
          <p:nvPr/>
        </p:nvCxnSpPr>
        <p:spPr>
          <a:xfrm>
            <a:off x="6068390" y="4333823"/>
            <a:ext cx="1180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77" name="Google Shape;3277;p137"/>
          <p:cNvCxnSpPr>
            <a:stCxn id="3244" idx="6"/>
            <a:endCxn id="3265" idx="2"/>
          </p:cNvCxnSpPr>
          <p:nvPr/>
        </p:nvCxnSpPr>
        <p:spPr>
          <a:xfrm flipH="1" rot="10800000">
            <a:off x="5280000" y="2365660"/>
            <a:ext cx="2563800" cy="3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78" name="Google Shape;3278;p137"/>
          <p:cNvCxnSpPr>
            <a:stCxn id="3245" idx="5"/>
            <a:endCxn id="3265" idx="2"/>
          </p:cNvCxnSpPr>
          <p:nvPr/>
        </p:nvCxnSpPr>
        <p:spPr>
          <a:xfrm>
            <a:off x="6272046" y="1879123"/>
            <a:ext cx="1571700" cy="48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79" name="Google Shape;3279;p137"/>
          <p:cNvCxnSpPr>
            <a:stCxn id="3253" idx="6"/>
            <a:endCxn id="3265" idx="2"/>
          </p:cNvCxnSpPr>
          <p:nvPr/>
        </p:nvCxnSpPr>
        <p:spPr>
          <a:xfrm flipH="1" rot="10800000">
            <a:off x="5280008" y="2365829"/>
            <a:ext cx="2563800" cy="1438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3" name="Shape 3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4" name="Google Shape;3284;p1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3285" name="Google Shape;3285;p138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Signed Graph in which every triple is balanced is called a </a:t>
            </a:r>
            <a:r>
              <a:rPr b="1" lang="en"/>
              <a:t>balanced signed graph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Balanced signed graphs have some interesting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 graph G is balanced: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Any subgraph of G is also balanced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All paths between the same pair of nodes have the same sign as the link between them!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b="1" lang="en">
                <a:solidFill>
                  <a:srgbClr val="FF0000"/>
                </a:solidFill>
              </a:rPr>
              <a:t>All paths connecting F and I are negative!</a:t>
            </a:r>
            <a:endParaRPr b="1">
              <a:solidFill>
                <a:srgbClr val="FF0000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6" name="Google Shape;3286;p138"/>
          <p:cNvSpPr/>
          <p:nvPr/>
        </p:nvSpPr>
        <p:spPr>
          <a:xfrm>
            <a:off x="4704000" y="2112760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287" name="Google Shape;3287;p138"/>
          <p:cNvSpPr/>
          <p:nvPr/>
        </p:nvSpPr>
        <p:spPr>
          <a:xfrm>
            <a:off x="5780399" y="1389525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288" name="Google Shape;3288;p138"/>
          <p:cNvCxnSpPr>
            <a:stCxn id="3286" idx="6"/>
            <a:endCxn id="3287" idx="2"/>
          </p:cNvCxnSpPr>
          <p:nvPr/>
        </p:nvCxnSpPr>
        <p:spPr>
          <a:xfrm flipH="1" rot="10800000">
            <a:off x="5280000" y="1676260"/>
            <a:ext cx="500400" cy="723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89" name="Google Shape;3289;p138"/>
          <p:cNvSpPr/>
          <p:nvPr/>
        </p:nvSpPr>
        <p:spPr>
          <a:xfrm>
            <a:off x="6960440" y="13895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290" name="Google Shape;3290;p138"/>
          <p:cNvCxnSpPr>
            <a:stCxn id="3289" idx="2"/>
            <a:endCxn id="3287" idx="6"/>
          </p:cNvCxnSpPr>
          <p:nvPr/>
        </p:nvCxnSpPr>
        <p:spPr>
          <a:xfrm rot="10800000">
            <a:off x="6356540" y="1676323"/>
            <a:ext cx="6039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291" name="Google Shape;3291;p138"/>
          <p:cNvSpPr/>
          <p:nvPr/>
        </p:nvSpPr>
        <p:spPr>
          <a:xfrm>
            <a:off x="7843901" y="3517836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292" name="Google Shape;3292;p138"/>
          <p:cNvCxnSpPr>
            <a:stCxn id="3291" idx="0"/>
            <a:endCxn id="3289" idx="4"/>
          </p:cNvCxnSpPr>
          <p:nvPr/>
        </p:nvCxnSpPr>
        <p:spPr>
          <a:xfrm rot="10800000">
            <a:off x="7248401" y="1963236"/>
            <a:ext cx="883500" cy="155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3" name="Google Shape;3293;p138"/>
          <p:cNvCxnSpPr>
            <a:stCxn id="3286" idx="6"/>
            <a:endCxn id="3291" idx="2"/>
          </p:cNvCxnSpPr>
          <p:nvPr/>
        </p:nvCxnSpPr>
        <p:spPr>
          <a:xfrm>
            <a:off x="5280000" y="2399560"/>
            <a:ext cx="256380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294" name="Google Shape;3294;p138"/>
          <p:cNvSpPr/>
          <p:nvPr/>
        </p:nvSpPr>
        <p:spPr>
          <a:xfrm>
            <a:off x="6960448" y="4333831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295" name="Google Shape;3295;p138"/>
          <p:cNvSpPr/>
          <p:nvPr/>
        </p:nvSpPr>
        <p:spPr>
          <a:xfrm>
            <a:off x="4704008" y="3517829"/>
            <a:ext cx="576000" cy="5736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296" name="Google Shape;3296;p138"/>
          <p:cNvCxnSpPr>
            <a:stCxn id="3286" idx="6"/>
            <a:endCxn id="3295" idx="6"/>
          </p:cNvCxnSpPr>
          <p:nvPr/>
        </p:nvCxnSpPr>
        <p:spPr>
          <a:xfrm>
            <a:off x="5280000" y="2399560"/>
            <a:ext cx="0" cy="1405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7" name="Google Shape;3297;p138"/>
          <p:cNvCxnSpPr>
            <a:stCxn id="3295" idx="6"/>
            <a:endCxn id="3294" idx="0"/>
          </p:cNvCxnSpPr>
          <p:nvPr/>
        </p:nvCxnSpPr>
        <p:spPr>
          <a:xfrm>
            <a:off x="5280008" y="3804629"/>
            <a:ext cx="19683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98" name="Google Shape;3298;p138"/>
          <p:cNvCxnSpPr>
            <a:stCxn id="3294" idx="0"/>
            <a:endCxn id="3291" idx="2"/>
          </p:cNvCxnSpPr>
          <p:nvPr/>
        </p:nvCxnSpPr>
        <p:spPr>
          <a:xfrm flipH="1" rot="10800000">
            <a:off x="7248448" y="3804631"/>
            <a:ext cx="5955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9" name="Google Shape;3299;p138"/>
          <p:cNvCxnSpPr>
            <a:stCxn id="3295" idx="6"/>
            <a:endCxn id="3287" idx="2"/>
          </p:cNvCxnSpPr>
          <p:nvPr/>
        </p:nvCxnSpPr>
        <p:spPr>
          <a:xfrm flipH="1" rot="10800000">
            <a:off x="5280008" y="1676429"/>
            <a:ext cx="5004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0" name="Google Shape;3300;p138"/>
          <p:cNvCxnSpPr>
            <a:stCxn id="3291" idx="2"/>
            <a:endCxn id="3287" idx="5"/>
          </p:cNvCxnSpPr>
          <p:nvPr/>
        </p:nvCxnSpPr>
        <p:spPr>
          <a:xfrm rot="10800000">
            <a:off x="6271901" y="1879236"/>
            <a:ext cx="1572000" cy="192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01" name="Google Shape;3301;p138"/>
          <p:cNvCxnSpPr>
            <a:stCxn id="3295" idx="6"/>
            <a:endCxn id="3291" idx="2"/>
          </p:cNvCxnSpPr>
          <p:nvPr/>
        </p:nvCxnSpPr>
        <p:spPr>
          <a:xfrm>
            <a:off x="5280008" y="3804629"/>
            <a:ext cx="2563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02" name="Google Shape;3302;p138"/>
          <p:cNvCxnSpPr>
            <a:stCxn id="3286" idx="6"/>
            <a:endCxn id="3289" idx="2"/>
          </p:cNvCxnSpPr>
          <p:nvPr/>
        </p:nvCxnSpPr>
        <p:spPr>
          <a:xfrm flipH="1" rot="10800000">
            <a:off x="5280000" y="1676260"/>
            <a:ext cx="16803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03" name="Google Shape;3303;p138"/>
          <p:cNvCxnSpPr>
            <a:stCxn id="3294" idx="0"/>
            <a:endCxn id="3289" idx="4"/>
          </p:cNvCxnSpPr>
          <p:nvPr/>
        </p:nvCxnSpPr>
        <p:spPr>
          <a:xfrm rot="10800000">
            <a:off x="7248448" y="1963231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4" name="Google Shape;3304;p138"/>
          <p:cNvCxnSpPr>
            <a:stCxn id="3286" idx="6"/>
            <a:endCxn id="3294" idx="0"/>
          </p:cNvCxnSpPr>
          <p:nvPr/>
        </p:nvCxnSpPr>
        <p:spPr>
          <a:xfrm>
            <a:off x="5280000" y="2399560"/>
            <a:ext cx="19683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05" name="Google Shape;3305;p138"/>
          <p:cNvCxnSpPr>
            <a:stCxn id="3294" idx="0"/>
            <a:endCxn id="3287" idx="4"/>
          </p:cNvCxnSpPr>
          <p:nvPr/>
        </p:nvCxnSpPr>
        <p:spPr>
          <a:xfrm rot="10800000">
            <a:off x="6068548" y="1963231"/>
            <a:ext cx="11799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06" name="Google Shape;3306;p138"/>
          <p:cNvCxnSpPr>
            <a:stCxn id="3295" idx="6"/>
            <a:endCxn id="3289" idx="2"/>
          </p:cNvCxnSpPr>
          <p:nvPr/>
        </p:nvCxnSpPr>
        <p:spPr>
          <a:xfrm flipH="1" rot="10800000">
            <a:off x="5280008" y="1676429"/>
            <a:ext cx="16803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307" name="Google Shape;3307;p138"/>
          <p:cNvSpPr/>
          <p:nvPr/>
        </p:nvSpPr>
        <p:spPr>
          <a:xfrm>
            <a:off x="7843890" y="2078948"/>
            <a:ext cx="576000" cy="5736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I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308" name="Google Shape;3308;p138"/>
          <p:cNvSpPr/>
          <p:nvPr/>
        </p:nvSpPr>
        <p:spPr>
          <a:xfrm>
            <a:off x="5780390" y="43338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H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309" name="Google Shape;3309;p138"/>
          <p:cNvCxnSpPr>
            <a:stCxn id="3307" idx="1"/>
            <a:endCxn id="3289" idx="5"/>
          </p:cNvCxnSpPr>
          <p:nvPr/>
        </p:nvCxnSpPr>
        <p:spPr>
          <a:xfrm rot="10800000">
            <a:off x="7452143" y="1879150"/>
            <a:ext cx="476100" cy="283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0" name="Google Shape;3310;p138"/>
          <p:cNvCxnSpPr>
            <a:stCxn id="3291" idx="0"/>
            <a:endCxn id="3307" idx="4"/>
          </p:cNvCxnSpPr>
          <p:nvPr/>
        </p:nvCxnSpPr>
        <p:spPr>
          <a:xfrm rot="10800000">
            <a:off x="8131901" y="2652636"/>
            <a:ext cx="0" cy="8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1" name="Google Shape;3311;p138"/>
          <p:cNvCxnSpPr>
            <a:stCxn id="3294" idx="0"/>
            <a:endCxn id="3307" idx="3"/>
          </p:cNvCxnSpPr>
          <p:nvPr/>
        </p:nvCxnSpPr>
        <p:spPr>
          <a:xfrm flipH="1" rot="10800000">
            <a:off x="7248448" y="2568631"/>
            <a:ext cx="6798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2" name="Google Shape;3312;p138"/>
          <p:cNvCxnSpPr>
            <a:stCxn id="3308" idx="0"/>
            <a:endCxn id="3295" idx="6"/>
          </p:cNvCxnSpPr>
          <p:nvPr/>
        </p:nvCxnSpPr>
        <p:spPr>
          <a:xfrm rot="10800000">
            <a:off x="5279990" y="3804623"/>
            <a:ext cx="7884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3" name="Google Shape;3313;p138"/>
          <p:cNvCxnSpPr>
            <a:stCxn id="3308" idx="0"/>
            <a:endCxn id="3287" idx="4"/>
          </p:cNvCxnSpPr>
          <p:nvPr/>
        </p:nvCxnSpPr>
        <p:spPr>
          <a:xfrm rot="10800000">
            <a:off x="6068390" y="1963223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4" name="Google Shape;3314;p138"/>
          <p:cNvCxnSpPr>
            <a:stCxn id="3308" idx="0"/>
            <a:endCxn id="3286" idx="6"/>
          </p:cNvCxnSpPr>
          <p:nvPr/>
        </p:nvCxnSpPr>
        <p:spPr>
          <a:xfrm rot="10800000">
            <a:off x="5279990" y="2399423"/>
            <a:ext cx="7884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5" name="Google Shape;3315;p138"/>
          <p:cNvCxnSpPr>
            <a:stCxn id="3308" idx="0"/>
            <a:endCxn id="3289" idx="4"/>
          </p:cNvCxnSpPr>
          <p:nvPr/>
        </p:nvCxnSpPr>
        <p:spPr>
          <a:xfrm flipH="1" rot="10800000">
            <a:off x="6068390" y="1963223"/>
            <a:ext cx="11802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16" name="Google Shape;3316;p138"/>
          <p:cNvCxnSpPr>
            <a:stCxn id="3308" idx="0"/>
            <a:endCxn id="3307" idx="3"/>
          </p:cNvCxnSpPr>
          <p:nvPr/>
        </p:nvCxnSpPr>
        <p:spPr>
          <a:xfrm flipH="1" rot="10800000">
            <a:off x="6068390" y="2568623"/>
            <a:ext cx="18600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17" name="Google Shape;3317;p138"/>
          <p:cNvCxnSpPr>
            <a:stCxn id="3308" idx="0"/>
            <a:endCxn id="3291" idx="2"/>
          </p:cNvCxnSpPr>
          <p:nvPr/>
        </p:nvCxnSpPr>
        <p:spPr>
          <a:xfrm flipH="1" rot="10800000">
            <a:off x="6068390" y="3804623"/>
            <a:ext cx="17754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18" name="Google Shape;3318;p138"/>
          <p:cNvCxnSpPr>
            <a:stCxn id="3308" idx="0"/>
            <a:endCxn id="3294" idx="0"/>
          </p:cNvCxnSpPr>
          <p:nvPr/>
        </p:nvCxnSpPr>
        <p:spPr>
          <a:xfrm>
            <a:off x="6068390" y="4333823"/>
            <a:ext cx="1180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19" name="Google Shape;3319;p138"/>
          <p:cNvCxnSpPr>
            <a:stCxn id="3286" idx="6"/>
            <a:endCxn id="3307" idx="2"/>
          </p:cNvCxnSpPr>
          <p:nvPr/>
        </p:nvCxnSpPr>
        <p:spPr>
          <a:xfrm flipH="1" rot="10800000">
            <a:off x="5280000" y="2365660"/>
            <a:ext cx="2563800" cy="3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20" name="Google Shape;3320;p138"/>
          <p:cNvCxnSpPr>
            <a:stCxn id="3287" idx="5"/>
            <a:endCxn id="3307" idx="2"/>
          </p:cNvCxnSpPr>
          <p:nvPr/>
        </p:nvCxnSpPr>
        <p:spPr>
          <a:xfrm>
            <a:off x="6272046" y="1879123"/>
            <a:ext cx="1571700" cy="48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21" name="Google Shape;3321;p138"/>
          <p:cNvCxnSpPr>
            <a:stCxn id="3295" idx="6"/>
            <a:endCxn id="3307" idx="2"/>
          </p:cNvCxnSpPr>
          <p:nvPr/>
        </p:nvCxnSpPr>
        <p:spPr>
          <a:xfrm flipH="1" rot="10800000">
            <a:off x="5280008" y="2365829"/>
            <a:ext cx="2563800" cy="143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322" name="Google Shape;3322;p138"/>
          <p:cNvSpPr/>
          <p:nvPr/>
        </p:nvSpPr>
        <p:spPr>
          <a:xfrm>
            <a:off x="6662275" y="916125"/>
            <a:ext cx="2481600" cy="4866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1 * 1 * -1 * 1 = -1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6" name="Shape 3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7" name="Google Shape;3327;p1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3328" name="Google Shape;3328;p139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Signed Graph in which every triple is balanced is called a </a:t>
            </a:r>
            <a:r>
              <a:rPr b="1" lang="en"/>
              <a:t>balanced signed graph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Balanced signed graphs have some interesting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 graph G is balanced: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Any subgraph of G is also balanced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All paths between the same pair of nodes have the same sign as the link between them!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b="1" lang="en">
                <a:solidFill>
                  <a:srgbClr val="FF0000"/>
                </a:solidFill>
              </a:rPr>
              <a:t>All paths connecting F and I are negative!</a:t>
            </a:r>
            <a:endParaRPr b="1">
              <a:solidFill>
                <a:srgbClr val="FF0000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9" name="Google Shape;3329;p139"/>
          <p:cNvSpPr/>
          <p:nvPr/>
        </p:nvSpPr>
        <p:spPr>
          <a:xfrm>
            <a:off x="4704000" y="2112760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330" name="Google Shape;3330;p139"/>
          <p:cNvSpPr/>
          <p:nvPr/>
        </p:nvSpPr>
        <p:spPr>
          <a:xfrm>
            <a:off x="5780399" y="1389525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331" name="Google Shape;3331;p139"/>
          <p:cNvCxnSpPr>
            <a:stCxn id="3329" idx="6"/>
            <a:endCxn id="3330" idx="2"/>
          </p:cNvCxnSpPr>
          <p:nvPr/>
        </p:nvCxnSpPr>
        <p:spPr>
          <a:xfrm flipH="1" rot="10800000">
            <a:off x="5280000" y="1676260"/>
            <a:ext cx="5004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32" name="Google Shape;3332;p139"/>
          <p:cNvSpPr/>
          <p:nvPr/>
        </p:nvSpPr>
        <p:spPr>
          <a:xfrm>
            <a:off x="6960440" y="13895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333" name="Google Shape;3333;p139"/>
          <p:cNvCxnSpPr>
            <a:stCxn id="3332" idx="2"/>
            <a:endCxn id="3330" idx="6"/>
          </p:cNvCxnSpPr>
          <p:nvPr/>
        </p:nvCxnSpPr>
        <p:spPr>
          <a:xfrm rot="10800000">
            <a:off x="6356540" y="1676323"/>
            <a:ext cx="603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334" name="Google Shape;3334;p139"/>
          <p:cNvSpPr/>
          <p:nvPr/>
        </p:nvSpPr>
        <p:spPr>
          <a:xfrm>
            <a:off x="7843901" y="3517836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335" name="Google Shape;3335;p139"/>
          <p:cNvCxnSpPr>
            <a:stCxn id="3334" idx="0"/>
            <a:endCxn id="3332" idx="4"/>
          </p:cNvCxnSpPr>
          <p:nvPr/>
        </p:nvCxnSpPr>
        <p:spPr>
          <a:xfrm rot="10800000">
            <a:off x="7248401" y="1963236"/>
            <a:ext cx="883500" cy="1554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6" name="Google Shape;3336;p139"/>
          <p:cNvCxnSpPr>
            <a:stCxn id="3329" idx="6"/>
            <a:endCxn id="3334" idx="2"/>
          </p:cNvCxnSpPr>
          <p:nvPr/>
        </p:nvCxnSpPr>
        <p:spPr>
          <a:xfrm>
            <a:off x="5280000" y="2399560"/>
            <a:ext cx="256380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337" name="Google Shape;3337;p139"/>
          <p:cNvSpPr/>
          <p:nvPr/>
        </p:nvSpPr>
        <p:spPr>
          <a:xfrm>
            <a:off x="6960448" y="4333831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338" name="Google Shape;3338;p139"/>
          <p:cNvSpPr/>
          <p:nvPr/>
        </p:nvSpPr>
        <p:spPr>
          <a:xfrm>
            <a:off x="4704008" y="3517829"/>
            <a:ext cx="576000" cy="5736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339" name="Google Shape;3339;p139"/>
          <p:cNvCxnSpPr>
            <a:stCxn id="3329" idx="6"/>
            <a:endCxn id="3338" idx="6"/>
          </p:cNvCxnSpPr>
          <p:nvPr/>
        </p:nvCxnSpPr>
        <p:spPr>
          <a:xfrm>
            <a:off x="5280000" y="2399560"/>
            <a:ext cx="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0" name="Google Shape;3340;p139"/>
          <p:cNvCxnSpPr>
            <a:stCxn id="3338" idx="6"/>
            <a:endCxn id="3337" idx="0"/>
          </p:cNvCxnSpPr>
          <p:nvPr/>
        </p:nvCxnSpPr>
        <p:spPr>
          <a:xfrm>
            <a:off x="5280008" y="3804629"/>
            <a:ext cx="19683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41" name="Google Shape;3341;p139"/>
          <p:cNvCxnSpPr>
            <a:stCxn id="3337" idx="0"/>
            <a:endCxn id="3334" idx="2"/>
          </p:cNvCxnSpPr>
          <p:nvPr/>
        </p:nvCxnSpPr>
        <p:spPr>
          <a:xfrm flipH="1" rot="10800000">
            <a:off x="7248448" y="3804631"/>
            <a:ext cx="5955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2" name="Google Shape;3342;p139"/>
          <p:cNvCxnSpPr>
            <a:stCxn id="3338" idx="6"/>
            <a:endCxn id="3330" idx="2"/>
          </p:cNvCxnSpPr>
          <p:nvPr/>
        </p:nvCxnSpPr>
        <p:spPr>
          <a:xfrm flipH="1" rot="10800000">
            <a:off x="5280008" y="1676429"/>
            <a:ext cx="5004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3" name="Google Shape;3343;p139"/>
          <p:cNvCxnSpPr>
            <a:stCxn id="3334" idx="2"/>
            <a:endCxn id="3330" idx="5"/>
          </p:cNvCxnSpPr>
          <p:nvPr/>
        </p:nvCxnSpPr>
        <p:spPr>
          <a:xfrm rot="10800000">
            <a:off x="6271901" y="1879236"/>
            <a:ext cx="1572000" cy="192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44" name="Google Shape;3344;p139"/>
          <p:cNvCxnSpPr>
            <a:stCxn id="3338" idx="6"/>
            <a:endCxn id="3334" idx="2"/>
          </p:cNvCxnSpPr>
          <p:nvPr/>
        </p:nvCxnSpPr>
        <p:spPr>
          <a:xfrm>
            <a:off x="5280008" y="3804629"/>
            <a:ext cx="2563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45" name="Google Shape;3345;p139"/>
          <p:cNvCxnSpPr>
            <a:stCxn id="3329" idx="6"/>
            <a:endCxn id="3332" idx="2"/>
          </p:cNvCxnSpPr>
          <p:nvPr/>
        </p:nvCxnSpPr>
        <p:spPr>
          <a:xfrm flipH="1" rot="10800000">
            <a:off x="5280000" y="1676260"/>
            <a:ext cx="16803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46" name="Google Shape;3346;p139"/>
          <p:cNvCxnSpPr>
            <a:stCxn id="3337" idx="0"/>
            <a:endCxn id="3332" idx="4"/>
          </p:cNvCxnSpPr>
          <p:nvPr/>
        </p:nvCxnSpPr>
        <p:spPr>
          <a:xfrm rot="10800000">
            <a:off x="7248448" y="1963231"/>
            <a:ext cx="0" cy="2370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7" name="Google Shape;3347;p139"/>
          <p:cNvCxnSpPr>
            <a:stCxn id="3329" idx="6"/>
            <a:endCxn id="3337" idx="0"/>
          </p:cNvCxnSpPr>
          <p:nvPr/>
        </p:nvCxnSpPr>
        <p:spPr>
          <a:xfrm>
            <a:off x="5280000" y="2399560"/>
            <a:ext cx="19683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48" name="Google Shape;3348;p139"/>
          <p:cNvCxnSpPr>
            <a:stCxn id="3337" idx="0"/>
            <a:endCxn id="3330" idx="4"/>
          </p:cNvCxnSpPr>
          <p:nvPr/>
        </p:nvCxnSpPr>
        <p:spPr>
          <a:xfrm rot="10800000">
            <a:off x="6068548" y="1963231"/>
            <a:ext cx="11799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49" name="Google Shape;3349;p139"/>
          <p:cNvCxnSpPr>
            <a:stCxn id="3338" idx="6"/>
            <a:endCxn id="3332" idx="2"/>
          </p:cNvCxnSpPr>
          <p:nvPr/>
        </p:nvCxnSpPr>
        <p:spPr>
          <a:xfrm flipH="1" rot="10800000">
            <a:off x="5280008" y="1676429"/>
            <a:ext cx="16803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350" name="Google Shape;3350;p139"/>
          <p:cNvSpPr/>
          <p:nvPr/>
        </p:nvSpPr>
        <p:spPr>
          <a:xfrm>
            <a:off x="7843890" y="2078948"/>
            <a:ext cx="576000" cy="5736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I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351" name="Google Shape;3351;p139"/>
          <p:cNvSpPr/>
          <p:nvPr/>
        </p:nvSpPr>
        <p:spPr>
          <a:xfrm>
            <a:off x="5780390" y="43338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H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352" name="Google Shape;3352;p139"/>
          <p:cNvCxnSpPr>
            <a:stCxn id="3350" idx="1"/>
            <a:endCxn id="3332" idx="5"/>
          </p:cNvCxnSpPr>
          <p:nvPr/>
        </p:nvCxnSpPr>
        <p:spPr>
          <a:xfrm rot="10800000">
            <a:off x="7452143" y="1879150"/>
            <a:ext cx="476100" cy="283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3" name="Google Shape;3353;p139"/>
          <p:cNvCxnSpPr>
            <a:stCxn id="3334" idx="0"/>
            <a:endCxn id="3350" idx="4"/>
          </p:cNvCxnSpPr>
          <p:nvPr/>
        </p:nvCxnSpPr>
        <p:spPr>
          <a:xfrm rot="10800000">
            <a:off x="8131901" y="2652636"/>
            <a:ext cx="0" cy="865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4" name="Google Shape;3354;p139"/>
          <p:cNvCxnSpPr>
            <a:stCxn id="3337" idx="0"/>
            <a:endCxn id="3350" idx="3"/>
          </p:cNvCxnSpPr>
          <p:nvPr/>
        </p:nvCxnSpPr>
        <p:spPr>
          <a:xfrm flipH="1" rot="10800000">
            <a:off x="7248448" y="2568631"/>
            <a:ext cx="6798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5" name="Google Shape;3355;p139"/>
          <p:cNvCxnSpPr>
            <a:stCxn id="3351" idx="0"/>
            <a:endCxn id="3338" idx="6"/>
          </p:cNvCxnSpPr>
          <p:nvPr/>
        </p:nvCxnSpPr>
        <p:spPr>
          <a:xfrm rot="10800000">
            <a:off x="5279990" y="3804623"/>
            <a:ext cx="788400" cy="529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6" name="Google Shape;3356;p139"/>
          <p:cNvCxnSpPr>
            <a:stCxn id="3351" idx="0"/>
            <a:endCxn id="3330" idx="4"/>
          </p:cNvCxnSpPr>
          <p:nvPr/>
        </p:nvCxnSpPr>
        <p:spPr>
          <a:xfrm rot="10800000">
            <a:off x="6068390" y="1963223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7" name="Google Shape;3357;p139"/>
          <p:cNvCxnSpPr>
            <a:stCxn id="3351" idx="0"/>
            <a:endCxn id="3329" idx="6"/>
          </p:cNvCxnSpPr>
          <p:nvPr/>
        </p:nvCxnSpPr>
        <p:spPr>
          <a:xfrm rot="10800000">
            <a:off x="5279990" y="2399423"/>
            <a:ext cx="7884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8" name="Google Shape;3358;p139"/>
          <p:cNvCxnSpPr>
            <a:stCxn id="3351" idx="0"/>
            <a:endCxn id="3332" idx="4"/>
          </p:cNvCxnSpPr>
          <p:nvPr/>
        </p:nvCxnSpPr>
        <p:spPr>
          <a:xfrm flipH="1" rot="10800000">
            <a:off x="6068390" y="1963223"/>
            <a:ext cx="11802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59" name="Google Shape;3359;p139"/>
          <p:cNvCxnSpPr>
            <a:stCxn id="3351" idx="0"/>
            <a:endCxn id="3350" idx="3"/>
          </p:cNvCxnSpPr>
          <p:nvPr/>
        </p:nvCxnSpPr>
        <p:spPr>
          <a:xfrm flipH="1" rot="10800000">
            <a:off x="6068390" y="2568623"/>
            <a:ext cx="18600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60" name="Google Shape;3360;p139"/>
          <p:cNvCxnSpPr>
            <a:stCxn id="3351" idx="0"/>
            <a:endCxn id="3334" idx="2"/>
          </p:cNvCxnSpPr>
          <p:nvPr/>
        </p:nvCxnSpPr>
        <p:spPr>
          <a:xfrm flipH="1" rot="10800000">
            <a:off x="6068390" y="3804623"/>
            <a:ext cx="17754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61" name="Google Shape;3361;p139"/>
          <p:cNvCxnSpPr>
            <a:stCxn id="3351" idx="0"/>
            <a:endCxn id="3337" idx="0"/>
          </p:cNvCxnSpPr>
          <p:nvPr/>
        </p:nvCxnSpPr>
        <p:spPr>
          <a:xfrm>
            <a:off x="6068390" y="4333823"/>
            <a:ext cx="11802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62" name="Google Shape;3362;p139"/>
          <p:cNvCxnSpPr>
            <a:stCxn id="3329" idx="6"/>
            <a:endCxn id="3350" idx="2"/>
          </p:cNvCxnSpPr>
          <p:nvPr/>
        </p:nvCxnSpPr>
        <p:spPr>
          <a:xfrm flipH="1" rot="10800000">
            <a:off x="5280000" y="2365660"/>
            <a:ext cx="2563800" cy="3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63" name="Google Shape;3363;p139"/>
          <p:cNvCxnSpPr>
            <a:stCxn id="3330" idx="5"/>
            <a:endCxn id="3350" idx="2"/>
          </p:cNvCxnSpPr>
          <p:nvPr/>
        </p:nvCxnSpPr>
        <p:spPr>
          <a:xfrm>
            <a:off x="6272046" y="1879123"/>
            <a:ext cx="1571700" cy="48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64" name="Google Shape;3364;p139"/>
          <p:cNvCxnSpPr>
            <a:stCxn id="3338" idx="6"/>
            <a:endCxn id="3350" idx="2"/>
          </p:cNvCxnSpPr>
          <p:nvPr/>
        </p:nvCxnSpPr>
        <p:spPr>
          <a:xfrm flipH="1" rot="10800000">
            <a:off x="5280008" y="2365829"/>
            <a:ext cx="2563800" cy="143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365" name="Google Shape;3365;p139"/>
          <p:cNvSpPr/>
          <p:nvPr/>
        </p:nvSpPr>
        <p:spPr>
          <a:xfrm>
            <a:off x="6662275" y="916125"/>
            <a:ext cx="2481600" cy="4866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1 *-1 * 1 * 1 * 1</a:t>
            </a:r>
            <a:r>
              <a:rPr b="1" lang="en">
                <a:solidFill>
                  <a:srgbClr val="FF0000"/>
                </a:solidFill>
              </a:rPr>
              <a:t> = -1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9" name="Shape 3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0" name="Google Shape;3370;p1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3371" name="Google Shape;3371;p140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Signed Graph in which every triple is balanced is called a </a:t>
            </a:r>
            <a:r>
              <a:rPr b="1" lang="en"/>
              <a:t>balanced signed graph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Balanced signed graphs have some interesting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 graph G is balanced: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Any subgraph of G is also balanced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All paths between the same pair of nodes have the same sign as the link between them!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b="1" lang="en">
                <a:solidFill>
                  <a:srgbClr val="FF0000"/>
                </a:solidFill>
              </a:rPr>
              <a:t>All paths connecting F and I are negative!</a:t>
            </a:r>
            <a:endParaRPr b="1">
              <a:solidFill>
                <a:srgbClr val="FF0000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2" name="Google Shape;3372;p140"/>
          <p:cNvSpPr/>
          <p:nvPr/>
        </p:nvSpPr>
        <p:spPr>
          <a:xfrm>
            <a:off x="4704000" y="2112760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373" name="Google Shape;3373;p140"/>
          <p:cNvSpPr/>
          <p:nvPr/>
        </p:nvSpPr>
        <p:spPr>
          <a:xfrm>
            <a:off x="5780399" y="1389525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374" name="Google Shape;3374;p140"/>
          <p:cNvCxnSpPr>
            <a:stCxn id="3372" idx="6"/>
            <a:endCxn id="3373" idx="2"/>
          </p:cNvCxnSpPr>
          <p:nvPr/>
        </p:nvCxnSpPr>
        <p:spPr>
          <a:xfrm flipH="1" rot="10800000">
            <a:off x="5280000" y="1676260"/>
            <a:ext cx="5004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75" name="Google Shape;3375;p140"/>
          <p:cNvSpPr/>
          <p:nvPr/>
        </p:nvSpPr>
        <p:spPr>
          <a:xfrm>
            <a:off x="6960440" y="13895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376" name="Google Shape;3376;p140"/>
          <p:cNvCxnSpPr>
            <a:stCxn id="3375" idx="2"/>
            <a:endCxn id="3373" idx="6"/>
          </p:cNvCxnSpPr>
          <p:nvPr/>
        </p:nvCxnSpPr>
        <p:spPr>
          <a:xfrm rot="10800000">
            <a:off x="6356540" y="1676323"/>
            <a:ext cx="603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377" name="Google Shape;3377;p140"/>
          <p:cNvSpPr/>
          <p:nvPr/>
        </p:nvSpPr>
        <p:spPr>
          <a:xfrm>
            <a:off x="7843901" y="3517836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378" name="Google Shape;3378;p140"/>
          <p:cNvCxnSpPr>
            <a:stCxn id="3377" idx="0"/>
            <a:endCxn id="3375" idx="4"/>
          </p:cNvCxnSpPr>
          <p:nvPr/>
        </p:nvCxnSpPr>
        <p:spPr>
          <a:xfrm rot="10800000">
            <a:off x="7248401" y="1963236"/>
            <a:ext cx="883500" cy="155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9" name="Google Shape;3379;p140"/>
          <p:cNvCxnSpPr>
            <a:stCxn id="3372" idx="6"/>
            <a:endCxn id="3377" idx="2"/>
          </p:cNvCxnSpPr>
          <p:nvPr/>
        </p:nvCxnSpPr>
        <p:spPr>
          <a:xfrm>
            <a:off x="5280000" y="2399560"/>
            <a:ext cx="256380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380" name="Google Shape;3380;p140"/>
          <p:cNvSpPr/>
          <p:nvPr/>
        </p:nvSpPr>
        <p:spPr>
          <a:xfrm>
            <a:off x="6960448" y="4333831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381" name="Google Shape;3381;p140"/>
          <p:cNvSpPr/>
          <p:nvPr/>
        </p:nvSpPr>
        <p:spPr>
          <a:xfrm>
            <a:off x="4704008" y="3517829"/>
            <a:ext cx="576000" cy="5736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382" name="Google Shape;3382;p140"/>
          <p:cNvCxnSpPr>
            <a:stCxn id="3372" idx="6"/>
            <a:endCxn id="3381" idx="6"/>
          </p:cNvCxnSpPr>
          <p:nvPr/>
        </p:nvCxnSpPr>
        <p:spPr>
          <a:xfrm>
            <a:off x="5280000" y="2399560"/>
            <a:ext cx="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3" name="Google Shape;3383;p140"/>
          <p:cNvCxnSpPr>
            <a:stCxn id="3381" idx="6"/>
            <a:endCxn id="3380" idx="0"/>
          </p:cNvCxnSpPr>
          <p:nvPr/>
        </p:nvCxnSpPr>
        <p:spPr>
          <a:xfrm>
            <a:off x="5280008" y="3804629"/>
            <a:ext cx="19683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84" name="Google Shape;3384;p140"/>
          <p:cNvCxnSpPr>
            <a:stCxn id="3380" idx="0"/>
            <a:endCxn id="3377" idx="2"/>
          </p:cNvCxnSpPr>
          <p:nvPr/>
        </p:nvCxnSpPr>
        <p:spPr>
          <a:xfrm flipH="1" rot="10800000">
            <a:off x="7248448" y="3804631"/>
            <a:ext cx="5955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5" name="Google Shape;3385;p140"/>
          <p:cNvCxnSpPr>
            <a:stCxn id="3381" idx="6"/>
            <a:endCxn id="3373" idx="2"/>
          </p:cNvCxnSpPr>
          <p:nvPr/>
        </p:nvCxnSpPr>
        <p:spPr>
          <a:xfrm flipH="1" rot="10800000">
            <a:off x="5280008" y="1676429"/>
            <a:ext cx="5004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6" name="Google Shape;3386;p140"/>
          <p:cNvCxnSpPr>
            <a:stCxn id="3377" idx="2"/>
            <a:endCxn id="3373" idx="5"/>
          </p:cNvCxnSpPr>
          <p:nvPr/>
        </p:nvCxnSpPr>
        <p:spPr>
          <a:xfrm rot="10800000">
            <a:off x="6271901" y="1879236"/>
            <a:ext cx="1572000" cy="192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87" name="Google Shape;3387;p140"/>
          <p:cNvCxnSpPr>
            <a:stCxn id="3381" idx="6"/>
            <a:endCxn id="3377" idx="2"/>
          </p:cNvCxnSpPr>
          <p:nvPr/>
        </p:nvCxnSpPr>
        <p:spPr>
          <a:xfrm>
            <a:off x="5280008" y="3804629"/>
            <a:ext cx="2563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88" name="Google Shape;3388;p140"/>
          <p:cNvCxnSpPr>
            <a:stCxn id="3372" idx="6"/>
            <a:endCxn id="3375" idx="2"/>
          </p:cNvCxnSpPr>
          <p:nvPr/>
        </p:nvCxnSpPr>
        <p:spPr>
          <a:xfrm flipH="1" rot="10800000">
            <a:off x="5280000" y="1676260"/>
            <a:ext cx="16803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89" name="Google Shape;3389;p140"/>
          <p:cNvCxnSpPr>
            <a:stCxn id="3380" idx="0"/>
            <a:endCxn id="3375" idx="4"/>
          </p:cNvCxnSpPr>
          <p:nvPr/>
        </p:nvCxnSpPr>
        <p:spPr>
          <a:xfrm rot="10800000">
            <a:off x="7248448" y="1963231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0" name="Google Shape;3390;p140"/>
          <p:cNvCxnSpPr>
            <a:stCxn id="3372" idx="6"/>
            <a:endCxn id="3380" idx="0"/>
          </p:cNvCxnSpPr>
          <p:nvPr/>
        </p:nvCxnSpPr>
        <p:spPr>
          <a:xfrm>
            <a:off x="5280000" y="2399560"/>
            <a:ext cx="19683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91" name="Google Shape;3391;p140"/>
          <p:cNvCxnSpPr>
            <a:stCxn id="3380" idx="0"/>
            <a:endCxn id="3373" idx="4"/>
          </p:cNvCxnSpPr>
          <p:nvPr/>
        </p:nvCxnSpPr>
        <p:spPr>
          <a:xfrm rot="10800000">
            <a:off x="6068548" y="1963231"/>
            <a:ext cx="11799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92" name="Google Shape;3392;p140"/>
          <p:cNvCxnSpPr>
            <a:stCxn id="3381" idx="6"/>
            <a:endCxn id="3375" idx="2"/>
          </p:cNvCxnSpPr>
          <p:nvPr/>
        </p:nvCxnSpPr>
        <p:spPr>
          <a:xfrm flipH="1" rot="10800000">
            <a:off x="5280008" y="1676429"/>
            <a:ext cx="16803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393" name="Google Shape;3393;p140"/>
          <p:cNvSpPr/>
          <p:nvPr/>
        </p:nvSpPr>
        <p:spPr>
          <a:xfrm>
            <a:off x="7843890" y="2078948"/>
            <a:ext cx="576000" cy="5736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I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394" name="Google Shape;3394;p140"/>
          <p:cNvSpPr/>
          <p:nvPr/>
        </p:nvSpPr>
        <p:spPr>
          <a:xfrm>
            <a:off x="5780390" y="43338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H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395" name="Google Shape;3395;p140"/>
          <p:cNvCxnSpPr>
            <a:stCxn id="3393" idx="1"/>
            <a:endCxn id="3375" idx="5"/>
          </p:cNvCxnSpPr>
          <p:nvPr/>
        </p:nvCxnSpPr>
        <p:spPr>
          <a:xfrm rot="10800000">
            <a:off x="7452143" y="1879150"/>
            <a:ext cx="476100" cy="283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6" name="Google Shape;3396;p140"/>
          <p:cNvCxnSpPr>
            <a:stCxn id="3377" idx="0"/>
            <a:endCxn id="3393" idx="4"/>
          </p:cNvCxnSpPr>
          <p:nvPr/>
        </p:nvCxnSpPr>
        <p:spPr>
          <a:xfrm rot="10800000">
            <a:off x="8131901" y="2652636"/>
            <a:ext cx="0" cy="8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7" name="Google Shape;3397;p140"/>
          <p:cNvCxnSpPr>
            <a:stCxn id="3380" idx="0"/>
            <a:endCxn id="3393" idx="3"/>
          </p:cNvCxnSpPr>
          <p:nvPr/>
        </p:nvCxnSpPr>
        <p:spPr>
          <a:xfrm flipH="1" rot="10800000">
            <a:off x="7248448" y="2568631"/>
            <a:ext cx="6798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8" name="Google Shape;3398;p140"/>
          <p:cNvCxnSpPr>
            <a:stCxn id="3394" idx="0"/>
            <a:endCxn id="3381" idx="6"/>
          </p:cNvCxnSpPr>
          <p:nvPr/>
        </p:nvCxnSpPr>
        <p:spPr>
          <a:xfrm rot="10800000">
            <a:off x="5279990" y="3804623"/>
            <a:ext cx="788400" cy="529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9" name="Google Shape;3399;p140"/>
          <p:cNvCxnSpPr>
            <a:stCxn id="3394" idx="0"/>
            <a:endCxn id="3373" idx="4"/>
          </p:cNvCxnSpPr>
          <p:nvPr/>
        </p:nvCxnSpPr>
        <p:spPr>
          <a:xfrm rot="10800000">
            <a:off x="6068390" y="1963223"/>
            <a:ext cx="0" cy="2370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0" name="Google Shape;3400;p140"/>
          <p:cNvCxnSpPr>
            <a:stCxn id="3394" idx="0"/>
            <a:endCxn id="3372" idx="6"/>
          </p:cNvCxnSpPr>
          <p:nvPr/>
        </p:nvCxnSpPr>
        <p:spPr>
          <a:xfrm rot="10800000">
            <a:off x="5279990" y="2399423"/>
            <a:ext cx="7884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1" name="Google Shape;3401;p140"/>
          <p:cNvCxnSpPr>
            <a:stCxn id="3394" idx="0"/>
            <a:endCxn id="3375" idx="4"/>
          </p:cNvCxnSpPr>
          <p:nvPr/>
        </p:nvCxnSpPr>
        <p:spPr>
          <a:xfrm flipH="1" rot="10800000">
            <a:off x="6068390" y="1963223"/>
            <a:ext cx="11802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02" name="Google Shape;3402;p140"/>
          <p:cNvCxnSpPr>
            <a:stCxn id="3394" idx="0"/>
            <a:endCxn id="3393" idx="3"/>
          </p:cNvCxnSpPr>
          <p:nvPr/>
        </p:nvCxnSpPr>
        <p:spPr>
          <a:xfrm flipH="1" rot="10800000">
            <a:off x="6068390" y="2568623"/>
            <a:ext cx="18600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03" name="Google Shape;3403;p140"/>
          <p:cNvCxnSpPr>
            <a:stCxn id="3394" idx="0"/>
            <a:endCxn id="3377" idx="2"/>
          </p:cNvCxnSpPr>
          <p:nvPr/>
        </p:nvCxnSpPr>
        <p:spPr>
          <a:xfrm flipH="1" rot="10800000">
            <a:off x="6068390" y="3804623"/>
            <a:ext cx="17754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04" name="Google Shape;3404;p140"/>
          <p:cNvCxnSpPr>
            <a:stCxn id="3394" idx="0"/>
            <a:endCxn id="3380" idx="0"/>
          </p:cNvCxnSpPr>
          <p:nvPr/>
        </p:nvCxnSpPr>
        <p:spPr>
          <a:xfrm>
            <a:off x="6068390" y="4333823"/>
            <a:ext cx="1180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05" name="Google Shape;3405;p140"/>
          <p:cNvCxnSpPr>
            <a:stCxn id="3372" idx="6"/>
            <a:endCxn id="3393" idx="2"/>
          </p:cNvCxnSpPr>
          <p:nvPr/>
        </p:nvCxnSpPr>
        <p:spPr>
          <a:xfrm flipH="1" rot="10800000">
            <a:off x="5280000" y="2365660"/>
            <a:ext cx="2563800" cy="3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06" name="Google Shape;3406;p140"/>
          <p:cNvCxnSpPr>
            <a:stCxn id="3373" idx="5"/>
            <a:endCxn id="3393" idx="2"/>
          </p:cNvCxnSpPr>
          <p:nvPr/>
        </p:nvCxnSpPr>
        <p:spPr>
          <a:xfrm>
            <a:off x="6272046" y="1879123"/>
            <a:ext cx="1571700" cy="486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07" name="Google Shape;3407;p140"/>
          <p:cNvCxnSpPr>
            <a:stCxn id="3381" idx="6"/>
            <a:endCxn id="3393" idx="2"/>
          </p:cNvCxnSpPr>
          <p:nvPr/>
        </p:nvCxnSpPr>
        <p:spPr>
          <a:xfrm flipH="1" rot="10800000">
            <a:off x="5280008" y="2365829"/>
            <a:ext cx="2563800" cy="143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408" name="Google Shape;3408;p140"/>
          <p:cNvSpPr/>
          <p:nvPr/>
        </p:nvSpPr>
        <p:spPr>
          <a:xfrm>
            <a:off x="6662275" y="916125"/>
            <a:ext cx="2481600" cy="4866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1 * 1 * -1  = -1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2" name="Shape 3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3" name="Google Shape;3413;p1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3414" name="Google Shape;3414;p141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Signed Graph in which every triple is balanced is called a </a:t>
            </a:r>
            <a:r>
              <a:rPr b="1" lang="en"/>
              <a:t>balanced signed graph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Balanced signed graphs have some interesting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 graph G is balanced: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Any subgraph of G is also balanced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All paths between the same pair of nodes have the same sign as the link between them!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■"/>
            </a:pPr>
            <a:r>
              <a:rPr b="1" lang="en">
                <a:solidFill>
                  <a:srgbClr val="0000FF"/>
                </a:solidFill>
              </a:rPr>
              <a:t>Positively connected nodes like E and C have all positive paths </a:t>
            </a:r>
            <a:endParaRPr b="1">
              <a:solidFill>
                <a:srgbClr val="0000FF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5" name="Google Shape;3415;p141"/>
          <p:cNvSpPr/>
          <p:nvPr/>
        </p:nvSpPr>
        <p:spPr>
          <a:xfrm>
            <a:off x="4704000" y="2112760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16" name="Google Shape;3416;p141"/>
          <p:cNvSpPr/>
          <p:nvPr/>
        </p:nvSpPr>
        <p:spPr>
          <a:xfrm>
            <a:off x="5780399" y="1389525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417" name="Google Shape;3417;p141"/>
          <p:cNvCxnSpPr>
            <a:stCxn id="3415" idx="6"/>
            <a:endCxn id="3416" idx="2"/>
          </p:cNvCxnSpPr>
          <p:nvPr/>
        </p:nvCxnSpPr>
        <p:spPr>
          <a:xfrm flipH="1" rot="10800000">
            <a:off x="5280000" y="1676260"/>
            <a:ext cx="5004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18" name="Google Shape;3418;p141"/>
          <p:cNvSpPr/>
          <p:nvPr/>
        </p:nvSpPr>
        <p:spPr>
          <a:xfrm>
            <a:off x="6960440" y="1389523"/>
            <a:ext cx="576000" cy="5736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419" name="Google Shape;3419;p141"/>
          <p:cNvCxnSpPr>
            <a:stCxn id="3418" idx="2"/>
            <a:endCxn id="3416" idx="6"/>
          </p:cNvCxnSpPr>
          <p:nvPr/>
        </p:nvCxnSpPr>
        <p:spPr>
          <a:xfrm rot="10800000">
            <a:off x="6356540" y="1676323"/>
            <a:ext cx="603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420" name="Google Shape;3420;p141"/>
          <p:cNvSpPr/>
          <p:nvPr/>
        </p:nvSpPr>
        <p:spPr>
          <a:xfrm>
            <a:off x="7843901" y="3517836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421" name="Google Shape;3421;p141"/>
          <p:cNvCxnSpPr>
            <a:stCxn id="3420" idx="0"/>
            <a:endCxn id="3418" idx="4"/>
          </p:cNvCxnSpPr>
          <p:nvPr/>
        </p:nvCxnSpPr>
        <p:spPr>
          <a:xfrm rot="10800000">
            <a:off x="7248401" y="1963236"/>
            <a:ext cx="883500" cy="155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2" name="Google Shape;3422;p141"/>
          <p:cNvCxnSpPr>
            <a:stCxn id="3415" idx="6"/>
            <a:endCxn id="3420" idx="2"/>
          </p:cNvCxnSpPr>
          <p:nvPr/>
        </p:nvCxnSpPr>
        <p:spPr>
          <a:xfrm>
            <a:off x="5280000" y="2399560"/>
            <a:ext cx="256380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423" name="Google Shape;3423;p141"/>
          <p:cNvSpPr/>
          <p:nvPr/>
        </p:nvSpPr>
        <p:spPr>
          <a:xfrm>
            <a:off x="6960448" y="4333831"/>
            <a:ext cx="576000" cy="5736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24" name="Google Shape;3424;p141"/>
          <p:cNvSpPr/>
          <p:nvPr/>
        </p:nvSpPr>
        <p:spPr>
          <a:xfrm>
            <a:off x="4704008" y="3517829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425" name="Google Shape;3425;p141"/>
          <p:cNvCxnSpPr>
            <a:stCxn id="3415" idx="6"/>
            <a:endCxn id="3424" idx="6"/>
          </p:cNvCxnSpPr>
          <p:nvPr/>
        </p:nvCxnSpPr>
        <p:spPr>
          <a:xfrm>
            <a:off x="5280000" y="2399560"/>
            <a:ext cx="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6" name="Google Shape;3426;p141"/>
          <p:cNvCxnSpPr>
            <a:stCxn id="3424" idx="6"/>
            <a:endCxn id="3423" idx="0"/>
          </p:cNvCxnSpPr>
          <p:nvPr/>
        </p:nvCxnSpPr>
        <p:spPr>
          <a:xfrm>
            <a:off x="5280008" y="3804629"/>
            <a:ext cx="19683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27" name="Google Shape;3427;p141"/>
          <p:cNvCxnSpPr>
            <a:stCxn id="3423" idx="0"/>
            <a:endCxn id="3420" idx="2"/>
          </p:cNvCxnSpPr>
          <p:nvPr/>
        </p:nvCxnSpPr>
        <p:spPr>
          <a:xfrm flipH="1" rot="10800000">
            <a:off x="7248448" y="3804631"/>
            <a:ext cx="5955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8" name="Google Shape;3428;p141"/>
          <p:cNvCxnSpPr>
            <a:stCxn id="3424" idx="6"/>
            <a:endCxn id="3416" idx="2"/>
          </p:cNvCxnSpPr>
          <p:nvPr/>
        </p:nvCxnSpPr>
        <p:spPr>
          <a:xfrm flipH="1" rot="10800000">
            <a:off x="5280008" y="1676429"/>
            <a:ext cx="5004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9" name="Google Shape;3429;p141"/>
          <p:cNvCxnSpPr>
            <a:stCxn id="3420" idx="2"/>
            <a:endCxn id="3416" idx="5"/>
          </p:cNvCxnSpPr>
          <p:nvPr/>
        </p:nvCxnSpPr>
        <p:spPr>
          <a:xfrm rot="10800000">
            <a:off x="6271901" y="1879236"/>
            <a:ext cx="1572000" cy="192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30" name="Google Shape;3430;p141"/>
          <p:cNvCxnSpPr>
            <a:stCxn id="3424" idx="6"/>
            <a:endCxn id="3420" idx="2"/>
          </p:cNvCxnSpPr>
          <p:nvPr/>
        </p:nvCxnSpPr>
        <p:spPr>
          <a:xfrm>
            <a:off x="5280008" y="3804629"/>
            <a:ext cx="2563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31" name="Google Shape;3431;p141"/>
          <p:cNvCxnSpPr>
            <a:stCxn id="3415" idx="6"/>
            <a:endCxn id="3418" idx="2"/>
          </p:cNvCxnSpPr>
          <p:nvPr/>
        </p:nvCxnSpPr>
        <p:spPr>
          <a:xfrm flipH="1" rot="10800000">
            <a:off x="5280000" y="1676260"/>
            <a:ext cx="16803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32" name="Google Shape;3432;p141"/>
          <p:cNvCxnSpPr>
            <a:stCxn id="3423" idx="0"/>
            <a:endCxn id="3418" idx="4"/>
          </p:cNvCxnSpPr>
          <p:nvPr/>
        </p:nvCxnSpPr>
        <p:spPr>
          <a:xfrm rot="10800000">
            <a:off x="7248448" y="1963231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3" name="Google Shape;3433;p141"/>
          <p:cNvCxnSpPr>
            <a:stCxn id="3415" idx="6"/>
            <a:endCxn id="3423" idx="0"/>
          </p:cNvCxnSpPr>
          <p:nvPr/>
        </p:nvCxnSpPr>
        <p:spPr>
          <a:xfrm>
            <a:off x="5280000" y="2399560"/>
            <a:ext cx="19683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34" name="Google Shape;3434;p141"/>
          <p:cNvCxnSpPr>
            <a:stCxn id="3423" idx="0"/>
            <a:endCxn id="3416" idx="4"/>
          </p:cNvCxnSpPr>
          <p:nvPr/>
        </p:nvCxnSpPr>
        <p:spPr>
          <a:xfrm rot="10800000">
            <a:off x="6068548" y="1963231"/>
            <a:ext cx="11799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35" name="Google Shape;3435;p141"/>
          <p:cNvCxnSpPr>
            <a:stCxn id="3424" idx="6"/>
            <a:endCxn id="3418" idx="2"/>
          </p:cNvCxnSpPr>
          <p:nvPr/>
        </p:nvCxnSpPr>
        <p:spPr>
          <a:xfrm flipH="1" rot="10800000">
            <a:off x="5280008" y="1676429"/>
            <a:ext cx="1680300" cy="2128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436" name="Google Shape;3436;p141"/>
          <p:cNvSpPr/>
          <p:nvPr/>
        </p:nvSpPr>
        <p:spPr>
          <a:xfrm>
            <a:off x="7843890" y="2078948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I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37" name="Google Shape;3437;p141"/>
          <p:cNvSpPr/>
          <p:nvPr/>
        </p:nvSpPr>
        <p:spPr>
          <a:xfrm>
            <a:off x="5780390" y="43338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H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438" name="Google Shape;3438;p141"/>
          <p:cNvCxnSpPr>
            <a:stCxn id="3436" idx="1"/>
            <a:endCxn id="3418" idx="5"/>
          </p:cNvCxnSpPr>
          <p:nvPr/>
        </p:nvCxnSpPr>
        <p:spPr>
          <a:xfrm rot="10800000">
            <a:off x="7452143" y="1879150"/>
            <a:ext cx="476100" cy="283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9" name="Google Shape;3439;p141"/>
          <p:cNvCxnSpPr>
            <a:stCxn id="3420" idx="0"/>
            <a:endCxn id="3436" idx="4"/>
          </p:cNvCxnSpPr>
          <p:nvPr/>
        </p:nvCxnSpPr>
        <p:spPr>
          <a:xfrm rot="10800000">
            <a:off x="8131901" y="2652636"/>
            <a:ext cx="0" cy="8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0" name="Google Shape;3440;p141"/>
          <p:cNvCxnSpPr>
            <a:stCxn id="3423" idx="0"/>
            <a:endCxn id="3436" idx="3"/>
          </p:cNvCxnSpPr>
          <p:nvPr/>
        </p:nvCxnSpPr>
        <p:spPr>
          <a:xfrm flipH="1" rot="10800000">
            <a:off x="7248448" y="2568631"/>
            <a:ext cx="6798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1" name="Google Shape;3441;p141"/>
          <p:cNvCxnSpPr>
            <a:stCxn id="3437" idx="0"/>
            <a:endCxn id="3424" idx="6"/>
          </p:cNvCxnSpPr>
          <p:nvPr/>
        </p:nvCxnSpPr>
        <p:spPr>
          <a:xfrm rot="10800000">
            <a:off x="5279990" y="3804623"/>
            <a:ext cx="788400" cy="529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2" name="Google Shape;3442;p141"/>
          <p:cNvCxnSpPr>
            <a:stCxn id="3437" idx="0"/>
            <a:endCxn id="3416" idx="4"/>
          </p:cNvCxnSpPr>
          <p:nvPr/>
        </p:nvCxnSpPr>
        <p:spPr>
          <a:xfrm rot="10800000">
            <a:off x="6068390" y="1963223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3" name="Google Shape;3443;p141"/>
          <p:cNvCxnSpPr>
            <a:stCxn id="3437" idx="0"/>
            <a:endCxn id="3415" idx="6"/>
          </p:cNvCxnSpPr>
          <p:nvPr/>
        </p:nvCxnSpPr>
        <p:spPr>
          <a:xfrm rot="10800000">
            <a:off x="5279990" y="2399423"/>
            <a:ext cx="7884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4" name="Google Shape;3444;p141"/>
          <p:cNvCxnSpPr>
            <a:stCxn id="3437" idx="0"/>
            <a:endCxn id="3418" idx="4"/>
          </p:cNvCxnSpPr>
          <p:nvPr/>
        </p:nvCxnSpPr>
        <p:spPr>
          <a:xfrm flipH="1" rot="10800000">
            <a:off x="6068390" y="1963223"/>
            <a:ext cx="11802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45" name="Google Shape;3445;p141"/>
          <p:cNvCxnSpPr>
            <a:stCxn id="3437" idx="0"/>
            <a:endCxn id="3436" idx="3"/>
          </p:cNvCxnSpPr>
          <p:nvPr/>
        </p:nvCxnSpPr>
        <p:spPr>
          <a:xfrm flipH="1" rot="10800000">
            <a:off x="6068390" y="2568623"/>
            <a:ext cx="18600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46" name="Google Shape;3446;p141"/>
          <p:cNvCxnSpPr>
            <a:stCxn id="3437" idx="0"/>
            <a:endCxn id="3420" idx="2"/>
          </p:cNvCxnSpPr>
          <p:nvPr/>
        </p:nvCxnSpPr>
        <p:spPr>
          <a:xfrm flipH="1" rot="10800000">
            <a:off x="6068390" y="3804623"/>
            <a:ext cx="17754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47" name="Google Shape;3447;p141"/>
          <p:cNvCxnSpPr>
            <a:stCxn id="3437" idx="0"/>
            <a:endCxn id="3423" idx="0"/>
          </p:cNvCxnSpPr>
          <p:nvPr/>
        </p:nvCxnSpPr>
        <p:spPr>
          <a:xfrm>
            <a:off x="6068390" y="4333823"/>
            <a:ext cx="11802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48" name="Google Shape;3448;p141"/>
          <p:cNvCxnSpPr>
            <a:stCxn id="3415" idx="6"/>
            <a:endCxn id="3436" idx="2"/>
          </p:cNvCxnSpPr>
          <p:nvPr/>
        </p:nvCxnSpPr>
        <p:spPr>
          <a:xfrm flipH="1" rot="10800000">
            <a:off x="5280000" y="2365660"/>
            <a:ext cx="2563800" cy="3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49" name="Google Shape;3449;p141"/>
          <p:cNvCxnSpPr>
            <a:stCxn id="3416" idx="5"/>
            <a:endCxn id="3436" idx="2"/>
          </p:cNvCxnSpPr>
          <p:nvPr/>
        </p:nvCxnSpPr>
        <p:spPr>
          <a:xfrm>
            <a:off x="6272046" y="1879123"/>
            <a:ext cx="1571700" cy="48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50" name="Google Shape;3450;p141"/>
          <p:cNvCxnSpPr>
            <a:stCxn id="3424" idx="6"/>
            <a:endCxn id="3436" idx="2"/>
          </p:cNvCxnSpPr>
          <p:nvPr/>
        </p:nvCxnSpPr>
        <p:spPr>
          <a:xfrm flipH="1" rot="10800000">
            <a:off x="5280008" y="2365829"/>
            <a:ext cx="2563800" cy="143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451" name="Google Shape;3451;p141"/>
          <p:cNvSpPr/>
          <p:nvPr/>
        </p:nvSpPr>
        <p:spPr>
          <a:xfrm>
            <a:off x="6662275" y="916125"/>
            <a:ext cx="2481600" cy="486600"/>
          </a:xfrm>
          <a:prstGeom prst="ellipse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-</a:t>
            </a:r>
            <a:r>
              <a:rPr b="1" lang="en">
                <a:solidFill>
                  <a:srgbClr val="0000FF"/>
                </a:solidFill>
              </a:rPr>
              <a:t>1 * 1 * -1  = 1</a:t>
            </a:r>
            <a:endParaRPr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5" name="Shape 3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6" name="Google Shape;3456;p1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3457" name="Google Shape;3457;p142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Signed Graph in which every triple is balanced is called a </a:t>
            </a:r>
            <a:r>
              <a:rPr b="1" lang="en"/>
              <a:t>balanced signed graph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Balanced signed graphs have some interesting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 graph G is balanced: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Any subgraph of G is also balanced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All paths between the same pair of nodes have the same sign as the link between them!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Paths with </a:t>
            </a:r>
            <a:r>
              <a:rPr b="1" lang="en"/>
              <a:t>same-clique members</a:t>
            </a:r>
            <a:r>
              <a:rPr lang="en"/>
              <a:t> as their </a:t>
            </a:r>
            <a:r>
              <a:rPr b="1" lang="en"/>
              <a:t>end nodes</a:t>
            </a:r>
            <a:r>
              <a:rPr lang="en"/>
              <a:t> are positive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8" name="Google Shape;3458;p142"/>
          <p:cNvSpPr/>
          <p:nvPr/>
        </p:nvSpPr>
        <p:spPr>
          <a:xfrm>
            <a:off x="4704000" y="2112760"/>
            <a:ext cx="576000" cy="5736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59" name="Google Shape;3459;p142"/>
          <p:cNvSpPr/>
          <p:nvPr/>
        </p:nvSpPr>
        <p:spPr>
          <a:xfrm>
            <a:off x="5780399" y="1389525"/>
            <a:ext cx="576000" cy="5736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460" name="Google Shape;3460;p142"/>
          <p:cNvCxnSpPr>
            <a:stCxn id="3458" idx="6"/>
            <a:endCxn id="3459" idx="2"/>
          </p:cNvCxnSpPr>
          <p:nvPr/>
        </p:nvCxnSpPr>
        <p:spPr>
          <a:xfrm flipH="1" rot="10800000">
            <a:off x="5280000" y="1676260"/>
            <a:ext cx="5004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1" name="Google Shape;3461;p142"/>
          <p:cNvSpPr/>
          <p:nvPr/>
        </p:nvSpPr>
        <p:spPr>
          <a:xfrm>
            <a:off x="6960440" y="1389523"/>
            <a:ext cx="576000" cy="573600"/>
          </a:xfrm>
          <a:prstGeom prst="ellipse">
            <a:avLst/>
          </a:prstGeom>
          <a:solidFill>
            <a:srgbClr val="CC412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462" name="Google Shape;3462;p142"/>
          <p:cNvCxnSpPr>
            <a:stCxn id="3461" idx="2"/>
            <a:endCxn id="3459" idx="6"/>
          </p:cNvCxnSpPr>
          <p:nvPr/>
        </p:nvCxnSpPr>
        <p:spPr>
          <a:xfrm rot="10800000">
            <a:off x="6356540" y="1676323"/>
            <a:ext cx="603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463" name="Google Shape;3463;p142"/>
          <p:cNvSpPr/>
          <p:nvPr/>
        </p:nvSpPr>
        <p:spPr>
          <a:xfrm>
            <a:off x="7843901" y="3517836"/>
            <a:ext cx="576000" cy="573600"/>
          </a:xfrm>
          <a:prstGeom prst="ellipse">
            <a:avLst/>
          </a:prstGeom>
          <a:solidFill>
            <a:srgbClr val="CC412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464" name="Google Shape;3464;p142"/>
          <p:cNvCxnSpPr>
            <a:stCxn id="3463" idx="0"/>
            <a:endCxn id="3461" idx="4"/>
          </p:cNvCxnSpPr>
          <p:nvPr/>
        </p:nvCxnSpPr>
        <p:spPr>
          <a:xfrm rot="10800000">
            <a:off x="7248401" y="1963236"/>
            <a:ext cx="883500" cy="155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5" name="Google Shape;3465;p142"/>
          <p:cNvCxnSpPr>
            <a:stCxn id="3458" idx="6"/>
            <a:endCxn id="3463" idx="2"/>
          </p:cNvCxnSpPr>
          <p:nvPr/>
        </p:nvCxnSpPr>
        <p:spPr>
          <a:xfrm>
            <a:off x="5280000" y="2399560"/>
            <a:ext cx="256380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466" name="Google Shape;3466;p142"/>
          <p:cNvSpPr/>
          <p:nvPr/>
        </p:nvSpPr>
        <p:spPr>
          <a:xfrm>
            <a:off x="6960448" y="4333831"/>
            <a:ext cx="576000" cy="573600"/>
          </a:xfrm>
          <a:prstGeom prst="ellipse">
            <a:avLst/>
          </a:prstGeom>
          <a:solidFill>
            <a:srgbClr val="CC412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67" name="Google Shape;3467;p142"/>
          <p:cNvSpPr/>
          <p:nvPr/>
        </p:nvSpPr>
        <p:spPr>
          <a:xfrm>
            <a:off x="4704008" y="3517829"/>
            <a:ext cx="576000" cy="5736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468" name="Google Shape;3468;p142"/>
          <p:cNvCxnSpPr>
            <a:stCxn id="3458" idx="6"/>
            <a:endCxn id="3467" idx="6"/>
          </p:cNvCxnSpPr>
          <p:nvPr/>
        </p:nvCxnSpPr>
        <p:spPr>
          <a:xfrm>
            <a:off x="5280000" y="2399560"/>
            <a:ext cx="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9" name="Google Shape;3469;p142"/>
          <p:cNvCxnSpPr>
            <a:stCxn id="3467" idx="6"/>
            <a:endCxn id="3466" idx="0"/>
          </p:cNvCxnSpPr>
          <p:nvPr/>
        </p:nvCxnSpPr>
        <p:spPr>
          <a:xfrm>
            <a:off x="5280008" y="3804629"/>
            <a:ext cx="19683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70" name="Google Shape;3470;p142"/>
          <p:cNvCxnSpPr>
            <a:stCxn id="3466" idx="0"/>
            <a:endCxn id="3463" idx="2"/>
          </p:cNvCxnSpPr>
          <p:nvPr/>
        </p:nvCxnSpPr>
        <p:spPr>
          <a:xfrm flipH="1" rot="10800000">
            <a:off x="7248448" y="3804631"/>
            <a:ext cx="5955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1" name="Google Shape;3471;p142"/>
          <p:cNvCxnSpPr>
            <a:stCxn id="3467" idx="6"/>
            <a:endCxn id="3459" idx="2"/>
          </p:cNvCxnSpPr>
          <p:nvPr/>
        </p:nvCxnSpPr>
        <p:spPr>
          <a:xfrm flipH="1" rot="10800000">
            <a:off x="5280008" y="1676429"/>
            <a:ext cx="5004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2" name="Google Shape;3472;p142"/>
          <p:cNvCxnSpPr>
            <a:stCxn id="3463" idx="2"/>
            <a:endCxn id="3459" idx="5"/>
          </p:cNvCxnSpPr>
          <p:nvPr/>
        </p:nvCxnSpPr>
        <p:spPr>
          <a:xfrm rot="10800000">
            <a:off x="6271901" y="1879236"/>
            <a:ext cx="1572000" cy="192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73" name="Google Shape;3473;p142"/>
          <p:cNvCxnSpPr>
            <a:stCxn id="3467" idx="6"/>
            <a:endCxn id="3463" idx="2"/>
          </p:cNvCxnSpPr>
          <p:nvPr/>
        </p:nvCxnSpPr>
        <p:spPr>
          <a:xfrm>
            <a:off x="5280008" y="3804629"/>
            <a:ext cx="2563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74" name="Google Shape;3474;p142"/>
          <p:cNvCxnSpPr>
            <a:stCxn id="3458" idx="6"/>
            <a:endCxn id="3461" idx="2"/>
          </p:cNvCxnSpPr>
          <p:nvPr/>
        </p:nvCxnSpPr>
        <p:spPr>
          <a:xfrm flipH="1" rot="10800000">
            <a:off x="5280000" y="1676260"/>
            <a:ext cx="16803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75" name="Google Shape;3475;p142"/>
          <p:cNvCxnSpPr>
            <a:stCxn id="3466" idx="0"/>
            <a:endCxn id="3461" idx="4"/>
          </p:cNvCxnSpPr>
          <p:nvPr/>
        </p:nvCxnSpPr>
        <p:spPr>
          <a:xfrm rot="10800000">
            <a:off x="7248448" y="1963231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6" name="Google Shape;3476;p142"/>
          <p:cNvCxnSpPr>
            <a:stCxn id="3458" idx="6"/>
            <a:endCxn id="3466" idx="0"/>
          </p:cNvCxnSpPr>
          <p:nvPr/>
        </p:nvCxnSpPr>
        <p:spPr>
          <a:xfrm>
            <a:off x="5280000" y="2399560"/>
            <a:ext cx="19683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77" name="Google Shape;3477;p142"/>
          <p:cNvCxnSpPr>
            <a:stCxn id="3466" idx="0"/>
            <a:endCxn id="3459" idx="4"/>
          </p:cNvCxnSpPr>
          <p:nvPr/>
        </p:nvCxnSpPr>
        <p:spPr>
          <a:xfrm rot="10800000">
            <a:off x="6068548" y="1963231"/>
            <a:ext cx="11799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78" name="Google Shape;3478;p142"/>
          <p:cNvCxnSpPr>
            <a:stCxn id="3467" idx="6"/>
            <a:endCxn id="3461" idx="2"/>
          </p:cNvCxnSpPr>
          <p:nvPr/>
        </p:nvCxnSpPr>
        <p:spPr>
          <a:xfrm flipH="1" rot="10800000">
            <a:off x="5280008" y="1676429"/>
            <a:ext cx="16803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479" name="Google Shape;3479;p142"/>
          <p:cNvSpPr/>
          <p:nvPr/>
        </p:nvSpPr>
        <p:spPr>
          <a:xfrm>
            <a:off x="7843890" y="2078948"/>
            <a:ext cx="576000" cy="573600"/>
          </a:xfrm>
          <a:prstGeom prst="ellipse">
            <a:avLst/>
          </a:prstGeom>
          <a:solidFill>
            <a:srgbClr val="CC412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I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80" name="Google Shape;3480;p142"/>
          <p:cNvSpPr/>
          <p:nvPr/>
        </p:nvSpPr>
        <p:spPr>
          <a:xfrm>
            <a:off x="5780390" y="4333823"/>
            <a:ext cx="576000" cy="5736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H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481" name="Google Shape;3481;p142"/>
          <p:cNvCxnSpPr>
            <a:stCxn id="3479" idx="1"/>
            <a:endCxn id="3461" idx="5"/>
          </p:cNvCxnSpPr>
          <p:nvPr/>
        </p:nvCxnSpPr>
        <p:spPr>
          <a:xfrm rot="10800000">
            <a:off x="7452143" y="1879150"/>
            <a:ext cx="476100" cy="283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2" name="Google Shape;3482;p142"/>
          <p:cNvCxnSpPr>
            <a:stCxn id="3463" idx="0"/>
            <a:endCxn id="3479" idx="4"/>
          </p:cNvCxnSpPr>
          <p:nvPr/>
        </p:nvCxnSpPr>
        <p:spPr>
          <a:xfrm rot="10800000">
            <a:off x="8131901" y="2652636"/>
            <a:ext cx="0" cy="8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3" name="Google Shape;3483;p142"/>
          <p:cNvCxnSpPr>
            <a:stCxn id="3466" idx="0"/>
            <a:endCxn id="3479" idx="3"/>
          </p:cNvCxnSpPr>
          <p:nvPr/>
        </p:nvCxnSpPr>
        <p:spPr>
          <a:xfrm flipH="1" rot="10800000">
            <a:off x="7248448" y="2568631"/>
            <a:ext cx="6798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4" name="Google Shape;3484;p142"/>
          <p:cNvCxnSpPr>
            <a:stCxn id="3480" idx="0"/>
            <a:endCxn id="3467" idx="6"/>
          </p:cNvCxnSpPr>
          <p:nvPr/>
        </p:nvCxnSpPr>
        <p:spPr>
          <a:xfrm rot="10800000">
            <a:off x="5279990" y="3804623"/>
            <a:ext cx="7884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5" name="Google Shape;3485;p142"/>
          <p:cNvCxnSpPr>
            <a:stCxn id="3480" idx="0"/>
            <a:endCxn id="3459" idx="4"/>
          </p:cNvCxnSpPr>
          <p:nvPr/>
        </p:nvCxnSpPr>
        <p:spPr>
          <a:xfrm rot="10800000">
            <a:off x="6068390" y="1963223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6" name="Google Shape;3486;p142"/>
          <p:cNvCxnSpPr>
            <a:stCxn id="3480" idx="0"/>
            <a:endCxn id="3458" idx="6"/>
          </p:cNvCxnSpPr>
          <p:nvPr/>
        </p:nvCxnSpPr>
        <p:spPr>
          <a:xfrm rot="10800000">
            <a:off x="5279990" y="2399423"/>
            <a:ext cx="7884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7" name="Google Shape;3487;p142"/>
          <p:cNvCxnSpPr>
            <a:stCxn id="3480" idx="0"/>
            <a:endCxn id="3461" idx="4"/>
          </p:cNvCxnSpPr>
          <p:nvPr/>
        </p:nvCxnSpPr>
        <p:spPr>
          <a:xfrm flipH="1" rot="10800000">
            <a:off x="6068390" y="1963223"/>
            <a:ext cx="11802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88" name="Google Shape;3488;p142"/>
          <p:cNvCxnSpPr>
            <a:stCxn id="3480" idx="0"/>
            <a:endCxn id="3479" idx="3"/>
          </p:cNvCxnSpPr>
          <p:nvPr/>
        </p:nvCxnSpPr>
        <p:spPr>
          <a:xfrm flipH="1" rot="10800000">
            <a:off x="6068390" y="2568623"/>
            <a:ext cx="18600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89" name="Google Shape;3489;p142"/>
          <p:cNvCxnSpPr>
            <a:stCxn id="3480" idx="0"/>
            <a:endCxn id="3463" idx="2"/>
          </p:cNvCxnSpPr>
          <p:nvPr/>
        </p:nvCxnSpPr>
        <p:spPr>
          <a:xfrm flipH="1" rot="10800000">
            <a:off x="6068390" y="3804623"/>
            <a:ext cx="17754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90" name="Google Shape;3490;p142"/>
          <p:cNvCxnSpPr>
            <a:stCxn id="3480" idx="0"/>
            <a:endCxn id="3466" idx="0"/>
          </p:cNvCxnSpPr>
          <p:nvPr/>
        </p:nvCxnSpPr>
        <p:spPr>
          <a:xfrm>
            <a:off x="6068390" y="4333823"/>
            <a:ext cx="1180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91" name="Google Shape;3491;p142"/>
          <p:cNvCxnSpPr>
            <a:stCxn id="3458" idx="6"/>
            <a:endCxn id="3479" idx="2"/>
          </p:cNvCxnSpPr>
          <p:nvPr/>
        </p:nvCxnSpPr>
        <p:spPr>
          <a:xfrm flipH="1" rot="10800000">
            <a:off x="5280000" y="2365660"/>
            <a:ext cx="2563800" cy="3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92" name="Google Shape;3492;p142"/>
          <p:cNvCxnSpPr>
            <a:stCxn id="3459" idx="5"/>
            <a:endCxn id="3479" idx="2"/>
          </p:cNvCxnSpPr>
          <p:nvPr/>
        </p:nvCxnSpPr>
        <p:spPr>
          <a:xfrm>
            <a:off x="6272046" y="1879123"/>
            <a:ext cx="1571700" cy="48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93" name="Google Shape;3493;p142"/>
          <p:cNvCxnSpPr>
            <a:stCxn id="3467" idx="6"/>
            <a:endCxn id="3479" idx="2"/>
          </p:cNvCxnSpPr>
          <p:nvPr/>
        </p:nvCxnSpPr>
        <p:spPr>
          <a:xfrm flipH="1" rot="10800000">
            <a:off x="5280008" y="2365829"/>
            <a:ext cx="2563800" cy="143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7" name="Shape 3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8" name="Google Shape;3498;p1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3499" name="Google Shape;3499;p143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Signed Graph in which every triple is balanced is called a </a:t>
            </a:r>
            <a:r>
              <a:rPr b="1" lang="en"/>
              <a:t>balanced signed graph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Balanced signed graphs have some interesting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 graph G is balanced: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Any subgraph of G is also balanced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All paths between the same pair of nodes have the same sign as the link between them!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Paths with </a:t>
            </a:r>
            <a:r>
              <a:rPr b="1" lang="en"/>
              <a:t>same-clique members </a:t>
            </a:r>
            <a:r>
              <a:rPr lang="en"/>
              <a:t>as their </a:t>
            </a:r>
            <a:r>
              <a:rPr b="1" lang="en"/>
              <a:t>end nodes</a:t>
            </a:r>
            <a:r>
              <a:rPr lang="en"/>
              <a:t> have an </a:t>
            </a:r>
            <a:r>
              <a:rPr b="1" lang="en"/>
              <a:t>even</a:t>
            </a:r>
            <a:r>
              <a:rPr lang="en"/>
              <a:t> number of </a:t>
            </a:r>
            <a:r>
              <a:rPr b="1" lang="en"/>
              <a:t>negative edges</a:t>
            </a:r>
            <a:endParaRPr b="1"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0" name="Google Shape;3500;p143"/>
          <p:cNvSpPr/>
          <p:nvPr/>
        </p:nvSpPr>
        <p:spPr>
          <a:xfrm>
            <a:off x="4704000" y="2112760"/>
            <a:ext cx="576000" cy="5736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01" name="Google Shape;3501;p143"/>
          <p:cNvSpPr/>
          <p:nvPr/>
        </p:nvSpPr>
        <p:spPr>
          <a:xfrm>
            <a:off x="5780399" y="1389525"/>
            <a:ext cx="576000" cy="5736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02" name="Google Shape;3502;p143"/>
          <p:cNvCxnSpPr>
            <a:stCxn id="3500" idx="6"/>
            <a:endCxn id="3501" idx="2"/>
          </p:cNvCxnSpPr>
          <p:nvPr/>
        </p:nvCxnSpPr>
        <p:spPr>
          <a:xfrm flipH="1" rot="10800000">
            <a:off x="5280000" y="1676260"/>
            <a:ext cx="5004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03" name="Google Shape;3503;p143"/>
          <p:cNvSpPr/>
          <p:nvPr/>
        </p:nvSpPr>
        <p:spPr>
          <a:xfrm>
            <a:off x="6960440" y="1389523"/>
            <a:ext cx="576000" cy="573600"/>
          </a:xfrm>
          <a:prstGeom prst="ellipse">
            <a:avLst/>
          </a:prstGeom>
          <a:solidFill>
            <a:srgbClr val="CC412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04" name="Google Shape;3504;p143"/>
          <p:cNvCxnSpPr>
            <a:stCxn id="3503" idx="2"/>
            <a:endCxn id="3501" idx="6"/>
          </p:cNvCxnSpPr>
          <p:nvPr/>
        </p:nvCxnSpPr>
        <p:spPr>
          <a:xfrm rot="10800000">
            <a:off x="6356540" y="1676323"/>
            <a:ext cx="603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505" name="Google Shape;3505;p143"/>
          <p:cNvSpPr/>
          <p:nvPr/>
        </p:nvSpPr>
        <p:spPr>
          <a:xfrm>
            <a:off x="7843901" y="3517836"/>
            <a:ext cx="576000" cy="573600"/>
          </a:xfrm>
          <a:prstGeom prst="ellipse">
            <a:avLst/>
          </a:prstGeom>
          <a:solidFill>
            <a:srgbClr val="CC412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06" name="Google Shape;3506;p143"/>
          <p:cNvCxnSpPr>
            <a:stCxn id="3505" idx="0"/>
            <a:endCxn id="3503" idx="4"/>
          </p:cNvCxnSpPr>
          <p:nvPr/>
        </p:nvCxnSpPr>
        <p:spPr>
          <a:xfrm rot="10800000">
            <a:off x="7248401" y="1963236"/>
            <a:ext cx="883500" cy="155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7" name="Google Shape;3507;p143"/>
          <p:cNvCxnSpPr>
            <a:stCxn id="3500" idx="6"/>
            <a:endCxn id="3505" idx="2"/>
          </p:cNvCxnSpPr>
          <p:nvPr/>
        </p:nvCxnSpPr>
        <p:spPr>
          <a:xfrm>
            <a:off x="5280000" y="2399560"/>
            <a:ext cx="256380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508" name="Google Shape;3508;p143"/>
          <p:cNvSpPr/>
          <p:nvPr/>
        </p:nvSpPr>
        <p:spPr>
          <a:xfrm>
            <a:off x="6960448" y="4333831"/>
            <a:ext cx="576000" cy="573600"/>
          </a:xfrm>
          <a:prstGeom prst="ellipse">
            <a:avLst/>
          </a:prstGeom>
          <a:solidFill>
            <a:srgbClr val="CC412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09" name="Google Shape;3509;p143"/>
          <p:cNvSpPr/>
          <p:nvPr/>
        </p:nvSpPr>
        <p:spPr>
          <a:xfrm>
            <a:off x="4704008" y="3517829"/>
            <a:ext cx="576000" cy="5736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10" name="Google Shape;3510;p143"/>
          <p:cNvCxnSpPr>
            <a:stCxn id="3500" idx="6"/>
            <a:endCxn id="3509" idx="6"/>
          </p:cNvCxnSpPr>
          <p:nvPr/>
        </p:nvCxnSpPr>
        <p:spPr>
          <a:xfrm>
            <a:off x="5280000" y="2399560"/>
            <a:ext cx="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1" name="Google Shape;3511;p143"/>
          <p:cNvCxnSpPr>
            <a:stCxn id="3509" idx="6"/>
            <a:endCxn id="3508" idx="0"/>
          </p:cNvCxnSpPr>
          <p:nvPr/>
        </p:nvCxnSpPr>
        <p:spPr>
          <a:xfrm>
            <a:off x="5280008" y="3804629"/>
            <a:ext cx="19683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12" name="Google Shape;3512;p143"/>
          <p:cNvCxnSpPr>
            <a:stCxn id="3508" idx="0"/>
            <a:endCxn id="3505" idx="2"/>
          </p:cNvCxnSpPr>
          <p:nvPr/>
        </p:nvCxnSpPr>
        <p:spPr>
          <a:xfrm flipH="1" rot="10800000">
            <a:off x="7248448" y="3804631"/>
            <a:ext cx="5955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3" name="Google Shape;3513;p143"/>
          <p:cNvCxnSpPr>
            <a:stCxn id="3509" idx="6"/>
            <a:endCxn id="3501" idx="2"/>
          </p:cNvCxnSpPr>
          <p:nvPr/>
        </p:nvCxnSpPr>
        <p:spPr>
          <a:xfrm flipH="1" rot="10800000">
            <a:off x="5280008" y="1676429"/>
            <a:ext cx="5004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4" name="Google Shape;3514;p143"/>
          <p:cNvCxnSpPr>
            <a:stCxn id="3505" idx="2"/>
            <a:endCxn id="3501" idx="5"/>
          </p:cNvCxnSpPr>
          <p:nvPr/>
        </p:nvCxnSpPr>
        <p:spPr>
          <a:xfrm rot="10800000">
            <a:off x="6271901" y="1879236"/>
            <a:ext cx="1572000" cy="192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15" name="Google Shape;3515;p143"/>
          <p:cNvCxnSpPr>
            <a:stCxn id="3509" idx="6"/>
            <a:endCxn id="3505" idx="2"/>
          </p:cNvCxnSpPr>
          <p:nvPr/>
        </p:nvCxnSpPr>
        <p:spPr>
          <a:xfrm>
            <a:off x="5280008" y="3804629"/>
            <a:ext cx="2563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16" name="Google Shape;3516;p143"/>
          <p:cNvCxnSpPr>
            <a:stCxn id="3500" idx="6"/>
            <a:endCxn id="3503" idx="2"/>
          </p:cNvCxnSpPr>
          <p:nvPr/>
        </p:nvCxnSpPr>
        <p:spPr>
          <a:xfrm flipH="1" rot="10800000">
            <a:off x="5280000" y="1676260"/>
            <a:ext cx="16803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17" name="Google Shape;3517;p143"/>
          <p:cNvCxnSpPr>
            <a:stCxn id="3508" idx="0"/>
            <a:endCxn id="3503" idx="4"/>
          </p:cNvCxnSpPr>
          <p:nvPr/>
        </p:nvCxnSpPr>
        <p:spPr>
          <a:xfrm rot="10800000">
            <a:off x="7248448" y="1963231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8" name="Google Shape;3518;p143"/>
          <p:cNvCxnSpPr>
            <a:stCxn id="3500" idx="6"/>
            <a:endCxn id="3508" idx="0"/>
          </p:cNvCxnSpPr>
          <p:nvPr/>
        </p:nvCxnSpPr>
        <p:spPr>
          <a:xfrm>
            <a:off x="5280000" y="2399560"/>
            <a:ext cx="19683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19" name="Google Shape;3519;p143"/>
          <p:cNvCxnSpPr>
            <a:stCxn id="3508" idx="0"/>
            <a:endCxn id="3501" idx="4"/>
          </p:cNvCxnSpPr>
          <p:nvPr/>
        </p:nvCxnSpPr>
        <p:spPr>
          <a:xfrm rot="10800000">
            <a:off x="6068548" y="1963231"/>
            <a:ext cx="11799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20" name="Google Shape;3520;p143"/>
          <p:cNvCxnSpPr>
            <a:stCxn id="3509" idx="6"/>
            <a:endCxn id="3503" idx="2"/>
          </p:cNvCxnSpPr>
          <p:nvPr/>
        </p:nvCxnSpPr>
        <p:spPr>
          <a:xfrm flipH="1" rot="10800000">
            <a:off x="5280008" y="1676429"/>
            <a:ext cx="16803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521" name="Google Shape;3521;p143"/>
          <p:cNvSpPr/>
          <p:nvPr/>
        </p:nvSpPr>
        <p:spPr>
          <a:xfrm>
            <a:off x="7843890" y="2078948"/>
            <a:ext cx="576000" cy="573600"/>
          </a:xfrm>
          <a:prstGeom prst="ellipse">
            <a:avLst/>
          </a:prstGeom>
          <a:solidFill>
            <a:srgbClr val="CC412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I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22" name="Google Shape;3522;p143"/>
          <p:cNvSpPr/>
          <p:nvPr/>
        </p:nvSpPr>
        <p:spPr>
          <a:xfrm>
            <a:off x="5780390" y="4333823"/>
            <a:ext cx="576000" cy="5736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H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23" name="Google Shape;3523;p143"/>
          <p:cNvCxnSpPr>
            <a:stCxn id="3521" idx="1"/>
            <a:endCxn id="3503" idx="5"/>
          </p:cNvCxnSpPr>
          <p:nvPr/>
        </p:nvCxnSpPr>
        <p:spPr>
          <a:xfrm rot="10800000">
            <a:off x="7452143" y="1879150"/>
            <a:ext cx="476100" cy="283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4" name="Google Shape;3524;p143"/>
          <p:cNvCxnSpPr>
            <a:stCxn id="3505" idx="0"/>
            <a:endCxn id="3521" idx="4"/>
          </p:cNvCxnSpPr>
          <p:nvPr/>
        </p:nvCxnSpPr>
        <p:spPr>
          <a:xfrm rot="10800000">
            <a:off x="8131901" y="2652636"/>
            <a:ext cx="0" cy="8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5" name="Google Shape;3525;p143"/>
          <p:cNvCxnSpPr>
            <a:stCxn id="3508" idx="0"/>
            <a:endCxn id="3521" idx="3"/>
          </p:cNvCxnSpPr>
          <p:nvPr/>
        </p:nvCxnSpPr>
        <p:spPr>
          <a:xfrm flipH="1" rot="10800000">
            <a:off x="7248448" y="2568631"/>
            <a:ext cx="6798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6" name="Google Shape;3526;p143"/>
          <p:cNvCxnSpPr>
            <a:stCxn id="3522" idx="0"/>
            <a:endCxn id="3509" idx="6"/>
          </p:cNvCxnSpPr>
          <p:nvPr/>
        </p:nvCxnSpPr>
        <p:spPr>
          <a:xfrm rot="10800000">
            <a:off x="5279990" y="3804623"/>
            <a:ext cx="7884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7" name="Google Shape;3527;p143"/>
          <p:cNvCxnSpPr>
            <a:stCxn id="3522" idx="0"/>
            <a:endCxn id="3501" idx="4"/>
          </p:cNvCxnSpPr>
          <p:nvPr/>
        </p:nvCxnSpPr>
        <p:spPr>
          <a:xfrm rot="10800000">
            <a:off x="6068390" y="1963223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8" name="Google Shape;3528;p143"/>
          <p:cNvCxnSpPr>
            <a:stCxn id="3522" idx="0"/>
            <a:endCxn id="3500" idx="6"/>
          </p:cNvCxnSpPr>
          <p:nvPr/>
        </p:nvCxnSpPr>
        <p:spPr>
          <a:xfrm rot="10800000">
            <a:off x="5279990" y="2399423"/>
            <a:ext cx="7884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9" name="Google Shape;3529;p143"/>
          <p:cNvCxnSpPr>
            <a:stCxn id="3522" idx="0"/>
            <a:endCxn id="3503" idx="4"/>
          </p:cNvCxnSpPr>
          <p:nvPr/>
        </p:nvCxnSpPr>
        <p:spPr>
          <a:xfrm flipH="1" rot="10800000">
            <a:off x="6068390" y="1963223"/>
            <a:ext cx="11802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30" name="Google Shape;3530;p143"/>
          <p:cNvCxnSpPr>
            <a:stCxn id="3522" idx="0"/>
            <a:endCxn id="3521" idx="3"/>
          </p:cNvCxnSpPr>
          <p:nvPr/>
        </p:nvCxnSpPr>
        <p:spPr>
          <a:xfrm flipH="1" rot="10800000">
            <a:off x="6068390" y="2568623"/>
            <a:ext cx="18600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31" name="Google Shape;3531;p143"/>
          <p:cNvCxnSpPr>
            <a:stCxn id="3522" idx="0"/>
            <a:endCxn id="3505" idx="2"/>
          </p:cNvCxnSpPr>
          <p:nvPr/>
        </p:nvCxnSpPr>
        <p:spPr>
          <a:xfrm flipH="1" rot="10800000">
            <a:off x="6068390" y="3804623"/>
            <a:ext cx="17754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32" name="Google Shape;3532;p143"/>
          <p:cNvCxnSpPr>
            <a:stCxn id="3522" idx="0"/>
            <a:endCxn id="3508" idx="0"/>
          </p:cNvCxnSpPr>
          <p:nvPr/>
        </p:nvCxnSpPr>
        <p:spPr>
          <a:xfrm>
            <a:off x="6068390" y="4333823"/>
            <a:ext cx="1180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33" name="Google Shape;3533;p143"/>
          <p:cNvCxnSpPr>
            <a:stCxn id="3500" idx="6"/>
            <a:endCxn id="3521" idx="2"/>
          </p:cNvCxnSpPr>
          <p:nvPr/>
        </p:nvCxnSpPr>
        <p:spPr>
          <a:xfrm flipH="1" rot="10800000">
            <a:off x="5280000" y="2365660"/>
            <a:ext cx="2563800" cy="3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34" name="Google Shape;3534;p143"/>
          <p:cNvCxnSpPr>
            <a:stCxn id="3501" idx="5"/>
            <a:endCxn id="3521" idx="2"/>
          </p:cNvCxnSpPr>
          <p:nvPr/>
        </p:nvCxnSpPr>
        <p:spPr>
          <a:xfrm>
            <a:off x="6272046" y="1879123"/>
            <a:ext cx="1571700" cy="48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35" name="Google Shape;3535;p143"/>
          <p:cNvCxnSpPr>
            <a:stCxn id="3509" idx="6"/>
            <a:endCxn id="3521" idx="2"/>
          </p:cNvCxnSpPr>
          <p:nvPr/>
        </p:nvCxnSpPr>
        <p:spPr>
          <a:xfrm flipH="1" rot="10800000">
            <a:off x="5280008" y="2365829"/>
            <a:ext cx="2563800" cy="143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9" name="Shape 3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0" name="Google Shape;3540;p1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3541" name="Google Shape;3541;p144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Signed Graph in which every triple is balanced is called a </a:t>
            </a:r>
            <a:r>
              <a:rPr b="1" lang="en"/>
              <a:t>balanced signed graph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Balanced signed graphs have some interesting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 graph G is balanced: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Any subgraph of G is also balanced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All paths between the same pair of nodes have the same sign as the link between them!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Paths with </a:t>
            </a:r>
            <a:r>
              <a:rPr b="1" lang="en"/>
              <a:t>end nodes</a:t>
            </a:r>
            <a:r>
              <a:rPr lang="en"/>
              <a:t> that belong to </a:t>
            </a:r>
            <a:r>
              <a:rPr b="1" lang="en"/>
              <a:t>different cliques</a:t>
            </a:r>
            <a:r>
              <a:rPr lang="en"/>
              <a:t> are </a:t>
            </a:r>
            <a:r>
              <a:rPr b="1" lang="en"/>
              <a:t>negative</a:t>
            </a:r>
            <a:endParaRPr b="1"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2" name="Google Shape;3542;p144"/>
          <p:cNvSpPr/>
          <p:nvPr/>
        </p:nvSpPr>
        <p:spPr>
          <a:xfrm>
            <a:off x="4704000" y="2112760"/>
            <a:ext cx="576000" cy="5736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43" name="Google Shape;3543;p144"/>
          <p:cNvSpPr/>
          <p:nvPr/>
        </p:nvSpPr>
        <p:spPr>
          <a:xfrm>
            <a:off x="5780399" y="1389525"/>
            <a:ext cx="576000" cy="5736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44" name="Google Shape;3544;p144"/>
          <p:cNvCxnSpPr>
            <a:stCxn id="3542" idx="6"/>
            <a:endCxn id="3543" idx="2"/>
          </p:cNvCxnSpPr>
          <p:nvPr/>
        </p:nvCxnSpPr>
        <p:spPr>
          <a:xfrm flipH="1" rot="10800000">
            <a:off x="5280000" y="1676260"/>
            <a:ext cx="5004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5" name="Google Shape;3545;p144"/>
          <p:cNvSpPr/>
          <p:nvPr/>
        </p:nvSpPr>
        <p:spPr>
          <a:xfrm>
            <a:off x="6960440" y="1389523"/>
            <a:ext cx="576000" cy="573600"/>
          </a:xfrm>
          <a:prstGeom prst="ellipse">
            <a:avLst/>
          </a:prstGeom>
          <a:solidFill>
            <a:srgbClr val="CC412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46" name="Google Shape;3546;p144"/>
          <p:cNvCxnSpPr>
            <a:stCxn id="3545" idx="2"/>
            <a:endCxn id="3543" idx="6"/>
          </p:cNvCxnSpPr>
          <p:nvPr/>
        </p:nvCxnSpPr>
        <p:spPr>
          <a:xfrm rot="10800000">
            <a:off x="6356540" y="1676323"/>
            <a:ext cx="603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547" name="Google Shape;3547;p144"/>
          <p:cNvSpPr/>
          <p:nvPr/>
        </p:nvSpPr>
        <p:spPr>
          <a:xfrm>
            <a:off x="7843901" y="3517836"/>
            <a:ext cx="576000" cy="573600"/>
          </a:xfrm>
          <a:prstGeom prst="ellipse">
            <a:avLst/>
          </a:prstGeom>
          <a:solidFill>
            <a:srgbClr val="CC412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48" name="Google Shape;3548;p144"/>
          <p:cNvCxnSpPr>
            <a:stCxn id="3547" idx="0"/>
            <a:endCxn id="3545" idx="4"/>
          </p:cNvCxnSpPr>
          <p:nvPr/>
        </p:nvCxnSpPr>
        <p:spPr>
          <a:xfrm rot="10800000">
            <a:off x="7248401" y="1963236"/>
            <a:ext cx="883500" cy="155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9" name="Google Shape;3549;p144"/>
          <p:cNvCxnSpPr>
            <a:stCxn id="3542" idx="6"/>
            <a:endCxn id="3547" idx="2"/>
          </p:cNvCxnSpPr>
          <p:nvPr/>
        </p:nvCxnSpPr>
        <p:spPr>
          <a:xfrm>
            <a:off x="5280000" y="2399560"/>
            <a:ext cx="256380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550" name="Google Shape;3550;p144"/>
          <p:cNvSpPr/>
          <p:nvPr/>
        </p:nvSpPr>
        <p:spPr>
          <a:xfrm>
            <a:off x="6960448" y="4333831"/>
            <a:ext cx="576000" cy="573600"/>
          </a:xfrm>
          <a:prstGeom prst="ellipse">
            <a:avLst/>
          </a:prstGeom>
          <a:solidFill>
            <a:srgbClr val="CC412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51" name="Google Shape;3551;p144"/>
          <p:cNvSpPr/>
          <p:nvPr/>
        </p:nvSpPr>
        <p:spPr>
          <a:xfrm>
            <a:off x="4704008" y="3517829"/>
            <a:ext cx="576000" cy="5736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52" name="Google Shape;3552;p144"/>
          <p:cNvCxnSpPr>
            <a:stCxn id="3542" idx="6"/>
            <a:endCxn id="3551" idx="6"/>
          </p:cNvCxnSpPr>
          <p:nvPr/>
        </p:nvCxnSpPr>
        <p:spPr>
          <a:xfrm>
            <a:off x="5280000" y="2399560"/>
            <a:ext cx="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3" name="Google Shape;3553;p144"/>
          <p:cNvCxnSpPr>
            <a:stCxn id="3551" idx="6"/>
            <a:endCxn id="3550" idx="0"/>
          </p:cNvCxnSpPr>
          <p:nvPr/>
        </p:nvCxnSpPr>
        <p:spPr>
          <a:xfrm>
            <a:off x="5280008" y="3804629"/>
            <a:ext cx="19683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54" name="Google Shape;3554;p144"/>
          <p:cNvCxnSpPr>
            <a:stCxn id="3550" idx="0"/>
            <a:endCxn id="3547" idx="2"/>
          </p:cNvCxnSpPr>
          <p:nvPr/>
        </p:nvCxnSpPr>
        <p:spPr>
          <a:xfrm flipH="1" rot="10800000">
            <a:off x="7248448" y="3804631"/>
            <a:ext cx="5955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5" name="Google Shape;3555;p144"/>
          <p:cNvCxnSpPr>
            <a:stCxn id="3551" idx="6"/>
            <a:endCxn id="3543" idx="2"/>
          </p:cNvCxnSpPr>
          <p:nvPr/>
        </p:nvCxnSpPr>
        <p:spPr>
          <a:xfrm flipH="1" rot="10800000">
            <a:off x="5280008" y="1676429"/>
            <a:ext cx="5004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6" name="Google Shape;3556;p144"/>
          <p:cNvCxnSpPr>
            <a:stCxn id="3547" idx="2"/>
            <a:endCxn id="3543" idx="5"/>
          </p:cNvCxnSpPr>
          <p:nvPr/>
        </p:nvCxnSpPr>
        <p:spPr>
          <a:xfrm rot="10800000">
            <a:off x="6271901" y="1879236"/>
            <a:ext cx="1572000" cy="192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57" name="Google Shape;3557;p144"/>
          <p:cNvCxnSpPr>
            <a:stCxn id="3551" idx="6"/>
            <a:endCxn id="3547" idx="2"/>
          </p:cNvCxnSpPr>
          <p:nvPr/>
        </p:nvCxnSpPr>
        <p:spPr>
          <a:xfrm>
            <a:off x="5280008" y="3804629"/>
            <a:ext cx="2563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58" name="Google Shape;3558;p144"/>
          <p:cNvCxnSpPr>
            <a:stCxn id="3542" idx="6"/>
            <a:endCxn id="3545" idx="2"/>
          </p:cNvCxnSpPr>
          <p:nvPr/>
        </p:nvCxnSpPr>
        <p:spPr>
          <a:xfrm flipH="1" rot="10800000">
            <a:off x="5280000" y="1676260"/>
            <a:ext cx="16803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59" name="Google Shape;3559;p144"/>
          <p:cNvCxnSpPr>
            <a:stCxn id="3550" idx="0"/>
            <a:endCxn id="3545" idx="4"/>
          </p:cNvCxnSpPr>
          <p:nvPr/>
        </p:nvCxnSpPr>
        <p:spPr>
          <a:xfrm rot="10800000">
            <a:off x="7248448" y="1963231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0" name="Google Shape;3560;p144"/>
          <p:cNvCxnSpPr>
            <a:stCxn id="3542" idx="6"/>
            <a:endCxn id="3550" idx="0"/>
          </p:cNvCxnSpPr>
          <p:nvPr/>
        </p:nvCxnSpPr>
        <p:spPr>
          <a:xfrm>
            <a:off x="5280000" y="2399560"/>
            <a:ext cx="19683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61" name="Google Shape;3561;p144"/>
          <p:cNvCxnSpPr>
            <a:stCxn id="3550" idx="0"/>
            <a:endCxn id="3543" idx="4"/>
          </p:cNvCxnSpPr>
          <p:nvPr/>
        </p:nvCxnSpPr>
        <p:spPr>
          <a:xfrm rot="10800000">
            <a:off x="6068548" y="1963231"/>
            <a:ext cx="11799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62" name="Google Shape;3562;p144"/>
          <p:cNvCxnSpPr>
            <a:stCxn id="3551" idx="6"/>
            <a:endCxn id="3545" idx="2"/>
          </p:cNvCxnSpPr>
          <p:nvPr/>
        </p:nvCxnSpPr>
        <p:spPr>
          <a:xfrm flipH="1" rot="10800000">
            <a:off x="5280008" y="1676429"/>
            <a:ext cx="16803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563" name="Google Shape;3563;p144"/>
          <p:cNvSpPr/>
          <p:nvPr/>
        </p:nvSpPr>
        <p:spPr>
          <a:xfrm>
            <a:off x="7843890" y="2078948"/>
            <a:ext cx="576000" cy="573600"/>
          </a:xfrm>
          <a:prstGeom prst="ellipse">
            <a:avLst/>
          </a:prstGeom>
          <a:solidFill>
            <a:srgbClr val="CC412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I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64" name="Google Shape;3564;p144"/>
          <p:cNvSpPr/>
          <p:nvPr/>
        </p:nvSpPr>
        <p:spPr>
          <a:xfrm>
            <a:off x="5780390" y="4333823"/>
            <a:ext cx="576000" cy="5736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H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65" name="Google Shape;3565;p144"/>
          <p:cNvCxnSpPr>
            <a:stCxn id="3563" idx="1"/>
            <a:endCxn id="3545" idx="5"/>
          </p:cNvCxnSpPr>
          <p:nvPr/>
        </p:nvCxnSpPr>
        <p:spPr>
          <a:xfrm rot="10800000">
            <a:off x="7452143" y="1879150"/>
            <a:ext cx="476100" cy="283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6" name="Google Shape;3566;p144"/>
          <p:cNvCxnSpPr>
            <a:stCxn id="3547" idx="0"/>
            <a:endCxn id="3563" idx="4"/>
          </p:cNvCxnSpPr>
          <p:nvPr/>
        </p:nvCxnSpPr>
        <p:spPr>
          <a:xfrm rot="10800000">
            <a:off x="8131901" y="2652636"/>
            <a:ext cx="0" cy="8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7" name="Google Shape;3567;p144"/>
          <p:cNvCxnSpPr>
            <a:stCxn id="3550" idx="0"/>
            <a:endCxn id="3563" idx="3"/>
          </p:cNvCxnSpPr>
          <p:nvPr/>
        </p:nvCxnSpPr>
        <p:spPr>
          <a:xfrm flipH="1" rot="10800000">
            <a:off x="7248448" y="2568631"/>
            <a:ext cx="6798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8" name="Google Shape;3568;p144"/>
          <p:cNvCxnSpPr>
            <a:stCxn id="3564" idx="0"/>
            <a:endCxn id="3551" idx="6"/>
          </p:cNvCxnSpPr>
          <p:nvPr/>
        </p:nvCxnSpPr>
        <p:spPr>
          <a:xfrm rot="10800000">
            <a:off x="5279990" y="3804623"/>
            <a:ext cx="7884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9" name="Google Shape;3569;p144"/>
          <p:cNvCxnSpPr>
            <a:stCxn id="3564" idx="0"/>
            <a:endCxn id="3543" idx="4"/>
          </p:cNvCxnSpPr>
          <p:nvPr/>
        </p:nvCxnSpPr>
        <p:spPr>
          <a:xfrm rot="10800000">
            <a:off x="6068390" y="1963223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0" name="Google Shape;3570;p144"/>
          <p:cNvCxnSpPr>
            <a:stCxn id="3564" idx="0"/>
            <a:endCxn id="3542" idx="6"/>
          </p:cNvCxnSpPr>
          <p:nvPr/>
        </p:nvCxnSpPr>
        <p:spPr>
          <a:xfrm rot="10800000">
            <a:off x="5279990" y="2399423"/>
            <a:ext cx="7884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1" name="Google Shape;3571;p144"/>
          <p:cNvCxnSpPr>
            <a:stCxn id="3564" idx="0"/>
            <a:endCxn id="3545" idx="4"/>
          </p:cNvCxnSpPr>
          <p:nvPr/>
        </p:nvCxnSpPr>
        <p:spPr>
          <a:xfrm flipH="1" rot="10800000">
            <a:off x="6068390" y="1963223"/>
            <a:ext cx="11802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72" name="Google Shape;3572;p144"/>
          <p:cNvCxnSpPr>
            <a:stCxn id="3564" idx="0"/>
            <a:endCxn id="3563" idx="3"/>
          </p:cNvCxnSpPr>
          <p:nvPr/>
        </p:nvCxnSpPr>
        <p:spPr>
          <a:xfrm flipH="1" rot="10800000">
            <a:off x="6068390" y="2568623"/>
            <a:ext cx="18600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73" name="Google Shape;3573;p144"/>
          <p:cNvCxnSpPr>
            <a:stCxn id="3564" idx="0"/>
            <a:endCxn id="3547" idx="2"/>
          </p:cNvCxnSpPr>
          <p:nvPr/>
        </p:nvCxnSpPr>
        <p:spPr>
          <a:xfrm flipH="1" rot="10800000">
            <a:off x="6068390" y="3804623"/>
            <a:ext cx="17754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74" name="Google Shape;3574;p144"/>
          <p:cNvCxnSpPr>
            <a:stCxn id="3564" idx="0"/>
            <a:endCxn id="3550" idx="0"/>
          </p:cNvCxnSpPr>
          <p:nvPr/>
        </p:nvCxnSpPr>
        <p:spPr>
          <a:xfrm>
            <a:off x="6068390" y="4333823"/>
            <a:ext cx="1180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75" name="Google Shape;3575;p144"/>
          <p:cNvCxnSpPr>
            <a:stCxn id="3542" idx="6"/>
            <a:endCxn id="3563" idx="2"/>
          </p:cNvCxnSpPr>
          <p:nvPr/>
        </p:nvCxnSpPr>
        <p:spPr>
          <a:xfrm flipH="1" rot="10800000">
            <a:off x="5280000" y="2365660"/>
            <a:ext cx="2563800" cy="3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76" name="Google Shape;3576;p144"/>
          <p:cNvCxnSpPr>
            <a:stCxn id="3543" idx="5"/>
            <a:endCxn id="3563" idx="2"/>
          </p:cNvCxnSpPr>
          <p:nvPr/>
        </p:nvCxnSpPr>
        <p:spPr>
          <a:xfrm>
            <a:off x="6272046" y="1879123"/>
            <a:ext cx="1571700" cy="48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77" name="Google Shape;3577;p144"/>
          <p:cNvCxnSpPr>
            <a:stCxn id="3551" idx="6"/>
            <a:endCxn id="3563" idx="2"/>
          </p:cNvCxnSpPr>
          <p:nvPr/>
        </p:nvCxnSpPr>
        <p:spPr>
          <a:xfrm flipH="1" rot="10800000">
            <a:off x="5280008" y="2365829"/>
            <a:ext cx="2563800" cy="143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1" name="Shape 3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2" name="Google Shape;3582;p1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3583" name="Google Shape;3583;p145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Signed Graph in which every triple is balanced is called a </a:t>
            </a:r>
            <a:r>
              <a:rPr b="1" lang="en"/>
              <a:t>balanced signed graph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Balanced signed graphs have some interesting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 graph G is balanced: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Any subgraph of G is also balanced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All paths between the same pair of nodes have the same sign as the link between them!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Paths with </a:t>
            </a:r>
            <a:r>
              <a:rPr b="1" lang="en"/>
              <a:t>end nodes</a:t>
            </a:r>
            <a:r>
              <a:rPr lang="en"/>
              <a:t> that belong to different cliques have an </a:t>
            </a:r>
            <a:r>
              <a:rPr b="1" lang="en"/>
              <a:t>odd</a:t>
            </a:r>
            <a:r>
              <a:rPr lang="en"/>
              <a:t> number of </a:t>
            </a:r>
            <a:r>
              <a:rPr b="1" lang="en"/>
              <a:t>negative edges</a:t>
            </a:r>
            <a:endParaRPr b="1"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4" name="Google Shape;3584;p145"/>
          <p:cNvSpPr/>
          <p:nvPr/>
        </p:nvSpPr>
        <p:spPr>
          <a:xfrm>
            <a:off x="4704000" y="2112760"/>
            <a:ext cx="576000" cy="5736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85" name="Google Shape;3585;p145"/>
          <p:cNvSpPr/>
          <p:nvPr/>
        </p:nvSpPr>
        <p:spPr>
          <a:xfrm>
            <a:off x="5780399" y="1389525"/>
            <a:ext cx="576000" cy="5736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86" name="Google Shape;3586;p145"/>
          <p:cNvCxnSpPr>
            <a:stCxn id="3584" idx="6"/>
            <a:endCxn id="3585" idx="2"/>
          </p:cNvCxnSpPr>
          <p:nvPr/>
        </p:nvCxnSpPr>
        <p:spPr>
          <a:xfrm flipH="1" rot="10800000">
            <a:off x="5280000" y="1676260"/>
            <a:ext cx="5004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87" name="Google Shape;3587;p145"/>
          <p:cNvSpPr/>
          <p:nvPr/>
        </p:nvSpPr>
        <p:spPr>
          <a:xfrm>
            <a:off x="6960440" y="1389523"/>
            <a:ext cx="576000" cy="573600"/>
          </a:xfrm>
          <a:prstGeom prst="ellipse">
            <a:avLst/>
          </a:prstGeom>
          <a:solidFill>
            <a:srgbClr val="CC412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88" name="Google Shape;3588;p145"/>
          <p:cNvCxnSpPr>
            <a:stCxn id="3587" idx="2"/>
            <a:endCxn id="3585" idx="6"/>
          </p:cNvCxnSpPr>
          <p:nvPr/>
        </p:nvCxnSpPr>
        <p:spPr>
          <a:xfrm rot="10800000">
            <a:off x="6356540" y="1676323"/>
            <a:ext cx="603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589" name="Google Shape;3589;p145"/>
          <p:cNvSpPr/>
          <p:nvPr/>
        </p:nvSpPr>
        <p:spPr>
          <a:xfrm>
            <a:off x="7843901" y="3517836"/>
            <a:ext cx="576000" cy="573600"/>
          </a:xfrm>
          <a:prstGeom prst="ellipse">
            <a:avLst/>
          </a:prstGeom>
          <a:solidFill>
            <a:srgbClr val="CC412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90" name="Google Shape;3590;p145"/>
          <p:cNvCxnSpPr>
            <a:stCxn id="3589" idx="0"/>
            <a:endCxn id="3587" idx="4"/>
          </p:cNvCxnSpPr>
          <p:nvPr/>
        </p:nvCxnSpPr>
        <p:spPr>
          <a:xfrm rot="10800000">
            <a:off x="7248401" y="1963236"/>
            <a:ext cx="883500" cy="155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1" name="Google Shape;3591;p145"/>
          <p:cNvCxnSpPr>
            <a:stCxn id="3584" idx="6"/>
            <a:endCxn id="3589" idx="2"/>
          </p:cNvCxnSpPr>
          <p:nvPr/>
        </p:nvCxnSpPr>
        <p:spPr>
          <a:xfrm>
            <a:off x="5280000" y="2399560"/>
            <a:ext cx="256380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592" name="Google Shape;3592;p145"/>
          <p:cNvSpPr/>
          <p:nvPr/>
        </p:nvSpPr>
        <p:spPr>
          <a:xfrm>
            <a:off x="6960448" y="4333831"/>
            <a:ext cx="576000" cy="573600"/>
          </a:xfrm>
          <a:prstGeom prst="ellipse">
            <a:avLst/>
          </a:prstGeom>
          <a:solidFill>
            <a:srgbClr val="CC412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93" name="Google Shape;3593;p145"/>
          <p:cNvSpPr/>
          <p:nvPr/>
        </p:nvSpPr>
        <p:spPr>
          <a:xfrm>
            <a:off x="4704008" y="3517829"/>
            <a:ext cx="576000" cy="5736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94" name="Google Shape;3594;p145"/>
          <p:cNvCxnSpPr>
            <a:stCxn id="3584" idx="6"/>
            <a:endCxn id="3593" idx="6"/>
          </p:cNvCxnSpPr>
          <p:nvPr/>
        </p:nvCxnSpPr>
        <p:spPr>
          <a:xfrm>
            <a:off x="5280000" y="2399560"/>
            <a:ext cx="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5" name="Google Shape;3595;p145"/>
          <p:cNvCxnSpPr>
            <a:stCxn id="3593" idx="6"/>
            <a:endCxn id="3592" idx="0"/>
          </p:cNvCxnSpPr>
          <p:nvPr/>
        </p:nvCxnSpPr>
        <p:spPr>
          <a:xfrm>
            <a:off x="5280008" y="3804629"/>
            <a:ext cx="19683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96" name="Google Shape;3596;p145"/>
          <p:cNvCxnSpPr>
            <a:stCxn id="3592" idx="0"/>
            <a:endCxn id="3589" idx="2"/>
          </p:cNvCxnSpPr>
          <p:nvPr/>
        </p:nvCxnSpPr>
        <p:spPr>
          <a:xfrm flipH="1" rot="10800000">
            <a:off x="7248448" y="3804631"/>
            <a:ext cx="5955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7" name="Google Shape;3597;p145"/>
          <p:cNvCxnSpPr>
            <a:stCxn id="3593" idx="6"/>
            <a:endCxn id="3585" idx="2"/>
          </p:cNvCxnSpPr>
          <p:nvPr/>
        </p:nvCxnSpPr>
        <p:spPr>
          <a:xfrm flipH="1" rot="10800000">
            <a:off x="5280008" y="1676429"/>
            <a:ext cx="5004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8" name="Google Shape;3598;p145"/>
          <p:cNvCxnSpPr>
            <a:stCxn id="3589" idx="2"/>
            <a:endCxn id="3585" idx="5"/>
          </p:cNvCxnSpPr>
          <p:nvPr/>
        </p:nvCxnSpPr>
        <p:spPr>
          <a:xfrm rot="10800000">
            <a:off x="6271901" y="1879236"/>
            <a:ext cx="1572000" cy="192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99" name="Google Shape;3599;p145"/>
          <p:cNvCxnSpPr>
            <a:stCxn id="3593" idx="6"/>
            <a:endCxn id="3589" idx="2"/>
          </p:cNvCxnSpPr>
          <p:nvPr/>
        </p:nvCxnSpPr>
        <p:spPr>
          <a:xfrm>
            <a:off x="5280008" y="3804629"/>
            <a:ext cx="2563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600" name="Google Shape;3600;p145"/>
          <p:cNvCxnSpPr>
            <a:stCxn id="3584" idx="6"/>
            <a:endCxn id="3587" idx="2"/>
          </p:cNvCxnSpPr>
          <p:nvPr/>
        </p:nvCxnSpPr>
        <p:spPr>
          <a:xfrm flipH="1" rot="10800000">
            <a:off x="5280000" y="1676260"/>
            <a:ext cx="16803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601" name="Google Shape;3601;p145"/>
          <p:cNvCxnSpPr>
            <a:stCxn id="3592" idx="0"/>
            <a:endCxn id="3587" idx="4"/>
          </p:cNvCxnSpPr>
          <p:nvPr/>
        </p:nvCxnSpPr>
        <p:spPr>
          <a:xfrm rot="10800000">
            <a:off x="7248448" y="1963231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2" name="Google Shape;3602;p145"/>
          <p:cNvCxnSpPr>
            <a:stCxn id="3584" idx="6"/>
            <a:endCxn id="3592" idx="0"/>
          </p:cNvCxnSpPr>
          <p:nvPr/>
        </p:nvCxnSpPr>
        <p:spPr>
          <a:xfrm>
            <a:off x="5280000" y="2399560"/>
            <a:ext cx="19683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603" name="Google Shape;3603;p145"/>
          <p:cNvCxnSpPr>
            <a:stCxn id="3592" idx="0"/>
            <a:endCxn id="3585" idx="4"/>
          </p:cNvCxnSpPr>
          <p:nvPr/>
        </p:nvCxnSpPr>
        <p:spPr>
          <a:xfrm rot="10800000">
            <a:off x="6068548" y="1963231"/>
            <a:ext cx="11799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604" name="Google Shape;3604;p145"/>
          <p:cNvCxnSpPr>
            <a:stCxn id="3593" idx="6"/>
            <a:endCxn id="3587" idx="2"/>
          </p:cNvCxnSpPr>
          <p:nvPr/>
        </p:nvCxnSpPr>
        <p:spPr>
          <a:xfrm flipH="1" rot="10800000">
            <a:off x="5280008" y="1676429"/>
            <a:ext cx="16803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605" name="Google Shape;3605;p145"/>
          <p:cNvSpPr/>
          <p:nvPr/>
        </p:nvSpPr>
        <p:spPr>
          <a:xfrm>
            <a:off x="7843890" y="2078948"/>
            <a:ext cx="576000" cy="573600"/>
          </a:xfrm>
          <a:prstGeom prst="ellipse">
            <a:avLst/>
          </a:prstGeom>
          <a:solidFill>
            <a:srgbClr val="CC412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I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06" name="Google Shape;3606;p145"/>
          <p:cNvSpPr/>
          <p:nvPr/>
        </p:nvSpPr>
        <p:spPr>
          <a:xfrm>
            <a:off x="5780390" y="4333823"/>
            <a:ext cx="576000" cy="5736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H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07" name="Google Shape;3607;p145"/>
          <p:cNvCxnSpPr>
            <a:stCxn id="3605" idx="1"/>
            <a:endCxn id="3587" idx="5"/>
          </p:cNvCxnSpPr>
          <p:nvPr/>
        </p:nvCxnSpPr>
        <p:spPr>
          <a:xfrm rot="10800000">
            <a:off x="7452143" y="1879150"/>
            <a:ext cx="476100" cy="283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8" name="Google Shape;3608;p145"/>
          <p:cNvCxnSpPr>
            <a:stCxn id="3589" idx="0"/>
            <a:endCxn id="3605" idx="4"/>
          </p:cNvCxnSpPr>
          <p:nvPr/>
        </p:nvCxnSpPr>
        <p:spPr>
          <a:xfrm rot="10800000">
            <a:off x="8131901" y="2652636"/>
            <a:ext cx="0" cy="8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9" name="Google Shape;3609;p145"/>
          <p:cNvCxnSpPr>
            <a:stCxn id="3592" idx="0"/>
            <a:endCxn id="3605" idx="3"/>
          </p:cNvCxnSpPr>
          <p:nvPr/>
        </p:nvCxnSpPr>
        <p:spPr>
          <a:xfrm flipH="1" rot="10800000">
            <a:off x="7248448" y="2568631"/>
            <a:ext cx="6798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0" name="Google Shape;3610;p145"/>
          <p:cNvCxnSpPr>
            <a:stCxn id="3606" idx="0"/>
            <a:endCxn id="3593" idx="6"/>
          </p:cNvCxnSpPr>
          <p:nvPr/>
        </p:nvCxnSpPr>
        <p:spPr>
          <a:xfrm rot="10800000">
            <a:off x="5279990" y="3804623"/>
            <a:ext cx="7884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1" name="Google Shape;3611;p145"/>
          <p:cNvCxnSpPr>
            <a:stCxn id="3606" idx="0"/>
            <a:endCxn id="3585" idx="4"/>
          </p:cNvCxnSpPr>
          <p:nvPr/>
        </p:nvCxnSpPr>
        <p:spPr>
          <a:xfrm rot="10800000">
            <a:off x="6068390" y="1963223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2" name="Google Shape;3612;p145"/>
          <p:cNvCxnSpPr>
            <a:stCxn id="3606" idx="0"/>
            <a:endCxn id="3584" idx="6"/>
          </p:cNvCxnSpPr>
          <p:nvPr/>
        </p:nvCxnSpPr>
        <p:spPr>
          <a:xfrm rot="10800000">
            <a:off x="5279990" y="2399423"/>
            <a:ext cx="7884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3" name="Google Shape;3613;p145"/>
          <p:cNvCxnSpPr>
            <a:stCxn id="3606" idx="0"/>
            <a:endCxn id="3587" idx="4"/>
          </p:cNvCxnSpPr>
          <p:nvPr/>
        </p:nvCxnSpPr>
        <p:spPr>
          <a:xfrm flipH="1" rot="10800000">
            <a:off x="6068390" y="1963223"/>
            <a:ext cx="11802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614" name="Google Shape;3614;p145"/>
          <p:cNvCxnSpPr>
            <a:stCxn id="3606" idx="0"/>
            <a:endCxn id="3605" idx="3"/>
          </p:cNvCxnSpPr>
          <p:nvPr/>
        </p:nvCxnSpPr>
        <p:spPr>
          <a:xfrm flipH="1" rot="10800000">
            <a:off x="6068390" y="2568623"/>
            <a:ext cx="18600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615" name="Google Shape;3615;p145"/>
          <p:cNvCxnSpPr>
            <a:stCxn id="3606" idx="0"/>
            <a:endCxn id="3589" idx="2"/>
          </p:cNvCxnSpPr>
          <p:nvPr/>
        </p:nvCxnSpPr>
        <p:spPr>
          <a:xfrm flipH="1" rot="10800000">
            <a:off x="6068390" y="3804623"/>
            <a:ext cx="17754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616" name="Google Shape;3616;p145"/>
          <p:cNvCxnSpPr>
            <a:stCxn id="3606" idx="0"/>
            <a:endCxn id="3592" idx="0"/>
          </p:cNvCxnSpPr>
          <p:nvPr/>
        </p:nvCxnSpPr>
        <p:spPr>
          <a:xfrm>
            <a:off x="6068390" y="4333823"/>
            <a:ext cx="1180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617" name="Google Shape;3617;p145"/>
          <p:cNvCxnSpPr>
            <a:stCxn id="3584" idx="6"/>
            <a:endCxn id="3605" idx="2"/>
          </p:cNvCxnSpPr>
          <p:nvPr/>
        </p:nvCxnSpPr>
        <p:spPr>
          <a:xfrm flipH="1" rot="10800000">
            <a:off x="5280000" y="2365660"/>
            <a:ext cx="2563800" cy="3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618" name="Google Shape;3618;p145"/>
          <p:cNvCxnSpPr>
            <a:stCxn id="3585" idx="5"/>
            <a:endCxn id="3605" idx="2"/>
          </p:cNvCxnSpPr>
          <p:nvPr/>
        </p:nvCxnSpPr>
        <p:spPr>
          <a:xfrm>
            <a:off x="6272046" y="1879123"/>
            <a:ext cx="1571700" cy="48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619" name="Google Shape;3619;p145"/>
          <p:cNvCxnSpPr>
            <a:stCxn id="3593" idx="6"/>
            <a:endCxn id="3605" idx="2"/>
          </p:cNvCxnSpPr>
          <p:nvPr/>
        </p:nvCxnSpPr>
        <p:spPr>
          <a:xfrm flipH="1" rot="10800000">
            <a:off x="5280008" y="2365829"/>
            <a:ext cx="2563800" cy="143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3" name="Shape 3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" name="Google Shape;3624;p1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3625" name="Google Shape;3625;p146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Signed Graph in which every triple is balanced is called a </a:t>
            </a:r>
            <a:r>
              <a:rPr b="1" lang="en"/>
              <a:t>balanced signed graph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Balanced signed graphs have some interesting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 graph G is balanced: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Any subgraph of G is also balanced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All paths between the same pair of nodes have the same sign as the link between them!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Cycles of any length are always positive!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6" name="Google Shape;3626;p146"/>
          <p:cNvSpPr/>
          <p:nvPr/>
        </p:nvSpPr>
        <p:spPr>
          <a:xfrm>
            <a:off x="4704000" y="2112760"/>
            <a:ext cx="576000" cy="5736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27" name="Google Shape;3627;p146"/>
          <p:cNvSpPr/>
          <p:nvPr/>
        </p:nvSpPr>
        <p:spPr>
          <a:xfrm>
            <a:off x="5780399" y="1389525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28" name="Google Shape;3628;p146"/>
          <p:cNvCxnSpPr>
            <a:stCxn id="3626" idx="6"/>
            <a:endCxn id="3627" idx="2"/>
          </p:cNvCxnSpPr>
          <p:nvPr/>
        </p:nvCxnSpPr>
        <p:spPr>
          <a:xfrm flipH="1" rot="10800000">
            <a:off x="5280000" y="1676260"/>
            <a:ext cx="500400" cy="723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29" name="Google Shape;3629;p146"/>
          <p:cNvSpPr/>
          <p:nvPr/>
        </p:nvSpPr>
        <p:spPr>
          <a:xfrm>
            <a:off x="6960440" y="13895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30" name="Google Shape;3630;p146"/>
          <p:cNvCxnSpPr>
            <a:stCxn id="3629" idx="2"/>
            <a:endCxn id="3627" idx="6"/>
          </p:cNvCxnSpPr>
          <p:nvPr/>
        </p:nvCxnSpPr>
        <p:spPr>
          <a:xfrm rot="10800000">
            <a:off x="6356540" y="1676323"/>
            <a:ext cx="603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631" name="Google Shape;3631;p146"/>
          <p:cNvSpPr/>
          <p:nvPr/>
        </p:nvSpPr>
        <p:spPr>
          <a:xfrm>
            <a:off x="7843901" y="3517836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32" name="Google Shape;3632;p146"/>
          <p:cNvCxnSpPr>
            <a:stCxn id="3631" idx="0"/>
            <a:endCxn id="3629" idx="4"/>
          </p:cNvCxnSpPr>
          <p:nvPr/>
        </p:nvCxnSpPr>
        <p:spPr>
          <a:xfrm rot="10800000">
            <a:off x="7248401" y="1963236"/>
            <a:ext cx="883500" cy="155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3" name="Google Shape;3633;p146"/>
          <p:cNvCxnSpPr>
            <a:stCxn id="3626" idx="6"/>
            <a:endCxn id="3631" idx="2"/>
          </p:cNvCxnSpPr>
          <p:nvPr/>
        </p:nvCxnSpPr>
        <p:spPr>
          <a:xfrm>
            <a:off x="5280000" y="2399560"/>
            <a:ext cx="2563800" cy="1405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634" name="Google Shape;3634;p146"/>
          <p:cNvSpPr/>
          <p:nvPr/>
        </p:nvSpPr>
        <p:spPr>
          <a:xfrm>
            <a:off x="6960448" y="4333831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35" name="Google Shape;3635;p146"/>
          <p:cNvSpPr/>
          <p:nvPr/>
        </p:nvSpPr>
        <p:spPr>
          <a:xfrm>
            <a:off x="4704008" y="3517829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36" name="Google Shape;3636;p146"/>
          <p:cNvCxnSpPr>
            <a:stCxn id="3626" idx="6"/>
            <a:endCxn id="3635" idx="6"/>
          </p:cNvCxnSpPr>
          <p:nvPr/>
        </p:nvCxnSpPr>
        <p:spPr>
          <a:xfrm>
            <a:off x="5280000" y="2399560"/>
            <a:ext cx="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7" name="Google Shape;3637;p146"/>
          <p:cNvCxnSpPr>
            <a:stCxn id="3635" idx="6"/>
            <a:endCxn id="3634" idx="0"/>
          </p:cNvCxnSpPr>
          <p:nvPr/>
        </p:nvCxnSpPr>
        <p:spPr>
          <a:xfrm>
            <a:off x="5280008" y="3804629"/>
            <a:ext cx="19683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638" name="Google Shape;3638;p146"/>
          <p:cNvCxnSpPr>
            <a:stCxn id="3634" idx="0"/>
            <a:endCxn id="3631" idx="2"/>
          </p:cNvCxnSpPr>
          <p:nvPr/>
        </p:nvCxnSpPr>
        <p:spPr>
          <a:xfrm flipH="1" rot="10800000">
            <a:off x="7248448" y="3804631"/>
            <a:ext cx="5955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9" name="Google Shape;3639;p146"/>
          <p:cNvCxnSpPr>
            <a:stCxn id="3635" idx="6"/>
            <a:endCxn id="3627" idx="2"/>
          </p:cNvCxnSpPr>
          <p:nvPr/>
        </p:nvCxnSpPr>
        <p:spPr>
          <a:xfrm flipH="1" rot="10800000">
            <a:off x="5280008" y="1676429"/>
            <a:ext cx="5004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0" name="Google Shape;3640;p146"/>
          <p:cNvCxnSpPr>
            <a:stCxn id="3631" idx="2"/>
            <a:endCxn id="3627" idx="5"/>
          </p:cNvCxnSpPr>
          <p:nvPr/>
        </p:nvCxnSpPr>
        <p:spPr>
          <a:xfrm rot="10800000">
            <a:off x="6271901" y="1879236"/>
            <a:ext cx="1572000" cy="192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641" name="Google Shape;3641;p146"/>
          <p:cNvCxnSpPr>
            <a:stCxn id="3635" idx="6"/>
            <a:endCxn id="3631" idx="2"/>
          </p:cNvCxnSpPr>
          <p:nvPr/>
        </p:nvCxnSpPr>
        <p:spPr>
          <a:xfrm>
            <a:off x="5280008" y="3804629"/>
            <a:ext cx="2563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642" name="Google Shape;3642;p146"/>
          <p:cNvCxnSpPr>
            <a:stCxn id="3626" idx="6"/>
            <a:endCxn id="3629" idx="2"/>
          </p:cNvCxnSpPr>
          <p:nvPr/>
        </p:nvCxnSpPr>
        <p:spPr>
          <a:xfrm flipH="1" rot="10800000">
            <a:off x="5280000" y="1676260"/>
            <a:ext cx="16803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643" name="Google Shape;3643;p146"/>
          <p:cNvCxnSpPr>
            <a:stCxn id="3634" idx="0"/>
            <a:endCxn id="3629" idx="4"/>
          </p:cNvCxnSpPr>
          <p:nvPr/>
        </p:nvCxnSpPr>
        <p:spPr>
          <a:xfrm rot="10800000">
            <a:off x="7248448" y="1963231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4" name="Google Shape;3644;p146"/>
          <p:cNvCxnSpPr>
            <a:stCxn id="3626" idx="6"/>
            <a:endCxn id="3634" idx="0"/>
          </p:cNvCxnSpPr>
          <p:nvPr/>
        </p:nvCxnSpPr>
        <p:spPr>
          <a:xfrm>
            <a:off x="5280000" y="2399560"/>
            <a:ext cx="19683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645" name="Google Shape;3645;p146"/>
          <p:cNvCxnSpPr>
            <a:stCxn id="3634" idx="0"/>
            <a:endCxn id="3627" idx="4"/>
          </p:cNvCxnSpPr>
          <p:nvPr/>
        </p:nvCxnSpPr>
        <p:spPr>
          <a:xfrm rot="10800000">
            <a:off x="6068548" y="1963231"/>
            <a:ext cx="11799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646" name="Google Shape;3646;p146"/>
          <p:cNvCxnSpPr>
            <a:stCxn id="3635" idx="6"/>
            <a:endCxn id="3629" idx="2"/>
          </p:cNvCxnSpPr>
          <p:nvPr/>
        </p:nvCxnSpPr>
        <p:spPr>
          <a:xfrm flipH="1" rot="10800000">
            <a:off x="5280008" y="1676429"/>
            <a:ext cx="16803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647" name="Google Shape;3647;p146"/>
          <p:cNvSpPr/>
          <p:nvPr/>
        </p:nvSpPr>
        <p:spPr>
          <a:xfrm>
            <a:off x="7843890" y="2078948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I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48" name="Google Shape;3648;p146"/>
          <p:cNvSpPr/>
          <p:nvPr/>
        </p:nvSpPr>
        <p:spPr>
          <a:xfrm>
            <a:off x="5780390" y="43338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H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49" name="Google Shape;3649;p146"/>
          <p:cNvCxnSpPr>
            <a:stCxn id="3647" idx="1"/>
            <a:endCxn id="3629" idx="5"/>
          </p:cNvCxnSpPr>
          <p:nvPr/>
        </p:nvCxnSpPr>
        <p:spPr>
          <a:xfrm rot="10800000">
            <a:off x="7452143" y="1879150"/>
            <a:ext cx="476100" cy="283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0" name="Google Shape;3650;p146"/>
          <p:cNvCxnSpPr>
            <a:stCxn id="3631" idx="0"/>
            <a:endCxn id="3647" idx="4"/>
          </p:cNvCxnSpPr>
          <p:nvPr/>
        </p:nvCxnSpPr>
        <p:spPr>
          <a:xfrm rot="10800000">
            <a:off x="8131901" y="2652636"/>
            <a:ext cx="0" cy="865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1" name="Google Shape;3651;p146"/>
          <p:cNvCxnSpPr>
            <a:stCxn id="3634" idx="0"/>
            <a:endCxn id="3647" idx="3"/>
          </p:cNvCxnSpPr>
          <p:nvPr/>
        </p:nvCxnSpPr>
        <p:spPr>
          <a:xfrm flipH="1" rot="10800000">
            <a:off x="7248448" y="2568631"/>
            <a:ext cx="6798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2" name="Google Shape;3652;p146"/>
          <p:cNvCxnSpPr>
            <a:stCxn id="3648" idx="0"/>
            <a:endCxn id="3635" idx="6"/>
          </p:cNvCxnSpPr>
          <p:nvPr/>
        </p:nvCxnSpPr>
        <p:spPr>
          <a:xfrm rot="10800000">
            <a:off x="5279990" y="3804623"/>
            <a:ext cx="7884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3" name="Google Shape;3653;p146"/>
          <p:cNvCxnSpPr>
            <a:stCxn id="3648" idx="0"/>
            <a:endCxn id="3627" idx="4"/>
          </p:cNvCxnSpPr>
          <p:nvPr/>
        </p:nvCxnSpPr>
        <p:spPr>
          <a:xfrm rot="10800000">
            <a:off x="6068390" y="1963223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4" name="Google Shape;3654;p146"/>
          <p:cNvCxnSpPr>
            <a:stCxn id="3648" idx="0"/>
            <a:endCxn id="3626" idx="6"/>
          </p:cNvCxnSpPr>
          <p:nvPr/>
        </p:nvCxnSpPr>
        <p:spPr>
          <a:xfrm rot="10800000">
            <a:off x="5279990" y="2399423"/>
            <a:ext cx="7884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5" name="Google Shape;3655;p146"/>
          <p:cNvCxnSpPr>
            <a:stCxn id="3648" idx="0"/>
            <a:endCxn id="3629" idx="4"/>
          </p:cNvCxnSpPr>
          <p:nvPr/>
        </p:nvCxnSpPr>
        <p:spPr>
          <a:xfrm flipH="1" rot="10800000">
            <a:off x="6068390" y="1963223"/>
            <a:ext cx="11802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656" name="Google Shape;3656;p146"/>
          <p:cNvCxnSpPr>
            <a:stCxn id="3648" idx="0"/>
            <a:endCxn id="3647" idx="3"/>
          </p:cNvCxnSpPr>
          <p:nvPr/>
        </p:nvCxnSpPr>
        <p:spPr>
          <a:xfrm flipH="1" rot="10800000">
            <a:off x="6068390" y="2568623"/>
            <a:ext cx="18600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657" name="Google Shape;3657;p146"/>
          <p:cNvCxnSpPr>
            <a:stCxn id="3648" idx="0"/>
            <a:endCxn id="3631" idx="2"/>
          </p:cNvCxnSpPr>
          <p:nvPr/>
        </p:nvCxnSpPr>
        <p:spPr>
          <a:xfrm flipH="1" rot="10800000">
            <a:off x="6068390" y="3804623"/>
            <a:ext cx="17754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658" name="Google Shape;3658;p146"/>
          <p:cNvCxnSpPr>
            <a:stCxn id="3648" idx="0"/>
            <a:endCxn id="3634" idx="0"/>
          </p:cNvCxnSpPr>
          <p:nvPr/>
        </p:nvCxnSpPr>
        <p:spPr>
          <a:xfrm>
            <a:off x="6068390" y="4333823"/>
            <a:ext cx="1180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659" name="Google Shape;3659;p146"/>
          <p:cNvCxnSpPr>
            <a:stCxn id="3626" idx="6"/>
            <a:endCxn id="3647" idx="2"/>
          </p:cNvCxnSpPr>
          <p:nvPr/>
        </p:nvCxnSpPr>
        <p:spPr>
          <a:xfrm flipH="1" rot="10800000">
            <a:off x="5280000" y="2365660"/>
            <a:ext cx="2563800" cy="3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660" name="Google Shape;3660;p146"/>
          <p:cNvCxnSpPr>
            <a:stCxn id="3627" idx="5"/>
            <a:endCxn id="3647" idx="2"/>
          </p:cNvCxnSpPr>
          <p:nvPr/>
        </p:nvCxnSpPr>
        <p:spPr>
          <a:xfrm>
            <a:off x="6272046" y="1879123"/>
            <a:ext cx="1571700" cy="486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661" name="Google Shape;3661;p146"/>
          <p:cNvCxnSpPr>
            <a:stCxn id="3635" idx="6"/>
            <a:endCxn id="3647" idx="2"/>
          </p:cNvCxnSpPr>
          <p:nvPr/>
        </p:nvCxnSpPr>
        <p:spPr>
          <a:xfrm flipH="1" rot="10800000">
            <a:off x="5280008" y="2365829"/>
            <a:ext cx="2563800" cy="143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662" name="Google Shape;3662;p146"/>
          <p:cNvSpPr/>
          <p:nvPr/>
        </p:nvSpPr>
        <p:spPr>
          <a:xfrm>
            <a:off x="6662275" y="916125"/>
            <a:ext cx="2481600" cy="486600"/>
          </a:xfrm>
          <a:prstGeom prst="ellipse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1 * </a:t>
            </a:r>
            <a:r>
              <a:rPr b="1" lang="en">
                <a:solidFill>
                  <a:srgbClr val="0000FF"/>
                </a:solidFill>
              </a:rPr>
              <a:t>-1 * 1 * -1  = 1</a:t>
            </a:r>
            <a:endParaRPr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6" name="Shape 3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7" name="Google Shape;3667;p1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3668" name="Google Shape;3668;p147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Signed Graph in which every triple is balanced is called a </a:t>
            </a:r>
            <a:r>
              <a:rPr b="1" lang="en"/>
              <a:t>balanced signed graph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Balanced signed graphs have some interesting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 graph G is balanced: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Any subgraph of G is also balanced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All paths between the same pair of nodes have the same sign as the link between them!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Cycles of any length are always positive!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9" name="Google Shape;3669;p147"/>
          <p:cNvSpPr/>
          <p:nvPr/>
        </p:nvSpPr>
        <p:spPr>
          <a:xfrm>
            <a:off x="4704000" y="2112760"/>
            <a:ext cx="576000" cy="5736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70" name="Google Shape;3670;p147"/>
          <p:cNvSpPr/>
          <p:nvPr/>
        </p:nvSpPr>
        <p:spPr>
          <a:xfrm>
            <a:off x="5780399" y="1389525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71" name="Google Shape;3671;p147"/>
          <p:cNvCxnSpPr>
            <a:stCxn id="3669" idx="6"/>
            <a:endCxn id="3670" idx="2"/>
          </p:cNvCxnSpPr>
          <p:nvPr/>
        </p:nvCxnSpPr>
        <p:spPr>
          <a:xfrm flipH="1" rot="10800000">
            <a:off x="5280000" y="1676260"/>
            <a:ext cx="500400" cy="723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72" name="Google Shape;3672;p147"/>
          <p:cNvSpPr/>
          <p:nvPr/>
        </p:nvSpPr>
        <p:spPr>
          <a:xfrm>
            <a:off x="6960440" y="13895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73" name="Google Shape;3673;p147"/>
          <p:cNvCxnSpPr>
            <a:stCxn id="3672" idx="2"/>
            <a:endCxn id="3670" idx="6"/>
          </p:cNvCxnSpPr>
          <p:nvPr/>
        </p:nvCxnSpPr>
        <p:spPr>
          <a:xfrm rot="10800000">
            <a:off x="6356540" y="1676323"/>
            <a:ext cx="6039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674" name="Google Shape;3674;p147"/>
          <p:cNvSpPr/>
          <p:nvPr/>
        </p:nvSpPr>
        <p:spPr>
          <a:xfrm>
            <a:off x="7843901" y="3517836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75" name="Google Shape;3675;p147"/>
          <p:cNvCxnSpPr>
            <a:stCxn id="3674" idx="0"/>
            <a:endCxn id="3672" idx="4"/>
          </p:cNvCxnSpPr>
          <p:nvPr/>
        </p:nvCxnSpPr>
        <p:spPr>
          <a:xfrm rot="10800000">
            <a:off x="7248401" y="1963236"/>
            <a:ext cx="883500" cy="155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6" name="Google Shape;3676;p147"/>
          <p:cNvCxnSpPr>
            <a:stCxn id="3669" idx="6"/>
            <a:endCxn id="3674" idx="2"/>
          </p:cNvCxnSpPr>
          <p:nvPr/>
        </p:nvCxnSpPr>
        <p:spPr>
          <a:xfrm>
            <a:off x="5280000" y="2399560"/>
            <a:ext cx="2563800" cy="1405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677" name="Google Shape;3677;p147"/>
          <p:cNvSpPr/>
          <p:nvPr/>
        </p:nvSpPr>
        <p:spPr>
          <a:xfrm>
            <a:off x="6960448" y="4333831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78" name="Google Shape;3678;p147"/>
          <p:cNvSpPr/>
          <p:nvPr/>
        </p:nvSpPr>
        <p:spPr>
          <a:xfrm>
            <a:off x="4704008" y="3517829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79" name="Google Shape;3679;p147"/>
          <p:cNvCxnSpPr>
            <a:stCxn id="3669" idx="6"/>
            <a:endCxn id="3678" idx="6"/>
          </p:cNvCxnSpPr>
          <p:nvPr/>
        </p:nvCxnSpPr>
        <p:spPr>
          <a:xfrm>
            <a:off x="5280000" y="2399560"/>
            <a:ext cx="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0" name="Google Shape;3680;p147"/>
          <p:cNvCxnSpPr>
            <a:stCxn id="3678" idx="6"/>
            <a:endCxn id="3677" idx="0"/>
          </p:cNvCxnSpPr>
          <p:nvPr/>
        </p:nvCxnSpPr>
        <p:spPr>
          <a:xfrm>
            <a:off x="5280008" y="3804629"/>
            <a:ext cx="19683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681" name="Google Shape;3681;p147"/>
          <p:cNvCxnSpPr>
            <a:stCxn id="3677" idx="0"/>
            <a:endCxn id="3674" idx="2"/>
          </p:cNvCxnSpPr>
          <p:nvPr/>
        </p:nvCxnSpPr>
        <p:spPr>
          <a:xfrm flipH="1" rot="10800000">
            <a:off x="7248448" y="3804631"/>
            <a:ext cx="5955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2" name="Google Shape;3682;p147"/>
          <p:cNvCxnSpPr>
            <a:stCxn id="3678" idx="6"/>
            <a:endCxn id="3670" idx="2"/>
          </p:cNvCxnSpPr>
          <p:nvPr/>
        </p:nvCxnSpPr>
        <p:spPr>
          <a:xfrm flipH="1" rot="10800000">
            <a:off x="5280008" y="1676429"/>
            <a:ext cx="5004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3" name="Google Shape;3683;p147"/>
          <p:cNvCxnSpPr>
            <a:stCxn id="3674" idx="2"/>
            <a:endCxn id="3670" idx="5"/>
          </p:cNvCxnSpPr>
          <p:nvPr/>
        </p:nvCxnSpPr>
        <p:spPr>
          <a:xfrm rot="10800000">
            <a:off x="6271901" y="1879236"/>
            <a:ext cx="1572000" cy="192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684" name="Google Shape;3684;p147"/>
          <p:cNvCxnSpPr>
            <a:stCxn id="3678" idx="6"/>
            <a:endCxn id="3674" idx="2"/>
          </p:cNvCxnSpPr>
          <p:nvPr/>
        </p:nvCxnSpPr>
        <p:spPr>
          <a:xfrm>
            <a:off x="5280008" y="3804629"/>
            <a:ext cx="2563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685" name="Google Shape;3685;p147"/>
          <p:cNvCxnSpPr>
            <a:stCxn id="3669" idx="6"/>
            <a:endCxn id="3672" idx="2"/>
          </p:cNvCxnSpPr>
          <p:nvPr/>
        </p:nvCxnSpPr>
        <p:spPr>
          <a:xfrm flipH="1" rot="10800000">
            <a:off x="5280000" y="1676260"/>
            <a:ext cx="16803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686" name="Google Shape;3686;p147"/>
          <p:cNvCxnSpPr>
            <a:stCxn id="3677" idx="0"/>
            <a:endCxn id="3672" idx="4"/>
          </p:cNvCxnSpPr>
          <p:nvPr/>
        </p:nvCxnSpPr>
        <p:spPr>
          <a:xfrm rot="10800000">
            <a:off x="7248448" y="1963231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7" name="Google Shape;3687;p147"/>
          <p:cNvCxnSpPr>
            <a:stCxn id="3669" idx="6"/>
            <a:endCxn id="3677" idx="0"/>
          </p:cNvCxnSpPr>
          <p:nvPr/>
        </p:nvCxnSpPr>
        <p:spPr>
          <a:xfrm>
            <a:off x="5280000" y="2399560"/>
            <a:ext cx="19683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688" name="Google Shape;3688;p147"/>
          <p:cNvCxnSpPr>
            <a:stCxn id="3677" idx="0"/>
            <a:endCxn id="3670" idx="4"/>
          </p:cNvCxnSpPr>
          <p:nvPr/>
        </p:nvCxnSpPr>
        <p:spPr>
          <a:xfrm rot="10800000">
            <a:off x="6068548" y="1963231"/>
            <a:ext cx="11799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689" name="Google Shape;3689;p147"/>
          <p:cNvCxnSpPr>
            <a:stCxn id="3678" idx="6"/>
            <a:endCxn id="3672" idx="2"/>
          </p:cNvCxnSpPr>
          <p:nvPr/>
        </p:nvCxnSpPr>
        <p:spPr>
          <a:xfrm flipH="1" rot="10800000">
            <a:off x="5280008" y="1676429"/>
            <a:ext cx="16803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690" name="Google Shape;3690;p147"/>
          <p:cNvSpPr/>
          <p:nvPr/>
        </p:nvSpPr>
        <p:spPr>
          <a:xfrm>
            <a:off x="7843890" y="2078948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I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91" name="Google Shape;3691;p147"/>
          <p:cNvSpPr/>
          <p:nvPr/>
        </p:nvSpPr>
        <p:spPr>
          <a:xfrm>
            <a:off x="5780390" y="43338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H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92" name="Google Shape;3692;p147"/>
          <p:cNvCxnSpPr>
            <a:stCxn id="3690" idx="1"/>
            <a:endCxn id="3672" idx="5"/>
          </p:cNvCxnSpPr>
          <p:nvPr/>
        </p:nvCxnSpPr>
        <p:spPr>
          <a:xfrm rot="10800000">
            <a:off x="7452143" y="1879150"/>
            <a:ext cx="476100" cy="283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3" name="Google Shape;3693;p147"/>
          <p:cNvCxnSpPr>
            <a:stCxn id="3674" idx="0"/>
            <a:endCxn id="3690" idx="4"/>
          </p:cNvCxnSpPr>
          <p:nvPr/>
        </p:nvCxnSpPr>
        <p:spPr>
          <a:xfrm rot="10800000">
            <a:off x="8131901" y="2652636"/>
            <a:ext cx="0" cy="865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4" name="Google Shape;3694;p147"/>
          <p:cNvCxnSpPr>
            <a:stCxn id="3677" idx="0"/>
            <a:endCxn id="3690" idx="3"/>
          </p:cNvCxnSpPr>
          <p:nvPr/>
        </p:nvCxnSpPr>
        <p:spPr>
          <a:xfrm flipH="1" rot="10800000">
            <a:off x="7248448" y="2568631"/>
            <a:ext cx="6798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5" name="Google Shape;3695;p147"/>
          <p:cNvCxnSpPr>
            <a:stCxn id="3691" idx="0"/>
            <a:endCxn id="3678" idx="6"/>
          </p:cNvCxnSpPr>
          <p:nvPr/>
        </p:nvCxnSpPr>
        <p:spPr>
          <a:xfrm rot="10800000">
            <a:off x="5279990" y="3804623"/>
            <a:ext cx="7884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6" name="Google Shape;3696;p147"/>
          <p:cNvCxnSpPr>
            <a:stCxn id="3691" idx="0"/>
            <a:endCxn id="3670" idx="4"/>
          </p:cNvCxnSpPr>
          <p:nvPr/>
        </p:nvCxnSpPr>
        <p:spPr>
          <a:xfrm rot="10800000">
            <a:off x="6068390" y="1963223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7" name="Google Shape;3697;p147"/>
          <p:cNvCxnSpPr>
            <a:stCxn id="3691" idx="0"/>
            <a:endCxn id="3669" idx="6"/>
          </p:cNvCxnSpPr>
          <p:nvPr/>
        </p:nvCxnSpPr>
        <p:spPr>
          <a:xfrm rot="10800000">
            <a:off x="5279990" y="2399423"/>
            <a:ext cx="7884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8" name="Google Shape;3698;p147"/>
          <p:cNvCxnSpPr>
            <a:stCxn id="3691" idx="0"/>
            <a:endCxn id="3672" idx="4"/>
          </p:cNvCxnSpPr>
          <p:nvPr/>
        </p:nvCxnSpPr>
        <p:spPr>
          <a:xfrm flipH="1" rot="10800000">
            <a:off x="6068390" y="1963223"/>
            <a:ext cx="11802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699" name="Google Shape;3699;p147"/>
          <p:cNvCxnSpPr>
            <a:stCxn id="3691" idx="0"/>
            <a:endCxn id="3690" idx="3"/>
          </p:cNvCxnSpPr>
          <p:nvPr/>
        </p:nvCxnSpPr>
        <p:spPr>
          <a:xfrm flipH="1" rot="10800000">
            <a:off x="6068390" y="2568623"/>
            <a:ext cx="18600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00" name="Google Shape;3700;p147"/>
          <p:cNvCxnSpPr>
            <a:stCxn id="3691" idx="0"/>
            <a:endCxn id="3674" idx="2"/>
          </p:cNvCxnSpPr>
          <p:nvPr/>
        </p:nvCxnSpPr>
        <p:spPr>
          <a:xfrm flipH="1" rot="10800000">
            <a:off x="6068390" y="3804623"/>
            <a:ext cx="17754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01" name="Google Shape;3701;p147"/>
          <p:cNvCxnSpPr>
            <a:stCxn id="3691" idx="0"/>
            <a:endCxn id="3677" idx="0"/>
          </p:cNvCxnSpPr>
          <p:nvPr/>
        </p:nvCxnSpPr>
        <p:spPr>
          <a:xfrm>
            <a:off x="6068390" y="4333823"/>
            <a:ext cx="1180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02" name="Google Shape;3702;p147"/>
          <p:cNvCxnSpPr>
            <a:stCxn id="3669" idx="6"/>
            <a:endCxn id="3690" idx="2"/>
          </p:cNvCxnSpPr>
          <p:nvPr/>
        </p:nvCxnSpPr>
        <p:spPr>
          <a:xfrm flipH="1" rot="10800000">
            <a:off x="5280000" y="2365660"/>
            <a:ext cx="2563800" cy="3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03" name="Google Shape;3703;p147"/>
          <p:cNvCxnSpPr>
            <a:stCxn id="3670" idx="5"/>
            <a:endCxn id="3690" idx="2"/>
          </p:cNvCxnSpPr>
          <p:nvPr/>
        </p:nvCxnSpPr>
        <p:spPr>
          <a:xfrm>
            <a:off x="6272046" y="1879123"/>
            <a:ext cx="1571700" cy="48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04" name="Google Shape;3704;p147"/>
          <p:cNvCxnSpPr>
            <a:stCxn id="3678" idx="6"/>
            <a:endCxn id="3690" idx="2"/>
          </p:cNvCxnSpPr>
          <p:nvPr/>
        </p:nvCxnSpPr>
        <p:spPr>
          <a:xfrm flipH="1" rot="10800000">
            <a:off x="5280008" y="2365829"/>
            <a:ext cx="2563800" cy="143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705" name="Google Shape;3705;p147"/>
          <p:cNvSpPr/>
          <p:nvPr/>
        </p:nvSpPr>
        <p:spPr>
          <a:xfrm>
            <a:off x="6403925" y="916125"/>
            <a:ext cx="2739900" cy="486600"/>
          </a:xfrm>
          <a:prstGeom prst="ellipse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1 * -1 * 1 * 1 * -1  = 1</a:t>
            </a:r>
            <a:endParaRPr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9" name="Shape 3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0" name="Google Shape;3710;p1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3711" name="Google Shape;3711;p148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Signed Graph in which every triple is balanced is called a </a:t>
            </a:r>
            <a:r>
              <a:rPr b="1" lang="en"/>
              <a:t>balanced signed graph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Balanced signed graphs have some interesting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 graph G is balanced: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Any subgraph of G is also balanced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All paths between the same pair of nodes have the same sign as the link between them!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Cycles of any length are always positive!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2" name="Google Shape;3712;p148"/>
          <p:cNvSpPr/>
          <p:nvPr/>
        </p:nvSpPr>
        <p:spPr>
          <a:xfrm>
            <a:off x="4704000" y="2112760"/>
            <a:ext cx="576000" cy="5736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13" name="Google Shape;3713;p148"/>
          <p:cNvSpPr/>
          <p:nvPr/>
        </p:nvSpPr>
        <p:spPr>
          <a:xfrm>
            <a:off x="5780399" y="1389525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714" name="Google Shape;3714;p148"/>
          <p:cNvCxnSpPr>
            <a:stCxn id="3712" idx="6"/>
            <a:endCxn id="3713" idx="2"/>
          </p:cNvCxnSpPr>
          <p:nvPr/>
        </p:nvCxnSpPr>
        <p:spPr>
          <a:xfrm flipH="1" rot="10800000">
            <a:off x="5280000" y="1676260"/>
            <a:ext cx="500400" cy="723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15" name="Google Shape;3715;p148"/>
          <p:cNvSpPr/>
          <p:nvPr/>
        </p:nvSpPr>
        <p:spPr>
          <a:xfrm>
            <a:off x="6960440" y="13895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716" name="Google Shape;3716;p148"/>
          <p:cNvCxnSpPr>
            <a:stCxn id="3715" idx="2"/>
            <a:endCxn id="3713" idx="6"/>
          </p:cNvCxnSpPr>
          <p:nvPr/>
        </p:nvCxnSpPr>
        <p:spPr>
          <a:xfrm rot="10800000">
            <a:off x="6356540" y="1676323"/>
            <a:ext cx="6039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717" name="Google Shape;3717;p148"/>
          <p:cNvSpPr/>
          <p:nvPr/>
        </p:nvSpPr>
        <p:spPr>
          <a:xfrm>
            <a:off x="7843901" y="3517836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718" name="Google Shape;3718;p148"/>
          <p:cNvCxnSpPr>
            <a:stCxn id="3717" idx="0"/>
            <a:endCxn id="3715" idx="4"/>
          </p:cNvCxnSpPr>
          <p:nvPr/>
        </p:nvCxnSpPr>
        <p:spPr>
          <a:xfrm rot="10800000">
            <a:off x="7248401" y="1963236"/>
            <a:ext cx="883500" cy="155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9" name="Google Shape;3719;p148"/>
          <p:cNvCxnSpPr>
            <a:stCxn id="3712" idx="6"/>
            <a:endCxn id="3717" idx="2"/>
          </p:cNvCxnSpPr>
          <p:nvPr/>
        </p:nvCxnSpPr>
        <p:spPr>
          <a:xfrm>
            <a:off x="5280000" y="2399560"/>
            <a:ext cx="256380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720" name="Google Shape;3720;p148"/>
          <p:cNvSpPr/>
          <p:nvPr/>
        </p:nvSpPr>
        <p:spPr>
          <a:xfrm>
            <a:off x="6960448" y="4333831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21" name="Google Shape;3721;p148"/>
          <p:cNvSpPr/>
          <p:nvPr/>
        </p:nvSpPr>
        <p:spPr>
          <a:xfrm>
            <a:off x="4704008" y="3517829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722" name="Google Shape;3722;p148"/>
          <p:cNvCxnSpPr>
            <a:stCxn id="3712" idx="6"/>
            <a:endCxn id="3721" idx="6"/>
          </p:cNvCxnSpPr>
          <p:nvPr/>
        </p:nvCxnSpPr>
        <p:spPr>
          <a:xfrm>
            <a:off x="5280000" y="2399560"/>
            <a:ext cx="0" cy="1405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3" name="Google Shape;3723;p148"/>
          <p:cNvCxnSpPr>
            <a:stCxn id="3721" idx="6"/>
            <a:endCxn id="3720" idx="0"/>
          </p:cNvCxnSpPr>
          <p:nvPr/>
        </p:nvCxnSpPr>
        <p:spPr>
          <a:xfrm>
            <a:off x="5280008" y="3804629"/>
            <a:ext cx="19683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24" name="Google Shape;3724;p148"/>
          <p:cNvCxnSpPr>
            <a:stCxn id="3720" idx="0"/>
            <a:endCxn id="3717" idx="2"/>
          </p:cNvCxnSpPr>
          <p:nvPr/>
        </p:nvCxnSpPr>
        <p:spPr>
          <a:xfrm flipH="1" rot="10800000">
            <a:off x="7248448" y="3804631"/>
            <a:ext cx="595500" cy="529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5" name="Google Shape;3725;p148"/>
          <p:cNvCxnSpPr>
            <a:stCxn id="3721" idx="6"/>
            <a:endCxn id="3713" idx="2"/>
          </p:cNvCxnSpPr>
          <p:nvPr/>
        </p:nvCxnSpPr>
        <p:spPr>
          <a:xfrm flipH="1" rot="10800000">
            <a:off x="5280008" y="1676429"/>
            <a:ext cx="5004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6" name="Google Shape;3726;p148"/>
          <p:cNvCxnSpPr>
            <a:stCxn id="3717" idx="2"/>
            <a:endCxn id="3713" idx="5"/>
          </p:cNvCxnSpPr>
          <p:nvPr/>
        </p:nvCxnSpPr>
        <p:spPr>
          <a:xfrm rot="10800000">
            <a:off x="6271901" y="1879236"/>
            <a:ext cx="1572000" cy="192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27" name="Google Shape;3727;p148"/>
          <p:cNvCxnSpPr>
            <a:stCxn id="3721" idx="6"/>
            <a:endCxn id="3717" idx="2"/>
          </p:cNvCxnSpPr>
          <p:nvPr/>
        </p:nvCxnSpPr>
        <p:spPr>
          <a:xfrm>
            <a:off x="5280008" y="3804629"/>
            <a:ext cx="2563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28" name="Google Shape;3728;p148"/>
          <p:cNvCxnSpPr>
            <a:stCxn id="3712" idx="6"/>
            <a:endCxn id="3715" idx="2"/>
          </p:cNvCxnSpPr>
          <p:nvPr/>
        </p:nvCxnSpPr>
        <p:spPr>
          <a:xfrm flipH="1" rot="10800000">
            <a:off x="5280000" y="1676260"/>
            <a:ext cx="16803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29" name="Google Shape;3729;p148"/>
          <p:cNvCxnSpPr>
            <a:stCxn id="3720" idx="0"/>
            <a:endCxn id="3715" idx="4"/>
          </p:cNvCxnSpPr>
          <p:nvPr/>
        </p:nvCxnSpPr>
        <p:spPr>
          <a:xfrm rot="10800000">
            <a:off x="7248448" y="1963231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0" name="Google Shape;3730;p148"/>
          <p:cNvCxnSpPr>
            <a:stCxn id="3712" idx="6"/>
            <a:endCxn id="3720" idx="0"/>
          </p:cNvCxnSpPr>
          <p:nvPr/>
        </p:nvCxnSpPr>
        <p:spPr>
          <a:xfrm>
            <a:off x="5280000" y="2399560"/>
            <a:ext cx="19683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31" name="Google Shape;3731;p148"/>
          <p:cNvCxnSpPr>
            <a:stCxn id="3720" idx="0"/>
            <a:endCxn id="3713" idx="4"/>
          </p:cNvCxnSpPr>
          <p:nvPr/>
        </p:nvCxnSpPr>
        <p:spPr>
          <a:xfrm rot="10800000">
            <a:off x="6068548" y="1963231"/>
            <a:ext cx="11799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32" name="Google Shape;3732;p148"/>
          <p:cNvCxnSpPr>
            <a:stCxn id="3721" idx="6"/>
            <a:endCxn id="3715" idx="2"/>
          </p:cNvCxnSpPr>
          <p:nvPr/>
        </p:nvCxnSpPr>
        <p:spPr>
          <a:xfrm flipH="1" rot="10800000">
            <a:off x="5280008" y="1676429"/>
            <a:ext cx="16803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733" name="Google Shape;3733;p148"/>
          <p:cNvSpPr/>
          <p:nvPr/>
        </p:nvSpPr>
        <p:spPr>
          <a:xfrm>
            <a:off x="7843890" y="2078948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I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34" name="Google Shape;3734;p148"/>
          <p:cNvSpPr/>
          <p:nvPr/>
        </p:nvSpPr>
        <p:spPr>
          <a:xfrm>
            <a:off x="5780390" y="43338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H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735" name="Google Shape;3735;p148"/>
          <p:cNvCxnSpPr>
            <a:stCxn id="3733" idx="1"/>
            <a:endCxn id="3715" idx="5"/>
          </p:cNvCxnSpPr>
          <p:nvPr/>
        </p:nvCxnSpPr>
        <p:spPr>
          <a:xfrm rot="10800000">
            <a:off x="7452143" y="1879150"/>
            <a:ext cx="476100" cy="283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6" name="Google Shape;3736;p148"/>
          <p:cNvCxnSpPr>
            <a:stCxn id="3717" idx="0"/>
            <a:endCxn id="3733" idx="4"/>
          </p:cNvCxnSpPr>
          <p:nvPr/>
        </p:nvCxnSpPr>
        <p:spPr>
          <a:xfrm rot="10800000">
            <a:off x="8131901" y="2652636"/>
            <a:ext cx="0" cy="865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7" name="Google Shape;3737;p148"/>
          <p:cNvCxnSpPr>
            <a:stCxn id="3720" idx="0"/>
            <a:endCxn id="3733" idx="3"/>
          </p:cNvCxnSpPr>
          <p:nvPr/>
        </p:nvCxnSpPr>
        <p:spPr>
          <a:xfrm flipH="1" rot="10800000">
            <a:off x="7248448" y="2568631"/>
            <a:ext cx="6798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8" name="Google Shape;3738;p148"/>
          <p:cNvCxnSpPr>
            <a:stCxn id="3734" idx="0"/>
            <a:endCxn id="3721" idx="6"/>
          </p:cNvCxnSpPr>
          <p:nvPr/>
        </p:nvCxnSpPr>
        <p:spPr>
          <a:xfrm rot="10800000">
            <a:off x="5279990" y="3804623"/>
            <a:ext cx="788400" cy="529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9" name="Google Shape;3739;p148"/>
          <p:cNvCxnSpPr>
            <a:stCxn id="3734" idx="0"/>
            <a:endCxn id="3713" idx="4"/>
          </p:cNvCxnSpPr>
          <p:nvPr/>
        </p:nvCxnSpPr>
        <p:spPr>
          <a:xfrm rot="10800000">
            <a:off x="6068390" y="1963223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0" name="Google Shape;3740;p148"/>
          <p:cNvCxnSpPr>
            <a:stCxn id="3734" idx="0"/>
            <a:endCxn id="3712" idx="6"/>
          </p:cNvCxnSpPr>
          <p:nvPr/>
        </p:nvCxnSpPr>
        <p:spPr>
          <a:xfrm rot="10800000">
            <a:off x="5279990" y="2399423"/>
            <a:ext cx="7884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1" name="Google Shape;3741;p148"/>
          <p:cNvCxnSpPr>
            <a:stCxn id="3734" idx="0"/>
            <a:endCxn id="3715" idx="4"/>
          </p:cNvCxnSpPr>
          <p:nvPr/>
        </p:nvCxnSpPr>
        <p:spPr>
          <a:xfrm flipH="1" rot="10800000">
            <a:off x="6068390" y="1963223"/>
            <a:ext cx="11802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42" name="Google Shape;3742;p148"/>
          <p:cNvCxnSpPr>
            <a:stCxn id="3734" idx="0"/>
            <a:endCxn id="3733" idx="3"/>
          </p:cNvCxnSpPr>
          <p:nvPr/>
        </p:nvCxnSpPr>
        <p:spPr>
          <a:xfrm flipH="1" rot="10800000">
            <a:off x="6068390" y="2568623"/>
            <a:ext cx="18600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43" name="Google Shape;3743;p148"/>
          <p:cNvCxnSpPr>
            <a:stCxn id="3734" idx="0"/>
            <a:endCxn id="3717" idx="2"/>
          </p:cNvCxnSpPr>
          <p:nvPr/>
        </p:nvCxnSpPr>
        <p:spPr>
          <a:xfrm flipH="1" rot="10800000">
            <a:off x="6068390" y="3804623"/>
            <a:ext cx="17754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44" name="Google Shape;3744;p148"/>
          <p:cNvCxnSpPr>
            <a:stCxn id="3734" idx="0"/>
            <a:endCxn id="3720" idx="0"/>
          </p:cNvCxnSpPr>
          <p:nvPr/>
        </p:nvCxnSpPr>
        <p:spPr>
          <a:xfrm>
            <a:off x="6068390" y="4333823"/>
            <a:ext cx="11802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45" name="Google Shape;3745;p148"/>
          <p:cNvCxnSpPr>
            <a:stCxn id="3712" idx="6"/>
            <a:endCxn id="3733" idx="2"/>
          </p:cNvCxnSpPr>
          <p:nvPr/>
        </p:nvCxnSpPr>
        <p:spPr>
          <a:xfrm flipH="1" rot="10800000">
            <a:off x="5280000" y="2365660"/>
            <a:ext cx="2563800" cy="3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46" name="Google Shape;3746;p148"/>
          <p:cNvCxnSpPr>
            <a:stCxn id="3713" idx="5"/>
            <a:endCxn id="3733" idx="2"/>
          </p:cNvCxnSpPr>
          <p:nvPr/>
        </p:nvCxnSpPr>
        <p:spPr>
          <a:xfrm>
            <a:off x="6272046" y="1879123"/>
            <a:ext cx="1571700" cy="48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47" name="Google Shape;3747;p148"/>
          <p:cNvCxnSpPr>
            <a:stCxn id="3721" idx="6"/>
            <a:endCxn id="3733" idx="2"/>
          </p:cNvCxnSpPr>
          <p:nvPr/>
        </p:nvCxnSpPr>
        <p:spPr>
          <a:xfrm flipH="1" rot="10800000">
            <a:off x="5280008" y="2365829"/>
            <a:ext cx="2563800" cy="143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748" name="Google Shape;3748;p148"/>
          <p:cNvSpPr/>
          <p:nvPr/>
        </p:nvSpPr>
        <p:spPr>
          <a:xfrm>
            <a:off x="5280000" y="916125"/>
            <a:ext cx="3863700" cy="486600"/>
          </a:xfrm>
          <a:prstGeom prst="ellipse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1 * -1 * 1 * 1 * 1 * -1 * 1 * 1  = 1</a:t>
            </a:r>
            <a:endParaRPr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2" name="Shape 3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3" name="Google Shape;3753;p1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3754" name="Google Shape;3754;p149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Signed Graph in which every triple is balanced is called a </a:t>
            </a:r>
            <a:r>
              <a:rPr b="1" lang="en"/>
              <a:t>balanced signed graph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Balanced signed graphs have some interesting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 graph G is balanced: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Any subgraph of G is also balanced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All paths between the same pair of nodes have the same sign as the link between them!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Cycles</a:t>
            </a:r>
            <a:r>
              <a:rPr lang="en"/>
              <a:t> of any length contain an </a:t>
            </a:r>
            <a:r>
              <a:rPr b="1" lang="en"/>
              <a:t>even</a:t>
            </a:r>
            <a:r>
              <a:rPr lang="en"/>
              <a:t> number of </a:t>
            </a:r>
            <a:r>
              <a:rPr b="1" lang="en"/>
              <a:t>negative edges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5" name="Google Shape;3755;p149"/>
          <p:cNvSpPr/>
          <p:nvPr/>
        </p:nvSpPr>
        <p:spPr>
          <a:xfrm>
            <a:off x="4704000" y="2112760"/>
            <a:ext cx="576000" cy="5736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56" name="Google Shape;3756;p149"/>
          <p:cNvSpPr/>
          <p:nvPr/>
        </p:nvSpPr>
        <p:spPr>
          <a:xfrm>
            <a:off x="5780399" y="1389525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757" name="Google Shape;3757;p149"/>
          <p:cNvCxnSpPr>
            <a:stCxn id="3755" idx="6"/>
            <a:endCxn id="3756" idx="2"/>
          </p:cNvCxnSpPr>
          <p:nvPr/>
        </p:nvCxnSpPr>
        <p:spPr>
          <a:xfrm flipH="1" rot="10800000">
            <a:off x="5280000" y="1676260"/>
            <a:ext cx="500400" cy="723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58" name="Google Shape;3758;p149"/>
          <p:cNvSpPr/>
          <p:nvPr/>
        </p:nvSpPr>
        <p:spPr>
          <a:xfrm>
            <a:off x="6960440" y="13895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759" name="Google Shape;3759;p149"/>
          <p:cNvCxnSpPr>
            <a:stCxn id="3758" idx="2"/>
            <a:endCxn id="3756" idx="6"/>
          </p:cNvCxnSpPr>
          <p:nvPr/>
        </p:nvCxnSpPr>
        <p:spPr>
          <a:xfrm rot="10800000">
            <a:off x="6356540" y="1676323"/>
            <a:ext cx="6039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760" name="Google Shape;3760;p149"/>
          <p:cNvSpPr/>
          <p:nvPr/>
        </p:nvSpPr>
        <p:spPr>
          <a:xfrm>
            <a:off x="7843901" y="3517836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761" name="Google Shape;3761;p149"/>
          <p:cNvCxnSpPr>
            <a:stCxn id="3760" idx="0"/>
            <a:endCxn id="3758" idx="4"/>
          </p:cNvCxnSpPr>
          <p:nvPr/>
        </p:nvCxnSpPr>
        <p:spPr>
          <a:xfrm rot="10800000">
            <a:off x="7248401" y="1963236"/>
            <a:ext cx="883500" cy="155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2" name="Google Shape;3762;p149"/>
          <p:cNvCxnSpPr>
            <a:stCxn id="3755" idx="6"/>
            <a:endCxn id="3760" idx="2"/>
          </p:cNvCxnSpPr>
          <p:nvPr/>
        </p:nvCxnSpPr>
        <p:spPr>
          <a:xfrm>
            <a:off x="5280000" y="2399560"/>
            <a:ext cx="2563800" cy="140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763" name="Google Shape;3763;p149"/>
          <p:cNvSpPr/>
          <p:nvPr/>
        </p:nvSpPr>
        <p:spPr>
          <a:xfrm>
            <a:off x="6960448" y="4333831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64" name="Google Shape;3764;p149"/>
          <p:cNvSpPr/>
          <p:nvPr/>
        </p:nvSpPr>
        <p:spPr>
          <a:xfrm>
            <a:off x="4704008" y="3517829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765" name="Google Shape;3765;p149"/>
          <p:cNvCxnSpPr>
            <a:stCxn id="3755" idx="6"/>
            <a:endCxn id="3764" idx="6"/>
          </p:cNvCxnSpPr>
          <p:nvPr/>
        </p:nvCxnSpPr>
        <p:spPr>
          <a:xfrm>
            <a:off x="5280000" y="2399560"/>
            <a:ext cx="0" cy="1405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6" name="Google Shape;3766;p149"/>
          <p:cNvCxnSpPr>
            <a:stCxn id="3764" idx="6"/>
            <a:endCxn id="3763" idx="0"/>
          </p:cNvCxnSpPr>
          <p:nvPr/>
        </p:nvCxnSpPr>
        <p:spPr>
          <a:xfrm>
            <a:off x="5280008" y="3804629"/>
            <a:ext cx="19683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67" name="Google Shape;3767;p149"/>
          <p:cNvCxnSpPr>
            <a:stCxn id="3763" idx="0"/>
            <a:endCxn id="3760" idx="2"/>
          </p:cNvCxnSpPr>
          <p:nvPr/>
        </p:nvCxnSpPr>
        <p:spPr>
          <a:xfrm flipH="1" rot="10800000">
            <a:off x="7248448" y="3804631"/>
            <a:ext cx="595500" cy="529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8" name="Google Shape;3768;p149"/>
          <p:cNvCxnSpPr>
            <a:stCxn id="3764" idx="6"/>
            <a:endCxn id="3756" idx="2"/>
          </p:cNvCxnSpPr>
          <p:nvPr/>
        </p:nvCxnSpPr>
        <p:spPr>
          <a:xfrm flipH="1" rot="10800000">
            <a:off x="5280008" y="1676429"/>
            <a:ext cx="5004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9" name="Google Shape;3769;p149"/>
          <p:cNvCxnSpPr>
            <a:stCxn id="3760" idx="2"/>
            <a:endCxn id="3756" idx="5"/>
          </p:cNvCxnSpPr>
          <p:nvPr/>
        </p:nvCxnSpPr>
        <p:spPr>
          <a:xfrm rot="10800000">
            <a:off x="6271901" y="1879236"/>
            <a:ext cx="1572000" cy="192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70" name="Google Shape;3770;p149"/>
          <p:cNvCxnSpPr>
            <a:stCxn id="3764" idx="6"/>
            <a:endCxn id="3760" idx="2"/>
          </p:cNvCxnSpPr>
          <p:nvPr/>
        </p:nvCxnSpPr>
        <p:spPr>
          <a:xfrm>
            <a:off x="5280008" y="3804629"/>
            <a:ext cx="2563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71" name="Google Shape;3771;p149"/>
          <p:cNvCxnSpPr>
            <a:stCxn id="3755" idx="6"/>
            <a:endCxn id="3758" idx="2"/>
          </p:cNvCxnSpPr>
          <p:nvPr/>
        </p:nvCxnSpPr>
        <p:spPr>
          <a:xfrm flipH="1" rot="10800000">
            <a:off x="5280000" y="1676260"/>
            <a:ext cx="1680300" cy="72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72" name="Google Shape;3772;p149"/>
          <p:cNvCxnSpPr>
            <a:stCxn id="3763" idx="0"/>
            <a:endCxn id="3758" idx="4"/>
          </p:cNvCxnSpPr>
          <p:nvPr/>
        </p:nvCxnSpPr>
        <p:spPr>
          <a:xfrm rot="10800000">
            <a:off x="7248448" y="1963231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3" name="Google Shape;3773;p149"/>
          <p:cNvCxnSpPr>
            <a:stCxn id="3755" idx="6"/>
            <a:endCxn id="3763" idx="0"/>
          </p:cNvCxnSpPr>
          <p:nvPr/>
        </p:nvCxnSpPr>
        <p:spPr>
          <a:xfrm>
            <a:off x="5280000" y="2399560"/>
            <a:ext cx="19683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74" name="Google Shape;3774;p149"/>
          <p:cNvCxnSpPr>
            <a:stCxn id="3763" idx="0"/>
            <a:endCxn id="3756" idx="4"/>
          </p:cNvCxnSpPr>
          <p:nvPr/>
        </p:nvCxnSpPr>
        <p:spPr>
          <a:xfrm rot="10800000">
            <a:off x="6068548" y="1963231"/>
            <a:ext cx="11799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75" name="Google Shape;3775;p149"/>
          <p:cNvCxnSpPr>
            <a:stCxn id="3764" idx="6"/>
            <a:endCxn id="3758" idx="2"/>
          </p:cNvCxnSpPr>
          <p:nvPr/>
        </p:nvCxnSpPr>
        <p:spPr>
          <a:xfrm flipH="1" rot="10800000">
            <a:off x="5280008" y="1676429"/>
            <a:ext cx="1680300" cy="21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776" name="Google Shape;3776;p149"/>
          <p:cNvSpPr/>
          <p:nvPr/>
        </p:nvSpPr>
        <p:spPr>
          <a:xfrm>
            <a:off x="7843890" y="2078948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I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77" name="Google Shape;3777;p149"/>
          <p:cNvSpPr/>
          <p:nvPr/>
        </p:nvSpPr>
        <p:spPr>
          <a:xfrm>
            <a:off x="5780390" y="4333823"/>
            <a:ext cx="576000" cy="573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H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778" name="Google Shape;3778;p149"/>
          <p:cNvCxnSpPr>
            <a:stCxn id="3776" idx="1"/>
            <a:endCxn id="3758" idx="5"/>
          </p:cNvCxnSpPr>
          <p:nvPr/>
        </p:nvCxnSpPr>
        <p:spPr>
          <a:xfrm rot="10800000">
            <a:off x="7452143" y="1879150"/>
            <a:ext cx="476100" cy="283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9" name="Google Shape;3779;p149"/>
          <p:cNvCxnSpPr>
            <a:stCxn id="3760" idx="0"/>
            <a:endCxn id="3776" idx="4"/>
          </p:cNvCxnSpPr>
          <p:nvPr/>
        </p:nvCxnSpPr>
        <p:spPr>
          <a:xfrm rot="10800000">
            <a:off x="8131901" y="2652636"/>
            <a:ext cx="0" cy="865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0" name="Google Shape;3780;p149"/>
          <p:cNvCxnSpPr>
            <a:stCxn id="3763" idx="0"/>
            <a:endCxn id="3776" idx="3"/>
          </p:cNvCxnSpPr>
          <p:nvPr/>
        </p:nvCxnSpPr>
        <p:spPr>
          <a:xfrm flipH="1" rot="10800000">
            <a:off x="7248448" y="2568631"/>
            <a:ext cx="6798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1" name="Google Shape;3781;p149"/>
          <p:cNvCxnSpPr>
            <a:stCxn id="3777" idx="0"/>
            <a:endCxn id="3764" idx="6"/>
          </p:cNvCxnSpPr>
          <p:nvPr/>
        </p:nvCxnSpPr>
        <p:spPr>
          <a:xfrm rot="10800000">
            <a:off x="5279990" y="3804623"/>
            <a:ext cx="788400" cy="529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2" name="Google Shape;3782;p149"/>
          <p:cNvCxnSpPr>
            <a:stCxn id="3777" idx="0"/>
            <a:endCxn id="3756" idx="4"/>
          </p:cNvCxnSpPr>
          <p:nvPr/>
        </p:nvCxnSpPr>
        <p:spPr>
          <a:xfrm rot="10800000">
            <a:off x="6068390" y="1963223"/>
            <a:ext cx="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3" name="Google Shape;3783;p149"/>
          <p:cNvCxnSpPr>
            <a:stCxn id="3777" idx="0"/>
            <a:endCxn id="3755" idx="6"/>
          </p:cNvCxnSpPr>
          <p:nvPr/>
        </p:nvCxnSpPr>
        <p:spPr>
          <a:xfrm rot="10800000">
            <a:off x="5279990" y="2399423"/>
            <a:ext cx="788400" cy="19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4" name="Google Shape;3784;p149"/>
          <p:cNvCxnSpPr>
            <a:stCxn id="3777" idx="0"/>
            <a:endCxn id="3758" idx="4"/>
          </p:cNvCxnSpPr>
          <p:nvPr/>
        </p:nvCxnSpPr>
        <p:spPr>
          <a:xfrm flipH="1" rot="10800000">
            <a:off x="6068390" y="1963223"/>
            <a:ext cx="1180200" cy="237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85" name="Google Shape;3785;p149"/>
          <p:cNvCxnSpPr>
            <a:stCxn id="3777" idx="0"/>
            <a:endCxn id="3776" idx="3"/>
          </p:cNvCxnSpPr>
          <p:nvPr/>
        </p:nvCxnSpPr>
        <p:spPr>
          <a:xfrm flipH="1" rot="10800000">
            <a:off x="6068390" y="2568623"/>
            <a:ext cx="1860000" cy="176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86" name="Google Shape;3786;p149"/>
          <p:cNvCxnSpPr>
            <a:stCxn id="3777" idx="0"/>
            <a:endCxn id="3760" idx="2"/>
          </p:cNvCxnSpPr>
          <p:nvPr/>
        </p:nvCxnSpPr>
        <p:spPr>
          <a:xfrm flipH="1" rot="10800000">
            <a:off x="6068390" y="3804623"/>
            <a:ext cx="1775400" cy="52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87" name="Google Shape;3787;p149"/>
          <p:cNvCxnSpPr>
            <a:stCxn id="3777" idx="0"/>
            <a:endCxn id="3763" idx="0"/>
          </p:cNvCxnSpPr>
          <p:nvPr/>
        </p:nvCxnSpPr>
        <p:spPr>
          <a:xfrm>
            <a:off x="6068390" y="4333823"/>
            <a:ext cx="11802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88" name="Google Shape;3788;p149"/>
          <p:cNvCxnSpPr>
            <a:stCxn id="3755" idx="6"/>
            <a:endCxn id="3776" idx="2"/>
          </p:cNvCxnSpPr>
          <p:nvPr/>
        </p:nvCxnSpPr>
        <p:spPr>
          <a:xfrm flipH="1" rot="10800000">
            <a:off x="5280000" y="2365660"/>
            <a:ext cx="2563800" cy="3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89" name="Google Shape;3789;p149"/>
          <p:cNvCxnSpPr>
            <a:stCxn id="3756" idx="5"/>
            <a:endCxn id="3776" idx="2"/>
          </p:cNvCxnSpPr>
          <p:nvPr/>
        </p:nvCxnSpPr>
        <p:spPr>
          <a:xfrm>
            <a:off x="6272046" y="1879123"/>
            <a:ext cx="1571700" cy="48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90" name="Google Shape;3790;p149"/>
          <p:cNvCxnSpPr>
            <a:stCxn id="3764" idx="6"/>
            <a:endCxn id="3776" idx="2"/>
          </p:cNvCxnSpPr>
          <p:nvPr/>
        </p:nvCxnSpPr>
        <p:spPr>
          <a:xfrm flipH="1" rot="10800000">
            <a:off x="5280008" y="2365829"/>
            <a:ext cx="2563800" cy="143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791" name="Google Shape;3791;p149"/>
          <p:cNvSpPr/>
          <p:nvPr/>
        </p:nvSpPr>
        <p:spPr>
          <a:xfrm>
            <a:off x="5280000" y="916125"/>
            <a:ext cx="3863700" cy="486600"/>
          </a:xfrm>
          <a:prstGeom prst="ellipse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1 * -1 * 1 * 1 * 1 * -1 * 1 * 1  = 1</a:t>
            </a:r>
            <a:endParaRPr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5" name="Shape 3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6" name="Google Shape;3796;p150"/>
          <p:cNvSpPr txBox="1"/>
          <p:nvPr>
            <p:ph idx="1" type="body"/>
          </p:nvPr>
        </p:nvSpPr>
        <p:spPr>
          <a:xfrm>
            <a:off x="311700" y="1225225"/>
            <a:ext cx="4448100" cy="15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Clustering is a weaker criterion than balance!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7" name="Google Shape;3797;p1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balance to clustering</a:t>
            </a:r>
            <a:endParaRPr/>
          </a:p>
        </p:txBody>
      </p:sp>
      <p:sp>
        <p:nvSpPr>
          <p:cNvPr id="3798" name="Google Shape;3798;p150"/>
          <p:cNvSpPr/>
          <p:nvPr/>
        </p:nvSpPr>
        <p:spPr>
          <a:xfrm>
            <a:off x="1320625" y="275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99" name="Google Shape;3799;p150"/>
          <p:cNvSpPr/>
          <p:nvPr/>
        </p:nvSpPr>
        <p:spPr>
          <a:xfrm>
            <a:off x="1958416" y="305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00" name="Google Shape;3800;p150"/>
          <p:cNvCxnSpPr>
            <a:stCxn id="3798" idx="6"/>
            <a:endCxn id="3799" idx="2"/>
          </p:cNvCxnSpPr>
          <p:nvPr/>
        </p:nvCxnSpPr>
        <p:spPr>
          <a:xfrm>
            <a:off x="1559125" y="287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01" name="Google Shape;3801;p150"/>
          <p:cNvSpPr/>
          <p:nvPr/>
        </p:nvSpPr>
        <p:spPr>
          <a:xfrm>
            <a:off x="1320628" y="334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02" name="Google Shape;3802;p150"/>
          <p:cNvCxnSpPr>
            <a:stCxn id="3798" idx="4"/>
            <a:endCxn id="3801" idx="0"/>
          </p:cNvCxnSpPr>
          <p:nvPr/>
        </p:nvCxnSpPr>
        <p:spPr>
          <a:xfrm>
            <a:off x="1439875" y="299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3" name="Google Shape;3803;p150"/>
          <p:cNvCxnSpPr>
            <a:stCxn id="3801" idx="6"/>
            <a:endCxn id="3799" idx="2"/>
          </p:cNvCxnSpPr>
          <p:nvPr/>
        </p:nvCxnSpPr>
        <p:spPr>
          <a:xfrm flipH="1" rot="10800000">
            <a:off x="1559128" y="317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04" name="Google Shape;3804;p150"/>
          <p:cNvSpPr/>
          <p:nvPr/>
        </p:nvSpPr>
        <p:spPr>
          <a:xfrm>
            <a:off x="2730334" y="275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05" name="Google Shape;3805;p150"/>
          <p:cNvSpPr/>
          <p:nvPr/>
        </p:nvSpPr>
        <p:spPr>
          <a:xfrm>
            <a:off x="3368125" y="304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06" name="Google Shape;3806;p150"/>
          <p:cNvCxnSpPr>
            <a:stCxn id="3804" idx="6"/>
            <a:endCxn id="3805" idx="2"/>
          </p:cNvCxnSpPr>
          <p:nvPr/>
        </p:nvCxnSpPr>
        <p:spPr>
          <a:xfrm>
            <a:off x="2968834" y="287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807" name="Google Shape;3807;p150"/>
          <p:cNvSpPr/>
          <p:nvPr/>
        </p:nvSpPr>
        <p:spPr>
          <a:xfrm>
            <a:off x="2730337" y="334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08" name="Google Shape;3808;p150"/>
          <p:cNvCxnSpPr>
            <a:stCxn id="3804" idx="4"/>
            <a:endCxn id="3807" idx="0"/>
          </p:cNvCxnSpPr>
          <p:nvPr/>
        </p:nvCxnSpPr>
        <p:spPr>
          <a:xfrm>
            <a:off x="2849584" y="298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9" name="Google Shape;3809;p150"/>
          <p:cNvCxnSpPr>
            <a:stCxn id="3807" idx="6"/>
            <a:endCxn id="3805" idx="2"/>
          </p:cNvCxnSpPr>
          <p:nvPr/>
        </p:nvCxnSpPr>
        <p:spPr>
          <a:xfrm flipH="1" rot="10800000">
            <a:off x="2968837" y="316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810" name="Google Shape;3810;p150"/>
          <p:cNvSpPr/>
          <p:nvPr/>
        </p:nvSpPr>
        <p:spPr>
          <a:xfrm>
            <a:off x="1371575" y="394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11" name="Google Shape;3811;p150"/>
          <p:cNvSpPr/>
          <p:nvPr/>
        </p:nvSpPr>
        <p:spPr>
          <a:xfrm>
            <a:off x="2009366" y="424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12" name="Google Shape;3812;p150"/>
          <p:cNvCxnSpPr>
            <a:stCxn id="3810" idx="6"/>
            <a:endCxn id="3811" idx="2"/>
          </p:cNvCxnSpPr>
          <p:nvPr/>
        </p:nvCxnSpPr>
        <p:spPr>
          <a:xfrm>
            <a:off x="1610075" y="406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13" name="Google Shape;3813;p150"/>
          <p:cNvSpPr/>
          <p:nvPr/>
        </p:nvSpPr>
        <p:spPr>
          <a:xfrm>
            <a:off x="1371578" y="453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14" name="Google Shape;3814;p150"/>
          <p:cNvCxnSpPr>
            <a:stCxn id="3810" idx="4"/>
            <a:endCxn id="3813" idx="0"/>
          </p:cNvCxnSpPr>
          <p:nvPr/>
        </p:nvCxnSpPr>
        <p:spPr>
          <a:xfrm>
            <a:off x="1490825" y="418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5" name="Google Shape;3815;p150"/>
          <p:cNvCxnSpPr>
            <a:stCxn id="3813" idx="6"/>
            <a:endCxn id="3811" idx="2"/>
          </p:cNvCxnSpPr>
          <p:nvPr/>
        </p:nvCxnSpPr>
        <p:spPr>
          <a:xfrm flipH="1" rot="10800000">
            <a:off x="1610078" y="436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816" name="Google Shape;3816;p150"/>
          <p:cNvSpPr/>
          <p:nvPr/>
        </p:nvSpPr>
        <p:spPr>
          <a:xfrm>
            <a:off x="2781284" y="394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17" name="Google Shape;3817;p150"/>
          <p:cNvSpPr/>
          <p:nvPr/>
        </p:nvSpPr>
        <p:spPr>
          <a:xfrm>
            <a:off x="3419075" y="423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18" name="Google Shape;3818;p150"/>
          <p:cNvCxnSpPr>
            <a:stCxn id="3816" idx="6"/>
            <a:endCxn id="3817" idx="2"/>
          </p:cNvCxnSpPr>
          <p:nvPr/>
        </p:nvCxnSpPr>
        <p:spPr>
          <a:xfrm>
            <a:off x="3019784" y="406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819" name="Google Shape;3819;p150"/>
          <p:cNvSpPr/>
          <p:nvPr/>
        </p:nvSpPr>
        <p:spPr>
          <a:xfrm>
            <a:off x="2781287" y="453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20" name="Google Shape;3820;p150"/>
          <p:cNvCxnSpPr>
            <a:stCxn id="3816" idx="4"/>
            <a:endCxn id="3819" idx="0"/>
          </p:cNvCxnSpPr>
          <p:nvPr/>
        </p:nvCxnSpPr>
        <p:spPr>
          <a:xfrm>
            <a:off x="2900534" y="417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821" name="Google Shape;3821;p150"/>
          <p:cNvCxnSpPr>
            <a:stCxn id="3819" idx="6"/>
            <a:endCxn id="3817" idx="2"/>
          </p:cNvCxnSpPr>
          <p:nvPr/>
        </p:nvCxnSpPr>
        <p:spPr>
          <a:xfrm flipH="1" rot="10800000">
            <a:off x="3019787" y="435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822" name="Google Shape;3822;p150"/>
          <p:cNvSpPr txBox="1"/>
          <p:nvPr/>
        </p:nvSpPr>
        <p:spPr>
          <a:xfrm>
            <a:off x="1439875" y="3529688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823" name="Google Shape;3823;p150"/>
          <p:cNvSpPr txBox="1"/>
          <p:nvPr/>
        </p:nvSpPr>
        <p:spPr>
          <a:xfrm>
            <a:off x="1485350" y="4776875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Unbalanced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7" name="Shape 3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8" name="Google Shape;3828;p151"/>
          <p:cNvSpPr txBox="1"/>
          <p:nvPr>
            <p:ph idx="1" type="body"/>
          </p:nvPr>
        </p:nvSpPr>
        <p:spPr>
          <a:xfrm>
            <a:off x="311700" y="1225225"/>
            <a:ext cx="4448100" cy="15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Clustering is a weaker criterion than balance!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Suppose we build a network using these three types of triangles only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9" name="Google Shape;3829;p1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balance to clustering</a:t>
            </a:r>
            <a:endParaRPr/>
          </a:p>
        </p:txBody>
      </p:sp>
      <p:sp>
        <p:nvSpPr>
          <p:cNvPr id="3830" name="Google Shape;3830;p151"/>
          <p:cNvSpPr/>
          <p:nvPr/>
        </p:nvSpPr>
        <p:spPr>
          <a:xfrm>
            <a:off x="1320625" y="275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31" name="Google Shape;3831;p151"/>
          <p:cNvSpPr/>
          <p:nvPr/>
        </p:nvSpPr>
        <p:spPr>
          <a:xfrm>
            <a:off x="1958416" y="305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32" name="Google Shape;3832;p151"/>
          <p:cNvCxnSpPr>
            <a:stCxn id="3830" idx="6"/>
            <a:endCxn id="3831" idx="2"/>
          </p:cNvCxnSpPr>
          <p:nvPr/>
        </p:nvCxnSpPr>
        <p:spPr>
          <a:xfrm>
            <a:off x="1559125" y="287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33" name="Google Shape;3833;p151"/>
          <p:cNvSpPr/>
          <p:nvPr/>
        </p:nvSpPr>
        <p:spPr>
          <a:xfrm>
            <a:off x="1320628" y="334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34" name="Google Shape;3834;p151"/>
          <p:cNvCxnSpPr>
            <a:stCxn id="3830" idx="4"/>
            <a:endCxn id="3833" idx="0"/>
          </p:cNvCxnSpPr>
          <p:nvPr/>
        </p:nvCxnSpPr>
        <p:spPr>
          <a:xfrm>
            <a:off x="1439875" y="299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35" name="Google Shape;3835;p151"/>
          <p:cNvCxnSpPr>
            <a:stCxn id="3833" idx="6"/>
            <a:endCxn id="3831" idx="2"/>
          </p:cNvCxnSpPr>
          <p:nvPr/>
        </p:nvCxnSpPr>
        <p:spPr>
          <a:xfrm flipH="1" rot="10800000">
            <a:off x="1559128" y="317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36" name="Google Shape;3836;p151"/>
          <p:cNvSpPr/>
          <p:nvPr/>
        </p:nvSpPr>
        <p:spPr>
          <a:xfrm>
            <a:off x="2730334" y="275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37" name="Google Shape;3837;p151"/>
          <p:cNvSpPr/>
          <p:nvPr/>
        </p:nvSpPr>
        <p:spPr>
          <a:xfrm>
            <a:off x="3368125" y="304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38" name="Google Shape;3838;p151"/>
          <p:cNvCxnSpPr>
            <a:stCxn id="3836" idx="6"/>
            <a:endCxn id="3837" idx="2"/>
          </p:cNvCxnSpPr>
          <p:nvPr/>
        </p:nvCxnSpPr>
        <p:spPr>
          <a:xfrm>
            <a:off x="2968834" y="287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839" name="Google Shape;3839;p151"/>
          <p:cNvSpPr/>
          <p:nvPr/>
        </p:nvSpPr>
        <p:spPr>
          <a:xfrm>
            <a:off x="2730337" y="334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40" name="Google Shape;3840;p151"/>
          <p:cNvCxnSpPr>
            <a:stCxn id="3836" idx="4"/>
            <a:endCxn id="3839" idx="0"/>
          </p:cNvCxnSpPr>
          <p:nvPr/>
        </p:nvCxnSpPr>
        <p:spPr>
          <a:xfrm>
            <a:off x="2849584" y="298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1" name="Google Shape;3841;p151"/>
          <p:cNvCxnSpPr>
            <a:stCxn id="3839" idx="6"/>
            <a:endCxn id="3837" idx="2"/>
          </p:cNvCxnSpPr>
          <p:nvPr/>
        </p:nvCxnSpPr>
        <p:spPr>
          <a:xfrm flipH="1" rot="10800000">
            <a:off x="2968837" y="316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842" name="Google Shape;3842;p151"/>
          <p:cNvSpPr/>
          <p:nvPr/>
        </p:nvSpPr>
        <p:spPr>
          <a:xfrm>
            <a:off x="1371575" y="394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43" name="Google Shape;3843;p151"/>
          <p:cNvSpPr/>
          <p:nvPr/>
        </p:nvSpPr>
        <p:spPr>
          <a:xfrm>
            <a:off x="2009366" y="424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44" name="Google Shape;3844;p151"/>
          <p:cNvCxnSpPr>
            <a:stCxn id="3842" idx="6"/>
            <a:endCxn id="3843" idx="2"/>
          </p:cNvCxnSpPr>
          <p:nvPr/>
        </p:nvCxnSpPr>
        <p:spPr>
          <a:xfrm>
            <a:off x="1610075" y="406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45" name="Google Shape;3845;p151"/>
          <p:cNvSpPr/>
          <p:nvPr/>
        </p:nvSpPr>
        <p:spPr>
          <a:xfrm>
            <a:off x="1371578" y="453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46" name="Google Shape;3846;p151"/>
          <p:cNvCxnSpPr>
            <a:stCxn id="3842" idx="4"/>
            <a:endCxn id="3845" idx="0"/>
          </p:cNvCxnSpPr>
          <p:nvPr/>
        </p:nvCxnSpPr>
        <p:spPr>
          <a:xfrm>
            <a:off x="1490825" y="418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7" name="Google Shape;3847;p151"/>
          <p:cNvCxnSpPr>
            <a:stCxn id="3845" idx="6"/>
            <a:endCxn id="3843" idx="2"/>
          </p:cNvCxnSpPr>
          <p:nvPr/>
        </p:nvCxnSpPr>
        <p:spPr>
          <a:xfrm flipH="1" rot="10800000">
            <a:off x="1610078" y="436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848" name="Google Shape;3848;p151"/>
          <p:cNvSpPr/>
          <p:nvPr/>
        </p:nvSpPr>
        <p:spPr>
          <a:xfrm>
            <a:off x="2781284" y="394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49" name="Google Shape;3849;p151"/>
          <p:cNvSpPr/>
          <p:nvPr/>
        </p:nvSpPr>
        <p:spPr>
          <a:xfrm>
            <a:off x="3419075" y="423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50" name="Google Shape;3850;p151"/>
          <p:cNvCxnSpPr>
            <a:stCxn id="3848" idx="6"/>
            <a:endCxn id="3849" idx="2"/>
          </p:cNvCxnSpPr>
          <p:nvPr/>
        </p:nvCxnSpPr>
        <p:spPr>
          <a:xfrm>
            <a:off x="3019784" y="406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851" name="Google Shape;3851;p151"/>
          <p:cNvSpPr/>
          <p:nvPr/>
        </p:nvSpPr>
        <p:spPr>
          <a:xfrm>
            <a:off x="2781287" y="453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52" name="Google Shape;3852;p151"/>
          <p:cNvCxnSpPr>
            <a:stCxn id="3848" idx="4"/>
            <a:endCxn id="3851" idx="0"/>
          </p:cNvCxnSpPr>
          <p:nvPr/>
        </p:nvCxnSpPr>
        <p:spPr>
          <a:xfrm>
            <a:off x="2900534" y="417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853" name="Google Shape;3853;p151"/>
          <p:cNvCxnSpPr>
            <a:stCxn id="3851" idx="6"/>
            <a:endCxn id="3849" idx="2"/>
          </p:cNvCxnSpPr>
          <p:nvPr/>
        </p:nvCxnSpPr>
        <p:spPr>
          <a:xfrm flipH="1" rot="10800000">
            <a:off x="3019787" y="435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854" name="Google Shape;3854;p151"/>
          <p:cNvSpPr txBox="1"/>
          <p:nvPr/>
        </p:nvSpPr>
        <p:spPr>
          <a:xfrm>
            <a:off x="1439875" y="3529688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855" name="Google Shape;3855;p151"/>
          <p:cNvSpPr txBox="1"/>
          <p:nvPr/>
        </p:nvSpPr>
        <p:spPr>
          <a:xfrm>
            <a:off x="1485350" y="4776875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Unbalanced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856" name="Google Shape;3856;p151"/>
          <p:cNvSpPr/>
          <p:nvPr/>
        </p:nvSpPr>
        <p:spPr>
          <a:xfrm>
            <a:off x="796600" y="2638175"/>
            <a:ext cx="3025200" cy="109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57" name="Google Shape;3857;p151"/>
          <p:cNvSpPr/>
          <p:nvPr/>
        </p:nvSpPr>
        <p:spPr>
          <a:xfrm>
            <a:off x="2586325" y="3735325"/>
            <a:ext cx="1239900" cy="109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1" name="Shape 3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2" name="Google Shape;3862;p152"/>
          <p:cNvSpPr/>
          <p:nvPr/>
        </p:nvSpPr>
        <p:spPr>
          <a:xfrm>
            <a:off x="796600" y="2638175"/>
            <a:ext cx="3025200" cy="109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63" name="Google Shape;3863;p152"/>
          <p:cNvSpPr/>
          <p:nvPr/>
        </p:nvSpPr>
        <p:spPr>
          <a:xfrm>
            <a:off x="2586325" y="3735325"/>
            <a:ext cx="1239900" cy="109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64" name="Google Shape;3864;p152"/>
          <p:cNvSpPr txBox="1"/>
          <p:nvPr>
            <p:ph idx="1" type="body"/>
          </p:nvPr>
        </p:nvSpPr>
        <p:spPr>
          <a:xfrm>
            <a:off x="311700" y="1225225"/>
            <a:ext cx="4448100" cy="15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First, let’s pick: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Three all positives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two negatives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all negative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5" name="Google Shape;3865;p1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balance to clustering</a:t>
            </a:r>
            <a:endParaRPr/>
          </a:p>
        </p:txBody>
      </p:sp>
      <p:sp>
        <p:nvSpPr>
          <p:cNvPr id="3866" name="Google Shape;3866;p152"/>
          <p:cNvSpPr/>
          <p:nvPr/>
        </p:nvSpPr>
        <p:spPr>
          <a:xfrm>
            <a:off x="1320625" y="275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67" name="Google Shape;3867;p152"/>
          <p:cNvSpPr/>
          <p:nvPr/>
        </p:nvSpPr>
        <p:spPr>
          <a:xfrm>
            <a:off x="1958416" y="305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68" name="Google Shape;3868;p152"/>
          <p:cNvCxnSpPr>
            <a:stCxn id="3866" idx="6"/>
            <a:endCxn id="3867" idx="2"/>
          </p:cNvCxnSpPr>
          <p:nvPr/>
        </p:nvCxnSpPr>
        <p:spPr>
          <a:xfrm>
            <a:off x="1559125" y="287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69" name="Google Shape;3869;p152"/>
          <p:cNvSpPr/>
          <p:nvPr/>
        </p:nvSpPr>
        <p:spPr>
          <a:xfrm>
            <a:off x="1320628" y="334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70" name="Google Shape;3870;p152"/>
          <p:cNvCxnSpPr>
            <a:stCxn id="3866" idx="4"/>
            <a:endCxn id="3869" idx="0"/>
          </p:cNvCxnSpPr>
          <p:nvPr/>
        </p:nvCxnSpPr>
        <p:spPr>
          <a:xfrm>
            <a:off x="1439875" y="299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1" name="Google Shape;3871;p152"/>
          <p:cNvCxnSpPr>
            <a:stCxn id="3869" idx="6"/>
            <a:endCxn id="3867" idx="2"/>
          </p:cNvCxnSpPr>
          <p:nvPr/>
        </p:nvCxnSpPr>
        <p:spPr>
          <a:xfrm flipH="1" rot="10800000">
            <a:off x="1559128" y="317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72" name="Google Shape;3872;p152"/>
          <p:cNvSpPr/>
          <p:nvPr/>
        </p:nvSpPr>
        <p:spPr>
          <a:xfrm>
            <a:off x="2730334" y="275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73" name="Google Shape;3873;p152"/>
          <p:cNvSpPr/>
          <p:nvPr/>
        </p:nvSpPr>
        <p:spPr>
          <a:xfrm>
            <a:off x="3368125" y="304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74" name="Google Shape;3874;p152"/>
          <p:cNvCxnSpPr>
            <a:stCxn id="3872" idx="6"/>
            <a:endCxn id="3873" idx="2"/>
          </p:cNvCxnSpPr>
          <p:nvPr/>
        </p:nvCxnSpPr>
        <p:spPr>
          <a:xfrm>
            <a:off x="2968834" y="287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875" name="Google Shape;3875;p152"/>
          <p:cNvSpPr/>
          <p:nvPr/>
        </p:nvSpPr>
        <p:spPr>
          <a:xfrm>
            <a:off x="2730337" y="334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76" name="Google Shape;3876;p152"/>
          <p:cNvCxnSpPr>
            <a:stCxn id="3872" idx="4"/>
            <a:endCxn id="3875" idx="0"/>
          </p:cNvCxnSpPr>
          <p:nvPr/>
        </p:nvCxnSpPr>
        <p:spPr>
          <a:xfrm>
            <a:off x="2849584" y="298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7" name="Google Shape;3877;p152"/>
          <p:cNvCxnSpPr>
            <a:stCxn id="3875" idx="6"/>
            <a:endCxn id="3873" idx="2"/>
          </p:cNvCxnSpPr>
          <p:nvPr/>
        </p:nvCxnSpPr>
        <p:spPr>
          <a:xfrm flipH="1" rot="10800000">
            <a:off x="2968837" y="316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878" name="Google Shape;3878;p152"/>
          <p:cNvSpPr/>
          <p:nvPr/>
        </p:nvSpPr>
        <p:spPr>
          <a:xfrm>
            <a:off x="1371575" y="394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79" name="Google Shape;3879;p152"/>
          <p:cNvSpPr/>
          <p:nvPr/>
        </p:nvSpPr>
        <p:spPr>
          <a:xfrm>
            <a:off x="2009366" y="424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80" name="Google Shape;3880;p152"/>
          <p:cNvCxnSpPr>
            <a:stCxn id="3878" idx="6"/>
            <a:endCxn id="3879" idx="2"/>
          </p:cNvCxnSpPr>
          <p:nvPr/>
        </p:nvCxnSpPr>
        <p:spPr>
          <a:xfrm>
            <a:off x="1610075" y="406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81" name="Google Shape;3881;p152"/>
          <p:cNvSpPr/>
          <p:nvPr/>
        </p:nvSpPr>
        <p:spPr>
          <a:xfrm>
            <a:off x="1371578" y="453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82" name="Google Shape;3882;p152"/>
          <p:cNvCxnSpPr>
            <a:stCxn id="3878" idx="4"/>
            <a:endCxn id="3881" idx="0"/>
          </p:cNvCxnSpPr>
          <p:nvPr/>
        </p:nvCxnSpPr>
        <p:spPr>
          <a:xfrm>
            <a:off x="1490825" y="418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3" name="Google Shape;3883;p152"/>
          <p:cNvCxnSpPr>
            <a:stCxn id="3881" idx="6"/>
            <a:endCxn id="3879" idx="2"/>
          </p:cNvCxnSpPr>
          <p:nvPr/>
        </p:nvCxnSpPr>
        <p:spPr>
          <a:xfrm flipH="1" rot="10800000">
            <a:off x="1610078" y="436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884" name="Google Shape;3884;p152"/>
          <p:cNvSpPr/>
          <p:nvPr/>
        </p:nvSpPr>
        <p:spPr>
          <a:xfrm>
            <a:off x="2781284" y="394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85" name="Google Shape;3885;p152"/>
          <p:cNvSpPr/>
          <p:nvPr/>
        </p:nvSpPr>
        <p:spPr>
          <a:xfrm>
            <a:off x="3419075" y="423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86" name="Google Shape;3886;p152"/>
          <p:cNvCxnSpPr>
            <a:stCxn id="3884" idx="6"/>
            <a:endCxn id="3885" idx="2"/>
          </p:cNvCxnSpPr>
          <p:nvPr/>
        </p:nvCxnSpPr>
        <p:spPr>
          <a:xfrm>
            <a:off x="3019784" y="406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887" name="Google Shape;3887;p152"/>
          <p:cNvSpPr/>
          <p:nvPr/>
        </p:nvSpPr>
        <p:spPr>
          <a:xfrm>
            <a:off x="2781287" y="453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88" name="Google Shape;3888;p152"/>
          <p:cNvCxnSpPr>
            <a:stCxn id="3884" idx="4"/>
            <a:endCxn id="3887" idx="0"/>
          </p:cNvCxnSpPr>
          <p:nvPr/>
        </p:nvCxnSpPr>
        <p:spPr>
          <a:xfrm>
            <a:off x="2900534" y="417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889" name="Google Shape;3889;p152"/>
          <p:cNvCxnSpPr>
            <a:stCxn id="3887" idx="6"/>
            <a:endCxn id="3885" idx="2"/>
          </p:cNvCxnSpPr>
          <p:nvPr/>
        </p:nvCxnSpPr>
        <p:spPr>
          <a:xfrm flipH="1" rot="10800000">
            <a:off x="3019787" y="435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890" name="Google Shape;3890;p152"/>
          <p:cNvSpPr txBox="1"/>
          <p:nvPr/>
        </p:nvSpPr>
        <p:spPr>
          <a:xfrm>
            <a:off x="1439875" y="3529688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891" name="Google Shape;3891;p152"/>
          <p:cNvSpPr txBox="1"/>
          <p:nvPr/>
        </p:nvSpPr>
        <p:spPr>
          <a:xfrm>
            <a:off x="1485350" y="4776875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Unbalanced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892" name="Google Shape;3892;p152"/>
          <p:cNvSpPr/>
          <p:nvPr/>
        </p:nvSpPr>
        <p:spPr>
          <a:xfrm>
            <a:off x="5951400" y="122517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93" name="Google Shape;3893;p152"/>
          <p:cNvSpPr/>
          <p:nvPr/>
        </p:nvSpPr>
        <p:spPr>
          <a:xfrm>
            <a:off x="6589191" y="152150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94" name="Google Shape;3894;p152"/>
          <p:cNvCxnSpPr>
            <a:stCxn id="3892" idx="6"/>
            <a:endCxn id="3893" idx="2"/>
          </p:cNvCxnSpPr>
          <p:nvPr/>
        </p:nvCxnSpPr>
        <p:spPr>
          <a:xfrm>
            <a:off x="6189900" y="134367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95" name="Google Shape;3895;p152"/>
          <p:cNvSpPr/>
          <p:nvPr/>
        </p:nvSpPr>
        <p:spPr>
          <a:xfrm>
            <a:off x="5951403" y="181777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96" name="Google Shape;3896;p152"/>
          <p:cNvCxnSpPr>
            <a:stCxn id="3892" idx="4"/>
            <a:endCxn id="3895" idx="0"/>
          </p:cNvCxnSpPr>
          <p:nvPr/>
        </p:nvCxnSpPr>
        <p:spPr>
          <a:xfrm>
            <a:off x="6070650" y="146217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7" name="Google Shape;3897;p152"/>
          <p:cNvCxnSpPr>
            <a:stCxn id="3895" idx="6"/>
            <a:endCxn id="3893" idx="2"/>
          </p:cNvCxnSpPr>
          <p:nvPr/>
        </p:nvCxnSpPr>
        <p:spPr>
          <a:xfrm flipH="1" rot="10800000">
            <a:off x="6189903" y="163987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98" name="Google Shape;3898;p152"/>
          <p:cNvSpPr/>
          <p:nvPr/>
        </p:nvSpPr>
        <p:spPr>
          <a:xfrm>
            <a:off x="7381509" y="1225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99" name="Google Shape;3899;p152"/>
          <p:cNvSpPr/>
          <p:nvPr/>
        </p:nvSpPr>
        <p:spPr>
          <a:xfrm>
            <a:off x="8019300" y="1521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00" name="Google Shape;3900;p152"/>
          <p:cNvCxnSpPr>
            <a:stCxn id="3898" idx="6"/>
            <a:endCxn id="3899" idx="2"/>
          </p:cNvCxnSpPr>
          <p:nvPr/>
        </p:nvCxnSpPr>
        <p:spPr>
          <a:xfrm>
            <a:off x="7620009" y="1343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01" name="Google Shape;3901;p152"/>
          <p:cNvSpPr/>
          <p:nvPr/>
        </p:nvSpPr>
        <p:spPr>
          <a:xfrm>
            <a:off x="7381512" y="1817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02" name="Google Shape;3902;p152"/>
          <p:cNvCxnSpPr>
            <a:stCxn id="3898" idx="4"/>
            <a:endCxn id="3901" idx="0"/>
          </p:cNvCxnSpPr>
          <p:nvPr/>
        </p:nvCxnSpPr>
        <p:spPr>
          <a:xfrm>
            <a:off x="7500759" y="1462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3" name="Google Shape;3903;p152"/>
          <p:cNvCxnSpPr>
            <a:stCxn id="3901" idx="6"/>
            <a:endCxn id="3899" idx="2"/>
          </p:cNvCxnSpPr>
          <p:nvPr/>
        </p:nvCxnSpPr>
        <p:spPr>
          <a:xfrm flipH="1" rot="10800000">
            <a:off x="7620012" y="1639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04" name="Google Shape;3904;p152"/>
          <p:cNvSpPr/>
          <p:nvPr/>
        </p:nvSpPr>
        <p:spPr>
          <a:xfrm>
            <a:off x="7369784" y="232998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05" name="Google Shape;3905;p152"/>
          <p:cNvSpPr/>
          <p:nvPr/>
        </p:nvSpPr>
        <p:spPr>
          <a:xfrm>
            <a:off x="8007575" y="262631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06" name="Google Shape;3906;p152"/>
          <p:cNvCxnSpPr>
            <a:stCxn id="3904" idx="6"/>
            <a:endCxn id="3905" idx="2"/>
          </p:cNvCxnSpPr>
          <p:nvPr/>
        </p:nvCxnSpPr>
        <p:spPr>
          <a:xfrm>
            <a:off x="7608284" y="244848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907" name="Google Shape;3907;p152"/>
          <p:cNvSpPr/>
          <p:nvPr/>
        </p:nvSpPr>
        <p:spPr>
          <a:xfrm>
            <a:off x="7369787" y="292258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08" name="Google Shape;3908;p152"/>
          <p:cNvCxnSpPr>
            <a:stCxn id="3904" idx="4"/>
            <a:endCxn id="3907" idx="0"/>
          </p:cNvCxnSpPr>
          <p:nvPr/>
        </p:nvCxnSpPr>
        <p:spPr>
          <a:xfrm>
            <a:off x="7489034" y="256698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9" name="Google Shape;3909;p152"/>
          <p:cNvCxnSpPr>
            <a:stCxn id="3907" idx="6"/>
            <a:endCxn id="3905" idx="2"/>
          </p:cNvCxnSpPr>
          <p:nvPr/>
        </p:nvCxnSpPr>
        <p:spPr>
          <a:xfrm flipH="1" rot="10800000">
            <a:off x="7608287" y="274468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910" name="Google Shape;3910;p152"/>
          <p:cNvSpPr/>
          <p:nvPr/>
        </p:nvSpPr>
        <p:spPr>
          <a:xfrm>
            <a:off x="5951400" y="22583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11" name="Google Shape;3911;p152"/>
          <p:cNvSpPr/>
          <p:nvPr/>
        </p:nvSpPr>
        <p:spPr>
          <a:xfrm>
            <a:off x="6589191" y="25546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12" name="Google Shape;3912;p152"/>
          <p:cNvCxnSpPr>
            <a:stCxn id="3910" idx="6"/>
            <a:endCxn id="3911" idx="2"/>
          </p:cNvCxnSpPr>
          <p:nvPr/>
        </p:nvCxnSpPr>
        <p:spPr>
          <a:xfrm>
            <a:off x="6189900" y="23768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3" name="Google Shape;3913;p152"/>
          <p:cNvSpPr/>
          <p:nvPr/>
        </p:nvSpPr>
        <p:spPr>
          <a:xfrm>
            <a:off x="5951403" y="28509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14" name="Google Shape;3914;p152"/>
          <p:cNvCxnSpPr>
            <a:stCxn id="3910" idx="4"/>
            <a:endCxn id="3913" idx="0"/>
          </p:cNvCxnSpPr>
          <p:nvPr/>
        </p:nvCxnSpPr>
        <p:spPr>
          <a:xfrm>
            <a:off x="6070650" y="24953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5" name="Google Shape;3915;p152"/>
          <p:cNvCxnSpPr>
            <a:stCxn id="3913" idx="6"/>
            <a:endCxn id="3911" idx="2"/>
          </p:cNvCxnSpPr>
          <p:nvPr/>
        </p:nvCxnSpPr>
        <p:spPr>
          <a:xfrm flipH="1" rot="10800000">
            <a:off x="6189903" y="26730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6" name="Google Shape;3916;p152"/>
          <p:cNvSpPr/>
          <p:nvPr/>
        </p:nvSpPr>
        <p:spPr>
          <a:xfrm>
            <a:off x="5951409" y="3413756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17" name="Google Shape;3917;p152"/>
          <p:cNvSpPr/>
          <p:nvPr/>
        </p:nvSpPr>
        <p:spPr>
          <a:xfrm>
            <a:off x="6589200" y="371008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18" name="Google Shape;3918;p152"/>
          <p:cNvCxnSpPr>
            <a:stCxn id="3916" idx="6"/>
            <a:endCxn id="3917" idx="2"/>
          </p:cNvCxnSpPr>
          <p:nvPr/>
        </p:nvCxnSpPr>
        <p:spPr>
          <a:xfrm>
            <a:off x="6189909" y="3532256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919" name="Google Shape;3919;p152"/>
          <p:cNvSpPr/>
          <p:nvPr/>
        </p:nvSpPr>
        <p:spPr>
          <a:xfrm>
            <a:off x="5951412" y="40063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20" name="Google Shape;3920;p152"/>
          <p:cNvCxnSpPr>
            <a:stCxn id="3916" idx="4"/>
            <a:endCxn id="3919" idx="0"/>
          </p:cNvCxnSpPr>
          <p:nvPr/>
        </p:nvCxnSpPr>
        <p:spPr>
          <a:xfrm>
            <a:off x="6070659" y="3650756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1" name="Google Shape;3921;p152"/>
          <p:cNvCxnSpPr>
            <a:stCxn id="3919" idx="6"/>
            <a:endCxn id="3917" idx="2"/>
          </p:cNvCxnSpPr>
          <p:nvPr/>
        </p:nvCxnSpPr>
        <p:spPr>
          <a:xfrm flipH="1" rot="10800000">
            <a:off x="6189912" y="3828462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922" name="Google Shape;3922;p152"/>
          <p:cNvSpPr/>
          <p:nvPr/>
        </p:nvSpPr>
        <p:spPr>
          <a:xfrm>
            <a:off x="7369784" y="34137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23" name="Google Shape;3923;p152"/>
          <p:cNvSpPr/>
          <p:nvPr/>
        </p:nvSpPr>
        <p:spPr>
          <a:xfrm>
            <a:off x="8007575" y="37100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24" name="Google Shape;3924;p152"/>
          <p:cNvCxnSpPr>
            <a:stCxn id="3922" idx="6"/>
            <a:endCxn id="3923" idx="2"/>
          </p:cNvCxnSpPr>
          <p:nvPr/>
        </p:nvCxnSpPr>
        <p:spPr>
          <a:xfrm>
            <a:off x="7608284" y="35322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925" name="Google Shape;3925;p152"/>
          <p:cNvSpPr/>
          <p:nvPr/>
        </p:nvSpPr>
        <p:spPr>
          <a:xfrm>
            <a:off x="7369787" y="40063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26" name="Google Shape;3926;p152"/>
          <p:cNvCxnSpPr>
            <a:stCxn id="3922" idx="4"/>
            <a:endCxn id="3925" idx="0"/>
          </p:cNvCxnSpPr>
          <p:nvPr/>
        </p:nvCxnSpPr>
        <p:spPr>
          <a:xfrm>
            <a:off x="7489034" y="36507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927" name="Google Shape;3927;p152"/>
          <p:cNvCxnSpPr>
            <a:stCxn id="3925" idx="6"/>
            <a:endCxn id="3923" idx="2"/>
          </p:cNvCxnSpPr>
          <p:nvPr/>
        </p:nvCxnSpPr>
        <p:spPr>
          <a:xfrm flipH="1" rot="10800000">
            <a:off x="7608287" y="38284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1" name="Shape 3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" name="Google Shape;3932;p153"/>
          <p:cNvSpPr/>
          <p:nvPr/>
        </p:nvSpPr>
        <p:spPr>
          <a:xfrm>
            <a:off x="796600" y="2638175"/>
            <a:ext cx="3025200" cy="109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33" name="Google Shape;3933;p153"/>
          <p:cNvSpPr/>
          <p:nvPr/>
        </p:nvSpPr>
        <p:spPr>
          <a:xfrm>
            <a:off x="2586325" y="3735325"/>
            <a:ext cx="1239900" cy="109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34" name="Google Shape;3934;p153"/>
          <p:cNvSpPr txBox="1"/>
          <p:nvPr>
            <p:ph idx="1" type="body"/>
          </p:nvPr>
        </p:nvSpPr>
        <p:spPr>
          <a:xfrm>
            <a:off x="311700" y="1225225"/>
            <a:ext cx="4448100" cy="15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we give the nodes names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5" name="Google Shape;3935;p1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balance to clustering</a:t>
            </a:r>
            <a:endParaRPr/>
          </a:p>
        </p:txBody>
      </p:sp>
      <p:sp>
        <p:nvSpPr>
          <p:cNvPr id="3936" name="Google Shape;3936;p153"/>
          <p:cNvSpPr/>
          <p:nvPr/>
        </p:nvSpPr>
        <p:spPr>
          <a:xfrm>
            <a:off x="1320625" y="275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37" name="Google Shape;3937;p153"/>
          <p:cNvSpPr/>
          <p:nvPr/>
        </p:nvSpPr>
        <p:spPr>
          <a:xfrm>
            <a:off x="1958416" y="305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38" name="Google Shape;3938;p153"/>
          <p:cNvCxnSpPr>
            <a:stCxn id="3936" idx="6"/>
            <a:endCxn id="3937" idx="2"/>
          </p:cNvCxnSpPr>
          <p:nvPr/>
        </p:nvCxnSpPr>
        <p:spPr>
          <a:xfrm>
            <a:off x="1559125" y="287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39" name="Google Shape;3939;p153"/>
          <p:cNvSpPr/>
          <p:nvPr/>
        </p:nvSpPr>
        <p:spPr>
          <a:xfrm>
            <a:off x="1320628" y="334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40" name="Google Shape;3940;p153"/>
          <p:cNvCxnSpPr>
            <a:stCxn id="3936" idx="4"/>
            <a:endCxn id="3939" idx="0"/>
          </p:cNvCxnSpPr>
          <p:nvPr/>
        </p:nvCxnSpPr>
        <p:spPr>
          <a:xfrm>
            <a:off x="1439875" y="299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1" name="Google Shape;3941;p153"/>
          <p:cNvCxnSpPr>
            <a:stCxn id="3939" idx="6"/>
            <a:endCxn id="3937" idx="2"/>
          </p:cNvCxnSpPr>
          <p:nvPr/>
        </p:nvCxnSpPr>
        <p:spPr>
          <a:xfrm flipH="1" rot="10800000">
            <a:off x="1559128" y="317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42" name="Google Shape;3942;p153"/>
          <p:cNvSpPr/>
          <p:nvPr/>
        </p:nvSpPr>
        <p:spPr>
          <a:xfrm>
            <a:off x="2730334" y="275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43" name="Google Shape;3943;p153"/>
          <p:cNvSpPr/>
          <p:nvPr/>
        </p:nvSpPr>
        <p:spPr>
          <a:xfrm>
            <a:off x="3368125" y="304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44" name="Google Shape;3944;p153"/>
          <p:cNvCxnSpPr>
            <a:stCxn id="3942" idx="6"/>
            <a:endCxn id="3943" idx="2"/>
          </p:cNvCxnSpPr>
          <p:nvPr/>
        </p:nvCxnSpPr>
        <p:spPr>
          <a:xfrm>
            <a:off x="2968834" y="287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945" name="Google Shape;3945;p153"/>
          <p:cNvSpPr/>
          <p:nvPr/>
        </p:nvSpPr>
        <p:spPr>
          <a:xfrm>
            <a:off x="2730337" y="334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46" name="Google Shape;3946;p153"/>
          <p:cNvCxnSpPr>
            <a:stCxn id="3942" idx="4"/>
            <a:endCxn id="3945" idx="0"/>
          </p:cNvCxnSpPr>
          <p:nvPr/>
        </p:nvCxnSpPr>
        <p:spPr>
          <a:xfrm>
            <a:off x="2849584" y="298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7" name="Google Shape;3947;p153"/>
          <p:cNvCxnSpPr>
            <a:stCxn id="3945" idx="6"/>
            <a:endCxn id="3943" idx="2"/>
          </p:cNvCxnSpPr>
          <p:nvPr/>
        </p:nvCxnSpPr>
        <p:spPr>
          <a:xfrm flipH="1" rot="10800000">
            <a:off x="2968837" y="316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948" name="Google Shape;3948;p153"/>
          <p:cNvSpPr/>
          <p:nvPr/>
        </p:nvSpPr>
        <p:spPr>
          <a:xfrm>
            <a:off x="1371575" y="394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49" name="Google Shape;3949;p153"/>
          <p:cNvSpPr/>
          <p:nvPr/>
        </p:nvSpPr>
        <p:spPr>
          <a:xfrm>
            <a:off x="2009366" y="424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50" name="Google Shape;3950;p153"/>
          <p:cNvCxnSpPr>
            <a:stCxn id="3948" idx="6"/>
            <a:endCxn id="3949" idx="2"/>
          </p:cNvCxnSpPr>
          <p:nvPr/>
        </p:nvCxnSpPr>
        <p:spPr>
          <a:xfrm>
            <a:off x="1610075" y="406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51" name="Google Shape;3951;p153"/>
          <p:cNvSpPr/>
          <p:nvPr/>
        </p:nvSpPr>
        <p:spPr>
          <a:xfrm>
            <a:off x="1371578" y="453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52" name="Google Shape;3952;p153"/>
          <p:cNvCxnSpPr>
            <a:stCxn id="3948" idx="4"/>
            <a:endCxn id="3951" idx="0"/>
          </p:cNvCxnSpPr>
          <p:nvPr/>
        </p:nvCxnSpPr>
        <p:spPr>
          <a:xfrm>
            <a:off x="1490825" y="418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3" name="Google Shape;3953;p153"/>
          <p:cNvCxnSpPr>
            <a:stCxn id="3951" idx="6"/>
            <a:endCxn id="3949" idx="2"/>
          </p:cNvCxnSpPr>
          <p:nvPr/>
        </p:nvCxnSpPr>
        <p:spPr>
          <a:xfrm flipH="1" rot="10800000">
            <a:off x="1610078" y="436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954" name="Google Shape;3954;p153"/>
          <p:cNvSpPr/>
          <p:nvPr/>
        </p:nvSpPr>
        <p:spPr>
          <a:xfrm>
            <a:off x="2781284" y="394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55" name="Google Shape;3955;p153"/>
          <p:cNvSpPr/>
          <p:nvPr/>
        </p:nvSpPr>
        <p:spPr>
          <a:xfrm>
            <a:off x="3419075" y="423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56" name="Google Shape;3956;p153"/>
          <p:cNvCxnSpPr>
            <a:stCxn id="3954" idx="6"/>
            <a:endCxn id="3955" idx="2"/>
          </p:cNvCxnSpPr>
          <p:nvPr/>
        </p:nvCxnSpPr>
        <p:spPr>
          <a:xfrm>
            <a:off x="3019784" y="406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957" name="Google Shape;3957;p153"/>
          <p:cNvSpPr/>
          <p:nvPr/>
        </p:nvSpPr>
        <p:spPr>
          <a:xfrm>
            <a:off x="2781287" y="453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58" name="Google Shape;3958;p153"/>
          <p:cNvCxnSpPr>
            <a:stCxn id="3954" idx="4"/>
            <a:endCxn id="3957" idx="0"/>
          </p:cNvCxnSpPr>
          <p:nvPr/>
        </p:nvCxnSpPr>
        <p:spPr>
          <a:xfrm>
            <a:off x="2900534" y="417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959" name="Google Shape;3959;p153"/>
          <p:cNvCxnSpPr>
            <a:stCxn id="3957" idx="6"/>
            <a:endCxn id="3955" idx="2"/>
          </p:cNvCxnSpPr>
          <p:nvPr/>
        </p:nvCxnSpPr>
        <p:spPr>
          <a:xfrm flipH="1" rot="10800000">
            <a:off x="3019787" y="435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960" name="Google Shape;3960;p153"/>
          <p:cNvSpPr txBox="1"/>
          <p:nvPr/>
        </p:nvSpPr>
        <p:spPr>
          <a:xfrm>
            <a:off x="1439875" y="3529688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961" name="Google Shape;3961;p153"/>
          <p:cNvSpPr txBox="1"/>
          <p:nvPr/>
        </p:nvSpPr>
        <p:spPr>
          <a:xfrm>
            <a:off x="1485350" y="4776875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Unbalanced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962" name="Google Shape;3962;p153"/>
          <p:cNvSpPr/>
          <p:nvPr/>
        </p:nvSpPr>
        <p:spPr>
          <a:xfrm>
            <a:off x="5951400" y="122517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a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63" name="Google Shape;3963;p153"/>
          <p:cNvSpPr/>
          <p:nvPr/>
        </p:nvSpPr>
        <p:spPr>
          <a:xfrm>
            <a:off x="6589191" y="152150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b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64" name="Google Shape;3964;p153"/>
          <p:cNvCxnSpPr>
            <a:stCxn id="3962" idx="6"/>
            <a:endCxn id="3963" idx="2"/>
          </p:cNvCxnSpPr>
          <p:nvPr/>
        </p:nvCxnSpPr>
        <p:spPr>
          <a:xfrm>
            <a:off x="6189900" y="134367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965" name="Google Shape;3965;p153"/>
          <p:cNvSpPr/>
          <p:nvPr/>
        </p:nvSpPr>
        <p:spPr>
          <a:xfrm>
            <a:off x="5951403" y="181777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c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66" name="Google Shape;3966;p153"/>
          <p:cNvCxnSpPr>
            <a:stCxn id="3962" idx="4"/>
            <a:endCxn id="3965" idx="0"/>
          </p:cNvCxnSpPr>
          <p:nvPr/>
        </p:nvCxnSpPr>
        <p:spPr>
          <a:xfrm>
            <a:off x="6070650" y="146217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967" name="Google Shape;3967;p153"/>
          <p:cNvCxnSpPr>
            <a:stCxn id="3965" idx="6"/>
            <a:endCxn id="3963" idx="2"/>
          </p:cNvCxnSpPr>
          <p:nvPr/>
        </p:nvCxnSpPr>
        <p:spPr>
          <a:xfrm flipH="1" rot="10800000">
            <a:off x="6189903" y="163987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968" name="Google Shape;3968;p153"/>
          <p:cNvSpPr/>
          <p:nvPr/>
        </p:nvSpPr>
        <p:spPr>
          <a:xfrm>
            <a:off x="7381509" y="1225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a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69" name="Google Shape;3969;p153"/>
          <p:cNvSpPr/>
          <p:nvPr/>
        </p:nvSpPr>
        <p:spPr>
          <a:xfrm>
            <a:off x="8019300" y="1521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e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70" name="Google Shape;3970;p153"/>
          <p:cNvCxnSpPr>
            <a:stCxn id="3968" idx="6"/>
            <a:endCxn id="3969" idx="2"/>
          </p:cNvCxnSpPr>
          <p:nvPr/>
        </p:nvCxnSpPr>
        <p:spPr>
          <a:xfrm>
            <a:off x="7620009" y="1343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71" name="Google Shape;3971;p153"/>
          <p:cNvSpPr/>
          <p:nvPr/>
        </p:nvSpPr>
        <p:spPr>
          <a:xfrm>
            <a:off x="7381512" y="1817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d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72" name="Google Shape;3972;p153"/>
          <p:cNvCxnSpPr>
            <a:stCxn id="3968" idx="4"/>
            <a:endCxn id="3971" idx="0"/>
          </p:cNvCxnSpPr>
          <p:nvPr/>
        </p:nvCxnSpPr>
        <p:spPr>
          <a:xfrm>
            <a:off x="7500759" y="1462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3" name="Google Shape;3973;p153"/>
          <p:cNvCxnSpPr>
            <a:stCxn id="3971" idx="6"/>
            <a:endCxn id="3969" idx="2"/>
          </p:cNvCxnSpPr>
          <p:nvPr/>
        </p:nvCxnSpPr>
        <p:spPr>
          <a:xfrm flipH="1" rot="10800000">
            <a:off x="7620012" y="1639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74" name="Google Shape;3974;p153"/>
          <p:cNvSpPr/>
          <p:nvPr/>
        </p:nvSpPr>
        <p:spPr>
          <a:xfrm>
            <a:off x="7369784" y="232998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g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75" name="Google Shape;3975;p153"/>
          <p:cNvSpPr/>
          <p:nvPr/>
        </p:nvSpPr>
        <p:spPr>
          <a:xfrm>
            <a:off x="8007575" y="262631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d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76" name="Google Shape;3976;p153"/>
          <p:cNvCxnSpPr>
            <a:stCxn id="3974" idx="6"/>
            <a:endCxn id="3975" idx="2"/>
          </p:cNvCxnSpPr>
          <p:nvPr/>
        </p:nvCxnSpPr>
        <p:spPr>
          <a:xfrm>
            <a:off x="7608284" y="244848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977" name="Google Shape;3977;p153"/>
          <p:cNvSpPr/>
          <p:nvPr/>
        </p:nvSpPr>
        <p:spPr>
          <a:xfrm>
            <a:off x="7369787" y="292258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c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78" name="Google Shape;3978;p153"/>
          <p:cNvCxnSpPr>
            <a:stCxn id="3974" idx="4"/>
            <a:endCxn id="3977" idx="0"/>
          </p:cNvCxnSpPr>
          <p:nvPr/>
        </p:nvCxnSpPr>
        <p:spPr>
          <a:xfrm>
            <a:off x="7489034" y="256698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9" name="Google Shape;3979;p153"/>
          <p:cNvCxnSpPr>
            <a:stCxn id="3977" idx="6"/>
            <a:endCxn id="3975" idx="2"/>
          </p:cNvCxnSpPr>
          <p:nvPr/>
        </p:nvCxnSpPr>
        <p:spPr>
          <a:xfrm flipH="1" rot="10800000">
            <a:off x="7608287" y="274468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980" name="Google Shape;3980;p153"/>
          <p:cNvSpPr/>
          <p:nvPr/>
        </p:nvSpPr>
        <p:spPr>
          <a:xfrm>
            <a:off x="5951400" y="22583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b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81" name="Google Shape;3981;p153"/>
          <p:cNvSpPr/>
          <p:nvPr/>
        </p:nvSpPr>
        <p:spPr>
          <a:xfrm>
            <a:off x="6589191" y="25546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e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82" name="Google Shape;3982;p153"/>
          <p:cNvCxnSpPr>
            <a:stCxn id="3980" idx="6"/>
            <a:endCxn id="3981" idx="2"/>
          </p:cNvCxnSpPr>
          <p:nvPr/>
        </p:nvCxnSpPr>
        <p:spPr>
          <a:xfrm>
            <a:off x="6189900" y="23768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983" name="Google Shape;3983;p153"/>
          <p:cNvSpPr/>
          <p:nvPr/>
        </p:nvSpPr>
        <p:spPr>
          <a:xfrm>
            <a:off x="5951403" y="28509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f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84" name="Google Shape;3984;p153"/>
          <p:cNvCxnSpPr>
            <a:stCxn id="3980" idx="4"/>
            <a:endCxn id="3983" idx="0"/>
          </p:cNvCxnSpPr>
          <p:nvPr/>
        </p:nvCxnSpPr>
        <p:spPr>
          <a:xfrm>
            <a:off x="6070650" y="24953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5" name="Google Shape;3985;p153"/>
          <p:cNvCxnSpPr>
            <a:stCxn id="3983" idx="6"/>
            <a:endCxn id="3981" idx="2"/>
          </p:cNvCxnSpPr>
          <p:nvPr/>
        </p:nvCxnSpPr>
        <p:spPr>
          <a:xfrm flipH="1" rot="10800000">
            <a:off x="6189903" y="26730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986" name="Google Shape;3986;p153"/>
          <p:cNvSpPr/>
          <p:nvPr/>
        </p:nvSpPr>
        <p:spPr>
          <a:xfrm>
            <a:off x="5951409" y="3413756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f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87" name="Google Shape;3987;p153"/>
          <p:cNvSpPr/>
          <p:nvPr/>
        </p:nvSpPr>
        <p:spPr>
          <a:xfrm>
            <a:off x="6589200" y="371008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d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88" name="Google Shape;3988;p153"/>
          <p:cNvCxnSpPr>
            <a:stCxn id="3986" idx="6"/>
            <a:endCxn id="3987" idx="2"/>
          </p:cNvCxnSpPr>
          <p:nvPr/>
        </p:nvCxnSpPr>
        <p:spPr>
          <a:xfrm>
            <a:off x="6189909" y="3532256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989" name="Google Shape;3989;p153"/>
          <p:cNvSpPr/>
          <p:nvPr/>
        </p:nvSpPr>
        <p:spPr>
          <a:xfrm>
            <a:off x="5951412" y="40063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h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90" name="Google Shape;3990;p153"/>
          <p:cNvCxnSpPr>
            <a:stCxn id="3986" idx="4"/>
            <a:endCxn id="3989" idx="0"/>
          </p:cNvCxnSpPr>
          <p:nvPr/>
        </p:nvCxnSpPr>
        <p:spPr>
          <a:xfrm>
            <a:off x="6070659" y="3650756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1" name="Google Shape;3991;p153"/>
          <p:cNvCxnSpPr>
            <a:stCxn id="3989" idx="6"/>
            <a:endCxn id="3987" idx="2"/>
          </p:cNvCxnSpPr>
          <p:nvPr/>
        </p:nvCxnSpPr>
        <p:spPr>
          <a:xfrm flipH="1" rot="10800000">
            <a:off x="6189912" y="3828462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992" name="Google Shape;3992;p153"/>
          <p:cNvSpPr/>
          <p:nvPr/>
        </p:nvSpPr>
        <p:spPr>
          <a:xfrm>
            <a:off x="7369784" y="34137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e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93" name="Google Shape;3993;p153"/>
          <p:cNvSpPr/>
          <p:nvPr/>
        </p:nvSpPr>
        <p:spPr>
          <a:xfrm>
            <a:off x="8007575" y="37100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c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94" name="Google Shape;3994;p153"/>
          <p:cNvCxnSpPr>
            <a:stCxn id="3992" idx="6"/>
            <a:endCxn id="3993" idx="2"/>
          </p:cNvCxnSpPr>
          <p:nvPr/>
        </p:nvCxnSpPr>
        <p:spPr>
          <a:xfrm>
            <a:off x="7608284" y="35322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995" name="Google Shape;3995;p153"/>
          <p:cNvSpPr/>
          <p:nvPr/>
        </p:nvSpPr>
        <p:spPr>
          <a:xfrm>
            <a:off x="7369787" y="40063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h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96" name="Google Shape;3996;p153"/>
          <p:cNvCxnSpPr>
            <a:stCxn id="3992" idx="4"/>
            <a:endCxn id="3995" idx="0"/>
          </p:cNvCxnSpPr>
          <p:nvPr/>
        </p:nvCxnSpPr>
        <p:spPr>
          <a:xfrm>
            <a:off x="7489034" y="36507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997" name="Google Shape;3997;p153"/>
          <p:cNvCxnSpPr>
            <a:stCxn id="3995" idx="6"/>
            <a:endCxn id="3993" idx="2"/>
          </p:cNvCxnSpPr>
          <p:nvPr/>
        </p:nvCxnSpPr>
        <p:spPr>
          <a:xfrm flipH="1" rot="10800000">
            <a:off x="7608287" y="38284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1" name="Shape 4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2" name="Google Shape;4002;p154"/>
          <p:cNvSpPr/>
          <p:nvPr/>
        </p:nvSpPr>
        <p:spPr>
          <a:xfrm>
            <a:off x="796600" y="2638175"/>
            <a:ext cx="3025200" cy="109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03" name="Google Shape;4003;p154"/>
          <p:cNvSpPr/>
          <p:nvPr/>
        </p:nvSpPr>
        <p:spPr>
          <a:xfrm>
            <a:off x="2586325" y="3735325"/>
            <a:ext cx="1239900" cy="109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04" name="Google Shape;4004;p154"/>
          <p:cNvSpPr txBox="1"/>
          <p:nvPr>
            <p:ph idx="1" type="body"/>
          </p:nvPr>
        </p:nvSpPr>
        <p:spPr>
          <a:xfrm>
            <a:off x="311700" y="1225225"/>
            <a:ext cx="4448100" cy="15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First, we pick two of each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we give the nodes names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 now we connect them up!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5" name="Google Shape;4005;p1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balance to clustering</a:t>
            </a:r>
            <a:endParaRPr/>
          </a:p>
        </p:txBody>
      </p:sp>
      <p:sp>
        <p:nvSpPr>
          <p:cNvPr id="4006" name="Google Shape;4006;p154"/>
          <p:cNvSpPr/>
          <p:nvPr/>
        </p:nvSpPr>
        <p:spPr>
          <a:xfrm>
            <a:off x="1320625" y="275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007" name="Google Shape;4007;p154"/>
          <p:cNvSpPr/>
          <p:nvPr/>
        </p:nvSpPr>
        <p:spPr>
          <a:xfrm>
            <a:off x="1958416" y="305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08" name="Google Shape;4008;p154"/>
          <p:cNvCxnSpPr>
            <a:stCxn id="4006" idx="6"/>
            <a:endCxn id="4007" idx="2"/>
          </p:cNvCxnSpPr>
          <p:nvPr/>
        </p:nvCxnSpPr>
        <p:spPr>
          <a:xfrm>
            <a:off x="1559125" y="287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09" name="Google Shape;4009;p154"/>
          <p:cNvSpPr/>
          <p:nvPr/>
        </p:nvSpPr>
        <p:spPr>
          <a:xfrm>
            <a:off x="1320628" y="334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10" name="Google Shape;4010;p154"/>
          <p:cNvCxnSpPr>
            <a:stCxn id="4006" idx="4"/>
            <a:endCxn id="4009" idx="0"/>
          </p:cNvCxnSpPr>
          <p:nvPr/>
        </p:nvCxnSpPr>
        <p:spPr>
          <a:xfrm>
            <a:off x="1439875" y="299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1" name="Google Shape;4011;p154"/>
          <p:cNvCxnSpPr>
            <a:stCxn id="4009" idx="6"/>
            <a:endCxn id="4007" idx="2"/>
          </p:cNvCxnSpPr>
          <p:nvPr/>
        </p:nvCxnSpPr>
        <p:spPr>
          <a:xfrm flipH="1" rot="10800000">
            <a:off x="1559128" y="317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12" name="Google Shape;4012;p154"/>
          <p:cNvSpPr/>
          <p:nvPr/>
        </p:nvSpPr>
        <p:spPr>
          <a:xfrm>
            <a:off x="2730334" y="275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013" name="Google Shape;4013;p154"/>
          <p:cNvSpPr/>
          <p:nvPr/>
        </p:nvSpPr>
        <p:spPr>
          <a:xfrm>
            <a:off x="3368125" y="304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14" name="Google Shape;4014;p154"/>
          <p:cNvCxnSpPr>
            <a:stCxn id="4012" idx="6"/>
            <a:endCxn id="4013" idx="2"/>
          </p:cNvCxnSpPr>
          <p:nvPr/>
        </p:nvCxnSpPr>
        <p:spPr>
          <a:xfrm>
            <a:off x="2968834" y="287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015" name="Google Shape;4015;p154"/>
          <p:cNvSpPr/>
          <p:nvPr/>
        </p:nvSpPr>
        <p:spPr>
          <a:xfrm>
            <a:off x="2730337" y="334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16" name="Google Shape;4016;p154"/>
          <p:cNvCxnSpPr>
            <a:stCxn id="4012" idx="4"/>
            <a:endCxn id="4015" idx="0"/>
          </p:cNvCxnSpPr>
          <p:nvPr/>
        </p:nvCxnSpPr>
        <p:spPr>
          <a:xfrm>
            <a:off x="2849584" y="298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7" name="Google Shape;4017;p154"/>
          <p:cNvCxnSpPr>
            <a:stCxn id="4015" idx="6"/>
            <a:endCxn id="4013" idx="2"/>
          </p:cNvCxnSpPr>
          <p:nvPr/>
        </p:nvCxnSpPr>
        <p:spPr>
          <a:xfrm flipH="1" rot="10800000">
            <a:off x="2968837" y="316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018" name="Google Shape;4018;p154"/>
          <p:cNvSpPr/>
          <p:nvPr/>
        </p:nvSpPr>
        <p:spPr>
          <a:xfrm>
            <a:off x="1371575" y="394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019" name="Google Shape;4019;p154"/>
          <p:cNvSpPr/>
          <p:nvPr/>
        </p:nvSpPr>
        <p:spPr>
          <a:xfrm>
            <a:off x="2009366" y="424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20" name="Google Shape;4020;p154"/>
          <p:cNvCxnSpPr>
            <a:stCxn id="4018" idx="6"/>
            <a:endCxn id="4019" idx="2"/>
          </p:cNvCxnSpPr>
          <p:nvPr/>
        </p:nvCxnSpPr>
        <p:spPr>
          <a:xfrm>
            <a:off x="1610075" y="406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21" name="Google Shape;4021;p154"/>
          <p:cNvSpPr/>
          <p:nvPr/>
        </p:nvSpPr>
        <p:spPr>
          <a:xfrm>
            <a:off x="1371578" y="453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22" name="Google Shape;4022;p154"/>
          <p:cNvCxnSpPr>
            <a:stCxn id="4018" idx="4"/>
            <a:endCxn id="4021" idx="0"/>
          </p:cNvCxnSpPr>
          <p:nvPr/>
        </p:nvCxnSpPr>
        <p:spPr>
          <a:xfrm>
            <a:off x="1490825" y="418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3" name="Google Shape;4023;p154"/>
          <p:cNvCxnSpPr>
            <a:stCxn id="4021" idx="6"/>
            <a:endCxn id="4019" idx="2"/>
          </p:cNvCxnSpPr>
          <p:nvPr/>
        </p:nvCxnSpPr>
        <p:spPr>
          <a:xfrm flipH="1" rot="10800000">
            <a:off x="1610078" y="436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024" name="Google Shape;4024;p154"/>
          <p:cNvSpPr/>
          <p:nvPr/>
        </p:nvSpPr>
        <p:spPr>
          <a:xfrm>
            <a:off x="2781284" y="394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025" name="Google Shape;4025;p154"/>
          <p:cNvSpPr/>
          <p:nvPr/>
        </p:nvSpPr>
        <p:spPr>
          <a:xfrm>
            <a:off x="3419075" y="423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26" name="Google Shape;4026;p154"/>
          <p:cNvCxnSpPr>
            <a:stCxn id="4024" idx="6"/>
            <a:endCxn id="4025" idx="2"/>
          </p:cNvCxnSpPr>
          <p:nvPr/>
        </p:nvCxnSpPr>
        <p:spPr>
          <a:xfrm>
            <a:off x="3019784" y="406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027" name="Google Shape;4027;p154"/>
          <p:cNvSpPr/>
          <p:nvPr/>
        </p:nvSpPr>
        <p:spPr>
          <a:xfrm>
            <a:off x="2781287" y="453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28" name="Google Shape;4028;p154"/>
          <p:cNvCxnSpPr>
            <a:stCxn id="4024" idx="4"/>
            <a:endCxn id="4027" idx="0"/>
          </p:cNvCxnSpPr>
          <p:nvPr/>
        </p:nvCxnSpPr>
        <p:spPr>
          <a:xfrm>
            <a:off x="2900534" y="417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29" name="Google Shape;4029;p154"/>
          <p:cNvCxnSpPr>
            <a:stCxn id="4027" idx="6"/>
            <a:endCxn id="4025" idx="2"/>
          </p:cNvCxnSpPr>
          <p:nvPr/>
        </p:nvCxnSpPr>
        <p:spPr>
          <a:xfrm flipH="1" rot="10800000">
            <a:off x="3019787" y="435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030" name="Google Shape;4030;p154"/>
          <p:cNvSpPr txBox="1"/>
          <p:nvPr/>
        </p:nvSpPr>
        <p:spPr>
          <a:xfrm>
            <a:off x="1439875" y="3529688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031" name="Google Shape;4031;p154"/>
          <p:cNvSpPr txBox="1"/>
          <p:nvPr/>
        </p:nvSpPr>
        <p:spPr>
          <a:xfrm>
            <a:off x="1485350" y="4776875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Unbalanced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032" name="Google Shape;4032;p154"/>
          <p:cNvSpPr/>
          <p:nvPr/>
        </p:nvSpPr>
        <p:spPr>
          <a:xfrm>
            <a:off x="6009349" y="1094423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a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033" name="Google Shape;4033;p154"/>
          <p:cNvSpPr/>
          <p:nvPr/>
        </p:nvSpPr>
        <p:spPr>
          <a:xfrm>
            <a:off x="8303464" y="3466537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b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34" name="Google Shape;4034;p154"/>
          <p:cNvCxnSpPr>
            <a:stCxn id="4032" idx="4"/>
            <a:endCxn id="4033" idx="2"/>
          </p:cNvCxnSpPr>
          <p:nvPr/>
        </p:nvCxnSpPr>
        <p:spPr>
          <a:xfrm>
            <a:off x="6135199" y="1344323"/>
            <a:ext cx="2168400" cy="224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035" name="Google Shape;4035;p154"/>
          <p:cNvSpPr/>
          <p:nvPr/>
        </p:nvSpPr>
        <p:spPr>
          <a:xfrm>
            <a:off x="5129104" y="2239269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c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36" name="Google Shape;4036;p154"/>
          <p:cNvCxnSpPr>
            <a:stCxn id="4032" idx="3"/>
            <a:endCxn id="4035" idx="0"/>
          </p:cNvCxnSpPr>
          <p:nvPr/>
        </p:nvCxnSpPr>
        <p:spPr>
          <a:xfrm flipH="1">
            <a:off x="5254809" y="1307726"/>
            <a:ext cx="791400" cy="931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37" name="Google Shape;4037;p154"/>
          <p:cNvCxnSpPr>
            <a:stCxn id="4035" idx="6"/>
            <a:endCxn id="4033" idx="2"/>
          </p:cNvCxnSpPr>
          <p:nvPr/>
        </p:nvCxnSpPr>
        <p:spPr>
          <a:xfrm>
            <a:off x="5380804" y="2364219"/>
            <a:ext cx="2922600" cy="122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38" name="Google Shape;4038;p154"/>
          <p:cNvCxnSpPr>
            <a:stCxn id="4032" idx="6"/>
            <a:endCxn id="4039" idx="0"/>
          </p:cNvCxnSpPr>
          <p:nvPr/>
        </p:nvCxnSpPr>
        <p:spPr>
          <a:xfrm>
            <a:off x="6261049" y="1219373"/>
            <a:ext cx="2168400" cy="89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40" name="Google Shape;4040;p154"/>
          <p:cNvSpPr/>
          <p:nvPr/>
        </p:nvSpPr>
        <p:spPr>
          <a:xfrm>
            <a:off x="7242538" y="1094437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d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41" name="Google Shape;4041;p154"/>
          <p:cNvCxnSpPr>
            <a:stCxn id="4032" idx="6"/>
            <a:endCxn id="4040" idx="2"/>
          </p:cNvCxnSpPr>
          <p:nvPr/>
        </p:nvCxnSpPr>
        <p:spPr>
          <a:xfrm>
            <a:off x="6261049" y="1219373"/>
            <a:ext cx="981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2" name="Google Shape;4042;p154"/>
          <p:cNvCxnSpPr>
            <a:stCxn id="4040" idx="5"/>
            <a:endCxn id="4039" idx="0"/>
          </p:cNvCxnSpPr>
          <p:nvPr/>
        </p:nvCxnSpPr>
        <p:spPr>
          <a:xfrm>
            <a:off x="7457377" y="1307740"/>
            <a:ext cx="972000" cy="80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43" name="Google Shape;4043;p154"/>
          <p:cNvSpPr/>
          <p:nvPr/>
        </p:nvSpPr>
        <p:spPr>
          <a:xfrm>
            <a:off x="6135247" y="4502018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g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44" name="Google Shape;4044;p154"/>
          <p:cNvCxnSpPr>
            <a:stCxn id="4043" idx="0"/>
            <a:endCxn id="4040" idx="4"/>
          </p:cNvCxnSpPr>
          <p:nvPr/>
        </p:nvCxnSpPr>
        <p:spPr>
          <a:xfrm flipH="1" rot="10800000">
            <a:off x="6261097" y="1344218"/>
            <a:ext cx="1107300" cy="3157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45" name="Google Shape;4045;p154"/>
          <p:cNvCxnSpPr>
            <a:stCxn id="4043" idx="0"/>
            <a:endCxn id="4035" idx="5"/>
          </p:cNvCxnSpPr>
          <p:nvPr/>
        </p:nvCxnSpPr>
        <p:spPr>
          <a:xfrm rot="10800000">
            <a:off x="5343997" y="2452718"/>
            <a:ext cx="917100" cy="2049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6" name="Google Shape;4046;p154"/>
          <p:cNvCxnSpPr>
            <a:stCxn id="4035" idx="7"/>
            <a:endCxn id="4040" idx="2"/>
          </p:cNvCxnSpPr>
          <p:nvPr/>
        </p:nvCxnSpPr>
        <p:spPr>
          <a:xfrm flipH="1" rot="10800000">
            <a:off x="5343943" y="1219266"/>
            <a:ext cx="1898700" cy="105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039" name="Google Shape;4039;p154"/>
          <p:cNvSpPr/>
          <p:nvPr/>
        </p:nvSpPr>
        <p:spPr>
          <a:xfrm>
            <a:off x="8303464" y="2114360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e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47" name="Google Shape;4047;p154"/>
          <p:cNvCxnSpPr>
            <a:stCxn id="4033" idx="0"/>
            <a:endCxn id="4039" idx="4"/>
          </p:cNvCxnSpPr>
          <p:nvPr/>
        </p:nvCxnSpPr>
        <p:spPr>
          <a:xfrm rot="10800000">
            <a:off x="8429314" y="2364337"/>
            <a:ext cx="0" cy="1102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048" name="Google Shape;4048;p154"/>
          <p:cNvSpPr/>
          <p:nvPr/>
        </p:nvSpPr>
        <p:spPr>
          <a:xfrm>
            <a:off x="5129091" y="3500373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f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49" name="Google Shape;4049;p154"/>
          <p:cNvCxnSpPr>
            <a:stCxn id="4033" idx="2"/>
            <a:endCxn id="4048" idx="6"/>
          </p:cNvCxnSpPr>
          <p:nvPr/>
        </p:nvCxnSpPr>
        <p:spPr>
          <a:xfrm flipH="1">
            <a:off x="5380864" y="3591487"/>
            <a:ext cx="2922600" cy="3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0" name="Google Shape;4050;p154"/>
          <p:cNvCxnSpPr>
            <a:stCxn id="4048" idx="6"/>
            <a:endCxn id="4039" idx="2"/>
          </p:cNvCxnSpPr>
          <p:nvPr/>
        </p:nvCxnSpPr>
        <p:spPr>
          <a:xfrm flipH="1" rot="10800000">
            <a:off x="5380791" y="2239323"/>
            <a:ext cx="2922600" cy="138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51" name="Google Shape;4051;p154"/>
          <p:cNvCxnSpPr>
            <a:stCxn id="4048" idx="5"/>
            <a:endCxn id="4040" idx="3"/>
          </p:cNvCxnSpPr>
          <p:nvPr/>
        </p:nvCxnSpPr>
        <p:spPr>
          <a:xfrm flipH="1" rot="10800000">
            <a:off x="5343930" y="1307676"/>
            <a:ext cx="1935600" cy="240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52" name="Google Shape;4052;p154"/>
          <p:cNvCxnSpPr>
            <a:stCxn id="4048" idx="6"/>
            <a:endCxn id="4053" idx="1"/>
          </p:cNvCxnSpPr>
          <p:nvPr/>
        </p:nvCxnSpPr>
        <p:spPr>
          <a:xfrm>
            <a:off x="5380791" y="3625323"/>
            <a:ext cx="1976700" cy="91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4" name="Google Shape;4054;p154"/>
          <p:cNvCxnSpPr>
            <a:stCxn id="4053" idx="0"/>
            <a:endCxn id="4040" idx="4"/>
          </p:cNvCxnSpPr>
          <p:nvPr/>
        </p:nvCxnSpPr>
        <p:spPr>
          <a:xfrm rot="10800000">
            <a:off x="7368253" y="1344224"/>
            <a:ext cx="78300" cy="3157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55" name="Google Shape;4055;p154"/>
          <p:cNvCxnSpPr>
            <a:stCxn id="4039" idx="2"/>
            <a:endCxn id="4035" idx="6"/>
          </p:cNvCxnSpPr>
          <p:nvPr/>
        </p:nvCxnSpPr>
        <p:spPr>
          <a:xfrm flipH="1">
            <a:off x="5380864" y="2239310"/>
            <a:ext cx="2922600" cy="124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053" name="Google Shape;4053;p154"/>
          <p:cNvSpPr/>
          <p:nvPr/>
        </p:nvSpPr>
        <p:spPr>
          <a:xfrm>
            <a:off x="7320703" y="4502024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h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56" name="Google Shape;4056;p154"/>
          <p:cNvCxnSpPr>
            <a:stCxn id="4039" idx="4"/>
            <a:endCxn id="4053" idx="0"/>
          </p:cNvCxnSpPr>
          <p:nvPr/>
        </p:nvCxnSpPr>
        <p:spPr>
          <a:xfrm flipH="1">
            <a:off x="7446514" y="2364260"/>
            <a:ext cx="982800" cy="2137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57" name="Google Shape;4057;p154"/>
          <p:cNvCxnSpPr>
            <a:stCxn id="4053" idx="1"/>
            <a:endCxn id="4035" idx="5"/>
          </p:cNvCxnSpPr>
          <p:nvPr/>
        </p:nvCxnSpPr>
        <p:spPr>
          <a:xfrm rot="10800000">
            <a:off x="5343963" y="2452721"/>
            <a:ext cx="2013600" cy="208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1" name="Shape 4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2" name="Google Shape;4062;p155"/>
          <p:cNvSpPr txBox="1"/>
          <p:nvPr>
            <p:ph idx="1" type="body"/>
          </p:nvPr>
        </p:nvSpPr>
        <p:spPr>
          <a:xfrm>
            <a:off x="311700" y="1225225"/>
            <a:ext cx="4448100" cy="15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Davis shows that…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Cluster 1: {c, g}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3" name="Google Shape;4063;p1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balance to clustering</a:t>
            </a:r>
            <a:endParaRPr/>
          </a:p>
        </p:txBody>
      </p:sp>
      <p:sp>
        <p:nvSpPr>
          <p:cNvPr id="4064" name="Google Shape;4064;p155"/>
          <p:cNvSpPr/>
          <p:nvPr/>
        </p:nvSpPr>
        <p:spPr>
          <a:xfrm>
            <a:off x="6009349" y="1094423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a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065" name="Google Shape;4065;p155"/>
          <p:cNvSpPr/>
          <p:nvPr/>
        </p:nvSpPr>
        <p:spPr>
          <a:xfrm>
            <a:off x="8303464" y="3466537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b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66" name="Google Shape;4066;p155"/>
          <p:cNvCxnSpPr>
            <a:stCxn id="4064" idx="4"/>
            <a:endCxn id="4065" idx="2"/>
          </p:cNvCxnSpPr>
          <p:nvPr/>
        </p:nvCxnSpPr>
        <p:spPr>
          <a:xfrm>
            <a:off x="6135199" y="1344323"/>
            <a:ext cx="2168400" cy="224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067" name="Google Shape;4067;p155"/>
          <p:cNvSpPr/>
          <p:nvPr/>
        </p:nvSpPr>
        <p:spPr>
          <a:xfrm>
            <a:off x="5129104" y="2239269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c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68" name="Google Shape;4068;p155"/>
          <p:cNvCxnSpPr>
            <a:stCxn id="4064" idx="3"/>
            <a:endCxn id="4067" idx="0"/>
          </p:cNvCxnSpPr>
          <p:nvPr/>
        </p:nvCxnSpPr>
        <p:spPr>
          <a:xfrm flipH="1">
            <a:off x="5254809" y="1307726"/>
            <a:ext cx="791400" cy="931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69" name="Google Shape;4069;p155"/>
          <p:cNvCxnSpPr>
            <a:stCxn id="4067" idx="6"/>
            <a:endCxn id="4065" idx="2"/>
          </p:cNvCxnSpPr>
          <p:nvPr/>
        </p:nvCxnSpPr>
        <p:spPr>
          <a:xfrm>
            <a:off x="5380804" y="2364219"/>
            <a:ext cx="2922600" cy="122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70" name="Google Shape;4070;p155"/>
          <p:cNvCxnSpPr>
            <a:stCxn id="4064" idx="6"/>
            <a:endCxn id="4071" idx="0"/>
          </p:cNvCxnSpPr>
          <p:nvPr/>
        </p:nvCxnSpPr>
        <p:spPr>
          <a:xfrm>
            <a:off x="6261049" y="1219373"/>
            <a:ext cx="2168400" cy="89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72" name="Google Shape;4072;p155"/>
          <p:cNvSpPr/>
          <p:nvPr/>
        </p:nvSpPr>
        <p:spPr>
          <a:xfrm>
            <a:off x="7242538" y="1094437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d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73" name="Google Shape;4073;p155"/>
          <p:cNvCxnSpPr>
            <a:stCxn id="4064" idx="6"/>
            <a:endCxn id="4072" idx="2"/>
          </p:cNvCxnSpPr>
          <p:nvPr/>
        </p:nvCxnSpPr>
        <p:spPr>
          <a:xfrm>
            <a:off x="6261049" y="1219373"/>
            <a:ext cx="981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4" name="Google Shape;4074;p155"/>
          <p:cNvCxnSpPr>
            <a:stCxn id="4072" idx="5"/>
            <a:endCxn id="4071" idx="0"/>
          </p:cNvCxnSpPr>
          <p:nvPr/>
        </p:nvCxnSpPr>
        <p:spPr>
          <a:xfrm>
            <a:off x="7457377" y="1307740"/>
            <a:ext cx="972000" cy="80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75" name="Google Shape;4075;p155"/>
          <p:cNvSpPr/>
          <p:nvPr/>
        </p:nvSpPr>
        <p:spPr>
          <a:xfrm>
            <a:off x="6135247" y="4502018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g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76" name="Google Shape;4076;p155"/>
          <p:cNvCxnSpPr>
            <a:stCxn id="4075" idx="0"/>
            <a:endCxn id="4072" idx="4"/>
          </p:cNvCxnSpPr>
          <p:nvPr/>
        </p:nvCxnSpPr>
        <p:spPr>
          <a:xfrm flipH="1" rot="10800000">
            <a:off x="6261097" y="1344218"/>
            <a:ext cx="1107300" cy="3157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77" name="Google Shape;4077;p155"/>
          <p:cNvCxnSpPr>
            <a:stCxn id="4075" idx="0"/>
            <a:endCxn id="4067" idx="5"/>
          </p:cNvCxnSpPr>
          <p:nvPr/>
        </p:nvCxnSpPr>
        <p:spPr>
          <a:xfrm rot="10800000">
            <a:off x="5343997" y="2452718"/>
            <a:ext cx="917100" cy="2049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8" name="Google Shape;4078;p155"/>
          <p:cNvCxnSpPr>
            <a:stCxn id="4067" idx="7"/>
            <a:endCxn id="4072" idx="2"/>
          </p:cNvCxnSpPr>
          <p:nvPr/>
        </p:nvCxnSpPr>
        <p:spPr>
          <a:xfrm flipH="1" rot="10800000">
            <a:off x="5343943" y="1219266"/>
            <a:ext cx="1898700" cy="105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071" name="Google Shape;4071;p155"/>
          <p:cNvSpPr/>
          <p:nvPr/>
        </p:nvSpPr>
        <p:spPr>
          <a:xfrm>
            <a:off x="8303464" y="2114360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e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79" name="Google Shape;4079;p155"/>
          <p:cNvCxnSpPr>
            <a:stCxn id="4065" idx="0"/>
            <a:endCxn id="4071" idx="4"/>
          </p:cNvCxnSpPr>
          <p:nvPr/>
        </p:nvCxnSpPr>
        <p:spPr>
          <a:xfrm rot="10800000">
            <a:off x="8429314" y="2364337"/>
            <a:ext cx="0" cy="1102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080" name="Google Shape;4080;p155"/>
          <p:cNvSpPr/>
          <p:nvPr/>
        </p:nvSpPr>
        <p:spPr>
          <a:xfrm>
            <a:off x="5129091" y="3500373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f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81" name="Google Shape;4081;p155"/>
          <p:cNvCxnSpPr>
            <a:stCxn id="4065" idx="2"/>
            <a:endCxn id="4080" idx="6"/>
          </p:cNvCxnSpPr>
          <p:nvPr/>
        </p:nvCxnSpPr>
        <p:spPr>
          <a:xfrm flipH="1">
            <a:off x="5380864" y="3591487"/>
            <a:ext cx="2922600" cy="3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2" name="Google Shape;4082;p155"/>
          <p:cNvCxnSpPr>
            <a:stCxn id="4080" idx="6"/>
            <a:endCxn id="4071" idx="2"/>
          </p:cNvCxnSpPr>
          <p:nvPr/>
        </p:nvCxnSpPr>
        <p:spPr>
          <a:xfrm flipH="1" rot="10800000">
            <a:off x="5380791" y="2239323"/>
            <a:ext cx="2922600" cy="138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83" name="Google Shape;4083;p155"/>
          <p:cNvCxnSpPr>
            <a:stCxn id="4080" idx="5"/>
            <a:endCxn id="4072" idx="3"/>
          </p:cNvCxnSpPr>
          <p:nvPr/>
        </p:nvCxnSpPr>
        <p:spPr>
          <a:xfrm flipH="1" rot="10800000">
            <a:off x="5343930" y="1307676"/>
            <a:ext cx="1935600" cy="240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84" name="Google Shape;4084;p155"/>
          <p:cNvCxnSpPr>
            <a:stCxn id="4080" idx="6"/>
            <a:endCxn id="4085" idx="1"/>
          </p:cNvCxnSpPr>
          <p:nvPr/>
        </p:nvCxnSpPr>
        <p:spPr>
          <a:xfrm>
            <a:off x="5380791" y="3625323"/>
            <a:ext cx="1976700" cy="91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6" name="Google Shape;4086;p155"/>
          <p:cNvCxnSpPr>
            <a:stCxn id="4085" idx="0"/>
            <a:endCxn id="4072" idx="4"/>
          </p:cNvCxnSpPr>
          <p:nvPr/>
        </p:nvCxnSpPr>
        <p:spPr>
          <a:xfrm rot="10800000">
            <a:off x="7368253" y="1344224"/>
            <a:ext cx="78300" cy="3157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87" name="Google Shape;4087;p155"/>
          <p:cNvCxnSpPr>
            <a:stCxn id="4071" idx="2"/>
            <a:endCxn id="4067" idx="6"/>
          </p:cNvCxnSpPr>
          <p:nvPr/>
        </p:nvCxnSpPr>
        <p:spPr>
          <a:xfrm flipH="1">
            <a:off x="5380864" y="2239310"/>
            <a:ext cx="2922600" cy="124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085" name="Google Shape;4085;p155"/>
          <p:cNvSpPr/>
          <p:nvPr/>
        </p:nvSpPr>
        <p:spPr>
          <a:xfrm>
            <a:off x="7320703" y="4502024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h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88" name="Google Shape;4088;p155"/>
          <p:cNvCxnSpPr>
            <a:stCxn id="4071" idx="4"/>
            <a:endCxn id="4085" idx="0"/>
          </p:cNvCxnSpPr>
          <p:nvPr/>
        </p:nvCxnSpPr>
        <p:spPr>
          <a:xfrm flipH="1">
            <a:off x="7446514" y="2364260"/>
            <a:ext cx="982800" cy="2137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89" name="Google Shape;4089;p155"/>
          <p:cNvCxnSpPr>
            <a:stCxn id="4085" idx="1"/>
            <a:endCxn id="4067" idx="5"/>
          </p:cNvCxnSpPr>
          <p:nvPr/>
        </p:nvCxnSpPr>
        <p:spPr>
          <a:xfrm rot="10800000">
            <a:off x="5343963" y="2452721"/>
            <a:ext cx="2013600" cy="208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3" name="Shape 4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4" name="Google Shape;4094;p156"/>
          <p:cNvSpPr txBox="1"/>
          <p:nvPr>
            <p:ph idx="1" type="body"/>
          </p:nvPr>
        </p:nvSpPr>
        <p:spPr>
          <a:xfrm>
            <a:off x="311700" y="1225225"/>
            <a:ext cx="4448100" cy="15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Davis shows that…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Cluster 1: {c, g}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5" name="Google Shape;4095;p1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balance to clustering</a:t>
            </a:r>
            <a:endParaRPr/>
          </a:p>
        </p:txBody>
      </p:sp>
      <p:sp>
        <p:nvSpPr>
          <p:cNvPr id="4096" name="Google Shape;4096;p156"/>
          <p:cNvSpPr/>
          <p:nvPr/>
        </p:nvSpPr>
        <p:spPr>
          <a:xfrm>
            <a:off x="6009349" y="1094423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a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097" name="Google Shape;4097;p156"/>
          <p:cNvSpPr/>
          <p:nvPr/>
        </p:nvSpPr>
        <p:spPr>
          <a:xfrm>
            <a:off x="8303464" y="3466537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b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98" name="Google Shape;4098;p156"/>
          <p:cNvCxnSpPr>
            <a:stCxn id="4096" idx="4"/>
            <a:endCxn id="4097" idx="2"/>
          </p:cNvCxnSpPr>
          <p:nvPr/>
        </p:nvCxnSpPr>
        <p:spPr>
          <a:xfrm>
            <a:off x="6135199" y="1344323"/>
            <a:ext cx="2168400" cy="224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099" name="Google Shape;4099;p156"/>
          <p:cNvSpPr/>
          <p:nvPr/>
        </p:nvSpPr>
        <p:spPr>
          <a:xfrm>
            <a:off x="5129104" y="2239269"/>
            <a:ext cx="251700" cy="2499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c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00" name="Google Shape;4100;p156"/>
          <p:cNvCxnSpPr>
            <a:stCxn id="4096" idx="3"/>
            <a:endCxn id="4099" idx="0"/>
          </p:cNvCxnSpPr>
          <p:nvPr/>
        </p:nvCxnSpPr>
        <p:spPr>
          <a:xfrm flipH="1">
            <a:off x="5254809" y="1307726"/>
            <a:ext cx="791400" cy="931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01" name="Google Shape;4101;p156"/>
          <p:cNvCxnSpPr>
            <a:stCxn id="4099" idx="6"/>
            <a:endCxn id="4097" idx="2"/>
          </p:cNvCxnSpPr>
          <p:nvPr/>
        </p:nvCxnSpPr>
        <p:spPr>
          <a:xfrm>
            <a:off x="5380804" y="2364219"/>
            <a:ext cx="2922600" cy="1227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02" name="Google Shape;4102;p156"/>
          <p:cNvCxnSpPr>
            <a:stCxn id="4096" idx="6"/>
            <a:endCxn id="4103" idx="0"/>
          </p:cNvCxnSpPr>
          <p:nvPr/>
        </p:nvCxnSpPr>
        <p:spPr>
          <a:xfrm>
            <a:off x="6261049" y="1219373"/>
            <a:ext cx="2168400" cy="89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04" name="Google Shape;4104;p156"/>
          <p:cNvSpPr/>
          <p:nvPr/>
        </p:nvSpPr>
        <p:spPr>
          <a:xfrm>
            <a:off x="7242538" y="1094437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d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05" name="Google Shape;4105;p156"/>
          <p:cNvCxnSpPr>
            <a:stCxn id="4096" idx="6"/>
            <a:endCxn id="4104" idx="2"/>
          </p:cNvCxnSpPr>
          <p:nvPr/>
        </p:nvCxnSpPr>
        <p:spPr>
          <a:xfrm>
            <a:off x="6261049" y="1219373"/>
            <a:ext cx="981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6" name="Google Shape;4106;p156"/>
          <p:cNvCxnSpPr>
            <a:stCxn id="4104" idx="5"/>
            <a:endCxn id="4103" idx="0"/>
          </p:cNvCxnSpPr>
          <p:nvPr/>
        </p:nvCxnSpPr>
        <p:spPr>
          <a:xfrm>
            <a:off x="7457377" y="1307740"/>
            <a:ext cx="972000" cy="80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07" name="Google Shape;4107;p156"/>
          <p:cNvSpPr/>
          <p:nvPr/>
        </p:nvSpPr>
        <p:spPr>
          <a:xfrm>
            <a:off x="6135247" y="4502018"/>
            <a:ext cx="251700" cy="2499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g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08" name="Google Shape;4108;p156"/>
          <p:cNvCxnSpPr>
            <a:stCxn id="4107" idx="0"/>
            <a:endCxn id="4104" idx="4"/>
          </p:cNvCxnSpPr>
          <p:nvPr/>
        </p:nvCxnSpPr>
        <p:spPr>
          <a:xfrm flipH="1" rot="10800000">
            <a:off x="6261097" y="1344218"/>
            <a:ext cx="1107300" cy="3157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09" name="Google Shape;4109;p156"/>
          <p:cNvCxnSpPr>
            <a:stCxn id="4107" idx="0"/>
            <a:endCxn id="4099" idx="5"/>
          </p:cNvCxnSpPr>
          <p:nvPr/>
        </p:nvCxnSpPr>
        <p:spPr>
          <a:xfrm rot="10800000">
            <a:off x="5343997" y="2452718"/>
            <a:ext cx="917100" cy="2049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0" name="Google Shape;4110;p156"/>
          <p:cNvCxnSpPr>
            <a:stCxn id="4099" idx="7"/>
            <a:endCxn id="4104" idx="2"/>
          </p:cNvCxnSpPr>
          <p:nvPr/>
        </p:nvCxnSpPr>
        <p:spPr>
          <a:xfrm flipH="1" rot="10800000">
            <a:off x="5343943" y="1219266"/>
            <a:ext cx="1898700" cy="1056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103" name="Google Shape;4103;p156"/>
          <p:cNvSpPr/>
          <p:nvPr/>
        </p:nvSpPr>
        <p:spPr>
          <a:xfrm>
            <a:off x="8303464" y="2114360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e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11" name="Google Shape;4111;p156"/>
          <p:cNvCxnSpPr>
            <a:stCxn id="4097" idx="0"/>
            <a:endCxn id="4103" idx="4"/>
          </p:cNvCxnSpPr>
          <p:nvPr/>
        </p:nvCxnSpPr>
        <p:spPr>
          <a:xfrm rot="10800000">
            <a:off x="8429314" y="2364337"/>
            <a:ext cx="0" cy="1102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112" name="Google Shape;4112;p156"/>
          <p:cNvSpPr/>
          <p:nvPr/>
        </p:nvSpPr>
        <p:spPr>
          <a:xfrm>
            <a:off x="5129091" y="3500373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f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13" name="Google Shape;4113;p156"/>
          <p:cNvCxnSpPr>
            <a:stCxn id="4097" idx="2"/>
            <a:endCxn id="4112" idx="6"/>
          </p:cNvCxnSpPr>
          <p:nvPr/>
        </p:nvCxnSpPr>
        <p:spPr>
          <a:xfrm flipH="1">
            <a:off x="5380864" y="3591487"/>
            <a:ext cx="2922600" cy="3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4" name="Google Shape;4114;p156"/>
          <p:cNvCxnSpPr>
            <a:stCxn id="4112" idx="6"/>
            <a:endCxn id="4103" idx="2"/>
          </p:cNvCxnSpPr>
          <p:nvPr/>
        </p:nvCxnSpPr>
        <p:spPr>
          <a:xfrm flipH="1" rot="10800000">
            <a:off x="5380791" y="2239323"/>
            <a:ext cx="2922600" cy="138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15" name="Google Shape;4115;p156"/>
          <p:cNvCxnSpPr>
            <a:stCxn id="4112" idx="5"/>
            <a:endCxn id="4104" idx="3"/>
          </p:cNvCxnSpPr>
          <p:nvPr/>
        </p:nvCxnSpPr>
        <p:spPr>
          <a:xfrm flipH="1" rot="10800000">
            <a:off x="5343930" y="1307676"/>
            <a:ext cx="1935600" cy="240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16" name="Google Shape;4116;p156"/>
          <p:cNvCxnSpPr>
            <a:stCxn id="4112" idx="6"/>
            <a:endCxn id="4117" idx="1"/>
          </p:cNvCxnSpPr>
          <p:nvPr/>
        </p:nvCxnSpPr>
        <p:spPr>
          <a:xfrm>
            <a:off x="5380791" y="3625323"/>
            <a:ext cx="1976700" cy="91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8" name="Google Shape;4118;p156"/>
          <p:cNvCxnSpPr>
            <a:stCxn id="4117" idx="0"/>
            <a:endCxn id="4104" idx="4"/>
          </p:cNvCxnSpPr>
          <p:nvPr/>
        </p:nvCxnSpPr>
        <p:spPr>
          <a:xfrm rot="10800000">
            <a:off x="7368253" y="1344224"/>
            <a:ext cx="78300" cy="3157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19" name="Google Shape;4119;p156"/>
          <p:cNvCxnSpPr>
            <a:stCxn id="4103" idx="2"/>
            <a:endCxn id="4099" idx="6"/>
          </p:cNvCxnSpPr>
          <p:nvPr/>
        </p:nvCxnSpPr>
        <p:spPr>
          <a:xfrm flipH="1">
            <a:off x="5380864" y="2239310"/>
            <a:ext cx="2922600" cy="124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117" name="Google Shape;4117;p156"/>
          <p:cNvSpPr/>
          <p:nvPr/>
        </p:nvSpPr>
        <p:spPr>
          <a:xfrm>
            <a:off x="7320703" y="4502024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h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20" name="Google Shape;4120;p156"/>
          <p:cNvCxnSpPr>
            <a:stCxn id="4103" idx="4"/>
            <a:endCxn id="4117" idx="0"/>
          </p:cNvCxnSpPr>
          <p:nvPr/>
        </p:nvCxnSpPr>
        <p:spPr>
          <a:xfrm flipH="1">
            <a:off x="7446514" y="2364260"/>
            <a:ext cx="982800" cy="2137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21" name="Google Shape;4121;p156"/>
          <p:cNvCxnSpPr>
            <a:stCxn id="4117" idx="1"/>
            <a:endCxn id="4099" idx="5"/>
          </p:cNvCxnSpPr>
          <p:nvPr/>
        </p:nvCxnSpPr>
        <p:spPr>
          <a:xfrm rot="10800000">
            <a:off x="5343963" y="2452721"/>
            <a:ext cx="2013600" cy="2085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5" name="Shape 4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" name="Google Shape;4126;p157"/>
          <p:cNvSpPr txBox="1"/>
          <p:nvPr>
            <p:ph idx="1" type="body"/>
          </p:nvPr>
        </p:nvSpPr>
        <p:spPr>
          <a:xfrm>
            <a:off x="311700" y="1225225"/>
            <a:ext cx="4448100" cy="15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Davis shows that…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Cluster 1: {c, g}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Cluster</a:t>
            </a:r>
            <a:r>
              <a:rPr lang="en"/>
              <a:t> 2: {f, b, h}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7" name="Google Shape;4127;p1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balance to clustering</a:t>
            </a:r>
            <a:endParaRPr/>
          </a:p>
        </p:txBody>
      </p:sp>
      <p:sp>
        <p:nvSpPr>
          <p:cNvPr id="4128" name="Google Shape;4128;p157"/>
          <p:cNvSpPr/>
          <p:nvPr/>
        </p:nvSpPr>
        <p:spPr>
          <a:xfrm>
            <a:off x="6009349" y="1094423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a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129" name="Google Shape;4129;p157"/>
          <p:cNvSpPr/>
          <p:nvPr/>
        </p:nvSpPr>
        <p:spPr>
          <a:xfrm>
            <a:off x="8303464" y="3466537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b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30" name="Google Shape;4130;p157"/>
          <p:cNvCxnSpPr>
            <a:stCxn id="4128" idx="4"/>
            <a:endCxn id="4129" idx="2"/>
          </p:cNvCxnSpPr>
          <p:nvPr/>
        </p:nvCxnSpPr>
        <p:spPr>
          <a:xfrm>
            <a:off x="6135199" y="1344323"/>
            <a:ext cx="2168400" cy="224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131" name="Google Shape;4131;p157"/>
          <p:cNvSpPr/>
          <p:nvPr/>
        </p:nvSpPr>
        <p:spPr>
          <a:xfrm>
            <a:off x="5129104" y="2239269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c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32" name="Google Shape;4132;p157"/>
          <p:cNvCxnSpPr>
            <a:stCxn id="4128" idx="3"/>
            <a:endCxn id="4131" idx="0"/>
          </p:cNvCxnSpPr>
          <p:nvPr/>
        </p:nvCxnSpPr>
        <p:spPr>
          <a:xfrm flipH="1">
            <a:off x="5254809" y="1307726"/>
            <a:ext cx="791400" cy="931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33" name="Google Shape;4133;p157"/>
          <p:cNvCxnSpPr>
            <a:stCxn id="4131" idx="6"/>
            <a:endCxn id="4129" idx="2"/>
          </p:cNvCxnSpPr>
          <p:nvPr/>
        </p:nvCxnSpPr>
        <p:spPr>
          <a:xfrm>
            <a:off x="5380804" y="2364219"/>
            <a:ext cx="2922600" cy="122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34" name="Google Shape;4134;p157"/>
          <p:cNvCxnSpPr>
            <a:stCxn id="4128" idx="6"/>
            <a:endCxn id="4135" idx="0"/>
          </p:cNvCxnSpPr>
          <p:nvPr/>
        </p:nvCxnSpPr>
        <p:spPr>
          <a:xfrm>
            <a:off x="6261049" y="1219373"/>
            <a:ext cx="2168400" cy="89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36" name="Google Shape;4136;p157"/>
          <p:cNvSpPr/>
          <p:nvPr/>
        </p:nvSpPr>
        <p:spPr>
          <a:xfrm>
            <a:off x="7242538" y="1094437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d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37" name="Google Shape;4137;p157"/>
          <p:cNvCxnSpPr>
            <a:stCxn id="4128" idx="6"/>
            <a:endCxn id="4136" idx="2"/>
          </p:cNvCxnSpPr>
          <p:nvPr/>
        </p:nvCxnSpPr>
        <p:spPr>
          <a:xfrm>
            <a:off x="6261049" y="1219373"/>
            <a:ext cx="981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8" name="Google Shape;4138;p157"/>
          <p:cNvCxnSpPr>
            <a:stCxn id="4136" idx="5"/>
            <a:endCxn id="4135" idx="0"/>
          </p:cNvCxnSpPr>
          <p:nvPr/>
        </p:nvCxnSpPr>
        <p:spPr>
          <a:xfrm>
            <a:off x="7457377" y="1307740"/>
            <a:ext cx="972000" cy="80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39" name="Google Shape;4139;p157"/>
          <p:cNvSpPr/>
          <p:nvPr/>
        </p:nvSpPr>
        <p:spPr>
          <a:xfrm>
            <a:off x="6135247" y="4502018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g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40" name="Google Shape;4140;p157"/>
          <p:cNvCxnSpPr>
            <a:stCxn id="4139" idx="0"/>
            <a:endCxn id="4136" idx="4"/>
          </p:cNvCxnSpPr>
          <p:nvPr/>
        </p:nvCxnSpPr>
        <p:spPr>
          <a:xfrm flipH="1" rot="10800000">
            <a:off x="6261097" y="1344218"/>
            <a:ext cx="1107300" cy="3157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41" name="Google Shape;4141;p157"/>
          <p:cNvCxnSpPr>
            <a:stCxn id="4139" idx="0"/>
            <a:endCxn id="4131" idx="5"/>
          </p:cNvCxnSpPr>
          <p:nvPr/>
        </p:nvCxnSpPr>
        <p:spPr>
          <a:xfrm rot="10800000">
            <a:off x="5343997" y="2452718"/>
            <a:ext cx="917100" cy="2049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2" name="Google Shape;4142;p157"/>
          <p:cNvCxnSpPr>
            <a:stCxn id="4131" idx="7"/>
            <a:endCxn id="4136" idx="2"/>
          </p:cNvCxnSpPr>
          <p:nvPr/>
        </p:nvCxnSpPr>
        <p:spPr>
          <a:xfrm flipH="1" rot="10800000">
            <a:off x="5343943" y="1219266"/>
            <a:ext cx="1898700" cy="105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135" name="Google Shape;4135;p157"/>
          <p:cNvSpPr/>
          <p:nvPr/>
        </p:nvSpPr>
        <p:spPr>
          <a:xfrm>
            <a:off x="8303464" y="2114360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e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43" name="Google Shape;4143;p157"/>
          <p:cNvCxnSpPr>
            <a:stCxn id="4129" idx="0"/>
            <a:endCxn id="4135" idx="4"/>
          </p:cNvCxnSpPr>
          <p:nvPr/>
        </p:nvCxnSpPr>
        <p:spPr>
          <a:xfrm rot="10800000">
            <a:off x="8429314" y="2364337"/>
            <a:ext cx="0" cy="1102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144" name="Google Shape;4144;p157"/>
          <p:cNvSpPr/>
          <p:nvPr/>
        </p:nvSpPr>
        <p:spPr>
          <a:xfrm>
            <a:off x="5129091" y="3500373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f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45" name="Google Shape;4145;p157"/>
          <p:cNvCxnSpPr>
            <a:stCxn id="4129" idx="2"/>
            <a:endCxn id="4144" idx="6"/>
          </p:cNvCxnSpPr>
          <p:nvPr/>
        </p:nvCxnSpPr>
        <p:spPr>
          <a:xfrm flipH="1">
            <a:off x="5380864" y="3591487"/>
            <a:ext cx="2922600" cy="3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6" name="Google Shape;4146;p157"/>
          <p:cNvCxnSpPr>
            <a:stCxn id="4144" idx="6"/>
            <a:endCxn id="4135" idx="2"/>
          </p:cNvCxnSpPr>
          <p:nvPr/>
        </p:nvCxnSpPr>
        <p:spPr>
          <a:xfrm flipH="1" rot="10800000">
            <a:off x="5380791" y="2239323"/>
            <a:ext cx="2922600" cy="138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47" name="Google Shape;4147;p157"/>
          <p:cNvCxnSpPr>
            <a:stCxn id="4144" idx="5"/>
            <a:endCxn id="4136" idx="3"/>
          </p:cNvCxnSpPr>
          <p:nvPr/>
        </p:nvCxnSpPr>
        <p:spPr>
          <a:xfrm flipH="1" rot="10800000">
            <a:off x="5343930" y="1307676"/>
            <a:ext cx="1935600" cy="240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48" name="Google Shape;4148;p157"/>
          <p:cNvCxnSpPr>
            <a:stCxn id="4144" idx="6"/>
            <a:endCxn id="4149" idx="1"/>
          </p:cNvCxnSpPr>
          <p:nvPr/>
        </p:nvCxnSpPr>
        <p:spPr>
          <a:xfrm>
            <a:off x="5380791" y="3625323"/>
            <a:ext cx="1976700" cy="91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0" name="Google Shape;4150;p157"/>
          <p:cNvCxnSpPr>
            <a:stCxn id="4149" idx="0"/>
            <a:endCxn id="4136" idx="4"/>
          </p:cNvCxnSpPr>
          <p:nvPr/>
        </p:nvCxnSpPr>
        <p:spPr>
          <a:xfrm rot="10800000">
            <a:off x="7368253" y="1344224"/>
            <a:ext cx="78300" cy="3157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51" name="Google Shape;4151;p157"/>
          <p:cNvCxnSpPr>
            <a:stCxn id="4135" idx="2"/>
            <a:endCxn id="4131" idx="6"/>
          </p:cNvCxnSpPr>
          <p:nvPr/>
        </p:nvCxnSpPr>
        <p:spPr>
          <a:xfrm flipH="1">
            <a:off x="5380864" y="2239310"/>
            <a:ext cx="2922600" cy="124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149" name="Google Shape;4149;p157"/>
          <p:cNvSpPr/>
          <p:nvPr/>
        </p:nvSpPr>
        <p:spPr>
          <a:xfrm>
            <a:off x="7320703" y="4502024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h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52" name="Google Shape;4152;p157"/>
          <p:cNvCxnSpPr>
            <a:stCxn id="4135" idx="4"/>
            <a:endCxn id="4149" idx="0"/>
          </p:cNvCxnSpPr>
          <p:nvPr/>
        </p:nvCxnSpPr>
        <p:spPr>
          <a:xfrm flipH="1">
            <a:off x="7446514" y="2364260"/>
            <a:ext cx="982800" cy="2137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53" name="Google Shape;4153;p157"/>
          <p:cNvCxnSpPr>
            <a:stCxn id="4149" idx="1"/>
            <a:endCxn id="4131" idx="5"/>
          </p:cNvCxnSpPr>
          <p:nvPr/>
        </p:nvCxnSpPr>
        <p:spPr>
          <a:xfrm rot="10800000">
            <a:off x="5343963" y="2452721"/>
            <a:ext cx="2013600" cy="208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7" name="Shape 4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8" name="Google Shape;4158;p158"/>
          <p:cNvSpPr txBox="1"/>
          <p:nvPr>
            <p:ph idx="1" type="body"/>
          </p:nvPr>
        </p:nvSpPr>
        <p:spPr>
          <a:xfrm>
            <a:off x="311700" y="1225225"/>
            <a:ext cx="4448100" cy="15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Davis shows that…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Cluster 1: {c, g}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Cluster 2: {f, b, h}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9" name="Google Shape;4159;p1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balance to clustering</a:t>
            </a:r>
            <a:endParaRPr/>
          </a:p>
        </p:txBody>
      </p:sp>
      <p:sp>
        <p:nvSpPr>
          <p:cNvPr id="4160" name="Google Shape;4160;p158"/>
          <p:cNvSpPr/>
          <p:nvPr/>
        </p:nvSpPr>
        <p:spPr>
          <a:xfrm>
            <a:off x="6009349" y="1094423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a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161" name="Google Shape;4161;p158"/>
          <p:cNvSpPr/>
          <p:nvPr/>
        </p:nvSpPr>
        <p:spPr>
          <a:xfrm>
            <a:off x="8303464" y="3466537"/>
            <a:ext cx="251700" cy="249900"/>
          </a:xfrm>
          <a:prstGeom prst="ellipse">
            <a:avLst/>
          </a:prstGeom>
          <a:solidFill>
            <a:srgbClr val="B4A7D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b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62" name="Google Shape;4162;p158"/>
          <p:cNvCxnSpPr>
            <a:stCxn id="4160" idx="4"/>
            <a:endCxn id="4161" idx="2"/>
          </p:cNvCxnSpPr>
          <p:nvPr/>
        </p:nvCxnSpPr>
        <p:spPr>
          <a:xfrm>
            <a:off x="6135199" y="1344323"/>
            <a:ext cx="2168400" cy="2247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163" name="Google Shape;4163;p158"/>
          <p:cNvSpPr/>
          <p:nvPr/>
        </p:nvSpPr>
        <p:spPr>
          <a:xfrm>
            <a:off x="5129104" y="2239269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c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64" name="Google Shape;4164;p158"/>
          <p:cNvCxnSpPr>
            <a:stCxn id="4160" idx="3"/>
            <a:endCxn id="4163" idx="0"/>
          </p:cNvCxnSpPr>
          <p:nvPr/>
        </p:nvCxnSpPr>
        <p:spPr>
          <a:xfrm flipH="1">
            <a:off x="5254809" y="1307726"/>
            <a:ext cx="791400" cy="931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65" name="Google Shape;4165;p158"/>
          <p:cNvCxnSpPr>
            <a:stCxn id="4163" idx="6"/>
            <a:endCxn id="4161" idx="2"/>
          </p:cNvCxnSpPr>
          <p:nvPr/>
        </p:nvCxnSpPr>
        <p:spPr>
          <a:xfrm>
            <a:off x="5380804" y="2364219"/>
            <a:ext cx="2922600" cy="1227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66" name="Google Shape;4166;p158"/>
          <p:cNvCxnSpPr>
            <a:stCxn id="4160" idx="6"/>
            <a:endCxn id="4167" idx="0"/>
          </p:cNvCxnSpPr>
          <p:nvPr/>
        </p:nvCxnSpPr>
        <p:spPr>
          <a:xfrm>
            <a:off x="6261049" y="1219373"/>
            <a:ext cx="2168400" cy="89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68" name="Google Shape;4168;p158"/>
          <p:cNvSpPr/>
          <p:nvPr/>
        </p:nvSpPr>
        <p:spPr>
          <a:xfrm>
            <a:off x="7242538" y="1094437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d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69" name="Google Shape;4169;p158"/>
          <p:cNvCxnSpPr>
            <a:stCxn id="4160" idx="6"/>
            <a:endCxn id="4168" idx="2"/>
          </p:cNvCxnSpPr>
          <p:nvPr/>
        </p:nvCxnSpPr>
        <p:spPr>
          <a:xfrm>
            <a:off x="6261049" y="1219373"/>
            <a:ext cx="981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0" name="Google Shape;4170;p158"/>
          <p:cNvCxnSpPr>
            <a:stCxn id="4168" idx="5"/>
            <a:endCxn id="4167" idx="0"/>
          </p:cNvCxnSpPr>
          <p:nvPr/>
        </p:nvCxnSpPr>
        <p:spPr>
          <a:xfrm>
            <a:off x="7457377" y="1307740"/>
            <a:ext cx="972000" cy="80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71" name="Google Shape;4171;p158"/>
          <p:cNvSpPr/>
          <p:nvPr/>
        </p:nvSpPr>
        <p:spPr>
          <a:xfrm>
            <a:off x="6135247" y="4502018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g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72" name="Google Shape;4172;p158"/>
          <p:cNvCxnSpPr>
            <a:stCxn id="4171" idx="0"/>
            <a:endCxn id="4168" idx="4"/>
          </p:cNvCxnSpPr>
          <p:nvPr/>
        </p:nvCxnSpPr>
        <p:spPr>
          <a:xfrm flipH="1" rot="10800000">
            <a:off x="6261097" y="1344218"/>
            <a:ext cx="1107300" cy="3157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73" name="Google Shape;4173;p158"/>
          <p:cNvCxnSpPr>
            <a:stCxn id="4171" idx="0"/>
            <a:endCxn id="4163" idx="5"/>
          </p:cNvCxnSpPr>
          <p:nvPr/>
        </p:nvCxnSpPr>
        <p:spPr>
          <a:xfrm rot="10800000">
            <a:off x="5343997" y="2452718"/>
            <a:ext cx="917100" cy="2049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4" name="Google Shape;4174;p158"/>
          <p:cNvCxnSpPr>
            <a:stCxn id="4163" idx="7"/>
            <a:endCxn id="4168" idx="2"/>
          </p:cNvCxnSpPr>
          <p:nvPr/>
        </p:nvCxnSpPr>
        <p:spPr>
          <a:xfrm flipH="1" rot="10800000">
            <a:off x="5343943" y="1219266"/>
            <a:ext cx="1898700" cy="105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167" name="Google Shape;4167;p158"/>
          <p:cNvSpPr/>
          <p:nvPr/>
        </p:nvSpPr>
        <p:spPr>
          <a:xfrm>
            <a:off x="8303464" y="2114360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e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75" name="Google Shape;4175;p158"/>
          <p:cNvCxnSpPr>
            <a:stCxn id="4161" idx="0"/>
            <a:endCxn id="4167" idx="4"/>
          </p:cNvCxnSpPr>
          <p:nvPr/>
        </p:nvCxnSpPr>
        <p:spPr>
          <a:xfrm rot="10800000">
            <a:off x="8429314" y="2364337"/>
            <a:ext cx="0" cy="1102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176" name="Google Shape;4176;p158"/>
          <p:cNvSpPr/>
          <p:nvPr/>
        </p:nvSpPr>
        <p:spPr>
          <a:xfrm>
            <a:off x="5129091" y="3500373"/>
            <a:ext cx="251700" cy="249900"/>
          </a:xfrm>
          <a:prstGeom prst="ellipse">
            <a:avLst/>
          </a:prstGeom>
          <a:solidFill>
            <a:srgbClr val="B4A7D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f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77" name="Google Shape;4177;p158"/>
          <p:cNvCxnSpPr>
            <a:stCxn id="4161" idx="2"/>
            <a:endCxn id="4176" idx="6"/>
          </p:cNvCxnSpPr>
          <p:nvPr/>
        </p:nvCxnSpPr>
        <p:spPr>
          <a:xfrm flipH="1">
            <a:off x="5380864" y="3591487"/>
            <a:ext cx="2922600" cy="33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8" name="Google Shape;4178;p158"/>
          <p:cNvCxnSpPr>
            <a:stCxn id="4176" idx="6"/>
            <a:endCxn id="4167" idx="2"/>
          </p:cNvCxnSpPr>
          <p:nvPr/>
        </p:nvCxnSpPr>
        <p:spPr>
          <a:xfrm flipH="1" rot="10800000">
            <a:off x="5380791" y="2239323"/>
            <a:ext cx="2922600" cy="138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79" name="Google Shape;4179;p158"/>
          <p:cNvCxnSpPr>
            <a:stCxn id="4176" idx="5"/>
            <a:endCxn id="4168" idx="3"/>
          </p:cNvCxnSpPr>
          <p:nvPr/>
        </p:nvCxnSpPr>
        <p:spPr>
          <a:xfrm flipH="1" rot="10800000">
            <a:off x="5343930" y="1307676"/>
            <a:ext cx="1935600" cy="240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80" name="Google Shape;4180;p158"/>
          <p:cNvCxnSpPr>
            <a:stCxn id="4176" idx="6"/>
            <a:endCxn id="4181" idx="1"/>
          </p:cNvCxnSpPr>
          <p:nvPr/>
        </p:nvCxnSpPr>
        <p:spPr>
          <a:xfrm>
            <a:off x="5380791" y="3625323"/>
            <a:ext cx="1976700" cy="913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2" name="Google Shape;4182;p158"/>
          <p:cNvCxnSpPr>
            <a:stCxn id="4181" idx="0"/>
            <a:endCxn id="4168" idx="4"/>
          </p:cNvCxnSpPr>
          <p:nvPr/>
        </p:nvCxnSpPr>
        <p:spPr>
          <a:xfrm rot="10800000">
            <a:off x="7368253" y="1344224"/>
            <a:ext cx="78300" cy="3157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83" name="Google Shape;4183;p158"/>
          <p:cNvCxnSpPr>
            <a:stCxn id="4167" idx="2"/>
            <a:endCxn id="4163" idx="6"/>
          </p:cNvCxnSpPr>
          <p:nvPr/>
        </p:nvCxnSpPr>
        <p:spPr>
          <a:xfrm flipH="1">
            <a:off x="5380864" y="2239310"/>
            <a:ext cx="2922600" cy="124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181" name="Google Shape;4181;p158"/>
          <p:cNvSpPr/>
          <p:nvPr/>
        </p:nvSpPr>
        <p:spPr>
          <a:xfrm>
            <a:off x="7320703" y="4502024"/>
            <a:ext cx="251700" cy="249900"/>
          </a:xfrm>
          <a:prstGeom prst="ellipse">
            <a:avLst/>
          </a:prstGeom>
          <a:solidFill>
            <a:srgbClr val="B4A7D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h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84" name="Google Shape;4184;p158"/>
          <p:cNvCxnSpPr>
            <a:stCxn id="4167" idx="4"/>
            <a:endCxn id="4181" idx="0"/>
          </p:cNvCxnSpPr>
          <p:nvPr/>
        </p:nvCxnSpPr>
        <p:spPr>
          <a:xfrm flipH="1">
            <a:off x="7446514" y="2364260"/>
            <a:ext cx="982800" cy="2137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85" name="Google Shape;4185;p158"/>
          <p:cNvCxnSpPr>
            <a:stCxn id="4181" idx="1"/>
            <a:endCxn id="4163" idx="5"/>
          </p:cNvCxnSpPr>
          <p:nvPr/>
        </p:nvCxnSpPr>
        <p:spPr>
          <a:xfrm rot="10800000">
            <a:off x="5343963" y="2452721"/>
            <a:ext cx="2013600" cy="2085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9" name="Shape 4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0" name="Google Shape;4190;p159"/>
          <p:cNvSpPr txBox="1"/>
          <p:nvPr>
            <p:ph idx="1" type="body"/>
          </p:nvPr>
        </p:nvSpPr>
        <p:spPr>
          <a:xfrm>
            <a:off x="311700" y="1225225"/>
            <a:ext cx="4448100" cy="15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Davis shows that…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Cluster 1: {c, g}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Cluster 2: {f, b, h}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Cluster 3: {a, d, e}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1" name="Google Shape;4191;p1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balance to clustering</a:t>
            </a:r>
            <a:endParaRPr/>
          </a:p>
        </p:txBody>
      </p:sp>
      <p:sp>
        <p:nvSpPr>
          <p:cNvPr id="4192" name="Google Shape;4192;p159"/>
          <p:cNvSpPr/>
          <p:nvPr/>
        </p:nvSpPr>
        <p:spPr>
          <a:xfrm>
            <a:off x="6009349" y="1094423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a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193" name="Google Shape;4193;p159"/>
          <p:cNvSpPr/>
          <p:nvPr/>
        </p:nvSpPr>
        <p:spPr>
          <a:xfrm>
            <a:off x="8303464" y="3466537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b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94" name="Google Shape;4194;p159"/>
          <p:cNvCxnSpPr>
            <a:stCxn id="4192" idx="4"/>
            <a:endCxn id="4193" idx="2"/>
          </p:cNvCxnSpPr>
          <p:nvPr/>
        </p:nvCxnSpPr>
        <p:spPr>
          <a:xfrm>
            <a:off x="6135199" y="1344323"/>
            <a:ext cx="2168400" cy="224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195" name="Google Shape;4195;p159"/>
          <p:cNvSpPr/>
          <p:nvPr/>
        </p:nvSpPr>
        <p:spPr>
          <a:xfrm>
            <a:off x="5129104" y="2239269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c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96" name="Google Shape;4196;p159"/>
          <p:cNvCxnSpPr>
            <a:stCxn id="4192" idx="3"/>
            <a:endCxn id="4195" idx="0"/>
          </p:cNvCxnSpPr>
          <p:nvPr/>
        </p:nvCxnSpPr>
        <p:spPr>
          <a:xfrm flipH="1">
            <a:off x="5254809" y="1307726"/>
            <a:ext cx="791400" cy="931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97" name="Google Shape;4197;p159"/>
          <p:cNvCxnSpPr>
            <a:stCxn id="4195" idx="6"/>
            <a:endCxn id="4193" idx="2"/>
          </p:cNvCxnSpPr>
          <p:nvPr/>
        </p:nvCxnSpPr>
        <p:spPr>
          <a:xfrm>
            <a:off x="5380804" y="2364219"/>
            <a:ext cx="2922600" cy="122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98" name="Google Shape;4198;p159"/>
          <p:cNvCxnSpPr>
            <a:stCxn id="4192" idx="6"/>
            <a:endCxn id="4199" idx="0"/>
          </p:cNvCxnSpPr>
          <p:nvPr/>
        </p:nvCxnSpPr>
        <p:spPr>
          <a:xfrm>
            <a:off x="6261049" y="1219373"/>
            <a:ext cx="2168400" cy="89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00" name="Google Shape;4200;p159"/>
          <p:cNvSpPr/>
          <p:nvPr/>
        </p:nvSpPr>
        <p:spPr>
          <a:xfrm>
            <a:off x="7242538" y="1094437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d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01" name="Google Shape;4201;p159"/>
          <p:cNvCxnSpPr>
            <a:stCxn id="4192" idx="6"/>
            <a:endCxn id="4200" idx="2"/>
          </p:cNvCxnSpPr>
          <p:nvPr/>
        </p:nvCxnSpPr>
        <p:spPr>
          <a:xfrm>
            <a:off x="6261049" y="1219373"/>
            <a:ext cx="981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2" name="Google Shape;4202;p159"/>
          <p:cNvCxnSpPr>
            <a:stCxn id="4200" idx="5"/>
            <a:endCxn id="4199" idx="0"/>
          </p:cNvCxnSpPr>
          <p:nvPr/>
        </p:nvCxnSpPr>
        <p:spPr>
          <a:xfrm>
            <a:off x="7457377" y="1307740"/>
            <a:ext cx="972000" cy="80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03" name="Google Shape;4203;p159"/>
          <p:cNvSpPr/>
          <p:nvPr/>
        </p:nvSpPr>
        <p:spPr>
          <a:xfrm>
            <a:off x="6135247" y="4502018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g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04" name="Google Shape;4204;p159"/>
          <p:cNvCxnSpPr>
            <a:stCxn id="4203" idx="0"/>
            <a:endCxn id="4200" idx="4"/>
          </p:cNvCxnSpPr>
          <p:nvPr/>
        </p:nvCxnSpPr>
        <p:spPr>
          <a:xfrm flipH="1" rot="10800000">
            <a:off x="6261097" y="1344218"/>
            <a:ext cx="1107300" cy="3157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205" name="Google Shape;4205;p159"/>
          <p:cNvCxnSpPr>
            <a:stCxn id="4203" idx="0"/>
            <a:endCxn id="4195" idx="5"/>
          </p:cNvCxnSpPr>
          <p:nvPr/>
        </p:nvCxnSpPr>
        <p:spPr>
          <a:xfrm rot="10800000">
            <a:off x="5343997" y="2452718"/>
            <a:ext cx="917100" cy="2049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6" name="Google Shape;4206;p159"/>
          <p:cNvCxnSpPr>
            <a:stCxn id="4195" idx="7"/>
            <a:endCxn id="4200" idx="2"/>
          </p:cNvCxnSpPr>
          <p:nvPr/>
        </p:nvCxnSpPr>
        <p:spPr>
          <a:xfrm flipH="1" rot="10800000">
            <a:off x="5343943" y="1219266"/>
            <a:ext cx="1898700" cy="105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199" name="Google Shape;4199;p159"/>
          <p:cNvSpPr/>
          <p:nvPr/>
        </p:nvSpPr>
        <p:spPr>
          <a:xfrm>
            <a:off x="8303464" y="2114360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e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07" name="Google Shape;4207;p159"/>
          <p:cNvCxnSpPr>
            <a:stCxn id="4193" idx="0"/>
            <a:endCxn id="4199" idx="4"/>
          </p:cNvCxnSpPr>
          <p:nvPr/>
        </p:nvCxnSpPr>
        <p:spPr>
          <a:xfrm rot="10800000">
            <a:off x="8429314" y="2364337"/>
            <a:ext cx="0" cy="1102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208" name="Google Shape;4208;p159"/>
          <p:cNvSpPr/>
          <p:nvPr/>
        </p:nvSpPr>
        <p:spPr>
          <a:xfrm>
            <a:off x="5129091" y="3500373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f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09" name="Google Shape;4209;p159"/>
          <p:cNvCxnSpPr>
            <a:stCxn id="4193" idx="2"/>
            <a:endCxn id="4208" idx="6"/>
          </p:cNvCxnSpPr>
          <p:nvPr/>
        </p:nvCxnSpPr>
        <p:spPr>
          <a:xfrm flipH="1">
            <a:off x="5380864" y="3591487"/>
            <a:ext cx="2922600" cy="3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0" name="Google Shape;4210;p159"/>
          <p:cNvCxnSpPr>
            <a:stCxn id="4208" idx="6"/>
            <a:endCxn id="4199" idx="2"/>
          </p:cNvCxnSpPr>
          <p:nvPr/>
        </p:nvCxnSpPr>
        <p:spPr>
          <a:xfrm flipH="1" rot="10800000">
            <a:off x="5380791" y="2239323"/>
            <a:ext cx="2922600" cy="138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211" name="Google Shape;4211;p159"/>
          <p:cNvCxnSpPr>
            <a:stCxn id="4208" idx="5"/>
            <a:endCxn id="4200" idx="3"/>
          </p:cNvCxnSpPr>
          <p:nvPr/>
        </p:nvCxnSpPr>
        <p:spPr>
          <a:xfrm flipH="1" rot="10800000">
            <a:off x="5343930" y="1307676"/>
            <a:ext cx="1935600" cy="240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212" name="Google Shape;4212;p159"/>
          <p:cNvCxnSpPr>
            <a:stCxn id="4208" idx="6"/>
            <a:endCxn id="4213" idx="1"/>
          </p:cNvCxnSpPr>
          <p:nvPr/>
        </p:nvCxnSpPr>
        <p:spPr>
          <a:xfrm>
            <a:off x="5380791" y="3625323"/>
            <a:ext cx="1976700" cy="91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4" name="Google Shape;4214;p159"/>
          <p:cNvCxnSpPr>
            <a:stCxn id="4213" idx="0"/>
            <a:endCxn id="4200" idx="4"/>
          </p:cNvCxnSpPr>
          <p:nvPr/>
        </p:nvCxnSpPr>
        <p:spPr>
          <a:xfrm rot="10800000">
            <a:off x="7368253" y="1344224"/>
            <a:ext cx="78300" cy="3157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215" name="Google Shape;4215;p159"/>
          <p:cNvCxnSpPr>
            <a:stCxn id="4199" idx="2"/>
            <a:endCxn id="4195" idx="6"/>
          </p:cNvCxnSpPr>
          <p:nvPr/>
        </p:nvCxnSpPr>
        <p:spPr>
          <a:xfrm flipH="1">
            <a:off x="5380864" y="2239310"/>
            <a:ext cx="2922600" cy="124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213" name="Google Shape;4213;p159"/>
          <p:cNvSpPr/>
          <p:nvPr/>
        </p:nvSpPr>
        <p:spPr>
          <a:xfrm>
            <a:off x="7320703" y="4502024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h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16" name="Google Shape;4216;p159"/>
          <p:cNvCxnSpPr>
            <a:stCxn id="4199" idx="4"/>
            <a:endCxn id="4213" idx="0"/>
          </p:cNvCxnSpPr>
          <p:nvPr/>
        </p:nvCxnSpPr>
        <p:spPr>
          <a:xfrm flipH="1">
            <a:off x="7446514" y="2364260"/>
            <a:ext cx="982800" cy="2137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217" name="Google Shape;4217;p159"/>
          <p:cNvCxnSpPr>
            <a:stCxn id="4213" idx="1"/>
            <a:endCxn id="4195" idx="5"/>
          </p:cNvCxnSpPr>
          <p:nvPr/>
        </p:nvCxnSpPr>
        <p:spPr>
          <a:xfrm rot="10800000">
            <a:off x="5343963" y="2452721"/>
            <a:ext cx="2013600" cy="208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1" name="Shape 4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2" name="Google Shape;4222;p160"/>
          <p:cNvSpPr txBox="1"/>
          <p:nvPr>
            <p:ph idx="1" type="body"/>
          </p:nvPr>
        </p:nvSpPr>
        <p:spPr>
          <a:xfrm>
            <a:off x="311700" y="1225225"/>
            <a:ext cx="4448100" cy="15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Davis shows that…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Cluster 1: {c, g}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Cluster 2: {f, b, h}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Cluster 3: {a, d, e}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3" name="Google Shape;4223;p16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balance to clustering</a:t>
            </a:r>
            <a:endParaRPr/>
          </a:p>
        </p:txBody>
      </p:sp>
      <p:sp>
        <p:nvSpPr>
          <p:cNvPr id="4224" name="Google Shape;4224;p160"/>
          <p:cNvSpPr/>
          <p:nvPr/>
        </p:nvSpPr>
        <p:spPr>
          <a:xfrm>
            <a:off x="6009349" y="1094423"/>
            <a:ext cx="251700" cy="2499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a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225" name="Google Shape;4225;p160"/>
          <p:cNvSpPr/>
          <p:nvPr/>
        </p:nvSpPr>
        <p:spPr>
          <a:xfrm>
            <a:off x="8303464" y="3466537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b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26" name="Google Shape;4226;p160"/>
          <p:cNvCxnSpPr>
            <a:stCxn id="4224" idx="4"/>
            <a:endCxn id="4225" idx="2"/>
          </p:cNvCxnSpPr>
          <p:nvPr/>
        </p:nvCxnSpPr>
        <p:spPr>
          <a:xfrm>
            <a:off x="6135199" y="1344323"/>
            <a:ext cx="2168400" cy="2247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227" name="Google Shape;4227;p160"/>
          <p:cNvSpPr/>
          <p:nvPr/>
        </p:nvSpPr>
        <p:spPr>
          <a:xfrm>
            <a:off x="5129104" y="2239269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c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28" name="Google Shape;4228;p160"/>
          <p:cNvCxnSpPr>
            <a:stCxn id="4224" idx="3"/>
            <a:endCxn id="4227" idx="0"/>
          </p:cNvCxnSpPr>
          <p:nvPr/>
        </p:nvCxnSpPr>
        <p:spPr>
          <a:xfrm flipH="1">
            <a:off x="5254809" y="1307726"/>
            <a:ext cx="791400" cy="931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229" name="Google Shape;4229;p160"/>
          <p:cNvCxnSpPr>
            <a:stCxn id="4227" idx="6"/>
            <a:endCxn id="4225" idx="2"/>
          </p:cNvCxnSpPr>
          <p:nvPr/>
        </p:nvCxnSpPr>
        <p:spPr>
          <a:xfrm>
            <a:off x="5380804" y="2364219"/>
            <a:ext cx="2922600" cy="122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230" name="Google Shape;4230;p160"/>
          <p:cNvCxnSpPr>
            <a:stCxn id="4224" idx="6"/>
            <a:endCxn id="4231" idx="0"/>
          </p:cNvCxnSpPr>
          <p:nvPr/>
        </p:nvCxnSpPr>
        <p:spPr>
          <a:xfrm>
            <a:off x="6261049" y="1219373"/>
            <a:ext cx="2168400" cy="894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32" name="Google Shape;4232;p160"/>
          <p:cNvSpPr/>
          <p:nvPr/>
        </p:nvSpPr>
        <p:spPr>
          <a:xfrm>
            <a:off x="7242538" y="1094437"/>
            <a:ext cx="251700" cy="2499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d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33" name="Google Shape;4233;p160"/>
          <p:cNvCxnSpPr>
            <a:stCxn id="4224" idx="6"/>
            <a:endCxn id="4232" idx="2"/>
          </p:cNvCxnSpPr>
          <p:nvPr/>
        </p:nvCxnSpPr>
        <p:spPr>
          <a:xfrm>
            <a:off x="6261049" y="1219373"/>
            <a:ext cx="981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4" name="Google Shape;4234;p160"/>
          <p:cNvCxnSpPr>
            <a:stCxn id="4232" idx="5"/>
            <a:endCxn id="4231" idx="0"/>
          </p:cNvCxnSpPr>
          <p:nvPr/>
        </p:nvCxnSpPr>
        <p:spPr>
          <a:xfrm>
            <a:off x="7457377" y="1307740"/>
            <a:ext cx="972000" cy="806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35" name="Google Shape;4235;p160"/>
          <p:cNvSpPr/>
          <p:nvPr/>
        </p:nvSpPr>
        <p:spPr>
          <a:xfrm>
            <a:off x="6135247" y="4502018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g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36" name="Google Shape;4236;p160"/>
          <p:cNvCxnSpPr>
            <a:stCxn id="4235" idx="0"/>
            <a:endCxn id="4232" idx="4"/>
          </p:cNvCxnSpPr>
          <p:nvPr/>
        </p:nvCxnSpPr>
        <p:spPr>
          <a:xfrm flipH="1" rot="10800000">
            <a:off x="6261097" y="1344218"/>
            <a:ext cx="1107300" cy="3157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237" name="Google Shape;4237;p160"/>
          <p:cNvCxnSpPr>
            <a:stCxn id="4235" idx="0"/>
            <a:endCxn id="4227" idx="5"/>
          </p:cNvCxnSpPr>
          <p:nvPr/>
        </p:nvCxnSpPr>
        <p:spPr>
          <a:xfrm rot="10800000">
            <a:off x="5343997" y="2452718"/>
            <a:ext cx="917100" cy="2049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8" name="Google Shape;4238;p160"/>
          <p:cNvCxnSpPr>
            <a:stCxn id="4227" idx="7"/>
            <a:endCxn id="4232" idx="2"/>
          </p:cNvCxnSpPr>
          <p:nvPr/>
        </p:nvCxnSpPr>
        <p:spPr>
          <a:xfrm flipH="1" rot="10800000">
            <a:off x="5343943" y="1219266"/>
            <a:ext cx="1898700" cy="1056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231" name="Google Shape;4231;p160"/>
          <p:cNvSpPr/>
          <p:nvPr/>
        </p:nvSpPr>
        <p:spPr>
          <a:xfrm>
            <a:off x="8303464" y="2114360"/>
            <a:ext cx="251700" cy="2499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e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39" name="Google Shape;4239;p160"/>
          <p:cNvCxnSpPr>
            <a:stCxn id="4225" idx="0"/>
            <a:endCxn id="4231" idx="4"/>
          </p:cNvCxnSpPr>
          <p:nvPr/>
        </p:nvCxnSpPr>
        <p:spPr>
          <a:xfrm rot="10800000">
            <a:off x="8429314" y="2364337"/>
            <a:ext cx="0" cy="1102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240" name="Google Shape;4240;p160"/>
          <p:cNvSpPr/>
          <p:nvPr/>
        </p:nvSpPr>
        <p:spPr>
          <a:xfrm>
            <a:off x="5129091" y="3500373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f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41" name="Google Shape;4241;p160"/>
          <p:cNvCxnSpPr>
            <a:stCxn id="4225" idx="2"/>
            <a:endCxn id="4240" idx="6"/>
          </p:cNvCxnSpPr>
          <p:nvPr/>
        </p:nvCxnSpPr>
        <p:spPr>
          <a:xfrm flipH="1">
            <a:off x="5380864" y="3591487"/>
            <a:ext cx="2922600" cy="3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2" name="Google Shape;4242;p160"/>
          <p:cNvCxnSpPr>
            <a:stCxn id="4240" idx="6"/>
            <a:endCxn id="4231" idx="2"/>
          </p:cNvCxnSpPr>
          <p:nvPr/>
        </p:nvCxnSpPr>
        <p:spPr>
          <a:xfrm flipH="1" rot="10800000">
            <a:off x="5380791" y="2239323"/>
            <a:ext cx="2922600" cy="138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243" name="Google Shape;4243;p160"/>
          <p:cNvCxnSpPr>
            <a:stCxn id="4240" idx="5"/>
            <a:endCxn id="4232" idx="3"/>
          </p:cNvCxnSpPr>
          <p:nvPr/>
        </p:nvCxnSpPr>
        <p:spPr>
          <a:xfrm flipH="1" rot="10800000">
            <a:off x="5343930" y="1307676"/>
            <a:ext cx="1935600" cy="240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244" name="Google Shape;4244;p160"/>
          <p:cNvCxnSpPr>
            <a:stCxn id="4240" idx="6"/>
            <a:endCxn id="4245" idx="1"/>
          </p:cNvCxnSpPr>
          <p:nvPr/>
        </p:nvCxnSpPr>
        <p:spPr>
          <a:xfrm>
            <a:off x="5380791" y="3625323"/>
            <a:ext cx="1976700" cy="91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6" name="Google Shape;4246;p160"/>
          <p:cNvCxnSpPr>
            <a:stCxn id="4245" idx="0"/>
            <a:endCxn id="4232" idx="4"/>
          </p:cNvCxnSpPr>
          <p:nvPr/>
        </p:nvCxnSpPr>
        <p:spPr>
          <a:xfrm rot="10800000">
            <a:off x="7368253" y="1344224"/>
            <a:ext cx="78300" cy="3157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247" name="Google Shape;4247;p160"/>
          <p:cNvCxnSpPr>
            <a:stCxn id="4231" idx="2"/>
            <a:endCxn id="4227" idx="6"/>
          </p:cNvCxnSpPr>
          <p:nvPr/>
        </p:nvCxnSpPr>
        <p:spPr>
          <a:xfrm flipH="1">
            <a:off x="5380864" y="2239310"/>
            <a:ext cx="2922600" cy="124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245" name="Google Shape;4245;p160"/>
          <p:cNvSpPr/>
          <p:nvPr/>
        </p:nvSpPr>
        <p:spPr>
          <a:xfrm>
            <a:off x="7320703" y="4502024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h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48" name="Google Shape;4248;p160"/>
          <p:cNvCxnSpPr>
            <a:stCxn id="4231" idx="4"/>
            <a:endCxn id="4245" idx="0"/>
          </p:cNvCxnSpPr>
          <p:nvPr/>
        </p:nvCxnSpPr>
        <p:spPr>
          <a:xfrm flipH="1">
            <a:off x="7446514" y="2364260"/>
            <a:ext cx="982800" cy="2137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249" name="Google Shape;4249;p160"/>
          <p:cNvCxnSpPr>
            <a:stCxn id="4245" idx="1"/>
            <a:endCxn id="4227" idx="5"/>
          </p:cNvCxnSpPr>
          <p:nvPr/>
        </p:nvCxnSpPr>
        <p:spPr>
          <a:xfrm rot="10800000">
            <a:off x="5343963" y="2452721"/>
            <a:ext cx="2013600" cy="2085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3" name="Shape 4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4" name="Google Shape;4254;p16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balance to clustering</a:t>
            </a:r>
            <a:endParaRPr/>
          </a:p>
        </p:txBody>
      </p:sp>
      <p:sp>
        <p:nvSpPr>
          <p:cNvPr id="4255" name="Google Shape;4255;p161"/>
          <p:cNvSpPr/>
          <p:nvPr/>
        </p:nvSpPr>
        <p:spPr>
          <a:xfrm>
            <a:off x="6009349" y="1094423"/>
            <a:ext cx="251700" cy="2499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a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256" name="Google Shape;4256;p161"/>
          <p:cNvSpPr/>
          <p:nvPr/>
        </p:nvSpPr>
        <p:spPr>
          <a:xfrm>
            <a:off x="8303464" y="3466537"/>
            <a:ext cx="251700" cy="249900"/>
          </a:xfrm>
          <a:prstGeom prst="ellipse">
            <a:avLst/>
          </a:prstGeom>
          <a:solidFill>
            <a:srgbClr val="B4A7D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b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57" name="Google Shape;4257;p161"/>
          <p:cNvCxnSpPr>
            <a:stCxn id="4255" idx="4"/>
            <a:endCxn id="4256" idx="2"/>
          </p:cNvCxnSpPr>
          <p:nvPr/>
        </p:nvCxnSpPr>
        <p:spPr>
          <a:xfrm>
            <a:off x="6135199" y="1344323"/>
            <a:ext cx="2168400" cy="2247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258" name="Google Shape;4258;p161"/>
          <p:cNvSpPr/>
          <p:nvPr/>
        </p:nvSpPr>
        <p:spPr>
          <a:xfrm>
            <a:off x="5129104" y="2239269"/>
            <a:ext cx="251700" cy="249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c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59" name="Google Shape;4259;p161"/>
          <p:cNvCxnSpPr>
            <a:stCxn id="4255" idx="3"/>
            <a:endCxn id="4258" idx="0"/>
          </p:cNvCxnSpPr>
          <p:nvPr/>
        </p:nvCxnSpPr>
        <p:spPr>
          <a:xfrm flipH="1">
            <a:off x="5254809" y="1307726"/>
            <a:ext cx="791400" cy="931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260" name="Google Shape;4260;p161"/>
          <p:cNvCxnSpPr>
            <a:stCxn id="4258" idx="6"/>
            <a:endCxn id="4256" idx="2"/>
          </p:cNvCxnSpPr>
          <p:nvPr/>
        </p:nvCxnSpPr>
        <p:spPr>
          <a:xfrm>
            <a:off x="5380804" y="2364219"/>
            <a:ext cx="2922600" cy="1227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261" name="Google Shape;4261;p161"/>
          <p:cNvCxnSpPr>
            <a:stCxn id="4255" idx="6"/>
            <a:endCxn id="4262" idx="0"/>
          </p:cNvCxnSpPr>
          <p:nvPr/>
        </p:nvCxnSpPr>
        <p:spPr>
          <a:xfrm>
            <a:off x="6261049" y="1219373"/>
            <a:ext cx="2168400" cy="894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63" name="Google Shape;4263;p161"/>
          <p:cNvSpPr/>
          <p:nvPr/>
        </p:nvSpPr>
        <p:spPr>
          <a:xfrm>
            <a:off x="7242538" y="1094437"/>
            <a:ext cx="251700" cy="2499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d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64" name="Google Shape;4264;p161"/>
          <p:cNvCxnSpPr>
            <a:stCxn id="4255" idx="6"/>
            <a:endCxn id="4263" idx="2"/>
          </p:cNvCxnSpPr>
          <p:nvPr/>
        </p:nvCxnSpPr>
        <p:spPr>
          <a:xfrm>
            <a:off x="6261049" y="1219373"/>
            <a:ext cx="981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5" name="Google Shape;4265;p161"/>
          <p:cNvCxnSpPr>
            <a:stCxn id="4263" idx="5"/>
            <a:endCxn id="4262" idx="0"/>
          </p:cNvCxnSpPr>
          <p:nvPr/>
        </p:nvCxnSpPr>
        <p:spPr>
          <a:xfrm>
            <a:off x="7457377" y="1307740"/>
            <a:ext cx="972000" cy="806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66" name="Google Shape;4266;p161"/>
          <p:cNvSpPr/>
          <p:nvPr/>
        </p:nvSpPr>
        <p:spPr>
          <a:xfrm>
            <a:off x="6135247" y="4502018"/>
            <a:ext cx="251700" cy="249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g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67" name="Google Shape;4267;p161"/>
          <p:cNvCxnSpPr>
            <a:stCxn id="4266" idx="0"/>
            <a:endCxn id="4263" idx="4"/>
          </p:cNvCxnSpPr>
          <p:nvPr/>
        </p:nvCxnSpPr>
        <p:spPr>
          <a:xfrm flipH="1" rot="10800000">
            <a:off x="6261097" y="1344218"/>
            <a:ext cx="1107300" cy="3157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268" name="Google Shape;4268;p161"/>
          <p:cNvCxnSpPr>
            <a:stCxn id="4266" idx="0"/>
            <a:endCxn id="4258" idx="5"/>
          </p:cNvCxnSpPr>
          <p:nvPr/>
        </p:nvCxnSpPr>
        <p:spPr>
          <a:xfrm rot="10800000">
            <a:off x="5343997" y="2452718"/>
            <a:ext cx="917100" cy="2049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9" name="Google Shape;4269;p161"/>
          <p:cNvCxnSpPr>
            <a:stCxn id="4258" idx="7"/>
            <a:endCxn id="4263" idx="2"/>
          </p:cNvCxnSpPr>
          <p:nvPr/>
        </p:nvCxnSpPr>
        <p:spPr>
          <a:xfrm flipH="1" rot="10800000">
            <a:off x="5343943" y="1219266"/>
            <a:ext cx="1898700" cy="1056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262" name="Google Shape;4262;p161"/>
          <p:cNvSpPr/>
          <p:nvPr/>
        </p:nvSpPr>
        <p:spPr>
          <a:xfrm>
            <a:off x="8303464" y="2114360"/>
            <a:ext cx="251700" cy="2499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e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70" name="Google Shape;4270;p161"/>
          <p:cNvCxnSpPr>
            <a:stCxn id="4256" idx="0"/>
            <a:endCxn id="4262" idx="4"/>
          </p:cNvCxnSpPr>
          <p:nvPr/>
        </p:nvCxnSpPr>
        <p:spPr>
          <a:xfrm rot="10800000">
            <a:off x="8429314" y="2364337"/>
            <a:ext cx="0" cy="1102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271" name="Google Shape;4271;p161"/>
          <p:cNvSpPr/>
          <p:nvPr/>
        </p:nvSpPr>
        <p:spPr>
          <a:xfrm>
            <a:off x="5129091" y="3500373"/>
            <a:ext cx="251700" cy="249900"/>
          </a:xfrm>
          <a:prstGeom prst="ellipse">
            <a:avLst/>
          </a:prstGeom>
          <a:solidFill>
            <a:srgbClr val="B4A7D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f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72" name="Google Shape;4272;p161"/>
          <p:cNvCxnSpPr>
            <a:stCxn id="4256" idx="2"/>
            <a:endCxn id="4271" idx="6"/>
          </p:cNvCxnSpPr>
          <p:nvPr/>
        </p:nvCxnSpPr>
        <p:spPr>
          <a:xfrm flipH="1">
            <a:off x="5380864" y="3591487"/>
            <a:ext cx="2922600" cy="33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3" name="Google Shape;4273;p161"/>
          <p:cNvCxnSpPr>
            <a:stCxn id="4271" idx="6"/>
            <a:endCxn id="4262" idx="2"/>
          </p:cNvCxnSpPr>
          <p:nvPr/>
        </p:nvCxnSpPr>
        <p:spPr>
          <a:xfrm flipH="1" rot="10800000">
            <a:off x="5380791" y="2239323"/>
            <a:ext cx="2922600" cy="138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274" name="Google Shape;4274;p161"/>
          <p:cNvCxnSpPr>
            <a:stCxn id="4271" idx="5"/>
            <a:endCxn id="4263" idx="3"/>
          </p:cNvCxnSpPr>
          <p:nvPr/>
        </p:nvCxnSpPr>
        <p:spPr>
          <a:xfrm flipH="1" rot="10800000">
            <a:off x="5343930" y="1307676"/>
            <a:ext cx="1935600" cy="240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275" name="Google Shape;4275;p161"/>
          <p:cNvCxnSpPr>
            <a:stCxn id="4271" idx="6"/>
            <a:endCxn id="4276" idx="1"/>
          </p:cNvCxnSpPr>
          <p:nvPr/>
        </p:nvCxnSpPr>
        <p:spPr>
          <a:xfrm>
            <a:off x="5380791" y="3625323"/>
            <a:ext cx="1976700" cy="913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7" name="Google Shape;4277;p161"/>
          <p:cNvCxnSpPr>
            <a:stCxn id="4276" idx="0"/>
            <a:endCxn id="4263" idx="4"/>
          </p:cNvCxnSpPr>
          <p:nvPr/>
        </p:nvCxnSpPr>
        <p:spPr>
          <a:xfrm rot="10800000">
            <a:off x="7368253" y="1344224"/>
            <a:ext cx="78300" cy="3157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278" name="Google Shape;4278;p161"/>
          <p:cNvCxnSpPr>
            <a:stCxn id="4262" idx="2"/>
            <a:endCxn id="4258" idx="6"/>
          </p:cNvCxnSpPr>
          <p:nvPr/>
        </p:nvCxnSpPr>
        <p:spPr>
          <a:xfrm flipH="1">
            <a:off x="5380864" y="2239310"/>
            <a:ext cx="2922600" cy="124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276" name="Google Shape;4276;p161"/>
          <p:cNvSpPr/>
          <p:nvPr/>
        </p:nvSpPr>
        <p:spPr>
          <a:xfrm>
            <a:off x="7320703" y="4502024"/>
            <a:ext cx="251700" cy="249900"/>
          </a:xfrm>
          <a:prstGeom prst="ellipse">
            <a:avLst/>
          </a:prstGeom>
          <a:solidFill>
            <a:srgbClr val="B4A7D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h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79" name="Google Shape;4279;p161"/>
          <p:cNvCxnSpPr>
            <a:stCxn id="4262" idx="4"/>
            <a:endCxn id="4276" idx="0"/>
          </p:cNvCxnSpPr>
          <p:nvPr/>
        </p:nvCxnSpPr>
        <p:spPr>
          <a:xfrm flipH="1">
            <a:off x="7446514" y="2364260"/>
            <a:ext cx="982800" cy="2137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280" name="Google Shape;4280;p161"/>
          <p:cNvCxnSpPr>
            <a:stCxn id="4276" idx="1"/>
            <a:endCxn id="4258" idx="5"/>
          </p:cNvCxnSpPr>
          <p:nvPr/>
        </p:nvCxnSpPr>
        <p:spPr>
          <a:xfrm rot="10800000">
            <a:off x="5343963" y="2452721"/>
            <a:ext cx="2013600" cy="2085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graphicFrame>
        <p:nvGraphicFramePr>
          <p:cNvPr id="4281" name="Google Shape;4281;p161"/>
          <p:cNvGraphicFramePr/>
          <p:nvPr/>
        </p:nvGraphicFramePr>
        <p:xfrm>
          <a:off x="788888" y="13985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{3773FF8F-8FC9-4D74-9ADC-7274F113E1BC}</a:tableStyleId>
              </a:tblPr>
              <a:tblGrid>
                <a:gridCol w="352775"/>
                <a:gridCol w="352775"/>
                <a:gridCol w="352775"/>
                <a:gridCol w="352775"/>
                <a:gridCol w="352775"/>
                <a:gridCol w="352775"/>
                <a:gridCol w="352775"/>
                <a:gridCol w="352775"/>
                <a:gridCol w="352775"/>
              </a:tblGrid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a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b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c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d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e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f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g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h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a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b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c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d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e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f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g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h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5" name="Shape 4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6" name="Google Shape;4286;p16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balance to clustering</a:t>
            </a:r>
            <a:endParaRPr/>
          </a:p>
        </p:txBody>
      </p:sp>
      <p:sp>
        <p:nvSpPr>
          <p:cNvPr id="4287" name="Google Shape;4287;p162"/>
          <p:cNvSpPr/>
          <p:nvPr/>
        </p:nvSpPr>
        <p:spPr>
          <a:xfrm>
            <a:off x="6009349" y="1094423"/>
            <a:ext cx="251700" cy="2499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a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288" name="Google Shape;4288;p162"/>
          <p:cNvSpPr/>
          <p:nvPr/>
        </p:nvSpPr>
        <p:spPr>
          <a:xfrm>
            <a:off x="8303464" y="3466537"/>
            <a:ext cx="251700" cy="249900"/>
          </a:xfrm>
          <a:prstGeom prst="ellipse">
            <a:avLst/>
          </a:prstGeom>
          <a:solidFill>
            <a:srgbClr val="B4A7D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b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89" name="Google Shape;4289;p162"/>
          <p:cNvCxnSpPr>
            <a:stCxn id="4287" idx="4"/>
            <a:endCxn id="4288" idx="2"/>
          </p:cNvCxnSpPr>
          <p:nvPr/>
        </p:nvCxnSpPr>
        <p:spPr>
          <a:xfrm>
            <a:off x="6135199" y="1344323"/>
            <a:ext cx="2168400" cy="2247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290" name="Google Shape;4290;p162"/>
          <p:cNvSpPr/>
          <p:nvPr/>
        </p:nvSpPr>
        <p:spPr>
          <a:xfrm>
            <a:off x="5129104" y="2239269"/>
            <a:ext cx="251700" cy="249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c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91" name="Google Shape;4291;p162"/>
          <p:cNvCxnSpPr>
            <a:stCxn id="4287" idx="3"/>
            <a:endCxn id="4290" idx="0"/>
          </p:cNvCxnSpPr>
          <p:nvPr/>
        </p:nvCxnSpPr>
        <p:spPr>
          <a:xfrm flipH="1">
            <a:off x="5254809" y="1307726"/>
            <a:ext cx="791400" cy="931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292" name="Google Shape;4292;p162"/>
          <p:cNvCxnSpPr>
            <a:stCxn id="4290" idx="6"/>
            <a:endCxn id="4288" idx="2"/>
          </p:cNvCxnSpPr>
          <p:nvPr/>
        </p:nvCxnSpPr>
        <p:spPr>
          <a:xfrm>
            <a:off x="5380804" y="2364219"/>
            <a:ext cx="2922600" cy="1227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293" name="Google Shape;4293;p162"/>
          <p:cNvCxnSpPr>
            <a:stCxn id="4287" idx="6"/>
            <a:endCxn id="4294" idx="0"/>
          </p:cNvCxnSpPr>
          <p:nvPr/>
        </p:nvCxnSpPr>
        <p:spPr>
          <a:xfrm>
            <a:off x="6261049" y="1219373"/>
            <a:ext cx="2168400" cy="894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95" name="Google Shape;4295;p162"/>
          <p:cNvSpPr/>
          <p:nvPr/>
        </p:nvSpPr>
        <p:spPr>
          <a:xfrm>
            <a:off x="7242538" y="1094437"/>
            <a:ext cx="251700" cy="2499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d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96" name="Google Shape;4296;p162"/>
          <p:cNvCxnSpPr>
            <a:stCxn id="4287" idx="6"/>
            <a:endCxn id="4295" idx="2"/>
          </p:cNvCxnSpPr>
          <p:nvPr/>
        </p:nvCxnSpPr>
        <p:spPr>
          <a:xfrm>
            <a:off x="6261049" y="1219373"/>
            <a:ext cx="981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97" name="Google Shape;4297;p162"/>
          <p:cNvCxnSpPr>
            <a:stCxn id="4295" idx="5"/>
            <a:endCxn id="4294" idx="0"/>
          </p:cNvCxnSpPr>
          <p:nvPr/>
        </p:nvCxnSpPr>
        <p:spPr>
          <a:xfrm>
            <a:off x="7457377" y="1307740"/>
            <a:ext cx="972000" cy="806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98" name="Google Shape;4298;p162"/>
          <p:cNvSpPr/>
          <p:nvPr/>
        </p:nvSpPr>
        <p:spPr>
          <a:xfrm>
            <a:off x="6135247" y="4502018"/>
            <a:ext cx="251700" cy="249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g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99" name="Google Shape;4299;p162"/>
          <p:cNvCxnSpPr>
            <a:stCxn id="4298" idx="0"/>
            <a:endCxn id="4295" idx="4"/>
          </p:cNvCxnSpPr>
          <p:nvPr/>
        </p:nvCxnSpPr>
        <p:spPr>
          <a:xfrm flipH="1" rot="10800000">
            <a:off x="6261097" y="1344218"/>
            <a:ext cx="1107300" cy="3157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00" name="Google Shape;4300;p162"/>
          <p:cNvCxnSpPr>
            <a:stCxn id="4298" idx="0"/>
            <a:endCxn id="4290" idx="5"/>
          </p:cNvCxnSpPr>
          <p:nvPr/>
        </p:nvCxnSpPr>
        <p:spPr>
          <a:xfrm rot="10800000">
            <a:off x="5343997" y="2452718"/>
            <a:ext cx="917100" cy="2049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1" name="Google Shape;4301;p162"/>
          <p:cNvCxnSpPr>
            <a:stCxn id="4290" idx="7"/>
            <a:endCxn id="4295" idx="2"/>
          </p:cNvCxnSpPr>
          <p:nvPr/>
        </p:nvCxnSpPr>
        <p:spPr>
          <a:xfrm flipH="1" rot="10800000">
            <a:off x="5343943" y="1219266"/>
            <a:ext cx="1898700" cy="1056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294" name="Google Shape;4294;p162"/>
          <p:cNvSpPr/>
          <p:nvPr/>
        </p:nvSpPr>
        <p:spPr>
          <a:xfrm>
            <a:off x="8303464" y="2114360"/>
            <a:ext cx="251700" cy="2499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e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302" name="Google Shape;4302;p162"/>
          <p:cNvCxnSpPr>
            <a:stCxn id="4288" idx="0"/>
            <a:endCxn id="4294" idx="4"/>
          </p:cNvCxnSpPr>
          <p:nvPr/>
        </p:nvCxnSpPr>
        <p:spPr>
          <a:xfrm rot="10800000">
            <a:off x="8429314" y="2364337"/>
            <a:ext cx="0" cy="1102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303" name="Google Shape;4303;p162"/>
          <p:cNvSpPr/>
          <p:nvPr/>
        </p:nvSpPr>
        <p:spPr>
          <a:xfrm>
            <a:off x="5129091" y="3500373"/>
            <a:ext cx="251700" cy="249900"/>
          </a:xfrm>
          <a:prstGeom prst="ellipse">
            <a:avLst/>
          </a:prstGeom>
          <a:solidFill>
            <a:srgbClr val="B4A7D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f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304" name="Google Shape;4304;p162"/>
          <p:cNvCxnSpPr>
            <a:stCxn id="4288" idx="2"/>
            <a:endCxn id="4303" idx="6"/>
          </p:cNvCxnSpPr>
          <p:nvPr/>
        </p:nvCxnSpPr>
        <p:spPr>
          <a:xfrm flipH="1">
            <a:off x="5380864" y="3591487"/>
            <a:ext cx="2922600" cy="33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5" name="Google Shape;4305;p162"/>
          <p:cNvCxnSpPr>
            <a:stCxn id="4303" idx="6"/>
            <a:endCxn id="4294" idx="2"/>
          </p:cNvCxnSpPr>
          <p:nvPr/>
        </p:nvCxnSpPr>
        <p:spPr>
          <a:xfrm flipH="1" rot="10800000">
            <a:off x="5380791" y="2239323"/>
            <a:ext cx="2922600" cy="138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06" name="Google Shape;4306;p162"/>
          <p:cNvCxnSpPr>
            <a:stCxn id="4303" idx="5"/>
            <a:endCxn id="4295" idx="3"/>
          </p:cNvCxnSpPr>
          <p:nvPr/>
        </p:nvCxnSpPr>
        <p:spPr>
          <a:xfrm flipH="1" rot="10800000">
            <a:off x="5343930" y="1307676"/>
            <a:ext cx="1935600" cy="240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07" name="Google Shape;4307;p162"/>
          <p:cNvCxnSpPr>
            <a:stCxn id="4303" idx="6"/>
            <a:endCxn id="4308" idx="1"/>
          </p:cNvCxnSpPr>
          <p:nvPr/>
        </p:nvCxnSpPr>
        <p:spPr>
          <a:xfrm>
            <a:off x="5380791" y="3625323"/>
            <a:ext cx="1976700" cy="913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9" name="Google Shape;4309;p162"/>
          <p:cNvCxnSpPr>
            <a:stCxn id="4308" idx="0"/>
            <a:endCxn id="4295" idx="4"/>
          </p:cNvCxnSpPr>
          <p:nvPr/>
        </p:nvCxnSpPr>
        <p:spPr>
          <a:xfrm rot="10800000">
            <a:off x="7368253" y="1344224"/>
            <a:ext cx="78300" cy="3157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10" name="Google Shape;4310;p162"/>
          <p:cNvCxnSpPr>
            <a:stCxn id="4294" idx="2"/>
            <a:endCxn id="4290" idx="6"/>
          </p:cNvCxnSpPr>
          <p:nvPr/>
        </p:nvCxnSpPr>
        <p:spPr>
          <a:xfrm flipH="1">
            <a:off x="5380864" y="2239310"/>
            <a:ext cx="2922600" cy="124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308" name="Google Shape;4308;p162"/>
          <p:cNvSpPr/>
          <p:nvPr/>
        </p:nvSpPr>
        <p:spPr>
          <a:xfrm>
            <a:off x="7320703" y="4502024"/>
            <a:ext cx="251700" cy="249900"/>
          </a:xfrm>
          <a:prstGeom prst="ellipse">
            <a:avLst/>
          </a:prstGeom>
          <a:solidFill>
            <a:srgbClr val="B4A7D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h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311" name="Google Shape;4311;p162"/>
          <p:cNvCxnSpPr>
            <a:stCxn id="4294" idx="4"/>
            <a:endCxn id="4308" idx="0"/>
          </p:cNvCxnSpPr>
          <p:nvPr/>
        </p:nvCxnSpPr>
        <p:spPr>
          <a:xfrm flipH="1">
            <a:off x="7446514" y="2364260"/>
            <a:ext cx="982800" cy="2137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12" name="Google Shape;4312;p162"/>
          <p:cNvCxnSpPr>
            <a:stCxn id="4308" idx="1"/>
            <a:endCxn id="4290" idx="5"/>
          </p:cNvCxnSpPr>
          <p:nvPr/>
        </p:nvCxnSpPr>
        <p:spPr>
          <a:xfrm rot="10800000">
            <a:off x="5343963" y="2452721"/>
            <a:ext cx="2013600" cy="2085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graphicFrame>
        <p:nvGraphicFramePr>
          <p:cNvPr id="4313" name="Google Shape;4313;p162"/>
          <p:cNvGraphicFramePr/>
          <p:nvPr/>
        </p:nvGraphicFramePr>
        <p:xfrm>
          <a:off x="788888" y="13985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{3773FF8F-8FC9-4D74-9ADC-7274F113E1BC}</a:tableStyleId>
              </a:tblPr>
              <a:tblGrid>
                <a:gridCol w="352775"/>
                <a:gridCol w="352775"/>
                <a:gridCol w="352775"/>
                <a:gridCol w="352775"/>
                <a:gridCol w="352775"/>
                <a:gridCol w="352775"/>
                <a:gridCol w="352775"/>
                <a:gridCol w="352775"/>
                <a:gridCol w="352775"/>
              </a:tblGrid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a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d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e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c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g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f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b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h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a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d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e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c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g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f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b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h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7" name="Shape 4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8" name="Google Shape;4318;p16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balance to clustering</a:t>
            </a:r>
            <a:endParaRPr/>
          </a:p>
        </p:txBody>
      </p:sp>
      <p:sp>
        <p:nvSpPr>
          <p:cNvPr id="4319" name="Google Shape;4319;p163"/>
          <p:cNvSpPr/>
          <p:nvPr/>
        </p:nvSpPr>
        <p:spPr>
          <a:xfrm>
            <a:off x="6009349" y="1094423"/>
            <a:ext cx="251700" cy="2499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a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320" name="Google Shape;4320;p163"/>
          <p:cNvSpPr/>
          <p:nvPr/>
        </p:nvSpPr>
        <p:spPr>
          <a:xfrm>
            <a:off x="8303464" y="3466537"/>
            <a:ext cx="251700" cy="249900"/>
          </a:xfrm>
          <a:prstGeom prst="ellipse">
            <a:avLst/>
          </a:prstGeom>
          <a:solidFill>
            <a:srgbClr val="B4A7D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b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321" name="Google Shape;4321;p163"/>
          <p:cNvCxnSpPr>
            <a:stCxn id="4319" idx="4"/>
            <a:endCxn id="4320" idx="2"/>
          </p:cNvCxnSpPr>
          <p:nvPr/>
        </p:nvCxnSpPr>
        <p:spPr>
          <a:xfrm>
            <a:off x="6135199" y="1344323"/>
            <a:ext cx="2168400" cy="2247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322" name="Google Shape;4322;p163"/>
          <p:cNvSpPr/>
          <p:nvPr/>
        </p:nvSpPr>
        <p:spPr>
          <a:xfrm>
            <a:off x="5129104" y="2239269"/>
            <a:ext cx="251700" cy="249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c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323" name="Google Shape;4323;p163"/>
          <p:cNvCxnSpPr>
            <a:stCxn id="4319" idx="3"/>
            <a:endCxn id="4322" idx="0"/>
          </p:cNvCxnSpPr>
          <p:nvPr/>
        </p:nvCxnSpPr>
        <p:spPr>
          <a:xfrm flipH="1">
            <a:off x="5254809" y="1307726"/>
            <a:ext cx="791400" cy="931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24" name="Google Shape;4324;p163"/>
          <p:cNvCxnSpPr>
            <a:stCxn id="4322" idx="6"/>
            <a:endCxn id="4320" idx="2"/>
          </p:cNvCxnSpPr>
          <p:nvPr/>
        </p:nvCxnSpPr>
        <p:spPr>
          <a:xfrm>
            <a:off x="5380804" y="2364219"/>
            <a:ext cx="2922600" cy="1227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25" name="Google Shape;4325;p163"/>
          <p:cNvCxnSpPr>
            <a:stCxn id="4319" idx="6"/>
            <a:endCxn id="4326" idx="0"/>
          </p:cNvCxnSpPr>
          <p:nvPr/>
        </p:nvCxnSpPr>
        <p:spPr>
          <a:xfrm>
            <a:off x="6261049" y="1219373"/>
            <a:ext cx="2168400" cy="894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27" name="Google Shape;4327;p163"/>
          <p:cNvSpPr/>
          <p:nvPr/>
        </p:nvSpPr>
        <p:spPr>
          <a:xfrm>
            <a:off x="7242538" y="1094437"/>
            <a:ext cx="251700" cy="2499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d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328" name="Google Shape;4328;p163"/>
          <p:cNvCxnSpPr>
            <a:stCxn id="4319" idx="6"/>
            <a:endCxn id="4327" idx="2"/>
          </p:cNvCxnSpPr>
          <p:nvPr/>
        </p:nvCxnSpPr>
        <p:spPr>
          <a:xfrm>
            <a:off x="6261049" y="1219373"/>
            <a:ext cx="981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9" name="Google Shape;4329;p163"/>
          <p:cNvCxnSpPr>
            <a:stCxn id="4327" idx="5"/>
            <a:endCxn id="4326" idx="0"/>
          </p:cNvCxnSpPr>
          <p:nvPr/>
        </p:nvCxnSpPr>
        <p:spPr>
          <a:xfrm>
            <a:off x="7457377" y="1307740"/>
            <a:ext cx="972000" cy="806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30" name="Google Shape;4330;p163"/>
          <p:cNvSpPr/>
          <p:nvPr/>
        </p:nvSpPr>
        <p:spPr>
          <a:xfrm>
            <a:off x="6135247" y="4502018"/>
            <a:ext cx="251700" cy="249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g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331" name="Google Shape;4331;p163"/>
          <p:cNvCxnSpPr>
            <a:stCxn id="4330" idx="0"/>
            <a:endCxn id="4327" idx="4"/>
          </p:cNvCxnSpPr>
          <p:nvPr/>
        </p:nvCxnSpPr>
        <p:spPr>
          <a:xfrm flipH="1" rot="10800000">
            <a:off x="6261097" y="1344218"/>
            <a:ext cx="1107300" cy="3157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32" name="Google Shape;4332;p163"/>
          <p:cNvCxnSpPr>
            <a:stCxn id="4330" idx="0"/>
            <a:endCxn id="4322" idx="5"/>
          </p:cNvCxnSpPr>
          <p:nvPr/>
        </p:nvCxnSpPr>
        <p:spPr>
          <a:xfrm rot="10800000">
            <a:off x="5343997" y="2452718"/>
            <a:ext cx="917100" cy="2049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3" name="Google Shape;4333;p163"/>
          <p:cNvCxnSpPr>
            <a:stCxn id="4322" idx="7"/>
            <a:endCxn id="4327" idx="2"/>
          </p:cNvCxnSpPr>
          <p:nvPr/>
        </p:nvCxnSpPr>
        <p:spPr>
          <a:xfrm flipH="1" rot="10800000">
            <a:off x="5343943" y="1219266"/>
            <a:ext cx="1898700" cy="1056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326" name="Google Shape;4326;p163"/>
          <p:cNvSpPr/>
          <p:nvPr/>
        </p:nvSpPr>
        <p:spPr>
          <a:xfrm>
            <a:off x="8303464" y="2114360"/>
            <a:ext cx="251700" cy="2499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e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334" name="Google Shape;4334;p163"/>
          <p:cNvCxnSpPr>
            <a:stCxn id="4320" idx="0"/>
            <a:endCxn id="4326" idx="4"/>
          </p:cNvCxnSpPr>
          <p:nvPr/>
        </p:nvCxnSpPr>
        <p:spPr>
          <a:xfrm rot="10800000">
            <a:off x="8429314" y="2364337"/>
            <a:ext cx="0" cy="1102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335" name="Google Shape;4335;p163"/>
          <p:cNvSpPr/>
          <p:nvPr/>
        </p:nvSpPr>
        <p:spPr>
          <a:xfrm>
            <a:off x="5129091" y="3500373"/>
            <a:ext cx="251700" cy="249900"/>
          </a:xfrm>
          <a:prstGeom prst="ellipse">
            <a:avLst/>
          </a:prstGeom>
          <a:solidFill>
            <a:srgbClr val="B4A7D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f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336" name="Google Shape;4336;p163"/>
          <p:cNvCxnSpPr>
            <a:stCxn id="4320" idx="2"/>
            <a:endCxn id="4335" idx="6"/>
          </p:cNvCxnSpPr>
          <p:nvPr/>
        </p:nvCxnSpPr>
        <p:spPr>
          <a:xfrm flipH="1">
            <a:off x="5380864" y="3591487"/>
            <a:ext cx="2922600" cy="33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7" name="Google Shape;4337;p163"/>
          <p:cNvCxnSpPr>
            <a:stCxn id="4335" idx="6"/>
            <a:endCxn id="4326" idx="2"/>
          </p:cNvCxnSpPr>
          <p:nvPr/>
        </p:nvCxnSpPr>
        <p:spPr>
          <a:xfrm flipH="1" rot="10800000">
            <a:off x="5380791" y="2239323"/>
            <a:ext cx="2922600" cy="138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38" name="Google Shape;4338;p163"/>
          <p:cNvCxnSpPr>
            <a:stCxn id="4335" idx="5"/>
            <a:endCxn id="4327" idx="3"/>
          </p:cNvCxnSpPr>
          <p:nvPr/>
        </p:nvCxnSpPr>
        <p:spPr>
          <a:xfrm flipH="1" rot="10800000">
            <a:off x="5343930" y="1307676"/>
            <a:ext cx="1935600" cy="240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39" name="Google Shape;4339;p163"/>
          <p:cNvCxnSpPr>
            <a:stCxn id="4335" idx="6"/>
            <a:endCxn id="4340" idx="1"/>
          </p:cNvCxnSpPr>
          <p:nvPr/>
        </p:nvCxnSpPr>
        <p:spPr>
          <a:xfrm>
            <a:off x="5380791" y="3625323"/>
            <a:ext cx="1976700" cy="913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1" name="Google Shape;4341;p163"/>
          <p:cNvCxnSpPr>
            <a:stCxn id="4340" idx="0"/>
            <a:endCxn id="4327" idx="4"/>
          </p:cNvCxnSpPr>
          <p:nvPr/>
        </p:nvCxnSpPr>
        <p:spPr>
          <a:xfrm rot="10800000">
            <a:off x="7368253" y="1344224"/>
            <a:ext cx="78300" cy="3157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42" name="Google Shape;4342;p163"/>
          <p:cNvCxnSpPr>
            <a:stCxn id="4326" idx="2"/>
            <a:endCxn id="4322" idx="6"/>
          </p:cNvCxnSpPr>
          <p:nvPr/>
        </p:nvCxnSpPr>
        <p:spPr>
          <a:xfrm flipH="1">
            <a:off x="5380864" y="2239310"/>
            <a:ext cx="2922600" cy="124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340" name="Google Shape;4340;p163"/>
          <p:cNvSpPr/>
          <p:nvPr/>
        </p:nvSpPr>
        <p:spPr>
          <a:xfrm>
            <a:off x="7320703" y="4502024"/>
            <a:ext cx="251700" cy="249900"/>
          </a:xfrm>
          <a:prstGeom prst="ellipse">
            <a:avLst/>
          </a:prstGeom>
          <a:solidFill>
            <a:srgbClr val="B4A7D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h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343" name="Google Shape;4343;p163"/>
          <p:cNvCxnSpPr>
            <a:stCxn id="4326" idx="4"/>
            <a:endCxn id="4340" idx="0"/>
          </p:cNvCxnSpPr>
          <p:nvPr/>
        </p:nvCxnSpPr>
        <p:spPr>
          <a:xfrm flipH="1">
            <a:off x="7446514" y="2364260"/>
            <a:ext cx="982800" cy="2137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44" name="Google Shape;4344;p163"/>
          <p:cNvCxnSpPr>
            <a:stCxn id="4340" idx="1"/>
            <a:endCxn id="4322" idx="5"/>
          </p:cNvCxnSpPr>
          <p:nvPr/>
        </p:nvCxnSpPr>
        <p:spPr>
          <a:xfrm rot="10800000">
            <a:off x="5343963" y="2452721"/>
            <a:ext cx="2013600" cy="2085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graphicFrame>
        <p:nvGraphicFramePr>
          <p:cNvPr id="4345" name="Google Shape;4345;p163"/>
          <p:cNvGraphicFramePr/>
          <p:nvPr/>
        </p:nvGraphicFramePr>
        <p:xfrm>
          <a:off x="788888" y="13985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{3773FF8F-8FC9-4D74-9ADC-7274F113E1BC}</a:tableStyleId>
              </a:tblPr>
              <a:tblGrid>
                <a:gridCol w="352775"/>
                <a:gridCol w="352775"/>
                <a:gridCol w="352775"/>
                <a:gridCol w="352775"/>
                <a:gridCol w="352775"/>
                <a:gridCol w="352775"/>
                <a:gridCol w="352775"/>
                <a:gridCol w="352775"/>
                <a:gridCol w="352775"/>
              </a:tblGrid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a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d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e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c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g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f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b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h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a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d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e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c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g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336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f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</a:tr>
              <a:tr h="336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b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</a:tr>
              <a:tr h="336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h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9" name="Shape 4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0" name="Google Shape;4350;p16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balance to clustering</a:t>
            </a:r>
            <a:endParaRPr/>
          </a:p>
        </p:txBody>
      </p:sp>
      <p:sp>
        <p:nvSpPr>
          <p:cNvPr id="4351" name="Google Shape;4351;p164"/>
          <p:cNvSpPr/>
          <p:nvPr/>
        </p:nvSpPr>
        <p:spPr>
          <a:xfrm>
            <a:off x="6009349" y="1094423"/>
            <a:ext cx="251700" cy="2499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a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352" name="Google Shape;4352;p164"/>
          <p:cNvSpPr/>
          <p:nvPr/>
        </p:nvSpPr>
        <p:spPr>
          <a:xfrm>
            <a:off x="8303464" y="3466537"/>
            <a:ext cx="251700" cy="249900"/>
          </a:xfrm>
          <a:prstGeom prst="ellipse">
            <a:avLst/>
          </a:prstGeom>
          <a:solidFill>
            <a:srgbClr val="B4A7D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b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353" name="Google Shape;4353;p164"/>
          <p:cNvCxnSpPr>
            <a:stCxn id="4351" idx="4"/>
            <a:endCxn id="4352" idx="2"/>
          </p:cNvCxnSpPr>
          <p:nvPr/>
        </p:nvCxnSpPr>
        <p:spPr>
          <a:xfrm>
            <a:off x="6135199" y="1344323"/>
            <a:ext cx="2168400" cy="2247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354" name="Google Shape;4354;p164"/>
          <p:cNvSpPr/>
          <p:nvPr/>
        </p:nvSpPr>
        <p:spPr>
          <a:xfrm>
            <a:off x="5129104" y="2239269"/>
            <a:ext cx="251700" cy="249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c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355" name="Google Shape;4355;p164"/>
          <p:cNvCxnSpPr>
            <a:stCxn id="4351" idx="3"/>
            <a:endCxn id="4354" idx="0"/>
          </p:cNvCxnSpPr>
          <p:nvPr/>
        </p:nvCxnSpPr>
        <p:spPr>
          <a:xfrm flipH="1">
            <a:off x="5254809" y="1307726"/>
            <a:ext cx="791400" cy="931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56" name="Google Shape;4356;p164"/>
          <p:cNvCxnSpPr>
            <a:stCxn id="4354" idx="6"/>
            <a:endCxn id="4352" idx="2"/>
          </p:cNvCxnSpPr>
          <p:nvPr/>
        </p:nvCxnSpPr>
        <p:spPr>
          <a:xfrm>
            <a:off x="5380804" y="2364219"/>
            <a:ext cx="2922600" cy="1227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57" name="Google Shape;4357;p164"/>
          <p:cNvCxnSpPr>
            <a:stCxn id="4351" idx="6"/>
            <a:endCxn id="4358" idx="0"/>
          </p:cNvCxnSpPr>
          <p:nvPr/>
        </p:nvCxnSpPr>
        <p:spPr>
          <a:xfrm>
            <a:off x="6261049" y="1219373"/>
            <a:ext cx="2168400" cy="894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59" name="Google Shape;4359;p164"/>
          <p:cNvSpPr/>
          <p:nvPr/>
        </p:nvSpPr>
        <p:spPr>
          <a:xfrm>
            <a:off x="7242538" y="1094437"/>
            <a:ext cx="251700" cy="2499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d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360" name="Google Shape;4360;p164"/>
          <p:cNvCxnSpPr>
            <a:stCxn id="4351" idx="6"/>
            <a:endCxn id="4359" idx="2"/>
          </p:cNvCxnSpPr>
          <p:nvPr/>
        </p:nvCxnSpPr>
        <p:spPr>
          <a:xfrm>
            <a:off x="6261049" y="1219373"/>
            <a:ext cx="981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1" name="Google Shape;4361;p164"/>
          <p:cNvCxnSpPr>
            <a:stCxn id="4359" idx="5"/>
            <a:endCxn id="4358" idx="0"/>
          </p:cNvCxnSpPr>
          <p:nvPr/>
        </p:nvCxnSpPr>
        <p:spPr>
          <a:xfrm>
            <a:off x="7457377" y="1307740"/>
            <a:ext cx="972000" cy="806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62" name="Google Shape;4362;p164"/>
          <p:cNvSpPr/>
          <p:nvPr/>
        </p:nvSpPr>
        <p:spPr>
          <a:xfrm>
            <a:off x="6135247" y="4502018"/>
            <a:ext cx="251700" cy="249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g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363" name="Google Shape;4363;p164"/>
          <p:cNvCxnSpPr>
            <a:stCxn id="4362" idx="0"/>
            <a:endCxn id="4359" idx="4"/>
          </p:cNvCxnSpPr>
          <p:nvPr/>
        </p:nvCxnSpPr>
        <p:spPr>
          <a:xfrm flipH="1" rot="10800000">
            <a:off x="6261097" y="1344218"/>
            <a:ext cx="1107300" cy="3157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64" name="Google Shape;4364;p164"/>
          <p:cNvCxnSpPr>
            <a:stCxn id="4362" idx="0"/>
            <a:endCxn id="4354" idx="5"/>
          </p:cNvCxnSpPr>
          <p:nvPr/>
        </p:nvCxnSpPr>
        <p:spPr>
          <a:xfrm rot="10800000">
            <a:off x="5343997" y="2452718"/>
            <a:ext cx="917100" cy="2049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5" name="Google Shape;4365;p164"/>
          <p:cNvCxnSpPr>
            <a:stCxn id="4354" idx="7"/>
            <a:endCxn id="4359" idx="2"/>
          </p:cNvCxnSpPr>
          <p:nvPr/>
        </p:nvCxnSpPr>
        <p:spPr>
          <a:xfrm flipH="1" rot="10800000">
            <a:off x="5343943" y="1219266"/>
            <a:ext cx="1898700" cy="1056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358" name="Google Shape;4358;p164"/>
          <p:cNvSpPr/>
          <p:nvPr/>
        </p:nvSpPr>
        <p:spPr>
          <a:xfrm>
            <a:off x="8303464" y="2114360"/>
            <a:ext cx="251700" cy="2499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e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366" name="Google Shape;4366;p164"/>
          <p:cNvCxnSpPr>
            <a:stCxn id="4352" idx="0"/>
            <a:endCxn id="4358" idx="4"/>
          </p:cNvCxnSpPr>
          <p:nvPr/>
        </p:nvCxnSpPr>
        <p:spPr>
          <a:xfrm rot="10800000">
            <a:off x="8429314" y="2364337"/>
            <a:ext cx="0" cy="1102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367" name="Google Shape;4367;p164"/>
          <p:cNvSpPr/>
          <p:nvPr/>
        </p:nvSpPr>
        <p:spPr>
          <a:xfrm>
            <a:off x="5129091" y="3500373"/>
            <a:ext cx="251700" cy="249900"/>
          </a:xfrm>
          <a:prstGeom prst="ellipse">
            <a:avLst/>
          </a:prstGeom>
          <a:solidFill>
            <a:srgbClr val="B4A7D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f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368" name="Google Shape;4368;p164"/>
          <p:cNvCxnSpPr>
            <a:stCxn id="4352" idx="2"/>
            <a:endCxn id="4367" idx="6"/>
          </p:cNvCxnSpPr>
          <p:nvPr/>
        </p:nvCxnSpPr>
        <p:spPr>
          <a:xfrm flipH="1">
            <a:off x="5380864" y="3591487"/>
            <a:ext cx="2922600" cy="33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9" name="Google Shape;4369;p164"/>
          <p:cNvCxnSpPr>
            <a:stCxn id="4367" idx="6"/>
            <a:endCxn id="4358" idx="2"/>
          </p:cNvCxnSpPr>
          <p:nvPr/>
        </p:nvCxnSpPr>
        <p:spPr>
          <a:xfrm flipH="1" rot="10800000">
            <a:off x="5380791" y="2239323"/>
            <a:ext cx="2922600" cy="138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70" name="Google Shape;4370;p164"/>
          <p:cNvCxnSpPr>
            <a:stCxn id="4367" idx="5"/>
            <a:endCxn id="4359" idx="3"/>
          </p:cNvCxnSpPr>
          <p:nvPr/>
        </p:nvCxnSpPr>
        <p:spPr>
          <a:xfrm flipH="1" rot="10800000">
            <a:off x="5343930" y="1307676"/>
            <a:ext cx="1935600" cy="240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71" name="Google Shape;4371;p164"/>
          <p:cNvCxnSpPr>
            <a:stCxn id="4367" idx="6"/>
            <a:endCxn id="4372" idx="1"/>
          </p:cNvCxnSpPr>
          <p:nvPr/>
        </p:nvCxnSpPr>
        <p:spPr>
          <a:xfrm>
            <a:off x="5380791" y="3625323"/>
            <a:ext cx="1976700" cy="913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3" name="Google Shape;4373;p164"/>
          <p:cNvCxnSpPr>
            <a:stCxn id="4372" idx="0"/>
            <a:endCxn id="4359" idx="4"/>
          </p:cNvCxnSpPr>
          <p:nvPr/>
        </p:nvCxnSpPr>
        <p:spPr>
          <a:xfrm rot="10800000">
            <a:off x="7368253" y="1344224"/>
            <a:ext cx="78300" cy="3157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74" name="Google Shape;4374;p164"/>
          <p:cNvCxnSpPr>
            <a:stCxn id="4358" idx="2"/>
            <a:endCxn id="4354" idx="6"/>
          </p:cNvCxnSpPr>
          <p:nvPr/>
        </p:nvCxnSpPr>
        <p:spPr>
          <a:xfrm flipH="1">
            <a:off x="5380864" y="2239310"/>
            <a:ext cx="2922600" cy="124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372" name="Google Shape;4372;p164"/>
          <p:cNvSpPr/>
          <p:nvPr/>
        </p:nvSpPr>
        <p:spPr>
          <a:xfrm>
            <a:off x="7320703" y="4502024"/>
            <a:ext cx="251700" cy="249900"/>
          </a:xfrm>
          <a:prstGeom prst="ellipse">
            <a:avLst/>
          </a:prstGeom>
          <a:solidFill>
            <a:srgbClr val="B4A7D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h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375" name="Google Shape;4375;p164"/>
          <p:cNvCxnSpPr>
            <a:stCxn id="4358" idx="4"/>
            <a:endCxn id="4372" idx="0"/>
          </p:cNvCxnSpPr>
          <p:nvPr/>
        </p:nvCxnSpPr>
        <p:spPr>
          <a:xfrm flipH="1">
            <a:off x="7446514" y="2364260"/>
            <a:ext cx="982800" cy="2137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76" name="Google Shape;4376;p164"/>
          <p:cNvCxnSpPr>
            <a:stCxn id="4372" idx="1"/>
            <a:endCxn id="4354" idx="5"/>
          </p:cNvCxnSpPr>
          <p:nvPr/>
        </p:nvCxnSpPr>
        <p:spPr>
          <a:xfrm rot="10800000">
            <a:off x="5343963" y="2452721"/>
            <a:ext cx="2013600" cy="2085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graphicFrame>
        <p:nvGraphicFramePr>
          <p:cNvPr id="4377" name="Google Shape;4377;p164"/>
          <p:cNvGraphicFramePr/>
          <p:nvPr/>
        </p:nvGraphicFramePr>
        <p:xfrm>
          <a:off x="788888" y="13985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{3773FF8F-8FC9-4D74-9ADC-7274F113E1BC}</a:tableStyleId>
              </a:tblPr>
              <a:tblGrid>
                <a:gridCol w="352775"/>
                <a:gridCol w="352775"/>
                <a:gridCol w="352775"/>
                <a:gridCol w="352775"/>
                <a:gridCol w="352775"/>
                <a:gridCol w="352775"/>
                <a:gridCol w="352775"/>
                <a:gridCol w="352775"/>
                <a:gridCol w="352775"/>
              </a:tblGrid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a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d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e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c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g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f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b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h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a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d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e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c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g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336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f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</a:tr>
              <a:tr h="336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b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</a:tr>
              <a:tr h="336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h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</a:tr>
            </a:tbl>
          </a:graphicData>
        </a:graphic>
      </p:graphicFrame>
      <p:sp>
        <p:nvSpPr>
          <p:cNvPr id="4378" name="Google Shape;4378;p164"/>
          <p:cNvSpPr/>
          <p:nvPr/>
        </p:nvSpPr>
        <p:spPr>
          <a:xfrm>
            <a:off x="1141675" y="1738325"/>
            <a:ext cx="1058400" cy="1019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79" name="Google Shape;4379;p164"/>
          <p:cNvSpPr/>
          <p:nvPr/>
        </p:nvSpPr>
        <p:spPr>
          <a:xfrm>
            <a:off x="2200000" y="2757725"/>
            <a:ext cx="705600" cy="679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80" name="Google Shape;4380;p164"/>
          <p:cNvSpPr/>
          <p:nvPr/>
        </p:nvSpPr>
        <p:spPr>
          <a:xfrm>
            <a:off x="2905550" y="3437225"/>
            <a:ext cx="1058400" cy="1019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4" name="Shape 4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5" name="Google Shape;4385;p16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balance to clustering</a:t>
            </a:r>
            <a:endParaRPr/>
          </a:p>
        </p:txBody>
      </p:sp>
      <p:sp>
        <p:nvSpPr>
          <p:cNvPr id="4386" name="Google Shape;4386;p165"/>
          <p:cNvSpPr/>
          <p:nvPr/>
        </p:nvSpPr>
        <p:spPr>
          <a:xfrm>
            <a:off x="6009349" y="1094423"/>
            <a:ext cx="251700" cy="2499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a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387" name="Google Shape;4387;p165"/>
          <p:cNvSpPr/>
          <p:nvPr/>
        </p:nvSpPr>
        <p:spPr>
          <a:xfrm>
            <a:off x="8303464" y="3466537"/>
            <a:ext cx="251700" cy="249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b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388" name="Google Shape;4388;p165"/>
          <p:cNvCxnSpPr>
            <a:stCxn id="4386" idx="4"/>
            <a:endCxn id="4387" idx="2"/>
          </p:cNvCxnSpPr>
          <p:nvPr/>
        </p:nvCxnSpPr>
        <p:spPr>
          <a:xfrm>
            <a:off x="6135199" y="1344323"/>
            <a:ext cx="2168400" cy="2247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389" name="Google Shape;4389;p165"/>
          <p:cNvSpPr/>
          <p:nvPr/>
        </p:nvSpPr>
        <p:spPr>
          <a:xfrm>
            <a:off x="5129104" y="2239269"/>
            <a:ext cx="251700" cy="249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c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390" name="Google Shape;4390;p165"/>
          <p:cNvCxnSpPr>
            <a:stCxn id="4386" idx="3"/>
            <a:endCxn id="4389" idx="0"/>
          </p:cNvCxnSpPr>
          <p:nvPr/>
        </p:nvCxnSpPr>
        <p:spPr>
          <a:xfrm flipH="1">
            <a:off x="5254809" y="1307726"/>
            <a:ext cx="791400" cy="931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91" name="Google Shape;4391;p165"/>
          <p:cNvCxnSpPr>
            <a:stCxn id="4389" idx="6"/>
            <a:endCxn id="4387" idx="2"/>
          </p:cNvCxnSpPr>
          <p:nvPr/>
        </p:nvCxnSpPr>
        <p:spPr>
          <a:xfrm>
            <a:off x="5380804" y="2364219"/>
            <a:ext cx="2922600" cy="1227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92" name="Google Shape;4392;p165"/>
          <p:cNvCxnSpPr>
            <a:stCxn id="4386" idx="6"/>
            <a:endCxn id="4393" idx="0"/>
          </p:cNvCxnSpPr>
          <p:nvPr/>
        </p:nvCxnSpPr>
        <p:spPr>
          <a:xfrm>
            <a:off x="6261049" y="1219373"/>
            <a:ext cx="2168400" cy="894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94" name="Google Shape;4394;p165"/>
          <p:cNvSpPr/>
          <p:nvPr/>
        </p:nvSpPr>
        <p:spPr>
          <a:xfrm>
            <a:off x="7242538" y="1094437"/>
            <a:ext cx="251700" cy="2499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d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395" name="Google Shape;4395;p165"/>
          <p:cNvCxnSpPr>
            <a:stCxn id="4386" idx="6"/>
            <a:endCxn id="4394" idx="2"/>
          </p:cNvCxnSpPr>
          <p:nvPr/>
        </p:nvCxnSpPr>
        <p:spPr>
          <a:xfrm>
            <a:off x="6261049" y="1219373"/>
            <a:ext cx="981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6" name="Google Shape;4396;p165"/>
          <p:cNvCxnSpPr>
            <a:stCxn id="4394" idx="5"/>
            <a:endCxn id="4393" idx="0"/>
          </p:cNvCxnSpPr>
          <p:nvPr/>
        </p:nvCxnSpPr>
        <p:spPr>
          <a:xfrm>
            <a:off x="7457377" y="1307740"/>
            <a:ext cx="972000" cy="806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97" name="Google Shape;4397;p165"/>
          <p:cNvSpPr/>
          <p:nvPr/>
        </p:nvSpPr>
        <p:spPr>
          <a:xfrm>
            <a:off x="6135247" y="4502018"/>
            <a:ext cx="251700" cy="2499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g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398" name="Google Shape;4398;p165"/>
          <p:cNvCxnSpPr>
            <a:stCxn id="4397" idx="0"/>
            <a:endCxn id="4394" idx="4"/>
          </p:cNvCxnSpPr>
          <p:nvPr/>
        </p:nvCxnSpPr>
        <p:spPr>
          <a:xfrm flipH="1" rot="10800000">
            <a:off x="6261097" y="1344218"/>
            <a:ext cx="1107300" cy="3157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99" name="Google Shape;4399;p165"/>
          <p:cNvCxnSpPr>
            <a:stCxn id="4397" idx="0"/>
            <a:endCxn id="4389" idx="5"/>
          </p:cNvCxnSpPr>
          <p:nvPr/>
        </p:nvCxnSpPr>
        <p:spPr>
          <a:xfrm rot="10800000">
            <a:off x="5343997" y="2452718"/>
            <a:ext cx="917100" cy="2049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0" name="Google Shape;4400;p165"/>
          <p:cNvCxnSpPr>
            <a:stCxn id="4389" idx="7"/>
            <a:endCxn id="4394" idx="2"/>
          </p:cNvCxnSpPr>
          <p:nvPr/>
        </p:nvCxnSpPr>
        <p:spPr>
          <a:xfrm flipH="1" rot="10800000">
            <a:off x="5343943" y="1219266"/>
            <a:ext cx="1898700" cy="1056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393" name="Google Shape;4393;p165"/>
          <p:cNvSpPr/>
          <p:nvPr/>
        </p:nvSpPr>
        <p:spPr>
          <a:xfrm>
            <a:off x="8303464" y="2114360"/>
            <a:ext cx="251700" cy="2499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e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401" name="Google Shape;4401;p165"/>
          <p:cNvCxnSpPr>
            <a:stCxn id="4387" idx="0"/>
            <a:endCxn id="4393" idx="4"/>
          </p:cNvCxnSpPr>
          <p:nvPr/>
        </p:nvCxnSpPr>
        <p:spPr>
          <a:xfrm rot="10800000">
            <a:off x="8429314" y="2364337"/>
            <a:ext cx="0" cy="1102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402" name="Google Shape;4402;p165"/>
          <p:cNvSpPr/>
          <p:nvPr/>
        </p:nvSpPr>
        <p:spPr>
          <a:xfrm>
            <a:off x="5129091" y="3500373"/>
            <a:ext cx="251700" cy="2499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f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403" name="Google Shape;4403;p165"/>
          <p:cNvCxnSpPr>
            <a:stCxn id="4387" idx="2"/>
            <a:endCxn id="4402" idx="6"/>
          </p:cNvCxnSpPr>
          <p:nvPr/>
        </p:nvCxnSpPr>
        <p:spPr>
          <a:xfrm flipH="1">
            <a:off x="5380864" y="3591487"/>
            <a:ext cx="2922600" cy="33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4" name="Google Shape;4404;p165"/>
          <p:cNvCxnSpPr>
            <a:stCxn id="4402" idx="6"/>
            <a:endCxn id="4393" idx="2"/>
          </p:cNvCxnSpPr>
          <p:nvPr/>
        </p:nvCxnSpPr>
        <p:spPr>
          <a:xfrm flipH="1" rot="10800000">
            <a:off x="5380791" y="2239323"/>
            <a:ext cx="2922600" cy="138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405" name="Google Shape;4405;p165"/>
          <p:cNvCxnSpPr>
            <a:stCxn id="4402" idx="5"/>
            <a:endCxn id="4394" idx="3"/>
          </p:cNvCxnSpPr>
          <p:nvPr/>
        </p:nvCxnSpPr>
        <p:spPr>
          <a:xfrm flipH="1" rot="10800000">
            <a:off x="5343930" y="1307676"/>
            <a:ext cx="1935600" cy="240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406" name="Google Shape;4406;p165"/>
          <p:cNvCxnSpPr>
            <a:stCxn id="4402" idx="6"/>
            <a:endCxn id="4407" idx="1"/>
          </p:cNvCxnSpPr>
          <p:nvPr/>
        </p:nvCxnSpPr>
        <p:spPr>
          <a:xfrm>
            <a:off x="5380791" y="3625323"/>
            <a:ext cx="1976700" cy="913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8" name="Google Shape;4408;p165"/>
          <p:cNvCxnSpPr>
            <a:stCxn id="4407" idx="0"/>
            <a:endCxn id="4394" idx="4"/>
          </p:cNvCxnSpPr>
          <p:nvPr/>
        </p:nvCxnSpPr>
        <p:spPr>
          <a:xfrm rot="10800000">
            <a:off x="7368253" y="1344224"/>
            <a:ext cx="78300" cy="3157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409" name="Google Shape;4409;p165"/>
          <p:cNvCxnSpPr>
            <a:stCxn id="4393" idx="2"/>
            <a:endCxn id="4389" idx="6"/>
          </p:cNvCxnSpPr>
          <p:nvPr/>
        </p:nvCxnSpPr>
        <p:spPr>
          <a:xfrm flipH="1">
            <a:off x="5380864" y="2239310"/>
            <a:ext cx="2922600" cy="124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407" name="Google Shape;4407;p165"/>
          <p:cNvSpPr/>
          <p:nvPr/>
        </p:nvSpPr>
        <p:spPr>
          <a:xfrm>
            <a:off x="7320703" y="4502024"/>
            <a:ext cx="251700" cy="2499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h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410" name="Google Shape;4410;p165"/>
          <p:cNvCxnSpPr>
            <a:stCxn id="4393" idx="4"/>
            <a:endCxn id="4407" idx="0"/>
          </p:cNvCxnSpPr>
          <p:nvPr/>
        </p:nvCxnSpPr>
        <p:spPr>
          <a:xfrm flipH="1">
            <a:off x="7446514" y="2364260"/>
            <a:ext cx="982800" cy="2137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411" name="Google Shape;4411;p165"/>
          <p:cNvCxnSpPr>
            <a:stCxn id="4407" idx="1"/>
            <a:endCxn id="4389" idx="5"/>
          </p:cNvCxnSpPr>
          <p:nvPr/>
        </p:nvCxnSpPr>
        <p:spPr>
          <a:xfrm rot="10800000">
            <a:off x="5343963" y="2452721"/>
            <a:ext cx="2013600" cy="2085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graphicFrame>
        <p:nvGraphicFramePr>
          <p:cNvPr id="4412" name="Google Shape;4412;p165"/>
          <p:cNvGraphicFramePr/>
          <p:nvPr/>
        </p:nvGraphicFramePr>
        <p:xfrm>
          <a:off x="788888" y="13985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{3773FF8F-8FC9-4D74-9ADC-7274F113E1BC}</a:tableStyleId>
              </a:tblPr>
              <a:tblGrid>
                <a:gridCol w="352775"/>
                <a:gridCol w="352775"/>
                <a:gridCol w="352775"/>
                <a:gridCol w="352775"/>
                <a:gridCol w="352775"/>
                <a:gridCol w="352775"/>
                <a:gridCol w="352775"/>
                <a:gridCol w="352775"/>
                <a:gridCol w="352775"/>
              </a:tblGrid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Open Sans Medium"/>
                        <a:ea typeface="Open Sans Medium"/>
                        <a:cs typeface="Open Sans Medium"/>
                        <a:sym typeface="Open Sans Medium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a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d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e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c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g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f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b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h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a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d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e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c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g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f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b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h</a:t>
                      </a:r>
                      <a:endParaRPr sz="1600"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-1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</a:rPr>
                        <a:t>1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--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413" name="Google Shape;4413;p165"/>
          <p:cNvSpPr/>
          <p:nvPr/>
        </p:nvSpPr>
        <p:spPr>
          <a:xfrm>
            <a:off x="1141675" y="1738325"/>
            <a:ext cx="1058400" cy="1019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14" name="Google Shape;4414;p165"/>
          <p:cNvSpPr/>
          <p:nvPr/>
        </p:nvSpPr>
        <p:spPr>
          <a:xfrm>
            <a:off x="2200000" y="2757725"/>
            <a:ext cx="705600" cy="679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15" name="Google Shape;4415;p165"/>
          <p:cNvSpPr/>
          <p:nvPr/>
        </p:nvSpPr>
        <p:spPr>
          <a:xfrm>
            <a:off x="2905600" y="3437225"/>
            <a:ext cx="1058400" cy="1019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