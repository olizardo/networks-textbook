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715000" cx="9144000"/>
  <p:notesSz cx="6858000" cy="9144000"/>
  <p:embeddedFontLst>
    <p:embeddedFont>
      <p:font typeface="Josefin Slab"/>
      <p:regular r:id="rId43"/>
      <p:bold r:id="rId44"/>
      <p:italic r:id="rId45"/>
      <p:boldItalic r:id="rId46"/>
    </p:embeddedFont>
    <p:embeddedFont>
      <p:font typeface="Economica"/>
      <p:regular r:id="rId47"/>
      <p:bold r:id="rId48"/>
      <p:italic r:id="rId49"/>
      <p:boldItalic r:id="rId50"/>
    </p:embeddedFont>
    <p:embeddedFont>
      <p:font typeface="Junge"/>
      <p:regular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C113DF-C96B-4008-8ED6-447DA292331C}">
  <a:tblStyle styleId="{50C113DF-C96B-4008-8ED6-447DA29233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JosefinSlab-bold.fntdata"/><Relationship Id="rId43" Type="http://schemas.openxmlformats.org/officeDocument/2006/relationships/font" Target="fonts/JosefinSlab-regular.fntdata"/><Relationship Id="rId46" Type="http://schemas.openxmlformats.org/officeDocument/2006/relationships/font" Target="fonts/JosefinSlab-boldItalic.fntdata"/><Relationship Id="rId45" Type="http://schemas.openxmlformats.org/officeDocument/2006/relationships/font" Target="fonts/JosefinSlab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Economica-bold.fntdata"/><Relationship Id="rId47" Type="http://schemas.openxmlformats.org/officeDocument/2006/relationships/font" Target="fonts/Economica-regular.fntdata"/><Relationship Id="rId49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Junge-regular.fntdata"/><Relationship Id="rId50" Type="http://schemas.openxmlformats.org/officeDocument/2006/relationships/font" Target="fonts/Economica-bold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aec11e1a_0_5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aaec11e1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f6df2b_04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f6df2b_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f6df2b_05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f6df2b_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f6df2b_06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f6df2b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f6df2b_01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0f6df2b_0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aec11e1a_0_6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aec11e1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aec11e1a_0_7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aaec11e1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f6df2b_07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f6df2b_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Contagion no network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b26b6347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b26b63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8b49d0ad_0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8b49d0ad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ab26b6347_2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ab26b634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f6df2b_024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0f6df2b_0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aaec11e1a_0_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aaec11e1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aec11e1a_0_10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aec11e1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8b49d0ad_024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8b49d0ad_0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ff51a95e9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4ff51a95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0f6df2b_010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0f6df2b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b26b6347_0_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ab26b63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ab26b6347_0_1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ab26b63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b26b6347_0_1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ab26b634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ab26b6347_0_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ab26b634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b26b6347_0_12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ab26b634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ab26b6347_0_12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ab26b634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b26b6347_0_3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ab26b634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0f6df2b_011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0f6df2b_0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0f6df2b_01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0f6df2b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0f6df2b_01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0f6df2b_0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48b49d0ad_03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48b49d0ad_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0f6df2b_015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0f6df2b_0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0f6df2b_014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0f6df2b_0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aaec11e1a_0_1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aaec11e1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8b49d0ad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48b49d0a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48b90f72c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48b90f72c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48b90f72c_0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48b90f72c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aaec11e1a_0_9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aaec11e1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48b90f72c_0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48b90f72c_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0f6df2b_05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0f6df2b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nature.com/articles/srep00197.pdf" TargetMode="External"/><Relationship Id="rId4" Type="http://schemas.openxmlformats.org/officeDocument/2006/relationships/image" Target="../media/image9.jpg"/><Relationship Id="rId5" Type="http://schemas.openxmlformats.org/officeDocument/2006/relationships/hyperlink" Target="https://www.nature.com/articles/srep00197.pdf" TargetMode="External"/><Relationship Id="rId6" Type="http://schemas.openxmlformats.org/officeDocument/2006/relationships/hyperlink" Target="https://www.nature.com/articles/srep00197.pdf" TargetMode="External"/><Relationship Id="rId7" Type="http://schemas.openxmlformats.org/officeDocument/2006/relationships/hyperlink" Target="https://www.nature.com/articles/srep00197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modelingcommons.org/browse/one_model/4784#model_tabs_browse_nlw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hyperlink" Target="http://timkastelle.org/blog/2012/02/two-problems-caused-by-the-innovation-diffusion-curve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theatlantic.com/technology/archive/2012/04/the-100-year-march-of-technology-in-1-graph/255573/" TargetMode="External"/><Relationship Id="rId4" Type="http://schemas.openxmlformats.org/officeDocument/2006/relationships/image" Target="../media/image8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145149"/>
            <a:ext cx="3054600" cy="255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Elements of diffusion: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Actors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Usually people but also groups, organizations, etc.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Flow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From </a:t>
            </a:r>
            <a:r>
              <a:rPr b="1" lang="en"/>
              <a:t>source</a:t>
            </a:r>
            <a:r>
              <a:rPr lang="en"/>
              <a:t> to </a:t>
            </a:r>
            <a:r>
              <a:rPr b="1" lang="en"/>
              <a:t>adopter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Mechanism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Imitation, influence, transfer, etc.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i="1" lang="en">
                <a:solidFill>
                  <a:srgbClr val="000000"/>
                </a:solidFill>
              </a:rPr>
              <a:t>Outcome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Adoption, conversion, infection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361350"/>
            <a:ext cx="57894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Factors Accounting for Why Things Spread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object being diffused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Familiar/unfamiliar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risk (consequential) v. low risk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Cost/benefit ratio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source and adopter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 versus collective actor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status v. Low status actor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 v. dissimilar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Environmental Context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Proximity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Structure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41-keJ%2BHgjL._SX320_BO1,204,203,200_.jpg"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100" y="1221399"/>
            <a:ext cx="2495234" cy="38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361350"/>
            <a:ext cx="60297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cohesion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(Coleman et al 1966)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opinion leaders (two-step)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(Katz and Lazarsfeld 1966; Rogers 1962)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positional equivalence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(Burt 1987)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long (weak) 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1973)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and Network Threshold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and Soong 1983; Valente 1995)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 Contagion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(Centora and Macy 2007)</a:t>
            </a:r>
            <a:endParaRPr/>
          </a:p>
        </p:txBody>
      </p:sp>
      <p:pic>
        <p:nvPicPr>
          <p:cNvPr descr="51ab1b9uzLL._SY344_BO1,204,203,200_.jpg"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375" y="1318037"/>
            <a:ext cx="2490915" cy="38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361350"/>
            <a:ext cx="39879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-shapedcurve.jpg" id="89" name="Google Shape;89;p17"/>
          <p:cNvPicPr preferRelativeResize="0"/>
          <p:nvPr/>
        </p:nvPicPr>
        <p:blipFill rotWithShape="1">
          <a:blip r:embed="rId3">
            <a:alphaModFix/>
          </a:blip>
          <a:srcRect b="4591" l="3166" r="3157" t="3599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361350"/>
            <a:ext cx="3846300" cy="3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025" y="1296387"/>
            <a:ext cx="3594070" cy="356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311700" y="4859750"/>
            <a:ext cx="8520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Ryan, B. and N.C. Gross (1943) The Diffusion of Hybrid Seed Corn in Two Iowa Communities, </a:t>
            </a:r>
            <a:r>
              <a:rPr i="1" lang="en"/>
              <a:t>Rural Sociology</a:t>
            </a:r>
            <a:r>
              <a:rPr lang="en"/>
              <a:t>, 8: 15-24.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361350"/>
            <a:ext cx="38463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rep00197-f1.jpg" id="104" name="Google Shape;104;p1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900" y="1576938"/>
            <a:ext cx="4674300" cy="32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11700" y="4812175"/>
            <a:ext cx="8469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González-Bailón, S., Borge-Holthoefer, J., Rivero, A., &amp; Moreno, Y. (2011). The dynamics of protest recruitment through an online network. </a:t>
            </a:r>
            <a:r>
              <a:rPr i="1" lang="en" u="sng">
                <a:solidFill>
                  <a:schemeClr val="hlink"/>
                </a:solidFill>
                <a:hlinkClick r:id="rId6"/>
              </a:rPr>
              <a:t>Scientific Reports</a:t>
            </a:r>
            <a:r>
              <a:rPr lang="en" u="sng">
                <a:solidFill>
                  <a:schemeClr val="hlink"/>
                </a:solidFill>
                <a:hlinkClick r:id="rId7"/>
              </a:rPr>
              <a:t>, 1, 197.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361350"/>
            <a:ext cx="41274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(i) adopts when the proportion of people who have adopted (p) is equal to q(i)</a:t>
            </a:r>
            <a:endParaRPr/>
          </a:p>
        </p:txBody>
      </p:sp>
      <p:pic>
        <p:nvPicPr>
          <p:cNvPr descr="s-shapedcurve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4591" l="3166" r="3157" t="3599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361350"/>
            <a:ext cx="41274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adopts when the proportion of people who have adopted (p) = q(i)</a:t>
            </a:r>
            <a:endParaRPr/>
          </a:p>
        </p:txBody>
      </p:sp>
      <p:pic>
        <p:nvPicPr>
          <p:cNvPr descr="s-shapedcurve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4591" l="3166" r="3157" t="3599"/>
          <a:stretch/>
        </p:blipFill>
        <p:spPr>
          <a:xfrm>
            <a:off x="4299600" y="1526188"/>
            <a:ext cx="4481601" cy="33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high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Low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as the majority of middle q people join in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again as the last few high q people finally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Variance in thresholds across people explains the typical S-shaped pattern of cumulative adoptions with initial slow uptake, rapid spread and slow saturation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low</a:t>
            </a:r>
            <a:r>
              <a:rPr lang="en"/>
              <a:t> thresholds are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early</a:t>
            </a:r>
            <a:r>
              <a:rPr lang="en"/>
              <a:t> adopters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with </a:t>
            </a:r>
            <a:r>
              <a:rPr b="1" lang="en"/>
              <a:t>high</a:t>
            </a:r>
            <a:r>
              <a:rPr lang="en"/>
              <a:t> thresholds are </a:t>
            </a:r>
            <a:r>
              <a:rPr b="1" lang="en"/>
              <a:t>risk</a:t>
            </a:r>
            <a:r>
              <a:rPr lang="en"/>
              <a:t> </a:t>
            </a:r>
            <a:r>
              <a:rPr b="1" lang="en"/>
              <a:t>averse</a:t>
            </a:r>
            <a:r>
              <a:rPr lang="en"/>
              <a:t> </a:t>
            </a:r>
            <a:r>
              <a:rPr b="1" lang="en"/>
              <a:t>late</a:t>
            </a:r>
            <a:r>
              <a:rPr lang="en"/>
              <a:t>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have different q values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high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Low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in the Middle (a bell curve)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explains the S-shaped pattern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Faster as the majority of middle q people join in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Slow again as the last few high q people finally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Shape of the threshold distribution</a:t>
            </a:r>
            <a:r>
              <a:rPr lang="en"/>
              <a:t> determines the time to (or whether) the cascade becomes global (everybody adopts)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Uniform, bell-shaped, skewed, etc.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1475425" y="2515946"/>
            <a:ext cx="14619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Tipping point</a:t>
            </a:r>
            <a:endParaRPr b="1"/>
          </a:p>
        </p:txBody>
      </p:sp>
      <p:cxnSp>
        <p:nvCxnSpPr>
          <p:cNvPr id="147" name="Google Shape;147;p25"/>
          <p:cNvCxnSpPr>
            <a:stCxn id="146" idx="2"/>
          </p:cNvCxnSpPr>
          <p:nvPr/>
        </p:nvCxnSpPr>
        <p:spPr>
          <a:xfrm>
            <a:off x="2206375" y="2914346"/>
            <a:ext cx="1099800" cy="103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274731"/>
            <a:ext cx="5056223" cy="352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9500" y="4687700"/>
            <a:ext cx="85206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cxnSp>
        <p:nvCxnSpPr>
          <p:cNvPr id="155" name="Google Shape;155;p26"/>
          <p:cNvCxnSpPr>
            <a:stCxn id="156" idx="2"/>
          </p:cNvCxnSpPr>
          <p:nvPr/>
        </p:nvCxnSpPr>
        <p:spPr>
          <a:xfrm>
            <a:off x="2255175" y="3139599"/>
            <a:ext cx="818700" cy="1001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6"/>
          <p:cNvSpPr txBox="1"/>
          <p:nvPr/>
        </p:nvSpPr>
        <p:spPr>
          <a:xfrm>
            <a:off x="958425" y="2355099"/>
            <a:ext cx="2593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Failed Innovations die before reaching the tipping point</a:t>
            </a:r>
            <a:endParaRPr b="1"/>
          </a:p>
        </p:txBody>
      </p:sp>
      <p:sp>
        <p:nvSpPr>
          <p:cNvPr id="157" name="Google Shape;157;p26"/>
          <p:cNvSpPr/>
          <p:nvPr/>
        </p:nvSpPr>
        <p:spPr>
          <a:xfrm>
            <a:off x="2255175" y="3931650"/>
            <a:ext cx="1296817" cy="269352"/>
          </a:xfrm>
          <a:custGeom>
            <a:rect b="b" l="l" r="r" t="t"/>
            <a:pathLst>
              <a:path extrusionOk="0" h="12181" w="71039">
                <a:moveTo>
                  <a:pt x="0" y="10541"/>
                </a:moveTo>
                <a:cubicBezTo>
                  <a:pt x="3188" y="10177"/>
                  <a:pt x="10565" y="10086"/>
                  <a:pt x="19126" y="8356"/>
                </a:cubicBezTo>
                <a:cubicBezTo>
                  <a:pt x="27687" y="6626"/>
                  <a:pt x="42715" y="-478"/>
                  <a:pt x="51367" y="159"/>
                </a:cubicBezTo>
                <a:cubicBezTo>
                  <a:pt x="60019" y="797"/>
                  <a:pt x="67760" y="10177"/>
                  <a:pt x="71039" y="12181"/>
                </a:cubicBezTo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idx="4294967295"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grpSp>
        <p:nvGrpSpPr>
          <p:cNvPr id="163" name="Google Shape;163;p27"/>
          <p:cNvGrpSpPr/>
          <p:nvPr/>
        </p:nvGrpSpPr>
        <p:grpSpPr>
          <a:xfrm>
            <a:off x="470125" y="1627192"/>
            <a:ext cx="6500650" cy="2460625"/>
            <a:chOff x="470125" y="1627192"/>
            <a:chExt cx="6500650" cy="2460625"/>
          </a:xfrm>
        </p:grpSpPr>
        <p:pic>
          <p:nvPicPr>
            <p:cNvPr descr="techadoptioncycle.png" id="164" name="Google Shape;16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0125" y="1627192"/>
              <a:ext cx="6318250" cy="246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27"/>
            <p:cNvSpPr txBox="1"/>
            <p:nvPr/>
          </p:nvSpPr>
          <p:spPr>
            <a:xfrm>
              <a:off x="5126375" y="2562558"/>
              <a:ext cx="18444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Area under the curve represents number of adopters</a:t>
              </a:r>
              <a:endParaRPr b="1"/>
            </a:p>
          </p:txBody>
        </p:sp>
      </p:grp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9500" y="4087825"/>
            <a:ext cx="8462100" cy="12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Kastelle, T (2012) Two Problems Caused by the Innovation Diffusion Curve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http://timkastelle.org/blog/2012/02/two-problems-caused-by-the-innovation-diffusion-curve/</a:t>
            </a:r>
            <a:r>
              <a:rPr lang="en"/>
              <a:t> (last accessed October 9th 2014)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457200" y="4856187"/>
            <a:ext cx="8229600" cy="6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Thompson, D. (2012) The 100-Year March of Technology in 1 Graph.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http://www.theatlantic.com/technology/archive/2012/04/the-100-year-march-of-technology-in-1-graph/255573/</a:t>
            </a:r>
            <a:r>
              <a:rPr lang="en"/>
              <a:t> (last accessed October 9th 2014)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history-of-products.gif" id="172" name="Google Shape;1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00" y="521977"/>
            <a:ext cx="8616376" cy="36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Innovators and Early adopters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greater than one standard deviation earlier than the average time-of-adoption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Early and late majorities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bounded by one  standard deviation earlier and later than the average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Laggards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 adopted later than one standard deviation from the average</a:t>
            </a:r>
            <a:endParaRPr/>
          </a:p>
        </p:txBody>
      </p:sp>
      <p:pic>
        <p:nvPicPr>
          <p:cNvPr descr="techadoptioncycle.png"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581" y="4004913"/>
            <a:ext cx="4161831" cy="126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Burt’s positional equivalence model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Reanalysis of Coleman et. al. (1957, 1966) study of diffusion of a new drug, tetracycline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Coleman claimed that diffusion patterns indicative of contagion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Burt hypothesized that structural equivalence could explain diffusion pattern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Study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4 Illinois cities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130 (of 152, 85%) general practitioners, internists, pediatricians (and 4 specialists)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pharmacy records used to code when physician first prescribed tetracycline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data from 2 name generators (advice and discuss) in physician surveys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 (influence) vs. Equivalence (similarity)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11700" y="1361350"/>
            <a:ext cx="5446200" cy="3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Equivalence (similar relations with same people) and Cohesion (via strong tie between ego and alter) predict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 but not Equivalence predicts restricted contagion (because of conflicting affiliations)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Equivalence predicts contagion via competition for status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proximity: can "see" alters behaviors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Cohesion:  communication, social proximity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Competition, relative standing: structural equivalence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similar physicians keeping up with each other</a:t>
            </a:r>
            <a:endParaRPr/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4775" y="1318038"/>
            <a:ext cx="2927522" cy="38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or Contagion?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3515525" y="1361350"/>
            <a:ext cx="5316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 = probability of adopting independently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= proportion who have not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(k) of adopting in each time period and for each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 function of exposure (p)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of adopting (k) but also adoption a function of number of others who have adopted.</a:t>
            </a:r>
            <a:endParaRPr/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1274721"/>
            <a:ext cx="3203817" cy="3943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Adoption Results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3694425" y="1361350"/>
            <a:ext cx="5137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Cohesion: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when ego adopts after alter adopts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Structural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when ego adopts after peers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both cases rate of adoption early on is higher than expected by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is not the only process at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early adoption rate indicative of diffusion without contagion</a:t>
            </a:r>
            <a:endParaRPr/>
          </a:p>
        </p:txBody>
      </p:sp>
      <p:pic>
        <p:nvPicPr>
          <p:cNvPr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9" y="1274717"/>
            <a:ext cx="3382724" cy="3925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457200" y="1333500"/>
            <a:ext cx="39174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between ego and alter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Equivalence: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Euclidean distance between ego and alter (d</a:t>
            </a:r>
            <a:r>
              <a:rPr baseline="-25000" lang="en"/>
              <a:t>ij</a:t>
            </a:r>
            <a:r>
              <a:rPr lang="en"/>
              <a:t>), i.e. how similar their patterns of ties are to others in the network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4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457200" y="1333500"/>
            <a:ext cx="39174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from regressions: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evidence of contagion from advisors and discussion partners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evidence of diffusion between month in which peers adopted (structurally equivalent doctors) and ego adopting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Personal factors determined adoption, i.e. predisposition to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independent of personal preference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5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361350"/>
            <a:ext cx="4105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not via contagion (adjacency) but equivalence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Why?  Relative standing competition.  Do not want to be a late adopter.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predisposition to adopt leads to critical mass needed to get diffusion by equivalence to take off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6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560311"/>
            <a:ext cx="4414749" cy="33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are appropriate for adoptions of behaviors that are public and observable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always the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make informational </a:t>
            </a:r>
            <a:r>
              <a:rPr lang="en"/>
              <a:t>demands</a:t>
            </a:r>
            <a:r>
              <a:rPr lang="en"/>
              <a:t> of individuals that are not always realistic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 must know the actual proportion of population who has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relaxes the assumption that persons have global information on all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only know what their direct contacts are doing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adopt when some </a:t>
            </a:r>
            <a:r>
              <a:rPr b="1" lang="en"/>
              <a:t>proportion of their contacts </a:t>
            </a:r>
            <a:r>
              <a:rPr lang="en"/>
              <a:t>adopt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appropriate for the adoption of practices, behaviors and ideas that entails some sort of risk or uncertainty (complex contagion)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311700" y="1361347"/>
            <a:ext cx="8520600" cy="13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person (i) has some exposure e(i)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e(i) = proportion of i’s friends who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proportion of neighbors who adopt equals q(i), ego adopts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grpSp>
        <p:nvGrpSpPr>
          <p:cNvPr id="240" name="Google Shape;240;p38"/>
          <p:cNvGrpSpPr/>
          <p:nvPr/>
        </p:nvGrpSpPr>
        <p:grpSpPr>
          <a:xfrm>
            <a:off x="1499095" y="2678480"/>
            <a:ext cx="6145825" cy="2728774"/>
            <a:chOff x="1220059" y="2522616"/>
            <a:chExt cx="6733675" cy="2890651"/>
          </a:xfrm>
        </p:grpSpPr>
        <p:grpSp>
          <p:nvGrpSpPr>
            <p:cNvPr id="241" name="Google Shape;241;p38"/>
            <p:cNvGrpSpPr/>
            <p:nvPr/>
          </p:nvGrpSpPr>
          <p:grpSpPr>
            <a:xfrm>
              <a:off x="1220059" y="2882081"/>
              <a:ext cx="2653290" cy="2531090"/>
              <a:chOff x="705384" y="2978581"/>
              <a:chExt cx="2653290" cy="2531090"/>
            </a:xfrm>
          </p:grpSpPr>
          <p:grpSp>
            <p:nvGrpSpPr>
              <p:cNvPr id="242" name="Google Shape;242;p38"/>
              <p:cNvGrpSpPr/>
              <p:nvPr/>
            </p:nvGrpSpPr>
            <p:grpSpPr>
              <a:xfrm>
                <a:off x="705385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43" name="Google Shape;243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" name="Google Shape;244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" name="Google Shape;245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48" name="Google Shape;248;p38"/>
                <p:cNvCxnSpPr>
                  <a:stCxn id="243" idx="7"/>
                  <a:endCxn id="24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" name="Google Shape;249;p38"/>
                <p:cNvCxnSpPr>
                  <a:stCxn id="243" idx="5"/>
                  <a:endCxn id="24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" name="Google Shape;250;p38"/>
                <p:cNvCxnSpPr>
                  <a:stCxn id="243" idx="1"/>
                  <a:endCxn id="24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" name="Google Shape;251;p38"/>
                <p:cNvCxnSpPr>
                  <a:stCxn id="243" idx="3"/>
                  <a:endCxn id="24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2" name="Google Shape;252;p38"/>
              <p:cNvGrpSpPr/>
              <p:nvPr/>
            </p:nvGrpSpPr>
            <p:grpSpPr>
              <a:xfrm>
                <a:off x="2354847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53" name="Google Shape;253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" name="Google Shape;254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" name="Google Shape;255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" name="Google Shape;256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" name="Google Shape;257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58" name="Google Shape;258;p38"/>
                <p:cNvCxnSpPr>
                  <a:stCxn id="253" idx="7"/>
                  <a:endCxn id="25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" name="Google Shape;259;p38"/>
                <p:cNvCxnSpPr>
                  <a:stCxn id="253" idx="5"/>
                  <a:endCxn id="25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" name="Google Shape;260;p38"/>
                <p:cNvCxnSpPr>
                  <a:stCxn id="253" idx="1"/>
                  <a:endCxn id="25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1" name="Google Shape;261;p38"/>
                <p:cNvCxnSpPr>
                  <a:stCxn id="253" idx="3"/>
                  <a:endCxn id="25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2" name="Google Shape;262;p38"/>
              <p:cNvGrpSpPr/>
              <p:nvPr/>
            </p:nvGrpSpPr>
            <p:grpSpPr>
              <a:xfrm>
                <a:off x="705384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63" name="Google Shape;263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68" name="Google Shape;268;p38"/>
                <p:cNvCxnSpPr>
                  <a:stCxn id="263" idx="7"/>
                  <a:endCxn id="26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" name="Google Shape;269;p38"/>
                <p:cNvCxnSpPr>
                  <a:stCxn id="263" idx="5"/>
                  <a:endCxn id="26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0" name="Google Shape;270;p38"/>
                <p:cNvCxnSpPr>
                  <a:stCxn id="263" idx="1"/>
                  <a:endCxn id="26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" name="Google Shape;271;p38"/>
                <p:cNvCxnSpPr>
                  <a:stCxn id="263" idx="3"/>
                  <a:endCxn id="26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72" name="Google Shape;272;p38"/>
              <p:cNvGrpSpPr/>
              <p:nvPr/>
            </p:nvGrpSpPr>
            <p:grpSpPr>
              <a:xfrm>
                <a:off x="2354847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273" name="Google Shape;273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78" name="Google Shape;278;p38"/>
                <p:cNvCxnSpPr>
                  <a:stCxn id="273" idx="7"/>
                  <a:endCxn id="27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9" name="Google Shape;279;p38"/>
                <p:cNvCxnSpPr>
                  <a:stCxn id="273" idx="5"/>
                  <a:endCxn id="27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0" name="Google Shape;280;p38"/>
                <p:cNvCxnSpPr>
                  <a:stCxn id="273" idx="1"/>
                  <a:endCxn id="27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1" name="Google Shape;281;p38"/>
                <p:cNvCxnSpPr>
                  <a:stCxn id="273" idx="3"/>
                  <a:endCxn id="27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2" name="Google Shape;282;p38"/>
              <p:cNvSpPr txBox="1"/>
              <p:nvPr/>
            </p:nvSpPr>
            <p:spPr>
              <a:xfrm>
                <a:off x="848600" y="385608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3" name="Google Shape;283;p38"/>
              <p:cNvSpPr txBox="1"/>
              <p:nvPr/>
            </p:nvSpPr>
            <p:spPr>
              <a:xfrm>
                <a:off x="2411490" y="3856081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4" name="Google Shape;284;p38"/>
              <p:cNvSpPr txBox="1"/>
              <p:nvPr/>
            </p:nvSpPr>
            <p:spPr>
              <a:xfrm>
                <a:off x="827263" y="5225271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85" name="Google Shape;285;p38"/>
              <p:cNvSpPr txBox="1"/>
              <p:nvPr/>
            </p:nvSpPr>
            <p:spPr>
              <a:xfrm>
                <a:off x="2422374" y="5225258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286" name="Google Shape;286;p38"/>
            <p:cNvSpPr txBox="1"/>
            <p:nvPr/>
          </p:nvSpPr>
          <p:spPr>
            <a:xfrm>
              <a:off x="1363264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Person 1: q = 0.25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  <p:grpSp>
          <p:nvGrpSpPr>
            <p:cNvPr id="287" name="Google Shape;287;p38"/>
            <p:cNvGrpSpPr/>
            <p:nvPr/>
          </p:nvGrpSpPr>
          <p:grpSpPr>
            <a:xfrm>
              <a:off x="5300632" y="2882213"/>
              <a:ext cx="2653102" cy="2531055"/>
              <a:chOff x="5911807" y="2978713"/>
              <a:chExt cx="2653102" cy="2531055"/>
            </a:xfrm>
          </p:grpSpPr>
          <p:grpSp>
            <p:nvGrpSpPr>
              <p:cNvPr id="288" name="Google Shape;288;p38"/>
              <p:cNvGrpSpPr/>
              <p:nvPr/>
            </p:nvGrpSpPr>
            <p:grpSpPr>
              <a:xfrm>
                <a:off x="5911808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289" name="Google Shape;289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94" name="Google Shape;294;p38"/>
                <p:cNvCxnSpPr>
                  <a:stCxn id="289" idx="7"/>
                  <a:endCxn id="29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5" name="Google Shape;295;p38"/>
                <p:cNvCxnSpPr>
                  <a:stCxn id="289" idx="5"/>
                  <a:endCxn id="29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6" name="Google Shape;296;p38"/>
                <p:cNvCxnSpPr>
                  <a:stCxn id="289" idx="1"/>
                  <a:endCxn id="29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" name="Google Shape;297;p38"/>
                <p:cNvCxnSpPr>
                  <a:stCxn id="289" idx="3"/>
                  <a:endCxn id="29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98" name="Google Shape;298;p38"/>
              <p:cNvGrpSpPr/>
              <p:nvPr/>
            </p:nvGrpSpPr>
            <p:grpSpPr>
              <a:xfrm>
                <a:off x="7529300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299" name="Google Shape;299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3" name="Google Shape;303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04" name="Google Shape;304;p38"/>
                <p:cNvCxnSpPr>
                  <a:stCxn id="299" idx="7"/>
                  <a:endCxn id="30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" name="Google Shape;305;p38"/>
                <p:cNvCxnSpPr>
                  <a:stCxn id="299" idx="5"/>
                  <a:endCxn id="30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" name="Google Shape;306;p38"/>
                <p:cNvCxnSpPr>
                  <a:stCxn id="299" idx="1"/>
                  <a:endCxn id="30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" name="Google Shape;307;p38"/>
                <p:cNvCxnSpPr>
                  <a:stCxn id="299" idx="3"/>
                  <a:endCxn id="30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8" name="Google Shape;308;p38"/>
              <p:cNvGrpSpPr/>
              <p:nvPr/>
            </p:nvGrpSpPr>
            <p:grpSpPr>
              <a:xfrm>
                <a:off x="5911807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309" name="Google Shape;309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14" name="Google Shape;314;p38"/>
                <p:cNvCxnSpPr>
                  <a:stCxn id="309" idx="7"/>
                  <a:endCxn id="31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" name="Google Shape;315;p38"/>
                <p:cNvCxnSpPr>
                  <a:stCxn id="309" idx="5"/>
                  <a:endCxn id="31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" name="Google Shape;316;p38"/>
                <p:cNvCxnSpPr>
                  <a:stCxn id="309" idx="1"/>
                  <a:endCxn id="31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7" name="Google Shape;317;p38"/>
                <p:cNvCxnSpPr>
                  <a:stCxn id="309" idx="3"/>
                  <a:endCxn id="31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18" name="Google Shape;318;p38"/>
              <p:cNvGrpSpPr/>
              <p:nvPr/>
            </p:nvGrpSpPr>
            <p:grpSpPr>
              <a:xfrm>
                <a:off x="7529299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319" name="Google Shape;319;p38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38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38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38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38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24" name="Google Shape;324;p38"/>
                <p:cNvCxnSpPr>
                  <a:stCxn id="319" idx="7"/>
                  <a:endCxn id="32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" name="Google Shape;325;p38"/>
                <p:cNvCxnSpPr>
                  <a:stCxn id="319" idx="5"/>
                  <a:endCxn id="32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" name="Google Shape;326;p38"/>
                <p:cNvCxnSpPr>
                  <a:stCxn id="319" idx="1"/>
                  <a:endCxn id="32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" name="Google Shape;327;p38"/>
                <p:cNvCxnSpPr>
                  <a:stCxn id="319" idx="3"/>
                  <a:endCxn id="32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28" name="Google Shape;328;p38"/>
              <p:cNvSpPr txBox="1"/>
              <p:nvPr/>
            </p:nvSpPr>
            <p:spPr>
              <a:xfrm>
                <a:off x="6033625" y="389125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29" name="Google Shape;329;p38"/>
              <p:cNvSpPr txBox="1"/>
              <p:nvPr/>
            </p:nvSpPr>
            <p:spPr>
              <a:xfrm>
                <a:off x="7577307" y="3856544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30" name="Google Shape;330;p38"/>
              <p:cNvSpPr txBox="1"/>
              <p:nvPr/>
            </p:nvSpPr>
            <p:spPr>
              <a:xfrm>
                <a:off x="6033638" y="5225354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331" name="Google Shape;331;p38"/>
              <p:cNvSpPr txBox="1"/>
              <p:nvPr/>
            </p:nvSpPr>
            <p:spPr>
              <a:xfrm>
                <a:off x="7577309" y="5225367"/>
                <a:ext cx="9876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332" name="Google Shape;332;p38"/>
            <p:cNvSpPr txBox="1"/>
            <p:nvPr/>
          </p:nvSpPr>
          <p:spPr>
            <a:xfrm>
              <a:off x="5443687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Person 2: q = 0.75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38" name="Google Shape;338;p3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before, everybody has a threshold q(i)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proportion of neighbors who have adopted equals q(i), the person adopts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then redefine adopter categories (e.g. innovators) as either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Whole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Ego-network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instance you can be an innovator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 relative laggard compared to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all of your friends are innovators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be a laggard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an innovator among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you are surrounded by even bigger laggards!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 txBox="1"/>
          <p:nvPr>
            <p:ph idx="1" type="body"/>
          </p:nvPr>
        </p:nvSpPr>
        <p:spPr>
          <a:xfrm>
            <a:off x="319500" y="4415450"/>
            <a:ext cx="8462100" cy="9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González-Bailón, S., Borge-Holthoefer, J., Rivero, A., &amp; Moreno, Y. (2011). The dynamics of protest recruitment through an online network. Nature Scientific reports, 1, 97.</a:t>
            </a:r>
            <a:endParaRPr/>
          </a:p>
        </p:txBody>
      </p:sp>
      <p:pic>
        <p:nvPicPr>
          <p:cNvPr descr="srep00197-f2.jpg" id="344" name="Google Shape;344;p40"/>
          <p:cNvPicPr preferRelativeResize="0"/>
          <p:nvPr/>
        </p:nvPicPr>
        <p:blipFill rotWithShape="1">
          <a:blip r:embed="rId3">
            <a:alphaModFix/>
          </a:blip>
          <a:srcRect b="51193" l="0" r="0" t="3544"/>
          <a:stretch/>
        </p:blipFill>
        <p:spPr>
          <a:xfrm>
            <a:off x="1102374" y="314201"/>
            <a:ext cx="6896351" cy="410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50" name="Google Shape;350;p41"/>
          <p:cNvSpPr txBox="1"/>
          <p:nvPr>
            <p:ph idx="1" type="body"/>
          </p:nvPr>
        </p:nvSpPr>
        <p:spPr>
          <a:xfrm>
            <a:off x="311700" y="1361343"/>
            <a:ext cx="8520600" cy="14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Revisiting the Roger’s classification using Valente’s model: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Who's an “opinion leader”?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adopters who convince those with high network thresholds (but similar system threshold) to adopt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1" name="Google Shape;351;p41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{50C113DF-C96B-4008-8ED6-447DA292331C}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52" name="Google Shape;352;p41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41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41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41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61" name="Google Shape;361;p42"/>
          <p:cNvSpPr txBox="1"/>
          <p:nvPr>
            <p:ph idx="1" type="body"/>
          </p:nvPr>
        </p:nvSpPr>
        <p:spPr>
          <a:xfrm>
            <a:off x="311700" y="1361357"/>
            <a:ext cx="85206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seems to reflect a Local/Cosmopolitan split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2" name="Google Shape;362;p42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{50C113DF-C96B-4008-8ED6-447DA292331C}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63" name="Google Shape;363;p42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42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42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372" name="Google Shape;372;p43"/>
          <p:cNvSpPr txBox="1"/>
          <p:nvPr>
            <p:ph idx="1" type="body"/>
          </p:nvPr>
        </p:nvSpPr>
        <p:spPr>
          <a:xfrm>
            <a:off x="311700" y="1361357"/>
            <a:ext cx="8520600" cy="14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Cosmopolitan innovators tend to be early adopters relative to the system and have very low threshold relative to their network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3" name="Google Shape;373;p43"/>
          <p:cNvGraphicFramePr/>
          <p:nvPr/>
        </p:nvGraphicFramePr>
        <p:xfrm>
          <a:off x="3606275" y="3429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{50C113DF-C96B-4008-8ED6-447DA292331C}</a:tableStyleId>
              </a:tblPr>
              <a:tblGrid>
                <a:gridCol w="2327250"/>
                <a:gridCol w="2327250"/>
              </a:tblGrid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  <a:tr h="7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76200" marB="76200" marR="91425" marL="91425" anchor="ctr"/>
                </a:tc>
              </a:tr>
            </a:tbl>
          </a:graphicData>
        </a:graphic>
      </p:graphicFrame>
      <p:sp>
        <p:nvSpPr>
          <p:cNvPr id="374" name="Google Shape;374;p43"/>
          <p:cNvSpPr txBox="1"/>
          <p:nvPr/>
        </p:nvSpPr>
        <p:spPr>
          <a:xfrm>
            <a:off x="2856575" y="3431600"/>
            <a:ext cx="7497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840825" y="3431599"/>
            <a:ext cx="206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43"/>
          <p:cNvSpPr txBox="1"/>
          <p:nvPr/>
        </p:nvSpPr>
        <p:spPr>
          <a:xfrm>
            <a:off x="3606275" y="2984650"/>
            <a:ext cx="465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43"/>
          <p:cNvSpPr txBox="1"/>
          <p:nvPr/>
        </p:nvSpPr>
        <p:spPr>
          <a:xfrm>
            <a:off x="3795575" y="2766238"/>
            <a:ext cx="446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findings of research on innovation diffusion</a:t>
            </a:r>
            <a:endParaRPr/>
          </a:p>
        </p:txBody>
      </p:sp>
      <p:sp>
        <p:nvSpPr>
          <p:cNvPr id="383" name="Google Shape;383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Early adopters (innovators, opinion leaders) are well-connected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Central, well-integrated, prominent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 connected persons more likely to adopt innovations with low cost/benefit ratios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Peripheral persons more likely to adopt risky innovations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Cost/benefit ratio is high; uncertainty in payoff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Risk-taking linked to reputation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isolates more likely to be “laggards”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Being a bridge is associated with early adoption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Betweenness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89" name="Google Shape;389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the propensity to adopt an innovation can be modeled as a threshold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thresholds may not be fixed for individuals regardless of what is being diffused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Thresholds may depend on the characteristics of what is being diffused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 threshold -&gt; Low risk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threshold -&gt; High risk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(e.g. gossip) that carry little risk may in their turn elicit a very low threshold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limiting case, the person adopts as soon as one of their neighbors adopts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95" name="Google Shape;395;p4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difference between </a:t>
            </a:r>
            <a:r>
              <a:rPr b="1" lang="en"/>
              <a:t>simplex </a:t>
            </a:r>
            <a:r>
              <a:rPr lang="en"/>
              <a:t>and </a:t>
            </a:r>
            <a:r>
              <a:rPr b="1" lang="en"/>
              <a:t>complex </a:t>
            </a:r>
            <a:r>
              <a:rPr lang="en"/>
              <a:t>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basic idea is that certain innovations can only diffuse via complex contagion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</a:t>
            </a:r>
            <a:r>
              <a:rPr lang="en"/>
              <a:t> simplex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Information, gossip, disease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complex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risk social movement participation, religious conversion, migration,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401" name="Google Shape;401;p4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Weakness of long ties argument (Centola and Macy 2007):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(weak) ties help to spread things in networks faster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for things that spread via simplex contagions!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not up to task when it comes to complex contagion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addition to length, complex contagions require bridges to be wide with high bandwidth (Aral and Van Alstyne 2011)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Complex contagions require multiple redundant contacts; a single bridge (even if high bandwidth) won’t do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407" name="Google Shape;407;p4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social mechanisms that require that innovations diffuse via complex contagion: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Strategic complementarity: </a:t>
            </a:r>
            <a:r>
              <a:rPr lang="en"/>
              <a:t>(adoption cost declines as a function of existing adopters)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Legitimacy:</a:t>
            </a:r>
            <a:r>
              <a:rPr lang="en"/>
              <a:t> Resistance to challenge, collective acceptance, and taken-for-grantedness increases in the number of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Credibility:</a:t>
            </a:r>
            <a:r>
              <a:rPr lang="en"/>
              <a:t> Innovations appears to be more trustworthy and less risky when high status members of the community also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Emotional contagion: </a:t>
            </a:r>
            <a:r>
              <a:rPr lang="en"/>
              <a:t>Cumulative interaction with a large number of adopters leads persons to adopt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413" name="Google Shape;413;p4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something diffuses faster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familiar rather than unfamiliar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relatively inconsequential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outweigh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source is high status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share social attributes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are geographically proximate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and target share overlapping 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structure is conducive to diffusion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Centralization v. Decentralization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Connectivity v. Segmentation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Density v. Sparseness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Strong ties v. Weak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Bridging v. Redundant 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