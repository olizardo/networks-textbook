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9" d="100"/>
          <a:sy n="49" d="100"/>
        </p:scale>
        <p:origin x="-102" y="-1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39439-98FA-42A8-BDD4-664A1530B09E}" type="datetimeFigureOut">
              <a:rPr lang="en-US" smtClean="0"/>
              <a:pPr/>
              <a:t>2009-03-25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4EBC8-8038-4103-BE74-FF6E5917510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ERGMs</a:t>
            </a:r>
            <a:r>
              <a:rPr lang="en-US" dirty="0" smtClean="0"/>
              <a:t> (</a:t>
            </a:r>
            <a:r>
              <a:rPr lang="en-US" i="1" dirty="0" err="1" smtClean="0"/>
              <a:t>ergums</a:t>
            </a:r>
            <a:r>
              <a:rPr lang="en-US" dirty="0" smtClean="0"/>
              <a:t>): Statistical Models for Social Networks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Recent “paradigm shift” in network modeling</a:t>
            </a:r>
          </a:p>
          <a:p>
            <a:pPr lvl="1"/>
            <a:r>
              <a:rPr lang="en-US" dirty="0" smtClean="0"/>
              <a:t>From “indices” to </a:t>
            </a:r>
            <a:r>
              <a:rPr lang="en-US" i="1" dirty="0" smtClean="0"/>
              <a:t>p</a:t>
            </a:r>
            <a:r>
              <a:rPr lang="en-US" dirty="0" smtClean="0"/>
              <a:t>-values (let’s get published!)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Promise to finally get at </a:t>
            </a:r>
            <a:r>
              <a:rPr lang="en-US" i="1" dirty="0" smtClean="0"/>
              <a:t>the generative processes that govern tie formation in networks</a:t>
            </a:r>
          </a:p>
          <a:p>
            <a:endParaRPr lang="en-US" i="1" dirty="0" smtClean="0"/>
          </a:p>
          <a:p>
            <a:r>
              <a:rPr lang="en-US" dirty="0" smtClean="0"/>
              <a:t>From static “</a:t>
            </a:r>
            <a:r>
              <a:rPr lang="en-US" b="1" dirty="0" smtClean="0"/>
              <a:t>pictures of structure</a:t>
            </a:r>
            <a:r>
              <a:rPr lang="en-US" dirty="0" smtClean="0"/>
              <a:t>” to a window on “</a:t>
            </a:r>
            <a:r>
              <a:rPr lang="en-US" b="1" dirty="0" smtClean="0"/>
              <a:t>generative dynamics</a:t>
            </a:r>
            <a:r>
              <a:rPr lang="en-US" dirty="0" smtClean="0"/>
              <a:t>.”</a:t>
            </a:r>
          </a:p>
          <a:p>
            <a:endParaRPr lang="en-US" dirty="0"/>
          </a:p>
          <a:p>
            <a:r>
              <a:rPr lang="en-US" dirty="0" smtClean="0"/>
              <a:t>A way to model how </a:t>
            </a:r>
            <a:r>
              <a:rPr lang="en-US" b="1" dirty="0" smtClean="0"/>
              <a:t>local structure </a:t>
            </a:r>
            <a:r>
              <a:rPr lang="en-US" dirty="0" smtClean="0"/>
              <a:t>gives rise to </a:t>
            </a:r>
            <a:r>
              <a:rPr lang="en-US" b="1" dirty="0" smtClean="0"/>
              <a:t>global structure</a:t>
            </a:r>
          </a:p>
          <a:p>
            <a:endParaRPr lang="en-US" dirty="0" smtClean="0"/>
          </a:p>
          <a:p>
            <a:r>
              <a:rPr lang="en-US" dirty="0" smtClean="0"/>
              <a:t>Allows us to (finally) see observed relational data as a (stochastic) </a:t>
            </a:r>
            <a:r>
              <a:rPr lang="en-US" i="1" dirty="0" smtClean="0"/>
              <a:t>realization</a:t>
            </a:r>
            <a:r>
              <a:rPr lang="en-US" dirty="0" smtClean="0"/>
              <a:t> of some </a:t>
            </a:r>
            <a:r>
              <a:rPr lang="en-US" i="1" dirty="0" smtClean="0"/>
              <a:t>underlying </a:t>
            </a:r>
            <a:r>
              <a:rPr lang="en-US" b="1" dirty="0" smtClean="0"/>
              <a:t>data generating process </a:t>
            </a:r>
            <a:r>
              <a:rPr lang="en-US" dirty="0" smtClean="0"/>
              <a:t> (</a:t>
            </a:r>
            <a:r>
              <a:rPr lang="en-US" dirty="0" err="1" smtClean="0"/>
              <a:t>DGP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 useful way to look at </a:t>
            </a:r>
            <a:r>
              <a:rPr lang="en-US" i="1" dirty="0" smtClean="0"/>
              <a:t>all</a:t>
            </a:r>
            <a:r>
              <a:rPr lang="en-US" dirty="0" smtClean="0"/>
              <a:t> data not just “network” or “relational” data.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ERGMs</a:t>
            </a:r>
            <a:r>
              <a:rPr lang="en-US" dirty="0" smtClean="0"/>
              <a:t> (</a:t>
            </a:r>
            <a:r>
              <a:rPr lang="en-US" i="1" dirty="0" err="1" smtClean="0"/>
              <a:t>ergums</a:t>
            </a:r>
            <a:r>
              <a:rPr lang="en-US" dirty="0" smtClean="0"/>
              <a:t>): Statistical Models for Social Networks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basic insight: breaking free from </a:t>
            </a:r>
            <a:r>
              <a:rPr lang="en-US" i="1" dirty="0" smtClean="0"/>
              <a:t>The Matrix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Thought you had a “network”?</a:t>
            </a:r>
          </a:p>
          <a:p>
            <a:pPr lvl="1"/>
            <a:r>
              <a:rPr lang="en-US" dirty="0" smtClean="0"/>
              <a:t>Think again. You actually just have a </a:t>
            </a:r>
            <a:r>
              <a:rPr lang="en-US" b="1" dirty="0" smtClean="0"/>
              <a:t>binary</a:t>
            </a:r>
            <a:r>
              <a:rPr lang="en-US" dirty="0" smtClean="0"/>
              <a:t> </a:t>
            </a:r>
            <a:r>
              <a:rPr lang="en-US" b="1" dirty="0" smtClean="0"/>
              <a:t>response</a:t>
            </a:r>
            <a:r>
              <a:rPr lang="en-US" dirty="0" smtClean="0"/>
              <a:t> </a:t>
            </a:r>
            <a:r>
              <a:rPr lang="en-US" b="1" dirty="0" smtClean="0"/>
              <a:t>variable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 variable is just presented in a funky format (a </a:t>
            </a:r>
            <a:r>
              <a:rPr lang="en-US" i="1" dirty="0" smtClean="0"/>
              <a:t>g</a:t>
            </a:r>
            <a:r>
              <a:rPr lang="en-US" dirty="0" smtClean="0"/>
              <a:t> x </a:t>
            </a:r>
            <a:r>
              <a:rPr lang="en-US" i="1" dirty="0" smtClean="0"/>
              <a:t>g</a:t>
            </a:r>
            <a:r>
              <a:rPr lang="en-US" dirty="0" smtClean="0"/>
              <a:t> </a:t>
            </a:r>
            <a:r>
              <a:rPr lang="en-US" b="1" dirty="0" smtClean="0"/>
              <a:t>matrix</a:t>
            </a:r>
            <a:r>
              <a:rPr lang="en-US" dirty="0" smtClean="0"/>
              <a:t>). So Just “string the matrix out” into a ([g(g-1)] x 1] </a:t>
            </a:r>
            <a:r>
              <a:rPr lang="en-US" b="1" dirty="0" smtClean="0"/>
              <a:t>vector</a:t>
            </a:r>
            <a:r>
              <a:rPr lang="en-US" dirty="0" smtClean="0"/>
              <a:t>.”</a:t>
            </a:r>
          </a:p>
          <a:p>
            <a:pPr lvl="1"/>
            <a:r>
              <a:rPr lang="en-US" dirty="0" smtClean="0"/>
              <a:t>Does it look like a nail now?  Then you know what to do:  use the sociologist’s hammer on it.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Hammer</a:t>
            </a:r>
            <a:endParaRPr lang="en-US" dirty="0"/>
          </a:p>
        </p:txBody>
      </p:sp>
      <p:pic>
        <p:nvPicPr>
          <p:cNvPr id="9" name="Content Placeholder 8" descr="ergm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100" y="2500306"/>
            <a:ext cx="7202117" cy="1357322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ERGMs</a:t>
            </a:r>
            <a:r>
              <a:rPr lang="en-US" dirty="0" smtClean="0"/>
              <a:t> (</a:t>
            </a:r>
            <a:r>
              <a:rPr lang="en-US" i="1" dirty="0" err="1" smtClean="0"/>
              <a:t>ergums</a:t>
            </a:r>
            <a:r>
              <a:rPr lang="en-US" dirty="0" smtClean="0"/>
              <a:t>): Statistical Models for Social Networks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Constructing an “</a:t>
            </a:r>
            <a:r>
              <a:rPr lang="en-US" dirty="0" err="1" smtClean="0"/>
              <a:t>ergum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The dependent variable is the absence or presence of a tie.</a:t>
            </a:r>
          </a:p>
          <a:p>
            <a:r>
              <a:rPr lang="en-US" dirty="0" smtClean="0"/>
              <a:t>Two classes of predictor variables:</a:t>
            </a:r>
          </a:p>
          <a:p>
            <a:pPr lvl="1"/>
            <a:r>
              <a:rPr lang="en-US" dirty="0" smtClean="0"/>
              <a:t>Dyad independent (or intra-dyadic) processes</a:t>
            </a:r>
          </a:p>
          <a:p>
            <a:pPr lvl="2"/>
            <a:r>
              <a:rPr lang="en-US" dirty="0" smtClean="0"/>
              <a:t>Triadic balance</a:t>
            </a:r>
          </a:p>
          <a:p>
            <a:pPr lvl="1"/>
            <a:r>
              <a:rPr lang="en-US" dirty="0" smtClean="0"/>
              <a:t>Dyad dependent (or inter-dyadic) processes</a:t>
            </a:r>
          </a:p>
          <a:p>
            <a:pPr lvl="2"/>
            <a:r>
              <a:rPr lang="en-US" dirty="0" smtClean="0"/>
              <a:t>Reciprocity, Homophily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ERGMs</a:t>
            </a:r>
            <a:r>
              <a:rPr lang="en-US" dirty="0" smtClean="0"/>
              <a:t> (</a:t>
            </a:r>
            <a:r>
              <a:rPr lang="en-US" i="1" dirty="0" err="1" smtClean="0"/>
              <a:t>ergums</a:t>
            </a:r>
            <a:r>
              <a:rPr lang="en-US" dirty="0" smtClean="0"/>
              <a:t>): Statistical Models for Social Networks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Constructing an “</a:t>
            </a:r>
            <a:r>
              <a:rPr lang="en-US" dirty="0" err="1" smtClean="0"/>
              <a:t>ergum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The dependent variable is the absence or presence of a tie.</a:t>
            </a:r>
          </a:p>
          <a:p>
            <a:r>
              <a:rPr lang="en-US" dirty="0" smtClean="0"/>
              <a:t>Two classes of predictor variables:</a:t>
            </a:r>
          </a:p>
          <a:p>
            <a:pPr lvl="1"/>
            <a:r>
              <a:rPr lang="en-US" dirty="0" smtClean="0"/>
              <a:t>Dyad independent (or intra-dyadic) processes</a:t>
            </a:r>
          </a:p>
          <a:p>
            <a:pPr lvl="2"/>
            <a:r>
              <a:rPr lang="en-US" dirty="0" smtClean="0"/>
              <a:t>Reciprocity, Homophily</a:t>
            </a:r>
          </a:p>
          <a:p>
            <a:pPr lvl="1"/>
            <a:r>
              <a:rPr lang="en-US" dirty="0" smtClean="0"/>
              <a:t>Dyad dependent (or inter-dyadic) processes</a:t>
            </a:r>
          </a:p>
          <a:p>
            <a:pPr lvl="2"/>
            <a:r>
              <a:rPr lang="en-US" dirty="0" smtClean="0"/>
              <a:t>Triadic balance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ERGMs</a:t>
            </a:r>
            <a:r>
              <a:rPr lang="en-US" dirty="0" smtClean="0"/>
              <a:t> (</a:t>
            </a:r>
            <a:r>
              <a:rPr lang="en-US" i="1" dirty="0" err="1" smtClean="0"/>
              <a:t>ergums</a:t>
            </a:r>
            <a:r>
              <a:rPr lang="en-US" dirty="0" smtClean="0"/>
              <a:t>): Statistical Models for Social Networks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Models that presume that the network is generated through intra-dyadic processes can be built “the dumb way:”</a:t>
            </a:r>
          </a:p>
          <a:p>
            <a:pPr lvl="1"/>
            <a:r>
              <a:rPr lang="en-US" dirty="0" smtClean="0"/>
              <a:t>Run a logistic regression on the strung out network with change-score indicators (e.g. “dummy variables”) for the relevant configuration of interest as predictors.</a:t>
            </a:r>
          </a:p>
          <a:p>
            <a:pPr lvl="2"/>
            <a:r>
              <a:rPr lang="en-US" dirty="0" smtClean="0"/>
              <a:t>The classic </a:t>
            </a:r>
            <a:r>
              <a:rPr lang="en-US" dirty="0" err="1" smtClean="0"/>
              <a:t>Erdos-Renyi</a:t>
            </a:r>
            <a:r>
              <a:rPr lang="en-US" dirty="0"/>
              <a:t> </a:t>
            </a:r>
            <a:r>
              <a:rPr lang="en-US" dirty="0" smtClean="0"/>
              <a:t>“Bernoulli” model is a dyad independent</a:t>
            </a:r>
          </a:p>
          <a:p>
            <a:pPr lvl="2"/>
            <a:r>
              <a:rPr lang="en-US" dirty="0" smtClean="0"/>
              <a:t>The classic Holland-</a:t>
            </a:r>
            <a:r>
              <a:rPr lang="en-US" dirty="0" err="1" smtClean="0"/>
              <a:t>Leindhart</a:t>
            </a:r>
            <a:r>
              <a:rPr lang="en-US" dirty="0" smtClean="0"/>
              <a:t> “</a:t>
            </a:r>
            <a:r>
              <a:rPr lang="en-US" dirty="0" err="1" smtClean="0"/>
              <a:t>p1</a:t>
            </a:r>
            <a:r>
              <a:rPr lang="en-US" dirty="0" smtClean="0"/>
              <a:t> model” is a (more interesting) dyad independent model.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ERGMs</a:t>
            </a:r>
            <a:r>
              <a:rPr lang="en-US" dirty="0" smtClean="0"/>
              <a:t> (</a:t>
            </a:r>
            <a:r>
              <a:rPr lang="en-US" i="1" dirty="0" err="1" smtClean="0"/>
              <a:t>ergums</a:t>
            </a:r>
            <a:r>
              <a:rPr lang="en-US" dirty="0" smtClean="0"/>
              <a:t>): Statistical Models for Social Networks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pic>
        <p:nvPicPr>
          <p:cNvPr id="6" name="Picture 5" descr="p1-model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24" y="4000504"/>
            <a:ext cx="7147202" cy="785818"/>
          </a:xfrm>
          <a:prstGeom prst="rect">
            <a:avLst/>
          </a:prstGeom>
        </p:spPr>
      </p:pic>
      <p:pic>
        <p:nvPicPr>
          <p:cNvPr id="8" name="Picture 7" descr="e-y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794" y="2357430"/>
            <a:ext cx="4479163" cy="7858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86314" y="1714488"/>
            <a:ext cx="29289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Edge formation probability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2"/>
          </p:cNvCxnSpPr>
          <p:nvPr/>
        </p:nvCxnSpPr>
        <p:spPr>
          <a:xfrm rot="16200000" flipH="1">
            <a:off x="5988971" y="2345641"/>
            <a:ext cx="559362" cy="357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57752" y="5500702"/>
            <a:ext cx="13573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Mutuality</a:t>
            </a:r>
            <a:endParaRPr lang="en-US" dirty="0"/>
          </a:p>
        </p:txBody>
      </p:sp>
      <p:cxnSp>
        <p:nvCxnSpPr>
          <p:cNvPr id="14" name="Straight Arrow Connector 13"/>
          <p:cNvCxnSpPr>
            <a:stCxn id="13" idx="0"/>
          </p:cNvCxnSpPr>
          <p:nvPr/>
        </p:nvCxnSpPr>
        <p:spPr>
          <a:xfrm rot="16200000" flipV="1">
            <a:off x="5161365" y="5125653"/>
            <a:ext cx="714380" cy="357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43570" y="3500438"/>
            <a:ext cx="16430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Expansiveness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20" idx="2"/>
          </p:cNvCxnSpPr>
          <p:nvPr/>
        </p:nvCxnSpPr>
        <p:spPr>
          <a:xfrm rot="16200000" flipH="1">
            <a:off x="6274724" y="4060153"/>
            <a:ext cx="559361" cy="1785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29454" y="5715016"/>
            <a:ext cx="1285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Popularity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7" idx="0"/>
          </p:cNvCxnSpPr>
          <p:nvPr/>
        </p:nvCxnSpPr>
        <p:spPr>
          <a:xfrm rot="16200000" flipV="1">
            <a:off x="7072331" y="5214951"/>
            <a:ext cx="928694" cy="71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ERGMs</a:t>
            </a:r>
            <a:r>
              <a:rPr lang="en-US" dirty="0" smtClean="0"/>
              <a:t> (</a:t>
            </a:r>
            <a:r>
              <a:rPr lang="en-US" i="1" dirty="0" err="1" smtClean="0"/>
              <a:t>ergums</a:t>
            </a:r>
            <a:r>
              <a:rPr lang="en-US" dirty="0" smtClean="0"/>
              <a:t>): Statistical Models for Social Networks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Models that presume that the network is generated through intra-dyadic and </a:t>
            </a:r>
            <a:r>
              <a:rPr lang="en-US" i="1" dirty="0" smtClean="0"/>
              <a:t>inter-</a:t>
            </a:r>
            <a:r>
              <a:rPr lang="en-US" dirty="0" smtClean="0"/>
              <a:t>dyadic processes have to built the “smart” way.</a:t>
            </a:r>
          </a:p>
          <a:p>
            <a:pPr lvl="1"/>
            <a:r>
              <a:rPr lang="en-US" dirty="0" smtClean="0"/>
              <a:t>Markov Chain Monte Carlo (</a:t>
            </a:r>
            <a:r>
              <a:rPr lang="en-US" dirty="0" err="1" smtClean="0"/>
              <a:t>MCMC</a:t>
            </a:r>
            <a:r>
              <a:rPr lang="en-US" dirty="0" smtClean="0"/>
              <a:t>) Estimation.</a:t>
            </a:r>
          </a:p>
          <a:p>
            <a:pPr lvl="1"/>
            <a:r>
              <a:rPr lang="en-US" dirty="0" smtClean="0"/>
              <a:t>Why the complication?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ERGMs</a:t>
            </a:r>
            <a:r>
              <a:rPr lang="en-US" dirty="0" smtClean="0"/>
              <a:t> (</a:t>
            </a:r>
            <a:r>
              <a:rPr lang="en-US" i="1" dirty="0" err="1" smtClean="0"/>
              <a:t>ergums</a:t>
            </a:r>
            <a:r>
              <a:rPr lang="en-US" dirty="0" smtClean="0"/>
              <a:t>): Statistical Models for Social Networks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Predictors </a:t>
            </a:r>
            <a:r>
              <a:rPr lang="en-US" dirty="0"/>
              <a:t>are direct functions of the response </a:t>
            </a:r>
            <a:r>
              <a:rPr lang="en-US" dirty="0" smtClean="0"/>
              <a:t>variable (e. g. the existence of a triadic or higher order structure is dependent on the </a:t>
            </a:r>
            <a:r>
              <a:rPr lang="en-US" dirty="0" err="1" smtClean="0"/>
              <a:t>i</a:t>
            </a:r>
            <a:r>
              <a:rPr lang="en-US" dirty="0" smtClean="0"/>
              <a:t>-&gt;j link).</a:t>
            </a:r>
          </a:p>
          <a:p>
            <a:r>
              <a:rPr lang="en-US" dirty="0" smtClean="0"/>
              <a:t>Makes this class of </a:t>
            </a:r>
            <a:r>
              <a:rPr lang="en-US" dirty="0" err="1" smtClean="0"/>
              <a:t>ERGMs</a:t>
            </a:r>
            <a:r>
              <a:rPr lang="en-US" dirty="0" smtClean="0"/>
              <a:t> an </a:t>
            </a:r>
            <a:r>
              <a:rPr lang="en-US" b="1" dirty="0"/>
              <a:t>autoregressive</a:t>
            </a:r>
            <a:r>
              <a:rPr lang="en-US" dirty="0"/>
              <a:t> </a:t>
            </a:r>
            <a:r>
              <a:rPr lang="en-US" dirty="0" smtClean="0"/>
              <a:t>model.</a:t>
            </a:r>
          </a:p>
        </p:txBody>
      </p:sp>
      <p:pic>
        <p:nvPicPr>
          <p:cNvPr id="6" name="Content Placeholder 8" descr="ergm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04" y="4786322"/>
            <a:ext cx="5500726" cy="1036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ERGMs</a:t>
            </a:r>
            <a:r>
              <a:rPr lang="en-US" dirty="0" smtClean="0"/>
              <a:t> (</a:t>
            </a:r>
            <a:r>
              <a:rPr lang="en-US" i="1" dirty="0" err="1" smtClean="0"/>
              <a:t>ergums</a:t>
            </a:r>
            <a:r>
              <a:rPr lang="en-US" dirty="0" smtClean="0"/>
              <a:t>): Statistical Models for Social Networks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These models are somewhat cumbersome to build, because the specification of each “variable” requires some sort of cycling through the network.</a:t>
            </a: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4000504"/>
            <a:ext cx="7580592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4929198"/>
            <a:ext cx="571500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537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ERGMs (ergums): Statistical Models for Social Networks</vt:lpstr>
      <vt:lpstr>ERGMs (ergums): Statistical Models for Social Networks</vt:lpstr>
      <vt:lpstr>The Hammer</vt:lpstr>
      <vt:lpstr>ERGMs (ergums): Statistical Models for Social Networks</vt:lpstr>
      <vt:lpstr>ERGMs (ergums): Statistical Models for Social Networks</vt:lpstr>
      <vt:lpstr>ERGMs (ergums): Statistical Models for Social Networks</vt:lpstr>
      <vt:lpstr>ERGMs (ergums): Statistical Models for Social Networks</vt:lpstr>
      <vt:lpstr>ERGMs (ergums): Statistical Models for Social Networks</vt:lpstr>
      <vt:lpstr>ERGMs (ergums): Statistical Models for Social Networks</vt:lpstr>
      <vt:lpstr>ERGMs (ergums): Statistical Models for Social Networks</vt:lpstr>
    </vt:vector>
  </TitlesOfParts>
  <Company>Private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ERGMs (ergums): Statistical Models for Social Networks</dc:title>
  <dc:creator>Omar Lizardo</dc:creator>
  <cp:lastModifiedBy>Omar Lizardo</cp:lastModifiedBy>
  <cp:revision>3</cp:revision>
  <dcterms:created xsi:type="dcterms:W3CDTF">2009-03-24T21:43:16Z</dcterms:created>
  <dcterms:modified xsi:type="dcterms:W3CDTF">2009-03-25T11:57:04Z</dcterms:modified>
</cp:coreProperties>
</file>