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6858000" cy="9144000"/>
  <p:embeddedFontLst>
    <p:embeddedFont>
      <p:font typeface="Economica"/>
      <p:regular r:id="rId41"/>
      <p:bold r:id="rId42"/>
      <p:italic r:id="rId43"/>
      <p:boldItalic r:id="rId44"/>
    </p:embeddedFont>
    <p:embeddedFont>
      <p:font typeface="Open Sans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Economica-bold.fntdata"/><Relationship Id="rId41" Type="http://schemas.openxmlformats.org/officeDocument/2006/relationships/font" Target="fonts/Economica-regular.fntdata"/><Relationship Id="rId22" Type="http://schemas.openxmlformats.org/officeDocument/2006/relationships/slide" Target="slides/slide17.xml"/><Relationship Id="rId44" Type="http://schemas.openxmlformats.org/officeDocument/2006/relationships/font" Target="fonts/Economica-boldItalic.fntdata"/><Relationship Id="rId21" Type="http://schemas.openxmlformats.org/officeDocument/2006/relationships/slide" Target="slides/slide16.xml"/><Relationship Id="rId43" Type="http://schemas.openxmlformats.org/officeDocument/2006/relationships/font" Target="fonts/Economica-italic.fntdata"/><Relationship Id="rId24" Type="http://schemas.openxmlformats.org/officeDocument/2006/relationships/slide" Target="slides/slide19.xml"/><Relationship Id="rId46" Type="http://schemas.openxmlformats.org/officeDocument/2006/relationships/font" Target="fonts/OpenSans-bold.fntdata"/><Relationship Id="rId23" Type="http://schemas.openxmlformats.org/officeDocument/2006/relationships/slide" Target="slides/slide18.xml"/><Relationship Id="rId45" Type="http://schemas.openxmlformats.org/officeDocument/2006/relationships/font" Target="fonts/OpenSans-regular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schemas.openxmlformats.org/officeDocument/2006/relationships/font" Target="fonts/OpenSans-boldItalic.fntdata"/><Relationship Id="rId25" Type="http://schemas.openxmlformats.org/officeDocument/2006/relationships/slide" Target="slides/slide20.xml"/><Relationship Id="rId47" Type="http://schemas.openxmlformats.org/officeDocument/2006/relationships/font" Target="fonts/OpenSans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4684aa175_0_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4684aa175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37eadf4c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37eadf4c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4684aa175_0_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4684aa175_0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4684aa175_0_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4684aa175_0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4684aa175_0_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4684aa175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4684aa175_0_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4684aa175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4684aa175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4684aa175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4684aa175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4684aa175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4684aa175_0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4684aa175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612e893fa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612e893f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613ca86741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613ca867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613ca86741_0_5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613ca86741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613ca86741_0_1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613ca86741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613ca86741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613ca86741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613ca86741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613ca86741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fb421af76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fb421af76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613ca86741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613ca86741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fb421af762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fb421af762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613ca86741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613ca86741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613ca86741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613ca86741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613ca86741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613ca86741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37eadf4cd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37eadf4cd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37eadf4cd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237eadf4cd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37eadf4cd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237eadf4cd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37eadf4cd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237eadf4cd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37eadf4cd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37eadf4cd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37eadf4cd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237eadf4cd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37eadf4cd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237eadf4cd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37eadf4cd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37eadf4cd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37eadf4c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237eadf4c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37eadf4c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237eadf4c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37eadf4c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237eadf4c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37eadf4c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237eadf4c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37eadf4cd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237eadf4c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4" name="Google Shape;64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5" name="Google Shape;65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0" name="Google Shape;70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3" name="Google Shape;9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" name="Google Shape;96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8" name="Google Shape;98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9" name="Google Shape;99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Google Shape;10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103" name="Google Shape;10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8" name="Google Shape;10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30.png"/><Relationship Id="rId5" Type="http://schemas.openxmlformats.org/officeDocument/2006/relationships/image" Target="../media/image3.png"/><Relationship Id="rId6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6.png"/><Relationship Id="rId6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Relationship Id="rId5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png"/><Relationship Id="rId4" Type="http://schemas.openxmlformats.org/officeDocument/2006/relationships/image" Target="../media/image17.png"/><Relationship Id="rId5" Type="http://schemas.openxmlformats.org/officeDocument/2006/relationships/image" Target="../media/image29.png"/><Relationship Id="rId6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Relationship Id="rId4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2.png"/><Relationship Id="rId4" Type="http://schemas.openxmlformats.org/officeDocument/2006/relationships/image" Target="../media/image23.png"/><Relationship Id="rId5" Type="http://schemas.openxmlformats.org/officeDocument/2006/relationships/image" Target="../media/image22.png"/><Relationship Id="rId6" Type="http://schemas.openxmlformats.org/officeDocument/2006/relationships/image" Target="../media/image27.png"/><Relationship Id="rId7" Type="http://schemas.openxmlformats.org/officeDocument/2006/relationships/image" Target="../media/image26.png"/><Relationship Id="rId8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Relationship Id="rId4" Type="http://schemas.openxmlformats.org/officeDocument/2006/relationships/image" Target="../media/image34.png"/><Relationship Id="rId5" Type="http://schemas.openxmlformats.org/officeDocument/2006/relationships/image" Target="../media/image21.png"/><Relationship Id="rId6" Type="http://schemas.openxmlformats.org/officeDocument/2006/relationships/image" Target="../media/image3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7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/>
          <p:nvPr>
            <p:ph type="ctrTitle"/>
          </p:nvPr>
        </p:nvSpPr>
        <p:spPr>
          <a:xfrm>
            <a:off x="3044700" y="933900"/>
            <a:ext cx="3344400" cy="204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Theory:  The “Mathematics” of Networks</a:t>
            </a:r>
            <a:endParaRPr/>
          </a:p>
        </p:txBody>
      </p:sp>
      <p:sp>
        <p:nvSpPr>
          <p:cNvPr id="116" name="Google Shape;116;p25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Fall 2019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graph?</a:t>
            </a:r>
            <a:endParaRPr/>
          </a:p>
        </p:txBody>
      </p:sp>
      <p:sp>
        <p:nvSpPr>
          <p:cNvPr id="122" name="Google Shape;122;p26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(G) is an abstract mathematical object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consists of: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V </a:t>
            </a:r>
            <a:r>
              <a:rPr b="1" lang="en"/>
              <a:t>vertices</a:t>
            </a:r>
            <a:r>
              <a:rPr lang="en"/>
              <a:t> V(G)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}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Also called nodes, actors, individuals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E </a:t>
            </a:r>
            <a:r>
              <a:rPr b="1" lang="en"/>
              <a:t>edges</a:t>
            </a:r>
            <a:r>
              <a:rPr lang="en"/>
              <a:t>, E(G)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1</a:t>
            </a:r>
            <a:r>
              <a:rPr lang="en"/>
              <a:t>v</a:t>
            </a:r>
            <a:r>
              <a:rPr baseline="-25000" lang="en"/>
              <a:t>2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6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v</a:t>
            </a:r>
            <a:r>
              <a:rPr baseline="-25000" lang="en"/>
              <a:t>7</a:t>
            </a:r>
            <a:r>
              <a:rPr lang="en"/>
              <a:t>}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Also called links, ties, relations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Such that G = (V, E)</a:t>
            </a:r>
            <a:endParaRPr/>
          </a:p>
        </p:txBody>
      </p:sp>
      <p:pic>
        <p:nvPicPr>
          <p:cNvPr id="123" name="Google Shape;12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6425" y="1662175"/>
            <a:ext cx="3461575" cy="291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graph?</a:t>
            </a:r>
            <a:endParaRPr/>
          </a:p>
        </p:txBody>
      </p:sp>
      <p:sp>
        <p:nvSpPr>
          <p:cNvPr id="129" name="Google Shape;129;p27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cardinality (size) of the set V is usually denoted by 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the </a:t>
            </a:r>
            <a:r>
              <a:rPr b="1" lang="en"/>
              <a:t>order</a:t>
            </a:r>
            <a:r>
              <a:rPr lang="en"/>
              <a:t> of the graph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cardinality of the set E is usually denoted by 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size</a:t>
            </a:r>
            <a:r>
              <a:rPr lang="en"/>
              <a:t> of the graph is the maximum number of possible edges: (N(N-1))/2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density</a:t>
            </a:r>
            <a:r>
              <a:rPr lang="en"/>
              <a:t> (</a:t>
            </a:r>
            <a:r>
              <a:rPr i="1" lang="en"/>
              <a:t>d</a:t>
            </a:r>
            <a:r>
              <a:rPr lang="en"/>
              <a:t>) of the graph is the ratio of the observed to the maximum number of edges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/>
              <a:t>complete</a:t>
            </a:r>
            <a:r>
              <a:rPr lang="en"/>
              <a:t> (all vertices joined by an edge) graph has </a:t>
            </a:r>
            <a:r>
              <a:rPr i="1" lang="en"/>
              <a:t>d</a:t>
            </a:r>
            <a:r>
              <a:rPr lang="en"/>
              <a:t> = 1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6425" y="1662175"/>
            <a:ext cx="3461575" cy="291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graph?</a:t>
            </a:r>
            <a:endParaRPr/>
          </a:p>
        </p:txBody>
      </p:sp>
      <p:sp>
        <p:nvSpPr>
          <p:cNvPr id="136" name="Google Shape;136;p28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vertices in the same graph may be joined by an edge, in which case, they are </a:t>
            </a:r>
            <a:r>
              <a:rPr b="1" lang="en"/>
              <a:t>adjacent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Adjacent vertices are also called </a:t>
            </a:r>
            <a:r>
              <a:rPr b="1" lang="en"/>
              <a:t>neighbors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Graphs can either be undirected and directed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</a:t>
            </a:r>
            <a:r>
              <a:rPr b="1" lang="en"/>
              <a:t>directed</a:t>
            </a:r>
            <a:r>
              <a:rPr lang="en"/>
              <a:t> graphs edges have a direction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1</a:t>
            </a:r>
            <a:r>
              <a:rPr lang="en"/>
              <a:t>v</a:t>
            </a:r>
            <a:r>
              <a:rPr baseline="-25000" lang="en"/>
              <a:t>2</a:t>
            </a:r>
            <a:r>
              <a:rPr lang="en"/>
              <a:t>} can exist but not {v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1</a:t>
            </a:r>
            <a:r>
              <a:rPr lang="en"/>
              <a:t>} and are called arcs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</a:t>
            </a:r>
            <a:r>
              <a:rPr b="1" lang="en"/>
              <a:t>undirected</a:t>
            </a:r>
            <a:r>
              <a:rPr lang="en"/>
              <a:t> graphs a single edge connects two vertices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1</a:t>
            </a:r>
            <a:r>
              <a:rPr lang="en"/>
              <a:t>v</a:t>
            </a:r>
            <a:r>
              <a:rPr baseline="-25000" lang="en"/>
              <a:t>2</a:t>
            </a:r>
            <a:r>
              <a:rPr lang="en"/>
              <a:t>} = {v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1</a:t>
            </a:r>
            <a:r>
              <a:rPr lang="en"/>
              <a:t>}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28"/>
          <p:cNvPicPr preferRelativeResize="0"/>
          <p:nvPr/>
        </p:nvPicPr>
        <p:blipFill rotWithShape="1">
          <a:blip r:embed="rId3">
            <a:alphaModFix/>
          </a:blip>
          <a:srcRect b="49073" l="1982" r="51491" t="22708"/>
          <a:stretch/>
        </p:blipFill>
        <p:spPr>
          <a:xfrm>
            <a:off x="5264900" y="1147225"/>
            <a:ext cx="3081876" cy="140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8"/>
          <p:cNvPicPr preferRelativeResize="0"/>
          <p:nvPr/>
        </p:nvPicPr>
        <p:blipFill rotWithShape="1">
          <a:blip r:embed="rId3">
            <a:alphaModFix/>
          </a:blip>
          <a:srcRect b="49073" l="50926" r="2550" t="22708"/>
          <a:stretch/>
        </p:blipFill>
        <p:spPr>
          <a:xfrm>
            <a:off x="5264906" y="2821300"/>
            <a:ext cx="3081876" cy="140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matrix?</a:t>
            </a:r>
            <a:endParaRPr/>
          </a:p>
        </p:txBody>
      </p:sp>
      <p:sp>
        <p:nvSpPr>
          <p:cNvPr id="144" name="Google Shape;144;p29"/>
          <p:cNvSpPr txBox="1"/>
          <p:nvPr>
            <p:ph idx="1" type="body"/>
          </p:nvPr>
        </p:nvSpPr>
        <p:spPr>
          <a:xfrm>
            <a:off x="311700" y="1225225"/>
            <a:ext cx="449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matrix a rectangular array of numbers arranged in rows and columns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Matrices can be used to represent graphs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Vertices are arranged in the rows (</a:t>
            </a:r>
            <a:r>
              <a:rPr i="1" lang="en"/>
              <a:t>i</a:t>
            </a:r>
            <a:r>
              <a:rPr lang="en"/>
              <a:t>) and columns (</a:t>
            </a:r>
            <a:r>
              <a:rPr i="1" lang="en"/>
              <a:t>j</a:t>
            </a:r>
            <a:r>
              <a:rPr lang="en"/>
              <a:t>) of the matrix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Simple graphs result in “square” matrices of dimensions </a:t>
            </a:r>
            <a:r>
              <a:rPr b="1" lang="en"/>
              <a:t>N</a:t>
            </a:r>
            <a:r>
              <a:rPr lang="en"/>
              <a:t> X </a:t>
            </a:r>
            <a:r>
              <a:rPr b="1" lang="en"/>
              <a:t>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Where N = V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number of vertices in the graph</a:t>
            </a:r>
            <a:endParaRPr/>
          </a:p>
        </p:txBody>
      </p:sp>
      <p:pic>
        <p:nvPicPr>
          <p:cNvPr id="145" name="Google Shape;145;p29"/>
          <p:cNvPicPr preferRelativeResize="0"/>
          <p:nvPr/>
        </p:nvPicPr>
        <p:blipFill rotWithShape="1">
          <a:blip r:embed="rId3">
            <a:alphaModFix/>
          </a:blip>
          <a:srcRect b="10427" l="2468" r="3688" t="25725"/>
          <a:stretch/>
        </p:blipFill>
        <p:spPr>
          <a:xfrm>
            <a:off x="4803900" y="1874288"/>
            <a:ext cx="4028400" cy="2055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matrix?</a:t>
            </a:r>
            <a:endParaRPr/>
          </a:p>
        </p:txBody>
      </p:sp>
      <p:sp>
        <p:nvSpPr>
          <p:cNvPr id="151" name="Google Shape;151;p30"/>
          <p:cNvSpPr txBox="1"/>
          <p:nvPr>
            <p:ph idx="1" type="body"/>
          </p:nvPr>
        </p:nvSpPr>
        <p:spPr>
          <a:xfrm>
            <a:off x="311700" y="1225225"/>
            <a:ext cx="449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matrix is a rectangular array of numbers arranged in rows and columns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Matrices can be used to represent graphs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Vertices are arranged in the rows (</a:t>
            </a:r>
            <a:r>
              <a:rPr i="1" lang="en"/>
              <a:t>i</a:t>
            </a:r>
            <a:r>
              <a:rPr lang="en"/>
              <a:t>) and columns (</a:t>
            </a:r>
            <a:r>
              <a:rPr i="1" lang="en"/>
              <a:t>j</a:t>
            </a:r>
            <a:r>
              <a:rPr lang="en"/>
              <a:t>) of the matrix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an edge exists linking vertex </a:t>
            </a:r>
            <a:r>
              <a:rPr i="1" lang="en"/>
              <a:t>i </a:t>
            </a:r>
            <a:r>
              <a:rPr lang="en"/>
              <a:t>and vertex </a:t>
            </a:r>
            <a:r>
              <a:rPr i="1" lang="en"/>
              <a:t>j</a:t>
            </a:r>
            <a:r>
              <a:rPr lang="en"/>
              <a:t> in the graph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put a “1” in the </a:t>
            </a:r>
            <a:r>
              <a:rPr i="1" lang="en"/>
              <a:t>ij</a:t>
            </a:r>
            <a:r>
              <a:rPr baseline="30000" lang="en"/>
              <a:t>th </a:t>
            </a:r>
            <a:r>
              <a:rPr lang="en"/>
              <a:t>cell of matrix 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Otherwise,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put a “0” in </a:t>
            </a:r>
            <a:r>
              <a:rPr lang="en"/>
              <a:t>the </a:t>
            </a:r>
            <a:r>
              <a:rPr i="1" lang="en"/>
              <a:t>ij</a:t>
            </a:r>
            <a:r>
              <a:rPr baseline="30000" lang="en"/>
              <a:t>th </a:t>
            </a:r>
            <a:r>
              <a:rPr lang="en"/>
              <a:t>cell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  <p:pic>
        <p:nvPicPr>
          <p:cNvPr id="152" name="Google Shape;152;p30"/>
          <p:cNvPicPr preferRelativeResize="0"/>
          <p:nvPr/>
        </p:nvPicPr>
        <p:blipFill rotWithShape="1">
          <a:blip r:embed="rId3">
            <a:alphaModFix/>
          </a:blip>
          <a:srcRect b="10427" l="2468" r="3688" t="25725"/>
          <a:stretch/>
        </p:blipFill>
        <p:spPr>
          <a:xfrm>
            <a:off x="4803900" y="1874288"/>
            <a:ext cx="4028400" cy="2055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matrix?</a:t>
            </a:r>
            <a:endParaRPr/>
          </a:p>
        </p:txBody>
      </p:sp>
      <p:sp>
        <p:nvSpPr>
          <p:cNvPr id="158" name="Google Shape;158;p31"/>
          <p:cNvSpPr txBox="1"/>
          <p:nvPr>
            <p:ph idx="1" type="body"/>
          </p:nvPr>
        </p:nvSpPr>
        <p:spPr>
          <a:xfrm>
            <a:off x="311700" y="1225225"/>
            <a:ext cx="449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matrix is a rectangular array of numbers arranged in rows and columns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Matrices can be used to represent graphs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Vertices are arranged in the rows (</a:t>
            </a:r>
            <a:r>
              <a:rPr i="1" lang="en"/>
              <a:t>i</a:t>
            </a:r>
            <a:r>
              <a:rPr lang="en"/>
              <a:t>) and columns (</a:t>
            </a:r>
            <a:r>
              <a:rPr i="1" lang="en"/>
              <a:t>j</a:t>
            </a:r>
            <a:r>
              <a:rPr lang="en"/>
              <a:t>) of the matrix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formally,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x</a:t>
            </a:r>
            <a:r>
              <a:rPr baseline="-25000" lang="en"/>
              <a:t>ij</a:t>
            </a:r>
            <a:r>
              <a:rPr lang="en"/>
              <a:t> = 1, if {v</a:t>
            </a:r>
            <a:r>
              <a:rPr baseline="-25000" lang="en"/>
              <a:t>i</a:t>
            </a:r>
            <a:r>
              <a:rPr lang="en"/>
              <a:t>v</a:t>
            </a:r>
            <a:r>
              <a:rPr baseline="-25000" lang="en"/>
              <a:t>j</a:t>
            </a:r>
            <a:r>
              <a:rPr lang="en"/>
              <a:t>} can be found in 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x</a:t>
            </a:r>
            <a:r>
              <a:rPr baseline="-25000" lang="en"/>
              <a:t>ij</a:t>
            </a:r>
            <a:r>
              <a:rPr lang="en"/>
              <a:t> = 0 if {v</a:t>
            </a:r>
            <a:r>
              <a:rPr baseline="-25000" lang="en"/>
              <a:t>i</a:t>
            </a:r>
            <a:r>
              <a:rPr lang="en"/>
              <a:t>v</a:t>
            </a:r>
            <a:r>
              <a:rPr baseline="-25000" lang="en"/>
              <a:t>j</a:t>
            </a:r>
            <a:r>
              <a:rPr lang="en"/>
              <a:t>} cannot be found in E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31"/>
          <p:cNvPicPr preferRelativeResize="0"/>
          <p:nvPr/>
        </p:nvPicPr>
        <p:blipFill rotWithShape="1">
          <a:blip r:embed="rId3">
            <a:alphaModFix/>
          </a:blip>
          <a:srcRect b="10427" l="2468" r="3688" t="25725"/>
          <a:stretch/>
        </p:blipFill>
        <p:spPr>
          <a:xfrm>
            <a:off x="4803900" y="1874288"/>
            <a:ext cx="4028400" cy="2055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32"/>
          <p:cNvPicPr preferRelativeResize="0"/>
          <p:nvPr/>
        </p:nvPicPr>
        <p:blipFill rotWithShape="1">
          <a:blip r:embed="rId3">
            <a:alphaModFix/>
          </a:blip>
          <a:srcRect b="10427" l="2468" r="3688" t="25725"/>
          <a:stretch/>
        </p:blipFill>
        <p:spPr>
          <a:xfrm>
            <a:off x="4803900" y="1874288"/>
            <a:ext cx="4028400" cy="205588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matrix?</a:t>
            </a:r>
            <a:endParaRPr/>
          </a:p>
        </p:txBody>
      </p:sp>
      <p:sp>
        <p:nvSpPr>
          <p:cNvPr id="166" name="Google Shape;166;p32"/>
          <p:cNvSpPr txBox="1"/>
          <p:nvPr>
            <p:ph idx="1" type="body"/>
          </p:nvPr>
        </p:nvSpPr>
        <p:spPr>
          <a:xfrm>
            <a:off x="311700" y="1225225"/>
            <a:ext cx="449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matrix </a:t>
            </a:r>
            <a:r>
              <a:rPr lang="en"/>
              <a:t>is </a:t>
            </a:r>
            <a:r>
              <a:rPr lang="en"/>
              <a:t>a rectangular array of numbers arranged in rows and columns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Matrices can be used to represent graphs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Vertices are arranged in the rows (</a:t>
            </a:r>
            <a:r>
              <a:rPr i="1" lang="en"/>
              <a:t>i</a:t>
            </a:r>
            <a:r>
              <a:rPr lang="en"/>
              <a:t>) and columns (</a:t>
            </a:r>
            <a:r>
              <a:rPr i="1" lang="en"/>
              <a:t>j</a:t>
            </a:r>
            <a:r>
              <a:rPr lang="en"/>
              <a:t>) of the matrix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Matrices can be used to represent either </a:t>
            </a:r>
            <a:r>
              <a:rPr b="1" lang="en"/>
              <a:t>directed</a:t>
            </a:r>
            <a:r>
              <a:rPr lang="en"/>
              <a:t> or </a:t>
            </a:r>
            <a:r>
              <a:rPr b="1" lang="en"/>
              <a:t>undirected</a:t>
            </a:r>
            <a:r>
              <a:rPr lang="en"/>
              <a:t> graphs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Undirected graphs result in </a:t>
            </a:r>
            <a:r>
              <a:rPr b="1" lang="en"/>
              <a:t>symmetric</a:t>
            </a:r>
            <a:r>
              <a:rPr lang="en"/>
              <a:t> adjacency matrices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Digraphs result in </a:t>
            </a:r>
            <a:r>
              <a:rPr b="1" lang="en"/>
              <a:t>asymmetric</a:t>
            </a:r>
            <a:r>
              <a:rPr lang="en"/>
              <a:t> adjacency matrices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cxnSp>
        <p:nvCxnSpPr>
          <p:cNvPr id="167" name="Google Shape;167;p32"/>
          <p:cNvCxnSpPr/>
          <p:nvPr/>
        </p:nvCxnSpPr>
        <p:spPr>
          <a:xfrm>
            <a:off x="5224475" y="2769700"/>
            <a:ext cx="1109400" cy="1081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32"/>
          <p:cNvCxnSpPr/>
          <p:nvPr/>
        </p:nvCxnSpPr>
        <p:spPr>
          <a:xfrm>
            <a:off x="7343325" y="2802050"/>
            <a:ext cx="1077300" cy="1049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matrix?</a:t>
            </a:r>
            <a:endParaRPr/>
          </a:p>
        </p:txBody>
      </p:sp>
      <p:sp>
        <p:nvSpPr>
          <p:cNvPr id="174" name="Google Shape;174;p33"/>
          <p:cNvSpPr txBox="1"/>
          <p:nvPr>
            <p:ph idx="1" type="body"/>
          </p:nvPr>
        </p:nvSpPr>
        <p:spPr>
          <a:xfrm>
            <a:off x="311700" y="1225225"/>
            <a:ext cx="408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matrix </a:t>
            </a:r>
            <a:r>
              <a:rPr lang="en"/>
              <a:t>is </a:t>
            </a:r>
            <a:r>
              <a:rPr lang="en"/>
              <a:t>a rectangular array of numbers arranged in rows and columns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The main advantage of matrices is that you can do </a:t>
            </a:r>
            <a:r>
              <a:rPr b="1" lang="en"/>
              <a:t>simple mathematical operations </a:t>
            </a:r>
            <a:r>
              <a:rPr lang="en"/>
              <a:t>on them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Addition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Multiplication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lang="en"/>
              <a:t>Subtraction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5" name="Google Shape;17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1475" y="1240951"/>
            <a:ext cx="4430825" cy="3322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matrix?</a:t>
            </a:r>
            <a:endParaRPr/>
          </a:p>
        </p:txBody>
      </p:sp>
      <p:sp>
        <p:nvSpPr>
          <p:cNvPr id="181" name="Google Shape;181;p34"/>
          <p:cNvSpPr txBox="1"/>
          <p:nvPr>
            <p:ph idx="1" type="body"/>
          </p:nvPr>
        </p:nvSpPr>
        <p:spPr>
          <a:xfrm>
            <a:off x="311700" y="1225225"/>
            <a:ext cx="408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matrix a rectangular array of numbers arranged in rows and columns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The main advantage of matrices is that you can do </a:t>
            </a:r>
            <a:r>
              <a:rPr b="1" lang="en"/>
              <a:t>simple mathematical operations </a:t>
            </a:r>
            <a:r>
              <a:rPr lang="en"/>
              <a:t>on them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Row sums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Column sums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This creates measures of graph theoretic concepts!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sum-of-row-and-column-elements-of-a-matrix.png" id="182" name="Google Shape;18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1600" y="1836688"/>
            <a:ext cx="3992950" cy="213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Networks &amp; Graphs</a:t>
            </a:r>
            <a:endParaRPr/>
          </a:p>
        </p:txBody>
      </p:sp>
      <p:sp>
        <p:nvSpPr>
          <p:cNvPr id="188" name="Google Shape;188;p3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a mathematical object   G = {V,E}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represent a network as a graph and associated </a:t>
            </a:r>
            <a:r>
              <a:rPr lang="en"/>
              <a:t>adjacency</a:t>
            </a:r>
            <a:r>
              <a:rPr lang="en"/>
              <a:t> matrix you need to define: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the vertices (V) are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a relation (edge, E)  is between vertices.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you need to operationalize the definitions by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Boundary conditions for the V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Measurement protocol for determining E (social ties)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Collection with measurement of presence/absence of a tie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Defining the Relationship:  </a:t>
            </a:r>
            <a:r>
              <a:rPr lang="en"/>
              <a:t>Tie Typology</a:t>
            </a:r>
            <a:endParaRPr/>
          </a:p>
        </p:txBody>
      </p:sp>
      <p:pic>
        <p:nvPicPr>
          <p:cNvPr id="194" name="Google Shape;19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900" y="1609850"/>
            <a:ext cx="7867650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Defining the </a:t>
            </a:r>
            <a:r>
              <a:rPr lang="en"/>
              <a:t>Relationship</a:t>
            </a:r>
            <a:r>
              <a:rPr lang="en"/>
              <a:t>: </a:t>
            </a:r>
            <a:r>
              <a:rPr lang="en"/>
              <a:t>Dyad Types</a:t>
            </a:r>
            <a:endParaRPr/>
          </a:p>
        </p:txBody>
      </p:sp>
      <p:sp>
        <p:nvSpPr>
          <p:cNvPr id="200" name="Google Shape;200;p37"/>
          <p:cNvSpPr txBox="1"/>
          <p:nvPr>
            <p:ph idx="1" type="body"/>
          </p:nvPr>
        </p:nvSpPr>
        <p:spPr>
          <a:xfrm>
            <a:off x="339075" y="1141100"/>
            <a:ext cx="50931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Dyad is a p</a:t>
            </a:r>
            <a:r>
              <a:rPr lang="en"/>
              <a:t>air of two vertices:  {i,j}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Directed (digraph):  ordered pair {i,j}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Unidirected:  unordered pair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Edge defined by type of a relationship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>
                <a:solidFill>
                  <a:srgbClr val="FF0000"/>
                </a:solidFill>
              </a:rPr>
              <a:t>Symmetric</a:t>
            </a:r>
            <a:r>
              <a:rPr lang="en" sz="1800"/>
              <a:t> relationships (friendship, alliance)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>
                <a:solidFill>
                  <a:srgbClr val="FF0000"/>
                </a:solidFill>
              </a:rPr>
              <a:t>Asymmetric</a:t>
            </a:r>
            <a:r>
              <a:rPr lang="en" sz="1800"/>
              <a:t>: Can be reciprocal but may not be (liking, advising)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>
                <a:solidFill>
                  <a:srgbClr val="FF0000"/>
                </a:solidFill>
              </a:rPr>
              <a:t>Antisymmetric</a:t>
            </a:r>
            <a:r>
              <a:rPr lang="en" sz="1800"/>
              <a:t>: can not be reciprocal (boss, father-son)</a:t>
            </a:r>
            <a:endParaRPr sz="1800"/>
          </a:p>
        </p:txBody>
      </p:sp>
      <p:pic>
        <p:nvPicPr>
          <p:cNvPr id="201" name="Google Shape;20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9350" y="1898637"/>
            <a:ext cx="3165975" cy="221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8"/>
          <p:cNvSpPr/>
          <p:nvPr/>
        </p:nvSpPr>
        <p:spPr>
          <a:xfrm>
            <a:off x="447675" y="3382650"/>
            <a:ext cx="242100" cy="242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8"/>
          <p:cNvSpPr/>
          <p:nvPr/>
        </p:nvSpPr>
        <p:spPr>
          <a:xfrm>
            <a:off x="1563150" y="3369450"/>
            <a:ext cx="242100" cy="242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8"/>
          <p:cNvSpPr txBox="1"/>
          <p:nvPr/>
        </p:nvSpPr>
        <p:spPr>
          <a:xfrm>
            <a:off x="2471025" y="2770000"/>
            <a:ext cx="143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Symmetric</a:t>
            </a:r>
            <a:endParaRPr/>
          </a:p>
        </p:txBody>
      </p:sp>
      <p:sp>
        <p:nvSpPr>
          <p:cNvPr id="209" name="Google Shape;209;p38"/>
          <p:cNvSpPr txBox="1"/>
          <p:nvPr/>
        </p:nvSpPr>
        <p:spPr>
          <a:xfrm>
            <a:off x="2624000" y="3319200"/>
            <a:ext cx="1051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Null</a:t>
            </a:r>
            <a:endParaRPr/>
          </a:p>
        </p:txBody>
      </p:sp>
      <p:sp>
        <p:nvSpPr>
          <p:cNvPr id="210" name="Google Shape;210;p38"/>
          <p:cNvSpPr txBox="1"/>
          <p:nvPr/>
        </p:nvSpPr>
        <p:spPr>
          <a:xfrm>
            <a:off x="805525" y="2230350"/>
            <a:ext cx="27459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Symmetrical Relationship</a:t>
            </a:r>
            <a:endParaRPr b="1"/>
          </a:p>
        </p:txBody>
      </p:sp>
      <p:sp>
        <p:nvSpPr>
          <p:cNvPr id="211" name="Google Shape;211;p38"/>
          <p:cNvSpPr txBox="1"/>
          <p:nvPr/>
        </p:nvSpPr>
        <p:spPr>
          <a:xfrm>
            <a:off x="5460600" y="2201975"/>
            <a:ext cx="25629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Asymmetrical Relationship</a:t>
            </a:r>
            <a:endParaRPr b="1"/>
          </a:p>
        </p:txBody>
      </p:sp>
      <p:sp>
        <p:nvSpPr>
          <p:cNvPr id="212" name="Google Shape;212;p38"/>
          <p:cNvSpPr/>
          <p:nvPr/>
        </p:nvSpPr>
        <p:spPr>
          <a:xfrm>
            <a:off x="5229025" y="2855850"/>
            <a:ext cx="242100" cy="242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8"/>
          <p:cNvSpPr/>
          <p:nvPr/>
        </p:nvSpPr>
        <p:spPr>
          <a:xfrm>
            <a:off x="6375850" y="2849250"/>
            <a:ext cx="242100" cy="242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38"/>
          <p:cNvSpPr txBox="1"/>
          <p:nvPr/>
        </p:nvSpPr>
        <p:spPr>
          <a:xfrm>
            <a:off x="7416375" y="2814450"/>
            <a:ext cx="11697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Mutual</a:t>
            </a:r>
            <a:endParaRPr/>
          </a:p>
        </p:txBody>
      </p:sp>
      <p:sp>
        <p:nvSpPr>
          <p:cNvPr id="215" name="Google Shape;215;p38"/>
          <p:cNvSpPr/>
          <p:nvPr/>
        </p:nvSpPr>
        <p:spPr>
          <a:xfrm>
            <a:off x="5229025" y="3344825"/>
            <a:ext cx="242100" cy="242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8"/>
          <p:cNvSpPr/>
          <p:nvPr/>
        </p:nvSpPr>
        <p:spPr>
          <a:xfrm>
            <a:off x="6375850" y="3344825"/>
            <a:ext cx="242100" cy="242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7" name="Google Shape;217;p38"/>
          <p:cNvCxnSpPr>
            <a:stCxn id="212" idx="7"/>
            <a:endCxn id="213" idx="1"/>
          </p:cNvCxnSpPr>
          <p:nvPr/>
        </p:nvCxnSpPr>
        <p:spPr>
          <a:xfrm flipH="1" rot="10800000">
            <a:off x="5435670" y="2884705"/>
            <a:ext cx="975600" cy="6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8" name="Google Shape;218;p38"/>
          <p:cNvCxnSpPr/>
          <p:nvPr/>
        </p:nvCxnSpPr>
        <p:spPr>
          <a:xfrm flipH="1">
            <a:off x="5435705" y="3055895"/>
            <a:ext cx="975600" cy="6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" name="Google Shape;219;p38"/>
          <p:cNvCxnSpPr>
            <a:stCxn id="215" idx="6"/>
            <a:endCxn id="216" idx="2"/>
          </p:cNvCxnSpPr>
          <p:nvPr/>
        </p:nvCxnSpPr>
        <p:spPr>
          <a:xfrm>
            <a:off x="5471125" y="3465875"/>
            <a:ext cx="90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0" name="Google Shape;220;p38"/>
          <p:cNvSpPr txBox="1"/>
          <p:nvPr/>
        </p:nvSpPr>
        <p:spPr>
          <a:xfrm>
            <a:off x="7380950" y="3254243"/>
            <a:ext cx="1169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Asymmetric</a:t>
            </a:r>
            <a:endParaRPr/>
          </a:p>
        </p:txBody>
      </p:sp>
      <p:sp>
        <p:nvSpPr>
          <p:cNvPr id="221" name="Google Shape;221;p38"/>
          <p:cNvSpPr/>
          <p:nvPr/>
        </p:nvSpPr>
        <p:spPr>
          <a:xfrm>
            <a:off x="5229025" y="3981300"/>
            <a:ext cx="242100" cy="242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8"/>
          <p:cNvSpPr/>
          <p:nvPr/>
        </p:nvSpPr>
        <p:spPr>
          <a:xfrm>
            <a:off x="6375850" y="3974700"/>
            <a:ext cx="242100" cy="242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8"/>
          <p:cNvSpPr txBox="1"/>
          <p:nvPr/>
        </p:nvSpPr>
        <p:spPr>
          <a:xfrm>
            <a:off x="7457150" y="3928050"/>
            <a:ext cx="1051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Null</a:t>
            </a:r>
            <a:endParaRPr/>
          </a:p>
        </p:txBody>
      </p:sp>
      <p:grpSp>
        <p:nvGrpSpPr>
          <p:cNvPr id="224" name="Google Shape;224;p38"/>
          <p:cNvGrpSpPr/>
          <p:nvPr/>
        </p:nvGrpSpPr>
        <p:grpSpPr>
          <a:xfrm>
            <a:off x="424525" y="2849250"/>
            <a:ext cx="1388925" cy="248700"/>
            <a:chOff x="424525" y="1325250"/>
            <a:chExt cx="1388925" cy="248700"/>
          </a:xfrm>
        </p:grpSpPr>
        <p:sp>
          <p:nvSpPr>
            <p:cNvPr id="225" name="Google Shape;225;p38"/>
            <p:cNvSpPr/>
            <p:nvPr/>
          </p:nvSpPr>
          <p:spPr>
            <a:xfrm>
              <a:off x="424525" y="1331850"/>
              <a:ext cx="242100" cy="2421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38"/>
            <p:cNvSpPr/>
            <p:nvPr/>
          </p:nvSpPr>
          <p:spPr>
            <a:xfrm>
              <a:off x="1571350" y="1325250"/>
              <a:ext cx="242100" cy="2421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27" name="Google Shape;227;p38"/>
            <p:cNvCxnSpPr>
              <a:stCxn id="225" idx="6"/>
              <a:endCxn id="226" idx="2"/>
            </p:cNvCxnSpPr>
            <p:nvPr/>
          </p:nvCxnSpPr>
          <p:spPr>
            <a:xfrm flipH="1" rot="10800000">
              <a:off x="666625" y="1446300"/>
              <a:ext cx="904800" cy="6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28" name="Google Shape;228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 Census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Formalization &amp; Representations </a:t>
            </a:r>
            <a:endParaRPr/>
          </a:p>
        </p:txBody>
      </p:sp>
      <p:sp>
        <p:nvSpPr>
          <p:cNvPr id="234" name="Google Shape;234;p39"/>
          <p:cNvSpPr txBox="1"/>
          <p:nvPr/>
        </p:nvSpPr>
        <p:spPr>
          <a:xfrm>
            <a:off x="493575" y="1281450"/>
            <a:ext cx="6523800" cy="3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x</a:t>
            </a:r>
            <a:r>
              <a:rPr baseline="-25000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ij</a:t>
            </a: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= 1 if an edge between </a:t>
            </a:r>
            <a:r>
              <a:rPr i="1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and </a:t>
            </a:r>
            <a:r>
              <a:rPr i="1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br>
              <a:rPr i="1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x</a:t>
            </a:r>
            <a:r>
              <a:rPr baseline="-25000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ij</a:t>
            </a: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= 0 if no edge between </a:t>
            </a:r>
            <a:r>
              <a:rPr i="1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and </a:t>
            </a:r>
            <a:r>
              <a:rPr i="1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br>
              <a:rPr i="1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i="1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	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Digraph (directed)   x</a:t>
            </a:r>
            <a:r>
              <a:rPr baseline="-25000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ij</a:t>
            </a: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≠ x</a:t>
            </a:r>
            <a:r>
              <a:rPr baseline="-25000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ji</a:t>
            </a:r>
            <a:endParaRPr baseline="-25000"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Graph (undirected)      x</a:t>
            </a:r>
            <a:r>
              <a:rPr baseline="-25000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ij</a:t>
            </a: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= x</a:t>
            </a:r>
            <a:r>
              <a:rPr baseline="-25000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ji</a:t>
            </a:r>
            <a:endParaRPr baseline="-25000"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5" name="Google Shape;235;p39"/>
          <p:cNvSpPr txBox="1"/>
          <p:nvPr/>
        </p:nvSpPr>
        <p:spPr>
          <a:xfrm>
            <a:off x="493575" y="3359775"/>
            <a:ext cx="6185400" cy="15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Three </a:t>
            </a: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Representations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AutoNum type="arabicPeriod"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N x N </a:t>
            </a: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adjacency</a:t>
            </a: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 matrix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AutoNum type="arabicPeriod"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Plot (Graph)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AutoNum type="arabicPeriod"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Edge List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525" y="1088675"/>
            <a:ext cx="3405025" cy="2476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44972" y="152400"/>
            <a:ext cx="1510377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025" y="3478925"/>
            <a:ext cx="7155350" cy="11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73275" y="1007600"/>
            <a:ext cx="2919138" cy="15213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Undirected Graph, </a:t>
            </a:r>
            <a:r>
              <a:rPr lang="en"/>
              <a:t>Symmetric</a:t>
            </a:r>
            <a:r>
              <a:rPr lang="en"/>
              <a:t> Matrix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Undirected Graph, Symmetric Matrix</a:t>
            </a:r>
            <a:endParaRPr/>
          </a:p>
        </p:txBody>
      </p:sp>
      <p:pic>
        <p:nvPicPr>
          <p:cNvPr id="250" name="Google Shape;25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69500"/>
            <a:ext cx="2359773" cy="207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" y="3280925"/>
            <a:ext cx="7723223" cy="140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84100" y="3501252"/>
            <a:ext cx="1359900" cy="120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01500" y="1485192"/>
            <a:ext cx="6167725" cy="989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600" y="992900"/>
            <a:ext cx="3449574" cy="2508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6500" y="992900"/>
            <a:ext cx="3202675" cy="154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3963" y="3570898"/>
            <a:ext cx="6916075" cy="111322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 (digraph)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 (digraph)</a:t>
            </a:r>
            <a:endParaRPr/>
          </a:p>
        </p:txBody>
      </p:sp>
      <p:pic>
        <p:nvPicPr>
          <p:cNvPr id="267" name="Google Shape;26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775" y="993050"/>
            <a:ext cx="2804200" cy="2397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5276" y="1256875"/>
            <a:ext cx="6546826" cy="100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32891" y="2754725"/>
            <a:ext cx="1201009" cy="192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39988" y="2683425"/>
            <a:ext cx="3324225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4"/>
          <p:cNvSpPr txBox="1"/>
          <p:nvPr>
            <p:ph type="title"/>
          </p:nvPr>
        </p:nvSpPr>
        <p:spPr>
          <a:xfrm>
            <a:off x="311700" y="4683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Density</a:t>
            </a:r>
            <a:endParaRPr/>
          </a:p>
        </p:txBody>
      </p:sp>
      <p:pic>
        <p:nvPicPr>
          <p:cNvPr id="276" name="Google Shape;27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4374" y="2469300"/>
            <a:ext cx="1672648" cy="83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44"/>
          <p:cNvSpPr txBox="1"/>
          <p:nvPr/>
        </p:nvSpPr>
        <p:spPr>
          <a:xfrm>
            <a:off x="379550" y="2619175"/>
            <a:ext cx="15159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Di-graph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8" name="Google Shape;278;p44"/>
          <p:cNvSpPr txBox="1"/>
          <p:nvPr/>
        </p:nvSpPr>
        <p:spPr>
          <a:xfrm>
            <a:off x="364000" y="3816325"/>
            <a:ext cx="13317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Undirected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Graph 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79" name="Google Shape;279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6075" y="3663925"/>
            <a:ext cx="1955125" cy="73977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44"/>
          <p:cNvSpPr txBox="1"/>
          <p:nvPr/>
        </p:nvSpPr>
        <p:spPr>
          <a:xfrm>
            <a:off x="448875" y="1550750"/>
            <a:ext cx="8028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Number of actual ties as proportion of number of possible ties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Probability that a tie exists between any two vertices chosen at random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Degree Distribution (undirected)</a:t>
            </a:r>
            <a:endParaRPr/>
          </a:p>
        </p:txBody>
      </p:sp>
      <p:pic>
        <p:nvPicPr>
          <p:cNvPr id="286" name="Google Shape;28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376" y="4301400"/>
            <a:ext cx="1522125" cy="723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775" y="3124200"/>
            <a:ext cx="4772776" cy="48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3900" y="3733800"/>
            <a:ext cx="2326900" cy="546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1299625"/>
            <a:ext cx="8305800" cy="14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17375" y="3055325"/>
            <a:ext cx="3314594" cy="12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67326" y="4384258"/>
            <a:ext cx="4464639" cy="558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Degree Distribution (digraph)</a:t>
            </a:r>
            <a:endParaRPr/>
          </a:p>
        </p:txBody>
      </p:sp>
      <p:sp>
        <p:nvSpPr>
          <p:cNvPr id="297" name="Google Shape;297;p46"/>
          <p:cNvSpPr txBox="1"/>
          <p:nvPr/>
        </p:nvSpPr>
        <p:spPr>
          <a:xfrm>
            <a:off x="311700" y="1147225"/>
            <a:ext cx="35898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In-Degree (Popularity)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Out-Degree (Influence??)</a:t>
            </a:r>
            <a:br>
              <a:rPr lang="en" sz="1800">
                <a:latin typeface="Open Sans"/>
                <a:ea typeface="Open Sans"/>
                <a:cs typeface="Open Sans"/>
                <a:sym typeface="Open Sans"/>
              </a:rPr>
            </a:b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Note: Degree is not the sum of in and out degree;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○"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can </a:t>
            </a:r>
            <a:r>
              <a:rPr lang="en" sz="1800" u="sng">
                <a:latin typeface="Open Sans"/>
                <a:ea typeface="Open Sans"/>
                <a:cs typeface="Open Sans"/>
                <a:sym typeface="Open Sans"/>
              </a:rPr>
              <a:t>not</a:t>
            </a: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 count reciprocal ties twice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98" name="Google Shape;29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5325" y="2319600"/>
            <a:ext cx="3128677" cy="2275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075" y="3382125"/>
            <a:ext cx="5954525" cy="1115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0" name="Google Shape;300;p46"/>
          <p:cNvGrpSpPr/>
          <p:nvPr/>
        </p:nvGrpSpPr>
        <p:grpSpPr>
          <a:xfrm>
            <a:off x="4350221" y="1098710"/>
            <a:ext cx="2396168" cy="1683855"/>
            <a:chOff x="354446" y="3402925"/>
            <a:chExt cx="2379275" cy="1606425"/>
          </a:xfrm>
        </p:grpSpPr>
        <p:pic>
          <p:nvPicPr>
            <p:cNvPr id="301" name="Google Shape;301;p4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54446" y="4226775"/>
              <a:ext cx="2379275" cy="782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2" name="Google Shape;302;p4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81175" y="3402925"/>
              <a:ext cx="2325825" cy="8238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graph theoretic concepts: Subgraphs</a:t>
            </a:r>
            <a:endParaRPr/>
          </a:p>
        </p:txBody>
      </p:sp>
      <p:sp>
        <p:nvSpPr>
          <p:cNvPr id="308" name="Google Shape;308;p4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G' = (V', E') is a subgraph of a graph G iff: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V' is a subset of V and E' is a subset of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Subgraphs may induced by either: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Sampling a group of vertices and the selecting the subset of edges that link them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Sampling a group of edges and the selecting of the vertices that are the destination (origin) of each edge.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lot of network methods are designed to split a graph into subgraphs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Subgraphs can be used to represent the social network concepts of </a:t>
            </a:r>
            <a:r>
              <a:rPr b="1" lang="en"/>
              <a:t>groups</a:t>
            </a:r>
            <a:r>
              <a:rPr lang="en"/>
              <a:t>, </a:t>
            </a:r>
            <a:r>
              <a:rPr b="1" lang="en"/>
              <a:t>cliques</a:t>
            </a:r>
            <a:r>
              <a:rPr lang="en"/>
              <a:t>, or </a:t>
            </a:r>
            <a:r>
              <a:rPr b="1" lang="en"/>
              <a:t>communities</a:t>
            </a:r>
            <a:endParaRPr b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Walks, Trails, Paths</a:t>
            </a:r>
            <a:endParaRPr/>
          </a:p>
        </p:txBody>
      </p:sp>
      <p:sp>
        <p:nvSpPr>
          <p:cNvPr id="314" name="Google Shape;314;p4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walk is an alternating sequence of vertices and edges {u</a:t>
            </a:r>
            <a:r>
              <a:rPr baseline="-25000" lang="en"/>
              <a:t>1</a:t>
            </a:r>
            <a:r>
              <a:rPr lang="en"/>
              <a:t>, e</a:t>
            </a:r>
            <a:r>
              <a:rPr baseline="-25000" lang="en"/>
              <a:t>12</a:t>
            </a:r>
            <a:r>
              <a:rPr lang="en"/>
              <a:t>, u</a:t>
            </a:r>
            <a:r>
              <a:rPr baseline="-25000" lang="en"/>
              <a:t>2</a:t>
            </a:r>
            <a:r>
              <a:rPr lang="en"/>
              <a:t>, e</a:t>
            </a:r>
            <a:r>
              <a:rPr baseline="-25000" lang="en"/>
              <a:t>23</a:t>
            </a:r>
            <a:r>
              <a:rPr lang="en"/>
              <a:t>, u</a:t>
            </a:r>
            <a:r>
              <a:rPr baseline="-25000" lang="en"/>
              <a:t>3</a:t>
            </a:r>
            <a:r>
              <a:rPr lang="en"/>
              <a:t>....u</a:t>
            </a:r>
            <a:r>
              <a:rPr baseline="-25000" lang="en"/>
              <a:t>n</a:t>
            </a:r>
            <a:r>
              <a:rPr lang="en"/>
              <a:t>} starting with an </a:t>
            </a:r>
            <a:r>
              <a:rPr b="1" lang="en"/>
              <a:t>origin</a:t>
            </a:r>
            <a:r>
              <a:rPr lang="en"/>
              <a:t> vertex u</a:t>
            </a:r>
            <a:r>
              <a:rPr baseline="-25000" lang="en"/>
              <a:t>1</a:t>
            </a:r>
            <a:r>
              <a:rPr lang="en"/>
              <a:t> ending with a </a:t>
            </a:r>
            <a:r>
              <a:rPr b="1" lang="en"/>
              <a:t>destination</a:t>
            </a:r>
            <a:r>
              <a:rPr lang="en"/>
              <a:t> vertex u</a:t>
            </a:r>
            <a:r>
              <a:rPr baseline="-25000" lang="en"/>
              <a:t>n</a:t>
            </a:r>
            <a:r>
              <a:rPr lang="en"/>
              <a:t> such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vertex in the sequence (excluding the origin and destination vertices) is adjacent to the vertex the precedes it and the vertex that follows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length</a:t>
            </a:r>
            <a:r>
              <a:rPr lang="en"/>
              <a:t> of the walk is the number of edges contained in the sequence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walk is called a </a:t>
            </a:r>
            <a:r>
              <a:rPr b="1" lang="en"/>
              <a:t>path</a:t>
            </a:r>
            <a:r>
              <a:rPr lang="en"/>
              <a:t> if all edges and all vertices appear only once in the sequence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Graph-theoretic paths can be used to represent the social network concept of “n-degrees of separation” between people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particular, we may be interested in the length of the </a:t>
            </a:r>
            <a:r>
              <a:rPr b="1" lang="en"/>
              <a:t>shortest path </a:t>
            </a:r>
            <a:r>
              <a:rPr lang="en"/>
              <a:t>(L &gt; 1) linking two people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Walks, Trails, Paths</a:t>
            </a:r>
            <a:endParaRPr/>
          </a:p>
        </p:txBody>
      </p:sp>
      <p:sp>
        <p:nvSpPr>
          <p:cNvPr id="320" name="Google Shape;320;p4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walk is an alternating sequence of vertices and edges {u</a:t>
            </a:r>
            <a:r>
              <a:rPr baseline="-25000" lang="en"/>
              <a:t>1</a:t>
            </a:r>
            <a:r>
              <a:rPr lang="en"/>
              <a:t>, e</a:t>
            </a:r>
            <a:r>
              <a:rPr baseline="-25000" lang="en"/>
              <a:t>12</a:t>
            </a:r>
            <a:r>
              <a:rPr lang="en"/>
              <a:t>, u</a:t>
            </a:r>
            <a:r>
              <a:rPr baseline="-25000" lang="en"/>
              <a:t>2</a:t>
            </a:r>
            <a:r>
              <a:rPr lang="en"/>
              <a:t>, e</a:t>
            </a:r>
            <a:r>
              <a:rPr baseline="-25000" lang="en"/>
              <a:t>23</a:t>
            </a:r>
            <a:r>
              <a:rPr lang="en"/>
              <a:t>, u</a:t>
            </a:r>
            <a:r>
              <a:rPr baseline="-25000" lang="en"/>
              <a:t>3</a:t>
            </a:r>
            <a:r>
              <a:rPr lang="en"/>
              <a:t>....u</a:t>
            </a:r>
            <a:r>
              <a:rPr baseline="-25000" lang="en"/>
              <a:t>n</a:t>
            </a:r>
            <a:r>
              <a:rPr lang="en"/>
              <a:t>} starting with an </a:t>
            </a:r>
            <a:r>
              <a:rPr b="1" lang="en"/>
              <a:t>origin</a:t>
            </a:r>
            <a:r>
              <a:rPr lang="en"/>
              <a:t> vertex u</a:t>
            </a:r>
            <a:r>
              <a:rPr baseline="-25000" lang="en"/>
              <a:t>1</a:t>
            </a:r>
            <a:r>
              <a:rPr lang="en"/>
              <a:t> ending with a </a:t>
            </a:r>
            <a:r>
              <a:rPr b="1" lang="en"/>
              <a:t>destination</a:t>
            </a:r>
            <a:r>
              <a:rPr lang="en"/>
              <a:t> vertex u</a:t>
            </a:r>
            <a:r>
              <a:rPr baseline="-25000" lang="en"/>
              <a:t>n</a:t>
            </a:r>
            <a:r>
              <a:rPr lang="en"/>
              <a:t> such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vertex in the sequence (excluding the origin and destination vertices) is adjacent to the vertex the precedes it and the vertex that follows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length</a:t>
            </a:r>
            <a:r>
              <a:rPr lang="en"/>
              <a:t> of the walk is the number of edges contained in the sequence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walk is called a </a:t>
            </a:r>
            <a:r>
              <a:rPr b="1" lang="en"/>
              <a:t>path</a:t>
            </a:r>
            <a:r>
              <a:rPr lang="en"/>
              <a:t> if all edges and all vertices appear only once in the sequence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also be interested in the </a:t>
            </a:r>
            <a:r>
              <a:rPr b="1" lang="en"/>
              <a:t>average </a:t>
            </a:r>
            <a:r>
              <a:rPr lang="en"/>
              <a:t>length of the shortest paths (also called </a:t>
            </a:r>
            <a:r>
              <a:rPr b="1" lang="en"/>
              <a:t>geodesics</a:t>
            </a:r>
            <a:r>
              <a:rPr lang="en"/>
              <a:t>) linking each pair of vertices in a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When this is smaller than we would expect (e.g. “6”) this quantity can be used to represent the social network concept of a “</a:t>
            </a:r>
            <a:r>
              <a:rPr b="1" lang="en"/>
              <a:t>small world</a:t>
            </a:r>
            <a:r>
              <a:rPr lang="en"/>
              <a:t>”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326" name="Google Shape;326;p50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exists a (finite) path between each vertex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 the graph is </a:t>
            </a:r>
            <a:r>
              <a:rPr b="1" lang="en"/>
              <a:t>disconnected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maximal connected subgraph is called a </a:t>
            </a:r>
            <a:r>
              <a:rPr b="1" lang="en"/>
              <a:t>component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graph, the connected subgraph that contains the largest proportion of vertices is called the </a:t>
            </a:r>
            <a:r>
              <a:rPr b="1" lang="en"/>
              <a:t>giant</a:t>
            </a:r>
            <a:r>
              <a:rPr lang="en"/>
              <a:t> component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axresdefault.jpg" id="327" name="Google Shape;327;p50"/>
          <p:cNvPicPr preferRelativeResize="0"/>
          <p:nvPr/>
        </p:nvPicPr>
        <p:blipFill rotWithShape="1">
          <a:blip r:embed="rId3">
            <a:alphaModFix/>
          </a:blip>
          <a:srcRect b="8239" l="29288" r="29009" t="23890"/>
          <a:stretch/>
        </p:blipFill>
        <p:spPr>
          <a:xfrm>
            <a:off x="5151675" y="1239788"/>
            <a:ext cx="3632099" cy="332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333" name="Google Shape;333;p51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exists a (finite) path between each vertex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 the graph is </a:t>
            </a:r>
            <a:r>
              <a:rPr b="1" lang="en"/>
              <a:t>disconnected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maximal connected subgraph is called a </a:t>
            </a:r>
            <a:r>
              <a:rPr b="1" lang="en"/>
              <a:t>component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graph, the connected subgraph that contains the largest proportion of vertices is called the </a:t>
            </a:r>
            <a:r>
              <a:rPr b="1" lang="en"/>
              <a:t>giant</a:t>
            </a:r>
            <a:r>
              <a:rPr lang="en"/>
              <a:t> component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axresdefault.jpg" id="334" name="Google Shape;334;p51"/>
          <p:cNvPicPr preferRelativeResize="0"/>
          <p:nvPr/>
        </p:nvPicPr>
        <p:blipFill rotWithShape="1">
          <a:blip r:embed="rId3">
            <a:alphaModFix/>
          </a:blip>
          <a:srcRect b="8239" l="29288" r="29009" t="23890"/>
          <a:stretch/>
        </p:blipFill>
        <p:spPr>
          <a:xfrm>
            <a:off x="5151675" y="1239788"/>
            <a:ext cx="3632099" cy="3324875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51"/>
          <p:cNvSpPr txBox="1"/>
          <p:nvPr/>
        </p:nvSpPr>
        <p:spPr>
          <a:xfrm>
            <a:off x="6753375" y="2381850"/>
            <a:ext cx="428700" cy="37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51"/>
          <p:cNvSpPr txBox="1"/>
          <p:nvPr/>
        </p:nvSpPr>
        <p:spPr>
          <a:xfrm>
            <a:off x="6711675" y="3198325"/>
            <a:ext cx="308100" cy="2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51"/>
          <p:cNvSpPr txBox="1"/>
          <p:nvPr/>
        </p:nvSpPr>
        <p:spPr>
          <a:xfrm>
            <a:off x="5014200" y="1184600"/>
            <a:ext cx="1900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Oops! Disconnected!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343" name="Google Shape;343;p52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exists a (finite) path between each vertex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 the graph is </a:t>
            </a:r>
            <a:r>
              <a:rPr b="1" lang="en"/>
              <a:t>disconnected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maximal connected subgraph is called a </a:t>
            </a:r>
            <a:r>
              <a:rPr b="1" lang="en"/>
              <a:t>component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graph, the connected subgraph that contains the largest proportion of vertices is called the </a:t>
            </a:r>
            <a:r>
              <a:rPr b="1" lang="en"/>
              <a:t>giant</a:t>
            </a:r>
            <a:r>
              <a:rPr lang="en"/>
              <a:t> component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axresdefault.jpg" id="344" name="Google Shape;344;p52"/>
          <p:cNvPicPr preferRelativeResize="0"/>
          <p:nvPr/>
        </p:nvPicPr>
        <p:blipFill rotWithShape="1">
          <a:blip r:embed="rId3">
            <a:alphaModFix/>
          </a:blip>
          <a:srcRect b="8239" l="29288" r="29009" t="23890"/>
          <a:stretch/>
        </p:blipFill>
        <p:spPr>
          <a:xfrm>
            <a:off x="5151675" y="1239788"/>
            <a:ext cx="3632099" cy="332487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52"/>
          <p:cNvSpPr txBox="1"/>
          <p:nvPr/>
        </p:nvSpPr>
        <p:spPr>
          <a:xfrm>
            <a:off x="6753375" y="2381850"/>
            <a:ext cx="428700" cy="37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52"/>
          <p:cNvSpPr txBox="1"/>
          <p:nvPr/>
        </p:nvSpPr>
        <p:spPr>
          <a:xfrm>
            <a:off x="6711675" y="3198325"/>
            <a:ext cx="308100" cy="2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52"/>
          <p:cNvSpPr/>
          <p:nvPr/>
        </p:nvSpPr>
        <p:spPr>
          <a:xfrm>
            <a:off x="6841925" y="1038175"/>
            <a:ext cx="1754700" cy="3728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353" name="Google Shape;353;p53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exists a (finite) path between each vertex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 the graph is </a:t>
            </a:r>
            <a:r>
              <a:rPr b="1" lang="en"/>
              <a:t>disconnected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maximal connected subgraph is called a </a:t>
            </a:r>
            <a:r>
              <a:rPr b="1" lang="en"/>
              <a:t>component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graph, the connected subgraph that contains the largest proportion of vertices is called the </a:t>
            </a:r>
            <a:r>
              <a:rPr b="1" lang="en"/>
              <a:t>giant</a:t>
            </a:r>
            <a:r>
              <a:rPr lang="en"/>
              <a:t> component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axresdefault.jpg" id="354" name="Google Shape;354;p53"/>
          <p:cNvPicPr preferRelativeResize="0"/>
          <p:nvPr/>
        </p:nvPicPr>
        <p:blipFill rotWithShape="1">
          <a:blip r:embed="rId3">
            <a:alphaModFix/>
          </a:blip>
          <a:srcRect b="8239" l="29288" r="29009" t="23890"/>
          <a:stretch/>
        </p:blipFill>
        <p:spPr>
          <a:xfrm>
            <a:off x="5151675" y="1239788"/>
            <a:ext cx="3632099" cy="332487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53"/>
          <p:cNvSpPr txBox="1"/>
          <p:nvPr/>
        </p:nvSpPr>
        <p:spPr>
          <a:xfrm>
            <a:off x="6753375" y="2381850"/>
            <a:ext cx="428700" cy="37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53"/>
          <p:cNvSpPr txBox="1"/>
          <p:nvPr/>
        </p:nvSpPr>
        <p:spPr>
          <a:xfrm>
            <a:off x="6711675" y="3198325"/>
            <a:ext cx="308100" cy="2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53"/>
          <p:cNvSpPr txBox="1"/>
          <p:nvPr/>
        </p:nvSpPr>
        <p:spPr>
          <a:xfrm>
            <a:off x="7536600" y="2713225"/>
            <a:ext cx="348600" cy="2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53"/>
          <p:cNvSpPr txBox="1"/>
          <p:nvPr/>
        </p:nvSpPr>
        <p:spPr>
          <a:xfrm>
            <a:off x="8093350" y="2680750"/>
            <a:ext cx="348600" cy="41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364" name="Google Shape;364;p54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Some graphs are easy to disconnect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require the removal of a few links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Others are hard to disconnect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Requires the removal of a lot of links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number of edges whose removal is required to disconnect a graph can represent the social network concept of </a:t>
            </a:r>
            <a:r>
              <a:rPr b="1" lang="en"/>
              <a:t>social integration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the </a:t>
            </a:r>
            <a:r>
              <a:rPr b="1" lang="en"/>
              <a:t>cutset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axresdefault.jpg" id="365" name="Google Shape;365;p54"/>
          <p:cNvPicPr preferRelativeResize="0"/>
          <p:nvPr/>
        </p:nvPicPr>
        <p:blipFill rotWithShape="1">
          <a:blip r:embed="rId3">
            <a:alphaModFix/>
          </a:blip>
          <a:srcRect b="8239" l="29288" r="29009" t="23890"/>
          <a:stretch/>
        </p:blipFill>
        <p:spPr>
          <a:xfrm>
            <a:off x="5151675" y="1239788"/>
            <a:ext cx="3632099" cy="332487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54"/>
          <p:cNvSpPr txBox="1"/>
          <p:nvPr/>
        </p:nvSpPr>
        <p:spPr>
          <a:xfrm>
            <a:off x="6753375" y="2381850"/>
            <a:ext cx="428700" cy="37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54"/>
          <p:cNvSpPr txBox="1"/>
          <p:nvPr/>
        </p:nvSpPr>
        <p:spPr>
          <a:xfrm>
            <a:off x="6711675" y="3198325"/>
            <a:ext cx="308100" cy="2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54"/>
          <p:cNvSpPr txBox="1"/>
          <p:nvPr/>
        </p:nvSpPr>
        <p:spPr>
          <a:xfrm>
            <a:off x="7536600" y="2713225"/>
            <a:ext cx="348600" cy="2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54"/>
          <p:cNvSpPr txBox="1"/>
          <p:nvPr/>
        </p:nvSpPr>
        <p:spPr>
          <a:xfrm>
            <a:off x="8093350" y="2680750"/>
            <a:ext cx="348600" cy="41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54"/>
          <p:cNvSpPr/>
          <p:nvPr/>
        </p:nvSpPr>
        <p:spPr>
          <a:xfrm>
            <a:off x="6867075" y="1078225"/>
            <a:ext cx="1916700" cy="19248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54"/>
          <p:cNvSpPr/>
          <p:nvPr/>
        </p:nvSpPr>
        <p:spPr>
          <a:xfrm>
            <a:off x="6752550" y="2831925"/>
            <a:ext cx="1916700" cy="19248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54"/>
          <p:cNvSpPr/>
          <p:nvPr/>
        </p:nvSpPr>
        <p:spPr>
          <a:xfrm>
            <a:off x="5122950" y="1939838"/>
            <a:ext cx="1916700" cy="19248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378" name="Google Shape;378;p55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graphs are easy to disconnect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require the removal of a few links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Others are hard to disconnect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Requires the removal of a lot of link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higher</a:t>
            </a:r>
            <a:r>
              <a:rPr lang="en"/>
              <a:t> the cutset the more </a:t>
            </a:r>
            <a:r>
              <a:rPr b="1" lang="en"/>
              <a:t>integrated</a:t>
            </a:r>
            <a:r>
              <a:rPr lang="en"/>
              <a:t> the social network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lower</a:t>
            </a:r>
            <a:r>
              <a:rPr lang="en"/>
              <a:t> the cutset the more potentially </a:t>
            </a:r>
            <a:r>
              <a:rPr b="1" lang="en"/>
              <a:t>fragmented</a:t>
            </a:r>
            <a:r>
              <a:rPr lang="en"/>
              <a:t> the social structure is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axresdefault.jpg" id="379" name="Google Shape;379;p55"/>
          <p:cNvPicPr preferRelativeResize="0"/>
          <p:nvPr/>
        </p:nvPicPr>
        <p:blipFill rotWithShape="1">
          <a:blip r:embed="rId3">
            <a:alphaModFix/>
          </a:blip>
          <a:srcRect b="8239" l="29288" r="29009" t="23890"/>
          <a:stretch/>
        </p:blipFill>
        <p:spPr>
          <a:xfrm>
            <a:off x="5151675" y="1239788"/>
            <a:ext cx="3632099" cy="3324875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55"/>
          <p:cNvSpPr txBox="1"/>
          <p:nvPr/>
        </p:nvSpPr>
        <p:spPr>
          <a:xfrm>
            <a:off x="6753375" y="2381850"/>
            <a:ext cx="428700" cy="37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55"/>
          <p:cNvSpPr txBox="1"/>
          <p:nvPr/>
        </p:nvSpPr>
        <p:spPr>
          <a:xfrm>
            <a:off x="6711675" y="3198325"/>
            <a:ext cx="308100" cy="2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55"/>
          <p:cNvSpPr txBox="1"/>
          <p:nvPr/>
        </p:nvSpPr>
        <p:spPr>
          <a:xfrm>
            <a:off x="7536600" y="2713225"/>
            <a:ext cx="348600" cy="2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55"/>
          <p:cNvSpPr txBox="1"/>
          <p:nvPr/>
        </p:nvSpPr>
        <p:spPr>
          <a:xfrm>
            <a:off x="8093350" y="2680750"/>
            <a:ext cx="348600" cy="41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55"/>
          <p:cNvSpPr/>
          <p:nvPr/>
        </p:nvSpPr>
        <p:spPr>
          <a:xfrm>
            <a:off x="6867075" y="1078225"/>
            <a:ext cx="1916700" cy="19248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55"/>
          <p:cNvSpPr/>
          <p:nvPr/>
        </p:nvSpPr>
        <p:spPr>
          <a:xfrm>
            <a:off x="6752550" y="2831925"/>
            <a:ext cx="1916700" cy="19248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55"/>
          <p:cNvSpPr/>
          <p:nvPr/>
        </p:nvSpPr>
        <p:spPr>
          <a:xfrm>
            <a:off x="5122950" y="1939838"/>
            <a:ext cx="1916700" cy="19248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graphs</a:t>
            </a:r>
            <a:endParaRPr/>
          </a:p>
        </p:txBody>
      </p:sp>
      <p:sp>
        <p:nvSpPr>
          <p:cNvPr id="392" name="Google Shape;392;p56"/>
          <p:cNvSpPr txBox="1"/>
          <p:nvPr>
            <p:ph idx="1" type="body"/>
          </p:nvPr>
        </p:nvSpPr>
        <p:spPr>
          <a:xfrm>
            <a:off x="311700" y="1225225"/>
            <a:ext cx="496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Often it is useful to associate numerical values with the edges (uv) of a graph: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the edge weight (w</a:t>
            </a:r>
            <a:r>
              <a:rPr baseline="-25000" lang="en"/>
              <a:t>uv</a:t>
            </a:r>
            <a:r>
              <a:rPr lang="en"/>
              <a:t>)</a:t>
            </a:r>
            <a:endParaRPr baseline="-250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may be used to represent: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</a:t>
            </a:r>
            <a:r>
              <a:rPr b="1" lang="en"/>
              <a:t>strength</a:t>
            </a:r>
            <a:r>
              <a:rPr lang="en"/>
              <a:t> of the relationship joining two people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amount of something (e.g. information) that </a:t>
            </a:r>
            <a:r>
              <a:rPr b="1" lang="en"/>
              <a:t>flows</a:t>
            </a:r>
            <a:r>
              <a:rPr lang="en"/>
              <a:t> via the 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Graphs that featured edge weights are called weighted (valued)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Binary graphs can be thought of as a constrained case of weighted graphs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93" name="Google Shape;39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1201" y="1753574"/>
            <a:ext cx="3551100" cy="2297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graphs</a:t>
            </a:r>
            <a:endParaRPr/>
          </a:p>
        </p:txBody>
      </p:sp>
      <p:sp>
        <p:nvSpPr>
          <p:cNvPr id="399" name="Google Shape;399;p57"/>
          <p:cNvSpPr txBox="1"/>
          <p:nvPr>
            <p:ph idx="1" type="body"/>
          </p:nvPr>
        </p:nvSpPr>
        <p:spPr>
          <a:xfrm>
            <a:off x="311700" y="1225225"/>
            <a:ext cx="496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Often it is useful to associate numerical values with the edges (uv) of a graph: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the edge weight (w</a:t>
            </a:r>
            <a:r>
              <a:rPr baseline="-25000" lang="en"/>
              <a:t>uv</a:t>
            </a:r>
            <a:r>
              <a:rPr lang="en"/>
              <a:t>)</a:t>
            </a:r>
            <a:endParaRPr baseline="-250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may be used to represent: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</a:t>
            </a:r>
            <a:r>
              <a:rPr b="1" lang="en"/>
              <a:t>strength</a:t>
            </a:r>
            <a:r>
              <a:rPr lang="en"/>
              <a:t> of the relationship joining two people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amount of something (e.g. information) that </a:t>
            </a:r>
            <a:r>
              <a:rPr b="1" lang="en"/>
              <a:t>flows</a:t>
            </a:r>
            <a:r>
              <a:rPr lang="en"/>
              <a:t> via the ties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Sometimes people “binarize” weighted graphs using a cutoff to simplify analysis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</a:t>
            </a:r>
            <a:r>
              <a:rPr baseline="-25000" lang="en"/>
              <a:t>ij</a:t>
            </a:r>
            <a:r>
              <a:rPr lang="en"/>
              <a:t> = 1 </a:t>
            </a:r>
            <a:r>
              <a:rPr i="1" lang="en"/>
              <a:t>if</a:t>
            </a:r>
            <a:r>
              <a:rPr lang="en"/>
              <a:t> w</a:t>
            </a:r>
            <a:r>
              <a:rPr baseline="-25000" lang="en"/>
              <a:t>ij </a:t>
            </a:r>
            <a:r>
              <a:rPr lang="en"/>
              <a:t>&gt; ϴ, </a:t>
            </a:r>
            <a:r>
              <a:rPr i="1" lang="en"/>
              <a:t>else</a:t>
            </a:r>
            <a:r>
              <a:rPr lang="en"/>
              <a:t> a</a:t>
            </a:r>
            <a:r>
              <a:rPr baseline="-25000" lang="en"/>
              <a:t>ij</a:t>
            </a:r>
            <a:r>
              <a:rPr lang="en"/>
              <a:t> = 0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400" name="Google Shape;400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1201" y="1753574"/>
            <a:ext cx="3551100" cy="2297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Multigraphs</a:t>
            </a:r>
            <a:endParaRPr/>
          </a:p>
        </p:txBody>
      </p:sp>
      <p:sp>
        <p:nvSpPr>
          <p:cNvPr id="406" name="Google Shape;406;p58"/>
          <p:cNvSpPr txBox="1"/>
          <p:nvPr>
            <p:ph idx="1" type="body"/>
          </p:nvPr>
        </p:nvSpPr>
        <p:spPr>
          <a:xfrm>
            <a:off x="311700" y="1225225"/>
            <a:ext cx="5166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both directed and undirected graphs, the same vertices may be joined by more than one distinct edge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These are called </a:t>
            </a:r>
            <a:r>
              <a:rPr b="1" lang="en"/>
              <a:t>multigraphs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Multigraphs may be used to represent the social network concept of </a:t>
            </a:r>
            <a:r>
              <a:rPr b="1" lang="en"/>
              <a:t>multiplexity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Multiplexity exist when persons have multiple relations relationships with one another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a friend who is also an advisor who is also a member of your congregation</a:t>
            </a:r>
            <a:endParaRPr/>
          </a:p>
        </p:txBody>
      </p:sp>
      <p:pic>
        <p:nvPicPr>
          <p:cNvPr descr="BZfq7zbCQAAYgaI.jpg" id="407" name="Google Shape;407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8300" y="1225225"/>
            <a:ext cx="3354000" cy="33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Bipartite graphs</a:t>
            </a:r>
            <a:endParaRPr/>
          </a:p>
        </p:txBody>
      </p:sp>
      <p:sp>
        <p:nvSpPr>
          <p:cNvPr id="413" name="Google Shape;413;p59"/>
          <p:cNvSpPr txBox="1"/>
          <p:nvPr>
            <p:ph idx="1" type="body"/>
          </p:nvPr>
        </p:nvSpPr>
        <p:spPr>
          <a:xfrm>
            <a:off x="311700" y="1225225"/>
            <a:ext cx="5166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bipartite graph is characterized by: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Two</a:t>
            </a:r>
            <a:r>
              <a:rPr lang="en"/>
              <a:t> disjoint sets of vertices.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Edges link vertices </a:t>
            </a:r>
            <a:r>
              <a:rPr b="1" lang="en"/>
              <a:t>between</a:t>
            </a:r>
            <a:r>
              <a:rPr lang="en"/>
              <a:t> sets but </a:t>
            </a:r>
            <a:r>
              <a:rPr b="1" lang="en"/>
              <a:t>not</a:t>
            </a:r>
            <a:r>
              <a:rPr lang="en"/>
              <a:t> </a:t>
            </a:r>
            <a:r>
              <a:rPr b="1" lang="en"/>
              <a:t>within</a:t>
            </a:r>
            <a:r>
              <a:rPr lang="en"/>
              <a:t> sets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Bipartite graphs can be used to represent the social network concepts of </a:t>
            </a:r>
            <a:r>
              <a:rPr b="1" lang="en"/>
              <a:t>affiliation</a:t>
            </a:r>
            <a:r>
              <a:rPr lang="en"/>
              <a:t> or </a:t>
            </a:r>
            <a:r>
              <a:rPr b="1" lang="en"/>
              <a:t>membership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Affiliation networks people are linked to other entities that are not people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Actors and movies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Scientists and papers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Persons and events</a:t>
            </a:r>
            <a:endParaRPr/>
          </a:p>
        </p:txBody>
      </p:sp>
      <p:pic>
        <p:nvPicPr>
          <p:cNvPr descr="220px-Simple-bipartite-graph.svg.png" id="414" name="Google Shape;41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8300" y="1225225"/>
            <a:ext cx="3354000" cy="33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