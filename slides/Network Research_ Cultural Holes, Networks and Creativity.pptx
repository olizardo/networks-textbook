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5143500" cx="9144000"/>
  <p:notesSz cx="6858000" cy="9144000"/>
  <p:embeddedFontLst>
    <p:embeddedFont>
      <p:font typeface="Economica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font" Target="fonts/Economica-bold.fntdata"/><Relationship Id="rId41" Type="http://schemas.openxmlformats.org/officeDocument/2006/relationships/font" Target="fonts/Economica-regular.fntdata"/><Relationship Id="rId22" Type="http://schemas.openxmlformats.org/officeDocument/2006/relationships/slide" Target="slides/slide18.xml"/><Relationship Id="rId44" Type="http://schemas.openxmlformats.org/officeDocument/2006/relationships/font" Target="fonts/Economica-boldItalic.fntdata"/><Relationship Id="rId21" Type="http://schemas.openxmlformats.org/officeDocument/2006/relationships/slide" Target="slides/slide17.xml"/><Relationship Id="rId43" Type="http://schemas.openxmlformats.org/officeDocument/2006/relationships/font" Target="fonts/Economica-italic.fntdata"/><Relationship Id="rId24" Type="http://schemas.openxmlformats.org/officeDocument/2006/relationships/slide" Target="slides/slide20.xml"/><Relationship Id="rId46" Type="http://schemas.openxmlformats.org/officeDocument/2006/relationships/font" Target="fonts/OpenSans-bold.fntdata"/><Relationship Id="rId23" Type="http://schemas.openxmlformats.org/officeDocument/2006/relationships/slide" Target="slides/slide19.xml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21.xml"/><Relationship Id="rId47" Type="http://schemas.openxmlformats.org/officeDocument/2006/relationships/font" Target="fonts/OpenSans-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2d95d7b2_0_3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2d95d7b2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2d95d7b2_0_3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2d95d7b2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b2d95d7b2_0_3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b2d95d7b2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2d95d7b2_0_3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2d95d7b2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2d95d7b2_0_36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2d95d7b2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2d95d7b2_0_3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2d95d7b2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b2d95d7b2_0_3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b2d95d7b2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2d95d7b2_0_4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b2d95d7b2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2d95d7b2_0_4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b2d95d7b2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2d95d7b2_0_4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2d95d7b2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2d95d7b2_0_4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2d95d7b2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b2d95d7b2_0_1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b2d95d7b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b2d95d7b2_0_1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b2d95d7b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b2d95d7b2_0_2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b2d95d7b2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2d95d7b2_0_2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2d95d7b2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2d95d7b2_0_2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b2d95d7b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b2d95d7b2_0_3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b2d95d7b2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b2d95d7b2_0_1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b2d95d7b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b2d95d7b2_0_3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b2d95d7b2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b2d95d7b2_0_3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2d95d7b2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2d95d7b2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2d95d7b2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2d95d7b2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2d95d7b2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2d95d7b2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2d95d7b2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b2d95d7b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b2d95d7b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2d95d7b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2d95d7b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b2d95d7b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b2d95d7b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2d95d7b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2d95d7b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b2d95d7b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b2d95d7b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2d95d7b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b2d95d7b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b2d95d7b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b2d95d7b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b2d95d7b2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b2d95d7b2_0_6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b2d95d7b2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2b2d95d7b2_0_6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b2d95d7b2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2b2d95d7b2_0_7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b2d95d7b2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2b2d95d7b2_0_7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b2d95d7b2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2b2d95d7b2_0_7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Relationship Id="rId4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Relationship Id="rId4" Type="http://schemas.openxmlformats.org/officeDocument/2006/relationships/image" Target="../media/image2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jpg"/><Relationship Id="rId4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35.png"/><Relationship Id="rId5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Relationship Id="rId4" Type="http://schemas.openxmlformats.org/officeDocument/2006/relationships/image" Target="../media/image2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59094"/>
            <a:ext cx="3054600" cy="322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Research: Cultural Holes, Networks and Creativity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Flashback: Basic notions in two mode networks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terminology: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bipartite graph G= (V</a:t>
            </a:r>
            <a:r>
              <a:rPr baseline="30000" lang="en"/>
              <a:t>T</a:t>
            </a:r>
            <a:r>
              <a:rPr lang="en"/>
              <a:t>, V</a:t>
            </a:r>
            <a:r>
              <a:rPr baseline="30000" lang="en"/>
              <a:t>B</a:t>
            </a:r>
            <a:r>
              <a:rPr lang="en"/>
              <a:t>, E)  is triplet consisting of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"Top" nodes (V</a:t>
            </a:r>
            <a:r>
              <a:rPr baseline="30000" lang="en"/>
              <a:t>T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"Bottom" nodes (V</a:t>
            </a:r>
            <a:r>
              <a:rPr baseline="30000" lang="en"/>
              <a:t>B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a set of edges (E)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Nodes are in two disjoints sets such that links go from nodes in one set to nodes in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 statistics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size: n = |V|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edges: m = |E|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Average degree: 2m /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Density: 2m / (n(n-1))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Flashback: Basic notions in two mode networks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20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 approaches to analyzing two-mode networks involve deriving the one-mode projection, this approach is not always ideal: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Information loss:</a:t>
            </a:r>
            <a:r>
              <a:rPr lang="en"/>
              <a:t> bipartite structure is lost after projection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Artifactual properties</a:t>
            </a:r>
            <a:r>
              <a:rPr lang="en"/>
              <a:t>: Clustering/density in the one-mode projection may not reflect the actual magnitude/presence of those properties in the two-mode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Edge inflation</a:t>
            </a:r>
            <a:r>
              <a:rPr lang="en"/>
              <a:t>:  m in the one-mode graph is much larger than in the bipartite graph (each actor/event contributes multi-edges)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243927"/>
            <a:ext cx="8520599" cy="1319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basic statistics to two mode networks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17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deal with this issue Latapy and colleagues (2008) have proposed a “projection-free” approach for the analysis of (large) two-mode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involves extending and finding analogues for: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 statistics in the two-mode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Distributional analysis of degrees to the two 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Notions of clustering for the two mode case</a:t>
            </a:r>
            <a:endParaRPr b="1"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63" y="3241975"/>
            <a:ext cx="7668275" cy="13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basic statistics to two mode networks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(top) Nodes: 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(bottom) Nodes: 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 edges: 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 (top) degree: k↑ = m/n↑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 (bottom) degree: k↓ = m/n↓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Degree in the Bipartite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 = 2m / (n↑ + 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Density in the two-mode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δ(G) = m / (n↑n↓)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Density in the Bipartite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δ(G’) = 2m / (n↑ + n↓)(n↑ + n↓ - 1)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basic statistics to two mode networks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0" l="4881" r="3535" t="0"/>
          <a:stretch/>
        </p:blipFill>
        <p:spPr>
          <a:xfrm>
            <a:off x="670037" y="1455250"/>
            <a:ext cx="7803925" cy="299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neighborhood notions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8520600" cy="20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(top or bottom) node v, the immediate neighborhood N(v) is the number of nodes of a different type directly linked to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extend that notion to the Distance-2 neighbors N(N(v))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bipartite graph, these are the number of (top/bottom) nodes that a node of the same type can reach via a node of a different 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Gets at the same information as centrality in the one-mode co-membership matrix without losing the bipartite structure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63" y="3241975"/>
            <a:ext cx="7668275" cy="13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neighborhood notions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5225"/>
            <a:ext cx="8520600" cy="15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key indicator of the "efficiency" with which a given node connects to others is given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correlation</a:t>
            </a:r>
            <a:r>
              <a:rPr lang="en"/>
              <a:t> between a node's degree and the number of distance-2 neighbors compared to the same correlation in the corresponding random two-mode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1600"/>
              </a:spcAft>
              <a:buSzPts val="1400"/>
              <a:buChar char="○"/>
            </a:pPr>
            <a:r>
              <a:rPr lang="en"/>
              <a:t>This information is usually lost in the one-mode projection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63" y="3241975"/>
            <a:ext cx="7668275" cy="13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225225"/>
            <a:ext cx="8520600" cy="26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clustering coefficient between any two nodes cc.(u, v) which belong to the same set (top or bottom) is given by the intersection of their one-step neighborhood divided by their union: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definition only applies to pair of nodes, but we want a measure of clustering at the node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do this by taking the average of clustering between u's distance-2 neighbors: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8850" y="2140978"/>
            <a:ext cx="2427550" cy="6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857" y="3820449"/>
            <a:ext cx="2732102" cy="6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follow a similar approach to define the average clustering for all top nodes: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the average clustering for all bottom nodes: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graph clustering: 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1600"/>
              </a:spcAft>
              <a:buSzPts val="1400"/>
              <a:buChar char="○"/>
            </a:pPr>
            <a:r>
              <a:rPr lang="en"/>
              <a:t>cc(G) = (n↑cc.(↑) + n↓cc.(↓)) / (n↑n↓)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928" y="1754214"/>
            <a:ext cx="2074521" cy="66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4929" y="3024273"/>
            <a:ext cx="2093400" cy="6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there is heterogeneity in the (top or bottom) degree, the standard intersection over union strategy to measure dyadic clustering may not be effective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likely that one node's neighborhood will be completely swamped by the 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case, a “min” or “max” clustering strategy may be most appropriate:</a:t>
            </a:r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800" y="3399796"/>
            <a:ext cx="3527009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783" y="3399796"/>
            <a:ext cx="3479466" cy="8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38" y="4255531"/>
            <a:ext cx="2121694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9188" y="4255531"/>
            <a:ext cx="2093119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38" y="3688114"/>
            <a:ext cx="1569164" cy="443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19213" y="3745975"/>
            <a:ext cx="1113083" cy="327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 rotWithShape="1">
          <a:blip r:embed="rId7">
            <a:alphaModFix/>
          </a:blip>
          <a:srcRect b="0" l="4547" r="3405" t="0"/>
          <a:stretch/>
        </p:blipFill>
        <p:spPr>
          <a:xfrm>
            <a:off x="311700" y="1235900"/>
            <a:ext cx="8520599" cy="2273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225225"/>
            <a:ext cx="4413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countervailing small world mechanisms in creative worlds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Structural: 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Links between clusters aid </a:t>
            </a:r>
            <a:r>
              <a:rPr b="1" lang="en"/>
              <a:t>diffusion</a:t>
            </a:r>
            <a:r>
              <a:rPr lang="en"/>
              <a:t> of ideas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Relational: 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Links between clusters made up of repeated ties and third-party ties create </a:t>
            </a:r>
            <a:r>
              <a:rPr b="1" lang="en"/>
              <a:t>cohesion </a:t>
            </a:r>
            <a:r>
              <a:rPr lang="en"/>
              <a:t>between producers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Important to think about how structure is assembled over time</a:t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650" y="1469909"/>
            <a:ext cx="4107656" cy="2864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11700" y="1225225"/>
            <a:ext cx="47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Clustering, small worlds and communicative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 connectivity allows creative material to circulate to other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cuts between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world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Short average path length </a:t>
            </a:r>
            <a:br>
              <a:rPr lang="en"/>
            </a:br>
            <a:r>
              <a:rPr lang="en"/>
              <a:t>	PL ratio = PL</a:t>
            </a:r>
            <a:r>
              <a:rPr baseline="-25000" lang="en"/>
              <a:t>actual</a:t>
            </a:r>
            <a:r>
              <a:rPr lang="en"/>
              <a:t>/Pl</a:t>
            </a:r>
            <a:r>
              <a:rPr baseline="-25000" lang="en"/>
              <a:t>random</a:t>
            </a:r>
            <a:r>
              <a:rPr lang="en"/>
              <a:t> --&gt;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clustering 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CC ratio = CC</a:t>
            </a:r>
            <a:r>
              <a:rPr baseline="-25000" lang="en"/>
              <a:t>actual</a:t>
            </a:r>
            <a:r>
              <a:rPr lang="en"/>
              <a:t>/CC</a:t>
            </a:r>
            <a:r>
              <a:rPr baseline="-25000" lang="en"/>
              <a:t>random</a:t>
            </a:r>
            <a:r>
              <a:rPr lang="en"/>
              <a:t> &gt;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Q = CC ratio/PL ratio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200" y="1561963"/>
            <a:ext cx="3758100" cy="2680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11700" y="1225225"/>
            <a:ext cx="47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Clustering, small worlds and communicative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 connectivity allows creative material to circulate to other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cuts between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world network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High Q worlds: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Cohesion </a:t>
            </a:r>
            <a:r>
              <a:rPr lang="en"/>
              <a:t>dominates over </a:t>
            </a:r>
            <a:r>
              <a:rPr b="1" lang="en"/>
              <a:t>diffusion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Facilitates collaboration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inhibits innovation and the generation of new ideas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200" y="1561963"/>
            <a:ext cx="3758100" cy="268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/>
          <p:nvPr/>
        </p:nvSpPr>
        <p:spPr>
          <a:xfrm>
            <a:off x="7232700" y="2615400"/>
            <a:ext cx="1911300" cy="1746300"/>
          </a:xfrm>
          <a:prstGeom prst="ellipse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225225"/>
            <a:ext cx="47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Clustering, small worlds and communicative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 connectivity allows creative material to circulate to other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cuts between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world network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Low Q worlds: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Relatively disconnected structure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paths for diffusion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low cohesion hinders coordination and learning within teams make them less efficient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200" y="1561963"/>
            <a:ext cx="3758100" cy="268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/>
          <p:nvPr/>
        </p:nvSpPr>
        <p:spPr>
          <a:xfrm>
            <a:off x="4990850" y="1698600"/>
            <a:ext cx="1227000" cy="2680500"/>
          </a:xfrm>
          <a:prstGeom prst="ellipse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225225"/>
            <a:ext cx="47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Clustering, small worlds and communicative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 connectivity allows creative material to circulate to other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cuts between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world network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Medium Q Worlds: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Goldilocks: Best of both worlds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Enough cohesion to leverage learning and </a:t>
            </a:r>
            <a:r>
              <a:rPr lang="en"/>
              <a:t>familiarity</a:t>
            </a:r>
            <a:r>
              <a:rPr lang="en"/>
              <a:t> with repeat collaborators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Enough diffusion to access new ideas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200" y="1561963"/>
            <a:ext cx="3758100" cy="268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9"/>
          <p:cNvSpPr/>
          <p:nvPr/>
        </p:nvSpPr>
        <p:spPr>
          <a:xfrm>
            <a:off x="6052725" y="1561975"/>
            <a:ext cx="2713800" cy="1412400"/>
          </a:xfrm>
          <a:prstGeom prst="ellipse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225225"/>
            <a:ext cx="47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 = f(convention, innovation)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leads to convention and lack of novelty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Between-cluster connections: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 of innovations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weak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Between-cluster w/ pairing: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Risk taking and adoption of innovation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Inverted U-shape relation between Q and success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200" y="1561963"/>
            <a:ext cx="3758100" cy="268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0"/>
          <p:cNvSpPr/>
          <p:nvPr/>
        </p:nvSpPr>
        <p:spPr>
          <a:xfrm>
            <a:off x="6052725" y="1561975"/>
            <a:ext cx="2713800" cy="1412400"/>
          </a:xfrm>
          <a:prstGeom prst="ellipse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success of a show</a:t>
            </a:r>
            <a:endParaRPr/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233232"/>
            <a:ext cx="3967130" cy="3516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6981" y="1204284"/>
            <a:ext cx="3975329" cy="3574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success of a show</a:t>
            </a:r>
            <a:endParaRPr/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233232"/>
            <a:ext cx="3967130" cy="3516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1100" y="1069799"/>
            <a:ext cx="4081200" cy="3843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success of a show</a:t>
            </a:r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233232"/>
            <a:ext cx="3967130" cy="3516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8412" y="1170310"/>
            <a:ext cx="3973894" cy="3642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 and Mauskapf: Product features and success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insight: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Features of cultural products form a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</a:t>
            </a:r>
            <a:r>
              <a:rPr baseline="-25000" lang="en"/>
              <a:t>ij</a:t>
            </a:r>
            <a:r>
              <a:rPr lang="en"/>
              <a:t> = 1 if feature i can be found in product 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product feature similarity network can be constructed from such data: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</a:t>
            </a:r>
            <a:r>
              <a:rPr baseline="-25000" lang="en"/>
              <a:t>ij</a:t>
            </a:r>
            <a:r>
              <a:rPr lang="en"/>
              <a:t> = cos(C</a:t>
            </a:r>
            <a:r>
              <a:rPr baseline="-25000" lang="en"/>
              <a:t>i, </a:t>
            </a:r>
            <a:r>
              <a:rPr lang="en"/>
              <a:t>C</a:t>
            </a:r>
            <a:r>
              <a:rPr baseline="-25000" lang="en"/>
              <a:t>j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Were each entry in the similarity matrix is product i’s feature vector cosine distance from product j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Products</a:t>
            </a:r>
            <a:r>
              <a:rPr lang="en"/>
              <a:t> that </a:t>
            </a:r>
            <a:r>
              <a:rPr lang="en"/>
              <a:t>occupy</a:t>
            </a:r>
            <a:r>
              <a:rPr lang="en"/>
              <a:t> the same “position” in the feature network are similar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any given time product need to be “optimally distinct” from competitors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Too similar and they are </a:t>
            </a:r>
            <a:r>
              <a:rPr lang="en"/>
              <a:t>dismissed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Too different and they are incomprehensible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 and Mauskapf: Product features and success</a:t>
            </a:r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900" y="1147225"/>
            <a:ext cx="5944190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 and Mauskapf: Product features and success</a:t>
            </a:r>
            <a:endParaRPr/>
          </a:p>
        </p:txBody>
      </p:sp>
      <p:pic>
        <p:nvPicPr>
          <p:cNvPr id="227" name="Google Shape;22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13" y="1147225"/>
            <a:ext cx="5375580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“cultural holes” argument</a:t>
            </a:r>
            <a:endParaRPr/>
          </a:p>
        </p:txBody>
      </p:sp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Riff on Burt’s idea of “structural holes”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holes are absent links in the social structure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to person 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holes are absent link in the “cultural structure”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 between cultural entities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Analogue to bridging between disconnected parts of a cultural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mode network imagery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Persons bridging between cultural genres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Scientists bridging between specialties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culture?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Anything that can be communicated or serve as the basis for interaction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“cultural holes” argument</a:t>
            </a:r>
            <a:endParaRPr/>
          </a:p>
        </p:txBody>
      </p:sp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Riff on Burt’s idea of “structural holes”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holes are absent links in the social structure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to person 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holes are absent link in the “cultural structure”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 between cultural entities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Basic idea: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Communication across cultural holes is harder (Vilhena et al 2014)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engineers can talk to one another more efficiently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rock and roll fan can talk to a fan of folk music more easily than a fan of rap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being a </a:t>
            </a:r>
            <a:r>
              <a:rPr b="1" lang="en"/>
              <a:t>broker</a:t>
            </a:r>
            <a:r>
              <a:rPr lang="en"/>
              <a:t> between cultural holes can be good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Measures of cultural holes can be extracted from any two-mode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Including “two mode” data taken from social science (persons x variables)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a two-mode network of persons X cultural activities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strongly are cultural items connected in this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person bridges a “cultural hole” if s/he chooses items that are not strongly 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item projection matrix: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A is the original two-mode adjancecy matrix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Entries c</a:t>
            </a:r>
            <a:r>
              <a:rPr baseline="-25000" lang="en"/>
              <a:t>jk</a:t>
            </a:r>
            <a:r>
              <a:rPr lang="en"/>
              <a:t> are the number of persons that choose cultural items</a:t>
            </a:r>
            <a:r>
              <a:rPr i="1" lang="en"/>
              <a:t> j</a:t>
            </a:r>
            <a:r>
              <a:rPr lang="en"/>
              <a:t> </a:t>
            </a:r>
            <a:r>
              <a:rPr b="1" lang="en"/>
              <a:t>and</a:t>
            </a:r>
            <a:r>
              <a:rPr lang="en"/>
              <a:t> </a:t>
            </a:r>
            <a:r>
              <a:rPr i="1" lang="en"/>
              <a:t>k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Entries c</a:t>
            </a:r>
            <a:r>
              <a:rPr baseline="-25000" i="1" lang="en"/>
              <a:t>jj</a:t>
            </a:r>
            <a:r>
              <a:rPr lang="en"/>
              <a:t> are the number of persons that choose cultural item </a:t>
            </a:r>
            <a:r>
              <a:rPr i="1" lang="en"/>
              <a:t>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Weighted cultural item network is then given by: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Latapy et al’s (2008) “min overlap” measure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cultural holes</a:t>
            </a:r>
            <a:endParaRPr/>
          </a:p>
        </p:txBody>
      </p:sp>
      <p:pic>
        <p:nvPicPr>
          <p:cNvPr id="246" name="Google Shape;2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125" y="2667875"/>
            <a:ext cx="1095750" cy="2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0900" y="3643975"/>
            <a:ext cx="2194550" cy="57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cultural holes: Cultural ego networks</a:t>
            </a:r>
            <a:endParaRPr/>
          </a:p>
        </p:txBody>
      </p:sp>
      <p:sp>
        <p:nvSpPr>
          <p:cNvPr id="253" name="Google Shape;253;p40"/>
          <p:cNvSpPr txBox="1"/>
          <p:nvPr>
            <p:ph idx="1" type="body"/>
          </p:nvPr>
        </p:nvSpPr>
        <p:spPr>
          <a:xfrm>
            <a:off x="319500" y="4218925"/>
            <a:ext cx="68064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Lizardo, O. (2014). Omnivorousness as the bridging of cultural holes: A measurement strategy. Theory and Society, 43(3-4), 395-419.</a:t>
            </a:r>
            <a:endParaRPr/>
          </a:p>
        </p:txBody>
      </p:sp>
      <p:pic>
        <p:nvPicPr>
          <p:cNvPr id="254" name="Google Shape;2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88300"/>
            <a:ext cx="3695891" cy="30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535" y="1147225"/>
            <a:ext cx="3621767" cy="303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cultural holes</a:t>
            </a:r>
            <a:endParaRPr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11700" y="1225225"/>
            <a:ext cx="4136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we have the overlap cultural network we can calculate a person’s </a:t>
            </a:r>
            <a:r>
              <a:rPr b="1" lang="en"/>
              <a:t>effective two-mode degree centrality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C</a:t>
            </a:r>
            <a:r>
              <a:rPr baseline="-25000" lang="en"/>
              <a:t>i</a:t>
            </a:r>
            <a:r>
              <a:rPr lang="en"/>
              <a:t> is the number of cultural items chosen by person i and a</a:t>
            </a:r>
            <a:r>
              <a:rPr baseline="-25000" lang="en"/>
              <a:t>ij</a:t>
            </a:r>
            <a:r>
              <a:rPr lang="en"/>
              <a:t> = 1 if person i chooses item j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350" y="2560475"/>
            <a:ext cx="3531474" cy="7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5525" y="1225225"/>
            <a:ext cx="4136775" cy="3532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cultural holes</a:t>
            </a:r>
            <a:endParaRPr/>
          </a:p>
        </p:txBody>
      </p:sp>
      <p:pic>
        <p:nvPicPr>
          <p:cNvPr id="269" name="Google Shape;26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25" y="1225225"/>
            <a:ext cx="4136775" cy="353280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2"/>
          <p:cNvSpPr txBox="1"/>
          <p:nvPr>
            <p:ph idx="1" type="body"/>
          </p:nvPr>
        </p:nvSpPr>
        <p:spPr>
          <a:xfrm>
            <a:off x="311700" y="1225225"/>
            <a:ext cx="4136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we have the overlap cultural network we can calculate a person’s </a:t>
            </a:r>
            <a:r>
              <a:rPr b="1" lang="en"/>
              <a:t>effective two-mode degree centrality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Cultural Network Efficiency</a:t>
            </a:r>
            <a:r>
              <a:rPr lang="en"/>
              <a:t> is then: </a:t>
            </a:r>
            <a:endParaRPr baseline="-250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350" y="2560475"/>
            <a:ext cx="3531474" cy="7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3336" y="3633300"/>
            <a:ext cx="661636" cy="70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cultural holes</a:t>
            </a:r>
            <a:endParaRPr/>
          </a:p>
        </p:txBody>
      </p:sp>
      <p:pic>
        <p:nvPicPr>
          <p:cNvPr id="278" name="Google Shape;27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25" y="1225225"/>
            <a:ext cx="4136775" cy="3532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625550"/>
            <a:ext cx="4383824" cy="27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3"/>
          <p:cNvSpPr txBox="1"/>
          <p:nvPr/>
        </p:nvSpPr>
        <p:spPr>
          <a:xfrm>
            <a:off x="1084050" y="1201899"/>
            <a:ext cx="3690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baseline="-25000" lang="en"/>
              <a:t>i</a:t>
            </a:r>
            <a:endParaRPr baseline="-25000"/>
          </a:p>
        </p:txBody>
      </p:sp>
      <p:sp>
        <p:nvSpPr>
          <p:cNvPr id="281" name="Google Shape;281;p43"/>
          <p:cNvSpPr txBox="1"/>
          <p:nvPr/>
        </p:nvSpPr>
        <p:spPr>
          <a:xfrm>
            <a:off x="2387225" y="1225225"/>
            <a:ext cx="4638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</a:t>
            </a:r>
            <a:r>
              <a:rPr baseline="-25000" lang="en"/>
              <a:t>i</a:t>
            </a:r>
            <a:endParaRPr baseline="-25000"/>
          </a:p>
        </p:txBody>
      </p:sp>
      <p:sp>
        <p:nvSpPr>
          <p:cNvPr id="282" name="Google Shape;282;p43"/>
          <p:cNvSpPr txBox="1"/>
          <p:nvPr/>
        </p:nvSpPr>
        <p:spPr>
          <a:xfrm>
            <a:off x="3517425" y="1225225"/>
            <a:ext cx="9342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baseline="-25000" lang="en"/>
              <a:t>i</a:t>
            </a:r>
            <a:r>
              <a:rPr lang="en"/>
              <a:t> (rand)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centrality notions in two mode networks</a:t>
            </a:r>
            <a:endParaRPr/>
          </a:p>
        </p:txBody>
      </p:sp>
      <p:sp>
        <p:nvSpPr>
          <p:cNvPr id="288" name="Google Shape;288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distinctive feature of centrality scores in two-mode networks is that the scores in one-mode depend on the scores in the other mode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Hidalgo and Hausman (2009) show that this principle can be generalized to compute a set of recursive quantities that they refer to as the method of reflections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"levels" of reflection modify the substantive interpretation of a given centrality score across the two modes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Gives us a different take on “bridging” across cultural and structural holes in two mode networks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centrality notions in two mode networks</a:t>
            </a:r>
            <a:endParaRPr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the standard two-mode data matrix (A</a:t>
            </a:r>
            <a:r>
              <a:rPr baseline="-25000" lang="en"/>
              <a:t>ik</a:t>
            </a:r>
            <a:r>
              <a:rPr lang="en"/>
              <a:t>) with modes g and h.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Reflective centralities are given by the quantities: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0188" y="2357431"/>
            <a:ext cx="1778794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5">
            <a:off x="3362323" y="2822638"/>
            <a:ext cx="1814513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8088" y="4083938"/>
            <a:ext cx="1085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7375" y="3617369"/>
            <a:ext cx="1107281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centrality notions in two mode networks</a:t>
            </a:r>
            <a:endParaRPr/>
          </a:p>
        </p:txBody>
      </p:sp>
      <p:pic>
        <p:nvPicPr>
          <p:cNvPr id="304" name="Google Shape;30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4650"/>
            <a:ext cx="8520600" cy="334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17" y="153601"/>
            <a:ext cx="3648313" cy="4836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812" y="398175"/>
            <a:ext cx="4573376" cy="434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812" y="425366"/>
            <a:ext cx="6396397" cy="429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