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  <p:sldMasterId id="2147483679" r:id="rId4"/>
    <p:sldMasterId id="214748368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Economica"/>
      <p:regular r:id="rId35"/>
      <p:bold r:id="rId36"/>
      <p:italic r:id="rId37"/>
      <p:boldItalic r:id="rId38"/>
    </p:embeddedFont>
    <p:embeddedFont>
      <p:font typeface="Cabin"/>
      <p:regular r:id="rId39"/>
      <p:bold r:id="rId40"/>
      <p:italic r:id="rId41"/>
      <p:boldItalic r:id="rId42"/>
    </p:embeddedFont>
    <p:embeddedFont>
      <p:font typeface="Junge"/>
      <p:regular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bin-bold.fntdata"/><Relationship Id="rId20" Type="http://schemas.openxmlformats.org/officeDocument/2006/relationships/slide" Target="slides/slide14.xml"/><Relationship Id="rId42" Type="http://schemas.openxmlformats.org/officeDocument/2006/relationships/font" Target="fonts/Cabin-boldItalic.fntdata"/><Relationship Id="rId41" Type="http://schemas.openxmlformats.org/officeDocument/2006/relationships/font" Target="fonts/Cabin-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5.xml"/><Relationship Id="rId43" Type="http://schemas.openxmlformats.org/officeDocument/2006/relationships/font" Target="fonts/Junge-regular.fntdata"/><Relationship Id="rId24" Type="http://schemas.openxmlformats.org/officeDocument/2006/relationships/slide" Target="slides/slide18.xml"/><Relationship Id="rId46" Type="http://schemas.openxmlformats.org/officeDocument/2006/relationships/font" Target="fonts/OpenSans-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Economica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Economica-italic.fntdata"/><Relationship Id="rId14" Type="http://schemas.openxmlformats.org/officeDocument/2006/relationships/slide" Target="slides/slide8.xml"/><Relationship Id="rId36" Type="http://schemas.openxmlformats.org/officeDocument/2006/relationships/font" Target="fonts/Economica-bold.fntdata"/><Relationship Id="rId17" Type="http://schemas.openxmlformats.org/officeDocument/2006/relationships/slide" Target="slides/slide11.xml"/><Relationship Id="rId39" Type="http://schemas.openxmlformats.org/officeDocument/2006/relationships/font" Target="fonts/Cabin-regular.fntdata"/><Relationship Id="rId16" Type="http://schemas.openxmlformats.org/officeDocument/2006/relationships/slide" Target="slides/slide10.xml"/><Relationship Id="rId38" Type="http://schemas.openxmlformats.org/officeDocument/2006/relationships/font" Target="fonts/Economica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d053e78_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d053e78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d053e78_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d053e78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d053e78_0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7d053e78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d053e78_0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d053e78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d053e78_0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d053e78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d053e78_0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7d053e78_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d053e78_0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7d053e78_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c4086858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c4086858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c4086858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c4086858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c408685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c408685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d053e78_01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d053e78_0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d053e78_01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7d053e78_0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d053e78_01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7d053e78_0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d053e78_01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d053e78_0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611a7d07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611a7d07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611a7d07f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611a7d07f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d053e78_017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7d053e78_0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d053e78_01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7d053e78_0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7d053e78_01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7d053e78_0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7d053e78_02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7d053e78_0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e5001ab_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e5001ab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611a7d07f5_1_12:notes"/>
          <p:cNvSpPr/>
          <p:nvPr>
            <p:ph idx="12" type="sldNum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611a7d07f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c4086858_1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c4086858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c4086858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ec4086858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c4086858_1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ec4086858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611a7d07f5_1_0:notes"/>
          <p:cNvSpPr/>
          <p:nvPr>
            <p:ph idx="11" type="ftr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611a7d07f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/>
              <a:t>Models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/>
              <a:t>	Path Model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/>
              <a:t>	Evolutionary Model 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/>
              <a:t>	Generative Model:  simple rules governing processes which generate observed patterns (emerge);  grow network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/>
              <a:t>	Demographic models  (states and flows)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/>
              <a:t>Distributions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/>
              <a:t>	e.g. normal, gassian, gen process random variation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611a7d07f5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11a7d07f5_1_6:notes"/>
          <p:cNvSpPr/>
          <p:nvPr>
            <p:ph idx="11" type="ftr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611a7d07f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611a7d07f5_1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ctrTitle"/>
          </p:nvPr>
        </p:nvSpPr>
        <p:spPr>
          <a:xfrm>
            <a:off x="457200" y="563760"/>
            <a:ext cx="82296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26"/>
          <p:cNvSpPr txBox="1"/>
          <p:nvPr>
            <p:ph idx="1" type="subTitle"/>
          </p:nvPr>
        </p:nvSpPr>
        <p:spPr>
          <a:xfrm>
            <a:off x="457200" y="3716392"/>
            <a:ext cx="8229600" cy="1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18" name="Google Shape;118;p26"/>
          <p:cNvCxnSpPr/>
          <p:nvPr/>
        </p:nvCxnSpPr>
        <p:spPr>
          <a:xfrm>
            <a:off x="457200" y="41148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6"/>
          <p:cNvCxnSpPr/>
          <p:nvPr/>
        </p:nvCxnSpPr>
        <p:spPr>
          <a:xfrm>
            <a:off x="457200" y="3633383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22" name="Google Shape;122;p2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23" name="Google Shape;123;p27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26" name="Google Shape;126;p28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27" name="Google Shape;127;p28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28" name="Google Shape;128;p28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31" name="Google Shape;131;p29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34" name="Google Shape;134;p30"/>
          <p:cNvCxnSpPr/>
          <p:nvPr/>
        </p:nvCxnSpPr>
        <p:spPr>
          <a:xfrm>
            <a:off x="457200" y="4317761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31"/>
          <p:cNvCxnSpPr/>
          <p:nvPr/>
        </p:nvCxnSpPr>
        <p:spPr>
          <a:xfrm>
            <a:off x="457200" y="113139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2"/>
          <p:cNvSpPr txBox="1"/>
          <p:nvPr>
            <p:ph type="title"/>
          </p:nvPr>
        </p:nvSpPr>
        <p:spPr>
          <a:xfrm>
            <a:off x="457200" y="114300"/>
            <a:ext cx="8229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39" name="Google Shape;139;p32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32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3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2" name="Google Shape;142;p32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●"/>
              <a:defRPr sz="2600">
                <a:solidFill>
                  <a:schemeClr val="dk1"/>
                </a:solidFill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●"/>
              <a:defRPr sz="2300">
                <a:solidFill>
                  <a:schemeClr val="dk2"/>
                </a:solidFill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2400"/>
              <a:buChar char="●"/>
              <a:defRPr sz="2000">
                <a:solidFill>
                  <a:schemeClr val="dk1"/>
                </a:solidFill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sz="1600">
                <a:solidFill>
                  <a:schemeClr val="dk1"/>
                </a:solidFill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800"/>
              <a:buChar char="●"/>
              <a:defRPr sz="1600">
                <a:solidFill>
                  <a:schemeClr val="dk1"/>
                </a:solidFill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800"/>
              <a:buChar char="●"/>
              <a:defRPr sz="1400">
                <a:solidFill>
                  <a:schemeClr val="dk1"/>
                </a:solidFill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800"/>
              <a:buChar char="●"/>
              <a:defRPr sz="1400">
                <a:solidFill>
                  <a:schemeClr val="dk1"/>
                </a:solidFill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8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type="title"/>
          </p:nvPr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33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3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8" name="Google Shape;148;p33"/>
          <p:cNvSpPr txBox="1"/>
          <p:nvPr>
            <p:ph idx="1" type="body"/>
          </p:nvPr>
        </p:nvSpPr>
        <p:spPr>
          <a:xfrm>
            <a:off x="457200" y="914400"/>
            <a:ext cx="4041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●"/>
              <a:defRPr sz="2600">
                <a:solidFill>
                  <a:schemeClr val="dk1"/>
                </a:solidFill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●"/>
              <a:defRPr sz="2300">
                <a:solidFill>
                  <a:schemeClr val="dk2"/>
                </a:solidFill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2400"/>
              <a:buChar char="●"/>
              <a:defRPr sz="2000">
                <a:solidFill>
                  <a:schemeClr val="dk1"/>
                </a:solidFill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sz="1600">
                <a:solidFill>
                  <a:schemeClr val="dk1"/>
                </a:solidFill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800"/>
              <a:buChar char="●"/>
              <a:defRPr sz="1600">
                <a:solidFill>
                  <a:schemeClr val="dk1"/>
                </a:solidFill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800"/>
              <a:buChar char="●"/>
              <a:defRPr sz="1400">
                <a:solidFill>
                  <a:schemeClr val="dk1"/>
                </a:solidFill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800"/>
              <a:buChar char="●"/>
              <a:defRPr sz="1400">
                <a:solidFill>
                  <a:schemeClr val="dk1"/>
                </a:solidFill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8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33"/>
          <p:cNvSpPr txBox="1"/>
          <p:nvPr>
            <p:ph idx="2" type="body"/>
          </p:nvPr>
        </p:nvSpPr>
        <p:spPr>
          <a:xfrm>
            <a:off x="4632198" y="912114"/>
            <a:ext cx="4041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●"/>
              <a:defRPr sz="2600">
                <a:solidFill>
                  <a:schemeClr val="dk1"/>
                </a:solidFill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●"/>
              <a:defRPr sz="2300">
                <a:solidFill>
                  <a:schemeClr val="dk2"/>
                </a:solidFill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2400"/>
              <a:buChar char="●"/>
              <a:defRPr sz="2000">
                <a:solidFill>
                  <a:schemeClr val="dk1"/>
                </a:solidFill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sz="1600">
                <a:solidFill>
                  <a:schemeClr val="dk1"/>
                </a:solidFill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800"/>
              <a:buChar char="●"/>
              <a:defRPr sz="1600">
                <a:solidFill>
                  <a:schemeClr val="dk1"/>
                </a:solidFill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800"/>
              <a:buChar char="●"/>
              <a:defRPr sz="1400">
                <a:solidFill>
                  <a:schemeClr val="dk1"/>
                </a:solidFill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800"/>
              <a:buChar char="●"/>
              <a:defRPr sz="1400">
                <a:solidFill>
                  <a:schemeClr val="dk1"/>
                </a:solidFill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8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14" name="Google Shape;114;p25"/>
          <p:cNvCxnSpPr/>
          <p:nvPr/>
        </p:nvCxnSpPr>
        <p:spPr>
          <a:xfrm>
            <a:off x="457200" y="502326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insna.org/" TargetMode="External"/><Relationship Id="rId4" Type="http://schemas.openxmlformats.org/officeDocument/2006/relationships/hyperlink" Target="http://netsci2011.net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Networks	</a:t>
            </a:r>
            <a:endParaRPr/>
          </a:p>
        </p:txBody>
      </p:sp>
      <p:sp>
        <p:nvSpPr>
          <p:cNvPr id="155" name="Google Shape;155;p3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Introduction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Networks are In</a:t>
            </a:r>
            <a:endParaRPr/>
          </a:p>
        </p:txBody>
      </p:sp>
      <p:sp>
        <p:nvSpPr>
          <p:cNvPr id="161" name="Google Shape;161;p35"/>
          <p:cNvSpPr txBox="1"/>
          <p:nvPr>
            <p:ph idx="1" type="body"/>
          </p:nvPr>
        </p:nvSpPr>
        <p:spPr>
          <a:xfrm>
            <a:off x="457200" y="1200150"/>
            <a:ext cx="33582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Facebook, Twitter, Social Media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Viral spreading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Exponential growth in network research, papers, articles</a:t>
            </a:r>
            <a:endParaRPr/>
          </a:p>
        </p:txBody>
      </p:sp>
      <p:pic>
        <p:nvPicPr>
          <p:cNvPr id="162" name="Google Shape;16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900" y="1773075"/>
            <a:ext cx="5220648" cy="213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Social Networks Have Always Existed</a:t>
            </a:r>
            <a:endParaRPr sz="3000"/>
          </a:p>
        </p:txBody>
      </p:sp>
      <p:sp>
        <p:nvSpPr>
          <p:cNvPr id="168" name="Google Shape;168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Kinship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Friendship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Trading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Transportation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Alliances between countries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450" y="1055100"/>
            <a:ext cx="3649800" cy="28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Human Behavior</a:t>
            </a:r>
            <a:endParaRPr sz="3000"/>
          </a:p>
        </p:txBody>
      </p:sp>
      <p:sp>
        <p:nvSpPr>
          <p:cNvPr id="175" name="Google Shape;175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people, including sociologists, usually do not think in “network” terms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</a:t>
            </a:r>
            <a:r>
              <a:rPr lang="en"/>
              <a:t>typically explain behavior?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If you wanted to know why some students drink a lot, others drink very little, how would you go about explain such differences?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Look for </a:t>
            </a:r>
            <a:r>
              <a:rPr i="1" lang="en"/>
              <a:t>other traits of a person</a:t>
            </a:r>
            <a:r>
              <a:rPr lang="en"/>
              <a:t> (attitudes, values, personality, past experiences, demographic traits) that are correlated with the behavior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Network Perspective:  A Different Approach </a:t>
            </a:r>
            <a:endParaRPr/>
          </a:p>
        </p:txBody>
      </p:sp>
      <p:sp>
        <p:nvSpPr>
          <p:cNvPr id="181" name="Google Shape;181;p38"/>
          <p:cNvSpPr txBox="1"/>
          <p:nvPr>
            <p:ph idx="1" type="body"/>
          </p:nvPr>
        </p:nvSpPr>
        <p:spPr>
          <a:xfrm>
            <a:off x="457200" y="1207175"/>
            <a:ext cx="44562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Peer </a:t>
            </a:r>
            <a:r>
              <a:rPr lang="en" sz="1800"/>
              <a:t>influence (pressure?)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</a:t>
            </a:r>
            <a:r>
              <a:rPr lang="en" sz="1800"/>
              <a:t>ho </a:t>
            </a:r>
            <a:r>
              <a:rPr lang="en" sz="1800"/>
              <a:t>someone is connected to can affect what they do 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Key ideas  (Relational Sociology):  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Human beings are embedded in social </a:t>
            </a:r>
            <a:r>
              <a:rPr b="1" lang="en"/>
              <a:t>relations</a:t>
            </a:r>
            <a:r>
              <a:rPr lang="en"/>
              <a:t> with other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</a:t>
            </a:r>
            <a:r>
              <a:rPr lang="en"/>
              <a:t>interact with others and form relationships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explanations of human behavior should also look at who people interact with and our social ties to other people</a:t>
            </a:r>
            <a:endParaRPr/>
          </a:p>
        </p:txBody>
      </p:sp>
      <p:pic>
        <p:nvPicPr>
          <p:cNvPr id="182" name="Google Shape;18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5800" y="1215779"/>
            <a:ext cx="3925800" cy="2946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Organization</a:t>
            </a:r>
            <a:endParaRPr/>
          </a:p>
        </p:txBody>
      </p:sp>
      <p:sp>
        <p:nvSpPr>
          <p:cNvPr id="188" name="Google Shape;188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Sociology is not just about human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about </a:t>
            </a:r>
            <a:r>
              <a:rPr b="1" lang="en">
                <a:solidFill>
                  <a:srgbClr val="FF0000"/>
                </a:solidFill>
              </a:rPr>
              <a:t>social organization</a:t>
            </a:r>
            <a:r>
              <a:rPr lang="en"/>
              <a:t> -- the various ways we connect to other people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connect to other people?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Groups</a:t>
            </a:r>
            <a:r>
              <a:rPr lang="en" sz="1600"/>
              <a:t>:  clubs, classes, teams, dorm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Organizations</a:t>
            </a:r>
            <a:r>
              <a:rPr lang="en" sz="1600"/>
              <a:t>: Notre Dame, Rec Sports, work, stores, online (Amazon)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Social Relationships &amp; Roles</a:t>
            </a:r>
            <a:r>
              <a:rPr lang="en" sz="1600"/>
              <a:t>:  friendships, parent-child, teacher-student, boss-worker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Networks</a:t>
            </a:r>
            <a:endParaRPr b="1"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Seeing Networks</a:t>
            </a:r>
            <a:endParaRPr/>
          </a:p>
        </p:txBody>
      </p:sp>
      <p:sp>
        <p:nvSpPr>
          <p:cNvPr id="194" name="Google Shape;194;p40"/>
          <p:cNvSpPr txBox="1"/>
          <p:nvPr>
            <p:ph idx="1" type="body"/>
          </p:nvPr>
        </p:nvSpPr>
        <p:spPr>
          <a:xfrm>
            <a:off x="457200" y="1123950"/>
            <a:ext cx="4737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Connect the dots metaphor</a:t>
            </a:r>
            <a:endParaRPr sz="24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Dots:  Nodes (vertices)</a:t>
            </a:r>
            <a:endParaRPr sz="20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People, organizations, places, ideas</a:t>
            </a:r>
            <a:endParaRPr sz="1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Lines:  Ties (edges)</a:t>
            </a:r>
            <a:endParaRPr sz="20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Interaction, friendship, exchange, authority, lineage</a:t>
            </a:r>
            <a:endParaRPr sz="1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Flows</a:t>
            </a:r>
            <a:endParaRPr sz="20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information, resources, evaluations (like, dislike), people</a:t>
            </a:r>
            <a:endParaRPr sz="1800"/>
          </a:p>
        </p:txBody>
      </p:sp>
      <p:pic>
        <p:nvPicPr>
          <p:cNvPr id="195" name="Google Shape;19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0875" y="1334550"/>
            <a:ext cx="2143350" cy="23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Study Networks?</a:t>
            </a:r>
            <a:endParaRPr/>
          </a:p>
        </p:txBody>
      </p:sp>
      <p:sp>
        <p:nvSpPr>
          <p:cNvPr id="201" name="Google Shape;201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Determinants of human behavior</a:t>
            </a:r>
            <a:endParaRPr sz="14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2300"/>
              <a:buChar char="○"/>
            </a:pPr>
            <a:r>
              <a:rPr lang="en" sz="2300">
                <a:solidFill>
                  <a:srgbClr val="464653"/>
                </a:solidFill>
              </a:rPr>
              <a:t>Standard theories:  Categories (taxonomies) </a:t>
            </a:r>
            <a:endParaRPr sz="14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2300"/>
              <a:buChar char="○"/>
            </a:pPr>
            <a:r>
              <a:rPr lang="en" sz="2300">
                <a:solidFill>
                  <a:srgbClr val="464653"/>
                </a:solidFill>
              </a:rPr>
              <a:t>Network Theory:  network effects, social influence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Non-independence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Intermediation &amp; indirect ties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Social Networks Do?</a:t>
            </a:r>
            <a:endParaRPr/>
          </a:p>
        </p:txBody>
      </p:sp>
      <p:sp>
        <p:nvSpPr>
          <p:cNvPr id="207" name="Google Shape;207;p4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Friendship, mentorship, gossip,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Ideas, behavior, information, moods, practices, disease, techniques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Advice, money, commodities, information, political favors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Financial, emotional, 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Inclusion/Exclusion (Access)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Homophily, social closure, hiring, secrecy, monopoly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Social Network Field:  Historical Sources</a:t>
            </a:r>
            <a:endParaRPr/>
          </a:p>
        </p:txBody>
      </p:sp>
      <p:sp>
        <p:nvSpPr>
          <p:cNvPr id="213" name="Google Shape;213;p4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Mathematics</a:t>
            </a:r>
            <a:r>
              <a:rPr lang="en"/>
              <a:t>: Graph Theory, Matrix Algebra, Dynamic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Anthropology</a:t>
            </a:r>
            <a:r>
              <a:rPr lang="en"/>
              <a:t>: Kinship, family, and patronage networks, “law of reciprocity”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Psychology</a:t>
            </a:r>
            <a:r>
              <a:rPr lang="en"/>
              <a:t>: Moreno's sociometry, Balance theory (Heider, Festinger), Small World Studies, Newcomb's Fraternity Study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Sociology</a:t>
            </a:r>
            <a:r>
              <a:rPr lang="en"/>
              <a:t>: Network studies of roles and positions (Lorrain, White, Breiger), strength of weak ties and social capital (Granovetter, Burt), dyadic relationship formation processes (Merton, Lazarsfeld, Krackhardt)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Network Analysis (</a:t>
            </a:r>
            <a:r>
              <a:rPr lang="en" u="sng">
                <a:solidFill>
                  <a:schemeClr val="hlink"/>
                </a:solidFill>
                <a:hlinkClick r:id="rId3"/>
              </a:rPr>
              <a:t>INSNA</a:t>
            </a:r>
            <a:r>
              <a:rPr lang="en"/>
              <a:t>): Post 1978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Science (</a:t>
            </a:r>
            <a:r>
              <a:rPr lang="en" u="sng">
                <a:solidFill>
                  <a:schemeClr val="hlink"/>
                </a:solidFill>
                <a:hlinkClick r:id="rId4"/>
              </a:rPr>
              <a:t>NetSci</a:t>
            </a:r>
            <a:r>
              <a:rPr lang="en"/>
              <a:t>): Post 1998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Analysis versus “Network Science”</a:t>
            </a:r>
            <a:endParaRPr/>
          </a:p>
        </p:txBody>
      </p:sp>
      <p:sp>
        <p:nvSpPr>
          <p:cNvPr id="219" name="Google Shape;219;p44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Social Network Analysis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Concerns with measure social network properties at the node level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Concern with linking network properties to substantive outcomes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Concern with specificities of each network context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Reliance on both subject (e.g. cognitive) and behavioral indicators of interactions</a:t>
            </a:r>
            <a:endParaRPr sz="1400"/>
          </a:p>
        </p:txBody>
      </p:sp>
      <p:sp>
        <p:nvSpPr>
          <p:cNvPr id="220" name="Google Shape;220;p44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Network Science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Concern with measuring broad properties at whole network level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Concern with comparing properties across different types of networks and seeing general patterns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Use of baseline “generative” models (e.g. Erdos-Renyi)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Reliance on “objective” interaction indicators  (big data) instead of subjective measures derived from self-reports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5"/>
          <p:cNvSpPr txBox="1"/>
          <p:nvPr>
            <p:ph type="title"/>
          </p:nvPr>
        </p:nvSpPr>
        <p:spPr>
          <a:xfrm>
            <a:off x="311700" y="315925"/>
            <a:ext cx="8520600" cy="146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Current State of Research - A Social Science Revolution</a:t>
            </a:r>
            <a:endParaRPr/>
          </a:p>
        </p:txBody>
      </p:sp>
      <p:sp>
        <p:nvSpPr>
          <p:cNvPr id="226" name="Google Shape;226;p45"/>
          <p:cNvSpPr txBox="1"/>
          <p:nvPr>
            <p:ph idx="1" type="body"/>
          </p:nvPr>
        </p:nvSpPr>
        <p:spPr>
          <a:xfrm>
            <a:off x="311700" y="143745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Exponential growth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Interdisciplinary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Game changing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complex, dynamic, distributed systems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Big Data</a:t>
            </a:r>
            <a:endParaRPr sz="2400"/>
          </a:p>
          <a:p>
            <a:pPr indent="-381000" lvl="1" marL="13716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Communications Data</a:t>
            </a:r>
            <a:endParaRPr sz="2400"/>
          </a:p>
          <a:p>
            <a:pPr indent="-381000" lvl="1" marL="13716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Social Media (Facebook, Twitter)</a:t>
            </a:r>
            <a:endParaRPr sz="2400"/>
          </a:p>
          <a:p>
            <a:pPr indent="-381000" lvl="1" marL="13716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Digitalalized Text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</a:t>
            </a:r>
            <a:endParaRPr/>
          </a:p>
        </p:txBody>
      </p:sp>
      <p:sp>
        <p:nvSpPr>
          <p:cNvPr id="232" name="Google Shape;232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Node (Vertices)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Dyad (Ties, Edges)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Triad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Clusters (communities)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Whole Network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(Vertices) – Ego Networks</a:t>
            </a:r>
            <a:endParaRPr/>
          </a:p>
        </p:txBody>
      </p:sp>
      <p:sp>
        <p:nvSpPr>
          <p:cNvPr id="238" name="Google Shape;238;p47"/>
          <p:cNvSpPr txBox="1"/>
          <p:nvPr>
            <p:ph idx="1" type="body"/>
          </p:nvPr>
        </p:nvSpPr>
        <p:spPr>
          <a:xfrm>
            <a:off x="457200" y="1200150"/>
            <a:ext cx="45459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●"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Degree (network size, neighbors, popularity, in &amp; out degree)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●"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Centrality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●"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Gregariousness (activity level)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●"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Composition (percentage of friends who are women)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●"/>
            </a:pPr>
            <a:r>
              <a:rPr lang="en">
                <a:latin typeface="Cabin"/>
                <a:ea typeface="Cabin"/>
                <a:cs typeface="Cabin"/>
                <a:sym typeface="Cabin"/>
              </a:rPr>
              <a:t>Redundancy, Clustering (ties among alters)</a:t>
            </a:r>
            <a:endParaRPr/>
          </a:p>
        </p:txBody>
      </p:sp>
      <p:pic>
        <p:nvPicPr>
          <p:cNvPr id="239" name="Google Shape;23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925" y="1246925"/>
            <a:ext cx="354330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(Ties, Edges)</a:t>
            </a:r>
            <a:endParaRPr/>
          </a:p>
        </p:txBody>
      </p:sp>
      <p:sp>
        <p:nvSpPr>
          <p:cNvPr id="245" name="Google Shape;245;p48"/>
          <p:cNvSpPr txBox="1"/>
          <p:nvPr>
            <p:ph idx="1" type="body"/>
          </p:nvPr>
        </p:nvSpPr>
        <p:spPr>
          <a:xfrm>
            <a:off x="457200" y="1200150"/>
            <a:ext cx="4551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Strength (Weight)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2000"/>
              <a:buChar char="○"/>
            </a:pPr>
            <a:r>
              <a:rPr lang="en" sz="2000">
                <a:solidFill>
                  <a:srgbClr val="464653"/>
                </a:solidFill>
              </a:rPr>
              <a:t>Frequency, duration, closeness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Reciprocity  (Mutuality, Symmetry)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Social Distance, Homophily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Hierarchy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Persistence/Decay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Formation</a:t>
            </a:r>
            <a:endParaRPr sz="2000"/>
          </a:p>
        </p:txBody>
      </p:sp>
      <p:pic>
        <p:nvPicPr>
          <p:cNvPr id="246" name="Google Shape;24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4550" y="1432673"/>
            <a:ext cx="3692200" cy="25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as Social Ties</a:t>
            </a:r>
            <a:endParaRPr/>
          </a:p>
        </p:txBody>
      </p:sp>
      <p:pic>
        <p:nvPicPr>
          <p:cNvPr descr="Screenshot 2017-08-22 at 09.35.16.png" id="252" name="Google Shape;25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202" cy="271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social networks</a:t>
            </a:r>
            <a:endParaRPr/>
          </a:p>
        </p:txBody>
      </p:sp>
      <p:sp>
        <p:nvSpPr>
          <p:cNvPr id="258" name="Google Shape;258;p5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Role relations (states)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Friends, kin, business partners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Interpersonal sentiments and cognitions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Liking, trusting, acquaintanceship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Behavioral Social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Calling, texting, citing, supporting, resource exchange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Opportunity structure for exchange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holes, brokerage, intermediation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“Non-ties” matter here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</a:t>
            </a:r>
            <a:endParaRPr/>
          </a:p>
        </p:txBody>
      </p:sp>
      <p:sp>
        <p:nvSpPr>
          <p:cNvPr id="264" name="Google Shape;264;p51"/>
          <p:cNvSpPr txBox="1"/>
          <p:nvPr>
            <p:ph idx="1" type="body"/>
          </p:nvPr>
        </p:nvSpPr>
        <p:spPr>
          <a:xfrm>
            <a:off x="457200" y="1157650"/>
            <a:ext cx="4254600" cy="37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Transitivity (a friend of a friend is my friend)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Triadic closure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Tie </a:t>
            </a:r>
            <a:r>
              <a:rPr lang="en" sz="2000"/>
              <a:t>embeddedness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Brokerage (intermediation)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800" y="1587227"/>
            <a:ext cx="4254599" cy="1616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800"/>
              <a:t>Clusters (Communities)</a:t>
            </a:r>
            <a:endParaRPr sz="4800"/>
          </a:p>
        </p:txBody>
      </p:sp>
      <p:sp>
        <p:nvSpPr>
          <p:cNvPr id="271" name="Google Shape;271;p52"/>
          <p:cNvSpPr txBox="1"/>
          <p:nvPr>
            <p:ph idx="1" type="body"/>
          </p:nvPr>
        </p:nvSpPr>
        <p:spPr>
          <a:xfrm>
            <a:off x="408325" y="1180000"/>
            <a:ext cx="3687300" cy="3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Cliques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Distinct communities with bridges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Core-Periphery Structures</a:t>
            </a:r>
            <a:endParaRPr sz="2000"/>
          </a:p>
        </p:txBody>
      </p:sp>
      <p:pic>
        <p:nvPicPr>
          <p:cNvPr id="272" name="Google Shape;27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7825" y="366275"/>
            <a:ext cx="2091725" cy="245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1525" y="2549225"/>
            <a:ext cx="2302700" cy="221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Whole Network	</a:t>
            </a:r>
            <a:endParaRPr/>
          </a:p>
        </p:txBody>
      </p:sp>
      <p:sp>
        <p:nvSpPr>
          <p:cNvPr id="279" name="Google Shape;279;p5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Size</a:t>
            </a:r>
            <a:endParaRPr sz="1800"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Density</a:t>
            </a:r>
            <a:endParaRPr sz="1800"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Degree distribution</a:t>
            </a:r>
            <a:endParaRPr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Clustering</a:t>
            </a:r>
            <a:endParaRPr sz="1800"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Connectivity </a:t>
            </a:r>
            <a:endParaRPr sz="1800"/>
          </a:p>
          <a:p>
            <a:pPr indent="-3175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Char char="○"/>
            </a:pPr>
            <a:r>
              <a:rPr lang="en">
                <a:solidFill>
                  <a:srgbClr val="464653"/>
                </a:solidFill>
              </a:rPr>
              <a:t>giant component</a:t>
            </a:r>
            <a:endParaRPr/>
          </a:p>
          <a:p>
            <a:pPr indent="-3175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Char char="○"/>
            </a:pPr>
            <a:r>
              <a:rPr lang="en">
                <a:solidFill>
                  <a:srgbClr val="464653"/>
                </a:solidFill>
              </a:rPr>
              <a:t>resilience</a:t>
            </a:r>
            <a:endParaRPr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Geodesic distance/size/diameter</a:t>
            </a:r>
            <a:endParaRPr sz="1800"/>
          </a:p>
          <a:p>
            <a:pPr indent="-3175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Char char="○"/>
            </a:pPr>
            <a:r>
              <a:rPr lang="en">
                <a:solidFill>
                  <a:srgbClr val="464653"/>
                </a:solidFill>
              </a:rPr>
              <a:t>Small World</a:t>
            </a:r>
            <a:endParaRPr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Mixing Patterns (assortativity)</a:t>
            </a:r>
            <a:endParaRPr sz="1800"/>
          </a:p>
          <a:p>
            <a:pPr indent="-3175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Char char="○"/>
            </a:pPr>
            <a:r>
              <a:rPr lang="en">
                <a:solidFill>
                  <a:srgbClr val="464653"/>
                </a:solidFill>
              </a:rPr>
              <a:t>degree assortativity</a:t>
            </a:r>
            <a:endParaRPr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Stability</a:t>
            </a:r>
            <a:endParaRPr sz="1800"/>
          </a:p>
        </p:txBody>
      </p:sp>
      <p:pic>
        <p:nvPicPr>
          <p:cNvPr id="280" name="Google Shape;2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275" y="1369575"/>
            <a:ext cx="2712550" cy="265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Ideas / Issues</a:t>
            </a:r>
            <a:endParaRPr/>
          </a:p>
        </p:txBody>
      </p:sp>
      <p:sp>
        <p:nvSpPr>
          <p:cNvPr id="286" name="Google Shape;286;p5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Strength of weak ties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Intermediation &amp; Brokerage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Bridging &amp; Bonding social capital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Embededness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Homophily:  </a:t>
            </a:r>
            <a:r>
              <a:rPr lang="en" sz="2200"/>
              <a:t>Behavior-Network Clustering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Emergence:  local action, global consequences</a:t>
            </a:r>
            <a:endParaRPr sz="2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Ideas / Issues</a:t>
            </a:r>
            <a:endParaRPr/>
          </a:p>
        </p:txBody>
      </p:sp>
      <p:sp>
        <p:nvSpPr>
          <p:cNvPr id="292" name="Google Shape;292;p55"/>
          <p:cNvSpPr txBox="1"/>
          <p:nvPr>
            <p:ph idx="1" type="body"/>
          </p:nvPr>
        </p:nvSpPr>
        <p:spPr>
          <a:xfrm>
            <a:off x="119300" y="120690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Scale-Free Networks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Degree Distribution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Non-random networks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Network Evolution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tie formation &amp; dissolution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Building (assembling) networks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Small World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Diffusion and influence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6"/>
          <p:cNvSpPr txBox="1"/>
          <p:nvPr>
            <p:ph type="title"/>
          </p:nvPr>
        </p:nvSpPr>
        <p:spPr>
          <a:xfrm>
            <a:off x="457200" y="114300"/>
            <a:ext cx="8229600" cy="74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</a:t>
            </a:r>
            <a:r>
              <a:rPr lang="en"/>
              <a:t>Research Issues	</a:t>
            </a:r>
            <a:endParaRPr/>
          </a:p>
        </p:txBody>
      </p:sp>
      <p:sp>
        <p:nvSpPr>
          <p:cNvPr id="298" name="Google Shape;298;p56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2400"/>
              <a:t>Co-evolution of networks and behavior</a:t>
            </a:r>
            <a:endParaRPr sz="2400"/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400"/>
              <a:t>What is different about social networks?</a:t>
            </a:r>
            <a:endParaRPr sz="2400"/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400"/>
              <a:t>What is a “good” network?  What properties can networks maximize?</a:t>
            </a:r>
            <a:endParaRPr sz="2400"/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400"/>
              <a:t>Connections among networks (social, technical, information, semantic, cultural)</a:t>
            </a:r>
            <a:endParaRPr sz="2400"/>
          </a:p>
          <a:p>
            <a:pPr indent="-198120" lvl="0" marL="27432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98120" lvl="0" marL="27432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Study Social Networks: Three Faces</a:t>
            </a:r>
            <a:endParaRPr/>
          </a:p>
        </p:txBody>
      </p:sp>
      <p:sp>
        <p:nvSpPr>
          <p:cNvPr id="304" name="Google Shape;304;p5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Network Theory (Ideas)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Macrostructural Theory and 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Theory and Transitivity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Worlds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Strength of Weak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Bridging and Bonding Social Capital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Brokerage and Intermediation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Homophily, nodal trait clustering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Multiplexity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Diffusion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Study Social Networks: Three Faces</a:t>
            </a:r>
            <a:endParaRPr/>
          </a:p>
        </p:txBody>
      </p:sp>
      <p:sp>
        <p:nvSpPr>
          <p:cNvPr id="310" name="Google Shape;310;p5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Network Measurement (Mathematical Tools)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Centrality and Prominence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to Group Affiliations (bipartite, </a:t>
            </a:r>
            <a:r>
              <a:rPr lang="en"/>
              <a:t>affiliation</a:t>
            </a:r>
            <a:r>
              <a:rPr lang="en"/>
              <a:t> networks)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Ego-Networks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and Transitivity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Brokerage and Structural Holes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Formation and Decay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Roles and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 and Community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Statistical Models of Network Structure and Evolution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Study Social Networks: Three Faces</a:t>
            </a:r>
            <a:endParaRPr/>
          </a:p>
        </p:txBody>
      </p:sp>
      <p:sp>
        <p:nvSpPr>
          <p:cNvPr id="316" name="Google Shape;316;p5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Network Research (Topics)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Core Discussion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Creativity and Intellectual Innovation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Economic and Inter-Organizational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Effect of Context on Personal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Support and Social Exchange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Evolution of Personal Networks through the Life Course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Matching and Personal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Diffusion of Innovations and Social 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Consumption and Production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Just a small sampling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list is open-ended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study any topic from a networks perspective!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0"/>
          <p:cNvSpPr txBox="1"/>
          <p:nvPr>
            <p:ph type="title"/>
          </p:nvPr>
        </p:nvSpPr>
        <p:spPr>
          <a:xfrm>
            <a:off x="457200" y="114300"/>
            <a:ext cx="8229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Research Issues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60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marR="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b="0" i="0" lang="en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Strength of weak ties </a:t>
            </a:r>
            <a:r>
              <a:rPr lang="en">
                <a:latin typeface="Junge"/>
                <a:ea typeface="Junge"/>
                <a:cs typeface="Junge"/>
                <a:sym typeface="Junge"/>
              </a:rPr>
              <a:t> (SWT) and Structural Holes (SH)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i="0" lang="en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Cross-cutting ties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i="0" lang="en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Bridging and bonding social capital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0" i="0" lang="en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Intermediation</a:t>
            </a:r>
            <a:r>
              <a:rPr lang="en">
                <a:latin typeface="Junge"/>
                <a:ea typeface="Junge"/>
                <a:cs typeface="Junge"/>
                <a:sym typeface="Junge"/>
              </a:rPr>
              <a:t>/</a:t>
            </a:r>
            <a:r>
              <a:rPr b="0" i="0" lang="en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Brokerage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0" i="0" lang="en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Scale-free networks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Non-normal distributions (Power-law/Exponential)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i="0" lang="en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Hubs and </a:t>
            </a:r>
            <a:r>
              <a:rPr lang="en">
                <a:latin typeface="Junge"/>
                <a:ea typeface="Junge"/>
                <a:cs typeface="Junge"/>
                <a:sym typeface="Junge"/>
              </a:rPr>
              <a:t>Spokes C</a:t>
            </a:r>
            <a:r>
              <a:rPr b="0" i="0" lang="en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onfiguration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0" i="0" lang="en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Core/Periphery structures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Motifs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0" i="0" lang="en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Weights and Reciprocity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1"/>
          <p:cNvSpPr txBox="1"/>
          <p:nvPr>
            <p:ph type="title"/>
          </p:nvPr>
        </p:nvSpPr>
        <p:spPr>
          <a:xfrm>
            <a:off x="457200" y="114300"/>
            <a:ext cx="8229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Research Issues (continued)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1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Emergence, self-organization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" sz="24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local →  global</a:t>
            </a:r>
            <a:endParaRPr b="0" i="0" sz="24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" sz="24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Agent based models</a:t>
            </a:r>
            <a:endParaRPr b="0" i="0" sz="24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Network Evolution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" sz="24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Tie Formation vs. Persistence</a:t>
            </a:r>
            <a:endParaRPr b="0" i="0" sz="24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" sz="24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Assembling Networks</a:t>
            </a:r>
            <a:endParaRPr b="0" i="0" sz="24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" sz="24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Generative Models </a:t>
            </a:r>
            <a:r>
              <a:rPr lang="en" sz="2400">
                <a:latin typeface="Junge"/>
                <a:ea typeface="Junge"/>
                <a:cs typeface="Junge"/>
                <a:sym typeface="Junge"/>
              </a:rPr>
              <a:t>(Martin, pp. 68-9)</a:t>
            </a:r>
            <a:endParaRPr b="0" i="0" sz="24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48285" lvl="2" marL="82296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lang="en" sz="240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Preferential attachment</a:t>
            </a:r>
            <a:endParaRPr sz="24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48285" lvl="2" marL="82296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lang="en" sz="240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Norm of reciprocity</a:t>
            </a:r>
            <a:endParaRPr sz="24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48285" lvl="2" marL="82296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lang="en" sz="240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Transitivity</a:t>
            </a:r>
            <a:endParaRPr b="0" i="0" sz="24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Diffusion, influence, contagion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" sz="24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Network effects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