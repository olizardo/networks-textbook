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Economica"/>
      <p:regular r:id="rId25"/>
      <p:bold r:id="rId26"/>
      <p:italic r:id="rId27"/>
      <p:boldItalic r:id="rId28"/>
    </p:embeddedFont>
    <p:embeddedFont>
      <p:font typeface="Open Sans Light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conomica-bold.fntdata"/><Relationship Id="rId25" Type="http://schemas.openxmlformats.org/officeDocument/2006/relationships/font" Target="fonts/Economica-regular.fntdata"/><Relationship Id="rId28" Type="http://schemas.openxmlformats.org/officeDocument/2006/relationships/font" Target="fonts/Economica-boldItalic.fntdata"/><Relationship Id="rId27" Type="http://schemas.openxmlformats.org/officeDocument/2006/relationships/font" Target="fonts/Economica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Light-italic.fntdata"/><Relationship Id="rId30" Type="http://schemas.openxmlformats.org/officeDocument/2006/relationships/font" Target="fonts/OpenSansLight-bold.fntdata"/><Relationship Id="rId11" Type="http://schemas.openxmlformats.org/officeDocument/2006/relationships/slide" Target="slides/slide7.xml"/><Relationship Id="rId33" Type="http://schemas.openxmlformats.org/officeDocument/2006/relationships/font" Target="fonts/OpenSans-regular.fntdata"/><Relationship Id="rId10" Type="http://schemas.openxmlformats.org/officeDocument/2006/relationships/slide" Target="slides/slide6.xml"/><Relationship Id="rId32" Type="http://schemas.openxmlformats.org/officeDocument/2006/relationships/font" Target="fonts/OpenSansLight-boldItalic.fntdata"/><Relationship Id="rId13" Type="http://schemas.openxmlformats.org/officeDocument/2006/relationships/slide" Target="slides/slide9.xml"/><Relationship Id="rId35" Type="http://schemas.openxmlformats.org/officeDocument/2006/relationships/font" Target="fonts/OpenSans-italic.fntdata"/><Relationship Id="rId12" Type="http://schemas.openxmlformats.org/officeDocument/2006/relationships/slide" Target="slides/slide8.xml"/><Relationship Id="rId34" Type="http://schemas.openxmlformats.org/officeDocument/2006/relationships/font" Target="fonts/OpenSans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f0e8308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f0e8308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f0e8308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f0e8308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bf0e8308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bf0e8308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f0e8308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f0e8308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bf0e8308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bf0e8308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f0e8308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f0e8308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bf0e8308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bf0e8308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bf0e8308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bf0e8308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bf0e8308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bf0e8308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f0e8308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bf0e8308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f0e8308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bf0e8308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bf0e8308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bf0e8308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bf0e8308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bf0e8308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bf0e8308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bf0e8308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bf0e8308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bf0e8308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bf0e83088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bf0e83088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bf0e8308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bf0e8308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f0e8308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bf0e8308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17b03ece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17b03ece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146800" y="2135924"/>
            <a:ext cx="3054600" cy="78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Statistical Models 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network analysis is based on statistics: So called “descriptive” or “summary” statistics that is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Counts, sums, means, standard deviations, cumulative probability distributions,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want to know whether what we observe is bigger or smaller than we would observe by chance (e.g. “inferential statistics”)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“standard” dataset: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would compute the summary statistic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an </a:t>
            </a:r>
            <a:r>
              <a:rPr b="1" lang="en"/>
              <a:t>assumption </a:t>
            </a:r>
            <a:r>
              <a:rPr lang="en"/>
              <a:t>about how the statistic is distributed in the population (or in repeated observations)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the summary statistic to the expectation of the </a:t>
            </a:r>
            <a:r>
              <a:rPr b="1" lang="en"/>
              <a:t>reference distribution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Conclude that if our observation is more than two times a standard deviation bigger or smaller </a:t>
            </a:r>
            <a:r>
              <a:rPr lang="en"/>
              <a:t>than</a:t>
            </a:r>
            <a:r>
              <a:rPr lang="en"/>
              <a:t> it is “significantly” different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network analysis is based on statistics: So called “descriptive” or “summary” statistics that is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Counts, sums, means, standard deviations, cumulative probability distributions,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we want to know whether what we observe is bigger or smaller than we would observe by chance (e.g. “inferential statistics”)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“network” dataset: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know how to compute summary statistics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Pretty much what “classical” network analysis was all about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 notion of a “distribution” of networks is not immediately intuitive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What a lot of recent (e.g. post-2000s) network methodology has been all about</a:t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8520600" cy="27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previous discussion of generative network models can help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you may recall, any generative network model produces a graph referred to as a  </a:t>
            </a:r>
            <a:r>
              <a:rPr b="1" lang="en"/>
              <a:t>realization: </a:t>
            </a:r>
            <a:r>
              <a:rPr lang="en"/>
              <a:t>G(k)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“runs” of the same model will produce a set of such realizations usually referred to as an </a:t>
            </a:r>
            <a:r>
              <a:rPr b="1" lang="en"/>
              <a:t>ensemble: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G </a:t>
            </a:r>
            <a:r>
              <a:rPr lang="en"/>
              <a:t>= {G(k</a:t>
            </a:r>
            <a:r>
              <a:rPr baseline="-25000" lang="en"/>
              <a:t>1</a:t>
            </a:r>
            <a:r>
              <a:rPr lang="en"/>
              <a:t>), G(k</a:t>
            </a:r>
            <a:r>
              <a:rPr baseline="-25000" lang="en"/>
              <a:t>1</a:t>
            </a:r>
            <a:r>
              <a:rPr lang="en"/>
              <a:t>), G(k</a:t>
            </a:r>
            <a:r>
              <a:rPr baseline="-25000" lang="en"/>
              <a:t>1</a:t>
            </a:r>
            <a:r>
              <a:rPr lang="en"/>
              <a:t>)...G(k</a:t>
            </a:r>
            <a:r>
              <a:rPr baseline="-25000" lang="en"/>
              <a:t>n</a:t>
            </a:r>
            <a:r>
              <a:rPr lang="en"/>
              <a:t>)}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as a basis for doing some inferential statistics on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your summary statistics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a graph ensemble </a:t>
            </a:r>
            <a:r>
              <a:rPr b="1" lang="en"/>
              <a:t>according to some generative model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 the mean and standard deviation of the statistic in the ensemble: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074" y="3952225"/>
            <a:ext cx="2054324" cy="73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5288" y="4147475"/>
            <a:ext cx="2478650" cy="3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We have already seen some generative network models that can be the basis of statistical inference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way to think about generative models is about properties that the “fix” and properties that they let “vary”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Erdos-Renyi (N, d):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Fixes: N, d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Where is N is number of nodes, d is network density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Note that because E (number of edges) is a function of N and d:</a:t>
            </a:r>
            <a:endParaRPr/>
          </a:p>
          <a:p>
            <a: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= d(N * (N - 1))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N and d are fixed so is (expected) 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Everything else is random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Erdos-Renyi generative model is useful but sometimes we want to know whether there is something going above and beyond a more constraining set of “fixed” features of the the network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them is the degree distribution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Very few “real” networks have the sort of normally distributed degrees predicted by Erdos-Renyi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“configuration model” is useful for generative random graph ensembles that preserve a given distribution (actually a sequence) of degrees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4665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Configuration model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with N number of nodes with “stubs” poking out from them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stubs corresponds to: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Select two nodes (i,j) at random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If each node has a “free” stub create an edge between i and j by joining the two stubs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Continue until no more free stubs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resulting realization G(k) is a </a:t>
            </a:r>
            <a:r>
              <a:rPr b="1" lang="en"/>
              <a:t>random graph with a degree distribution equal to the observed</a:t>
            </a:r>
            <a:endParaRPr b="1"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000" y="1299625"/>
            <a:ext cx="38290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6000" y="2372500"/>
            <a:ext cx="966850" cy="2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225225"/>
            <a:ext cx="4665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Configuration model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with N number of nodes with “stubs” poking out from them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stubs corresponds to: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Select two nodes (i,j) at random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If each node has a “free” stub create an edge between i and j by joining the two stubs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Continue until no more free stubs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the create an ensemble of such graphs and compute the Z-score for your summary stat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000" y="2372500"/>
            <a:ext cx="966850" cy="2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000" y="1299625"/>
            <a:ext cx="3829050" cy="3171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20"/>
          <p:cNvCxnSpPr/>
          <p:nvPr/>
        </p:nvCxnSpPr>
        <p:spPr>
          <a:xfrm>
            <a:off x="5994300" y="1931725"/>
            <a:ext cx="831600" cy="44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20"/>
          <p:cNvCxnSpPr/>
          <p:nvPr/>
        </p:nvCxnSpPr>
        <p:spPr>
          <a:xfrm flipH="1" rot="10800000">
            <a:off x="5994300" y="2985675"/>
            <a:ext cx="763800" cy="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20"/>
          <p:cNvCxnSpPr/>
          <p:nvPr/>
        </p:nvCxnSpPr>
        <p:spPr>
          <a:xfrm>
            <a:off x="8256675" y="2337775"/>
            <a:ext cx="19200" cy="55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225225"/>
            <a:ext cx="451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Quirks of c</a:t>
            </a:r>
            <a:r>
              <a:rPr lang="en"/>
              <a:t>onfiguration model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degrees (number of stubs) must be an even number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Otherwise one stub loses matching game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Generates self-edges and multi-edges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can be ignored if the number of graphs in ensemble is large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Topographically equivalent realizations are counted as different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000" y="1299625"/>
            <a:ext cx="3829050" cy="3171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1"/>
          <p:cNvCxnSpPr/>
          <p:nvPr/>
        </p:nvCxnSpPr>
        <p:spPr>
          <a:xfrm>
            <a:off x="5994300" y="1931725"/>
            <a:ext cx="831600" cy="44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21"/>
          <p:cNvCxnSpPr/>
          <p:nvPr/>
        </p:nvCxnSpPr>
        <p:spPr>
          <a:xfrm flipH="1" rot="10800000">
            <a:off x="5994300" y="2985675"/>
            <a:ext cx="763800" cy="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1"/>
          <p:cNvCxnSpPr/>
          <p:nvPr/>
        </p:nvCxnSpPr>
        <p:spPr>
          <a:xfrm>
            <a:off x="8256675" y="2337775"/>
            <a:ext cx="19200" cy="55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225225"/>
            <a:ext cx="4665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configuration model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Probability of edge between two nodes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Placeholder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Placeholder</a:t>
            </a:r>
            <a:endParaRPr>
              <a:solidFill>
                <a:srgbClr val="FFFFFF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Expected number of common neighbors: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Placeholder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</a:pPr>
            <a:r>
              <a:rPr lang="en">
                <a:solidFill>
                  <a:srgbClr val="FFFFFF"/>
                </a:solidFill>
              </a:rPr>
              <a:t>Placeholder</a:t>
            </a:r>
            <a:endParaRPr>
              <a:solidFill>
                <a:srgbClr val="FFFF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also define a </a:t>
            </a:r>
            <a:r>
              <a:rPr b="1" lang="en"/>
              <a:t>generative configuration model</a:t>
            </a:r>
            <a:r>
              <a:rPr lang="en"/>
              <a:t> by using p</a:t>
            </a:r>
            <a:r>
              <a:rPr baseline="-25000" lang="en"/>
              <a:t>ij</a:t>
            </a:r>
            <a:endParaRPr baseline="-250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Select two nodes at random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Connect with probability: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000" y="1299625"/>
            <a:ext cx="3829050" cy="3171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22"/>
          <p:cNvCxnSpPr/>
          <p:nvPr/>
        </p:nvCxnSpPr>
        <p:spPr>
          <a:xfrm>
            <a:off x="5994300" y="1931725"/>
            <a:ext cx="831600" cy="44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2"/>
          <p:cNvCxnSpPr/>
          <p:nvPr/>
        </p:nvCxnSpPr>
        <p:spPr>
          <a:xfrm flipH="1" rot="10800000">
            <a:off x="5994300" y="2985675"/>
            <a:ext cx="763800" cy="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2"/>
          <p:cNvCxnSpPr/>
          <p:nvPr/>
        </p:nvCxnSpPr>
        <p:spPr>
          <a:xfrm>
            <a:off x="8256675" y="2337775"/>
            <a:ext cx="19200" cy="55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802" y="1893175"/>
            <a:ext cx="1177780" cy="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3803" y="2623610"/>
            <a:ext cx="1769414" cy="4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802" y="4134625"/>
            <a:ext cx="1177780" cy="4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approach: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Advantages over configuration: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 need to worry about self, multi-edges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 configuration, preserves degree distribution (and every “lower” statistic) but randomizes everything else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43" name="Google Shape;143;p23"/>
          <p:cNvGrpSpPr/>
          <p:nvPr/>
        </p:nvGrpSpPr>
        <p:grpSpPr>
          <a:xfrm>
            <a:off x="311700" y="2678426"/>
            <a:ext cx="8520600" cy="2223974"/>
            <a:chOff x="311700" y="2678426"/>
            <a:chExt cx="8520600" cy="2223974"/>
          </a:xfrm>
        </p:grpSpPr>
        <p:pic>
          <p:nvPicPr>
            <p:cNvPr id="144" name="Google Shape;14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01288" y="2678426"/>
              <a:ext cx="4541424" cy="190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23"/>
            <p:cNvSpPr txBox="1"/>
            <p:nvPr/>
          </p:nvSpPr>
          <p:spPr>
            <a:xfrm>
              <a:off x="311700" y="4656700"/>
              <a:ext cx="8520600" cy="24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Maslov, S. &amp; Sneppen, K. Specificity and stability in topology of protein networks. </a:t>
              </a:r>
              <a:r>
                <a:rPr b="1" i="1" lang="en" sz="1200">
                  <a:latin typeface="Open Sans"/>
                  <a:ea typeface="Open Sans"/>
                  <a:cs typeface="Open Sans"/>
                  <a:sym typeface="Open Sans"/>
                </a:rPr>
                <a:t>Science </a:t>
              </a: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296, 910–913 (2002).</a:t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Pick two </a:t>
            </a:r>
            <a:r>
              <a:rPr b="1" lang="en"/>
              <a:t>edges</a:t>
            </a:r>
            <a:r>
              <a:rPr lang="en"/>
              <a:t> at random (e.g. ab and cd)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 a random node incident to each edge (e.g. b and d)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Provided that the ad and the cb edges do not exist: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Delete</a:t>
            </a:r>
            <a:r>
              <a:rPr lang="en"/>
              <a:t> ab and cd, </a:t>
            </a:r>
            <a:r>
              <a:rPr b="1" lang="en"/>
              <a:t>create</a:t>
            </a:r>
            <a:r>
              <a:rPr lang="en"/>
              <a:t> ad and cb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24"/>
          <p:cNvGrpSpPr/>
          <p:nvPr/>
        </p:nvGrpSpPr>
        <p:grpSpPr>
          <a:xfrm>
            <a:off x="311700" y="2678426"/>
            <a:ext cx="8520600" cy="2223974"/>
            <a:chOff x="311700" y="2678426"/>
            <a:chExt cx="8520600" cy="2223974"/>
          </a:xfrm>
        </p:grpSpPr>
        <p:pic>
          <p:nvPicPr>
            <p:cNvPr id="153" name="Google Shape;15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01288" y="2678426"/>
              <a:ext cx="4541424" cy="190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24"/>
            <p:cNvSpPr txBox="1"/>
            <p:nvPr/>
          </p:nvSpPr>
          <p:spPr>
            <a:xfrm>
              <a:off x="311700" y="4656700"/>
              <a:ext cx="8520600" cy="24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Maslov, S. &amp; Sneppen, K. Specificity and stability in topology of protein networks. </a:t>
              </a:r>
              <a:r>
                <a:rPr b="1" i="1" lang="en" sz="1200">
                  <a:latin typeface="Open Sans"/>
                  <a:ea typeface="Open Sans"/>
                  <a:cs typeface="Open Sans"/>
                  <a:sym typeface="Open Sans"/>
                </a:rPr>
                <a:t>Science </a:t>
              </a: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296, 910–913 (2002).</a:t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P</a:t>
            </a:r>
            <a:r>
              <a:rPr baseline="-25000" lang="en"/>
              <a:t>ij</a:t>
            </a:r>
            <a:r>
              <a:rPr lang="en"/>
              <a:t> is still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/(2E)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studying “excess” correlation between degrees in real world: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</a:t>
            </a:r>
            <a:r>
              <a:rPr baseline="-25000" lang="en"/>
              <a:t>obs</a:t>
            </a:r>
            <a:r>
              <a:rPr lang="en"/>
              <a:t>(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) versus Expected(N</a:t>
            </a:r>
            <a:r>
              <a:rPr baseline="-25000" lang="en"/>
              <a:t>rand</a:t>
            </a:r>
            <a:r>
              <a:rPr lang="en"/>
              <a:t>(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))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25"/>
          <p:cNvGrpSpPr/>
          <p:nvPr/>
        </p:nvGrpSpPr>
        <p:grpSpPr>
          <a:xfrm>
            <a:off x="311700" y="2678426"/>
            <a:ext cx="8520600" cy="2223974"/>
            <a:chOff x="311700" y="2678426"/>
            <a:chExt cx="8520600" cy="2223974"/>
          </a:xfrm>
        </p:grpSpPr>
        <p:pic>
          <p:nvPicPr>
            <p:cNvPr id="162" name="Google Shape;162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01288" y="2678426"/>
              <a:ext cx="4541424" cy="1902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25"/>
            <p:cNvSpPr txBox="1"/>
            <p:nvPr/>
          </p:nvSpPr>
          <p:spPr>
            <a:xfrm>
              <a:off x="311700" y="4656700"/>
              <a:ext cx="8520600" cy="24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Maslov, S. &amp; Sneppen, K. Specificity and stability in topology of protein networks. </a:t>
              </a:r>
              <a:r>
                <a:rPr b="1" i="1" lang="en" sz="1200">
                  <a:latin typeface="Open Sans"/>
                  <a:ea typeface="Open Sans"/>
                  <a:cs typeface="Open Sans"/>
                  <a:sym typeface="Open Sans"/>
                </a:rPr>
                <a:t>Science </a:t>
              </a:r>
              <a:r>
                <a:rPr lang="en" sz="1200">
                  <a:latin typeface="Open Sans Light"/>
                  <a:ea typeface="Open Sans Light"/>
                  <a:cs typeface="Open Sans Light"/>
                  <a:sym typeface="Open Sans Light"/>
                </a:rPr>
                <a:t>296, 910–913 (2002).</a:t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P</a:t>
            </a:r>
            <a:r>
              <a:rPr baseline="-25000" lang="en"/>
              <a:t>ij</a:t>
            </a:r>
            <a:r>
              <a:rPr lang="en"/>
              <a:t> is still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/(2E)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studying “excess” correlation between degrees in real world: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</a:t>
            </a:r>
            <a:r>
              <a:rPr baseline="-25000" lang="en"/>
              <a:t>obs</a:t>
            </a:r>
            <a:r>
              <a:rPr lang="en"/>
              <a:t>(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) versus Expected (N</a:t>
            </a:r>
            <a:r>
              <a:rPr baseline="-25000" lang="en"/>
              <a:t>rand</a:t>
            </a:r>
            <a:r>
              <a:rPr lang="en"/>
              <a:t>(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))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313" y="2678425"/>
            <a:ext cx="4677365" cy="216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311700" y="1225225"/>
            <a:ext cx="85206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Maslov-Sneppen “Rewiring” procedure: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P</a:t>
            </a:r>
            <a:r>
              <a:rPr baseline="-25000" lang="en"/>
              <a:t>ij</a:t>
            </a:r>
            <a:r>
              <a:rPr lang="en"/>
              <a:t> is still k</a:t>
            </a:r>
            <a:r>
              <a:rPr baseline="-25000" lang="en"/>
              <a:t>i</a:t>
            </a:r>
            <a:r>
              <a:rPr lang="en"/>
              <a:t>k</a:t>
            </a:r>
            <a:r>
              <a:rPr baseline="-25000" lang="en"/>
              <a:t>j</a:t>
            </a:r>
            <a:r>
              <a:rPr lang="en"/>
              <a:t>/(2E)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Substantive finding: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internet is not more “disassortative” than we would expect given the degree distribution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950" y="2678425"/>
            <a:ext cx="2756499" cy="216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924" y="2756425"/>
            <a:ext cx="2601087" cy="216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Orsini et al Quantifying Randomness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Generative and rewiring models are all actually special cases of a more general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are interested in network </a:t>
            </a:r>
            <a:r>
              <a:rPr lang="en"/>
              <a:t>properties</a:t>
            </a:r>
            <a:r>
              <a:rPr lang="en"/>
              <a:t> (X) because we believe they are connected to function F (e.g. </a:t>
            </a:r>
            <a:r>
              <a:rPr lang="en"/>
              <a:t>diffusion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sometimes property X is correlated with property 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statistics this raises the problem of </a:t>
            </a:r>
            <a:r>
              <a:rPr b="1" lang="en"/>
              <a:t>confounding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Maybe F is </a:t>
            </a:r>
            <a:r>
              <a:rPr lang="en"/>
              <a:t>facilitated</a:t>
            </a:r>
            <a:r>
              <a:rPr lang="en"/>
              <a:t> by Y and not 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Generative models, rewiring, configuration, attempt to deal with this issue: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Generate graph ensembles with property Y (Y-random graphs)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See if Y and X are on average correlated in these graphs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so, </a:t>
            </a:r>
            <a:r>
              <a:rPr lang="en"/>
              <a:t>spuriousness</a:t>
            </a:r>
            <a:r>
              <a:rPr lang="en"/>
              <a:t> is an issue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not we don’t have to worry about it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However there could be another set of properties Z</a:t>
            </a:r>
            <a:r>
              <a:rPr baseline="-25000" lang="en"/>
              <a:t>1</a:t>
            </a:r>
            <a:r>
              <a:rPr lang="en"/>
              <a:t>, Z</a:t>
            </a:r>
            <a:r>
              <a:rPr baseline="-25000" lang="en"/>
              <a:t>2</a:t>
            </a:r>
            <a:r>
              <a:rPr lang="en"/>
              <a:t>, Z</a:t>
            </a:r>
            <a:r>
              <a:rPr baseline="-25000" lang="en"/>
              <a:t>3</a:t>
            </a:r>
            <a:r>
              <a:rPr lang="en"/>
              <a:t>,...etc.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Orsini et al Quantifying Randomness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Solution: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Rather than a single test against a single “null”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Create a hierarchical set of null-models ordered by the number of things that are fixed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Every model defines an ensemble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every ensemble G(k</a:t>
            </a:r>
            <a:r>
              <a:rPr baseline="-25000" lang="en"/>
              <a:t>n</a:t>
            </a:r>
            <a:r>
              <a:rPr lang="en"/>
              <a:t>) fixes all of the things as the previous ensemble G(k</a:t>
            </a:r>
            <a:r>
              <a:rPr baseline="-25000" lang="en"/>
              <a:t>n-1</a:t>
            </a:r>
            <a:r>
              <a:rPr lang="en"/>
              <a:t>) plus one more higher order thing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instance a possible order would be: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-&gt; degree distribution -&gt; degree correlation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set of ensembles is the d</a:t>
            </a:r>
            <a:r>
              <a:rPr i="1" lang="en"/>
              <a:t>k</a:t>
            </a:r>
            <a:r>
              <a:rPr lang="en"/>
              <a:t>-series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11700" y="1225225"/>
            <a:ext cx="502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4k-distribution is the graph itself.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3k-distribution consists of its three subgraphs of size 3: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2k-distribution is the joint degree distribution in the graph.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links (subgraphs of size 2) connecting nodes of different degrees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1k-distribution is the degree distribution in the graph.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1600"/>
              </a:spcAft>
              <a:buSzPts val="1400"/>
              <a:buChar char="○"/>
            </a:pPr>
            <a:r>
              <a:rPr lang="en"/>
              <a:t>The 0k-distribution is just the average degree in the graph</a:t>
            </a:r>
            <a:endParaRPr/>
          </a:p>
        </p:txBody>
      </p:sp>
      <p:pic>
        <p:nvPicPr>
          <p:cNvPr id="197" name="Google Shape;1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600" y="1225225"/>
            <a:ext cx="3379555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for networks why?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311700" y="1225225"/>
            <a:ext cx="502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sequence of dk-distributions then defines a sequence of random graph ensembles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dk-graphs are a set of all graphs with a given dk-distribution: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dk(0) = Erdos-Renyi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dk(1) = Configuration, rewiring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dk(2) = Random graphs with prescribed joint degree distribution, and so on</a:t>
            </a:r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600" y="1225225"/>
            <a:ext cx="3379555" cy="335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9874" y="315925"/>
            <a:ext cx="3843701" cy="394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