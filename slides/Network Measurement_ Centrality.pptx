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Josefin Slab"/>
      <p:regular r:id="rId42"/>
      <p:bold r:id="rId43"/>
      <p:italic r:id="rId44"/>
      <p:boldItalic r:id="rId45"/>
    </p:embeddedFont>
    <p:embeddedFont>
      <p:font typeface="Economica"/>
      <p:regular r:id="rId46"/>
      <p:bold r:id="rId47"/>
      <p:italic r:id="rId48"/>
      <p:boldItalic r:id="rId49"/>
    </p:embeddedFont>
    <p:embeddedFont>
      <p:font typeface="Open Sans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3A080720-04E6-4688-9422-C7DF65CBA1B3}">
  <a:tblStyle styleId="{3A080720-04E6-4688-9422-C7DF65CBA1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84BAF6-05AA-478E-B62F-863733932CE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JosefinSlab-regular.fntdata"/><Relationship Id="rId41" Type="http://schemas.openxmlformats.org/officeDocument/2006/relationships/slide" Target="slides/slide36.xml"/><Relationship Id="rId44" Type="http://schemas.openxmlformats.org/officeDocument/2006/relationships/font" Target="fonts/JosefinSlab-italic.fntdata"/><Relationship Id="rId43" Type="http://schemas.openxmlformats.org/officeDocument/2006/relationships/font" Target="fonts/JosefinSlab-bold.fntdata"/><Relationship Id="rId46" Type="http://schemas.openxmlformats.org/officeDocument/2006/relationships/font" Target="fonts/Economica-regular.fntdata"/><Relationship Id="rId45" Type="http://schemas.openxmlformats.org/officeDocument/2006/relationships/font" Target="fonts/JosefinSlab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Economica-italic.fntdata"/><Relationship Id="rId47" Type="http://schemas.openxmlformats.org/officeDocument/2006/relationships/font" Target="fonts/Economica-bold.fntdata"/><Relationship Id="rId49" Type="http://schemas.openxmlformats.org/officeDocument/2006/relationships/font" Target="fonts/Economic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bold.fntdata"/><Relationship Id="rId50" Type="http://schemas.openxmlformats.org/officeDocument/2006/relationships/font" Target="fonts/OpenSans-regular.fntdata"/><Relationship Id="rId53" Type="http://schemas.openxmlformats.org/officeDocument/2006/relationships/font" Target="fonts/OpenSans-boldItalic.fntdata"/><Relationship Id="rId52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47984855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47984855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47984855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47984855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47984855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47984855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47ab619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47ab619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7ab6197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7ab6197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47ab6197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47ab6197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47ab6197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47ab6197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47984855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47984855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47984855f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47984855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7984855f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47984855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47ab6197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47ab6197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47ab6197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47ab6197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4e76fa86e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4e76fa86e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4e76fa86eb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4e76fa86e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4e76fa86eb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4e76fa86eb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4e76fa86eb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4e76fa86eb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4e76fa86eb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4e76fa86eb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4e76fa86eb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4e76fa86eb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4e76fa86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4e76fa86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4e76fa86eb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4e76fa86eb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4e76fa86eb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4e76fa86eb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4e76fa86eb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4e76fa86eb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4e76fa86eb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4e76fa86eb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4e76fa86eb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4e76fa86eb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47ab6197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47ab6197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47ab61973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47ab6197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47ab61973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247ab61973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47ab61973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47ab61973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47ab61973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47ab61973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47ab61973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47ab61973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47984855f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47984855f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47ab6197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47ab6197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47ab61973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47ab61973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47ab61973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247ab61973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47b5856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47b5856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12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12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12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944025"/>
            <a:ext cx="2924400" cy="20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Centrality: What is it?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225225"/>
            <a:ext cx="488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Central</a:t>
            </a:r>
            <a:r>
              <a:rPr lang="en"/>
              <a:t> notion in network analysis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ill-defined conceptually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Intuitively, vertex-level index of </a:t>
            </a:r>
            <a:r>
              <a:rPr i="1" lang="en"/>
              <a:t>prominence</a:t>
            </a:r>
            <a:r>
              <a:rPr lang="en"/>
              <a:t> or </a:t>
            </a:r>
            <a:r>
              <a:rPr i="1" lang="en"/>
              <a:t>importance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Dozens and dozens of centrality have and continue to be proposed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agreement is that centrality is a </a:t>
            </a:r>
            <a:r>
              <a:rPr b="1" lang="en"/>
              <a:t>vertex-level</a:t>
            </a:r>
            <a:r>
              <a:rPr lang="en"/>
              <a:t> construct</a:t>
            </a:r>
            <a:endParaRPr/>
          </a:p>
        </p:txBody>
      </p:sp>
      <p:pic>
        <p:nvPicPr>
          <p:cNvPr descr="Ego_network.png"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8925" y="1079425"/>
            <a:ext cx="3759301" cy="3645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Centrality: What is it?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4768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Plethora of (sometimes inconsistent) substantive interpretations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Autonomy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Control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Risk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Exposure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Influence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Belongingness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Brokerage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Independence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Power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Strategic Location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Ego_network.png"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8925" y="1079425"/>
            <a:ext cx="3759301" cy="3645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Centrality: A coherent or a fuzzy category?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225225"/>
            <a:ext cx="3957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there any </a:t>
            </a:r>
            <a:r>
              <a:rPr b="1" lang="en"/>
              <a:t>criterion</a:t>
            </a:r>
            <a:r>
              <a:rPr lang="en"/>
              <a:t> that is definitional of the notion of a centrality index?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there </a:t>
            </a:r>
            <a:r>
              <a:rPr b="1" lang="en"/>
              <a:t>anything</a:t>
            </a:r>
            <a:r>
              <a:rPr lang="en"/>
              <a:t> that all measures of centrality have in common?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there any </a:t>
            </a:r>
            <a:r>
              <a:rPr b="1" lang="en"/>
              <a:t>structural</a:t>
            </a:r>
            <a:r>
              <a:rPr lang="en"/>
              <a:t> </a:t>
            </a:r>
            <a:r>
              <a:rPr b="1" lang="en"/>
              <a:t>properties</a:t>
            </a:r>
            <a:r>
              <a:rPr lang="en"/>
              <a:t> of a vertex that are not a centrality measure?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0676" y="1339614"/>
            <a:ext cx="4101625" cy="3125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Centrality: Some conceptual issues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225225"/>
            <a:ext cx="530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What Kind of Network do You have?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i="1" lang="en">
                <a:solidFill>
                  <a:srgbClr val="000000"/>
                </a:solidFill>
              </a:rPr>
              <a:t>The same measure means different things in networks defined by different kinds of ties</a:t>
            </a:r>
            <a:endParaRPr i="1"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b="1" lang="en">
                <a:solidFill>
                  <a:srgbClr val="000000"/>
                </a:solidFill>
              </a:rPr>
              <a:t>Role relations (states)</a:t>
            </a:r>
            <a:endParaRPr b="1">
              <a:solidFill>
                <a:srgbClr val="000000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Friends, kin, business partners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b="1" lang="en">
                <a:solidFill>
                  <a:srgbClr val="000000"/>
                </a:solidFill>
              </a:rPr>
              <a:t>Interpersonal sentiments and cognitions</a:t>
            </a:r>
            <a:endParaRPr b="1">
              <a:solidFill>
                <a:srgbClr val="000000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Liking, trusting, acquaintanceship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b="1" lang="en">
                <a:solidFill>
                  <a:srgbClr val="000000"/>
                </a:solidFill>
              </a:rPr>
              <a:t>Behavioral social interactions</a:t>
            </a:r>
            <a:endParaRPr b="1">
              <a:solidFill>
                <a:srgbClr val="000000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Calling, texting, supporting, resource exchange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b="1" lang="en">
                <a:solidFill>
                  <a:srgbClr val="000000"/>
                </a:solidFill>
              </a:rPr>
              <a:t>Opportunity structure for exchange</a:t>
            </a:r>
            <a:endParaRPr b="1">
              <a:solidFill>
                <a:srgbClr val="000000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Structural holes, brokerage, intermediation (non-ties” matter here)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Figure-1-Typology-of-Types-of-Ties-Among-Persons-Studied-in-the-Social-Networks.png" id="90" name="Google Shape;90;p17"/>
          <p:cNvPicPr preferRelativeResize="0"/>
          <p:nvPr/>
        </p:nvPicPr>
        <p:blipFill rotWithShape="1">
          <a:blip r:embed="rId3">
            <a:alphaModFix/>
          </a:blip>
          <a:srcRect b="2136" l="1810" r="1365" t="1645"/>
          <a:stretch/>
        </p:blipFill>
        <p:spPr>
          <a:xfrm>
            <a:off x="5675250" y="1624275"/>
            <a:ext cx="3113175" cy="254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Centrality: Some conceptual issues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Acquaintanceship</a:t>
            </a:r>
            <a:r>
              <a:rPr lang="en"/>
              <a:t> network: Being connected to connected others is </a:t>
            </a:r>
            <a:r>
              <a:rPr b="1" lang="en"/>
              <a:t>good</a:t>
            </a:r>
            <a:r>
              <a:rPr lang="en"/>
              <a:t>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sp>
        <p:nvSpPr>
          <p:cNvPr id="97" name="Google Shape;97;p18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/>
              <a:t>Restricted </a:t>
            </a:r>
            <a:r>
              <a:rPr b="1" lang="en"/>
              <a:t>Exchange</a:t>
            </a:r>
            <a:r>
              <a:rPr lang="en"/>
              <a:t> Network: Being connected to connected others is </a:t>
            </a:r>
            <a:r>
              <a:rPr b="1" lang="en"/>
              <a:t>bad</a:t>
            </a:r>
            <a:r>
              <a:rPr lang="en"/>
              <a:t>!</a:t>
            </a:r>
            <a:endParaRPr/>
          </a:p>
        </p:txBody>
      </p:sp>
      <p:pic>
        <p:nvPicPr>
          <p:cNvPr descr="rb365f1.jpg" id="98" name="Google Shape;98;p18"/>
          <p:cNvPicPr preferRelativeResize="0"/>
          <p:nvPr/>
        </p:nvPicPr>
        <p:blipFill rotWithShape="1">
          <a:blip r:embed="rId3">
            <a:alphaModFix/>
          </a:blip>
          <a:srcRect b="16289" l="0" r="43715" t="0"/>
          <a:stretch/>
        </p:blipFill>
        <p:spPr>
          <a:xfrm>
            <a:off x="863924" y="1836975"/>
            <a:ext cx="2895450" cy="274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b365f1.jpg" id="99" name="Google Shape;99;p18"/>
          <p:cNvPicPr preferRelativeResize="0"/>
          <p:nvPr/>
        </p:nvPicPr>
        <p:blipFill rotWithShape="1">
          <a:blip r:embed="rId3">
            <a:alphaModFix/>
          </a:blip>
          <a:srcRect b="16289" l="0" r="43715" t="0"/>
          <a:stretch/>
        </p:blipFill>
        <p:spPr>
          <a:xfrm>
            <a:off x="5384624" y="1836975"/>
            <a:ext cx="2895450" cy="27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Centrality: Some conceptual issues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/>
              <a:t>Acquaintanceship</a:t>
            </a:r>
            <a:r>
              <a:rPr lang="en"/>
              <a:t> network: Being connected to connected others is </a:t>
            </a:r>
            <a:r>
              <a:rPr b="1" lang="en"/>
              <a:t>good</a:t>
            </a:r>
            <a:r>
              <a:rPr lang="en"/>
              <a:t>!</a:t>
            </a:r>
            <a:endParaRPr/>
          </a:p>
        </p:txBody>
      </p:sp>
      <p:sp>
        <p:nvSpPr>
          <p:cNvPr id="106" name="Google Shape;106;p19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/>
              <a:t>Restricted Exchange</a:t>
            </a:r>
            <a:r>
              <a:rPr lang="en"/>
              <a:t> Network: Being connected to connected others is </a:t>
            </a:r>
            <a:r>
              <a:rPr b="1" lang="en"/>
              <a:t>bad</a:t>
            </a:r>
            <a:r>
              <a:rPr lang="en"/>
              <a:t>!</a:t>
            </a:r>
            <a:endParaRPr/>
          </a:p>
        </p:txBody>
      </p:sp>
      <p:pic>
        <p:nvPicPr>
          <p:cNvPr descr="rb365f1.jpg" id="107" name="Google Shape;107;p19"/>
          <p:cNvPicPr preferRelativeResize="0"/>
          <p:nvPr/>
        </p:nvPicPr>
        <p:blipFill rotWithShape="1">
          <a:blip r:embed="rId3">
            <a:alphaModFix/>
          </a:blip>
          <a:srcRect b="16289" l="0" r="43715" t="0"/>
          <a:stretch/>
        </p:blipFill>
        <p:spPr>
          <a:xfrm>
            <a:off x="863924" y="1836975"/>
            <a:ext cx="2895450" cy="274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b365f1.jpg" id="108" name="Google Shape;108;p19"/>
          <p:cNvPicPr preferRelativeResize="0"/>
          <p:nvPr/>
        </p:nvPicPr>
        <p:blipFill rotWithShape="1">
          <a:blip r:embed="rId3">
            <a:alphaModFix/>
          </a:blip>
          <a:srcRect b="16289" l="68906" r="1963" t="0"/>
          <a:stretch/>
        </p:blipFill>
        <p:spPr>
          <a:xfrm>
            <a:off x="5928338" y="1836975"/>
            <a:ext cx="1498575" cy="27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Centrality: From network concepts to measures</a:t>
            </a:r>
            <a:endParaRPr/>
          </a:p>
        </p:txBody>
      </p:sp>
      <p:grpSp>
        <p:nvGrpSpPr>
          <p:cNvPr id="114" name="Google Shape;114;p20"/>
          <p:cNvGrpSpPr/>
          <p:nvPr/>
        </p:nvGrpSpPr>
        <p:grpSpPr>
          <a:xfrm>
            <a:off x="628475" y="1427600"/>
            <a:ext cx="7887050" cy="3273300"/>
            <a:chOff x="311700" y="1328725"/>
            <a:chExt cx="7887050" cy="3273300"/>
          </a:xfrm>
        </p:grpSpPr>
        <p:sp>
          <p:nvSpPr>
            <p:cNvPr id="115" name="Google Shape;115;p20"/>
            <p:cNvSpPr/>
            <p:nvPr/>
          </p:nvSpPr>
          <p:spPr>
            <a:xfrm>
              <a:off x="311700" y="1328725"/>
              <a:ext cx="1864500" cy="3273300"/>
            </a:xfrm>
            <a:prstGeom prst="roundRect">
              <a:avLst>
                <a:gd fmla="val 16667" name="adj"/>
              </a:avLst>
            </a:prstGeom>
            <a:solidFill>
              <a:srgbClr val="CCA677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</a:rPr>
                <a:t>Some notion of prominence, importance, brokerage, being “in the middle of things,” being in a favorable exchange position, etc.</a:t>
              </a:r>
              <a:endParaRPr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</a:endParaRPr>
            </a:p>
          </p:txBody>
        </p:sp>
        <p:sp>
          <p:nvSpPr>
            <p:cNvPr id="116" name="Google Shape;116;p20"/>
            <p:cNvSpPr/>
            <p:nvPr/>
          </p:nvSpPr>
          <p:spPr>
            <a:xfrm>
              <a:off x="2786412" y="1328725"/>
              <a:ext cx="1864500" cy="3273300"/>
            </a:xfrm>
            <a:prstGeom prst="roundRect">
              <a:avLst>
                <a:gd fmla="val 16667" name="adj"/>
              </a:avLst>
            </a:prstGeom>
            <a:solidFill>
              <a:srgbClr val="CCA677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</a:rPr>
                <a:t>Translate the concept from natural language to the “language” of graph theory to develop a </a:t>
              </a:r>
              <a:r>
                <a:rPr b="1" lang="en" sz="1600">
                  <a:solidFill>
                    <a:srgbClr val="FFFFFF"/>
                  </a:solidFill>
                </a:rPr>
                <a:t>graph-theoretic concept</a:t>
              </a:r>
              <a:endParaRPr b="1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</a:rPr>
                <a:t>(</a:t>
              </a:r>
              <a:r>
                <a:rPr lang="en" sz="1600">
                  <a:solidFill>
                    <a:srgbClr val="FFFFFF"/>
                  </a:solidFill>
                </a:rPr>
                <a:t>e.g. points and lines)</a:t>
              </a:r>
              <a:endParaRPr sz="1600">
                <a:solidFill>
                  <a:srgbClr val="FFFFFF"/>
                </a:solidFill>
              </a:endParaRPr>
            </a:p>
          </p:txBody>
        </p:sp>
        <p:sp>
          <p:nvSpPr>
            <p:cNvPr id="117" name="Google Shape;117;p20"/>
            <p:cNvSpPr/>
            <p:nvPr/>
          </p:nvSpPr>
          <p:spPr>
            <a:xfrm>
              <a:off x="5261125" y="1328725"/>
              <a:ext cx="1864500" cy="3273300"/>
            </a:xfrm>
            <a:prstGeom prst="roundRect">
              <a:avLst>
                <a:gd fmla="val 16667" name="adj"/>
              </a:avLst>
            </a:prstGeom>
            <a:solidFill>
              <a:srgbClr val="CCA677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</a:rPr>
                <a:t>Link the graph-theoretic concept to matrix algebra to develop a</a:t>
              </a:r>
              <a:r>
                <a:rPr b="1" lang="en">
                  <a:solidFill>
                    <a:srgbClr val="FFFFFF"/>
                  </a:solidFill>
                </a:rPr>
                <a:t> measure</a:t>
              </a:r>
              <a:r>
                <a:rPr lang="en">
                  <a:solidFill>
                    <a:srgbClr val="FFFFFF"/>
                  </a:solidFill>
                </a:rPr>
                <a:t> of the network-theoretic concept (e.g. matrix operations)</a:t>
              </a:r>
              <a:endParaRPr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</a:rPr>
                <a:t>Result: A </a:t>
              </a:r>
              <a:r>
                <a:rPr b="1" lang="en">
                  <a:solidFill>
                    <a:srgbClr val="FFFFFF"/>
                  </a:solidFill>
                </a:rPr>
                <a:t>ranking</a:t>
              </a:r>
              <a:r>
                <a:rPr lang="en">
                  <a:solidFill>
                    <a:srgbClr val="FFFFFF"/>
                  </a:solidFill>
                </a:rPr>
                <a:t> of the nodes in the network</a:t>
              </a:r>
              <a:endParaRPr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cxnSp>
          <p:nvCxnSpPr>
            <p:cNvPr id="118" name="Google Shape;118;p20"/>
            <p:cNvCxnSpPr>
              <a:stCxn id="115" idx="3"/>
              <a:endCxn id="116" idx="1"/>
            </p:cNvCxnSpPr>
            <p:nvPr/>
          </p:nvCxnSpPr>
          <p:spPr>
            <a:xfrm>
              <a:off x="2176200" y="2965375"/>
              <a:ext cx="610200" cy="0"/>
            </a:xfrm>
            <a:prstGeom prst="straightConnector1">
              <a:avLst/>
            </a:prstGeom>
            <a:noFill/>
            <a:ln cap="flat" cmpd="sng" w="38100">
              <a:solidFill>
                <a:srgbClr val="B7B7B7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9" name="Google Shape;119;p20"/>
            <p:cNvCxnSpPr>
              <a:stCxn id="116" idx="3"/>
              <a:endCxn id="117" idx="1"/>
            </p:cNvCxnSpPr>
            <p:nvPr/>
          </p:nvCxnSpPr>
          <p:spPr>
            <a:xfrm>
              <a:off x="4650912" y="2965375"/>
              <a:ext cx="610200" cy="0"/>
            </a:xfrm>
            <a:prstGeom prst="straightConnector1">
              <a:avLst/>
            </a:prstGeom>
            <a:noFill/>
            <a:ln cap="flat" cmpd="sng" w="38100">
              <a:solidFill>
                <a:srgbClr val="B7B7B7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0" name="Google Shape;120;p20"/>
            <p:cNvCxnSpPr>
              <a:stCxn id="117" idx="3"/>
              <a:endCxn id="121" idx="1"/>
            </p:cNvCxnSpPr>
            <p:nvPr/>
          </p:nvCxnSpPr>
          <p:spPr>
            <a:xfrm>
              <a:off x="7125625" y="2965375"/>
              <a:ext cx="610200" cy="0"/>
            </a:xfrm>
            <a:prstGeom prst="straightConnector1">
              <a:avLst/>
            </a:prstGeom>
            <a:noFill/>
            <a:ln cap="flat" cmpd="sng" w="38100">
              <a:solidFill>
                <a:srgbClr val="B7B7B7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1" name="Google Shape;121;p20"/>
            <p:cNvSpPr/>
            <p:nvPr/>
          </p:nvSpPr>
          <p:spPr>
            <a:xfrm>
              <a:off x="7735850" y="1328725"/>
              <a:ext cx="462900" cy="3273300"/>
            </a:xfrm>
            <a:prstGeom prst="roundRect">
              <a:avLst>
                <a:gd fmla="val 16667" name="adj"/>
              </a:avLst>
            </a:prstGeom>
            <a:solidFill>
              <a:srgbClr val="CCA677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</a:rPr>
                <a:t>V</a:t>
              </a:r>
              <a:r>
                <a:rPr b="1" baseline="-25000" lang="en" sz="1600">
                  <a:solidFill>
                    <a:srgbClr val="FFFFFF"/>
                  </a:solidFill>
                </a:rPr>
                <a:t>1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</a:rPr>
                <a:t>V</a:t>
              </a:r>
              <a:r>
                <a:rPr b="1" baseline="-25000" lang="en" sz="1600">
                  <a:solidFill>
                    <a:srgbClr val="FFFFFF"/>
                  </a:solidFill>
                </a:rPr>
                <a:t>2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</a:rPr>
                <a:t>V</a:t>
              </a:r>
              <a:r>
                <a:rPr b="1" baseline="-25000" lang="en" sz="1600">
                  <a:solidFill>
                    <a:srgbClr val="FFFFFF"/>
                  </a:solidFill>
                </a:rPr>
                <a:t>3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baseline="-25000" lang="en" sz="1600">
                  <a:solidFill>
                    <a:srgbClr val="FFFFFF"/>
                  </a:solidFill>
                </a:rPr>
                <a:t>.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baseline="-25000" lang="en" sz="1600">
                  <a:solidFill>
                    <a:srgbClr val="FFFFFF"/>
                  </a:solidFill>
                </a:rPr>
                <a:t>.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baseline="-25000" lang="en" sz="1600">
                  <a:solidFill>
                    <a:srgbClr val="FFFFFF"/>
                  </a:solidFill>
                </a:rPr>
                <a:t>.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baseline="-25000" lang="en" sz="1600">
                  <a:solidFill>
                    <a:srgbClr val="FFFFFF"/>
                  </a:solidFill>
                </a:rPr>
                <a:t>.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baseline="-25000" lang="en" sz="1600">
                  <a:solidFill>
                    <a:srgbClr val="FFFFFF"/>
                  </a:solidFill>
                </a:rPr>
                <a:t>.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baseline="-25000" lang="en" sz="1600">
                  <a:solidFill>
                    <a:srgbClr val="FFFFFF"/>
                  </a:solidFill>
                </a:rPr>
                <a:t>.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</a:rPr>
                <a:t>V</a:t>
              </a:r>
              <a:r>
                <a:rPr b="1" baseline="-25000" lang="en" sz="1600">
                  <a:solidFill>
                    <a:srgbClr val="FFFFFF"/>
                  </a:solidFill>
                </a:rPr>
                <a:t>n</a:t>
              </a:r>
              <a:endParaRPr b="1" baseline="-25000" sz="160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Degree C</a:t>
            </a:r>
            <a:r>
              <a:rPr baseline="-25000" lang="en"/>
              <a:t>d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311700" y="1225225"/>
            <a:ext cx="3957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Simplest (local) centrality measure to compute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</a:t>
            </a:r>
            <a:r>
              <a:rPr b="1" lang="en"/>
              <a:t>criterion</a:t>
            </a:r>
            <a:r>
              <a:rPr lang="en"/>
              <a:t> and </a:t>
            </a:r>
            <a:r>
              <a:rPr b="1" lang="en"/>
              <a:t>face</a:t>
            </a:r>
            <a:r>
              <a:rPr lang="en"/>
              <a:t> validity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undirected</a:t>
            </a:r>
            <a:r>
              <a:rPr lang="en"/>
              <a:t>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Given by the row </a:t>
            </a:r>
            <a:r>
              <a:rPr b="1" lang="en"/>
              <a:t>or</a:t>
            </a:r>
            <a:r>
              <a:rPr lang="en"/>
              <a:t> column sum vector of corresponding </a:t>
            </a:r>
            <a:r>
              <a:rPr b="1" lang="en"/>
              <a:t>adjacency</a:t>
            </a:r>
            <a:r>
              <a:rPr b="1" lang="en"/>
              <a:t>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directed</a:t>
            </a:r>
            <a:r>
              <a:rPr lang="en"/>
              <a:t>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Outdegree</a:t>
            </a:r>
            <a:r>
              <a:rPr lang="en"/>
              <a:t> given by the </a:t>
            </a:r>
            <a:r>
              <a:rPr b="1" lang="en"/>
              <a:t>row</a:t>
            </a:r>
            <a:r>
              <a:rPr lang="en"/>
              <a:t> sum vector of </a:t>
            </a:r>
            <a:r>
              <a:rPr lang="en"/>
              <a:t>corresponding </a:t>
            </a:r>
            <a:r>
              <a:rPr b="1" lang="en"/>
              <a:t>adjacency matrix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5400" y="1147227"/>
            <a:ext cx="2844950" cy="9682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21"/>
          <p:cNvGrpSpPr/>
          <p:nvPr/>
        </p:nvGrpSpPr>
        <p:grpSpPr>
          <a:xfrm>
            <a:off x="5540188" y="2115475"/>
            <a:ext cx="2275376" cy="2330277"/>
            <a:chOff x="5696479" y="-756195"/>
            <a:chExt cx="2794272" cy="2821158"/>
          </a:xfrm>
        </p:grpSpPr>
        <p:pic>
          <p:nvPicPr>
            <p:cNvPr descr="Node+degree+from+matrix+values.jpg" id="130" name="Google Shape;130;p21"/>
            <p:cNvPicPr preferRelativeResize="0"/>
            <p:nvPr/>
          </p:nvPicPr>
          <p:blipFill rotWithShape="1">
            <a:blip r:embed="rId4">
              <a:alphaModFix/>
            </a:blip>
            <a:srcRect b="63726" l="8695" r="64374" t="22123"/>
            <a:stretch/>
          </p:blipFill>
          <p:spPr>
            <a:xfrm>
              <a:off x="5938097" y="1261998"/>
              <a:ext cx="2037547" cy="8029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Node+degree+from+matrix+values.jpg" id="131" name="Google Shape;131;p21"/>
            <p:cNvPicPr preferRelativeResize="0"/>
            <p:nvPr/>
          </p:nvPicPr>
          <p:blipFill rotWithShape="1">
            <a:blip r:embed="rId4">
              <a:alphaModFix/>
            </a:blip>
            <a:srcRect b="48915" l="58855" r="4213" t="17309"/>
            <a:stretch/>
          </p:blipFill>
          <p:spPr>
            <a:xfrm>
              <a:off x="5696479" y="-756195"/>
              <a:ext cx="2794272" cy="19166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Radial centralities: Degree C</a:t>
            </a:r>
            <a:r>
              <a:rPr baseline="-25000" lang="en"/>
              <a:t>d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311700" y="1225225"/>
            <a:ext cx="3957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Simplest (local) centrality measure to compute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</a:t>
            </a:r>
            <a:r>
              <a:rPr b="1" lang="en"/>
              <a:t>criterion</a:t>
            </a:r>
            <a:r>
              <a:rPr lang="en"/>
              <a:t> and </a:t>
            </a:r>
            <a:r>
              <a:rPr b="1" lang="en"/>
              <a:t>face</a:t>
            </a:r>
            <a:r>
              <a:rPr lang="en"/>
              <a:t> validity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undirected</a:t>
            </a:r>
            <a:r>
              <a:rPr lang="en"/>
              <a:t>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Given by the row </a:t>
            </a:r>
            <a:r>
              <a:rPr b="1" lang="en"/>
              <a:t>or</a:t>
            </a:r>
            <a:r>
              <a:rPr lang="en"/>
              <a:t> column sum vector of matrix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directed</a:t>
            </a:r>
            <a:r>
              <a:rPr lang="en"/>
              <a:t>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Outdegree</a:t>
            </a:r>
            <a:r>
              <a:rPr lang="en"/>
              <a:t> given by the </a:t>
            </a:r>
            <a:r>
              <a:rPr b="1" lang="en"/>
              <a:t>row</a:t>
            </a:r>
            <a:r>
              <a:rPr lang="en"/>
              <a:t> sum vector of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Indegree</a:t>
            </a:r>
            <a:r>
              <a:rPr lang="en"/>
              <a:t> given by the </a:t>
            </a:r>
            <a:r>
              <a:rPr b="1" lang="en"/>
              <a:t>column</a:t>
            </a:r>
            <a:r>
              <a:rPr lang="en"/>
              <a:t> sum vector of matrix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5400" y="1147227"/>
            <a:ext cx="2844950" cy="9682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22"/>
          <p:cNvGrpSpPr/>
          <p:nvPr/>
        </p:nvGrpSpPr>
        <p:grpSpPr>
          <a:xfrm>
            <a:off x="4994047" y="2115475"/>
            <a:ext cx="2844954" cy="2278895"/>
            <a:chOff x="5088975" y="1387722"/>
            <a:chExt cx="3493742" cy="2758953"/>
          </a:xfrm>
        </p:grpSpPr>
        <p:pic>
          <p:nvPicPr>
            <p:cNvPr descr="Node+degree+from+matrix+values.jpg" id="140" name="Google Shape;140;p22"/>
            <p:cNvPicPr preferRelativeResize="0"/>
            <p:nvPr/>
          </p:nvPicPr>
          <p:blipFill rotWithShape="1">
            <a:blip r:embed="rId4">
              <a:alphaModFix/>
            </a:blip>
            <a:srcRect b="27042" l="8774" r="64076" t="59132"/>
            <a:stretch/>
          </p:blipFill>
          <p:spPr>
            <a:xfrm>
              <a:off x="5944250" y="3362200"/>
              <a:ext cx="2054150" cy="7844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1" name="Google Shape;141;p22"/>
            <p:cNvGrpSpPr/>
            <p:nvPr/>
          </p:nvGrpSpPr>
          <p:grpSpPr>
            <a:xfrm>
              <a:off x="5088975" y="1387722"/>
              <a:ext cx="3493742" cy="1974485"/>
              <a:chOff x="5088975" y="1387722"/>
              <a:chExt cx="3493742" cy="1974485"/>
            </a:xfrm>
          </p:grpSpPr>
          <p:pic>
            <p:nvPicPr>
              <p:cNvPr descr="Node+degree+from+matrix+values.jpg" id="142" name="Google Shape;142;p22"/>
              <p:cNvPicPr preferRelativeResize="0"/>
              <p:nvPr/>
            </p:nvPicPr>
            <p:blipFill rotWithShape="1">
              <a:blip r:embed="rId4">
                <a:alphaModFix/>
              </a:blip>
              <a:srcRect b="10108" l="58865" r="2986" t="55095"/>
              <a:stretch/>
            </p:blipFill>
            <p:spPr>
              <a:xfrm>
                <a:off x="5696465" y="1387722"/>
                <a:ext cx="2886252" cy="19744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3" name="Google Shape;143;p22"/>
              <p:cNvSpPr txBox="1"/>
              <p:nvPr/>
            </p:nvSpPr>
            <p:spPr>
              <a:xfrm>
                <a:off x="5088975" y="2632225"/>
                <a:ext cx="607500" cy="404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Walks and Paths (again)</a:t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311700" y="1225225"/>
            <a:ext cx="8457300" cy="22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walk</a:t>
            </a:r>
            <a:r>
              <a:rPr lang="en"/>
              <a:t> is an alternating </a:t>
            </a:r>
            <a:r>
              <a:rPr b="1" lang="en"/>
              <a:t>sequence</a:t>
            </a:r>
            <a:r>
              <a:rPr lang="en"/>
              <a:t> of vertices and edges {u</a:t>
            </a:r>
            <a:r>
              <a:rPr baseline="-25000" lang="en"/>
              <a:t>1</a:t>
            </a:r>
            <a:r>
              <a:rPr lang="en"/>
              <a:t>, e</a:t>
            </a:r>
            <a:r>
              <a:rPr baseline="-25000" lang="en"/>
              <a:t>12</a:t>
            </a:r>
            <a:r>
              <a:rPr lang="en"/>
              <a:t>, u</a:t>
            </a:r>
            <a:r>
              <a:rPr baseline="-25000" lang="en"/>
              <a:t>2</a:t>
            </a:r>
            <a:r>
              <a:rPr lang="en"/>
              <a:t>, e</a:t>
            </a:r>
            <a:r>
              <a:rPr baseline="-25000" lang="en"/>
              <a:t>23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...u</a:t>
            </a:r>
            <a:r>
              <a:rPr baseline="-25000" lang="en"/>
              <a:t>m</a:t>
            </a:r>
            <a:r>
              <a:rPr lang="en"/>
              <a:t>, e</a:t>
            </a:r>
            <a:r>
              <a:rPr baseline="-25000" lang="en"/>
              <a:t>mn</a:t>
            </a:r>
            <a:r>
              <a:rPr lang="en"/>
              <a:t>, </a:t>
            </a:r>
            <a:r>
              <a:rPr lang="en"/>
              <a:t>u</a:t>
            </a:r>
            <a:r>
              <a:rPr baseline="-25000" lang="en"/>
              <a:t>n</a:t>
            </a:r>
            <a:r>
              <a:rPr lang="en"/>
              <a:t>} starting with an </a:t>
            </a:r>
            <a:r>
              <a:rPr b="1" lang="en"/>
              <a:t>origin</a:t>
            </a:r>
            <a:r>
              <a:rPr lang="en"/>
              <a:t> vertex u</a:t>
            </a:r>
            <a:r>
              <a:rPr baseline="-25000" lang="en"/>
              <a:t>1</a:t>
            </a:r>
            <a:r>
              <a:rPr lang="en"/>
              <a:t> ending with a </a:t>
            </a:r>
            <a:r>
              <a:rPr b="1" lang="en"/>
              <a:t>destination</a:t>
            </a:r>
            <a:r>
              <a:rPr lang="en"/>
              <a:t> vertex u</a:t>
            </a:r>
            <a:r>
              <a:rPr baseline="-25000" lang="en"/>
              <a:t>n</a:t>
            </a:r>
            <a:r>
              <a:rPr lang="en"/>
              <a:t>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is an edge linking each successive vertex in the sequence (excluding the origin and destination vertices)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length</a:t>
            </a:r>
            <a:r>
              <a:rPr lang="en"/>
              <a:t> of the walk is the number of edges contained in the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walk is called a </a:t>
            </a:r>
            <a:r>
              <a:rPr b="1" lang="en"/>
              <a:t>path</a:t>
            </a:r>
            <a:r>
              <a:rPr lang="en"/>
              <a:t> if all edges and all vertices appear only once in the sequence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GF5.png" id="150" name="Google Shape;1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2788" y="3461125"/>
            <a:ext cx="4835125" cy="127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Walks and Paths (again)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311700" y="1225225"/>
            <a:ext cx="8457300" cy="22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walk</a:t>
            </a:r>
            <a:r>
              <a:rPr lang="en"/>
              <a:t> is an alternating </a:t>
            </a:r>
            <a:r>
              <a:rPr b="1" lang="en"/>
              <a:t>sequence</a:t>
            </a:r>
            <a:r>
              <a:rPr lang="en"/>
              <a:t> of vertices and edges {u</a:t>
            </a:r>
            <a:r>
              <a:rPr baseline="-25000" lang="en"/>
              <a:t>1</a:t>
            </a:r>
            <a:r>
              <a:rPr lang="en"/>
              <a:t>, e</a:t>
            </a:r>
            <a:r>
              <a:rPr baseline="-25000" lang="en"/>
              <a:t>12</a:t>
            </a:r>
            <a:r>
              <a:rPr lang="en"/>
              <a:t>, u</a:t>
            </a:r>
            <a:r>
              <a:rPr baseline="-25000" lang="en"/>
              <a:t>2</a:t>
            </a:r>
            <a:r>
              <a:rPr lang="en"/>
              <a:t>, e</a:t>
            </a:r>
            <a:r>
              <a:rPr baseline="-25000" lang="en"/>
              <a:t>23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...u</a:t>
            </a:r>
            <a:r>
              <a:rPr baseline="-25000" lang="en"/>
              <a:t>m</a:t>
            </a:r>
            <a:r>
              <a:rPr lang="en"/>
              <a:t>, e</a:t>
            </a:r>
            <a:r>
              <a:rPr baseline="-25000" lang="en"/>
              <a:t>mn</a:t>
            </a:r>
            <a:r>
              <a:rPr lang="en"/>
              <a:t>, u</a:t>
            </a:r>
            <a:r>
              <a:rPr baseline="-25000" lang="en"/>
              <a:t>n</a:t>
            </a:r>
            <a:r>
              <a:rPr lang="en"/>
              <a:t>} starting with an </a:t>
            </a:r>
            <a:r>
              <a:rPr b="1" lang="en"/>
              <a:t>origin</a:t>
            </a:r>
            <a:r>
              <a:rPr lang="en"/>
              <a:t> vertex u</a:t>
            </a:r>
            <a:r>
              <a:rPr baseline="-25000" lang="en"/>
              <a:t>1</a:t>
            </a:r>
            <a:r>
              <a:rPr lang="en"/>
              <a:t> ending with a </a:t>
            </a:r>
            <a:r>
              <a:rPr b="1" lang="en"/>
              <a:t>destination</a:t>
            </a:r>
            <a:r>
              <a:rPr lang="en"/>
              <a:t> vertex u</a:t>
            </a:r>
            <a:r>
              <a:rPr baseline="-25000" lang="en"/>
              <a:t>n</a:t>
            </a:r>
            <a:r>
              <a:rPr lang="en"/>
              <a:t>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is an edge linking each successive vertex in the sequence (excluding the origin and destination vertices)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length</a:t>
            </a:r>
            <a:r>
              <a:rPr lang="en"/>
              <a:t> of the walk is the number of edges contained in the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cycle </a:t>
            </a:r>
            <a:r>
              <a:rPr lang="en"/>
              <a:t>is a path the begins and ends with the same vertex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GF5.png" id="157" name="Google Shape;15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2788" y="3461125"/>
            <a:ext cx="4835125" cy="127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Walks and Paths (again)</a:t>
            </a:r>
            <a:endParaRPr/>
          </a:p>
        </p:txBody>
      </p:sp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311700" y="1225225"/>
            <a:ext cx="8457300" cy="22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walk</a:t>
            </a:r>
            <a:r>
              <a:rPr lang="en"/>
              <a:t> is an alternating </a:t>
            </a:r>
            <a:r>
              <a:rPr b="1" lang="en"/>
              <a:t>sequence</a:t>
            </a:r>
            <a:r>
              <a:rPr lang="en"/>
              <a:t> of vertices and edges {u</a:t>
            </a:r>
            <a:r>
              <a:rPr baseline="-25000" lang="en"/>
              <a:t>1</a:t>
            </a:r>
            <a:r>
              <a:rPr lang="en"/>
              <a:t>, e</a:t>
            </a:r>
            <a:r>
              <a:rPr baseline="-25000" lang="en"/>
              <a:t>12</a:t>
            </a:r>
            <a:r>
              <a:rPr lang="en"/>
              <a:t>, u</a:t>
            </a:r>
            <a:r>
              <a:rPr baseline="-25000" lang="en"/>
              <a:t>2</a:t>
            </a:r>
            <a:r>
              <a:rPr lang="en"/>
              <a:t>, e</a:t>
            </a:r>
            <a:r>
              <a:rPr baseline="-25000" lang="en"/>
              <a:t>23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...u</a:t>
            </a:r>
            <a:r>
              <a:rPr baseline="-25000" lang="en"/>
              <a:t>m</a:t>
            </a:r>
            <a:r>
              <a:rPr lang="en"/>
              <a:t>, e</a:t>
            </a:r>
            <a:r>
              <a:rPr baseline="-25000" lang="en"/>
              <a:t>mn</a:t>
            </a:r>
            <a:r>
              <a:rPr lang="en"/>
              <a:t>, u</a:t>
            </a:r>
            <a:r>
              <a:rPr baseline="-25000" lang="en"/>
              <a:t>n</a:t>
            </a:r>
            <a:r>
              <a:rPr lang="en"/>
              <a:t>} starting with an </a:t>
            </a:r>
            <a:r>
              <a:rPr b="1" lang="en"/>
              <a:t>origin</a:t>
            </a:r>
            <a:r>
              <a:rPr lang="en"/>
              <a:t> vertex u</a:t>
            </a:r>
            <a:r>
              <a:rPr baseline="-25000" lang="en"/>
              <a:t>1</a:t>
            </a:r>
            <a:r>
              <a:rPr lang="en"/>
              <a:t> ending with a </a:t>
            </a:r>
            <a:r>
              <a:rPr b="1" lang="en"/>
              <a:t>destination</a:t>
            </a:r>
            <a:r>
              <a:rPr lang="en"/>
              <a:t> vertex u</a:t>
            </a:r>
            <a:r>
              <a:rPr baseline="-25000" lang="en"/>
              <a:t>n</a:t>
            </a:r>
            <a:r>
              <a:rPr lang="en"/>
              <a:t>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is an edge linking each successive vertex in the sequence (excluding the origin and destination vertices)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length</a:t>
            </a:r>
            <a:r>
              <a:rPr lang="en"/>
              <a:t> of the walk is the number of edges contained in the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shortest</a:t>
            </a:r>
            <a:r>
              <a:rPr b="1" lang="en"/>
              <a:t> path</a:t>
            </a:r>
            <a:r>
              <a:rPr lang="en"/>
              <a:t> between two vertices is the path with the smallest length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GF5.png"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2788" y="3461125"/>
            <a:ext cx="4835125" cy="127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311325" y="1225225"/>
            <a:ext cx="8520600" cy="19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Matrices: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Two-dimensional array of numbers: Row dimension and column dimension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kinds of matrix multiplication: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Element-wise matrix multiplication, also known as the Hadamard product (￮)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defined for matrices with the same row and column dimensions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Matrix multiplication proper (✕)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defined for </a:t>
            </a:r>
            <a:r>
              <a:rPr b="1" lang="en"/>
              <a:t>conformable</a:t>
            </a:r>
            <a:r>
              <a:rPr lang="en"/>
              <a:t> matrices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1" name="Google Shape;171;p26"/>
          <p:cNvGraphicFramePr/>
          <p:nvPr/>
        </p:nvGraphicFramePr>
        <p:xfrm>
          <a:off x="1730250" y="33557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{3A080720-04E6-4688-9422-C7DF65CBA1B3}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72" name="Google Shape;172;p26"/>
          <p:cNvSpPr/>
          <p:nvPr/>
        </p:nvSpPr>
        <p:spPr>
          <a:xfrm>
            <a:off x="3210375" y="3832025"/>
            <a:ext cx="222600" cy="2004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3" name="Google Shape;173;p26"/>
          <p:cNvGraphicFramePr/>
          <p:nvPr/>
        </p:nvGraphicFramePr>
        <p:xfrm>
          <a:off x="357405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{3A080720-04E6-4688-9422-C7DF65CBA1B3}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74" name="Google Shape;174;p26"/>
          <p:cNvGraphicFramePr/>
          <p:nvPr/>
        </p:nvGraphicFramePr>
        <p:xfrm>
          <a:off x="6074700" y="3306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{3A080720-04E6-4688-9422-C7DF65CBA1B3}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75" name="Google Shape;175;p26"/>
          <p:cNvSpPr/>
          <p:nvPr/>
        </p:nvSpPr>
        <p:spPr>
          <a:xfrm>
            <a:off x="5182200" y="3700375"/>
            <a:ext cx="623400" cy="389700"/>
          </a:xfrm>
          <a:prstGeom prst="mathEqual">
            <a:avLst>
              <a:gd fmla="val 23520" name="adj1"/>
              <a:gd fmla="val 1176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6"/>
          <p:cNvSpPr txBox="1"/>
          <p:nvPr/>
        </p:nvSpPr>
        <p:spPr>
          <a:xfrm>
            <a:off x="2199375" y="4597975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4043175" y="4561825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 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6543825" y="45377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3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 \circ B = (a_{ij} \times b_{ij})" id="179" name="Google Shape;179;p26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7712" y="2773975"/>
            <a:ext cx="3114024" cy="47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86" name="Google Shape;186;p27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7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90" name="Google Shape;190;p27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{3A080720-04E6-4688-9422-C7DF65CBA1B3}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1" name="Google Shape;191;p27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{3A080720-04E6-4688-9422-C7DF65CBA1B3}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2" name="Google Shape;192;p27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94" name="Google Shape;194;p27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{3A080720-04E6-4688-9422-C7DF65CBA1B3}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5" name="Google Shape;195;p27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{3A080720-04E6-4688-9422-C7DF65CBA1B3}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6" name="Google Shape;196;p27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27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p27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7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7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1" name="Google Shape;201;p27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6337575" y="1954363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209" name="Google Shape;209;p28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8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1" name="Google Shape;211;p28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" name="Google Shape;212;p28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13" name="Google Shape;213;p28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{3A080720-04E6-4688-9422-C7DF65CBA1B3}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14" name="Google Shape;214;p28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{3A080720-04E6-4688-9422-C7DF65CBA1B3}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5" name="Google Shape;215;p28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28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17" name="Google Shape;217;p28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{3A080720-04E6-4688-9422-C7DF65CBA1B3}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18" name="Google Shape;218;p28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{3A080720-04E6-4688-9422-C7DF65CBA1B3}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9" name="Google Shape;219;p28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0" name="Google Shape;220;p28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1" name="Google Shape;221;p28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8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8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5" name="Google Shape;225;p28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3059350" y="1201975"/>
            <a:ext cx="1100700" cy="1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</a:t>
            </a: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7" name="Google Shape;227;p28"/>
          <p:cNvCxnSpPr>
            <a:stCxn id="226" idx="1"/>
            <a:endCxn id="212" idx="0"/>
          </p:cNvCxnSpPr>
          <p:nvPr/>
        </p:nvCxnSpPr>
        <p:spPr>
          <a:xfrm flipH="1">
            <a:off x="1694050" y="1897975"/>
            <a:ext cx="13653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8" name="Google Shape;228;p28"/>
          <p:cNvSpPr txBox="1"/>
          <p:nvPr/>
        </p:nvSpPr>
        <p:spPr>
          <a:xfrm>
            <a:off x="4698475" y="1202575"/>
            <a:ext cx="11007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9" name="Google Shape;229;p28"/>
          <p:cNvCxnSpPr>
            <a:stCxn id="228" idx="3"/>
            <a:endCxn id="225" idx="0"/>
          </p:cNvCxnSpPr>
          <p:nvPr/>
        </p:nvCxnSpPr>
        <p:spPr>
          <a:xfrm flipH="1" rot="10800000">
            <a:off x="5799175" y="1954375"/>
            <a:ext cx="1251000" cy="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236" name="Google Shape;236;p29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9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38" name="Google Shape;238;p29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29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40" name="Google Shape;240;p29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{3A080720-04E6-4688-9422-C7DF65CBA1B3}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41" name="Google Shape;241;p29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{3A080720-04E6-4688-9422-C7DF65CBA1B3}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2" name="Google Shape;242;p29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3" name="Google Shape;243;p29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44" name="Google Shape;244;p29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{3A080720-04E6-4688-9422-C7DF65CBA1B3}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45" name="Google Shape;245;p29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{3A080720-04E6-4688-9422-C7DF65CBA1B3}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6" name="Google Shape;246;p29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7" name="Google Shape;247;p29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8" name="Google Shape;248;p29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9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9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1" name="Google Shape;251;p29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2" name="Google Shape;252;p29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3" name="Google Shape;253;p29"/>
          <p:cNvSpPr txBox="1"/>
          <p:nvPr/>
        </p:nvSpPr>
        <p:spPr>
          <a:xfrm>
            <a:off x="3059350" y="1201975"/>
            <a:ext cx="1100700" cy="1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4" name="Google Shape;254;p29"/>
          <p:cNvCxnSpPr>
            <a:stCxn id="253" idx="1"/>
            <a:endCxn id="239" idx="0"/>
          </p:cNvCxnSpPr>
          <p:nvPr/>
        </p:nvCxnSpPr>
        <p:spPr>
          <a:xfrm flipH="1">
            <a:off x="1694050" y="1897975"/>
            <a:ext cx="13653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5" name="Google Shape;255;p29"/>
          <p:cNvSpPr txBox="1"/>
          <p:nvPr/>
        </p:nvSpPr>
        <p:spPr>
          <a:xfrm>
            <a:off x="4698475" y="1202575"/>
            <a:ext cx="11007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6" name="Google Shape;256;p29"/>
          <p:cNvCxnSpPr>
            <a:stCxn id="255" idx="3"/>
            <a:endCxn id="252" idx="0"/>
          </p:cNvCxnSpPr>
          <p:nvPr/>
        </p:nvCxnSpPr>
        <p:spPr>
          <a:xfrm flipH="1" rot="10800000">
            <a:off x="5799175" y="1954375"/>
            <a:ext cx="1251000" cy="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57" name="Google Shape;2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383" y="2523231"/>
            <a:ext cx="1339049" cy="116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9175" y="881800"/>
            <a:ext cx="2567551" cy="2934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0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265" name="Google Shape;265;p30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0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7" name="Google Shape;267;p30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8" name="Google Shape;268;p30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9" name="Google Shape;269;p30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0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0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2" name="Google Shape;272;p30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30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4" name="Google Shape;274;p30"/>
          <p:cNvSpPr txBox="1"/>
          <p:nvPr/>
        </p:nvSpPr>
        <p:spPr>
          <a:xfrm>
            <a:off x="3059350" y="1201975"/>
            <a:ext cx="1100700" cy="1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5" name="Google Shape;275;p30"/>
          <p:cNvCxnSpPr>
            <a:stCxn id="274" idx="1"/>
            <a:endCxn id="268" idx="0"/>
          </p:cNvCxnSpPr>
          <p:nvPr/>
        </p:nvCxnSpPr>
        <p:spPr>
          <a:xfrm flipH="1">
            <a:off x="1694050" y="1897975"/>
            <a:ext cx="13653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6" name="Google Shape;276;p30"/>
          <p:cNvSpPr txBox="1"/>
          <p:nvPr/>
        </p:nvSpPr>
        <p:spPr>
          <a:xfrm>
            <a:off x="4698475" y="1202575"/>
            <a:ext cx="11007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7" name="Google Shape;277;p30"/>
          <p:cNvCxnSpPr>
            <a:stCxn id="276" idx="3"/>
            <a:endCxn id="273" idx="0"/>
          </p:cNvCxnSpPr>
          <p:nvPr/>
        </p:nvCxnSpPr>
        <p:spPr>
          <a:xfrm flipH="1" rot="10800000">
            <a:off x="5799175" y="1954375"/>
            <a:ext cx="1251000" cy="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" name="Google Shape;278;p30"/>
          <p:cNvSpPr txBox="1"/>
          <p:nvPr>
            <p:ph idx="1" type="body"/>
          </p:nvPr>
        </p:nvSpPr>
        <p:spPr>
          <a:xfrm>
            <a:off x="311700" y="3581675"/>
            <a:ext cx="85206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general you can </a:t>
            </a:r>
            <a:r>
              <a:rPr lang="en"/>
              <a:t>multiply</a:t>
            </a:r>
            <a:r>
              <a:rPr lang="en"/>
              <a:t> any A</a:t>
            </a:r>
            <a:r>
              <a:rPr baseline="-25000" lang="en"/>
              <a:t>m x n</a:t>
            </a:r>
            <a:r>
              <a:rPr lang="en"/>
              <a:t> matrix </a:t>
            </a:r>
            <a:r>
              <a:rPr b="1" lang="en" sz="2200"/>
              <a:t>✕ </a:t>
            </a:r>
            <a:r>
              <a:rPr lang="en"/>
              <a:t>any B </a:t>
            </a:r>
            <a:r>
              <a:rPr baseline="-25000" lang="en"/>
              <a:t>q x p</a:t>
            </a:r>
            <a:r>
              <a:rPr lang="en"/>
              <a:t>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</a:t>
            </a:r>
            <a:r>
              <a:rPr lang="en"/>
              <a:t>o long as n =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doesn’t matter what the values of the outer dimensions is</a:t>
            </a:r>
            <a:endParaRPr/>
          </a:p>
        </p:txBody>
      </p:sp>
      <p:pic>
        <p:nvPicPr>
          <p:cNvPr id="279" name="Google Shape;27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9175" y="881800"/>
            <a:ext cx="2567551" cy="2934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4383" y="2523231"/>
            <a:ext cx="1339049" cy="1162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"/>
          <p:cNvSpPr/>
          <p:nvPr/>
        </p:nvSpPr>
        <p:spPr>
          <a:xfrm rot="-5334278">
            <a:off x="5284792" y="1812913"/>
            <a:ext cx="1459467" cy="1392720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287" name="Google Shape;287;p31"/>
          <p:cNvSpPr/>
          <p:nvPr/>
        </p:nvSpPr>
        <p:spPr>
          <a:xfrm rot="-5345394">
            <a:off x="1204691" y="1585129"/>
            <a:ext cx="377748" cy="760899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1"/>
          <p:cNvSpPr txBox="1"/>
          <p:nvPr/>
        </p:nvSpPr>
        <p:spPr>
          <a:xfrm>
            <a:off x="311709" y="124812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= C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solidFill>
                  <a:srgbClr val="257E1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9" name="Google Shape;289;p31"/>
          <p:cNvSpPr txBox="1"/>
          <p:nvPr/>
        </p:nvSpPr>
        <p:spPr>
          <a:xfrm>
            <a:off x="4924209" y="1248116"/>
            <a:ext cx="39081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✕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" sz="2200">
                <a:latin typeface="Open Sans"/>
                <a:ea typeface="Open Sans"/>
                <a:cs typeface="Open Sans"/>
                <a:sym typeface="Open Sans"/>
              </a:rPr>
              <a:t>  = Not defined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31"/>
          <p:cNvSpPr/>
          <p:nvPr/>
        </p:nvSpPr>
        <p:spPr>
          <a:xfrm rot="-5344964">
            <a:off x="5853696" y="1599388"/>
            <a:ext cx="449758" cy="732389"/>
          </a:xfrm>
          <a:prstGeom prst="leftBrace">
            <a:avLst>
              <a:gd fmla="val 8333" name="adj1"/>
              <a:gd fmla="val 5181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1"/>
          <p:cNvSpPr txBox="1"/>
          <p:nvPr/>
        </p:nvSpPr>
        <p:spPr>
          <a:xfrm>
            <a:off x="5482925" y="2156100"/>
            <a:ext cx="1242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2" name="Google Shape;292;p31"/>
          <p:cNvSpPr txBox="1"/>
          <p:nvPr/>
        </p:nvSpPr>
        <p:spPr>
          <a:xfrm>
            <a:off x="731175" y="2156113"/>
            <a:ext cx="1324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 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3" name="Google Shape;293;p31"/>
          <p:cNvSpPr txBox="1"/>
          <p:nvPr/>
        </p:nvSpPr>
        <p:spPr>
          <a:xfrm>
            <a:off x="5068925" y="3226200"/>
            <a:ext cx="1891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4" name="Google Shape;294;p31"/>
          <p:cNvSpPr/>
          <p:nvPr/>
        </p:nvSpPr>
        <p:spPr>
          <a:xfrm rot="-5334278">
            <a:off x="663842" y="1812925"/>
            <a:ext cx="1459467" cy="1392720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1"/>
          <p:cNvSpPr txBox="1"/>
          <p:nvPr/>
        </p:nvSpPr>
        <p:spPr>
          <a:xfrm>
            <a:off x="447975" y="3226213"/>
            <a:ext cx="1891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6" name="Google Shape;296;p31"/>
          <p:cNvSpPr txBox="1"/>
          <p:nvPr>
            <p:ph idx="1" type="body"/>
          </p:nvPr>
        </p:nvSpPr>
        <p:spPr>
          <a:xfrm>
            <a:off x="311700" y="3581675"/>
            <a:ext cx="85206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outer dimensions determine the dimensions of the resulting matrix s</a:t>
            </a:r>
            <a:r>
              <a:rPr lang="en"/>
              <a:t>uch that </a:t>
            </a:r>
            <a:r>
              <a:rPr b="1" lang="en"/>
              <a:t>A</a:t>
            </a:r>
            <a:r>
              <a:rPr b="1" baseline="-25000" lang="en"/>
              <a:t>m x n</a:t>
            </a:r>
            <a:r>
              <a:rPr b="1" lang="en"/>
              <a:t> ✕  B </a:t>
            </a:r>
            <a:r>
              <a:rPr b="1" baseline="-25000" lang="en"/>
              <a:t>q x p</a:t>
            </a:r>
            <a:r>
              <a:rPr b="1" lang="en"/>
              <a:t> = C </a:t>
            </a:r>
            <a:r>
              <a:rPr b="1" baseline="-25000" lang="en"/>
              <a:t>m x p</a:t>
            </a:r>
            <a:endParaRPr b="1" baseline="-25000"/>
          </a:p>
        </p:txBody>
      </p:sp>
      <p:sp>
        <p:nvSpPr>
          <p:cNvPr id="297" name="Google Shape;297;p31"/>
          <p:cNvSpPr txBox="1"/>
          <p:nvPr/>
        </p:nvSpPr>
        <p:spPr>
          <a:xfrm>
            <a:off x="2286600" y="2393400"/>
            <a:ext cx="1983600" cy="11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Product matrix C is 3 X 4 same as the outer dimensions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98" name="Google Shape;298;p31"/>
          <p:cNvCxnSpPr>
            <a:stCxn id="297" idx="0"/>
          </p:cNvCxnSpPr>
          <p:nvPr/>
        </p:nvCxnSpPr>
        <p:spPr>
          <a:xfrm rot="10800000">
            <a:off x="2910000" y="1770300"/>
            <a:ext cx="368400" cy="623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304" name="Google Shape;30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5" name="Google Shape;305;p32"/>
          <p:cNvGraphicFramePr/>
          <p:nvPr/>
        </p:nvGraphicFramePr>
        <p:xfrm>
          <a:off x="31170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{7084BAF6-05AA-478E-B62F-863733932CE0}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6" name="Google Shape;306;p32"/>
          <p:cNvSpPr txBox="1"/>
          <p:nvPr/>
        </p:nvSpPr>
        <p:spPr>
          <a:xfrm>
            <a:off x="1213765" y="1365775"/>
            <a:ext cx="445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307" name="Google Shape;307;p32"/>
          <p:cNvGraphicFramePr/>
          <p:nvPr/>
        </p:nvGraphicFramePr>
        <p:xfrm>
          <a:off x="318019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{7084BAF6-05AA-478E-B62F-863733932CE0}</a:tableStyleId>
              </a:tblPr>
              <a:tblGrid>
                <a:gridCol w="1484250"/>
                <a:gridCol w="1303925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8" name="Google Shape;308;p32"/>
          <p:cNvSpPr txBox="1"/>
          <p:nvPr/>
        </p:nvSpPr>
        <p:spPr>
          <a:xfrm>
            <a:off x="2665240" y="1349875"/>
            <a:ext cx="445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=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09" name="Google Shape;309;p32"/>
          <p:cNvSpPr txBox="1"/>
          <p:nvPr/>
        </p:nvSpPr>
        <p:spPr>
          <a:xfrm>
            <a:off x="38330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0" name="Google Shape;310;p32"/>
          <p:cNvSpPr txBox="1"/>
          <p:nvPr/>
        </p:nvSpPr>
        <p:spPr>
          <a:xfrm>
            <a:off x="4129827" y="2096463"/>
            <a:ext cx="888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11" name="Google Shape;311;p32"/>
          <p:cNvGraphicFramePr/>
          <p:nvPr/>
        </p:nvGraphicFramePr>
        <p:xfrm>
          <a:off x="174595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{7084BAF6-05AA-478E-B62F-863733932CE0}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2" name="Google Shape;312;p32"/>
          <p:cNvSpPr txBox="1"/>
          <p:nvPr/>
        </p:nvSpPr>
        <p:spPr>
          <a:xfrm>
            <a:off x="181755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3" name="Google Shape;313;p32"/>
          <p:cNvSpPr txBox="1"/>
          <p:nvPr/>
        </p:nvSpPr>
        <p:spPr>
          <a:xfrm>
            <a:off x="360575" y="2616275"/>
            <a:ext cx="12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2"/>
          <p:cNvSpPr txBox="1"/>
          <p:nvPr/>
        </p:nvSpPr>
        <p:spPr>
          <a:xfrm>
            <a:off x="460775" y="2905750"/>
            <a:ext cx="3941100" cy="18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How does it work?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For A X B: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The ij cell of the resulting matrix is given by the sum of the product of the corresponding cells of row i in A and column j of B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320" name="Google Shape;32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1" name="Google Shape;321;p33"/>
          <p:cNvGraphicFramePr/>
          <p:nvPr/>
        </p:nvGraphicFramePr>
        <p:xfrm>
          <a:off x="31170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{7084BAF6-05AA-478E-B62F-863733932CE0}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2" name="Google Shape;322;p33"/>
          <p:cNvSpPr txBox="1"/>
          <p:nvPr/>
        </p:nvSpPr>
        <p:spPr>
          <a:xfrm>
            <a:off x="1213765" y="1365775"/>
            <a:ext cx="445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323" name="Google Shape;323;p33"/>
          <p:cNvGraphicFramePr/>
          <p:nvPr/>
        </p:nvGraphicFramePr>
        <p:xfrm>
          <a:off x="318019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{7084BAF6-05AA-478E-B62F-863733932CE0}</a:tableStyleId>
              </a:tblPr>
              <a:tblGrid>
                <a:gridCol w="1484250"/>
                <a:gridCol w="1303925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4" name="Google Shape;324;p33"/>
          <p:cNvSpPr txBox="1"/>
          <p:nvPr/>
        </p:nvSpPr>
        <p:spPr>
          <a:xfrm>
            <a:off x="2665240" y="1349875"/>
            <a:ext cx="445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=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25" name="Google Shape;325;p33"/>
          <p:cNvSpPr txBox="1"/>
          <p:nvPr/>
        </p:nvSpPr>
        <p:spPr>
          <a:xfrm>
            <a:off x="38330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6" name="Google Shape;326;p33"/>
          <p:cNvSpPr txBox="1"/>
          <p:nvPr/>
        </p:nvSpPr>
        <p:spPr>
          <a:xfrm>
            <a:off x="4129827" y="2096463"/>
            <a:ext cx="888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27" name="Google Shape;327;p33"/>
          <p:cNvGraphicFramePr/>
          <p:nvPr/>
        </p:nvGraphicFramePr>
        <p:xfrm>
          <a:off x="174595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{7084BAF6-05AA-478E-B62F-863733932CE0}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8" name="Google Shape;328;p33"/>
          <p:cNvSpPr txBox="1"/>
          <p:nvPr/>
        </p:nvSpPr>
        <p:spPr>
          <a:xfrm>
            <a:off x="181755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9" name="Google Shape;329;p33"/>
          <p:cNvSpPr txBox="1"/>
          <p:nvPr/>
        </p:nvSpPr>
        <p:spPr>
          <a:xfrm>
            <a:off x="360575" y="2616275"/>
            <a:ext cx="12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trix-multiply-order.gif" id="330" name="Google Shape;33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0" y="3137888"/>
            <a:ext cx="3648075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336" name="Google Shape;33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7" name="Google Shape;337;p34"/>
          <p:cNvGraphicFramePr/>
          <p:nvPr/>
        </p:nvGraphicFramePr>
        <p:xfrm>
          <a:off x="31170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{7084BAF6-05AA-478E-B62F-863733932CE0}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8" name="Google Shape;338;p34"/>
          <p:cNvSpPr txBox="1"/>
          <p:nvPr/>
        </p:nvSpPr>
        <p:spPr>
          <a:xfrm>
            <a:off x="1213765" y="1365775"/>
            <a:ext cx="445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339" name="Google Shape;339;p34"/>
          <p:cNvGraphicFramePr/>
          <p:nvPr/>
        </p:nvGraphicFramePr>
        <p:xfrm>
          <a:off x="318019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{7084BAF6-05AA-478E-B62F-863733932CE0}</a:tableStyleId>
              </a:tblPr>
              <a:tblGrid>
                <a:gridCol w="1484250"/>
                <a:gridCol w="1303925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0" name="Google Shape;340;p34"/>
          <p:cNvSpPr txBox="1"/>
          <p:nvPr/>
        </p:nvSpPr>
        <p:spPr>
          <a:xfrm>
            <a:off x="2665240" y="1349875"/>
            <a:ext cx="445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=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38330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2" name="Google Shape;342;p34"/>
          <p:cNvSpPr txBox="1"/>
          <p:nvPr/>
        </p:nvSpPr>
        <p:spPr>
          <a:xfrm>
            <a:off x="4129827" y="2096463"/>
            <a:ext cx="888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43" name="Google Shape;343;p34"/>
          <p:cNvGraphicFramePr/>
          <p:nvPr/>
        </p:nvGraphicFramePr>
        <p:xfrm>
          <a:off x="174595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{7084BAF6-05AA-478E-B62F-863733932CE0}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4" name="Google Shape;344;p34"/>
          <p:cNvSpPr txBox="1"/>
          <p:nvPr/>
        </p:nvSpPr>
        <p:spPr>
          <a:xfrm>
            <a:off x="181755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5" name="Google Shape;345;p34"/>
          <p:cNvSpPr txBox="1"/>
          <p:nvPr/>
        </p:nvSpPr>
        <p:spPr>
          <a:xfrm>
            <a:off x="360575" y="2616275"/>
            <a:ext cx="12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trix-multiply-order.gif" id="346" name="Google Shape;34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0" y="3137888"/>
            <a:ext cx="364807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4"/>
          <p:cNvSpPr/>
          <p:nvPr/>
        </p:nvSpPr>
        <p:spPr>
          <a:xfrm>
            <a:off x="3244050" y="3083875"/>
            <a:ext cx="445200" cy="423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4"/>
          <p:cNvSpPr txBox="1"/>
          <p:nvPr/>
        </p:nvSpPr>
        <p:spPr>
          <a:xfrm>
            <a:off x="322175" y="2605150"/>
            <a:ext cx="26880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baseline="-25000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= (1 * 2) + (2 * 1) = 4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49" name="Google Shape;349;p34"/>
          <p:cNvCxnSpPr>
            <a:stCxn id="348" idx="3"/>
            <a:endCxn id="347" idx="1"/>
          </p:cNvCxnSpPr>
          <p:nvPr/>
        </p:nvCxnSpPr>
        <p:spPr>
          <a:xfrm>
            <a:off x="3010175" y="2804200"/>
            <a:ext cx="299100" cy="34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0" name="Google Shape;350;p34"/>
          <p:cNvSpPr txBox="1"/>
          <p:nvPr/>
        </p:nvSpPr>
        <p:spPr>
          <a:xfrm>
            <a:off x="756200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" name="Google Shape;351;p34"/>
          <p:cNvSpPr txBox="1"/>
          <p:nvPr/>
        </p:nvSpPr>
        <p:spPr>
          <a:xfrm>
            <a:off x="1987500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2" name="Google Shape;352;p34"/>
          <p:cNvSpPr txBox="1"/>
          <p:nvPr/>
        </p:nvSpPr>
        <p:spPr>
          <a:xfrm>
            <a:off x="3409075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358" name="Google Shape;35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9" name="Google Shape;359;p35"/>
          <p:cNvGraphicFramePr/>
          <p:nvPr/>
        </p:nvGraphicFramePr>
        <p:xfrm>
          <a:off x="31170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{7084BAF6-05AA-478E-B62F-863733932CE0}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0" name="Google Shape;360;p35"/>
          <p:cNvSpPr txBox="1"/>
          <p:nvPr/>
        </p:nvSpPr>
        <p:spPr>
          <a:xfrm>
            <a:off x="1213765" y="1365775"/>
            <a:ext cx="445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361" name="Google Shape;361;p35"/>
          <p:cNvGraphicFramePr/>
          <p:nvPr/>
        </p:nvGraphicFramePr>
        <p:xfrm>
          <a:off x="318019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{7084BAF6-05AA-478E-B62F-863733932CE0}</a:tableStyleId>
              </a:tblPr>
              <a:tblGrid>
                <a:gridCol w="1484250"/>
                <a:gridCol w="1303925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 + </a:t>
                      </a:r>
                      <a:r>
                        <a:rPr b="1" lang="en">
                          <a:solidFill>
                            <a:srgbClr val="0000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 *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2" name="Google Shape;362;p35"/>
          <p:cNvSpPr txBox="1"/>
          <p:nvPr/>
        </p:nvSpPr>
        <p:spPr>
          <a:xfrm>
            <a:off x="2665240" y="1349875"/>
            <a:ext cx="445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=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63" name="Google Shape;363;p35"/>
          <p:cNvSpPr txBox="1"/>
          <p:nvPr/>
        </p:nvSpPr>
        <p:spPr>
          <a:xfrm>
            <a:off x="38330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4" name="Google Shape;364;p35"/>
          <p:cNvSpPr txBox="1"/>
          <p:nvPr/>
        </p:nvSpPr>
        <p:spPr>
          <a:xfrm>
            <a:off x="4129827" y="2096463"/>
            <a:ext cx="888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65" name="Google Shape;365;p35"/>
          <p:cNvGraphicFramePr/>
          <p:nvPr/>
        </p:nvGraphicFramePr>
        <p:xfrm>
          <a:off x="1745950" y="126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{7084BAF6-05AA-478E-B62F-863733932CE0}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solidFill>
                          <a:srgbClr val="0000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6" name="Google Shape;366;p35"/>
          <p:cNvSpPr txBox="1"/>
          <p:nvPr/>
        </p:nvSpPr>
        <p:spPr>
          <a:xfrm>
            <a:off x="1817550" y="20964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2 x 2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7" name="Google Shape;367;p35"/>
          <p:cNvSpPr txBox="1"/>
          <p:nvPr/>
        </p:nvSpPr>
        <p:spPr>
          <a:xfrm>
            <a:off x="360575" y="2616275"/>
            <a:ext cx="12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trix-multiply-order.gif" id="368" name="Google Shape;36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0" y="3137888"/>
            <a:ext cx="364807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5"/>
          <p:cNvSpPr/>
          <p:nvPr/>
        </p:nvSpPr>
        <p:spPr>
          <a:xfrm>
            <a:off x="3244050" y="3429000"/>
            <a:ext cx="445200" cy="423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5"/>
          <p:cNvSpPr txBox="1"/>
          <p:nvPr/>
        </p:nvSpPr>
        <p:spPr>
          <a:xfrm>
            <a:off x="82250" y="2598288"/>
            <a:ext cx="28611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baseline="-25000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= (3 * 2) + (4 * 1) = 10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71" name="Google Shape;371;p35"/>
          <p:cNvCxnSpPr>
            <a:stCxn id="370" idx="3"/>
            <a:endCxn id="369" idx="1"/>
          </p:cNvCxnSpPr>
          <p:nvPr/>
        </p:nvCxnSpPr>
        <p:spPr>
          <a:xfrm>
            <a:off x="2943350" y="2797338"/>
            <a:ext cx="366000" cy="693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2" name="Google Shape;372;p35"/>
          <p:cNvSpPr txBox="1"/>
          <p:nvPr/>
        </p:nvSpPr>
        <p:spPr>
          <a:xfrm>
            <a:off x="756200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3" name="Google Shape;373;p35"/>
          <p:cNvSpPr txBox="1"/>
          <p:nvPr/>
        </p:nvSpPr>
        <p:spPr>
          <a:xfrm>
            <a:off x="1987500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4" name="Google Shape;374;p35"/>
          <p:cNvSpPr txBox="1"/>
          <p:nvPr/>
        </p:nvSpPr>
        <p:spPr>
          <a:xfrm>
            <a:off x="3409075" y="4633325"/>
            <a:ext cx="40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380" name="Google Shape;38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6"/>
          <p:cNvSpPr txBox="1"/>
          <p:nvPr>
            <p:ph idx="1" type="body"/>
          </p:nvPr>
        </p:nvSpPr>
        <p:spPr>
          <a:xfrm>
            <a:off x="311700" y="1225225"/>
            <a:ext cx="4557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Properties of matrix multiplication: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commutative!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 X B ≠ B X A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 X B </a:t>
            </a:r>
            <a:r>
              <a:rPr lang="en"/>
              <a:t>can be defined but the reverse is no the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Associative: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(A X B) X C = A X (B X 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Distributive over addition: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 X (B + C) = (A X B) + (A X C)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pic>
        <p:nvPicPr>
          <p:cNvPr id="387" name="Google Shape;38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225" y="1147225"/>
            <a:ext cx="4200079" cy="3691476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7"/>
          <p:cNvSpPr txBox="1"/>
          <p:nvPr>
            <p:ph idx="1" type="body"/>
          </p:nvPr>
        </p:nvSpPr>
        <p:spPr>
          <a:xfrm>
            <a:off x="311700" y="1225225"/>
            <a:ext cx="4557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Properties of matrix multiplication: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Square matrices of the same dimension can always be multiplied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square matrix</a:t>
            </a:r>
            <a:r>
              <a:rPr lang="en"/>
              <a:t> is one in which the row and column dimensions are of the same size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</a:t>
            </a:r>
            <a:r>
              <a:rPr b="1" lang="en"/>
              <a:t>adjacency matrices</a:t>
            </a:r>
            <a:r>
              <a:rPr lang="en"/>
              <a:t> are square matrices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can take matrix powers by self-multiplication: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="1" baseline="30000" lang="en"/>
              <a:t>2</a:t>
            </a:r>
            <a:r>
              <a:rPr b="1" lang="en"/>
              <a:t> = A X A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="1" baseline="30000" lang="en"/>
              <a:t>3</a:t>
            </a:r>
            <a:r>
              <a:rPr b="1" lang="en"/>
              <a:t> = A X A X A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</a:t>
            </a:r>
            <a:r>
              <a:rPr b="1" baseline="30000" lang="en"/>
              <a:t>k</a:t>
            </a:r>
            <a:r>
              <a:rPr b="1" lang="en"/>
              <a:t> = A X A X A ....(k times) 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Powers</a:t>
            </a:r>
            <a:endParaRPr/>
          </a:p>
        </p:txBody>
      </p:sp>
      <p:sp>
        <p:nvSpPr>
          <p:cNvPr id="394" name="Google Shape;394;p38"/>
          <p:cNvSpPr txBox="1"/>
          <p:nvPr>
            <p:ph idx="1" type="body"/>
          </p:nvPr>
        </p:nvSpPr>
        <p:spPr>
          <a:xfrm>
            <a:off x="311700" y="1225225"/>
            <a:ext cx="8520600" cy="14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Why do we care about matrix multiplication?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we represent a graph using </a:t>
            </a:r>
            <a:r>
              <a:rPr lang="en"/>
              <a:t>adjacency</a:t>
            </a:r>
            <a:r>
              <a:rPr lang="en"/>
              <a:t> matrix A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Taking n</a:t>
            </a:r>
            <a:r>
              <a:rPr baseline="30000" lang="en"/>
              <a:t>th</a:t>
            </a:r>
            <a:r>
              <a:rPr lang="en"/>
              <a:t> power of the </a:t>
            </a:r>
            <a:r>
              <a:rPr lang="en"/>
              <a:t>adjacency</a:t>
            </a:r>
            <a:r>
              <a:rPr lang="en"/>
              <a:t> matrix gives us the number of paths of length n connecting each vertex to one another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basis of most “path-length” measures of centrality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95" name="Google Shape;395;p38"/>
          <p:cNvPicPr preferRelativeResize="0"/>
          <p:nvPr/>
        </p:nvPicPr>
        <p:blipFill rotWithShape="1">
          <a:blip r:embed="rId3">
            <a:alphaModFix/>
          </a:blip>
          <a:srcRect b="10426" l="2468" r="3688" t="25724"/>
          <a:stretch/>
        </p:blipFill>
        <p:spPr>
          <a:xfrm>
            <a:off x="2742563" y="2711924"/>
            <a:ext cx="3658874" cy="186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typology of centrality measures </a:t>
            </a:r>
            <a:endParaRPr/>
          </a:p>
        </p:txBody>
      </p:sp>
      <p:sp>
        <p:nvSpPr>
          <p:cNvPr id="401" name="Google Shape;401;p39"/>
          <p:cNvSpPr txBox="1"/>
          <p:nvPr>
            <p:ph idx="1" type="body"/>
          </p:nvPr>
        </p:nvSpPr>
        <p:spPr>
          <a:xfrm>
            <a:off x="311700" y="1225225"/>
            <a:ext cx="44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Centrality measures appear to cluster around some key dimensions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they all have in common is that: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all somehow index the </a:t>
            </a:r>
            <a:r>
              <a:rPr b="1" lang="en"/>
              <a:t>importance</a:t>
            </a:r>
            <a:r>
              <a:rPr lang="en"/>
              <a:t> of the vertex in the </a:t>
            </a:r>
            <a:r>
              <a:rPr b="1" lang="en"/>
              <a:t>walk structure </a:t>
            </a:r>
            <a:r>
              <a:rPr lang="en"/>
              <a:t>of the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Computation is based on a matrix of </a:t>
            </a:r>
            <a:r>
              <a:rPr b="1" lang="en"/>
              <a:t>pairwise reachability</a:t>
            </a:r>
            <a:r>
              <a:rPr lang="en"/>
              <a:t> between all vertices in a graph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in-qimg-02f67872949caddbd062330d80aa3007" id="402" name="Google Shape;40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200" y="1845238"/>
            <a:ext cx="4092000" cy="211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typology of centrality measures </a:t>
            </a:r>
            <a:endParaRPr/>
          </a:p>
        </p:txBody>
      </p:sp>
      <p:sp>
        <p:nvSpPr>
          <p:cNvPr id="408" name="Google Shape;408;p40"/>
          <p:cNvSpPr txBox="1"/>
          <p:nvPr>
            <p:ph idx="1" type="body"/>
          </p:nvPr>
        </p:nvSpPr>
        <p:spPr>
          <a:xfrm>
            <a:off x="311700" y="1225225"/>
            <a:ext cx="44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Centrality measures appear to cluster around some key dimensions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vertex is central insofar as a lot of walks of a certain type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Feature</a:t>
            </a:r>
            <a:r>
              <a:rPr lang="en"/>
              <a:t> that node as their </a:t>
            </a:r>
            <a:r>
              <a:rPr b="1" lang="en"/>
              <a:t>origin</a:t>
            </a:r>
            <a:r>
              <a:rPr lang="en"/>
              <a:t> or </a:t>
            </a:r>
            <a:r>
              <a:rPr b="1" lang="en"/>
              <a:t>endpoint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These are "radial" measures (e.g. degree)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Contain</a:t>
            </a:r>
            <a:r>
              <a:rPr lang="en"/>
              <a:t> that node in the walk sequence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These are "medial" measures (e.g. betweenness)</a:t>
            </a:r>
            <a:endParaRPr/>
          </a:p>
        </p:txBody>
      </p:sp>
      <p:pic>
        <p:nvPicPr>
          <p:cNvPr descr="main-qimg-02f67872949caddbd062330d80aa3007" id="409" name="Google Shape;40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200" y="1845238"/>
            <a:ext cx="4092000" cy="211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typology of centrality measures </a:t>
            </a:r>
            <a:endParaRPr/>
          </a:p>
        </p:txBody>
      </p:sp>
      <p:sp>
        <p:nvSpPr>
          <p:cNvPr id="415" name="Google Shape;415;p41"/>
          <p:cNvSpPr txBox="1"/>
          <p:nvPr>
            <p:ph idx="1" type="body"/>
          </p:nvPr>
        </p:nvSpPr>
        <p:spPr>
          <a:xfrm>
            <a:off x="311700" y="1225225"/>
            <a:ext cx="44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Within the radial and medial categories we may distinguish centralities measures that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Restrict the type of walk to be considered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Shortest paths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k-paths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Edge(vertex)-disjoint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 not restrict the type of walk to be considered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in-qimg-02f67872949caddbd062330d80aa3007" id="416" name="Google Shape;41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200" y="1845238"/>
            <a:ext cx="4092000" cy="211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typology of centrality measures </a:t>
            </a:r>
            <a:endParaRPr/>
          </a:p>
        </p:txBody>
      </p:sp>
      <p:sp>
        <p:nvSpPr>
          <p:cNvPr id="422" name="Google Shape;422;p42"/>
          <p:cNvSpPr txBox="1"/>
          <p:nvPr>
            <p:ph idx="1" type="body"/>
          </p:nvPr>
        </p:nvSpPr>
        <p:spPr>
          <a:xfrm>
            <a:off x="311700" y="1225225"/>
            <a:ext cx="44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Finally, we can distinguish measures depending on whether we are interested in either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number</a:t>
            </a:r>
            <a:r>
              <a:rPr lang="en"/>
              <a:t> of walks of a certain type that either originate or contain a vertex (volume)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Or the </a:t>
            </a:r>
            <a:r>
              <a:rPr b="1" lang="en"/>
              <a:t>size</a:t>
            </a:r>
            <a:r>
              <a:rPr lang="en"/>
              <a:t> of walks of a certain type that either originate in or contain a vertex (length)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in-qimg-02f67872949caddbd062330d80aa3007" id="423" name="Google Shape;42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200" y="1845238"/>
            <a:ext cx="4092000" cy="211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Radial centralities: K-path centrality C</a:t>
            </a:r>
            <a:r>
              <a:rPr baseline="-25000" lang="en"/>
              <a:t>k-path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434" name="Google Shape;434;p44"/>
          <p:cNvSpPr txBox="1"/>
          <p:nvPr>
            <p:ph idx="1" type="body"/>
          </p:nvPr>
        </p:nvSpPr>
        <p:spPr>
          <a:xfrm>
            <a:off x="311700" y="1225225"/>
            <a:ext cx="5747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proposed by Sade (1989)</a:t>
            </a:r>
            <a:endParaRPr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b="1" lang="en"/>
              <a:t>Social Network Concept:</a:t>
            </a:r>
            <a:r>
              <a:rPr lang="en"/>
              <a:t> How many people is a person indirectly connected to?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Graph theoretic concept</a:t>
            </a:r>
            <a:r>
              <a:rPr lang="en"/>
              <a:t>: Sum of all paths of length </a:t>
            </a:r>
            <a:r>
              <a:rPr i="1" lang="en"/>
              <a:t>k</a:t>
            </a:r>
            <a:r>
              <a:rPr lang="en"/>
              <a:t> that have vertex v</a:t>
            </a:r>
            <a:r>
              <a:rPr baseline="-25000" lang="en"/>
              <a:t>i</a:t>
            </a:r>
            <a:r>
              <a:rPr lang="en"/>
              <a:t> as their first element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Matrix Procedure</a:t>
            </a:r>
            <a:r>
              <a:rPr lang="en"/>
              <a:t>: Take the row sum of matrix W, where W</a:t>
            </a:r>
            <a:r>
              <a:rPr baseline="-25000" lang="en"/>
              <a:t>ij</a:t>
            </a:r>
            <a:r>
              <a:rPr lang="en"/>
              <a:t> is the number of paths of length k from i to j	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thought of as a generalization of degree centrality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Degree centrality = 1-path centrality, since all entries in the adjacency matrix indicate a path of length 1 from i to j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220px-Srep17095-f1.jpg" id="435" name="Google Shape;43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1200" y="1299625"/>
            <a:ext cx="2095500" cy="313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Closeness centrality C</a:t>
            </a:r>
            <a:r>
              <a:rPr baseline="-25000" lang="en"/>
              <a:t>close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441" name="Google Shape;441;p45"/>
          <p:cNvSpPr txBox="1"/>
          <p:nvPr>
            <p:ph idx="1" type="body"/>
          </p:nvPr>
        </p:nvSpPr>
        <p:spPr>
          <a:xfrm>
            <a:off x="311700" y="1225225"/>
            <a:ext cx="44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proposed by Sabidussi (1966)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Social Network Concept: </a:t>
            </a:r>
            <a:r>
              <a:rPr lang="en"/>
              <a:t>How many other people can a given person easily reach if they wanted to?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Graph theoretic concept</a:t>
            </a:r>
            <a:r>
              <a:rPr lang="en"/>
              <a:t>: Given by the Reciprocal of the sum of of the number of shortest paths that originate in v</a:t>
            </a:r>
            <a:r>
              <a:rPr baseline="-25000" lang="en"/>
              <a:t>i</a:t>
            </a:r>
            <a:r>
              <a:rPr lang="en"/>
              <a:t> and end in all other vertices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Matrix Procedure</a:t>
            </a:r>
            <a:r>
              <a:rPr lang="en"/>
              <a:t>: Take the reciprocal of the row sum of matrix W, where W</a:t>
            </a:r>
            <a:r>
              <a:rPr baseline="-25000" lang="en"/>
              <a:t>ij</a:t>
            </a:r>
            <a:r>
              <a:rPr lang="en"/>
              <a:t> is the number of shortest paths from i to j	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in-qimg-02f67872949caddbd062330d80aa3007" id="442" name="Google Shape;44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200" y="1845238"/>
            <a:ext cx="4092000" cy="211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Medial centralities: Betweenness C</a:t>
            </a:r>
            <a:r>
              <a:rPr baseline="-25000" lang="en"/>
              <a:t>between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448" name="Google Shape;448;p46"/>
          <p:cNvSpPr txBox="1"/>
          <p:nvPr>
            <p:ph idx="1" type="body"/>
          </p:nvPr>
        </p:nvSpPr>
        <p:spPr>
          <a:xfrm>
            <a:off x="311700" y="1225225"/>
            <a:ext cx="44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proposed by Freeman (1977)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Social Network Concept: </a:t>
            </a:r>
            <a:r>
              <a:rPr lang="en"/>
              <a:t>What share of the entire network flow goes through  a given person?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Graph theoretic concept:</a:t>
            </a:r>
            <a:r>
              <a:rPr lang="en"/>
              <a:t> Sum of of the </a:t>
            </a:r>
            <a:r>
              <a:rPr i="1" lang="en"/>
              <a:t>proportion</a:t>
            </a:r>
            <a:r>
              <a:rPr lang="en"/>
              <a:t> of shortest paths in the graph between all other pairs of vertices {v</a:t>
            </a:r>
            <a:r>
              <a:rPr baseline="-25000" lang="en"/>
              <a:t>j</a:t>
            </a:r>
            <a:r>
              <a:rPr lang="en"/>
              <a:t>, v</a:t>
            </a:r>
            <a:r>
              <a:rPr baseline="-25000" lang="en"/>
              <a:t>k</a:t>
            </a:r>
            <a:r>
              <a:rPr lang="en"/>
              <a:t>} that contain v</a:t>
            </a:r>
            <a:r>
              <a:rPr baseline="-25000" lang="en"/>
              <a:t>i </a:t>
            </a:r>
            <a:r>
              <a:rPr lang="en"/>
              <a:t>	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Defined for both connected and unconnected graphs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in-qimg-02f67872949caddbd062330d80aa3007" id="449" name="Google Shape;44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200" y="1845238"/>
            <a:ext cx="4092000" cy="211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Radial</a:t>
            </a:r>
            <a:r>
              <a:rPr lang="en"/>
              <a:t> centralities: Eigenvector C</a:t>
            </a:r>
            <a:r>
              <a:rPr baseline="-25000" lang="en"/>
              <a:t>eigen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455" name="Google Shape;455;p47"/>
          <p:cNvSpPr txBox="1"/>
          <p:nvPr>
            <p:ph idx="1" type="body"/>
          </p:nvPr>
        </p:nvSpPr>
        <p:spPr>
          <a:xfrm>
            <a:off x="311700" y="1225225"/>
            <a:ext cx="44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proposed by Bonacich (1972)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Social Network Concept</a:t>
            </a:r>
            <a:r>
              <a:rPr lang="en"/>
              <a:t>: Somebody is central if they are connected to central people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Matrix Procedure</a:t>
            </a:r>
            <a:r>
              <a:rPr lang="en"/>
              <a:t>: Factorize the adjacency matrix A using the Singular Value Decomposition (SVD):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= UWV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Generate vector u from the first column of the matrix U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Create a new matrix (W) where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Wij = Aij x Uj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</a:t>
            </a:r>
            <a:r>
              <a:rPr baseline="-25000" lang="en"/>
              <a:t>Eigenvector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 = Row sums of W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in-qimg-02f67872949caddbd062330d80aa3007" id="456" name="Google Shape;45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200" y="1845238"/>
            <a:ext cx="4092000" cy="211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Radial centralities: Eigenvector C</a:t>
            </a:r>
            <a:r>
              <a:rPr baseline="-25000" lang="en"/>
              <a:t>eigen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462" name="Google Shape;462;p48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Acquaintanceship</a:t>
            </a:r>
            <a:r>
              <a:rPr lang="en"/>
              <a:t> network: </a:t>
            </a:r>
            <a:r>
              <a:rPr lang="en"/>
              <a:t> C</a:t>
            </a:r>
            <a:r>
              <a:rPr baseline="-25000" lang="en"/>
              <a:t>eigen</a:t>
            </a:r>
            <a:r>
              <a:rPr lang="en"/>
              <a:t> gives the right answer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sp>
        <p:nvSpPr>
          <p:cNvPr id="463" name="Google Shape;463;p48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/>
              <a:t>Restricted Exchange</a:t>
            </a:r>
            <a:r>
              <a:rPr lang="en"/>
              <a:t> Network: </a:t>
            </a:r>
            <a:r>
              <a:rPr lang="en"/>
              <a:t>C</a:t>
            </a:r>
            <a:r>
              <a:rPr baseline="-25000" lang="en"/>
              <a:t>eigen</a:t>
            </a:r>
            <a:r>
              <a:rPr lang="en"/>
              <a:t> gives the  wrong answer (right answer: C</a:t>
            </a:r>
            <a:r>
              <a:rPr baseline="-25000" lang="en"/>
              <a:t>eigen </a:t>
            </a:r>
            <a:r>
              <a:rPr lang="en"/>
              <a:t>* -1)</a:t>
            </a:r>
            <a:endParaRPr/>
          </a:p>
        </p:txBody>
      </p:sp>
      <p:pic>
        <p:nvPicPr>
          <p:cNvPr descr="rb365f1.jpg" id="464" name="Google Shape;464;p48"/>
          <p:cNvPicPr preferRelativeResize="0"/>
          <p:nvPr/>
        </p:nvPicPr>
        <p:blipFill rotWithShape="1">
          <a:blip r:embed="rId3">
            <a:alphaModFix/>
          </a:blip>
          <a:srcRect b="16289" l="0" r="43715" t="0"/>
          <a:stretch/>
        </p:blipFill>
        <p:spPr>
          <a:xfrm>
            <a:off x="863924" y="1836975"/>
            <a:ext cx="2895450" cy="274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b365f1.jpg" id="465" name="Google Shape;465;p48"/>
          <p:cNvPicPr preferRelativeResize="0"/>
          <p:nvPr/>
        </p:nvPicPr>
        <p:blipFill rotWithShape="1">
          <a:blip r:embed="rId3">
            <a:alphaModFix/>
          </a:blip>
          <a:srcRect b="16289" l="0" r="43715" t="0"/>
          <a:stretch/>
        </p:blipFill>
        <p:spPr>
          <a:xfrm>
            <a:off x="5384624" y="1836975"/>
            <a:ext cx="2895450" cy="27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