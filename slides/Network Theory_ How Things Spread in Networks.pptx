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715000" cx="9144000"/>
  <p:notesSz cx="6858000" cy="9144000"/>
  <p:embeddedFontLst>
    <p:embeddedFont>
      <p:font typeface="Josefin Slab"/>
      <p:regular r:id="rId43"/>
      <p:bold r:id="rId44"/>
      <p:italic r:id="rId45"/>
      <p:boldItalic r:id="rId46"/>
    </p:embeddedFont>
    <p:embeddedFont>
      <p:font typeface="Economica"/>
      <p:regular r:id="rId47"/>
      <p:bold r:id="rId48"/>
      <p:italic r:id="rId49"/>
      <p:boldItalic r:id="rId50"/>
    </p:embeddedFont>
    <p:embeddedFont>
      <p:font typeface="Junge"/>
      <p:regular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JoUIH7SYBhJpg9rH0cI5zudoK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7D4974-4927-4230-9556-871338D1A648}">
  <a:tblStyle styleId="{AA7D4974-4927-4230-9556-871338D1A6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JosefinSlab-bold.fntdata"/><Relationship Id="rId43" Type="http://schemas.openxmlformats.org/officeDocument/2006/relationships/font" Target="fonts/JosefinSlab-regular.fntdata"/><Relationship Id="rId46" Type="http://schemas.openxmlformats.org/officeDocument/2006/relationships/font" Target="fonts/JosefinSlab-boldItalic.fntdata"/><Relationship Id="rId45" Type="http://schemas.openxmlformats.org/officeDocument/2006/relationships/font" Target="fonts/JosefinSlab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bold.fntdata"/><Relationship Id="rId47" Type="http://schemas.openxmlformats.org/officeDocument/2006/relationships/font" Target="fonts/Economica-regular.fntdata"/><Relationship Id="rId49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Junge-regular.fntdata"/><Relationship Id="rId50" Type="http://schemas.openxmlformats.org/officeDocument/2006/relationships/font" Target="fonts/Economica-bold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9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7" name="Google Shape;17;p4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" name="Google Shape;25;p42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" name="Google Shape;26;p42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3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45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6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47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7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" name="Google Shape;48;p47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9" name="Google Shape;49;p47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4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8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48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theatlantic.com/technology/archive/2012/04/the-100-year-march-of-technology-in-1-graph/255573/" TargetMode="External"/><Relationship Id="rId4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11.jp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modelingcommons.org/browse/one_model/4784#model_tabs_browse_nlw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://timkastelle.org/blog/2012/02/two-problems-caused-by-the-innovation-diffusion-curve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3044700" y="1145149"/>
            <a:ext cx="3054600" cy="25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Network Theory: How Things Spread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4856187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Thompson, D. (2012) The 100-Year March of Technology in 1 Graph.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http://www.theatlantic.com/technology/archive/2012/04/the-100-year-march-of-technology-in-1-graph/255573/</a:t>
            </a:r>
            <a:r>
              <a:rPr lang="en"/>
              <a:t> (last accessed October 9th 2014)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68" name="Google Shape;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800" y="521977"/>
            <a:ext cx="8616376" cy="3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Elements of diffusion: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Actors</a:t>
            </a:r>
            <a:endParaRPr i="1"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Outcome</a:t>
            </a:r>
            <a:endParaRPr i="1"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Adoption, conversion, infection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311700" y="1361350"/>
            <a:ext cx="5789400" cy="3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Factors Accounting for Why Things Spread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object being diffused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Familiar/unfamiliar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risk (consequential) v. low risk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Cost/benefit ratio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source and adopter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 versus collective actor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status v. Low status actor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 v. dissimilar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Environmental Context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Structure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41-keJ%2BHgjL._SX320_BO1,204,203,200_.jp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100" y="1221399"/>
            <a:ext cx="2495234" cy="38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311700" y="1361350"/>
            <a:ext cx="6029700" cy="3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cohesion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(Coleman et al 1966)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opinion leaders (two-step)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(Katz and Lazarsfeld 1966; Rogers 1962)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positional equivalence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(Burt 1987)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long (weak) ties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1973)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and Network Threshold Models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and Soong 1983; Valente 1995)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Contagion Models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(Centora and Macy 2007)</a:t>
            </a:r>
            <a:endParaRPr/>
          </a:p>
        </p:txBody>
      </p:sp>
      <p:pic>
        <p:nvPicPr>
          <p:cNvPr descr="51ab1b9uzLL._SY344_BO1,204,203,200_.jp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375" y="1318037"/>
            <a:ext cx="2490915" cy="38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94" name="Google Shape;94;p6"/>
          <p:cNvSpPr txBox="1"/>
          <p:nvPr>
            <p:ph idx="1" type="body"/>
          </p:nvPr>
        </p:nvSpPr>
        <p:spPr>
          <a:xfrm>
            <a:off x="311700" y="1361350"/>
            <a:ext cx="3987900" cy="3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s-shapedcurve.jpg" id="95" name="Google Shape;95;p6"/>
          <p:cNvPicPr preferRelativeResize="0"/>
          <p:nvPr/>
        </p:nvPicPr>
        <p:blipFill rotWithShape="1">
          <a:blip r:embed="rId3">
            <a:alphaModFix/>
          </a:blip>
          <a:srcRect b="4590" l="3166" r="3155" t="3597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311700" y="1361350"/>
            <a:ext cx="3846300" cy="3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5025" y="1296387"/>
            <a:ext cx="3594070" cy="35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311700" y="4859750"/>
            <a:ext cx="852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Ryan, B. and N.C. Gross (1943) The Diffusion of Hybrid Seed Corn in Two Iowa Communities,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Rural Sociology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8: 15-24.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311700" y="1361350"/>
            <a:ext cx="38463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srep00197-f1.jpg" id="110" name="Google Shape;110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0900" y="1576938"/>
            <a:ext cx="4674300" cy="32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/>
          <p:nvPr/>
        </p:nvSpPr>
        <p:spPr>
          <a:xfrm>
            <a:off x="311700" y="4812175"/>
            <a:ext cx="846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b="0" i="1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Scientific Reports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, 1, 197.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is equal to q(i)</a:t>
            </a:r>
            <a:endParaRPr/>
          </a:p>
        </p:txBody>
      </p:sp>
      <p:pic>
        <p:nvPicPr>
          <p:cNvPr descr="s-shapedcurve.jpg" id="118" name="Google Shape;118;p9"/>
          <p:cNvPicPr preferRelativeResize="0"/>
          <p:nvPr/>
        </p:nvPicPr>
        <p:blipFill rotWithShape="1">
          <a:blip r:embed="rId3">
            <a:alphaModFix/>
          </a:blip>
          <a:srcRect b="4590" l="3166" r="3155" t="3597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= q(i)</a:t>
            </a:r>
            <a:endParaRPr/>
          </a:p>
        </p:txBody>
      </p:sp>
      <p:pic>
        <p:nvPicPr>
          <p:cNvPr descr="s-shapedcurve.jpg" id="125" name="Google Shape;125;p10"/>
          <p:cNvPicPr preferRelativeResize="0"/>
          <p:nvPr/>
        </p:nvPicPr>
        <p:blipFill rotWithShape="1">
          <a:blip r:embed="rId3">
            <a:alphaModFix/>
          </a:blip>
          <a:srcRect b="4590" l="3166" r="3155" t="3597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Variance in thresholds across people explains the typical S-shaped pattern of cumulative adoptions with initial slow uptake, rapid spread and slow saturation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Shape of the threshold distribution</a:t>
            </a:r>
            <a:r>
              <a:rPr lang="en"/>
              <a:t> determines the time to (or whether) the cascade becomes global (everybody adopts)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Uniform, bell-shaped, skewed, 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1475425" y="2515946"/>
            <a:ext cx="146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Tipping point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4"/>
          <p:cNvCxnSpPr>
            <a:stCxn id="152" idx="2"/>
          </p:cNvCxnSpPr>
          <p:nvPr/>
        </p:nvCxnSpPr>
        <p:spPr>
          <a:xfrm>
            <a:off x="2206375" y="2914346"/>
            <a:ext cx="1099800" cy="103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cxnSp>
        <p:nvCxnSpPr>
          <p:cNvPr id="161" name="Google Shape;161;p15"/>
          <p:cNvCxnSpPr>
            <a:stCxn id="162" idx="2"/>
          </p:cNvCxnSpPr>
          <p:nvPr/>
        </p:nvCxnSpPr>
        <p:spPr>
          <a:xfrm>
            <a:off x="2255175" y="3139599"/>
            <a:ext cx="818700" cy="100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15"/>
          <p:cNvSpPr txBox="1"/>
          <p:nvPr/>
        </p:nvSpPr>
        <p:spPr>
          <a:xfrm>
            <a:off x="958425" y="2355099"/>
            <a:ext cx="2593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Failed Innovations die before reaching the tipping point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2255175" y="3931650"/>
            <a:ext cx="1296817" cy="269352"/>
          </a:xfrm>
          <a:custGeom>
            <a:rect b="b" l="l" r="r" t="t"/>
            <a:pathLst>
              <a:path extrusionOk="0" h="12181" w="71039">
                <a:moveTo>
                  <a:pt x="0" y="10541"/>
                </a:moveTo>
                <a:cubicBezTo>
                  <a:pt x="3188" y="10177"/>
                  <a:pt x="10565" y="10086"/>
                  <a:pt x="19126" y="8356"/>
                </a:cubicBezTo>
                <a:cubicBezTo>
                  <a:pt x="27687" y="6626"/>
                  <a:pt x="42715" y="-478"/>
                  <a:pt x="51367" y="159"/>
                </a:cubicBezTo>
                <a:cubicBezTo>
                  <a:pt x="60019" y="797"/>
                  <a:pt x="67760" y="10177"/>
                  <a:pt x="71039" y="12181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 Rogers Classification of Adopters </a:t>
            </a:r>
            <a:endParaRPr/>
          </a:p>
        </p:txBody>
      </p:sp>
      <p:grpSp>
        <p:nvGrpSpPr>
          <p:cNvPr id="169" name="Google Shape;169;p16"/>
          <p:cNvGrpSpPr/>
          <p:nvPr/>
        </p:nvGrpSpPr>
        <p:grpSpPr>
          <a:xfrm>
            <a:off x="470125" y="1627192"/>
            <a:ext cx="6500650" cy="2460625"/>
            <a:chOff x="470125" y="1627192"/>
            <a:chExt cx="6500650" cy="2460625"/>
          </a:xfrm>
        </p:grpSpPr>
        <p:pic>
          <p:nvPicPr>
            <p:cNvPr descr="techadoptioncycle.png" id="170" name="Google Shape;17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125" y="1627192"/>
              <a:ext cx="6318250" cy="246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6"/>
            <p:cNvSpPr txBox="1"/>
            <p:nvPr/>
          </p:nvSpPr>
          <p:spPr>
            <a:xfrm>
              <a:off x="5126375" y="2562558"/>
              <a:ext cx="1844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Area under the curve represents number of adopters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319500" y="4087825"/>
            <a:ext cx="84621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Kastelle, T (2012) Two Problems Caused by the Innovation Diffusion Curve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http://timkastelle.org/blog/2012/02/two-problems-caused-by-the-innovation-diffusion-curve/</a:t>
            </a:r>
            <a:r>
              <a:rPr lang="en"/>
              <a:t> (last accessed October 9th 2014)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 Rogers Classification </a:t>
            </a:r>
            <a:endParaRPr/>
          </a:p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Innovators and Early adopters 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greater than one standard deviation earlier than the average time-of-adoption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Early and late majorities 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bounded by one  standard deviation earlier and later than the average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Laggards</a:t>
            </a:r>
            <a:r>
              <a:rPr lang="en"/>
              <a:t>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 adopted later than one standard deviation from the average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Burt’s positional equivalence model</a:t>
            </a:r>
            <a:endParaRPr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Reanalysis of Coleman et. al. (1957, 1966) study of diffusion of a new drug, tetracycline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Coleman claimed that diffusion patterns indicative of contagion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 hypothesized that structural equivalence could explain diffusion pattern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 Illinois cities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130 (of 152, 85%) general practitioners, internists, pediatricians (and 4 specialists)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pharmacy records used to code when physician first prescribed tetracycline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data from 2 name generators (advice and discuss) in physician surveys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Cohesion (influence) vs. Equivalence (similarity)</a:t>
            </a:r>
            <a:endParaRPr/>
          </a:p>
        </p:txBody>
      </p:sp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311700" y="1361350"/>
            <a:ext cx="5446200" cy="3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Equivalence (similar relations with same people) and Cohesion (via strong tie between ego and alter) predict diffusion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 but not Equivalence predicts restricted contagion (because of conflicting affiliations)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Equivalence predicts contagion via competition for status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proximity: can "see" alters behaviors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Cohesion:  communication, social proximity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Competition, relative standing: structural equivalence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similar physicians keeping up with each other</a:t>
            </a:r>
            <a:endParaRPr/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4775" y="1318038"/>
            <a:ext cx="2927522" cy="3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3515525" y="1361350"/>
            <a:ext cx="53169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probability of adopting independently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proportion who have not adopted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(k) of adopting in each time period and for each person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 function of exposure (p)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of adopting (k) but also adoption a function of number of others who have adopted.</a:t>
            </a:r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7" y="1274721"/>
            <a:ext cx="3203817" cy="394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Cumulative Adoption Results</a:t>
            </a:r>
            <a:endParaRPr/>
          </a:p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3694425" y="1361350"/>
            <a:ext cx="51378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Cohesion: 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alter adopts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Structural Equivalence: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peers adopt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both cases rate of adoption early on is higher than expected by contagion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is not the only process at 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early adoption rate indicative of diffusion without contagion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9" y="1274717"/>
            <a:ext cx="3382724" cy="392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between ego and alter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Equivalence: 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Euclidean distance between ego and alter (d</a:t>
            </a:r>
            <a:r>
              <a:rPr baseline="-25000" lang="en"/>
              <a:t>ij</a:t>
            </a:r>
            <a:r>
              <a:rPr lang="en"/>
              <a:t>), i.e. how similar their patterns of ties are to others in the network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14692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from regressions: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evidence of contagion from advisors and discussion partners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evidence of diffusion between month in which peers adopted (structurally equivalent doctors) and ego adopting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Personal factors determined adoption, i.e. predisposition to adopt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independent of personal preference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14692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11700" y="1361350"/>
            <a:ext cx="41058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not via contagion (adjacency) but equivalence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  Relative standing competition.  Do not want to be a late adopter.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predisposition to adopt leads to critical mass needed to get diffusion by equivalence to take off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14692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are appropriate for adoptions of behaviors that are public and observable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always the case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make informational demands of individuals that are not always realistic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 must know the actual proportion of population who has adopted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relaxes the assumption that persons have global information on all adoptions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only know what their direct contacts are doing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adopt when some </a:t>
            </a:r>
            <a:r>
              <a:rPr b="1" lang="en"/>
              <a:t>proportion of their contacts </a:t>
            </a:r>
            <a:r>
              <a:rPr lang="en"/>
              <a:t>adopt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appropriate for the adoption of practices, behaviors and ideas that entails some sort of risk or uncertainty (complex contagion)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311700" y="1361347"/>
            <a:ext cx="85206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(i) has some exposure e(i)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e(i) = proportion of i’s friends who adopted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proportion of neighbors who adopt equals q(i), ego adopts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grpSp>
        <p:nvGrpSpPr>
          <p:cNvPr id="239" name="Google Shape;239;p26"/>
          <p:cNvGrpSpPr/>
          <p:nvPr/>
        </p:nvGrpSpPr>
        <p:grpSpPr>
          <a:xfrm>
            <a:off x="1499095" y="2678480"/>
            <a:ext cx="6145825" cy="2728774"/>
            <a:chOff x="1220059" y="2522616"/>
            <a:chExt cx="6733675" cy="2890651"/>
          </a:xfrm>
        </p:grpSpPr>
        <p:grpSp>
          <p:nvGrpSpPr>
            <p:cNvPr id="240" name="Google Shape;240;p26"/>
            <p:cNvGrpSpPr/>
            <p:nvPr/>
          </p:nvGrpSpPr>
          <p:grpSpPr>
            <a:xfrm>
              <a:off x="1220059" y="2882081"/>
              <a:ext cx="2653290" cy="2531090"/>
              <a:chOff x="705384" y="2978581"/>
              <a:chExt cx="2653290" cy="2531090"/>
            </a:xfrm>
          </p:grpSpPr>
          <p:grpSp>
            <p:nvGrpSpPr>
              <p:cNvPr id="241" name="Google Shape;241;p26"/>
              <p:cNvGrpSpPr/>
              <p:nvPr/>
            </p:nvGrpSpPr>
            <p:grpSpPr>
              <a:xfrm>
                <a:off x="705385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42" name="Google Shape;242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7" name="Google Shape;247;p26"/>
                <p:cNvCxnSpPr>
                  <a:stCxn id="242" idx="7"/>
                  <a:endCxn id="24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26"/>
                <p:cNvCxnSpPr>
                  <a:stCxn id="242" idx="5"/>
                  <a:endCxn id="24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26"/>
                <p:cNvCxnSpPr>
                  <a:stCxn id="242" idx="1"/>
                  <a:endCxn id="24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26"/>
                <p:cNvCxnSpPr>
                  <a:stCxn id="242" idx="3"/>
                  <a:endCxn id="24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51" name="Google Shape;251;p26"/>
              <p:cNvGrpSpPr/>
              <p:nvPr/>
            </p:nvGrpSpPr>
            <p:grpSpPr>
              <a:xfrm>
                <a:off x="2354847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52" name="Google Shape;252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7" name="Google Shape;257;p26"/>
                <p:cNvCxnSpPr>
                  <a:stCxn id="252" idx="7"/>
                  <a:endCxn id="25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8" name="Google Shape;258;p26"/>
                <p:cNvCxnSpPr>
                  <a:stCxn id="252" idx="5"/>
                  <a:endCxn id="25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26"/>
                <p:cNvCxnSpPr>
                  <a:stCxn id="252" idx="1"/>
                  <a:endCxn id="25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26"/>
                <p:cNvCxnSpPr>
                  <a:stCxn id="252" idx="3"/>
                  <a:endCxn id="25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61" name="Google Shape;261;p26"/>
              <p:cNvGrpSpPr/>
              <p:nvPr/>
            </p:nvGrpSpPr>
            <p:grpSpPr>
              <a:xfrm>
                <a:off x="705384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62" name="Google Shape;262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7" name="Google Shape;267;p26"/>
                <p:cNvCxnSpPr>
                  <a:stCxn id="262" idx="7"/>
                  <a:endCxn id="26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26"/>
                <p:cNvCxnSpPr>
                  <a:stCxn id="262" idx="5"/>
                  <a:endCxn id="26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26"/>
                <p:cNvCxnSpPr>
                  <a:stCxn id="262" idx="1"/>
                  <a:endCxn id="26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26"/>
                <p:cNvCxnSpPr>
                  <a:stCxn id="262" idx="3"/>
                  <a:endCxn id="26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71" name="Google Shape;271;p26"/>
              <p:cNvGrpSpPr/>
              <p:nvPr/>
            </p:nvGrpSpPr>
            <p:grpSpPr>
              <a:xfrm>
                <a:off x="2354847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72" name="Google Shape;272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7" name="Google Shape;277;p26"/>
                <p:cNvCxnSpPr>
                  <a:stCxn id="272" idx="7"/>
                  <a:endCxn id="273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26"/>
                <p:cNvCxnSpPr>
                  <a:stCxn id="272" idx="5"/>
                  <a:endCxn id="274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26"/>
                <p:cNvCxnSpPr>
                  <a:stCxn id="272" idx="1"/>
                  <a:endCxn id="275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26"/>
                <p:cNvCxnSpPr>
                  <a:stCxn id="272" idx="3"/>
                  <a:endCxn id="276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81" name="Google Shape;281;p26"/>
              <p:cNvSpPr txBox="1"/>
              <p:nvPr/>
            </p:nvSpPr>
            <p:spPr>
              <a:xfrm>
                <a:off x="848600" y="385608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2" name="Google Shape;282;p26"/>
              <p:cNvSpPr txBox="1"/>
              <p:nvPr/>
            </p:nvSpPr>
            <p:spPr>
              <a:xfrm>
                <a:off x="2411490" y="3856081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3" name="Google Shape;283;p26"/>
              <p:cNvSpPr txBox="1"/>
              <p:nvPr/>
            </p:nvSpPr>
            <p:spPr>
              <a:xfrm>
                <a:off x="827263" y="5225271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4" name="Google Shape;284;p26"/>
              <p:cNvSpPr txBox="1"/>
              <p:nvPr/>
            </p:nvSpPr>
            <p:spPr>
              <a:xfrm>
                <a:off x="2422374" y="5225258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285" name="Google Shape;285;p26"/>
            <p:cNvSpPr txBox="1"/>
            <p:nvPr/>
          </p:nvSpPr>
          <p:spPr>
            <a:xfrm>
              <a:off x="1363264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rPr>
                <a:t>Person 1: q = 0.25</a:t>
              </a:r>
              <a:endParaRPr b="1" i="0" sz="1400" u="none" cap="none" strike="noStrike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endParaRPr>
            </a:p>
          </p:txBody>
        </p:sp>
        <p:grpSp>
          <p:nvGrpSpPr>
            <p:cNvPr id="286" name="Google Shape;286;p26"/>
            <p:cNvGrpSpPr/>
            <p:nvPr/>
          </p:nvGrpSpPr>
          <p:grpSpPr>
            <a:xfrm>
              <a:off x="5300632" y="2882213"/>
              <a:ext cx="2653102" cy="2531054"/>
              <a:chOff x="5911807" y="2978713"/>
              <a:chExt cx="2653102" cy="2531054"/>
            </a:xfrm>
          </p:grpSpPr>
          <p:grpSp>
            <p:nvGrpSpPr>
              <p:cNvPr id="287" name="Google Shape;287;p26"/>
              <p:cNvGrpSpPr/>
              <p:nvPr/>
            </p:nvGrpSpPr>
            <p:grpSpPr>
              <a:xfrm>
                <a:off x="5911808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88" name="Google Shape;288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" name="Google Shape;289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" name="Google Shape;290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" name="Google Shape;291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3" name="Google Shape;293;p26"/>
                <p:cNvCxnSpPr>
                  <a:stCxn id="288" idx="7"/>
                  <a:endCxn id="28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4" name="Google Shape;294;p26"/>
                <p:cNvCxnSpPr>
                  <a:stCxn id="288" idx="5"/>
                  <a:endCxn id="29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26"/>
                <p:cNvCxnSpPr>
                  <a:stCxn id="288" idx="1"/>
                  <a:endCxn id="29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26"/>
                <p:cNvCxnSpPr>
                  <a:stCxn id="288" idx="3"/>
                  <a:endCxn id="29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7" name="Google Shape;297;p26"/>
              <p:cNvGrpSpPr/>
              <p:nvPr/>
            </p:nvGrpSpPr>
            <p:grpSpPr>
              <a:xfrm>
                <a:off x="7529300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98" name="Google Shape;298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3" name="Google Shape;303;p26"/>
                <p:cNvCxnSpPr>
                  <a:stCxn id="298" idx="7"/>
                  <a:endCxn id="29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26"/>
                <p:cNvCxnSpPr>
                  <a:stCxn id="298" idx="5"/>
                  <a:endCxn id="30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26"/>
                <p:cNvCxnSpPr>
                  <a:stCxn id="298" idx="1"/>
                  <a:endCxn id="30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6" name="Google Shape;306;p26"/>
                <p:cNvCxnSpPr>
                  <a:stCxn id="298" idx="3"/>
                  <a:endCxn id="30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7" name="Google Shape;307;p26"/>
              <p:cNvGrpSpPr/>
              <p:nvPr/>
            </p:nvGrpSpPr>
            <p:grpSpPr>
              <a:xfrm>
                <a:off x="5911807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08" name="Google Shape;308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3" name="Google Shape;313;p26"/>
                <p:cNvCxnSpPr>
                  <a:stCxn id="308" idx="7"/>
                  <a:endCxn id="30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" name="Google Shape;314;p26"/>
                <p:cNvCxnSpPr>
                  <a:stCxn id="308" idx="5"/>
                  <a:endCxn id="31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5" name="Google Shape;315;p26"/>
                <p:cNvCxnSpPr>
                  <a:stCxn id="308" idx="1"/>
                  <a:endCxn id="31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6" name="Google Shape;316;p26"/>
                <p:cNvCxnSpPr>
                  <a:stCxn id="308" idx="3"/>
                  <a:endCxn id="31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17" name="Google Shape;317;p26"/>
              <p:cNvGrpSpPr/>
              <p:nvPr/>
            </p:nvGrpSpPr>
            <p:grpSpPr>
              <a:xfrm>
                <a:off x="7529299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18" name="Google Shape;318;p26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26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26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26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26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3" name="Google Shape;323;p26"/>
                <p:cNvCxnSpPr>
                  <a:stCxn id="318" idx="7"/>
                  <a:endCxn id="319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4" name="Google Shape;324;p26"/>
                <p:cNvCxnSpPr>
                  <a:stCxn id="318" idx="5"/>
                  <a:endCxn id="320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26"/>
                <p:cNvCxnSpPr>
                  <a:stCxn id="318" idx="1"/>
                  <a:endCxn id="321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6"/>
                <p:cNvCxnSpPr>
                  <a:stCxn id="318" idx="3"/>
                  <a:endCxn id="322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7" name="Google Shape;327;p26"/>
              <p:cNvSpPr txBox="1"/>
              <p:nvPr/>
            </p:nvSpPr>
            <p:spPr>
              <a:xfrm>
                <a:off x="6033625" y="389125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28" name="Google Shape;328;p26"/>
              <p:cNvSpPr txBox="1"/>
              <p:nvPr/>
            </p:nvSpPr>
            <p:spPr>
              <a:xfrm>
                <a:off x="7577307" y="3856544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29" name="Google Shape;329;p26"/>
              <p:cNvSpPr txBox="1"/>
              <p:nvPr/>
            </p:nvSpPr>
            <p:spPr>
              <a:xfrm>
                <a:off x="6033638" y="5225354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30" name="Google Shape;330;p26"/>
              <p:cNvSpPr txBox="1"/>
              <p:nvPr/>
            </p:nvSpPr>
            <p:spPr>
              <a:xfrm>
                <a:off x="7577309" y="5225367"/>
                <a:ext cx="9876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 i="0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331" name="Google Shape;331;p26"/>
            <p:cNvSpPr txBox="1"/>
            <p:nvPr/>
          </p:nvSpPr>
          <p:spPr>
            <a:xfrm>
              <a:off x="5443687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Junge"/>
                  <a:ea typeface="Junge"/>
                  <a:cs typeface="Junge"/>
                  <a:sym typeface="Junge"/>
                </a:rPr>
                <a:t>Person 2: q = 0.75</a:t>
              </a:r>
              <a:endParaRPr b="1" i="0" sz="1400" u="none" cap="none" strike="noStrike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37" name="Google Shape;337;p2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redefine adopter categories (e.g. innovators) as either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Relative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Whole network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Relative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Ego-network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 you can be an innovator in the grand scheme of things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 relative laggard compared to your friends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all of your friends are innovators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be a laggard in the grand scheme of things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an innovator among your friends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/>
          <p:nvPr>
            <p:ph idx="1" type="body"/>
          </p:nvPr>
        </p:nvSpPr>
        <p:spPr>
          <a:xfrm>
            <a:off x="319500" y="4415450"/>
            <a:ext cx="84621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González-Bailón, S., Borge-Holthoefer, J., Rivero, A., &amp; Moreno, Y. (2011). The dynamics of protest recruitment through an online network. Nature Scientific reports, 1, 97.</a:t>
            </a:r>
            <a:endParaRPr/>
          </a:p>
        </p:txBody>
      </p:sp>
      <p:pic>
        <p:nvPicPr>
          <p:cNvPr descr="srep00197-f2.jpg" id="343" name="Google Shape;343;p28"/>
          <p:cNvPicPr preferRelativeResize="0"/>
          <p:nvPr/>
        </p:nvPicPr>
        <p:blipFill rotWithShape="1">
          <a:blip r:embed="rId3">
            <a:alphaModFix/>
          </a:blip>
          <a:srcRect b="51192" l="0" r="0" t="3543"/>
          <a:stretch/>
        </p:blipFill>
        <p:spPr>
          <a:xfrm>
            <a:off x="1102374" y="314201"/>
            <a:ext cx="6896351" cy="410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49" name="Google Shape;349;p29"/>
          <p:cNvSpPr txBox="1"/>
          <p:nvPr>
            <p:ph idx="1" type="body"/>
          </p:nvPr>
        </p:nvSpPr>
        <p:spPr>
          <a:xfrm>
            <a:off x="311700" y="1361343"/>
            <a:ext cx="8520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Who's an “opinion leader”?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adopters who convince those with high network thresholds (but similar system threshold) to adopt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50" name="Google Shape;350;p29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{AA7D4974-4927-4230-9556-871338D1A648}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51" name="Google Shape;351;p29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311700" y="1361357"/>
            <a:ext cx="85206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seems to reflect a Local/Cosmopolitan split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61" name="Google Shape;361;p30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{AA7D4974-4927-4230-9556-871338D1A648}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62" name="Google Shape;362;p30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71" name="Google Shape;371;p31"/>
          <p:cNvSpPr txBox="1"/>
          <p:nvPr>
            <p:ph idx="1" type="body"/>
          </p:nvPr>
        </p:nvSpPr>
        <p:spPr>
          <a:xfrm>
            <a:off x="311700" y="1361357"/>
            <a:ext cx="85206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Cosmopolitan innovators tend to be early adopters relative to the system and have very low threshold relative to their network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72" name="Google Shape;372;p31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{AA7D4974-4927-4230-9556-871338D1A648}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73" name="Google Shape;373;p31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31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Basic findings of research on innovation diffusion</a:t>
            </a:r>
            <a:endParaRPr/>
          </a:p>
        </p:txBody>
      </p:sp>
      <p:sp>
        <p:nvSpPr>
          <p:cNvPr id="382" name="Google Shape;382;p3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adopters (innovators, opinion leaders) are well-connected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Central, well-integrated, prominent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 connected persons more likely to adopt innovations with low cost/benefit ratios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Peripheral persons more likely to adopt risky innovations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Cost/benefit ratio is high; uncertainty in payoff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Risk-taking linked to reputation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isolates more likely to be “laggards”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Being a bridge is associated with early adoption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Betweenness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88" name="Google Shape;388;p3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the propensity to adopt an innovation can be modeled as a threshold process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thresholds may not be fixed for individuals regardless of what is being diffused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Thresholds may depend on the characteristics of what is being diffused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threshold -&gt; Low risk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threshold -&gt; High risk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(e.g. gossip) that carry little risk may in their turn elicit a very low threshold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limiting case, the person adopts as soon as one of their neighbors adopts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94" name="Google Shape;394;p3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idea is that certain innovations can only diffuse via complex contagion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simplex contagion: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0" name="Google Shape;400;p3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social mechanisms that require that innovations diffuse via complex contagion: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complementarity: </a:t>
            </a:r>
            <a:r>
              <a:rPr lang="en"/>
              <a:t>(adoption cost declines as a function of existing adopters)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Legitimacy:</a:t>
            </a:r>
            <a:r>
              <a:rPr lang="en"/>
              <a:t> Resistance to challenge, collective acceptance, and taken-for-grantedness increases in the number of adopters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Credibility:</a:t>
            </a:r>
            <a:r>
              <a:rPr lang="en"/>
              <a:t> Innovations appears are more trustworthy and less risky when high status members of the community also adopt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Emotional contagion: </a:t>
            </a:r>
            <a:r>
              <a:rPr lang="en"/>
              <a:t>Cumulative interaction with a large number of adopters leads persons to adopt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6" name="Google Shape;406;p3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Weakness of long ties argument (Centola and Macy 2007):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help to spread things in networks faster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contagions!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not up to task when it comes to complex contagion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addition to length, complex contagions require bridges to be wide or high bandwidth (Aral and Van Alstyne 2011) 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Complex contagions require multiple redundant contacts a single bridge (even if high bandwidth) won’t do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412" name="Google Shape;412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something diffuses faster if: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familiar rather than unfamiliar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relatively inconsequential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outweigh costs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source is high status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social attributes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are geographically proximate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overlapping social foci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structure is conducive to diffusion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Centralization v. De-Centralization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Connectivity v. Segmentation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 v. Sparseness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Strong ties v. Weak ties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Bridging v. Redundant 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