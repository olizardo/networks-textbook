
<file path=[Content_Types].xml><?xml version="1.0" encoding="utf-8"?>
<Types xmlns="http://schemas.openxmlformats.org/package/2006/content-types">
  <Default Extension="rels" ContentType="application/vnd.openxmlformats-package.relationships+xml"/>
  <Override PartName="/ppt/slideLayouts/slideLayout1.xml" ContentType="application/vnd.openxmlformats-officedocument.presentationml.slideLayout+xml"/>
  <Default Extension="jpeg" ContentType="image/jpeg"/>
  <Default Extension="xml" ContentType="application/xml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Layouts/slideLayout3.xml" ContentType="application/vnd.openxmlformats-officedocument.presentationml.slideLayout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62" r:id="rId4"/>
    <p:sldId id="258" r:id="rId5"/>
    <p:sldId id="261" r:id="rId6"/>
    <p:sldId id="260" r:id="rId7"/>
    <p:sldId id="259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620"/>
    <p:restoredTop sz="94660"/>
  </p:normalViewPr>
  <p:slideViewPr>
    <p:cSldViewPr snapToObjects="1">
      <p:cViewPr varScale="1">
        <p:scale>
          <a:sx n="150" d="100"/>
          <a:sy n="150" d="100"/>
        </p:scale>
        <p:origin x="-11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FD85A-97C9-2540-8975-2BAA4DF95D41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E9067-F3B2-9845-895C-76CFA028F4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Flows</a:t>
            </a:r>
          </a:p>
          <a:p>
            <a:r>
              <a:rPr lang="en-US" dirty="0" smtClean="0"/>
              <a:t>	Communication/Information</a:t>
            </a:r>
          </a:p>
          <a:p>
            <a:r>
              <a:rPr lang="en-US" dirty="0" smtClean="0"/>
              <a:t>	energy</a:t>
            </a:r>
          </a:p>
          <a:p>
            <a:r>
              <a:rPr lang="en-US" dirty="0" smtClean="0"/>
              <a:t>	resources, exchanges, goods &amp; services, trade</a:t>
            </a:r>
          </a:p>
          <a:p>
            <a:r>
              <a:rPr lang="en-US" dirty="0" smtClean="0"/>
              <a:t>	evaluations, like and dislike</a:t>
            </a:r>
          </a:p>
          <a:p>
            <a:r>
              <a:rPr lang="en-US" dirty="0" smtClean="0"/>
              <a:t>	influence</a:t>
            </a:r>
          </a:p>
          <a:p>
            <a:r>
              <a:rPr lang="en-US" dirty="0" smtClean="0"/>
              <a:t>	people</a:t>
            </a:r>
          </a:p>
          <a:p>
            <a:r>
              <a:rPr lang="en-US" dirty="0" smtClean="0"/>
              <a:t>	authority</a:t>
            </a:r>
          </a:p>
          <a:p>
            <a:r>
              <a:rPr lang="en-US" dirty="0" smtClean="0"/>
              <a:t>	kinship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E9067-F3B2-9845-895C-76CFA028F47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Models</a:t>
            </a:r>
          </a:p>
          <a:p>
            <a:r>
              <a:rPr lang="en-US" dirty="0" smtClean="0"/>
              <a:t>	Path Model</a:t>
            </a:r>
          </a:p>
          <a:p>
            <a:r>
              <a:rPr lang="en-US" dirty="0" smtClean="0"/>
              <a:t>	Evolutionary</a:t>
            </a:r>
            <a:r>
              <a:rPr lang="en-US" baseline="0" dirty="0" smtClean="0"/>
              <a:t> Model </a:t>
            </a:r>
          </a:p>
          <a:p>
            <a:r>
              <a:rPr lang="en-US" baseline="0" dirty="0" smtClean="0"/>
              <a:t>	Generative Model:  simple rules governing processes which generate observed patterns (emerge);  grow network</a:t>
            </a:r>
          </a:p>
          <a:p>
            <a:r>
              <a:rPr lang="en-US" baseline="0" dirty="0" smtClean="0"/>
              <a:t>	Demographic models  (states and flows)</a:t>
            </a:r>
          </a:p>
          <a:p>
            <a:endParaRPr lang="en-US" baseline="0" dirty="0" smtClean="0"/>
          </a:p>
          <a:p>
            <a:r>
              <a:rPr lang="en-US" baseline="0" dirty="0" smtClean="0"/>
              <a:t>Distributions</a:t>
            </a:r>
          </a:p>
          <a:p>
            <a:r>
              <a:rPr lang="en-US" baseline="0" dirty="0" smtClean="0"/>
              <a:t>	e.g. normal, </a:t>
            </a:r>
            <a:r>
              <a:rPr lang="en-US" baseline="0" dirty="0" err="1" smtClean="0"/>
              <a:t>gassian</a:t>
            </a:r>
            <a:r>
              <a:rPr lang="en-US" baseline="0" dirty="0" smtClean="0"/>
              <a:t>, gen process random variation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E9067-F3B2-9845-895C-76CFA028F47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icensa.nd.edu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insna.org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Network Seminar</a:t>
            </a:r>
            <a:endParaRPr lang="en-US" dirty="0"/>
          </a:p>
        </p:txBody>
      </p:sp>
      <p:sp>
        <p:nvSpPr>
          <p:cNvPr id="6" name="Vertical Tex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Introductions:  Me &amp; You</a:t>
            </a:r>
          </a:p>
          <a:p>
            <a:r>
              <a:rPr lang="en-US" dirty="0" smtClean="0"/>
              <a:t>The Seminar</a:t>
            </a:r>
          </a:p>
          <a:p>
            <a:pPr lvl="1"/>
            <a:r>
              <a:rPr lang="en-US" dirty="0" smtClean="0"/>
              <a:t>Objectives</a:t>
            </a:r>
          </a:p>
          <a:p>
            <a:pPr lvl="1"/>
            <a:r>
              <a:rPr lang="en-US" dirty="0" smtClean="0"/>
              <a:t>Topics &amp; Readings</a:t>
            </a:r>
          </a:p>
          <a:p>
            <a:pPr lvl="1"/>
            <a:r>
              <a:rPr lang="en-US" dirty="0" smtClean="0"/>
              <a:t>Requirements</a:t>
            </a:r>
          </a:p>
          <a:p>
            <a:pPr lvl="1"/>
            <a:r>
              <a:rPr lang="en-US" dirty="0" smtClean="0"/>
              <a:t>Using Concourse</a:t>
            </a:r>
          </a:p>
          <a:p>
            <a:pPr lvl="1"/>
            <a:r>
              <a:rPr lang="en-US" dirty="0" smtClean="0"/>
              <a:t>Using </a:t>
            </a:r>
            <a:r>
              <a:rPr lang="en-US" dirty="0" err="1" smtClean="0"/>
              <a:t>RefWorks</a:t>
            </a:r>
            <a:endParaRPr lang="en-US" dirty="0" smtClean="0"/>
          </a:p>
          <a:p>
            <a:r>
              <a:rPr lang="en-US" dirty="0" smtClean="0"/>
              <a:t>My Interests in Networks</a:t>
            </a:r>
          </a:p>
          <a:p>
            <a:pPr lvl="1"/>
            <a:r>
              <a:rPr lang="en-US" dirty="0" smtClean="0"/>
              <a:t>Job mobility, vacancy chains, event history analysis</a:t>
            </a:r>
          </a:p>
          <a:p>
            <a:pPr lvl="1"/>
            <a:r>
              <a:rPr lang="en-US" dirty="0" err="1" smtClean="0"/>
              <a:t>Granovetter</a:t>
            </a:r>
            <a:r>
              <a:rPr lang="en-US" dirty="0" smtClean="0"/>
              <a:t> &amp; Burt:  Finding jobs</a:t>
            </a:r>
          </a:p>
          <a:p>
            <a:pPr lvl="1"/>
            <a:r>
              <a:rPr lang="en-US" dirty="0" smtClean="0"/>
              <a:t>Web Group:  </a:t>
            </a:r>
            <a:r>
              <a:rPr lang="en-US" dirty="0" err="1" smtClean="0"/>
              <a:t>Barabasi</a:t>
            </a:r>
            <a:r>
              <a:rPr lang="en-US" dirty="0" smtClean="0"/>
              <a:t> and others, </a:t>
            </a:r>
          </a:p>
          <a:p>
            <a:pPr lvl="1"/>
            <a:r>
              <a:rPr lang="en-US" dirty="0" smtClean="0">
                <a:hlinkClick r:id="rId2"/>
              </a:rPr>
              <a:t>iCeNSA</a:t>
            </a:r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Reflections </a:t>
            </a:r>
            <a:r>
              <a:rPr lang="en-US" dirty="0" smtClean="0"/>
              <a:t>on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295400"/>
            <a:ext cx="8229600" cy="493776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Seeing Networks</a:t>
            </a:r>
          </a:p>
          <a:p>
            <a:pPr lvl="1"/>
            <a:r>
              <a:rPr lang="en-US" dirty="0" smtClean="0"/>
              <a:t>Networks as connectors</a:t>
            </a:r>
          </a:p>
          <a:p>
            <a:pPr lvl="1"/>
            <a:r>
              <a:rPr lang="en-US" dirty="0" smtClean="0"/>
              <a:t>Other connectors:  social relationships, groups, organizations</a:t>
            </a:r>
          </a:p>
          <a:p>
            <a:pPr lvl="1"/>
            <a:r>
              <a:rPr lang="en-US" dirty="0" smtClean="0"/>
              <a:t>Nodes &amp; Ties (Edges)</a:t>
            </a:r>
          </a:p>
          <a:p>
            <a:pPr lvl="1"/>
            <a:r>
              <a:rPr lang="en-US" dirty="0" smtClean="0"/>
              <a:t>Flows </a:t>
            </a:r>
          </a:p>
          <a:p>
            <a:pPr lvl="2"/>
            <a:r>
              <a:rPr lang="en-US" dirty="0" smtClean="0"/>
              <a:t>Social Interaction</a:t>
            </a:r>
            <a:endParaRPr lang="en-US" dirty="0" smtClean="0"/>
          </a:p>
          <a:p>
            <a:r>
              <a:rPr lang="en-US" dirty="0" smtClean="0"/>
              <a:t>Why Study Networks?</a:t>
            </a:r>
          </a:p>
          <a:p>
            <a:pPr lvl="1"/>
            <a:r>
              <a:rPr lang="en-US" dirty="0" smtClean="0"/>
              <a:t>Determinants of human behavior</a:t>
            </a:r>
          </a:p>
          <a:p>
            <a:pPr lvl="2"/>
            <a:r>
              <a:rPr lang="en-US" dirty="0" smtClean="0"/>
              <a:t>Categories (taxonomies) vs. networks</a:t>
            </a:r>
          </a:p>
          <a:p>
            <a:pPr lvl="1"/>
            <a:r>
              <a:rPr lang="en-US" dirty="0" smtClean="0"/>
              <a:t>Non-independence</a:t>
            </a:r>
          </a:p>
          <a:p>
            <a:pPr lvl="1"/>
            <a:r>
              <a:rPr lang="en-US" dirty="0" smtClean="0"/>
              <a:t>Intermediation &amp; indirect ties</a:t>
            </a:r>
          </a:p>
          <a:p>
            <a:r>
              <a:rPr lang="en-US" dirty="0" smtClean="0"/>
              <a:t>What Do Networks Do?</a:t>
            </a:r>
          </a:p>
          <a:p>
            <a:pPr lvl="1"/>
            <a:r>
              <a:rPr lang="en-US" dirty="0" smtClean="0"/>
              <a:t>Diffusion</a:t>
            </a:r>
          </a:p>
          <a:p>
            <a:pPr lvl="1"/>
            <a:r>
              <a:rPr lang="en-US" dirty="0" smtClean="0"/>
              <a:t>Exchange</a:t>
            </a:r>
          </a:p>
          <a:p>
            <a:pPr lvl="1"/>
            <a:r>
              <a:rPr lang="en-US" dirty="0" smtClean="0"/>
              <a:t>Support</a:t>
            </a:r>
          </a:p>
          <a:p>
            <a:pPr lvl="1"/>
            <a:r>
              <a:rPr lang="en-US" dirty="0" smtClean="0"/>
              <a:t>Inclusion/Exclusion (Access)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Network Field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Three “Sources”</a:t>
            </a:r>
          </a:p>
          <a:p>
            <a:pPr lvl="1"/>
            <a:r>
              <a:rPr lang="en-US" dirty="0" smtClean="0"/>
              <a:t>Mathematics – Graph Theory</a:t>
            </a:r>
          </a:p>
          <a:p>
            <a:pPr lvl="1"/>
            <a:r>
              <a:rPr lang="en-US" dirty="0" smtClean="0"/>
              <a:t>Social Networks (</a:t>
            </a:r>
            <a:r>
              <a:rPr lang="en-US" dirty="0" smtClean="0">
                <a:hlinkClick r:id="rId2"/>
              </a:rPr>
              <a:t>INSNA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Network Science</a:t>
            </a:r>
          </a:p>
          <a:p>
            <a:r>
              <a:rPr lang="en-US" dirty="0" smtClean="0"/>
              <a:t>Exponential Growth</a:t>
            </a:r>
          </a:p>
          <a:p>
            <a:r>
              <a:rPr lang="en-US" dirty="0" smtClean="0"/>
              <a:t>Interdisciplinary</a:t>
            </a:r>
          </a:p>
          <a:p>
            <a:r>
              <a:rPr lang="en-US" dirty="0" smtClean="0"/>
              <a:t>Game changing  </a:t>
            </a:r>
          </a:p>
          <a:p>
            <a:pPr lvl="1"/>
            <a:r>
              <a:rPr lang="en-US" dirty="0" smtClean="0"/>
              <a:t>complex, dynamic, distributed systems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Levels of Analysis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Node (Vertices)</a:t>
            </a:r>
          </a:p>
          <a:p>
            <a:pPr lvl="1"/>
            <a:r>
              <a:rPr lang="en-US" dirty="0" smtClean="0"/>
              <a:t>Degree (network size, neighbors,</a:t>
            </a:r>
            <a:r>
              <a:rPr lang="en-US" dirty="0" smtClean="0"/>
              <a:t> popularity, </a:t>
            </a:r>
            <a:r>
              <a:rPr lang="en-US" dirty="0" smtClean="0"/>
              <a:t>in &amp; out degree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Gregariousness </a:t>
            </a:r>
            <a:endParaRPr lang="en-US" dirty="0" smtClean="0"/>
          </a:p>
          <a:p>
            <a:pPr lvl="1"/>
            <a:r>
              <a:rPr lang="en-US" dirty="0" smtClean="0"/>
              <a:t>Composition</a:t>
            </a:r>
          </a:p>
          <a:p>
            <a:pPr lvl="1"/>
            <a:r>
              <a:rPr lang="en-US" dirty="0" smtClean="0"/>
              <a:t>Redundancy, Clustering</a:t>
            </a:r>
          </a:p>
          <a:p>
            <a:pPr lvl="1"/>
            <a:r>
              <a:rPr lang="en-US" dirty="0" smtClean="0"/>
              <a:t>Centrality</a:t>
            </a:r>
            <a:endParaRPr lang="en-US" dirty="0" smtClean="0"/>
          </a:p>
          <a:p>
            <a:r>
              <a:rPr lang="en-US" dirty="0" smtClean="0"/>
              <a:t>Dyad </a:t>
            </a:r>
            <a:r>
              <a:rPr lang="en-US" dirty="0" smtClean="0"/>
              <a:t>(Ties, Edges)</a:t>
            </a:r>
          </a:p>
          <a:p>
            <a:pPr lvl="1"/>
            <a:r>
              <a:rPr lang="en-US" dirty="0" smtClean="0"/>
              <a:t>Strength (Weight)</a:t>
            </a:r>
          </a:p>
          <a:p>
            <a:pPr lvl="2"/>
            <a:r>
              <a:rPr lang="en-US" dirty="0" smtClean="0"/>
              <a:t>Frequency, duration, closeness</a:t>
            </a:r>
          </a:p>
          <a:p>
            <a:pPr lvl="1"/>
            <a:r>
              <a:rPr lang="en-US" dirty="0" smtClean="0"/>
              <a:t>Reciprocity  </a:t>
            </a:r>
            <a:r>
              <a:rPr lang="en-US" dirty="0" smtClean="0"/>
              <a:t>(Mutuality, Symmetry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Social Distance, Homophily</a:t>
            </a:r>
            <a:endParaRPr lang="en-US" dirty="0" smtClean="0"/>
          </a:p>
          <a:p>
            <a:pPr lvl="1"/>
            <a:r>
              <a:rPr lang="en-US" dirty="0" smtClean="0"/>
              <a:t>Hierarchy</a:t>
            </a:r>
          </a:p>
          <a:p>
            <a:pPr lvl="1"/>
            <a:r>
              <a:rPr lang="en-US" dirty="0" smtClean="0"/>
              <a:t>Persistence/Decay</a:t>
            </a:r>
          </a:p>
          <a:p>
            <a:pPr lvl="1"/>
            <a:r>
              <a:rPr lang="en-US" dirty="0" smtClean="0"/>
              <a:t>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Levels of Analysis (continued)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Triads</a:t>
            </a:r>
          </a:p>
          <a:p>
            <a:pPr lvl="1"/>
            <a:r>
              <a:rPr lang="en-US" dirty="0" smtClean="0"/>
              <a:t>Transitivity</a:t>
            </a:r>
          </a:p>
          <a:p>
            <a:pPr lvl="1"/>
            <a:r>
              <a:rPr lang="en-US" dirty="0" smtClean="0"/>
              <a:t>Closure</a:t>
            </a:r>
          </a:p>
          <a:p>
            <a:pPr lvl="1"/>
            <a:r>
              <a:rPr lang="en-US" dirty="0" err="1" smtClean="0"/>
              <a:t>Embeddedness</a:t>
            </a:r>
            <a:endParaRPr lang="en-US" dirty="0" smtClean="0"/>
          </a:p>
          <a:p>
            <a:pPr lvl="1"/>
            <a:r>
              <a:rPr lang="en-US" dirty="0" smtClean="0"/>
              <a:t>Triadic Census</a:t>
            </a:r>
          </a:p>
          <a:p>
            <a:r>
              <a:rPr lang="en-US" dirty="0" smtClean="0"/>
              <a:t>Clusters (Communities)</a:t>
            </a:r>
            <a:endParaRPr lang="en-US" dirty="0" smtClean="0"/>
          </a:p>
          <a:p>
            <a:pPr lvl="1"/>
            <a:r>
              <a:rPr lang="en-US" dirty="0" smtClean="0"/>
              <a:t>C</a:t>
            </a:r>
            <a:r>
              <a:rPr lang="en-US" dirty="0" smtClean="0"/>
              <a:t>liques</a:t>
            </a:r>
          </a:p>
          <a:p>
            <a:pPr lvl="1"/>
            <a:r>
              <a:rPr lang="en-US" dirty="0" smtClean="0"/>
              <a:t>Bridges</a:t>
            </a:r>
          </a:p>
          <a:p>
            <a:r>
              <a:rPr lang="en-US" dirty="0" smtClean="0"/>
              <a:t>Whole Network</a:t>
            </a:r>
            <a:endParaRPr lang="en-US" dirty="0" smtClean="0"/>
          </a:p>
          <a:p>
            <a:pPr lvl="1"/>
            <a:r>
              <a:rPr lang="en-US" dirty="0" smtClean="0"/>
              <a:t>Size</a:t>
            </a:r>
          </a:p>
          <a:p>
            <a:pPr lvl="1"/>
            <a:r>
              <a:rPr lang="en-US" dirty="0" smtClean="0"/>
              <a:t>Density</a:t>
            </a:r>
            <a:endParaRPr lang="en-US" dirty="0" smtClean="0"/>
          </a:p>
          <a:p>
            <a:pPr lvl="1"/>
            <a:r>
              <a:rPr lang="en-US" dirty="0" smtClean="0"/>
              <a:t>Degree </a:t>
            </a:r>
            <a:r>
              <a:rPr lang="en-US" dirty="0" smtClean="0"/>
              <a:t>distribution</a:t>
            </a:r>
          </a:p>
          <a:p>
            <a:pPr lvl="1"/>
            <a:r>
              <a:rPr lang="en-US" dirty="0" smtClean="0"/>
              <a:t>Network topologies</a:t>
            </a:r>
            <a:endParaRPr lang="en-US" dirty="0" smtClean="0"/>
          </a:p>
          <a:p>
            <a:pPr lvl="1"/>
            <a:r>
              <a:rPr lang="en-US" dirty="0" smtClean="0"/>
              <a:t>Clustering</a:t>
            </a:r>
          </a:p>
          <a:p>
            <a:pPr lvl="1"/>
            <a:r>
              <a:rPr lang="en-US" dirty="0" smtClean="0"/>
              <a:t>Connectivity </a:t>
            </a:r>
          </a:p>
          <a:p>
            <a:pPr lvl="2"/>
            <a:r>
              <a:rPr lang="en-US" dirty="0" smtClean="0"/>
              <a:t>resilience</a:t>
            </a:r>
          </a:p>
          <a:p>
            <a:pPr lvl="1"/>
            <a:r>
              <a:rPr lang="en-US" dirty="0" smtClean="0"/>
              <a:t>Geodesic distance/size/</a:t>
            </a:r>
            <a:r>
              <a:rPr lang="en-US" dirty="0" smtClean="0"/>
              <a:t>diameter</a:t>
            </a:r>
          </a:p>
          <a:p>
            <a:pPr lvl="1"/>
            <a:r>
              <a:rPr lang="en-US" dirty="0" smtClean="0"/>
              <a:t>Mixing Patterns (assortativity)</a:t>
            </a:r>
          </a:p>
          <a:p>
            <a:pPr lvl="2"/>
            <a:r>
              <a:rPr lang="en-US" dirty="0" smtClean="0"/>
              <a:t>degree assortativity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</a:t>
            </a:r>
            <a:r>
              <a:rPr lang="en-US" dirty="0" smtClean="0"/>
              <a:t>Analysis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</a:p>
          <a:p>
            <a:pPr lvl="1"/>
            <a:r>
              <a:rPr lang="en-US" dirty="0" smtClean="0"/>
              <a:t>Measures, correlations, comparisons</a:t>
            </a:r>
            <a:endParaRPr lang="en-US" dirty="0" smtClean="0"/>
          </a:p>
          <a:p>
            <a:r>
              <a:rPr lang="en-US" dirty="0" smtClean="0"/>
              <a:t>Generative Models</a:t>
            </a:r>
          </a:p>
          <a:p>
            <a:r>
              <a:rPr lang="en-US" dirty="0" smtClean="0"/>
              <a:t>Network Evolution &amp; Dynamics</a:t>
            </a:r>
          </a:p>
          <a:p>
            <a:pPr lvl="1"/>
            <a:r>
              <a:rPr lang="en-US" dirty="0" smtClean="0"/>
              <a:t>emergence</a:t>
            </a:r>
          </a:p>
          <a:p>
            <a:pPr lvl="1"/>
            <a:r>
              <a:rPr lang="en-US" dirty="0" smtClean="0"/>
              <a:t>local </a:t>
            </a:r>
            <a:r>
              <a:rPr lang="en-US" dirty="0" err="1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global</a:t>
            </a:r>
          </a:p>
          <a:p>
            <a:r>
              <a:rPr lang="en-US" dirty="0" smtClean="0">
                <a:sym typeface="Wingdings"/>
              </a:rPr>
              <a:t>Diffusion/Influence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Research Issues</a:t>
            </a:r>
            <a:endParaRPr lang="en-US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Weights and Reciprocity</a:t>
            </a:r>
          </a:p>
          <a:p>
            <a:r>
              <a:rPr lang="en-US" dirty="0" smtClean="0"/>
              <a:t>Strength </a:t>
            </a:r>
            <a:r>
              <a:rPr lang="en-US" dirty="0" smtClean="0"/>
              <a:t>of weak ties</a:t>
            </a:r>
          </a:p>
          <a:p>
            <a:pPr lvl="1"/>
            <a:r>
              <a:rPr lang="en-US" dirty="0" smtClean="0"/>
              <a:t>Cross-cutting </a:t>
            </a:r>
            <a:r>
              <a:rPr lang="en-US" dirty="0" smtClean="0"/>
              <a:t>ties</a:t>
            </a:r>
          </a:p>
          <a:p>
            <a:pPr lvl="1"/>
            <a:r>
              <a:rPr lang="en-US" dirty="0" smtClean="0"/>
              <a:t>Bridging and bonding social capital</a:t>
            </a:r>
            <a:endParaRPr lang="en-US" dirty="0" smtClean="0"/>
          </a:p>
          <a:p>
            <a:r>
              <a:rPr lang="en-US" dirty="0" smtClean="0"/>
              <a:t>Scale-free network topology</a:t>
            </a:r>
            <a:endParaRPr lang="en-US" dirty="0" smtClean="0"/>
          </a:p>
          <a:p>
            <a:r>
              <a:rPr lang="en-US" dirty="0" smtClean="0"/>
              <a:t>Core/Periphery structures</a:t>
            </a:r>
          </a:p>
          <a:p>
            <a:r>
              <a:rPr lang="en-US" dirty="0" smtClean="0"/>
              <a:t>Emergence</a:t>
            </a:r>
            <a:r>
              <a:rPr lang="en-US" dirty="0" smtClean="0"/>
              <a:t>, self-organization</a:t>
            </a:r>
          </a:p>
          <a:p>
            <a:r>
              <a:rPr lang="en-US" dirty="0" smtClean="0"/>
              <a:t>Intermediation/Brokerage</a:t>
            </a:r>
          </a:p>
          <a:p>
            <a:r>
              <a:rPr lang="en-US" dirty="0" smtClean="0"/>
              <a:t>Tie Formation vs. </a:t>
            </a:r>
            <a:r>
              <a:rPr lang="en-US" dirty="0" smtClean="0"/>
              <a:t>Persistence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Issues (continued)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Local vs. Global</a:t>
            </a:r>
          </a:p>
          <a:p>
            <a:pPr lvl="1"/>
            <a:r>
              <a:rPr lang="en-US" dirty="0" smtClean="0"/>
              <a:t>Agent Based Models</a:t>
            </a:r>
          </a:p>
          <a:p>
            <a:r>
              <a:rPr lang="en-US" dirty="0" smtClean="0"/>
              <a:t>Form without content</a:t>
            </a:r>
          </a:p>
          <a:p>
            <a:r>
              <a:rPr lang="en-US" dirty="0" smtClean="0"/>
              <a:t>Assembling Networks</a:t>
            </a:r>
          </a:p>
          <a:p>
            <a:r>
              <a:rPr lang="en-US" dirty="0" smtClean="0"/>
              <a:t>Diffusion</a:t>
            </a:r>
          </a:p>
          <a:p>
            <a:pPr lvl="1"/>
            <a:r>
              <a:rPr lang="en-US" dirty="0" smtClean="0"/>
              <a:t>chains and motifs</a:t>
            </a:r>
          </a:p>
          <a:p>
            <a:pPr lvl="1"/>
            <a:r>
              <a:rPr lang="en-US" dirty="0" smtClean="0"/>
              <a:t>influence  (network effects)</a:t>
            </a:r>
          </a:p>
          <a:p>
            <a:r>
              <a:rPr lang="en-US" dirty="0" smtClean="0"/>
              <a:t>What is a “good” network?</a:t>
            </a:r>
          </a:p>
          <a:p>
            <a:r>
              <a:rPr lang="en-US" dirty="0" smtClean="0"/>
              <a:t>What is different about social networks?</a:t>
            </a:r>
          </a:p>
          <a:p>
            <a:r>
              <a:rPr lang="en-US" dirty="0" smtClean="0"/>
              <a:t>Connections among networks (social, technical, information, semantic)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ＭＳ 明朝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Origin.thmx</Template>
  <TotalTime>585</TotalTime>
  <Words>429</Words>
  <Application>Microsoft Macintosh PowerPoint</Application>
  <PresentationFormat>On-screen Show (4:3)</PresentationFormat>
  <Paragraphs>122</Paragraphs>
  <Slides>8</Slides>
  <Notes>2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Origin</vt:lpstr>
      <vt:lpstr>Social Network Seminar</vt:lpstr>
      <vt:lpstr>Reflections on Networks</vt:lpstr>
      <vt:lpstr>The Network Field</vt:lpstr>
      <vt:lpstr>Levels of Analysis </vt:lpstr>
      <vt:lpstr>Levels of Analysis (continued)</vt:lpstr>
      <vt:lpstr>Network Analysis </vt:lpstr>
      <vt:lpstr>Research Issues</vt:lpstr>
      <vt:lpstr>Research Issues (continued)</vt:lpstr>
    </vt:vector>
  </TitlesOfParts>
  <Company>University of Notre Dame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Network Seminar</dc:title>
  <dc:creator>David Hachen</dc:creator>
  <cp:lastModifiedBy>David Hachen</cp:lastModifiedBy>
  <cp:revision>5</cp:revision>
  <dcterms:created xsi:type="dcterms:W3CDTF">2011-01-18T13:09:29Z</dcterms:created>
  <dcterms:modified xsi:type="dcterms:W3CDTF">2011-01-18T13:49:59Z</dcterms:modified>
</cp:coreProperties>
</file>