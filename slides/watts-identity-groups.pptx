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2"/>
  </p:notes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182" y="-6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0" y="-6470650"/>
            <a:ext cx="1588" cy="1433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" name="Rectangle 6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1"/>
          </p:nvPr>
        </p:nvSpPr>
        <p:spPr bwMode="auto">
          <a:xfrm>
            <a:off x="0" y="303213"/>
            <a:ext cx="1588" cy="15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oundRect">
            <a:avLst>
              <a:gd name="adj" fmla="val 60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E1411-A210-4619-917E-0148D30AFB72}" type="datetimeFigureOut">
              <a:rPr lang="en-US" smtClean="0"/>
              <a:t>4/1/2009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500E4-FBC6-478E-9775-D5A4393E88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98.81.200.2/science?_ob=ArticleURL&amp;_udi=B6VD1-4FPDR53-1&amp;_user=489835&amp;_coverDate=07%2F31%2F2005&amp;_alid=894442171&amp;_rdoc=1&amp;_fmt=full&amp;_orig=search&amp;_cdi=5969&amp;_docanchor=&amp;view=c&amp;_ct=2&amp;_acct=C000022718&amp;_version=1&amp;_urlVersion=0&amp;_userid=489835&amp;md5=ec0037210c3d941a2cd04d6f521c8e6c#bbib21" TargetMode="External"/><Relationship Id="rId2" Type="http://schemas.openxmlformats.org/officeDocument/2006/relationships/hyperlink" Target="http://198.81.200.2/science?_ob=MathURL&amp;_method=retrieve&amp;_udi=B6VD1-4FPDR53-1&amp;_mathId=mml2&amp;_user=489835&amp;_cdi=5969&amp;_rdoc=1&amp;_ArticleListID=894442171&amp;_acct=C000022718&amp;_version=1&amp;_userid=489835&amp;md5=e685237b7e452d5ca81cbbb3aa16a44d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28600"/>
            <a:ext cx="4621508" cy="6457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99350" y="5935663"/>
            <a:ext cx="1509713" cy="777875"/>
          </a:xfrm>
          <a:prstGeom prst="rect">
            <a:avLst/>
          </a:prstGeom>
          <a:noFill/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28600" y="6400800"/>
            <a:ext cx="1600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7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chemeClr val="tx1"/>
                </a:solidFill>
                <a:latin typeface="sans-serif" charset="0"/>
              </a:rPr>
              <a:t>Published by AAAS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7938" y="1447800"/>
            <a:ext cx="6588125" cy="3962400"/>
          </a:xfrm>
          <a:prstGeom prst="rect">
            <a:avLst/>
          </a:prstGeom>
          <a:noFill/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9388" y="5518150"/>
            <a:ext cx="8783637" cy="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algn="ctr">
              <a:lnSpc>
                <a:spcPct val="97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chemeClr val="tx1"/>
                </a:solidFill>
                <a:latin typeface="sans-serif" charset="0"/>
              </a:rPr>
              <a:t> D. J.  Watts et al.,  Science  296, 1302 -1305 (2002)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99350" y="5935663"/>
            <a:ext cx="1509713" cy="777875"/>
          </a:xfrm>
          <a:prstGeom prst="rect">
            <a:avLst/>
          </a:prstGeom>
          <a:noFill/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28600" y="6400800"/>
            <a:ext cx="1600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7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chemeClr val="tx1"/>
                </a:solidFill>
                <a:latin typeface="sans-serif" charset="0"/>
              </a:rPr>
              <a:t>Published by AAAS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8563" y="992188"/>
            <a:ext cx="4206875" cy="4873625"/>
          </a:xfrm>
          <a:prstGeom prst="rect">
            <a:avLst/>
          </a:prstGeom>
          <a:noFill/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9388" y="5973763"/>
            <a:ext cx="8783637" cy="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algn="ctr">
              <a:lnSpc>
                <a:spcPct val="97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chemeClr val="tx1"/>
                </a:solidFill>
                <a:latin typeface="sans-serif" charset="0"/>
              </a:rPr>
              <a:t> D. J.  Watts et al.,  Science  296, 1302 -1305 (2002)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9350" y="5935663"/>
            <a:ext cx="1509713" cy="777875"/>
          </a:xfrm>
          <a:prstGeom prst="rect">
            <a:avLst/>
          </a:prstGeom>
          <a:noFill/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28600" y="6400800"/>
            <a:ext cx="1600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97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chemeClr val="tx1"/>
                </a:solidFill>
                <a:latin typeface="sans-serif" charset="0"/>
              </a:rPr>
              <a:t>Published by AAAS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7938" y="1655763"/>
            <a:ext cx="6588125" cy="3546475"/>
          </a:xfrm>
          <a:prstGeom prst="rect">
            <a:avLst/>
          </a:prstGeom>
          <a:noFill/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79388" y="5310188"/>
            <a:ext cx="8783637" cy="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algn="ctr">
              <a:lnSpc>
                <a:spcPct val="97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chemeClr val="tx1"/>
                </a:solidFill>
                <a:latin typeface="sans-serif" charset="0"/>
              </a:rPr>
              <a:t> D. J.  Watts et al.,  Science  296, 1302 -1305 (2002)    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79388" y="179388"/>
            <a:ext cx="8783637" cy="41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>
              <a:lnSpc>
                <a:spcPct val="97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 smtClean="0"/>
              <a:t>Comparison between </a:t>
            </a:r>
            <a:r>
              <a:rPr lang="en-US" sz="1400" i="1" dirty="0" smtClean="0"/>
              <a:t>n</a:t>
            </a:r>
            <a:r>
              <a:rPr lang="en-US" sz="1400" dirty="0" smtClean="0"/>
              <a:t>(</a:t>
            </a:r>
            <a:r>
              <a:rPr lang="en-US" sz="1400" i="1" dirty="0" smtClean="0"/>
              <a:t>L</a:t>
            </a:r>
            <a:r>
              <a:rPr lang="en-US" sz="1400" dirty="0" smtClean="0"/>
              <a:t>), the number Comparison between </a:t>
            </a:r>
            <a:r>
              <a:rPr lang="en-US" sz="1400" i="1" dirty="0" smtClean="0"/>
              <a:t>n</a:t>
            </a:r>
            <a:r>
              <a:rPr lang="en-US" sz="1400" dirty="0" smtClean="0"/>
              <a:t>(</a:t>
            </a:r>
            <a:r>
              <a:rPr lang="en-US" sz="1400" i="1" dirty="0" smtClean="0"/>
              <a:t>L</a:t>
            </a:r>
            <a:r>
              <a:rPr lang="en-US" sz="1400" dirty="0" smtClean="0"/>
              <a:t>), the number of completed chains of length </a:t>
            </a:r>
            <a:r>
              <a:rPr lang="en-US" sz="1400" i="1" dirty="0" smtClean="0"/>
              <a:t>L </a:t>
            </a:r>
            <a:r>
              <a:rPr lang="en-US" sz="1400" dirty="0" smtClean="0"/>
              <a:t>of completed chains of length </a:t>
            </a:r>
            <a:r>
              <a:rPr lang="en-US" sz="1400" i="1" dirty="0" smtClean="0"/>
              <a:t>L</a:t>
            </a:r>
            <a:endParaRPr lang="en-GB" sz="1400" b="1" dirty="0">
              <a:solidFill>
                <a:schemeClr val="tx1"/>
              </a:solidFill>
              <a:latin typeface="sans-serif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4000"/>
            <a:ext cx="5257800" cy="3309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47800" y="5257800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</a:rPr>
              <a:t>Fig. 2. Example illustrating a search path using information about the target’s position in the organizational hierarchy to direct a message. Numbers in the square give the </a:t>
            </a:r>
            <a:r>
              <a:rPr lang="en-US" sz="1600" i="1" dirty="0" smtClean="0">
                <a:solidFill>
                  <a:schemeClr val="tx1"/>
                </a:solidFill>
              </a:rPr>
              <a:t>h</a:t>
            </a:r>
            <a:r>
              <a:rPr lang="en-US" sz="1600" dirty="0" smtClean="0">
                <a:solidFill>
                  <a:schemeClr val="tx1"/>
                </a:solidFill>
              </a:rPr>
              <a:t>-distance </a:t>
            </a:r>
            <a:r>
              <a:rPr lang="en-US" sz="1600" dirty="0" smtClean="0">
                <a:solidFill>
                  <a:schemeClr val="tx1"/>
                </a:solidFill>
              </a:rPr>
              <a:t>from the target.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066800"/>
            <a:ext cx="5513567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286000" y="50292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</a:rPr>
              <a:t>Fig. 3. HP Labs’ email communication (light grey lines) mapped onto the organizational hierarchy (black lines). Note that communication tends to “cling” to the formal organizational chart.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5257800"/>
            <a:ext cx="655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</a:rPr>
              <a:t>Fig. 4. Probability of linking as a function of the separation in the organizational hierarchy. The exponential parameter </a:t>
            </a:r>
            <a:r>
              <a:rPr lang="en-US" sz="1400" i="1" dirty="0" smtClean="0">
                <a:solidFill>
                  <a:schemeClr val="tx1"/>
                </a:solidFill>
                <a:hlinkClick r:id="rId2" tooltip="Click to view the MathML source"/>
              </a:rPr>
              <a:t>α</a:t>
            </a:r>
            <a:r>
              <a:rPr lang="en-US" sz="1400" dirty="0" smtClean="0">
                <a:solidFill>
                  <a:schemeClr val="tx1"/>
                </a:solidFill>
                <a:hlinkClick r:id="rId2" tooltip="Click to view the MathML source"/>
              </a:rPr>
              <a:t>=0.94</a:t>
            </a:r>
            <a:r>
              <a:rPr lang="en-US" sz="1400" dirty="0" smtClean="0">
                <a:solidFill>
                  <a:schemeClr val="tx1"/>
                </a:solidFill>
              </a:rPr>
              <a:t>, is in the searchable range of the Watts model </a:t>
            </a:r>
            <a:r>
              <a:rPr lang="en-US" sz="1400" dirty="0" smtClean="0">
                <a:solidFill>
                  <a:schemeClr val="tx1"/>
                </a:solidFill>
                <a:hlinkClick r:id="rId3"/>
              </a:rPr>
              <a:t>Watts et al., 2002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</a:rPr>
              <a:t>D.J.</a:t>
            </a:r>
            <a:r>
              <a:rPr lang="en-US" sz="1400" dirty="0" smtClean="0">
                <a:solidFill>
                  <a:schemeClr val="tx1"/>
                </a:solidFill>
              </a:rPr>
              <a:t> Watts, P.S. </a:t>
            </a:r>
            <a:r>
              <a:rPr lang="en-US" sz="1400" dirty="0" err="1" smtClean="0">
                <a:solidFill>
                  <a:schemeClr val="tx1"/>
                </a:solidFill>
              </a:rPr>
              <a:t>Dodds</a:t>
            </a:r>
            <a:r>
              <a:rPr lang="en-US" sz="1400" dirty="0" smtClean="0">
                <a:solidFill>
                  <a:schemeClr val="tx1"/>
                </a:solidFill>
              </a:rPr>
              <a:t> and </a:t>
            </a:r>
            <a:r>
              <a:rPr lang="en-US" sz="1400" dirty="0" err="1" smtClean="0">
                <a:solidFill>
                  <a:schemeClr val="tx1"/>
                </a:solidFill>
              </a:rPr>
              <a:t>M.E.J.</a:t>
            </a:r>
            <a:r>
              <a:rPr lang="en-US" sz="1400" dirty="0" smtClean="0">
                <a:solidFill>
                  <a:schemeClr val="tx1"/>
                </a:solidFill>
              </a:rPr>
              <a:t> Newman, Identity and search in social networks, </a:t>
            </a:r>
            <a:r>
              <a:rPr lang="en-US" sz="1400" i="1" dirty="0" smtClean="0">
                <a:solidFill>
                  <a:schemeClr val="tx1"/>
                </a:solidFill>
              </a:rPr>
              <a:t>Science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b="1" dirty="0" smtClean="0">
                <a:solidFill>
                  <a:schemeClr val="tx1"/>
                </a:solidFill>
              </a:rPr>
              <a:t>296</a:t>
            </a:r>
            <a:r>
              <a:rPr lang="en-US" sz="1400" dirty="0" smtClean="0">
                <a:solidFill>
                  <a:schemeClr val="tx1"/>
                </a:solidFill>
              </a:rPr>
              <a:t> (2002), pp. 1302–1305. 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800" y="1219200"/>
            <a:ext cx="490779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5257800"/>
            <a:ext cx="6553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</a:rPr>
              <a:t>Fig. 6. Email communications within HP Labs mapped onto approximate physical location based on the nearest post number and building given for each employee. Each box represents a different floor in a building. The lines are shaded according to the physical distance between the correspondents: dark for nearby individuals, light for far away contacts.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990600"/>
            <a:ext cx="4267200" cy="4083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5257800"/>
            <a:ext cx="6553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</a:rPr>
              <a:t>Fig. 7. Probability of two individuals corresponding by email as a function of the distance between their cubicles. The inset shows how many people in total sit at a given distance from one another.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57200"/>
            <a:ext cx="5715000" cy="462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24000" y="2377440"/>
          <a:ext cx="6096000" cy="210312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Strategy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 number of steps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number of steps</a:t>
                      </a:r>
                    </a:p>
                  </a:txBody>
                  <a:tcPr marL="57150" marR="57150" marT="57150" marB="57150" anchor="ctr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High degree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43.2</a:t>
                      </a:r>
                    </a:p>
                  </a:txBody>
                  <a:tcPr marL="57150" marR="57150" marT="57150" marB="57150" anchor="ctr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Organizational hierarchy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</a:t>
                      </a:r>
                    </a:p>
                  </a:txBody>
                  <a:tcPr marL="57150" marR="57150" marT="57150" marB="57150" anchor="ctr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Geography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11.7</a:t>
                      </a:r>
                    </a:p>
                  </a:txBody>
                  <a:tcPr marL="57150" marR="57150" marT="57150" marB="57150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600200" y="1524000"/>
            <a:ext cx="601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/>
            <a:r>
              <a:rPr lang="en-US" sz="1800" b="1" dirty="0" smtClean="0">
                <a:solidFill>
                  <a:schemeClr val="tx1"/>
                </a:solidFill>
                <a:latin typeface="Bell MT" pitchFamily="18" charset="0"/>
              </a:rPr>
              <a:t>Table 1. </a:t>
            </a:r>
            <a:r>
              <a:rPr lang="en-US" sz="1800" b="1" dirty="0" smtClean="0">
                <a:solidFill>
                  <a:schemeClr val="tx1"/>
                </a:solidFill>
                <a:latin typeface="Bell MT" pitchFamily="18" charset="0"/>
              </a:rPr>
              <a:t> Search </a:t>
            </a:r>
            <a:r>
              <a:rPr lang="en-US" sz="1800" b="1" dirty="0" smtClean="0">
                <a:solidFill>
                  <a:schemeClr val="tx1"/>
                </a:solidFill>
                <a:latin typeface="Bell MT" pitchFamily="18" charset="0"/>
              </a:rPr>
              <a:t>times using various strategies </a:t>
            </a:r>
            <a:r>
              <a:rPr lang="en-US" sz="1800" b="1" dirty="0" smtClean="0">
                <a:solidFill>
                  <a:schemeClr val="tx1"/>
                </a:solidFill>
                <a:latin typeface="Bell MT" pitchFamily="18" charset="0"/>
              </a:rPr>
              <a:t>.  The </a:t>
            </a:r>
            <a:r>
              <a:rPr lang="en-US" sz="1800" b="1" dirty="0" smtClean="0">
                <a:solidFill>
                  <a:schemeClr val="tx1"/>
                </a:solidFill>
                <a:latin typeface="Bell MT" pitchFamily="18" charset="0"/>
              </a:rPr>
              <a:t>actual average shortest path is 3.1.</a:t>
            </a:r>
            <a:endParaRPr lang="en-US" sz="1800" b="1" dirty="0" smtClean="0">
              <a:solidFill>
                <a:schemeClr val="tx1"/>
              </a:solidFill>
              <a:latin typeface="Bell MT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144</Words>
  <PresentationFormat>On-screen Show (4:3)</PresentationFormat>
  <Paragraphs>25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Omar Lizardo</cp:lastModifiedBy>
  <cp:revision>5</cp:revision>
  <dcterms:modified xsi:type="dcterms:W3CDTF">2009-04-01T12:53:25Z</dcterms:modified>
</cp:coreProperties>
</file>