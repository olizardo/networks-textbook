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111" d="100"/>
          <a:sy n="111" d="100"/>
        </p:scale>
        <p:origin x="-11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FD85A-97C9-2540-8975-2BAA4DF95D41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E9067-F3B2-9845-895C-76CFA028F4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6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Flows</a:t>
            </a:r>
          </a:p>
          <a:p>
            <a:r>
              <a:rPr lang="en-US" dirty="0" smtClean="0"/>
              <a:t>	Communication/Information</a:t>
            </a:r>
          </a:p>
          <a:p>
            <a:r>
              <a:rPr lang="en-US" dirty="0" smtClean="0"/>
              <a:t>	energy</a:t>
            </a:r>
          </a:p>
          <a:p>
            <a:r>
              <a:rPr lang="en-US" dirty="0" smtClean="0"/>
              <a:t>	resources, exchanges, goods &amp; services, trade</a:t>
            </a:r>
          </a:p>
          <a:p>
            <a:r>
              <a:rPr lang="en-US" dirty="0" smtClean="0"/>
              <a:t>	evaluations, like and dislike</a:t>
            </a:r>
          </a:p>
          <a:p>
            <a:r>
              <a:rPr lang="en-US" dirty="0" smtClean="0"/>
              <a:t>	influence</a:t>
            </a:r>
          </a:p>
          <a:p>
            <a:r>
              <a:rPr lang="en-US" dirty="0" smtClean="0"/>
              <a:t>	people</a:t>
            </a:r>
          </a:p>
          <a:p>
            <a:r>
              <a:rPr lang="en-US" dirty="0" smtClean="0"/>
              <a:t>	authority</a:t>
            </a:r>
          </a:p>
          <a:p>
            <a:r>
              <a:rPr lang="en-US" dirty="0" smtClean="0"/>
              <a:t>	kinship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E9067-F3B2-9845-895C-76CFA028F47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Models</a:t>
            </a:r>
          </a:p>
          <a:p>
            <a:r>
              <a:rPr lang="en-US" dirty="0" smtClean="0"/>
              <a:t>	Path Model</a:t>
            </a:r>
          </a:p>
          <a:p>
            <a:r>
              <a:rPr lang="en-US" dirty="0" smtClean="0"/>
              <a:t>	Evolutionary</a:t>
            </a:r>
            <a:r>
              <a:rPr lang="en-US" baseline="0" dirty="0" smtClean="0"/>
              <a:t> Model </a:t>
            </a:r>
          </a:p>
          <a:p>
            <a:r>
              <a:rPr lang="en-US" baseline="0" dirty="0" smtClean="0"/>
              <a:t>	Generative Model:  simple rules governing processes which generate observed patterns (emerge);  grow network</a:t>
            </a:r>
          </a:p>
          <a:p>
            <a:r>
              <a:rPr lang="en-US" baseline="0" dirty="0" smtClean="0"/>
              <a:t>	Demographic models  (states and flows)</a:t>
            </a:r>
          </a:p>
          <a:p>
            <a:endParaRPr lang="en-US" baseline="0" dirty="0" smtClean="0"/>
          </a:p>
          <a:p>
            <a:r>
              <a:rPr lang="en-US" baseline="0" dirty="0" smtClean="0"/>
              <a:t>Distributions</a:t>
            </a:r>
          </a:p>
          <a:p>
            <a:r>
              <a:rPr lang="en-US" baseline="0" dirty="0" smtClean="0"/>
              <a:t>	e.g. normal, </a:t>
            </a:r>
            <a:r>
              <a:rPr lang="en-US" baseline="0" dirty="0" err="1" smtClean="0"/>
              <a:t>gassian</a:t>
            </a:r>
            <a:r>
              <a:rPr lang="en-US" baseline="0" dirty="0" smtClean="0"/>
              <a:t>, gen process random variation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E9067-F3B2-9845-895C-76CFA028F4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84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E9067-F3B2-9845-895C-76CFA028F47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1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4A4A31-2942-EE4D-9C36-3B433DBF77FF}" type="datetimeFigureOut">
              <a:rPr lang="en-US" smtClean="0"/>
              <a:pPr/>
              <a:t>1/14/13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icensa.nd.edu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nsna.org/" TargetMode="External"/><Relationship Id="rId3" Type="http://schemas.openxmlformats.org/officeDocument/2006/relationships/hyperlink" Target="http://netsci2011.net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Network Seminar</a:t>
            </a:r>
            <a:endParaRPr lang="en-US" dirty="0"/>
          </a:p>
        </p:txBody>
      </p:sp>
      <p:sp>
        <p:nvSpPr>
          <p:cNvPr id="6" name="Vertical Tex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Introductions:  Us &amp; You</a:t>
            </a:r>
          </a:p>
          <a:p>
            <a:r>
              <a:rPr lang="en-US" dirty="0" smtClean="0"/>
              <a:t>The Seminar</a:t>
            </a:r>
          </a:p>
          <a:p>
            <a:pPr lvl="1"/>
            <a:r>
              <a:rPr lang="en-US" dirty="0" smtClean="0"/>
              <a:t>Objectives</a:t>
            </a:r>
          </a:p>
          <a:p>
            <a:pPr lvl="1"/>
            <a:r>
              <a:rPr lang="en-US" dirty="0" smtClean="0"/>
              <a:t>Topics &amp; Readings</a:t>
            </a:r>
          </a:p>
          <a:p>
            <a:pPr lvl="1"/>
            <a:r>
              <a:rPr lang="en-US" dirty="0" smtClean="0"/>
              <a:t>Requirements</a:t>
            </a:r>
          </a:p>
          <a:p>
            <a:pPr lvl="1"/>
            <a:r>
              <a:rPr lang="en-US" dirty="0" smtClean="0"/>
              <a:t>Using </a:t>
            </a:r>
            <a:r>
              <a:rPr lang="en-US" dirty="0" err="1" smtClean="0"/>
              <a:t>RefWorks</a:t>
            </a:r>
            <a:endParaRPr lang="en-US" dirty="0" smtClean="0"/>
          </a:p>
          <a:p>
            <a:r>
              <a:rPr lang="en-US" dirty="0" smtClean="0"/>
              <a:t>My Interests in Networks</a:t>
            </a:r>
          </a:p>
          <a:p>
            <a:pPr lvl="1"/>
            <a:r>
              <a:rPr lang="en-US" dirty="0" smtClean="0"/>
              <a:t>Job mobility, vacancy chains, event history analysis</a:t>
            </a:r>
          </a:p>
          <a:p>
            <a:pPr lvl="1"/>
            <a:r>
              <a:rPr lang="en-US" dirty="0" err="1" smtClean="0"/>
              <a:t>Granovetter</a:t>
            </a:r>
            <a:r>
              <a:rPr lang="en-US" dirty="0" smtClean="0"/>
              <a:t> &amp; Burt:  Finding jobs</a:t>
            </a:r>
          </a:p>
          <a:p>
            <a:pPr lvl="1"/>
            <a:r>
              <a:rPr lang="en-US" dirty="0" smtClean="0"/>
              <a:t>Web Group:  </a:t>
            </a:r>
            <a:r>
              <a:rPr lang="en-US" dirty="0" err="1" smtClean="0"/>
              <a:t>Barabasi</a:t>
            </a:r>
            <a:r>
              <a:rPr lang="en-US" dirty="0" smtClean="0"/>
              <a:t> and others, </a:t>
            </a:r>
          </a:p>
          <a:p>
            <a:pPr lvl="1"/>
            <a:r>
              <a:rPr lang="en-US" dirty="0" smtClean="0">
                <a:hlinkClick r:id="rId2"/>
              </a:rPr>
              <a:t>iCeNSA</a:t>
            </a:r>
            <a:endParaRPr lang="en-US" dirty="0" smtClean="0"/>
          </a:p>
          <a:p>
            <a:pPr lvl="1"/>
            <a:r>
              <a:rPr lang="en-US" dirty="0" smtClean="0"/>
              <a:t>Research Projects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Seeing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95400"/>
            <a:ext cx="8229600" cy="493776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Networks as connectors</a:t>
            </a:r>
          </a:p>
          <a:p>
            <a:r>
              <a:rPr lang="en-US" dirty="0" smtClean="0"/>
              <a:t>Other connectors:  social relationships, groups, organizations</a:t>
            </a:r>
          </a:p>
          <a:p>
            <a:r>
              <a:rPr lang="en-US" dirty="0" smtClean="0"/>
              <a:t>Connect the Dots Metaphor</a:t>
            </a:r>
          </a:p>
          <a:p>
            <a:pPr lvl="1"/>
            <a:r>
              <a:rPr lang="en-US" dirty="0" smtClean="0"/>
              <a:t>Dots:  Nodes</a:t>
            </a:r>
          </a:p>
          <a:p>
            <a:pPr lvl="2"/>
            <a:r>
              <a:rPr lang="en-US" dirty="0" smtClean="0"/>
              <a:t>People, organizations, places, ideas</a:t>
            </a:r>
          </a:p>
          <a:p>
            <a:pPr lvl="1"/>
            <a:r>
              <a:rPr lang="en-US" dirty="0" smtClean="0"/>
              <a:t>Lines:  Ties (edges)</a:t>
            </a:r>
          </a:p>
          <a:p>
            <a:pPr lvl="2"/>
            <a:r>
              <a:rPr lang="en-US" dirty="0" smtClean="0"/>
              <a:t>Interaction, friendship, exchange, authority, lineage</a:t>
            </a:r>
          </a:p>
          <a:p>
            <a:pPr lvl="1"/>
            <a:r>
              <a:rPr lang="en-US" dirty="0" smtClean="0"/>
              <a:t>Flows </a:t>
            </a:r>
          </a:p>
          <a:p>
            <a:pPr lvl="2"/>
            <a:r>
              <a:rPr lang="en-US" dirty="0" smtClean="0"/>
              <a:t>Information</a:t>
            </a:r>
          </a:p>
          <a:p>
            <a:pPr lvl="2"/>
            <a:r>
              <a:rPr lang="en-US" dirty="0" smtClean="0"/>
              <a:t>resources</a:t>
            </a:r>
          </a:p>
          <a:p>
            <a:pPr lvl="2"/>
            <a:r>
              <a:rPr lang="en-US" dirty="0" smtClean="0"/>
              <a:t>evaluations  (like, dislike)</a:t>
            </a:r>
          </a:p>
          <a:p>
            <a:pPr lvl="2"/>
            <a:r>
              <a:rPr lang="en-US" dirty="0" smtClean="0"/>
              <a:t>people  </a:t>
            </a:r>
          </a:p>
        </p:txBody>
      </p:sp>
    </p:spTree>
    <p:extLst>
      <p:ext uri="{BB962C8B-B14F-4D97-AF65-F5344CB8AC3E}">
        <p14:creationId xmlns:p14="http://schemas.microsoft.com/office/powerpoint/2010/main" val="1078719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Study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Determinants of human behavior</a:t>
            </a:r>
          </a:p>
          <a:p>
            <a:pPr lvl="1"/>
            <a:r>
              <a:rPr lang="en-US" dirty="0" smtClean="0"/>
              <a:t>Standard theories:  Categories (taxonomies) </a:t>
            </a:r>
          </a:p>
          <a:p>
            <a:pPr lvl="1"/>
            <a:r>
              <a:rPr lang="en-US" dirty="0" smtClean="0"/>
              <a:t>Network Theory:  network effects, social influence</a:t>
            </a:r>
          </a:p>
          <a:p>
            <a:r>
              <a:rPr lang="en-US" dirty="0" smtClean="0"/>
              <a:t>Non-independence</a:t>
            </a:r>
          </a:p>
          <a:p>
            <a:r>
              <a:rPr lang="en-US" dirty="0" smtClean="0"/>
              <a:t>Intermediation &amp; indirect ties</a:t>
            </a:r>
          </a:p>
        </p:txBody>
      </p:sp>
    </p:spTree>
    <p:extLst>
      <p:ext uri="{BB962C8B-B14F-4D97-AF65-F5344CB8AC3E}">
        <p14:creationId xmlns:p14="http://schemas.microsoft.com/office/powerpoint/2010/main" val="39547690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What Do Networks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 smtClean="0"/>
              <a:t>Diffusion</a:t>
            </a:r>
          </a:p>
          <a:p>
            <a:pPr lvl="0"/>
            <a:r>
              <a:rPr lang="en-US" dirty="0" smtClean="0"/>
              <a:t>Exchange</a:t>
            </a:r>
          </a:p>
          <a:p>
            <a:pPr lvl="0"/>
            <a:r>
              <a:rPr lang="en-US" dirty="0" smtClean="0"/>
              <a:t>Support</a:t>
            </a:r>
          </a:p>
          <a:p>
            <a:pPr lvl="0"/>
            <a:r>
              <a:rPr lang="en-US" dirty="0" smtClean="0"/>
              <a:t>Inclusion/Exclusion (Access)</a:t>
            </a:r>
          </a:p>
        </p:txBody>
      </p:sp>
    </p:spTree>
    <p:extLst>
      <p:ext uri="{BB962C8B-B14F-4D97-AF65-F5344CB8AC3E}">
        <p14:creationId xmlns:p14="http://schemas.microsoft.com/office/powerpoint/2010/main" val="331524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Network Field:  Four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 smtClean="0"/>
              <a:t>Mathematics – Graph Theory</a:t>
            </a:r>
          </a:p>
          <a:p>
            <a:pPr lvl="0"/>
            <a:r>
              <a:rPr lang="en-US" dirty="0" smtClean="0"/>
              <a:t>Anthropology (kinship networks)</a:t>
            </a:r>
          </a:p>
          <a:p>
            <a:pPr lvl="0"/>
            <a:r>
              <a:rPr lang="en-US" dirty="0" smtClean="0"/>
              <a:t>Social Networks (</a:t>
            </a:r>
            <a:r>
              <a:rPr lang="en-US" dirty="0" smtClean="0">
                <a:hlinkClick r:id="rId2"/>
              </a:rPr>
              <a:t>INSNA</a:t>
            </a:r>
            <a:r>
              <a:rPr lang="en-US" dirty="0" smtClean="0"/>
              <a:t>)</a:t>
            </a:r>
          </a:p>
          <a:p>
            <a:pPr lvl="0"/>
            <a:r>
              <a:rPr lang="en-US" dirty="0" smtClean="0"/>
              <a:t>Network Science (</a:t>
            </a:r>
            <a:r>
              <a:rPr lang="en-US" dirty="0" smtClean="0">
                <a:hlinkClick r:id="rId3"/>
              </a:rPr>
              <a:t>NetSci</a:t>
            </a:r>
            <a:r>
              <a:rPr lang="en-US" dirty="0" smtClean="0"/>
              <a:t>)</a:t>
            </a:r>
          </a:p>
          <a:p>
            <a:r>
              <a:rPr lang="en-US" dirty="0" smtClean="0"/>
              <a:t>Current State of Research</a:t>
            </a:r>
          </a:p>
          <a:p>
            <a:pPr lvl="1"/>
            <a:r>
              <a:rPr lang="en-US" dirty="0" smtClean="0"/>
              <a:t>Exponential Growth</a:t>
            </a:r>
          </a:p>
          <a:p>
            <a:pPr lvl="1"/>
            <a:r>
              <a:rPr lang="en-US" dirty="0" smtClean="0"/>
              <a:t>Interdisciplinary</a:t>
            </a:r>
          </a:p>
          <a:p>
            <a:pPr lvl="1"/>
            <a:r>
              <a:rPr lang="en-US" dirty="0" smtClean="0"/>
              <a:t>Game changing  </a:t>
            </a:r>
          </a:p>
          <a:p>
            <a:pPr lvl="2"/>
            <a:r>
              <a:rPr lang="en-US" dirty="0" smtClean="0"/>
              <a:t>complex, dynamic, distributed systems</a:t>
            </a:r>
          </a:p>
          <a:p>
            <a:pPr lvl="1"/>
            <a:r>
              <a:rPr lang="en-US" dirty="0" smtClean="0"/>
              <a:t>Social Media (</a:t>
            </a:r>
            <a:r>
              <a:rPr lang="en-US" dirty="0" err="1" smtClean="0"/>
              <a:t>Facebook</a:t>
            </a:r>
            <a:r>
              <a:rPr lang="en-US" dirty="0" smtClean="0"/>
              <a:t>, Twitter)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0833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Levels of Analysis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Node (Vertices)</a:t>
            </a:r>
          </a:p>
          <a:p>
            <a:r>
              <a:rPr lang="en-US" dirty="0" smtClean="0"/>
              <a:t>Dyad (Ties, Edges)</a:t>
            </a:r>
          </a:p>
          <a:p>
            <a:r>
              <a:rPr lang="en-US" dirty="0" smtClean="0"/>
              <a:t>Triad</a:t>
            </a:r>
          </a:p>
          <a:p>
            <a:r>
              <a:rPr lang="en-US" dirty="0" smtClean="0"/>
              <a:t>Clusters (communities)</a:t>
            </a:r>
          </a:p>
          <a:p>
            <a:r>
              <a:rPr lang="en-US" dirty="0" smtClean="0"/>
              <a:t>Whole Network</a:t>
            </a:r>
          </a:p>
        </p:txBody>
      </p:sp>
    </p:spTree>
    <p:extLst>
      <p:ext uri="{BB962C8B-B14F-4D97-AF65-F5344CB8AC3E}">
        <p14:creationId xmlns:p14="http://schemas.microsoft.com/office/powerpoint/2010/main" val="13117146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Node (Vertices)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Degree (network size, neighbors, popularity, in &amp; out degree)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lang="en-US" dirty="0" smtClean="0"/>
              <a:t>Centrality</a:t>
            </a:r>
          </a:p>
          <a:p>
            <a:pPr lvl="0"/>
            <a:r>
              <a:rPr lang="en-US" dirty="0" smtClean="0"/>
              <a:t>Gregariousness (activity level)</a:t>
            </a:r>
          </a:p>
          <a:p>
            <a:pPr lvl="0"/>
            <a:r>
              <a:rPr lang="en-US" dirty="0" smtClean="0"/>
              <a:t>Composition</a:t>
            </a:r>
          </a:p>
          <a:p>
            <a:pPr lvl="0"/>
            <a:r>
              <a:rPr lang="en-US" dirty="0" smtClean="0"/>
              <a:t>Redundancy, Clustering</a:t>
            </a:r>
          </a:p>
        </p:txBody>
      </p:sp>
    </p:spTree>
    <p:extLst>
      <p:ext uri="{BB962C8B-B14F-4D97-AF65-F5344CB8AC3E}">
        <p14:creationId xmlns:p14="http://schemas.microsoft.com/office/powerpoint/2010/main" val="20799725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Dyad (Ties, Edges)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 smtClean="0"/>
              <a:t>Strength (Weight)</a:t>
            </a:r>
          </a:p>
          <a:p>
            <a:pPr lvl="1"/>
            <a:r>
              <a:rPr lang="en-US" dirty="0" smtClean="0"/>
              <a:t>Frequency, duration, closeness</a:t>
            </a:r>
          </a:p>
          <a:p>
            <a:pPr lvl="0"/>
            <a:r>
              <a:rPr lang="en-US" dirty="0" smtClean="0"/>
              <a:t>Reciprocity  (Mutuality, Symmetry)</a:t>
            </a:r>
          </a:p>
          <a:p>
            <a:pPr lvl="0"/>
            <a:r>
              <a:rPr lang="en-US" dirty="0" smtClean="0"/>
              <a:t>Social Distance, Homophily</a:t>
            </a:r>
          </a:p>
          <a:p>
            <a:pPr lvl="0"/>
            <a:r>
              <a:rPr lang="en-US" dirty="0" smtClean="0"/>
              <a:t>Hierarchy</a:t>
            </a:r>
          </a:p>
          <a:p>
            <a:pPr lvl="0"/>
            <a:r>
              <a:rPr lang="en-US" dirty="0" smtClean="0"/>
              <a:t>Persistence/Decay</a:t>
            </a:r>
          </a:p>
          <a:p>
            <a:pPr lvl="0"/>
            <a:r>
              <a:rPr lang="en-US" dirty="0" smtClean="0"/>
              <a:t>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9772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Triads</a:t>
            </a:r>
            <a:r>
              <a:rPr lang="en-US" baseline="0" dirty="0" smtClean="0"/>
              <a:t> and Clusters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Triads</a:t>
            </a:r>
          </a:p>
          <a:p>
            <a:pPr lvl="1"/>
            <a:r>
              <a:rPr lang="en-US" dirty="0" smtClean="0"/>
              <a:t>Transitivity</a:t>
            </a:r>
          </a:p>
          <a:p>
            <a:pPr lvl="1"/>
            <a:r>
              <a:rPr lang="en-US" dirty="0" smtClean="0"/>
              <a:t>Closure</a:t>
            </a:r>
          </a:p>
          <a:p>
            <a:pPr lvl="1"/>
            <a:r>
              <a:rPr lang="en-US" dirty="0" err="1" smtClean="0"/>
              <a:t>Embeddedness</a:t>
            </a:r>
            <a:endParaRPr lang="en-US" dirty="0" smtClean="0"/>
          </a:p>
          <a:p>
            <a:pPr lvl="1"/>
            <a:r>
              <a:rPr lang="en-US" dirty="0" smtClean="0"/>
              <a:t>Triadic Census</a:t>
            </a:r>
          </a:p>
          <a:p>
            <a:r>
              <a:rPr lang="en-US" dirty="0" smtClean="0"/>
              <a:t>Clusters (Communities)</a:t>
            </a:r>
          </a:p>
          <a:p>
            <a:pPr lvl="1"/>
            <a:r>
              <a:rPr lang="en-US" dirty="0" smtClean="0"/>
              <a:t>Cliques</a:t>
            </a:r>
          </a:p>
          <a:p>
            <a:pPr lvl="1"/>
            <a:r>
              <a:rPr lang="en-US" dirty="0" smtClean="0"/>
              <a:t>Bridges (cross cutting ties)</a:t>
            </a:r>
          </a:p>
        </p:txBody>
      </p:sp>
    </p:spTree>
    <p:extLst>
      <p:ext uri="{BB962C8B-B14F-4D97-AF65-F5344CB8AC3E}">
        <p14:creationId xmlns:p14="http://schemas.microsoft.com/office/powerpoint/2010/main" val="42914216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Whole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 smtClean="0"/>
              <a:t>Size</a:t>
            </a:r>
          </a:p>
          <a:p>
            <a:pPr lvl="0"/>
            <a:r>
              <a:rPr lang="en-US" dirty="0" smtClean="0"/>
              <a:t>Density</a:t>
            </a:r>
          </a:p>
          <a:p>
            <a:pPr lvl="0"/>
            <a:r>
              <a:rPr lang="en-US" dirty="0" smtClean="0"/>
              <a:t>Degree distribution</a:t>
            </a:r>
          </a:p>
          <a:p>
            <a:pPr lvl="0"/>
            <a:r>
              <a:rPr lang="en-US" dirty="0" smtClean="0"/>
              <a:t>Network topologies</a:t>
            </a:r>
          </a:p>
          <a:p>
            <a:pPr lvl="1"/>
            <a:r>
              <a:rPr lang="en-US" dirty="0" smtClean="0"/>
              <a:t>core/periphery</a:t>
            </a:r>
          </a:p>
          <a:p>
            <a:pPr lvl="0"/>
            <a:r>
              <a:rPr lang="en-US" dirty="0" smtClean="0"/>
              <a:t>Clustering</a:t>
            </a:r>
          </a:p>
          <a:p>
            <a:pPr lvl="0"/>
            <a:r>
              <a:rPr lang="en-US" dirty="0" smtClean="0"/>
              <a:t>Connectivity </a:t>
            </a:r>
          </a:p>
          <a:p>
            <a:pPr lvl="1"/>
            <a:r>
              <a:rPr lang="en-US" dirty="0" smtClean="0"/>
              <a:t>giant component</a:t>
            </a:r>
          </a:p>
          <a:p>
            <a:pPr lvl="1"/>
            <a:r>
              <a:rPr lang="en-US" dirty="0" smtClean="0"/>
              <a:t>resilience</a:t>
            </a:r>
          </a:p>
          <a:p>
            <a:pPr lvl="0"/>
            <a:r>
              <a:rPr lang="en-US" dirty="0" smtClean="0"/>
              <a:t>Geodesic distance/size/diameter</a:t>
            </a:r>
          </a:p>
          <a:p>
            <a:pPr lvl="1"/>
            <a:r>
              <a:rPr lang="en-US" dirty="0" smtClean="0"/>
              <a:t>Small World</a:t>
            </a:r>
          </a:p>
          <a:p>
            <a:pPr lvl="0"/>
            <a:r>
              <a:rPr lang="en-US" dirty="0" smtClean="0"/>
              <a:t>Mixing Patterns (assortativity)</a:t>
            </a:r>
          </a:p>
          <a:p>
            <a:pPr lvl="1"/>
            <a:r>
              <a:rPr lang="en-US" dirty="0" smtClean="0"/>
              <a:t>degree assortativity</a:t>
            </a:r>
          </a:p>
          <a:p>
            <a:pPr lvl="0"/>
            <a:r>
              <a:rPr lang="en-US" dirty="0" smtClean="0"/>
              <a:t>Stability</a:t>
            </a:r>
          </a:p>
        </p:txBody>
      </p:sp>
    </p:spTree>
    <p:extLst>
      <p:ext uri="{BB962C8B-B14F-4D97-AF65-F5344CB8AC3E}">
        <p14:creationId xmlns:p14="http://schemas.microsoft.com/office/powerpoint/2010/main" val="27131451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Research Issues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Strength of weak ties</a:t>
            </a:r>
          </a:p>
          <a:p>
            <a:pPr lvl="1"/>
            <a:r>
              <a:rPr lang="en-US" dirty="0" smtClean="0"/>
              <a:t>Structural Holes</a:t>
            </a:r>
          </a:p>
          <a:p>
            <a:pPr lvl="1"/>
            <a:r>
              <a:rPr lang="en-US" dirty="0" smtClean="0"/>
              <a:t>Cross-cutting ties</a:t>
            </a:r>
          </a:p>
          <a:p>
            <a:pPr lvl="1"/>
            <a:r>
              <a:rPr lang="en-US" dirty="0" smtClean="0"/>
              <a:t>Bridging and bonding social capital</a:t>
            </a:r>
          </a:p>
          <a:p>
            <a:r>
              <a:rPr lang="en-US" dirty="0" smtClean="0"/>
              <a:t>Intermediation &amp; Brokerage</a:t>
            </a:r>
          </a:p>
          <a:p>
            <a:r>
              <a:rPr lang="en-US" dirty="0" smtClean="0"/>
              <a:t>Scale-free networks</a:t>
            </a:r>
          </a:p>
          <a:p>
            <a:pPr lvl="1"/>
            <a:r>
              <a:rPr lang="en-US" dirty="0" smtClean="0"/>
              <a:t>not normally distributed but power laws</a:t>
            </a:r>
          </a:p>
          <a:p>
            <a:pPr lvl="1"/>
            <a:r>
              <a:rPr lang="en-US" dirty="0" smtClean="0"/>
              <a:t>Hubs and star configuration</a:t>
            </a:r>
          </a:p>
          <a:p>
            <a:r>
              <a:rPr lang="en-US" dirty="0" smtClean="0"/>
              <a:t>Core/Periphery </a:t>
            </a:r>
            <a:r>
              <a:rPr lang="en-US" dirty="0" smtClean="0"/>
              <a:t>structures</a:t>
            </a:r>
          </a:p>
          <a:p>
            <a:pPr lvl="1"/>
            <a:r>
              <a:rPr lang="en-US" dirty="0" smtClean="0"/>
              <a:t>motifs</a:t>
            </a:r>
            <a:endParaRPr lang="en-US" dirty="0" smtClean="0"/>
          </a:p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lang="en-US" dirty="0" smtClean="0"/>
              <a:t>Weights </a:t>
            </a:r>
            <a:r>
              <a:rPr lang="en-US" dirty="0" smtClean="0"/>
              <a:t>and </a:t>
            </a:r>
            <a:r>
              <a:rPr lang="en-US" dirty="0" smtClean="0"/>
              <a:t>Reciprocity</a:t>
            </a:r>
          </a:p>
        </p:txBody>
      </p:sp>
    </p:spTree>
    <p:extLst>
      <p:ext uri="{BB962C8B-B14F-4D97-AF65-F5344CB8AC3E}">
        <p14:creationId xmlns:p14="http://schemas.microsoft.com/office/powerpoint/2010/main" val="724206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Issues 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Emergence, self-organization</a:t>
            </a:r>
          </a:p>
          <a:p>
            <a:pPr lvl="1"/>
            <a:r>
              <a:rPr lang="en-US" dirty="0"/>
              <a:t>local </a:t>
            </a:r>
            <a:r>
              <a:rPr lang="en-US" dirty="0">
                <a:sym typeface="Wingdings"/>
              </a:rPr>
              <a:t>  global</a:t>
            </a:r>
          </a:p>
          <a:p>
            <a:pPr lvl="1"/>
            <a:r>
              <a:rPr lang="en-US" dirty="0">
                <a:sym typeface="Wingdings"/>
              </a:rPr>
              <a:t>Agent based models</a:t>
            </a:r>
            <a:endParaRPr lang="en-US" dirty="0"/>
          </a:p>
          <a:p>
            <a:r>
              <a:rPr lang="en-US" dirty="0"/>
              <a:t>Network Evolution</a:t>
            </a:r>
          </a:p>
          <a:p>
            <a:pPr lvl="1"/>
            <a:r>
              <a:rPr lang="en-US" dirty="0"/>
              <a:t>Tie Formation vs. Persistence</a:t>
            </a:r>
          </a:p>
          <a:p>
            <a:pPr lvl="1"/>
            <a:r>
              <a:rPr lang="en-US" dirty="0"/>
              <a:t>Assembling Networks</a:t>
            </a:r>
          </a:p>
          <a:p>
            <a:pPr lvl="1"/>
            <a:r>
              <a:rPr lang="en-US" dirty="0"/>
              <a:t>Generative Models</a:t>
            </a:r>
          </a:p>
          <a:p>
            <a:r>
              <a:rPr lang="en-US" dirty="0"/>
              <a:t>Diffusion, influence, </a:t>
            </a:r>
            <a:r>
              <a:rPr lang="en-US" dirty="0" smtClean="0"/>
              <a:t>contagion</a:t>
            </a:r>
          </a:p>
          <a:p>
            <a:pPr lvl="1"/>
            <a:r>
              <a:rPr lang="en-US" dirty="0" smtClean="0"/>
              <a:t>Network effects</a:t>
            </a:r>
          </a:p>
          <a:p>
            <a:r>
              <a:rPr lang="en-US" dirty="0" smtClean="0"/>
              <a:t>What </a:t>
            </a:r>
            <a:r>
              <a:rPr lang="en-US" dirty="0"/>
              <a:t>is different about social networks?</a:t>
            </a:r>
          </a:p>
          <a:p>
            <a:r>
              <a:rPr lang="en-US" dirty="0"/>
              <a:t>What is a “good” network?  What properties can networks maximize?</a:t>
            </a:r>
          </a:p>
          <a:p>
            <a:r>
              <a:rPr lang="en-US" dirty="0"/>
              <a:t>Connections among networks (social, technical, information, semantic)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7112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ＭＳ 明朝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Origin.thmx</Template>
  <TotalTime>601</TotalTime>
  <Words>433</Words>
  <Application>Microsoft Macintosh PowerPoint</Application>
  <PresentationFormat>On-screen Show (4:3)</PresentationFormat>
  <Paragraphs>137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Origin</vt:lpstr>
      <vt:lpstr>Social Network Seminar</vt:lpstr>
      <vt:lpstr>Seeing Networks</vt:lpstr>
      <vt:lpstr>Why Study Networks</vt:lpstr>
      <vt:lpstr>What Do Networks Do?</vt:lpstr>
      <vt:lpstr>The Network Field:  Four Sources</vt:lpstr>
      <vt:lpstr>Levels of Analysis </vt:lpstr>
      <vt:lpstr>Node (Vertices)</vt:lpstr>
      <vt:lpstr>Dyad (Ties, Edges)</vt:lpstr>
      <vt:lpstr>Triads and Clusters</vt:lpstr>
      <vt:lpstr>Whole Network</vt:lpstr>
      <vt:lpstr>Research Issues</vt:lpstr>
      <vt:lpstr>Research Issues (continued)</vt:lpstr>
    </vt:vector>
  </TitlesOfParts>
  <Company>University of Notre Dame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Network Seminar</dc:title>
  <dc:creator>David Hachen</dc:creator>
  <cp:lastModifiedBy>David Hachen</cp:lastModifiedBy>
  <cp:revision>8</cp:revision>
  <dcterms:created xsi:type="dcterms:W3CDTF">2011-01-18T13:09:29Z</dcterms:created>
  <dcterms:modified xsi:type="dcterms:W3CDTF">2013-01-15T02:52:31Z</dcterms:modified>
</cp:coreProperties>
</file>