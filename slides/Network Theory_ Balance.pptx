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3DA1533-8662-4EFF-A9F8-E26BD312FF98}">
  <a:tblStyle styleId="{33DA1533-8662-4EFF-A9F8-E26BD312FF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44" Type="http://schemas.openxmlformats.org/officeDocument/2006/relationships/font" Target="fonts/Economica-regular.fntdata"/><Relationship Id="rId43" Type="http://schemas.openxmlformats.org/officeDocument/2006/relationships/font" Target="fonts/JosefinSlab-boldItalic.fntdata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59d2eb4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59d2eb4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59d2eb4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59d2eb4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659d2eb4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659d2eb4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59d2eb4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59d2eb4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59d2eb4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59d2eb4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59d2eb4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59d2eb4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59d2eb4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59d2eb4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59d2eb4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59d2eb4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59d2eb4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659d2eb4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59d2eb4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59d2eb4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59d2eb4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659d2eb4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59d2eb4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59d2eb4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59d2eb4d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59d2eb4d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59d2eb4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59d2eb4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59d2eb4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59d2eb4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59d2eb4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59d2eb4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59d2eb4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59d2eb4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59d2eb4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659d2eb4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59d2eb4d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59d2eb4d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59d2eb4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59d2eb4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659d2eb4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659d2eb4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59d2eb4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59d2eb4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59d2eb4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659d2eb4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59d2eb4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59d2eb4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59d2eb4d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659d2eb4d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59d2eb4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659d2eb4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5b45bd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65b45bd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659d2eb4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659d2eb4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65b45bd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65b45bd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5b45bdc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65b45bd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5b45bdc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65b45bd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65b45bdc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65b45bdc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65b45bdc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65b45bdc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gif"/><Relationship Id="rId4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Balance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Triadic configurations exhibit properties not reducible to (but still dependent on) dyadic processes (Simmel 1908)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"Simplest" configuration that exhibit "group" properties (e.g. factionalization, alliance formation, brokerage,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series of social network theories in rely on triadic processes: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Granovetter's "Strength of Weak Ties" (SWT)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Power-Dependence Exchange Theories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Theories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Dyad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 (SH) Theory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between micro-processes and macro-signatures of complex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Micro-process: "friends of friends become friends."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Macro-signature: Number of fully connected triples deviates significantly from that characteristic of random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has implications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dynamics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cohesion within the social structure (e.g. community structure)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information control opportunities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 and the generation of novel ideas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triad census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424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Extraction of every distinct subgraph of order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graph is </a:t>
            </a:r>
            <a:r>
              <a:rPr b="1" lang="en"/>
              <a:t>directed</a:t>
            </a:r>
            <a:r>
              <a:rPr lang="en"/>
              <a:t> the size of these subgraphs ranges from: 0 to 6.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Counting the number of some particular subgraphs (“motifs”) can given us insight into the overall structure of the network</a:t>
            </a:r>
            <a:endParaRPr i="1"/>
          </a:p>
        </p:txBody>
      </p:sp>
      <p:pic>
        <p:nvPicPr>
          <p:cNvPr descr="1-s2.0-S0378873301000351-gr1.jpg"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800" y="1225225"/>
            <a:ext cx="3789503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triad census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424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Extraction of every distinct subgraph of order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graph is </a:t>
            </a:r>
            <a:r>
              <a:rPr b="1" lang="en"/>
              <a:t>directed</a:t>
            </a:r>
            <a:r>
              <a:rPr lang="en"/>
              <a:t> the size of these subgraphs ranges from: 0 to 6.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only 003, 102, and 300 exist, the graph is said to be </a:t>
            </a:r>
            <a:r>
              <a:rPr b="1" lang="en"/>
              <a:t>clusterable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Partitionable</a:t>
            </a:r>
            <a:r>
              <a:rPr lang="en"/>
              <a:t> into disjoint sets of nodes with relations within and no relations between</a:t>
            </a:r>
            <a:endParaRPr/>
          </a:p>
        </p:txBody>
      </p:sp>
      <p:pic>
        <p:nvPicPr>
          <p:cNvPr descr="1-s2.0-S0378873301000351-gr1.jpg"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800" y="1225225"/>
            <a:ext cx="3789503" cy="335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7"/>
          <p:cNvGrpSpPr/>
          <p:nvPr/>
        </p:nvGrpSpPr>
        <p:grpSpPr>
          <a:xfrm>
            <a:off x="4926225" y="1150525"/>
            <a:ext cx="3906075" cy="3412775"/>
            <a:chOff x="4926225" y="1150525"/>
            <a:chExt cx="3906075" cy="3412775"/>
          </a:xfrm>
        </p:grpSpPr>
        <p:sp>
          <p:nvSpPr>
            <p:cNvPr id="91" name="Google Shape;91;p17"/>
            <p:cNvSpPr/>
            <p:nvPr/>
          </p:nvSpPr>
          <p:spPr>
            <a:xfrm>
              <a:off x="5926625" y="1150525"/>
              <a:ext cx="889500" cy="83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7942800" y="1150525"/>
              <a:ext cx="889500" cy="83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4926225" y="2156100"/>
              <a:ext cx="3906000" cy="157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4926225" y="3732000"/>
              <a:ext cx="3016500" cy="83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(directed) relationships defined on those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example: Likes and Dislikes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Considering triads containing directional arcs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key to balance theory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Solid</a:t>
            </a:r>
            <a:r>
              <a:rPr lang="en"/>
              <a:t> lines are positive sentiments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Null</a:t>
            </a:r>
            <a:r>
              <a:rPr lang="en"/>
              <a:t> (dashed) lines are negative sentiments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 (P):</a:t>
            </a:r>
            <a:r>
              <a:rPr lang="en"/>
              <a:t> "The individual whose behavior is being predicted by the theory" (Davis 1963: 445).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Other (O): </a:t>
            </a:r>
            <a:r>
              <a:rPr lang="en"/>
              <a:t>An object (e.g another individual) towards which P is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Q:</a:t>
            </a:r>
            <a:r>
              <a:rPr lang="en"/>
              <a:t> A third object (a value, group or another individual) towards which P and O are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premise of the theory is that people are motivated to seek balance in the triadic configurations in which they are embedded.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Positive</a:t>
            </a:r>
            <a:r>
              <a:rPr lang="en"/>
              <a:t> triads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Negative</a:t>
            </a:r>
            <a:r>
              <a:rPr lang="en"/>
              <a:t> triads are imbalanced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952475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{33DA1533-8662-4EFF-A9F8-E26BD312FF98}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5"/>
          <p:cNvSpPr/>
          <p:nvPr/>
        </p:nvSpPr>
        <p:spPr>
          <a:xfrm>
            <a:off x="1346800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3370125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7472700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7472700" y="25051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6442675" y="19565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6442675" y="2534238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6442675" y="310487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/>
          <p:nvPr/>
        </p:nvSpPr>
        <p:spPr>
          <a:xfrm>
            <a:off x="6442675" y="37756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>
            <a:off x="2267225" y="19565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2267225" y="25342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/>
          <p:nvPr/>
        </p:nvSpPr>
        <p:spPr>
          <a:xfrm>
            <a:off x="2267225" y="31048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2267225" y="37756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1281250" y="25270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33045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4375500" y="18983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4375500" y="24760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4375500" y="30466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/>
          <p:nvPr/>
        </p:nvSpPr>
        <p:spPr>
          <a:xfrm>
            <a:off x="4375500" y="37174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>
            <a:off x="5456825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7472700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7472700" y="37756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3304575" y="25561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5456825" y="25633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1281250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1281250" y="38047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3370125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5391275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53912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reduces “tension” and is experienced as satisfactory (stable equilibrium)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97" name="Google Shape;197;p2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You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Clint Eastwood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Republican Party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175" y="2403350"/>
            <a:ext cx="2203756" cy="237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Americans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Public Education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Taxes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likes Q, P 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/>
          <p:nvPr/>
        </p:nvSpPr>
        <p:spPr>
          <a:xfrm>
            <a:off x="27457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dislikes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/>
          <p:nvPr/>
        </p:nvSpPr>
        <p:spPr>
          <a:xfrm>
            <a:off x="36813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O, and O 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/>
          <p:nvPr/>
        </p:nvSpPr>
        <p:spPr>
          <a:xfrm>
            <a:off x="46311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 and O dislikes Q, P likes Q</a:t>
            </a:r>
            <a:endParaRPr b="1"/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4"/>
          <p:cNvSpPr/>
          <p:nvPr/>
        </p:nvSpPr>
        <p:spPr>
          <a:xfrm>
            <a:off x="55711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Considering relations of multiple others in relation to the same object can lead to more complex mixtures of balance and imbalance: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“cross-pressure” situation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35"/>
          <p:cNvGrpSpPr/>
          <p:nvPr/>
        </p:nvGrpSpPr>
        <p:grpSpPr>
          <a:xfrm>
            <a:off x="2260837" y="2465425"/>
            <a:ext cx="4622334" cy="2286477"/>
            <a:chOff x="2174275" y="2339700"/>
            <a:chExt cx="4795450" cy="2412150"/>
          </a:xfrm>
        </p:grpSpPr>
        <p:grpSp>
          <p:nvGrpSpPr>
            <p:cNvPr id="259" name="Google Shape;259;p35"/>
            <p:cNvGrpSpPr/>
            <p:nvPr/>
          </p:nvGrpSpPr>
          <p:grpSpPr>
            <a:xfrm>
              <a:off x="2174275" y="2465425"/>
              <a:ext cx="4795450" cy="2286425"/>
              <a:chOff x="1788625" y="2465425"/>
              <a:chExt cx="4795450" cy="2286425"/>
            </a:xfrm>
          </p:grpSpPr>
          <p:pic>
            <p:nvPicPr>
              <p:cNvPr id="260" name="Google Shape;260;p35"/>
              <p:cNvPicPr preferRelativeResize="0"/>
              <p:nvPr/>
            </p:nvPicPr>
            <p:blipFill rotWithShape="1">
              <a:blip r:embed="rId3">
                <a:alphaModFix/>
              </a:blip>
              <a:srcRect b="0" l="1786" r="15143" t="0"/>
              <a:stretch/>
            </p:blipFill>
            <p:spPr>
              <a:xfrm>
                <a:off x="1788625" y="2465425"/>
                <a:ext cx="4795450" cy="22864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1" name="Google Shape;261;p35"/>
              <p:cNvCxnSpPr/>
              <p:nvPr/>
            </p:nvCxnSpPr>
            <p:spPr>
              <a:xfrm>
                <a:off x="4127828" y="2800028"/>
                <a:ext cx="11173" cy="114802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35"/>
              <p:cNvCxnSpPr/>
              <p:nvPr/>
            </p:nvCxnSpPr>
            <p:spPr>
              <a:xfrm>
                <a:off x="4271696" y="2810112"/>
                <a:ext cx="0" cy="1168536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63" name="Google Shape;263;p35"/>
            <p:cNvSpPr txBox="1"/>
            <p:nvPr/>
          </p:nvSpPr>
          <p:spPr>
            <a:xfrm>
              <a:off x="4408725" y="2339700"/>
              <a:ext cx="367500" cy="34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700">
                  <a:latin typeface="Impact"/>
                  <a:ea typeface="Impact"/>
                  <a:cs typeface="Impact"/>
                  <a:sym typeface="Impact"/>
                </a:rPr>
                <a:t>Q</a:t>
              </a:r>
              <a:endParaRPr b="1" i="1" sz="1700"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Cartwright and Harary (1956) proved that if all of the triads in a signed value matrix are balanced, then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can be blocked into </a:t>
            </a:r>
            <a:r>
              <a:rPr b="1" lang="en"/>
              <a:t>two mutually exclusive groups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positive weights are within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negative weights are between blocks.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1 at 09.39.13.png" id="270" name="Google Shape;2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"structural balance" formalizes a key intuition between balance processes at the micro-level and macro-level group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Balance seeking </a:t>
            </a:r>
            <a:r>
              <a:rPr lang="en"/>
              <a:t>at the micro-level leads to </a:t>
            </a:r>
            <a:r>
              <a:rPr b="1" lang="en"/>
              <a:t>group polarization</a:t>
            </a:r>
            <a:r>
              <a:rPr lang="en"/>
              <a:t> at the macro-level</a:t>
            </a:r>
            <a:endParaRPr/>
          </a:p>
        </p:txBody>
      </p:sp>
      <p:pic>
        <p:nvPicPr>
          <p:cNvPr descr="Screenshot 2017-09-21 at 09.39.13.png"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283" name="Google Shape;283;p38"/>
          <p:cNvGrpSpPr/>
          <p:nvPr/>
        </p:nvGrpSpPr>
        <p:grpSpPr>
          <a:xfrm>
            <a:off x="352175" y="1147223"/>
            <a:ext cx="8480126" cy="3367100"/>
            <a:chOff x="352175" y="1147223"/>
            <a:chExt cx="8480126" cy="3367100"/>
          </a:xfrm>
        </p:grpSpPr>
        <p:pic>
          <p:nvPicPr>
            <p:cNvPr id="284" name="Google Shape;28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601" y="1147223"/>
              <a:ext cx="3443700" cy="336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38"/>
            <p:cNvGrpSpPr/>
            <p:nvPr/>
          </p:nvGrpSpPr>
          <p:grpSpPr>
            <a:xfrm>
              <a:off x="352175" y="1485176"/>
              <a:ext cx="4556901" cy="2172926"/>
              <a:chOff x="381175" y="1132288"/>
              <a:chExt cx="4556901" cy="2172926"/>
            </a:xfrm>
          </p:grpSpPr>
          <p:sp>
            <p:nvSpPr>
              <p:cNvPr id="286" name="Google Shape;286;p38"/>
              <p:cNvSpPr txBox="1"/>
              <p:nvPr/>
            </p:nvSpPr>
            <p:spPr>
              <a:xfrm>
                <a:off x="381175" y="2941614"/>
                <a:ext cx="1790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P(liberal retweeter)</a:t>
                </a:r>
                <a:endParaRPr/>
              </a:p>
            </p:txBody>
          </p:sp>
          <p:sp>
            <p:nvSpPr>
              <p:cNvPr id="287" name="Google Shape;287;p38"/>
              <p:cNvSpPr txBox="1"/>
              <p:nvPr/>
            </p:nvSpPr>
            <p:spPr>
              <a:xfrm>
                <a:off x="3280276" y="2941614"/>
                <a:ext cx="16578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O(liberal tweeter)</a:t>
                </a:r>
                <a:endParaRPr/>
              </a:p>
            </p:txBody>
          </p:sp>
          <p:sp>
            <p:nvSpPr>
              <p:cNvPr id="288" name="Google Shape;288;p38"/>
              <p:cNvSpPr txBox="1"/>
              <p:nvPr/>
            </p:nvSpPr>
            <p:spPr>
              <a:xfrm>
                <a:off x="1276219" y="1132288"/>
                <a:ext cx="2564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Q(liberal tweet)</a:t>
                </a:r>
                <a:endParaRPr/>
              </a:p>
            </p:txBody>
          </p:sp>
        </p:grpSp>
      </p:grpSp>
      <p:cxnSp>
        <p:nvCxnSpPr>
          <p:cNvPr id="289" name="Google Shape;289;p38"/>
          <p:cNvCxnSpPr>
            <a:stCxn id="286" idx="3"/>
            <a:endCxn id="287" idx="1"/>
          </p:cNvCxnSpPr>
          <p:nvPr/>
        </p:nvCxnSpPr>
        <p:spPr>
          <a:xfrm>
            <a:off x="2142275" y="3476302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8"/>
          <p:cNvCxnSpPr>
            <a:stCxn id="286" idx="0"/>
            <a:endCxn id="288" idx="2"/>
          </p:cNvCxnSpPr>
          <p:nvPr/>
        </p:nvCxnSpPr>
        <p:spPr>
          <a:xfrm flipH="1" rot="10800000">
            <a:off x="1247225" y="1848802"/>
            <a:ext cx="12819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8"/>
          <p:cNvCxnSpPr>
            <a:stCxn id="287" idx="0"/>
            <a:endCxn id="288" idx="2"/>
          </p:cNvCxnSpPr>
          <p:nvPr/>
        </p:nvCxnSpPr>
        <p:spPr>
          <a:xfrm rot="10800000">
            <a:off x="2529176" y="1848802"/>
            <a:ext cx="15510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97" name="Google Shape;297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(1967) examined evidence on a large set of sociograms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 found that triads (b) and (d) are over-represented and triad (c) is </a:t>
            </a:r>
            <a:r>
              <a:rPr lang="en"/>
              <a:t>underrepresented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triad (a) is not </a:t>
            </a:r>
            <a:r>
              <a:rPr lang="en"/>
              <a:t>underrepresented</a:t>
            </a:r>
            <a:r>
              <a:rPr lang="en"/>
              <a:t> </a:t>
            </a:r>
            <a:endParaRPr/>
          </a:p>
        </p:txBody>
      </p:sp>
      <p:pic>
        <p:nvPicPr>
          <p:cNvPr descr="Screenshot 2017-09-21 at 09.39.13.png" id="298" name="Google Shape;2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(1967) referred to such a distribution in which “enemies of enemies could be either friends or enemies” as </a:t>
            </a:r>
            <a:r>
              <a:rPr b="1" lang="en"/>
              <a:t>generalized balance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relaxation of the stronger structural balance condition</a:t>
            </a:r>
            <a:endParaRPr/>
          </a:p>
        </p:txBody>
      </p:sp>
      <p:pic>
        <p:nvPicPr>
          <p:cNvPr descr="Screenshot 2017-09-21 at 09.39.13.png" id="305" name="Google Shape;30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</a:t>
            </a:r>
            <a:r>
              <a:rPr lang="en"/>
              <a:t> balance </a:t>
            </a:r>
            <a:endParaRPr/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Under a generalized balance regime a graph can be </a:t>
            </a:r>
            <a:r>
              <a:rPr lang="en"/>
              <a:t>partitioned</a:t>
            </a:r>
            <a:r>
              <a:rPr lang="en"/>
              <a:t> into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than</a:t>
            </a:r>
            <a:r>
              <a:rPr lang="en"/>
              <a:t> </a:t>
            </a:r>
            <a:r>
              <a:rPr b="1" lang="en"/>
              <a:t>two clusters</a:t>
            </a:r>
            <a:r>
              <a:rPr lang="en"/>
              <a:t> containing positive relations within and negative relations between</a:t>
            </a:r>
            <a:endParaRPr/>
          </a:p>
        </p:txBody>
      </p:sp>
      <p:pic>
        <p:nvPicPr>
          <p:cNvPr descr="Screenshot 2017-09-21 at 09.39.13.png" id="312" name="Google Shape;3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balance </a:t>
            </a:r>
            <a:endParaRPr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311700" y="1225225"/>
            <a:ext cx="8520600" cy="1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Graph satisfying generalized balance may become “stuck” in a “jammed state”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Here every sign change that increases balance for one triad makes it worse for everyone else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42"/>
          <p:cNvGrpSpPr/>
          <p:nvPr/>
        </p:nvGrpSpPr>
        <p:grpSpPr>
          <a:xfrm>
            <a:off x="2860672" y="3055235"/>
            <a:ext cx="3422657" cy="1523983"/>
            <a:chOff x="1930724" y="4237500"/>
            <a:chExt cx="5390859" cy="2271550"/>
          </a:xfrm>
        </p:grpSpPr>
        <p:pic>
          <p:nvPicPr>
            <p:cNvPr id="320" name="Google Shape;32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balance </a:t>
            </a:r>
            <a:endParaRPr/>
          </a:p>
        </p:txBody>
      </p:sp>
      <p:sp>
        <p:nvSpPr>
          <p:cNvPr id="327" name="Google Shape;327;p43"/>
          <p:cNvSpPr txBox="1"/>
          <p:nvPr>
            <p:ph idx="1" type="body"/>
          </p:nvPr>
        </p:nvSpPr>
        <p:spPr>
          <a:xfrm>
            <a:off x="311700" y="1225225"/>
            <a:ext cx="8520600" cy="1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Jammed states: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"...represent situations in which divided loyalties obscure group boundaries" (van de Rijt 2011: 97-98)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Suggest that the pursuit of structural balance at the micro-level does not necessarily result in generalized balance at the macro-level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to satisfy multiple constraints prevents binary polarization</a:t>
            </a:r>
            <a:endParaRPr/>
          </a:p>
        </p:txBody>
      </p:sp>
      <p:grpSp>
        <p:nvGrpSpPr>
          <p:cNvPr id="328" name="Google Shape;328;p43"/>
          <p:cNvGrpSpPr/>
          <p:nvPr/>
        </p:nvGrpSpPr>
        <p:grpSpPr>
          <a:xfrm>
            <a:off x="2860672" y="3055235"/>
            <a:ext cx="3422657" cy="1523983"/>
            <a:chOff x="1930724" y="4237500"/>
            <a:chExt cx="5390859" cy="2271550"/>
          </a:xfrm>
        </p:grpSpPr>
        <p:pic>
          <p:nvPicPr>
            <p:cNvPr id="329" name="Google Shape;32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36" name="Google Shape;336;p44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37" name="Google Shape;33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45" name="Google Shape;345;p45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46" name="Google Shape;34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9" name="Google Shape;349;p45"/>
          <p:cNvCxnSpPr/>
          <p:nvPr/>
        </p:nvCxnSpPr>
        <p:spPr>
          <a:xfrm>
            <a:off x="6198325" y="1769150"/>
            <a:ext cx="1004400" cy="6783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5"/>
          <p:cNvCxnSpPr/>
          <p:nvPr/>
        </p:nvCxnSpPr>
        <p:spPr>
          <a:xfrm flipH="1" rot="10800000">
            <a:off x="6225175" y="3561025"/>
            <a:ext cx="993600" cy="657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56" name="Google Shape;356;p46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57" name="Google Shape;357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0" name="Google Shape;360;p46"/>
          <p:cNvCxnSpPr/>
          <p:nvPr/>
        </p:nvCxnSpPr>
        <p:spPr>
          <a:xfrm>
            <a:off x="6198325" y="1769150"/>
            <a:ext cx="1004400" cy="6783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6"/>
          <p:cNvCxnSpPr/>
          <p:nvPr/>
        </p:nvCxnSpPr>
        <p:spPr>
          <a:xfrm flipH="1" rot="10800000">
            <a:off x="6225175" y="3561025"/>
            <a:ext cx="993600" cy="657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62" name="Google Shape;362;p46"/>
          <p:cNvSpPr/>
          <p:nvPr/>
        </p:nvSpPr>
        <p:spPr>
          <a:xfrm>
            <a:off x="6442250" y="1374275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6"/>
          <p:cNvSpPr/>
          <p:nvPr/>
        </p:nvSpPr>
        <p:spPr>
          <a:xfrm>
            <a:off x="6442250" y="3145050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