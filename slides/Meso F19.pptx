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</p:sldIdLst>
  <p:sldSz cy="5143500" cx="9144000"/>
  <p:notesSz cx="6858000" cy="9144000"/>
  <p:embeddedFontLst>
    <p:embeddedFont>
      <p:font typeface="Economica"/>
      <p:regular r:id="rId77"/>
      <p:bold r:id="rId78"/>
      <p:italic r:id="rId79"/>
      <p:boldItalic r:id="rId80"/>
    </p:embeddedFont>
    <p:embeddedFont>
      <p:font typeface="Open Sans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font" Target="fonts/OpenSans-boldItalic.fntdata"/><Relationship Id="rId83" Type="http://schemas.openxmlformats.org/officeDocument/2006/relationships/font" Target="fonts/OpenSans-italic.fntdata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font" Target="fonts/Economica-boldItalic.fntdata"/><Relationship Id="rId82" Type="http://schemas.openxmlformats.org/officeDocument/2006/relationships/font" Target="fonts/OpenSans-bold.fntdata"/><Relationship Id="rId81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font" Target="fonts/Economica-regular.fntdata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font" Target="fonts/Economica-italic.fntdata"/><Relationship Id="rId34" Type="http://schemas.openxmlformats.org/officeDocument/2006/relationships/slide" Target="slides/slide30.xml"/><Relationship Id="rId78" Type="http://schemas.openxmlformats.org/officeDocument/2006/relationships/font" Target="fonts/Economica-bold.fntdata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7830b9e3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7830b9e3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7830b9e3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47830b9e3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7830b9e3_0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7830b9e3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7830b9e3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7830b9e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fb6b679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fb6b679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fb6b679e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fb6b679e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fb6b679e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fb6b679e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fb6b679e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4fb6b679e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fb6b679ee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fb6b679e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4fb6b679e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4fb6b679e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fb6b679ee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fb6b679ee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fb6b679e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4fb6b679e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fb6b679ee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4fb6b679ee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4fb6b679ee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4fb6b679ee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4fb6b679ee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4fb6b679ee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4fb6b679ee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4fb6b679ee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4fb6b679e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4fb6b679e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4fb6b679ee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4fb6b679ee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1d9758726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1d97587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4fb6b679ee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4fb6b679ee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4fb6b679ee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4fb6b679ee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fb6b679ee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fb6b679ee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4fb6b679ee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4fb6b679ee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4fb6b679ee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4fb6b679ee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4fb6b679ee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4fb6b679ee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4fb6b679ee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4fb6b679ee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4fb6b679ee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4fb6b679ee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4fb6b679ee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4fb6b679ee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4fb6b679ee_0_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4fb6b679ee_0_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4fb6b679ee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4fb6b679ee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4fb6b679ee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4fb6b679ee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4fb6b679ee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4fb6b679ee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4fb6b679ee_0_1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4fb6b679ee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4fb6b679ee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4fb6b679ee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4fb6b679ee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4fb6b679ee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4fb6b679ee_0_1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4fb6b679ee_0_1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4fb6b679ee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4fb6b679ee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4fb6b679ee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4fb6b679ee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4fb6b679ee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4fb6b679ee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4fb6b679ee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4fb6b679ee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4fb6b679ee_0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4fb6b679ee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4fb6b679ee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4fb6b679ee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4fb6b679ee_0_1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4fb6b679ee_0_1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4fb6b679ee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4fb6b679ee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4fb6b679ee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4fb6b679ee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4fb6b679ee_0_1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4fb6b679ee_0_1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4fb6b679ee_0_1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" name="Google Shape;1900;g4fb6b679ee_0_1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4fb6b679ee_0_1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4fb6b679ee_0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4fb6b679ee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4fb6b679ee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4fb6b679ee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4fb6b679ee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4fb6b679ee_0_2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4fb6b679ee_0_2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4fb6b679ee_0_2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4fb6b679ee_0_2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4fb6b679ee_0_2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4fb6b679ee_0_2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6fb4dafb2c_0_1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1" name="Google Shape;2201;g6fb4dafb2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6fb4dafb2c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6fb4dafb2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1d9776711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31d977671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6fb4dafb2c_0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6fb4dafb2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g4fb6b679ee_0_21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0" name="Google Shape;2230;g4fb6b679ee_0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47830b9e3_0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47830b9e3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31d9776711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31d977671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6fb4dafb2c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6fb4dafb2c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6fb4dafb2c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6fb4dafb2c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6fb4dafb2c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6fb4dafb2c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6fb4dafb2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6fb4dafb2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6fb4dafb2c_0_3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6fb4dafb2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47830b9e3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47830b9e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6fb4dafb2c_0_3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6fb4dafb2c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6fb4dafb2c_0_3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6fb4dafb2c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6fb4dafb2c_0_3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9" name="Google Shape;2309;g6fb4dafb2c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6fb4dafb2c_0_3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6fb4dafb2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g47830b9e3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3" name="Google Shape;2323;g47830b9e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3.jp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gif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3.jpg"/><Relationship Id="rId4" Type="http://schemas.openxmlformats.org/officeDocument/2006/relationships/image" Target="../media/image2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2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8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9.png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Groups  Communities  Clusters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716625" y="28215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Meso Level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(Scales)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392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Vertex, dyad, triad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Local</a:t>
            </a:r>
            <a:r>
              <a:rPr lang="en"/>
              <a:t>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Macro: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Whole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Emergent, </a:t>
            </a:r>
            <a:r>
              <a:rPr b="1" lang="en"/>
              <a:t>global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Groups, communities, organizations, subgraphs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between local and global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625" y="1225225"/>
            <a:ext cx="4592675" cy="35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Meso Level Structures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279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Group, community, cluster, cliques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Core-periphery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Overlapping circles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Hierarchy (trees)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Lattices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333" y="1668483"/>
            <a:ext cx="1306750" cy="13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1475" y="1225225"/>
            <a:ext cx="1549650" cy="15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8450" y="3346325"/>
            <a:ext cx="2420150" cy="14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5087" y="3016712"/>
            <a:ext cx="3307925" cy="15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9875" y="254149"/>
            <a:ext cx="1597300" cy="12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4294" y="1730375"/>
            <a:ext cx="2128450" cy="13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15194" y="97544"/>
            <a:ext cx="1549650" cy="152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Communities / Clusters / Groups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57200" y="1200150"/>
            <a:ext cx="3539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Like islands with bridges between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Few edges between clusters, many edges within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Dense areas and sparse areas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625" y="1225225"/>
            <a:ext cx="4592675" cy="35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/>
              <a:t>How can we identify communities within a network?</a:t>
            </a:r>
            <a:endParaRPr sz="4000"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25225"/>
            <a:ext cx="3170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Vertex trait:  Within cluster trait homophily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Trait homogeneity within cluster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Few edges between clusters, many edges within clusters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625" y="1225225"/>
            <a:ext cx="4592675" cy="35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 or “communities”? 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225225"/>
            <a:ext cx="527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“Group,” is a fuzzy social science concept, with many overlapping but sometimes contradictory verbal definitions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always graph theory to the rescue!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theoretic concept of group/community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relatively dense subgraph featuring more links among the subset of vertices that belong to the subgraph than links to vertices in the rest of the graph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250" y="1190325"/>
            <a:ext cx="2852041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  <p:sp>
        <p:nvSpPr>
          <p:cNvPr id="111" name="Google Shape;111;p1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9"/>
          <p:cNvCxnSpPr>
            <a:stCxn id="111" idx="3"/>
            <a:endCxn id="11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9"/>
          <p:cNvCxnSpPr>
            <a:stCxn id="114" idx="1"/>
            <a:endCxn id="11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9"/>
          <p:cNvCxnSpPr>
            <a:stCxn id="111" idx="4"/>
            <a:endCxn id="11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9"/>
          <p:cNvCxnSpPr>
            <a:stCxn id="111" idx="5"/>
            <a:endCxn id="11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>
            <a:stCxn id="113" idx="2"/>
            <a:endCxn id="11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9"/>
          <p:cNvCxnSpPr>
            <a:stCxn id="120" idx="3"/>
            <a:endCxn id="12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9"/>
          <p:cNvCxnSpPr>
            <a:stCxn id="123" idx="0"/>
            <a:endCxn id="12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9"/>
          <p:cNvCxnSpPr>
            <a:stCxn id="120" idx="5"/>
            <a:endCxn id="12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>
            <a:stCxn id="122" idx="2"/>
            <a:endCxn id="12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9"/>
          <p:cNvCxnSpPr>
            <a:stCxn id="128" idx="0"/>
            <a:endCxn id="12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9"/>
          <p:cNvCxnSpPr>
            <a:stCxn id="122" idx="3"/>
            <a:endCxn id="12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9"/>
          <p:cNvCxnSpPr>
            <a:stCxn id="122" idx="3"/>
            <a:endCxn id="12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>
            <a:stCxn id="120" idx="4"/>
            <a:endCxn id="12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9"/>
          <p:cNvCxnSpPr>
            <a:stCxn id="113" idx="7"/>
            <a:endCxn id="12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9"/>
          <p:cNvCxnSpPr>
            <a:stCxn id="114" idx="7"/>
            <a:endCxn id="113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9"/>
          <p:cNvCxnSpPr>
            <a:stCxn id="123" idx="6"/>
            <a:endCxn id="128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9"/>
          <p:cNvCxnSpPr>
            <a:stCxn id="120" idx="4"/>
            <a:endCxn id="123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9"/>
          <p:cNvCxnSpPr>
            <a:stCxn id="137" idx="3"/>
            <a:endCxn id="13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19"/>
          <p:cNvCxnSpPr>
            <a:stCxn id="140" idx="2"/>
            <a:endCxn id="13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>
            <a:stCxn id="140" idx="0"/>
            <a:endCxn id="13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9"/>
          <p:cNvCxnSpPr>
            <a:endCxn id="138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4156075" y="36488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subgraph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0" name="Google Shape;150;p20"/>
          <p:cNvCxnSpPr>
            <a:stCxn id="149" idx="0"/>
          </p:cNvCxnSpPr>
          <p:nvPr/>
        </p:nvCxnSpPr>
        <p:spPr>
          <a:xfrm flipH="1" rot="10800000">
            <a:off x="5106325" y="3040775"/>
            <a:ext cx="535200" cy="60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20"/>
          <p:cNvCxnSpPr>
            <a:stCxn id="151" idx="3"/>
            <a:endCxn id="15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0"/>
          <p:cNvCxnSpPr>
            <a:stCxn id="154" idx="1"/>
            <a:endCxn id="15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0"/>
          <p:cNvCxnSpPr>
            <a:stCxn id="151" idx="4"/>
            <a:endCxn id="15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0"/>
          <p:cNvCxnSpPr>
            <a:stCxn id="151" idx="5"/>
            <a:endCxn id="15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0"/>
          <p:cNvCxnSpPr>
            <a:stCxn id="153" idx="2"/>
            <a:endCxn id="15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0"/>
          <p:cNvCxnSpPr>
            <a:stCxn id="160" idx="3"/>
            <a:endCxn id="16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0"/>
          <p:cNvCxnSpPr>
            <a:stCxn id="163" idx="0"/>
            <a:endCxn id="16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0"/>
          <p:cNvCxnSpPr>
            <a:stCxn id="160" idx="5"/>
            <a:endCxn id="16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0"/>
          <p:cNvCxnSpPr>
            <a:stCxn id="162" idx="2"/>
            <a:endCxn id="16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20"/>
          <p:cNvCxnSpPr>
            <a:stCxn id="168" idx="0"/>
            <a:endCxn id="16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0"/>
          <p:cNvCxnSpPr>
            <a:stCxn id="162" idx="3"/>
            <a:endCxn id="16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>
            <a:stCxn id="162" idx="3"/>
            <a:endCxn id="16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0"/>
          <p:cNvCxnSpPr>
            <a:stCxn id="160" idx="4"/>
            <a:endCxn id="16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>
            <a:stCxn id="153" idx="7"/>
            <a:endCxn id="16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0"/>
          <p:cNvCxnSpPr>
            <a:stCxn id="154" idx="7"/>
            <a:endCxn id="153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0"/>
          <p:cNvCxnSpPr>
            <a:stCxn id="163" idx="6"/>
            <a:endCxn id="168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0"/>
          <p:cNvCxnSpPr>
            <a:stCxn id="160" idx="4"/>
            <a:endCxn id="163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0"/>
          <p:cNvCxnSpPr>
            <a:stCxn id="177" idx="3"/>
            <a:endCxn id="17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20"/>
          <p:cNvCxnSpPr>
            <a:stCxn id="180" idx="2"/>
            <a:endCxn id="17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>
            <a:stCxn id="180" idx="0"/>
            <a:endCxn id="17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0"/>
          <p:cNvCxnSpPr>
            <a:endCxn id="178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p21"/>
          <p:cNvCxnSpPr>
            <a:stCxn id="190" idx="3"/>
            <a:endCxn id="191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1"/>
          <p:cNvCxnSpPr>
            <a:stCxn id="193" idx="1"/>
            <a:endCxn id="191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1"/>
          <p:cNvCxnSpPr>
            <a:stCxn id="190" idx="4"/>
            <a:endCxn id="193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1"/>
          <p:cNvCxnSpPr>
            <a:stCxn id="190" idx="5"/>
            <a:endCxn id="192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1"/>
          <p:cNvCxnSpPr>
            <a:stCxn id="192" idx="2"/>
            <a:endCxn id="191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p21"/>
          <p:cNvCxnSpPr>
            <a:stCxn id="199" idx="3"/>
            <a:endCxn id="20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1"/>
          <p:cNvCxnSpPr>
            <a:stCxn id="202" idx="0"/>
            <a:endCxn id="20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1"/>
          <p:cNvCxnSpPr>
            <a:stCxn id="199" idx="5"/>
            <a:endCxn id="20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>
            <a:stCxn id="201" idx="2"/>
            <a:endCxn id="20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21"/>
          <p:cNvCxnSpPr>
            <a:stCxn id="207" idx="0"/>
            <a:endCxn id="20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1"/>
          <p:cNvCxnSpPr>
            <a:stCxn id="201" idx="3"/>
            <a:endCxn id="20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1"/>
          <p:cNvCxnSpPr>
            <a:stCxn id="201" idx="3"/>
            <a:endCxn id="20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>
            <a:stCxn id="199" idx="4"/>
            <a:endCxn id="20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1"/>
          <p:cNvCxnSpPr>
            <a:stCxn id="192" idx="7"/>
            <a:endCxn id="20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1"/>
          <p:cNvCxnSpPr>
            <a:stCxn id="193" idx="7"/>
            <a:endCxn id="192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>
            <a:stCxn id="202" idx="6"/>
            <a:endCxn id="207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1"/>
          <p:cNvCxnSpPr>
            <a:stCxn id="199" idx="4"/>
            <a:endCxn id="202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21"/>
          <p:cNvCxnSpPr>
            <a:stCxn id="216" idx="3"/>
            <a:endCxn id="21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21"/>
          <p:cNvCxnSpPr>
            <a:stCxn id="219" idx="2"/>
            <a:endCxn id="21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1"/>
          <p:cNvCxnSpPr>
            <a:stCxn id="219" idx="0"/>
            <a:endCxn id="21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1"/>
          <p:cNvCxnSpPr>
            <a:endCxn id="217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  <p:sp>
        <p:nvSpPr>
          <p:cNvPr id="224" name="Google Shape;224;p21"/>
          <p:cNvSpPr txBox="1"/>
          <p:nvPr/>
        </p:nvSpPr>
        <p:spPr>
          <a:xfrm>
            <a:off x="5431150" y="41568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subgraph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25" name="Google Shape;225;p21"/>
          <p:cNvCxnSpPr>
            <a:stCxn id="224" idx="0"/>
          </p:cNvCxnSpPr>
          <p:nvPr/>
        </p:nvCxnSpPr>
        <p:spPr>
          <a:xfrm flipH="1" rot="10800000">
            <a:off x="6381400" y="3548700"/>
            <a:ext cx="535200" cy="60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231" name="Google Shape;231;p2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156075" y="36488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33" name="Google Shape;233;p22"/>
          <p:cNvCxnSpPr>
            <a:stCxn id="232" idx="0"/>
          </p:cNvCxnSpPr>
          <p:nvPr/>
        </p:nvCxnSpPr>
        <p:spPr>
          <a:xfrm flipH="1" rot="10800000">
            <a:off x="5106325" y="3040775"/>
            <a:ext cx="535200" cy="60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2"/>
          <p:cNvCxnSpPr>
            <a:stCxn id="234" idx="3"/>
            <a:endCxn id="23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2"/>
          <p:cNvCxnSpPr>
            <a:stCxn id="237" idx="1"/>
            <a:endCxn id="23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2"/>
          <p:cNvCxnSpPr>
            <a:stCxn id="234" idx="4"/>
            <a:endCxn id="23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2"/>
          <p:cNvCxnSpPr>
            <a:stCxn id="234" idx="5"/>
            <a:endCxn id="23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2"/>
          <p:cNvCxnSpPr>
            <a:stCxn id="236" idx="2"/>
            <a:endCxn id="23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22"/>
          <p:cNvCxnSpPr>
            <a:stCxn id="243" idx="3"/>
            <a:endCxn id="24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2"/>
          <p:cNvCxnSpPr>
            <a:stCxn id="246" idx="0"/>
            <a:endCxn id="24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2"/>
          <p:cNvCxnSpPr>
            <a:stCxn id="243" idx="5"/>
            <a:endCxn id="24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2"/>
          <p:cNvCxnSpPr>
            <a:stCxn id="245" idx="2"/>
            <a:endCxn id="24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22"/>
          <p:cNvCxnSpPr>
            <a:stCxn id="251" idx="0"/>
            <a:endCxn id="24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2"/>
          <p:cNvCxnSpPr>
            <a:stCxn id="245" idx="3"/>
            <a:endCxn id="24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2"/>
          <p:cNvCxnSpPr>
            <a:stCxn id="245" idx="3"/>
            <a:endCxn id="25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2"/>
          <p:cNvCxnSpPr>
            <a:stCxn id="243" idx="4"/>
            <a:endCxn id="25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2"/>
          <p:cNvCxnSpPr>
            <a:stCxn id="236" idx="7"/>
            <a:endCxn id="24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2"/>
          <p:cNvCxnSpPr>
            <a:stCxn id="237" idx="7"/>
            <a:endCxn id="23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2"/>
          <p:cNvCxnSpPr>
            <a:stCxn id="246" idx="6"/>
            <a:endCxn id="25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2"/>
          <p:cNvCxnSpPr>
            <a:stCxn id="243" idx="4"/>
            <a:endCxn id="24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2"/>
          <p:cNvCxnSpPr>
            <a:stCxn id="260" idx="3"/>
            <a:endCxn id="26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2"/>
          <p:cNvCxnSpPr>
            <a:stCxn id="263" idx="2"/>
            <a:endCxn id="26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2"/>
          <p:cNvCxnSpPr>
            <a:stCxn id="263" idx="0"/>
            <a:endCxn id="26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2"/>
          <p:cNvCxnSpPr>
            <a:endCxn id="26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272" name="Google Shape;272;p2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it  is </a:t>
            </a:r>
            <a:r>
              <a:rPr b="1" lang="en"/>
              <a:t>disconnected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4915275" y="3648863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disconnected :(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3"/>
          <p:cNvCxnSpPr>
            <a:stCxn id="274" idx="3"/>
            <a:endCxn id="27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3"/>
          <p:cNvCxnSpPr>
            <a:stCxn id="277" idx="1"/>
            <a:endCxn id="27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3"/>
          <p:cNvCxnSpPr>
            <a:stCxn id="274" idx="4"/>
            <a:endCxn id="27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3"/>
          <p:cNvCxnSpPr>
            <a:stCxn id="274" idx="5"/>
            <a:endCxn id="27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3"/>
          <p:cNvCxnSpPr>
            <a:stCxn id="276" idx="2"/>
            <a:endCxn id="27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2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23"/>
          <p:cNvCxnSpPr>
            <a:stCxn id="283" idx="3"/>
            <a:endCxn id="28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3"/>
          <p:cNvCxnSpPr>
            <a:stCxn id="286" idx="0"/>
            <a:endCxn id="28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3"/>
          <p:cNvCxnSpPr>
            <a:stCxn id="283" idx="5"/>
            <a:endCxn id="28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3"/>
          <p:cNvCxnSpPr>
            <a:stCxn id="285" idx="2"/>
            <a:endCxn id="28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Google Shape;292;p23"/>
          <p:cNvCxnSpPr>
            <a:stCxn id="291" idx="0"/>
            <a:endCxn id="28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3"/>
          <p:cNvCxnSpPr>
            <a:stCxn id="285" idx="3"/>
            <a:endCxn id="28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3"/>
          <p:cNvCxnSpPr>
            <a:stCxn id="285" idx="3"/>
            <a:endCxn id="29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3"/>
          <p:cNvCxnSpPr>
            <a:stCxn id="283" idx="4"/>
            <a:endCxn id="29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3"/>
          <p:cNvCxnSpPr>
            <a:stCxn id="276" idx="7"/>
            <a:endCxn id="28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3"/>
          <p:cNvCxnSpPr>
            <a:stCxn id="277" idx="7"/>
            <a:endCxn id="27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3"/>
          <p:cNvCxnSpPr>
            <a:stCxn id="286" idx="6"/>
            <a:endCxn id="29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3"/>
          <p:cNvCxnSpPr>
            <a:stCxn id="283" idx="4"/>
            <a:endCxn id="28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2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2" name="Google Shape;302;p23"/>
          <p:cNvCxnSpPr>
            <a:stCxn id="300" idx="3"/>
            <a:endCxn id="30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2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23"/>
          <p:cNvCxnSpPr>
            <a:stCxn id="303" idx="2"/>
            <a:endCxn id="30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3"/>
          <p:cNvCxnSpPr>
            <a:stCxn id="303" idx="0"/>
            <a:endCxn id="30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3"/>
          <p:cNvCxnSpPr>
            <a:endCxn id="30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5232263" y="402355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maximal subgraph of order 7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13" name="Google Shape;313;p24"/>
          <p:cNvCxnSpPr>
            <a:stCxn id="312" idx="0"/>
          </p:cNvCxnSpPr>
          <p:nvPr/>
        </p:nvCxnSpPr>
        <p:spPr>
          <a:xfrm flipH="1" rot="10800000">
            <a:off x="6182513" y="3415450"/>
            <a:ext cx="535200" cy="60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2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24"/>
          <p:cNvCxnSpPr>
            <a:stCxn id="314" idx="3"/>
            <a:endCxn id="31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4"/>
          <p:cNvCxnSpPr>
            <a:stCxn id="317" idx="1"/>
            <a:endCxn id="31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4"/>
          <p:cNvCxnSpPr>
            <a:stCxn id="314" idx="4"/>
            <a:endCxn id="31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4"/>
          <p:cNvCxnSpPr>
            <a:stCxn id="314" idx="5"/>
            <a:endCxn id="31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4"/>
          <p:cNvCxnSpPr>
            <a:stCxn id="316" idx="2"/>
            <a:endCxn id="31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2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" name="Google Shape;327;p24"/>
          <p:cNvCxnSpPr>
            <a:stCxn id="323" idx="3"/>
            <a:endCxn id="32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4"/>
          <p:cNvCxnSpPr>
            <a:stCxn id="326" idx="0"/>
            <a:endCxn id="32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4"/>
          <p:cNvCxnSpPr>
            <a:stCxn id="323" idx="5"/>
            <a:endCxn id="32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4"/>
          <p:cNvCxnSpPr>
            <a:stCxn id="325" idx="2"/>
            <a:endCxn id="32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24"/>
          <p:cNvCxnSpPr>
            <a:stCxn id="331" idx="0"/>
            <a:endCxn id="32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4"/>
          <p:cNvCxnSpPr>
            <a:stCxn id="325" idx="3"/>
            <a:endCxn id="32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4"/>
          <p:cNvCxnSpPr>
            <a:stCxn id="325" idx="3"/>
            <a:endCxn id="33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4"/>
          <p:cNvCxnSpPr>
            <a:stCxn id="323" idx="4"/>
            <a:endCxn id="33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4"/>
          <p:cNvCxnSpPr>
            <a:stCxn id="316" idx="7"/>
            <a:endCxn id="32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4"/>
          <p:cNvCxnSpPr>
            <a:stCxn id="317" idx="7"/>
            <a:endCxn id="31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4"/>
          <p:cNvCxnSpPr>
            <a:stCxn id="326" idx="6"/>
            <a:endCxn id="33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4"/>
          <p:cNvCxnSpPr>
            <a:stCxn id="323" idx="4"/>
            <a:endCxn id="32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2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24"/>
          <p:cNvCxnSpPr>
            <a:stCxn id="340" idx="3"/>
            <a:endCxn id="34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24"/>
          <p:cNvCxnSpPr>
            <a:stCxn id="343" idx="2"/>
            <a:endCxn id="34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4"/>
          <p:cNvCxnSpPr>
            <a:stCxn id="343" idx="0"/>
            <a:endCxn id="34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4"/>
          <p:cNvCxnSpPr>
            <a:endCxn id="34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24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maximal</a:t>
            </a:r>
            <a:r>
              <a:rPr lang="en"/>
              <a:t> with respect to a given property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(e.g., connectivity)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adding more nodes or links to the subgraph will mean it no longer has that property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353" name="Google Shape;353;p2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5263825" y="3971175"/>
            <a:ext cx="15711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4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55" name="Google Shape;355;p25"/>
          <p:cNvCxnSpPr>
            <a:stCxn id="354" idx="0"/>
          </p:cNvCxnSpPr>
          <p:nvPr/>
        </p:nvCxnSpPr>
        <p:spPr>
          <a:xfrm rot="10800000">
            <a:off x="5960275" y="3388275"/>
            <a:ext cx="89100" cy="58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2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25"/>
          <p:cNvCxnSpPr>
            <a:stCxn id="356" idx="3"/>
            <a:endCxn id="357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5"/>
          <p:cNvCxnSpPr>
            <a:stCxn id="359" idx="1"/>
            <a:endCxn id="357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5"/>
          <p:cNvCxnSpPr>
            <a:stCxn id="356" idx="4"/>
            <a:endCxn id="35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5"/>
          <p:cNvCxnSpPr>
            <a:stCxn id="356" idx="5"/>
            <a:endCxn id="358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25"/>
          <p:cNvCxnSpPr>
            <a:stCxn id="358" idx="2"/>
            <a:endCxn id="357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2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9" name="Google Shape;369;p25"/>
          <p:cNvCxnSpPr>
            <a:stCxn id="365" idx="3"/>
            <a:endCxn id="366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5"/>
          <p:cNvCxnSpPr>
            <a:stCxn id="368" idx="0"/>
            <a:endCxn id="366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5"/>
          <p:cNvCxnSpPr>
            <a:stCxn id="365" idx="5"/>
            <a:endCxn id="367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5"/>
          <p:cNvCxnSpPr>
            <a:stCxn id="367" idx="2"/>
            <a:endCxn id="366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2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25"/>
          <p:cNvCxnSpPr>
            <a:stCxn id="373" idx="0"/>
            <a:endCxn id="366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5"/>
          <p:cNvCxnSpPr>
            <a:stCxn id="367" idx="3"/>
            <a:endCxn id="36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5"/>
          <p:cNvCxnSpPr>
            <a:stCxn id="367" idx="3"/>
            <a:endCxn id="373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5"/>
          <p:cNvCxnSpPr>
            <a:stCxn id="365" idx="4"/>
            <a:endCxn id="373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5"/>
          <p:cNvCxnSpPr>
            <a:stCxn id="358" idx="7"/>
            <a:endCxn id="368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5"/>
          <p:cNvCxnSpPr>
            <a:stCxn id="359" idx="7"/>
            <a:endCxn id="358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25"/>
          <p:cNvCxnSpPr>
            <a:stCxn id="368" idx="6"/>
            <a:endCxn id="373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5"/>
          <p:cNvCxnSpPr>
            <a:stCxn id="365" idx="4"/>
            <a:endCxn id="368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4" name="Google Shape;384;p25"/>
          <p:cNvCxnSpPr>
            <a:stCxn id="382" idx="3"/>
            <a:endCxn id="38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2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6" name="Google Shape;386;p25"/>
          <p:cNvCxnSpPr>
            <a:stCxn id="385" idx="2"/>
            <a:endCxn id="38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25"/>
          <p:cNvCxnSpPr>
            <a:stCxn id="385" idx="0"/>
            <a:endCxn id="38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25"/>
          <p:cNvCxnSpPr>
            <a:endCxn id="383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p26"/>
          <p:cNvCxnSpPr>
            <a:stCxn id="394" idx="3"/>
            <a:endCxn id="39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6"/>
          <p:cNvCxnSpPr>
            <a:stCxn id="397" idx="1"/>
            <a:endCxn id="39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6"/>
          <p:cNvCxnSpPr>
            <a:stCxn id="394" idx="4"/>
            <a:endCxn id="39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6"/>
          <p:cNvCxnSpPr>
            <a:stCxn id="394" idx="5"/>
            <a:endCxn id="39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26"/>
          <p:cNvCxnSpPr>
            <a:stCxn id="396" idx="2"/>
            <a:endCxn id="39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7" name="Google Shape;407;p26"/>
          <p:cNvCxnSpPr>
            <a:stCxn id="403" idx="3"/>
            <a:endCxn id="40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6"/>
          <p:cNvCxnSpPr>
            <a:stCxn id="406" idx="0"/>
            <a:endCxn id="40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6"/>
          <p:cNvCxnSpPr>
            <a:stCxn id="403" idx="5"/>
            <a:endCxn id="40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6"/>
          <p:cNvCxnSpPr>
            <a:stCxn id="405" idx="2"/>
            <a:endCxn id="40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2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2" name="Google Shape;412;p26"/>
          <p:cNvCxnSpPr>
            <a:stCxn id="411" idx="0"/>
            <a:endCxn id="40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6"/>
          <p:cNvCxnSpPr>
            <a:stCxn id="405" idx="3"/>
            <a:endCxn id="40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6"/>
          <p:cNvCxnSpPr>
            <a:stCxn id="405" idx="3"/>
            <a:endCxn id="41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6"/>
          <p:cNvCxnSpPr>
            <a:stCxn id="403" idx="4"/>
            <a:endCxn id="41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6"/>
          <p:cNvCxnSpPr>
            <a:stCxn id="396" idx="7"/>
            <a:endCxn id="40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6"/>
          <p:cNvCxnSpPr>
            <a:stCxn id="397" idx="7"/>
            <a:endCxn id="39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26"/>
          <p:cNvCxnSpPr>
            <a:stCxn id="406" idx="6"/>
            <a:endCxn id="41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6"/>
          <p:cNvCxnSpPr>
            <a:stCxn id="403" idx="4"/>
            <a:endCxn id="40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2" name="Google Shape;422;p26"/>
          <p:cNvCxnSpPr>
            <a:stCxn id="420" idx="3"/>
            <a:endCxn id="42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2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26"/>
          <p:cNvCxnSpPr>
            <a:stCxn id="423" idx="2"/>
            <a:endCxn id="42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26"/>
          <p:cNvCxnSpPr>
            <a:stCxn id="423" idx="0"/>
            <a:endCxn id="42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6"/>
          <p:cNvCxnSpPr>
            <a:endCxn id="42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26"/>
          <p:cNvSpPr txBox="1"/>
          <p:nvPr/>
        </p:nvSpPr>
        <p:spPr>
          <a:xfrm>
            <a:off x="4965400" y="1071800"/>
            <a:ext cx="1576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5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28" name="Google Shape;428;p26"/>
          <p:cNvCxnSpPr/>
          <p:nvPr/>
        </p:nvCxnSpPr>
        <p:spPr>
          <a:xfrm flipH="1" rot="10800000">
            <a:off x="6382000" y="1303600"/>
            <a:ext cx="808200" cy="5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" name="Google Shape;429;p2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9" name="Google Shape;439;p27"/>
          <p:cNvCxnSpPr>
            <a:stCxn id="435" idx="3"/>
            <a:endCxn id="43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27"/>
          <p:cNvCxnSpPr>
            <a:stCxn id="438" idx="1"/>
            <a:endCxn id="43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27"/>
          <p:cNvCxnSpPr>
            <a:stCxn id="435" idx="4"/>
            <a:endCxn id="43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27"/>
          <p:cNvCxnSpPr>
            <a:stCxn id="435" idx="5"/>
            <a:endCxn id="437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27"/>
          <p:cNvCxnSpPr>
            <a:stCxn id="437" idx="2"/>
            <a:endCxn id="436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2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27"/>
          <p:cNvCxnSpPr>
            <a:stCxn id="444" idx="3"/>
            <a:endCxn id="44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7"/>
          <p:cNvCxnSpPr>
            <a:stCxn id="447" idx="0"/>
            <a:endCxn id="44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7"/>
          <p:cNvCxnSpPr>
            <a:stCxn id="444" idx="5"/>
            <a:endCxn id="44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7"/>
          <p:cNvCxnSpPr>
            <a:stCxn id="446" idx="2"/>
            <a:endCxn id="44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2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3" name="Google Shape;453;p27"/>
          <p:cNvCxnSpPr>
            <a:stCxn id="452" idx="0"/>
            <a:endCxn id="44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27"/>
          <p:cNvCxnSpPr>
            <a:stCxn id="446" idx="3"/>
            <a:endCxn id="44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7"/>
          <p:cNvCxnSpPr>
            <a:stCxn id="446" idx="3"/>
            <a:endCxn id="45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27"/>
          <p:cNvCxnSpPr>
            <a:stCxn id="444" idx="4"/>
            <a:endCxn id="45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7"/>
          <p:cNvCxnSpPr>
            <a:stCxn id="437" idx="7"/>
            <a:endCxn id="447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7"/>
          <p:cNvCxnSpPr>
            <a:stCxn id="438" idx="7"/>
            <a:endCxn id="437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27"/>
          <p:cNvCxnSpPr>
            <a:stCxn id="447" idx="6"/>
            <a:endCxn id="452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27"/>
          <p:cNvCxnSpPr>
            <a:stCxn id="444" idx="4"/>
            <a:endCxn id="447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2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3" name="Google Shape;463;p27"/>
          <p:cNvCxnSpPr>
            <a:stCxn id="461" idx="3"/>
            <a:endCxn id="46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2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5" name="Google Shape;465;p27"/>
          <p:cNvCxnSpPr>
            <a:stCxn id="464" idx="2"/>
            <a:endCxn id="46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7"/>
          <p:cNvCxnSpPr>
            <a:stCxn id="464" idx="0"/>
            <a:endCxn id="46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27"/>
          <p:cNvCxnSpPr>
            <a:endCxn id="462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7"/>
          <p:cNvSpPr txBox="1"/>
          <p:nvPr/>
        </p:nvSpPr>
        <p:spPr>
          <a:xfrm>
            <a:off x="4891200" y="4083325"/>
            <a:ext cx="174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 closed triad is a clique of size 3!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69" name="Google Shape;469;p27"/>
          <p:cNvCxnSpPr>
            <a:stCxn id="468" idx="3"/>
          </p:cNvCxnSpPr>
          <p:nvPr/>
        </p:nvCxnSpPr>
        <p:spPr>
          <a:xfrm flipH="1" rot="10800000">
            <a:off x="6640500" y="3955075"/>
            <a:ext cx="612000" cy="52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2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"/>
          <p:cNvSpPr/>
          <p:nvPr/>
        </p:nvSpPr>
        <p:spPr>
          <a:xfrm rot="1848303">
            <a:off x="6315429" y="2598971"/>
            <a:ext cx="2284627" cy="1778927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4973500" y="1725763"/>
            <a:ext cx="1884000" cy="17790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78" name="Google Shape;478;p2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" name="Google Shape;482;p28"/>
          <p:cNvCxnSpPr>
            <a:stCxn id="478" idx="3"/>
            <a:endCxn id="479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8"/>
          <p:cNvCxnSpPr>
            <a:stCxn id="481" idx="1"/>
            <a:endCxn id="479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28"/>
          <p:cNvCxnSpPr>
            <a:stCxn id="478" idx="4"/>
            <a:endCxn id="481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8"/>
          <p:cNvCxnSpPr>
            <a:stCxn id="478" idx="5"/>
            <a:endCxn id="480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28"/>
          <p:cNvCxnSpPr>
            <a:stCxn id="480" idx="2"/>
            <a:endCxn id="479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2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28"/>
          <p:cNvCxnSpPr>
            <a:stCxn id="487" idx="3"/>
            <a:endCxn id="488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8"/>
          <p:cNvCxnSpPr>
            <a:stCxn id="490" idx="0"/>
            <a:endCxn id="488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8"/>
          <p:cNvCxnSpPr>
            <a:stCxn id="487" idx="5"/>
            <a:endCxn id="489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28"/>
          <p:cNvCxnSpPr>
            <a:stCxn id="489" idx="2"/>
            <a:endCxn id="488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2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6" name="Google Shape;496;p28"/>
          <p:cNvCxnSpPr>
            <a:stCxn id="495" idx="0"/>
            <a:endCxn id="488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28"/>
          <p:cNvCxnSpPr>
            <a:stCxn id="489" idx="3"/>
            <a:endCxn id="490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28"/>
          <p:cNvCxnSpPr>
            <a:stCxn id="489" idx="3"/>
            <a:endCxn id="495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8"/>
          <p:cNvCxnSpPr>
            <a:stCxn id="487" idx="4"/>
            <a:endCxn id="495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28"/>
          <p:cNvCxnSpPr>
            <a:stCxn id="480" idx="7"/>
            <a:endCxn id="490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28"/>
          <p:cNvCxnSpPr>
            <a:stCxn id="481" idx="7"/>
            <a:endCxn id="480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28"/>
          <p:cNvCxnSpPr>
            <a:stCxn id="490" idx="6"/>
            <a:endCxn id="495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28"/>
          <p:cNvCxnSpPr>
            <a:stCxn id="487" idx="4"/>
            <a:endCxn id="490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2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" name="Google Shape;506;p28"/>
          <p:cNvCxnSpPr>
            <a:stCxn id="504" idx="3"/>
            <a:endCxn id="50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2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8" name="Google Shape;508;p28"/>
          <p:cNvCxnSpPr>
            <a:stCxn id="507" idx="2"/>
            <a:endCxn id="50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28"/>
          <p:cNvCxnSpPr>
            <a:stCxn id="507" idx="0"/>
            <a:endCxn id="50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28"/>
          <p:cNvCxnSpPr>
            <a:stCxn id="480" idx="5"/>
            <a:endCxn id="505" idx="0"/>
          </p:cNvCxnSpPr>
          <p:nvPr/>
        </p:nvCxnSpPr>
        <p:spPr>
          <a:xfrm>
            <a:off x="6516801" y="2675826"/>
            <a:ext cx="847800" cy="1104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28"/>
          <p:cNvSpPr txBox="1"/>
          <p:nvPr/>
        </p:nvSpPr>
        <p:spPr>
          <a:xfrm>
            <a:off x="4891200" y="4083325"/>
            <a:ext cx="174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Actors can belong to multiple cliques!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2" name="Google Shape;512;p28"/>
          <p:cNvCxnSpPr>
            <a:stCxn id="511" idx="0"/>
          </p:cNvCxnSpPr>
          <p:nvPr/>
        </p:nvCxnSpPr>
        <p:spPr>
          <a:xfrm flipH="1" rot="10800000">
            <a:off x="5765850" y="2804125"/>
            <a:ext cx="663600" cy="127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2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= (V, E)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p28"/>
          <p:cNvCxnSpPr>
            <a:stCxn id="480" idx="5"/>
            <a:endCxn id="507" idx="1"/>
          </p:cNvCxnSpPr>
          <p:nvPr/>
        </p:nvCxnSpPr>
        <p:spPr>
          <a:xfrm>
            <a:off x="6516801" y="2675826"/>
            <a:ext cx="1491300" cy="129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28"/>
          <p:cNvCxnSpPr>
            <a:stCxn id="480" idx="5"/>
            <a:endCxn id="504" idx="2"/>
          </p:cNvCxnSpPr>
          <p:nvPr/>
        </p:nvCxnSpPr>
        <p:spPr>
          <a:xfrm>
            <a:off x="6516801" y="2675826"/>
            <a:ext cx="1215300" cy="568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521" name="Google Shape;521;p29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relax the definition to accommodate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6" name="Google Shape;526;p29"/>
          <p:cNvCxnSpPr>
            <a:stCxn id="522" idx="3"/>
            <a:endCxn id="52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29"/>
          <p:cNvCxnSpPr>
            <a:stCxn id="525" idx="1"/>
            <a:endCxn id="52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9"/>
          <p:cNvCxnSpPr>
            <a:stCxn id="522" idx="4"/>
            <a:endCxn id="52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29"/>
          <p:cNvCxnSpPr>
            <a:stCxn id="522" idx="5"/>
            <a:endCxn id="52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29"/>
          <p:cNvCxnSpPr>
            <a:stCxn id="524" idx="2"/>
            <a:endCxn id="52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2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5" name="Google Shape;535;p29"/>
          <p:cNvCxnSpPr>
            <a:stCxn id="531" idx="3"/>
            <a:endCxn id="53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29"/>
          <p:cNvCxnSpPr>
            <a:stCxn id="534" idx="0"/>
            <a:endCxn id="53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29"/>
          <p:cNvCxnSpPr>
            <a:stCxn id="531" idx="5"/>
            <a:endCxn id="53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29"/>
          <p:cNvCxnSpPr>
            <a:stCxn id="533" idx="2"/>
            <a:endCxn id="53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2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0" name="Google Shape;540;p29"/>
          <p:cNvCxnSpPr>
            <a:stCxn id="539" idx="0"/>
            <a:endCxn id="53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29"/>
          <p:cNvCxnSpPr>
            <a:stCxn id="533" idx="3"/>
            <a:endCxn id="53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29"/>
          <p:cNvCxnSpPr>
            <a:stCxn id="533" idx="3"/>
            <a:endCxn id="53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29"/>
          <p:cNvCxnSpPr>
            <a:stCxn id="531" idx="4"/>
            <a:endCxn id="53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2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8" name="Google Shape;548;p29"/>
          <p:cNvCxnSpPr>
            <a:stCxn id="544" idx="3"/>
            <a:endCxn id="54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29"/>
          <p:cNvCxnSpPr>
            <a:stCxn id="547" idx="0"/>
            <a:endCxn id="545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9"/>
          <p:cNvCxnSpPr>
            <a:stCxn id="544" idx="5"/>
            <a:endCxn id="54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29"/>
          <p:cNvCxnSpPr>
            <a:stCxn id="546" idx="2"/>
            <a:endCxn id="54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2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3" name="Google Shape;553;p29"/>
          <p:cNvCxnSpPr>
            <a:stCxn id="546" idx="3"/>
            <a:endCxn id="547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29"/>
          <p:cNvCxnSpPr>
            <a:stCxn id="552" idx="2"/>
            <a:endCxn id="54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29"/>
          <p:cNvCxnSpPr>
            <a:stCxn id="552" idx="0"/>
            <a:endCxn id="54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29"/>
          <p:cNvCxnSpPr>
            <a:stCxn id="547" idx="6"/>
            <a:endCxn id="552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29"/>
          <p:cNvCxnSpPr>
            <a:stCxn id="524" idx="5"/>
            <a:endCxn id="54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29"/>
          <p:cNvCxnSpPr>
            <a:stCxn id="524" idx="7"/>
            <a:endCxn id="53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29"/>
          <p:cNvCxnSpPr>
            <a:stCxn id="539" idx="3"/>
            <a:endCxn id="54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29"/>
          <p:cNvCxnSpPr>
            <a:stCxn id="533" idx="4"/>
            <a:endCxn id="54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"/>
          <p:cNvSpPr/>
          <p:nvPr/>
        </p:nvSpPr>
        <p:spPr>
          <a:xfrm>
            <a:off x="5003875" y="1781413"/>
            <a:ext cx="1884000" cy="17790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1" name="Google Shape;571;p30"/>
          <p:cNvCxnSpPr>
            <a:stCxn id="567" idx="3"/>
            <a:endCxn id="56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30"/>
          <p:cNvCxnSpPr>
            <a:stCxn id="570" idx="1"/>
            <a:endCxn id="56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0"/>
          <p:cNvCxnSpPr>
            <a:stCxn id="567" idx="4"/>
            <a:endCxn id="57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30"/>
          <p:cNvCxnSpPr>
            <a:stCxn id="567" idx="5"/>
            <a:endCxn id="56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0"/>
          <p:cNvCxnSpPr>
            <a:stCxn id="569" idx="2"/>
            <a:endCxn id="56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p30"/>
          <p:cNvCxnSpPr>
            <a:stCxn id="576" idx="3"/>
            <a:endCxn id="57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30"/>
          <p:cNvCxnSpPr>
            <a:stCxn id="579" idx="0"/>
            <a:endCxn id="57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30"/>
          <p:cNvCxnSpPr>
            <a:stCxn id="576" idx="5"/>
            <a:endCxn id="57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0"/>
          <p:cNvCxnSpPr>
            <a:stCxn id="578" idx="2"/>
            <a:endCxn id="57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3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5" name="Google Shape;585;p30"/>
          <p:cNvCxnSpPr>
            <a:stCxn id="584" idx="0"/>
            <a:endCxn id="57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0"/>
          <p:cNvCxnSpPr>
            <a:stCxn id="578" idx="3"/>
            <a:endCxn id="57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30"/>
          <p:cNvCxnSpPr>
            <a:stCxn id="578" idx="3"/>
            <a:endCxn id="58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30"/>
          <p:cNvCxnSpPr>
            <a:stCxn id="576" idx="4"/>
            <a:endCxn id="58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3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3" name="Google Shape;593;p30"/>
          <p:cNvCxnSpPr>
            <a:stCxn id="589" idx="3"/>
            <a:endCxn id="59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0"/>
          <p:cNvCxnSpPr>
            <a:stCxn id="592" idx="0"/>
            <a:endCxn id="59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0"/>
          <p:cNvCxnSpPr>
            <a:stCxn id="589" idx="5"/>
            <a:endCxn id="59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0"/>
          <p:cNvCxnSpPr>
            <a:stCxn id="591" idx="2"/>
            <a:endCxn id="59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3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8" name="Google Shape;598;p30"/>
          <p:cNvCxnSpPr>
            <a:stCxn id="591" idx="3"/>
            <a:endCxn id="59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30"/>
          <p:cNvCxnSpPr>
            <a:stCxn id="597" idx="2"/>
            <a:endCxn id="59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30"/>
          <p:cNvCxnSpPr>
            <a:stCxn id="597" idx="0"/>
            <a:endCxn id="58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0"/>
          <p:cNvCxnSpPr>
            <a:stCxn id="592" idx="6"/>
            <a:endCxn id="59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0"/>
          <p:cNvCxnSpPr>
            <a:stCxn id="569" idx="5"/>
            <a:endCxn id="590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0"/>
          <p:cNvCxnSpPr>
            <a:stCxn id="569" idx="7"/>
            <a:endCxn id="57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0"/>
          <p:cNvCxnSpPr>
            <a:stCxn id="584" idx="3"/>
            <a:endCxn id="589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30"/>
          <p:cNvCxnSpPr>
            <a:stCxn id="578" idx="4"/>
            <a:endCxn id="591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30"/>
          <p:cNvSpPr txBox="1"/>
          <p:nvPr/>
        </p:nvSpPr>
        <p:spPr>
          <a:xfrm>
            <a:off x="4767500" y="4226475"/>
            <a:ext cx="174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2-clique!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07" name="Google Shape;607;p30"/>
          <p:cNvCxnSpPr>
            <a:stCxn id="606" idx="0"/>
          </p:cNvCxnSpPr>
          <p:nvPr/>
        </p:nvCxnSpPr>
        <p:spPr>
          <a:xfrm flipH="1" rot="10800000">
            <a:off x="5642150" y="3387075"/>
            <a:ext cx="255000" cy="8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8" name="Google Shape;608;p30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relax the definition to accommodate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/>
          <p:nvPr/>
        </p:nvSpPr>
        <p:spPr>
          <a:xfrm>
            <a:off x="5228600" y="1281200"/>
            <a:ext cx="2406600" cy="2811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615" name="Google Shape;615;p3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9" name="Google Shape;619;p31"/>
          <p:cNvCxnSpPr>
            <a:stCxn id="615" idx="3"/>
            <a:endCxn id="61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1"/>
          <p:cNvCxnSpPr>
            <a:stCxn id="618" idx="1"/>
            <a:endCxn id="61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1"/>
          <p:cNvCxnSpPr>
            <a:stCxn id="615" idx="4"/>
            <a:endCxn id="61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1"/>
          <p:cNvCxnSpPr>
            <a:stCxn id="615" idx="5"/>
            <a:endCxn id="617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1"/>
          <p:cNvCxnSpPr>
            <a:stCxn id="617" idx="2"/>
            <a:endCxn id="616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8" name="Google Shape;628;p31"/>
          <p:cNvCxnSpPr>
            <a:stCxn id="624" idx="3"/>
            <a:endCxn id="62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1"/>
          <p:cNvCxnSpPr>
            <a:stCxn id="627" idx="0"/>
            <a:endCxn id="62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1"/>
          <p:cNvCxnSpPr>
            <a:stCxn id="624" idx="5"/>
            <a:endCxn id="62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1"/>
          <p:cNvCxnSpPr>
            <a:stCxn id="626" idx="2"/>
            <a:endCxn id="62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3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3" name="Google Shape;633;p31"/>
          <p:cNvCxnSpPr>
            <a:stCxn id="632" idx="0"/>
            <a:endCxn id="62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1"/>
          <p:cNvCxnSpPr>
            <a:stCxn id="626" idx="3"/>
            <a:endCxn id="62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1"/>
          <p:cNvCxnSpPr>
            <a:stCxn id="626" idx="3"/>
            <a:endCxn id="63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31"/>
          <p:cNvCxnSpPr>
            <a:stCxn id="624" idx="4"/>
            <a:endCxn id="63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3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1" name="Google Shape;641;p31"/>
          <p:cNvCxnSpPr>
            <a:stCxn id="637" idx="3"/>
            <a:endCxn id="63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31"/>
          <p:cNvCxnSpPr>
            <a:stCxn id="640" idx="0"/>
            <a:endCxn id="638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31"/>
          <p:cNvCxnSpPr>
            <a:stCxn id="637" idx="5"/>
            <a:endCxn id="639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31"/>
          <p:cNvCxnSpPr>
            <a:stCxn id="639" idx="2"/>
            <a:endCxn id="63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5" name="Google Shape;645;p3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6" name="Google Shape;646;p31"/>
          <p:cNvCxnSpPr>
            <a:stCxn id="639" idx="3"/>
            <a:endCxn id="640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1"/>
          <p:cNvCxnSpPr>
            <a:stCxn id="645" idx="2"/>
            <a:endCxn id="63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1"/>
          <p:cNvCxnSpPr>
            <a:stCxn id="645" idx="0"/>
            <a:endCxn id="63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1"/>
          <p:cNvCxnSpPr>
            <a:stCxn id="640" idx="6"/>
            <a:endCxn id="645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31"/>
          <p:cNvCxnSpPr>
            <a:stCxn id="617" idx="5"/>
            <a:endCxn id="638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31"/>
          <p:cNvCxnSpPr>
            <a:stCxn id="617" idx="7"/>
            <a:endCxn id="627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31"/>
          <p:cNvCxnSpPr>
            <a:stCxn id="632" idx="3"/>
            <a:endCxn id="637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31"/>
          <p:cNvCxnSpPr>
            <a:stCxn id="626" idx="4"/>
            <a:endCxn id="639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1"/>
          <p:cNvSpPr txBox="1"/>
          <p:nvPr/>
        </p:nvSpPr>
        <p:spPr>
          <a:xfrm>
            <a:off x="4767500" y="4226475"/>
            <a:ext cx="174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3-clique!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55" name="Google Shape;655;p31"/>
          <p:cNvCxnSpPr>
            <a:stCxn id="654" idx="0"/>
          </p:cNvCxnSpPr>
          <p:nvPr/>
        </p:nvCxnSpPr>
        <p:spPr>
          <a:xfrm flipH="1" rot="10800000">
            <a:off x="5642150" y="3387075"/>
            <a:ext cx="255000" cy="8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31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relax the definition to accommodate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What is a clique?</a:t>
            </a:r>
            <a:endParaRPr sz="4400"/>
          </a:p>
        </p:txBody>
      </p:sp>
      <p:sp>
        <p:nvSpPr>
          <p:cNvPr id="662" name="Google Shape;662;p32"/>
          <p:cNvSpPr txBox="1"/>
          <p:nvPr>
            <p:ph idx="1" type="body"/>
          </p:nvPr>
        </p:nvSpPr>
        <p:spPr>
          <a:xfrm>
            <a:off x="311700" y="1225225"/>
            <a:ext cx="5367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 subset of N vertices with a density of 1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ties among all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group vertices have equal degree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Triangle is a clique:  a clique of size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have cliques of size 4, 5, 6 ????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K-Core and N-Cliques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if 1 tie is missing? Is set of vertices no longer a clique?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Allow some missing edges (density/degree threshold) -- K-Core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N-cliques:  2-clique, everyone can reach every other member of the clique is 2 hops or less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Overlapping cliques (social circles)</a:t>
            </a:r>
            <a:endParaRPr/>
          </a:p>
        </p:txBody>
      </p:sp>
      <p:pic>
        <p:nvPicPr>
          <p:cNvPr id="663" name="Google Shape;6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9300" y="1386799"/>
            <a:ext cx="3153000" cy="303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669" name="Google Shape;669;p33"/>
          <p:cNvSpPr txBox="1"/>
          <p:nvPr>
            <p:ph idx="1" type="body"/>
          </p:nvPr>
        </p:nvSpPr>
        <p:spPr>
          <a:xfrm>
            <a:off x="311700" y="1225225"/>
            <a:ext cx="4796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pair of nodes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4" name="Google Shape;674;p33"/>
          <p:cNvCxnSpPr>
            <a:stCxn id="670" idx="3"/>
            <a:endCxn id="671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3"/>
          <p:cNvCxnSpPr>
            <a:stCxn id="673" idx="1"/>
            <a:endCxn id="671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3"/>
          <p:cNvCxnSpPr>
            <a:stCxn id="670" idx="4"/>
            <a:endCxn id="673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3"/>
          <p:cNvCxnSpPr>
            <a:stCxn id="670" idx="5"/>
            <a:endCxn id="672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33"/>
          <p:cNvCxnSpPr>
            <a:stCxn id="672" idx="2"/>
            <a:endCxn id="671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3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3" name="Google Shape;683;p33"/>
          <p:cNvCxnSpPr>
            <a:stCxn id="679" idx="3"/>
            <a:endCxn id="68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3"/>
          <p:cNvCxnSpPr>
            <a:stCxn id="682" idx="0"/>
            <a:endCxn id="68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3"/>
          <p:cNvCxnSpPr>
            <a:stCxn id="679" idx="5"/>
            <a:endCxn id="68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33"/>
          <p:cNvCxnSpPr>
            <a:stCxn id="681" idx="2"/>
            <a:endCxn id="68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3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8" name="Google Shape;688;p33"/>
          <p:cNvCxnSpPr>
            <a:stCxn id="687" idx="0"/>
            <a:endCxn id="68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33"/>
          <p:cNvCxnSpPr>
            <a:stCxn id="681" idx="3"/>
            <a:endCxn id="68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33"/>
          <p:cNvCxnSpPr>
            <a:stCxn id="681" idx="3"/>
            <a:endCxn id="68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33"/>
          <p:cNvCxnSpPr>
            <a:stCxn id="679" idx="4"/>
            <a:endCxn id="68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3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3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6" name="Google Shape;696;p33"/>
          <p:cNvCxnSpPr>
            <a:stCxn id="692" idx="3"/>
            <a:endCxn id="69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33"/>
          <p:cNvCxnSpPr>
            <a:stCxn id="695" idx="0"/>
            <a:endCxn id="693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3"/>
          <p:cNvCxnSpPr>
            <a:stCxn id="692" idx="5"/>
            <a:endCxn id="694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3"/>
          <p:cNvCxnSpPr>
            <a:stCxn id="694" idx="2"/>
            <a:endCxn id="693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33"/>
          <p:cNvCxnSpPr>
            <a:stCxn id="694" idx="3"/>
            <a:endCxn id="695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33"/>
          <p:cNvCxnSpPr>
            <a:stCxn id="700" idx="2"/>
            <a:endCxn id="69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33"/>
          <p:cNvCxnSpPr>
            <a:stCxn id="700" idx="0"/>
            <a:endCxn id="69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3"/>
          <p:cNvCxnSpPr>
            <a:stCxn id="695" idx="6"/>
            <a:endCxn id="700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33"/>
          <p:cNvCxnSpPr>
            <a:stCxn id="672" idx="5"/>
            <a:endCxn id="693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3"/>
          <p:cNvCxnSpPr>
            <a:stCxn id="672" idx="7"/>
            <a:endCxn id="68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33"/>
          <p:cNvCxnSpPr>
            <a:stCxn id="687" idx="3"/>
            <a:endCxn id="692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33"/>
          <p:cNvCxnSpPr>
            <a:stCxn id="681" idx="4"/>
            <a:endCxn id="694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33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connected graph! 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10" name="Google Shape;710;p33"/>
          <p:cNvCxnSpPr>
            <a:stCxn id="709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716" name="Google Shape;716;p34"/>
          <p:cNvSpPr txBox="1"/>
          <p:nvPr>
            <p:ph idx="1" type="body"/>
          </p:nvPr>
        </p:nvSpPr>
        <p:spPr>
          <a:xfrm>
            <a:off x="311700" y="1225225"/>
            <a:ext cx="463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1" name="Google Shape;721;p34"/>
          <p:cNvCxnSpPr>
            <a:stCxn id="717" idx="3"/>
            <a:endCxn id="71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4"/>
          <p:cNvCxnSpPr>
            <a:stCxn id="720" idx="1"/>
            <a:endCxn id="71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4"/>
          <p:cNvCxnSpPr>
            <a:stCxn id="717" idx="4"/>
            <a:endCxn id="72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4"/>
          <p:cNvCxnSpPr>
            <a:stCxn id="717" idx="5"/>
            <a:endCxn id="71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34"/>
          <p:cNvCxnSpPr>
            <a:stCxn id="719" idx="2"/>
            <a:endCxn id="71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3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0" name="Google Shape;730;p34"/>
          <p:cNvCxnSpPr>
            <a:stCxn id="726" idx="3"/>
            <a:endCxn id="72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34"/>
          <p:cNvCxnSpPr>
            <a:stCxn id="729" idx="0"/>
            <a:endCxn id="72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34"/>
          <p:cNvCxnSpPr>
            <a:stCxn id="726" idx="5"/>
            <a:endCxn id="72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34"/>
          <p:cNvCxnSpPr>
            <a:stCxn id="728" idx="2"/>
            <a:endCxn id="72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4" name="Google Shape;734;p3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5" name="Google Shape;735;p34"/>
          <p:cNvCxnSpPr>
            <a:stCxn id="734" idx="0"/>
            <a:endCxn id="72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34"/>
          <p:cNvCxnSpPr>
            <a:stCxn id="728" idx="3"/>
            <a:endCxn id="72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34"/>
          <p:cNvCxnSpPr>
            <a:stCxn id="728" idx="3"/>
            <a:endCxn id="73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34"/>
          <p:cNvCxnSpPr>
            <a:stCxn id="726" idx="4"/>
            <a:endCxn id="73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3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3" name="Google Shape;743;p34"/>
          <p:cNvCxnSpPr>
            <a:stCxn id="739" idx="3"/>
            <a:endCxn id="74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34"/>
          <p:cNvCxnSpPr>
            <a:stCxn id="742" idx="0"/>
            <a:endCxn id="74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34"/>
          <p:cNvCxnSpPr>
            <a:stCxn id="739" idx="5"/>
            <a:endCxn id="74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34"/>
          <p:cNvCxnSpPr>
            <a:stCxn id="741" idx="2"/>
            <a:endCxn id="74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3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8" name="Google Shape;748;p34"/>
          <p:cNvCxnSpPr>
            <a:stCxn id="741" idx="3"/>
            <a:endCxn id="74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34"/>
          <p:cNvCxnSpPr>
            <a:stCxn id="747" idx="2"/>
            <a:endCxn id="74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34"/>
          <p:cNvCxnSpPr>
            <a:stCxn id="747" idx="0"/>
            <a:endCxn id="73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34"/>
          <p:cNvCxnSpPr>
            <a:stCxn id="742" idx="6"/>
            <a:endCxn id="74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34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disconnected :(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53" name="Google Shape;753;p34"/>
          <p:cNvCxnSpPr>
            <a:stCxn id="752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759" name="Google Shape;759;p35"/>
          <p:cNvSpPr txBox="1"/>
          <p:nvPr>
            <p:ph idx="1" type="body"/>
          </p:nvPr>
        </p:nvSpPr>
        <p:spPr>
          <a:xfrm>
            <a:off x="311700" y="1225225"/>
            <a:ext cx="481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has more than one component it is by definition disconnected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5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two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61" name="Google Shape;761;p35"/>
          <p:cNvCxnSpPr>
            <a:stCxn id="760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35"/>
          <p:cNvCxnSpPr>
            <a:stCxn id="760" idx="0"/>
          </p:cNvCxnSpPr>
          <p:nvPr/>
        </p:nvCxnSpPr>
        <p:spPr>
          <a:xfrm flipH="1" rot="10800000">
            <a:off x="5673625" y="2611100"/>
            <a:ext cx="1951800" cy="1567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63" name="Google Shape;763;p3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764" name="Google Shape;764;p3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8" name="Google Shape;768;p35"/>
            <p:cNvCxnSpPr>
              <a:stCxn id="764" idx="3"/>
              <a:endCxn id="76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9" name="Google Shape;769;p35"/>
            <p:cNvCxnSpPr>
              <a:stCxn id="767" idx="1"/>
              <a:endCxn id="76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35"/>
            <p:cNvCxnSpPr>
              <a:stCxn id="764" idx="4"/>
              <a:endCxn id="76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35"/>
            <p:cNvCxnSpPr>
              <a:stCxn id="764" idx="5"/>
              <a:endCxn id="76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35"/>
            <p:cNvCxnSpPr>
              <a:stCxn id="766" idx="2"/>
              <a:endCxn id="76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3" name="Google Shape;773;p3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77" name="Google Shape;777;p35"/>
            <p:cNvCxnSpPr>
              <a:stCxn id="773" idx="3"/>
              <a:endCxn id="77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35"/>
            <p:cNvCxnSpPr>
              <a:stCxn id="776" idx="0"/>
              <a:endCxn id="77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35"/>
            <p:cNvCxnSpPr>
              <a:stCxn id="773" idx="5"/>
              <a:endCxn id="77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35"/>
            <p:cNvCxnSpPr>
              <a:stCxn id="775" idx="2"/>
              <a:endCxn id="77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1" name="Google Shape;781;p3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2" name="Google Shape;782;p35"/>
            <p:cNvCxnSpPr>
              <a:stCxn id="781" idx="0"/>
              <a:endCxn id="77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35"/>
            <p:cNvCxnSpPr>
              <a:stCxn id="775" idx="3"/>
              <a:endCxn id="77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35"/>
            <p:cNvCxnSpPr>
              <a:stCxn id="775" idx="3"/>
              <a:endCxn id="78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35"/>
            <p:cNvCxnSpPr>
              <a:stCxn id="773" idx="4"/>
              <a:endCxn id="78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6" name="Google Shape;786;p3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0" name="Google Shape;790;p35"/>
            <p:cNvCxnSpPr>
              <a:stCxn id="786" idx="3"/>
              <a:endCxn id="78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35"/>
            <p:cNvCxnSpPr>
              <a:stCxn id="789" idx="0"/>
              <a:endCxn id="78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35"/>
            <p:cNvCxnSpPr>
              <a:stCxn id="786" idx="5"/>
              <a:endCxn id="78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35"/>
            <p:cNvCxnSpPr>
              <a:stCxn id="788" idx="2"/>
              <a:endCxn id="78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4" name="Google Shape;794;p3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5" name="Google Shape;795;p35"/>
            <p:cNvCxnSpPr>
              <a:stCxn id="788" idx="3"/>
              <a:endCxn id="78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p35"/>
            <p:cNvCxnSpPr>
              <a:stCxn id="794" idx="2"/>
              <a:endCxn id="78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35"/>
            <p:cNvCxnSpPr>
              <a:stCxn id="794" idx="0"/>
              <a:endCxn id="78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35"/>
            <p:cNvCxnSpPr>
              <a:stCxn id="789" idx="6"/>
              <a:endCxn id="79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35"/>
            <p:cNvCxnSpPr>
              <a:stCxn id="781" idx="3"/>
              <a:endCxn id="78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35"/>
            <p:cNvCxnSpPr>
              <a:stCxn id="775" idx="4"/>
              <a:endCxn id="78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806" name="Google Shape;806;p36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three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07" name="Google Shape;807;p36"/>
          <p:cNvCxnSpPr>
            <a:stCxn id="806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8" name="Google Shape;808;p36"/>
          <p:cNvCxnSpPr>
            <a:stCxn id="806" idx="0"/>
          </p:cNvCxnSpPr>
          <p:nvPr/>
        </p:nvCxnSpPr>
        <p:spPr>
          <a:xfrm flipH="1" rot="10800000">
            <a:off x="5673625" y="1987400"/>
            <a:ext cx="2003100" cy="219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09" name="Google Shape;809;p3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810" name="Google Shape;810;p3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4" name="Google Shape;814;p36"/>
            <p:cNvCxnSpPr>
              <a:stCxn id="810" idx="3"/>
              <a:endCxn id="81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p36"/>
            <p:cNvCxnSpPr>
              <a:stCxn id="813" idx="1"/>
              <a:endCxn id="81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36"/>
            <p:cNvCxnSpPr>
              <a:stCxn id="810" idx="4"/>
              <a:endCxn id="81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36"/>
            <p:cNvCxnSpPr>
              <a:stCxn id="810" idx="5"/>
              <a:endCxn id="81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36"/>
            <p:cNvCxnSpPr>
              <a:stCxn id="812" idx="2"/>
              <a:endCxn id="81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9" name="Google Shape;819;p3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3" name="Google Shape;823;p36"/>
            <p:cNvCxnSpPr>
              <a:stCxn id="819" idx="3"/>
              <a:endCxn id="82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36"/>
            <p:cNvCxnSpPr>
              <a:stCxn id="822" idx="0"/>
              <a:endCxn id="82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36"/>
            <p:cNvCxnSpPr>
              <a:stCxn id="819" idx="5"/>
              <a:endCxn id="82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36"/>
            <p:cNvCxnSpPr>
              <a:stCxn id="821" idx="2"/>
              <a:endCxn id="82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7" name="Google Shape;827;p3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8" name="Google Shape;828;p36"/>
            <p:cNvCxnSpPr>
              <a:stCxn id="827" idx="0"/>
              <a:endCxn id="82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36"/>
            <p:cNvCxnSpPr>
              <a:stCxn id="821" idx="3"/>
              <a:endCxn id="82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36"/>
            <p:cNvCxnSpPr>
              <a:stCxn id="821" idx="3"/>
              <a:endCxn id="82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36"/>
            <p:cNvCxnSpPr>
              <a:stCxn id="819" idx="4"/>
              <a:endCxn id="82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2" name="Google Shape;832;p3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6" name="Google Shape;836;p36"/>
            <p:cNvCxnSpPr>
              <a:stCxn id="832" idx="3"/>
              <a:endCxn id="83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7" name="Google Shape;837;p36"/>
            <p:cNvCxnSpPr>
              <a:stCxn id="835" idx="0"/>
              <a:endCxn id="833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36"/>
            <p:cNvCxnSpPr>
              <a:stCxn id="832" idx="5"/>
              <a:endCxn id="83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36"/>
            <p:cNvCxnSpPr>
              <a:stCxn id="834" idx="2"/>
              <a:endCxn id="83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0" name="Google Shape;840;p3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1" name="Google Shape;841;p36"/>
            <p:cNvCxnSpPr>
              <a:stCxn id="834" idx="3"/>
              <a:endCxn id="835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36"/>
            <p:cNvCxnSpPr>
              <a:stCxn id="840" idx="2"/>
              <a:endCxn id="83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36"/>
            <p:cNvCxnSpPr>
              <a:stCxn id="840" idx="0"/>
              <a:endCxn id="83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36"/>
            <p:cNvCxnSpPr>
              <a:stCxn id="835" idx="6"/>
              <a:endCxn id="840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45" name="Google Shape;845;p36"/>
          <p:cNvCxnSpPr>
            <a:stCxn id="806" idx="0"/>
          </p:cNvCxnSpPr>
          <p:nvPr/>
        </p:nvCxnSpPr>
        <p:spPr>
          <a:xfrm flipH="1" rot="10800000">
            <a:off x="5673625" y="3890600"/>
            <a:ext cx="1450200" cy="28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" name="Google Shape;846;p36"/>
          <p:cNvSpPr txBox="1"/>
          <p:nvPr/>
        </p:nvSpPr>
        <p:spPr>
          <a:xfrm>
            <a:off x="311700" y="1225225"/>
            <a:ext cx="48153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graph is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connected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if there exists a (finite) path between each pair of nodes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Otherwise the graph is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disconnected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maximal connected subgraph is called a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component</a:t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a graph has more than one component it is by definition disconnected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852" name="Google Shape;852;p37"/>
          <p:cNvSpPr txBox="1"/>
          <p:nvPr/>
        </p:nvSpPr>
        <p:spPr>
          <a:xfrm>
            <a:off x="5599850" y="3934375"/>
            <a:ext cx="141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giant component!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53" name="Google Shape;853;p37"/>
          <p:cNvCxnSpPr>
            <a:stCxn id="852" idx="0"/>
          </p:cNvCxnSpPr>
          <p:nvPr/>
        </p:nvCxnSpPr>
        <p:spPr>
          <a:xfrm flipH="1" rot="10800000">
            <a:off x="6308750" y="2623975"/>
            <a:ext cx="1348800" cy="131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3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8" name="Google Shape;858;p37"/>
          <p:cNvCxnSpPr>
            <a:stCxn id="854" idx="3"/>
            <a:endCxn id="85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37"/>
          <p:cNvCxnSpPr>
            <a:stCxn id="857" idx="1"/>
            <a:endCxn id="85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37"/>
          <p:cNvCxnSpPr>
            <a:stCxn id="854" idx="4"/>
            <a:endCxn id="85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37"/>
          <p:cNvCxnSpPr>
            <a:stCxn id="854" idx="5"/>
            <a:endCxn id="85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37"/>
          <p:cNvCxnSpPr>
            <a:stCxn id="856" idx="2"/>
            <a:endCxn id="85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3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7"/>
          <p:cNvCxnSpPr>
            <a:stCxn id="863" idx="3"/>
            <a:endCxn id="86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37"/>
          <p:cNvCxnSpPr>
            <a:stCxn id="866" idx="0"/>
            <a:endCxn id="86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37"/>
          <p:cNvCxnSpPr>
            <a:stCxn id="863" idx="5"/>
            <a:endCxn id="86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37"/>
          <p:cNvCxnSpPr>
            <a:stCxn id="865" idx="2"/>
            <a:endCxn id="86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3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2" name="Google Shape;872;p37"/>
          <p:cNvCxnSpPr>
            <a:stCxn id="871" idx="0"/>
            <a:endCxn id="86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37"/>
          <p:cNvCxnSpPr>
            <a:stCxn id="865" idx="3"/>
            <a:endCxn id="86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37"/>
          <p:cNvCxnSpPr>
            <a:stCxn id="865" idx="3"/>
            <a:endCxn id="87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37"/>
          <p:cNvCxnSpPr>
            <a:stCxn id="863" idx="4"/>
            <a:endCxn id="87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3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7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0" name="Google Shape;880;p37"/>
          <p:cNvCxnSpPr>
            <a:stCxn id="876" idx="3"/>
            <a:endCxn id="87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37"/>
          <p:cNvCxnSpPr>
            <a:stCxn id="879" idx="0"/>
            <a:endCxn id="87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37"/>
          <p:cNvCxnSpPr>
            <a:stCxn id="876" idx="5"/>
            <a:endCxn id="87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37"/>
          <p:cNvCxnSpPr>
            <a:stCxn id="878" idx="2"/>
            <a:endCxn id="87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7"/>
          <p:cNvCxnSpPr>
            <a:stCxn id="878" idx="3"/>
            <a:endCxn id="87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37"/>
          <p:cNvCxnSpPr>
            <a:stCxn id="884" idx="2"/>
            <a:endCxn id="87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37"/>
          <p:cNvCxnSpPr>
            <a:stCxn id="884" idx="0"/>
            <a:endCxn id="87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37"/>
          <p:cNvCxnSpPr>
            <a:stCxn id="879" idx="6"/>
            <a:endCxn id="88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37"/>
          <p:cNvCxnSpPr>
            <a:stCxn id="871" idx="3"/>
            <a:endCxn id="87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37"/>
          <p:cNvCxnSpPr>
            <a:stCxn id="865" idx="4"/>
            <a:endCxn id="87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37"/>
          <p:cNvSpPr txBox="1"/>
          <p:nvPr/>
        </p:nvSpPr>
        <p:spPr>
          <a:xfrm>
            <a:off x="311700" y="1225225"/>
            <a:ext cx="48153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graph is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connected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if there exists a (finite) path between each pair of nodes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Otherwise the graph is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disconnected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maximal connected subgraph is called a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component</a:t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a graph has more than one component it is by definition disconnected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connected subgraph containing the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largest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number of vertices in a graph is called the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giant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component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897" name="Google Shape;897;p3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that contains the </a:t>
            </a:r>
            <a:r>
              <a:rPr b="1" lang="en"/>
              <a:t>largest</a:t>
            </a:r>
            <a:r>
              <a:rPr lang="en"/>
              <a:t> proportion of vertices is called the </a:t>
            </a:r>
            <a:r>
              <a:rPr b="1" lang="en"/>
              <a:t>giant</a:t>
            </a:r>
            <a:r>
              <a:rPr lang="en"/>
              <a:t>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component is </a:t>
            </a:r>
            <a:r>
              <a:rPr b="1" lang="en"/>
              <a:t>k-connected</a:t>
            </a:r>
            <a:r>
              <a:rPr lang="en"/>
              <a:t> if every node in the component can reach any other one via a path of length </a:t>
            </a:r>
            <a:r>
              <a:rPr i="1" lang="en"/>
              <a:t>k </a:t>
            </a:r>
            <a:r>
              <a:rPr lang="en"/>
              <a:t>or less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8"/>
          <p:cNvSpPr txBox="1"/>
          <p:nvPr/>
        </p:nvSpPr>
        <p:spPr>
          <a:xfrm>
            <a:off x="4923450" y="4139675"/>
            <a:ext cx="1861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component is 2-connected!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99" name="Google Shape;899;p38"/>
          <p:cNvCxnSpPr>
            <a:stCxn id="898" idx="0"/>
          </p:cNvCxnSpPr>
          <p:nvPr/>
        </p:nvCxnSpPr>
        <p:spPr>
          <a:xfrm flipH="1" rot="10800000">
            <a:off x="5854050" y="3443975"/>
            <a:ext cx="24000" cy="69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00" name="Google Shape;900;p3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901" name="Google Shape;901;p3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5" name="Google Shape;905;p38"/>
            <p:cNvCxnSpPr>
              <a:stCxn id="901" idx="3"/>
              <a:endCxn id="90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38"/>
            <p:cNvCxnSpPr>
              <a:stCxn id="904" idx="1"/>
              <a:endCxn id="90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38"/>
            <p:cNvCxnSpPr>
              <a:stCxn id="901" idx="4"/>
              <a:endCxn id="90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38"/>
            <p:cNvCxnSpPr>
              <a:stCxn id="901" idx="5"/>
              <a:endCxn id="90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38"/>
            <p:cNvCxnSpPr>
              <a:stCxn id="903" idx="2"/>
              <a:endCxn id="90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0" name="Google Shape;910;p3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14" name="Google Shape;914;p38"/>
            <p:cNvCxnSpPr>
              <a:stCxn id="910" idx="3"/>
              <a:endCxn id="91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38"/>
            <p:cNvCxnSpPr>
              <a:stCxn id="913" idx="0"/>
              <a:endCxn id="91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38"/>
            <p:cNvCxnSpPr>
              <a:stCxn id="910" idx="5"/>
              <a:endCxn id="91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38"/>
            <p:cNvCxnSpPr>
              <a:stCxn id="912" idx="2"/>
              <a:endCxn id="91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8" name="Google Shape;918;p3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19" name="Google Shape;919;p38"/>
            <p:cNvCxnSpPr>
              <a:stCxn id="918" idx="0"/>
              <a:endCxn id="91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38"/>
            <p:cNvCxnSpPr>
              <a:stCxn id="912" idx="3"/>
              <a:endCxn id="91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38"/>
            <p:cNvCxnSpPr>
              <a:stCxn id="912" idx="3"/>
              <a:endCxn id="91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38"/>
            <p:cNvCxnSpPr>
              <a:stCxn id="910" idx="4"/>
              <a:endCxn id="91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23" name="Google Shape;923;p3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7" name="Google Shape;927;p38"/>
            <p:cNvCxnSpPr>
              <a:stCxn id="923" idx="3"/>
              <a:endCxn id="92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38"/>
            <p:cNvCxnSpPr>
              <a:stCxn id="926" idx="0"/>
              <a:endCxn id="92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38"/>
            <p:cNvCxnSpPr>
              <a:stCxn id="923" idx="5"/>
              <a:endCxn id="92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0" name="Google Shape;930;p38"/>
            <p:cNvCxnSpPr>
              <a:stCxn id="925" idx="2"/>
              <a:endCxn id="92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1" name="Google Shape;931;p3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32" name="Google Shape;932;p38"/>
            <p:cNvCxnSpPr>
              <a:stCxn id="925" idx="3"/>
              <a:endCxn id="92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38"/>
            <p:cNvCxnSpPr>
              <a:stCxn id="931" idx="2"/>
              <a:endCxn id="92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4" name="Google Shape;934;p38"/>
            <p:cNvCxnSpPr>
              <a:stCxn id="931" idx="0"/>
              <a:endCxn id="92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38"/>
            <p:cNvCxnSpPr>
              <a:stCxn id="926" idx="6"/>
              <a:endCxn id="93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38"/>
            <p:cNvCxnSpPr>
              <a:stCxn id="918" idx="3"/>
              <a:endCxn id="92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7" name="Google Shape;937;p38"/>
            <p:cNvCxnSpPr>
              <a:stCxn id="912" idx="4"/>
              <a:endCxn id="92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43" name="Google Shape;943;p3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8" name="Google Shape;948;p39"/>
          <p:cNvCxnSpPr>
            <a:stCxn id="944" idx="3"/>
            <a:endCxn id="94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39"/>
          <p:cNvCxnSpPr>
            <a:stCxn id="947" idx="1"/>
            <a:endCxn id="94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39"/>
          <p:cNvCxnSpPr>
            <a:stCxn id="944" idx="4"/>
            <a:endCxn id="94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39"/>
          <p:cNvCxnSpPr>
            <a:stCxn id="944" idx="5"/>
            <a:endCxn id="94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39"/>
          <p:cNvCxnSpPr>
            <a:stCxn id="946" idx="2"/>
            <a:endCxn id="94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3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7" name="Google Shape;957;p39"/>
          <p:cNvCxnSpPr>
            <a:stCxn id="953" idx="3"/>
            <a:endCxn id="95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39"/>
          <p:cNvCxnSpPr>
            <a:stCxn id="956" idx="0"/>
            <a:endCxn id="95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39"/>
          <p:cNvCxnSpPr>
            <a:stCxn id="953" idx="5"/>
            <a:endCxn id="95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39"/>
          <p:cNvCxnSpPr>
            <a:stCxn id="955" idx="2"/>
            <a:endCxn id="95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3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2" name="Google Shape;962;p39"/>
          <p:cNvCxnSpPr>
            <a:stCxn id="961" idx="0"/>
            <a:endCxn id="95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39"/>
          <p:cNvCxnSpPr>
            <a:stCxn id="955" idx="3"/>
            <a:endCxn id="95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39"/>
          <p:cNvCxnSpPr>
            <a:stCxn id="955" idx="3"/>
            <a:endCxn id="96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39"/>
          <p:cNvCxnSpPr>
            <a:stCxn id="953" idx="4"/>
            <a:endCxn id="96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3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9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0" name="Google Shape;970;p39"/>
          <p:cNvCxnSpPr>
            <a:stCxn id="966" idx="3"/>
            <a:endCxn id="96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39"/>
          <p:cNvCxnSpPr>
            <a:stCxn id="969" idx="0"/>
            <a:endCxn id="96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39"/>
          <p:cNvCxnSpPr>
            <a:stCxn id="966" idx="5"/>
            <a:endCxn id="96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39"/>
          <p:cNvCxnSpPr>
            <a:stCxn id="968" idx="2"/>
            <a:endCxn id="96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3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5" name="Google Shape;975;p39"/>
          <p:cNvCxnSpPr>
            <a:stCxn id="968" idx="3"/>
            <a:endCxn id="96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39"/>
          <p:cNvCxnSpPr>
            <a:stCxn id="974" idx="2"/>
            <a:endCxn id="96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39"/>
          <p:cNvCxnSpPr>
            <a:stCxn id="974" idx="0"/>
            <a:endCxn id="96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39"/>
          <p:cNvCxnSpPr>
            <a:stCxn id="969" idx="6"/>
            <a:endCxn id="97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39"/>
          <p:cNvCxnSpPr>
            <a:stCxn id="946" idx="5"/>
            <a:endCxn id="967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39"/>
          <p:cNvCxnSpPr>
            <a:stCxn id="946" idx="7"/>
            <a:endCxn id="95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39"/>
          <p:cNvCxnSpPr>
            <a:stCxn id="961" idx="3"/>
            <a:endCxn id="96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39"/>
          <p:cNvCxnSpPr>
            <a:stCxn id="955" idx="4"/>
            <a:endCxn id="96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88" name="Google Shape;988;p4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3" name="Google Shape;993;p40"/>
          <p:cNvCxnSpPr>
            <a:stCxn id="989" idx="3"/>
            <a:endCxn id="99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40"/>
          <p:cNvCxnSpPr>
            <a:stCxn id="992" idx="1"/>
            <a:endCxn id="99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40"/>
          <p:cNvCxnSpPr>
            <a:stCxn id="989" idx="4"/>
            <a:endCxn id="99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40"/>
          <p:cNvCxnSpPr>
            <a:stCxn id="989" idx="5"/>
            <a:endCxn id="99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40"/>
          <p:cNvCxnSpPr>
            <a:stCxn id="991" idx="2"/>
            <a:endCxn id="99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4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2" name="Google Shape;1002;p40"/>
          <p:cNvCxnSpPr>
            <a:stCxn id="998" idx="3"/>
            <a:endCxn id="99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40"/>
          <p:cNvCxnSpPr>
            <a:stCxn id="1001" idx="0"/>
            <a:endCxn id="99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40"/>
          <p:cNvCxnSpPr>
            <a:stCxn id="998" idx="5"/>
            <a:endCxn id="100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40"/>
          <p:cNvCxnSpPr>
            <a:stCxn id="1000" idx="2"/>
            <a:endCxn id="99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4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7" name="Google Shape;1007;p40"/>
          <p:cNvCxnSpPr>
            <a:stCxn id="1006" idx="0"/>
            <a:endCxn id="99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40"/>
          <p:cNvCxnSpPr>
            <a:stCxn id="1000" idx="3"/>
            <a:endCxn id="100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40"/>
          <p:cNvCxnSpPr>
            <a:stCxn id="1000" idx="3"/>
            <a:endCxn id="100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40"/>
          <p:cNvCxnSpPr>
            <a:stCxn id="998" idx="4"/>
            <a:endCxn id="100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1" name="Google Shape;1011;p4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0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5" name="Google Shape;1015;p40"/>
          <p:cNvCxnSpPr>
            <a:stCxn id="1011" idx="3"/>
            <a:endCxn id="101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0"/>
          <p:cNvCxnSpPr>
            <a:stCxn id="1014" idx="0"/>
            <a:endCxn id="1012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40"/>
          <p:cNvCxnSpPr>
            <a:stCxn id="1011" idx="5"/>
            <a:endCxn id="101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8" name="Google Shape;1018;p40"/>
          <p:cNvCxnSpPr>
            <a:stCxn id="1013" idx="2"/>
            <a:endCxn id="101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4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0" name="Google Shape;1020;p40"/>
          <p:cNvCxnSpPr>
            <a:stCxn id="1013" idx="3"/>
            <a:endCxn id="1014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40"/>
          <p:cNvCxnSpPr>
            <a:stCxn id="1019" idx="2"/>
            <a:endCxn id="101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40"/>
          <p:cNvCxnSpPr>
            <a:stCxn id="1019" idx="0"/>
            <a:endCxn id="101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40"/>
          <p:cNvCxnSpPr>
            <a:stCxn id="1014" idx="6"/>
            <a:endCxn id="1019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40"/>
          <p:cNvCxnSpPr>
            <a:stCxn id="1006" idx="3"/>
            <a:endCxn id="101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40"/>
          <p:cNvCxnSpPr>
            <a:stCxn id="1000" idx="4"/>
            <a:endCxn id="101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40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32" name="Google Shape;1032;p4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033" name="Google Shape;1033;p41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34" name="Google Shape;1034;p4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1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8" name="Google Shape;1038;p41"/>
            <p:cNvCxnSpPr>
              <a:stCxn id="1034" idx="3"/>
              <a:endCxn id="103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9" name="Google Shape;1039;p41"/>
            <p:cNvCxnSpPr>
              <a:stCxn id="1037" idx="1"/>
              <a:endCxn id="103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0" name="Google Shape;1040;p41"/>
            <p:cNvCxnSpPr>
              <a:stCxn id="1034" idx="4"/>
              <a:endCxn id="103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1" name="Google Shape;1041;p41"/>
            <p:cNvCxnSpPr>
              <a:stCxn id="1034" idx="5"/>
              <a:endCxn id="103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2" name="Google Shape;1042;p41"/>
            <p:cNvCxnSpPr>
              <a:stCxn id="1036" idx="2"/>
              <a:endCxn id="103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3" name="Google Shape;1043;p4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7" name="Google Shape;1047;p41"/>
            <p:cNvCxnSpPr>
              <a:stCxn id="1043" idx="3"/>
              <a:endCxn id="104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41"/>
            <p:cNvCxnSpPr>
              <a:stCxn id="1046" idx="0"/>
              <a:endCxn id="104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9" name="Google Shape;1049;p41"/>
            <p:cNvCxnSpPr>
              <a:stCxn id="1043" idx="5"/>
              <a:endCxn id="104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0" name="Google Shape;1050;p41"/>
            <p:cNvCxnSpPr>
              <a:stCxn id="1045" idx="2"/>
              <a:endCxn id="104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1" name="Google Shape;1051;p4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52" name="Google Shape;1052;p41"/>
            <p:cNvCxnSpPr>
              <a:stCxn id="1051" idx="0"/>
              <a:endCxn id="104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" name="Google Shape;1053;p41"/>
            <p:cNvCxnSpPr>
              <a:stCxn id="1045" idx="3"/>
              <a:endCxn id="104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" name="Google Shape;1054;p41"/>
            <p:cNvCxnSpPr>
              <a:stCxn id="1045" idx="3"/>
              <a:endCxn id="105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5" name="Google Shape;1055;p41"/>
            <p:cNvCxnSpPr>
              <a:stCxn id="1043" idx="4"/>
              <a:endCxn id="105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6" name="Google Shape;1056;p4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60" name="Google Shape;1060;p41"/>
            <p:cNvCxnSpPr>
              <a:stCxn id="1056" idx="3"/>
              <a:endCxn id="105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41"/>
            <p:cNvCxnSpPr>
              <a:stCxn id="1059" idx="0"/>
              <a:endCxn id="105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41"/>
            <p:cNvCxnSpPr>
              <a:stCxn id="1056" idx="5"/>
              <a:endCxn id="105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41"/>
            <p:cNvCxnSpPr>
              <a:stCxn id="1058" idx="2"/>
              <a:endCxn id="105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4" name="Google Shape;1064;p4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65" name="Google Shape;1065;p41"/>
            <p:cNvCxnSpPr>
              <a:stCxn id="1058" idx="3"/>
              <a:endCxn id="105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41"/>
            <p:cNvCxnSpPr>
              <a:stCxn id="1064" idx="2"/>
              <a:endCxn id="105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41"/>
            <p:cNvCxnSpPr>
              <a:stCxn id="1064" idx="0"/>
              <a:endCxn id="105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41"/>
            <p:cNvCxnSpPr>
              <a:stCxn id="1059" idx="6"/>
              <a:endCxn id="106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41"/>
            <p:cNvCxnSpPr>
              <a:stCxn id="1036" idx="5"/>
              <a:endCxn id="1057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41"/>
            <p:cNvCxnSpPr>
              <a:stCxn id="1036" idx="7"/>
              <a:endCxn id="1046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1" name="Google Shape;1071;p41"/>
            <p:cNvCxnSpPr>
              <a:stCxn id="1051" idx="3"/>
              <a:endCxn id="105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41"/>
            <p:cNvCxnSpPr>
              <a:stCxn id="1045" idx="4"/>
              <a:endCxn id="105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78" name="Google Shape;1078;p4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2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2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1" name="Google Shape;1081;p42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82" name="Google Shape;1082;p4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6" name="Google Shape;1086;p42"/>
            <p:cNvCxnSpPr>
              <a:stCxn id="1082" idx="3"/>
              <a:endCxn id="108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7" name="Google Shape;1087;p42"/>
            <p:cNvCxnSpPr>
              <a:stCxn id="1085" idx="1"/>
              <a:endCxn id="108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8" name="Google Shape;1088;p42"/>
            <p:cNvCxnSpPr>
              <a:stCxn id="1082" idx="4"/>
              <a:endCxn id="108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9" name="Google Shape;1089;p42"/>
            <p:cNvCxnSpPr>
              <a:stCxn id="1082" idx="5"/>
              <a:endCxn id="108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0" name="Google Shape;1090;p42"/>
            <p:cNvCxnSpPr>
              <a:stCxn id="1084" idx="2"/>
              <a:endCxn id="108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1" name="Google Shape;1091;p4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5" name="Google Shape;1095;p42"/>
            <p:cNvCxnSpPr>
              <a:stCxn id="1091" idx="3"/>
              <a:endCxn id="109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6" name="Google Shape;1096;p42"/>
            <p:cNvCxnSpPr>
              <a:stCxn id="1094" idx="0"/>
              <a:endCxn id="109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42"/>
            <p:cNvCxnSpPr>
              <a:stCxn id="1091" idx="5"/>
              <a:endCxn id="109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" name="Google Shape;1098;p42"/>
            <p:cNvCxnSpPr>
              <a:stCxn id="1093" idx="2"/>
              <a:endCxn id="109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9" name="Google Shape;1099;p4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0" name="Google Shape;1100;p42"/>
            <p:cNvCxnSpPr>
              <a:stCxn id="1099" idx="0"/>
              <a:endCxn id="109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1" name="Google Shape;1101;p42"/>
            <p:cNvCxnSpPr>
              <a:stCxn id="1093" idx="3"/>
              <a:endCxn id="109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2" name="Google Shape;1102;p42"/>
            <p:cNvCxnSpPr>
              <a:stCxn id="1093" idx="3"/>
              <a:endCxn id="109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3" name="Google Shape;1103;p42"/>
            <p:cNvCxnSpPr>
              <a:stCxn id="1091" idx="4"/>
              <a:endCxn id="109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4" name="Google Shape;1104;p4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8" name="Google Shape;1108;p42"/>
            <p:cNvCxnSpPr>
              <a:stCxn id="1104" idx="3"/>
              <a:endCxn id="110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42"/>
            <p:cNvCxnSpPr>
              <a:stCxn id="1107" idx="0"/>
              <a:endCxn id="110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42"/>
            <p:cNvCxnSpPr>
              <a:stCxn id="1104" idx="5"/>
              <a:endCxn id="110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42"/>
            <p:cNvCxnSpPr>
              <a:stCxn id="1106" idx="2"/>
              <a:endCxn id="110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2" name="Google Shape;1112;p4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3" name="Google Shape;1113;p42"/>
            <p:cNvCxnSpPr>
              <a:stCxn id="1106" idx="3"/>
              <a:endCxn id="110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4" name="Google Shape;1114;p42"/>
            <p:cNvCxnSpPr>
              <a:stCxn id="1112" idx="2"/>
              <a:endCxn id="110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5" name="Google Shape;1115;p42"/>
            <p:cNvCxnSpPr>
              <a:stCxn id="1112" idx="0"/>
              <a:endCxn id="110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42"/>
            <p:cNvCxnSpPr>
              <a:stCxn id="1107" idx="6"/>
              <a:endCxn id="111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42"/>
            <p:cNvCxnSpPr>
              <a:stCxn id="1084" idx="5"/>
              <a:endCxn id="110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42"/>
            <p:cNvCxnSpPr>
              <a:stCxn id="1093" idx="4"/>
              <a:endCxn id="110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19" name="Google Shape;1119;p42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removed some edges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20" name="Google Shape;1120;p42"/>
          <p:cNvSpPr txBox="1"/>
          <p:nvPr/>
        </p:nvSpPr>
        <p:spPr>
          <a:xfrm>
            <a:off x="4099750" y="4076700"/>
            <a:ext cx="2717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Is this graph disconnected?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26" name="Google Shape;1126;p4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43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3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3"/>
          <p:cNvSpPr txBox="1"/>
          <p:nvPr/>
        </p:nvSpPr>
        <p:spPr>
          <a:xfrm>
            <a:off x="4726150" y="39821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it is!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130" name="Google Shape;1130;p4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31" name="Google Shape;1131;p4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35" name="Google Shape;1135;p43"/>
            <p:cNvCxnSpPr>
              <a:stCxn id="1131" idx="3"/>
              <a:endCxn id="113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43"/>
            <p:cNvCxnSpPr>
              <a:stCxn id="1134" idx="1"/>
              <a:endCxn id="113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43"/>
            <p:cNvCxnSpPr>
              <a:stCxn id="1131" idx="4"/>
              <a:endCxn id="113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43"/>
            <p:cNvCxnSpPr>
              <a:stCxn id="1131" idx="5"/>
              <a:endCxn id="113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43"/>
            <p:cNvCxnSpPr>
              <a:stCxn id="1133" idx="2"/>
              <a:endCxn id="113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0" name="Google Shape;1140;p4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4" name="Google Shape;1144;p43"/>
            <p:cNvCxnSpPr>
              <a:stCxn id="1140" idx="3"/>
              <a:endCxn id="114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43"/>
            <p:cNvCxnSpPr>
              <a:stCxn id="1143" idx="0"/>
              <a:endCxn id="114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43"/>
            <p:cNvCxnSpPr>
              <a:stCxn id="1140" idx="5"/>
              <a:endCxn id="114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43"/>
            <p:cNvCxnSpPr>
              <a:stCxn id="1142" idx="2"/>
              <a:endCxn id="114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" name="Google Shape;1148;p4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9" name="Google Shape;1149;p43"/>
            <p:cNvCxnSpPr>
              <a:stCxn id="1148" idx="0"/>
              <a:endCxn id="114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" name="Google Shape;1150;p43"/>
            <p:cNvCxnSpPr>
              <a:stCxn id="1142" idx="3"/>
              <a:endCxn id="114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43"/>
            <p:cNvCxnSpPr>
              <a:stCxn id="1142" idx="3"/>
              <a:endCxn id="114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43"/>
            <p:cNvCxnSpPr>
              <a:stCxn id="1140" idx="4"/>
              <a:endCxn id="114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3" name="Google Shape;1153;p4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57" name="Google Shape;1157;p43"/>
            <p:cNvCxnSpPr>
              <a:stCxn id="1153" idx="3"/>
              <a:endCxn id="115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43"/>
            <p:cNvCxnSpPr>
              <a:stCxn id="1156" idx="0"/>
              <a:endCxn id="115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43"/>
            <p:cNvCxnSpPr>
              <a:stCxn id="1153" idx="5"/>
              <a:endCxn id="115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43"/>
            <p:cNvCxnSpPr>
              <a:stCxn id="1155" idx="2"/>
              <a:endCxn id="115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1" name="Google Shape;1161;p4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43"/>
            <p:cNvCxnSpPr>
              <a:stCxn id="1155" idx="3"/>
              <a:endCxn id="115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43"/>
            <p:cNvCxnSpPr>
              <a:stCxn id="1161" idx="2"/>
              <a:endCxn id="115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43"/>
            <p:cNvCxnSpPr>
              <a:stCxn id="1161" idx="0"/>
              <a:endCxn id="115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43"/>
            <p:cNvCxnSpPr>
              <a:stCxn id="1156" idx="6"/>
              <a:endCxn id="116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43"/>
            <p:cNvCxnSpPr>
              <a:stCxn id="1133" idx="5"/>
              <a:endCxn id="115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72" name="Google Shape;1172;p4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one edge leads to disconnection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44"/>
          <p:cNvSpPr txBox="1"/>
          <p:nvPr/>
        </p:nvSpPr>
        <p:spPr>
          <a:xfrm>
            <a:off x="4626000" y="939800"/>
            <a:ext cx="161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bridge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174" name="Google Shape;1174;p4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75" name="Google Shape;1175;p4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9" name="Google Shape;1179;p44"/>
            <p:cNvCxnSpPr>
              <a:stCxn id="1175" idx="3"/>
              <a:endCxn id="117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44"/>
            <p:cNvCxnSpPr>
              <a:stCxn id="1178" idx="1"/>
              <a:endCxn id="117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1" name="Google Shape;1181;p44"/>
            <p:cNvCxnSpPr>
              <a:stCxn id="1175" idx="4"/>
              <a:endCxn id="117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2" name="Google Shape;1182;p44"/>
            <p:cNvCxnSpPr>
              <a:stCxn id="1175" idx="5"/>
              <a:endCxn id="117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3" name="Google Shape;1183;p44"/>
            <p:cNvCxnSpPr>
              <a:stCxn id="1177" idx="2"/>
              <a:endCxn id="117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4" name="Google Shape;1184;p4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8" name="Google Shape;1188;p44"/>
            <p:cNvCxnSpPr>
              <a:stCxn id="1184" idx="3"/>
              <a:endCxn id="118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9" name="Google Shape;1189;p44"/>
            <p:cNvCxnSpPr>
              <a:stCxn id="1187" idx="0"/>
              <a:endCxn id="118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0" name="Google Shape;1190;p44"/>
            <p:cNvCxnSpPr>
              <a:stCxn id="1184" idx="5"/>
              <a:endCxn id="118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1" name="Google Shape;1191;p44"/>
            <p:cNvCxnSpPr>
              <a:stCxn id="1186" idx="2"/>
              <a:endCxn id="118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2" name="Google Shape;1192;p4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3" name="Google Shape;1193;p44"/>
            <p:cNvCxnSpPr>
              <a:stCxn id="1192" idx="0"/>
              <a:endCxn id="118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4" name="Google Shape;1194;p44"/>
            <p:cNvCxnSpPr>
              <a:stCxn id="1186" idx="3"/>
              <a:endCxn id="118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44"/>
            <p:cNvCxnSpPr>
              <a:stCxn id="1186" idx="3"/>
              <a:endCxn id="119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6" name="Google Shape;1196;p44"/>
            <p:cNvCxnSpPr>
              <a:stCxn id="1184" idx="4"/>
              <a:endCxn id="119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7" name="Google Shape;1197;p4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1" name="Google Shape;1201;p44"/>
            <p:cNvCxnSpPr>
              <a:stCxn id="1197" idx="3"/>
              <a:endCxn id="119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2" name="Google Shape;1202;p44"/>
            <p:cNvCxnSpPr>
              <a:stCxn id="1200" idx="0"/>
              <a:endCxn id="119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3" name="Google Shape;1203;p44"/>
            <p:cNvCxnSpPr>
              <a:stCxn id="1197" idx="5"/>
              <a:endCxn id="119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44"/>
            <p:cNvCxnSpPr>
              <a:stCxn id="1199" idx="2"/>
              <a:endCxn id="119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5" name="Google Shape;1205;p4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6" name="Google Shape;1206;p44"/>
            <p:cNvCxnSpPr>
              <a:stCxn id="1199" idx="3"/>
              <a:endCxn id="120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7" name="Google Shape;1207;p44"/>
            <p:cNvCxnSpPr>
              <a:stCxn id="1205" idx="2"/>
              <a:endCxn id="119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8" name="Google Shape;1208;p44"/>
            <p:cNvCxnSpPr>
              <a:stCxn id="1205" idx="0"/>
              <a:endCxn id="119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44"/>
            <p:cNvCxnSpPr>
              <a:stCxn id="1200" idx="6"/>
              <a:endCxn id="120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44"/>
            <p:cNvCxnSpPr>
              <a:stCxn id="1177" idx="7"/>
              <a:endCxn id="1187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44"/>
            <p:cNvCxnSpPr>
              <a:stCxn id="1192" idx="3"/>
              <a:endCxn id="119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44"/>
            <p:cNvCxnSpPr>
              <a:stCxn id="1186" idx="4"/>
              <a:endCxn id="119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13" name="Google Shape;1213;p44"/>
          <p:cNvCxnSpPr>
            <a:stCxn id="1173" idx="2"/>
          </p:cNvCxnSpPr>
          <p:nvPr/>
        </p:nvCxnSpPr>
        <p:spPr>
          <a:xfrm>
            <a:off x="5434950" y="1379600"/>
            <a:ext cx="1384500" cy="45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19" name="Google Shape;1219;p4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220" name="Google Shape;1220;p4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221" name="Google Shape;1221;p4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25" name="Google Shape;1225;p45"/>
            <p:cNvCxnSpPr>
              <a:stCxn id="1221" idx="3"/>
              <a:endCxn id="122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6" name="Google Shape;1226;p45"/>
            <p:cNvCxnSpPr>
              <a:stCxn id="1224" idx="1"/>
              <a:endCxn id="122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45"/>
            <p:cNvCxnSpPr>
              <a:stCxn id="1221" idx="4"/>
              <a:endCxn id="122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45"/>
            <p:cNvCxnSpPr>
              <a:stCxn id="1221" idx="5"/>
              <a:endCxn id="122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45"/>
            <p:cNvCxnSpPr>
              <a:stCxn id="1223" idx="2"/>
              <a:endCxn id="122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0" name="Google Shape;1230;p4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4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4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4" name="Google Shape;1234;p45"/>
            <p:cNvCxnSpPr>
              <a:stCxn id="1230" idx="3"/>
              <a:endCxn id="123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5" name="Google Shape;1235;p45"/>
            <p:cNvCxnSpPr>
              <a:stCxn id="1233" idx="0"/>
              <a:endCxn id="123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6" name="Google Shape;1236;p45"/>
            <p:cNvCxnSpPr>
              <a:stCxn id="1230" idx="5"/>
              <a:endCxn id="123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45"/>
            <p:cNvCxnSpPr>
              <a:stCxn id="1232" idx="2"/>
              <a:endCxn id="123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8" name="Google Shape;1238;p4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9" name="Google Shape;1239;p45"/>
            <p:cNvCxnSpPr>
              <a:stCxn id="1238" idx="0"/>
              <a:endCxn id="123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0" name="Google Shape;1240;p45"/>
            <p:cNvCxnSpPr>
              <a:stCxn id="1232" idx="3"/>
              <a:endCxn id="123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45"/>
            <p:cNvCxnSpPr>
              <a:stCxn id="1232" idx="3"/>
              <a:endCxn id="123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45"/>
            <p:cNvCxnSpPr>
              <a:stCxn id="1230" idx="4"/>
              <a:endCxn id="123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3" name="Google Shape;1243;p4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7" name="Google Shape;1247;p45"/>
            <p:cNvCxnSpPr>
              <a:stCxn id="1243" idx="3"/>
              <a:endCxn id="124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45"/>
            <p:cNvCxnSpPr>
              <a:stCxn id="1246" idx="0"/>
              <a:endCxn id="124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45"/>
            <p:cNvCxnSpPr>
              <a:stCxn id="1243" idx="5"/>
              <a:endCxn id="124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45"/>
            <p:cNvCxnSpPr>
              <a:stCxn id="1245" idx="2"/>
              <a:endCxn id="124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4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2" name="Google Shape;1252;p45"/>
            <p:cNvCxnSpPr>
              <a:stCxn id="1245" idx="3"/>
              <a:endCxn id="124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45"/>
            <p:cNvCxnSpPr>
              <a:stCxn id="1251" idx="2"/>
              <a:endCxn id="124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45"/>
            <p:cNvCxnSpPr>
              <a:stCxn id="1251" idx="0"/>
              <a:endCxn id="124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45"/>
            <p:cNvCxnSpPr>
              <a:stCxn id="1246" idx="6"/>
              <a:endCxn id="125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45"/>
            <p:cNvCxnSpPr>
              <a:stCxn id="1223" idx="5"/>
              <a:endCxn id="124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45"/>
            <p:cNvCxnSpPr>
              <a:stCxn id="1223" idx="7"/>
              <a:endCxn id="123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45"/>
            <p:cNvCxnSpPr>
              <a:stCxn id="1238" idx="3"/>
              <a:endCxn id="124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45"/>
            <p:cNvCxnSpPr>
              <a:stCxn id="1232" idx="4"/>
              <a:endCxn id="124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60" name="Google Shape;12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92" y="2977575"/>
            <a:ext cx="2978750" cy="18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66" name="Google Shape;1266;p4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0" name="Google Shape;1270;p46"/>
          <p:cNvCxnSpPr>
            <a:stCxn id="1267" idx="3"/>
            <a:endCxn id="126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46"/>
          <p:cNvCxnSpPr>
            <a:stCxn id="1269" idx="1"/>
            <a:endCxn id="126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46"/>
          <p:cNvCxnSpPr>
            <a:stCxn id="1267" idx="4"/>
            <a:endCxn id="126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4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4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4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7" name="Google Shape;1277;p46"/>
          <p:cNvCxnSpPr>
            <a:stCxn id="1273" idx="3"/>
            <a:endCxn id="127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46"/>
          <p:cNvCxnSpPr>
            <a:stCxn id="1276" idx="0"/>
            <a:endCxn id="127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46"/>
          <p:cNvCxnSpPr>
            <a:stCxn id="1273" idx="5"/>
            <a:endCxn id="127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46"/>
          <p:cNvCxnSpPr>
            <a:stCxn id="1275" idx="2"/>
            <a:endCxn id="127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1" name="Google Shape;1281;p4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2" name="Google Shape;1282;p46"/>
          <p:cNvCxnSpPr>
            <a:stCxn id="1281" idx="0"/>
            <a:endCxn id="127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46"/>
          <p:cNvCxnSpPr>
            <a:stCxn id="1275" idx="3"/>
            <a:endCxn id="127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46"/>
          <p:cNvCxnSpPr>
            <a:stCxn id="1275" idx="3"/>
            <a:endCxn id="128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46"/>
          <p:cNvCxnSpPr>
            <a:stCxn id="1273" idx="4"/>
            <a:endCxn id="128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4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4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4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46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0" name="Google Shape;1290;p46"/>
          <p:cNvCxnSpPr>
            <a:stCxn id="1286" idx="3"/>
            <a:endCxn id="128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46"/>
          <p:cNvCxnSpPr>
            <a:stCxn id="1289" idx="0"/>
            <a:endCxn id="128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46"/>
          <p:cNvCxnSpPr>
            <a:stCxn id="1286" idx="5"/>
            <a:endCxn id="128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46"/>
          <p:cNvCxnSpPr>
            <a:stCxn id="1288" idx="2"/>
            <a:endCxn id="128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4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5" name="Google Shape;1295;p46"/>
          <p:cNvCxnSpPr>
            <a:stCxn id="1288" idx="3"/>
            <a:endCxn id="128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46"/>
          <p:cNvCxnSpPr>
            <a:stCxn id="1294" idx="2"/>
            <a:endCxn id="128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46"/>
          <p:cNvCxnSpPr>
            <a:stCxn id="1294" idx="0"/>
            <a:endCxn id="128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46"/>
          <p:cNvCxnSpPr>
            <a:stCxn id="1289" idx="6"/>
            <a:endCxn id="129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46"/>
          <p:cNvCxnSpPr>
            <a:stCxn id="1281" idx="3"/>
            <a:endCxn id="128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46"/>
          <p:cNvCxnSpPr>
            <a:stCxn id="1275" idx="4"/>
            <a:endCxn id="128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1" name="Google Shape;1301;p46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302" name="Google Shape;1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92" y="2977575"/>
            <a:ext cx="2978750" cy="18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08" name="Google Shape;1308;p4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can be easier to disconnect a graph this way because nodes take their links with them!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4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4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4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2" name="Google Shape;1312;p47"/>
          <p:cNvCxnSpPr>
            <a:stCxn id="1309" idx="3"/>
            <a:endCxn id="131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47"/>
          <p:cNvCxnSpPr>
            <a:stCxn id="1311" idx="1"/>
            <a:endCxn id="131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4" name="Google Shape;1314;p47"/>
          <p:cNvCxnSpPr>
            <a:stCxn id="1309" idx="4"/>
            <a:endCxn id="1311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5" name="Google Shape;1315;p4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4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4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9" name="Google Shape;1319;p47"/>
          <p:cNvCxnSpPr>
            <a:stCxn id="1315" idx="3"/>
            <a:endCxn id="1316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47"/>
          <p:cNvCxnSpPr>
            <a:stCxn id="1318" idx="0"/>
            <a:endCxn id="1316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47"/>
          <p:cNvCxnSpPr>
            <a:stCxn id="1315" idx="5"/>
            <a:endCxn id="1317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2" name="Google Shape;1322;p47"/>
          <p:cNvCxnSpPr>
            <a:stCxn id="1317" idx="2"/>
            <a:endCxn id="1316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3" name="Google Shape;1323;p4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4" name="Google Shape;1324;p47"/>
          <p:cNvCxnSpPr>
            <a:stCxn id="1323" idx="0"/>
            <a:endCxn id="1316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47"/>
          <p:cNvCxnSpPr>
            <a:stCxn id="1317" idx="3"/>
            <a:endCxn id="131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47"/>
          <p:cNvCxnSpPr>
            <a:stCxn id="1317" idx="3"/>
            <a:endCxn id="1323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47"/>
          <p:cNvCxnSpPr>
            <a:stCxn id="1315" idx="4"/>
            <a:endCxn id="1323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4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4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4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47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2" name="Google Shape;1332;p47"/>
          <p:cNvCxnSpPr>
            <a:stCxn id="1328" idx="3"/>
            <a:endCxn id="1329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47"/>
          <p:cNvCxnSpPr>
            <a:stCxn id="1331" idx="0"/>
            <a:endCxn id="1329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47"/>
          <p:cNvCxnSpPr>
            <a:stCxn id="1328" idx="5"/>
            <a:endCxn id="1330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47"/>
          <p:cNvCxnSpPr>
            <a:stCxn id="1330" idx="2"/>
            <a:endCxn id="1329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6" name="Google Shape;1336;p4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7" name="Google Shape;1337;p47"/>
          <p:cNvCxnSpPr>
            <a:stCxn id="1330" idx="3"/>
            <a:endCxn id="1331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47"/>
          <p:cNvCxnSpPr>
            <a:stCxn id="1336" idx="2"/>
            <a:endCxn id="1329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47"/>
          <p:cNvCxnSpPr>
            <a:stCxn id="1336" idx="0"/>
            <a:endCxn id="1328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47"/>
          <p:cNvCxnSpPr>
            <a:stCxn id="1331" idx="6"/>
            <a:endCxn id="1336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47"/>
          <p:cNvCxnSpPr>
            <a:stCxn id="1323" idx="3"/>
            <a:endCxn id="1328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47"/>
          <p:cNvCxnSpPr>
            <a:stCxn id="1317" idx="4"/>
            <a:endCxn id="1330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47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344" name="Google Shape;134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92" y="2977575"/>
            <a:ext cx="2978750" cy="18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50" name="Google Shape;1350;p4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for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Can you guess what kind of centrality “connector” nodes are more likely to have?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351" name="Google Shape;1351;p4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352" name="Google Shape;1352;p4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6" name="Google Shape;1356;p48"/>
            <p:cNvCxnSpPr>
              <a:stCxn id="1352" idx="3"/>
              <a:endCxn id="135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48"/>
            <p:cNvCxnSpPr>
              <a:stCxn id="1355" idx="1"/>
              <a:endCxn id="135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8" name="Google Shape;1358;p48"/>
            <p:cNvCxnSpPr>
              <a:stCxn id="1352" idx="4"/>
              <a:endCxn id="135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48"/>
            <p:cNvCxnSpPr>
              <a:stCxn id="1352" idx="5"/>
              <a:endCxn id="135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48"/>
            <p:cNvCxnSpPr>
              <a:stCxn id="1354" idx="2"/>
              <a:endCxn id="135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1" name="Google Shape;1361;p4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5" name="Google Shape;1365;p48"/>
            <p:cNvCxnSpPr>
              <a:stCxn id="1361" idx="3"/>
              <a:endCxn id="136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6" name="Google Shape;1366;p48"/>
            <p:cNvCxnSpPr>
              <a:stCxn id="1364" idx="0"/>
              <a:endCxn id="136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7" name="Google Shape;1367;p48"/>
            <p:cNvCxnSpPr>
              <a:stCxn id="1361" idx="5"/>
              <a:endCxn id="136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8" name="Google Shape;1368;p48"/>
            <p:cNvCxnSpPr>
              <a:stCxn id="1363" idx="2"/>
              <a:endCxn id="136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9" name="Google Shape;1369;p4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0" name="Google Shape;1370;p48"/>
            <p:cNvCxnSpPr>
              <a:stCxn id="1369" idx="0"/>
              <a:endCxn id="136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48"/>
            <p:cNvCxnSpPr>
              <a:stCxn id="1363" idx="3"/>
              <a:endCxn id="136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2" name="Google Shape;1372;p48"/>
            <p:cNvCxnSpPr>
              <a:stCxn id="1363" idx="3"/>
              <a:endCxn id="136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3" name="Google Shape;1373;p48"/>
            <p:cNvCxnSpPr>
              <a:stCxn id="1361" idx="4"/>
              <a:endCxn id="136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4" name="Google Shape;1374;p4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0000FF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8" name="Google Shape;1378;p48"/>
            <p:cNvCxnSpPr>
              <a:stCxn id="1374" idx="3"/>
              <a:endCxn id="137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9" name="Google Shape;1379;p48"/>
            <p:cNvCxnSpPr>
              <a:stCxn id="1377" idx="0"/>
              <a:endCxn id="137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0" name="Google Shape;1380;p48"/>
            <p:cNvCxnSpPr>
              <a:stCxn id="1374" idx="5"/>
              <a:endCxn id="137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1" name="Google Shape;1381;p48"/>
            <p:cNvCxnSpPr>
              <a:stCxn id="1376" idx="2"/>
              <a:endCxn id="137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2" name="Google Shape;1382;p4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3" name="Google Shape;1383;p48"/>
            <p:cNvCxnSpPr>
              <a:stCxn id="1376" idx="3"/>
              <a:endCxn id="137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4" name="Google Shape;1384;p48"/>
            <p:cNvCxnSpPr>
              <a:stCxn id="1382" idx="2"/>
              <a:endCxn id="137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5" name="Google Shape;1385;p48"/>
            <p:cNvCxnSpPr>
              <a:stCxn id="1382" idx="0"/>
              <a:endCxn id="137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6" name="Google Shape;1386;p48"/>
            <p:cNvCxnSpPr>
              <a:stCxn id="1377" idx="6"/>
              <a:endCxn id="138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7" name="Google Shape;1387;p48"/>
            <p:cNvCxnSpPr>
              <a:stCxn id="1354" idx="5"/>
              <a:endCxn id="137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8" name="Google Shape;1388;p48"/>
            <p:cNvCxnSpPr>
              <a:stCxn id="1354" idx="7"/>
              <a:endCxn id="136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9" name="Google Shape;1389;p48"/>
            <p:cNvCxnSpPr>
              <a:stCxn id="1369" idx="3"/>
              <a:endCxn id="137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0" name="Google Shape;1390;p48"/>
            <p:cNvCxnSpPr>
              <a:stCxn id="1363" idx="4"/>
              <a:endCxn id="137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91" name="Google Shape;1391;p48"/>
          <p:cNvSpPr txBox="1"/>
          <p:nvPr/>
        </p:nvSpPr>
        <p:spPr>
          <a:xfrm>
            <a:off x="5594175" y="3711150"/>
            <a:ext cx="1193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VIP Node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392" name="Google Shape;1392;p48"/>
          <p:cNvCxnSpPr>
            <a:stCxn id="1391" idx="0"/>
            <a:endCxn id="1354" idx="4"/>
          </p:cNvCxnSpPr>
          <p:nvPr/>
        </p:nvCxnSpPr>
        <p:spPr>
          <a:xfrm flipH="1" rot="10800000">
            <a:off x="6190875" y="2701050"/>
            <a:ext cx="265500" cy="101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3" name="Google Shape;1393;p48"/>
          <p:cNvSpPr txBox="1"/>
          <p:nvPr/>
        </p:nvSpPr>
        <p:spPr>
          <a:xfrm>
            <a:off x="5412025" y="4397125"/>
            <a:ext cx="860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Not VIP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1394" name="Google Shape;1394;p48"/>
          <p:cNvCxnSpPr>
            <a:stCxn id="1393" idx="3"/>
            <a:endCxn id="1377" idx="2"/>
          </p:cNvCxnSpPr>
          <p:nvPr/>
        </p:nvCxnSpPr>
        <p:spPr>
          <a:xfrm>
            <a:off x="6272125" y="4584775"/>
            <a:ext cx="1459800" cy="5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400" name="Google Shape;1400;p4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401" name="Google Shape;1401;p49"/>
          <p:cNvCxnSpPr>
            <a:stCxn id="1402" idx="0"/>
          </p:cNvCxnSpPr>
          <p:nvPr/>
        </p:nvCxnSpPr>
        <p:spPr>
          <a:xfrm flipH="1" rot="10800000">
            <a:off x="5617675" y="3318925"/>
            <a:ext cx="1095300" cy="107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2" name="Google Shape;1402;p49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1-connected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403" name="Google Shape;1403;p49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404" name="Google Shape;1404;p4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5" name="Google Shape;1405;p49"/>
            <p:cNvCxnSpPr>
              <a:stCxn id="1404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49"/>
            <p:cNvCxnSpPr>
              <a:endCxn id="1404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7" name="Google Shape;1407;p49"/>
            <p:cNvCxnSpPr>
              <a:stCxn id="1404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8" name="Google Shape;1408;p49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1409" name="Google Shape;1409;p4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3" name="Google Shape;1413;p49"/>
            <p:cNvCxnSpPr>
              <a:stCxn id="1409" idx="3"/>
              <a:endCxn id="141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49"/>
            <p:cNvCxnSpPr>
              <a:stCxn id="1412" idx="1"/>
              <a:endCxn id="141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5" name="Google Shape;1415;p49"/>
            <p:cNvCxnSpPr>
              <a:stCxn id="1409" idx="4"/>
              <a:endCxn id="141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6" name="Google Shape;1416;p49"/>
            <p:cNvCxnSpPr>
              <a:stCxn id="1409" idx="5"/>
              <a:endCxn id="141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7" name="Google Shape;1417;p49"/>
            <p:cNvCxnSpPr>
              <a:stCxn id="1411" idx="2"/>
              <a:endCxn id="141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8" name="Google Shape;1418;p4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2" name="Google Shape;1422;p49"/>
            <p:cNvCxnSpPr>
              <a:stCxn id="1418" idx="3"/>
              <a:endCxn id="141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3" name="Google Shape;1423;p49"/>
            <p:cNvCxnSpPr>
              <a:stCxn id="1421" idx="0"/>
              <a:endCxn id="141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49"/>
            <p:cNvCxnSpPr>
              <a:stCxn id="1418" idx="5"/>
              <a:endCxn id="142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5" name="Google Shape;1425;p49"/>
            <p:cNvCxnSpPr>
              <a:stCxn id="1420" idx="2"/>
              <a:endCxn id="141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6" name="Google Shape;1426;p4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7" name="Google Shape;1427;p49"/>
            <p:cNvCxnSpPr>
              <a:stCxn id="1426" idx="0"/>
              <a:endCxn id="141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8" name="Google Shape;1428;p49"/>
            <p:cNvCxnSpPr>
              <a:stCxn id="1420" idx="3"/>
              <a:endCxn id="142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49"/>
            <p:cNvCxnSpPr>
              <a:stCxn id="1420" idx="3"/>
              <a:endCxn id="142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49"/>
            <p:cNvCxnSpPr>
              <a:stCxn id="1418" idx="4"/>
              <a:endCxn id="142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1" name="Google Shape;1431;p4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4" name="Google Shape;1434;p49"/>
            <p:cNvCxnSpPr>
              <a:stCxn id="1431" idx="3"/>
              <a:endCxn id="143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5" name="Google Shape;1435;p49"/>
            <p:cNvCxnSpPr>
              <a:stCxn id="1431" idx="5"/>
              <a:endCxn id="143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6" name="Google Shape;1436;p49"/>
            <p:cNvCxnSpPr>
              <a:stCxn id="1433" idx="2"/>
              <a:endCxn id="143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7" name="Google Shape;1437;p4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8" name="Google Shape;1438;p49"/>
            <p:cNvCxnSpPr>
              <a:stCxn id="1437" idx="2"/>
              <a:endCxn id="143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9" name="Google Shape;1439;p49"/>
            <p:cNvCxnSpPr>
              <a:stCxn id="1437" idx="0"/>
              <a:endCxn id="143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0" name="Google Shape;1440;p49"/>
            <p:cNvCxnSpPr>
              <a:stCxn id="1411" idx="5"/>
              <a:endCxn id="1432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1" name="Google Shape;1441;p49"/>
            <p:cNvCxnSpPr>
              <a:stCxn id="1411" idx="7"/>
              <a:endCxn id="1421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2" name="Google Shape;1442;p49"/>
            <p:cNvCxnSpPr>
              <a:stCxn id="1426" idx="3"/>
              <a:endCxn id="143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3" name="Google Shape;1443;p49"/>
            <p:cNvCxnSpPr>
              <a:stCxn id="1420" idx="4"/>
              <a:endCxn id="143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449" name="Google Shape;1449;p50"/>
          <p:cNvSpPr txBox="1"/>
          <p:nvPr>
            <p:ph idx="1" type="body"/>
          </p:nvPr>
        </p:nvSpPr>
        <p:spPr>
          <a:xfrm>
            <a:off x="463250" y="123987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450" name="Google Shape;1450;p50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1451" name="Google Shape;1451;p50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0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0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0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55" name="Google Shape;1455;p50"/>
            <p:cNvCxnSpPr>
              <a:stCxn id="1451" idx="3"/>
              <a:endCxn id="145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6" name="Google Shape;1456;p50"/>
            <p:cNvCxnSpPr>
              <a:stCxn id="1454" idx="1"/>
              <a:endCxn id="145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7" name="Google Shape;1457;p50"/>
            <p:cNvCxnSpPr>
              <a:stCxn id="1451" idx="4"/>
              <a:endCxn id="145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8" name="Google Shape;1458;p50"/>
            <p:cNvCxnSpPr>
              <a:stCxn id="1451" idx="5"/>
              <a:endCxn id="145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" name="Google Shape;1459;p50"/>
            <p:cNvCxnSpPr>
              <a:stCxn id="1453" idx="2"/>
              <a:endCxn id="145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0" name="Google Shape;1460;p50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4" name="Google Shape;1464;p50"/>
            <p:cNvCxnSpPr>
              <a:stCxn id="1460" idx="3"/>
              <a:endCxn id="146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" name="Google Shape;1465;p50"/>
            <p:cNvCxnSpPr>
              <a:stCxn id="1463" idx="0"/>
              <a:endCxn id="146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6" name="Google Shape;1466;p50"/>
            <p:cNvCxnSpPr>
              <a:stCxn id="1460" idx="5"/>
              <a:endCxn id="146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7" name="Google Shape;1467;p50"/>
            <p:cNvCxnSpPr>
              <a:stCxn id="1462" idx="2"/>
              <a:endCxn id="146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8" name="Google Shape;1468;p50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9" name="Google Shape;1469;p50"/>
            <p:cNvCxnSpPr>
              <a:stCxn id="1468" idx="0"/>
              <a:endCxn id="146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0" name="Google Shape;1470;p50"/>
            <p:cNvCxnSpPr>
              <a:stCxn id="1462" idx="3"/>
              <a:endCxn id="146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50"/>
            <p:cNvCxnSpPr>
              <a:stCxn id="1462" idx="3"/>
              <a:endCxn id="146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2" name="Google Shape;1472;p50"/>
            <p:cNvCxnSpPr>
              <a:stCxn id="1460" idx="4"/>
              <a:endCxn id="146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3" name="Google Shape;1473;p50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0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0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6" name="Google Shape;1476;p50"/>
            <p:cNvCxnSpPr>
              <a:stCxn id="1473" idx="3"/>
              <a:endCxn id="147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7" name="Google Shape;1477;p50"/>
            <p:cNvCxnSpPr>
              <a:stCxn id="1473" idx="5"/>
              <a:endCxn id="147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8" name="Google Shape;1478;p50"/>
            <p:cNvCxnSpPr>
              <a:stCxn id="1475" idx="2"/>
              <a:endCxn id="147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50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0" name="Google Shape;1480;p50"/>
            <p:cNvCxnSpPr>
              <a:stCxn id="1479" idx="2"/>
              <a:endCxn id="147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50"/>
            <p:cNvCxnSpPr>
              <a:stCxn id="1479" idx="0"/>
              <a:endCxn id="147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50"/>
            <p:cNvCxnSpPr>
              <a:stCxn id="1453" idx="5"/>
              <a:endCxn id="147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50"/>
            <p:cNvCxnSpPr>
              <a:stCxn id="1453" idx="7"/>
              <a:endCxn id="146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4" name="Google Shape;1484;p50"/>
            <p:cNvCxnSpPr>
              <a:stCxn id="1468" idx="3"/>
              <a:endCxn id="147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5" name="Google Shape;1485;p50"/>
            <p:cNvCxnSpPr>
              <a:stCxn id="1462" idx="4"/>
              <a:endCxn id="147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86" name="Google Shape;1486;p50"/>
          <p:cNvCxnSpPr>
            <a:stCxn id="1487" idx="0"/>
          </p:cNvCxnSpPr>
          <p:nvPr/>
        </p:nvCxnSpPr>
        <p:spPr>
          <a:xfrm flipH="1" rot="10800000">
            <a:off x="5617675" y="3318925"/>
            <a:ext cx="1095300" cy="107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7" name="Google Shape;1487;p50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2-connected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488" name="Google Shape;1488;p50"/>
          <p:cNvCxnSpPr>
            <a:stCxn id="1451" idx="6"/>
            <a:endCxn id="1468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89" name="Google Shape;1489;p50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490" name="Google Shape;1490;p5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1" name="Google Shape;1491;p50"/>
            <p:cNvCxnSpPr>
              <a:stCxn id="149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50"/>
            <p:cNvCxnSpPr>
              <a:endCxn id="149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3" name="Google Shape;1493;p50"/>
            <p:cNvCxnSpPr>
              <a:stCxn id="149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499" name="Google Shape;1499;p5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500" name="Google Shape;1500;p51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1501" name="Google Shape;1501;p5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04" name="Google Shape;1504;p51"/>
            <p:cNvCxnSpPr>
              <a:stCxn id="1501" idx="3"/>
              <a:endCxn id="150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5" name="Google Shape;1505;p51"/>
            <p:cNvCxnSpPr>
              <a:stCxn id="1503" idx="1"/>
              <a:endCxn id="150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6" name="Google Shape;1506;p51"/>
            <p:cNvCxnSpPr>
              <a:stCxn id="1501" idx="4"/>
              <a:endCxn id="150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7" name="Google Shape;1507;p5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1" name="Google Shape;1511;p51"/>
            <p:cNvCxnSpPr>
              <a:stCxn id="1507" idx="3"/>
              <a:endCxn id="1508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51"/>
            <p:cNvCxnSpPr>
              <a:stCxn id="1510" idx="0"/>
              <a:endCxn id="1508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51"/>
            <p:cNvCxnSpPr>
              <a:stCxn id="1507" idx="5"/>
              <a:endCxn id="1509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51"/>
            <p:cNvCxnSpPr>
              <a:stCxn id="1509" idx="2"/>
              <a:endCxn id="1508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5" name="Google Shape;1515;p5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6" name="Google Shape;1516;p51"/>
            <p:cNvCxnSpPr>
              <a:stCxn id="1515" idx="0"/>
              <a:endCxn id="1508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7" name="Google Shape;1517;p51"/>
            <p:cNvCxnSpPr>
              <a:stCxn id="1509" idx="3"/>
              <a:endCxn id="1510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8" name="Google Shape;1518;p51"/>
            <p:cNvCxnSpPr>
              <a:stCxn id="1509" idx="3"/>
              <a:endCxn id="1515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9" name="Google Shape;1519;p51"/>
            <p:cNvCxnSpPr>
              <a:stCxn id="1507" idx="4"/>
              <a:endCxn id="1515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0" name="Google Shape;1520;p5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23" name="Google Shape;1523;p51"/>
            <p:cNvCxnSpPr>
              <a:stCxn id="1520" idx="3"/>
              <a:endCxn id="1521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4" name="Google Shape;1524;p51"/>
            <p:cNvCxnSpPr>
              <a:stCxn id="1520" idx="5"/>
              <a:endCxn id="1522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51"/>
            <p:cNvCxnSpPr>
              <a:stCxn id="1522" idx="2"/>
              <a:endCxn id="1521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6" name="Google Shape;1526;p5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27" name="Google Shape;1527;p51"/>
            <p:cNvCxnSpPr>
              <a:stCxn id="1526" idx="2"/>
              <a:endCxn id="1521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8" name="Google Shape;1528;p51"/>
            <p:cNvCxnSpPr>
              <a:stCxn id="1526" idx="0"/>
              <a:endCxn id="1520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9" name="Google Shape;1529;p51"/>
            <p:cNvCxnSpPr>
              <a:stCxn id="1515" idx="3"/>
              <a:endCxn id="1520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0" name="Google Shape;1530;p51"/>
            <p:cNvCxnSpPr>
              <a:stCxn id="1509" idx="4"/>
              <a:endCxn id="1522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31" name="Google Shape;1531;p51"/>
          <p:cNvCxnSpPr>
            <a:stCxn id="1532" idx="0"/>
          </p:cNvCxnSpPr>
          <p:nvPr/>
        </p:nvCxnSpPr>
        <p:spPr>
          <a:xfrm flipH="1" rot="10800000">
            <a:off x="5617675" y="3318925"/>
            <a:ext cx="1095300" cy="107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2" name="Google Shape;1532;p51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2-connected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33" name="Google Shape;1533;p51"/>
          <p:cNvCxnSpPr>
            <a:stCxn id="1501" idx="6"/>
            <a:endCxn id="1515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34" name="Google Shape;1534;p51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535" name="Google Shape;1535;p5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6" name="Google Shape;1536;p51"/>
            <p:cNvCxnSpPr>
              <a:stCxn id="153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7" name="Google Shape;1537;p51"/>
            <p:cNvCxnSpPr>
              <a:endCxn id="153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8" name="Google Shape;1538;p51"/>
            <p:cNvCxnSpPr>
              <a:stCxn id="153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544" name="Google Shape;1544;p5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545" name="Google Shape;1545;p52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1546" name="Google Shape;1546;p5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0" name="Google Shape;1550;p52"/>
            <p:cNvCxnSpPr>
              <a:stCxn id="1546" idx="3"/>
              <a:endCxn id="1547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1" name="Google Shape;1551;p52"/>
            <p:cNvCxnSpPr>
              <a:stCxn id="1549" idx="1"/>
              <a:endCxn id="1547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2" name="Google Shape;1552;p52"/>
            <p:cNvCxnSpPr>
              <a:stCxn id="1546" idx="4"/>
              <a:endCxn id="1549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52"/>
            <p:cNvCxnSpPr>
              <a:stCxn id="1546" idx="5"/>
              <a:endCxn id="1548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52"/>
            <p:cNvCxnSpPr>
              <a:stCxn id="1548" idx="2"/>
              <a:endCxn id="1547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5" name="Google Shape;1555;p5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5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9" name="Google Shape;1559;p52"/>
            <p:cNvCxnSpPr>
              <a:stCxn id="1555" idx="3"/>
              <a:endCxn id="1556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52"/>
            <p:cNvCxnSpPr>
              <a:stCxn id="1558" idx="0"/>
              <a:endCxn id="1556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1" name="Google Shape;1561;p52"/>
            <p:cNvCxnSpPr>
              <a:stCxn id="1555" idx="5"/>
              <a:endCxn id="1557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2" name="Google Shape;1562;p52"/>
            <p:cNvCxnSpPr>
              <a:stCxn id="1557" idx="2"/>
              <a:endCxn id="1556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3" name="Google Shape;1563;p5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4" name="Google Shape;1564;p52"/>
            <p:cNvCxnSpPr>
              <a:stCxn id="1563" idx="0"/>
              <a:endCxn id="1556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5" name="Google Shape;1565;p52"/>
            <p:cNvCxnSpPr>
              <a:stCxn id="1557" idx="3"/>
              <a:endCxn id="1558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6" name="Google Shape;1566;p52"/>
            <p:cNvCxnSpPr>
              <a:stCxn id="1557" idx="3"/>
              <a:endCxn id="1563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7" name="Google Shape;1567;p52"/>
            <p:cNvCxnSpPr>
              <a:stCxn id="1555" idx="4"/>
              <a:endCxn id="1563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8" name="Google Shape;1568;p5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1" name="Google Shape;1571;p52"/>
            <p:cNvCxnSpPr>
              <a:stCxn id="1568" idx="3"/>
              <a:endCxn id="1569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2" name="Google Shape;1572;p52"/>
            <p:cNvCxnSpPr>
              <a:stCxn id="1568" idx="5"/>
              <a:endCxn id="1570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52"/>
            <p:cNvCxnSpPr>
              <a:stCxn id="1570" idx="2"/>
              <a:endCxn id="1569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4" name="Google Shape;1574;p5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5" name="Google Shape;1575;p52"/>
            <p:cNvCxnSpPr>
              <a:stCxn id="1574" idx="2"/>
              <a:endCxn id="1569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6" name="Google Shape;1576;p52"/>
            <p:cNvCxnSpPr>
              <a:stCxn id="1574" idx="0"/>
              <a:endCxn id="1568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7" name="Google Shape;1577;p52"/>
            <p:cNvCxnSpPr>
              <a:stCxn id="1548" idx="5"/>
              <a:endCxn id="1569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8" name="Google Shape;1578;p52"/>
            <p:cNvCxnSpPr>
              <a:stCxn id="1548" idx="7"/>
              <a:endCxn id="1558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9" name="Google Shape;1579;p52"/>
            <p:cNvCxnSpPr>
              <a:stCxn id="1563" idx="3"/>
              <a:endCxn id="1568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0" name="Google Shape;1580;p52"/>
            <p:cNvCxnSpPr>
              <a:stCxn id="1557" idx="4"/>
              <a:endCxn id="1570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81" name="Google Shape;1581;p52"/>
          <p:cNvCxnSpPr>
            <a:stCxn id="1582" idx="0"/>
          </p:cNvCxnSpPr>
          <p:nvPr/>
        </p:nvCxnSpPr>
        <p:spPr>
          <a:xfrm flipH="1" rot="10800000">
            <a:off x="5617675" y="3318925"/>
            <a:ext cx="1095300" cy="107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2" name="Google Shape;1582;p52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3-connected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83" name="Google Shape;1583;p52"/>
          <p:cNvCxnSpPr>
            <a:stCxn id="1546" idx="6"/>
            <a:endCxn id="1563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52"/>
          <p:cNvCxnSpPr>
            <a:stCxn id="1549" idx="6"/>
            <a:endCxn id="1568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85" name="Google Shape;1585;p52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586" name="Google Shape;1586;p5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7" name="Google Shape;1587;p52"/>
            <p:cNvCxnSpPr>
              <a:stCxn id="1586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8" name="Google Shape;1588;p52"/>
            <p:cNvCxnSpPr>
              <a:endCxn id="1586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9" name="Google Shape;1589;p52"/>
            <p:cNvCxnSpPr>
              <a:stCxn id="1586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595" name="Google Shape;1595;p5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5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5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5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9" name="Google Shape;1599;p53"/>
          <p:cNvCxnSpPr>
            <a:stCxn id="1596" idx="3"/>
            <a:endCxn id="1597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53"/>
          <p:cNvCxnSpPr>
            <a:stCxn id="1598" idx="1"/>
            <a:endCxn id="1597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53"/>
          <p:cNvCxnSpPr>
            <a:stCxn id="1596" idx="4"/>
            <a:endCxn id="159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2" name="Google Shape;1602;p5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5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5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5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6" name="Google Shape;1606;p53"/>
          <p:cNvCxnSpPr>
            <a:stCxn id="1602" idx="3"/>
            <a:endCxn id="160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7" name="Google Shape;1607;p53"/>
          <p:cNvCxnSpPr>
            <a:stCxn id="1605" idx="0"/>
            <a:endCxn id="160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53"/>
          <p:cNvCxnSpPr>
            <a:stCxn id="1602" idx="5"/>
            <a:endCxn id="160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53"/>
          <p:cNvCxnSpPr>
            <a:stCxn id="1604" idx="2"/>
            <a:endCxn id="160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0" name="Google Shape;1610;p53"/>
          <p:cNvCxnSpPr>
            <a:stCxn id="1604" idx="3"/>
            <a:endCxn id="160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5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5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4" name="Google Shape;1614;p53"/>
          <p:cNvCxnSpPr>
            <a:stCxn id="1611" idx="3"/>
            <a:endCxn id="161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53"/>
          <p:cNvCxnSpPr>
            <a:stCxn id="1611" idx="5"/>
            <a:endCxn id="161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53"/>
          <p:cNvCxnSpPr>
            <a:stCxn id="1613" idx="2"/>
            <a:endCxn id="161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7" name="Google Shape;1617;p5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8" name="Google Shape;1618;p53"/>
          <p:cNvCxnSpPr>
            <a:stCxn id="1617" idx="2"/>
            <a:endCxn id="161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53"/>
          <p:cNvCxnSpPr>
            <a:stCxn id="1617" idx="0"/>
            <a:endCxn id="161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0" name="Google Shape;1620;p53"/>
          <p:cNvCxnSpPr>
            <a:stCxn id="1604" idx="4"/>
            <a:endCxn id="161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53"/>
          <p:cNvCxnSpPr>
            <a:stCxn id="1622" idx="0"/>
          </p:cNvCxnSpPr>
          <p:nvPr/>
        </p:nvCxnSpPr>
        <p:spPr>
          <a:xfrm flipH="1" rot="10800000">
            <a:off x="5617675" y="3318925"/>
            <a:ext cx="1095300" cy="107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2" name="Google Shape;1622;p53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3-connected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623" name="Google Shape;1623;p53"/>
          <p:cNvCxnSpPr>
            <a:stCxn id="1598" idx="6"/>
            <a:endCxn id="161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24" name="Google Shape;1624;p53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625" name="Google Shape;1625;p5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6" name="Google Shape;1626;p53"/>
            <p:cNvCxnSpPr>
              <a:stCxn id="162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7" name="Google Shape;1627;p53"/>
            <p:cNvCxnSpPr>
              <a:endCxn id="162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8" name="Google Shape;1628;p53"/>
            <p:cNvCxnSpPr>
              <a:stCxn id="162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634" name="Google Shape;1634;p54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edges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edge-cutset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5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636" name="Google Shape;1636;p5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0" name="Google Shape;1640;p54"/>
            <p:cNvCxnSpPr>
              <a:stCxn id="1636" idx="3"/>
              <a:endCxn id="1637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1" name="Google Shape;1641;p54"/>
            <p:cNvCxnSpPr>
              <a:stCxn id="1639" idx="1"/>
              <a:endCxn id="1637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2" name="Google Shape;1642;p54"/>
            <p:cNvCxnSpPr>
              <a:stCxn id="1636" idx="4"/>
              <a:endCxn id="1639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3" name="Google Shape;1643;p54"/>
            <p:cNvCxnSpPr>
              <a:stCxn id="1636" idx="5"/>
              <a:endCxn id="1638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4" name="Google Shape;1644;p54"/>
            <p:cNvCxnSpPr>
              <a:stCxn id="1638" idx="2"/>
              <a:endCxn id="1637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5" name="Google Shape;1645;p5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9" name="Google Shape;1649;p54"/>
            <p:cNvCxnSpPr>
              <a:stCxn id="1645" idx="3"/>
              <a:endCxn id="1646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54"/>
            <p:cNvCxnSpPr>
              <a:stCxn id="1648" idx="0"/>
              <a:endCxn id="1646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1" name="Google Shape;1651;p54"/>
            <p:cNvCxnSpPr>
              <a:stCxn id="1645" idx="5"/>
              <a:endCxn id="1647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2" name="Google Shape;1652;p54"/>
            <p:cNvCxnSpPr>
              <a:stCxn id="1647" idx="2"/>
              <a:endCxn id="1646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3" name="Google Shape;1653;p5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4" name="Google Shape;1654;p54"/>
            <p:cNvCxnSpPr>
              <a:stCxn id="1653" idx="0"/>
              <a:endCxn id="1646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54"/>
            <p:cNvCxnSpPr>
              <a:stCxn id="1647" idx="3"/>
              <a:endCxn id="1648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54"/>
            <p:cNvCxnSpPr>
              <a:stCxn id="1647" idx="3"/>
              <a:endCxn id="1653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7" name="Google Shape;1657;p54"/>
            <p:cNvCxnSpPr>
              <a:stCxn id="1645" idx="4"/>
              <a:endCxn id="1653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8" name="Google Shape;1658;p5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62" name="Google Shape;1662;p54"/>
            <p:cNvCxnSpPr>
              <a:stCxn id="1658" idx="3"/>
              <a:endCxn id="1659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3" name="Google Shape;1663;p54"/>
            <p:cNvCxnSpPr>
              <a:stCxn id="1661" idx="0"/>
              <a:endCxn id="1659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4" name="Google Shape;1664;p54"/>
            <p:cNvCxnSpPr>
              <a:stCxn id="1658" idx="5"/>
              <a:endCxn id="1660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5" name="Google Shape;1665;p54"/>
            <p:cNvCxnSpPr>
              <a:stCxn id="1660" idx="2"/>
              <a:endCxn id="1659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6" name="Google Shape;1666;p5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67" name="Google Shape;1667;p54"/>
            <p:cNvCxnSpPr>
              <a:stCxn id="1660" idx="3"/>
              <a:endCxn id="1661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8" name="Google Shape;1668;p54"/>
            <p:cNvCxnSpPr>
              <a:stCxn id="1666" idx="2"/>
              <a:endCxn id="1659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9" name="Google Shape;1669;p54"/>
            <p:cNvCxnSpPr>
              <a:stCxn id="1666" idx="0"/>
              <a:endCxn id="1658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0" name="Google Shape;1670;p54"/>
            <p:cNvCxnSpPr>
              <a:stCxn id="1661" idx="6"/>
              <a:endCxn id="1666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1" name="Google Shape;1671;p54"/>
            <p:cNvCxnSpPr>
              <a:stCxn id="1638" idx="5"/>
              <a:endCxn id="1659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2" name="Google Shape;1672;p54"/>
            <p:cNvCxnSpPr>
              <a:stCxn id="1638" idx="7"/>
              <a:endCxn id="1648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3" name="Google Shape;1673;p54"/>
            <p:cNvCxnSpPr>
              <a:stCxn id="1653" idx="3"/>
              <a:endCxn id="1658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4" name="Google Shape;1674;p54"/>
            <p:cNvCxnSpPr>
              <a:stCxn id="1647" idx="4"/>
              <a:endCxn id="1660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680" name="Google Shape;1680;p55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edges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edge-cutset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681" name="Google Shape;1681;p5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682" name="Google Shape;1682;p5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86" name="Google Shape;1686;p55"/>
            <p:cNvCxnSpPr>
              <a:stCxn id="1682" idx="3"/>
              <a:endCxn id="168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7" name="Google Shape;1687;p55"/>
            <p:cNvCxnSpPr>
              <a:stCxn id="1685" idx="1"/>
              <a:endCxn id="168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8" name="Google Shape;1688;p55"/>
            <p:cNvCxnSpPr>
              <a:stCxn id="1682" idx="4"/>
              <a:endCxn id="168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9" name="Google Shape;1689;p55"/>
            <p:cNvCxnSpPr>
              <a:stCxn id="1682" idx="5"/>
              <a:endCxn id="168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0" name="Google Shape;1690;p55"/>
            <p:cNvCxnSpPr>
              <a:stCxn id="1684" idx="2"/>
              <a:endCxn id="168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1" name="Google Shape;1691;p5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5" name="Google Shape;1695;p55"/>
            <p:cNvCxnSpPr>
              <a:stCxn id="1691" idx="3"/>
              <a:endCxn id="169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6" name="Google Shape;1696;p55"/>
            <p:cNvCxnSpPr>
              <a:stCxn id="1694" idx="0"/>
              <a:endCxn id="169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7" name="Google Shape;1697;p55"/>
            <p:cNvCxnSpPr>
              <a:stCxn id="1691" idx="5"/>
              <a:endCxn id="169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8" name="Google Shape;1698;p55"/>
            <p:cNvCxnSpPr>
              <a:stCxn id="1693" idx="2"/>
              <a:endCxn id="169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9" name="Google Shape;1699;p5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0" name="Google Shape;1700;p55"/>
            <p:cNvCxnSpPr>
              <a:stCxn id="1699" idx="0"/>
              <a:endCxn id="169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1" name="Google Shape;1701;p55"/>
            <p:cNvCxnSpPr>
              <a:stCxn id="1693" idx="3"/>
              <a:endCxn id="169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2" name="Google Shape;1702;p55"/>
            <p:cNvCxnSpPr>
              <a:stCxn id="1693" idx="3"/>
              <a:endCxn id="169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3" name="Google Shape;1703;p55"/>
            <p:cNvCxnSpPr>
              <a:stCxn id="1691" idx="4"/>
              <a:endCxn id="169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4" name="Google Shape;1704;p5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8" name="Google Shape;1708;p55"/>
            <p:cNvCxnSpPr>
              <a:stCxn id="1704" idx="3"/>
              <a:endCxn id="170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9" name="Google Shape;1709;p55"/>
            <p:cNvCxnSpPr>
              <a:stCxn id="1707" idx="0"/>
              <a:endCxn id="170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0" name="Google Shape;1710;p55"/>
            <p:cNvCxnSpPr>
              <a:stCxn id="1704" idx="5"/>
              <a:endCxn id="170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1" name="Google Shape;1711;p55"/>
            <p:cNvCxnSpPr>
              <a:stCxn id="1706" idx="2"/>
              <a:endCxn id="170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2" name="Google Shape;1712;p5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3" name="Google Shape;1713;p55"/>
            <p:cNvCxnSpPr>
              <a:stCxn id="1706" idx="3"/>
              <a:endCxn id="170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4" name="Google Shape;1714;p55"/>
            <p:cNvCxnSpPr>
              <a:stCxn id="1712" idx="2"/>
              <a:endCxn id="170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5" name="Google Shape;1715;p55"/>
            <p:cNvCxnSpPr>
              <a:stCxn id="1712" idx="0"/>
              <a:endCxn id="170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6" name="Google Shape;1716;p55"/>
            <p:cNvCxnSpPr>
              <a:stCxn id="1707" idx="6"/>
              <a:endCxn id="171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7" name="Google Shape;1717;p55"/>
            <p:cNvCxnSpPr>
              <a:stCxn id="1684" idx="5"/>
              <a:endCxn id="170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8" name="Google Shape;1718;p55"/>
            <p:cNvCxnSpPr>
              <a:stCxn id="1684" idx="7"/>
              <a:endCxn id="169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9" name="Google Shape;1719;p55"/>
            <p:cNvCxnSpPr>
              <a:stCxn id="1699" idx="3"/>
              <a:endCxn id="170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0" name="Google Shape;1720;p55"/>
            <p:cNvCxnSpPr>
              <a:stCxn id="1693" idx="4"/>
              <a:endCxn id="170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1" name="Google Shape;1721;p55"/>
          <p:cNvSpPr txBox="1"/>
          <p:nvPr/>
        </p:nvSpPr>
        <p:spPr>
          <a:xfrm>
            <a:off x="4879450" y="4108775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|Edge-cutset| = 2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727" name="Google Shape;1727;p56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</a:t>
            </a:r>
            <a:r>
              <a:rPr b="1" lang="en"/>
              <a:t>node-cutset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nodes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node-cutset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728" name="Google Shape;1728;p5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729" name="Google Shape;1729;p5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5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3" name="Google Shape;1733;p56"/>
            <p:cNvCxnSpPr>
              <a:stCxn id="1729" idx="3"/>
              <a:endCxn id="173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4" name="Google Shape;1734;p56"/>
            <p:cNvCxnSpPr>
              <a:stCxn id="1732" idx="1"/>
              <a:endCxn id="173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5" name="Google Shape;1735;p56"/>
            <p:cNvCxnSpPr>
              <a:stCxn id="1729" idx="4"/>
              <a:endCxn id="173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6" name="Google Shape;1736;p56"/>
            <p:cNvCxnSpPr>
              <a:stCxn id="1729" idx="5"/>
              <a:endCxn id="173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7" name="Google Shape;1737;p56"/>
            <p:cNvCxnSpPr>
              <a:stCxn id="1731" idx="2"/>
              <a:endCxn id="173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8" name="Google Shape;1738;p5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2" name="Google Shape;1742;p56"/>
            <p:cNvCxnSpPr>
              <a:stCxn id="1738" idx="3"/>
              <a:endCxn id="173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3" name="Google Shape;1743;p56"/>
            <p:cNvCxnSpPr>
              <a:stCxn id="1741" idx="0"/>
              <a:endCxn id="173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4" name="Google Shape;1744;p56"/>
            <p:cNvCxnSpPr>
              <a:stCxn id="1738" idx="5"/>
              <a:endCxn id="174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5" name="Google Shape;1745;p56"/>
            <p:cNvCxnSpPr>
              <a:stCxn id="1740" idx="2"/>
              <a:endCxn id="173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6" name="Google Shape;1746;p5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7" name="Google Shape;1747;p56"/>
            <p:cNvCxnSpPr>
              <a:stCxn id="1746" idx="0"/>
              <a:endCxn id="173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8" name="Google Shape;1748;p56"/>
            <p:cNvCxnSpPr>
              <a:stCxn id="1740" idx="3"/>
              <a:endCxn id="174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9" name="Google Shape;1749;p56"/>
            <p:cNvCxnSpPr>
              <a:stCxn id="1740" idx="3"/>
              <a:endCxn id="174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0" name="Google Shape;1750;p56"/>
            <p:cNvCxnSpPr>
              <a:stCxn id="1738" idx="4"/>
              <a:endCxn id="174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1" name="Google Shape;1751;p5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55" name="Google Shape;1755;p56"/>
            <p:cNvCxnSpPr>
              <a:stCxn id="1751" idx="3"/>
              <a:endCxn id="175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6" name="Google Shape;1756;p56"/>
            <p:cNvCxnSpPr>
              <a:stCxn id="1754" idx="0"/>
              <a:endCxn id="1752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7" name="Google Shape;1757;p56"/>
            <p:cNvCxnSpPr>
              <a:stCxn id="1751" idx="5"/>
              <a:endCxn id="175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8" name="Google Shape;1758;p56"/>
            <p:cNvCxnSpPr>
              <a:stCxn id="1753" idx="2"/>
              <a:endCxn id="175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9" name="Google Shape;1759;p5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0" name="Google Shape;1760;p56"/>
            <p:cNvCxnSpPr>
              <a:stCxn id="1753" idx="3"/>
              <a:endCxn id="1754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1" name="Google Shape;1761;p56"/>
            <p:cNvCxnSpPr>
              <a:stCxn id="1759" idx="2"/>
              <a:endCxn id="175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2" name="Google Shape;1762;p56"/>
            <p:cNvCxnSpPr>
              <a:stCxn id="1759" idx="0"/>
              <a:endCxn id="175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3" name="Google Shape;1763;p56"/>
            <p:cNvCxnSpPr>
              <a:stCxn id="1754" idx="6"/>
              <a:endCxn id="1759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4" name="Google Shape;1764;p56"/>
            <p:cNvCxnSpPr>
              <a:stCxn id="1731" idx="5"/>
              <a:endCxn id="1752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5" name="Google Shape;1765;p56"/>
            <p:cNvCxnSpPr>
              <a:stCxn id="1731" idx="7"/>
              <a:endCxn id="1741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6" name="Google Shape;1766;p56"/>
            <p:cNvCxnSpPr>
              <a:stCxn id="1746" idx="3"/>
              <a:endCxn id="175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7" name="Google Shape;1767;p56"/>
            <p:cNvCxnSpPr>
              <a:stCxn id="1740" idx="4"/>
              <a:endCxn id="175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773" name="Google Shape;1773;p57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node-cutset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nodes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node-cutset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774" name="Google Shape;1774;p5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775" name="Google Shape;1775;p5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5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5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79" name="Google Shape;1779;p57"/>
            <p:cNvCxnSpPr>
              <a:stCxn id="1775" idx="3"/>
              <a:endCxn id="177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0" name="Google Shape;1780;p57"/>
            <p:cNvCxnSpPr>
              <a:stCxn id="1778" idx="1"/>
              <a:endCxn id="177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57"/>
            <p:cNvCxnSpPr>
              <a:stCxn id="1775" idx="4"/>
              <a:endCxn id="177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57"/>
            <p:cNvCxnSpPr>
              <a:stCxn id="1775" idx="5"/>
              <a:endCxn id="177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3" name="Google Shape;1783;p57"/>
            <p:cNvCxnSpPr>
              <a:stCxn id="1777" idx="2"/>
              <a:endCxn id="177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4" name="Google Shape;1784;p5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88" name="Google Shape;1788;p57"/>
            <p:cNvCxnSpPr>
              <a:stCxn id="1784" idx="3"/>
              <a:endCxn id="178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9" name="Google Shape;1789;p57"/>
            <p:cNvCxnSpPr>
              <a:stCxn id="1787" idx="0"/>
              <a:endCxn id="178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0" name="Google Shape;1790;p57"/>
            <p:cNvCxnSpPr>
              <a:stCxn id="1784" idx="5"/>
              <a:endCxn id="178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1" name="Google Shape;1791;p57"/>
            <p:cNvCxnSpPr>
              <a:stCxn id="1786" idx="2"/>
              <a:endCxn id="178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2" name="Google Shape;1792;p5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93" name="Google Shape;1793;p57"/>
            <p:cNvCxnSpPr>
              <a:stCxn id="1792" idx="0"/>
              <a:endCxn id="178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4" name="Google Shape;1794;p57"/>
            <p:cNvCxnSpPr>
              <a:stCxn id="1786" idx="3"/>
              <a:endCxn id="178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5" name="Google Shape;1795;p57"/>
            <p:cNvCxnSpPr>
              <a:stCxn id="1786" idx="3"/>
              <a:endCxn id="179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6" name="Google Shape;1796;p57"/>
            <p:cNvCxnSpPr>
              <a:stCxn id="1784" idx="4"/>
              <a:endCxn id="179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7" name="Google Shape;1797;p5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1" name="Google Shape;1801;p57"/>
            <p:cNvCxnSpPr>
              <a:stCxn id="1797" idx="3"/>
              <a:endCxn id="179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2" name="Google Shape;1802;p57"/>
            <p:cNvCxnSpPr>
              <a:stCxn id="1800" idx="0"/>
              <a:endCxn id="179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3" name="Google Shape;1803;p57"/>
            <p:cNvCxnSpPr>
              <a:stCxn id="1797" idx="5"/>
              <a:endCxn id="179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4" name="Google Shape;1804;p57"/>
            <p:cNvCxnSpPr>
              <a:stCxn id="1799" idx="2"/>
              <a:endCxn id="179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05" name="Google Shape;1805;p5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6" name="Google Shape;1806;p57"/>
            <p:cNvCxnSpPr>
              <a:stCxn id="1799" idx="3"/>
              <a:endCxn id="180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7" name="Google Shape;1807;p57"/>
            <p:cNvCxnSpPr>
              <a:stCxn id="1805" idx="2"/>
              <a:endCxn id="179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8" name="Google Shape;1808;p57"/>
            <p:cNvCxnSpPr>
              <a:stCxn id="1805" idx="0"/>
              <a:endCxn id="179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9" name="Google Shape;1809;p57"/>
            <p:cNvCxnSpPr>
              <a:stCxn id="1800" idx="6"/>
              <a:endCxn id="180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0" name="Google Shape;1810;p57"/>
            <p:cNvCxnSpPr>
              <a:stCxn id="1777" idx="5"/>
              <a:endCxn id="1798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1" name="Google Shape;1811;p57"/>
            <p:cNvCxnSpPr>
              <a:stCxn id="1777" idx="7"/>
              <a:endCxn id="1787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2" name="Google Shape;1812;p57"/>
            <p:cNvCxnSpPr>
              <a:stCxn id="1792" idx="3"/>
              <a:endCxn id="179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3" name="Google Shape;1813;p57"/>
            <p:cNvCxnSpPr>
              <a:stCxn id="1786" idx="4"/>
              <a:endCxn id="179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14" name="Google Shape;1814;p57"/>
          <p:cNvSpPr txBox="1"/>
          <p:nvPr/>
        </p:nvSpPr>
        <p:spPr>
          <a:xfrm>
            <a:off x="4879450" y="4108775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|node-cutset| = 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820" name="Google Shape;1820;p58"/>
          <p:cNvSpPr txBox="1"/>
          <p:nvPr>
            <p:ph idx="1" type="body"/>
          </p:nvPr>
        </p:nvSpPr>
        <p:spPr>
          <a:xfrm>
            <a:off x="311700" y="1225225"/>
            <a:ext cx="43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 pair of non-adjacent nodes, u and v: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58"/>
          <p:cNvSpPr/>
          <p:nvPr/>
        </p:nvSpPr>
        <p:spPr>
          <a:xfrm>
            <a:off x="5554499" y="1279288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22" name="Google Shape;1822;p58"/>
          <p:cNvSpPr/>
          <p:nvPr/>
        </p:nvSpPr>
        <p:spPr>
          <a:xfrm>
            <a:off x="8311952" y="1283823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23" name="Google Shape;1823;p58"/>
          <p:cNvSpPr/>
          <p:nvPr/>
        </p:nvSpPr>
        <p:spPr>
          <a:xfrm>
            <a:off x="6885322" y="127928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4" name="Google Shape;1824;p58"/>
          <p:cNvCxnSpPr>
            <a:stCxn id="1821" idx="6"/>
            <a:endCxn id="1823" idx="2"/>
          </p:cNvCxnSpPr>
          <p:nvPr/>
        </p:nvCxnSpPr>
        <p:spPr>
          <a:xfrm>
            <a:off x="5963099" y="1474288"/>
            <a:ext cx="92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58"/>
          <p:cNvCxnSpPr>
            <a:stCxn id="1823" idx="6"/>
            <a:endCxn id="1822" idx="2"/>
          </p:cNvCxnSpPr>
          <p:nvPr/>
        </p:nvCxnSpPr>
        <p:spPr>
          <a:xfrm>
            <a:off x="7293922" y="1474288"/>
            <a:ext cx="10179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6" name="Google Shape;1826;p58"/>
          <p:cNvSpPr/>
          <p:nvPr/>
        </p:nvSpPr>
        <p:spPr>
          <a:xfrm>
            <a:off x="5554474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27" name="Google Shape;1827;p58"/>
          <p:cNvSpPr/>
          <p:nvPr/>
        </p:nvSpPr>
        <p:spPr>
          <a:xfrm>
            <a:off x="8311927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28" name="Google Shape;1828;p58"/>
          <p:cNvSpPr/>
          <p:nvPr/>
        </p:nvSpPr>
        <p:spPr>
          <a:xfrm>
            <a:off x="6933200" y="267187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9" name="Google Shape;1829;p58"/>
          <p:cNvCxnSpPr>
            <a:stCxn id="1826" idx="6"/>
            <a:endCxn id="1828" idx="2"/>
          </p:cNvCxnSpPr>
          <p:nvPr/>
        </p:nvCxnSpPr>
        <p:spPr>
          <a:xfrm>
            <a:off x="5963074" y="2561757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0" name="Google Shape;1830;p58"/>
          <p:cNvCxnSpPr>
            <a:stCxn id="1828" idx="6"/>
            <a:endCxn id="1827" idx="2"/>
          </p:cNvCxnSpPr>
          <p:nvPr/>
        </p:nvCxnSpPr>
        <p:spPr>
          <a:xfrm flipH="1" rot="10800000">
            <a:off x="7341800" y="2561778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1" name="Google Shape;1831;p58"/>
          <p:cNvSpPr/>
          <p:nvPr/>
        </p:nvSpPr>
        <p:spPr>
          <a:xfrm>
            <a:off x="6933189" y="2074227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2" name="Google Shape;1832;p58"/>
          <p:cNvCxnSpPr>
            <a:stCxn id="1826" idx="6"/>
            <a:endCxn id="1831" idx="2"/>
          </p:cNvCxnSpPr>
          <p:nvPr/>
        </p:nvCxnSpPr>
        <p:spPr>
          <a:xfrm flipH="1" rot="10800000">
            <a:off x="5963074" y="226925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3" name="Google Shape;1833;p58"/>
          <p:cNvCxnSpPr>
            <a:stCxn id="1831" idx="6"/>
            <a:endCxn id="1827" idx="2"/>
          </p:cNvCxnSpPr>
          <p:nvPr/>
        </p:nvCxnSpPr>
        <p:spPr>
          <a:xfrm>
            <a:off x="7341789" y="226922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4" name="Google Shape;1834;p58"/>
          <p:cNvSpPr/>
          <p:nvPr/>
        </p:nvSpPr>
        <p:spPr>
          <a:xfrm>
            <a:off x="5554498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35" name="Google Shape;1835;p58"/>
          <p:cNvSpPr/>
          <p:nvPr/>
        </p:nvSpPr>
        <p:spPr>
          <a:xfrm>
            <a:off x="8311951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36" name="Google Shape;1836;p58"/>
          <p:cNvSpPr/>
          <p:nvPr/>
        </p:nvSpPr>
        <p:spPr>
          <a:xfrm>
            <a:off x="6933224" y="4347729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7" name="Google Shape;1837;p58"/>
          <p:cNvCxnSpPr>
            <a:stCxn id="1834" idx="6"/>
            <a:endCxn id="1836" idx="2"/>
          </p:cNvCxnSpPr>
          <p:nvPr/>
        </p:nvCxnSpPr>
        <p:spPr>
          <a:xfrm>
            <a:off x="5963098" y="407855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58"/>
          <p:cNvCxnSpPr>
            <a:stCxn id="1836" idx="6"/>
            <a:endCxn id="1835" idx="2"/>
          </p:cNvCxnSpPr>
          <p:nvPr/>
        </p:nvCxnSpPr>
        <p:spPr>
          <a:xfrm flipH="1" rot="10800000">
            <a:off x="7341824" y="407862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58"/>
          <p:cNvSpPr/>
          <p:nvPr/>
        </p:nvSpPr>
        <p:spPr>
          <a:xfrm>
            <a:off x="6933190" y="3400236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0" name="Google Shape;1840;p58"/>
          <p:cNvCxnSpPr>
            <a:stCxn id="1834" idx="6"/>
            <a:endCxn id="1839" idx="2"/>
          </p:cNvCxnSpPr>
          <p:nvPr/>
        </p:nvCxnSpPr>
        <p:spPr>
          <a:xfrm flipH="1" rot="10800000">
            <a:off x="5963098" y="3595259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58"/>
          <p:cNvCxnSpPr>
            <a:stCxn id="1839" idx="6"/>
            <a:endCxn id="1835" idx="2"/>
          </p:cNvCxnSpPr>
          <p:nvPr/>
        </p:nvCxnSpPr>
        <p:spPr>
          <a:xfrm>
            <a:off x="7341790" y="3595236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2" name="Google Shape;1842;p58"/>
          <p:cNvSpPr txBox="1"/>
          <p:nvPr/>
        </p:nvSpPr>
        <p:spPr>
          <a:xfrm>
            <a:off x="6248250" y="166645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3" name="Google Shape;1843;p58"/>
          <p:cNvSpPr txBox="1"/>
          <p:nvPr/>
        </p:nvSpPr>
        <p:spPr>
          <a:xfrm>
            <a:off x="6296150" y="305540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4" name="Google Shape;1844;p58"/>
          <p:cNvSpPr/>
          <p:nvPr/>
        </p:nvSpPr>
        <p:spPr>
          <a:xfrm>
            <a:off x="6933228" y="3873973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58"/>
          <p:cNvSpPr txBox="1"/>
          <p:nvPr/>
        </p:nvSpPr>
        <p:spPr>
          <a:xfrm>
            <a:off x="6296150" y="4722713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K = 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46" name="Google Shape;1846;p58"/>
          <p:cNvCxnSpPr>
            <a:stCxn id="1834" idx="6"/>
            <a:endCxn id="1844" idx="2"/>
          </p:cNvCxnSpPr>
          <p:nvPr/>
        </p:nvCxnSpPr>
        <p:spPr>
          <a:xfrm flipH="1" rot="10800000">
            <a:off x="5963098" y="4068959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58"/>
          <p:cNvCxnSpPr>
            <a:stCxn id="1844" idx="6"/>
            <a:endCxn id="1835" idx="2"/>
          </p:cNvCxnSpPr>
          <p:nvPr/>
        </p:nvCxnSpPr>
        <p:spPr>
          <a:xfrm>
            <a:off x="7341828" y="4068973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853" name="Google Shape;1853;p59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 pair of non-adjacent nodes, u and v: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repeat third nodes connecting each non-adjacent pair of nodes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5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5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5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5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8" name="Google Shape;1858;p59"/>
          <p:cNvCxnSpPr>
            <a:stCxn id="1854" idx="3"/>
            <a:endCxn id="185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9" name="Google Shape;1859;p59"/>
          <p:cNvCxnSpPr>
            <a:stCxn id="1857" idx="1"/>
            <a:endCxn id="185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59"/>
          <p:cNvCxnSpPr>
            <a:stCxn id="1854" idx="4"/>
            <a:endCxn id="185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59"/>
          <p:cNvCxnSpPr>
            <a:stCxn id="1854" idx="5"/>
            <a:endCxn id="185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2" name="Google Shape;1862;p59"/>
          <p:cNvCxnSpPr>
            <a:stCxn id="1856" idx="2"/>
            <a:endCxn id="185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3" name="Google Shape;1863;p5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5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5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5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7" name="Google Shape;1867;p59"/>
          <p:cNvCxnSpPr>
            <a:stCxn id="1863" idx="3"/>
            <a:endCxn id="186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59"/>
          <p:cNvCxnSpPr>
            <a:stCxn id="1866" idx="0"/>
            <a:endCxn id="186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9" name="Google Shape;1869;p59"/>
          <p:cNvCxnSpPr>
            <a:stCxn id="1863" idx="5"/>
            <a:endCxn id="186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59"/>
          <p:cNvCxnSpPr>
            <a:stCxn id="1865" idx="2"/>
            <a:endCxn id="186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1" name="Google Shape;1871;p5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2" name="Google Shape;1872;p59"/>
          <p:cNvCxnSpPr>
            <a:stCxn id="1871" idx="0"/>
            <a:endCxn id="186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59"/>
          <p:cNvCxnSpPr>
            <a:stCxn id="1865" idx="3"/>
            <a:endCxn id="186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59"/>
          <p:cNvCxnSpPr>
            <a:stCxn id="1865" idx="3"/>
            <a:endCxn id="187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59"/>
          <p:cNvCxnSpPr>
            <a:stCxn id="1863" idx="4"/>
            <a:endCxn id="187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6" name="Google Shape;1876;p5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5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5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9" name="Google Shape;1879;p59"/>
          <p:cNvCxnSpPr>
            <a:stCxn id="1876" idx="3"/>
            <a:endCxn id="187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59"/>
          <p:cNvCxnSpPr>
            <a:stCxn id="1876" idx="5"/>
            <a:endCxn id="187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59"/>
          <p:cNvCxnSpPr>
            <a:stCxn id="1878" idx="2"/>
            <a:endCxn id="187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2" name="Google Shape;1882;p5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3" name="Google Shape;1883;p59"/>
          <p:cNvCxnSpPr>
            <a:stCxn id="1882" idx="2"/>
            <a:endCxn id="187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59"/>
          <p:cNvCxnSpPr>
            <a:stCxn id="1882" idx="0"/>
            <a:endCxn id="187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59"/>
          <p:cNvCxnSpPr>
            <a:stCxn id="1856" idx="5"/>
            <a:endCxn id="1877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59"/>
          <p:cNvCxnSpPr>
            <a:stCxn id="1856" idx="7"/>
            <a:endCxn id="186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7" name="Google Shape;1887;p59"/>
          <p:cNvCxnSpPr>
            <a:stCxn id="1871" idx="3"/>
            <a:endCxn id="187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8" name="Google Shape;1888;p59"/>
          <p:cNvCxnSpPr>
            <a:stCxn id="1865" idx="4"/>
            <a:endCxn id="187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9" name="Google Shape;1889;p59"/>
          <p:cNvCxnSpPr>
            <a:stCxn id="1890" idx="0"/>
          </p:cNvCxnSpPr>
          <p:nvPr/>
        </p:nvCxnSpPr>
        <p:spPr>
          <a:xfrm flipH="1" rot="10800000">
            <a:off x="6122525" y="3421750"/>
            <a:ext cx="623700" cy="111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0" name="Google Shape;1890;p59"/>
          <p:cNvSpPr txBox="1"/>
          <p:nvPr/>
        </p:nvSpPr>
        <p:spPr>
          <a:xfrm>
            <a:off x="4898525" y="4537750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3-connected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891" name="Google Shape;1891;p59"/>
          <p:cNvCxnSpPr>
            <a:stCxn id="1854" idx="6"/>
            <a:endCxn id="1871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2" name="Google Shape;1892;p59"/>
          <p:cNvCxnSpPr>
            <a:stCxn id="1857" idx="6"/>
            <a:endCxn id="1876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93" name="Google Shape;1893;p59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894" name="Google Shape;1894;p5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5" name="Google Shape;1895;p59"/>
            <p:cNvCxnSpPr>
              <a:stCxn id="1894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6" name="Google Shape;1896;p59"/>
            <p:cNvCxnSpPr>
              <a:endCxn id="1894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7" name="Google Shape;1897;p59"/>
            <p:cNvCxnSpPr>
              <a:stCxn id="1894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903" name="Google Shape;1903;p6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6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6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6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7" name="Google Shape;1907;p60"/>
          <p:cNvCxnSpPr>
            <a:stCxn id="1903" idx="3"/>
            <a:endCxn id="190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8" name="Google Shape;1908;p60"/>
          <p:cNvCxnSpPr>
            <a:stCxn id="1906" idx="1"/>
            <a:endCxn id="190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60"/>
          <p:cNvCxnSpPr>
            <a:stCxn id="1903" idx="4"/>
            <a:endCxn id="190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0" name="Google Shape;1910;p60"/>
          <p:cNvCxnSpPr>
            <a:stCxn id="1903" idx="5"/>
            <a:endCxn id="190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1" name="Google Shape;1911;p60"/>
          <p:cNvCxnSpPr>
            <a:stCxn id="1905" idx="2"/>
            <a:endCxn id="190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2" name="Google Shape;1912;p6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6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6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6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6" name="Google Shape;1916;p60"/>
          <p:cNvCxnSpPr>
            <a:stCxn id="1912" idx="3"/>
            <a:endCxn id="191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60"/>
          <p:cNvCxnSpPr>
            <a:stCxn id="1915" idx="0"/>
            <a:endCxn id="191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8" name="Google Shape;1918;p60"/>
          <p:cNvCxnSpPr>
            <a:stCxn id="1912" idx="5"/>
            <a:endCxn id="191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60"/>
          <p:cNvCxnSpPr>
            <a:stCxn id="1914" idx="2"/>
            <a:endCxn id="191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6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1" name="Google Shape;1921;p60"/>
          <p:cNvCxnSpPr>
            <a:stCxn id="1920" idx="0"/>
            <a:endCxn id="191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60"/>
          <p:cNvCxnSpPr>
            <a:stCxn id="1914" idx="3"/>
            <a:endCxn id="191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3" name="Google Shape;1923;p60"/>
          <p:cNvCxnSpPr>
            <a:stCxn id="1914" idx="3"/>
            <a:endCxn id="192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4" name="Google Shape;1924;p60"/>
          <p:cNvCxnSpPr>
            <a:stCxn id="1912" idx="4"/>
            <a:endCxn id="192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5" name="Google Shape;1925;p6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6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6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8" name="Google Shape;1928;p60"/>
          <p:cNvCxnSpPr>
            <a:stCxn id="1925" idx="3"/>
            <a:endCxn id="1926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9" name="Google Shape;1929;p60"/>
          <p:cNvCxnSpPr>
            <a:stCxn id="1925" idx="5"/>
            <a:endCxn id="1927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0" name="Google Shape;1930;p60"/>
          <p:cNvCxnSpPr>
            <a:stCxn id="1927" idx="2"/>
            <a:endCxn id="1926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1" name="Google Shape;1931;p6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2" name="Google Shape;1932;p60"/>
          <p:cNvCxnSpPr>
            <a:stCxn id="1931" idx="2"/>
            <a:endCxn id="1926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60"/>
          <p:cNvCxnSpPr>
            <a:stCxn id="1931" idx="0"/>
            <a:endCxn id="1925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60"/>
          <p:cNvCxnSpPr>
            <a:stCxn id="1905" idx="5"/>
            <a:endCxn id="1926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60"/>
          <p:cNvCxnSpPr>
            <a:stCxn id="1905" idx="7"/>
            <a:endCxn id="191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6" name="Google Shape;1936;p60"/>
          <p:cNvCxnSpPr>
            <a:stCxn id="1920" idx="3"/>
            <a:endCxn id="1925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60"/>
          <p:cNvCxnSpPr>
            <a:stCxn id="1914" idx="4"/>
            <a:endCxn id="1927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8" name="Google Shape;1938;p60"/>
          <p:cNvCxnSpPr>
            <a:stCxn id="1903" idx="6"/>
            <a:endCxn id="1920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9" name="Google Shape;1939;p60"/>
          <p:cNvCxnSpPr>
            <a:stCxn id="1906" idx="6"/>
            <a:endCxn id="1925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40" name="Google Shape;1940;p60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941" name="Google Shape;1941;p6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42" name="Google Shape;1942;p60"/>
            <p:cNvCxnSpPr>
              <a:stCxn id="1941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3" name="Google Shape;1943;p60"/>
            <p:cNvCxnSpPr>
              <a:endCxn id="1941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4" name="Google Shape;1944;p60"/>
            <p:cNvCxnSpPr>
              <a:stCxn id="1941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45" name="Google Shape;1945;p60"/>
          <p:cNvSpPr txBox="1"/>
          <p:nvPr/>
        </p:nvSpPr>
        <p:spPr>
          <a:xfrm>
            <a:off x="3395875" y="4387575"/>
            <a:ext cx="412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That means these two green persons are indirectly connected in three separate ways!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46" name="Google Shape;1946;p60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 pair of non-adjacent nodes, u and v: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repeat third nodes connecting each non-adjacent pair of nodes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952" name="Google Shape;1952;p6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6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6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6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6" name="Google Shape;1956;p61"/>
          <p:cNvCxnSpPr>
            <a:stCxn id="1952" idx="3"/>
            <a:endCxn id="195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7" name="Google Shape;1957;p61"/>
          <p:cNvCxnSpPr>
            <a:stCxn id="1955" idx="1"/>
            <a:endCxn id="195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8" name="Google Shape;1958;p61"/>
          <p:cNvCxnSpPr>
            <a:stCxn id="1952" idx="4"/>
            <a:endCxn id="195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61"/>
          <p:cNvCxnSpPr>
            <a:stCxn id="1952" idx="5"/>
            <a:endCxn id="195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0" name="Google Shape;1960;p61"/>
          <p:cNvCxnSpPr>
            <a:stCxn id="1954" idx="2"/>
            <a:endCxn id="195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1" name="Google Shape;1961;p6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6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6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6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5" name="Google Shape;1965;p61"/>
          <p:cNvCxnSpPr>
            <a:stCxn id="1961" idx="3"/>
            <a:endCxn id="196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6" name="Google Shape;1966;p61"/>
          <p:cNvCxnSpPr>
            <a:stCxn id="1964" idx="0"/>
            <a:endCxn id="196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7" name="Google Shape;1967;p61"/>
          <p:cNvCxnSpPr>
            <a:stCxn id="1961" idx="5"/>
            <a:endCxn id="196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8" name="Google Shape;1968;p61"/>
          <p:cNvCxnSpPr>
            <a:stCxn id="1963" idx="2"/>
            <a:endCxn id="196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9" name="Google Shape;1969;p6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0" name="Google Shape;1970;p61"/>
          <p:cNvCxnSpPr>
            <a:stCxn id="1969" idx="0"/>
            <a:endCxn id="196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1" name="Google Shape;1971;p61"/>
          <p:cNvCxnSpPr>
            <a:stCxn id="1963" idx="3"/>
            <a:endCxn id="196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2" name="Google Shape;1972;p61"/>
          <p:cNvCxnSpPr>
            <a:stCxn id="1963" idx="3"/>
            <a:endCxn id="196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61"/>
          <p:cNvCxnSpPr>
            <a:stCxn id="1961" idx="4"/>
            <a:endCxn id="196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4" name="Google Shape;1974;p6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6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6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7" name="Google Shape;1977;p61"/>
          <p:cNvCxnSpPr>
            <a:stCxn id="1974" idx="3"/>
            <a:endCxn id="197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8" name="Google Shape;1978;p61"/>
          <p:cNvCxnSpPr>
            <a:stCxn id="1974" idx="5"/>
            <a:endCxn id="197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61"/>
          <p:cNvCxnSpPr>
            <a:stCxn id="1976" idx="2"/>
            <a:endCxn id="197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0" name="Google Shape;1980;p6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1" name="Google Shape;1981;p61"/>
          <p:cNvCxnSpPr>
            <a:stCxn id="1980" idx="2"/>
            <a:endCxn id="197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61"/>
          <p:cNvCxnSpPr>
            <a:stCxn id="1980" idx="0"/>
            <a:endCxn id="197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61"/>
          <p:cNvCxnSpPr>
            <a:stCxn id="1954" idx="5"/>
            <a:endCxn id="197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61"/>
          <p:cNvCxnSpPr>
            <a:stCxn id="1954" idx="7"/>
            <a:endCxn id="196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5" name="Google Shape;1985;p61"/>
          <p:cNvCxnSpPr>
            <a:stCxn id="1969" idx="3"/>
            <a:endCxn id="197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61"/>
          <p:cNvCxnSpPr>
            <a:stCxn id="1963" idx="4"/>
            <a:endCxn id="197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61"/>
          <p:cNvCxnSpPr>
            <a:stCxn id="1952" idx="6"/>
            <a:endCxn id="196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61"/>
          <p:cNvCxnSpPr>
            <a:stCxn id="1955" idx="6"/>
            <a:endCxn id="197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89" name="Google Shape;1989;p61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990" name="Google Shape;1990;p6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91" name="Google Shape;1991;p61"/>
            <p:cNvCxnSpPr>
              <a:stCxn id="199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2" name="Google Shape;1992;p61"/>
            <p:cNvCxnSpPr>
              <a:endCxn id="199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3" name="Google Shape;1993;p61"/>
            <p:cNvCxnSpPr>
              <a:stCxn id="199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4" name="Google Shape;1994;p61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5" name="Google Shape;1995;p61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 pair of non-adjacent nodes, u and v: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repeat third nodes connecting each non-adjacent pair of nodes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61"/>
          <p:cNvSpPr txBox="1"/>
          <p:nvPr/>
        </p:nvSpPr>
        <p:spPr>
          <a:xfrm>
            <a:off x="3395875" y="4387575"/>
            <a:ext cx="412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That means these two green persons are indirectly connected in three separate ways!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002" name="Google Shape;2002;p6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6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6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6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6" name="Google Shape;2006;p62"/>
          <p:cNvCxnSpPr>
            <a:stCxn id="2002" idx="3"/>
            <a:endCxn id="200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62"/>
          <p:cNvCxnSpPr>
            <a:stCxn id="2005" idx="1"/>
            <a:endCxn id="200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8" name="Google Shape;2008;p62"/>
          <p:cNvCxnSpPr>
            <a:stCxn id="2002" idx="4"/>
            <a:endCxn id="200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9" name="Google Shape;2009;p62"/>
          <p:cNvCxnSpPr>
            <a:stCxn id="2002" idx="5"/>
            <a:endCxn id="200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0" name="Google Shape;2010;p62"/>
          <p:cNvCxnSpPr>
            <a:stCxn id="2004" idx="2"/>
            <a:endCxn id="200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1" name="Google Shape;2011;p6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6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6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6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5" name="Google Shape;2015;p62"/>
          <p:cNvCxnSpPr>
            <a:stCxn id="2011" idx="3"/>
            <a:endCxn id="201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62"/>
          <p:cNvCxnSpPr>
            <a:stCxn id="2014" idx="0"/>
            <a:endCxn id="201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17" name="Google Shape;2017;p62"/>
          <p:cNvCxnSpPr>
            <a:stCxn id="2011" idx="5"/>
            <a:endCxn id="201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8" name="Google Shape;2018;p62"/>
          <p:cNvCxnSpPr>
            <a:stCxn id="2013" idx="2"/>
            <a:endCxn id="201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9" name="Google Shape;2019;p6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0" name="Google Shape;2020;p62"/>
          <p:cNvCxnSpPr>
            <a:stCxn id="2019" idx="0"/>
            <a:endCxn id="201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1" name="Google Shape;2021;p62"/>
          <p:cNvCxnSpPr>
            <a:stCxn id="2013" idx="3"/>
            <a:endCxn id="201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2" name="Google Shape;2022;p62"/>
          <p:cNvCxnSpPr>
            <a:stCxn id="2013" idx="3"/>
            <a:endCxn id="201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3" name="Google Shape;2023;p62"/>
          <p:cNvCxnSpPr>
            <a:stCxn id="2011" idx="4"/>
            <a:endCxn id="201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4" name="Google Shape;2024;p6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6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62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7" name="Google Shape;2027;p62"/>
          <p:cNvCxnSpPr>
            <a:stCxn id="2024" idx="3"/>
            <a:endCxn id="202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62"/>
          <p:cNvCxnSpPr>
            <a:stCxn id="2024" idx="5"/>
            <a:endCxn id="202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62"/>
          <p:cNvCxnSpPr>
            <a:stCxn id="2026" idx="2"/>
            <a:endCxn id="202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0" name="Google Shape;2030;p6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1" name="Google Shape;2031;p62"/>
          <p:cNvCxnSpPr>
            <a:stCxn id="2030" idx="2"/>
            <a:endCxn id="202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62"/>
          <p:cNvCxnSpPr>
            <a:stCxn id="2030" idx="0"/>
            <a:endCxn id="202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62"/>
          <p:cNvCxnSpPr>
            <a:stCxn id="2004" idx="5"/>
            <a:endCxn id="202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4" name="Google Shape;2034;p62"/>
          <p:cNvCxnSpPr>
            <a:stCxn id="2004" idx="7"/>
            <a:endCxn id="201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5" name="Google Shape;2035;p62"/>
          <p:cNvCxnSpPr>
            <a:stCxn id="2019" idx="3"/>
            <a:endCxn id="202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62"/>
          <p:cNvCxnSpPr>
            <a:stCxn id="2013" idx="4"/>
            <a:endCxn id="202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62"/>
          <p:cNvCxnSpPr>
            <a:stCxn id="2002" idx="6"/>
            <a:endCxn id="201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8" name="Google Shape;2038;p62"/>
          <p:cNvCxnSpPr>
            <a:stCxn id="2005" idx="6"/>
            <a:endCxn id="202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9" name="Google Shape;2039;p62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040" name="Google Shape;2040;p6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1" name="Google Shape;2041;p62"/>
            <p:cNvCxnSpPr>
              <a:stCxn id="204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2" name="Google Shape;2042;p62"/>
            <p:cNvCxnSpPr>
              <a:endCxn id="204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3" name="Google Shape;2043;p62"/>
            <p:cNvCxnSpPr>
              <a:stCxn id="204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44" name="Google Shape;2044;p62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5" name="Google Shape;2045;p62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 pair of non-adjacent nodes, u and v: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repeat third nodes connecting each non-adjacent pair of nodes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62"/>
          <p:cNvSpPr txBox="1"/>
          <p:nvPr/>
        </p:nvSpPr>
        <p:spPr>
          <a:xfrm>
            <a:off x="3395875" y="4387575"/>
            <a:ext cx="412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That means these two green persons are indirectly connected in three separate ways!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052" name="Google Shape;2052;p6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6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6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6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6" name="Google Shape;2056;p63"/>
          <p:cNvCxnSpPr>
            <a:stCxn id="2052" idx="3"/>
            <a:endCxn id="205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63"/>
          <p:cNvCxnSpPr>
            <a:stCxn id="2055" idx="1"/>
            <a:endCxn id="205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63"/>
          <p:cNvCxnSpPr>
            <a:stCxn id="2052" idx="4"/>
            <a:endCxn id="205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9" name="Google Shape;2059;p63"/>
          <p:cNvCxnSpPr>
            <a:stCxn id="2052" idx="5"/>
            <a:endCxn id="205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63"/>
          <p:cNvCxnSpPr>
            <a:stCxn id="2054" idx="2"/>
            <a:endCxn id="205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6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6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6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6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5" name="Google Shape;2065;p63"/>
          <p:cNvCxnSpPr>
            <a:stCxn id="2061" idx="3"/>
            <a:endCxn id="206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6" name="Google Shape;2066;p63"/>
          <p:cNvCxnSpPr>
            <a:stCxn id="2064" idx="0"/>
            <a:endCxn id="206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63"/>
          <p:cNvCxnSpPr>
            <a:stCxn id="2061" idx="5"/>
            <a:endCxn id="206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63"/>
          <p:cNvCxnSpPr>
            <a:stCxn id="2063" idx="2"/>
            <a:endCxn id="206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9" name="Google Shape;2069;p6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0" name="Google Shape;2070;p63"/>
          <p:cNvCxnSpPr>
            <a:stCxn id="2069" idx="0"/>
            <a:endCxn id="206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1" name="Google Shape;2071;p63"/>
          <p:cNvCxnSpPr>
            <a:stCxn id="2063" idx="3"/>
            <a:endCxn id="206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2" name="Google Shape;2072;p63"/>
          <p:cNvCxnSpPr>
            <a:stCxn id="2063" idx="3"/>
            <a:endCxn id="206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63"/>
          <p:cNvCxnSpPr>
            <a:stCxn id="2061" idx="4"/>
            <a:endCxn id="206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4" name="Google Shape;2074;p6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6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6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7" name="Google Shape;2077;p63"/>
          <p:cNvCxnSpPr>
            <a:stCxn id="2074" idx="3"/>
            <a:endCxn id="207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63"/>
          <p:cNvCxnSpPr>
            <a:stCxn id="2074" idx="5"/>
            <a:endCxn id="207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9" name="Google Shape;2079;p63"/>
          <p:cNvCxnSpPr>
            <a:stCxn id="2076" idx="2"/>
            <a:endCxn id="207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0" name="Google Shape;2080;p6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1" name="Google Shape;2081;p63"/>
          <p:cNvCxnSpPr>
            <a:stCxn id="2080" idx="2"/>
            <a:endCxn id="207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2" name="Google Shape;2082;p63"/>
          <p:cNvCxnSpPr>
            <a:stCxn id="2080" idx="0"/>
            <a:endCxn id="207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3" name="Google Shape;2083;p63"/>
          <p:cNvCxnSpPr>
            <a:stCxn id="2054" idx="5"/>
            <a:endCxn id="207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4" name="Google Shape;2084;p63"/>
          <p:cNvCxnSpPr>
            <a:stCxn id="2054" idx="7"/>
            <a:endCxn id="206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5" name="Google Shape;2085;p63"/>
          <p:cNvCxnSpPr>
            <a:stCxn id="2069" idx="3"/>
            <a:endCxn id="207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6" name="Google Shape;2086;p63"/>
          <p:cNvCxnSpPr>
            <a:stCxn id="2063" idx="4"/>
            <a:endCxn id="207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87" name="Google Shape;2087;p63"/>
          <p:cNvCxnSpPr>
            <a:stCxn id="2052" idx="6"/>
            <a:endCxn id="206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8" name="Google Shape;2088;p63"/>
          <p:cNvCxnSpPr>
            <a:stCxn id="2055" idx="6"/>
            <a:endCxn id="207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089" name="Google Shape;2089;p63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090" name="Google Shape;2090;p6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1" name="Google Shape;2091;p63"/>
            <p:cNvCxnSpPr>
              <a:stCxn id="209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2" name="Google Shape;2092;p63"/>
            <p:cNvCxnSpPr>
              <a:endCxn id="209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3" name="Google Shape;2093;p63"/>
            <p:cNvCxnSpPr>
              <a:stCxn id="209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94" name="Google Shape;2094;p63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5" name="Google Shape;2095;p63"/>
          <p:cNvSpPr txBox="1"/>
          <p:nvPr/>
        </p:nvSpPr>
        <p:spPr>
          <a:xfrm>
            <a:off x="3395875" y="4387575"/>
            <a:ext cx="412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That means these two green persons are indirectly connected in three separate ways!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96" name="Google Shape;2096;p63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 pair of non-adjacent nodes, u and v: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repeat third nodes connecting each non-adjacent pair of nodes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102" name="Google Shape;2102;p64"/>
          <p:cNvSpPr txBox="1"/>
          <p:nvPr>
            <p:ph idx="1" type="body"/>
          </p:nvPr>
        </p:nvSpPr>
        <p:spPr>
          <a:xfrm>
            <a:off x="311700" y="1225225"/>
            <a:ext cx="469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K-connectivity (graph theory) can represent  concept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cohesion</a:t>
            </a:r>
            <a:r>
              <a:rPr lang="en"/>
              <a:t> (network theory):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larger</a:t>
            </a:r>
            <a:r>
              <a:rPr lang="en"/>
              <a:t> the (edge, node) cutset the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cohesive</a:t>
            </a:r>
            <a:r>
              <a:rPr lang="en"/>
              <a:t> (integrated) groups are with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smaller</a:t>
            </a:r>
            <a:r>
              <a:rPr lang="en"/>
              <a:t> the (edge, node) cutset the less cohesive and more potentially </a:t>
            </a:r>
            <a:r>
              <a:rPr b="1" lang="en"/>
              <a:t>fragmented</a:t>
            </a:r>
            <a:r>
              <a:rPr lang="en"/>
              <a:t> the group structure is</a:t>
            </a:r>
            <a:endParaRPr/>
          </a:p>
        </p:txBody>
      </p:sp>
      <p:sp>
        <p:nvSpPr>
          <p:cNvPr id="2103" name="Google Shape;2103;p6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6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6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6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7" name="Google Shape;2107;p64"/>
          <p:cNvCxnSpPr>
            <a:stCxn id="2103" idx="3"/>
            <a:endCxn id="210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8" name="Google Shape;2108;p64"/>
          <p:cNvCxnSpPr>
            <a:stCxn id="2106" idx="1"/>
            <a:endCxn id="210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9" name="Google Shape;2109;p64"/>
          <p:cNvCxnSpPr>
            <a:stCxn id="2103" idx="4"/>
            <a:endCxn id="210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64"/>
          <p:cNvCxnSpPr>
            <a:stCxn id="2103" idx="5"/>
            <a:endCxn id="210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1" name="Google Shape;2111;p64"/>
          <p:cNvCxnSpPr>
            <a:stCxn id="2105" idx="2"/>
            <a:endCxn id="210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2" name="Google Shape;2112;p6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6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6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6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6" name="Google Shape;2116;p64"/>
          <p:cNvCxnSpPr>
            <a:stCxn id="2112" idx="3"/>
            <a:endCxn id="211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7" name="Google Shape;2117;p64"/>
          <p:cNvCxnSpPr>
            <a:stCxn id="2115" idx="0"/>
            <a:endCxn id="211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64"/>
          <p:cNvCxnSpPr>
            <a:stCxn id="2112" idx="5"/>
            <a:endCxn id="211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9" name="Google Shape;2119;p64"/>
          <p:cNvCxnSpPr>
            <a:stCxn id="2114" idx="2"/>
            <a:endCxn id="211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0" name="Google Shape;2120;p6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1" name="Google Shape;2121;p64"/>
          <p:cNvCxnSpPr>
            <a:stCxn id="2120" idx="0"/>
            <a:endCxn id="211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64"/>
          <p:cNvCxnSpPr>
            <a:stCxn id="2114" idx="3"/>
            <a:endCxn id="211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64"/>
          <p:cNvCxnSpPr>
            <a:stCxn id="2114" idx="3"/>
            <a:endCxn id="212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64"/>
          <p:cNvCxnSpPr>
            <a:stCxn id="2112" idx="4"/>
            <a:endCxn id="212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5" name="Google Shape;2125;p6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6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6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8" name="Google Shape;2128;p64"/>
          <p:cNvCxnSpPr>
            <a:stCxn id="2125" idx="3"/>
            <a:endCxn id="2126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64"/>
          <p:cNvCxnSpPr>
            <a:stCxn id="2125" idx="5"/>
            <a:endCxn id="2127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64"/>
          <p:cNvCxnSpPr>
            <a:stCxn id="2127" idx="2"/>
            <a:endCxn id="2126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1" name="Google Shape;2131;p6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2" name="Google Shape;2132;p64"/>
          <p:cNvCxnSpPr>
            <a:stCxn id="2131" idx="2"/>
            <a:endCxn id="2126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64"/>
          <p:cNvCxnSpPr>
            <a:stCxn id="2131" idx="0"/>
            <a:endCxn id="2125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64"/>
          <p:cNvCxnSpPr>
            <a:stCxn id="2105" idx="5"/>
            <a:endCxn id="2126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64"/>
          <p:cNvCxnSpPr>
            <a:stCxn id="2105" idx="7"/>
            <a:endCxn id="211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6" name="Google Shape;2136;p64"/>
          <p:cNvCxnSpPr>
            <a:stCxn id="2120" idx="3"/>
            <a:endCxn id="2125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7" name="Google Shape;2137;p64"/>
          <p:cNvCxnSpPr>
            <a:stCxn id="2114" idx="4"/>
            <a:endCxn id="2127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64"/>
          <p:cNvCxnSpPr>
            <a:stCxn id="2103" idx="6"/>
            <a:endCxn id="2120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64"/>
          <p:cNvCxnSpPr>
            <a:stCxn id="2106" idx="6"/>
            <a:endCxn id="2125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40" name="Google Shape;2140;p64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141" name="Google Shape;2141;p6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2" name="Google Shape;2142;p64"/>
            <p:cNvCxnSpPr>
              <a:stCxn id="2141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3" name="Google Shape;2143;p64"/>
            <p:cNvCxnSpPr>
              <a:endCxn id="2141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4" name="Google Shape;2144;p64"/>
            <p:cNvCxnSpPr>
              <a:stCxn id="2141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150" name="Google Shape;2150;p65"/>
          <p:cNvSpPr txBox="1"/>
          <p:nvPr>
            <p:ph idx="1" type="body"/>
          </p:nvPr>
        </p:nvSpPr>
        <p:spPr>
          <a:xfrm>
            <a:off x="311700" y="1225225"/>
            <a:ext cx="469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K-connectivity (graph theory) can represent  concept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cohesion</a:t>
            </a:r>
            <a:r>
              <a:rPr lang="en"/>
              <a:t> (network theory):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more k-connectivity </a:t>
            </a:r>
            <a:r>
              <a:rPr lang="en"/>
              <a:t>the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cohesive (integrated)</a:t>
            </a:r>
            <a:r>
              <a:rPr lang="en"/>
              <a:t> the group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people would have to be removed to disrupt the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Any graph can be split into subgraphs with any given level of k-connectivity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6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6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6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6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5" name="Google Shape;2155;p65"/>
          <p:cNvCxnSpPr>
            <a:stCxn id="2151" idx="3"/>
            <a:endCxn id="215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6" name="Google Shape;2156;p65"/>
          <p:cNvCxnSpPr>
            <a:stCxn id="2154" idx="1"/>
            <a:endCxn id="215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7" name="Google Shape;2157;p65"/>
          <p:cNvCxnSpPr>
            <a:stCxn id="2151" idx="4"/>
            <a:endCxn id="215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8" name="Google Shape;2158;p65"/>
          <p:cNvCxnSpPr>
            <a:stCxn id="2151" idx="5"/>
            <a:endCxn id="215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9" name="Google Shape;2159;p65"/>
          <p:cNvCxnSpPr>
            <a:stCxn id="2153" idx="2"/>
            <a:endCxn id="215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0" name="Google Shape;2160;p6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6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6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6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4" name="Google Shape;2164;p65"/>
          <p:cNvCxnSpPr>
            <a:stCxn id="2160" idx="3"/>
            <a:endCxn id="216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5" name="Google Shape;2165;p65"/>
          <p:cNvCxnSpPr>
            <a:stCxn id="2163" idx="0"/>
            <a:endCxn id="216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6" name="Google Shape;2166;p65"/>
          <p:cNvCxnSpPr>
            <a:stCxn id="2160" idx="5"/>
            <a:endCxn id="216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7" name="Google Shape;2167;p65"/>
          <p:cNvCxnSpPr>
            <a:stCxn id="2162" idx="2"/>
            <a:endCxn id="216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8" name="Google Shape;2168;p6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9" name="Google Shape;2169;p65"/>
          <p:cNvCxnSpPr>
            <a:stCxn id="2168" idx="0"/>
            <a:endCxn id="216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65"/>
          <p:cNvCxnSpPr>
            <a:stCxn id="2162" idx="3"/>
            <a:endCxn id="216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65"/>
          <p:cNvCxnSpPr>
            <a:stCxn id="2162" idx="3"/>
            <a:endCxn id="216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2" name="Google Shape;2172;p65"/>
          <p:cNvCxnSpPr>
            <a:stCxn id="2160" idx="4"/>
            <a:endCxn id="216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6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6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6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6" name="Google Shape;2176;p65"/>
          <p:cNvCxnSpPr>
            <a:stCxn id="2173" idx="3"/>
            <a:endCxn id="217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7" name="Google Shape;2177;p65"/>
          <p:cNvCxnSpPr>
            <a:stCxn id="2173" idx="5"/>
            <a:endCxn id="217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8" name="Google Shape;2178;p65"/>
          <p:cNvCxnSpPr>
            <a:stCxn id="2175" idx="2"/>
            <a:endCxn id="217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9" name="Google Shape;2179;p6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0" name="Google Shape;2180;p65"/>
          <p:cNvCxnSpPr>
            <a:stCxn id="2179" idx="2"/>
            <a:endCxn id="217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1" name="Google Shape;2181;p65"/>
          <p:cNvCxnSpPr>
            <a:stCxn id="2179" idx="0"/>
            <a:endCxn id="217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65"/>
          <p:cNvCxnSpPr>
            <a:stCxn id="2153" idx="5"/>
            <a:endCxn id="2174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65"/>
          <p:cNvCxnSpPr>
            <a:stCxn id="2153" idx="7"/>
            <a:endCxn id="216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4" name="Google Shape;2184;p65"/>
          <p:cNvCxnSpPr>
            <a:stCxn id="2168" idx="3"/>
            <a:endCxn id="217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5" name="Google Shape;2185;p65"/>
          <p:cNvCxnSpPr>
            <a:stCxn id="2162" idx="4"/>
            <a:endCxn id="2175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6" name="Google Shape;2186;p65"/>
          <p:cNvCxnSpPr>
            <a:stCxn id="2151" idx="6"/>
            <a:endCxn id="2168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7" name="Google Shape;2187;p65"/>
          <p:cNvCxnSpPr>
            <a:stCxn id="2154" idx="6"/>
            <a:endCxn id="2173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88" name="Google Shape;2188;p65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189" name="Google Shape;2189;p6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90" name="Google Shape;2190;p65"/>
            <p:cNvCxnSpPr>
              <a:stCxn id="2189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1" name="Google Shape;2191;p65"/>
            <p:cNvCxnSpPr>
              <a:endCxn id="2189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2" name="Google Shape;2192;p65"/>
            <p:cNvCxnSpPr>
              <a:stCxn id="2189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pic>
        <p:nvPicPr>
          <p:cNvPr id="2198" name="Google Shape;2198;p66"/>
          <p:cNvPicPr preferRelativeResize="0"/>
          <p:nvPr/>
        </p:nvPicPr>
        <p:blipFill rotWithShape="1">
          <a:blip r:embed="rId3">
            <a:alphaModFix/>
          </a:blip>
          <a:srcRect b="0" l="0" r="0" t="8676"/>
          <a:stretch/>
        </p:blipFill>
        <p:spPr>
          <a:xfrm>
            <a:off x="1327525" y="1193475"/>
            <a:ext cx="6837575" cy="37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Communities </a:t>
            </a:r>
            <a:endParaRPr/>
          </a:p>
        </p:txBody>
      </p:sp>
      <p:sp>
        <p:nvSpPr>
          <p:cNvPr id="2204" name="Google Shape;2204;p67"/>
          <p:cNvSpPr txBox="1"/>
          <p:nvPr>
            <p:ph idx="1" type="body"/>
          </p:nvPr>
        </p:nvSpPr>
        <p:spPr>
          <a:xfrm>
            <a:off x="457200" y="1200150"/>
            <a:ext cx="39180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Like islands with bridges between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Few edges between clusters, many edges within clusters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Dense areas and sparse areas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05" name="Google Shape;220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825" y="1710622"/>
            <a:ext cx="4496299" cy="21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Community Detection</a:t>
            </a:r>
            <a:endParaRPr/>
          </a:p>
        </p:txBody>
      </p:sp>
      <p:sp>
        <p:nvSpPr>
          <p:cNvPr id="2211" name="Google Shape;2211;p6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Vertex trait:  Within cluster trait homophily </a:t>
            </a:r>
            <a:endParaRPr sz="24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population homogeneity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ideational solidarity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Edge connectivity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Principle:  </a:t>
            </a:r>
            <a:r>
              <a:rPr lang="en" sz="2000"/>
              <a:t>Few edges between clusters, many edges within clusters</a:t>
            </a:r>
            <a:br>
              <a:rPr lang="en" sz="2400"/>
            </a:br>
            <a:r>
              <a:rPr lang="en" sz="2400"/>
              <a:t>	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Identifying Communities</a:t>
            </a:r>
            <a:endParaRPr/>
          </a:p>
        </p:txBody>
      </p:sp>
      <p:sp>
        <p:nvSpPr>
          <p:cNvPr id="2217" name="Google Shape;2217;p69"/>
          <p:cNvSpPr txBox="1"/>
          <p:nvPr>
            <p:ph idx="1" type="body"/>
          </p:nvPr>
        </p:nvSpPr>
        <p:spPr>
          <a:xfrm>
            <a:off x="311700" y="1225225"/>
            <a:ext cx="3348600" cy="11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Cohesive </a:t>
            </a:r>
            <a:r>
              <a:rPr lang="en"/>
              <a:t>Block Modeling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 Modeling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Hierarchical Clustering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Optimization Algorithms</a:t>
            </a:r>
            <a:endParaRPr/>
          </a:p>
        </p:txBody>
      </p:sp>
      <p:pic>
        <p:nvPicPr>
          <p:cNvPr id="2218" name="Google Shape;221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173" y="2958675"/>
            <a:ext cx="1885750" cy="188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9" name="Google Shape;221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9377" y="2585675"/>
            <a:ext cx="3046847" cy="225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0441" y="2585675"/>
            <a:ext cx="2692985" cy="225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Representation: Line graphs</a:t>
            </a:r>
            <a:endParaRPr/>
          </a:p>
        </p:txBody>
      </p:sp>
      <p:sp>
        <p:nvSpPr>
          <p:cNvPr id="2226" name="Google Shape;2226;p70"/>
          <p:cNvSpPr txBox="1"/>
          <p:nvPr>
            <p:ph idx="1" type="body"/>
          </p:nvPr>
        </p:nvSpPr>
        <p:spPr>
          <a:xfrm>
            <a:off x="457200" y="1200150"/>
            <a:ext cx="3736200" cy="3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any given graph G = (V, E) with N vertices and M Edges represented by adjacency matrix A of dimensions N x N: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We may obtain the corresponding </a:t>
            </a:r>
            <a:r>
              <a:rPr b="1" lang="en"/>
              <a:t>line graph</a:t>
            </a:r>
            <a:r>
              <a:rPr lang="en"/>
              <a:t> (or edge graph, edge adjacency matrix) by: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Creating a graph L(G) represented by adjacency matrix B, of dimensions M x M with: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</a:t>
            </a:r>
            <a:r>
              <a:rPr baseline="-25000" lang="en"/>
              <a:t>ij</a:t>
            </a:r>
            <a:r>
              <a:rPr lang="en"/>
              <a:t> = 1 if e</a:t>
            </a:r>
            <a:r>
              <a:rPr baseline="-25000" lang="en"/>
              <a:t>i</a:t>
            </a:r>
            <a:r>
              <a:rPr lang="en"/>
              <a:t> and e</a:t>
            </a:r>
            <a:r>
              <a:rPr baseline="-25000" lang="en"/>
              <a:t>j</a:t>
            </a:r>
            <a:r>
              <a:rPr lang="en"/>
              <a:t> share a common vertex v</a:t>
            </a:r>
            <a:r>
              <a:rPr baseline="-25000" lang="en"/>
              <a:t>k</a:t>
            </a:r>
            <a:endParaRPr baseline="-25000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</a:t>
            </a:r>
            <a:r>
              <a:rPr baseline="-25000" lang="en"/>
              <a:t>ij</a:t>
            </a:r>
            <a:r>
              <a:rPr lang="en"/>
              <a:t> = 0 if e</a:t>
            </a:r>
            <a:r>
              <a:rPr baseline="-25000" lang="en"/>
              <a:t>i</a:t>
            </a:r>
            <a:r>
              <a:rPr lang="en"/>
              <a:t> and e</a:t>
            </a:r>
            <a:r>
              <a:rPr baseline="-25000" lang="en"/>
              <a:t>j</a:t>
            </a:r>
            <a:r>
              <a:rPr lang="en"/>
              <a:t> do not share a common vertex</a:t>
            </a:r>
            <a:endParaRPr/>
          </a:p>
        </p:txBody>
      </p:sp>
      <p:pic>
        <p:nvPicPr>
          <p:cNvPr id="2227" name="Google Shape;22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500" y="1669525"/>
            <a:ext cx="4345800" cy="2794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2233" name="Google Shape;2233;p71"/>
          <p:cNvSpPr txBox="1"/>
          <p:nvPr>
            <p:ph idx="1" type="body"/>
          </p:nvPr>
        </p:nvSpPr>
        <p:spPr>
          <a:xfrm>
            <a:off x="311700" y="1225225"/>
            <a:ext cx="85206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the k-connectivity of the input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 the k-cutset (vertices)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the same on the resulting subgraphs until no more subdivisions can be obtained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34" name="Google Shape;2234;p71"/>
          <p:cNvPicPr preferRelativeResize="0"/>
          <p:nvPr/>
        </p:nvPicPr>
        <p:blipFill rotWithShape="1">
          <a:blip r:embed="rId3">
            <a:alphaModFix/>
          </a:blip>
          <a:srcRect b="14581" l="4173" r="16487" t="14361"/>
          <a:stretch/>
        </p:blipFill>
        <p:spPr>
          <a:xfrm>
            <a:off x="4759650" y="2924062"/>
            <a:ext cx="4072651" cy="17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5" name="Google Shape;2235;p71"/>
          <p:cNvPicPr preferRelativeResize="0"/>
          <p:nvPr/>
        </p:nvPicPr>
        <p:blipFill rotWithShape="1">
          <a:blip r:embed="rId4">
            <a:alphaModFix/>
          </a:blip>
          <a:srcRect b="8822" l="15423" r="5080" t="11127"/>
          <a:stretch/>
        </p:blipFill>
        <p:spPr>
          <a:xfrm>
            <a:off x="1353250" y="2820923"/>
            <a:ext cx="2417050" cy="20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6" name="Google Shape;2236;p71"/>
          <p:cNvSpPr/>
          <p:nvPr/>
        </p:nvSpPr>
        <p:spPr>
          <a:xfrm>
            <a:off x="4351625" y="3595675"/>
            <a:ext cx="940500" cy="42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Block Modelling</a:t>
            </a:r>
            <a:endParaRPr sz="3600"/>
          </a:p>
        </p:txBody>
      </p:sp>
      <p:pic>
        <p:nvPicPr>
          <p:cNvPr id="2242" name="Google Shape;224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451" y="279538"/>
            <a:ext cx="3780149" cy="45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72"/>
          <p:cNvSpPr txBox="1"/>
          <p:nvPr/>
        </p:nvSpPr>
        <p:spPr>
          <a:xfrm>
            <a:off x="530325" y="1215800"/>
            <a:ext cx="3630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Permute the matrix by rearranging rows and columns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Partition into high (all 1s) and low (all 0s) density blocks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Communities fall along the main diagonal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Clustering</a:t>
            </a:r>
            <a:endParaRPr/>
          </a:p>
        </p:txBody>
      </p:sp>
      <p:sp>
        <p:nvSpPr>
          <p:cNvPr id="2249" name="Google Shape;2249;p73"/>
          <p:cNvSpPr txBox="1"/>
          <p:nvPr>
            <p:ph idx="1" type="body"/>
          </p:nvPr>
        </p:nvSpPr>
        <p:spPr>
          <a:xfrm>
            <a:off x="311700" y="1225225"/>
            <a:ext cx="354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similarity between all pairs of vertices in terms of ties to all other vertices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Use a clustering algorithm to group “similar” vertices together</a:t>
            </a:r>
            <a:endParaRPr/>
          </a:p>
        </p:txBody>
      </p:sp>
      <p:pic>
        <p:nvPicPr>
          <p:cNvPr id="2250" name="Google Shape;225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200" y="2961225"/>
            <a:ext cx="4973102" cy="179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Clustering</a:t>
            </a:r>
            <a:endParaRPr/>
          </a:p>
        </p:txBody>
      </p:sp>
      <p:sp>
        <p:nvSpPr>
          <p:cNvPr id="2256" name="Google Shape;2256;p7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Clustering as much of an art as a science</a:t>
            </a:r>
            <a:endParaRPr/>
          </a:p>
          <a:p>
            <a:pPr indent="-34290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Steps:</a:t>
            </a:r>
            <a:endParaRPr/>
          </a:p>
          <a:p>
            <a:pPr indent="-342900" lvl="2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■"/>
            </a:pPr>
            <a:r>
              <a:rPr lang="en"/>
              <a:t>Develop a criterion of similarity between nodes such that more strongly connected vertices receive higher values</a:t>
            </a:r>
            <a:endParaRPr/>
          </a:p>
          <a:p>
            <a:pPr indent="-317500" lvl="3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instance cosine similarity: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3" marL="18288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n</a:t>
            </a:r>
            <a:r>
              <a:rPr baseline="-25000" lang="en"/>
              <a:t>ij</a:t>
            </a:r>
            <a:r>
              <a:rPr lang="en"/>
              <a:t> is number of common neighbors between i and j and k is degree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Hierarchical clustering on that distance matrix will produce a partitioning of the vertices into classes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57" name="Google Shape;225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375" y="2662500"/>
            <a:ext cx="1442100" cy="6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Clustering</a:t>
            </a:r>
            <a:endParaRPr/>
          </a:p>
        </p:txBody>
      </p:sp>
      <p:sp>
        <p:nvSpPr>
          <p:cNvPr id="2263" name="Google Shape;2263;p75"/>
          <p:cNvSpPr txBox="1"/>
          <p:nvPr>
            <p:ph idx="1" type="body"/>
          </p:nvPr>
        </p:nvSpPr>
        <p:spPr>
          <a:xfrm>
            <a:off x="838050" y="1225225"/>
            <a:ext cx="527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Could </a:t>
            </a:r>
            <a:r>
              <a:rPr lang="en" sz="1600"/>
              <a:t>instead</a:t>
            </a:r>
            <a:r>
              <a:rPr lang="en" sz="1600"/>
              <a:t> use Euclidean distance: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Where a</a:t>
            </a:r>
            <a:r>
              <a:rPr baseline="-25000" lang="en" sz="1400"/>
              <a:t>ix</a:t>
            </a:r>
            <a:r>
              <a:rPr lang="en" sz="1400"/>
              <a:t> = 1 if i is connected to x</a:t>
            </a:r>
            <a:endParaRPr sz="14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Or</a:t>
            </a:r>
            <a:endParaRPr sz="1600"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Correlation distance (as in CONCOR)</a:t>
            </a:r>
            <a:endParaRPr sz="1400"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Number of shared contexts or groups (in a one-mode projection)</a:t>
            </a:r>
            <a:endParaRPr sz="1400"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Graph-theoretic distance (e.g. shortest paths)</a:t>
            </a:r>
            <a:endParaRPr sz="1400"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Vertex attributes</a:t>
            </a:r>
            <a:endParaRPr sz="1400"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64" name="Google Shape;22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425" y="1653350"/>
            <a:ext cx="3640500" cy="6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5" name="Google Shape;226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674" y="1583199"/>
            <a:ext cx="3190101" cy="18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Hierarchical Clustering</a:t>
            </a:r>
            <a:endParaRPr/>
          </a:p>
        </p:txBody>
      </p:sp>
      <p:pic>
        <p:nvPicPr>
          <p:cNvPr descr="Screenshot 2017-11-07 at 08.29.05.png" id="2271" name="Google Shape;227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7225"/>
            <a:ext cx="8839200" cy="339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Hierarchical Clustering</a:t>
            </a:r>
            <a:endParaRPr/>
          </a:p>
        </p:txBody>
      </p:sp>
      <p:sp>
        <p:nvSpPr>
          <p:cNvPr id="2277" name="Google Shape;2277;p7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Hierarchical clustering approaches have many appealing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simple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recover fundamental intuitions about our understanding of groups such as the fact that they are hierarchical and nested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Sensitive to initial similarity measure chosen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Sensitive to clustering criterion used (e.g. single-linkage, complete-linkage, average, etc.)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in doubt go with average?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approaches don’t know what to do with weakly connected nodes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Modularity and Community Detection</a:t>
            </a:r>
            <a:endParaRPr sz="4800"/>
          </a:p>
        </p:txBody>
      </p:sp>
      <p:sp>
        <p:nvSpPr>
          <p:cNvPr id="2283" name="Google Shape;2283;p78"/>
          <p:cNvSpPr txBox="1"/>
          <p:nvPr>
            <p:ph idx="1" type="body"/>
          </p:nvPr>
        </p:nvSpPr>
        <p:spPr>
          <a:xfrm>
            <a:off x="457200" y="1200150"/>
            <a:ext cx="4553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basic idea is that a network has "community structure" if the edges are arranged in a "statistically surprising" way</a:t>
            </a:r>
            <a:endParaRPr sz="2400"/>
          </a:p>
          <a:p>
            <a:pPr indent="-317500" lvl="1" marL="914400" rtl="0" algn="l">
              <a:spcBef>
                <a:spcPts val="160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A quantity known as the modularity can be used for this purpose</a:t>
            </a:r>
            <a:endParaRPr/>
          </a:p>
        </p:txBody>
      </p:sp>
      <p:pic>
        <p:nvPicPr>
          <p:cNvPr id="2284" name="Google Shape;228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1635831"/>
            <a:ext cx="2380635" cy="285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Algorithms</a:t>
            </a:r>
            <a:endParaRPr sz="4800"/>
          </a:p>
        </p:txBody>
      </p:sp>
      <p:sp>
        <p:nvSpPr>
          <p:cNvPr id="2290" name="Google Shape;2290;p79"/>
          <p:cNvSpPr txBox="1"/>
          <p:nvPr>
            <p:ph idx="1" type="body"/>
          </p:nvPr>
        </p:nvSpPr>
        <p:spPr>
          <a:xfrm>
            <a:off x="311700" y="1225225"/>
            <a:ext cx="400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Minimize between cluster edges, maximize within cluster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Clauset-Newman-Moore:  modularity  (Q)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Girvan-Newman:  edge betweeness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edges with highest edge betweenness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that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91" name="Google Shape;2291;p79"/>
          <p:cNvPicPr preferRelativeResize="0"/>
          <p:nvPr/>
        </p:nvPicPr>
        <p:blipFill rotWithShape="1">
          <a:blip r:embed="rId3">
            <a:alphaModFix/>
          </a:blip>
          <a:srcRect b="0" l="0" r="0" t="12450"/>
          <a:stretch/>
        </p:blipFill>
        <p:spPr>
          <a:xfrm>
            <a:off x="4312500" y="1414551"/>
            <a:ext cx="4526699" cy="29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/>
              <a:t>Modularity and Community Detection</a:t>
            </a:r>
            <a:endParaRPr sz="4800"/>
          </a:p>
        </p:txBody>
      </p:sp>
      <p:sp>
        <p:nvSpPr>
          <p:cNvPr id="2297" name="Google Shape;2297;p80"/>
          <p:cNvSpPr txBox="1"/>
          <p:nvPr>
            <p:ph idx="1" type="body"/>
          </p:nvPr>
        </p:nvSpPr>
        <p:spPr>
          <a:xfrm>
            <a:off x="457200" y="1200150"/>
            <a:ext cx="5019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words, for a partition of the graph into C groups, the modularity is defined as:</a:t>
            </a:r>
            <a:endParaRPr sz="24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observed number of edges falling within groups minus the expected number of edges in the same network if these were placed at random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Configuration Model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Positive values</a:t>
            </a:r>
            <a:r>
              <a:rPr lang="en" sz="1800"/>
              <a:t> indicate the presence of community structure</a:t>
            </a:r>
            <a:endParaRPr sz="1800"/>
          </a:p>
        </p:txBody>
      </p:sp>
      <p:pic>
        <p:nvPicPr>
          <p:cNvPr id="2298" name="Google Shape;229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1635831"/>
            <a:ext cx="2380635" cy="285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Modularity and Community Detection</a:t>
            </a:r>
            <a:endParaRPr sz="4800"/>
          </a:p>
        </p:txBody>
      </p:sp>
      <p:sp>
        <p:nvSpPr>
          <p:cNvPr id="2304" name="Google Shape;2304;p81"/>
          <p:cNvSpPr txBox="1"/>
          <p:nvPr>
            <p:ph idx="1" type="body"/>
          </p:nvPr>
        </p:nvSpPr>
        <p:spPr>
          <a:xfrm>
            <a:off x="457200" y="1200150"/>
            <a:ext cx="811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a network the </a:t>
            </a:r>
            <a:r>
              <a:rPr b="1" lang="en" sz="2400"/>
              <a:t>observed</a:t>
            </a:r>
            <a:r>
              <a:rPr lang="en" sz="2400"/>
              <a:t> number of edges between vertices </a:t>
            </a:r>
            <a:r>
              <a:rPr i="1" lang="en" sz="2400"/>
              <a:t>i</a:t>
            </a:r>
            <a:r>
              <a:rPr lang="en" sz="2400"/>
              <a:t> and </a:t>
            </a:r>
            <a:r>
              <a:rPr i="1" lang="en" sz="2400"/>
              <a:t>j</a:t>
            </a:r>
            <a:r>
              <a:rPr lang="en" sz="2400"/>
              <a:t> is given by the corresponding entry in the adjacency matrix </a:t>
            </a:r>
            <a:r>
              <a:rPr b="1" lang="en" sz="2400"/>
              <a:t>A</a:t>
            </a:r>
            <a:r>
              <a:rPr lang="en" sz="2400"/>
              <a:t>ij (usually 0 or 1)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en" sz="2400"/>
              <a:t>The </a:t>
            </a:r>
            <a:r>
              <a:rPr b="1" lang="en" sz="2400"/>
              <a:t>expected</a:t>
            </a:r>
            <a:r>
              <a:rPr lang="en" sz="2400"/>
              <a:t> number of edges between </a:t>
            </a:r>
            <a:r>
              <a:rPr i="1" lang="en" sz="2400"/>
              <a:t>i</a:t>
            </a:r>
            <a:r>
              <a:rPr lang="en" sz="2400"/>
              <a:t> and </a:t>
            </a:r>
            <a:r>
              <a:rPr i="1" lang="en" sz="2400"/>
              <a:t>j</a:t>
            </a:r>
            <a:r>
              <a:rPr lang="en" sz="2400"/>
              <a:t> is simply a function of their respective degrees: </a:t>
            </a:r>
            <a:endParaRPr sz="2400"/>
          </a:p>
        </p:txBody>
      </p:sp>
      <p:pic>
        <p:nvPicPr>
          <p:cNvPr id="2305" name="Google Shape;230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6770" y="3956095"/>
            <a:ext cx="1681696" cy="63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6" name="Google Shape;230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150" y="4144891"/>
            <a:ext cx="3043238" cy="39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Modularity and Community Detection</a:t>
            </a:r>
            <a:endParaRPr sz="4800"/>
          </a:p>
        </p:txBody>
      </p:sp>
      <p:sp>
        <p:nvSpPr>
          <p:cNvPr id="2312" name="Google Shape;2312;p82"/>
          <p:cNvSpPr txBox="1"/>
          <p:nvPr>
            <p:ph idx="1" type="body"/>
          </p:nvPr>
        </p:nvSpPr>
        <p:spPr>
          <a:xfrm>
            <a:off x="457200" y="1200150"/>
            <a:ext cx="811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modularity (Q) is then given by the sum of the difference between observed minus expected across each pair of vertices that belong to the same group:</a:t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800"/>
            </a:br>
            <a:r>
              <a:rPr lang="en"/>
              <a:t>	</a:t>
            </a:r>
            <a:r>
              <a:rPr lang="en" sz="1800"/>
              <a:t>Where s</a:t>
            </a:r>
            <a:r>
              <a:rPr baseline="-25000" lang="en" sz="1800"/>
              <a:t>i</a:t>
            </a:r>
            <a:r>
              <a:rPr lang="en" sz="1800"/>
              <a:t>= 1 if vertex i belongs to group 1 and s</a:t>
            </a:r>
            <a:r>
              <a:rPr baseline="-25000" lang="en" sz="1800"/>
              <a:t>i</a:t>
            </a:r>
            <a:r>
              <a:rPr lang="en" sz="1800"/>
              <a:t>= -1 if vertex belongs to group 2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 sz="1800"/>
              <a:t>The matrix containing observed minus expected differences for each pair of vertices is known as the modularity matrix:</a:t>
            </a:r>
            <a:endParaRPr sz="1800"/>
          </a:p>
        </p:txBody>
      </p:sp>
      <p:pic>
        <p:nvPicPr>
          <p:cNvPr id="2313" name="Google Shape;23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113" y="2085975"/>
            <a:ext cx="2678906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4203" y="4311950"/>
            <a:ext cx="1846085" cy="5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Modularity and Community Detection</a:t>
            </a:r>
            <a:endParaRPr sz="4800"/>
          </a:p>
        </p:txBody>
      </p:sp>
      <p:sp>
        <p:nvSpPr>
          <p:cNvPr id="2320" name="Google Shape;2320;p83"/>
          <p:cNvSpPr txBox="1"/>
          <p:nvPr>
            <p:ph idx="1" type="body"/>
          </p:nvPr>
        </p:nvSpPr>
        <p:spPr>
          <a:xfrm>
            <a:off x="457200" y="1200150"/>
            <a:ext cx="811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Newman (2006) proposes an algorithm for partitioning a network into two communities based on the </a:t>
            </a:r>
            <a:r>
              <a:rPr b="1" lang="en" sz="1800"/>
              <a:t>B </a:t>
            </a:r>
            <a:r>
              <a:rPr lang="en" sz="1800"/>
              <a:t>matrix</a:t>
            </a:r>
            <a:r>
              <a:rPr lang="en"/>
              <a:t>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Compute the leading eigenvector of the modularity matrix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For a matrix the leading eigenvector is the one associated with the largest (most positive) eigenvalue following a factorization of the matrix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Assign vertices into two disjoint groups based on the sign of the corresponding element in the vector 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Vertices with positive values go in one group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Vertices with negative values go into the other group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Compute modularity Q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Repeat for each group and compute modularity Q to see if there is a change in modularity as a result of the next division</a:t>
            </a:r>
            <a:endParaRPr sz="1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5" name="Google Shape;232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5"/>
            <a:ext cx="4688725" cy="35165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6" name="Google Shape;2326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Core-Periphery Structure</a:t>
            </a:r>
            <a:endParaRPr/>
          </a:p>
        </p:txBody>
      </p:sp>
      <p:pic>
        <p:nvPicPr>
          <p:cNvPr id="2327" name="Google Shape;2327;p84"/>
          <p:cNvPicPr preferRelativeResize="0"/>
          <p:nvPr/>
        </p:nvPicPr>
        <p:blipFill rotWithShape="1">
          <a:blip r:embed="rId4">
            <a:alphaModFix/>
          </a:blip>
          <a:srcRect b="32678" l="0" r="0" t="0"/>
          <a:stretch/>
        </p:blipFill>
        <p:spPr>
          <a:xfrm>
            <a:off x="5000425" y="1935350"/>
            <a:ext cx="3838774" cy="19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