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y="5143500" cx="9144000"/>
  <p:notesSz cx="6858000" cy="9144000"/>
  <p:embeddedFontLst>
    <p:embeddedFont>
      <p:font typeface="Josefin Slab"/>
      <p:regular r:id="rId92"/>
      <p:bold r:id="rId93"/>
      <p:italic r:id="rId94"/>
      <p:boldItalic r:id="rId95"/>
    </p:embeddedFont>
    <p:embeddedFont>
      <p:font typeface="Economica"/>
      <p:regular r:id="rId96"/>
      <p:bold r:id="rId97"/>
      <p:italic r:id="rId98"/>
      <p:boldItalic r:id="rId99"/>
    </p:embeddedFont>
    <p:embeddedFont>
      <p:font typeface="Antic Didone"/>
      <p:regular r:id="rId100"/>
    </p:embeddedFont>
    <p:embeddedFont>
      <p:font typeface="Open Sans SemiBold"/>
      <p:regular r:id="rId101"/>
      <p:bold r:id="rId102"/>
      <p:italic r:id="rId103"/>
      <p:boldItalic r:id="rId104"/>
    </p:embeddedFont>
    <p:embeddedFont>
      <p:font typeface="Comfortaa"/>
      <p:regular r:id="rId105"/>
      <p:bold r:id="rId106"/>
    </p:embeddedFont>
    <p:embeddedFont>
      <p:font typeface="Open Sans"/>
      <p:regular r:id="rId107"/>
      <p:bold r:id="rId108"/>
      <p:italic r:id="rId109"/>
      <p:boldItalic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89C14A-01A1-45EE-B4CA-74876B40A553}">
  <a:tblStyle styleId="{5F89C14A-01A1-45EE-B4CA-74876B40A5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7C336B2-1610-4B39-A701-D1F939EBD3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OpenSans-regular.fntdata"/><Relationship Id="rId106" Type="http://schemas.openxmlformats.org/officeDocument/2006/relationships/font" Target="fonts/Comfortaa-bold.fntdata"/><Relationship Id="rId105" Type="http://schemas.openxmlformats.org/officeDocument/2006/relationships/font" Target="fonts/Comfortaa-regular.fntdata"/><Relationship Id="rId104" Type="http://schemas.openxmlformats.org/officeDocument/2006/relationships/font" Target="fonts/OpenSansSemiBold-boldItalic.fntdata"/><Relationship Id="rId109" Type="http://schemas.openxmlformats.org/officeDocument/2006/relationships/font" Target="fonts/OpenSans-italic.fntdata"/><Relationship Id="rId108" Type="http://schemas.openxmlformats.org/officeDocument/2006/relationships/font" Target="fonts/OpenSans-bold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OpenSansSemiBold-italic.fntdata"/><Relationship Id="rId102" Type="http://schemas.openxmlformats.org/officeDocument/2006/relationships/font" Target="fonts/OpenSansSemiBold-bold.fntdata"/><Relationship Id="rId101" Type="http://schemas.openxmlformats.org/officeDocument/2006/relationships/font" Target="fonts/OpenSansSemiBold-regular.fntdata"/><Relationship Id="rId100" Type="http://schemas.openxmlformats.org/officeDocument/2006/relationships/font" Target="fonts/AnticDidone-regular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JosefinSlab-boldItalic.fntdata"/><Relationship Id="rId94" Type="http://schemas.openxmlformats.org/officeDocument/2006/relationships/font" Target="fonts/JosefinSlab-italic.fntdata"/><Relationship Id="rId97" Type="http://schemas.openxmlformats.org/officeDocument/2006/relationships/font" Target="fonts/Economica-bold.fntdata"/><Relationship Id="rId96" Type="http://schemas.openxmlformats.org/officeDocument/2006/relationships/font" Target="fonts/Economica-regular.fntdata"/><Relationship Id="rId11" Type="http://schemas.openxmlformats.org/officeDocument/2006/relationships/slide" Target="slides/slide4.xml"/><Relationship Id="rId99" Type="http://schemas.openxmlformats.org/officeDocument/2006/relationships/font" Target="fonts/Economica-boldItalic.fntdata"/><Relationship Id="rId10" Type="http://schemas.openxmlformats.org/officeDocument/2006/relationships/slide" Target="slides/slide3.xml"/><Relationship Id="rId98" Type="http://schemas.openxmlformats.org/officeDocument/2006/relationships/font" Target="fonts/Economica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font" Target="fonts/JosefinSlab-bold.fntdata"/><Relationship Id="rId92" Type="http://schemas.openxmlformats.org/officeDocument/2006/relationships/font" Target="fonts/JosefinSlab-regular.fntdata"/><Relationship Id="rId15" Type="http://schemas.openxmlformats.org/officeDocument/2006/relationships/slide" Target="slides/slide8.xml"/><Relationship Id="rId110" Type="http://schemas.openxmlformats.org/officeDocument/2006/relationships/font" Target="fonts/OpenSans-boldItalic.fntdata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20b0bd680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20b0bd680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20b0bd680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20b0bd680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20b0bd680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20b0bd680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20b0bd680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20b0bd680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20b0bd680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20b0bd680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20b0bd680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20b0bd680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20b0bd680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c20b0bd680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20b0bd680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20b0bd680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002a67e6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002a67e6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002a67e6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002a67e6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c20b0bd680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c20b0bd680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902cffea8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902cffea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c20b0bd680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c20b0bd680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6902cffea8_4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6902cffea8_4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902cffea8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902cffea8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6902cffea8_4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6902cffea8_4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6902cffea8_4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6902cffea8_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6902cffea8_4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6902cffea8_4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6902cffea8_4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6902cffea8_4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6902cffea8_4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6902cffea8_4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6902cffea8_4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6902cffea8_4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6902cffea8_4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6902cffea8_4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6902cffea8_4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6902cffea8_4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6902cffea8_4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6902cffea8_4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6902cffea8_4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6902cffea8_4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6902cffea8_4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6902cffea8_4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6902cffea8_4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6902cffea8_4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6902cffea8_4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6902cffea8_4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6902cffea8_4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6902cffea8_4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6902cffea8_4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6902cffea8_4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6902cffea8_4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6902cffea8_4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6902cffea8_4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6902cffea8_4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6902cffea8_4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6902cffea8_4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6902cffea8_4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6902cffea8_4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6902cffea8_4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6902cffea8_4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6902cffea8_4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6902cffea8_4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6902cffea8_4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6902cffea8_4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6902cffea8_4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6902cffea8_4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6902cffea8_4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6902cffea8_4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c20b0bd680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c20b0bd680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c20b0bd680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c20b0bd680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c20b0bd680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c20b0bd680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c20b0bd680_0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c20b0bd680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c20b0bd680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c20b0bd680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c20b0bd680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c20b0bd680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c20b0bd680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c20b0bd680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c20b0bd680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c20b0bd680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c20b0bd680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c20b0bd680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c20b0bd680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c20b0bd680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c20b0bd680_0_1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c20b0bd680_0_1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c20b0bd680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c20b0bd680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c20b0bd680_0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c20b0bd680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c20b0bd680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c20b0bd680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c20b0bd680_0_1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c20b0bd680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c20b0bd680_0_1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c20b0bd680_0_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c20b0bd680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c20b0bd680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c20b0bd680_0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c20b0bd680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c20b0bd680_0_1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c20b0bd680_0_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c20b0bd680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c20b0bd680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c20b0bd680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c20b0bd680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c20b0bd680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c20b0bd680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c20b0bd680_0_1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c20b0bd680_0_1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c20b0bd680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c20b0bd680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c20b0bd680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c20b0bd680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c20b0bd680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c20b0bd680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c20b0bd680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c20b0bd680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c20b0bd680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c20b0bd680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c20b0bd680_0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c20b0bd680_0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c20b0bd680_0_1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c20b0bd680_0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113841ac8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113841ac8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113841ac8e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113841ac8e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113841ac8e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113841ac8e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113841ac8e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113841ac8e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113841ac8e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113841ac8e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113841ac8e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7" name="Google Shape;2037;g113841ac8e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113841ac8e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113841ac8e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113841ac8ef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113841ac8ef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g113841ac8ef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9" name="Google Shape;2209;g113841ac8ef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113841ac8ef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113841ac8ef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113841ac8ef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3" name="Google Shape;2233;g113841ac8ef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g113841ac8ef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2" name="Google Shape;2252;g113841ac8ef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113841ac8ef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113841ac8ef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c20b0bd680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c20b0bd680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gc20b0bd680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7" name="Google Shape;2307;gc20b0bd680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a network is composed of relationships between </a:t>
            </a:r>
            <a:r>
              <a:rPr b="1" lang="en"/>
              <a:t>two types</a:t>
            </a:r>
            <a:r>
              <a:rPr lang="en"/>
              <a:t> of entities: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Persons</a:t>
            </a:r>
            <a:r>
              <a:rPr lang="en"/>
              <a:t> and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Actors</a:t>
            </a:r>
            <a:r>
              <a:rPr lang="en" sz="1400"/>
              <a:t> and the </a:t>
            </a:r>
            <a:r>
              <a:rPr b="1" lang="en" sz="1400"/>
              <a:t>movies</a:t>
            </a:r>
            <a:r>
              <a:rPr lang="en" sz="1400"/>
              <a:t> they appear in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Scientists</a:t>
            </a:r>
            <a:r>
              <a:rPr lang="en" sz="1400"/>
              <a:t> and </a:t>
            </a:r>
            <a:r>
              <a:rPr b="1" lang="en" sz="1400"/>
              <a:t>papers</a:t>
            </a:r>
            <a:r>
              <a:rPr lang="en" sz="1400"/>
              <a:t> they write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Networks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a </a:t>
            </a:r>
            <a:r>
              <a:rPr b="1" lang="en"/>
              <a:t>network</a:t>
            </a:r>
            <a:r>
              <a:rPr lang="en"/>
              <a:t> consists of a set of </a:t>
            </a:r>
            <a:r>
              <a:rPr b="1" lang="en"/>
              <a:t>units</a:t>
            </a:r>
            <a:r>
              <a:rPr lang="en"/>
              <a:t> of the </a:t>
            </a:r>
            <a:r>
              <a:rPr b="1" lang="en"/>
              <a:t>same kind</a:t>
            </a:r>
            <a:r>
              <a:rPr lang="en"/>
              <a:t> linked via some kind of </a:t>
            </a:r>
            <a:r>
              <a:rPr b="1" lang="en"/>
              <a:t>relationship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</a:t>
            </a:r>
            <a:r>
              <a:rPr lang="en"/>
              <a:t> to </a:t>
            </a:r>
            <a:r>
              <a:rPr b="1" lang="en"/>
              <a:t>person</a:t>
            </a:r>
            <a:r>
              <a:rPr lang="en"/>
              <a:t> friendship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Organization</a:t>
            </a:r>
            <a:r>
              <a:rPr lang="en"/>
              <a:t> to </a:t>
            </a:r>
            <a:r>
              <a:rPr b="1" lang="en"/>
              <a:t>organization</a:t>
            </a:r>
            <a:r>
              <a:rPr lang="en"/>
              <a:t> alliances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Airport</a:t>
            </a:r>
            <a:r>
              <a:rPr lang="en"/>
              <a:t> to </a:t>
            </a:r>
            <a:r>
              <a:rPr b="1" lang="en"/>
              <a:t>airport</a:t>
            </a:r>
            <a:r>
              <a:rPr lang="en"/>
              <a:t> plane 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a network is composed of relationships between </a:t>
            </a:r>
            <a:r>
              <a:rPr b="1" lang="en"/>
              <a:t>two types</a:t>
            </a:r>
            <a:r>
              <a:rPr lang="en"/>
              <a:t> of entities: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Persons</a:t>
            </a:r>
            <a:r>
              <a:rPr lang="en"/>
              <a:t> and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Actors</a:t>
            </a:r>
            <a:r>
              <a:rPr lang="en" sz="1400"/>
              <a:t> and the </a:t>
            </a:r>
            <a:r>
              <a:rPr b="1" lang="en" sz="1400"/>
              <a:t>movies</a:t>
            </a:r>
            <a:r>
              <a:rPr lang="en" sz="1400"/>
              <a:t> they appear in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400"/>
              <a:t>Scientists</a:t>
            </a:r>
            <a:r>
              <a:rPr lang="en" sz="1400"/>
              <a:t> and </a:t>
            </a:r>
            <a:r>
              <a:rPr b="1" lang="en" sz="1400"/>
              <a:t>papers</a:t>
            </a:r>
            <a:r>
              <a:rPr lang="en" sz="1400"/>
              <a:t> they write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Affiliation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marvel-3.png" id="135" name="Google Shape;135;p30"/>
          <p:cNvPicPr preferRelativeResize="0"/>
          <p:nvPr/>
        </p:nvPicPr>
        <p:blipFill rotWithShape="1">
          <a:blip r:embed="rId3">
            <a:alphaModFix/>
          </a:blip>
          <a:srcRect b="2471" l="2257" r="1691" t="263"/>
          <a:stretch/>
        </p:blipFill>
        <p:spPr>
          <a:xfrm>
            <a:off x="5626850" y="989475"/>
            <a:ext cx="3205450" cy="382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Hollywood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actors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movies</a:t>
            </a:r>
            <a:r>
              <a:rPr lang="en">
                <a:solidFill>
                  <a:srgbClr val="FF0000"/>
                </a:solidFill>
              </a:rPr>
              <a:t> that they make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Citigroup_corp_NetDraw.gif" id="142" name="Google Shape;1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1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CEOs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board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of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directors</a:t>
            </a:r>
            <a:r>
              <a:rPr lang="en">
                <a:solidFill>
                  <a:srgbClr val="FF0000"/>
                </a:solidFill>
              </a:rPr>
              <a:t> that they sit on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sp>
        <p:nvSpPr>
          <p:cNvPr id="149" name="Google Shape;149;p32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Hollywood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actors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movies</a:t>
            </a:r>
            <a:r>
              <a:rPr lang="en">
                <a:solidFill>
                  <a:srgbClr val="000000"/>
                </a:solidFill>
              </a:rPr>
              <a:t> that they make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Books </a:t>
            </a:r>
            <a:r>
              <a:rPr lang="en">
                <a:solidFill>
                  <a:srgbClr val="FF0000"/>
                </a:solidFill>
              </a:rPr>
              <a:t>and the people who buy them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50" name="Google Shape;150;p32"/>
          <p:cNvPicPr preferRelativeResize="0"/>
          <p:nvPr/>
        </p:nvPicPr>
        <p:blipFill rotWithShape="1">
          <a:blip r:embed="rId3">
            <a:alphaModFix/>
          </a:blip>
          <a:srcRect b="18702" l="51333" r="0" t="21586"/>
          <a:stretch/>
        </p:blipFill>
        <p:spPr>
          <a:xfrm>
            <a:off x="5233650" y="1225225"/>
            <a:ext cx="3644818" cy="33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image006.jpg" id="156" name="Google Shape;1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Books </a:t>
            </a:r>
            <a:r>
              <a:rPr lang="en"/>
              <a:t>and the people who buy them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Scientists </a:t>
            </a:r>
            <a:r>
              <a:rPr lang="en">
                <a:solidFill>
                  <a:srgbClr val="FF0000"/>
                </a:solidFill>
              </a:rPr>
              <a:t>and the </a:t>
            </a:r>
            <a:r>
              <a:rPr b="1" lang="en">
                <a:solidFill>
                  <a:srgbClr val="FF0000"/>
                </a:solidFill>
              </a:rPr>
              <a:t>journal</a:t>
            </a:r>
            <a:r>
              <a:rPr lang="en">
                <a:solidFill>
                  <a:srgbClr val="FF0000"/>
                </a:solidFill>
              </a:rPr>
              <a:t> they publish in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“affiliation networks"</a:t>
            </a:r>
            <a:endParaRPr/>
          </a:p>
        </p:txBody>
      </p:sp>
      <p:sp>
        <p:nvSpPr>
          <p:cNvPr id="163" name="Google Shape;163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</a:t>
            </a:r>
            <a:r>
              <a:rPr b="1" lang="en"/>
              <a:t>"real life" states or processes</a:t>
            </a:r>
            <a:r>
              <a:rPr lang="en"/>
              <a:t> in a social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Membership of </a:t>
            </a:r>
            <a:r>
              <a:rPr b="1" lang="en"/>
              <a:t>individuals</a:t>
            </a:r>
            <a:r>
              <a:rPr lang="en"/>
              <a:t> in </a:t>
            </a:r>
            <a:r>
              <a:rPr b="1" lang="en"/>
              <a:t>groups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the </a:t>
            </a:r>
            <a:r>
              <a:rPr b="1" lang="en"/>
              <a:t>graph-theoretic concept</a:t>
            </a:r>
            <a:r>
              <a:rPr lang="en"/>
              <a:t> that is the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</a:t>
            </a:r>
            <a:r>
              <a:rPr b="1" lang="en"/>
              <a:t>edge</a:t>
            </a:r>
            <a:r>
              <a:rPr lang="en"/>
              <a:t> joining entities from set </a:t>
            </a:r>
            <a:r>
              <a:rPr b="1" lang="en"/>
              <a:t>g</a:t>
            </a:r>
            <a:r>
              <a:rPr lang="en"/>
              <a:t> to set </a:t>
            </a:r>
            <a:r>
              <a:rPr b="1" lang="en"/>
              <a:t>h</a:t>
            </a:r>
            <a:r>
              <a:rPr lang="en"/>
              <a:t> in bipartite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edges </a:t>
            </a:r>
            <a:r>
              <a:rPr b="1" lang="en"/>
              <a:t>incident</a:t>
            </a:r>
            <a:r>
              <a:rPr lang="en"/>
              <a:t> on a member of set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the </a:t>
            </a:r>
            <a:r>
              <a:rPr b="1" lang="en"/>
              <a:t>matrix algebraic representation</a:t>
            </a:r>
            <a:r>
              <a:rPr lang="en"/>
              <a:t> of the graph-theoretic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sum</a:t>
            </a:r>
            <a:r>
              <a:rPr lang="en"/>
              <a:t> of the </a:t>
            </a:r>
            <a:r>
              <a:rPr b="1" lang="en"/>
              <a:t>rows</a:t>
            </a:r>
            <a:r>
              <a:rPr lang="en"/>
              <a:t> of the </a:t>
            </a:r>
            <a:r>
              <a:rPr b="1" lang="en"/>
              <a:t>affiliation matrix </a:t>
            </a:r>
            <a:r>
              <a:rPr lang="en"/>
              <a:t>A giving us the</a:t>
            </a:r>
            <a:r>
              <a:rPr b="1" lang="en"/>
              <a:t> number of memberships </a:t>
            </a:r>
            <a:r>
              <a:rPr lang="en"/>
              <a:t>of a given individual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three-step shuffle: Affiliation network edition </a:t>
            </a:r>
            <a:endParaRPr/>
          </a:p>
        </p:txBody>
      </p:sp>
      <p:sp>
        <p:nvSpPr>
          <p:cNvPr id="169" name="Google Shape;169;p35"/>
          <p:cNvSpPr/>
          <p:nvPr/>
        </p:nvSpPr>
        <p:spPr>
          <a:xfrm>
            <a:off x="69932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Begin with theories specifying the </a:t>
            </a:r>
            <a:r>
              <a:rPr b="1" lang="en" sz="1800">
                <a:solidFill>
                  <a:srgbClr val="FFFFFF"/>
                </a:solidFill>
              </a:rPr>
              <a:t>membership relation</a:t>
            </a:r>
            <a:r>
              <a:rPr lang="en" sz="1800">
                <a:solidFill>
                  <a:srgbClr val="FFFFFF"/>
                </a:solidFill>
              </a:rPr>
              <a:t> between people and other entities, such as groups, teams, events.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70" name="Google Shape;170;p35"/>
          <p:cNvCxnSpPr>
            <a:stCxn id="169" idx="3"/>
            <a:endCxn id="171" idx="1"/>
          </p:cNvCxnSpPr>
          <p:nvPr/>
        </p:nvCxnSpPr>
        <p:spPr>
          <a:xfrm>
            <a:off x="2889325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35"/>
          <p:cNvSpPr/>
          <p:nvPr/>
        </p:nvSpPr>
        <p:spPr>
          <a:xfrm>
            <a:off x="3606400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Translate the membership concept into a </a:t>
            </a:r>
            <a:r>
              <a:rPr b="1" lang="en" sz="1800">
                <a:solidFill>
                  <a:srgbClr val="FFFFFF"/>
                </a:solidFill>
              </a:rPr>
              <a:t>graph theoretic concept</a:t>
            </a:r>
            <a:r>
              <a:rPr lang="en" sz="1800">
                <a:solidFill>
                  <a:srgbClr val="FFFFFF"/>
                </a:solidFill>
              </a:rPr>
              <a:t> by switching to the appropriate representation 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(e.g. bipartite graphs)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72" name="Google Shape;172;p35"/>
          <p:cNvCxnSpPr>
            <a:stCxn id="171" idx="3"/>
            <a:endCxn id="173" idx="1"/>
          </p:cNvCxnSpPr>
          <p:nvPr/>
        </p:nvCxnSpPr>
        <p:spPr>
          <a:xfrm>
            <a:off x="5796400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35"/>
          <p:cNvSpPr/>
          <p:nvPr/>
        </p:nvSpPr>
        <p:spPr>
          <a:xfrm>
            <a:off x="651347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Link the bipartite graph theoretic idea to a </a:t>
            </a:r>
            <a:r>
              <a:rPr b="1" lang="en" sz="1800">
                <a:solidFill>
                  <a:srgbClr val="FFFFFF"/>
                </a:solidFill>
              </a:rPr>
              <a:t>matrix algebra</a:t>
            </a:r>
            <a:r>
              <a:rPr lang="en" sz="1800">
                <a:solidFill>
                  <a:srgbClr val="FFFFFF"/>
                </a:solidFill>
              </a:rPr>
              <a:t> to come up with network-analytic </a:t>
            </a:r>
            <a:r>
              <a:rPr b="1" lang="en" sz="1800">
                <a:solidFill>
                  <a:srgbClr val="FFFFFF"/>
                </a:solidFill>
              </a:rPr>
              <a:t>measures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(e.g. centrality of individuals and events)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Affiliation Networks</a:t>
            </a:r>
            <a:r>
              <a:rPr lang="en"/>
              <a:t> people are linked to other (usually larger) entities that are not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 and movies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Scientists and papers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Persons and events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6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1" name="Google Shape;181;p36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2" name="Google Shape;182;p36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3" name="Google Shape;183;p36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4" name="Google Shape;184;p36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5" name="Google Shape;185;p36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86" name="Google Shape;186;p36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91" name="Google Shape;191;p36"/>
          <p:cNvCxnSpPr>
            <a:stCxn id="185" idx="6"/>
            <a:endCxn id="19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36"/>
          <p:cNvCxnSpPr>
            <a:stCxn id="185" idx="6"/>
            <a:endCxn id="18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6"/>
          <p:cNvCxnSpPr>
            <a:stCxn id="184" idx="6"/>
            <a:endCxn id="19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36"/>
          <p:cNvCxnSpPr>
            <a:stCxn id="182" idx="6"/>
            <a:endCxn id="18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6"/>
          <p:cNvCxnSpPr>
            <a:stCxn id="185" idx="6"/>
            <a:endCxn id="18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6"/>
          <p:cNvCxnSpPr>
            <a:stCxn id="180" idx="6"/>
            <a:endCxn id="18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6"/>
          <p:cNvCxnSpPr>
            <a:stCxn id="180" idx="6"/>
            <a:endCxn id="18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6"/>
          <p:cNvCxnSpPr>
            <a:stCxn id="181" idx="6"/>
            <a:endCxn id="18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36"/>
          <p:cNvCxnSpPr>
            <a:stCxn id="180" idx="6"/>
            <a:endCxn id="19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6"/>
          <p:cNvCxnSpPr>
            <a:stCxn id="183" idx="6"/>
            <a:endCxn id="18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36"/>
          <p:cNvCxnSpPr>
            <a:stCxn id="181" idx="6"/>
            <a:endCxn id="18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6"/>
          <p:cNvCxnSpPr>
            <a:stCxn id="184" idx="6"/>
            <a:endCxn id="18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6"/>
          <p:cNvCxnSpPr>
            <a:stCxn id="183" idx="6"/>
            <a:endCxn id="18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36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5" name="Google Shape;205;p36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11" name="Google Shape;211;p37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Affiliation Networks</a:t>
            </a:r>
            <a:r>
              <a:rPr lang="en"/>
              <a:t> people are linked to other (usually larger) entities that are not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 and movies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Scientists and papers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Persons and events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Bipartite graphs</a:t>
            </a:r>
            <a:r>
              <a:rPr lang="en"/>
              <a:t> can be used to represent the social network concepts of </a:t>
            </a:r>
            <a:r>
              <a:rPr b="1" lang="en"/>
              <a:t>affiliation</a:t>
            </a:r>
            <a:r>
              <a:rPr lang="en"/>
              <a:t> or </a:t>
            </a:r>
            <a:r>
              <a:rPr b="1" lang="en"/>
              <a:t>membership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7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5" name="Google Shape;215;p37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6" name="Google Shape;216;p37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7" name="Google Shape;217;p37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0" name="Google Shape;220;p37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1" name="Google Shape;221;p37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2" name="Google Shape;222;p37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23" name="Google Shape;223;p37"/>
          <p:cNvCxnSpPr>
            <a:stCxn id="217" idx="6"/>
            <a:endCxn id="22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37"/>
          <p:cNvCxnSpPr>
            <a:stCxn id="217" idx="6"/>
            <a:endCxn id="21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7"/>
          <p:cNvCxnSpPr>
            <a:stCxn id="216" idx="6"/>
            <a:endCxn id="22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7"/>
          <p:cNvCxnSpPr>
            <a:stCxn id="214" idx="6"/>
            <a:endCxn id="21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7"/>
          <p:cNvCxnSpPr>
            <a:stCxn id="217" idx="6"/>
            <a:endCxn id="22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7"/>
          <p:cNvCxnSpPr>
            <a:stCxn id="212" idx="6"/>
            <a:endCxn id="21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7"/>
          <p:cNvCxnSpPr>
            <a:stCxn id="212" idx="6"/>
            <a:endCxn id="22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7"/>
          <p:cNvCxnSpPr>
            <a:stCxn id="213" idx="6"/>
            <a:endCxn id="21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7"/>
          <p:cNvCxnSpPr>
            <a:stCxn id="212" idx="6"/>
            <a:endCxn id="22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7"/>
          <p:cNvCxnSpPr>
            <a:stCxn id="215" idx="6"/>
            <a:endCxn id="22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7"/>
          <p:cNvCxnSpPr>
            <a:stCxn id="213" idx="6"/>
            <a:endCxn id="22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7"/>
          <p:cNvCxnSpPr>
            <a:stCxn id="216" idx="6"/>
            <a:endCxn id="21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7"/>
          <p:cNvCxnSpPr>
            <a:stCxn id="215" idx="6"/>
            <a:endCxn id="21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7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8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5" name="Google Shape;245;p38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6" name="Google Shape;246;p38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49" name="Google Shape;249;p38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50" name="Google Shape;250;p38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1" name="Google Shape;251;p38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2" name="Google Shape;252;p38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4" name="Google Shape;254;p38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55" name="Google Shape;255;p38"/>
          <p:cNvCxnSpPr>
            <a:stCxn id="249" idx="6"/>
            <a:endCxn id="25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8"/>
          <p:cNvCxnSpPr>
            <a:stCxn id="249" idx="6"/>
            <a:endCxn id="25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8"/>
          <p:cNvCxnSpPr>
            <a:stCxn id="248" idx="6"/>
            <a:endCxn id="25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8"/>
          <p:cNvCxnSpPr>
            <a:stCxn id="246" idx="6"/>
            <a:endCxn id="25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8"/>
          <p:cNvCxnSpPr>
            <a:stCxn id="249" idx="6"/>
            <a:endCxn id="25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8"/>
          <p:cNvCxnSpPr>
            <a:stCxn id="244" idx="6"/>
            <a:endCxn id="25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8"/>
          <p:cNvCxnSpPr>
            <a:stCxn id="244" idx="6"/>
            <a:endCxn id="25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8"/>
          <p:cNvCxnSpPr>
            <a:stCxn id="245" idx="6"/>
            <a:endCxn id="25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8"/>
          <p:cNvCxnSpPr>
            <a:stCxn id="244" idx="6"/>
            <a:endCxn id="25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8"/>
          <p:cNvCxnSpPr>
            <a:stCxn id="247" idx="6"/>
            <a:endCxn id="25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8"/>
          <p:cNvCxnSpPr>
            <a:stCxn id="245" idx="6"/>
            <a:endCxn id="25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8"/>
          <p:cNvCxnSpPr>
            <a:stCxn id="248" idx="6"/>
            <a:endCxn id="25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8"/>
          <p:cNvCxnSpPr>
            <a:stCxn id="247" idx="6"/>
            <a:endCxn id="25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8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75" name="Google Shape;275;p39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9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7" name="Google Shape;277;p39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8" name="Google Shape;278;p39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79" name="Google Shape;279;p39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0" name="Google Shape;280;p39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1" name="Google Shape;281;p39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3" name="Google Shape;283;p39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4" name="Google Shape;284;p39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5" name="Google Shape;285;p39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86" name="Google Shape;286;p39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287" name="Google Shape;287;p39"/>
          <p:cNvCxnSpPr>
            <a:stCxn id="281" idx="6"/>
            <a:endCxn id="28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9"/>
          <p:cNvCxnSpPr>
            <a:stCxn id="281" idx="6"/>
            <a:endCxn id="28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9"/>
          <p:cNvCxnSpPr>
            <a:stCxn id="280" idx="6"/>
            <a:endCxn id="28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9"/>
          <p:cNvCxnSpPr>
            <a:stCxn id="278" idx="6"/>
            <a:endCxn id="28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9"/>
          <p:cNvCxnSpPr>
            <a:stCxn id="281" idx="6"/>
            <a:endCxn id="28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9"/>
          <p:cNvCxnSpPr>
            <a:stCxn id="276" idx="6"/>
            <a:endCxn id="28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9"/>
          <p:cNvCxnSpPr>
            <a:stCxn id="276" idx="6"/>
            <a:endCxn id="28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9"/>
          <p:cNvCxnSpPr>
            <a:stCxn id="277" idx="6"/>
            <a:endCxn id="28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9"/>
          <p:cNvCxnSpPr>
            <a:stCxn id="276" idx="6"/>
            <a:endCxn id="28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9"/>
          <p:cNvCxnSpPr>
            <a:stCxn id="279" idx="6"/>
            <a:endCxn id="28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9"/>
          <p:cNvCxnSpPr>
            <a:stCxn id="277" idx="6"/>
            <a:endCxn id="28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9"/>
          <p:cNvCxnSpPr>
            <a:stCxn id="280" idx="6"/>
            <a:endCxn id="28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9"/>
          <p:cNvCxnSpPr>
            <a:stCxn id="279" idx="6"/>
            <a:endCxn id="28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9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35305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0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0" name="Google Shape;310;p40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1" name="Google Shape;311;p40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4" name="Google Shape;314;p40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6" name="Google Shape;316;p40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19" name="Google Shape;319;p40"/>
          <p:cNvCxnSpPr>
            <a:stCxn id="313" idx="6"/>
            <a:endCxn id="31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40"/>
          <p:cNvCxnSpPr>
            <a:stCxn id="313" idx="6"/>
            <a:endCxn id="31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0"/>
          <p:cNvCxnSpPr>
            <a:stCxn id="312" idx="6"/>
            <a:endCxn id="31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>
            <a:stCxn id="310" idx="6"/>
            <a:endCxn id="31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>
            <a:stCxn id="313" idx="6"/>
            <a:endCxn id="31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>
            <a:stCxn id="308" idx="6"/>
            <a:endCxn id="31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40"/>
          <p:cNvCxnSpPr>
            <a:stCxn id="308" idx="6"/>
            <a:endCxn id="31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0"/>
          <p:cNvCxnSpPr>
            <a:stCxn id="309" idx="6"/>
            <a:endCxn id="31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0"/>
          <p:cNvCxnSpPr>
            <a:stCxn id="308" idx="6"/>
            <a:endCxn id="31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0"/>
          <p:cNvCxnSpPr>
            <a:stCxn id="311" idx="6"/>
            <a:endCxn id="31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40"/>
          <p:cNvCxnSpPr>
            <a:stCxn id="309" idx="6"/>
            <a:endCxn id="31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40"/>
          <p:cNvCxnSpPr>
            <a:stCxn id="312" idx="6"/>
            <a:endCxn id="31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40"/>
          <p:cNvCxnSpPr>
            <a:stCxn id="311" idx="6"/>
            <a:endCxn id="31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40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1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2" name="Google Shape;342;p41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3" name="Google Shape;343;p41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4" name="Google Shape;344;p41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5" name="Google Shape;345;p41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47" name="Google Shape;347;p41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48" name="Google Shape;348;p41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50" name="Google Shape;350;p41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51" name="Google Shape;351;p41"/>
          <p:cNvCxnSpPr>
            <a:stCxn id="345" idx="6"/>
            <a:endCxn id="35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41"/>
          <p:cNvCxnSpPr>
            <a:stCxn id="345" idx="6"/>
            <a:endCxn id="34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41"/>
          <p:cNvCxnSpPr>
            <a:stCxn id="344" idx="6"/>
            <a:endCxn id="35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41"/>
          <p:cNvCxnSpPr>
            <a:stCxn id="342" idx="6"/>
            <a:endCxn id="34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41"/>
          <p:cNvCxnSpPr>
            <a:stCxn id="345" idx="6"/>
            <a:endCxn id="34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41"/>
          <p:cNvCxnSpPr>
            <a:stCxn id="340" idx="6"/>
            <a:endCxn id="34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1"/>
          <p:cNvCxnSpPr>
            <a:stCxn id="340" idx="6"/>
            <a:endCxn id="34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1"/>
          <p:cNvCxnSpPr>
            <a:stCxn id="341" idx="6"/>
            <a:endCxn id="34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1"/>
          <p:cNvCxnSpPr>
            <a:stCxn id="340" idx="6"/>
            <a:endCxn id="35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1"/>
          <p:cNvCxnSpPr>
            <a:stCxn id="343" idx="6"/>
            <a:endCxn id="34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1"/>
          <p:cNvCxnSpPr>
            <a:stCxn id="341" idx="6"/>
            <a:endCxn id="34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1"/>
          <p:cNvCxnSpPr>
            <a:stCxn id="344" idx="6"/>
            <a:endCxn id="34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1"/>
          <p:cNvCxnSpPr>
            <a:stCxn id="343" idx="6"/>
            <a:endCxn id="34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41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5" name="Google Shape;365;p41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371" name="Google Shape;371;p42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two vertex sets can be of </a:t>
            </a:r>
            <a:r>
              <a:rPr b="1" lang="en"/>
              <a:t>different</a:t>
            </a:r>
            <a:r>
              <a:rPr lang="en"/>
              <a:t> cardinality </a:t>
            </a:r>
            <a:r>
              <a:rPr lang="en"/>
              <a:t>(</a:t>
            </a:r>
            <a:r>
              <a:rPr lang="en"/>
              <a:t>number of elements</a:t>
            </a:r>
            <a:r>
              <a:rPr lang="en"/>
              <a:t>)</a:t>
            </a:r>
            <a:r>
              <a:rPr lang="en"/>
              <a:t>!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|U| = 6, |V| = 5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2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78" name="Google Shape;378;p42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79" name="Google Shape;379;p42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80" name="Google Shape;380;p42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81" name="Google Shape;381;p42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82" name="Google Shape;382;p42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83" name="Google Shape;383;p42"/>
          <p:cNvCxnSpPr>
            <a:stCxn id="377" idx="6"/>
            <a:endCxn id="38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42"/>
          <p:cNvCxnSpPr>
            <a:stCxn id="377" idx="6"/>
            <a:endCxn id="37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2"/>
          <p:cNvCxnSpPr>
            <a:stCxn id="376" idx="6"/>
            <a:endCxn id="38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42"/>
          <p:cNvCxnSpPr>
            <a:stCxn id="374" idx="6"/>
            <a:endCxn id="37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2"/>
          <p:cNvCxnSpPr>
            <a:stCxn id="377" idx="6"/>
            <a:endCxn id="38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2"/>
          <p:cNvCxnSpPr>
            <a:stCxn id="372" idx="6"/>
            <a:endCxn id="37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2"/>
          <p:cNvCxnSpPr>
            <a:stCxn id="372" idx="6"/>
            <a:endCxn id="38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2"/>
          <p:cNvCxnSpPr>
            <a:stCxn id="373" idx="6"/>
            <a:endCxn id="37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2"/>
          <p:cNvCxnSpPr>
            <a:stCxn id="372" idx="6"/>
            <a:endCxn id="38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2"/>
          <p:cNvCxnSpPr>
            <a:stCxn id="375" idx="6"/>
            <a:endCxn id="38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42"/>
          <p:cNvCxnSpPr>
            <a:stCxn id="373" idx="6"/>
            <a:endCxn id="38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2"/>
          <p:cNvCxnSpPr>
            <a:stCxn id="376" idx="6"/>
            <a:endCxn id="37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2"/>
          <p:cNvCxnSpPr>
            <a:stCxn id="375" idx="6"/>
            <a:endCxn id="37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42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97" name="Google Shape;397;p42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bipartite graph</a:t>
            </a:r>
            <a:r>
              <a:rPr lang="en"/>
              <a:t> is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vertices, U,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Two sets are disjoint when they don’t share members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One edge </a:t>
            </a:r>
            <a:r>
              <a:rPr lang="en">
                <a:solidFill>
                  <a:srgbClr val="000000"/>
                </a:solidFill>
              </a:rPr>
              <a:t>set (E)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G = {U, V, E}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Affiliation or membership relations are </a:t>
            </a:r>
            <a:r>
              <a:rPr b="1" lang="en"/>
              <a:t>undirected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5" name="Google Shape;405;p43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6" name="Google Shape;406;p43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7" name="Google Shape;407;p43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8" name="Google Shape;408;p43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9" name="Google Shape;409;p43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10" name="Google Shape;410;p43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1" name="Google Shape;411;p43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3" name="Google Shape;413;p43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4" name="Google Shape;414;p43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15" name="Google Shape;415;p43"/>
          <p:cNvCxnSpPr>
            <a:stCxn id="409" idx="6"/>
            <a:endCxn id="41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3"/>
          <p:cNvCxnSpPr>
            <a:stCxn id="409" idx="6"/>
            <a:endCxn id="41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3"/>
          <p:cNvCxnSpPr>
            <a:stCxn id="408" idx="6"/>
            <a:endCxn id="41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43"/>
          <p:cNvCxnSpPr>
            <a:stCxn id="406" idx="6"/>
            <a:endCxn id="41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3"/>
          <p:cNvCxnSpPr>
            <a:stCxn id="409" idx="6"/>
            <a:endCxn id="41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3"/>
          <p:cNvCxnSpPr>
            <a:stCxn id="404" idx="6"/>
            <a:endCxn id="41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3"/>
          <p:cNvCxnSpPr>
            <a:stCxn id="404" idx="6"/>
            <a:endCxn id="41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3"/>
          <p:cNvCxnSpPr>
            <a:stCxn id="405" idx="6"/>
            <a:endCxn id="41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3"/>
          <p:cNvCxnSpPr>
            <a:stCxn id="404" idx="6"/>
            <a:endCxn id="41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43"/>
          <p:cNvCxnSpPr>
            <a:stCxn id="407" idx="6"/>
            <a:endCxn id="41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43"/>
          <p:cNvCxnSpPr>
            <a:stCxn id="405" idx="6"/>
            <a:endCxn id="41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43"/>
          <p:cNvCxnSpPr>
            <a:stCxn id="408" idx="6"/>
            <a:endCxn id="41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43"/>
          <p:cNvCxnSpPr>
            <a:stCxn id="407" idx="6"/>
            <a:endCxn id="41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43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9" name="Google Shape;429;p43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</a:t>
            </a:r>
            <a:r>
              <a:rPr lang="en"/>
              <a:t>Bipartite Graphs</a:t>
            </a:r>
            <a:endParaRPr/>
          </a:p>
        </p:txBody>
      </p:sp>
      <p:sp>
        <p:nvSpPr>
          <p:cNvPr id="435" name="Google Shape;435;p44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4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37" name="Google Shape;437;p44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38" name="Google Shape;438;p44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39" name="Google Shape;439;p44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0" name="Google Shape;440;p44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1" name="Google Shape;441;p44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2" name="Google Shape;442;p44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3" name="Google Shape;443;p44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4" name="Google Shape;444;p44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5" name="Google Shape;445;p44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46" name="Google Shape;446;p44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47" name="Google Shape;447;p44"/>
          <p:cNvCxnSpPr>
            <a:stCxn id="441" idx="6"/>
            <a:endCxn id="44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4"/>
          <p:cNvCxnSpPr>
            <a:stCxn id="441" idx="6"/>
            <a:endCxn id="44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44"/>
          <p:cNvCxnSpPr>
            <a:stCxn id="440" idx="6"/>
            <a:endCxn id="44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44"/>
          <p:cNvCxnSpPr>
            <a:stCxn id="438" idx="6"/>
            <a:endCxn id="44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44"/>
          <p:cNvCxnSpPr>
            <a:stCxn id="441" idx="6"/>
            <a:endCxn id="44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4"/>
          <p:cNvCxnSpPr>
            <a:stCxn id="436" idx="6"/>
            <a:endCxn id="44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44"/>
          <p:cNvCxnSpPr>
            <a:stCxn id="436" idx="6"/>
            <a:endCxn id="44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44"/>
          <p:cNvCxnSpPr>
            <a:stCxn id="437" idx="6"/>
            <a:endCxn id="44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44"/>
          <p:cNvCxnSpPr>
            <a:stCxn id="436" idx="6"/>
            <a:endCxn id="44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44"/>
          <p:cNvCxnSpPr>
            <a:stCxn id="439" idx="6"/>
            <a:endCxn id="44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44"/>
          <p:cNvCxnSpPr>
            <a:stCxn id="437" idx="6"/>
            <a:endCxn id="44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44"/>
          <p:cNvCxnSpPr>
            <a:stCxn id="440" idx="6"/>
            <a:endCxn id="44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44"/>
          <p:cNvCxnSpPr>
            <a:stCxn id="439" idx="6"/>
            <a:endCxn id="44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44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1" name="Google Shape;461;p44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467" name="Google Shape;467;p45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5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69" name="Google Shape;469;p45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0" name="Google Shape;470;p45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1" name="Google Shape;471;p45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2" name="Google Shape;472;p45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3" name="Google Shape;473;p45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74" name="Google Shape;474;p45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5" name="Google Shape;475;p45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6" name="Google Shape;476;p45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7" name="Google Shape;477;p45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479" name="Google Shape;479;p45"/>
          <p:cNvCxnSpPr>
            <a:stCxn id="473" idx="6"/>
            <a:endCxn id="47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5"/>
          <p:cNvCxnSpPr>
            <a:stCxn id="473" idx="6"/>
            <a:endCxn id="47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5"/>
          <p:cNvCxnSpPr>
            <a:stCxn id="472" idx="6"/>
            <a:endCxn id="47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5"/>
          <p:cNvCxnSpPr>
            <a:stCxn id="470" idx="6"/>
            <a:endCxn id="47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5"/>
          <p:cNvCxnSpPr>
            <a:stCxn id="473" idx="6"/>
            <a:endCxn id="47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5"/>
          <p:cNvCxnSpPr>
            <a:stCxn id="468" idx="6"/>
            <a:endCxn id="47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5"/>
          <p:cNvCxnSpPr>
            <a:stCxn id="468" idx="6"/>
            <a:endCxn id="47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5"/>
          <p:cNvCxnSpPr>
            <a:stCxn id="469" idx="6"/>
            <a:endCxn id="47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5"/>
          <p:cNvCxnSpPr>
            <a:stCxn id="468" idx="6"/>
            <a:endCxn id="47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45"/>
          <p:cNvCxnSpPr>
            <a:stCxn id="471" idx="6"/>
            <a:endCxn id="47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45"/>
          <p:cNvCxnSpPr>
            <a:stCxn id="469" idx="6"/>
            <a:endCxn id="47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45"/>
          <p:cNvCxnSpPr>
            <a:stCxn id="472" idx="6"/>
            <a:endCxn id="47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5"/>
          <p:cNvCxnSpPr>
            <a:stCxn id="471" idx="6"/>
            <a:endCxn id="47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5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93" name="Google Shape;493;p45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499" name="Google Shape;499;p46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N(Gabriela) = {Super Smash Bros., Nerdfighters, Fashion}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6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1" name="Google Shape;501;p46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Google Shape;502;p46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Google Shape;503;p46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Google Shape;504;p46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Google Shape;505;p46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07" name="Google Shape;507;p46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08" name="Google Shape;508;p46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511" name="Google Shape;511;p46"/>
          <p:cNvCxnSpPr>
            <a:stCxn id="505" idx="6"/>
            <a:endCxn id="51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6"/>
          <p:cNvCxnSpPr>
            <a:stCxn id="505" idx="6"/>
            <a:endCxn id="50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6"/>
          <p:cNvCxnSpPr>
            <a:stCxn id="504" idx="6"/>
            <a:endCxn id="51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6"/>
          <p:cNvCxnSpPr>
            <a:stCxn id="502" idx="6"/>
            <a:endCxn id="50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46"/>
          <p:cNvCxnSpPr>
            <a:stCxn id="505" idx="6"/>
            <a:endCxn id="50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46"/>
          <p:cNvCxnSpPr>
            <a:stCxn id="500" idx="6"/>
            <a:endCxn id="50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46"/>
          <p:cNvCxnSpPr>
            <a:stCxn id="500" idx="6"/>
            <a:endCxn id="50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6"/>
          <p:cNvCxnSpPr>
            <a:stCxn id="501" idx="6"/>
            <a:endCxn id="50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6"/>
          <p:cNvCxnSpPr>
            <a:stCxn id="500" idx="6"/>
            <a:endCxn id="51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46"/>
          <p:cNvCxnSpPr>
            <a:stCxn id="503" idx="6"/>
            <a:endCxn id="50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46"/>
          <p:cNvCxnSpPr>
            <a:stCxn id="501" idx="6"/>
            <a:endCxn id="50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46"/>
          <p:cNvCxnSpPr>
            <a:stCxn id="504" idx="6"/>
            <a:endCxn id="50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46"/>
          <p:cNvCxnSpPr>
            <a:stCxn id="503" idx="6"/>
            <a:endCxn id="50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46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25" name="Google Shape;525;p46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531" name="Google Shape;531;p47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N(Gabriela) = {Super Smash Bros., Nerdfighters, Fashion}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⋂ N(Gabriela) = {Fashion}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7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38" name="Google Shape;538;p47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39" name="Google Shape;539;p47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40" name="Google Shape;540;p47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543" name="Google Shape;543;p47"/>
          <p:cNvCxnSpPr>
            <a:stCxn id="537" idx="6"/>
            <a:endCxn id="54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7"/>
          <p:cNvCxnSpPr>
            <a:stCxn id="537" idx="6"/>
            <a:endCxn id="53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7"/>
          <p:cNvCxnSpPr>
            <a:stCxn id="536" idx="6"/>
            <a:endCxn id="54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7"/>
          <p:cNvCxnSpPr>
            <a:stCxn id="534" idx="6"/>
            <a:endCxn id="53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7"/>
          <p:cNvCxnSpPr>
            <a:stCxn id="537" idx="6"/>
            <a:endCxn id="54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7"/>
          <p:cNvCxnSpPr>
            <a:stCxn id="532" idx="6"/>
            <a:endCxn id="53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7"/>
          <p:cNvCxnSpPr>
            <a:stCxn id="532" idx="6"/>
            <a:endCxn id="54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7"/>
          <p:cNvCxnSpPr>
            <a:stCxn id="533" idx="6"/>
            <a:endCxn id="53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7"/>
          <p:cNvCxnSpPr>
            <a:stCxn id="532" idx="6"/>
            <a:endCxn id="54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7"/>
          <p:cNvCxnSpPr>
            <a:stCxn id="535" idx="6"/>
            <a:endCxn id="54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47"/>
          <p:cNvCxnSpPr>
            <a:stCxn id="533" idx="6"/>
            <a:endCxn id="54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47"/>
          <p:cNvCxnSpPr>
            <a:stCxn id="536" idx="6"/>
            <a:endCxn id="53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7"/>
          <p:cNvCxnSpPr>
            <a:stCxn id="535" idx="6"/>
            <a:endCxn id="53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47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7" name="Google Shape;557;p47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563" name="Google Shape;563;p48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the neighbors of nodes from set U are always members of set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= {Fashion, Magic, Cheese}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N(Gabriela) = {Super Smash Bros., Nerdfighters, Fashion}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⋂ N(Gabriela) = {Fashion}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N(Minjoo) ⋃ N(Gabriela) = {</a:t>
            </a:r>
            <a:r>
              <a:rPr lang="en"/>
              <a:t>Fashion, Magic, Cheese, Super Smash Bros., Nerdfighters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8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5" name="Google Shape;565;p48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6" name="Google Shape;566;p48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8" name="Google Shape;568;p48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69" name="Google Shape;569;p48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70" name="Google Shape;570;p48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1" name="Google Shape;571;p48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2" name="Google Shape;572;p48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3" name="Google Shape;573;p48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574" name="Google Shape;574;p48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575" name="Google Shape;575;p48"/>
          <p:cNvCxnSpPr>
            <a:stCxn id="569" idx="6"/>
            <a:endCxn id="57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8"/>
          <p:cNvCxnSpPr>
            <a:stCxn id="569" idx="6"/>
            <a:endCxn id="57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8"/>
          <p:cNvCxnSpPr>
            <a:stCxn id="568" idx="6"/>
            <a:endCxn id="57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8"/>
          <p:cNvCxnSpPr>
            <a:stCxn id="566" idx="6"/>
            <a:endCxn id="57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8"/>
          <p:cNvCxnSpPr>
            <a:stCxn id="569" idx="6"/>
            <a:endCxn id="57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8"/>
          <p:cNvCxnSpPr>
            <a:stCxn id="564" idx="6"/>
            <a:endCxn id="57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8"/>
          <p:cNvCxnSpPr>
            <a:stCxn id="564" idx="6"/>
            <a:endCxn id="57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8"/>
          <p:cNvCxnSpPr>
            <a:stCxn id="565" idx="6"/>
            <a:endCxn id="57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8"/>
          <p:cNvCxnSpPr>
            <a:stCxn id="564" idx="6"/>
            <a:endCxn id="57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8"/>
          <p:cNvCxnSpPr>
            <a:stCxn id="567" idx="6"/>
            <a:endCxn id="57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8"/>
          <p:cNvCxnSpPr>
            <a:stCxn id="565" idx="6"/>
            <a:endCxn id="57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8"/>
          <p:cNvCxnSpPr>
            <a:stCxn id="568" idx="6"/>
            <a:endCxn id="57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8"/>
          <p:cNvCxnSpPr>
            <a:stCxn id="567" idx="6"/>
            <a:endCxn id="57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48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9" name="Google Shape;589;p48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595" name="Google Shape;595;p49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9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98" name="Google Shape;598;p49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99" name="Google Shape;599;p49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0" name="Google Shape;600;p49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1" name="Google Shape;601;p49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2" name="Google Shape;602;p49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3" name="Google Shape;603;p49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4" name="Google Shape;604;p49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5" name="Google Shape;605;p49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6" name="Google Shape;606;p49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607" name="Google Shape;607;p49"/>
          <p:cNvCxnSpPr>
            <a:stCxn id="601" idx="6"/>
            <a:endCxn id="60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49"/>
          <p:cNvCxnSpPr>
            <a:stCxn id="601" idx="6"/>
            <a:endCxn id="60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9"/>
          <p:cNvCxnSpPr>
            <a:stCxn id="600" idx="6"/>
            <a:endCxn id="60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9"/>
          <p:cNvCxnSpPr>
            <a:stCxn id="598" idx="6"/>
            <a:endCxn id="60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9"/>
          <p:cNvCxnSpPr>
            <a:stCxn id="601" idx="6"/>
            <a:endCxn id="60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9"/>
          <p:cNvCxnSpPr>
            <a:stCxn id="596" idx="6"/>
            <a:endCxn id="60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9"/>
          <p:cNvCxnSpPr>
            <a:stCxn id="596" idx="6"/>
            <a:endCxn id="60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9"/>
          <p:cNvCxnSpPr>
            <a:stCxn id="597" idx="6"/>
            <a:endCxn id="60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9"/>
          <p:cNvCxnSpPr>
            <a:stCxn id="596" idx="6"/>
            <a:endCxn id="60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9"/>
          <p:cNvCxnSpPr>
            <a:stCxn id="599" idx="6"/>
            <a:endCxn id="60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9"/>
          <p:cNvCxnSpPr>
            <a:stCxn id="597" idx="6"/>
            <a:endCxn id="60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9"/>
          <p:cNvCxnSpPr>
            <a:stCxn id="600" idx="6"/>
            <a:endCxn id="60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9"/>
          <p:cNvCxnSpPr>
            <a:stCxn id="599" idx="6"/>
            <a:endCxn id="60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49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1" name="Google Shape;621;p49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627" name="Google Shape;627;p50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0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29" name="Google Shape;629;p50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0" name="Google Shape;630;p50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1" name="Google Shape;631;p50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2" name="Google Shape;632;p50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34" name="Google Shape;634;p50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6" name="Google Shape;636;p50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7" name="Google Shape;637;p50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8" name="Google Shape;638;p50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639" name="Google Shape;639;p50"/>
          <p:cNvCxnSpPr>
            <a:stCxn id="633" idx="6"/>
            <a:endCxn id="63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50"/>
          <p:cNvCxnSpPr>
            <a:stCxn id="633" idx="6"/>
            <a:endCxn id="63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50"/>
          <p:cNvCxnSpPr>
            <a:stCxn id="632" idx="6"/>
            <a:endCxn id="63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50"/>
          <p:cNvCxnSpPr>
            <a:stCxn id="630" idx="6"/>
            <a:endCxn id="63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50"/>
          <p:cNvCxnSpPr>
            <a:stCxn id="633" idx="6"/>
            <a:endCxn id="63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50"/>
          <p:cNvCxnSpPr>
            <a:stCxn id="628" idx="6"/>
            <a:endCxn id="63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50"/>
          <p:cNvCxnSpPr>
            <a:stCxn id="628" idx="6"/>
            <a:endCxn id="63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50"/>
          <p:cNvCxnSpPr>
            <a:stCxn id="629" idx="6"/>
            <a:endCxn id="63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50"/>
          <p:cNvCxnSpPr>
            <a:stCxn id="628" idx="6"/>
            <a:endCxn id="63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50"/>
          <p:cNvCxnSpPr>
            <a:stCxn id="631" idx="6"/>
            <a:endCxn id="63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50"/>
          <p:cNvCxnSpPr>
            <a:stCxn id="629" idx="6"/>
            <a:endCxn id="63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0"/>
          <p:cNvCxnSpPr>
            <a:stCxn id="632" idx="6"/>
            <a:endCxn id="63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0"/>
          <p:cNvCxnSpPr>
            <a:stCxn id="631" idx="6"/>
            <a:endCxn id="63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" name="Google Shape;652;p50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3" name="Google Shape;653;p50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659" name="Google Shape;659;p51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N(Fashion) = {Minjoo, Rahul, Gabriela}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1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1" name="Google Shape;661;p51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2" name="Google Shape;662;p51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3" name="Google Shape;663;p51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4" name="Google Shape;664;p51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51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6" name="Google Shape;666;p51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67" name="Google Shape;667;p51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68" name="Google Shape;668;p51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69" name="Google Shape;669;p51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70" name="Google Shape;670;p51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671" name="Google Shape;671;p51"/>
          <p:cNvCxnSpPr>
            <a:stCxn id="665" idx="6"/>
            <a:endCxn id="67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51"/>
          <p:cNvCxnSpPr>
            <a:stCxn id="665" idx="6"/>
            <a:endCxn id="66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51"/>
          <p:cNvCxnSpPr>
            <a:stCxn id="664" idx="6"/>
            <a:endCxn id="67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51"/>
          <p:cNvCxnSpPr>
            <a:stCxn id="662" idx="6"/>
            <a:endCxn id="66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51"/>
          <p:cNvCxnSpPr>
            <a:stCxn id="665" idx="6"/>
            <a:endCxn id="66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1"/>
          <p:cNvCxnSpPr>
            <a:stCxn id="660" idx="6"/>
            <a:endCxn id="66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51"/>
          <p:cNvCxnSpPr>
            <a:stCxn id="660" idx="6"/>
            <a:endCxn id="66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51"/>
          <p:cNvCxnSpPr>
            <a:stCxn id="661" idx="6"/>
            <a:endCxn id="66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51"/>
          <p:cNvCxnSpPr>
            <a:stCxn id="660" idx="6"/>
            <a:endCxn id="67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51"/>
          <p:cNvCxnSpPr>
            <a:stCxn id="663" idx="6"/>
            <a:endCxn id="66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51"/>
          <p:cNvCxnSpPr>
            <a:stCxn id="661" idx="6"/>
            <a:endCxn id="66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51"/>
          <p:cNvCxnSpPr>
            <a:stCxn id="664" idx="6"/>
            <a:endCxn id="66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51"/>
          <p:cNvCxnSpPr>
            <a:stCxn id="663" idx="6"/>
            <a:endCxn id="66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4" name="Google Shape;684;p51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5" name="Google Shape;685;p51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691" name="Google Shape;691;p52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N(Fashion) = {Minjoo, Rahul, Gabriela}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⋂ N(Fashion) = {Rahul, Minjoo}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2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3" name="Google Shape;693;p52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4" name="Google Shape;694;p52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5" name="Google Shape;695;p52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6" name="Google Shape;696;p52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7" name="Google Shape;697;p52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98" name="Google Shape;698;p52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99" name="Google Shape;699;p52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00" name="Google Shape;700;p52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01" name="Google Shape;701;p52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02" name="Google Shape;702;p52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03" name="Google Shape;703;p52"/>
          <p:cNvCxnSpPr>
            <a:stCxn id="697" idx="6"/>
            <a:endCxn id="70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52"/>
          <p:cNvCxnSpPr>
            <a:stCxn id="697" idx="6"/>
            <a:endCxn id="69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52"/>
          <p:cNvCxnSpPr>
            <a:stCxn id="696" idx="6"/>
            <a:endCxn id="70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52"/>
          <p:cNvCxnSpPr>
            <a:stCxn id="694" idx="6"/>
            <a:endCxn id="69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52"/>
          <p:cNvCxnSpPr>
            <a:stCxn id="697" idx="6"/>
            <a:endCxn id="70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52"/>
          <p:cNvCxnSpPr>
            <a:stCxn id="692" idx="6"/>
            <a:endCxn id="69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52"/>
          <p:cNvCxnSpPr>
            <a:stCxn id="692" idx="6"/>
            <a:endCxn id="70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52"/>
          <p:cNvCxnSpPr>
            <a:stCxn id="693" idx="6"/>
            <a:endCxn id="69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52"/>
          <p:cNvCxnSpPr>
            <a:stCxn id="692" idx="6"/>
            <a:endCxn id="70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52"/>
          <p:cNvCxnSpPr>
            <a:stCxn id="695" idx="6"/>
            <a:endCxn id="70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52"/>
          <p:cNvCxnSpPr>
            <a:stCxn id="693" idx="6"/>
            <a:endCxn id="70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52"/>
          <p:cNvCxnSpPr>
            <a:stCxn id="696" idx="6"/>
            <a:endCxn id="69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52"/>
          <p:cNvCxnSpPr>
            <a:stCxn id="695" idx="6"/>
            <a:endCxn id="69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52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17" name="Google Shape;717;p52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Bipartite Graphs</a:t>
            </a:r>
            <a:endParaRPr/>
          </a:p>
        </p:txBody>
      </p:sp>
      <p:sp>
        <p:nvSpPr>
          <p:cNvPr id="723" name="Google Shape;723;p53"/>
          <p:cNvSpPr txBox="1"/>
          <p:nvPr>
            <p:ph idx="1" type="body"/>
          </p:nvPr>
        </p:nvSpPr>
        <p:spPr>
          <a:xfrm>
            <a:off x="311700" y="1225225"/>
            <a:ext cx="42603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bipartite graphs node neighborhoods work similarly to regular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sets of nodes have neighbors!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= {Parker, Brandon, 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N(Fashion) = {Minjoo, Rahul, Gabriela}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⋂ N(Fashion) = {Rahul, Minjoo}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N(Cheese) ⋃ N(Fashion) = {Parker, Brandon, Rahul, Minjoo, Gabriela}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3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5" name="Google Shape;725;p53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6" name="Google Shape;726;p53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7" name="Google Shape;727;p53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8" name="Google Shape;728;p53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29" name="Google Shape;729;p53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30" name="Google Shape;730;p53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1" name="Google Shape;731;p53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2" name="Google Shape;732;p53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3" name="Google Shape;733;p53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34" name="Google Shape;734;p53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35" name="Google Shape;735;p53"/>
          <p:cNvCxnSpPr>
            <a:stCxn id="729" idx="6"/>
            <a:endCxn id="73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53"/>
          <p:cNvCxnSpPr>
            <a:stCxn id="729" idx="6"/>
            <a:endCxn id="73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53"/>
          <p:cNvCxnSpPr>
            <a:stCxn id="728" idx="6"/>
            <a:endCxn id="73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53"/>
          <p:cNvCxnSpPr>
            <a:stCxn id="726" idx="6"/>
            <a:endCxn id="73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53"/>
          <p:cNvCxnSpPr>
            <a:stCxn id="729" idx="6"/>
            <a:endCxn id="73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53"/>
          <p:cNvCxnSpPr>
            <a:stCxn id="724" idx="6"/>
            <a:endCxn id="73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53"/>
          <p:cNvCxnSpPr>
            <a:stCxn id="724" idx="6"/>
            <a:endCxn id="73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53"/>
          <p:cNvCxnSpPr>
            <a:stCxn id="725" idx="6"/>
            <a:endCxn id="73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53"/>
          <p:cNvCxnSpPr>
            <a:stCxn id="724" idx="6"/>
            <a:endCxn id="73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53"/>
          <p:cNvCxnSpPr>
            <a:stCxn id="727" idx="6"/>
            <a:endCxn id="73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53"/>
          <p:cNvCxnSpPr>
            <a:stCxn id="725" idx="6"/>
            <a:endCxn id="73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53"/>
          <p:cNvCxnSpPr>
            <a:stCxn id="728" idx="6"/>
            <a:endCxn id="73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53"/>
          <p:cNvCxnSpPr>
            <a:stCxn id="727" idx="6"/>
            <a:endCxn id="73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53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9" name="Google Shape;749;p53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</a:t>
            </a:r>
            <a:r>
              <a:rPr lang="en"/>
              <a:t>Bipartite Graphs</a:t>
            </a:r>
            <a:endParaRPr/>
          </a:p>
        </p:txBody>
      </p:sp>
      <p:sp>
        <p:nvSpPr>
          <p:cNvPr id="755" name="Google Shape;755;p54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Degree also works in the same: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4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57" name="Google Shape;757;p54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58" name="Google Shape;758;p54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59" name="Google Shape;759;p54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60" name="Google Shape;760;p54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61" name="Google Shape;761;p54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62" name="Google Shape;762;p54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3" name="Google Shape;763;p54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4" name="Google Shape;764;p54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5" name="Google Shape;765;p54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66" name="Google Shape;766;p54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67" name="Google Shape;767;p54"/>
          <p:cNvCxnSpPr>
            <a:stCxn id="761" idx="6"/>
            <a:endCxn id="76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54"/>
          <p:cNvCxnSpPr>
            <a:stCxn id="761" idx="6"/>
            <a:endCxn id="76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54"/>
          <p:cNvCxnSpPr>
            <a:stCxn id="760" idx="6"/>
            <a:endCxn id="76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54"/>
          <p:cNvCxnSpPr>
            <a:stCxn id="758" idx="6"/>
            <a:endCxn id="76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54"/>
          <p:cNvCxnSpPr>
            <a:stCxn id="761" idx="6"/>
            <a:endCxn id="76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54"/>
          <p:cNvCxnSpPr>
            <a:stCxn id="756" idx="6"/>
            <a:endCxn id="76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54"/>
          <p:cNvCxnSpPr>
            <a:stCxn id="756" idx="6"/>
            <a:endCxn id="76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54"/>
          <p:cNvCxnSpPr>
            <a:stCxn id="757" idx="6"/>
            <a:endCxn id="76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54"/>
          <p:cNvCxnSpPr>
            <a:stCxn id="756" idx="6"/>
            <a:endCxn id="76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54"/>
          <p:cNvCxnSpPr>
            <a:stCxn id="759" idx="6"/>
            <a:endCxn id="76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54"/>
          <p:cNvCxnSpPr>
            <a:stCxn id="757" idx="6"/>
            <a:endCxn id="76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4"/>
          <p:cNvCxnSpPr>
            <a:stCxn id="760" idx="6"/>
            <a:endCxn id="76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54"/>
          <p:cNvCxnSpPr>
            <a:stCxn id="759" idx="6"/>
            <a:endCxn id="76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54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1" name="Google Shape;781;p54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Bipartite Graphs</a:t>
            </a:r>
            <a:endParaRPr/>
          </a:p>
        </p:txBody>
      </p:sp>
      <p:sp>
        <p:nvSpPr>
          <p:cNvPr id="787" name="Google Shape;787;p55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Degree also works in the same: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|N(Gabriela)|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|N(Parker)|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|N(Brandon)|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|N(Marie)|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|N(Rahul)|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|N(Minjoo)|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5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89" name="Google Shape;789;p55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0" name="Google Shape;790;p55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2" name="Google Shape;792;p55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7" name="Google Shape;797;p55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798" name="Google Shape;798;p55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799" name="Google Shape;799;p55"/>
          <p:cNvCxnSpPr>
            <a:stCxn id="793" idx="6"/>
            <a:endCxn id="79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55"/>
          <p:cNvCxnSpPr>
            <a:stCxn id="793" idx="6"/>
            <a:endCxn id="79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55"/>
          <p:cNvCxnSpPr>
            <a:stCxn id="792" idx="6"/>
            <a:endCxn id="79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55"/>
          <p:cNvCxnSpPr>
            <a:stCxn id="790" idx="6"/>
            <a:endCxn id="79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55"/>
          <p:cNvCxnSpPr>
            <a:stCxn id="793" idx="6"/>
            <a:endCxn id="79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55"/>
          <p:cNvCxnSpPr>
            <a:stCxn id="788" idx="6"/>
            <a:endCxn id="79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55"/>
          <p:cNvCxnSpPr>
            <a:stCxn id="788" idx="6"/>
            <a:endCxn id="79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55"/>
          <p:cNvCxnSpPr>
            <a:stCxn id="789" idx="6"/>
            <a:endCxn id="79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5"/>
          <p:cNvCxnSpPr>
            <a:stCxn id="788" idx="6"/>
            <a:endCxn id="79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55"/>
          <p:cNvCxnSpPr>
            <a:stCxn id="791" idx="6"/>
            <a:endCxn id="79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55"/>
          <p:cNvCxnSpPr>
            <a:stCxn id="789" idx="6"/>
            <a:endCxn id="79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55"/>
          <p:cNvCxnSpPr>
            <a:stCxn id="792" idx="6"/>
            <a:endCxn id="79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55"/>
          <p:cNvCxnSpPr>
            <a:stCxn id="791" idx="6"/>
            <a:endCxn id="79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55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3" name="Google Shape;813;p55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Bipartite Graphs</a:t>
            </a:r>
            <a:endParaRPr/>
          </a:p>
        </p:txBody>
      </p:sp>
      <p:sp>
        <p:nvSpPr>
          <p:cNvPr id="819" name="Google Shape;819;p56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Degree also works in the same: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|N(Gabriela)|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|N(Parker)|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|N(Brandon)|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|N(Marie)|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|N(Rahul)|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|N(Minjoo)|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|N(Super Smash Bros.)|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|N(Cheese)|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|N(Nerdfighters)|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|N(Magic)|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|N(Fashion)|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6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1" name="Google Shape;821;p56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2" name="Google Shape;822;p56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3" name="Google Shape;823;p56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4" name="Google Shape;824;p56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5" name="Google Shape;825;p56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6" name="Google Shape;826;p56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27" name="Google Shape;827;p56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28" name="Google Shape;828;p56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29" name="Google Shape;829;p56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30" name="Google Shape;830;p56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831" name="Google Shape;831;p56"/>
          <p:cNvCxnSpPr>
            <a:stCxn id="825" idx="6"/>
            <a:endCxn id="83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56"/>
          <p:cNvCxnSpPr>
            <a:stCxn id="825" idx="6"/>
            <a:endCxn id="82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56"/>
          <p:cNvCxnSpPr>
            <a:stCxn id="824" idx="6"/>
            <a:endCxn id="83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56"/>
          <p:cNvCxnSpPr>
            <a:stCxn id="822" idx="6"/>
            <a:endCxn id="82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56"/>
          <p:cNvCxnSpPr>
            <a:stCxn id="825" idx="6"/>
            <a:endCxn id="82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56"/>
          <p:cNvCxnSpPr>
            <a:stCxn id="820" idx="6"/>
            <a:endCxn id="82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56"/>
          <p:cNvCxnSpPr>
            <a:stCxn id="820" idx="6"/>
            <a:endCxn id="82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56"/>
          <p:cNvCxnSpPr>
            <a:stCxn id="821" idx="6"/>
            <a:endCxn id="82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56"/>
          <p:cNvCxnSpPr>
            <a:stCxn id="820" idx="6"/>
            <a:endCxn id="83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56"/>
          <p:cNvCxnSpPr>
            <a:stCxn id="823" idx="6"/>
            <a:endCxn id="82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6"/>
          <p:cNvCxnSpPr>
            <a:stCxn id="821" idx="6"/>
            <a:endCxn id="82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56"/>
          <p:cNvCxnSpPr>
            <a:stCxn id="824" idx="6"/>
            <a:endCxn id="82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6"/>
          <p:cNvCxnSpPr>
            <a:stCxn id="823" idx="6"/>
            <a:endCxn id="82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56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5" name="Google Shape;845;p56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</a:t>
            </a:r>
            <a:r>
              <a:rPr lang="en"/>
              <a:t>in Bipartite Graphs</a:t>
            </a:r>
            <a:endParaRPr/>
          </a:p>
        </p:txBody>
      </p:sp>
      <p:sp>
        <p:nvSpPr>
          <p:cNvPr id="851" name="Google Shape;851;p57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that means two </a:t>
            </a:r>
            <a:r>
              <a:rPr b="1" lang="en"/>
              <a:t>degree</a:t>
            </a:r>
            <a:r>
              <a:rPr b="1" lang="en"/>
              <a:t> sets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2, 1, 2, 2, 3}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</a:t>
            </a:r>
            <a:r>
              <a:rPr lang="en"/>
              <a:t>{2, 4, 2, 2, 3}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7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3" name="Google Shape;853;p57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4" name="Google Shape;854;p57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5" name="Google Shape;855;p57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6" name="Google Shape;856;p57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7" name="Google Shape;857;p57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58" name="Google Shape;858;p57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59" name="Google Shape;859;p57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60" name="Google Shape;860;p57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61" name="Google Shape;861;p57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62" name="Google Shape;862;p57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863" name="Google Shape;863;p57"/>
          <p:cNvCxnSpPr>
            <a:stCxn id="857" idx="6"/>
            <a:endCxn id="86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57"/>
          <p:cNvCxnSpPr>
            <a:stCxn id="857" idx="6"/>
            <a:endCxn id="85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57"/>
          <p:cNvCxnSpPr>
            <a:stCxn id="856" idx="6"/>
            <a:endCxn id="86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57"/>
          <p:cNvCxnSpPr>
            <a:stCxn id="854" idx="6"/>
            <a:endCxn id="85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57"/>
          <p:cNvCxnSpPr>
            <a:stCxn id="857" idx="6"/>
            <a:endCxn id="86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57"/>
          <p:cNvCxnSpPr>
            <a:stCxn id="852" idx="6"/>
            <a:endCxn id="85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57"/>
          <p:cNvCxnSpPr>
            <a:stCxn id="852" idx="6"/>
            <a:endCxn id="86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57"/>
          <p:cNvCxnSpPr>
            <a:stCxn id="853" idx="6"/>
            <a:endCxn id="85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57"/>
          <p:cNvCxnSpPr>
            <a:stCxn id="852" idx="6"/>
            <a:endCxn id="86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57"/>
          <p:cNvCxnSpPr>
            <a:stCxn id="855" idx="6"/>
            <a:endCxn id="86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57"/>
          <p:cNvCxnSpPr>
            <a:stCxn id="853" idx="6"/>
            <a:endCxn id="86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57"/>
          <p:cNvCxnSpPr>
            <a:stCxn id="856" idx="6"/>
            <a:endCxn id="85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57"/>
          <p:cNvCxnSpPr>
            <a:stCxn id="855" idx="6"/>
            <a:endCxn id="85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57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7" name="Google Shape;877;p57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883" name="Google Shape;883;p58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</a:t>
            </a:r>
            <a:r>
              <a:rPr lang="en"/>
              <a:t>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</a:t>
            </a:r>
            <a:r>
              <a:rPr lang="en"/>
              <a:t>{4, 3, 2, 2, 2}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8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5" name="Google Shape;885;p58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6" name="Google Shape;886;p58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7" name="Google Shape;887;p58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8" name="Google Shape;888;p58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89" name="Google Shape;889;p58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90" name="Google Shape;890;p58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1" name="Google Shape;891;p58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2" name="Google Shape;892;p58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3" name="Google Shape;893;p58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94" name="Google Shape;894;p58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895" name="Google Shape;895;p58"/>
          <p:cNvCxnSpPr>
            <a:stCxn id="889" idx="6"/>
            <a:endCxn id="894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58"/>
          <p:cNvCxnSpPr>
            <a:stCxn id="889" idx="6"/>
            <a:endCxn id="891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58"/>
          <p:cNvCxnSpPr>
            <a:stCxn id="888" idx="6"/>
            <a:endCxn id="894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58"/>
          <p:cNvCxnSpPr>
            <a:stCxn id="886" idx="6"/>
            <a:endCxn id="891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58"/>
          <p:cNvCxnSpPr>
            <a:stCxn id="889" idx="6"/>
            <a:endCxn id="893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58"/>
          <p:cNvCxnSpPr>
            <a:stCxn id="884" idx="6"/>
            <a:endCxn id="890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58"/>
          <p:cNvCxnSpPr>
            <a:stCxn id="884" idx="6"/>
            <a:endCxn id="892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58"/>
          <p:cNvCxnSpPr>
            <a:stCxn id="885" idx="6"/>
            <a:endCxn id="891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58"/>
          <p:cNvCxnSpPr>
            <a:stCxn id="884" idx="6"/>
            <a:endCxn id="894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58"/>
          <p:cNvCxnSpPr>
            <a:stCxn id="887" idx="6"/>
            <a:endCxn id="892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8"/>
          <p:cNvCxnSpPr>
            <a:stCxn id="885" idx="6"/>
            <a:endCxn id="893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58"/>
          <p:cNvCxnSpPr>
            <a:stCxn id="888" idx="6"/>
            <a:endCxn id="891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58"/>
          <p:cNvCxnSpPr>
            <a:stCxn id="887" idx="6"/>
            <a:endCxn id="890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58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9" name="Google Shape;909;p58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915" name="Google Shape;915;p59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59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17" name="Google Shape;917;p59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18" name="Google Shape;918;p59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19" name="Google Shape;919;p59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20" name="Google Shape;920;p59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21" name="Google Shape;921;p59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22" name="Google Shape;922;p59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3" name="Google Shape;923;p59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4" name="Google Shape;924;p59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5" name="Google Shape;925;p59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26" name="Google Shape;926;p59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27" name="Google Shape;927;p59"/>
          <p:cNvCxnSpPr>
            <a:stCxn id="921" idx="6"/>
            <a:endCxn id="926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59"/>
          <p:cNvCxnSpPr>
            <a:stCxn id="921" idx="6"/>
            <a:endCxn id="923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59"/>
          <p:cNvCxnSpPr>
            <a:stCxn id="920" idx="6"/>
            <a:endCxn id="926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59"/>
          <p:cNvCxnSpPr>
            <a:stCxn id="918" idx="6"/>
            <a:endCxn id="923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59"/>
          <p:cNvCxnSpPr>
            <a:stCxn id="921" idx="6"/>
            <a:endCxn id="925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59"/>
          <p:cNvCxnSpPr>
            <a:stCxn id="916" idx="6"/>
            <a:endCxn id="922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59"/>
          <p:cNvCxnSpPr>
            <a:stCxn id="916" idx="6"/>
            <a:endCxn id="924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59"/>
          <p:cNvCxnSpPr>
            <a:stCxn id="917" idx="6"/>
            <a:endCxn id="923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59"/>
          <p:cNvCxnSpPr>
            <a:stCxn id="916" idx="6"/>
            <a:endCxn id="926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59"/>
          <p:cNvCxnSpPr>
            <a:stCxn id="919" idx="6"/>
            <a:endCxn id="924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59"/>
          <p:cNvCxnSpPr>
            <a:stCxn id="917" idx="6"/>
            <a:endCxn id="925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59"/>
          <p:cNvCxnSpPr>
            <a:stCxn id="920" idx="6"/>
            <a:endCxn id="923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59"/>
          <p:cNvCxnSpPr>
            <a:stCxn id="919" idx="6"/>
            <a:endCxn id="922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59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41" name="Google Shape;941;p59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947" name="Google Shape;947;p60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ranges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3 - 1 = 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4 - 2 =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0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49" name="Google Shape;949;p60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0" name="Google Shape;950;p60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1" name="Google Shape;951;p60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2" name="Google Shape;952;p60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3" name="Google Shape;953;p60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54" name="Google Shape;954;p60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5" name="Google Shape;955;p60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6" name="Google Shape;956;p60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7" name="Google Shape;957;p60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58" name="Google Shape;958;p60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59" name="Google Shape;959;p60"/>
          <p:cNvCxnSpPr>
            <a:stCxn id="953" idx="6"/>
            <a:endCxn id="958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60"/>
          <p:cNvCxnSpPr>
            <a:stCxn id="953" idx="6"/>
            <a:endCxn id="955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60"/>
          <p:cNvCxnSpPr>
            <a:stCxn id="952" idx="6"/>
            <a:endCxn id="958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60"/>
          <p:cNvCxnSpPr>
            <a:stCxn id="950" idx="6"/>
            <a:endCxn id="955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60"/>
          <p:cNvCxnSpPr>
            <a:stCxn id="953" idx="6"/>
            <a:endCxn id="957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60"/>
          <p:cNvCxnSpPr>
            <a:stCxn id="948" idx="6"/>
            <a:endCxn id="954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60"/>
          <p:cNvCxnSpPr>
            <a:stCxn id="948" idx="6"/>
            <a:endCxn id="956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60"/>
          <p:cNvCxnSpPr>
            <a:stCxn id="949" idx="6"/>
            <a:endCxn id="955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0"/>
          <p:cNvCxnSpPr>
            <a:stCxn id="948" idx="6"/>
            <a:endCxn id="958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0"/>
          <p:cNvCxnSpPr>
            <a:stCxn id="951" idx="6"/>
            <a:endCxn id="956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60"/>
          <p:cNvCxnSpPr>
            <a:stCxn id="949" idx="6"/>
            <a:endCxn id="957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60"/>
          <p:cNvCxnSpPr>
            <a:stCxn id="952" idx="6"/>
            <a:endCxn id="955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60"/>
          <p:cNvCxnSpPr>
            <a:stCxn id="951" idx="6"/>
            <a:endCxn id="954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60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3" name="Google Shape;973;p60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979" name="Google Shape;979;p61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only one </a:t>
            </a:r>
            <a:r>
              <a:rPr b="1" lang="en"/>
              <a:t>sum of degrees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13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1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1" name="Google Shape;981;p61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2" name="Google Shape;982;p61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3" name="Google Shape;983;p61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4" name="Google Shape;984;p61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5" name="Google Shape;985;p61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6" name="Google Shape;986;p61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87" name="Google Shape;987;p61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88" name="Google Shape;988;p61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89" name="Google Shape;989;p61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90" name="Google Shape;990;p61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991" name="Google Shape;991;p61"/>
          <p:cNvCxnSpPr>
            <a:stCxn id="985" idx="6"/>
            <a:endCxn id="990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61"/>
          <p:cNvCxnSpPr>
            <a:stCxn id="985" idx="6"/>
            <a:endCxn id="987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61"/>
          <p:cNvCxnSpPr>
            <a:stCxn id="984" idx="6"/>
            <a:endCxn id="990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61"/>
          <p:cNvCxnSpPr>
            <a:stCxn id="982" idx="6"/>
            <a:endCxn id="987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61"/>
          <p:cNvCxnSpPr>
            <a:stCxn id="985" idx="6"/>
            <a:endCxn id="989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61"/>
          <p:cNvCxnSpPr>
            <a:stCxn id="980" idx="6"/>
            <a:endCxn id="986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61"/>
          <p:cNvCxnSpPr>
            <a:stCxn id="980" idx="6"/>
            <a:endCxn id="988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61"/>
          <p:cNvCxnSpPr>
            <a:stCxn id="981" idx="6"/>
            <a:endCxn id="987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61"/>
          <p:cNvCxnSpPr>
            <a:stCxn id="980" idx="6"/>
            <a:endCxn id="990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61"/>
          <p:cNvCxnSpPr>
            <a:stCxn id="983" idx="6"/>
            <a:endCxn id="988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61"/>
          <p:cNvCxnSpPr>
            <a:stCxn id="981" idx="6"/>
            <a:endCxn id="989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61"/>
          <p:cNvCxnSpPr>
            <a:stCxn id="984" idx="6"/>
            <a:endCxn id="987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61"/>
          <p:cNvCxnSpPr>
            <a:stCxn id="983" idx="6"/>
            <a:endCxn id="986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61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5" name="Google Shape;1005;p61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1011" name="Google Shape;1011;p62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only one </a:t>
            </a:r>
            <a:r>
              <a:rPr b="1" lang="en"/>
              <a:t>sum of degrees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13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3" name="Google Shape;1013;p62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4" name="Google Shape;1014;p62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5" name="Google Shape;1015;p62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6" name="Google Shape;1016;p62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7" name="Google Shape;1017;p62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18" name="Google Shape;1018;p62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19" name="Google Shape;1019;p62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20" name="Google Shape;1020;p62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21" name="Google Shape;1021;p62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22" name="Google Shape;1022;p62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023" name="Google Shape;1023;p62"/>
          <p:cNvCxnSpPr>
            <a:stCxn id="1017" idx="6"/>
            <a:endCxn id="1022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62"/>
          <p:cNvCxnSpPr>
            <a:stCxn id="1017" idx="6"/>
            <a:endCxn id="1019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62"/>
          <p:cNvCxnSpPr>
            <a:stCxn id="1016" idx="6"/>
            <a:endCxn id="1022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62"/>
          <p:cNvCxnSpPr>
            <a:stCxn id="1014" idx="6"/>
            <a:endCxn id="1019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62"/>
          <p:cNvCxnSpPr>
            <a:stCxn id="1017" idx="6"/>
            <a:endCxn id="1021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62"/>
          <p:cNvCxnSpPr>
            <a:stCxn id="1012" idx="6"/>
            <a:endCxn id="1018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62"/>
          <p:cNvCxnSpPr>
            <a:stCxn id="1012" idx="6"/>
            <a:endCxn id="1020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62"/>
          <p:cNvCxnSpPr>
            <a:stCxn id="1013" idx="6"/>
            <a:endCxn id="1019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62"/>
          <p:cNvCxnSpPr>
            <a:stCxn id="1012" idx="6"/>
            <a:endCxn id="1022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62"/>
          <p:cNvCxnSpPr>
            <a:stCxn id="1015" idx="6"/>
            <a:endCxn id="1020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62"/>
          <p:cNvCxnSpPr>
            <a:stCxn id="1013" idx="6"/>
            <a:endCxn id="1021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62"/>
          <p:cNvCxnSpPr>
            <a:stCxn id="1016" idx="6"/>
            <a:endCxn id="1019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62"/>
          <p:cNvCxnSpPr>
            <a:stCxn id="1015" idx="6"/>
            <a:endCxn id="1018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62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7" name="Google Shape;1037;p62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8" name="Google Shape;1038;p62"/>
          <p:cNvSpPr/>
          <p:nvPr/>
        </p:nvSpPr>
        <p:spPr>
          <a:xfrm>
            <a:off x="3240550" y="4161775"/>
            <a:ext cx="1458000" cy="692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Same number!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39" name="Google Shape;1039;p62"/>
          <p:cNvCxnSpPr>
            <a:stCxn id="1038" idx="2"/>
          </p:cNvCxnSpPr>
          <p:nvPr/>
        </p:nvCxnSpPr>
        <p:spPr>
          <a:xfrm rot="10800000">
            <a:off x="2723350" y="4040275"/>
            <a:ext cx="517200" cy="46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62"/>
          <p:cNvCxnSpPr>
            <a:stCxn id="1038" idx="2"/>
          </p:cNvCxnSpPr>
          <p:nvPr/>
        </p:nvCxnSpPr>
        <p:spPr>
          <a:xfrm rot="10800000">
            <a:off x="2675050" y="4357375"/>
            <a:ext cx="565500" cy="150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1046" name="Google Shape;1046;p63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average</a:t>
            </a:r>
            <a:r>
              <a:rPr b="1" lang="en"/>
              <a:t> degrees</a:t>
            </a:r>
            <a:r>
              <a:rPr lang="en"/>
              <a:t> though!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(U)/|U| = 13/6 = 2.2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/|V| = 13/5 = 2.6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3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48" name="Google Shape;1048;p63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49" name="Google Shape;1049;p63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0" name="Google Shape;1050;p63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1" name="Google Shape;1051;p63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2" name="Google Shape;1052;p63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53" name="Google Shape;1053;p63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4" name="Google Shape;1054;p63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5" name="Google Shape;1055;p63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6" name="Google Shape;1056;p63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57" name="Google Shape;1057;p63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058" name="Google Shape;1058;p63"/>
          <p:cNvCxnSpPr>
            <a:stCxn id="1052" idx="6"/>
            <a:endCxn id="1057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63"/>
          <p:cNvCxnSpPr>
            <a:stCxn id="1052" idx="6"/>
            <a:endCxn id="1054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63"/>
          <p:cNvCxnSpPr>
            <a:stCxn id="1051" idx="6"/>
            <a:endCxn id="1057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63"/>
          <p:cNvCxnSpPr>
            <a:stCxn id="1049" idx="6"/>
            <a:endCxn id="1054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63"/>
          <p:cNvCxnSpPr>
            <a:stCxn id="1052" idx="6"/>
            <a:endCxn id="1056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63"/>
          <p:cNvCxnSpPr>
            <a:stCxn id="1047" idx="6"/>
            <a:endCxn id="1053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63"/>
          <p:cNvCxnSpPr>
            <a:stCxn id="1047" idx="6"/>
            <a:endCxn id="1055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63"/>
          <p:cNvCxnSpPr>
            <a:stCxn id="1048" idx="6"/>
            <a:endCxn id="1054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63"/>
          <p:cNvCxnSpPr>
            <a:stCxn id="1047" idx="6"/>
            <a:endCxn id="1057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63"/>
          <p:cNvCxnSpPr>
            <a:stCxn id="1050" idx="6"/>
            <a:endCxn id="1055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63"/>
          <p:cNvCxnSpPr>
            <a:stCxn id="1048" idx="6"/>
            <a:endCxn id="1056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63"/>
          <p:cNvCxnSpPr>
            <a:stCxn id="1051" idx="6"/>
            <a:endCxn id="1054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3"/>
          <p:cNvCxnSpPr>
            <a:stCxn id="1050" idx="6"/>
            <a:endCxn id="1053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63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2" name="Google Shape;1072;p63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 in Bipartite Graphs</a:t>
            </a:r>
            <a:endParaRPr/>
          </a:p>
        </p:txBody>
      </p:sp>
      <p:sp>
        <p:nvSpPr>
          <p:cNvPr id="1078" name="Google Shape;1078;p64"/>
          <p:cNvSpPr txBox="1"/>
          <p:nvPr>
            <p:ph idx="1" type="body"/>
          </p:nvPr>
        </p:nvSpPr>
        <p:spPr>
          <a:xfrm>
            <a:off x="311700" y="1225225"/>
            <a:ext cx="42603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metrics double up: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degree sequences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 = {3, 3, 2, 2, 2, 1}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{4, 3, 2, 2, 2}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max </a:t>
            </a:r>
            <a:r>
              <a:rPr lang="en"/>
              <a:t>and </a:t>
            </a:r>
            <a:r>
              <a:rPr b="1" lang="en"/>
              <a:t>min degrees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(U) =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max</a:t>
            </a:r>
            <a:r>
              <a:rPr lang="en"/>
              <a:t>(V) = 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(U) =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min</a:t>
            </a:r>
            <a:r>
              <a:rPr lang="en"/>
              <a:t>(V)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bipartite the sum of degrees of </a:t>
            </a:r>
            <a:r>
              <a:rPr b="1" lang="en"/>
              <a:t>either node set</a:t>
            </a:r>
            <a:r>
              <a:rPr lang="en"/>
              <a:t> is equal to </a:t>
            </a:r>
            <a:r>
              <a:rPr i="1" lang="en"/>
              <a:t>m</a:t>
            </a:r>
            <a:r>
              <a:rPr lang="en"/>
              <a:t> the number of edges!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(U) = </a:t>
            </a:r>
            <a:r>
              <a:rPr lang="en" sz="1800"/>
              <a:t>Σ</a:t>
            </a: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(V) = m =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4"/>
          <p:cNvSpPr/>
          <p:nvPr/>
        </p:nvSpPr>
        <p:spPr>
          <a:xfrm>
            <a:off x="4760450" y="14231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0" name="Google Shape;1080;p64"/>
          <p:cNvSpPr/>
          <p:nvPr/>
        </p:nvSpPr>
        <p:spPr>
          <a:xfrm>
            <a:off x="4760450" y="19777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1" name="Google Shape;1081;p64"/>
          <p:cNvSpPr/>
          <p:nvPr/>
        </p:nvSpPr>
        <p:spPr>
          <a:xfrm>
            <a:off x="4760450" y="26070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2" name="Google Shape;1082;p64"/>
          <p:cNvSpPr/>
          <p:nvPr/>
        </p:nvSpPr>
        <p:spPr>
          <a:xfrm>
            <a:off x="4760450" y="32140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3" name="Google Shape;1083;p64"/>
          <p:cNvSpPr/>
          <p:nvPr/>
        </p:nvSpPr>
        <p:spPr>
          <a:xfrm>
            <a:off x="4760450" y="37909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4" name="Google Shape;1084;p64"/>
          <p:cNvSpPr/>
          <p:nvPr/>
        </p:nvSpPr>
        <p:spPr>
          <a:xfrm>
            <a:off x="4760450" y="43812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85" name="Google Shape;1085;p64"/>
          <p:cNvSpPr/>
          <p:nvPr/>
        </p:nvSpPr>
        <p:spPr>
          <a:xfrm>
            <a:off x="7356900" y="16569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6" name="Google Shape;1086;p64"/>
          <p:cNvSpPr/>
          <p:nvPr/>
        </p:nvSpPr>
        <p:spPr>
          <a:xfrm>
            <a:off x="7356900" y="22656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7" name="Google Shape;1087;p64"/>
          <p:cNvSpPr/>
          <p:nvPr/>
        </p:nvSpPr>
        <p:spPr>
          <a:xfrm>
            <a:off x="7356900" y="28482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8" name="Google Shape;1088;p64"/>
          <p:cNvSpPr/>
          <p:nvPr/>
        </p:nvSpPr>
        <p:spPr>
          <a:xfrm>
            <a:off x="7356900" y="34578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089" name="Google Shape;1089;p64"/>
          <p:cNvSpPr/>
          <p:nvPr/>
        </p:nvSpPr>
        <p:spPr>
          <a:xfrm>
            <a:off x="7356900" y="40329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090" name="Google Shape;1090;p64"/>
          <p:cNvCxnSpPr>
            <a:stCxn id="1084" idx="6"/>
            <a:endCxn id="1089" idx="1"/>
          </p:cNvCxnSpPr>
          <p:nvPr/>
        </p:nvCxnSpPr>
        <p:spPr>
          <a:xfrm flipH="1" rot="10800000">
            <a:off x="6043850" y="42492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64"/>
          <p:cNvCxnSpPr>
            <a:stCxn id="1084" idx="6"/>
            <a:endCxn id="1086" idx="1"/>
          </p:cNvCxnSpPr>
          <p:nvPr/>
        </p:nvCxnSpPr>
        <p:spPr>
          <a:xfrm flipH="1" rot="10800000">
            <a:off x="6043850" y="24819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64"/>
          <p:cNvCxnSpPr>
            <a:stCxn id="1083" idx="6"/>
            <a:endCxn id="1089" idx="1"/>
          </p:cNvCxnSpPr>
          <p:nvPr/>
        </p:nvCxnSpPr>
        <p:spPr>
          <a:xfrm>
            <a:off x="6043850" y="39763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64"/>
          <p:cNvCxnSpPr>
            <a:stCxn id="1081" idx="6"/>
            <a:endCxn id="1086" idx="1"/>
          </p:cNvCxnSpPr>
          <p:nvPr/>
        </p:nvCxnSpPr>
        <p:spPr>
          <a:xfrm flipH="1" rot="10800000">
            <a:off x="6043850" y="24819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64"/>
          <p:cNvCxnSpPr>
            <a:stCxn id="1084" idx="6"/>
            <a:endCxn id="1088" idx="1"/>
          </p:cNvCxnSpPr>
          <p:nvPr/>
        </p:nvCxnSpPr>
        <p:spPr>
          <a:xfrm flipH="1" rot="10800000">
            <a:off x="6043850" y="36741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64"/>
          <p:cNvCxnSpPr>
            <a:stCxn id="1079" idx="6"/>
            <a:endCxn id="1085" idx="1"/>
          </p:cNvCxnSpPr>
          <p:nvPr/>
        </p:nvCxnSpPr>
        <p:spPr>
          <a:xfrm>
            <a:off x="6043850" y="16085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64"/>
          <p:cNvCxnSpPr>
            <a:stCxn id="1079" idx="6"/>
            <a:endCxn id="1087" idx="1"/>
          </p:cNvCxnSpPr>
          <p:nvPr/>
        </p:nvCxnSpPr>
        <p:spPr>
          <a:xfrm>
            <a:off x="6043850" y="16085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64"/>
          <p:cNvCxnSpPr>
            <a:stCxn id="1080" idx="6"/>
            <a:endCxn id="1086" idx="1"/>
          </p:cNvCxnSpPr>
          <p:nvPr/>
        </p:nvCxnSpPr>
        <p:spPr>
          <a:xfrm>
            <a:off x="6043850" y="21631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64"/>
          <p:cNvCxnSpPr>
            <a:stCxn id="1079" idx="6"/>
            <a:endCxn id="1089" idx="1"/>
          </p:cNvCxnSpPr>
          <p:nvPr/>
        </p:nvCxnSpPr>
        <p:spPr>
          <a:xfrm>
            <a:off x="6043850" y="16085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64"/>
          <p:cNvCxnSpPr>
            <a:stCxn id="1082" idx="6"/>
            <a:endCxn id="1087" idx="1"/>
          </p:cNvCxnSpPr>
          <p:nvPr/>
        </p:nvCxnSpPr>
        <p:spPr>
          <a:xfrm flipH="1" rot="10800000">
            <a:off x="6043850" y="30646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64"/>
          <p:cNvCxnSpPr>
            <a:stCxn id="1080" idx="6"/>
            <a:endCxn id="1088" idx="1"/>
          </p:cNvCxnSpPr>
          <p:nvPr/>
        </p:nvCxnSpPr>
        <p:spPr>
          <a:xfrm>
            <a:off x="6043850" y="21631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64"/>
          <p:cNvCxnSpPr>
            <a:stCxn id="1083" idx="6"/>
            <a:endCxn id="1086" idx="1"/>
          </p:cNvCxnSpPr>
          <p:nvPr/>
        </p:nvCxnSpPr>
        <p:spPr>
          <a:xfrm flipH="1" rot="10800000">
            <a:off x="6043850" y="24820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64"/>
          <p:cNvCxnSpPr>
            <a:stCxn id="1082" idx="6"/>
            <a:endCxn id="1085" idx="1"/>
          </p:cNvCxnSpPr>
          <p:nvPr/>
        </p:nvCxnSpPr>
        <p:spPr>
          <a:xfrm flipH="1" rot="10800000">
            <a:off x="6043850" y="18733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64"/>
          <p:cNvSpPr txBox="1"/>
          <p:nvPr/>
        </p:nvSpPr>
        <p:spPr>
          <a:xfrm>
            <a:off x="5268675" y="1075447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U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4" name="Google Shape;1104;p64"/>
          <p:cNvSpPr txBox="1"/>
          <p:nvPr/>
        </p:nvSpPr>
        <p:spPr>
          <a:xfrm>
            <a:off x="7767900" y="1083559"/>
            <a:ext cx="363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mfortaa"/>
                <a:ea typeface="Comfortaa"/>
                <a:cs typeface="Comfortaa"/>
                <a:sym typeface="Comfortaa"/>
              </a:rPr>
              <a:t>V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110" name="Google Shape;1110;p65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1" name="Google Shape;1111;p65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2" name="Google Shape;1112;p65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3" name="Google Shape;1113;p65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4" name="Google Shape;1114;p65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5" name="Google Shape;1115;p65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16" name="Google Shape;1116;p65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17" name="Google Shape;1117;p65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18" name="Google Shape;1118;p65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19" name="Google Shape;1119;p65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20" name="Google Shape;1120;p65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21" name="Google Shape;1121;p65"/>
          <p:cNvCxnSpPr>
            <a:stCxn id="1115" idx="6"/>
            <a:endCxn id="1120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65"/>
          <p:cNvCxnSpPr>
            <a:stCxn id="1115" idx="6"/>
            <a:endCxn id="1117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65"/>
          <p:cNvCxnSpPr>
            <a:stCxn id="1114" idx="6"/>
            <a:endCxn id="1120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65"/>
          <p:cNvCxnSpPr>
            <a:stCxn id="1112" idx="6"/>
            <a:endCxn id="1117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65"/>
          <p:cNvCxnSpPr>
            <a:stCxn id="1115" idx="6"/>
            <a:endCxn id="1119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65"/>
          <p:cNvCxnSpPr>
            <a:stCxn id="1110" idx="6"/>
            <a:endCxn id="1116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65"/>
          <p:cNvCxnSpPr>
            <a:stCxn id="1110" idx="6"/>
            <a:endCxn id="1118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65"/>
          <p:cNvCxnSpPr>
            <a:stCxn id="1111" idx="6"/>
            <a:endCxn id="1117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65"/>
          <p:cNvCxnSpPr>
            <a:stCxn id="1110" idx="6"/>
            <a:endCxn id="1120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65"/>
          <p:cNvCxnSpPr>
            <a:stCxn id="1113" idx="6"/>
            <a:endCxn id="1118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65"/>
          <p:cNvCxnSpPr>
            <a:stCxn id="1111" idx="6"/>
            <a:endCxn id="1119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65"/>
          <p:cNvCxnSpPr>
            <a:stCxn id="1114" idx="6"/>
            <a:endCxn id="1117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65"/>
          <p:cNvCxnSpPr>
            <a:stCxn id="1113" idx="6"/>
            <a:endCxn id="1116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34" name="Google Shape;1134;p65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35" name="Google Shape;1135;p65"/>
          <p:cNvSpPr txBox="1"/>
          <p:nvPr/>
        </p:nvSpPr>
        <p:spPr>
          <a:xfrm>
            <a:off x="670850" y="4430025"/>
            <a:ext cx="6075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An affiliation matrix (A) has number of rows equals to the number of people and number of columns equal to the number of groups!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141" name="Google Shape;1141;p66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2" name="Google Shape;1142;p66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3" name="Google Shape;1143;p66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4" name="Google Shape;1144;p66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5" name="Google Shape;1145;p66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6" name="Google Shape;1146;p66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7" name="Google Shape;1147;p66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48" name="Google Shape;1148;p66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49" name="Google Shape;1149;p66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50" name="Google Shape;1150;p66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51" name="Google Shape;1151;p66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52" name="Google Shape;1152;p66"/>
          <p:cNvCxnSpPr>
            <a:stCxn id="1146" idx="6"/>
            <a:endCxn id="1151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66"/>
          <p:cNvCxnSpPr>
            <a:stCxn id="1146" idx="6"/>
            <a:endCxn id="1148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66"/>
          <p:cNvCxnSpPr>
            <a:stCxn id="1145" idx="6"/>
            <a:endCxn id="1151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66"/>
          <p:cNvCxnSpPr>
            <a:stCxn id="1143" idx="6"/>
            <a:endCxn id="1148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6"/>
          <p:cNvCxnSpPr>
            <a:stCxn id="1146" idx="6"/>
            <a:endCxn id="1150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66"/>
          <p:cNvCxnSpPr>
            <a:stCxn id="1141" idx="6"/>
            <a:endCxn id="1147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66"/>
          <p:cNvCxnSpPr>
            <a:stCxn id="1141" idx="6"/>
            <a:endCxn id="1149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66"/>
          <p:cNvCxnSpPr>
            <a:stCxn id="1142" idx="6"/>
            <a:endCxn id="1148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6"/>
          <p:cNvCxnSpPr>
            <a:stCxn id="1141" idx="6"/>
            <a:endCxn id="1151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66"/>
          <p:cNvCxnSpPr>
            <a:stCxn id="1144" idx="6"/>
            <a:endCxn id="1149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66"/>
          <p:cNvCxnSpPr>
            <a:stCxn id="1142" idx="6"/>
            <a:endCxn id="1150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66"/>
          <p:cNvCxnSpPr>
            <a:stCxn id="1145" idx="6"/>
            <a:endCxn id="1148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66"/>
          <p:cNvCxnSpPr>
            <a:stCxn id="1144" idx="6"/>
            <a:endCxn id="1147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65" name="Google Shape;1165;p66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66" name="Google Shape;1166;p66"/>
          <p:cNvSpPr txBox="1"/>
          <p:nvPr/>
        </p:nvSpPr>
        <p:spPr>
          <a:xfrm>
            <a:off x="670850" y="4430025"/>
            <a:ext cx="8083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Because the number of people does not have to be the same as the number of groups affiliation matrices are usually rectangular not square like adjacency matrices 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172" name="Google Shape;1172;p67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3" name="Google Shape;1173;p67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4" name="Google Shape;1174;p67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5" name="Google Shape;1175;p67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6" name="Google Shape;1176;p67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7" name="Google Shape;1177;p67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78" name="Google Shape;1178;p67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79" name="Google Shape;1179;p67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80" name="Google Shape;1180;p67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81" name="Google Shape;1181;p67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82" name="Google Shape;1182;p67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83" name="Google Shape;1183;p67"/>
          <p:cNvCxnSpPr>
            <a:stCxn id="1177" idx="6"/>
            <a:endCxn id="1182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67"/>
          <p:cNvCxnSpPr>
            <a:stCxn id="1177" idx="6"/>
            <a:endCxn id="1179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67"/>
          <p:cNvCxnSpPr>
            <a:stCxn id="1176" idx="6"/>
            <a:endCxn id="1182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67"/>
          <p:cNvCxnSpPr>
            <a:stCxn id="1174" idx="6"/>
            <a:endCxn id="1179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67"/>
          <p:cNvCxnSpPr>
            <a:stCxn id="1177" idx="6"/>
            <a:endCxn id="1181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7"/>
          <p:cNvCxnSpPr>
            <a:stCxn id="1172" idx="6"/>
            <a:endCxn id="1178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67"/>
          <p:cNvCxnSpPr>
            <a:stCxn id="1172" idx="6"/>
            <a:endCxn id="1180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67"/>
          <p:cNvCxnSpPr>
            <a:stCxn id="1173" idx="6"/>
            <a:endCxn id="1179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67"/>
          <p:cNvCxnSpPr>
            <a:stCxn id="1172" idx="6"/>
            <a:endCxn id="1182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67"/>
          <p:cNvCxnSpPr>
            <a:stCxn id="1175" idx="6"/>
            <a:endCxn id="1180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67"/>
          <p:cNvCxnSpPr>
            <a:stCxn id="1173" idx="6"/>
            <a:endCxn id="1181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67"/>
          <p:cNvCxnSpPr>
            <a:stCxn id="1176" idx="6"/>
            <a:endCxn id="1179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67"/>
          <p:cNvCxnSpPr>
            <a:stCxn id="1175" idx="6"/>
            <a:endCxn id="1178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96" name="Google Shape;1196;p67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Gabriela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97" name="Google Shape;1197;p67"/>
          <p:cNvSpPr txBox="1"/>
          <p:nvPr/>
        </p:nvSpPr>
        <p:spPr>
          <a:xfrm>
            <a:off x="670850" y="4430025"/>
            <a:ext cx="7898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fill out the affiliation matrix just like we did the adjacency matrix: Cell A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1 if person i is affiliated with group j. Otherwise A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= 0.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sp>
        <p:nvSpPr>
          <p:cNvPr id="1203" name="Google Shape;1203;p68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4" name="Google Shape;1204;p68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5" name="Google Shape;1205;p68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6" name="Google Shape;1206;p68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7" name="Google Shape;1207;p68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8" name="Google Shape;1208;p68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09" name="Google Shape;1209;p68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0" name="Google Shape;1210;p68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1" name="Google Shape;1211;p68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2" name="Google Shape;1212;p68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13" name="Google Shape;1213;p68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214" name="Google Shape;1214;p68"/>
          <p:cNvCxnSpPr>
            <a:stCxn id="1208" idx="6"/>
            <a:endCxn id="1213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68"/>
          <p:cNvCxnSpPr>
            <a:stCxn id="1208" idx="6"/>
            <a:endCxn id="1210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68"/>
          <p:cNvCxnSpPr>
            <a:stCxn id="1207" idx="6"/>
            <a:endCxn id="1213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68"/>
          <p:cNvCxnSpPr>
            <a:stCxn id="1205" idx="6"/>
            <a:endCxn id="1210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68"/>
          <p:cNvCxnSpPr>
            <a:stCxn id="1208" idx="6"/>
            <a:endCxn id="1212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68"/>
          <p:cNvCxnSpPr>
            <a:stCxn id="1203" idx="6"/>
            <a:endCxn id="1209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68"/>
          <p:cNvCxnSpPr>
            <a:stCxn id="1203" idx="6"/>
            <a:endCxn id="1211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68"/>
          <p:cNvCxnSpPr>
            <a:stCxn id="1204" idx="6"/>
            <a:endCxn id="1210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68"/>
          <p:cNvCxnSpPr>
            <a:stCxn id="1203" idx="6"/>
            <a:endCxn id="1213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68"/>
          <p:cNvCxnSpPr>
            <a:stCxn id="1206" idx="6"/>
            <a:endCxn id="1211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68"/>
          <p:cNvCxnSpPr>
            <a:stCxn id="1204" idx="6"/>
            <a:endCxn id="1212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68"/>
          <p:cNvCxnSpPr>
            <a:stCxn id="1207" idx="6"/>
            <a:endCxn id="1210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68"/>
          <p:cNvCxnSpPr>
            <a:stCxn id="1206" idx="6"/>
            <a:endCxn id="1209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27" name="Google Shape;1227;p68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Gabriela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28" name="Google Shape;1228;p68"/>
          <p:cNvSpPr txBox="1"/>
          <p:nvPr/>
        </p:nvSpPr>
        <p:spPr>
          <a:xfrm>
            <a:off x="670850" y="4430025"/>
            <a:ext cx="78984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So Gabriela gets a one in the columns corresponding to the Super Smash Bros., Nerdfighters, and the Fashion Club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bipartite graph to affiliation matrix</a:t>
            </a:r>
            <a:endParaRPr/>
          </a:p>
        </p:txBody>
      </p:sp>
      <p:graphicFrame>
        <p:nvGraphicFramePr>
          <p:cNvPr id="1234" name="Google Shape;1234;p69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35" name="Google Shape;1235;p69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6" name="Google Shape;1236;p69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7" name="Google Shape;1237;p69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8" name="Google Shape;1238;p69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39" name="Google Shape;1239;p69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40" name="Google Shape;1240;p69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41" name="Google Shape;1241;p69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2" name="Google Shape;1242;p69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3" name="Google Shape;1243;p69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4" name="Google Shape;1244;p69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45" name="Google Shape;1245;p69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246" name="Google Shape;1246;p69"/>
          <p:cNvCxnSpPr>
            <a:stCxn id="1240" idx="6"/>
            <a:endCxn id="1245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69"/>
          <p:cNvCxnSpPr>
            <a:stCxn id="1240" idx="6"/>
            <a:endCxn id="1242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69"/>
          <p:cNvCxnSpPr>
            <a:stCxn id="1239" idx="6"/>
            <a:endCxn id="1245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69"/>
          <p:cNvCxnSpPr>
            <a:stCxn id="1237" idx="6"/>
            <a:endCxn id="1242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69"/>
          <p:cNvCxnSpPr>
            <a:stCxn id="1240" idx="6"/>
            <a:endCxn id="1244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69"/>
          <p:cNvCxnSpPr>
            <a:stCxn id="1235" idx="6"/>
            <a:endCxn id="1241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69"/>
          <p:cNvCxnSpPr>
            <a:stCxn id="1235" idx="6"/>
            <a:endCxn id="1243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69"/>
          <p:cNvCxnSpPr>
            <a:stCxn id="1236" idx="6"/>
            <a:endCxn id="1242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69"/>
          <p:cNvCxnSpPr>
            <a:stCxn id="1235" idx="6"/>
            <a:endCxn id="1245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69"/>
          <p:cNvCxnSpPr>
            <a:stCxn id="1238" idx="6"/>
            <a:endCxn id="1243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69"/>
          <p:cNvCxnSpPr>
            <a:stCxn id="1236" idx="6"/>
            <a:endCxn id="1244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69"/>
          <p:cNvCxnSpPr>
            <a:stCxn id="1239" idx="6"/>
            <a:endCxn id="1242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69"/>
          <p:cNvCxnSpPr>
            <a:stCxn id="1238" idx="6"/>
            <a:endCxn id="1241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69"/>
          <p:cNvSpPr txBox="1"/>
          <p:nvPr/>
        </p:nvSpPr>
        <p:spPr>
          <a:xfrm>
            <a:off x="670850" y="4563225"/>
            <a:ext cx="78984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the full affiliation matrix corresponding to the bipartite graph on the left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centrality in affiliation networks</a:t>
            </a:r>
            <a:endParaRPr/>
          </a:p>
        </p:txBody>
      </p:sp>
      <p:graphicFrame>
        <p:nvGraphicFramePr>
          <p:cNvPr id="1265" name="Google Shape;1265;p70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6" name="Google Shape;1266;p70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67" name="Google Shape;1267;p70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68" name="Google Shape;1268;p70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69" name="Google Shape;1269;p70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70" name="Google Shape;1270;p70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71" name="Google Shape;1271;p70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72" name="Google Shape;1272;p70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3" name="Google Shape;1273;p70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4" name="Google Shape;1274;p70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5" name="Google Shape;1275;p70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276" name="Google Shape;1276;p70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277" name="Google Shape;1277;p70"/>
          <p:cNvCxnSpPr>
            <a:stCxn id="1271" idx="6"/>
            <a:endCxn id="1276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70"/>
          <p:cNvCxnSpPr>
            <a:stCxn id="1271" idx="6"/>
            <a:endCxn id="1273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70"/>
          <p:cNvCxnSpPr>
            <a:stCxn id="1270" idx="6"/>
            <a:endCxn id="1276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70"/>
          <p:cNvCxnSpPr>
            <a:stCxn id="1268" idx="6"/>
            <a:endCxn id="1273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70"/>
          <p:cNvCxnSpPr>
            <a:stCxn id="1271" idx="6"/>
            <a:endCxn id="1275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0"/>
          <p:cNvCxnSpPr>
            <a:stCxn id="1266" idx="6"/>
            <a:endCxn id="1272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70"/>
          <p:cNvCxnSpPr>
            <a:stCxn id="1266" idx="6"/>
            <a:endCxn id="1274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70"/>
          <p:cNvCxnSpPr>
            <a:stCxn id="1267" idx="6"/>
            <a:endCxn id="1273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70"/>
          <p:cNvCxnSpPr>
            <a:stCxn id="1266" idx="6"/>
            <a:endCxn id="1276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70"/>
          <p:cNvCxnSpPr>
            <a:stCxn id="1269" idx="6"/>
            <a:endCxn id="1274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70"/>
          <p:cNvCxnSpPr>
            <a:stCxn id="1267" idx="6"/>
            <a:endCxn id="1275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70"/>
          <p:cNvCxnSpPr>
            <a:stCxn id="1270" idx="6"/>
            <a:endCxn id="1273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70"/>
          <p:cNvCxnSpPr>
            <a:stCxn id="1269" idx="6"/>
            <a:endCxn id="1272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90" name="Google Shape;1290;p70"/>
          <p:cNvGraphicFramePr/>
          <p:nvPr/>
        </p:nvGraphicFramePr>
        <p:xfrm>
          <a:off x="8501025" y="1989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75700"/>
              </a:tblGrid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1" name="Google Shape;1291;p70"/>
          <p:cNvSpPr txBox="1"/>
          <p:nvPr/>
        </p:nvSpPr>
        <p:spPr>
          <a:xfrm>
            <a:off x="670850" y="4430025"/>
            <a:ext cx="46635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sums of the affiliation matrix gives us the number of memberships each person has!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92" name="Google Shape;1292;p70"/>
          <p:cNvCxnSpPr/>
          <p:nvPr/>
        </p:nvCxnSpPr>
        <p:spPr>
          <a:xfrm>
            <a:off x="5299000" y="2071550"/>
            <a:ext cx="3203400" cy="10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sum_j A_{ij}" id="1293" name="Google Shape;1293;p7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511" y="4496625"/>
            <a:ext cx="958678" cy="4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centrality in affiliation networks</a:t>
            </a:r>
            <a:endParaRPr/>
          </a:p>
        </p:txBody>
      </p:sp>
      <p:graphicFrame>
        <p:nvGraphicFramePr>
          <p:cNvPr id="1299" name="Google Shape;1299;p71"/>
          <p:cNvGraphicFramePr/>
          <p:nvPr/>
        </p:nvGraphicFramePr>
        <p:xfrm>
          <a:off x="4521375" y="129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0" name="Google Shape;1300;p71"/>
          <p:cNvSpPr/>
          <p:nvPr/>
        </p:nvSpPr>
        <p:spPr>
          <a:xfrm>
            <a:off x="311700" y="114721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1" name="Google Shape;1301;p71"/>
          <p:cNvSpPr/>
          <p:nvPr/>
        </p:nvSpPr>
        <p:spPr>
          <a:xfrm>
            <a:off x="311700" y="1701878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2" name="Google Shape;1302;p71"/>
          <p:cNvSpPr/>
          <p:nvPr/>
        </p:nvSpPr>
        <p:spPr>
          <a:xfrm>
            <a:off x="311700" y="2331144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3" name="Google Shape;1303;p71"/>
          <p:cNvSpPr/>
          <p:nvPr/>
        </p:nvSpPr>
        <p:spPr>
          <a:xfrm>
            <a:off x="311700" y="2938159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4" name="Google Shape;1304;p71"/>
          <p:cNvSpPr/>
          <p:nvPr/>
        </p:nvSpPr>
        <p:spPr>
          <a:xfrm>
            <a:off x="311700" y="3515073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5" name="Google Shape;1305;p71"/>
          <p:cNvSpPr/>
          <p:nvPr/>
        </p:nvSpPr>
        <p:spPr>
          <a:xfrm>
            <a:off x="311700" y="4105337"/>
            <a:ext cx="1283400" cy="37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06" name="Google Shape;1306;p71"/>
          <p:cNvSpPr/>
          <p:nvPr/>
        </p:nvSpPr>
        <p:spPr>
          <a:xfrm>
            <a:off x="2908150" y="1381089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07" name="Google Shape;1307;p71"/>
          <p:cNvSpPr/>
          <p:nvPr/>
        </p:nvSpPr>
        <p:spPr>
          <a:xfrm>
            <a:off x="2908150" y="1989777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08" name="Google Shape;1308;p71"/>
          <p:cNvSpPr/>
          <p:nvPr/>
        </p:nvSpPr>
        <p:spPr>
          <a:xfrm>
            <a:off x="2908150" y="2572314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09" name="Google Shape;1309;p71"/>
          <p:cNvSpPr/>
          <p:nvPr/>
        </p:nvSpPr>
        <p:spPr>
          <a:xfrm>
            <a:off x="2908150" y="318191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10" name="Google Shape;1310;p71"/>
          <p:cNvSpPr/>
          <p:nvPr/>
        </p:nvSpPr>
        <p:spPr>
          <a:xfrm>
            <a:off x="2908150" y="37570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311" name="Google Shape;1311;p71"/>
          <p:cNvCxnSpPr>
            <a:stCxn id="1305" idx="6"/>
            <a:endCxn id="1310" idx="1"/>
          </p:cNvCxnSpPr>
          <p:nvPr/>
        </p:nvCxnSpPr>
        <p:spPr>
          <a:xfrm flipH="1" rot="10800000">
            <a:off x="1595100" y="3973337"/>
            <a:ext cx="1313100" cy="31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2" name="Google Shape;1312;p71"/>
          <p:cNvCxnSpPr>
            <a:stCxn id="1305" idx="6"/>
            <a:endCxn id="1307" idx="1"/>
          </p:cNvCxnSpPr>
          <p:nvPr/>
        </p:nvCxnSpPr>
        <p:spPr>
          <a:xfrm flipH="1" rot="10800000">
            <a:off x="1595100" y="2206037"/>
            <a:ext cx="1313100" cy="20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71"/>
          <p:cNvCxnSpPr>
            <a:stCxn id="1304" idx="6"/>
            <a:endCxn id="1310" idx="1"/>
          </p:cNvCxnSpPr>
          <p:nvPr/>
        </p:nvCxnSpPr>
        <p:spPr>
          <a:xfrm>
            <a:off x="1595100" y="3700473"/>
            <a:ext cx="1313100" cy="2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4" name="Google Shape;1314;p71"/>
          <p:cNvCxnSpPr>
            <a:stCxn id="1302" idx="6"/>
            <a:endCxn id="1307" idx="1"/>
          </p:cNvCxnSpPr>
          <p:nvPr/>
        </p:nvCxnSpPr>
        <p:spPr>
          <a:xfrm flipH="1" rot="10800000">
            <a:off x="1595100" y="2206044"/>
            <a:ext cx="1313100" cy="3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71"/>
          <p:cNvCxnSpPr>
            <a:stCxn id="1305" idx="6"/>
            <a:endCxn id="1309" idx="1"/>
          </p:cNvCxnSpPr>
          <p:nvPr/>
        </p:nvCxnSpPr>
        <p:spPr>
          <a:xfrm flipH="1" rot="10800000">
            <a:off x="1595100" y="3398237"/>
            <a:ext cx="1313100" cy="8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71"/>
          <p:cNvCxnSpPr>
            <a:stCxn id="1300" idx="6"/>
            <a:endCxn id="1306" idx="1"/>
          </p:cNvCxnSpPr>
          <p:nvPr/>
        </p:nvCxnSpPr>
        <p:spPr>
          <a:xfrm>
            <a:off x="1595100" y="1332613"/>
            <a:ext cx="1313100" cy="26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71"/>
          <p:cNvCxnSpPr>
            <a:stCxn id="1300" idx="6"/>
            <a:endCxn id="1308" idx="1"/>
          </p:cNvCxnSpPr>
          <p:nvPr/>
        </p:nvCxnSpPr>
        <p:spPr>
          <a:xfrm>
            <a:off x="1595100" y="1332613"/>
            <a:ext cx="1313100" cy="145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8" name="Google Shape;1318;p71"/>
          <p:cNvCxnSpPr>
            <a:stCxn id="1301" idx="6"/>
            <a:endCxn id="1307" idx="1"/>
          </p:cNvCxnSpPr>
          <p:nvPr/>
        </p:nvCxnSpPr>
        <p:spPr>
          <a:xfrm>
            <a:off x="1595100" y="1887278"/>
            <a:ext cx="1313100" cy="31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71"/>
          <p:cNvCxnSpPr>
            <a:stCxn id="1300" idx="6"/>
            <a:endCxn id="1310" idx="1"/>
          </p:cNvCxnSpPr>
          <p:nvPr/>
        </p:nvCxnSpPr>
        <p:spPr>
          <a:xfrm>
            <a:off x="1595100" y="1332613"/>
            <a:ext cx="1313100" cy="26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71"/>
          <p:cNvCxnSpPr>
            <a:stCxn id="1303" idx="6"/>
            <a:endCxn id="1308" idx="1"/>
          </p:cNvCxnSpPr>
          <p:nvPr/>
        </p:nvCxnSpPr>
        <p:spPr>
          <a:xfrm flipH="1" rot="10800000">
            <a:off x="1595100" y="2788759"/>
            <a:ext cx="1313100" cy="33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71"/>
          <p:cNvCxnSpPr>
            <a:stCxn id="1301" idx="6"/>
            <a:endCxn id="1309" idx="1"/>
          </p:cNvCxnSpPr>
          <p:nvPr/>
        </p:nvCxnSpPr>
        <p:spPr>
          <a:xfrm>
            <a:off x="1595100" y="1887278"/>
            <a:ext cx="1313100" cy="151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2" name="Google Shape;1322;p71"/>
          <p:cNvCxnSpPr>
            <a:stCxn id="1304" idx="6"/>
            <a:endCxn id="1307" idx="1"/>
          </p:cNvCxnSpPr>
          <p:nvPr/>
        </p:nvCxnSpPr>
        <p:spPr>
          <a:xfrm flipH="1" rot="10800000">
            <a:off x="1595100" y="2206173"/>
            <a:ext cx="1313100" cy="149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71"/>
          <p:cNvCxnSpPr>
            <a:stCxn id="1303" idx="6"/>
            <a:endCxn id="1306" idx="1"/>
          </p:cNvCxnSpPr>
          <p:nvPr/>
        </p:nvCxnSpPr>
        <p:spPr>
          <a:xfrm flipH="1" rot="10800000">
            <a:off x="1595100" y="1597459"/>
            <a:ext cx="1313100" cy="152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24" name="Google Shape;1324;p71"/>
          <p:cNvGraphicFramePr/>
          <p:nvPr/>
        </p:nvGraphicFramePr>
        <p:xfrm>
          <a:off x="5334450" y="4505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6775"/>
                <a:gridCol w="616775"/>
                <a:gridCol w="616775"/>
                <a:gridCol w="616775"/>
                <a:gridCol w="616775"/>
              </a:tblGrid>
              <a:tr h="4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5" name="Google Shape;1325;p71"/>
          <p:cNvSpPr txBox="1"/>
          <p:nvPr/>
        </p:nvSpPr>
        <p:spPr>
          <a:xfrm>
            <a:off x="670850" y="4430025"/>
            <a:ext cx="35988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column sums of the affiliation matrix gives us the size of each group!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26" name="Google Shape;1326;p71"/>
          <p:cNvCxnSpPr/>
          <p:nvPr/>
        </p:nvCxnSpPr>
        <p:spPr>
          <a:xfrm flipH="1">
            <a:off x="5410050" y="2091750"/>
            <a:ext cx="10200" cy="2394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sum_i A_{ij}" id="1327" name="Google Shape;1327;p7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307" y="4527525"/>
            <a:ext cx="885492" cy="3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The Transpose</a:t>
            </a:r>
            <a:endParaRPr/>
          </a:p>
        </p:txBody>
      </p:sp>
      <p:sp>
        <p:nvSpPr>
          <p:cNvPr id="1333" name="Google Shape;1333;p72"/>
          <p:cNvSpPr txBox="1"/>
          <p:nvPr>
            <p:ph idx="1" type="body"/>
          </p:nvPr>
        </p:nvSpPr>
        <p:spPr>
          <a:xfrm>
            <a:off x="311700" y="1225225"/>
            <a:ext cx="4260300" cy="32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transpose </a:t>
            </a:r>
            <a:r>
              <a:rPr lang="en"/>
              <a:t>(' or </a:t>
            </a:r>
            <a:r>
              <a:rPr baseline="30000" lang="en"/>
              <a:t>T</a:t>
            </a:r>
            <a:r>
              <a:rPr lang="en"/>
              <a:t>) of a matrix reverses the row and column dimensions.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 x h matrix becomes a h x g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rows of the transpose </a:t>
            </a:r>
            <a:r>
              <a:rPr b="1" lang="en"/>
              <a:t>A</a:t>
            </a:r>
            <a:r>
              <a:rPr b="1" baseline="30000" lang="en" sz="1800"/>
              <a:t>T </a:t>
            </a:r>
            <a:r>
              <a:rPr lang="en"/>
              <a:t>is the number of columns of the original </a:t>
            </a:r>
            <a:r>
              <a:rPr b="1" lang="en"/>
              <a:t>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columns of the transpose </a:t>
            </a:r>
            <a:r>
              <a:rPr b="1" lang="en"/>
              <a:t>A</a:t>
            </a:r>
            <a:r>
              <a:rPr b="1" baseline="30000" lang="en" sz="1800"/>
              <a:t>T </a:t>
            </a:r>
            <a:r>
              <a:rPr lang="en"/>
              <a:t>is the number of rows of the original </a:t>
            </a:r>
            <a:r>
              <a:rPr b="1" lang="en"/>
              <a:t>A</a:t>
            </a:r>
            <a:endParaRPr/>
          </a:p>
        </p:txBody>
      </p:sp>
      <p:graphicFrame>
        <p:nvGraphicFramePr>
          <p:cNvPr id="1334" name="Google Shape;1334;p72"/>
          <p:cNvGraphicFramePr/>
          <p:nvPr/>
        </p:nvGraphicFramePr>
        <p:xfrm>
          <a:off x="4572000" y="204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{B7C336B2-1610-4B39-A701-D1F939EBD3CA}</a:tableStyleId>
              </a:tblPr>
              <a:tblGrid>
                <a:gridCol w="382850"/>
                <a:gridCol w="382850"/>
              </a:tblGrid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5" name="Google Shape;1335;p72"/>
          <p:cNvSpPr/>
          <p:nvPr/>
        </p:nvSpPr>
        <p:spPr>
          <a:xfrm>
            <a:off x="5573575" y="2578000"/>
            <a:ext cx="1530300" cy="46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36" name="Google Shape;1336;p72"/>
          <p:cNvGraphicFramePr/>
          <p:nvPr/>
        </p:nvGraphicFramePr>
        <p:xfrm>
          <a:off x="7324600" y="230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{B7C336B2-1610-4B39-A701-D1F939EBD3CA}</a:tableStyleId>
              </a:tblPr>
              <a:tblGrid>
                <a:gridCol w="449550"/>
                <a:gridCol w="449550"/>
                <a:gridCol w="449550"/>
              </a:tblGrid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7" name="Google Shape;1337;p72"/>
          <p:cNvSpPr txBox="1"/>
          <p:nvPr/>
        </p:nvSpPr>
        <p:spPr>
          <a:xfrm>
            <a:off x="4572050" y="1235013"/>
            <a:ext cx="7656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endParaRPr b="1" sz="3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338" name="Google Shape;1338;p72"/>
          <p:cNvSpPr txBox="1"/>
          <p:nvPr/>
        </p:nvSpPr>
        <p:spPr>
          <a:xfrm>
            <a:off x="7504375" y="1225225"/>
            <a:ext cx="9891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36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endParaRPr b="1" baseline="30000" sz="3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339" name="Google Shape;1339;p72"/>
          <p:cNvSpPr txBox="1"/>
          <p:nvPr/>
        </p:nvSpPr>
        <p:spPr>
          <a:xfrm>
            <a:off x="5573575" y="3863175"/>
            <a:ext cx="22941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A</a:t>
            </a:r>
            <a:r>
              <a:rPr b="1" baseline="-25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ij</a:t>
            </a:r>
            <a:r>
              <a:rPr b="1" baseline="30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T</a:t>
            </a:r>
            <a:r>
              <a:rPr b="1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= A</a:t>
            </a:r>
            <a:r>
              <a:rPr b="1" baseline="-25000" lang="en" sz="3600">
                <a:solidFill>
                  <a:schemeClr val="dk1"/>
                </a:solidFill>
                <a:latin typeface="Antic Didone"/>
                <a:ea typeface="Antic Didone"/>
                <a:cs typeface="Antic Didone"/>
                <a:sym typeface="Antic Didone"/>
              </a:rPr>
              <a:t>ji</a:t>
            </a:r>
            <a:endParaRPr b="1" sz="3600">
              <a:latin typeface="Antic Didone"/>
              <a:ea typeface="Antic Didone"/>
              <a:cs typeface="Antic Didone"/>
              <a:sym typeface="Antic Didone"/>
            </a:endParaRPr>
          </a:p>
        </p:txBody>
      </p:sp>
      <p:sp>
        <p:nvSpPr>
          <p:cNvPr id="1340" name="Google Shape;1340;p72"/>
          <p:cNvSpPr txBox="1"/>
          <p:nvPr/>
        </p:nvSpPr>
        <p:spPr>
          <a:xfrm>
            <a:off x="4572050" y="3684650"/>
            <a:ext cx="765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3 X 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1" name="Google Shape;1341;p72"/>
          <p:cNvSpPr txBox="1"/>
          <p:nvPr/>
        </p:nvSpPr>
        <p:spPr>
          <a:xfrm>
            <a:off x="7655125" y="3374725"/>
            <a:ext cx="765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 X 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6" name="Google Shape;1346;p73"/>
          <p:cNvGraphicFramePr/>
          <p:nvPr/>
        </p:nvGraphicFramePr>
        <p:xfrm>
          <a:off x="311700" y="114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7" name="Google Shape;1347;p73"/>
          <p:cNvGraphicFramePr/>
          <p:nvPr/>
        </p:nvGraphicFramePr>
        <p:xfrm>
          <a:off x="4425075" y="11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90675"/>
                <a:gridCol w="638225"/>
                <a:gridCol w="638225"/>
                <a:gridCol w="638225"/>
                <a:gridCol w="638225"/>
                <a:gridCol w="638225"/>
                <a:gridCol w="638225"/>
              </a:tblGrid>
              <a:tr h="6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/>
                    </a:p>
                  </a:txBody>
                  <a:tcPr marT="91425" marB="91425" marR="0" marL="0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Cheese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Magic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Fashion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48" name="Google Shape;1348;p73"/>
          <p:cNvSpPr txBox="1"/>
          <p:nvPr/>
        </p:nvSpPr>
        <p:spPr>
          <a:xfrm>
            <a:off x="1962275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(6 x 5)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9" name="Google Shape;1349;p73"/>
          <p:cNvSpPr txBox="1"/>
          <p:nvPr/>
        </p:nvSpPr>
        <p:spPr>
          <a:xfrm>
            <a:off x="6392197" y="4520500"/>
            <a:ext cx="13392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(5 x 6)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0" name="Google Shape;1350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matrix (A) and its transpose (A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matrix (A) and its transpose (A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</p:txBody>
      </p:sp>
      <p:graphicFrame>
        <p:nvGraphicFramePr>
          <p:cNvPr id="1356" name="Google Shape;1356;p74"/>
          <p:cNvGraphicFramePr/>
          <p:nvPr/>
        </p:nvGraphicFramePr>
        <p:xfrm>
          <a:off x="311700" y="114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813075"/>
                <a:gridCol w="616775"/>
                <a:gridCol w="616775"/>
                <a:gridCol w="616775"/>
                <a:gridCol w="616775"/>
                <a:gridCol w="6167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Super Smash Bros.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Cheese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Nerd-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Fighters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Magic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Fashion</a:t>
                      </a:r>
                      <a:endParaRPr b="1" sz="1000"/>
                    </a:p>
                  </a:txBody>
                  <a:tcPr marT="91425" marB="91425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Gabriela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Parker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Brandon</a:t>
                      </a:r>
                      <a:endParaRPr b="1"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Marie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Rahul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Minjoo</a:t>
                      </a:r>
                      <a:endParaRPr b="1"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7" name="Google Shape;1357;p74"/>
          <p:cNvGraphicFramePr/>
          <p:nvPr/>
        </p:nvGraphicFramePr>
        <p:xfrm>
          <a:off x="4425075" y="116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90675"/>
                <a:gridCol w="638225"/>
                <a:gridCol w="638225"/>
                <a:gridCol w="638225"/>
                <a:gridCol w="638225"/>
                <a:gridCol w="638225"/>
                <a:gridCol w="638225"/>
              </a:tblGrid>
              <a:tr h="6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/>
                    </a:p>
                  </a:txBody>
                  <a:tcPr marT="91425" marB="9142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/>
                    </a:p>
                  </a:txBody>
                  <a:tcPr marT="91425" marB="91425" marR="0" marL="0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Cheese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Magic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3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Fashion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58" name="Google Shape;1358;p74"/>
          <p:cNvSpPr txBox="1"/>
          <p:nvPr/>
        </p:nvSpPr>
        <p:spPr>
          <a:xfrm>
            <a:off x="1962275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(6 x 5)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9" name="Google Shape;1359;p74"/>
          <p:cNvSpPr txBox="1"/>
          <p:nvPr/>
        </p:nvSpPr>
        <p:spPr>
          <a:xfrm>
            <a:off x="6392209" y="4520500"/>
            <a:ext cx="1009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30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’</a:t>
            </a:r>
            <a:r>
              <a:rPr b="1" baseline="-25000" lang="en" sz="2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(5 x 6)</a:t>
            </a:r>
            <a:endParaRPr b="1" baseline="-25000" sz="24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0" name="Google Shape;1360;p74"/>
          <p:cNvSpPr txBox="1"/>
          <p:nvPr/>
        </p:nvSpPr>
        <p:spPr>
          <a:xfrm>
            <a:off x="6151875" y="315925"/>
            <a:ext cx="2936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transpose of a matrix is the same matrix with the rows and columns switched around!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5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367" name="Google Shape;1367;p75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75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9" name="Google Shape;1369;p75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0" name="Google Shape;1370;p75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371" name="Google Shape;1371;p75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72" name="Google Shape;1372;p75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3" name="Google Shape;1373;p75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4" name="Google Shape;1374;p75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75" name="Google Shape;1375;p75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76" name="Google Shape;1376;p75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7" name="Google Shape;1377;p75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8" name="Google Shape;1378;p75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9" name="Google Shape;1379;p75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75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75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82" name="Google Shape;1382;p75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3" name="Google Shape;1383;p75"/>
          <p:cNvSpPr txBox="1"/>
          <p:nvPr/>
        </p:nvSpPr>
        <p:spPr>
          <a:xfrm>
            <a:off x="6337575" y="1954363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76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390" name="Google Shape;1390;p76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76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2" name="Google Shape;1392;p76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3" name="Google Shape;1393;p76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394" name="Google Shape;1394;p76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95" name="Google Shape;1395;p76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96" name="Google Shape;1396;p76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7" name="Google Shape;1397;p76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98" name="Google Shape;1398;p76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99" name="Google Shape;1399;p76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0" name="Google Shape;1400;p76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1" name="Google Shape;1401;p76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2" name="Google Shape;1402;p76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76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76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5" name="Google Shape;1405;p76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6" name="Google Shape;1406;p76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7" name="Google Shape;1407;p76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08" name="Google Shape;1408;p76"/>
          <p:cNvCxnSpPr>
            <a:stCxn id="1407" idx="1"/>
            <a:endCxn id="1393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9" name="Google Shape;1409;p76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10" name="Google Shape;1410;p76"/>
          <p:cNvCxnSpPr>
            <a:stCxn id="1409" idx="3"/>
            <a:endCxn id="1406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77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17" name="Google Shape;1417;p77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7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9" name="Google Shape;1419;p77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0" name="Google Shape;1420;p77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421" name="Google Shape;1421;p77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2" name="Google Shape;1422;p77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3" name="Google Shape;1423;p77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4" name="Google Shape;1424;p77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25" name="Google Shape;1425;p77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6" name="Google Shape;1426;p77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7" name="Google Shape;1427;p77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8" name="Google Shape;1428;p77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9" name="Google Shape;1429;p77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77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77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2" name="Google Shape;1432;p77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3" name="Google Shape;1433;p77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4" name="Google Shape;1434;p77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35" name="Google Shape;1435;p77"/>
          <p:cNvCxnSpPr>
            <a:stCxn id="1434" idx="1"/>
            <a:endCxn id="1420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6" name="Google Shape;1436;p77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37" name="Google Shape;1437;p77"/>
          <p:cNvCxnSpPr>
            <a:stCxn id="1436" idx="3"/>
            <a:endCxn id="1433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38" name="Google Shape;143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78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46" name="Google Shape;1446;p78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78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48" name="Google Shape;1448;p78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9" name="Google Shape;1449;p78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450" name="Google Shape;1450;p78"/>
          <p:cNvGraphicFramePr/>
          <p:nvPr/>
        </p:nvGraphicFramePr>
        <p:xfrm>
          <a:off x="88975" y="3101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51" name="Google Shape;1451;p78"/>
          <p:cNvGraphicFramePr/>
          <p:nvPr/>
        </p:nvGraphicFramePr>
        <p:xfrm>
          <a:off x="2302200" y="3740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2" name="Google Shape;1452;p78"/>
          <p:cNvSpPr txBox="1"/>
          <p:nvPr/>
        </p:nvSpPr>
        <p:spPr>
          <a:xfrm>
            <a:off x="174425" y="4684613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2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3" name="Google Shape;1453;p78"/>
          <p:cNvSpPr txBox="1"/>
          <p:nvPr/>
        </p:nvSpPr>
        <p:spPr>
          <a:xfrm>
            <a:off x="2610825" y="460620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54" name="Google Shape;1454;p78"/>
          <p:cNvGraphicFramePr/>
          <p:nvPr/>
        </p:nvGraphicFramePr>
        <p:xfrm>
          <a:off x="4961775" y="2970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55" name="Google Shape;1455;p78"/>
          <p:cNvGraphicFramePr/>
          <p:nvPr/>
        </p:nvGraphicFramePr>
        <p:xfrm>
          <a:off x="7669850" y="3027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46350"/>
                <a:gridCol w="446350"/>
                <a:gridCol w="446350"/>
              </a:tblGrid>
              <a:tr h="35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56" name="Google Shape;1456;p78"/>
          <p:cNvSpPr txBox="1"/>
          <p:nvPr/>
        </p:nvSpPr>
        <p:spPr>
          <a:xfrm>
            <a:off x="5493550" y="45534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4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7" name="Google Shape;1457;p78"/>
          <p:cNvSpPr txBox="1"/>
          <p:nvPr/>
        </p:nvSpPr>
        <p:spPr>
          <a:xfrm>
            <a:off x="7978475" y="3893150"/>
            <a:ext cx="7218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1" baseline="-25000" lang="en" sz="1800">
                <a:latin typeface="Open Sans"/>
                <a:ea typeface="Open Sans"/>
                <a:cs typeface="Open Sans"/>
                <a:sym typeface="Open Sans"/>
              </a:rPr>
              <a:t> 2 x 3</a:t>
            </a:r>
            <a:endParaRPr b="1" baseline="-2500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8" name="Google Shape;1458;p78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78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78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1" name="Google Shape;1461;p78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2" name="Google Shape;1462;p78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3" name="Google Shape;1463;p78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4" name="Google Shape;1464;p78"/>
          <p:cNvCxnSpPr>
            <a:stCxn id="1463" idx="1"/>
            <a:endCxn id="1449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5" name="Google Shape;1465;p78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6" name="Google Shape;1466;p78"/>
          <p:cNvCxnSpPr>
            <a:stCxn id="1465" idx="3"/>
            <a:endCxn id="1462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67" name="Google Shape;14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79"/>
          <p:cNvSpPr/>
          <p:nvPr/>
        </p:nvSpPr>
        <p:spPr>
          <a:xfrm rot="-5345203">
            <a:off x="813914" y="1668062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75" name="Google Shape;1475;p79"/>
          <p:cNvSpPr/>
          <p:nvPr/>
        </p:nvSpPr>
        <p:spPr>
          <a:xfrm rot="-5346771">
            <a:off x="1531104" y="1312366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79"/>
          <p:cNvSpPr txBox="1"/>
          <p:nvPr/>
        </p:nvSpPr>
        <p:spPr>
          <a:xfrm>
            <a:off x="743525" y="3224225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7" name="Google Shape;1477;p79"/>
          <p:cNvSpPr txBox="1"/>
          <p:nvPr/>
        </p:nvSpPr>
        <p:spPr>
          <a:xfrm>
            <a:off x="137659" y="1013691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8" name="Google Shape;1478;p79"/>
          <p:cNvSpPr txBox="1"/>
          <p:nvPr/>
        </p:nvSpPr>
        <p:spPr>
          <a:xfrm>
            <a:off x="981675" y="1903875"/>
            <a:ext cx="1425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9" name="Google Shape;1479;p79"/>
          <p:cNvSpPr/>
          <p:nvPr/>
        </p:nvSpPr>
        <p:spPr>
          <a:xfrm rot="-5345203">
            <a:off x="6169814" y="1718549"/>
            <a:ext cx="1750422" cy="1392777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79"/>
          <p:cNvSpPr/>
          <p:nvPr/>
        </p:nvSpPr>
        <p:spPr>
          <a:xfrm rot="-5346771">
            <a:off x="6887004" y="1362853"/>
            <a:ext cx="368144" cy="803204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79"/>
          <p:cNvSpPr txBox="1"/>
          <p:nvPr/>
        </p:nvSpPr>
        <p:spPr>
          <a:xfrm>
            <a:off x="6099425" y="3274713"/>
            <a:ext cx="1891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82" name="Google Shape;1482;p79"/>
          <p:cNvSpPr txBox="1"/>
          <p:nvPr/>
        </p:nvSpPr>
        <p:spPr>
          <a:xfrm>
            <a:off x="5493559" y="106417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3" name="Google Shape;1483;p79"/>
          <p:cNvSpPr txBox="1"/>
          <p:nvPr/>
        </p:nvSpPr>
        <p:spPr>
          <a:xfrm>
            <a:off x="6337575" y="1954369"/>
            <a:ext cx="1425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84" name="Google Shape;1484;p79"/>
          <p:cNvSpPr txBox="1"/>
          <p:nvPr/>
        </p:nvSpPr>
        <p:spPr>
          <a:xfrm>
            <a:off x="2885350" y="1147225"/>
            <a:ext cx="1425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match! Matrices are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5" name="Google Shape;1485;p79"/>
          <p:cNvCxnSpPr>
            <a:stCxn id="1484" idx="1"/>
            <a:endCxn id="1478" idx="0"/>
          </p:cNvCxnSpPr>
          <p:nvPr/>
        </p:nvCxnSpPr>
        <p:spPr>
          <a:xfrm rot="10800000">
            <a:off x="1694050" y="1903825"/>
            <a:ext cx="1191300" cy="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6" name="Google Shape;1486;p79"/>
          <p:cNvSpPr txBox="1"/>
          <p:nvPr/>
        </p:nvSpPr>
        <p:spPr>
          <a:xfrm>
            <a:off x="4429278" y="1200025"/>
            <a:ext cx="15624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don’t match! Matrices are not conformable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7" name="Google Shape;1487;p79"/>
          <p:cNvCxnSpPr>
            <a:stCxn id="1486" idx="3"/>
            <a:endCxn id="1483" idx="0"/>
          </p:cNvCxnSpPr>
          <p:nvPr/>
        </p:nvCxnSpPr>
        <p:spPr>
          <a:xfrm flipH="1" rot="10800000">
            <a:off x="5991678" y="1954225"/>
            <a:ext cx="10584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8" name="Google Shape;148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383" y="2523231"/>
            <a:ext cx="1339049" cy="116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75" y="881800"/>
            <a:ext cx="2567551" cy="293435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79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 you can multiply any A</a:t>
            </a:r>
            <a:r>
              <a:rPr baseline="-25000" lang="en"/>
              <a:t>m x n</a:t>
            </a:r>
            <a:r>
              <a:rPr lang="en"/>
              <a:t> matrix </a:t>
            </a:r>
            <a:r>
              <a:rPr b="1" lang="en" sz="2200"/>
              <a:t>✕ </a:t>
            </a:r>
            <a:r>
              <a:rPr lang="en"/>
              <a:t>any B </a:t>
            </a:r>
            <a:r>
              <a:rPr baseline="-25000" lang="en"/>
              <a:t>q x p</a:t>
            </a:r>
            <a:r>
              <a:rPr lang="en"/>
              <a:t> matrix: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long as n =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doesn’t matter what the values of the outer dimensions is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80"/>
          <p:cNvSpPr/>
          <p:nvPr/>
        </p:nvSpPr>
        <p:spPr>
          <a:xfrm rot="-5334278">
            <a:off x="5284792" y="1812913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497" name="Google Shape;1497;p80"/>
          <p:cNvSpPr/>
          <p:nvPr/>
        </p:nvSpPr>
        <p:spPr>
          <a:xfrm rot="-5345394">
            <a:off x="1204691" y="1585129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80"/>
          <p:cNvSpPr txBox="1"/>
          <p:nvPr/>
        </p:nvSpPr>
        <p:spPr>
          <a:xfrm>
            <a:off x="311709" y="1248129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✕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= C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solidFill>
                  <a:srgbClr val="257E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9" name="Google Shape;1499;p80"/>
          <p:cNvSpPr txBox="1"/>
          <p:nvPr/>
        </p:nvSpPr>
        <p:spPr>
          <a:xfrm>
            <a:off x="4924209" y="124811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✕</a:t>
            </a:r>
            <a:r>
              <a:rPr b="1" lang="en" sz="2200">
                <a:latin typeface="Open Sans"/>
                <a:ea typeface="Open Sans"/>
                <a:cs typeface="Open Sans"/>
                <a:sym typeface="Open Sans"/>
              </a:rPr>
              <a:t>   B</a:t>
            </a:r>
            <a:r>
              <a:rPr b="1" baseline="-25000" lang="en" sz="2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aseline="-25000" lang="en" sz="2200">
                <a:latin typeface="Open Sans"/>
                <a:ea typeface="Open Sans"/>
                <a:cs typeface="Open Sans"/>
                <a:sym typeface="Open Sans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  = Not defined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0" name="Google Shape;1500;p80"/>
          <p:cNvSpPr/>
          <p:nvPr/>
        </p:nvSpPr>
        <p:spPr>
          <a:xfrm rot="-5344964">
            <a:off x="5853696" y="159938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80"/>
          <p:cNvSpPr txBox="1"/>
          <p:nvPr/>
        </p:nvSpPr>
        <p:spPr>
          <a:xfrm>
            <a:off x="5482925" y="2156100"/>
            <a:ext cx="12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2" name="Google Shape;1502;p80"/>
          <p:cNvSpPr txBox="1"/>
          <p:nvPr/>
        </p:nvSpPr>
        <p:spPr>
          <a:xfrm>
            <a:off x="731175" y="2156113"/>
            <a:ext cx="1324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Inner dimensions  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3" name="Google Shape;1503;p80"/>
          <p:cNvSpPr txBox="1"/>
          <p:nvPr/>
        </p:nvSpPr>
        <p:spPr>
          <a:xfrm>
            <a:off x="5068925" y="3226200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4" name="Google Shape;1504;p80"/>
          <p:cNvSpPr/>
          <p:nvPr/>
        </p:nvSpPr>
        <p:spPr>
          <a:xfrm rot="-5334278">
            <a:off x="663842" y="1812925"/>
            <a:ext cx="1459467" cy="1392720"/>
          </a:xfrm>
          <a:prstGeom prst="leftBrace">
            <a:avLst>
              <a:gd fmla="val 8333" name="adj1"/>
              <a:gd fmla="val 5142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80"/>
          <p:cNvSpPr txBox="1"/>
          <p:nvPr/>
        </p:nvSpPr>
        <p:spPr>
          <a:xfrm>
            <a:off x="447975" y="3226213"/>
            <a:ext cx="1891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Outer dimensions</a:t>
            </a:r>
            <a:endParaRPr b="1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.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6" name="Google Shape;1506;p80"/>
          <p:cNvSpPr txBox="1"/>
          <p:nvPr>
            <p:ph idx="1" type="body"/>
          </p:nvPr>
        </p:nvSpPr>
        <p:spPr>
          <a:xfrm>
            <a:off x="311700" y="3581675"/>
            <a:ext cx="85206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outer dimensions determine the dimensions of the resulting matrix such that </a:t>
            </a:r>
            <a:r>
              <a:rPr b="1" lang="en"/>
              <a:t>A</a:t>
            </a:r>
            <a:r>
              <a:rPr b="1" baseline="-25000" lang="en"/>
              <a:t>m x n</a:t>
            </a:r>
            <a:r>
              <a:rPr b="1" lang="en"/>
              <a:t> ✕  B </a:t>
            </a:r>
            <a:r>
              <a:rPr b="1" baseline="-25000" lang="en"/>
              <a:t>q x p</a:t>
            </a:r>
            <a:r>
              <a:rPr b="1" lang="en"/>
              <a:t> = C </a:t>
            </a:r>
            <a:r>
              <a:rPr b="1" baseline="-25000" lang="en"/>
              <a:t>m x p</a:t>
            </a:r>
            <a:endParaRPr b="1" baseline="-25000"/>
          </a:p>
        </p:txBody>
      </p:sp>
      <p:sp>
        <p:nvSpPr>
          <p:cNvPr id="1507" name="Google Shape;1507;p80"/>
          <p:cNvSpPr txBox="1"/>
          <p:nvPr/>
        </p:nvSpPr>
        <p:spPr>
          <a:xfrm>
            <a:off x="2286600" y="2393400"/>
            <a:ext cx="22026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Product matrix C is 3 X 4 same as the outer dimensions</a:t>
            </a:r>
            <a:endParaRPr b="1"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08" name="Google Shape;1508;p80"/>
          <p:cNvCxnSpPr>
            <a:stCxn id="1507" idx="0"/>
          </p:cNvCxnSpPr>
          <p:nvPr/>
        </p:nvCxnSpPr>
        <p:spPr>
          <a:xfrm rot="10800000">
            <a:off x="3019500" y="1770300"/>
            <a:ext cx="368400" cy="6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81"/>
          <p:cNvSpPr/>
          <p:nvPr/>
        </p:nvSpPr>
        <p:spPr>
          <a:xfrm rot="-5344590">
            <a:off x="5603011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81"/>
          <p:cNvSpPr/>
          <p:nvPr/>
        </p:nvSpPr>
        <p:spPr>
          <a:xfrm rot="-5344590">
            <a:off x="1138486" y="332715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rgbClr val="25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81"/>
          <p:cNvSpPr txBox="1"/>
          <p:nvPr/>
        </p:nvSpPr>
        <p:spPr>
          <a:xfrm>
            <a:off x="813184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30000" lang="en" sz="22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16" name="Google Shape;1516;p81"/>
          <p:cNvSpPr txBox="1"/>
          <p:nvPr/>
        </p:nvSpPr>
        <p:spPr>
          <a:xfrm>
            <a:off x="1258213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Inner dims. match!</a:t>
            </a:r>
            <a:endParaRPr b="1" sz="1200">
              <a:solidFill>
                <a:srgbClr val="FF0000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17" name="Google Shape;1517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518" name="Google Shape;1518;p81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Turns out that the product of any matrix (</a:t>
            </a:r>
            <a:r>
              <a:rPr b="1" lang="en"/>
              <a:t>A</a:t>
            </a:r>
            <a:r>
              <a:rPr lang="en"/>
              <a:t>) times its transpose (</a:t>
            </a:r>
            <a:r>
              <a:rPr b="1" lang="en"/>
              <a:t>A</a:t>
            </a:r>
            <a:r>
              <a:rPr b="1" baseline="30000" lang="en"/>
              <a:t>T</a:t>
            </a:r>
            <a:r>
              <a:rPr lang="en"/>
              <a:t>)</a:t>
            </a:r>
            <a:r>
              <a:rPr baseline="30000" lang="en"/>
              <a:t> </a:t>
            </a:r>
            <a:r>
              <a:rPr lang="en"/>
              <a:t>is always defined!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 is the product of the transpose (</a:t>
            </a:r>
            <a:r>
              <a:rPr b="1" lang="en"/>
              <a:t>A</a:t>
            </a:r>
            <a:r>
              <a:rPr b="1" baseline="30000" lang="en"/>
              <a:t>T</a:t>
            </a:r>
            <a:r>
              <a:rPr lang="en"/>
              <a:t>) times the original matrix (</a:t>
            </a:r>
            <a:r>
              <a:rPr b="1" lang="en"/>
              <a:t>A</a:t>
            </a:r>
            <a:r>
              <a:rPr lang="en"/>
              <a:t>)!</a:t>
            </a:r>
            <a:endParaRPr/>
          </a:p>
        </p:txBody>
      </p:sp>
      <p:sp>
        <p:nvSpPr>
          <p:cNvPr id="1519" name="Google Shape;1519;p81"/>
          <p:cNvSpPr/>
          <p:nvPr/>
        </p:nvSpPr>
        <p:spPr>
          <a:xfrm rot="-5345394">
            <a:off x="1706166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81"/>
          <p:cNvSpPr txBox="1"/>
          <p:nvPr/>
        </p:nvSpPr>
        <p:spPr>
          <a:xfrm>
            <a:off x="1359540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761D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38761D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521" name="Google Shape;1521;p81"/>
          <p:cNvCxnSpPr>
            <a:stCxn id="1520" idx="3"/>
          </p:cNvCxnSpPr>
          <p:nvPr/>
        </p:nvCxnSpPr>
        <p:spPr>
          <a:xfrm flipH="1" rot="10800000">
            <a:off x="2486940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2" name="Google Shape;1522;p81"/>
          <p:cNvSpPr/>
          <p:nvPr/>
        </p:nvSpPr>
        <p:spPr>
          <a:xfrm rot="-5345394">
            <a:off x="6170691" y="302259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23" name="Google Shape;1523;p81"/>
          <p:cNvSpPr txBox="1"/>
          <p:nvPr/>
        </p:nvSpPr>
        <p:spPr>
          <a:xfrm>
            <a:off x="5722738" y="352746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Inner dims. match!</a:t>
            </a:r>
            <a:endParaRPr b="1" sz="1200">
              <a:solidFill>
                <a:srgbClr val="FF0000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24" name="Google Shape;1524;p81"/>
          <p:cNvSpPr txBox="1"/>
          <p:nvPr/>
        </p:nvSpPr>
        <p:spPr>
          <a:xfrm>
            <a:off x="5824065" y="460680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solidFill>
                <a:srgbClr val="257E12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525" name="Google Shape;1525;p81"/>
          <p:cNvSpPr txBox="1"/>
          <p:nvPr/>
        </p:nvSpPr>
        <p:spPr>
          <a:xfrm>
            <a:off x="5277709" y="272881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22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x   A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 </a:t>
            </a:r>
            <a:r>
              <a:rPr b="1"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257E12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526" name="Google Shape;1526;p81"/>
          <p:cNvCxnSpPr>
            <a:stCxn id="1524" idx="3"/>
          </p:cNvCxnSpPr>
          <p:nvPr/>
        </p:nvCxnSpPr>
        <p:spPr>
          <a:xfrm flipH="1" rot="10800000">
            <a:off x="6951465" y="328110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32" name="Google Shape;1532;p82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3" name="Google Shape;1533;p82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34" name="Google Shape;1534;p82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35" name="Google Shape;1535;p82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6" name="Google Shape;1536;p82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7" name="Google Shape;1537;p82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8" name="Google Shape;1538;p82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9" name="Google Shape;1539;p82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0" name="Google Shape;1540;p82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46" name="Google Shape;1546;p83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7" name="Google Shape;1547;p83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48" name="Google Shape;1548;p83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49" name="Google Shape;1549;p83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0" name="Google Shape;1550;p83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1" name="Google Shape;1551;p83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2" name="Google Shape;1552;p83"/>
          <p:cNvSpPr txBox="1"/>
          <p:nvPr/>
        </p:nvSpPr>
        <p:spPr>
          <a:xfrm>
            <a:off x="6635675" y="3309825"/>
            <a:ext cx="23034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(1 * 0) + (0 * 1) + (1 * 0) + (0 * 1) + (1 * 0)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3" name="Google Shape;1553;p83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4" name="Google Shape;1554;p83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5" name="Google Shape;1555;p83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61" name="Google Shape;1561;p84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2" name="Google Shape;1562;p84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63" name="Google Shape;1563;p84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64" name="Google Shape;1564;p84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5" name="Google Shape;1565;p84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6" name="Google Shape;1566;p84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7" name="Google Shape;1567;p84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(0 * 1) + (1 * 0) + (0 * 1) + (1 * 0) + (0 * 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8" name="Google Shape;1568;p84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9" name="Google Shape;1569;p84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0" name="Google Shape;1570;p84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76" name="Google Shape;1576;p85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7" name="Google Shape;1577;p85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78" name="Google Shape;1578;p85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79" name="Google Shape;1579;p85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0" name="Google Shape;1580;p85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1" name="Google Shape;1581;p85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2" name="Google Shape;1582;p85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(1 * 0)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3" name="Google Shape;1583;p85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4" name="Google Shape;1584;p85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5" name="Google Shape;1585;p85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591" name="Google Shape;1591;p86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2" name="Google Shape;1592;p86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93" name="Google Shape;1593;p86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94" name="Google Shape;1594;p86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5" name="Google Shape;1595;p86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6" name="Google Shape;1596;p86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7" name="Google Shape;1597;p86"/>
          <p:cNvSpPr txBox="1"/>
          <p:nvPr/>
        </p:nvSpPr>
        <p:spPr>
          <a:xfrm>
            <a:off x="6635675" y="3309825"/>
            <a:ext cx="2329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+ (0 * 0)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* 1)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8" name="Google Shape;1598;p86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9" name="Google Shape;1599;p86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0" name="Google Shape;1600;p86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graphicFrame>
        <p:nvGraphicFramePr>
          <p:cNvPr id="1606" name="Google Shape;1606;p87"/>
          <p:cNvGraphicFramePr/>
          <p:nvPr/>
        </p:nvGraphicFramePr>
        <p:xfrm>
          <a:off x="1005200" y="11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07" name="Google Shape;1607;p87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08" name="Google Shape;1608;p87"/>
          <p:cNvGraphicFramePr/>
          <p:nvPr/>
        </p:nvGraphicFramePr>
        <p:xfrm>
          <a:off x="4804063" y="10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9" name="Google Shape;1609;p87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10" name="Google Shape;1610;p87"/>
          <p:cNvSpPr txBox="1"/>
          <p:nvPr/>
        </p:nvSpPr>
        <p:spPr>
          <a:xfrm>
            <a:off x="3865000" y="1857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1" name="Google Shape;1611;p87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2" name="Google Shape;1612;p87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3" name="Google Shape;1613;p87"/>
          <p:cNvSpPr txBox="1"/>
          <p:nvPr/>
        </p:nvSpPr>
        <p:spPr>
          <a:xfrm>
            <a:off x="7959225" y="16614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4" name="Google Shape;1614;p87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Co-membership matrix</a:t>
            </a:r>
            <a:endParaRPr/>
          </a:p>
        </p:txBody>
      </p:sp>
      <p:sp>
        <p:nvSpPr>
          <p:cNvPr id="1620" name="Google Shape;1620;p88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1" name="Google Shape;1621;p88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2" name="Google Shape;1622;p88"/>
          <p:cNvSpPr txBox="1"/>
          <p:nvPr>
            <p:ph idx="1" type="body"/>
          </p:nvPr>
        </p:nvSpPr>
        <p:spPr>
          <a:xfrm>
            <a:off x="311700" y="1225225"/>
            <a:ext cx="8520600" cy="187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X A</a:t>
            </a:r>
            <a:r>
              <a:rPr baseline="30000" lang="en"/>
              <a:t>T </a:t>
            </a:r>
            <a:r>
              <a:rPr lang="en"/>
              <a:t>returns the </a:t>
            </a:r>
            <a:r>
              <a:rPr b="1" lang="en"/>
              <a:t>co-membership matrix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3D85C6"/>
                </a:solidFill>
              </a:rPr>
              <a:t>off-diagonal</a:t>
            </a:r>
            <a:r>
              <a:rPr b="1" lang="en"/>
              <a:t> </a:t>
            </a:r>
            <a:r>
              <a:rPr lang="en"/>
              <a:t>cell (C</a:t>
            </a:r>
            <a:r>
              <a:rPr baseline="-25000" lang="en"/>
              <a:t>ij</a:t>
            </a:r>
            <a:r>
              <a:rPr lang="en"/>
              <a:t>) tell us </a:t>
            </a:r>
            <a:r>
              <a:rPr i="1" lang="en"/>
              <a:t>the number of affiliations that person i has in common with person j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E06666"/>
                </a:solidFill>
              </a:rPr>
              <a:t>diagonal</a:t>
            </a:r>
            <a:r>
              <a:rPr b="1" lang="en"/>
              <a:t> </a:t>
            </a:r>
            <a:r>
              <a:rPr lang="en"/>
              <a:t>cell (C</a:t>
            </a:r>
            <a:r>
              <a:rPr baseline="-25000" lang="en"/>
              <a:t>ii</a:t>
            </a:r>
            <a:r>
              <a:rPr lang="en"/>
              <a:t>) tells us the </a:t>
            </a:r>
            <a:r>
              <a:rPr i="1" lang="en"/>
              <a:t>number of total memberships person i has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represents a </a:t>
            </a:r>
            <a:r>
              <a:rPr b="1" lang="en"/>
              <a:t>weighted one-mode</a:t>
            </a:r>
            <a:r>
              <a:rPr lang="en"/>
              <a:t>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Strength of tie between i and j = number of common memberships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“similarity” relation (thus </a:t>
            </a:r>
            <a:r>
              <a:rPr b="1" lang="en"/>
              <a:t>symmetric</a:t>
            </a:r>
            <a:r>
              <a:rPr lang="en"/>
              <a:t>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23" name="Google Shape;1623;p88"/>
          <p:cNvGraphicFramePr/>
          <p:nvPr/>
        </p:nvGraphicFramePr>
        <p:xfrm>
          <a:off x="2643675" y="318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22350"/>
                <a:gridCol w="526650"/>
                <a:gridCol w="526650"/>
                <a:gridCol w="526650"/>
                <a:gridCol w="526650"/>
                <a:gridCol w="526650"/>
                <a:gridCol w="5266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10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Gabriela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Parker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Brandon</a:t>
                      </a:r>
                      <a:endParaRPr b="1" sz="9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Marie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Rahul</a:t>
                      </a:r>
                      <a:endParaRPr b="1" sz="9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Minjoo</a:t>
                      </a:r>
                      <a:endParaRPr b="1" sz="9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Group Overlap matrix</a:t>
            </a:r>
            <a:endParaRPr/>
          </a:p>
        </p:txBody>
      </p:sp>
      <p:graphicFrame>
        <p:nvGraphicFramePr>
          <p:cNvPr id="1629" name="Google Shape;1629;p89"/>
          <p:cNvGraphicFramePr/>
          <p:nvPr/>
        </p:nvGraphicFramePr>
        <p:xfrm>
          <a:off x="4745975" y="13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33500"/>
                <a:gridCol w="437050"/>
                <a:gridCol w="437050"/>
                <a:gridCol w="437050"/>
                <a:gridCol w="437050"/>
                <a:gridCol w="4370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30" name="Google Shape;1630;p89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31" name="Google Shape;1631;p89"/>
          <p:cNvGraphicFramePr/>
          <p:nvPr/>
        </p:nvGraphicFramePr>
        <p:xfrm>
          <a:off x="925188" y="122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458925"/>
                <a:gridCol w="424075"/>
                <a:gridCol w="424075"/>
                <a:gridCol w="424075"/>
                <a:gridCol w="424075"/>
                <a:gridCol w="424075"/>
                <a:gridCol w="424075"/>
              </a:tblGrid>
              <a:tr h="35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sz="800"/>
                    </a:p>
                  </a:txBody>
                  <a:tcPr marT="0" marB="0" marR="0" marL="0" anchor="ctr"/>
                </a:tc>
              </a:tr>
              <a:tr h="32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  <a:tr h="28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32" name="Google Shape;1632;p89"/>
          <p:cNvSpPr txBox="1"/>
          <p:nvPr/>
        </p:nvSpPr>
        <p:spPr>
          <a:xfrm>
            <a:off x="4015200" y="1999075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✕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3" name="Google Shape;1633;p89"/>
          <p:cNvSpPr txBox="1"/>
          <p:nvPr/>
        </p:nvSpPr>
        <p:spPr>
          <a:xfrm>
            <a:off x="1875750" y="3786763"/>
            <a:ext cx="556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sz="3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4" name="Google Shape;1634;p89"/>
          <p:cNvSpPr txBox="1"/>
          <p:nvPr/>
        </p:nvSpPr>
        <p:spPr>
          <a:xfrm>
            <a:off x="97275" y="17691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30000" lang="en" sz="3000"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5" name="Google Shape;1635;p89"/>
          <p:cNvSpPr txBox="1"/>
          <p:nvPr/>
        </p:nvSpPr>
        <p:spPr>
          <a:xfrm>
            <a:off x="7400400" y="1823275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6" name="Google Shape;1636;p89"/>
          <p:cNvSpPr txBox="1"/>
          <p:nvPr/>
        </p:nvSpPr>
        <p:spPr>
          <a:xfrm>
            <a:off x="6537050" y="4234813"/>
            <a:ext cx="741300" cy="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aseline="30000" sz="30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637" name="Google Shape;1637;p89"/>
          <p:cNvGraphicFramePr/>
          <p:nvPr/>
        </p:nvGraphicFramePr>
        <p:xfrm>
          <a:off x="2354938" y="318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87725"/>
                <a:gridCol w="693400"/>
                <a:gridCol w="693400"/>
                <a:gridCol w="693400"/>
                <a:gridCol w="693400"/>
                <a:gridCol w="693400"/>
              </a:tblGrid>
              <a:tr h="31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Affiliation matrix -&gt; Group Overlap matrix</a:t>
            </a:r>
            <a:endParaRPr/>
          </a:p>
        </p:txBody>
      </p:sp>
      <p:sp>
        <p:nvSpPr>
          <p:cNvPr id="1643" name="Google Shape;1643;p90"/>
          <p:cNvSpPr txBox="1"/>
          <p:nvPr/>
        </p:nvSpPr>
        <p:spPr>
          <a:xfrm>
            <a:off x="838575" y="3517450"/>
            <a:ext cx="278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4" name="Google Shape;1644;p90"/>
          <p:cNvSpPr txBox="1"/>
          <p:nvPr>
            <p:ph idx="1" type="body"/>
          </p:nvPr>
        </p:nvSpPr>
        <p:spPr>
          <a:xfrm>
            <a:off x="311700" y="1225225"/>
            <a:ext cx="8520600" cy="187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baseline="30000" lang="en"/>
              <a:t>T</a:t>
            </a:r>
            <a:r>
              <a:rPr lang="en"/>
              <a:t> X A</a:t>
            </a:r>
            <a:r>
              <a:rPr baseline="30000" lang="en"/>
              <a:t> </a:t>
            </a:r>
            <a:r>
              <a:rPr lang="en"/>
              <a:t>returns the </a:t>
            </a:r>
            <a:r>
              <a:rPr b="1" lang="en"/>
              <a:t>group overlap matrix (G)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3C78D8"/>
                </a:solidFill>
              </a:rPr>
              <a:t>off-diagonal</a:t>
            </a:r>
            <a:r>
              <a:rPr b="1" lang="en"/>
              <a:t> </a:t>
            </a:r>
            <a:r>
              <a:rPr lang="en"/>
              <a:t>cell (G</a:t>
            </a:r>
            <a:r>
              <a:rPr baseline="-25000" lang="en"/>
              <a:t>ij</a:t>
            </a:r>
            <a:r>
              <a:rPr lang="en"/>
              <a:t>) tell us the number of members groups i and j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</a:t>
            </a:r>
            <a:r>
              <a:rPr b="1" lang="en">
                <a:solidFill>
                  <a:srgbClr val="E06666"/>
                </a:solidFill>
              </a:rPr>
              <a:t>diagonal</a:t>
            </a:r>
            <a:r>
              <a:rPr b="1" lang="en"/>
              <a:t> </a:t>
            </a:r>
            <a:r>
              <a:rPr lang="en"/>
              <a:t>cell (G</a:t>
            </a:r>
            <a:r>
              <a:rPr baseline="-25000" lang="en"/>
              <a:t>ii</a:t>
            </a:r>
            <a:r>
              <a:rPr lang="en"/>
              <a:t>) tells us the number of total members in group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represents a </a:t>
            </a:r>
            <a:r>
              <a:rPr b="1" lang="en"/>
              <a:t>weighted one-mode</a:t>
            </a:r>
            <a:r>
              <a:rPr lang="en"/>
              <a:t>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groups are more strongly connected if they have lots of members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“similarity” relation (thus </a:t>
            </a:r>
            <a:r>
              <a:rPr b="1" lang="en"/>
              <a:t>symmetric</a:t>
            </a:r>
            <a:r>
              <a:rPr lang="en"/>
              <a:t>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45" name="Google Shape;1645;p90"/>
          <p:cNvGraphicFramePr/>
          <p:nvPr/>
        </p:nvGraphicFramePr>
        <p:xfrm>
          <a:off x="2354938" y="318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87725"/>
                <a:gridCol w="693400"/>
                <a:gridCol w="693400"/>
                <a:gridCol w="693400"/>
                <a:gridCol w="693400"/>
                <a:gridCol w="693400"/>
              </a:tblGrid>
              <a:tr h="31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8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0" name="Google Shape;1650;p91"/>
          <p:cNvCxnSpPr>
            <a:stCxn id="1651" idx="0"/>
            <a:endCxn id="1652" idx="4"/>
          </p:cNvCxnSpPr>
          <p:nvPr/>
        </p:nvCxnSpPr>
        <p:spPr>
          <a:xfrm rot="10800000">
            <a:off x="6070175" y="2506176"/>
            <a:ext cx="1143000" cy="110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3" name="Google Shape;1653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co-membership matrix back to graph</a:t>
            </a:r>
            <a:endParaRPr/>
          </a:p>
        </p:txBody>
      </p:sp>
      <p:graphicFrame>
        <p:nvGraphicFramePr>
          <p:cNvPr id="1654" name="Google Shape;1654;p91"/>
          <p:cNvGraphicFramePr/>
          <p:nvPr/>
        </p:nvGraphicFramePr>
        <p:xfrm>
          <a:off x="311700" y="187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67575"/>
                <a:gridCol w="572250"/>
                <a:gridCol w="572250"/>
                <a:gridCol w="572250"/>
                <a:gridCol w="572250"/>
                <a:gridCol w="572250"/>
                <a:gridCol w="572250"/>
              </a:tblGrid>
              <a:tr h="19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Gabriela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Parker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Brandon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Marie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Rahul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Gabriela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Parker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Brandon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Marie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Rahul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9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Minjoo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55" name="Google Shape;1655;p91"/>
          <p:cNvSpPr txBox="1"/>
          <p:nvPr/>
        </p:nvSpPr>
        <p:spPr>
          <a:xfrm>
            <a:off x="364788" y="334345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Co-Membership Matrix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6" name="Google Shape;1656;p91"/>
          <p:cNvSpPr/>
          <p:nvPr/>
        </p:nvSpPr>
        <p:spPr>
          <a:xfrm>
            <a:off x="4499950" y="2410138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91"/>
          <p:cNvSpPr/>
          <p:nvPr/>
        </p:nvSpPr>
        <p:spPr>
          <a:xfrm>
            <a:off x="5554788" y="2188597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Gabriela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7" name="Google Shape;1657;p91"/>
          <p:cNvSpPr/>
          <p:nvPr/>
        </p:nvSpPr>
        <p:spPr>
          <a:xfrm>
            <a:off x="6697775" y="1463900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Parker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8" name="Google Shape;1658;p91"/>
          <p:cNvSpPr/>
          <p:nvPr/>
        </p:nvSpPr>
        <p:spPr>
          <a:xfrm>
            <a:off x="5554800" y="2985736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Brandon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1" name="Google Shape;1651;p91"/>
          <p:cNvSpPr/>
          <p:nvPr/>
        </p:nvSpPr>
        <p:spPr>
          <a:xfrm>
            <a:off x="6697775" y="3615276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Marie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59" name="Google Shape;1659;p91"/>
          <p:cNvSpPr/>
          <p:nvPr/>
        </p:nvSpPr>
        <p:spPr>
          <a:xfrm>
            <a:off x="7648500" y="2188575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Rahul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60" name="Google Shape;1660;p91"/>
          <p:cNvSpPr/>
          <p:nvPr/>
        </p:nvSpPr>
        <p:spPr>
          <a:xfrm>
            <a:off x="7648500" y="2985738"/>
            <a:ext cx="1030800" cy="317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Minjoo</a:t>
            </a:r>
            <a:endParaRPr b="1" sz="1200">
              <a:solidFill>
                <a:srgbClr val="FFFFFF"/>
              </a:solidFill>
            </a:endParaRPr>
          </a:p>
        </p:txBody>
      </p:sp>
      <p:cxnSp>
        <p:nvCxnSpPr>
          <p:cNvPr id="1661" name="Google Shape;1661;p91"/>
          <p:cNvCxnSpPr>
            <a:stCxn id="1659" idx="2"/>
            <a:endCxn id="1652" idx="6"/>
          </p:cNvCxnSpPr>
          <p:nvPr/>
        </p:nvCxnSpPr>
        <p:spPr>
          <a:xfrm rot="10800000">
            <a:off x="6585600" y="2347425"/>
            <a:ext cx="1062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91"/>
          <p:cNvCxnSpPr>
            <a:stCxn id="1660" idx="2"/>
            <a:endCxn id="1652" idx="6"/>
          </p:cNvCxnSpPr>
          <p:nvPr/>
        </p:nvCxnSpPr>
        <p:spPr>
          <a:xfrm rot="10800000">
            <a:off x="6585600" y="2347488"/>
            <a:ext cx="1062900" cy="79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91"/>
          <p:cNvCxnSpPr>
            <a:stCxn id="1658" idx="6"/>
            <a:endCxn id="1657" idx="4"/>
          </p:cNvCxnSpPr>
          <p:nvPr/>
        </p:nvCxnSpPr>
        <p:spPr>
          <a:xfrm flipH="1" rot="10800000">
            <a:off x="6585600" y="1781686"/>
            <a:ext cx="627600" cy="136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91"/>
          <p:cNvCxnSpPr>
            <a:stCxn id="1659" idx="0"/>
            <a:endCxn id="1657" idx="4"/>
          </p:cNvCxnSpPr>
          <p:nvPr/>
        </p:nvCxnSpPr>
        <p:spPr>
          <a:xfrm rot="10800000">
            <a:off x="7213200" y="1781475"/>
            <a:ext cx="950700" cy="40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91"/>
          <p:cNvCxnSpPr>
            <a:stCxn id="1660" idx="1"/>
            <a:endCxn id="1657" idx="4"/>
          </p:cNvCxnSpPr>
          <p:nvPr/>
        </p:nvCxnSpPr>
        <p:spPr>
          <a:xfrm rot="10800000">
            <a:off x="7213257" y="1781564"/>
            <a:ext cx="586200" cy="1250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91"/>
          <p:cNvCxnSpPr>
            <a:stCxn id="1658" idx="6"/>
            <a:endCxn id="1659" idx="2"/>
          </p:cNvCxnSpPr>
          <p:nvPr/>
        </p:nvCxnSpPr>
        <p:spPr>
          <a:xfrm flipH="1" rot="10800000">
            <a:off x="6585600" y="2347486"/>
            <a:ext cx="1062900" cy="79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91"/>
          <p:cNvCxnSpPr>
            <a:stCxn id="1658" idx="6"/>
            <a:endCxn id="1660" idx="2"/>
          </p:cNvCxnSpPr>
          <p:nvPr/>
        </p:nvCxnSpPr>
        <p:spPr>
          <a:xfrm>
            <a:off x="6585600" y="3144586"/>
            <a:ext cx="1062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91"/>
          <p:cNvCxnSpPr>
            <a:stCxn id="1660" idx="0"/>
            <a:endCxn id="1659" idx="4"/>
          </p:cNvCxnSpPr>
          <p:nvPr/>
        </p:nvCxnSpPr>
        <p:spPr>
          <a:xfrm rot="10800000">
            <a:off x="8163900" y="2506338"/>
            <a:ext cx="0" cy="479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9" name="Google Shape;1669;p91"/>
          <p:cNvSpPr txBox="1"/>
          <p:nvPr/>
        </p:nvSpPr>
        <p:spPr>
          <a:xfrm>
            <a:off x="5003738" y="424480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One-Mode Person-to-Person Network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0" name="Google Shape;1670;p91"/>
          <p:cNvSpPr txBox="1"/>
          <p:nvPr/>
        </p:nvSpPr>
        <p:spPr>
          <a:xfrm>
            <a:off x="7090325" y="20982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1" name="Google Shape;1671;p91"/>
          <p:cNvSpPr txBox="1"/>
          <p:nvPr/>
        </p:nvSpPr>
        <p:spPr>
          <a:xfrm>
            <a:off x="7648500" y="179870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2" name="Google Shape;1672;p91"/>
          <p:cNvSpPr txBox="1"/>
          <p:nvPr/>
        </p:nvSpPr>
        <p:spPr>
          <a:xfrm>
            <a:off x="6776575" y="194170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3" name="Google Shape;1673;p91"/>
          <p:cNvSpPr txBox="1"/>
          <p:nvPr/>
        </p:nvSpPr>
        <p:spPr>
          <a:xfrm>
            <a:off x="7648488" y="25755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4" name="Google Shape;1674;p91"/>
          <p:cNvSpPr txBox="1"/>
          <p:nvPr/>
        </p:nvSpPr>
        <p:spPr>
          <a:xfrm>
            <a:off x="8163900" y="2623163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5" name="Google Shape;1675;p91"/>
          <p:cNvSpPr txBox="1"/>
          <p:nvPr/>
        </p:nvSpPr>
        <p:spPr>
          <a:xfrm>
            <a:off x="7090325" y="3118350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6" name="Google Shape;1676;p91"/>
          <p:cNvSpPr txBox="1"/>
          <p:nvPr/>
        </p:nvSpPr>
        <p:spPr>
          <a:xfrm>
            <a:off x="6452075" y="2702588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7" name="Google Shape;1677;p91"/>
          <p:cNvSpPr txBox="1"/>
          <p:nvPr/>
        </p:nvSpPr>
        <p:spPr>
          <a:xfrm>
            <a:off x="7213175" y="26214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2" name="Google Shape;1682;p92"/>
          <p:cNvGraphicFramePr/>
          <p:nvPr/>
        </p:nvGraphicFramePr>
        <p:xfrm>
          <a:off x="311688" y="1825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62300"/>
                <a:gridCol w="667750"/>
                <a:gridCol w="667750"/>
                <a:gridCol w="667750"/>
                <a:gridCol w="667750"/>
                <a:gridCol w="66775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Super Smash Bros.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Cheese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Nerd-</a:t>
                      </a:r>
                      <a:endParaRPr b="1" sz="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Fighters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Magic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Fashion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Super Smash 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Bros.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Cheese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Nerd-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Fighters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Magic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Fashion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--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83" name="Google Shape;1683;p92"/>
          <p:cNvSpPr txBox="1"/>
          <p:nvPr/>
        </p:nvSpPr>
        <p:spPr>
          <a:xfrm>
            <a:off x="364763" y="3468575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Group-Overlap Matrix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4" name="Google Shape;1684;p92"/>
          <p:cNvSpPr/>
          <p:nvPr/>
        </p:nvSpPr>
        <p:spPr>
          <a:xfrm>
            <a:off x="4628150" y="2398963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group overlap matrix back to graph</a:t>
            </a:r>
            <a:endParaRPr/>
          </a:p>
        </p:txBody>
      </p:sp>
      <p:sp>
        <p:nvSpPr>
          <p:cNvPr id="1686" name="Google Shape;1686;p92"/>
          <p:cNvSpPr/>
          <p:nvPr/>
        </p:nvSpPr>
        <p:spPr>
          <a:xfrm>
            <a:off x="6646025" y="1473376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Super Smash Bros.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87" name="Google Shape;1687;p92"/>
          <p:cNvSpPr/>
          <p:nvPr/>
        </p:nvSpPr>
        <p:spPr>
          <a:xfrm>
            <a:off x="5644163" y="2505926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Nerdfighters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88" name="Google Shape;1688;p92"/>
          <p:cNvSpPr/>
          <p:nvPr/>
        </p:nvSpPr>
        <p:spPr>
          <a:xfrm>
            <a:off x="7557550" y="3468551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Magic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89" name="Google Shape;1689;p92"/>
          <p:cNvSpPr/>
          <p:nvPr/>
        </p:nvSpPr>
        <p:spPr>
          <a:xfrm>
            <a:off x="7557575" y="2505763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Fashion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690" name="Google Shape;1690;p92"/>
          <p:cNvCxnSpPr>
            <a:stCxn id="1687" idx="0"/>
            <a:endCxn id="1686" idx="2"/>
          </p:cNvCxnSpPr>
          <p:nvPr/>
        </p:nvCxnSpPr>
        <p:spPr>
          <a:xfrm flipH="1" rot="10800000">
            <a:off x="6237113" y="1905926"/>
            <a:ext cx="1002000" cy="600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1" name="Google Shape;1691;p92"/>
          <p:cNvCxnSpPr>
            <a:stCxn id="1686" idx="2"/>
            <a:endCxn id="1689" idx="0"/>
          </p:cNvCxnSpPr>
          <p:nvPr/>
        </p:nvCxnSpPr>
        <p:spPr>
          <a:xfrm>
            <a:off x="7238975" y="1905976"/>
            <a:ext cx="911700" cy="59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2" name="Google Shape;1692;p92"/>
          <p:cNvSpPr/>
          <p:nvPr/>
        </p:nvSpPr>
        <p:spPr>
          <a:xfrm>
            <a:off x="5644175" y="3468565"/>
            <a:ext cx="1185900" cy="4326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Cheese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693" name="Google Shape;1693;p92"/>
          <p:cNvCxnSpPr>
            <a:stCxn id="1688" idx="1"/>
            <a:endCxn id="1692" idx="3"/>
          </p:cNvCxnSpPr>
          <p:nvPr/>
        </p:nvCxnSpPr>
        <p:spPr>
          <a:xfrm rot="10800000">
            <a:off x="6830050" y="3684851"/>
            <a:ext cx="7275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92"/>
          <p:cNvCxnSpPr>
            <a:stCxn id="1692" idx="3"/>
            <a:endCxn id="1689" idx="1"/>
          </p:cNvCxnSpPr>
          <p:nvPr/>
        </p:nvCxnSpPr>
        <p:spPr>
          <a:xfrm flipH="1" rot="10800000">
            <a:off x="6830075" y="2722165"/>
            <a:ext cx="727500" cy="962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92"/>
          <p:cNvCxnSpPr>
            <a:stCxn id="1687" idx="3"/>
            <a:endCxn id="1689" idx="1"/>
          </p:cNvCxnSpPr>
          <p:nvPr/>
        </p:nvCxnSpPr>
        <p:spPr>
          <a:xfrm flipH="1" rot="10800000">
            <a:off x="6830063" y="2721926"/>
            <a:ext cx="7275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92"/>
          <p:cNvCxnSpPr>
            <a:stCxn id="1688" idx="0"/>
            <a:endCxn id="1689" idx="2"/>
          </p:cNvCxnSpPr>
          <p:nvPr/>
        </p:nvCxnSpPr>
        <p:spPr>
          <a:xfrm rot="10800000">
            <a:off x="8150500" y="2938451"/>
            <a:ext cx="0" cy="53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92"/>
          <p:cNvSpPr txBox="1"/>
          <p:nvPr/>
        </p:nvSpPr>
        <p:spPr>
          <a:xfrm>
            <a:off x="7752825" y="19910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8" name="Google Shape;1698;p92"/>
          <p:cNvSpPr txBox="1"/>
          <p:nvPr/>
        </p:nvSpPr>
        <p:spPr>
          <a:xfrm>
            <a:off x="8150500" y="30806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9" name="Google Shape;1699;p92"/>
          <p:cNvSpPr txBox="1"/>
          <p:nvPr/>
        </p:nvSpPr>
        <p:spPr>
          <a:xfrm>
            <a:off x="7070963" y="244552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0" name="Google Shape;1700;p92"/>
          <p:cNvSpPr txBox="1"/>
          <p:nvPr/>
        </p:nvSpPr>
        <p:spPr>
          <a:xfrm>
            <a:off x="6400325" y="1991075"/>
            <a:ext cx="2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1" name="Google Shape;1701;p92"/>
          <p:cNvSpPr txBox="1"/>
          <p:nvPr/>
        </p:nvSpPr>
        <p:spPr>
          <a:xfrm>
            <a:off x="6892525" y="2951688"/>
            <a:ext cx="245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2" name="Google Shape;1702;p92"/>
          <p:cNvSpPr txBox="1"/>
          <p:nvPr/>
        </p:nvSpPr>
        <p:spPr>
          <a:xfrm>
            <a:off x="7070963" y="3397450"/>
            <a:ext cx="245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3" name="Google Shape;1703;p92"/>
          <p:cNvSpPr txBox="1"/>
          <p:nvPr/>
        </p:nvSpPr>
        <p:spPr>
          <a:xfrm>
            <a:off x="5003738" y="4244800"/>
            <a:ext cx="3894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One-Mode Group-to-Group Network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duality between persons and groups</a:t>
            </a:r>
            <a:endParaRPr/>
          </a:p>
        </p:txBody>
      </p:sp>
      <p:cxnSp>
        <p:nvCxnSpPr>
          <p:cNvPr id="1709" name="Google Shape;1709;p93"/>
          <p:cNvCxnSpPr>
            <a:stCxn id="1710" idx="0"/>
            <a:endCxn id="1711" idx="4"/>
          </p:cNvCxnSpPr>
          <p:nvPr/>
        </p:nvCxnSpPr>
        <p:spPr>
          <a:xfrm rot="10800000">
            <a:off x="557477" y="3491136"/>
            <a:ext cx="912900" cy="88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1" name="Google Shape;1711;p93"/>
          <p:cNvSpPr/>
          <p:nvPr/>
        </p:nvSpPr>
        <p:spPr>
          <a:xfrm>
            <a:off x="145991" y="3237605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Gabriela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2" name="Google Shape;1712;p93"/>
          <p:cNvSpPr/>
          <p:nvPr/>
        </p:nvSpPr>
        <p:spPr>
          <a:xfrm>
            <a:off x="1058777" y="265927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Parker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3" name="Google Shape;1713;p93"/>
          <p:cNvSpPr/>
          <p:nvPr/>
        </p:nvSpPr>
        <p:spPr>
          <a:xfrm>
            <a:off x="146001" y="387374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Brandon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0" name="Google Shape;1710;p93"/>
          <p:cNvSpPr/>
          <p:nvPr/>
        </p:nvSpPr>
        <p:spPr>
          <a:xfrm>
            <a:off x="1058777" y="4376136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Marie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4" name="Google Shape;1714;p93"/>
          <p:cNvSpPr/>
          <p:nvPr/>
        </p:nvSpPr>
        <p:spPr>
          <a:xfrm>
            <a:off x="1818022" y="3237588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Rahul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15" name="Google Shape;1715;p93"/>
          <p:cNvSpPr/>
          <p:nvPr/>
        </p:nvSpPr>
        <p:spPr>
          <a:xfrm>
            <a:off x="1818022" y="3873747"/>
            <a:ext cx="823200" cy="25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Minjoo</a:t>
            </a:r>
            <a:endParaRPr b="1" sz="800">
              <a:solidFill>
                <a:srgbClr val="FFFFFF"/>
              </a:solidFill>
            </a:endParaRPr>
          </a:p>
        </p:txBody>
      </p:sp>
      <p:cxnSp>
        <p:nvCxnSpPr>
          <p:cNvPr id="1716" name="Google Shape;1716;p93"/>
          <p:cNvCxnSpPr>
            <a:stCxn id="1714" idx="2"/>
            <a:endCxn id="1711" idx="6"/>
          </p:cNvCxnSpPr>
          <p:nvPr/>
        </p:nvCxnSpPr>
        <p:spPr>
          <a:xfrm rot="10800000">
            <a:off x="969322" y="3364338"/>
            <a:ext cx="84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7" name="Google Shape;1717;p93"/>
          <p:cNvCxnSpPr>
            <a:stCxn id="1715" idx="2"/>
            <a:endCxn id="1711" idx="6"/>
          </p:cNvCxnSpPr>
          <p:nvPr/>
        </p:nvCxnSpPr>
        <p:spPr>
          <a:xfrm rot="10800000">
            <a:off x="969322" y="3364497"/>
            <a:ext cx="848700" cy="63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8" name="Google Shape;1718;p93"/>
          <p:cNvCxnSpPr>
            <a:stCxn id="1713" idx="6"/>
            <a:endCxn id="1712" idx="4"/>
          </p:cNvCxnSpPr>
          <p:nvPr/>
        </p:nvCxnSpPr>
        <p:spPr>
          <a:xfrm flipH="1" rot="10800000">
            <a:off x="969201" y="2912696"/>
            <a:ext cx="501300" cy="10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93"/>
          <p:cNvCxnSpPr>
            <a:stCxn id="1714" idx="0"/>
            <a:endCxn id="1712" idx="4"/>
          </p:cNvCxnSpPr>
          <p:nvPr/>
        </p:nvCxnSpPr>
        <p:spPr>
          <a:xfrm rot="10800000">
            <a:off x="1470322" y="2912688"/>
            <a:ext cx="759300" cy="32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93"/>
          <p:cNvCxnSpPr>
            <a:stCxn id="1715" idx="1"/>
            <a:endCxn id="1712" idx="4"/>
          </p:cNvCxnSpPr>
          <p:nvPr/>
        </p:nvCxnSpPr>
        <p:spPr>
          <a:xfrm rot="10800000">
            <a:off x="1470277" y="2912771"/>
            <a:ext cx="468300" cy="998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93"/>
          <p:cNvCxnSpPr>
            <a:stCxn id="1713" idx="6"/>
            <a:endCxn id="1714" idx="2"/>
          </p:cNvCxnSpPr>
          <p:nvPr/>
        </p:nvCxnSpPr>
        <p:spPr>
          <a:xfrm flipH="1" rot="10800000">
            <a:off x="969201" y="3364196"/>
            <a:ext cx="848700" cy="63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93"/>
          <p:cNvCxnSpPr>
            <a:stCxn id="1713" idx="6"/>
            <a:endCxn id="1715" idx="2"/>
          </p:cNvCxnSpPr>
          <p:nvPr/>
        </p:nvCxnSpPr>
        <p:spPr>
          <a:xfrm>
            <a:off x="969201" y="4000496"/>
            <a:ext cx="848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93"/>
          <p:cNvCxnSpPr>
            <a:stCxn id="1715" idx="0"/>
            <a:endCxn id="1714" idx="4"/>
          </p:cNvCxnSpPr>
          <p:nvPr/>
        </p:nvCxnSpPr>
        <p:spPr>
          <a:xfrm rot="10800000">
            <a:off x="2229622" y="3490947"/>
            <a:ext cx="0" cy="382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4" name="Google Shape;1724;p93"/>
          <p:cNvSpPr txBox="1"/>
          <p:nvPr/>
        </p:nvSpPr>
        <p:spPr>
          <a:xfrm>
            <a:off x="113650" y="4781325"/>
            <a:ext cx="26703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One-Mode Person-to-Person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5" name="Google Shape;1725;p93"/>
          <p:cNvSpPr txBox="1"/>
          <p:nvPr/>
        </p:nvSpPr>
        <p:spPr>
          <a:xfrm>
            <a:off x="1372266" y="316552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6" name="Google Shape;1726;p93"/>
          <p:cNvSpPr txBox="1"/>
          <p:nvPr/>
        </p:nvSpPr>
        <p:spPr>
          <a:xfrm>
            <a:off x="1818022" y="292645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7" name="Google Shape;1727;p93"/>
          <p:cNvSpPr txBox="1"/>
          <p:nvPr/>
        </p:nvSpPr>
        <p:spPr>
          <a:xfrm>
            <a:off x="1121706" y="3040574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8" name="Google Shape;1728;p93"/>
          <p:cNvSpPr txBox="1"/>
          <p:nvPr/>
        </p:nvSpPr>
        <p:spPr>
          <a:xfrm>
            <a:off x="1818012" y="354642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9" name="Google Shape;1729;p93"/>
          <p:cNvSpPr txBox="1"/>
          <p:nvPr/>
        </p:nvSpPr>
        <p:spPr>
          <a:xfrm>
            <a:off x="1372266" y="397957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0" name="Google Shape;1730;p93"/>
          <p:cNvSpPr txBox="1"/>
          <p:nvPr/>
        </p:nvSpPr>
        <p:spPr>
          <a:xfrm>
            <a:off x="862562" y="364778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1" name="Google Shape;1731;p93"/>
          <p:cNvSpPr txBox="1"/>
          <p:nvPr/>
        </p:nvSpPr>
        <p:spPr>
          <a:xfrm>
            <a:off x="1470373" y="3583015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2" name="Google Shape;1732;p93"/>
          <p:cNvSpPr/>
          <p:nvPr/>
        </p:nvSpPr>
        <p:spPr>
          <a:xfrm>
            <a:off x="7420610" y="2603964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Super Smash Bros. 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33" name="Google Shape;1733;p93"/>
          <p:cNvSpPr/>
          <p:nvPr/>
        </p:nvSpPr>
        <p:spPr>
          <a:xfrm>
            <a:off x="6620527" y="3427970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Nerdfighters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34" name="Google Shape;1734;p93"/>
          <p:cNvSpPr/>
          <p:nvPr/>
        </p:nvSpPr>
        <p:spPr>
          <a:xfrm>
            <a:off x="8148551" y="4196172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Magic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35" name="Google Shape;1735;p93"/>
          <p:cNvSpPr/>
          <p:nvPr/>
        </p:nvSpPr>
        <p:spPr>
          <a:xfrm>
            <a:off x="8148571" y="3427839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Fashion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1736" name="Google Shape;1736;p93"/>
          <p:cNvCxnSpPr>
            <a:stCxn id="1733" idx="0"/>
            <a:endCxn id="1732" idx="2"/>
          </p:cNvCxnSpPr>
          <p:nvPr/>
        </p:nvCxnSpPr>
        <p:spPr>
          <a:xfrm flipH="1" rot="10800000">
            <a:off x="7094077" y="2949170"/>
            <a:ext cx="800100" cy="478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93"/>
          <p:cNvCxnSpPr>
            <a:stCxn id="1732" idx="2"/>
            <a:endCxn id="1735" idx="0"/>
          </p:cNvCxnSpPr>
          <p:nvPr/>
        </p:nvCxnSpPr>
        <p:spPr>
          <a:xfrm>
            <a:off x="7894160" y="2949264"/>
            <a:ext cx="728100" cy="47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8" name="Google Shape;1738;p93"/>
          <p:cNvSpPr/>
          <p:nvPr/>
        </p:nvSpPr>
        <p:spPr>
          <a:xfrm>
            <a:off x="6620537" y="4196183"/>
            <a:ext cx="947100" cy="345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Cheese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1739" name="Google Shape;1739;p93"/>
          <p:cNvCxnSpPr>
            <a:stCxn id="1734" idx="1"/>
            <a:endCxn id="1738" idx="3"/>
          </p:cNvCxnSpPr>
          <p:nvPr/>
        </p:nvCxnSpPr>
        <p:spPr>
          <a:xfrm rot="10800000">
            <a:off x="7567751" y="4368822"/>
            <a:ext cx="5808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0" name="Google Shape;1740;p93"/>
          <p:cNvCxnSpPr>
            <a:stCxn id="1738" idx="3"/>
            <a:endCxn id="1735" idx="1"/>
          </p:cNvCxnSpPr>
          <p:nvPr/>
        </p:nvCxnSpPr>
        <p:spPr>
          <a:xfrm flipH="1" rot="10800000">
            <a:off x="7567637" y="3600533"/>
            <a:ext cx="580800" cy="768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1" name="Google Shape;1741;p93"/>
          <p:cNvCxnSpPr>
            <a:stCxn id="1733" idx="3"/>
            <a:endCxn id="1735" idx="1"/>
          </p:cNvCxnSpPr>
          <p:nvPr/>
        </p:nvCxnSpPr>
        <p:spPr>
          <a:xfrm>
            <a:off x="7567627" y="3600620"/>
            <a:ext cx="580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2" name="Google Shape;1742;p93"/>
          <p:cNvCxnSpPr>
            <a:stCxn id="1734" idx="0"/>
            <a:endCxn id="1735" idx="2"/>
          </p:cNvCxnSpPr>
          <p:nvPr/>
        </p:nvCxnSpPr>
        <p:spPr>
          <a:xfrm rot="10800000">
            <a:off x="8622101" y="3773172"/>
            <a:ext cx="0" cy="423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3" name="Google Shape;1743;p93"/>
          <p:cNvSpPr txBox="1"/>
          <p:nvPr/>
        </p:nvSpPr>
        <p:spPr>
          <a:xfrm>
            <a:off x="8304497" y="3017103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4" name="Google Shape;1744;p93"/>
          <p:cNvSpPr txBox="1"/>
          <p:nvPr/>
        </p:nvSpPr>
        <p:spPr>
          <a:xfrm>
            <a:off x="8622079" y="3886596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5" name="Google Shape;1745;p93"/>
          <p:cNvSpPr txBox="1"/>
          <p:nvPr/>
        </p:nvSpPr>
        <p:spPr>
          <a:xfrm>
            <a:off x="7759964" y="3379768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6" name="Google Shape;1746;p93"/>
          <p:cNvSpPr txBox="1"/>
          <p:nvPr/>
        </p:nvSpPr>
        <p:spPr>
          <a:xfrm>
            <a:off x="7224395" y="3017103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7" name="Google Shape;1747;p93"/>
          <p:cNvSpPr txBox="1"/>
          <p:nvPr/>
        </p:nvSpPr>
        <p:spPr>
          <a:xfrm>
            <a:off x="7617464" y="3783700"/>
            <a:ext cx="196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8" name="Google Shape;1748;p93"/>
          <p:cNvSpPr txBox="1"/>
          <p:nvPr/>
        </p:nvSpPr>
        <p:spPr>
          <a:xfrm>
            <a:off x="7759964" y="4139431"/>
            <a:ext cx="196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9" name="Google Shape;1749;p93"/>
          <p:cNvSpPr txBox="1"/>
          <p:nvPr/>
        </p:nvSpPr>
        <p:spPr>
          <a:xfrm>
            <a:off x="6360051" y="4807600"/>
            <a:ext cx="2793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One-Mode Group-to-Group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0" name="Google Shape;1750;p93"/>
          <p:cNvSpPr txBox="1"/>
          <p:nvPr>
            <p:ph idx="1" type="body"/>
          </p:nvPr>
        </p:nvSpPr>
        <p:spPr>
          <a:xfrm>
            <a:off x="311700" y="1225225"/>
            <a:ext cx="8520600" cy="10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Connections between people are given by the groups they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Connections between groups are given by the people that belong to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the duality between persons and groups </a:t>
            </a:r>
            <a:endParaRPr b="1"/>
          </a:p>
        </p:txBody>
      </p:sp>
      <p:sp>
        <p:nvSpPr>
          <p:cNvPr id="1751" name="Google Shape;1751;p93"/>
          <p:cNvSpPr/>
          <p:nvPr/>
        </p:nvSpPr>
        <p:spPr>
          <a:xfrm>
            <a:off x="3421426" y="2391025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Gabriela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2" name="Google Shape;1752;p93"/>
          <p:cNvSpPr/>
          <p:nvPr/>
        </p:nvSpPr>
        <p:spPr>
          <a:xfrm>
            <a:off x="3421426" y="2775960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Parker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3" name="Google Shape;1753;p93"/>
          <p:cNvSpPr/>
          <p:nvPr/>
        </p:nvSpPr>
        <p:spPr>
          <a:xfrm>
            <a:off x="3421426" y="3212668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Brandon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4" name="Google Shape;1754;p93"/>
          <p:cNvSpPr/>
          <p:nvPr/>
        </p:nvSpPr>
        <p:spPr>
          <a:xfrm>
            <a:off x="3421426" y="3633934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Marie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5" name="Google Shape;1755;p93"/>
          <p:cNvSpPr/>
          <p:nvPr/>
        </p:nvSpPr>
        <p:spPr>
          <a:xfrm>
            <a:off x="3421426" y="4034309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Rahul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6" name="Google Shape;1756;p93"/>
          <p:cNvSpPr/>
          <p:nvPr/>
        </p:nvSpPr>
        <p:spPr>
          <a:xfrm>
            <a:off x="3421426" y="4443950"/>
            <a:ext cx="900300" cy="25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Minjoo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757" name="Google Shape;1757;p93"/>
          <p:cNvSpPr/>
          <p:nvPr/>
        </p:nvSpPr>
        <p:spPr>
          <a:xfrm>
            <a:off x="4940163" y="2553334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Super Smash Bros. 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58" name="Google Shape;1758;p93"/>
          <p:cNvSpPr/>
          <p:nvPr/>
        </p:nvSpPr>
        <p:spPr>
          <a:xfrm>
            <a:off x="4940163" y="2975761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Cheese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59" name="Google Shape;1759;p93"/>
          <p:cNvSpPr/>
          <p:nvPr/>
        </p:nvSpPr>
        <p:spPr>
          <a:xfrm>
            <a:off x="4940163" y="3380039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Nerdfighters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60" name="Google Shape;1760;p93"/>
          <p:cNvSpPr/>
          <p:nvPr/>
        </p:nvSpPr>
        <p:spPr>
          <a:xfrm>
            <a:off x="4940163" y="3803098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Magic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61" name="Google Shape;1761;p93"/>
          <p:cNvSpPr/>
          <p:nvPr/>
        </p:nvSpPr>
        <p:spPr>
          <a:xfrm>
            <a:off x="4940163" y="4202249"/>
            <a:ext cx="831900" cy="300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Fashion</a:t>
            </a:r>
            <a:endParaRPr sz="800">
              <a:solidFill>
                <a:srgbClr val="FFFFFF"/>
              </a:solidFill>
            </a:endParaRPr>
          </a:p>
        </p:txBody>
      </p:sp>
      <p:cxnSp>
        <p:nvCxnSpPr>
          <p:cNvPr id="1762" name="Google Shape;1762;p93"/>
          <p:cNvCxnSpPr>
            <a:stCxn id="1756" idx="6"/>
            <a:endCxn id="1761" idx="1"/>
          </p:cNvCxnSpPr>
          <p:nvPr/>
        </p:nvCxnSpPr>
        <p:spPr>
          <a:xfrm flipH="1" rot="10800000">
            <a:off x="4321726" y="4352450"/>
            <a:ext cx="618300" cy="220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93"/>
          <p:cNvCxnSpPr>
            <a:stCxn id="1756" idx="6"/>
            <a:endCxn id="1758" idx="1"/>
          </p:cNvCxnSpPr>
          <p:nvPr/>
        </p:nvCxnSpPr>
        <p:spPr>
          <a:xfrm flipH="1" rot="10800000">
            <a:off x="4321726" y="3126050"/>
            <a:ext cx="618300" cy="1446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93"/>
          <p:cNvCxnSpPr>
            <a:stCxn id="1755" idx="6"/>
            <a:endCxn id="1761" idx="1"/>
          </p:cNvCxnSpPr>
          <p:nvPr/>
        </p:nvCxnSpPr>
        <p:spPr>
          <a:xfrm>
            <a:off x="4321726" y="4163009"/>
            <a:ext cx="618300" cy="189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93"/>
          <p:cNvCxnSpPr>
            <a:stCxn id="1753" idx="6"/>
            <a:endCxn id="1758" idx="1"/>
          </p:cNvCxnSpPr>
          <p:nvPr/>
        </p:nvCxnSpPr>
        <p:spPr>
          <a:xfrm flipH="1" rot="10800000">
            <a:off x="4321726" y="3125968"/>
            <a:ext cx="618300" cy="215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93"/>
          <p:cNvCxnSpPr>
            <a:stCxn id="1756" idx="6"/>
            <a:endCxn id="1760" idx="1"/>
          </p:cNvCxnSpPr>
          <p:nvPr/>
        </p:nvCxnSpPr>
        <p:spPr>
          <a:xfrm flipH="1" rot="10800000">
            <a:off x="4321726" y="3953150"/>
            <a:ext cx="618300" cy="619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7" name="Google Shape;1767;p93"/>
          <p:cNvCxnSpPr>
            <a:stCxn id="1751" idx="6"/>
            <a:endCxn id="1757" idx="1"/>
          </p:cNvCxnSpPr>
          <p:nvPr/>
        </p:nvCxnSpPr>
        <p:spPr>
          <a:xfrm>
            <a:off x="4321726" y="2519725"/>
            <a:ext cx="618300" cy="183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93"/>
          <p:cNvCxnSpPr>
            <a:stCxn id="1751" idx="6"/>
            <a:endCxn id="1759" idx="1"/>
          </p:cNvCxnSpPr>
          <p:nvPr/>
        </p:nvCxnSpPr>
        <p:spPr>
          <a:xfrm>
            <a:off x="4321726" y="2519725"/>
            <a:ext cx="618300" cy="1010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93"/>
          <p:cNvCxnSpPr>
            <a:stCxn id="1752" idx="6"/>
            <a:endCxn id="1758" idx="1"/>
          </p:cNvCxnSpPr>
          <p:nvPr/>
        </p:nvCxnSpPr>
        <p:spPr>
          <a:xfrm>
            <a:off x="4321726" y="2904660"/>
            <a:ext cx="618300" cy="221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93"/>
          <p:cNvCxnSpPr>
            <a:stCxn id="1751" idx="6"/>
            <a:endCxn id="1761" idx="1"/>
          </p:cNvCxnSpPr>
          <p:nvPr/>
        </p:nvCxnSpPr>
        <p:spPr>
          <a:xfrm>
            <a:off x="4321726" y="2519725"/>
            <a:ext cx="618300" cy="183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93"/>
          <p:cNvCxnSpPr>
            <a:stCxn id="1754" idx="6"/>
            <a:endCxn id="1759" idx="1"/>
          </p:cNvCxnSpPr>
          <p:nvPr/>
        </p:nvCxnSpPr>
        <p:spPr>
          <a:xfrm flipH="1" rot="10800000">
            <a:off x="4321726" y="3530134"/>
            <a:ext cx="618300" cy="232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2" name="Google Shape;1772;p93"/>
          <p:cNvCxnSpPr>
            <a:stCxn id="1752" idx="6"/>
            <a:endCxn id="1760" idx="1"/>
          </p:cNvCxnSpPr>
          <p:nvPr/>
        </p:nvCxnSpPr>
        <p:spPr>
          <a:xfrm>
            <a:off x="4321726" y="2904660"/>
            <a:ext cx="618300" cy="104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3" name="Google Shape;1773;p93"/>
          <p:cNvCxnSpPr>
            <a:stCxn id="1755" idx="6"/>
            <a:endCxn id="1758" idx="1"/>
          </p:cNvCxnSpPr>
          <p:nvPr/>
        </p:nvCxnSpPr>
        <p:spPr>
          <a:xfrm flipH="1" rot="10800000">
            <a:off x="4321726" y="3125909"/>
            <a:ext cx="618300" cy="1037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93"/>
          <p:cNvCxnSpPr>
            <a:stCxn id="1754" idx="6"/>
            <a:endCxn id="1757" idx="1"/>
          </p:cNvCxnSpPr>
          <p:nvPr/>
        </p:nvCxnSpPr>
        <p:spPr>
          <a:xfrm flipH="1" rot="10800000">
            <a:off x="4321726" y="2703634"/>
            <a:ext cx="618300" cy="1059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93"/>
          <p:cNvSpPr/>
          <p:nvPr/>
        </p:nvSpPr>
        <p:spPr>
          <a:xfrm>
            <a:off x="5908863" y="3284413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93"/>
          <p:cNvSpPr/>
          <p:nvPr/>
        </p:nvSpPr>
        <p:spPr>
          <a:xfrm rot="10800000">
            <a:off x="2726775" y="3280488"/>
            <a:ext cx="654000" cy="576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93"/>
          <p:cNvSpPr txBox="1"/>
          <p:nvPr/>
        </p:nvSpPr>
        <p:spPr>
          <a:xfrm>
            <a:off x="3486228" y="4792875"/>
            <a:ext cx="22893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Original Two-Mode Network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783" name="Google Shape;1783;p94"/>
          <p:cNvSpPr txBox="1"/>
          <p:nvPr>
            <p:ph idx="1" type="body"/>
          </p:nvPr>
        </p:nvSpPr>
        <p:spPr>
          <a:xfrm>
            <a:off x="311700" y="1225225"/>
            <a:ext cx="43254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784" name="Google Shape;1784;p94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790" name="Google Shape;1790;p95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791" name="Google Shape;1791;p95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92" name="Google Shape;1792;p95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793" name="Google Shape;1793;p95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794" name="Google Shape;1794;p95"/>
          <p:cNvCxnSpPr>
            <a:stCxn id="1793" idx="2"/>
            <a:endCxn id="1792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5" name="Google Shape;1795;p95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796" name="Google Shape;1796;p95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797" name="Google Shape;1797;p95"/>
          <p:cNvCxnSpPr>
            <a:stCxn id="1796" idx="2"/>
            <a:endCxn id="1795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8" name="Google Shape;1798;p95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799" name="Google Shape;1799;p95"/>
          <p:cNvCxnSpPr>
            <a:stCxn id="1796" idx="2"/>
            <a:endCxn id="1798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0" name="Google Shape;1800;p95"/>
          <p:cNvCxnSpPr>
            <a:stCxn id="1798" idx="1"/>
            <a:endCxn id="1795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1" name="Google Shape;1801;p95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02" name="Google Shape;1802;p95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03" name="Google Shape;1803;p95"/>
          <p:cNvCxnSpPr>
            <a:stCxn id="1802" idx="2"/>
            <a:endCxn id="1801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95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05" name="Google Shape;1805;p95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06" name="Google Shape;1806;p95"/>
          <p:cNvCxnSpPr>
            <a:stCxn id="1805" idx="2"/>
            <a:endCxn id="1804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7" name="Google Shape;1807;p95"/>
          <p:cNvCxnSpPr>
            <a:stCxn id="1802" idx="2"/>
            <a:endCxn id="1804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95"/>
          <p:cNvCxnSpPr>
            <a:stCxn id="1805" idx="2"/>
            <a:endCxn id="1801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95"/>
          <p:cNvCxnSpPr>
            <a:stCxn id="1805" idx="1"/>
            <a:endCxn id="1802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0" name="Google Shape;1810;p95"/>
          <p:cNvCxnSpPr>
            <a:stCxn id="1804" idx="1"/>
            <a:endCxn id="1801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1" name="Google Shape;1811;p95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12" name="Google Shape;1812;p95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13" name="Google Shape;1813;p95"/>
          <p:cNvCxnSpPr>
            <a:stCxn id="1812" idx="2"/>
            <a:endCxn id="1811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4" name="Google Shape;1814;p95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15" name="Google Shape;1815;p95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16" name="Google Shape;1816;p95"/>
          <p:cNvCxnSpPr>
            <a:stCxn id="1815" idx="2"/>
            <a:endCxn id="1814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17" name="Google Shape;1817;p95"/>
          <p:cNvGraphicFramePr/>
          <p:nvPr/>
        </p:nvGraphicFramePr>
        <p:xfrm>
          <a:off x="4803950" y="31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86225"/>
                <a:gridCol w="586225"/>
                <a:gridCol w="586225"/>
                <a:gridCol w="586225"/>
                <a:gridCol w="586225"/>
                <a:gridCol w="586225"/>
                <a:gridCol w="586225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1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3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2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818" name="Google Shape;1818;p95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9" name="Google Shape;1819;p95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0" name="Google Shape;1820;p95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1" name="Google Shape;1821;p95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2" name="Google Shape;1822;p95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828" name="Google Shape;1828;p96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829" name="Google Shape;1829;p96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30" name="Google Shape;1830;p96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31" name="Google Shape;1831;p96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32" name="Google Shape;1832;p96"/>
          <p:cNvCxnSpPr>
            <a:stCxn id="1831" idx="2"/>
            <a:endCxn id="1830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3" name="Google Shape;1833;p96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34" name="Google Shape;1834;p96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35" name="Google Shape;1835;p96"/>
          <p:cNvCxnSpPr>
            <a:stCxn id="1834" idx="2"/>
            <a:endCxn id="1833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6" name="Google Shape;1836;p96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37" name="Google Shape;1837;p96"/>
          <p:cNvCxnSpPr>
            <a:stCxn id="1834" idx="2"/>
            <a:endCxn id="1836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96"/>
          <p:cNvCxnSpPr>
            <a:stCxn id="1836" idx="1"/>
            <a:endCxn id="1833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9" name="Google Shape;1839;p96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40" name="Google Shape;1840;p96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41" name="Google Shape;1841;p96"/>
          <p:cNvCxnSpPr>
            <a:stCxn id="1840" idx="2"/>
            <a:endCxn id="1839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2" name="Google Shape;1842;p96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43" name="Google Shape;1843;p96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44" name="Google Shape;1844;p96"/>
          <p:cNvCxnSpPr>
            <a:stCxn id="1843" idx="2"/>
            <a:endCxn id="1842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96"/>
          <p:cNvCxnSpPr>
            <a:stCxn id="1840" idx="2"/>
            <a:endCxn id="1842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96"/>
          <p:cNvCxnSpPr>
            <a:stCxn id="1843" idx="2"/>
            <a:endCxn id="1839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96"/>
          <p:cNvCxnSpPr>
            <a:stCxn id="1843" idx="1"/>
            <a:endCxn id="1840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96"/>
          <p:cNvCxnSpPr>
            <a:stCxn id="1842" idx="1"/>
            <a:endCxn id="1839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9" name="Google Shape;1849;p96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50" name="Google Shape;1850;p96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51" name="Google Shape;1851;p96"/>
          <p:cNvCxnSpPr>
            <a:stCxn id="1850" idx="2"/>
            <a:endCxn id="1849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2" name="Google Shape;1852;p96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53" name="Google Shape;1853;p96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54" name="Google Shape;1854;p96"/>
          <p:cNvCxnSpPr>
            <a:stCxn id="1853" idx="2"/>
            <a:endCxn id="1852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5" name="Google Shape;1855;p96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6" name="Google Shape;1856;p96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7" name="Google Shape;1857;p96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8" name="Google Shape;1858;p96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9" name="Google Shape;1859;p96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0" name="Google Shape;1860;p96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61" name="Google Shape;1861;p96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62" name="Google Shape;1862;p96"/>
          <p:cNvCxnSpPr>
            <a:stCxn id="1861" idx="2"/>
            <a:endCxn id="1860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3" name="Google Shape;1863;p96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64" name="Google Shape;1864;p96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65" name="Google Shape;1865;p96"/>
          <p:cNvCxnSpPr>
            <a:stCxn id="1864" idx="2"/>
            <a:endCxn id="1863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96"/>
          <p:cNvCxnSpPr>
            <a:stCxn id="1864" idx="1"/>
            <a:endCxn id="1861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96"/>
          <p:cNvCxnSpPr>
            <a:stCxn id="1861" idx="2"/>
            <a:endCxn id="1863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8" name="Google Shape;1868;p96"/>
          <p:cNvCxnSpPr>
            <a:stCxn id="1863" idx="1"/>
            <a:endCxn id="1860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9" name="Google Shape;1869;p96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70" name="Google Shape;1870;p96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71" name="Google Shape;1871;p96"/>
          <p:cNvCxnSpPr>
            <a:stCxn id="1870" idx="1"/>
            <a:endCxn id="1869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96"/>
          <p:cNvCxnSpPr>
            <a:stCxn id="1860" idx="2"/>
            <a:endCxn id="1869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96"/>
          <p:cNvCxnSpPr>
            <a:stCxn id="1870" idx="0"/>
            <a:endCxn id="1860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96"/>
          <p:cNvCxnSpPr>
            <a:stCxn id="1863" idx="2"/>
            <a:endCxn id="1869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96"/>
          <p:cNvCxnSpPr>
            <a:stCxn id="1863" idx="2"/>
            <a:endCxn id="1870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881" name="Google Shape;1881;p97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882" name="Google Shape;1882;p97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83" name="Google Shape;1883;p97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84" name="Google Shape;1884;p97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85" name="Google Shape;1885;p97"/>
          <p:cNvCxnSpPr>
            <a:stCxn id="1884" idx="2"/>
            <a:endCxn id="1883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97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87" name="Google Shape;1887;p97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88" name="Google Shape;1888;p97"/>
          <p:cNvCxnSpPr>
            <a:stCxn id="1887" idx="2"/>
            <a:endCxn id="1886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97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90" name="Google Shape;1890;p97"/>
          <p:cNvCxnSpPr>
            <a:stCxn id="1887" idx="2"/>
            <a:endCxn id="1889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1" name="Google Shape;1891;p97"/>
          <p:cNvCxnSpPr>
            <a:stCxn id="1889" idx="1"/>
            <a:endCxn id="1886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2" name="Google Shape;1892;p97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93" name="Google Shape;1893;p97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94" name="Google Shape;1894;p97"/>
          <p:cNvCxnSpPr>
            <a:stCxn id="1893" idx="2"/>
            <a:endCxn id="1892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5" name="Google Shape;1895;p97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896" name="Google Shape;1896;p97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897" name="Google Shape;1897;p97"/>
          <p:cNvCxnSpPr>
            <a:stCxn id="1896" idx="2"/>
            <a:endCxn id="1895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8" name="Google Shape;1898;p97"/>
          <p:cNvCxnSpPr>
            <a:stCxn id="1893" idx="2"/>
            <a:endCxn id="1895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9" name="Google Shape;1899;p97"/>
          <p:cNvCxnSpPr>
            <a:stCxn id="1896" idx="2"/>
            <a:endCxn id="1892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0" name="Google Shape;1900;p97"/>
          <p:cNvCxnSpPr>
            <a:stCxn id="1896" idx="1"/>
            <a:endCxn id="1893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1" name="Google Shape;1901;p97"/>
          <p:cNvCxnSpPr>
            <a:stCxn id="1895" idx="1"/>
            <a:endCxn id="1892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2" name="Google Shape;1902;p97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03" name="Google Shape;1903;p97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04" name="Google Shape;1904;p97"/>
          <p:cNvCxnSpPr>
            <a:stCxn id="1903" idx="2"/>
            <a:endCxn id="1902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5" name="Google Shape;1905;p97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06" name="Google Shape;1906;p97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07" name="Google Shape;1907;p97"/>
          <p:cNvCxnSpPr>
            <a:stCxn id="1906" idx="2"/>
            <a:endCxn id="1905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8" name="Google Shape;1908;p97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9" name="Google Shape;1909;p97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0" name="Google Shape;1910;p97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1" name="Google Shape;1911;p97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2" name="Google Shape;1912;p97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3" name="Google Shape;1913;p97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14" name="Google Shape;1914;p97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15" name="Google Shape;1915;p97"/>
          <p:cNvCxnSpPr>
            <a:stCxn id="1914" idx="2"/>
            <a:endCxn id="1913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97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17" name="Google Shape;1917;p97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18" name="Google Shape;1918;p97"/>
          <p:cNvCxnSpPr>
            <a:stCxn id="1917" idx="2"/>
            <a:endCxn id="1916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97"/>
          <p:cNvCxnSpPr>
            <a:stCxn id="1917" idx="1"/>
            <a:endCxn id="1914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97"/>
          <p:cNvCxnSpPr>
            <a:stCxn id="1914" idx="2"/>
            <a:endCxn id="1916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97"/>
          <p:cNvCxnSpPr>
            <a:stCxn id="1916" idx="1"/>
            <a:endCxn id="1913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2" name="Google Shape;1922;p97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23" name="Google Shape;1923;p97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24" name="Google Shape;1924;p97"/>
          <p:cNvCxnSpPr>
            <a:stCxn id="1923" idx="1"/>
            <a:endCxn id="1922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5" name="Google Shape;1925;p97"/>
          <p:cNvCxnSpPr>
            <a:stCxn id="1913" idx="2"/>
            <a:endCxn id="1922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6" name="Google Shape;1926;p97"/>
          <p:cNvCxnSpPr>
            <a:stCxn id="1923" idx="0"/>
            <a:endCxn id="1913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7" name="Google Shape;1927;p97"/>
          <p:cNvCxnSpPr>
            <a:stCxn id="1916" idx="2"/>
            <a:endCxn id="1922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8" name="Google Shape;1928;p97"/>
          <p:cNvCxnSpPr>
            <a:stCxn id="1916" idx="2"/>
            <a:endCxn id="1923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934" name="Google Shape;1934;p98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935" name="Google Shape;1935;p98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36" name="Google Shape;1936;p98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37" name="Google Shape;1937;p98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38" name="Google Shape;1938;p98"/>
          <p:cNvCxnSpPr>
            <a:stCxn id="1937" idx="2"/>
            <a:endCxn id="1936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9" name="Google Shape;1939;p98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40" name="Google Shape;1940;p98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41" name="Google Shape;1941;p98"/>
          <p:cNvCxnSpPr>
            <a:stCxn id="1940" idx="2"/>
            <a:endCxn id="1939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2" name="Google Shape;1942;p98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43" name="Google Shape;1943;p98"/>
          <p:cNvCxnSpPr>
            <a:stCxn id="1940" idx="2"/>
            <a:endCxn id="1942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4" name="Google Shape;1944;p98"/>
          <p:cNvCxnSpPr>
            <a:stCxn id="1942" idx="1"/>
            <a:endCxn id="1939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5" name="Google Shape;1945;p98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46" name="Google Shape;1946;p98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47" name="Google Shape;1947;p98"/>
          <p:cNvCxnSpPr>
            <a:stCxn id="1946" idx="2"/>
            <a:endCxn id="1945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8" name="Google Shape;1948;p98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49" name="Google Shape;1949;p98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50" name="Google Shape;1950;p98"/>
          <p:cNvCxnSpPr>
            <a:stCxn id="1949" idx="2"/>
            <a:endCxn id="1948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98"/>
          <p:cNvCxnSpPr>
            <a:stCxn id="1946" idx="2"/>
            <a:endCxn id="1948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2" name="Google Shape;1952;p98"/>
          <p:cNvCxnSpPr>
            <a:stCxn id="1949" idx="2"/>
            <a:endCxn id="1945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98"/>
          <p:cNvCxnSpPr>
            <a:stCxn id="1949" idx="1"/>
            <a:endCxn id="1946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98"/>
          <p:cNvCxnSpPr>
            <a:stCxn id="1948" idx="1"/>
            <a:endCxn id="1945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5" name="Google Shape;1955;p98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56" name="Google Shape;1956;p98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57" name="Google Shape;1957;p98"/>
          <p:cNvCxnSpPr>
            <a:stCxn id="1956" idx="2"/>
            <a:endCxn id="1955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8" name="Google Shape;1958;p98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59" name="Google Shape;1959;p98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60" name="Google Shape;1960;p98"/>
          <p:cNvCxnSpPr>
            <a:stCxn id="1959" idx="2"/>
            <a:endCxn id="1958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1" name="Google Shape;1961;p98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2" name="Google Shape;1962;p98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3" name="Google Shape;1963;p98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4" name="Google Shape;1964;p98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5" name="Google Shape;1965;p98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6" name="Google Shape;1966;p98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67" name="Google Shape;1967;p98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68" name="Google Shape;1968;p98"/>
          <p:cNvCxnSpPr>
            <a:stCxn id="1967" idx="2"/>
            <a:endCxn id="1966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9" name="Google Shape;1969;p98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70" name="Google Shape;1970;p98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71" name="Google Shape;1971;p98"/>
          <p:cNvCxnSpPr>
            <a:stCxn id="1970" idx="2"/>
            <a:endCxn id="1969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2" name="Google Shape;1972;p98"/>
          <p:cNvCxnSpPr>
            <a:stCxn id="1970" idx="1"/>
            <a:endCxn id="1967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98"/>
          <p:cNvCxnSpPr>
            <a:stCxn id="1967" idx="2"/>
            <a:endCxn id="1969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98"/>
          <p:cNvCxnSpPr>
            <a:stCxn id="1969" idx="1"/>
            <a:endCxn id="1966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5" name="Google Shape;1975;p98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76" name="Google Shape;1976;p98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77" name="Google Shape;1977;p98"/>
          <p:cNvCxnSpPr>
            <a:stCxn id="1976" idx="1"/>
            <a:endCxn id="1975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8" name="Google Shape;1978;p98"/>
          <p:cNvCxnSpPr>
            <a:stCxn id="1966" idx="2"/>
            <a:endCxn id="1975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9" name="Google Shape;1979;p98"/>
          <p:cNvCxnSpPr>
            <a:stCxn id="1976" idx="0"/>
            <a:endCxn id="1966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0" name="Google Shape;1980;p98"/>
          <p:cNvCxnSpPr>
            <a:stCxn id="1969" idx="2"/>
            <a:endCxn id="1975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98"/>
          <p:cNvCxnSpPr>
            <a:stCxn id="1969" idx="2"/>
            <a:endCxn id="1976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1987" name="Google Shape;1987;p99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1988" name="Google Shape;1988;p99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989" name="Google Shape;1989;p99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90" name="Google Shape;1990;p99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91" name="Google Shape;1991;p99"/>
          <p:cNvCxnSpPr>
            <a:stCxn id="1990" idx="2"/>
            <a:endCxn id="1989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2" name="Google Shape;1992;p99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93" name="Google Shape;1993;p99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94" name="Google Shape;1994;p99"/>
          <p:cNvCxnSpPr>
            <a:stCxn id="1993" idx="2"/>
            <a:endCxn id="1992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5" name="Google Shape;1995;p99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1996" name="Google Shape;1996;p99"/>
          <p:cNvCxnSpPr>
            <a:stCxn id="1993" idx="2"/>
            <a:endCxn id="1995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99"/>
          <p:cNvCxnSpPr>
            <a:stCxn id="1995" idx="1"/>
            <a:endCxn id="1992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8" name="Google Shape;1998;p99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999" name="Google Shape;1999;p99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00" name="Google Shape;2000;p99"/>
          <p:cNvCxnSpPr>
            <a:stCxn id="1999" idx="2"/>
            <a:endCxn id="1998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1" name="Google Shape;2001;p99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02" name="Google Shape;2002;p99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03" name="Google Shape;2003;p99"/>
          <p:cNvCxnSpPr>
            <a:stCxn id="2002" idx="2"/>
            <a:endCxn id="2001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99"/>
          <p:cNvCxnSpPr>
            <a:stCxn id="1999" idx="2"/>
            <a:endCxn id="2001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99"/>
          <p:cNvCxnSpPr>
            <a:stCxn id="2002" idx="2"/>
            <a:endCxn id="1998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6" name="Google Shape;2006;p99"/>
          <p:cNvCxnSpPr>
            <a:stCxn id="2002" idx="1"/>
            <a:endCxn id="1999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7" name="Google Shape;2007;p99"/>
          <p:cNvCxnSpPr>
            <a:stCxn id="2001" idx="1"/>
            <a:endCxn id="1998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8" name="Google Shape;2008;p99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09" name="Google Shape;2009;p99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10" name="Google Shape;2010;p99"/>
          <p:cNvCxnSpPr>
            <a:stCxn id="2009" idx="2"/>
            <a:endCxn id="2008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1" name="Google Shape;2011;p99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12" name="Google Shape;2012;p99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13" name="Google Shape;2013;p99"/>
          <p:cNvCxnSpPr>
            <a:stCxn id="2012" idx="2"/>
            <a:endCxn id="2011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4" name="Google Shape;2014;p99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5" name="Google Shape;2015;p99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6" name="Google Shape;2016;p99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7" name="Google Shape;2017;p99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8" name="Google Shape;2018;p99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9" name="Google Shape;2019;p99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20" name="Google Shape;2020;p99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21" name="Google Shape;2021;p99"/>
          <p:cNvCxnSpPr>
            <a:stCxn id="2020" idx="2"/>
            <a:endCxn id="2019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2" name="Google Shape;2022;p99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23" name="Google Shape;2023;p99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24" name="Google Shape;2024;p99"/>
          <p:cNvCxnSpPr>
            <a:stCxn id="2023" idx="2"/>
            <a:endCxn id="2022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5" name="Google Shape;2025;p99"/>
          <p:cNvCxnSpPr>
            <a:stCxn id="2023" idx="1"/>
            <a:endCxn id="2020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6" name="Google Shape;2026;p99"/>
          <p:cNvCxnSpPr>
            <a:stCxn id="2020" idx="2"/>
            <a:endCxn id="2022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99"/>
          <p:cNvCxnSpPr>
            <a:stCxn id="2022" idx="1"/>
            <a:endCxn id="2019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8" name="Google Shape;2028;p99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29" name="Google Shape;2029;p99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30" name="Google Shape;2030;p99"/>
          <p:cNvCxnSpPr>
            <a:stCxn id="2029" idx="1"/>
            <a:endCxn id="2028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1" name="Google Shape;2031;p99"/>
          <p:cNvCxnSpPr>
            <a:stCxn id="2019" idx="2"/>
            <a:endCxn id="2028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99"/>
          <p:cNvCxnSpPr>
            <a:stCxn id="2029" idx="0"/>
            <a:endCxn id="2019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3" name="Google Shape;2033;p99"/>
          <p:cNvCxnSpPr>
            <a:stCxn id="2022" idx="2"/>
            <a:endCxn id="2028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4" name="Google Shape;2034;p99"/>
          <p:cNvCxnSpPr>
            <a:stCxn id="2022" idx="2"/>
            <a:endCxn id="2029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2040" name="Google Shape;2040;p100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co-membership matrix of scientists yields </a:t>
            </a:r>
            <a:r>
              <a:rPr b="1" lang="en"/>
              <a:t>co-authorship teams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041" name="Google Shape;2041;p100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10925"/>
                <a:gridCol w="615950"/>
                <a:gridCol w="615950"/>
                <a:gridCol w="615950"/>
                <a:gridCol w="615950"/>
                <a:gridCol w="6159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042" name="Google Shape;2042;p100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43" name="Google Shape;2043;p100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44" name="Google Shape;2044;p100"/>
          <p:cNvCxnSpPr>
            <a:stCxn id="2043" idx="2"/>
            <a:endCxn id="2042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5" name="Google Shape;2045;p100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46" name="Google Shape;2046;p100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47" name="Google Shape;2047;p100"/>
          <p:cNvCxnSpPr>
            <a:stCxn id="2046" idx="2"/>
            <a:endCxn id="2045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8" name="Google Shape;2048;p100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49" name="Google Shape;2049;p100"/>
          <p:cNvCxnSpPr>
            <a:stCxn id="2046" idx="2"/>
            <a:endCxn id="2048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100"/>
          <p:cNvCxnSpPr>
            <a:stCxn id="2048" idx="1"/>
            <a:endCxn id="2045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1" name="Google Shape;2051;p100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52" name="Google Shape;2052;p100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53" name="Google Shape;2053;p100"/>
          <p:cNvCxnSpPr>
            <a:stCxn id="2052" idx="2"/>
            <a:endCxn id="2051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4" name="Google Shape;2054;p100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55" name="Google Shape;2055;p100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56" name="Google Shape;2056;p100"/>
          <p:cNvCxnSpPr>
            <a:stCxn id="2055" idx="2"/>
            <a:endCxn id="2054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100"/>
          <p:cNvCxnSpPr>
            <a:stCxn id="2052" idx="2"/>
            <a:endCxn id="2054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100"/>
          <p:cNvCxnSpPr>
            <a:stCxn id="2055" idx="2"/>
            <a:endCxn id="2051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9" name="Google Shape;2059;p100"/>
          <p:cNvCxnSpPr>
            <a:stCxn id="2055" idx="1"/>
            <a:endCxn id="2052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0" name="Google Shape;2060;p100"/>
          <p:cNvCxnSpPr>
            <a:stCxn id="2054" idx="1"/>
            <a:endCxn id="2051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1" name="Google Shape;2061;p100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62" name="Google Shape;2062;p100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63" name="Google Shape;2063;p100"/>
          <p:cNvCxnSpPr>
            <a:stCxn id="2062" idx="2"/>
            <a:endCxn id="2061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4" name="Google Shape;2064;p100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65" name="Google Shape;2065;p100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66" name="Google Shape;2066;p100"/>
          <p:cNvCxnSpPr>
            <a:stCxn id="2065" idx="2"/>
            <a:endCxn id="2064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7" name="Google Shape;2067;p100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8" name="Google Shape;2068;p100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9" name="Google Shape;2069;p100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0" name="Google Shape;2070;p100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1" name="Google Shape;2071;p100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2" name="Google Shape;2072;p100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73" name="Google Shape;2073;p100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74" name="Google Shape;2074;p100"/>
          <p:cNvCxnSpPr>
            <a:stCxn id="2073" idx="2"/>
            <a:endCxn id="2072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5" name="Google Shape;2075;p100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76" name="Google Shape;2076;p100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77" name="Google Shape;2077;p100"/>
          <p:cNvCxnSpPr>
            <a:stCxn id="2076" idx="2"/>
            <a:endCxn id="2075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100"/>
          <p:cNvCxnSpPr>
            <a:stCxn id="2076" idx="1"/>
            <a:endCxn id="2073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100"/>
          <p:cNvCxnSpPr>
            <a:stCxn id="2073" idx="2"/>
            <a:endCxn id="2075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100"/>
          <p:cNvCxnSpPr>
            <a:stCxn id="2075" idx="1"/>
            <a:endCxn id="2072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1" name="Google Shape;2081;p100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82" name="Google Shape;2082;p100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83" name="Google Shape;2083;p100"/>
          <p:cNvCxnSpPr>
            <a:stCxn id="2082" idx="1"/>
            <a:endCxn id="2081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4" name="Google Shape;2084;p100"/>
          <p:cNvCxnSpPr>
            <a:stCxn id="2072" idx="2"/>
            <a:endCxn id="2081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5" name="Google Shape;2085;p100"/>
          <p:cNvCxnSpPr>
            <a:stCxn id="2082" idx="0"/>
            <a:endCxn id="2072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6" name="Google Shape;2086;p100"/>
          <p:cNvCxnSpPr>
            <a:stCxn id="2075" idx="2"/>
            <a:endCxn id="2081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7" name="Google Shape;2087;p100"/>
          <p:cNvCxnSpPr>
            <a:stCxn id="2075" idx="2"/>
            <a:endCxn id="2082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2093" name="Google Shape;2093;p101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Maybe we can predict which scientists will work </a:t>
            </a:r>
            <a:r>
              <a:rPr lang="en"/>
              <a:t>together</a:t>
            </a:r>
            <a:r>
              <a:rPr lang="en"/>
              <a:t> in the future!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094" name="Google Shape;2094;p101"/>
          <p:cNvGraphicFramePr/>
          <p:nvPr/>
        </p:nvGraphicFramePr>
        <p:xfrm>
          <a:off x="4621800" y="10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86050"/>
                <a:gridCol w="590850"/>
                <a:gridCol w="590850"/>
                <a:gridCol w="590850"/>
                <a:gridCol w="590850"/>
                <a:gridCol w="590850"/>
                <a:gridCol w="5908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6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095" name="Google Shape;2095;p101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96" name="Google Shape;2096;p101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097" name="Google Shape;2097;p101"/>
          <p:cNvCxnSpPr>
            <a:stCxn id="2096" idx="2"/>
            <a:endCxn id="2095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8" name="Google Shape;2098;p101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099" name="Google Shape;2099;p101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0" name="Google Shape;2100;p101"/>
          <p:cNvCxnSpPr>
            <a:stCxn id="2099" idx="2"/>
            <a:endCxn id="2098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1" name="Google Shape;2101;p101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2" name="Google Shape;2102;p101"/>
          <p:cNvCxnSpPr>
            <a:stCxn id="2099" idx="2"/>
            <a:endCxn id="2101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3" name="Google Shape;2103;p101"/>
          <p:cNvCxnSpPr>
            <a:stCxn id="2101" idx="1"/>
            <a:endCxn id="2098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4" name="Google Shape;2104;p101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05" name="Google Shape;2105;p101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6" name="Google Shape;2106;p101"/>
          <p:cNvCxnSpPr>
            <a:stCxn id="2105" idx="2"/>
            <a:endCxn id="2104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7" name="Google Shape;2107;p101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08" name="Google Shape;2108;p101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09" name="Google Shape;2109;p101"/>
          <p:cNvCxnSpPr>
            <a:stCxn id="2108" idx="2"/>
            <a:endCxn id="2107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0" name="Google Shape;2110;p101"/>
          <p:cNvCxnSpPr>
            <a:stCxn id="2105" idx="2"/>
            <a:endCxn id="2107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1" name="Google Shape;2111;p101"/>
          <p:cNvCxnSpPr>
            <a:stCxn id="2108" idx="2"/>
            <a:endCxn id="2104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2" name="Google Shape;2112;p101"/>
          <p:cNvCxnSpPr>
            <a:stCxn id="2108" idx="1"/>
            <a:endCxn id="2105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101"/>
          <p:cNvCxnSpPr>
            <a:stCxn id="2107" idx="1"/>
            <a:endCxn id="2104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4" name="Google Shape;2114;p101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15" name="Google Shape;2115;p101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16" name="Google Shape;2116;p101"/>
          <p:cNvCxnSpPr>
            <a:stCxn id="2115" idx="2"/>
            <a:endCxn id="2114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7" name="Google Shape;2117;p101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18" name="Google Shape;2118;p101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19" name="Google Shape;2119;p101"/>
          <p:cNvCxnSpPr>
            <a:stCxn id="2118" idx="2"/>
            <a:endCxn id="2117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0" name="Google Shape;2120;p101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1" name="Google Shape;2121;p101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2" name="Google Shape;2122;p101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3" name="Google Shape;2123;p101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4" name="Google Shape;2124;p101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5" name="Google Shape;2125;p101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26" name="Google Shape;2126;p101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27" name="Google Shape;2127;p101"/>
          <p:cNvCxnSpPr>
            <a:stCxn id="2126" idx="2"/>
            <a:endCxn id="2125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8" name="Google Shape;2128;p101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29" name="Google Shape;2129;p101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30" name="Google Shape;2130;p101"/>
          <p:cNvCxnSpPr>
            <a:stCxn id="2129" idx="2"/>
            <a:endCxn id="2128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1" name="Google Shape;2131;p101"/>
          <p:cNvCxnSpPr>
            <a:stCxn id="2129" idx="1"/>
            <a:endCxn id="2126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2" name="Google Shape;2132;p101"/>
          <p:cNvCxnSpPr>
            <a:stCxn id="2126" idx="2"/>
            <a:endCxn id="2128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101"/>
          <p:cNvCxnSpPr>
            <a:stCxn id="2128" idx="1"/>
            <a:endCxn id="2125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101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35" name="Google Shape;2135;p101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36" name="Google Shape;2136;p101"/>
          <p:cNvCxnSpPr>
            <a:stCxn id="2135" idx="1"/>
            <a:endCxn id="2134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7" name="Google Shape;2137;p101"/>
          <p:cNvCxnSpPr>
            <a:stCxn id="2125" idx="2"/>
            <a:endCxn id="2134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101"/>
          <p:cNvCxnSpPr>
            <a:stCxn id="2135" idx="0"/>
            <a:endCxn id="2125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101"/>
          <p:cNvCxnSpPr>
            <a:stCxn id="2128" idx="2"/>
            <a:endCxn id="2134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0" name="Google Shape;2140;p101"/>
          <p:cNvCxnSpPr>
            <a:stCxn id="2128" idx="2"/>
            <a:endCxn id="2135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101"/>
          <p:cNvSpPr txBox="1"/>
          <p:nvPr/>
        </p:nvSpPr>
        <p:spPr>
          <a:xfrm>
            <a:off x="4689509" y="332711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42" name="Google Shape;2142;p101"/>
          <p:cNvCxnSpPr>
            <a:stCxn id="2141" idx="2"/>
            <a:endCxn id="2125" idx="1"/>
          </p:cNvCxnSpPr>
          <p:nvPr/>
        </p:nvCxnSpPr>
        <p:spPr>
          <a:xfrm>
            <a:off x="5053859" y="3651413"/>
            <a:ext cx="846600" cy="30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3" name="Google Shape;2143;p101"/>
          <p:cNvSpPr txBox="1"/>
          <p:nvPr/>
        </p:nvSpPr>
        <p:spPr>
          <a:xfrm>
            <a:off x="1133100" y="3055688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44" name="Google Shape;2144;p101"/>
          <p:cNvSpPr txBox="1"/>
          <p:nvPr/>
        </p:nvSpPr>
        <p:spPr>
          <a:xfrm>
            <a:off x="1133100" y="2465713"/>
            <a:ext cx="606300" cy="270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45" name="Google Shape;2145;p101"/>
          <p:cNvSpPr txBox="1"/>
          <p:nvPr/>
        </p:nvSpPr>
        <p:spPr>
          <a:xfrm>
            <a:off x="1133100" y="33771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6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46" name="Google Shape;2146;p101"/>
          <p:cNvCxnSpPr>
            <a:stCxn id="2144" idx="2"/>
            <a:endCxn id="2143" idx="0"/>
          </p:cNvCxnSpPr>
          <p:nvPr/>
        </p:nvCxnSpPr>
        <p:spPr>
          <a:xfrm>
            <a:off x="1436250" y="27366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Collaboration</a:t>
            </a:r>
            <a:endParaRPr/>
          </a:p>
        </p:txBody>
      </p:sp>
      <p:sp>
        <p:nvSpPr>
          <p:cNvPr id="2152" name="Google Shape;2152;p102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science the scientist by papers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Maybe we can predict which scientists will work together in the future!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153" name="Google Shape;2153;p102"/>
          <p:cNvGraphicFramePr/>
          <p:nvPr/>
        </p:nvGraphicFramePr>
        <p:xfrm>
          <a:off x="4621800" y="10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586050"/>
                <a:gridCol w="590850"/>
                <a:gridCol w="590850"/>
                <a:gridCol w="590850"/>
                <a:gridCol w="590850"/>
                <a:gridCol w="590850"/>
                <a:gridCol w="590850"/>
              </a:tblGrid>
              <a:tr h="38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Paper 6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Scientist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Scientist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54" name="Google Shape;2154;p102"/>
          <p:cNvSpPr txBox="1"/>
          <p:nvPr/>
        </p:nvSpPr>
        <p:spPr>
          <a:xfrm>
            <a:off x="311700" y="33270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55" name="Google Shape;2155;p102"/>
          <p:cNvSpPr txBox="1"/>
          <p:nvPr/>
        </p:nvSpPr>
        <p:spPr>
          <a:xfrm>
            <a:off x="311700" y="2737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56" name="Google Shape;2156;p102"/>
          <p:cNvCxnSpPr>
            <a:stCxn id="2155" idx="2"/>
            <a:endCxn id="2154" idx="0"/>
          </p:cNvCxnSpPr>
          <p:nvPr/>
        </p:nvCxnSpPr>
        <p:spPr>
          <a:xfrm>
            <a:off x="614850" y="3007925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7" name="Google Shape;2157;p102"/>
          <p:cNvSpPr txBox="1"/>
          <p:nvPr/>
        </p:nvSpPr>
        <p:spPr>
          <a:xfrm>
            <a:off x="526766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58" name="Google Shape;2158;p102"/>
          <p:cNvSpPr txBox="1"/>
          <p:nvPr/>
        </p:nvSpPr>
        <p:spPr>
          <a:xfrm>
            <a:off x="1077312" y="3676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59" name="Google Shape;2159;p102"/>
          <p:cNvCxnSpPr>
            <a:stCxn id="2158" idx="2"/>
            <a:endCxn id="2157" idx="0"/>
          </p:cNvCxnSpPr>
          <p:nvPr/>
        </p:nvCxnSpPr>
        <p:spPr>
          <a:xfrm flipH="1">
            <a:off x="829962" y="3946925"/>
            <a:ext cx="5505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0" name="Google Shape;2160;p102"/>
          <p:cNvSpPr txBox="1"/>
          <p:nvPr/>
        </p:nvSpPr>
        <p:spPr>
          <a:xfrm>
            <a:off x="1683599" y="43561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61" name="Google Shape;2161;p102"/>
          <p:cNvCxnSpPr>
            <a:stCxn id="2158" idx="2"/>
            <a:endCxn id="2160" idx="0"/>
          </p:cNvCxnSpPr>
          <p:nvPr/>
        </p:nvCxnSpPr>
        <p:spPr>
          <a:xfrm>
            <a:off x="1380462" y="3946925"/>
            <a:ext cx="606300" cy="40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2" name="Google Shape;2162;p102"/>
          <p:cNvCxnSpPr>
            <a:stCxn id="2160" idx="1"/>
            <a:endCxn id="2157" idx="3"/>
          </p:cNvCxnSpPr>
          <p:nvPr/>
        </p:nvCxnSpPr>
        <p:spPr>
          <a:xfrm rot="10800000">
            <a:off x="1133099" y="4491575"/>
            <a:ext cx="55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3" name="Google Shape;2163;p102"/>
          <p:cNvSpPr txBox="1"/>
          <p:nvPr/>
        </p:nvSpPr>
        <p:spPr>
          <a:xfrm>
            <a:off x="2154500" y="32790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64" name="Google Shape;2164;p102"/>
          <p:cNvSpPr txBox="1"/>
          <p:nvPr/>
        </p:nvSpPr>
        <p:spPr>
          <a:xfrm>
            <a:off x="2154500" y="245953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65" name="Google Shape;2165;p102"/>
          <p:cNvCxnSpPr>
            <a:stCxn id="2164" idx="2"/>
            <a:endCxn id="2163" idx="0"/>
          </p:cNvCxnSpPr>
          <p:nvPr/>
        </p:nvCxnSpPr>
        <p:spPr>
          <a:xfrm>
            <a:off x="2457650" y="2730438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6" name="Google Shape;2166;p102"/>
          <p:cNvSpPr txBox="1"/>
          <p:nvPr/>
        </p:nvSpPr>
        <p:spPr>
          <a:xfrm>
            <a:off x="3236575" y="327907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67" name="Google Shape;2167;p102"/>
          <p:cNvSpPr txBox="1"/>
          <p:nvPr/>
        </p:nvSpPr>
        <p:spPr>
          <a:xfrm>
            <a:off x="3236575" y="245960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68" name="Google Shape;2168;p102"/>
          <p:cNvCxnSpPr>
            <a:stCxn id="2167" idx="2"/>
            <a:endCxn id="2166" idx="0"/>
          </p:cNvCxnSpPr>
          <p:nvPr/>
        </p:nvCxnSpPr>
        <p:spPr>
          <a:xfrm>
            <a:off x="3539725" y="2730500"/>
            <a:ext cx="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102"/>
          <p:cNvCxnSpPr>
            <a:stCxn id="2164" idx="2"/>
            <a:endCxn id="2166" idx="0"/>
          </p:cNvCxnSpPr>
          <p:nvPr/>
        </p:nvCxnSpPr>
        <p:spPr>
          <a:xfrm>
            <a:off x="2457650" y="2730438"/>
            <a:ext cx="1082100" cy="54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102"/>
          <p:cNvCxnSpPr>
            <a:stCxn id="2167" idx="2"/>
            <a:endCxn id="2163" idx="0"/>
          </p:cNvCxnSpPr>
          <p:nvPr/>
        </p:nvCxnSpPr>
        <p:spPr>
          <a:xfrm flipH="1">
            <a:off x="2457625" y="2730500"/>
            <a:ext cx="1082100" cy="54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102"/>
          <p:cNvCxnSpPr>
            <a:stCxn id="2167" idx="1"/>
            <a:endCxn id="2164" idx="3"/>
          </p:cNvCxnSpPr>
          <p:nvPr/>
        </p:nvCxnSpPr>
        <p:spPr>
          <a:xfrm rot="10800000">
            <a:off x="2760775" y="2595050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2" name="Google Shape;2172;p102"/>
          <p:cNvCxnSpPr>
            <a:stCxn id="2166" idx="1"/>
            <a:endCxn id="2163" idx="3"/>
          </p:cNvCxnSpPr>
          <p:nvPr/>
        </p:nvCxnSpPr>
        <p:spPr>
          <a:xfrm rot="10800000">
            <a:off x="2760775" y="3414525"/>
            <a:ext cx="47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102"/>
          <p:cNvSpPr txBox="1"/>
          <p:nvPr/>
        </p:nvSpPr>
        <p:spPr>
          <a:xfrm>
            <a:off x="2593050" y="4459025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74" name="Google Shape;2174;p102"/>
          <p:cNvSpPr txBox="1"/>
          <p:nvPr/>
        </p:nvSpPr>
        <p:spPr>
          <a:xfrm>
            <a:off x="2593050" y="3869050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75" name="Google Shape;2175;p102"/>
          <p:cNvCxnSpPr>
            <a:stCxn id="2174" idx="2"/>
            <a:endCxn id="2173" idx="0"/>
          </p:cNvCxnSpPr>
          <p:nvPr/>
        </p:nvCxnSpPr>
        <p:spPr>
          <a:xfrm>
            <a:off x="2896200" y="4139950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6" name="Google Shape;2176;p102"/>
          <p:cNvSpPr txBox="1"/>
          <p:nvPr/>
        </p:nvSpPr>
        <p:spPr>
          <a:xfrm>
            <a:off x="3805650" y="44590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77" name="Google Shape;2177;p102"/>
          <p:cNvSpPr txBox="1"/>
          <p:nvPr/>
        </p:nvSpPr>
        <p:spPr>
          <a:xfrm>
            <a:off x="3805650" y="38691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78" name="Google Shape;2178;p102"/>
          <p:cNvCxnSpPr>
            <a:stCxn id="2177" idx="2"/>
            <a:endCxn id="2176" idx="0"/>
          </p:cNvCxnSpPr>
          <p:nvPr/>
        </p:nvCxnSpPr>
        <p:spPr>
          <a:xfrm>
            <a:off x="4108800" y="41400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9" name="Google Shape;2179;p102"/>
          <p:cNvSpPr txBox="1"/>
          <p:nvPr/>
        </p:nvSpPr>
        <p:spPr>
          <a:xfrm>
            <a:off x="2695550" y="35113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3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0" name="Google Shape;2180;p102"/>
          <p:cNvSpPr txBox="1"/>
          <p:nvPr/>
        </p:nvSpPr>
        <p:spPr>
          <a:xfrm>
            <a:off x="38056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1" name="Google Shape;2181;p102"/>
          <p:cNvSpPr txBox="1"/>
          <p:nvPr/>
        </p:nvSpPr>
        <p:spPr>
          <a:xfrm>
            <a:off x="2593050" y="47805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4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2" name="Google Shape;2182;p102"/>
          <p:cNvSpPr txBox="1"/>
          <p:nvPr/>
        </p:nvSpPr>
        <p:spPr>
          <a:xfrm>
            <a:off x="1077300" y="4666988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2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3" name="Google Shape;2183;p102"/>
          <p:cNvSpPr txBox="1"/>
          <p:nvPr/>
        </p:nvSpPr>
        <p:spPr>
          <a:xfrm>
            <a:off x="311700" y="36760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1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4" name="Google Shape;2184;p102"/>
          <p:cNvSpPr txBox="1"/>
          <p:nvPr/>
        </p:nvSpPr>
        <p:spPr>
          <a:xfrm>
            <a:off x="5900497" y="3791792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85" name="Google Shape;2185;p102"/>
          <p:cNvSpPr txBox="1"/>
          <p:nvPr/>
        </p:nvSpPr>
        <p:spPr>
          <a:xfrm>
            <a:off x="5900497" y="3085063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1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86" name="Google Shape;2186;p102"/>
          <p:cNvCxnSpPr>
            <a:stCxn id="2185" idx="2"/>
            <a:endCxn id="2184" idx="0"/>
          </p:cNvCxnSpPr>
          <p:nvPr/>
        </p:nvCxnSpPr>
        <p:spPr>
          <a:xfrm>
            <a:off x="6264847" y="3409363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7" name="Google Shape;2187;p102"/>
          <p:cNvSpPr txBox="1"/>
          <p:nvPr/>
        </p:nvSpPr>
        <p:spPr>
          <a:xfrm>
            <a:off x="7448135" y="379185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6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88" name="Google Shape;2188;p102"/>
          <p:cNvSpPr txBox="1"/>
          <p:nvPr/>
        </p:nvSpPr>
        <p:spPr>
          <a:xfrm>
            <a:off x="7448135" y="3085122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3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89" name="Google Shape;2189;p102"/>
          <p:cNvCxnSpPr>
            <a:stCxn id="2188" idx="2"/>
            <a:endCxn id="2187" idx="0"/>
          </p:cNvCxnSpPr>
          <p:nvPr/>
        </p:nvCxnSpPr>
        <p:spPr>
          <a:xfrm>
            <a:off x="7812485" y="3409422"/>
            <a:ext cx="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102"/>
          <p:cNvCxnSpPr>
            <a:stCxn id="2188" idx="1"/>
            <a:endCxn id="2185" idx="3"/>
          </p:cNvCxnSpPr>
          <p:nvPr/>
        </p:nvCxnSpPr>
        <p:spPr>
          <a:xfrm rot="10800000">
            <a:off x="6629135" y="324727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1" name="Google Shape;2191;p102"/>
          <p:cNvCxnSpPr>
            <a:stCxn id="2185" idx="2"/>
            <a:endCxn id="2187" idx="0"/>
          </p:cNvCxnSpPr>
          <p:nvPr/>
        </p:nvCxnSpPr>
        <p:spPr>
          <a:xfrm>
            <a:off x="6264847" y="3409363"/>
            <a:ext cx="1547700" cy="38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2" name="Google Shape;2192;p102"/>
          <p:cNvCxnSpPr>
            <a:stCxn id="2187" idx="1"/>
            <a:endCxn id="2184" idx="3"/>
          </p:cNvCxnSpPr>
          <p:nvPr/>
        </p:nvCxnSpPr>
        <p:spPr>
          <a:xfrm rot="10800000">
            <a:off x="6629135" y="3954002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3" name="Google Shape;2193;p102"/>
          <p:cNvSpPr txBox="1"/>
          <p:nvPr/>
        </p:nvSpPr>
        <p:spPr>
          <a:xfrm>
            <a:off x="5890763" y="4680871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2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194" name="Google Shape;2194;p102"/>
          <p:cNvSpPr txBox="1"/>
          <p:nvPr/>
        </p:nvSpPr>
        <p:spPr>
          <a:xfrm>
            <a:off x="7438400" y="4680931"/>
            <a:ext cx="728700" cy="324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5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195" name="Google Shape;2195;p102"/>
          <p:cNvCxnSpPr>
            <a:stCxn id="2194" idx="1"/>
            <a:endCxn id="2193" idx="3"/>
          </p:cNvCxnSpPr>
          <p:nvPr/>
        </p:nvCxnSpPr>
        <p:spPr>
          <a:xfrm rot="10800000">
            <a:off x="6619400" y="4843081"/>
            <a:ext cx="81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6" name="Google Shape;2196;p102"/>
          <p:cNvCxnSpPr>
            <a:stCxn id="2184" idx="2"/>
            <a:endCxn id="2193" idx="0"/>
          </p:cNvCxnSpPr>
          <p:nvPr/>
        </p:nvCxnSpPr>
        <p:spPr>
          <a:xfrm flipH="1">
            <a:off x="6255247" y="411609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102"/>
          <p:cNvCxnSpPr>
            <a:stCxn id="2194" idx="0"/>
            <a:endCxn id="2184" idx="2"/>
          </p:cNvCxnSpPr>
          <p:nvPr/>
        </p:nvCxnSpPr>
        <p:spPr>
          <a:xfrm rot="10800000">
            <a:off x="6264950" y="4116031"/>
            <a:ext cx="15378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102"/>
          <p:cNvCxnSpPr>
            <a:stCxn id="2187" idx="2"/>
            <a:endCxn id="2193" idx="0"/>
          </p:cNvCxnSpPr>
          <p:nvPr/>
        </p:nvCxnSpPr>
        <p:spPr>
          <a:xfrm flipH="1">
            <a:off x="6255185" y="4116152"/>
            <a:ext cx="1557300" cy="56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102"/>
          <p:cNvCxnSpPr>
            <a:stCxn id="2187" idx="2"/>
            <a:endCxn id="2194" idx="0"/>
          </p:cNvCxnSpPr>
          <p:nvPr/>
        </p:nvCxnSpPr>
        <p:spPr>
          <a:xfrm flipH="1">
            <a:off x="7802885" y="4116152"/>
            <a:ext cx="9600" cy="5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0" name="Google Shape;2200;p102"/>
          <p:cNvSpPr txBox="1"/>
          <p:nvPr/>
        </p:nvSpPr>
        <p:spPr>
          <a:xfrm>
            <a:off x="4689509" y="3327113"/>
            <a:ext cx="728700" cy="324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cxnSp>
        <p:nvCxnSpPr>
          <p:cNvPr id="2201" name="Google Shape;2201;p102"/>
          <p:cNvCxnSpPr>
            <a:stCxn id="2200" idx="2"/>
            <a:endCxn id="2184" idx="1"/>
          </p:cNvCxnSpPr>
          <p:nvPr/>
        </p:nvCxnSpPr>
        <p:spPr>
          <a:xfrm>
            <a:off x="5053859" y="3651413"/>
            <a:ext cx="846600" cy="30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2" name="Google Shape;2202;p102"/>
          <p:cNvSpPr txBox="1"/>
          <p:nvPr/>
        </p:nvSpPr>
        <p:spPr>
          <a:xfrm>
            <a:off x="1133100" y="3055688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7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203" name="Google Shape;2203;p102"/>
          <p:cNvSpPr txBox="1"/>
          <p:nvPr/>
        </p:nvSpPr>
        <p:spPr>
          <a:xfrm>
            <a:off x="1133100" y="2465713"/>
            <a:ext cx="606300" cy="270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Scientist 4</a:t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2204" name="Google Shape;2204;p102"/>
          <p:cNvSpPr txBox="1"/>
          <p:nvPr/>
        </p:nvSpPr>
        <p:spPr>
          <a:xfrm>
            <a:off x="1133100" y="337716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Open Sans"/>
                <a:ea typeface="Open Sans"/>
                <a:cs typeface="Open Sans"/>
                <a:sym typeface="Open Sans"/>
              </a:rPr>
              <a:t>Paper 6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05" name="Google Shape;2205;p102"/>
          <p:cNvCxnSpPr>
            <a:stCxn id="2203" idx="2"/>
            <a:endCxn id="2202" idx="0"/>
          </p:cNvCxnSpPr>
          <p:nvPr/>
        </p:nvCxnSpPr>
        <p:spPr>
          <a:xfrm>
            <a:off x="1436250" y="2736613"/>
            <a:ext cx="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6" name="Google Shape;2206;p102"/>
          <p:cNvCxnSpPr>
            <a:stCxn id="2200" idx="2"/>
            <a:endCxn id="2193" idx="1"/>
          </p:cNvCxnSpPr>
          <p:nvPr/>
        </p:nvCxnSpPr>
        <p:spPr>
          <a:xfrm>
            <a:off x="5053859" y="3651413"/>
            <a:ext cx="837000" cy="1191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12" name="Google Shape;2212;p103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13" name="Google Shape;2213;p103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</a:t>
                      </a:r>
                      <a:r>
                        <a:rPr b="1" lang="en" sz="800"/>
                        <a:t>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</a:t>
                      </a:r>
                      <a:r>
                        <a:rPr b="1" lang="en" sz="800"/>
                        <a:t>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19" name="Google Shape;2219;p104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group overlap matrix yields a </a:t>
            </a:r>
            <a:r>
              <a:rPr b="1" lang="en"/>
              <a:t>product network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20" name="Google Shape;2220;p104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1" name="Google Shape;2221;p104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22" name="Google Shape;2222;p104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3" name="Google Shape;2223;p104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24" name="Google Shape;2224;p104"/>
          <p:cNvCxnSpPr>
            <a:stCxn id="2223" idx="2"/>
            <a:endCxn id="2222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5" name="Google Shape;2225;p104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6" name="Google Shape;2226;p104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27" name="Google Shape;2227;p104"/>
          <p:cNvCxnSpPr>
            <a:stCxn id="2226" idx="1"/>
            <a:endCxn id="2223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104"/>
          <p:cNvCxnSpPr>
            <a:stCxn id="2226" idx="2"/>
            <a:endCxn id="2222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9" name="Google Shape;2229;p104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30" name="Google Shape;2230;p104"/>
          <p:cNvCxnSpPr>
            <a:stCxn id="2225" idx="2"/>
            <a:endCxn id="2229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36" name="Google Shape;2236;p105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group overlap matrix yields a </a:t>
            </a:r>
            <a:r>
              <a:rPr b="1" lang="en"/>
              <a:t>product network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37" name="Google Shape;2237;p105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38" name="Google Shape;2238;p105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39" name="Google Shape;2239;p105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0" name="Google Shape;2240;p105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1" name="Google Shape;2241;p105"/>
          <p:cNvCxnSpPr>
            <a:stCxn id="2240" idx="2"/>
            <a:endCxn id="2239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2" name="Google Shape;2242;p105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3" name="Google Shape;2243;p105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4" name="Google Shape;2244;p105"/>
          <p:cNvCxnSpPr>
            <a:stCxn id="2243" idx="1"/>
            <a:endCxn id="2240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5" name="Google Shape;2245;p105"/>
          <p:cNvCxnSpPr>
            <a:stCxn id="2243" idx="2"/>
            <a:endCxn id="2239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6" name="Google Shape;2246;p105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7" name="Google Shape;2247;p105"/>
          <p:cNvCxnSpPr>
            <a:stCxn id="2242" idx="2"/>
            <a:endCxn id="2246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8" name="Google Shape;2248;p105"/>
          <p:cNvSpPr txBox="1"/>
          <p:nvPr/>
        </p:nvSpPr>
        <p:spPr>
          <a:xfrm>
            <a:off x="991950" y="2488350"/>
            <a:ext cx="801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Rom Coms 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249" name="Google Shape;2249;p105"/>
          <p:cNvSpPr txBox="1"/>
          <p:nvPr/>
        </p:nvSpPr>
        <p:spPr>
          <a:xfrm>
            <a:off x="2923750" y="33873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Action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55" name="Google Shape;2255;p106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networks are at the basis of </a:t>
            </a:r>
            <a:r>
              <a:rPr b="1" lang="en"/>
              <a:t>recommendation systems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56" name="Google Shape;2256;p106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7" name="Google Shape;2257;p106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58" name="Google Shape;2258;p106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9" name="Google Shape;2259;p106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0" name="Google Shape;2260;p106"/>
          <p:cNvCxnSpPr>
            <a:stCxn id="2259" idx="2"/>
            <a:endCxn id="2258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1" name="Google Shape;2261;p106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2" name="Google Shape;2262;p106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3" name="Google Shape;2263;p106"/>
          <p:cNvCxnSpPr>
            <a:stCxn id="2262" idx="1"/>
            <a:endCxn id="2259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4" name="Google Shape;2264;p106"/>
          <p:cNvCxnSpPr>
            <a:stCxn id="2262" idx="2"/>
            <a:endCxn id="2258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5" name="Google Shape;2265;p106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6" name="Google Shape;2266;p106"/>
          <p:cNvCxnSpPr>
            <a:stCxn id="2261" idx="2"/>
            <a:endCxn id="2265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7" name="Google Shape;2267;p106"/>
          <p:cNvSpPr txBox="1"/>
          <p:nvPr/>
        </p:nvSpPr>
        <p:spPr>
          <a:xfrm>
            <a:off x="991950" y="2488350"/>
            <a:ext cx="801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Rom Coms 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268" name="Google Shape;2268;p106"/>
          <p:cNvSpPr/>
          <p:nvPr/>
        </p:nvSpPr>
        <p:spPr>
          <a:xfrm>
            <a:off x="899400" y="4608200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9</a:t>
            </a:r>
            <a:endParaRPr sz="700"/>
          </a:p>
        </p:txBody>
      </p:sp>
      <p:sp>
        <p:nvSpPr>
          <p:cNvPr id="2269" name="Google Shape;2269;p106"/>
          <p:cNvSpPr txBox="1"/>
          <p:nvPr/>
        </p:nvSpPr>
        <p:spPr>
          <a:xfrm>
            <a:off x="2923750" y="33873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Action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2270" name="Google Shape;2270;p106"/>
          <p:cNvCxnSpPr>
            <a:stCxn id="2258" idx="2"/>
            <a:endCxn id="2268" idx="0"/>
          </p:cNvCxnSpPr>
          <p:nvPr/>
        </p:nvCxnSpPr>
        <p:spPr>
          <a:xfrm>
            <a:off x="1392897" y="3989896"/>
            <a:ext cx="0" cy="618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1" name="Google Shape;2271;p106"/>
          <p:cNvSpPr/>
          <p:nvPr/>
        </p:nvSpPr>
        <p:spPr>
          <a:xfrm>
            <a:off x="3860200" y="3024625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10</a:t>
            </a:r>
            <a:endParaRPr sz="700"/>
          </a:p>
        </p:txBody>
      </p:sp>
      <p:cxnSp>
        <p:nvCxnSpPr>
          <p:cNvPr id="2272" name="Google Shape;2272;p106"/>
          <p:cNvCxnSpPr>
            <a:stCxn id="2271" idx="4"/>
            <a:endCxn id="2261" idx="3"/>
          </p:cNvCxnSpPr>
          <p:nvPr/>
        </p:nvCxnSpPr>
        <p:spPr>
          <a:xfrm flipH="1">
            <a:off x="3697000" y="3387325"/>
            <a:ext cx="656700" cy="406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Affiliation Networks: Product-Choice</a:t>
            </a:r>
            <a:endParaRPr/>
          </a:p>
        </p:txBody>
      </p:sp>
      <p:sp>
        <p:nvSpPr>
          <p:cNvPr id="2278" name="Google Shape;2278;p107"/>
          <p:cNvSpPr txBox="1"/>
          <p:nvPr>
            <p:ph idx="1" type="body"/>
          </p:nvPr>
        </p:nvSpPr>
        <p:spPr>
          <a:xfrm>
            <a:off x="311700" y="1225225"/>
            <a:ext cx="4325400" cy="134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markets the people by products network is an affiliation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networks are at the basis of </a:t>
            </a:r>
            <a:r>
              <a:rPr b="1" lang="en"/>
              <a:t>recommendation systems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2279" name="Google Shape;2279;p107"/>
          <p:cNvGraphicFramePr/>
          <p:nvPr/>
        </p:nvGraphicFramePr>
        <p:xfrm>
          <a:off x="5010400" y="12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5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6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7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Person 8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0" name="Google Shape;2280;p107"/>
          <p:cNvGraphicFramePr/>
          <p:nvPr/>
        </p:nvGraphicFramePr>
        <p:xfrm>
          <a:off x="5010400" y="356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{5F89C14A-01A1-45EE-B4CA-74876B40A553}</a:tableStyleId>
              </a:tblPr>
              <a:tblGrid>
                <a:gridCol w="653100"/>
                <a:gridCol w="658475"/>
                <a:gridCol w="658475"/>
                <a:gridCol w="658475"/>
                <a:gridCol w="658475"/>
                <a:gridCol w="658475"/>
              </a:tblGrid>
              <a:tr h="35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5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Movie 1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2</a:t>
                      </a:r>
                      <a:endParaRPr b="1" sz="800"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 3</a:t>
                      </a:r>
                      <a:endParaRPr b="1"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4</a:t>
                      </a:r>
                      <a:endParaRPr b="1"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20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Movie 5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81" name="Google Shape;2281;p107"/>
          <p:cNvSpPr txBox="1"/>
          <p:nvPr/>
        </p:nvSpPr>
        <p:spPr>
          <a:xfrm>
            <a:off x="953847" y="3598396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3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2" name="Google Shape;2282;p107"/>
          <p:cNvSpPr txBox="1"/>
          <p:nvPr/>
        </p:nvSpPr>
        <p:spPr>
          <a:xfrm>
            <a:off x="953847" y="2745113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1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3" name="Google Shape;2283;p107"/>
          <p:cNvCxnSpPr>
            <a:stCxn id="2282" idx="2"/>
            <a:endCxn id="2281" idx="0"/>
          </p:cNvCxnSpPr>
          <p:nvPr/>
        </p:nvCxnSpPr>
        <p:spPr>
          <a:xfrm>
            <a:off x="1392897" y="3136613"/>
            <a:ext cx="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4" name="Google Shape;2284;p107"/>
          <p:cNvSpPr txBox="1"/>
          <p:nvPr/>
        </p:nvSpPr>
        <p:spPr>
          <a:xfrm>
            <a:off x="2818895" y="359846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4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5" name="Google Shape;2285;p107"/>
          <p:cNvSpPr txBox="1"/>
          <p:nvPr/>
        </p:nvSpPr>
        <p:spPr>
          <a:xfrm>
            <a:off x="2818895" y="2745185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2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6" name="Google Shape;2286;p107"/>
          <p:cNvCxnSpPr>
            <a:stCxn id="2285" idx="1"/>
            <a:endCxn id="2282" idx="3"/>
          </p:cNvCxnSpPr>
          <p:nvPr/>
        </p:nvCxnSpPr>
        <p:spPr>
          <a:xfrm rot="10800000">
            <a:off x="1831895" y="2940935"/>
            <a:ext cx="98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7" name="Google Shape;2287;p107"/>
          <p:cNvCxnSpPr>
            <a:stCxn id="2285" idx="2"/>
            <a:endCxn id="2281" idx="0"/>
          </p:cNvCxnSpPr>
          <p:nvPr/>
        </p:nvCxnSpPr>
        <p:spPr>
          <a:xfrm flipH="1">
            <a:off x="1392845" y="3136685"/>
            <a:ext cx="18651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8" name="Google Shape;2288;p107"/>
          <p:cNvSpPr txBox="1"/>
          <p:nvPr/>
        </p:nvSpPr>
        <p:spPr>
          <a:xfrm>
            <a:off x="2818895" y="4369818"/>
            <a:ext cx="878100" cy="39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Movie 5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9" name="Google Shape;2289;p107"/>
          <p:cNvCxnSpPr>
            <a:stCxn id="2284" idx="2"/>
            <a:endCxn id="2288" idx="0"/>
          </p:cNvCxnSpPr>
          <p:nvPr/>
        </p:nvCxnSpPr>
        <p:spPr>
          <a:xfrm>
            <a:off x="3257945" y="3989968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0" name="Google Shape;2290;p107"/>
          <p:cNvSpPr/>
          <p:nvPr/>
        </p:nvSpPr>
        <p:spPr>
          <a:xfrm>
            <a:off x="899400" y="4608200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9</a:t>
            </a:r>
            <a:endParaRPr sz="700"/>
          </a:p>
        </p:txBody>
      </p:sp>
      <p:sp>
        <p:nvSpPr>
          <p:cNvPr id="2291" name="Google Shape;2291;p107"/>
          <p:cNvSpPr txBox="1"/>
          <p:nvPr/>
        </p:nvSpPr>
        <p:spPr>
          <a:xfrm>
            <a:off x="2923750" y="3387313"/>
            <a:ext cx="6063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Action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2292" name="Google Shape;2292;p107"/>
          <p:cNvCxnSpPr>
            <a:stCxn id="2281" idx="2"/>
            <a:endCxn id="2290" idx="0"/>
          </p:cNvCxnSpPr>
          <p:nvPr/>
        </p:nvCxnSpPr>
        <p:spPr>
          <a:xfrm>
            <a:off x="1392897" y="3989896"/>
            <a:ext cx="0" cy="6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3" name="Google Shape;2293;p107"/>
          <p:cNvSpPr/>
          <p:nvPr/>
        </p:nvSpPr>
        <p:spPr>
          <a:xfrm>
            <a:off x="3860200" y="3024625"/>
            <a:ext cx="987000" cy="36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Person 10</a:t>
            </a:r>
            <a:endParaRPr sz="700"/>
          </a:p>
        </p:txBody>
      </p:sp>
      <p:cxnSp>
        <p:nvCxnSpPr>
          <p:cNvPr id="2294" name="Google Shape;2294;p107"/>
          <p:cNvCxnSpPr>
            <a:stCxn id="2293" idx="4"/>
            <a:endCxn id="2284" idx="3"/>
          </p:cNvCxnSpPr>
          <p:nvPr/>
        </p:nvCxnSpPr>
        <p:spPr>
          <a:xfrm flipH="1">
            <a:off x="3697000" y="3387325"/>
            <a:ext cx="65670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5" name="Google Shape;2295;p107"/>
          <p:cNvCxnSpPr>
            <a:stCxn id="2290" idx="2"/>
            <a:endCxn id="2282" idx="1"/>
          </p:cNvCxnSpPr>
          <p:nvPr/>
        </p:nvCxnSpPr>
        <p:spPr>
          <a:xfrm flipH="1" rot="10800000">
            <a:off x="899400" y="2940950"/>
            <a:ext cx="54300" cy="1848600"/>
          </a:xfrm>
          <a:prstGeom prst="curvedConnector3">
            <a:avLst>
              <a:gd fmla="val -1389687" name="adj1"/>
            </a:avLst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6" name="Google Shape;2296;p107"/>
          <p:cNvCxnSpPr>
            <a:stCxn id="2290" idx="6"/>
            <a:endCxn id="2285" idx="1"/>
          </p:cNvCxnSpPr>
          <p:nvPr/>
        </p:nvCxnSpPr>
        <p:spPr>
          <a:xfrm flipH="1" rot="10800000">
            <a:off x="1886400" y="2940950"/>
            <a:ext cx="932400" cy="184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7" name="Google Shape;2297;p107"/>
          <p:cNvCxnSpPr>
            <a:stCxn id="2288" idx="3"/>
            <a:endCxn id="2293" idx="4"/>
          </p:cNvCxnSpPr>
          <p:nvPr/>
        </p:nvCxnSpPr>
        <p:spPr>
          <a:xfrm flipH="1" rot="10800000">
            <a:off x="3696995" y="3387468"/>
            <a:ext cx="656700" cy="117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98" name="Google Shape;2298;p107"/>
          <p:cNvSpPr txBox="1"/>
          <p:nvPr/>
        </p:nvSpPr>
        <p:spPr>
          <a:xfrm>
            <a:off x="991950" y="2488350"/>
            <a:ext cx="801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pen Sans SemiBold"/>
                <a:ea typeface="Open Sans SemiBold"/>
                <a:cs typeface="Open Sans SemiBold"/>
                <a:sym typeface="Open Sans SemiBold"/>
              </a:rPr>
              <a:t>Rom Coms </a:t>
            </a:r>
            <a:endParaRPr sz="9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 of Key Terms (Two-Mode Networks)</a:t>
            </a:r>
            <a:endParaRPr/>
          </a:p>
        </p:txBody>
      </p:sp>
      <p:sp>
        <p:nvSpPr>
          <p:cNvPr id="2304" name="Google Shape;2304;p10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Affiliation network:</a:t>
            </a:r>
            <a:r>
              <a:rPr lang="en"/>
              <a:t> A social network in which two types of entities (e.g., people and the books they bought) are linked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Bipartite Graph: </a:t>
            </a:r>
            <a:r>
              <a:rPr lang="en"/>
              <a:t>A graph with two disjoint set of nodes in which nodes link only to nodes in the other set but not with nodes in their own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Bipartite graphs are useful for representing two-mode networks!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Affiliation Matrix: </a:t>
            </a:r>
            <a:r>
              <a:rPr lang="en"/>
              <a:t>Matrix recording the adjacency relations between vertices in a bipartite graph representing a two-mode network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 of Key Terms (Two-Mode Networks)</a:t>
            </a:r>
            <a:endParaRPr/>
          </a:p>
        </p:txBody>
      </p:sp>
      <p:sp>
        <p:nvSpPr>
          <p:cNvPr id="2310" name="Google Shape;2310;p10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Matrix Transpose: </a:t>
            </a:r>
            <a:r>
              <a:rPr lang="en"/>
              <a:t>A matrix operation that produces a new matrix (the transpose) by switching around the number of rows and the number of columns of the original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Co-membership Matrix:</a:t>
            </a:r>
            <a:r>
              <a:rPr lang="en"/>
              <a:t> Matrix that results from multiplying an affiliation matrix times its transpose. The off-diagonal cells of the co-membership matrix records the number of shared memberships each pair of people have in an affiliation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Group Overlap Matrix:</a:t>
            </a:r>
            <a:r>
              <a:rPr lang="en"/>
              <a:t> Matrix that results from multiplying the transpose of an affiliation matrix times the original. The off-diagonal cells of the group overlap matrix records the number of shared members each pair of groups have in an affiliation network.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