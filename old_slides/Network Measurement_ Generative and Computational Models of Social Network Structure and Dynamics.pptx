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715000" cx="9144000"/>
  <p:notesSz cx="6858000" cy="9144000"/>
  <p:embeddedFontLst>
    <p:embeddedFont>
      <p:font typeface="Josefin Slab"/>
      <p:regular r:id="rId40"/>
      <p:bold r:id="rId41"/>
      <p:italic r:id="rId42"/>
      <p:boldItalic r:id="rId43"/>
    </p:embeddedFont>
    <p:embeddedFont>
      <p:font typeface="Economica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383A1203-B74C-43F2-AAF9-AA547291AC05}">
  <a:tblStyle styleId="{383A1203-B74C-43F2-AAF9-AA547291AC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regular.fntdata"/><Relationship Id="rId42" Type="http://schemas.openxmlformats.org/officeDocument/2006/relationships/font" Target="fonts/JosefinSlab-italic.fntdata"/><Relationship Id="rId41" Type="http://schemas.openxmlformats.org/officeDocument/2006/relationships/font" Target="fonts/JosefinSlab-bold.fntdata"/><Relationship Id="rId44" Type="http://schemas.openxmlformats.org/officeDocument/2006/relationships/font" Target="fonts/Economica-regular.fntdata"/><Relationship Id="rId43" Type="http://schemas.openxmlformats.org/officeDocument/2006/relationships/font" Target="fonts/JosefinSlab-boldItalic.fntdata"/><Relationship Id="rId46" Type="http://schemas.openxmlformats.org/officeDocument/2006/relationships/font" Target="fonts/Economica-italic.fntdata"/><Relationship Id="rId45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regular.fntdata"/><Relationship Id="rId47" Type="http://schemas.openxmlformats.org/officeDocument/2006/relationships/font" Target="fonts/Economica-boldItalic.fntdata"/><Relationship Id="rId4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b6458a9b5_0_53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b6458a9b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1e5a3d9a_0_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1e5a3d9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1e5a3d9a_0_1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1e5a3d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6458a9b5_0_19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6458a9b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71e5a3d9a_0_3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71e5a3d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9b097e03_03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9b097e03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1e5a3d9a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1e5a3d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9b097e03_06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9b097e03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6745f2ab_0_3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6745f2a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b097e03_05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b097e03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b6458a9b5_0_9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b6458a9b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6745f2ab_0_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6745f2a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6458a9b5_0_20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6458a9b5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b6745f2ab_0_7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b6745f2a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6745f2ab_0_5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6745f2a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6745f2ab_0_5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b6745f2a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745f2ab_0_6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6745f2a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9b097e03_08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9b097e03_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9b097e03_09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9b097e03_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ba4f389d_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ba4f389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ba4f389d_02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ba4f389d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ba4f389d_05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ba4f389d_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ba4f389d_08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ba4f389d_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ba4f389d_09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ba4f389d_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6745f2ab_0_8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6745f2a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ba4f389d_09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ba4f389d_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ba4f389d_010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ba4f389d_0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ba4f389d_010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ba4f389d_0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6385b963_0_0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b6385b9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b6385b963_0_5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b6385b9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b6385b963_0_10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b6385b96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b6385b963_0_15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b6385b9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b6745f2ab_0_17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b6745f2a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348350"/>
            <a:ext cx="3054600" cy="30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Generative and Computational Models of Social Network Structure and Dynamics</a:t>
            </a:r>
            <a:endParaRPr sz="3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457200" y="1333500"/>
            <a:ext cx="8141100" cy="13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purposes for modelling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Helps us understand the rules that govern the formation of network structures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Specify the interaction structure underlying processes of interest (e.g. diffusion)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Lots of different models have (and continue to be) proposed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57200" y="1333500"/>
            <a:ext cx="81411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idea is “emergentist”: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properties are generated from microlevel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the local and global properties “match”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choice homophily (rule) lead to global clustering by traits (macro property)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50" y="3012275"/>
            <a:ext cx="8375100" cy="20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57200" y="1333500"/>
            <a:ext cx="81411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idea is “emergentist”: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properties are generated from microlevel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the global property is “surprising”: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Preferential attachment (rule) leads to a small diameter (macro property)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50" y="3012275"/>
            <a:ext cx="8375100" cy="20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333500"/>
            <a:ext cx="8301900" cy="21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main categories of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Nodal Attribute Models (NAMs)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Probability of a link depends on attributes of the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Evolution Models (NEMs)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addition of new links depend on the local network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main subcategories of NEMs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Dynamical Models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Growing Models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075" y="3497400"/>
            <a:ext cx="7662374" cy="18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57200" y="1333500"/>
            <a:ext cx="8301900" cy="21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main categories of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Nodal Attribute Models (NAMs)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Probability of a link depends on attributes of the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main subcategories of NEMs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Dynamical Models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Growing Models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50" y="3012275"/>
            <a:ext cx="8375100" cy="20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2815400" y="1417708"/>
            <a:ext cx="926400" cy="3950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5602700" y="1417708"/>
            <a:ext cx="926400" cy="2386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589550" y="2966833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Social Network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479050" y="2184658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Network Evolution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3479050" y="3253958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Node Attribute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6212300" y="1417704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Growing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6212300" y="2858258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Dynamical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479075" y="4323271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Exponential Random Graph Models*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6529100" y="4587771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*Not a real growth model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361350"/>
            <a:ext cx="5028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generally: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network realization G is produced by an iterative process that starts from an initial network configuration G(t</a:t>
            </a:r>
            <a:r>
              <a:rPr baseline="-25000" lang="en"/>
              <a:t>0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Dynamical models</a:t>
            </a:r>
            <a:r>
              <a:rPr lang="en"/>
              <a:t> begin a graph of a certain order and a given density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Empty graph special case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Growing models </a:t>
            </a:r>
            <a:r>
              <a:rPr lang="en"/>
              <a:t>begin with a (small) seed network (sometimes a single node with “stubs”)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rules determine allowed transitions from one network G(t</a:t>
            </a:r>
            <a:r>
              <a:rPr baseline="-25000" lang="en"/>
              <a:t>k−1</a:t>
            </a:r>
            <a:r>
              <a:rPr lang="en"/>
              <a:t>) to the next G(t</a:t>
            </a:r>
            <a:r>
              <a:rPr baseline="-25000" lang="en"/>
              <a:t>k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iterative process generates a single network realization G = G(t</a:t>
            </a:r>
            <a:r>
              <a:rPr baseline="-25000" lang="en"/>
              <a:t>end</a:t>
            </a:r>
            <a:r>
              <a:rPr lang="en"/>
              <a:t>).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11" y="1478650"/>
            <a:ext cx="3492000" cy="3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361350"/>
            <a:ext cx="4675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purpose of NEMs is to test the hypothesis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Local network growth mechanisms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Specific global structures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Given degree distribution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Community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 diameter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Degree correlations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11" y="1478650"/>
            <a:ext cx="3492000" cy="3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361350"/>
            <a:ext cx="4758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analyst must specify the stochastic rules by which the network evolves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we may delete or add a subset of links at each time step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“rewire” a set of existing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stopping criteria for NEMs: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 growing NEM, the algorithm finishes when a network reaches a predetermined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 dynamical NEM the algorithm finishes when the network reaches a steady state </a:t>
            </a:r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11" y="1478650"/>
            <a:ext cx="3492000" cy="3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457200" y="1333500"/>
            <a:ext cx="8301900" cy="17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add and/or remove ties on (starting) fixed set (N) of nodes: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fixed number of times 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Until the structure of the network approaches equilibrium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Erdos-Renyi (1960) random graph model is a “dynamical model” by this definition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125" y="3149675"/>
            <a:ext cx="7421761" cy="23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457200" y="1333500"/>
            <a:ext cx="8141100" cy="17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Erdos and Renyi (1960)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set of nodes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two at random and link with probability 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Repeat N(N-1) times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125" y="3149675"/>
            <a:ext cx="7421761" cy="23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457200" y="1333500"/>
            <a:ext cx="8141100" cy="17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Erdos and Renyi (1960)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set of nodes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two at random and link with probability 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Repeat N(N-1) times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Homogeneous (bell-shaped) distribution of node degrees</a:t>
            </a:r>
            <a:endParaRPr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3090900"/>
            <a:ext cx="3186472" cy="23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/>
          <p:nvPr/>
        </p:nvSpPr>
        <p:spPr>
          <a:xfrm>
            <a:off x="3545025" y="3149675"/>
            <a:ext cx="110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 </a:t>
            </a:r>
            <a:r>
              <a:rPr lang="en"/>
              <a:t> = 0.05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1000</a:t>
            </a:r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425" y="3090913"/>
            <a:ext cx="3186450" cy="231928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/>
        </p:nvSpPr>
        <p:spPr>
          <a:xfrm>
            <a:off x="7725900" y="3149675"/>
            <a:ext cx="110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 </a:t>
            </a:r>
            <a:r>
              <a:rPr lang="en"/>
              <a:t> = 0.015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500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457200" y="1333500"/>
            <a:ext cx="8141100" cy="19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Watt-Strogatz model is a dynamical model in this sense: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“regular” graph of order 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 regular graph each node is connected to </a:t>
            </a:r>
            <a:r>
              <a:rPr i="1" lang="en"/>
              <a:t>k </a:t>
            </a:r>
            <a:r>
              <a:rPr lang="en"/>
              <a:t>nearest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a random edge with probability </a:t>
            </a:r>
            <a:r>
              <a:rPr i="1" lang="en"/>
              <a:t>p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Attach one end of the selected edge to a random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Repeat </a:t>
            </a:r>
            <a:r>
              <a:rPr i="1" lang="en"/>
              <a:t>N</a:t>
            </a:r>
            <a:r>
              <a:rPr lang="en"/>
              <a:t> times</a:t>
            </a:r>
            <a:r>
              <a:rPr lang="en"/>
              <a:t> </a:t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350" y="3263700"/>
            <a:ext cx="6868801" cy="21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333500"/>
            <a:ext cx="8141100" cy="19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Watt-Strogatz model is a dynamical model in this sense: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“regular” graph of order 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 regular graph each node is connected to </a:t>
            </a:r>
            <a:r>
              <a:rPr i="1" lang="en"/>
              <a:t>k </a:t>
            </a:r>
            <a:r>
              <a:rPr lang="en"/>
              <a:t>nearest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a random edge with probability </a:t>
            </a:r>
            <a:r>
              <a:rPr i="1" lang="en"/>
              <a:t>p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When </a:t>
            </a:r>
            <a:r>
              <a:rPr i="1" lang="en"/>
              <a:t>p </a:t>
            </a:r>
            <a:r>
              <a:rPr lang="en"/>
              <a:t>= 1 the Watt-strogatz model is an Erdos-Renyi graph with density determined by </a:t>
            </a:r>
            <a:r>
              <a:rPr i="1" lang="en"/>
              <a:t>k </a:t>
            </a:r>
            <a:r>
              <a:rPr lang="en"/>
              <a:t>(mean degree)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350" y="3263700"/>
            <a:ext cx="6868801" cy="21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457200" y="1333500"/>
            <a:ext cx="8301900" cy="15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are added (and link according to some rule) until the network contains the desired number (N) of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Barabasi-Albert preferential attachment model is a growing model by this definition</a:t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0" r="0" t="10402"/>
          <a:stretch/>
        </p:blipFill>
        <p:spPr>
          <a:xfrm>
            <a:off x="604325" y="3188375"/>
            <a:ext cx="7935350" cy="22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457200" y="1333500"/>
            <a:ext cx="8301900" cy="18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Barabasi and Albert (1999)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two connected nodes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nodes connect to existing ones with p ~ k(i)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k is the degree of node 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Keep adding nodes until graph reaches size N</a:t>
            </a:r>
            <a:endParaRPr/>
          </a:p>
        </p:txBody>
      </p:sp>
      <p:pic>
        <p:nvPicPr>
          <p:cNvPr id="183" name="Google Shape;183;p29"/>
          <p:cNvPicPr preferRelativeResize="0"/>
          <p:nvPr/>
        </p:nvPicPr>
        <p:blipFill rotWithShape="1">
          <a:blip r:embed="rId3">
            <a:alphaModFix/>
          </a:blip>
          <a:srcRect b="0" l="0" r="0" t="10402"/>
          <a:stretch/>
        </p:blipFill>
        <p:spPr>
          <a:xfrm>
            <a:off x="604325" y="3188375"/>
            <a:ext cx="7935350" cy="22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457200" y="1333500"/>
            <a:ext cx="8301900" cy="15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Barabasi and Albert (1999)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Heterogeneous degree distribution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Log-log plot can be fitted by a linear regression with beta = exponent of the power law</a:t>
            </a:r>
            <a:r>
              <a:rPr i="1" lang="en"/>
              <a:t> p</a:t>
            </a:r>
            <a:r>
              <a:rPr lang="en"/>
              <a:t> ∝ </a:t>
            </a:r>
            <a:r>
              <a:rPr i="1" lang="en"/>
              <a:t>k</a:t>
            </a:r>
            <a:r>
              <a:rPr baseline="30000" i="1" lang="en"/>
              <a:t>beta</a:t>
            </a:r>
            <a:endParaRPr baseline="30000" i="1"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930400"/>
            <a:ext cx="3406981" cy="24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925" y="2930400"/>
            <a:ext cx="3103199" cy="2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/>
          <p:nvPr/>
        </p:nvSpPr>
        <p:spPr>
          <a:xfrm>
            <a:off x="4206838" y="2989175"/>
            <a:ext cx="110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1000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Nodal Attribute models (NEMs)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361350"/>
            <a:ext cx="4054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</a:t>
            </a:r>
            <a:r>
              <a:rPr lang="en"/>
              <a:t>odal attribute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probability of an edge e</a:t>
            </a:r>
            <a:r>
              <a:rPr baseline="-25000" lang="en"/>
              <a:t>ij</a:t>
            </a:r>
            <a:r>
              <a:rPr lang="en"/>
              <a:t> is a function of the attributes of i and j only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p(e</a:t>
            </a:r>
            <a:r>
              <a:rPr baseline="-25000" lang="en"/>
              <a:t>ij</a:t>
            </a:r>
            <a:r>
              <a:rPr lang="en"/>
              <a:t>) ~ d(i, j)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d is distance in some socio-demographic dimension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NAMs are thus models of the effect of homophily on network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also referred to as spatial models</a:t>
            </a:r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00" y="1361350"/>
            <a:ext cx="4133207" cy="3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Nodal Attribute models (NEMs)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311700" y="1361350"/>
            <a:ext cx="4387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ERGMs (so-called "statistical" models) are not true models of network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NEMs explicitly specify the rules of network evolution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ERMGs tell us that some rule or mechanism is in operation but do not specify which 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Mechanisms generating network structure are made explicit in NEMs but remain implicit in ERGMs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00" y="1361350"/>
            <a:ext cx="4133207" cy="3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Dynamical NEMs 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DEB (Davidsen et al., 2002)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13" name="Google Shape;213;p33"/>
          <p:cNvGraphicFramePr/>
          <p:nvPr/>
        </p:nvGraphicFramePr>
        <p:xfrm>
          <a:off x="583400" y="201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{383A1203-B74C-43F2-AAF9-AA547291AC05}</a:tableStyleId>
              </a:tblPr>
              <a:tblGrid>
                <a:gridCol w="1547975"/>
                <a:gridCol w="6564175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Mechanisms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(number of nodes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fixed; repeat steps for (I) adding ties and (II) deleting ties until stationary distributions are reached)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2 free,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,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 (I) Select a node i randomly, and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(a) if i has fewer than two ties, introduce it to a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randomnode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,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6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(b) otherwise pick two neighbors of i and introduce them if they are not already acquainted.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Select a random node and with prob.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remove all of its ties.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Dynamical NEMs 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MVS(Marsili et al., 2004)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20" name="Google Shape;220;p34"/>
          <p:cNvGraphicFramePr/>
          <p:nvPr/>
        </p:nvGraphicFramePr>
        <p:xfrm>
          <a:off x="583400" y="201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{383A1203-B74C-43F2-AAF9-AA547291AC05}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Mechanisms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(number of nodes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fixed; repeat steps for (I) adding ties and (II) deleting ties until stationary distributions are reached)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ξ, η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(I) Select a node i randomly, and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(λ=0.001) 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(a) connect i to another random node with probability η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6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(b) Select a friend’s friend of i (by uniformly random search) with probability ξ and introduce i to it if not already acquainted.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Select a random tie and delete it with probability λ.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Growing NEMs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TOSHK(Toivonen et al., 2006)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27" name="Google Shape;227;p35"/>
          <p:cNvGraphicFramePr/>
          <p:nvPr/>
        </p:nvGraphicFramePr>
        <p:xfrm>
          <a:off x="515925" y="2138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{383A1203-B74C-43F2-AAF9-AA547291AC05}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(repeat steps for (I) adding nodes and ties (II) adding ties only until network contains N nodes)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p, k (simplified)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(I) Add a new node i to the network, connecting it to one random initial contact with probability p, or two with probability 1−p.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For each random initial contact j, draw a number </a:t>
                      </a: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msec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of secondary connections from the distribution U[0,k] and connect i to </a:t>
                      </a: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msec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neighbors of j if available.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Growing NEMs 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Váz(Vázquez, 2003)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34" name="Google Shape;234;p36"/>
          <p:cNvGraphicFramePr/>
          <p:nvPr/>
        </p:nvGraphicFramePr>
        <p:xfrm>
          <a:off x="515925" y="2138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{383A1203-B74C-43F2-AAF9-AA547291AC05}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(repeat steps for (I) adding nodes and ties (II) adding ties only until network contains N nodes)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2 free N, u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(I) With probability 1−u, add a new node to the network, connecting it to a random node i. Potential edges are created between the newcomer n and the neighbors j of i (a potential edge means that n and j have a common neighbor, i, but no direct link between them).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With probability u, convert one of such potential edges generated on any previous time step to an edge. Potential edges generated by converting an edge are ignored.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NAMs 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BPDA(Boguñá et al., 2004)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41" name="Google Shape;241;p37"/>
          <p:cNvGraphicFramePr/>
          <p:nvPr/>
        </p:nvGraphicFramePr>
        <p:xfrm>
          <a:off x="515925" y="2138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{383A1203-B74C-43F2-AAF9-AA547291AC05}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α, b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Distribute N nodes with uniform probability in a (one-dimensional) social space (a segment of length hmax). Link nodes with prob. p=1/(1+(d/b)α), where d is their distance in the social space. (hmax can be absorbed within b). If treated many-dimensionally, similarity along one of the social dimensions is sufficient for the nodes to be seen as similar.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NAMs </a:t>
            </a:r>
            <a:endParaRPr/>
          </a:p>
        </p:txBody>
      </p:sp>
      <p:graphicFrame>
        <p:nvGraphicFramePr>
          <p:cNvPr id="247" name="Google Shape;247;p38"/>
          <p:cNvGraphicFramePr/>
          <p:nvPr/>
        </p:nvGraphicFramePr>
        <p:xfrm>
          <a:off x="451450" y="1274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{383A1203-B74C-43F2-AAF9-AA547291AC05}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α, b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Distribute N nodes with uniform probability in a (one-dimensional) social space (a segment of length hmax). Link nodes with prob. p=1/(1+(d/b)α), where d is their distance in the social space. (hmax can be absorbed within b). If treated many-dimensionally, similarity along one of the social dimensions is sufficient for the nodes to be seen as similar.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against real world data</a:t>
            </a:r>
            <a:endParaRPr/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311700" y="1361350"/>
            <a:ext cx="8520600" cy="1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models reproduce average degree and size of largest component fairly well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Simpler (one-parameter) models (DEB, Vaz) overstate clustering; other models did not have this problem</a:t>
            </a:r>
            <a:endParaRPr/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84924"/>
            <a:ext cx="8520602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against real world data</a:t>
            </a:r>
            <a:endParaRPr/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11700" y="1361350"/>
            <a:ext cx="8520600" cy="1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 (homophily-based) models do not generate realistic levels of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also fail to produce heterogeneous (long-tailed) degree distributions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do generate clique and community structure</a:t>
            </a:r>
            <a:endParaRPr/>
          </a:p>
        </p:txBody>
      </p:sp>
      <p:pic>
        <p:nvPicPr>
          <p:cNvPr id="261" name="Google Shape;26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84924"/>
            <a:ext cx="8520602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against real world data</a:t>
            </a:r>
            <a:endParaRPr/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361348"/>
            <a:ext cx="8520600" cy="1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NEMs generate realistic level of degree-heterogeneity and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also generate realistic levels of clustering and giant component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assortativity falls short of empirical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Taking weights into account improves performance</a:t>
            </a:r>
            <a:endParaRPr/>
          </a:p>
        </p:txBody>
      </p:sp>
      <p:pic>
        <p:nvPicPr>
          <p:cNvPr id="268" name="Google Shape;2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84924"/>
            <a:ext cx="8520602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74" name="Google Shape;274;p4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question: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accounts for the stability of social groups?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assumptions: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Groups are defined by shared socio-cultural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acquire and communicate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Knowledge mediates interaction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interact with people who share cultural knowledge with you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individual’s behavior is a function of their current knowledge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Groups form an endure via the exchange of knowledge across persons in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stability is at a maximum when no new knowledge enters the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stability is typically in flux as new knowledge (or individuals with different knowledge) enter the system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Elements of the constructural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persons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“Culture” characterized by a set of “facts” or pieces of information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facts determines the complexity of the culture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(f) maps the set of facts to the set of persons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1 if person i knows fact k at time 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0 if person i does not know fact k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Stages of the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Action/Interaction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</a:t>
            </a:r>
            <a:r>
              <a:rPr baseline="-25000" lang="en"/>
              <a:t>ij</a:t>
            </a:r>
            <a:r>
              <a:rPr lang="en"/>
              <a:t>(t) = 1 if i and j interact at time 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Knowledge exchange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</a:t>
            </a:r>
            <a:r>
              <a:rPr baseline="-25000" lang="en"/>
              <a:t>jk</a:t>
            </a:r>
            <a:r>
              <a:rPr lang="en"/>
              <a:t>(t) = 1 if i and j interact and j communicates fact k: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</a:t>
            </a:r>
            <a:r>
              <a:rPr baseline="-25000" lang="en"/>
              <a:t>ijk</a:t>
            </a:r>
            <a:r>
              <a:rPr lang="en"/>
              <a:t>(t) = INT</a:t>
            </a:r>
            <a:r>
              <a:rPr baseline="-25000" lang="en"/>
              <a:t>ij</a:t>
            </a:r>
            <a:r>
              <a:rPr lang="en"/>
              <a:t>(t)  * u</a:t>
            </a:r>
            <a:r>
              <a:rPr baseline="-25000" lang="en"/>
              <a:t>jk</a:t>
            </a:r>
            <a:r>
              <a:rPr lang="en"/>
              <a:t>(t):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Interaction between i and j and j communicates fact k to i who know “learns” it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Elements of the constructural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persons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“Culture” characterized by a set of “facts” or pieces of information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facts determines the complexity of the culture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(f) maps the set of facts to the set of persons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1 if person i knows fact k at time 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0 if person i does not know fact k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Stages of the model: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Interaction homophily: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a subsequent time period the probability of future interaction is a function of the “</a:t>
            </a:r>
            <a:r>
              <a:rPr b="1" lang="en"/>
              <a:t>relative</a:t>
            </a:r>
            <a:r>
              <a:rPr lang="en"/>
              <a:t> </a:t>
            </a:r>
            <a:r>
              <a:rPr b="1" lang="en"/>
              <a:t>cultural</a:t>
            </a:r>
            <a:r>
              <a:rPr lang="en"/>
              <a:t> </a:t>
            </a:r>
            <a:r>
              <a:rPr b="1" lang="en"/>
              <a:t>matching</a:t>
            </a:r>
            <a:r>
              <a:rPr lang="en"/>
              <a:t>” (overlap in facts) between i and j: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399" y="4333128"/>
            <a:ext cx="3883324" cy="752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93" name="Google Shape;293;p4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Elements of the constructural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persons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“Culture” characterized by a set of “facts” or pieces of information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facts determines the complexity of the culture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(f) maps the set of facts to the set of persons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1 if person i knows fact k at time 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0 if person i does not know fact k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Stages of the model: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Interaction homophily: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each time step a person i chooses a random interaction partner j with probability p</a:t>
            </a:r>
            <a:r>
              <a:rPr baseline="-25000" lang="en"/>
              <a:t>ij </a:t>
            </a:r>
            <a:r>
              <a:rPr lang="en"/>
              <a:t>if that person has not been chosen yet</a:t>
            </a:r>
            <a:r>
              <a:rPr lang="en"/>
              <a:t>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399" y="4330700"/>
            <a:ext cx="3883324" cy="7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300" name="Google Shape;300;p46"/>
          <p:cNvSpPr txBox="1"/>
          <p:nvPr>
            <p:ph idx="1" type="body"/>
          </p:nvPr>
        </p:nvSpPr>
        <p:spPr>
          <a:xfrm>
            <a:off x="311700" y="1361350"/>
            <a:ext cx="62274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Constructural model can be thought as driven by the two mode person x cultural item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Share knowledge between people is the one-mode projection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Leading to relative overlap probabilities of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probability structure then determines who interacts with whom in the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Outcomes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Stability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Perfect stability as a special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Time to stability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Longer less stable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Endurance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Cultural Homogeneity:</a:t>
            </a:r>
            <a:endParaRPr/>
          </a:p>
        </p:txBody>
      </p:sp>
      <p:pic>
        <p:nvPicPr>
          <p:cNvPr id="301" name="Google Shape;30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9025" y="1361350"/>
            <a:ext cx="2293285" cy="37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5226" y="4063626"/>
            <a:ext cx="2650800" cy="10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