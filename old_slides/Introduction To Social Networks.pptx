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5143500" cx="9144000"/>
  <p:notesSz cx="6858000" cy="9144000"/>
  <p:embeddedFontLst>
    <p:embeddedFont>
      <p:font typeface="Economica"/>
      <p:regular r:id="rId17"/>
      <p:bold r:id="rId18"/>
      <p:italic r:id="rId19"/>
      <p:boldItalic r:id="rId20"/>
    </p:embeddedFont>
    <p:embeddedFont>
      <p:font typeface="Open Sans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Economica-boldItalic.fntdata"/><Relationship Id="rId11" Type="http://schemas.openxmlformats.org/officeDocument/2006/relationships/slide" Target="slides/slide7.xml"/><Relationship Id="rId22" Type="http://schemas.openxmlformats.org/officeDocument/2006/relationships/font" Target="fonts/OpenSans-bold.fntdata"/><Relationship Id="rId10" Type="http://schemas.openxmlformats.org/officeDocument/2006/relationships/slide" Target="slides/slide6.xml"/><Relationship Id="rId21" Type="http://schemas.openxmlformats.org/officeDocument/2006/relationships/font" Target="fonts/OpenSans-regular.fntdata"/><Relationship Id="rId13" Type="http://schemas.openxmlformats.org/officeDocument/2006/relationships/slide" Target="slides/slide9.xml"/><Relationship Id="rId24" Type="http://schemas.openxmlformats.org/officeDocument/2006/relationships/font" Target="fonts/OpenSans-boldItalic.fntdata"/><Relationship Id="rId12" Type="http://schemas.openxmlformats.org/officeDocument/2006/relationships/slide" Target="slides/slide8.xml"/><Relationship Id="rId23" Type="http://schemas.openxmlformats.org/officeDocument/2006/relationships/font" Target="fonts/OpenSans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Economica-regular.fnt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Economica-italic.fntdata"/><Relationship Id="rId6" Type="http://schemas.openxmlformats.org/officeDocument/2006/relationships/slide" Target="slides/slide2.xml"/><Relationship Id="rId18" Type="http://schemas.openxmlformats.org/officeDocument/2006/relationships/font" Target="fonts/Economica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4609e5511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4609e5511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4609e5511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24609e5511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24609e5511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24609e5511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4609e5511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24609e5511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4609e5511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24609e5511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4609e5511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4609e5511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4609e5511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4609e5511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4609e5511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24609e5511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4609e5511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24609e5511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4609e5511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24609e5511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472a5f7b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2472a5f7b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://icensa.nd.edu/" TargetMode="External"/><Relationship Id="rId4" Type="http://schemas.openxmlformats.org/officeDocument/2006/relationships/hyperlink" Target="http://icensa.nd.edu/" TargetMode="External"/><Relationship Id="rId5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www.insna.org/" TargetMode="External"/><Relationship Id="rId4" Type="http://schemas.openxmlformats.org/officeDocument/2006/relationships/hyperlink" Target="http://netsci2011.net/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63" name="Google Shape;63;p13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Social Networks Graduate Seminar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Fall 2017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Interests: Hachen</a:t>
            </a:r>
            <a:endParaRPr/>
          </a:p>
        </p:txBody>
      </p:sp>
      <p:sp>
        <p:nvSpPr>
          <p:cNvPr id="69" name="Google Shape;69;p1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Job mobility, vacancy chains, event history analysis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Granovetter &amp; Burt:  Finding jobs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Web Group:  Barabasi and others,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iCeNSA</a:t>
            </a:r>
            <a:endParaRPr u="sng">
              <a:solidFill>
                <a:schemeClr val="hlink"/>
              </a:solidFill>
              <a:hlinkClick r:id="rId4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Research Projects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70" name="Google Shape;70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55464" y="1940250"/>
            <a:ext cx="3554718" cy="23650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</a:t>
            </a:r>
            <a:r>
              <a:rPr lang="en"/>
              <a:t> Interests</a:t>
            </a:r>
            <a:r>
              <a:rPr lang="en"/>
              <a:t>: Lizardo</a:t>
            </a:r>
            <a:endParaRPr/>
          </a:p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Cultural tastes and networks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Cultural worldviews and homophily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Mechanisms of relationship maintenance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Cultural matching and tie decay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Cultural diversity and network activation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77" name="Google Shape;7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30223" y="1683035"/>
            <a:ext cx="2438400" cy="243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Social Network Field:  Historical Sources</a:t>
            </a:r>
            <a:endParaRPr/>
          </a:p>
        </p:txBody>
      </p:sp>
      <p:sp>
        <p:nvSpPr>
          <p:cNvPr id="83" name="Google Shape;83;p1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"/>
              <a:t>Mathematics</a:t>
            </a:r>
            <a:r>
              <a:rPr lang="en"/>
              <a:t>: Graph Theory, Matrix Algebra, Dynamic Systems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"/>
              <a:t>Anthropology</a:t>
            </a:r>
            <a:r>
              <a:rPr lang="en"/>
              <a:t>: Kinship, family, and patronage networks, “law of reciprocity”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"/>
              <a:t>Psychology</a:t>
            </a:r>
            <a:r>
              <a:rPr lang="en"/>
              <a:t>: Moreno's sociometry, Balance theory (Heider, Festinger), Small World Studies, Newcomb's Fraternity Study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"/>
              <a:t>Sociology</a:t>
            </a:r>
            <a:r>
              <a:rPr lang="en"/>
              <a:t>: Network studies of roles and positions (Lorrain, White, Breiger), strength of weak ties and social capital (Granovetter, Burt), dyadic relationship formation processes (Merton, Lazarsfeld, Krackhardt)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Social Network Analysis (</a:t>
            </a:r>
            <a:r>
              <a:rPr lang="en" u="sng">
                <a:solidFill>
                  <a:schemeClr val="hlink"/>
                </a:solidFill>
                <a:hlinkClick r:id="rId3"/>
              </a:rPr>
              <a:t>INSNA</a:t>
            </a:r>
            <a:r>
              <a:rPr lang="en"/>
              <a:t>): Post 1978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Network Science (</a:t>
            </a:r>
            <a:r>
              <a:rPr lang="en" u="sng">
                <a:solidFill>
                  <a:schemeClr val="hlink"/>
                </a:solidFill>
                <a:hlinkClick r:id="rId4"/>
              </a:rPr>
              <a:t>NetSci</a:t>
            </a:r>
            <a:r>
              <a:rPr lang="en"/>
              <a:t>): Post 1998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Do Social Networks Do?</a:t>
            </a:r>
            <a:endParaRPr/>
          </a:p>
        </p:txBody>
      </p:sp>
      <p:sp>
        <p:nvSpPr>
          <p:cNvPr id="89" name="Google Shape;89;p17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Connection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Friendship, mentorship, gossip, information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Diffusion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Ideas, behavior, information, moods, practices, disease, techniques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Exchange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Advice, money, commodities, information, political favors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Support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Financial, emotional, security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Inclusion/Exclusion (Access)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Homophily, social closure, hiring, secrecy, monopoly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Study Social Networks: Three Faces</a:t>
            </a:r>
            <a:endParaRPr/>
          </a:p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Network Theory (Ideas)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Macrostructural Theory and Social Foci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Balance Theory and </a:t>
            </a:r>
            <a:r>
              <a:rPr lang="en"/>
              <a:t>Transitivity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Small Worlds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Strength of Weak Ties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Structural Holes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Brokerage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Homophily and Relationship Formation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Simmelian Ties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Multiplexity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Diffusion</a:t>
            </a:r>
            <a:r>
              <a:rPr lang="en"/>
              <a:t>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Cultural Holes and Culture Conversion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Study Social Networks</a:t>
            </a:r>
            <a:r>
              <a:rPr lang="en"/>
              <a:t>: Three Faces</a:t>
            </a:r>
            <a:endParaRPr/>
          </a:p>
        </p:txBody>
      </p:sp>
      <p:sp>
        <p:nvSpPr>
          <p:cNvPr id="101" name="Google Shape;101;p19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Network Measurement (Mathematical Tools)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Centrality and Prominence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Person to Group </a:t>
            </a:r>
            <a:r>
              <a:rPr lang="en"/>
              <a:t>Affiliations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Ego-Networks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Balance and </a:t>
            </a:r>
            <a:r>
              <a:rPr lang="en"/>
              <a:t>Transitivity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Reciprocity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Brokerage and Structural Holes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Simmelian Ties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Tie Decay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Social Roles and Positions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Group and Community Structure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Statistical Models of Network Structure and Evolution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Study Social Networks</a:t>
            </a:r>
            <a:r>
              <a:rPr lang="en"/>
              <a:t>: Three Faces</a:t>
            </a:r>
            <a:endParaRPr/>
          </a:p>
        </p:txBody>
      </p:sp>
      <p:sp>
        <p:nvSpPr>
          <p:cNvPr id="107" name="Google Shape;107;p20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Network Research (Topics)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Core Discussion Networks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Creativity and Intellectual Innovation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Economic and Inter-Organizational Relations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Effect of Context on Personal Networks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Social Support and Social Exchange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Evolution of Personal Networks through the Life Course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Cultural Matching and Personal Networks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Diffusion of Innovations and Social Contagion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Cultural Consumption and Production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Just a small sampling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list is open-ended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You can study any topic from a networks perspective!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Fundamental Concepts: The Social Tie</a:t>
            </a:r>
            <a:endParaRPr/>
          </a:p>
        </p:txBody>
      </p:sp>
      <p:pic>
        <p:nvPicPr>
          <p:cNvPr descr="Screenshot 2017-08-22 at 09.35.16.png" id="113" name="Google Shape;11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99625"/>
            <a:ext cx="8839202" cy="27116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ties in social networks</a:t>
            </a:r>
            <a:endParaRPr/>
          </a:p>
        </p:txBody>
      </p:sp>
      <p:sp>
        <p:nvSpPr>
          <p:cNvPr id="119" name="Google Shape;119;p22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Role relations (states)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Friends, kin, business partners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Interpersonal sentiments and cognitions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Liking, trusting, </a:t>
            </a:r>
            <a:r>
              <a:rPr lang="en"/>
              <a:t>acquaintanceship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Behavioral Social Interactions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Calling, texting, citing, supporting, resource exchange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Opportunity structure for exchange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Structural holes, brokerage, intermediation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“Non-ties” matter here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Fundamental Concepts: Levels of Analysis</a:t>
            </a:r>
            <a:endParaRPr/>
          </a:p>
        </p:txBody>
      </p:sp>
      <p:sp>
        <p:nvSpPr>
          <p:cNvPr id="125" name="Google Shape;125;p23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Individuals </a:t>
            </a:r>
            <a:r>
              <a:rPr b="1" lang="en"/>
              <a:t>(Nodes, Vertices)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Ties (Dyads, Edges)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Triads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Higher Order Groups (Quadruplets, Quintuplets, etc.)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Clusters (communities)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Whole Network</a:t>
            </a:r>
            <a:endParaRPr i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Multiple Networks</a:t>
            </a:r>
            <a:endParaRPr i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Social Network Analysis versus “Network Science”</a:t>
            </a:r>
            <a:endParaRPr/>
          </a:p>
        </p:txBody>
      </p:sp>
      <p:sp>
        <p:nvSpPr>
          <p:cNvPr id="131" name="Google Shape;131;p24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Social Network Analysis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Concerns with measure social network properties at the node level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Concern with linking network properties to substantive outcomes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Concern with </a:t>
            </a:r>
            <a:r>
              <a:rPr lang="en"/>
              <a:t>specificities</a:t>
            </a:r>
            <a:r>
              <a:rPr lang="en"/>
              <a:t> of </a:t>
            </a:r>
            <a:r>
              <a:rPr lang="en"/>
              <a:t>each</a:t>
            </a:r>
            <a:r>
              <a:rPr lang="en"/>
              <a:t> network context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Reliance on both subject (e.g. cognitive) and behavioral indicators of interactions</a:t>
            </a:r>
            <a:endParaRPr/>
          </a:p>
        </p:txBody>
      </p:sp>
      <p:sp>
        <p:nvSpPr>
          <p:cNvPr id="132" name="Google Shape;132;p24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Network Science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Concern with measuring broad properties at whole network level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Concern with demonstrating recurring properties across different types of networks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Use of simple baseline models (e.g. Erdos-Renyi)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Distrust of subjective measures, reliance on “objective” interaction indicators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