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</p:sldIdLst>
  <p:sldSz cy="5143500" cx="9144000"/>
  <p:notesSz cx="6858000" cy="9144000"/>
  <p:embeddedFontLst>
    <p:embeddedFont>
      <p:font typeface="Josefin Slab"/>
      <p:regular r:id="rId46"/>
      <p:bold r:id="rId47"/>
      <p:italic r:id="rId48"/>
      <p:boldItalic r:id="rId49"/>
    </p:embeddedFont>
    <p:embeddedFont>
      <p:font typeface="Economica"/>
      <p:regular r:id="rId50"/>
      <p:bold r:id="rId51"/>
      <p:italic r:id="rId52"/>
      <p:boldItalic r:id="rId53"/>
    </p:embeddedFont>
    <p:embeddedFont>
      <p:font typeface="Open Sans"/>
      <p:regular r:id="rId54"/>
      <p:bold r:id="rId55"/>
      <p:italic r:id="rId56"/>
      <p:boldItalic r:id="rId5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9B73B149-05E7-4524-A94D-FAC346158F2F}">
  <a:tblStyle styleId="{9B73B149-05E7-4524-A94D-FAC346158F2F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font" Target="fonts/JosefinSlab-regular.fntdata"/><Relationship Id="rId45" Type="http://schemas.openxmlformats.org/officeDocument/2006/relationships/slide" Target="slides/slide40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font" Target="fonts/JosefinSlab-italic.fntdata"/><Relationship Id="rId47" Type="http://schemas.openxmlformats.org/officeDocument/2006/relationships/font" Target="fonts/JosefinSlab-bold.fntdata"/><Relationship Id="rId49" Type="http://schemas.openxmlformats.org/officeDocument/2006/relationships/font" Target="fonts/JosefinSlab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font" Target="fonts/Economica-bold.fntdata"/><Relationship Id="rId50" Type="http://schemas.openxmlformats.org/officeDocument/2006/relationships/font" Target="fonts/Economica-regular.fntdata"/><Relationship Id="rId53" Type="http://schemas.openxmlformats.org/officeDocument/2006/relationships/font" Target="fonts/Economica-boldItalic.fntdata"/><Relationship Id="rId52" Type="http://schemas.openxmlformats.org/officeDocument/2006/relationships/font" Target="fonts/Economica-italic.fntdata"/><Relationship Id="rId11" Type="http://schemas.openxmlformats.org/officeDocument/2006/relationships/slide" Target="slides/slide6.xml"/><Relationship Id="rId55" Type="http://schemas.openxmlformats.org/officeDocument/2006/relationships/font" Target="fonts/OpenSans-bold.fntdata"/><Relationship Id="rId10" Type="http://schemas.openxmlformats.org/officeDocument/2006/relationships/slide" Target="slides/slide5.xml"/><Relationship Id="rId54" Type="http://schemas.openxmlformats.org/officeDocument/2006/relationships/font" Target="fonts/OpenSans-regular.fntdata"/><Relationship Id="rId13" Type="http://schemas.openxmlformats.org/officeDocument/2006/relationships/slide" Target="slides/slide8.xml"/><Relationship Id="rId57" Type="http://schemas.openxmlformats.org/officeDocument/2006/relationships/font" Target="fonts/OpenSans-boldItalic.fntdata"/><Relationship Id="rId12" Type="http://schemas.openxmlformats.org/officeDocument/2006/relationships/slide" Target="slides/slide7.xml"/><Relationship Id="rId56" Type="http://schemas.openxmlformats.org/officeDocument/2006/relationships/font" Target="fonts/OpenSans-italic.fntdata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2659d2eb4d_0_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2659d2eb4d_0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2659d2eb4d_0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2659d2eb4d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2659d2eb4d_0_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2659d2eb4d_0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61c35e5dc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61c35e5dc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61c35e5dc3_0_49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61c35e5dc3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61c35e5dc3_0_55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61c35e5dc3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61c35e5dc3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61c35e5dc3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61c35e5dc3_0_121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61c35e5dc3_0_1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61c35e5dc3_0_1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61c35e5dc3_0_1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2659d2eb4d_0_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2659d2eb4d_0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2659d2eb4d_0_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2659d2eb4d_0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2659d2eb4d_0_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2659d2eb4d_0_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2659d2eb4d_0_1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2659d2eb4d_0_1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2659d2eb4d_0_1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2659d2eb4d_0_1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2659d2eb4d_0_1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2659d2eb4d_0_1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2659d2eb4d_0_1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" name="Google Shape;175;g2659d2eb4d_0_1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2659d2eb4d_0_1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" name="Google Shape;182;g2659d2eb4d_0_1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2659d2eb4d_0_2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6" name="Google Shape;216;g2659d2eb4d_0_2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2659d2eb4d_0_2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3" name="Google Shape;223;g2659d2eb4d_0_2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2659d2eb4d_0_2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0" name="Google Shape;230;g2659d2eb4d_0_2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2659d2eb4d_0_2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7" name="Google Shape;237;g2659d2eb4d_0_2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2659d2eb4d_0_2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8" name="Google Shape;248;g2659d2eb4d_0_2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2659d2eb4d_0_2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2659d2eb4d_0_2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g2659d2eb4d_0_2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6" name="Google Shape;266;g2659d2eb4d_0_2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g2659d2eb4d_0_2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4" name="Google Shape;274;g2659d2eb4d_0_2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g2659d2eb4d_0_3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2" name="Google Shape;282;g2659d2eb4d_0_3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g61c35e5dc3_0_159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0" name="Google Shape;290;g61c35e5dc3_0_1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g2659d2eb4d_0_3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8" name="Google Shape;298;g2659d2eb4d_0_3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2659d2eb4d_0_3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0" name="Google Shape;310;g2659d2eb4d_0_3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g2659d2eb4d_0_3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7" name="Google Shape;317;g2659d2eb4d_0_3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g2659d2eb4d_0_3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4" name="Google Shape;324;g2659d2eb4d_0_3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2659d2eb4d_0_3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8" name="Google Shape;338;g2659d2eb4d_0_3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g265b45bdc0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5" name="Google Shape;345;g265b45bdc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g2659d2eb4d_0_3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2" name="Google Shape;352;g2659d2eb4d_0_3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g265b45bdc0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9" name="Google Shape;359;g265b45bdc0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g265b45bdc0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8" name="Google Shape;368;g265b45bdc0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g265b45bdc0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7" name="Google Shape;377;g265b45bdc0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g265b45bdc0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6" name="Google Shape;386;g265b45bdc0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g265b45bdc0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7" name="Google Shape;397;g265b45bdc0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2744013" y="756700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1" name="Google Shape;11;p2"/>
          <p:cNvSpPr/>
          <p:nvPr/>
        </p:nvSpPr>
        <p:spPr>
          <a:xfrm rot="10800000">
            <a:off x="5318350" y="32667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044700" y="1444255"/>
            <a:ext cx="3054600" cy="153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3044700" y="3116580"/>
            <a:ext cx="3054600" cy="70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 flipH="1">
            <a:off x="7595938" y="4602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7" name="Google Shape;17;p3"/>
          <p:cNvSpPr/>
          <p:nvPr/>
        </p:nvSpPr>
        <p:spPr>
          <a:xfrm flipH="1" rot="10800000">
            <a:off x="466425" y="35583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8" name="Google Shape;18;p3"/>
          <p:cNvSpPr txBox="1"/>
          <p:nvPr>
            <p:ph type="title"/>
          </p:nvPr>
        </p:nvSpPr>
        <p:spPr>
          <a:xfrm>
            <a:off x="773700" y="1806450"/>
            <a:ext cx="7596600" cy="153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27" name="Google Shape;27;p5"/>
          <p:cNvSpPr txBox="1"/>
          <p:nvPr>
            <p:ph idx="1" type="body"/>
          </p:nvPr>
        </p:nvSpPr>
        <p:spPr>
          <a:xfrm>
            <a:off x="311700" y="1225225"/>
            <a:ext cx="39999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p5"/>
          <p:cNvSpPr txBox="1"/>
          <p:nvPr>
            <p:ph idx="2" type="body"/>
          </p:nvPr>
        </p:nvSpPr>
        <p:spPr>
          <a:xfrm>
            <a:off x="4832400" y="1225225"/>
            <a:ext cx="39999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32" name="Google Shape;32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5" name="Google Shape;35;p7"/>
          <p:cNvSpPr txBox="1"/>
          <p:nvPr>
            <p:ph idx="1" type="body"/>
          </p:nvPr>
        </p:nvSpPr>
        <p:spPr>
          <a:xfrm>
            <a:off x="311700" y="1399400"/>
            <a:ext cx="2808000" cy="278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6" name="Google Shape;36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8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8"/>
          <p:cNvSpPr txBox="1"/>
          <p:nvPr>
            <p:ph type="title"/>
          </p:nvPr>
        </p:nvSpPr>
        <p:spPr>
          <a:xfrm>
            <a:off x="490250" y="450150"/>
            <a:ext cx="5878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0" name="Google Shape;40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9"/>
          <p:cNvSpPr/>
          <p:nvPr/>
        </p:nvSpPr>
        <p:spPr>
          <a:xfrm>
            <a:off x="4572000" y="-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3" name="Google Shape;43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4" name="Google Shape;44;p9"/>
          <p:cNvSpPr txBox="1"/>
          <p:nvPr>
            <p:ph type="title"/>
          </p:nvPr>
        </p:nvSpPr>
        <p:spPr>
          <a:xfrm>
            <a:off x="265500" y="929275"/>
            <a:ext cx="4045200" cy="1786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45" name="Google Shape;45;p9"/>
          <p:cNvSpPr txBox="1"/>
          <p:nvPr>
            <p:ph idx="1" type="subTitle"/>
          </p:nvPr>
        </p:nvSpPr>
        <p:spPr>
          <a:xfrm>
            <a:off x="265500" y="2769001"/>
            <a:ext cx="4045200" cy="157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46" name="Google Shape;46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0"/>
          <p:cNvSpPr txBox="1"/>
          <p:nvPr>
            <p:ph idx="1" type="body"/>
          </p:nvPr>
        </p:nvSpPr>
        <p:spPr>
          <a:xfrm>
            <a:off x="319500" y="42189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</a:lstStyle>
          <a:p/>
        </p:txBody>
      </p:sp>
      <p:sp>
        <p:nvSpPr>
          <p:cNvPr id="50" name="Google Shape;50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1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11"/>
          <p:cNvSpPr txBox="1"/>
          <p:nvPr>
            <p:ph hasCustomPrompt="1" type="title"/>
          </p:nvPr>
        </p:nvSpPr>
        <p:spPr>
          <a:xfrm>
            <a:off x="311700" y="957125"/>
            <a:ext cx="8520600" cy="212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4" name="Google Shape;54;p11"/>
          <p:cNvSpPr txBox="1"/>
          <p:nvPr>
            <p:ph idx="1" type="body"/>
          </p:nvPr>
        </p:nvSpPr>
        <p:spPr>
          <a:xfrm>
            <a:off x="311700" y="3162000"/>
            <a:ext cx="85206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5" name="Google Shape;55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lux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  <a:def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png"/><Relationship Id="rId4" Type="http://schemas.openxmlformats.org/officeDocument/2006/relationships/image" Target="../media/image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8.png"/><Relationship Id="rId4" Type="http://schemas.openxmlformats.org/officeDocument/2006/relationships/image" Target="../media/image2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gif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.gif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.gif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.gif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4.gif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4.gif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4.gif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4.gif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4.gif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6.gif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6.gif"/><Relationship Id="rId4" Type="http://schemas.openxmlformats.org/officeDocument/2006/relationships/image" Target="../media/image10.jp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6.gif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4.gif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4.gif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4.gif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4.gif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4.gif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8.gif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12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1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1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1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14.jpg"/><Relationship Id="rId4" Type="http://schemas.openxmlformats.org/officeDocument/2006/relationships/image" Target="../media/image15.jp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14.jpg"/><Relationship Id="rId4" Type="http://schemas.openxmlformats.org/officeDocument/2006/relationships/image" Target="../media/image15.jp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16.png"/><Relationship Id="rId4" Type="http://schemas.openxmlformats.org/officeDocument/2006/relationships/image" Target="../media/image19.jp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16.png"/><Relationship Id="rId4" Type="http://schemas.openxmlformats.org/officeDocument/2006/relationships/image" Target="../media/image19.jp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16.png"/><Relationship Id="rId4" Type="http://schemas.openxmlformats.org/officeDocument/2006/relationships/image" Target="../media/image19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3"/>
          <p:cNvSpPr txBox="1"/>
          <p:nvPr>
            <p:ph type="ctrTitle"/>
          </p:nvPr>
        </p:nvSpPr>
        <p:spPr>
          <a:xfrm>
            <a:off x="3044700" y="1444255"/>
            <a:ext cx="3054600" cy="153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Network Theory: Balance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Triadic processes</a:t>
            </a:r>
            <a:endParaRPr/>
          </a:p>
        </p:txBody>
      </p:sp>
      <p:sp>
        <p:nvSpPr>
          <p:cNvPr id="68" name="Google Shape;68;p14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Triadic configurations exhibit properties not reducible to (but still dependent on) dyadic processes (Simmel 1908)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"Simplest" configuration that exhibit "group" properties (e.g. factionalization, alliance formation, brokerage, etc.)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series of social network theories rely on triadic processes: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Structural Balance Theory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Granovetter's "Strength of Weak Ties" (SWT) theory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Power-Dependence Exchange Theories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Brokerage Theories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Simmelian Dyad Theory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Structural Holes (SH) Theory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Triadic processes</a:t>
            </a:r>
            <a:endParaRPr/>
          </a:p>
        </p:txBody>
      </p:sp>
      <p:sp>
        <p:nvSpPr>
          <p:cNvPr id="74" name="Google Shape;74;p15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Link between micro-processes and macro-signatures of complex networks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Micro-process: "friends of friends become friends."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Macro-signature: Number of fully connected triples deviates significantly from that characteristic of random networks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This has implications for: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Diffusion dynamics within networks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Overall cohesion within the social structure (e.g. community structure)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Brokerage and information control opportunities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Innovation and the generation of novel ideas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triad census:  Directed Graph</a:t>
            </a:r>
            <a:endParaRPr/>
          </a:p>
        </p:txBody>
      </p:sp>
      <p:sp>
        <p:nvSpPr>
          <p:cNvPr id="80" name="Google Shape;80;p16"/>
          <p:cNvSpPr txBox="1"/>
          <p:nvPr>
            <p:ph idx="1" type="body"/>
          </p:nvPr>
        </p:nvSpPr>
        <p:spPr>
          <a:xfrm>
            <a:off x="311700" y="1225225"/>
            <a:ext cx="42420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Extraction of every distinct subgraph of order = 3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If the graph is </a:t>
            </a:r>
            <a:r>
              <a:rPr b="1" lang="en"/>
              <a:t>directed</a:t>
            </a:r>
            <a:r>
              <a:rPr lang="en"/>
              <a:t> the size of these subgraphs ranges from: 0 to 6.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Counting the prevalence in a whole network of each of these 16 configurations (“motifs”) gives insight into the overall structure of the network</a:t>
            </a:r>
            <a:endParaRPr/>
          </a:p>
        </p:txBody>
      </p:sp>
      <p:pic>
        <p:nvPicPr>
          <p:cNvPr descr="1-s2.0-S0378873301000351-gr1.jpg" id="81" name="Google Shape;81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42800" y="1225225"/>
            <a:ext cx="3789503" cy="335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7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Triadic Census: Undirected Graph</a:t>
            </a:r>
            <a:endParaRPr/>
          </a:p>
        </p:txBody>
      </p:sp>
      <p:sp>
        <p:nvSpPr>
          <p:cNvPr id="87" name="Google Shape;87;p17"/>
          <p:cNvSpPr txBox="1"/>
          <p:nvPr>
            <p:ph idx="1" type="body"/>
          </p:nvPr>
        </p:nvSpPr>
        <p:spPr>
          <a:xfrm>
            <a:off x="311700" y="1225225"/>
            <a:ext cx="8070000" cy="138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4 configurations:  Null, Dyad, 2-path,, Triangle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Consider the dotted line either a negative tie, or the absence of a tie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Which configurations are more prevalent?  Which are rare?</a:t>
            </a:r>
            <a:endParaRPr/>
          </a:p>
        </p:txBody>
      </p:sp>
      <p:pic>
        <p:nvPicPr>
          <p:cNvPr descr="Screenshot 2017-09-21 at 09.39.13.png" id="88" name="Google Shape;88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7423" y="2830074"/>
            <a:ext cx="4803501" cy="1338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47149" y="2469925"/>
            <a:ext cx="2334558" cy="2225974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7"/>
          <p:cNvSpPr txBox="1"/>
          <p:nvPr/>
        </p:nvSpPr>
        <p:spPr>
          <a:xfrm>
            <a:off x="4330450" y="4418825"/>
            <a:ext cx="618600" cy="22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pen Sans"/>
                <a:ea typeface="Open Sans"/>
                <a:cs typeface="Open Sans"/>
                <a:sym typeface="Open Sans"/>
              </a:rPr>
              <a:t>300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91" name="Google Shape;91;p17"/>
          <p:cNvSpPr txBox="1"/>
          <p:nvPr/>
        </p:nvSpPr>
        <p:spPr>
          <a:xfrm>
            <a:off x="4227300" y="4386200"/>
            <a:ext cx="689400" cy="4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pen Sans"/>
                <a:ea typeface="Open Sans"/>
                <a:cs typeface="Open Sans"/>
                <a:sym typeface="Open Sans"/>
              </a:rPr>
              <a:t> 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92" name="Google Shape;92;p17"/>
          <p:cNvSpPr txBox="1"/>
          <p:nvPr/>
        </p:nvSpPr>
        <p:spPr>
          <a:xfrm>
            <a:off x="3157200" y="4326575"/>
            <a:ext cx="618600" cy="4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pen Sans"/>
                <a:ea typeface="Open Sans"/>
                <a:cs typeface="Open Sans"/>
                <a:sym typeface="Open Sans"/>
              </a:rPr>
              <a:t> 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93" name="Google Shape;93;p17"/>
          <p:cNvSpPr txBox="1"/>
          <p:nvPr/>
        </p:nvSpPr>
        <p:spPr>
          <a:xfrm>
            <a:off x="2087100" y="4386200"/>
            <a:ext cx="618600" cy="4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pen Sans"/>
                <a:ea typeface="Open Sans"/>
                <a:cs typeface="Open Sans"/>
                <a:sym typeface="Open Sans"/>
              </a:rPr>
              <a:t> 102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94" name="Google Shape;94;p17"/>
          <p:cNvSpPr txBox="1"/>
          <p:nvPr/>
        </p:nvSpPr>
        <p:spPr>
          <a:xfrm>
            <a:off x="3081000" y="4371650"/>
            <a:ext cx="618600" cy="4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pen Sans"/>
                <a:ea typeface="Open Sans"/>
                <a:cs typeface="Open Sans"/>
                <a:sym typeface="Open Sans"/>
              </a:rPr>
              <a:t> 201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95" name="Google Shape;95;p17"/>
          <p:cNvSpPr txBox="1"/>
          <p:nvPr/>
        </p:nvSpPr>
        <p:spPr>
          <a:xfrm>
            <a:off x="1093525" y="4386200"/>
            <a:ext cx="618600" cy="4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pen Sans"/>
                <a:ea typeface="Open Sans"/>
                <a:cs typeface="Open Sans"/>
                <a:sym typeface="Open Sans"/>
              </a:rPr>
              <a:t> 003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8"/>
          <p:cNvSpPr txBox="1"/>
          <p:nvPr>
            <p:ph type="title"/>
          </p:nvPr>
        </p:nvSpPr>
        <p:spPr>
          <a:xfrm>
            <a:off x="311700" y="236944"/>
            <a:ext cx="8520600" cy="62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Transitivity</a:t>
            </a:r>
            <a:endParaRPr/>
          </a:p>
        </p:txBody>
      </p:sp>
      <p:sp>
        <p:nvSpPr>
          <p:cNvPr id="101" name="Google Shape;101;p18"/>
          <p:cNvSpPr txBox="1"/>
          <p:nvPr>
            <p:ph idx="1" type="body"/>
          </p:nvPr>
        </p:nvSpPr>
        <p:spPr>
          <a:xfrm>
            <a:off x="457200" y="1200150"/>
            <a:ext cx="4533300" cy="372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sz="2400"/>
              <a:t>Transitivity is the key index of triadic structure</a:t>
            </a:r>
            <a:endParaRPr sz="2400"/>
          </a:p>
          <a:p>
            <a:pPr indent="-3810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sz="2400"/>
              <a:t>Akin to mathematical transitivity; relation R is transitive </a:t>
            </a:r>
            <a:r>
              <a:rPr i="1" lang="en" sz="2400"/>
              <a:t>iff</a:t>
            </a:r>
            <a:r>
              <a:rPr lang="en" sz="2400"/>
              <a:t>:</a:t>
            </a:r>
            <a:endParaRPr sz="2400"/>
          </a:p>
          <a:p>
            <a:pPr indent="-342900" lvl="2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</a:pPr>
            <a:r>
              <a:rPr lang="en" sz="1800"/>
              <a:t>aRb, and bRc jointly imply aRc </a:t>
            </a:r>
            <a:endParaRPr sz="1800"/>
          </a:p>
          <a:p>
            <a:pPr indent="-342900" lvl="2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</a:pPr>
            <a:r>
              <a:rPr lang="en" sz="1800"/>
              <a:t>Equality, Less than, Greater than, etc.</a:t>
            </a:r>
            <a:endParaRPr sz="1800"/>
          </a:p>
          <a:p>
            <a:pPr indent="-3810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sz="2400"/>
              <a:t>Same reasoning applies to social relationships</a:t>
            </a:r>
            <a:endParaRPr sz="2400"/>
          </a:p>
        </p:txBody>
      </p:sp>
      <p:pic>
        <p:nvPicPr>
          <p:cNvPr id="102" name="Google Shape;102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25756" y="1470913"/>
            <a:ext cx="2695752" cy="31842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9"/>
          <p:cNvSpPr txBox="1"/>
          <p:nvPr>
            <p:ph type="title"/>
          </p:nvPr>
        </p:nvSpPr>
        <p:spPr>
          <a:xfrm>
            <a:off x="311700" y="236944"/>
            <a:ext cx="8520600" cy="62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Global measures of transitivity</a:t>
            </a:r>
            <a:endParaRPr/>
          </a:p>
        </p:txBody>
      </p:sp>
      <p:sp>
        <p:nvSpPr>
          <p:cNvPr id="108" name="Google Shape;108;p19"/>
          <p:cNvSpPr txBox="1"/>
          <p:nvPr>
            <p:ph idx="1" type="body"/>
          </p:nvPr>
        </p:nvSpPr>
        <p:spPr>
          <a:xfrm>
            <a:off x="311700" y="918919"/>
            <a:ext cx="8520600" cy="251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sz="2400"/>
              <a:t>A simple way to quantify the level of transitivity in a network is to think of it as a probability</a:t>
            </a:r>
            <a:endParaRPr sz="2400"/>
          </a:p>
          <a:p>
            <a:pPr indent="-3429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sz="1800"/>
              <a:t>In this case, it is the conditional probability that (for any three vertices u, w, v):</a:t>
            </a:r>
            <a:endParaRPr sz="1800"/>
          </a:p>
          <a:p>
            <a:pPr indent="-342900" lvl="2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AutoNum type="romanLcPeriod"/>
            </a:pPr>
            <a:r>
              <a:rPr lang="en" sz="1800"/>
              <a:t>If we observe the uw edge and the uv edge,</a:t>
            </a:r>
            <a:endParaRPr sz="1800"/>
          </a:p>
          <a:p>
            <a:pPr indent="-342900" lvl="2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AutoNum type="romanLcPeriod"/>
            </a:pPr>
            <a:r>
              <a:rPr lang="en" sz="1800"/>
              <a:t>We will also observe the wv edge</a:t>
            </a:r>
            <a:endParaRPr sz="1800"/>
          </a:p>
          <a:p>
            <a:pPr indent="-3429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sz="1800"/>
              <a:t>Note that condition (i) defines a path of length 2</a:t>
            </a:r>
            <a:endParaRPr sz="1800"/>
          </a:p>
          <a:p>
            <a:pPr indent="-3429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sz="1800"/>
              <a:t>So a way to quantify transitivity in the network is simply to:</a:t>
            </a:r>
            <a:endParaRPr sz="1800"/>
          </a:p>
          <a:p>
            <a:pPr indent="-342900" lvl="2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AutoNum type="romanLcPeriod"/>
            </a:pPr>
            <a:r>
              <a:rPr lang="en" sz="1800"/>
              <a:t>Count all of the paths of length two</a:t>
            </a:r>
            <a:endParaRPr sz="1800"/>
          </a:p>
          <a:p>
            <a:pPr indent="-342900" lvl="2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AutoNum type="romanLcPeriod"/>
            </a:pPr>
            <a:r>
              <a:rPr lang="en" sz="1800"/>
              <a:t>Determine how many of them are closed</a:t>
            </a:r>
            <a:endParaRPr sz="1800"/>
          </a:p>
          <a:p>
            <a:pPr indent="-342900" lvl="2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AutoNum type="romanLcPeriod"/>
            </a:pPr>
            <a:r>
              <a:rPr lang="en" sz="1800"/>
              <a:t>Divide the last quantity by the first</a:t>
            </a:r>
            <a:endParaRPr sz="18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0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Average Cluster Coefficient</a:t>
            </a:r>
            <a:endParaRPr/>
          </a:p>
        </p:txBody>
      </p:sp>
      <p:sp>
        <p:nvSpPr>
          <p:cNvPr id="114" name="Google Shape;114;p20"/>
          <p:cNvSpPr txBox="1"/>
          <p:nvPr>
            <p:ph idx="1" type="body"/>
          </p:nvPr>
        </p:nvSpPr>
        <p:spPr>
          <a:xfrm>
            <a:off x="211300" y="1202050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Ego level (local) clustering coefficient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Average Local Clustering Coefficient = Local Transitivity</a:t>
            </a:r>
            <a:br>
              <a:rPr lang="en"/>
            </a:br>
            <a:br>
              <a:rPr lang="en"/>
            </a:br>
            <a:br>
              <a:rPr lang="en"/>
            </a:b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Global Transitivity:         C = # closed triplets / Sum(closed + open)</a:t>
            </a:r>
            <a:br>
              <a:rPr lang="en"/>
            </a:br>
            <a:r>
              <a:rPr lang="en"/>
              <a:t>						</a:t>
            </a:r>
            <a:endParaRPr/>
          </a:p>
        </p:txBody>
      </p:sp>
      <p:pic>
        <p:nvPicPr>
          <p:cNvPr id="115" name="Google Shape;115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02800" y="1202050"/>
            <a:ext cx="1732125" cy="948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285175" y="2655975"/>
            <a:ext cx="1007750" cy="544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1"/>
          <p:cNvSpPr txBox="1"/>
          <p:nvPr>
            <p:ph type="title"/>
          </p:nvPr>
        </p:nvSpPr>
        <p:spPr>
          <a:xfrm>
            <a:off x="311700" y="236944"/>
            <a:ext cx="8520600" cy="62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Edge Multiplicity</a:t>
            </a:r>
            <a:endParaRPr/>
          </a:p>
        </p:txBody>
      </p:sp>
      <p:sp>
        <p:nvSpPr>
          <p:cNvPr id="122" name="Google Shape;122;p21"/>
          <p:cNvSpPr txBox="1"/>
          <p:nvPr>
            <p:ph idx="1" type="body"/>
          </p:nvPr>
        </p:nvSpPr>
        <p:spPr>
          <a:xfrm>
            <a:off x="311700" y="918919"/>
            <a:ext cx="8520600" cy="251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degree dependent clustering coefficient is a vertex level index: The number of triangles (</a:t>
            </a:r>
            <a:r>
              <a:rPr i="1" lang="en"/>
              <a:t>T</a:t>
            </a:r>
            <a:r>
              <a:rPr baseline="-25000" i="1" lang="en"/>
              <a:t>i</a:t>
            </a:r>
            <a:r>
              <a:rPr lang="en"/>
              <a:t>) in which a vertex participates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 may ask the same question about a </a:t>
            </a:r>
            <a:r>
              <a:rPr i="1" lang="en"/>
              <a:t>pair </a:t>
            </a:r>
            <a:r>
              <a:rPr lang="en"/>
              <a:t>of vertices, defining an index of clustering for edges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multiplicity of an edge </a:t>
            </a:r>
            <a:r>
              <a:rPr i="1" lang="en"/>
              <a:t>m</a:t>
            </a:r>
            <a:r>
              <a:rPr baseline="-25000" i="1" lang="en"/>
              <a:t>ij </a:t>
            </a:r>
            <a:r>
              <a:rPr lang="en"/>
              <a:t>can be defined as the number of triangles in which that edge participates.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quantities are related as: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											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23" name="Google Shape;123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66605" y="3205359"/>
            <a:ext cx="2664246" cy="4739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" name="Google Shape;124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39369" y="2677076"/>
            <a:ext cx="1754152" cy="16047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2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Random Graph</a:t>
            </a:r>
            <a:endParaRPr/>
          </a:p>
        </p:txBody>
      </p:sp>
      <p:sp>
        <p:nvSpPr>
          <p:cNvPr id="130" name="Google Shape;130;p22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How many triangles would you expect to find in a random graph?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They will be relatively rare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So why in a non-random graph are there more triangles than expected in a random graph?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Why are there fewer “two-path” triadic configurations?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Many explanations - theories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Structural Balance Theory</a:t>
            </a:r>
            <a:endParaRPr/>
          </a:p>
          <a:p>
            <a:pPr indent="0" lvl="0" marL="91440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3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Structural balance theory</a:t>
            </a:r>
            <a:endParaRPr/>
          </a:p>
        </p:txBody>
      </p:sp>
      <p:sp>
        <p:nvSpPr>
          <p:cNvPr id="136" name="Google Shape;136;p23"/>
          <p:cNvSpPr txBox="1"/>
          <p:nvPr>
            <p:ph idx="1" type="body"/>
          </p:nvPr>
        </p:nvSpPr>
        <p:spPr>
          <a:xfrm>
            <a:off x="311700" y="1225225"/>
            <a:ext cx="8520600" cy="12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Building blocks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 set of actors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 set of (signed) relationships defined on those actors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For example: Likes and Dislikes 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137" name="Google Shape;137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12750" y="2465425"/>
            <a:ext cx="3918501" cy="2249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Structural balance theory</a:t>
            </a:r>
            <a:endParaRPr/>
          </a:p>
        </p:txBody>
      </p:sp>
      <p:sp>
        <p:nvSpPr>
          <p:cNvPr id="143" name="Google Shape;143;p24"/>
          <p:cNvSpPr txBox="1"/>
          <p:nvPr>
            <p:ph idx="1" type="body"/>
          </p:nvPr>
        </p:nvSpPr>
        <p:spPr>
          <a:xfrm>
            <a:off x="311700" y="1225225"/>
            <a:ext cx="8520600" cy="12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Considering triads containing directional arcs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This is the key to balance theory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b="1" lang="en"/>
              <a:t>Solid</a:t>
            </a:r>
            <a:r>
              <a:rPr lang="en"/>
              <a:t> lines are positive sentiments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b="1" lang="en"/>
              <a:t>Null</a:t>
            </a:r>
            <a:r>
              <a:rPr lang="en"/>
              <a:t> (dashed) lines are negative sentiments</a:t>
            </a:r>
            <a:endParaRPr/>
          </a:p>
        </p:txBody>
      </p:sp>
      <p:pic>
        <p:nvPicPr>
          <p:cNvPr id="144" name="Google Shape;144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12750" y="2465425"/>
            <a:ext cx="3918501" cy="2249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Structural balance theory</a:t>
            </a:r>
            <a:endParaRPr/>
          </a:p>
        </p:txBody>
      </p:sp>
      <p:sp>
        <p:nvSpPr>
          <p:cNvPr id="150" name="Google Shape;150;p25"/>
          <p:cNvSpPr txBox="1"/>
          <p:nvPr>
            <p:ph idx="1" type="body"/>
          </p:nvPr>
        </p:nvSpPr>
        <p:spPr>
          <a:xfrm>
            <a:off x="311700" y="1225225"/>
            <a:ext cx="8520600" cy="12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structural balance theory, each vertex in the configuration is given a designation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Person (P):</a:t>
            </a:r>
            <a:r>
              <a:rPr lang="en"/>
              <a:t> "The individual whose behavior is being predicted by the theory" (Davis 1963: 445).</a:t>
            </a:r>
            <a:endParaRPr/>
          </a:p>
        </p:txBody>
      </p:sp>
      <p:pic>
        <p:nvPicPr>
          <p:cNvPr id="151" name="Google Shape;151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12750" y="2465425"/>
            <a:ext cx="3918501" cy="2249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Structural balance theory</a:t>
            </a:r>
            <a:endParaRPr/>
          </a:p>
        </p:txBody>
      </p:sp>
      <p:sp>
        <p:nvSpPr>
          <p:cNvPr id="157" name="Google Shape;157;p26"/>
          <p:cNvSpPr txBox="1"/>
          <p:nvPr>
            <p:ph idx="1" type="body"/>
          </p:nvPr>
        </p:nvSpPr>
        <p:spPr>
          <a:xfrm>
            <a:off x="311700" y="1225225"/>
            <a:ext cx="8520600" cy="12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structural balance theory, each vertex in the configuration is given a designation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Other (O): </a:t>
            </a:r>
            <a:r>
              <a:rPr lang="en"/>
              <a:t>An object (e.g another individual) towards which P is oriented.</a:t>
            </a:r>
            <a:endParaRPr/>
          </a:p>
          <a:p>
            <a:pPr indent="0" lvl="0" marL="45720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158" name="Google Shape;158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12750" y="2465425"/>
            <a:ext cx="3918501" cy="2249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7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Structural balance theory</a:t>
            </a:r>
            <a:endParaRPr/>
          </a:p>
        </p:txBody>
      </p:sp>
      <p:sp>
        <p:nvSpPr>
          <p:cNvPr id="164" name="Google Shape;164;p27"/>
          <p:cNvSpPr txBox="1"/>
          <p:nvPr>
            <p:ph idx="1" type="body"/>
          </p:nvPr>
        </p:nvSpPr>
        <p:spPr>
          <a:xfrm>
            <a:off x="311700" y="1225225"/>
            <a:ext cx="8520600" cy="12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structural balance theory, each vertex in the configuration is given a designation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Q:</a:t>
            </a:r>
            <a:r>
              <a:rPr lang="en"/>
              <a:t> A third object (a value, group or another individual) towards which P and O are oriented.</a:t>
            </a:r>
            <a:endParaRPr/>
          </a:p>
          <a:p>
            <a:pPr indent="0" lvl="0" marL="45720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165" name="Google Shape;165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12750" y="2465425"/>
            <a:ext cx="3918501" cy="2249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8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Structural balance theory</a:t>
            </a:r>
            <a:endParaRPr/>
          </a:p>
        </p:txBody>
      </p:sp>
      <p:sp>
        <p:nvSpPr>
          <p:cNvPr id="171" name="Google Shape;171;p28"/>
          <p:cNvSpPr txBox="1"/>
          <p:nvPr>
            <p:ph idx="1" type="body"/>
          </p:nvPr>
        </p:nvSpPr>
        <p:spPr>
          <a:xfrm>
            <a:off x="311700" y="1225225"/>
            <a:ext cx="8520600" cy="12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basic premise of the theory is that people are motivated to seek balance in the triadic configurations in which they are embedded.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172" name="Google Shape;172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12750" y="2465425"/>
            <a:ext cx="3918501" cy="2249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9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Structural balance theory</a:t>
            </a:r>
            <a:endParaRPr/>
          </a:p>
        </p:txBody>
      </p:sp>
      <p:sp>
        <p:nvSpPr>
          <p:cNvPr id="178" name="Google Shape;178;p29"/>
          <p:cNvSpPr txBox="1"/>
          <p:nvPr>
            <p:ph idx="1" type="body"/>
          </p:nvPr>
        </p:nvSpPr>
        <p:spPr>
          <a:xfrm>
            <a:off x="311700" y="1225225"/>
            <a:ext cx="8520600" cy="12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Balance is formally defined as the sign of the product of the weights attached to each edge in the cycle.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Positive</a:t>
            </a:r>
            <a:r>
              <a:rPr lang="en"/>
              <a:t> triads are balanced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Negative</a:t>
            </a:r>
            <a:r>
              <a:rPr lang="en"/>
              <a:t> triads are imbalanced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179" name="Google Shape;179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12750" y="2465425"/>
            <a:ext cx="3918501" cy="2249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30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Structural balance theory</a:t>
            </a:r>
            <a:endParaRPr/>
          </a:p>
        </p:txBody>
      </p:sp>
      <p:graphicFrame>
        <p:nvGraphicFramePr>
          <p:cNvPr id="185" name="Google Shape;185;p30"/>
          <p:cNvGraphicFramePr/>
          <p:nvPr/>
        </p:nvGraphicFramePr>
        <p:xfrm>
          <a:off x="952475" y="11472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{9B73B149-05E7-4524-A94D-FAC346158F2F}</a:tableStyleId>
              </a:tblPr>
              <a:tblGrid>
                <a:gridCol w="1034150"/>
                <a:gridCol w="1034150"/>
                <a:gridCol w="1034150"/>
                <a:gridCol w="1034150"/>
                <a:gridCol w="1034150"/>
                <a:gridCol w="1034150"/>
                <a:gridCol w="10341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30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PQ</a:t>
                      </a:r>
                      <a:endParaRPr b="1" sz="30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30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30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OQ</a:t>
                      </a:r>
                      <a:endParaRPr b="1" sz="30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30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30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PO</a:t>
                      </a:r>
                      <a:endParaRPr b="1" sz="30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30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POQ</a:t>
                      </a:r>
                      <a:endParaRPr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3000">
                        <a:latin typeface="Josefin Slab"/>
                        <a:ea typeface="Josefin Slab"/>
                        <a:cs typeface="Josefin Slab"/>
                        <a:sym typeface="Josefin Slab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3000">
                        <a:latin typeface="Josefin Slab"/>
                        <a:ea typeface="Josefin Slab"/>
                        <a:cs typeface="Josefin Slab"/>
                        <a:sym typeface="Josefin Slab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3000">
                        <a:latin typeface="Josefin Slab"/>
                        <a:ea typeface="Josefin Slab"/>
                        <a:cs typeface="Josefin Slab"/>
                        <a:sym typeface="Josefin Slab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3000">
                        <a:latin typeface="Josefin Slab"/>
                        <a:ea typeface="Josefin Slab"/>
                        <a:cs typeface="Josefin Slab"/>
                        <a:sym typeface="Josefin Slab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3000">
                        <a:latin typeface="Josefin Slab"/>
                        <a:ea typeface="Josefin Slab"/>
                        <a:cs typeface="Josefin Slab"/>
                        <a:sym typeface="Josefin Slab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3000">
                        <a:latin typeface="Josefin Slab"/>
                        <a:ea typeface="Josefin Slab"/>
                        <a:cs typeface="Josefin Slab"/>
                        <a:sym typeface="Josefin Slab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3000">
                        <a:latin typeface="Josefin Slab"/>
                        <a:ea typeface="Josefin Slab"/>
                        <a:cs typeface="Josefin Slab"/>
                        <a:sym typeface="Josefin Slab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3000">
                        <a:latin typeface="Josefin Slab"/>
                        <a:ea typeface="Josefin Slab"/>
                        <a:cs typeface="Josefin Slab"/>
                        <a:sym typeface="Josefin Slab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3000">
                        <a:latin typeface="Josefin Slab"/>
                        <a:ea typeface="Josefin Slab"/>
                        <a:cs typeface="Josefin Slab"/>
                        <a:sym typeface="Josefin Slab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3000">
                        <a:latin typeface="Josefin Slab"/>
                        <a:ea typeface="Josefin Slab"/>
                        <a:cs typeface="Josefin Slab"/>
                        <a:sym typeface="Josefin Slab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3000">
                        <a:latin typeface="Josefin Slab"/>
                        <a:ea typeface="Josefin Slab"/>
                        <a:cs typeface="Josefin Slab"/>
                        <a:sym typeface="Josefin Slab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3000">
                        <a:latin typeface="Josefin Slab"/>
                        <a:ea typeface="Josefin Slab"/>
                        <a:cs typeface="Josefin Slab"/>
                        <a:sym typeface="Josefin Slab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3000">
                        <a:latin typeface="Josefin Slab"/>
                        <a:ea typeface="Josefin Slab"/>
                        <a:cs typeface="Josefin Slab"/>
                        <a:sym typeface="Josefin Slab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3000">
                        <a:latin typeface="Josefin Slab"/>
                        <a:ea typeface="Josefin Slab"/>
                        <a:cs typeface="Josefin Slab"/>
                        <a:sym typeface="Josefin Slab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3000">
                        <a:latin typeface="Josefin Slab"/>
                        <a:ea typeface="Josefin Slab"/>
                        <a:cs typeface="Josefin Slab"/>
                        <a:sym typeface="Josefin Slab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3000">
                        <a:latin typeface="Josefin Slab"/>
                        <a:ea typeface="Josefin Slab"/>
                        <a:cs typeface="Josefin Slab"/>
                        <a:sym typeface="Josefin Slab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3000">
                        <a:latin typeface="Josefin Slab"/>
                        <a:ea typeface="Josefin Slab"/>
                        <a:cs typeface="Josefin Slab"/>
                        <a:sym typeface="Josefin Slab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3000">
                        <a:latin typeface="Josefin Slab"/>
                        <a:ea typeface="Josefin Slab"/>
                        <a:cs typeface="Josefin Slab"/>
                        <a:sym typeface="Josefin Slab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3000">
                        <a:latin typeface="Josefin Slab"/>
                        <a:ea typeface="Josefin Slab"/>
                        <a:cs typeface="Josefin Slab"/>
                        <a:sym typeface="Josefin Slab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3000">
                        <a:latin typeface="Josefin Slab"/>
                        <a:ea typeface="Josefin Slab"/>
                        <a:cs typeface="Josefin Slab"/>
                        <a:sym typeface="Josefin Slab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86" name="Google Shape;186;p30"/>
          <p:cNvSpPr/>
          <p:nvPr/>
        </p:nvSpPr>
        <p:spPr>
          <a:xfrm>
            <a:off x="1346800" y="1956525"/>
            <a:ext cx="349500" cy="378600"/>
          </a:xfrm>
          <a:prstGeom prst="mathPlus">
            <a:avLst>
              <a:gd fmla="val 23520" name="adj1"/>
            </a:avLst>
          </a:prstGeom>
          <a:solidFill>
            <a:srgbClr val="F68D0C"/>
          </a:solidFill>
          <a:ln cap="flat" cmpd="sng" w="19050">
            <a:solidFill>
              <a:srgbClr val="5B59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30"/>
          <p:cNvSpPr/>
          <p:nvPr/>
        </p:nvSpPr>
        <p:spPr>
          <a:xfrm>
            <a:off x="3370125" y="1956525"/>
            <a:ext cx="349500" cy="378600"/>
          </a:xfrm>
          <a:prstGeom prst="mathPlus">
            <a:avLst>
              <a:gd fmla="val 23520" name="adj1"/>
            </a:avLst>
          </a:prstGeom>
          <a:solidFill>
            <a:srgbClr val="0000FF"/>
          </a:solidFill>
          <a:ln cap="flat" cmpd="sng" w="19050">
            <a:solidFill>
              <a:srgbClr val="5B59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30"/>
          <p:cNvSpPr/>
          <p:nvPr/>
        </p:nvSpPr>
        <p:spPr>
          <a:xfrm>
            <a:off x="7472700" y="1927425"/>
            <a:ext cx="349500" cy="378600"/>
          </a:xfrm>
          <a:prstGeom prst="mathPlus">
            <a:avLst>
              <a:gd fmla="val 23520" name="adj1"/>
            </a:avLst>
          </a:prstGeom>
          <a:solidFill>
            <a:srgbClr val="257E12"/>
          </a:solidFill>
          <a:ln cap="flat" cmpd="sng" w="19050">
            <a:solidFill>
              <a:srgbClr val="5B59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30"/>
          <p:cNvSpPr/>
          <p:nvPr/>
        </p:nvSpPr>
        <p:spPr>
          <a:xfrm>
            <a:off x="7472700" y="2505138"/>
            <a:ext cx="349500" cy="378600"/>
          </a:xfrm>
          <a:prstGeom prst="mathPlus">
            <a:avLst>
              <a:gd fmla="val 23520" name="adj1"/>
            </a:avLst>
          </a:prstGeom>
          <a:solidFill>
            <a:srgbClr val="257E12"/>
          </a:solidFill>
          <a:ln cap="flat" cmpd="sng" w="19050">
            <a:solidFill>
              <a:srgbClr val="5B59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30"/>
          <p:cNvSpPr/>
          <p:nvPr/>
        </p:nvSpPr>
        <p:spPr>
          <a:xfrm>
            <a:off x="6442675" y="1956525"/>
            <a:ext cx="451500" cy="378600"/>
          </a:xfrm>
          <a:prstGeom prst="mathEqual">
            <a:avLst>
              <a:gd fmla="val 23520" name="adj1"/>
              <a:gd fmla="val 11760" name="adj2"/>
            </a:avLst>
          </a:prstGeom>
          <a:solidFill>
            <a:srgbClr val="CFD4D4"/>
          </a:solidFill>
          <a:ln cap="flat" cmpd="sng" w="19050">
            <a:solidFill>
              <a:srgbClr val="5B59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30"/>
          <p:cNvSpPr/>
          <p:nvPr/>
        </p:nvSpPr>
        <p:spPr>
          <a:xfrm>
            <a:off x="6442675" y="2534238"/>
            <a:ext cx="451500" cy="378600"/>
          </a:xfrm>
          <a:prstGeom prst="mathEqual">
            <a:avLst>
              <a:gd fmla="val 23520" name="adj1"/>
              <a:gd fmla="val 11760" name="adj2"/>
            </a:avLst>
          </a:prstGeom>
          <a:solidFill>
            <a:srgbClr val="CFD4D4"/>
          </a:solidFill>
          <a:ln cap="flat" cmpd="sng" w="19050">
            <a:solidFill>
              <a:srgbClr val="5B59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30"/>
          <p:cNvSpPr/>
          <p:nvPr/>
        </p:nvSpPr>
        <p:spPr>
          <a:xfrm>
            <a:off x="6442675" y="3104875"/>
            <a:ext cx="451500" cy="378600"/>
          </a:xfrm>
          <a:prstGeom prst="mathEqual">
            <a:avLst>
              <a:gd fmla="val 23520" name="adj1"/>
              <a:gd fmla="val 11760" name="adj2"/>
            </a:avLst>
          </a:prstGeom>
          <a:solidFill>
            <a:srgbClr val="CFD4D4"/>
          </a:solidFill>
          <a:ln cap="flat" cmpd="sng" w="19050">
            <a:solidFill>
              <a:srgbClr val="5B59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30"/>
          <p:cNvSpPr/>
          <p:nvPr/>
        </p:nvSpPr>
        <p:spPr>
          <a:xfrm>
            <a:off x="6442675" y="3775625"/>
            <a:ext cx="451500" cy="378600"/>
          </a:xfrm>
          <a:prstGeom prst="mathEqual">
            <a:avLst>
              <a:gd fmla="val 23520" name="adj1"/>
              <a:gd fmla="val 11760" name="adj2"/>
            </a:avLst>
          </a:prstGeom>
          <a:solidFill>
            <a:srgbClr val="CFD4D4"/>
          </a:solidFill>
          <a:ln cap="flat" cmpd="sng" w="19050">
            <a:solidFill>
              <a:srgbClr val="5B59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30"/>
          <p:cNvSpPr/>
          <p:nvPr/>
        </p:nvSpPr>
        <p:spPr>
          <a:xfrm>
            <a:off x="2267225" y="1956525"/>
            <a:ext cx="393000" cy="436800"/>
          </a:xfrm>
          <a:prstGeom prst="mathMultiply">
            <a:avLst>
              <a:gd fmla="val 23520" name="adj1"/>
            </a:avLst>
          </a:prstGeom>
          <a:solidFill>
            <a:srgbClr val="CFD4D4"/>
          </a:solidFill>
          <a:ln cap="flat" cmpd="sng" w="19050">
            <a:solidFill>
              <a:srgbClr val="5B59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30"/>
          <p:cNvSpPr/>
          <p:nvPr/>
        </p:nvSpPr>
        <p:spPr>
          <a:xfrm>
            <a:off x="2267225" y="2534238"/>
            <a:ext cx="393000" cy="436800"/>
          </a:xfrm>
          <a:prstGeom prst="mathMultiply">
            <a:avLst>
              <a:gd fmla="val 23520" name="adj1"/>
            </a:avLst>
          </a:prstGeom>
          <a:solidFill>
            <a:srgbClr val="CFD4D4"/>
          </a:solidFill>
          <a:ln cap="flat" cmpd="sng" w="19050">
            <a:solidFill>
              <a:srgbClr val="5B59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30"/>
          <p:cNvSpPr/>
          <p:nvPr/>
        </p:nvSpPr>
        <p:spPr>
          <a:xfrm>
            <a:off x="2267225" y="3104875"/>
            <a:ext cx="393000" cy="436800"/>
          </a:xfrm>
          <a:prstGeom prst="mathMultiply">
            <a:avLst>
              <a:gd fmla="val 23520" name="adj1"/>
            </a:avLst>
          </a:prstGeom>
          <a:solidFill>
            <a:srgbClr val="CFD4D4"/>
          </a:solidFill>
          <a:ln cap="flat" cmpd="sng" w="19050">
            <a:solidFill>
              <a:srgbClr val="5B59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30"/>
          <p:cNvSpPr/>
          <p:nvPr/>
        </p:nvSpPr>
        <p:spPr>
          <a:xfrm>
            <a:off x="2267225" y="3775625"/>
            <a:ext cx="393000" cy="436800"/>
          </a:xfrm>
          <a:prstGeom prst="mathMultiply">
            <a:avLst>
              <a:gd fmla="val 23520" name="adj1"/>
            </a:avLst>
          </a:prstGeom>
          <a:solidFill>
            <a:srgbClr val="CFD4D4"/>
          </a:solidFill>
          <a:ln cap="flat" cmpd="sng" w="19050">
            <a:solidFill>
              <a:srgbClr val="5B59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30"/>
          <p:cNvSpPr/>
          <p:nvPr/>
        </p:nvSpPr>
        <p:spPr>
          <a:xfrm>
            <a:off x="1281250" y="2527038"/>
            <a:ext cx="480600" cy="393000"/>
          </a:xfrm>
          <a:prstGeom prst="mathMinus">
            <a:avLst>
              <a:gd fmla="val 23520" name="adj1"/>
            </a:avLst>
          </a:prstGeom>
          <a:solidFill>
            <a:srgbClr val="F68D0C"/>
          </a:solidFill>
          <a:ln cap="flat" cmpd="sng" w="19050">
            <a:solidFill>
              <a:srgbClr val="5B59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30"/>
          <p:cNvSpPr/>
          <p:nvPr/>
        </p:nvSpPr>
        <p:spPr>
          <a:xfrm>
            <a:off x="3304575" y="3768425"/>
            <a:ext cx="480600" cy="393000"/>
          </a:xfrm>
          <a:prstGeom prst="mathMinus">
            <a:avLst>
              <a:gd fmla="val 23520" name="adj1"/>
            </a:avLst>
          </a:prstGeom>
          <a:solidFill>
            <a:srgbClr val="0000FF"/>
          </a:solidFill>
          <a:ln cap="flat" cmpd="sng" w="19050">
            <a:solidFill>
              <a:srgbClr val="5B59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30"/>
          <p:cNvSpPr/>
          <p:nvPr/>
        </p:nvSpPr>
        <p:spPr>
          <a:xfrm>
            <a:off x="4375500" y="1898325"/>
            <a:ext cx="393000" cy="436800"/>
          </a:xfrm>
          <a:prstGeom prst="mathMultiply">
            <a:avLst>
              <a:gd fmla="val 23520" name="adj1"/>
            </a:avLst>
          </a:prstGeom>
          <a:solidFill>
            <a:srgbClr val="CFD4D4"/>
          </a:solidFill>
          <a:ln cap="flat" cmpd="sng" w="19050">
            <a:solidFill>
              <a:srgbClr val="5B59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30"/>
          <p:cNvSpPr/>
          <p:nvPr/>
        </p:nvSpPr>
        <p:spPr>
          <a:xfrm>
            <a:off x="4375500" y="2476038"/>
            <a:ext cx="393000" cy="436800"/>
          </a:xfrm>
          <a:prstGeom prst="mathMultiply">
            <a:avLst>
              <a:gd fmla="val 23520" name="adj1"/>
            </a:avLst>
          </a:prstGeom>
          <a:solidFill>
            <a:srgbClr val="CFD4D4"/>
          </a:solidFill>
          <a:ln cap="flat" cmpd="sng" w="19050">
            <a:solidFill>
              <a:srgbClr val="5B59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30"/>
          <p:cNvSpPr/>
          <p:nvPr/>
        </p:nvSpPr>
        <p:spPr>
          <a:xfrm>
            <a:off x="4375500" y="3046675"/>
            <a:ext cx="393000" cy="436800"/>
          </a:xfrm>
          <a:prstGeom prst="mathMultiply">
            <a:avLst>
              <a:gd fmla="val 23520" name="adj1"/>
            </a:avLst>
          </a:prstGeom>
          <a:solidFill>
            <a:srgbClr val="CFD4D4"/>
          </a:solidFill>
          <a:ln cap="flat" cmpd="sng" w="19050">
            <a:solidFill>
              <a:srgbClr val="5B59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30"/>
          <p:cNvSpPr/>
          <p:nvPr/>
        </p:nvSpPr>
        <p:spPr>
          <a:xfrm>
            <a:off x="4375500" y="3717425"/>
            <a:ext cx="393000" cy="436800"/>
          </a:xfrm>
          <a:prstGeom prst="mathMultiply">
            <a:avLst>
              <a:gd fmla="val 23520" name="adj1"/>
            </a:avLst>
          </a:prstGeom>
          <a:solidFill>
            <a:srgbClr val="CFD4D4"/>
          </a:solidFill>
          <a:ln cap="flat" cmpd="sng" w="19050">
            <a:solidFill>
              <a:srgbClr val="5B59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30"/>
          <p:cNvSpPr/>
          <p:nvPr/>
        </p:nvSpPr>
        <p:spPr>
          <a:xfrm>
            <a:off x="5456825" y="1927425"/>
            <a:ext cx="349500" cy="378600"/>
          </a:xfrm>
          <a:prstGeom prst="mathPlus">
            <a:avLst>
              <a:gd fmla="val 23520" name="adj1"/>
            </a:avLst>
          </a:prstGeom>
          <a:solidFill>
            <a:srgbClr val="FF0000"/>
          </a:solidFill>
          <a:ln cap="flat" cmpd="sng" w="19050">
            <a:solidFill>
              <a:srgbClr val="5B59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30"/>
          <p:cNvSpPr/>
          <p:nvPr/>
        </p:nvSpPr>
        <p:spPr>
          <a:xfrm>
            <a:off x="7472700" y="3203038"/>
            <a:ext cx="349500" cy="378600"/>
          </a:xfrm>
          <a:prstGeom prst="mathPlus">
            <a:avLst>
              <a:gd fmla="val 23520" name="adj1"/>
            </a:avLst>
          </a:prstGeom>
          <a:solidFill>
            <a:srgbClr val="257E12"/>
          </a:solidFill>
          <a:ln cap="flat" cmpd="sng" w="19050">
            <a:solidFill>
              <a:srgbClr val="5B59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30"/>
          <p:cNvSpPr/>
          <p:nvPr/>
        </p:nvSpPr>
        <p:spPr>
          <a:xfrm>
            <a:off x="7472700" y="3775625"/>
            <a:ext cx="349500" cy="378600"/>
          </a:xfrm>
          <a:prstGeom prst="mathPlus">
            <a:avLst>
              <a:gd fmla="val 23520" name="adj1"/>
            </a:avLst>
          </a:prstGeom>
          <a:solidFill>
            <a:srgbClr val="257E12"/>
          </a:solidFill>
          <a:ln cap="flat" cmpd="sng" w="19050">
            <a:solidFill>
              <a:srgbClr val="5B59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30"/>
          <p:cNvSpPr/>
          <p:nvPr/>
        </p:nvSpPr>
        <p:spPr>
          <a:xfrm>
            <a:off x="3304575" y="2556138"/>
            <a:ext cx="480600" cy="393000"/>
          </a:xfrm>
          <a:prstGeom prst="mathMinus">
            <a:avLst>
              <a:gd fmla="val 23520" name="adj1"/>
            </a:avLst>
          </a:prstGeom>
          <a:solidFill>
            <a:srgbClr val="0000FF"/>
          </a:solidFill>
          <a:ln cap="flat" cmpd="sng" w="19050">
            <a:solidFill>
              <a:srgbClr val="5B59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30"/>
          <p:cNvSpPr/>
          <p:nvPr/>
        </p:nvSpPr>
        <p:spPr>
          <a:xfrm>
            <a:off x="5456825" y="2563338"/>
            <a:ext cx="349500" cy="378600"/>
          </a:xfrm>
          <a:prstGeom prst="mathPlus">
            <a:avLst>
              <a:gd fmla="val 23520" name="adj1"/>
            </a:avLst>
          </a:prstGeom>
          <a:solidFill>
            <a:srgbClr val="FF0000"/>
          </a:solidFill>
          <a:ln cap="flat" cmpd="sng" w="19050">
            <a:solidFill>
              <a:srgbClr val="5B59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30"/>
          <p:cNvSpPr/>
          <p:nvPr/>
        </p:nvSpPr>
        <p:spPr>
          <a:xfrm>
            <a:off x="1281250" y="3195838"/>
            <a:ext cx="480600" cy="393000"/>
          </a:xfrm>
          <a:prstGeom prst="mathMinus">
            <a:avLst>
              <a:gd fmla="val 23520" name="adj1"/>
            </a:avLst>
          </a:prstGeom>
          <a:solidFill>
            <a:srgbClr val="F68D0C"/>
          </a:solidFill>
          <a:ln cap="flat" cmpd="sng" w="19050">
            <a:solidFill>
              <a:srgbClr val="5B59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30"/>
          <p:cNvSpPr/>
          <p:nvPr/>
        </p:nvSpPr>
        <p:spPr>
          <a:xfrm>
            <a:off x="1281250" y="3804725"/>
            <a:ext cx="349500" cy="378600"/>
          </a:xfrm>
          <a:prstGeom prst="mathPlus">
            <a:avLst>
              <a:gd fmla="val 23520" name="adj1"/>
            </a:avLst>
          </a:prstGeom>
          <a:solidFill>
            <a:srgbClr val="F68D0C"/>
          </a:solidFill>
          <a:ln cap="flat" cmpd="sng" w="19050">
            <a:solidFill>
              <a:srgbClr val="5B59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30"/>
          <p:cNvSpPr/>
          <p:nvPr/>
        </p:nvSpPr>
        <p:spPr>
          <a:xfrm>
            <a:off x="3370125" y="3203038"/>
            <a:ext cx="349500" cy="378600"/>
          </a:xfrm>
          <a:prstGeom prst="mathPlus">
            <a:avLst>
              <a:gd fmla="val 23520" name="adj1"/>
            </a:avLst>
          </a:prstGeom>
          <a:solidFill>
            <a:srgbClr val="0000FF"/>
          </a:solidFill>
          <a:ln cap="flat" cmpd="sng" w="19050">
            <a:solidFill>
              <a:srgbClr val="5B59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30"/>
          <p:cNvSpPr/>
          <p:nvPr/>
        </p:nvSpPr>
        <p:spPr>
          <a:xfrm>
            <a:off x="5391275" y="3195838"/>
            <a:ext cx="480600" cy="393000"/>
          </a:xfrm>
          <a:prstGeom prst="mathMinus">
            <a:avLst>
              <a:gd fmla="val 23520" name="adj1"/>
            </a:avLst>
          </a:prstGeom>
          <a:solidFill>
            <a:srgbClr val="FF0000"/>
          </a:solidFill>
          <a:ln cap="flat" cmpd="sng" w="19050">
            <a:solidFill>
              <a:srgbClr val="5B59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30"/>
          <p:cNvSpPr/>
          <p:nvPr/>
        </p:nvSpPr>
        <p:spPr>
          <a:xfrm>
            <a:off x="5391275" y="3768425"/>
            <a:ext cx="480600" cy="393000"/>
          </a:xfrm>
          <a:prstGeom prst="mathMinus">
            <a:avLst>
              <a:gd fmla="val 23520" name="adj1"/>
            </a:avLst>
          </a:prstGeom>
          <a:solidFill>
            <a:srgbClr val="FF0000"/>
          </a:solidFill>
          <a:ln cap="flat" cmpd="sng" w="19050">
            <a:solidFill>
              <a:srgbClr val="5B59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3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Structural balance theory</a:t>
            </a:r>
            <a:endParaRPr/>
          </a:p>
        </p:txBody>
      </p:sp>
      <p:sp>
        <p:nvSpPr>
          <p:cNvPr id="219" name="Google Shape;219;p31"/>
          <p:cNvSpPr txBox="1"/>
          <p:nvPr>
            <p:ph idx="1" type="body"/>
          </p:nvPr>
        </p:nvSpPr>
        <p:spPr>
          <a:xfrm>
            <a:off x="311700" y="1225225"/>
            <a:ext cx="8520600" cy="12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Balance is formally defined as the sign of the product of the weights attached to each edge in the cycle.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Balance reduces “tension” and is experienced as satisfactory (stable equilibrium)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220" name="Google Shape;220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12750" y="2465425"/>
            <a:ext cx="3918501" cy="2249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32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Structural balance theory</a:t>
            </a:r>
            <a:endParaRPr/>
          </a:p>
        </p:txBody>
      </p:sp>
      <p:sp>
        <p:nvSpPr>
          <p:cNvPr id="226" name="Google Shape;226;p32"/>
          <p:cNvSpPr txBox="1"/>
          <p:nvPr>
            <p:ph idx="1" type="body"/>
          </p:nvPr>
        </p:nvSpPr>
        <p:spPr>
          <a:xfrm>
            <a:off x="311700" y="1225225"/>
            <a:ext cx="8520600" cy="12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Balance is formally defined as the sign of the product of the weights attached to each edge in the cycle.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Imbalance is experienced as tension and discomfort (unstable state) that must be resolved (balanced)</a:t>
            </a:r>
            <a:endParaRPr/>
          </a:p>
          <a:p>
            <a:pPr indent="0" lvl="0" marL="45720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227" name="Google Shape;227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12750" y="2465425"/>
            <a:ext cx="3918501" cy="2249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33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Structural balance theory</a:t>
            </a:r>
            <a:endParaRPr/>
          </a:p>
        </p:txBody>
      </p:sp>
      <p:sp>
        <p:nvSpPr>
          <p:cNvPr id="233" name="Google Shape;233;p33"/>
          <p:cNvSpPr txBox="1"/>
          <p:nvPr>
            <p:ph idx="1" type="body"/>
          </p:nvPr>
        </p:nvSpPr>
        <p:spPr>
          <a:xfrm>
            <a:off x="311700" y="1225225"/>
            <a:ext cx="8520600" cy="12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Balance is formally defined as the sign of the product of the weights attached to each edge in the cycle.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Imbalance is experienced as tension and discomfort (unstable state) that must be resolved (balanced)</a:t>
            </a:r>
            <a:endParaRPr/>
          </a:p>
          <a:p>
            <a:pPr indent="0" lvl="0" marL="45720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234" name="Google Shape;234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71250" y="2465425"/>
            <a:ext cx="3801500" cy="2249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3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Structural balance theory</a:t>
            </a:r>
            <a:endParaRPr/>
          </a:p>
        </p:txBody>
      </p:sp>
      <p:sp>
        <p:nvSpPr>
          <p:cNvPr id="240" name="Google Shape;240;p34"/>
          <p:cNvSpPr txBox="1"/>
          <p:nvPr>
            <p:ph idx="1" type="body"/>
          </p:nvPr>
        </p:nvSpPr>
        <p:spPr>
          <a:xfrm>
            <a:off x="311700" y="1225225"/>
            <a:ext cx="8520600" cy="12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Balance is formally defined as the sign of the product of the weights attached to each edge in the cycle.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Imbalance is experienced as tension and discomfort (unstable state) that must be resolved (balanced)</a:t>
            </a:r>
            <a:endParaRPr/>
          </a:p>
          <a:p>
            <a:pPr indent="0" lvl="0" marL="45720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241" name="Google Shape;241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52050" y="2465425"/>
            <a:ext cx="3801500" cy="2249125"/>
          </a:xfrm>
          <a:prstGeom prst="rect">
            <a:avLst/>
          </a:prstGeom>
          <a:noFill/>
          <a:ln>
            <a:noFill/>
          </a:ln>
        </p:spPr>
      </p:pic>
      <p:sp>
        <p:nvSpPr>
          <p:cNvPr id="242" name="Google Shape;242;p34"/>
          <p:cNvSpPr txBox="1"/>
          <p:nvPr/>
        </p:nvSpPr>
        <p:spPr>
          <a:xfrm>
            <a:off x="1313875" y="4118675"/>
            <a:ext cx="1092600" cy="280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Impact"/>
                <a:ea typeface="Impact"/>
                <a:cs typeface="Impact"/>
                <a:sym typeface="Impact"/>
              </a:rPr>
              <a:t>You</a:t>
            </a:r>
            <a:endParaRPr b="1"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243" name="Google Shape;243;p34"/>
          <p:cNvSpPr txBox="1"/>
          <p:nvPr/>
        </p:nvSpPr>
        <p:spPr>
          <a:xfrm>
            <a:off x="3875950" y="4118675"/>
            <a:ext cx="1546800" cy="280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Impact"/>
                <a:ea typeface="Impact"/>
                <a:cs typeface="Impact"/>
                <a:sym typeface="Impact"/>
              </a:rPr>
              <a:t>Clint Eastwood</a:t>
            </a:r>
            <a:endParaRPr b="1"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244" name="Google Shape;244;p34"/>
          <p:cNvSpPr txBox="1"/>
          <p:nvPr/>
        </p:nvSpPr>
        <p:spPr>
          <a:xfrm>
            <a:off x="2222700" y="2588800"/>
            <a:ext cx="1885200" cy="280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Impact"/>
                <a:ea typeface="Impact"/>
                <a:cs typeface="Impact"/>
                <a:sym typeface="Impact"/>
              </a:rPr>
              <a:t>Republican Party</a:t>
            </a:r>
            <a:endParaRPr b="1">
              <a:latin typeface="Impact"/>
              <a:ea typeface="Impact"/>
              <a:cs typeface="Impact"/>
              <a:sym typeface="Impact"/>
            </a:endParaRPr>
          </a:p>
        </p:txBody>
      </p:sp>
      <p:pic>
        <p:nvPicPr>
          <p:cNvPr id="245" name="Google Shape;245;p3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549175" y="2403350"/>
            <a:ext cx="2203756" cy="23732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3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Structural balance theory</a:t>
            </a:r>
            <a:endParaRPr/>
          </a:p>
        </p:txBody>
      </p:sp>
      <p:sp>
        <p:nvSpPr>
          <p:cNvPr id="251" name="Google Shape;251;p35"/>
          <p:cNvSpPr txBox="1"/>
          <p:nvPr>
            <p:ph idx="1" type="body"/>
          </p:nvPr>
        </p:nvSpPr>
        <p:spPr>
          <a:xfrm>
            <a:off x="311700" y="1225225"/>
            <a:ext cx="8520600" cy="12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Balance is formally defined as the sign of the product of the weights attached to each edge in the cycle.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Imbalance is experienced as tension and discomfort (unstable state) that must be resolved (balanced)</a:t>
            </a:r>
            <a:endParaRPr/>
          </a:p>
          <a:p>
            <a:pPr indent="0" lvl="0" marL="45720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252" name="Google Shape;252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71250" y="2465425"/>
            <a:ext cx="3801500" cy="2249125"/>
          </a:xfrm>
          <a:prstGeom prst="rect">
            <a:avLst/>
          </a:prstGeom>
          <a:noFill/>
          <a:ln>
            <a:noFill/>
          </a:ln>
        </p:spPr>
      </p:pic>
      <p:sp>
        <p:nvSpPr>
          <p:cNvPr id="253" name="Google Shape;253;p35"/>
          <p:cNvSpPr txBox="1"/>
          <p:nvPr/>
        </p:nvSpPr>
        <p:spPr>
          <a:xfrm>
            <a:off x="2533075" y="4118675"/>
            <a:ext cx="1092600" cy="280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Impact"/>
                <a:ea typeface="Impact"/>
                <a:cs typeface="Impact"/>
                <a:sym typeface="Impact"/>
              </a:rPr>
              <a:t>Americans</a:t>
            </a:r>
            <a:endParaRPr b="1"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254" name="Google Shape;254;p35"/>
          <p:cNvSpPr txBox="1"/>
          <p:nvPr/>
        </p:nvSpPr>
        <p:spPr>
          <a:xfrm>
            <a:off x="5095150" y="4118675"/>
            <a:ext cx="1546800" cy="280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Impact"/>
                <a:ea typeface="Impact"/>
                <a:cs typeface="Impact"/>
                <a:sym typeface="Impact"/>
              </a:rPr>
              <a:t>Public Education</a:t>
            </a:r>
            <a:endParaRPr b="1"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255" name="Google Shape;255;p35"/>
          <p:cNvSpPr txBox="1"/>
          <p:nvPr/>
        </p:nvSpPr>
        <p:spPr>
          <a:xfrm>
            <a:off x="3441900" y="2588800"/>
            <a:ext cx="1885200" cy="280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Impact"/>
                <a:ea typeface="Impact"/>
                <a:cs typeface="Impact"/>
                <a:sym typeface="Impact"/>
              </a:rPr>
              <a:t>Taxes</a:t>
            </a:r>
            <a:endParaRPr b="1">
              <a:latin typeface="Impact"/>
              <a:ea typeface="Impact"/>
              <a:cs typeface="Impact"/>
              <a:sym typeface="Impact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3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Structural balance theory</a:t>
            </a:r>
            <a:endParaRPr/>
          </a:p>
        </p:txBody>
      </p:sp>
      <p:sp>
        <p:nvSpPr>
          <p:cNvPr id="261" name="Google Shape;261;p36"/>
          <p:cNvSpPr txBox="1"/>
          <p:nvPr>
            <p:ph idx="1" type="body"/>
          </p:nvPr>
        </p:nvSpPr>
        <p:spPr>
          <a:xfrm>
            <a:off x="311700" y="1225225"/>
            <a:ext cx="8520600" cy="146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Balance "rules"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If P likes O, and O likes Q, P likes Q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If P likes O, and O dislikes Q, P dislikes Q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If P dislikes O, and O likes Q, P dislikes Q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If P dislikes O and O dislikes Q, P likes Q</a:t>
            </a:r>
            <a:endParaRPr/>
          </a:p>
        </p:txBody>
      </p:sp>
      <p:pic>
        <p:nvPicPr>
          <p:cNvPr id="262" name="Google Shape;262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06325" y="2687725"/>
            <a:ext cx="3531340" cy="2027625"/>
          </a:xfrm>
          <a:prstGeom prst="rect">
            <a:avLst/>
          </a:prstGeom>
          <a:noFill/>
          <a:ln>
            <a:noFill/>
          </a:ln>
        </p:spPr>
      </p:pic>
      <p:sp>
        <p:nvSpPr>
          <p:cNvPr id="263" name="Google Shape;263;p36"/>
          <p:cNvSpPr/>
          <p:nvPr/>
        </p:nvSpPr>
        <p:spPr>
          <a:xfrm>
            <a:off x="2745775" y="2687725"/>
            <a:ext cx="766500" cy="676800"/>
          </a:xfrm>
          <a:prstGeom prst="rect">
            <a:avLst/>
          </a:prstGeom>
          <a:noFill/>
          <a:ln cap="flat" cmpd="sng" w="19050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37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Structural balance theory</a:t>
            </a:r>
            <a:endParaRPr/>
          </a:p>
        </p:txBody>
      </p:sp>
      <p:sp>
        <p:nvSpPr>
          <p:cNvPr id="269" name="Google Shape;269;p37"/>
          <p:cNvSpPr txBox="1"/>
          <p:nvPr>
            <p:ph idx="1" type="body"/>
          </p:nvPr>
        </p:nvSpPr>
        <p:spPr>
          <a:xfrm>
            <a:off x="311700" y="1225225"/>
            <a:ext cx="8520600" cy="146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Balance "rules"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If P likes O, and O likes Q, P likes Q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If P likes O, and O dislikes Q, P dislikes Q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If P dislikes O, and O likes Q, P dislikes Q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If P dislikes O and O dislikes Q, P likes Q</a:t>
            </a:r>
            <a:endParaRPr/>
          </a:p>
        </p:txBody>
      </p:sp>
      <p:pic>
        <p:nvPicPr>
          <p:cNvPr id="270" name="Google Shape;270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06325" y="2687725"/>
            <a:ext cx="3531340" cy="2027625"/>
          </a:xfrm>
          <a:prstGeom prst="rect">
            <a:avLst/>
          </a:prstGeom>
          <a:noFill/>
          <a:ln>
            <a:noFill/>
          </a:ln>
        </p:spPr>
      </p:pic>
      <p:sp>
        <p:nvSpPr>
          <p:cNvPr id="271" name="Google Shape;271;p37"/>
          <p:cNvSpPr/>
          <p:nvPr/>
        </p:nvSpPr>
        <p:spPr>
          <a:xfrm>
            <a:off x="3681300" y="2687725"/>
            <a:ext cx="766500" cy="676800"/>
          </a:xfrm>
          <a:prstGeom prst="rect">
            <a:avLst/>
          </a:prstGeom>
          <a:noFill/>
          <a:ln cap="flat" cmpd="sng" w="19050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38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Structural balance theory</a:t>
            </a:r>
            <a:endParaRPr/>
          </a:p>
        </p:txBody>
      </p:sp>
      <p:sp>
        <p:nvSpPr>
          <p:cNvPr id="277" name="Google Shape;277;p38"/>
          <p:cNvSpPr txBox="1"/>
          <p:nvPr>
            <p:ph idx="1" type="body"/>
          </p:nvPr>
        </p:nvSpPr>
        <p:spPr>
          <a:xfrm>
            <a:off x="311700" y="1225225"/>
            <a:ext cx="8520600" cy="146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Balance "rules"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If P likes O, and O likes Q, P likes Q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If P likes O, and O dislikes Q, P dislikes Q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If P dislikes O, and O likes Q, P dislikes Q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If P dislikes O and O dislikes Q, P likes Q</a:t>
            </a:r>
            <a:endParaRPr/>
          </a:p>
        </p:txBody>
      </p:sp>
      <p:pic>
        <p:nvPicPr>
          <p:cNvPr id="278" name="Google Shape;278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06325" y="2687725"/>
            <a:ext cx="3531340" cy="2027625"/>
          </a:xfrm>
          <a:prstGeom prst="rect">
            <a:avLst/>
          </a:prstGeom>
          <a:noFill/>
          <a:ln>
            <a:noFill/>
          </a:ln>
        </p:spPr>
      </p:pic>
      <p:sp>
        <p:nvSpPr>
          <p:cNvPr id="279" name="Google Shape;279;p38"/>
          <p:cNvSpPr/>
          <p:nvPr/>
        </p:nvSpPr>
        <p:spPr>
          <a:xfrm>
            <a:off x="4631100" y="2687725"/>
            <a:ext cx="766500" cy="676800"/>
          </a:xfrm>
          <a:prstGeom prst="rect">
            <a:avLst/>
          </a:prstGeom>
          <a:noFill/>
          <a:ln cap="flat" cmpd="sng" w="19050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39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Structural balance theory</a:t>
            </a:r>
            <a:endParaRPr/>
          </a:p>
        </p:txBody>
      </p:sp>
      <p:sp>
        <p:nvSpPr>
          <p:cNvPr id="285" name="Google Shape;285;p39"/>
          <p:cNvSpPr txBox="1"/>
          <p:nvPr>
            <p:ph idx="1" type="body"/>
          </p:nvPr>
        </p:nvSpPr>
        <p:spPr>
          <a:xfrm>
            <a:off x="311700" y="1225225"/>
            <a:ext cx="8520600" cy="146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Balance "rules"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If P likes O, and O likes Q, P likes Q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If P likes O, and O dislikes Q, P dislikes Q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If P dislikes O, and O likes Q, P dislikes Q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If P dislikes O and O dislikes Q, P likes Q</a:t>
            </a:r>
            <a:endParaRPr b="1"/>
          </a:p>
        </p:txBody>
      </p:sp>
      <p:pic>
        <p:nvPicPr>
          <p:cNvPr id="286" name="Google Shape;286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06325" y="2687725"/>
            <a:ext cx="3531340" cy="2027625"/>
          </a:xfrm>
          <a:prstGeom prst="rect">
            <a:avLst/>
          </a:prstGeom>
          <a:noFill/>
          <a:ln>
            <a:noFill/>
          </a:ln>
        </p:spPr>
      </p:pic>
      <p:sp>
        <p:nvSpPr>
          <p:cNvPr id="287" name="Google Shape;287;p39"/>
          <p:cNvSpPr/>
          <p:nvPr/>
        </p:nvSpPr>
        <p:spPr>
          <a:xfrm>
            <a:off x="5571175" y="2687725"/>
            <a:ext cx="766500" cy="676800"/>
          </a:xfrm>
          <a:prstGeom prst="rect">
            <a:avLst/>
          </a:prstGeom>
          <a:noFill/>
          <a:ln cap="flat" cmpd="sng" w="19050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40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Structural balance theory</a:t>
            </a:r>
            <a:endParaRPr/>
          </a:p>
        </p:txBody>
      </p:sp>
      <p:sp>
        <p:nvSpPr>
          <p:cNvPr id="293" name="Google Shape;293;p40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Open Sans"/>
              <a:buChar char="●"/>
            </a:pPr>
            <a:r>
              <a:rPr lang="en"/>
              <a:t>Balance "rules"</a:t>
            </a:r>
            <a:endParaRPr/>
          </a:p>
          <a:p>
            <a:pPr indent="-3429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Open Sans"/>
              <a:buChar char="○"/>
            </a:pPr>
            <a:r>
              <a:rPr lang="en" sz="1800"/>
              <a:t>Friend of a friend is a friend</a:t>
            </a:r>
            <a:endParaRPr sz="1800"/>
          </a:p>
          <a:p>
            <a:pPr indent="-3429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Open Sans"/>
              <a:buChar char="○"/>
            </a:pPr>
            <a:r>
              <a:rPr lang="en" sz="1800"/>
              <a:t>Enemy of an Enemy is a friend</a:t>
            </a:r>
            <a:endParaRPr sz="1800"/>
          </a:p>
          <a:p>
            <a:pPr indent="-3429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Open Sans"/>
              <a:buChar char="○"/>
            </a:pPr>
            <a:r>
              <a:rPr lang="en" sz="1800"/>
              <a:t>Friend of an enemy is an enemy</a:t>
            </a:r>
            <a:endParaRPr sz="1800"/>
          </a:p>
          <a:p>
            <a:pPr indent="-3429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Open Sans"/>
              <a:buChar char="○"/>
            </a:pPr>
            <a:r>
              <a:rPr lang="en" sz="1800"/>
              <a:t>Enemy of a friend is an enemy</a:t>
            </a:r>
            <a:endParaRPr sz="18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Can extend to non-signed binary relationships.  </a:t>
            </a:r>
            <a:endParaRPr/>
          </a:p>
        </p:txBody>
      </p:sp>
      <p:pic>
        <p:nvPicPr>
          <p:cNvPr id="294" name="Google Shape;294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57388" y="1354313"/>
            <a:ext cx="3707606" cy="2128838"/>
          </a:xfrm>
          <a:prstGeom prst="rect">
            <a:avLst/>
          </a:prstGeom>
          <a:noFill/>
          <a:ln>
            <a:noFill/>
          </a:ln>
        </p:spPr>
      </p:pic>
      <p:sp>
        <p:nvSpPr>
          <p:cNvPr id="295" name="Google Shape;295;p40"/>
          <p:cNvSpPr txBox="1"/>
          <p:nvPr/>
        </p:nvSpPr>
        <p:spPr>
          <a:xfrm>
            <a:off x="352350" y="22860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4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Structural balance theory</a:t>
            </a:r>
            <a:endParaRPr/>
          </a:p>
        </p:txBody>
      </p:sp>
      <p:sp>
        <p:nvSpPr>
          <p:cNvPr id="301" name="Google Shape;301;p41"/>
          <p:cNvSpPr txBox="1"/>
          <p:nvPr>
            <p:ph idx="1" type="body"/>
          </p:nvPr>
        </p:nvSpPr>
        <p:spPr>
          <a:xfrm>
            <a:off x="311700" y="1225225"/>
            <a:ext cx="8520600" cy="12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</a:pPr>
            <a:r>
              <a:rPr lang="en"/>
              <a:t>Considering relations of multiple others in relation to the same object can lead to more complex mixtures of balance and imbalance: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“cross-pressure” situation</a:t>
            </a:r>
            <a:endParaRPr/>
          </a:p>
          <a:p>
            <a:pPr indent="0" lvl="0" marL="45720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grpSp>
        <p:nvGrpSpPr>
          <p:cNvPr id="302" name="Google Shape;302;p41"/>
          <p:cNvGrpSpPr/>
          <p:nvPr/>
        </p:nvGrpSpPr>
        <p:grpSpPr>
          <a:xfrm>
            <a:off x="2260837" y="2465425"/>
            <a:ext cx="4622334" cy="2286477"/>
            <a:chOff x="2174275" y="2339700"/>
            <a:chExt cx="4795450" cy="2412150"/>
          </a:xfrm>
        </p:grpSpPr>
        <p:grpSp>
          <p:nvGrpSpPr>
            <p:cNvPr id="303" name="Google Shape;303;p41"/>
            <p:cNvGrpSpPr/>
            <p:nvPr/>
          </p:nvGrpSpPr>
          <p:grpSpPr>
            <a:xfrm>
              <a:off x="2174275" y="2465425"/>
              <a:ext cx="4795450" cy="2286425"/>
              <a:chOff x="1788625" y="2465425"/>
              <a:chExt cx="4795450" cy="2286425"/>
            </a:xfrm>
          </p:grpSpPr>
          <p:pic>
            <p:nvPicPr>
              <p:cNvPr id="304" name="Google Shape;304;p41"/>
              <p:cNvPicPr preferRelativeResize="0"/>
              <p:nvPr/>
            </p:nvPicPr>
            <p:blipFill rotWithShape="1">
              <a:blip r:embed="rId3">
                <a:alphaModFix/>
              </a:blip>
              <a:srcRect b="0" l="1786" r="15144" t="0"/>
              <a:stretch/>
            </p:blipFill>
            <p:spPr>
              <a:xfrm>
                <a:off x="1788625" y="2465425"/>
                <a:ext cx="4795450" cy="2286425"/>
              </a:xfrm>
              <a:prstGeom prst="rect">
                <a:avLst/>
              </a:prstGeom>
              <a:noFill/>
              <a:ln>
                <a:noFill/>
              </a:ln>
            </p:spPr>
          </p:pic>
          <p:cxnSp>
            <p:nvCxnSpPr>
              <p:cNvPr id="305" name="Google Shape;305;p41"/>
              <p:cNvCxnSpPr/>
              <p:nvPr/>
            </p:nvCxnSpPr>
            <p:spPr>
              <a:xfrm>
                <a:off x="4127828" y="2800028"/>
                <a:ext cx="11173" cy="1148021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06" name="Google Shape;306;p41"/>
              <p:cNvCxnSpPr/>
              <p:nvPr/>
            </p:nvCxnSpPr>
            <p:spPr>
              <a:xfrm>
                <a:off x="4271696" y="2810112"/>
                <a:ext cx="0" cy="1168536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dash"/>
                <a:round/>
                <a:headEnd len="med" w="med" type="none"/>
                <a:tailEnd len="med" w="med" type="none"/>
              </a:ln>
            </p:spPr>
          </p:cxnSp>
        </p:grpSp>
        <p:sp>
          <p:nvSpPr>
            <p:cNvPr id="307" name="Google Shape;307;p41"/>
            <p:cNvSpPr txBox="1"/>
            <p:nvPr/>
          </p:nvSpPr>
          <p:spPr>
            <a:xfrm>
              <a:off x="4408725" y="2339700"/>
              <a:ext cx="367500" cy="348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1" lang="en" sz="1700">
                  <a:latin typeface="Impact"/>
                  <a:ea typeface="Impact"/>
                  <a:cs typeface="Impact"/>
                  <a:sym typeface="Impact"/>
                </a:rPr>
                <a:t>Q</a:t>
              </a:r>
              <a:endParaRPr b="1" i="1" sz="1700">
                <a:latin typeface="Impact"/>
                <a:ea typeface="Impact"/>
                <a:cs typeface="Impact"/>
                <a:sym typeface="Impact"/>
              </a:endParaRPr>
            </a:p>
          </p:txBody>
        </p:sp>
      </p:grp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42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Structural balance theory</a:t>
            </a:r>
            <a:endParaRPr/>
          </a:p>
        </p:txBody>
      </p:sp>
      <p:sp>
        <p:nvSpPr>
          <p:cNvPr id="313" name="Google Shape;313;p42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Cartwright and Harary (1956) proved that if all of the triads in a signed value matrix are balanced, then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matrix can be blocked into </a:t>
            </a:r>
            <a:r>
              <a:rPr b="1" lang="en"/>
              <a:t>two mutually exclusive groups</a:t>
            </a:r>
            <a:r>
              <a:rPr lang="en"/>
              <a:t> such that: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All edges with positive weights are within blocks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All edges with negative weights are between blocks.</a:t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descr="Screenshot 2017-09-21 at 09.39.13.png" id="314" name="Google Shape;314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90788" y="2973195"/>
            <a:ext cx="5762425" cy="1606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43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Structural balance theory</a:t>
            </a:r>
            <a:endParaRPr/>
          </a:p>
        </p:txBody>
      </p:sp>
      <p:sp>
        <p:nvSpPr>
          <p:cNvPr id="320" name="Google Shape;320;p43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</a:pPr>
            <a:r>
              <a:rPr lang="en"/>
              <a:t>This "structural balance" formalizes a key intuition between balance processes at the micro-level and macro-level group structure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Balance seeking </a:t>
            </a:r>
            <a:r>
              <a:rPr lang="en"/>
              <a:t>at the micro-level leads to </a:t>
            </a:r>
            <a:r>
              <a:rPr b="1" lang="en"/>
              <a:t>group polarization</a:t>
            </a:r>
            <a:r>
              <a:rPr lang="en"/>
              <a:t> at the macro-level</a:t>
            </a:r>
            <a:endParaRPr/>
          </a:p>
        </p:txBody>
      </p:sp>
      <p:pic>
        <p:nvPicPr>
          <p:cNvPr descr="Screenshot 2017-09-21 at 09.39.13.png" id="321" name="Google Shape;321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90788" y="2973195"/>
            <a:ext cx="5762425" cy="1606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4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Structural balance theory</a:t>
            </a:r>
            <a:endParaRPr/>
          </a:p>
        </p:txBody>
      </p:sp>
      <p:grpSp>
        <p:nvGrpSpPr>
          <p:cNvPr id="327" name="Google Shape;327;p44"/>
          <p:cNvGrpSpPr/>
          <p:nvPr/>
        </p:nvGrpSpPr>
        <p:grpSpPr>
          <a:xfrm>
            <a:off x="352175" y="1147223"/>
            <a:ext cx="8480126" cy="3367100"/>
            <a:chOff x="352175" y="1147223"/>
            <a:chExt cx="8480126" cy="3367100"/>
          </a:xfrm>
        </p:grpSpPr>
        <p:pic>
          <p:nvPicPr>
            <p:cNvPr id="328" name="Google Shape;328;p4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5388601" y="1147223"/>
              <a:ext cx="3443700" cy="336710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329" name="Google Shape;329;p44"/>
            <p:cNvGrpSpPr/>
            <p:nvPr/>
          </p:nvGrpSpPr>
          <p:grpSpPr>
            <a:xfrm>
              <a:off x="352175" y="1485176"/>
              <a:ext cx="4556901" cy="2172926"/>
              <a:chOff x="381175" y="1132288"/>
              <a:chExt cx="4556901" cy="2172926"/>
            </a:xfrm>
          </p:grpSpPr>
          <p:sp>
            <p:nvSpPr>
              <p:cNvPr id="330" name="Google Shape;330;p44"/>
              <p:cNvSpPr txBox="1"/>
              <p:nvPr/>
            </p:nvSpPr>
            <p:spPr>
              <a:xfrm>
                <a:off x="381175" y="2941614"/>
                <a:ext cx="1790100" cy="363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/>
                  <a:t>P(liberal retweeter)</a:t>
                </a:r>
                <a:endParaRPr/>
              </a:p>
            </p:txBody>
          </p:sp>
          <p:sp>
            <p:nvSpPr>
              <p:cNvPr id="331" name="Google Shape;331;p44"/>
              <p:cNvSpPr txBox="1"/>
              <p:nvPr/>
            </p:nvSpPr>
            <p:spPr>
              <a:xfrm>
                <a:off x="3280276" y="2941614"/>
                <a:ext cx="1657800" cy="363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/>
                  <a:t>O(liberal tweeter)</a:t>
                </a:r>
                <a:endParaRPr/>
              </a:p>
            </p:txBody>
          </p:sp>
          <p:sp>
            <p:nvSpPr>
              <p:cNvPr id="332" name="Google Shape;332;p44"/>
              <p:cNvSpPr txBox="1"/>
              <p:nvPr/>
            </p:nvSpPr>
            <p:spPr>
              <a:xfrm>
                <a:off x="1276219" y="1132288"/>
                <a:ext cx="2564100" cy="363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/>
                  <a:t>Q(liberal tweet)</a:t>
                </a:r>
                <a:endParaRPr/>
              </a:p>
            </p:txBody>
          </p:sp>
        </p:grpSp>
      </p:grpSp>
      <p:cxnSp>
        <p:nvCxnSpPr>
          <p:cNvPr id="333" name="Google Shape;333;p44"/>
          <p:cNvCxnSpPr>
            <a:stCxn id="330" idx="3"/>
            <a:endCxn id="331" idx="1"/>
          </p:cNvCxnSpPr>
          <p:nvPr/>
        </p:nvCxnSpPr>
        <p:spPr>
          <a:xfrm>
            <a:off x="2142275" y="3476302"/>
            <a:ext cx="1109100" cy="0"/>
          </a:xfrm>
          <a:prstGeom prst="straightConnector1">
            <a:avLst/>
          </a:prstGeom>
          <a:noFill/>
          <a:ln cap="flat" cmpd="sng" w="28575">
            <a:solidFill>
              <a:srgbClr val="5B595A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34" name="Google Shape;334;p44"/>
          <p:cNvCxnSpPr>
            <a:stCxn id="330" idx="0"/>
            <a:endCxn id="332" idx="2"/>
          </p:cNvCxnSpPr>
          <p:nvPr/>
        </p:nvCxnSpPr>
        <p:spPr>
          <a:xfrm flipH="1" rot="10800000">
            <a:off x="1247225" y="1848802"/>
            <a:ext cx="1281900" cy="1445700"/>
          </a:xfrm>
          <a:prstGeom prst="straightConnector1">
            <a:avLst/>
          </a:prstGeom>
          <a:noFill/>
          <a:ln cap="flat" cmpd="sng" w="28575">
            <a:solidFill>
              <a:srgbClr val="5B595A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35" name="Google Shape;335;p44"/>
          <p:cNvCxnSpPr>
            <a:stCxn id="331" idx="0"/>
            <a:endCxn id="332" idx="2"/>
          </p:cNvCxnSpPr>
          <p:nvPr/>
        </p:nvCxnSpPr>
        <p:spPr>
          <a:xfrm rot="10800000">
            <a:off x="2529176" y="1848802"/>
            <a:ext cx="1551000" cy="1445700"/>
          </a:xfrm>
          <a:prstGeom prst="straightConnector1">
            <a:avLst/>
          </a:prstGeom>
          <a:noFill/>
          <a:ln cap="flat" cmpd="sng" w="28575">
            <a:solidFill>
              <a:srgbClr val="5B595A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4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Structural balance theory</a:t>
            </a:r>
            <a:endParaRPr/>
          </a:p>
        </p:txBody>
      </p:sp>
      <p:sp>
        <p:nvSpPr>
          <p:cNvPr id="341" name="Google Shape;341;p45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</a:pPr>
            <a:r>
              <a:rPr lang="en"/>
              <a:t>This is a mathematically elegant result, but…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Does structural balance hold in the real world?</a:t>
            </a:r>
            <a:endParaRPr/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Davis (1967) examined evidence on a large set of sociograms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He found that triads (b) and (d) are over-represented and triad (c) is </a:t>
            </a:r>
            <a:r>
              <a:rPr lang="en"/>
              <a:t>underrepresented</a:t>
            </a:r>
            <a:r>
              <a:rPr lang="en"/>
              <a:t> </a:t>
            </a:r>
            <a:endParaRPr/>
          </a:p>
          <a:p>
            <a: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But triad (a) is not </a:t>
            </a:r>
            <a:r>
              <a:rPr lang="en"/>
              <a:t>underrepresented</a:t>
            </a:r>
            <a:r>
              <a:rPr lang="en"/>
              <a:t> </a:t>
            </a:r>
            <a:endParaRPr/>
          </a:p>
        </p:txBody>
      </p:sp>
      <p:pic>
        <p:nvPicPr>
          <p:cNvPr descr="Screenshot 2017-09-21 at 09.39.13.png" id="342" name="Google Shape;342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90788" y="2973195"/>
            <a:ext cx="5762425" cy="1606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4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Structural balance theory</a:t>
            </a:r>
            <a:endParaRPr/>
          </a:p>
        </p:txBody>
      </p:sp>
      <p:sp>
        <p:nvSpPr>
          <p:cNvPr id="348" name="Google Shape;348;p46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</a:pPr>
            <a:r>
              <a:rPr lang="en"/>
              <a:t>This is a mathematically elegant result, but…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Does structural balance hold in the real world?</a:t>
            </a:r>
            <a:endParaRPr/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Davis (1967) referred to such a distribution in which “enemies of enemies could be either friends or enemies” as </a:t>
            </a:r>
            <a:r>
              <a:rPr b="1" lang="en"/>
              <a:t>generalized balance</a:t>
            </a:r>
            <a:endParaRPr b="1"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 relaxation of the stronger structural balance condition</a:t>
            </a:r>
            <a:endParaRPr/>
          </a:p>
        </p:txBody>
      </p:sp>
      <p:pic>
        <p:nvPicPr>
          <p:cNvPr descr="Screenshot 2017-09-21 at 09.39.13.png" id="349" name="Google Shape;349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90788" y="2973195"/>
            <a:ext cx="5762425" cy="1606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47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Generalized</a:t>
            </a:r>
            <a:r>
              <a:rPr lang="en"/>
              <a:t> balance </a:t>
            </a:r>
            <a:endParaRPr/>
          </a:p>
        </p:txBody>
      </p:sp>
      <p:sp>
        <p:nvSpPr>
          <p:cNvPr id="355" name="Google Shape;355;p47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</a:pPr>
            <a:r>
              <a:rPr lang="en"/>
              <a:t>This is a mathematically elegant result, but…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Does structural balance hold in the real world?</a:t>
            </a:r>
            <a:endParaRPr/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</a:pPr>
            <a:r>
              <a:rPr lang="en"/>
              <a:t>Under a generalized balance regime a graph can be </a:t>
            </a:r>
            <a:r>
              <a:rPr lang="en"/>
              <a:t>partitioned</a:t>
            </a:r>
            <a:r>
              <a:rPr lang="en"/>
              <a:t> into </a:t>
            </a:r>
            <a:r>
              <a:rPr b="1" lang="en"/>
              <a:t>more</a:t>
            </a:r>
            <a:r>
              <a:rPr lang="en"/>
              <a:t> </a:t>
            </a:r>
            <a:r>
              <a:rPr b="1" lang="en"/>
              <a:t>than</a:t>
            </a:r>
            <a:r>
              <a:rPr lang="en"/>
              <a:t> </a:t>
            </a:r>
            <a:r>
              <a:rPr b="1" lang="en"/>
              <a:t>two clusters</a:t>
            </a:r>
            <a:r>
              <a:rPr lang="en"/>
              <a:t> containing positive relations within and negative relations between</a:t>
            </a:r>
            <a:endParaRPr/>
          </a:p>
        </p:txBody>
      </p:sp>
      <p:pic>
        <p:nvPicPr>
          <p:cNvPr descr="Screenshot 2017-09-21 at 09.39.13.png" id="356" name="Google Shape;356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90788" y="2973195"/>
            <a:ext cx="5762425" cy="1606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48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Generalized balance </a:t>
            </a:r>
            <a:endParaRPr/>
          </a:p>
        </p:txBody>
      </p:sp>
      <p:sp>
        <p:nvSpPr>
          <p:cNvPr id="362" name="Google Shape;362;p48"/>
          <p:cNvSpPr txBox="1"/>
          <p:nvPr>
            <p:ph idx="1" type="body"/>
          </p:nvPr>
        </p:nvSpPr>
        <p:spPr>
          <a:xfrm>
            <a:off x="311700" y="1225225"/>
            <a:ext cx="8520600" cy="183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</a:pPr>
            <a:r>
              <a:rPr lang="en"/>
              <a:t>This is a mathematically elegant result, but…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Does structural balance hold in the real world?</a:t>
            </a:r>
            <a:endParaRPr/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</a:pPr>
            <a:r>
              <a:rPr lang="en"/>
              <a:t>Graph satisfying generalized balance may become “stuck” in a “jammed state”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Here every sign change that increases balance for one triad makes it worse for everyone else</a:t>
            </a:r>
            <a:endParaRPr/>
          </a:p>
          <a:p>
            <a:pPr indent="0" lvl="0" marL="4572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grpSp>
        <p:nvGrpSpPr>
          <p:cNvPr id="363" name="Google Shape;363;p48"/>
          <p:cNvGrpSpPr/>
          <p:nvPr/>
        </p:nvGrpSpPr>
        <p:grpSpPr>
          <a:xfrm>
            <a:off x="2860672" y="3055235"/>
            <a:ext cx="3422657" cy="1523983"/>
            <a:chOff x="1930724" y="4237500"/>
            <a:chExt cx="5390859" cy="2271550"/>
          </a:xfrm>
        </p:grpSpPr>
        <p:pic>
          <p:nvPicPr>
            <p:cNvPr id="364" name="Google Shape;364;p48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930724" y="4237500"/>
              <a:ext cx="2264971" cy="21618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65" name="Google Shape;365;p4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4787925" y="4347224"/>
              <a:ext cx="2533659" cy="2161825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49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Generalized balance </a:t>
            </a:r>
            <a:endParaRPr/>
          </a:p>
        </p:txBody>
      </p:sp>
      <p:sp>
        <p:nvSpPr>
          <p:cNvPr id="371" name="Google Shape;371;p49"/>
          <p:cNvSpPr txBox="1"/>
          <p:nvPr>
            <p:ph idx="1" type="body"/>
          </p:nvPr>
        </p:nvSpPr>
        <p:spPr>
          <a:xfrm>
            <a:off x="311700" y="1225225"/>
            <a:ext cx="8520600" cy="183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Jammed states: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"...represent situations in which divided loyalties obscure group boundaries" (van de Rijt 2011: 97-98)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Suggest that the pursuit of structural balance at the micro-level does not necessarily result in generalized balance at the macro-level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Having to satisfy multiple constraints prevents binary polarization</a:t>
            </a:r>
            <a:endParaRPr/>
          </a:p>
        </p:txBody>
      </p:sp>
      <p:grpSp>
        <p:nvGrpSpPr>
          <p:cNvPr id="372" name="Google Shape;372;p49"/>
          <p:cNvGrpSpPr/>
          <p:nvPr/>
        </p:nvGrpSpPr>
        <p:grpSpPr>
          <a:xfrm>
            <a:off x="2860672" y="3055235"/>
            <a:ext cx="3422657" cy="1523983"/>
            <a:chOff x="1930724" y="4237500"/>
            <a:chExt cx="5390859" cy="2271550"/>
          </a:xfrm>
        </p:grpSpPr>
        <p:pic>
          <p:nvPicPr>
            <p:cNvPr id="373" name="Google Shape;373;p4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930724" y="4237500"/>
              <a:ext cx="2264971" cy="21618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74" name="Google Shape;374;p4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4787925" y="4347224"/>
              <a:ext cx="2533659" cy="2161825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50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Beyond balance</a:t>
            </a:r>
            <a:endParaRPr/>
          </a:p>
        </p:txBody>
      </p:sp>
      <p:grpSp>
        <p:nvGrpSpPr>
          <p:cNvPr id="380" name="Google Shape;380;p50"/>
          <p:cNvGrpSpPr/>
          <p:nvPr/>
        </p:nvGrpSpPr>
        <p:grpSpPr>
          <a:xfrm>
            <a:off x="1059802" y="1245621"/>
            <a:ext cx="7024390" cy="3529058"/>
            <a:chOff x="298450" y="1107000"/>
            <a:chExt cx="8130081" cy="3972375"/>
          </a:xfrm>
        </p:grpSpPr>
        <p:pic>
          <p:nvPicPr>
            <p:cNvPr id="381" name="Google Shape;381;p5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98450" y="1127113"/>
              <a:ext cx="5082064" cy="39321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82" name="Google Shape;382;p5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5380531" y="1107000"/>
              <a:ext cx="3048000" cy="19621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83" name="Google Shape;383;p5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5380531" y="3117225"/>
              <a:ext cx="3048000" cy="196215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5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Beyond balance</a:t>
            </a:r>
            <a:endParaRPr/>
          </a:p>
        </p:txBody>
      </p:sp>
      <p:grpSp>
        <p:nvGrpSpPr>
          <p:cNvPr id="389" name="Google Shape;389;p51"/>
          <p:cNvGrpSpPr/>
          <p:nvPr/>
        </p:nvGrpSpPr>
        <p:grpSpPr>
          <a:xfrm>
            <a:off x="1059802" y="1245621"/>
            <a:ext cx="7024390" cy="3529058"/>
            <a:chOff x="298450" y="1107000"/>
            <a:chExt cx="8130081" cy="3972375"/>
          </a:xfrm>
        </p:grpSpPr>
        <p:pic>
          <p:nvPicPr>
            <p:cNvPr id="390" name="Google Shape;390;p5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98450" y="1127113"/>
              <a:ext cx="5082064" cy="39321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91" name="Google Shape;391;p5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5380531" y="1107000"/>
              <a:ext cx="3048000" cy="19621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92" name="Google Shape;392;p5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5380531" y="3117225"/>
              <a:ext cx="3048000" cy="1962150"/>
            </a:xfrm>
            <a:prstGeom prst="rect">
              <a:avLst/>
            </a:prstGeom>
            <a:noFill/>
            <a:ln>
              <a:noFill/>
            </a:ln>
          </p:spPr>
        </p:pic>
      </p:grpSp>
      <p:cxnSp>
        <p:nvCxnSpPr>
          <p:cNvPr id="393" name="Google Shape;393;p51"/>
          <p:cNvCxnSpPr/>
          <p:nvPr/>
        </p:nvCxnSpPr>
        <p:spPr>
          <a:xfrm>
            <a:off x="6198325" y="1769150"/>
            <a:ext cx="1004400" cy="678300"/>
          </a:xfrm>
          <a:prstGeom prst="straightConnector1">
            <a:avLst/>
          </a:prstGeom>
          <a:noFill/>
          <a:ln cap="flat" cmpd="sng" w="19050">
            <a:solidFill>
              <a:srgbClr val="5B595A"/>
            </a:solidFill>
            <a:prstDash val="lgDash"/>
            <a:round/>
            <a:headEnd len="med" w="med" type="none"/>
            <a:tailEnd len="med" w="med" type="none"/>
          </a:ln>
        </p:spPr>
      </p:cxnSp>
      <p:cxnSp>
        <p:nvCxnSpPr>
          <p:cNvPr id="394" name="Google Shape;394;p51"/>
          <p:cNvCxnSpPr/>
          <p:nvPr/>
        </p:nvCxnSpPr>
        <p:spPr>
          <a:xfrm flipH="1" rot="10800000">
            <a:off x="6225175" y="3561025"/>
            <a:ext cx="993600" cy="657000"/>
          </a:xfrm>
          <a:prstGeom prst="straightConnector1">
            <a:avLst/>
          </a:prstGeom>
          <a:noFill/>
          <a:ln cap="flat" cmpd="sng" w="19050">
            <a:solidFill>
              <a:srgbClr val="5B595A"/>
            </a:solidFill>
            <a:prstDash val="lgDash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52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Beyond balance</a:t>
            </a:r>
            <a:endParaRPr/>
          </a:p>
        </p:txBody>
      </p:sp>
      <p:grpSp>
        <p:nvGrpSpPr>
          <p:cNvPr id="400" name="Google Shape;400;p52"/>
          <p:cNvGrpSpPr/>
          <p:nvPr/>
        </p:nvGrpSpPr>
        <p:grpSpPr>
          <a:xfrm>
            <a:off x="1059802" y="1245621"/>
            <a:ext cx="7024390" cy="3529058"/>
            <a:chOff x="298450" y="1107000"/>
            <a:chExt cx="8130081" cy="3972375"/>
          </a:xfrm>
        </p:grpSpPr>
        <p:pic>
          <p:nvPicPr>
            <p:cNvPr id="401" name="Google Shape;401;p5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98450" y="1127113"/>
              <a:ext cx="5082064" cy="39321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02" name="Google Shape;402;p5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5380531" y="1107000"/>
              <a:ext cx="3048000" cy="19621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03" name="Google Shape;403;p5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5380531" y="3117225"/>
              <a:ext cx="3048000" cy="1962150"/>
            </a:xfrm>
            <a:prstGeom prst="rect">
              <a:avLst/>
            </a:prstGeom>
            <a:noFill/>
            <a:ln>
              <a:noFill/>
            </a:ln>
          </p:spPr>
        </p:pic>
      </p:grpSp>
      <p:cxnSp>
        <p:nvCxnSpPr>
          <p:cNvPr id="404" name="Google Shape;404;p52"/>
          <p:cNvCxnSpPr/>
          <p:nvPr/>
        </p:nvCxnSpPr>
        <p:spPr>
          <a:xfrm>
            <a:off x="6198325" y="1769150"/>
            <a:ext cx="1004400" cy="678300"/>
          </a:xfrm>
          <a:prstGeom prst="straightConnector1">
            <a:avLst/>
          </a:prstGeom>
          <a:noFill/>
          <a:ln cap="flat" cmpd="sng" w="19050">
            <a:solidFill>
              <a:srgbClr val="5B595A"/>
            </a:solidFill>
            <a:prstDash val="lgDash"/>
            <a:round/>
            <a:headEnd len="med" w="med" type="none"/>
            <a:tailEnd len="med" w="med" type="none"/>
          </a:ln>
        </p:spPr>
      </p:cxnSp>
      <p:cxnSp>
        <p:nvCxnSpPr>
          <p:cNvPr id="405" name="Google Shape;405;p52"/>
          <p:cNvCxnSpPr/>
          <p:nvPr/>
        </p:nvCxnSpPr>
        <p:spPr>
          <a:xfrm flipH="1" rot="10800000">
            <a:off x="6225175" y="3561025"/>
            <a:ext cx="993600" cy="657000"/>
          </a:xfrm>
          <a:prstGeom prst="straightConnector1">
            <a:avLst/>
          </a:prstGeom>
          <a:noFill/>
          <a:ln cap="flat" cmpd="sng" w="19050">
            <a:solidFill>
              <a:srgbClr val="5B595A"/>
            </a:solidFill>
            <a:prstDash val="lgDash"/>
            <a:round/>
            <a:headEnd len="med" w="med" type="none"/>
            <a:tailEnd len="med" w="med" type="none"/>
          </a:ln>
        </p:spPr>
      </p:cxnSp>
      <p:sp>
        <p:nvSpPr>
          <p:cNvPr id="406" name="Google Shape;406;p52"/>
          <p:cNvSpPr/>
          <p:nvPr/>
        </p:nvSpPr>
        <p:spPr>
          <a:xfrm>
            <a:off x="6442250" y="1374275"/>
            <a:ext cx="430800" cy="659400"/>
          </a:xfrm>
          <a:prstGeom prst="mathMultiply">
            <a:avLst>
              <a:gd fmla="val 23520" name="adj1"/>
            </a:avLst>
          </a:prstGeom>
          <a:solidFill>
            <a:srgbClr val="000000"/>
          </a:solidFill>
          <a:ln cap="flat" cmpd="sng" w="19050">
            <a:solidFill>
              <a:srgbClr val="5B59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7" name="Google Shape;407;p52"/>
          <p:cNvSpPr/>
          <p:nvPr/>
        </p:nvSpPr>
        <p:spPr>
          <a:xfrm>
            <a:off x="6442250" y="3145050"/>
            <a:ext cx="430800" cy="659400"/>
          </a:xfrm>
          <a:prstGeom prst="mathMultiply">
            <a:avLst>
              <a:gd fmla="val 23520" name="adj1"/>
            </a:avLst>
          </a:prstGeom>
          <a:solidFill>
            <a:srgbClr val="000000"/>
          </a:solidFill>
          <a:ln cap="flat" cmpd="sng" w="19050">
            <a:solidFill>
              <a:srgbClr val="5B59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Luxe">
  <a:themeElements>
    <a:clrScheme name="Luxe">
      <a:dk1>
        <a:srgbClr val="000000"/>
      </a:dk1>
      <a:lt1>
        <a:srgbClr val="FFFFFF"/>
      </a:lt1>
      <a:dk2>
        <a:srgbClr val="B7B7B7"/>
      </a:dk2>
      <a:lt2>
        <a:srgbClr val="CCA677"/>
      </a:lt2>
      <a:accent1>
        <a:srgbClr val="5D4037"/>
      </a:accent1>
      <a:accent2>
        <a:srgbClr val="455A64"/>
      </a:accent2>
      <a:accent3>
        <a:srgbClr val="607D8B"/>
      </a:accent3>
      <a:accent4>
        <a:srgbClr val="78909C"/>
      </a:accent4>
      <a:accent5>
        <a:srgbClr val="57BB8A"/>
      </a:accent5>
      <a:accent6>
        <a:srgbClr val="DCE755"/>
      </a:accent6>
      <a:hlink>
        <a:srgbClr val="57BB8A"/>
      </a:hlink>
      <a:folHlink>
        <a:srgbClr val="57BB8A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