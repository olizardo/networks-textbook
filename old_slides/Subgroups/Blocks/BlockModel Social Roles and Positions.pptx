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  <p:sldId id="294" r:id="rId43"/>
  </p:sldIdLst>
  <p:sldSz cy="5715000" cx="9144000"/>
  <p:notesSz cx="6858000" cy="9144000"/>
  <p:embeddedFontLst>
    <p:embeddedFont>
      <p:font typeface="Josefin Slab"/>
      <p:regular r:id="rId44"/>
      <p:bold r:id="rId45"/>
      <p:italic r:id="rId46"/>
      <p:boldItalic r:id="rId47"/>
    </p:embeddedFont>
    <p:embeddedFont>
      <p:font typeface="Economica"/>
      <p:regular r:id="rId48"/>
      <p:bold r:id="rId49"/>
      <p:italic r:id="rId50"/>
      <p:boldItalic r:id="rId51"/>
    </p:embeddedFont>
    <p:embeddedFont>
      <p:font typeface="Open Sans"/>
      <p:regular r:id="rId52"/>
      <p:bold r:id="rId53"/>
      <p:italic r:id="rId54"/>
      <p:boldItalic r:id="rId5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6.xml"/><Relationship Id="rId42" Type="http://schemas.openxmlformats.org/officeDocument/2006/relationships/slide" Target="slides/slide38.xml"/><Relationship Id="rId41" Type="http://schemas.openxmlformats.org/officeDocument/2006/relationships/slide" Target="slides/slide37.xml"/><Relationship Id="rId44" Type="http://schemas.openxmlformats.org/officeDocument/2006/relationships/font" Target="fonts/JosefinSlab-regular.fntdata"/><Relationship Id="rId43" Type="http://schemas.openxmlformats.org/officeDocument/2006/relationships/slide" Target="slides/slide39.xml"/><Relationship Id="rId46" Type="http://schemas.openxmlformats.org/officeDocument/2006/relationships/font" Target="fonts/JosefinSlab-italic.fntdata"/><Relationship Id="rId45" Type="http://schemas.openxmlformats.org/officeDocument/2006/relationships/font" Target="fonts/JosefinSlab-bold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48" Type="http://schemas.openxmlformats.org/officeDocument/2006/relationships/font" Target="fonts/Economica-regular.fntdata"/><Relationship Id="rId47" Type="http://schemas.openxmlformats.org/officeDocument/2006/relationships/font" Target="fonts/JosefinSlab-boldItalic.fntdata"/><Relationship Id="rId49" Type="http://schemas.openxmlformats.org/officeDocument/2006/relationships/font" Target="fonts/Economica-bold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37" Type="http://schemas.openxmlformats.org/officeDocument/2006/relationships/slide" Target="slides/slide33.xml"/><Relationship Id="rId36" Type="http://schemas.openxmlformats.org/officeDocument/2006/relationships/slide" Target="slides/slide32.xml"/><Relationship Id="rId39" Type="http://schemas.openxmlformats.org/officeDocument/2006/relationships/slide" Target="slides/slide35.xml"/><Relationship Id="rId38" Type="http://schemas.openxmlformats.org/officeDocument/2006/relationships/slide" Target="slides/slide34.xml"/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9" Type="http://schemas.openxmlformats.org/officeDocument/2006/relationships/slide" Target="slides/slide25.xml"/><Relationship Id="rId51" Type="http://schemas.openxmlformats.org/officeDocument/2006/relationships/font" Target="fonts/Economica-boldItalic.fntdata"/><Relationship Id="rId50" Type="http://schemas.openxmlformats.org/officeDocument/2006/relationships/font" Target="fonts/Economica-italic.fntdata"/><Relationship Id="rId53" Type="http://schemas.openxmlformats.org/officeDocument/2006/relationships/font" Target="fonts/OpenSans-bold.fntdata"/><Relationship Id="rId52" Type="http://schemas.openxmlformats.org/officeDocument/2006/relationships/font" Target="fonts/OpenSans-regular.fntdata"/><Relationship Id="rId11" Type="http://schemas.openxmlformats.org/officeDocument/2006/relationships/slide" Target="slides/slide7.xml"/><Relationship Id="rId55" Type="http://schemas.openxmlformats.org/officeDocument/2006/relationships/font" Target="fonts/OpenSans-boldItalic.fntdata"/><Relationship Id="rId10" Type="http://schemas.openxmlformats.org/officeDocument/2006/relationships/slide" Target="slides/slide6.xml"/><Relationship Id="rId54" Type="http://schemas.openxmlformats.org/officeDocument/2006/relationships/font" Target="fonts/OpenSans-italic.fntdata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686002" y="685800"/>
            <a:ext cx="5486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2a747fd667_0_58:notes"/>
          <p:cNvSpPr/>
          <p:nvPr>
            <p:ph idx="2" type="sldImg"/>
          </p:nvPr>
        </p:nvSpPr>
        <p:spPr>
          <a:xfrm>
            <a:off x="686002" y="685800"/>
            <a:ext cx="5486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2a747fd667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2a747fd667_0_327:notes"/>
          <p:cNvSpPr/>
          <p:nvPr>
            <p:ph idx="2" type="sldImg"/>
          </p:nvPr>
        </p:nvSpPr>
        <p:spPr>
          <a:xfrm>
            <a:off x="686100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2a747fd667_0_3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2a747fd667_0_511:notes"/>
          <p:cNvSpPr/>
          <p:nvPr>
            <p:ph idx="2" type="sldImg"/>
          </p:nvPr>
        </p:nvSpPr>
        <p:spPr>
          <a:xfrm>
            <a:off x="686100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2a747fd667_0_5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2a747fd667_0_453:notes"/>
          <p:cNvSpPr/>
          <p:nvPr>
            <p:ph idx="2" type="sldImg"/>
          </p:nvPr>
        </p:nvSpPr>
        <p:spPr>
          <a:xfrm>
            <a:off x="686100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2a747fd667_0_4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73e295af1b_0_7:notes"/>
          <p:cNvSpPr/>
          <p:nvPr>
            <p:ph idx="2" type="sldImg"/>
          </p:nvPr>
        </p:nvSpPr>
        <p:spPr>
          <a:xfrm>
            <a:off x="686002" y="685800"/>
            <a:ext cx="5486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73e295af1b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19820a2a9_025:notes"/>
          <p:cNvSpPr/>
          <p:nvPr>
            <p:ph idx="2" type="sldImg"/>
          </p:nvPr>
        </p:nvSpPr>
        <p:spPr>
          <a:xfrm>
            <a:off x="685995" y="685800"/>
            <a:ext cx="5486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19820a2a9_0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19820a2a9_044:notes"/>
          <p:cNvSpPr/>
          <p:nvPr>
            <p:ph idx="2" type="sldImg"/>
          </p:nvPr>
        </p:nvSpPr>
        <p:spPr>
          <a:xfrm>
            <a:off x="685995" y="685800"/>
            <a:ext cx="5486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19820a2a9_0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73e295af1b_0_1:notes"/>
          <p:cNvSpPr/>
          <p:nvPr>
            <p:ph idx="2" type="sldImg"/>
          </p:nvPr>
        </p:nvSpPr>
        <p:spPr>
          <a:xfrm>
            <a:off x="686002" y="685800"/>
            <a:ext cx="5486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73e295af1b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19820a2a9_19:notes"/>
          <p:cNvSpPr/>
          <p:nvPr>
            <p:ph idx="2" type="sldImg"/>
          </p:nvPr>
        </p:nvSpPr>
        <p:spPr>
          <a:xfrm>
            <a:off x="685995" y="685800"/>
            <a:ext cx="5486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19820a2a9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2a7f572b1c_0_0:notes"/>
          <p:cNvSpPr/>
          <p:nvPr>
            <p:ph idx="2" type="sldImg"/>
          </p:nvPr>
        </p:nvSpPr>
        <p:spPr>
          <a:xfrm>
            <a:off x="685995" y="685800"/>
            <a:ext cx="5486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2a7f572b1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2a7f572b1c_0_181:notes"/>
          <p:cNvSpPr/>
          <p:nvPr>
            <p:ph idx="2" type="sldImg"/>
          </p:nvPr>
        </p:nvSpPr>
        <p:spPr>
          <a:xfrm>
            <a:off x="685995" y="685800"/>
            <a:ext cx="5486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2a7f572b1c_0_1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19820a2a9_24:notes"/>
          <p:cNvSpPr/>
          <p:nvPr>
            <p:ph idx="2" type="sldImg"/>
          </p:nvPr>
        </p:nvSpPr>
        <p:spPr>
          <a:xfrm>
            <a:off x="685995" y="685800"/>
            <a:ext cx="5486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19820a2a9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2a747fd667_0_137:notes"/>
          <p:cNvSpPr/>
          <p:nvPr>
            <p:ph idx="2" type="sldImg"/>
          </p:nvPr>
        </p:nvSpPr>
        <p:spPr>
          <a:xfrm>
            <a:off x="685995" y="685800"/>
            <a:ext cx="5486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g2a747fd667_0_1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19821413e_087:notes"/>
          <p:cNvSpPr/>
          <p:nvPr>
            <p:ph idx="2" type="sldImg"/>
          </p:nvPr>
        </p:nvSpPr>
        <p:spPr>
          <a:xfrm>
            <a:off x="685995" y="685800"/>
            <a:ext cx="5486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" name="Google Shape;210;g19821413e_0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25e4d61a90_0_1:notes"/>
          <p:cNvSpPr/>
          <p:nvPr>
            <p:ph idx="2" type="sldImg"/>
          </p:nvPr>
        </p:nvSpPr>
        <p:spPr>
          <a:xfrm>
            <a:off x="685995" y="685800"/>
            <a:ext cx="5486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" name="Google Shape;215;g25e4d61a90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25e4d61a90_0_13:notes"/>
          <p:cNvSpPr/>
          <p:nvPr>
            <p:ph idx="2" type="sldImg"/>
          </p:nvPr>
        </p:nvSpPr>
        <p:spPr>
          <a:xfrm>
            <a:off x="685995" y="685800"/>
            <a:ext cx="5486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" name="Google Shape;220;g25e4d61a90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25e4d61a90_0_5:notes"/>
          <p:cNvSpPr/>
          <p:nvPr>
            <p:ph idx="2" type="sldImg"/>
          </p:nvPr>
        </p:nvSpPr>
        <p:spPr>
          <a:xfrm>
            <a:off x="685995" y="685800"/>
            <a:ext cx="5486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7" name="Google Shape;237;g25e4d61a90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2a747fd667_0_170:notes"/>
          <p:cNvSpPr/>
          <p:nvPr>
            <p:ph idx="2" type="sldImg"/>
          </p:nvPr>
        </p:nvSpPr>
        <p:spPr>
          <a:xfrm>
            <a:off x="685995" y="685800"/>
            <a:ext cx="5486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2" name="Google Shape;242;g2a747fd667_0_1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g25e4d61a90_0_29:notes"/>
          <p:cNvSpPr/>
          <p:nvPr>
            <p:ph idx="2" type="sldImg"/>
          </p:nvPr>
        </p:nvSpPr>
        <p:spPr>
          <a:xfrm>
            <a:off x="685995" y="685800"/>
            <a:ext cx="5486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6" name="Google Shape;276;g25e4d61a90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g2a7f572b1c_0_10:notes"/>
          <p:cNvSpPr/>
          <p:nvPr>
            <p:ph idx="2" type="sldImg"/>
          </p:nvPr>
        </p:nvSpPr>
        <p:spPr>
          <a:xfrm>
            <a:off x="685995" y="685800"/>
            <a:ext cx="5486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3" name="Google Shape;283;g2a7f572b1c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g2a7f572b1c_0_288:notes"/>
          <p:cNvSpPr/>
          <p:nvPr>
            <p:ph idx="2" type="sldImg"/>
          </p:nvPr>
        </p:nvSpPr>
        <p:spPr>
          <a:xfrm>
            <a:off x="685995" y="685800"/>
            <a:ext cx="5486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0" name="Google Shape;290;g2a7f572b1c_0_2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g2a7f572b1c_0_16:notes"/>
          <p:cNvSpPr/>
          <p:nvPr>
            <p:ph idx="2" type="sldImg"/>
          </p:nvPr>
        </p:nvSpPr>
        <p:spPr>
          <a:xfrm>
            <a:off x="685995" y="685800"/>
            <a:ext cx="5486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8" name="Google Shape;298;g2a7f572b1c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g2a747fd667_0_203:notes"/>
          <p:cNvSpPr/>
          <p:nvPr>
            <p:ph idx="2" type="sldImg"/>
          </p:nvPr>
        </p:nvSpPr>
        <p:spPr>
          <a:xfrm>
            <a:off x="685995" y="685800"/>
            <a:ext cx="5486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2" name="Google Shape;332;g2a747fd667_0_2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g19821413e_095:notes"/>
          <p:cNvSpPr/>
          <p:nvPr>
            <p:ph idx="2" type="sldImg"/>
          </p:nvPr>
        </p:nvSpPr>
        <p:spPr>
          <a:xfrm>
            <a:off x="685995" y="685800"/>
            <a:ext cx="5486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6" name="Google Shape;366;g19821413e_0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g2a7f572b1c_0_190:notes"/>
          <p:cNvSpPr/>
          <p:nvPr>
            <p:ph idx="2" type="sldImg"/>
          </p:nvPr>
        </p:nvSpPr>
        <p:spPr>
          <a:xfrm>
            <a:off x="685995" y="685800"/>
            <a:ext cx="5486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1" name="Google Shape;371;g2a7f572b1c_0_1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g2a7f572b1c_0_227:notes"/>
          <p:cNvSpPr/>
          <p:nvPr>
            <p:ph idx="2" type="sldImg"/>
          </p:nvPr>
        </p:nvSpPr>
        <p:spPr>
          <a:xfrm>
            <a:off x="685995" y="685800"/>
            <a:ext cx="5486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5" name="Google Shape;405;g2a7f572b1c_0_2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g19821413e_01:notes"/>
          <p:cNvSpPr/>
          <p:nvPr>
            <p:ph idx="2" type="sldImg"/>
          </p:nvPr>
        </p:nvSpPr>
        <p:spPr>
          <a:xfrm>
            <a:off x="685995" y="685800"/>
            <a:ext cx="5486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9" name="Google Shape;439;g19821413e_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g2a747fd667_0_578:notes"/>
          <p:cNvSpPr/>
          <p:nvPr>
            <p:ph idx="2" type="sldImg"/>
          </p:nvPr>
        </p:nvSpPr>
        <p:spPr>
          <a:xfrm>
            <a:off x="685995" y="685800"/>
            <a:ext cx="5486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6" name="Google Shape;446;g2a747fd667_0_5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g2a747fd667_0_584:notes"/>
          <p:cNvSpPr/>
          <p:nvPr>
            <p:ph idx="2" type="sldImg"/>
          </p:nvPr>
        </p:nvSpPr>
        <p:spPr>
          <a:xfrm>
            <a:off x="685995" y="685800"/>
            <a:ext cx="5486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3" name="Google Shape;453;g2a747fd667_0_5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g19821413e_08:notes"/>
          <p:cNvSpPr/>
          <p:nvPr>
            <p:ph idx="2" type="sldImg"/>
          </p:nvPr>
        </p:nvSpPr>
        <p:spPr>
          <a:xfrm>
            <a:off x="685995" y="685800"/>
            <a:ext cx="5486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9" name="Google Shape;459;g19821413e_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g2a747fd667_0_597:notes"/>
          <p:cNvSpPr/>
          <p:nvPr>
            <p:ph idx="2" type="sldImg"/>
          </p:nvPr>
        </p:nvSpPr>
        <p:spPr>
          <a:xfrm>
            <a:off x="685995" y="685800"/>
            <a:ext cx="5486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5" name="Google Shape;465;g2a747fd667_0_5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g19821413e_040:notes"/>
          <p:cNvSpPr/>
          <p:nvPr>
            <p:ph idx="2" type="sldImg"/>
          </p:nvPr>
        </p:nvSpPr>
        <p:spPr>
          <a:xfrm>
            <a:off x="685995" y="685800"/>
            <a:ext cx="5486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1" name="Google Shape;471;g19821413e_0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g19821413e_052:notes"/>
          <p:cNvSpPr/>
          <p:nvPr>
            <p:ph idx="2" type="sldImg"/>
          </p:nvPr>
        </p:nvSpPr>
        <p:spPr>
          <a:xfrm>
            <a:off x="685995" y="685800"/>
            <a:ext cx="5486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7" name="Google Shape;477;g19821413e_0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g19821413e_068:notes"/>
          <p:cNvSpPr/>
          <p:nvPr>
            <p:ph idx="2" type="sldImg"/>
          </p:nvPr>
        </p:nvSpPr>
        <p:spPr>
          <a:xfrm>
            <a:off x="685995" y="685800"/>
            <a:ext cx="5486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5" name="Google Shape;485;g19821413e_0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0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g19821413e_059:notes"/>
          <p:cNvSpPr/>
          <p:nvPr>
            <p:ph idx="2" type="sldImg"/>
          </p:nvPr>
        </p:nvSpPr>
        <p:spPr>
          <a:xfrm>
            <a:off x="685995" y="685800"/>
            <a:ext cx="5486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2" name="Google Shape;492;g19821413e_0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7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g19821413e_074:notes"/>
          <p:cNvSpPr/>
          <p:nvPr>
            <p:ph idx="2" type="sldImg"/>
          </p:nvPr>
        </p:nvSpPr>
        <p:spPr>
          <a:xfrm>
            <a:off x="685995" y="685800"/>
            <a:ext cx="5486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9" name="Google Shape;499;g19821413e_0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4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g19821413e_0123:notes"/>
          <p:cNvSpPr/>
          <p:nvPr>
            <p:ph idx="2" type="sldImg"/>
          </p:nvPr>
        </p:nvSpPr>
        <p:spPr>
          <a:xfrm>
            <a:off x="685995" y="685800"/>
            <a:ext cx="5486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6" name="Google Shape;506;g19821413e_01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g6eb6627909efd90a_0:notes"/>
          <p:cNvSpPr/>
          <p:nvPr>
            <p:ph idx="2" type="sldImg"/>
          </p:nvPr>
        </p:nvSpPr>
        <p:spPr>
          <a:xfrm>
            <a:off x="685995" y="685800"/>
            <a:ext cx="5486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3" name="Google Shape;513;g6eb6627909efd90a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8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g2a747fd667_0_616:notes"/>
          <p:cNvSpPr/>
          <p:nvPr>
            <p:ph idx="2" type="sldImg"/>
          </p:nvPr>
        </p:nvSpPr>
        <p:spPr>
          <a:xfrm>
            <a:off x="686002" y="685800"/>
            <a:ext cx="5486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0" name="Google Shape;520;g2a747fd667_0_6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2744013" y="840778"/>
            <a:ext cx="1081625" cy="1249932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1" name="Google Shape;11;p2"/>
          <p:cNvSpPr/>
          <p:nvPr/>
        </p:nvSpPr>
        <p:spPr>
          <a:xfrm rot="10800000">
            <a:off x="5318350" y="3629707"/>
            <a:ext cx="1081625" cy="1249932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044700" y="1604728"/>
            <a:ext cx="3054600" cy="170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3044700" y="3462867"/>
            <a:ext cx="3054600" cy="7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472458" y="5181352"/>
            <a:ext cx="548700" cy="43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 flipH="1">
            <a:off x="7595938" y="511361"/>
            <a:ext cx="1081625" cy="1249932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7" name="Google Shape;17;p3"/>
          <p:cNvSpPr/>
          <p:nvPr/>
        </p:nvSpPr>
        <p:spPr>
          <a:xfrm flipH="1" rot="10800000">
            <a:off x="466425" y="3953707"/>
            <a:ext cx="1081625" cy="1249932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8" name="Google Shape;18;p3"/>
          <p:cNvSpPr txBox="1"/>
          <p:nvPr>
            <p:ph type="title"/>
          </p:nvPr>
        </p:nvSpPr>
        <p:spPr>
          <a:xfrm>
            <a:off x="773700" y="2007167"/>
            <a:ext cx="7596600" cy="1700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2" type="sldNum"/>
          </p:nvPr>
        </p:nvSpPr>
        <p:spPr>
          <a:xfrm>
            <a:off x="8472458" y="5181352"/>
            <a:ext cx="548700" cy="43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/>
          <p:nvPr/>
        </p:nvSpPr>
        <p:spPr>
          <a:xfrm>
            <a:off x="0" y="5606333"/>
            <a:ext cx="9144000" cy="108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4"/>
          <p:cNvSpPr txBox="1"/>
          <p:nvPr>
            <p:ph type="title"/>
          </p:nvPr>
        </p:nvSpPr>
        <p:spPr>
          <a:xfrm>
            <a:off x="311700" y="351028"/>
            <a:ext cx="8520600" cy="92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311700" y="1361361"/>
            <a:ext cx="8520600" cy="372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2" type="sldNum"/>
          </p:nvPr>
        </p:nvSpPr>
        <p:spPr>
          <a:xfrm>
            <a:off x="8472458" y="5181352"/>
            <a:ext cx="548700" cy="43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 txBox="1"/>
          <p:nvPr>
            <p:ph type="title"/>
          </p:nvPr>
        </p:nvSpPr>
        <p:spPr>
          <a:xfrm>
            <a:off x="311700" y="351028"/>
            <a:ext cx="8520600" cy="92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27" name="Google Shape;27;p5"/>
          <p:cNvSpPr txBox="1"/>
          <p:nvPr>
            <p:ph idx="1" type="body"/>
          </p:nvPr>
        </p:nvSpPr>
        <p:spPr>
          <a:xfrm>
            <a:off x="311700" y="1361361"/>
            <a:ext cx="3999900" cy="372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5"/>
          <p:cNvSpPr txBox="1"/>
          <p:nvPr>
            <p:ph idx="2" type="body"/>
          </p:nvPr>
        </p:nvSpPr>
        <p:spPr>
          <a:xfrm>
            <a:off x="4832400" y="1361361"/>
            <a:ext cx="3999900" cy="372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12" type="sldNum"/>
          </p:nvPr>
        </p:nvSpPr>
        <p:spPr>
          <a:xfrm>
            <a:off x="8472458" y="5181352"/>
            <a:ext cx="548700" cy="43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6"/>
          <p:cNvSpPr txBox="1"/>
          <p:nvPr>
            <p:ph type="title"/>
          </p:nvPr>
        </p:nvSpPr>
        <p:spPr>
          <a:xfrm>
            <a:off x="311700" y="351028"/>
            <a:ext cx="8520600" cy="92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32" name="Google Shape;32;p6"/>
          <p:cNvSpPr txBox="1"/>
          <p:nvPr>
            <p:ph idx="12" type="sldNum"/>
          </p:nvPr>
        </p:nvSpPr>
        <p:spPr>
          <a:xfrm>
            <a:off x="8472458" y="5181352"/>
            <a:ext cx="548700" cy="43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/>
          <p:nvPr>
            <p:ph type="title"/>
          </p:nvPr>
        </p:nvSpPr>
        <p:spPr>
          <a:xfrm>
            <a:off x="311700" y="617333"/>
            <a:ext cx="2808000" cy="839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5" name="Google Shape;35;p7"/>
          <p:cNvSpPr txBox="1"/>
          <p:nvPr>
            <p:ph idx="1" type="body"/>
          </p:nvPr>
        </p:nvSpPr>
        <p:spPr>
          <a:xfrm>
            <a:off x="311700" y="1554889"/>
            <a:ext cx="2808000" cy="309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6" name="Google Shape;36;p7"/>
          <p:cNvSpPr txBox="1"/>
          <p:nvPr>
            <p:ph idx="12" type="sldNum"/>
          </p:nvPr>
        </p:nvSpPr>
        <p:spPr>
          <a:xfrm>
            <a:off x="8472458" y="5181352"/>
            <a:ext cx="548700" cy="43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8"/>
          <p:cNvSpPr/>
          <p:nvPr/>
        </p:nvSpPr>
        <p:spPr>
          <a:xfrm>
            <a:off x="0" y="5606333"/>
            <a:ext cx="9144000" cy="108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8"/>
          <p:cNvSpPr txBox="1"/>
          <p:nvPr>
            <p:ph type="title"/>
          </p:nvPr>
        </p:nvSpPr>
        <p:spPr>
          <a:xfrm>
            <a:off x="490250" y="500167"/>
            <a:ext cx="5878800" cy="4545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0" name="Google Shape;40;p8"/>
          <p:cNvSpPr txBox="1"/>
          <p:nvPr>
            <p:ph idx="12" type="sldNum"/>
          </p:nvPr>
        </p:nvSpPr>
        <p:spPr>
          <a:xfrm>
            <a:off x="8472458" y="5181352"/>
            <a:ext cx="548700" cy="43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9"/>
          <p:cNvSpPr/>
          <p:nvPr/>
        </p:nvSpPr>
        <p:spPr>
          <a:xfrm>
            <a:off x="4572000" y="-28"/>
            <a:ext cx="4572000" cy="5715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3" name="Google Shape;43;p9"/>
          <p:cNvCxnSpPr/>
          <p:nvPr/>
        </p:nvCxnSpPr>
        <p:spPr>
          <a:xfrm>
            <a:off x="5029675" y="49950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4" name="Google Shape;44;p9"/>
          <p:cNvSpPr txBox="1"/>
          <p:nvPr>
            <p:ph type="title"/>
          </p:nvPr>
        </p:nvSpPr>
        <p:spPr>
          <a:xfrm>
            <a:off x="265500" y="1032528"/>
            <a:ext cx="4045200" cy="198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45" name="Google Shape;45;p9"/>
          <p:cNvSpPr txBox="1"/>
          <p:nvPr>
            <p:ph idx="1" type="subTitle"/>
          </p:nvPr>
        </p:nvSpPr>
        <p:spPr>
          <a:xfrm>
            <a:off x="265500" y="3076667"/>
            <a:ext cx="4045200" cy="174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46" name="Google Shape;46;p9"/>
          <p:cNvSpPr txBox="1"/>
          <p:nvPr>
            <p:ph idx="2" type="body"/>
          </p:nvPr>
        </p:nvSpPr>
        <p:spPr>
          <a:xfrm>
            <a:off x="4939500" y="804667"/>
            <a:ext cx="3837000" cy="410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9"/>
          <p:cNvSpPr txBox="1"/>
          <p:nvPr>
            <p:ph idx="12" type="sldNum"/>
          </p:nvPr>
        </p:nvSpPr>
        <p:spPr>
          <a:xfrm>
            <a:off x="8472458" y="5181352"/>
            <a:ext cx="548700" cy="43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0"/>
          <p:cNvSpPr txBox="1"/>
          <p:nvPr>
            <p:ph idx="1" type="body"/>
          </p:nvPr>
        </p:nvSpPr>
        <p:spPr>
          <a:xfrm>
            <a:off x="319500" y="4687694"/>
            <a:ext cx="5998800" cy="665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</a:lstStyle>
          <a:p/>
        </p:txBody>
      </p:sp>
      <p:sp>
        <p:nvSpPr>
          <p:cNvPr id="50" name="Google Shape;50;p10"/>
          <p:cNvSpPr txBox="1"/>
          <p:nvPr>
            <p:ph idx="12" type="sldNum"/>
          </p:nvPr>
        </p:nvSpPr>
        <p:spPr>
          <a:xfrm>
            <a:off x="8472458" y="5181352"/>
            <a:ext cx="548700" cy="43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1"/>
          <p:cNvSpPr/>
          <p:nvPr/>
        </p:nvSpPr>
        <p:spPr>
          <a:xfrm>
            <a:off x="0" y="5606333"/>
            <a:ext cx="9144000" cy="108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11"/>
          <p:cNvSpPr txBox="1"/>
          <p:nvPr>
            <p:ph hasCustomPrompt="1" type="title"/>
          </p:nvPr>
        </p:nvSpPr>
        <p:spPr>
          <a:xfrm>
            <a:off x="311700" y="1063472"/>
            <a:ext cx="8520600" cy="2365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4" name="Google Shape;54;p11"/>
          <p:cNvSpPr txBox="1"/>
          <p:nvPr>
            <p:ph idx="1" type="body"/>
          </p:nvPr>
        </p:nvSpPr>
        <p:spPr>
          <a:xfrm>
            <a:off x="311700" y="3513333"/>
            <a:ext cx="8520600" cy="119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5" name="Google Shape;55;p11"/>
          <p:cNvSpPr txBox="1"/>
          <p:nvPr>
            <p:ph idx="12" type="sldNum"/>
          </p:nvPr>
        </p:nvSpPr>
        <p:spPr>
          <a:xfrm>
            <a:off x="8472458" y="5181352"/>
            <a:ext cx="548700" cy="43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2"/>
          <p:cNvSpPr txBox="1"/>
          <p:nvPr>
            <p:ph idx="12" type="sldNum"/>
          </p:nvPr>
        </p:nvSpPr>
        <p:spPr>
          <a:xfrm>
            <a:off x="8472458" y="5181352"/>
            <a:ext cx="548700" cy="43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lux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351028"/>
            <a:ext cx="8520600" cy="923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361361"/>
            <a:ext cx="8520600" cy="372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  <a:def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5181352"/>
            <a:ext cx="5487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2.png"/><Relationship Id="rId4" Type="http://schemas.openxmlformats.org/officeDocument/2006/relationships/image" Target="../media/image3.png"/><Relationship Id="rId5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2.png"/><Relationship Id="rId4" Type="http://schemas.openxmlformats.org/officeDocument/2006/relationships/image" Target="../media/image3.png"/><Relationship Id="rId5" Type="http://schemas.openxmlformats.org/officeDocument/2006/relationships/image" Target="../media/image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8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6.jp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9.jp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9.jp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9.jp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1.jp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5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5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5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5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5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14.jp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13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3"/>
          <p:cNvSpPr txBox="1"/>
          <p:nvPr>
            <p:ph type="ctrTitle"/>
          </p:nvPr>
        </p:nvSpPr>
        <p:spPr>
          <a:xfrm>
            <a:off x="3044700" y="1279224"/>
            <a:ext cx="3054600" cy="2262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Blockmodeling: </a:t>
            </a:r>
            <a:r>
              <a:rPr lang="en"/>
              <a:t>Roles and Positions in Networks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4"/>
          <p:cNvSpPr txBox="1"/>
          <p:nvPr>
            <p:ph type="title"/>
          </p:nvPr>
        </p:nvSpPr>
        <p:spPr>
          <a:xfrm>
            <a:off x="311700" y="351028"/>
            <a:ext cx="8520600" cy="92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Social networks, graphs, matrices </a:t>
            </a:r>
            <a:endParaRPr/>
          </a:p>
        </p:txBody>
      </p:sp>
      <p:sp>
        <p:nvSpPr>
          <p:cNvPr id="68" name="Google Shape;68;p14"/>
          <p:cNvSpPr/>
          <p:nvPr/>
        </p:nvSpPr>
        <p:spPr>
          <a:xfrm>
            <a:off x="3536238" y="1274694"/>
            <a:ext cx="1879200" cy="995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Graph Theory</a:t>
            </a:r>
            <a:endParaRPr>
              <a:solidFill>
                <a:srgbClr val="FFFFFF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“The Graph”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69" name="Google Shape;69;p14"/>
          <p:cNvSpPr/>
          <p:nvPr/>
        </p:nvSpPr>
        <p:spPr>
          <a:xfrm>
            <a:off x="6564263" y="3293833"/>
            <a:ext cx="1879200" cy="995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rgbClr val="FFFFFF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FFFFFF"/>
                </a:solidFill>
              </a:rPr>
              <a:t>Social Systems</a:t>
            </a:r>
            <a:endParaRPr>
              <a:solidFill>
                <a:srgbClr val="FFFFFF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FFFFFF"/>
                </a:solidFill>
              </a:rPr>
              <a:t>“The Network”</a:t>
            </a:r>
            <a:endParaRPr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14"/>
          <p:cNvSpPr/>
          <p:nvPr/>
        </p:nvSpPr>
        <p:spPr>
          <a:xfrm>
            <a:off x="700538" y="3293833"/>
            <a:ext cx="1879200" cy="995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FFFFFF"/>
                </a:solidFill>
              </a:rPr>
              <a:t>Matrix Algebra</a:t>
            </a:r>
            <a:endParaRPr>
              <a:solidFill>
                <a:srgbClr val="FFFFFF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FFFFFF"/>
                </a:solidFill>
              </a:rPr>
              <a:t>“The Matrix”</a:t>
            </a:r>
            <a:endParaRPr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71" name="Google Shape;71;p14"/>
          <p:cNvCxnSpPr>
            <a:stCxn id="70" idx="3"/>
            <a:endCxn id="68" idx="2"/>
          </p:cNvCxnSpPr>
          <p:nvPr/>
        </p:nvCxnSpPr>
        <p:spPr>
          <a:xfrm flipH="1" rot="10800000">
            <a:off x="2579738" y="2269783"/>
            <a:ext cx="1896000" cy="1521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2" name="Google Shape;72;p14"/>
          <p:cNvCxnSpPr>
            <a:stCxn id="68" idx="2"/>
            <a:endCxn id="69" idx="1"/>
          </p:cNvCxnSpPr>
          <p:nvPr/>
        </p:nvCxnSpPr>
        <p:spPr>
          <a:xfrm>
            <a:off x="4475838" y="2269794"/>
            <a:ext cx="2088300" cy="1521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3" name="Google Shape;73;p14"/>
          <p:cNvCxnSpPr>
            <a:stCxn id="70" idx="2"/>
            <a:endCxn id="69" idx="2"/>
          </p:cNvCxnSpPr>
          <p:nvPr/>
        </p:nvCxnSpPr>
        <p:spPr>
          <a:xfrm flipH="1" rot="-5400000">
            <a:off x="4571738" y="1357333"/>
            <a:ext cx="600" cy="5863800"/>
          </a:xfrm>
          <a:prstGeom prst="bentConnector3">
            <a:avLst>
              <a:gd fmla="val 91912500" name="adj1"/>
            </a:avLst>
          </a:prstGeom>
          <a:noFill/>
          <a:ln cap="flat" cmpd="sng" w="38100">
            <a:solidFill>
              <a:schemeClr val="dk2"/>
            </a:solidFill>
            <a:prstDash val="dot"/>
            <a:round/>
            <a:headEnd len="med" w="med" type="none"/>
            <a:tailEnd len="med" w="med" type="stealth"/>
          </a:ln>
        </p:spPr>
      </p:cxnSp>
      <p:sp>
        <p:nvSpPr>
          <p:cNvPr id="74" name="Google Shape;74;p14"/>
          <p:cNvSpPr txBox="1"/>
          <p:nvPr/>
        </p:nvSpPr>
        <p:spPr>
          <a:xfrm>
            <a:off x="3775250" y="4919325"/>
            <a:ext cx="1593600" cy="40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Measurement</a:t>
            </a:r>
            <a:endParaRPr/>
          </a:p>
        </p:txBody>
      </p:sp>
      <p:sp>
        <p:nvSpPr>
          <p:cNvPr id="75" name="Google Shape;75;p14"/>
          <p:cNvSpPr txBox="1"/>
          <p:nvPr/>
        </p:nvSpPr>
        <p:spPr>
          <a:xfrm>
            <a:off x="5415450" y="2653050"/>
            <a:ext cx="1593600" cy="40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Analogy</a:t>
            </a:r>
            <a:endParaRPr/>
          </a:p>
        </p:txBody>
      </p:sp>
      <p:sp>
        <p:nvSpPr>
          <p:cNvPr id="76" name="Google Shape;76;p14"/>
          <p:cNvSpPr txBox="1"/>
          <p:nvPr/>
        </p:nvSpPr>
        <p:spPr>
          <a:xfrm>
            <a:off x="1942650" y="2653050"/>
            <a:ext cx="1593600" cy="40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Linkage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5"/>
          <p:cNvSpPr txBox="1"/>
          <p:nvPr>
            <p:ph type="title"/>
          </p:nvPr>
        </p:nvSpPr>
        <p:spPr>
          <a:xfrm>
            <a:off x="311700" y="351028"/>
            <a:ext cx="8520600" cy="92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Three ways of talking about "social networks"</a:t>
            </a:r>
            <a:endParaRPr/>
          </a:p>
        </p:txBody>
      </p:sp>
      <p:sp>
        <p:nvSpPr>
          <p:cNvPr id="82" name="Google Shape;82;p15"/>
          <p:cNvSpPr txBox="1"/>
          <p:nvPr>
            <p:ph idx="1" type="body"/>
          </p:nvPr>
        </p:nvSpPr>
        <p:spPr>
          <a:xfrm>
            <a:off x="311700" y="1361361"/>
            <a:ext cx="5502600" cy="372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"/>
              <a:t>Social network theory</a:t>
            </a:r>
            <a:r>
              <a:rPr lang="en"/>
              <a:t> is a branch of </a:t>
            </a:r>
            <a:r>
              <a:rPr i="1" lang="en"/>
              <a:t>social science</a:t>
            </a:r>
            <a:endParaRPr b="1"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/>
              <a:t>Allows for the specification of processes occurring in social systems :</a:t>
            </a:r>
            <a:endParaRPr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/>
              <a:t>Happens in natural language and relies on substantive intuitions</a:t>
            </a:r>
            <a:endParaRPr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/>
              <a:t>The relevant "concepts" are by their nature "fuzzy" 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"/>
              <a:t>Graph theory</a:t>
            </a:r>
            <a:r>
              <a:rPr lang="en"/>
              <a:t> is a branch of </a:t>
            </a:r>
            <a:r>
              <a:rPr i="1" lang="en"/>
              <a:t>pure</a:t>
            </a:r>
            <a:r>
              <a:rPr lang="en"/>
              <a:t> </a:t>
            </a:r>
            <a:r>
              <a:rPr i="1" lang="en"/>
              <a:t>mathematics</a:t>
            </a:r>
            <a:r>
              <a:rPr lang="en"/>
              <a:t> </a:t>
            </a:r>
            <a:endParaRPr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/>
              <a:t>Allows for the specification of "analogues" of fuzzy social network concepts stated in natural language in less ambiguous terms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"/>
              <a:t>Matrix algebra</a:t>
            </a:r>
            <a:r>
              <a:rPr lang="en"/>
              <a:t> is a branch of </a:t>
            </a:r>
            <a:r>
              <a:rPr i="1" lang="en"/>
              <a:t>applied mathematics </a:t>
            </a:r>
            <a:endParaRPr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/>
              <a:t>Links to graph to theoretic concepts to allow for calculation and the development of "measures" and metric representations of social network concepts (e.g. “centrality”)</a:t>
            </a:r>
            <a:endParaRPr/>
          </a:p>
          <a:p>
            <a:pPr indent="0" lvl="0" marL="45720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descr="Each element of a matrix is ..." id="83" name="Google Shape;83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40225" y="1789139"/>
            <a:ext cx="3192075" cy="2584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6"/>
          <p:cNvSpPr txBox="1"/>
          <p:nvPr>
            <p:ph type="title"/>
          </p:nvPr>
        </p:nvSpPr>
        <p:spPr>
          <a:xfrm>
            <a:off x="311700" y="351028"/>
            <a:ext cx="8520600" cy="92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Three ways of talking about "social networks"</a:t>
            </a:r>
            <a:endParaRPr/>
          </a:p>
        </p:txBody>
      </p:sp>
      <p:sp>
        <p:nvSpPr>
          <p:cNvPr id="89" name="Google Shape;89;p16"/>
          <p:cNvSpPr txBox="1"/>
          <p:nvPr>
            <p:ph idx="1" type="body"/>
          </p:nvPr>
        </p:nvSpPr>
        <p:spPr>
          <a:xfrm>
            <a:off x="311700" y="1361361"/>
            <a:ext cx="8520600" cy="372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Three different types of concepts: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Social Science Concepts: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b="1" lang="en"/>
              <a:t>Roles</a:t>
            </a:r>
            <a:r>
              <a:rPr lang="en"/>
              <a:t>, </a:t>
            </a:r>
            <a:r>
              <a:rPr b="1" lang="en"/>
              <a:t>Social Position, Relational Similarity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Graph Theoretic Concept: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b="1" lang="en"/>
              <a:t>Equivalence</a:t>
            </a:r>
            <a:r>
              <a:rPr lang="en"/>
              <a:t> of nodes in a graph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Matrix Representation of the Graph Theoretic Concept: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b="1" lang="en"/>
              <a:t>Blocks</a:t>
            </a:r>
            <a:r>
              <a:rPr lang="en"/>
              <a:t> in a Matrix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graph-theoretic notion of </a:t>
            </a:r>
            <a:r>
              <a:rPr b="1" lang="en"/>
              <a:t>equivalence</a:t>
            </a:r>
            <a:r>
              <a:rPr lang="en"/>
              <a:t> a does for the classic notion notion of </a:t>
            </a:r>
            <a:r>
              <a:rPr b="1" lang="en"/>
              <a:t>social</a:t>
            </a:r>
            <a:r>
              <a:rPr lang="en"/>
              <a:t> </a:t>
            </a:r>
            <a:r>
              <a:rPr b="1" lang="en"/>
              <a:t>roles</a:t>
            </a:r>
            <a:r>
              <a:rPr lang="en"/>
              <a:t> (taken from functionalist sociology and social anthropology) what </a:t>
            </a:r>
            <a:r>
              <a:rPr b="1" lang="en"/>
              <a:t>centrality</a:t>
            </a:r>
            <a:r>
              <a:rPr lang="en"/>
              <a:t> does for </a:t>
            </a:r>
            <a:r>
              <a:rPr b="1" lang="en"/>
              <a:t>prominence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Equivalence can be thought of as a </a:t>
            </a:r>
            <a:r>
              <a:rPr b="1" lang="en"/>
              <a:t>partition</a:t>
            </a:r>
            <a:r>
              <a:rPr lang="en"/>
              <a:t> of the set of </a:t>
            </a:r>
            <a:r>
              <a:rPr b="1" lang="en"/>
              <a:t>vertices</a:t>
            </a:r>
            <a:r>
              <a:rPr lang="en"/>
              <a:t> in a graph into a set of </a:t>
            </a:r>
            <a:r>
              <a:rPr b="1" lang="en"/>
              <a:t>disjoint</a:t>
            </a:r>
            <a:r>
              <a:rPr lang="en"/>
              <a:t> </a:t>
            </a:r>
            <a:r>
              <a:rPr b="1" lang="en"/>
              <a:t>classes</a:t>
            </a:r>
            <a:r>
              <a:rPr lang="en"/>
              <a:t>.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Each </a:t>
            </a:r>
            <a:r>
              <a:rPr b="1" lang="en"/>
              <a:t>subset</a:t>
            </a:r>
            <a:r>
              <a:rPr lang="en"/>
              <a:t> of vertices in the same class can be thought of as playing the </a:t>
            </a:r>
            <a:r>
              <a:rPr b="1" lang="en"/>
              <a:t>same role </a:t>
            </a:r>
            <a:r>
              <a:rPr lang="en"/>
              <a:t>or occupying the s</a:t>
            </a:r>
            <a:r>
              <a:rPr b="1" lang="en"/>
              <a:t>ame position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7"/>
          <p:cNvSpPr txBox="1"/>
          <p:nvPr>
            <p:ph type="title"/>
          </p:nvPr>
        </p:nvSpPr>
        <p:spPr>
          <a:xfrm>
            <a:off x="311700" y="351028"/>
            <a:ext cx="8520600" cy="92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Roles, Positions, Equivalence</a:t>
            </a:r>
            <a:endParaRPr/>
          </a:p>
        </p:txBody>
      </p:sp>
      <p:sp>
        <p:nvSpPr>
          <p:cNvPr id="95" name="Google Shape;95;p17"/>
          <p:cNvSpPr txBox="1"/>
          <p:nvPr>
            <p:ph idx="1" type="body"/>
          </p:nvPr>
        </p:nvSpPr>
        <p:spPr>
          <a:xfrm>
            <a:off x="311700" y="1361361"/>
            <a:ext cx="8520600" cy="372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What is a role?</a:t>
            </a:r>
            <a:endParaRPr sz="2400"/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" sz="2400"/>
              <a:t>Roles within social relations  (parent-child, teacher-student)</a:t>
            </a:r>
            <a:endParaRPr sz="2400"/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" sz="2400"/>
              <a:t>Set of person’s with similar relations to set of other persons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Vertex Equivalence (Similarity)</a:t>
            </a:r>
            <a:endParaRPr sz="2400"/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" sz="2400"/>
              <a:t>Vertex trait</a:t>
            </a:r>
            <a:endParaRPr sz="2400"/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" sz="2400"/>
              <a:t>Network trait</a:t>
            </a:r>
            <a:endParaRPr sz="2400"/>
          </a:p>
          <a:p>
            <a:pPr indent="-381000" lvl="2" marL="1371600" rtl="0" algn="l">
              <a:spcBef>
                <a:spcPts val="0"/>
              </a:spcBef>
              <a:spcAft>
                <a:spcPts val="0"/>
              </a:spcAft>
              <a:buSzPts val="2400"/>
              <a:buChar char="■"/>
            </a:pPr>
            <a:r>
              <a:rPr lang="en" sz="2400"/>
              <a:t>Degree, clustering coefficient, composition</a:t>
            </a:r>
            <a:endParaRPr sz="2400"/>
          </a:p>
          <a:p>
            <a:pPr indent="-381000" lvl="2" marL="1371600" rtl="0" algn="l">
              <a:spcBef>
                <a:spcPts val="0"/>
              </a:spcBef>
              <a:spcAft>
                <a:spcPts val="0"/>
              </a:spcAft>
              <a:buSzPts val="2400"/>
              <a:buChar char="■"/>
            </a:pPr>
            <a:r>
              <a:rPr lang="en" sz="2400"/>
              <a:t>Patterns of ties</a:t>
            </a:r>
            <a:endParaRPr sz="24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8"/>
          <p:cNvSpPr txBox="1"/>
          <p:nvPr>
            <p:ph type="title"/>
          </p:nvPr>
        </p:nvSpPr>
        <p:spPr>
          <a:xfrm>
            <a:off x="311700" y="351028"/>
            <a:ext cx="8520600" cy="92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Roles and positions in networks (Graph Theory)</a:t>
            </a:r>
            <a:endParaRPr/>
          </a:p>
        </p:txBody>
      </p:sp>
      <p:sp>
        <p:nvSpPr>
          <p:cNvPr id="101" name="Google Shape;101;p18"/>
          <p:cNvSpPr txBox="1"/>
          <p:nvPr>
            <p:ph idx="1" type="body"/>
          </p:nvPr>
        </p:nvSpPr>
        <p:spPr>
          <a:xfrm>
            <a:off x="311700" y="1361361"/>
            <a:ext cx="8520600" cy="372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Finding an</a:t>
            </a:r>
            <a:r>
              <a:rPr lang="en"/>
              <a:t> equivalence relations among vertices can be thought of as imposing a classification on the vertex set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Given a graph 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G = (V, E)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Find a partition of V compatible with 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Partition P = {C</a:t>
            </a:r>
            <a:r>
              <a:rPr baseline="-25000" lang="en"/>
              <a:t>1</a:t>
            </a:r>
            <a:r>
              <a:rPr lang="en"/>
              <a:t>...C</a:t>
            </a:r>
            <a:r>
              <a:rPr baseline="-25000" lang="en"/>
              <a:t>k</a:t>
            </a:r>
            <a:r>
              <a:rPr lang="en"/>
              <a:t>} of V is a set of non-empty, disjoint subsets such that: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V = U</a:t>
            </a:r>
            <a:r>
              <a:rPr baseline="-25000" lang="en"/>
              <a:t>i </a:t>
            </a:r>
            <a:r>
              <a:rPr lang="en"/>
              <a:t>C</a:t>
            </a:r>
            <a:r>
              <a:rPr baseline="-25000" lang="en"/>
              <a:t>i</a:t>
            </a:r>
            <a:endParaRPr baseline="-25000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Each vertex v belongs to exactly one </a:t>
            </a:r>
            <a:r>
              <a:rPr b="1" lang="en"/>
              <a:t>class</a:t>
            </a:r>
            <a:r>
              <a:rPr lang="en"/>
              <a:t> or </a:t>
            </a:r>
            <a:r>
              <a:rPr b="1" lang="en"/>
              <a:t>block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An </a:t>
            </a:r>
            <a:r>
              <a:rPr b="1" lang="en"/>
              <a:t>equivalence</a:t>
            </a:r>
            <a:r>
              <a:rPr lang="en"/>
              <a:t> </a:t>
            </a:r>
            <a:r>
              <a:rPr b="1" lang="en"/>
              <a:t>relation</a:t>
            </a:r>
            <a:r>
              <a:rPr lang="en"/>
              <a:t> on V defines a partition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9"/>
          <p:cNvSpPr txBox="1"/>
          <p:nvPr>
            <p:ph type="title"/>
          </p:nvPr>
        </p:nvSpPr>
        <p:spPr>
          <a:xfrm>
            <a:off x="311700" y="351028"/>
            <a:ext cx="8520600" cy="92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Roles and positions in networks (Graph Theory)</a:t>
            </a:r>
            <a:endParaRPr/>
          </a:p>
        </p:txBody>
      </p:sp>
      <p:sp>
        <p:nvSpPr>
          <p:cNvPr id="107" name="Google Shape;107;p19"/>
          <p:cNvSpPr txBox="1"/>
          <p:nvPr>
            <p:ph idx="1" type="body"/>
          </p:nvPr>
        </p:nvSpPr>
        <p:spPr>
          <a:xfrm>
            <a:off x="311700" y="1361361"/>
            <a:ext cx="8520600" cy="372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Given a partitioning of the set of vertices into disjoint classes we may be interested in the connection across the blocks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Two blocks are connected via  the adjacency relations of their respective vertices to one another in the original graph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reduced representation showing the roles and their relations is called a role graph or image graph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Role assignment can thus be thought of as a "data reduction" technique for networks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Meaningful structure may be captured at the image or role graph level rather than at the "individual" vertex level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Vertex classification defines "similarity" and reduces network complexity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i="1" lang="en"/>
              <a:t>This may be particularly appropriate for large, irregular graphs</a:t>
            </a:r>
            <a:endParaRPr i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Vertex behavior may display regularities at the level of role or position that it fails to display at the individual level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0"/>
          <p:cNvSpPr txBox="1"/>
          <p:nvPr>
            <p:ph type="title"/>
          </p:nvPr>
        </p:nvSpPr>
        <p:spPr>
          <a:xfrm>
            <a:off x="311700" y="822775"/>
            <a:ext cx="4567500" cy="92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Block Modelling</a:t>
            </a:r>
            <a:r>
              <a:rPr lang="en"/>
              <a:t> Data Reduction</a:t>
            </a:r>
            <a:endParaRPr/>
          </a:p>
        </p:txBody>
      </p:sp>
      <p:pic>
        <p:nvPicPr>
          <p:cNvPr id="113" name="Google Shape;113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72876" y="565275"/>
            <a:ext cx="3780149" cy="45844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1"/>
          <p:cNvSpPr txBox="1"/>
          <p:nvPr>
            <p:ph type="title"/>
          </p:nvPr>
        </p:nvSpPr>
        <p:spPr>
          <a:xfrm>
            <a:off x="311700" y="351028"/>
            <a:ext cx="8520600" cy="92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Notions of Equivalence: Structural Equivalence </a:t>
            </a:r>
            <a:endParaRPr/>
          </a:p>
        </p:txBody>
      </p:sp>
      <p:sp>
        <p:nvSpPr>
          <p:cNvPr id="119" name="Google Shape;119;p21"/>
          <p:cNvSpPr txBox="1"/>
          <p:nvPr>
            <p:ph idx="1" type="body"/>
          </p:nvPr>
        </p:nvSpPr>
        <p:spPr>
          <a:xfrm>
            <a:off x="311700" y="1361361"/>
            <a:ext cx="8520600" cy="372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simplest conceptualization of role equivalence is </a:t>
            </a:r>
            <a:r>
              <a:rPr b="1" lang="en"/>
              <a:t>structural equivalence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Two vertices u and v are structural equivalent </a:t>
            </a:r>
            <a:r>
              <a:rPr i="1" lang="en"/>
              <a:t>iff</a:t>
            </a:r>
            <a:r>
              <a:rPr lang="en"/>
              <a:t> they have the same pattern of relations with the same actors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If G = (V, E) and V -&gt; W is a role assignment, the relation R is a structural equivalence iff for all u, v in V: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uRv implies that the outgoing set of neighbors of u and the outgoing set of neighbors of v are the same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uRv implies that the incoming set of neighbors of u and the incoming set of neighbors of v are the same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2"/>
          <p:cNvSpPr txBox="1"/>
          <p:nvPr>
            <p:ph type="title"/>
          </p:nvPr>
        </p:nvSpPr>
        <p:spPr>
          <a:xfrm>
            <a:off x="311700" y="351028"/>
            <a:ext cx="8520600" cy="92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Notions of Equivalence: Structural Equivalence </a:t>
            </a:r>
            <a:endParaRPr/>
          </a:p>
        </p:txBody>
      </p:sp>
      <p:sp>
        <p:nvSpPr>
          <p:cNvPr id="125" name="Google Shape;125;p22"/>
          <p:cNvSpPr txBox="1"/>
          <p:nvPr>
            <p:ph idx="1" type="body"/>
          </p:nvPr>
        </p:nvSpPr>
        <p:spPr>
          <a:xfrm>
            <a:off x="311700" y="1361356"/>
            <a:ext cx="8520600" cy="179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</a:pPr>
            <a:r>
              <a:rPr lang="en"/>
              <a:t>Intuition: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Two </a:t>
            </a:r>
            <a:r>
              <a:rPr b="1" lang="en"/>
              <a:t>people</a:t>
            </a:r>
            <a:r>
              <a:rPr lang="en"/>
              <a:t> are structurally equivalent if they are </a:t>
            </a:r>
            <a:r>
              <a:rPr b="1" lang="en"/>
              <a:t>friends</a:t>
            </a:r>
            <a:r>
              <a:rPr lang="en"/>
              <a:t> with the same set of </a:t>
            </a:r>
            <a:r>
              <a:rPr b="1" lang="en"/>
              <a:t>people</a:t>
            </a:r>
            <a:endParaRPr b="1"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Two </a:t>
            </a:r>
            <a:r>
              <a:rPr b="1" lang="en"/>
              <a:t>papers</a:t>
            </a:r>
            <a:r>
              <a:rPr lang="en"/>
              <a:t> are structurally equivalent if they </a:t>
            </a:r>
            <a:r>
              <a:rPr b="1" lang="en"/>
              <a:t>cite</a:t>
            </a:r>
            <a:r>
              <a:rPr lang="en"/>
              <a:t> the same set of other </a:t>
            </a:r>
            <a:r>
              <a:rPr b="1" lang="en"/>
              <a:t>papers</a:t>
            </a:r>
            <a:endParaRPr b="1"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Two </a:t>
            </a:r>
            <a:r>
              <a:rPr b="1" lang="en"/>
              <a:t>species</a:t>
            </a:r>
            <a:r>
              <a:rPr lang="en"/>
              <a:t> are structurally equivalent if they </a:t>
            </a:r>
            <a:r>
              <a:rPr b="1" lang="en"/>
              <a:t>feed</a:t>
            </a:r>
            <a:r>
              <a:rPr lang="en"/>
              <a:t> on the same set of </a:t>
            </a:r>
            <a:r>
              <a:rPr b="1" lang="en"/>
              <a:t>prey</a:t>
            </a:r>
            <a:endParaRPr b="1"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Two </a:t>
            </a:r>
            <a:r>
              <a:rPr b="1" lang="en"/>
              <a:t>clubs</a:t>
            </a:r>
            <a:r>
              <a:rPr lang="en"/>
              <a:t> are structurally equivalent if the </a:t>
            </a:r>
            <a:r>
              <a:rPr b="1" lang="en"/>
              <a:t>share</a:t>
            </a:r>
            <a:r>
              <a:rPr lang="en"/>
              <a:t> the same set of </a:t>
            </a:r>
            <a:r>
              <a:rPr b="1" lang="en"/>
              <a:t>members</a:t>
            </a:r>
            <a:endParaRPr b="1"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Two </a:t>
            </a:r>
            <a:r>
              <a:rPr b="1" lang="en"/>
              <a:t>countries </a:t>
            </a:r>
            <a:r>
              <a:rPr lang="en"/>
              <a:t>structural equivalent if they </a:t>
            </a:r>
            <a:r>
              <a:rPr b="1" lang="en"/>
              <a:t>trade</a:t>
            </a:r>
            <a:r>
              <a:rPr lang="en"/>
              <a:t> with the same set of </a:t>
            </a:r>
            <a:r>
              <a:rPr b="1" lang="en"/>
              <a:t>countries</a:t>
            </a:r>
            <a:endParaRPr b="1"/>
          </a:p>
        </p:txBody>
      </p:sp>
      <p:grpSp>
        <p:nvGrpSpPr>
          <p:cNvPr id="126" name="Google Shape;126;p22"/>
          <p:cNvGrpSpPr/>
          <p:nvPr/>
        </p:nvGrpSpPr>
        <p:grpSpPr>
          <a:xfrm>
            <a:off x="311712" y="3156109"/>
            <a:ext cx="8164446" cy="1931831"/>
            <a:chOff x="311700" y="2363500"/>
            <a:chExt cx="8520607" cy="2217691"/>
          </a:xfrm>
        </p:grpSpPr>
        <p:pic>
          <p:nvPicPr>
            <p:cNvPr id="127" name="Google Shape;127;p2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311700" y="2367322"/>
              <a:ext cx="2204989" cy="221004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8" name="Google Shape;128;p2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3469503" y="2383751"/>
              <a:ext cx="2205000" cy="219743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9" name="Google Shape;129;p22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6345341" y="2363500"/>
              <a:ext cx="2486966" cy="2217691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3"/>
          <p:cNvSpPr txBox="1"/>
          <p:nvPr>
            <p:ph type="title"/>
          </p:nvPr>
        </p:nvSpPr>
        <p:spPr>
          <a:xfrm>
            <a:off x="311700" y="351028"/>
            <a:ext cx="8520600" cy="92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Notions of Equivalence: Structural Equivalence </a:t>
            </a:r>
            <a:endParaRPr/>
          </a:p>
        </p:txBody>
      </p:sp>
      <p:sp>
        <p:nvSpPr>
          <p:cNvPr id="135" name="Google Shape;135;p23"/>
          <p:cNvSpPr txBox="1"/>
          <p:nvPr>
            <p:ph idx="1" type="body"/>
          </p:nvPr>
        </p:nvSpPr>
        <p:spPr>
          <a:xfrm>
            <a:off x="311700" y="1361356"/>
            <a:ext cx="8520600" cy="179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If two actors are structurally equivalent they have the same graph theoretic attributes, however, reverse is not the case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Actors share the same neighborhood and their neighbors share the same relations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Actors are actually part of the same cohesive subset (clique and its generalizations)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Structural equivalence is a </a:t>
            </a:r>
            <a:r>
              <a:rPr b="1" lang="en"/>
              <a:t>purely local concept</a:t>
            </a:r>
            <a:endParaRPr/>
          </a:p>
        </p:txBody>
      </p:sp>
      <p:grpSp>
        <p:nvGrpSpPr>
          <p:cNvPr id="136" name="Google Shape;136;p23"/>
          <p:cNvGrpSpPr/>
          <p:nvPr/>
        </p:nvGrpSpPr>
        <p:grpSpPr>
          <a:xfrm>
            <a:off x="311712" y="3156109"/>
            <a:ext cx="8164446" cy="1931831"/>
            <a:chOff x="311700" y="2363500"/>
            <a:chExt cx="8520607" cy="2217691"/>
          </a:xfrm>
        </p:grpSpPr>
        <p:pic>
          <p:nvPicPr>
            <p:cNvPr id="137" name="Google Shape;137;p2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311700" y="2367322"/>
              <a:ext cx="2204989" cy="221004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8" name="Google Shape;138;p2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3469503" y="2383751"/>
              <a:ext cx="2205000" cy="219743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9" name="Google Shape;139;p23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6345341" y="2363500"/>
              <a:ext cx="2486966" cy="2217691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4"/>
          <p:cNvSpPr txBox="1"/>
          <p:nvPr>
            <p:ph type="title"/>
          </p:nvPr>
        </p:nvSpPr>
        <p:spPr>
          <a:xfrm>
            <a:off x="311700" y="351028"/>
            <a:ext cx="8520600" cy="92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Notions of Equivalence: Structural Equivalence </a:t>
            </a:r>
            <a:endParaRPr/>
          </a:p>
        </p:txBody>
      </p:sp>
      <p:sp>
        <p:nvSpPr>
          <p:cNvPr id="145" name="Google Shape;145;p24"/>
          <p:cNvSpPr txBox="1"/>
          <p:nvPr>
            <p:ph idx="1" type="body"/>
          </p:nvPr>
        </p:nvSpPr>
        <p:spPr>
          <a:xfrm>
            <a:off x="311700" y="1361356"/>
            <a:ext cx="8520600" cy="160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simplest conceptualization of role equivalence is </a:t>
            </a:r>
            <a:r>
              <a:rPr b="1" lang="en"/>
              <a:t>structural</a:t>
            </a:r>
            <a:r>
              <a:rPr lang="en"/>
              <a:t> </a:t>
            </a:r>
            <a:r>
              <a:rPr b="1" lang="en"/>
              <a:t>equivalence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Two vertices u and v are structural equivalent iff they have the same pattern of relations with other actors</a:t>
            </a:r>
            <a:endParaRPr/>
          </a:p>
        </p:txBody>
      </p:sp>
      <p:grpSp>
        <p:nvGrpSpPr>
          <p:cNvPr id="146" name="Google Shape;146;p24"/>
          <p:cNvGrpSpPr/>
          <p:nvPr/>
        </p:nvGrpSpPr>
        <p:grpSpPr>
          <a:xfrm>
            <a:off x="831375" y="3199200"/>
            <a:ext cx="7555950" cy="2132075"/>
            <a:chOff x="831375" y="3199200"/>
            <a:chExt cx="7555950" cy="2132075"/>
          </a:xfrm>
        </p:grpSpPr>
        <p:grpSp>
          <p:nvGrpSpPr>
            <p:cNvPr id="147" name="Google Shape;147;p24"/>
            <p:cNvGrpSpPr/>
            <p:nvPr/>
          </p:nvGrpSpPr>
          <p:grpSpPr>
            <a:xfrm>
              <a:off x="831375" y="3199200"/>
              <a:ext cx="7555950" cy="1938650"/>
              <a:chOff x="868500" y="3078125"/>
              <a:chExt cx="7555950" cy="1938650"/>
            </a:xfrm>
          </p:grpSpPr>
          <p:sp>
            <p:nvSpPr>
              <p:cNvPr id="148" name="Google Shape;148;p24"/>
              <p:cNvSpPr/>
              <p:nvPr/>
            </p:nvSpPr>
            <p:spPr>
              <a:xfrm>
                <a:off x="868500" y="3078125"/>
                <a:ext cx="601500" cy="580200"/>
              </a:xfrm>
              <a:prstGeom prst="ellipse">
                <a:avLst/>
              </a:prstGeom>
              <a:solidFill>
                <a:schemeClr val="lt2"/>
              </a:solidFill>
              <a:ln cap="flat" cmpd="sng" w="2857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/>
                  <a:t>a</a:t>
                </a:r>
                <a:endParaRPr sz="1800"/>
              </a:p>
            </p:txBody>
          </p:sp>
          <p:sp>
            <p:nvSpPr>
              <p:cNvPr id="149" name="Google Shape;149;p24"/>
              <p:cNvSpPr/>
              <p:nvPr/>
            </p:nvSpPr>
            <p:spPr>
              <a:xfrm>
                <a:off x="868700" y="4371050"/>
                <a:ext cx="601500" cy="580200"/>
              </a:xfrm>
              <a:prstGeom prst="ellipse">
                <a:avLst/>
              </a:prstGeom>
              <a:solidFill>
                <a:schemeClr val="lt2"/>
              </a:solidFill>
              <a:ln cap="flat" cmpd="sng" w="2857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/>
                  <a:t>c</a:t>
                </a:r>
                <a:endParaRPr sz="1800"/>
              </a:p>
            </p:txBody>
          </p:sp>
          <p:sp>
            <p:nvSpPr>
              <p:cNvPr id="150" name="Google Shape;150;p24"/>
              <p:cNvSpPr/>
              <p:nvPr/>
            </p:nvSpPr>
            <p:spPr>
              <a:xfrm>
                <a:off x="2614450" y="3078125"/>
                <a:ext cx="601500" cy="580200"/>
              </a:xfrm>
              <a:prstGeom prst="ellipse">
                <a:avLst/>
              </a:prstGeom>
              <a:solidFill>
                <a:schemeClr val="lt2"/>
              </a:solidFill>
              <a:ln cap="flat" cmpd="sng" w="2857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/>
                  <a:t>b</a:t>
                </a:r>
                <a:endParaRPr sz="1800"/>
              </a:p>
            </p:txBody>
          </p:sp>
          <p:sp>
            <p:nvSpPr>
              <p:cNvPr id="151" name="Google Shape;151;p24"/>
              <p:cNvSpPr/>
              <p:nvPr/>
            </p:nvSpPr>
            <p:spPr>
              <a:xfrm>
                <a:off x="2614450" y="4371050"/>
                <a:ext cx="601500" cy="580200"/>
              </a:xfrm>
              <a:prstGeom prst="ellipse">
                <a:avLst/>
              </a:prstGeom>
              <a:solidFill>
                <a:schemeClr val="lt2"/>
              </a:solidFill>
              <a:ln cap="flat" cmpd="sng" w="2857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/>
                  <a:t>d</a:t>
                </a:r>
                <a:endParaRPr sz="1800"/>
              </a:p>
            </p:txBody>
          </p:sp>
          <p:sp>
            <p:nvSpPr>
              <p:cNvPr id="152" name="Google Shape;152;p24"/>
              <p:cNvSpPr/>
              <p:nvPr/>
            </p:nvSpPr>
            <p:spPr>
              <a:xfrm>
                <a:off x="3679950" y="3724550"/>
                <a:ext cx="601500" cy="580200"/>
              </a:xfrm>
              <a:prstGeom prst="ellipse">
                <a:avLst/>
              </a:prstGeom>
              <a:solidFill>
                <a:schemeClr val="lt2"/>
              </a:solidFill>
              <a:ln cap="flat" cmpd="sng" w="2857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/>
                  <a:t>e</a:t>
                </a:r>
                <a:endParaRPr sz="1800"/>
              </a:p>
            </p:txBody>
          </p:sp>
          <p:sp>
            <p:nvSpPr>
              <p:cNvPr id="153" name="Google Shape;153;p24"/>
              <p:cNvSpPr/>
              <p:nvPr/>
            </p:nvSpPr>
            <p:spPr>
              <a:xfrm>
                <a:off x="5000350" y="3724625"/>
                <a:ext cx="601500" cy="580200"/>
              </a:xfrm>
              <a:prstGeom prst="ellipse">
                <a:avLst/>
              </a:prstGeom>
              <a:solidFill>
                <a:schemeClr val="lt2"/>
              </a:solidFill>
              <a:ln cap="flat" cmpd="sng" w="2857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/>
                  <a:t>f</a:t>
                </a:r>
                <a:endParaRPr sz="1800"/>
              </a:p>
            </p:txBody>
          </p:sp>
          <p:sp>
            <p:nvSpPr>
              <p:cNvPr id="154" name="Google Shape;154;p24"/>
              <p:cNvSpPr/>
              <p:nvPr/>
            </p:nvSpPr>
            <p:spPr>
              <a:xfrm>
                <a:off x="6077000" y="3078125"/>
                <a:ext cx="601500" cy="580200"/>
              </a:xfrm>
              <a:prstGeom prst="ellipse">
                <a:avLst/>
              </a:prstGeom>
              <a:solidFill>
                <a:schemeClr val="lt2"/>
              </a:solidFill>
              <a:ln cap="flat" cmpd="sng" w="2857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/>
                  <a:t>g</a:t>
                </a:r>
                <a:endParaRPr sz="1800"/>
              </a:p>
            </p:txBody>
          </p:sp>
          <p:sp>
            <p:nvSpPr>
              <p:cNvPr id="155" name="Google Shape;155;p24"/>
              <p:cNvSpPr/>
              <p:nvPr/>
            </p:nvSpPr>
            <p:spPr>
              <a:xfrm>
                <a:off x="6077000" y="4436575"/>
                <a:ext cx="601500" cy="580200"/>
              </a:xfrm>
              <a:prstGeom prst="ellipse">
                <a:avLst/>
              </a:prstGeom>
              <a:solidFill>
                <a:schemeClr val="lt2"/>
              </a:solidFill>
              <a:ln cap="flat" cmpd="sng" w="2857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/>
                  <a:t>i</a:t>
                </a:r>
                <a:endParaRPr sz="1800"/>
              </a:p>
            </p:txBody>
          </p:sp>
          <p:sp>
            <p:nvSpPr>
              <p:cNvPr id="156" name="Google Shape;156;p24"/>
              <p:cNvSpPr/>
              <p:nvPr/>
            </p:nvSpPr>
            <p:spPr>
              <a:xfrm>
                <a:off x="7822950" y="3078125"/>
                <a:ext cx="601500" cy="580200"/>
              </a:xfrm>
              <a:prstGeom prst="ellipse">
                <a:avLst/>
              </a:prstGeom>
              <a:solidFill>
                <a:schemeClr val="lt2"/>
              </a:solidFill>
              <a:ln cap="flat" cmpd="sng" w="2857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/>
                  <a:t>h</a:t>
                </a:r>
                <a:endParaRPr sz="1800"/>
              </a:p>
            </p:txBody>
          </p:sp>
          <p:sp>
            <p:nvSpPr>
              <p:cNvPr id="157" name="Google Shape;157;p24"/>
              <p:cNvSpPr/>
              <p:nvPr/>
            </p:nvSpPr>
            <p:spPr>
              <a:xfrm>
                <a:off x="7822850" y="4436575"/>
                <a:ext cx="601500" cy="580200"/>
              </a:xfrm>
              <a:prstGeom prst="ellipse">
                <a:avLst/>
              </a:prstGeom>
              <a:solidFill>
                <a:schemeClr val="lt2"/>
              </a:solidFill>
              <a:ln cap="flat" cmpd="sng" w="2857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/>
                  <a:t>j</a:t>
                </a:r>
                <a:endParaRPr sz="1800"/>
              </a:p>
            </p:txBody>
          </p:sp>
          <p:cxnSp>
            <p:nvCxnSpPr>
              <p:cNvPr id="158" name="Google Shape;158;p24"/>
              <p:cNvCxnSpPr>
                <a:stCxn id="148" idx="6"/>
                <a:endCxn id="150" idx="2"/>
              </p:cNvCxnSpPr>
              <p:nvPr/>
            </p:nvCxnSpPr>
            <p:spPr>
              <a:xfrm>
                <a:off x="1470000" y="3368225"/>
                <a:ext cx="1144500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59" name="Google Shape;159;p24"/>
              <p:cNvCxnSpPr>
                <a:stCxn id="148" idx="5"/>
                <a:endCxn id="151" idx="1"/>
              </p:cNvCxnSpPr>
              <p:nvPr/>
            </p:nvCxnSpPr>
            <p:spPr>
              <a:xfrm>
                <a:off x="1381912" y="3573357"/>
                <a:ext cx="1320600" cy="8826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60" name="Google Shape;160;p24"/>
              <p:cNvCxnSpPr>
                <a:stCxn id="149" idx="7"/>
                <a:endCxn id="150" idx="3"/>
              </p:cNvCxnSpPr>
              <p:nvPr/>
            </p:nvCxnSpPr>
            <p:spPr>
              <a:xfrm flipH="1" rot="10800000">
                <a:off x="1382112" y="3573418"/>
                <a:ext cx="1320300" cy="8826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61" name="Google Shape;161;p24"/>
              <p:cNvCxnSpPr>
                <a:stCxn id="148" idx="4"/>
                <a:endCxn id="149" idx="0"/>
              </p:cNvCxnSpPr>
              <p:nvPr/>
            </p:nvCxnSpPr>
            <p:spPr>
              <a:xfrm>
                <a:off x="1169250" y="3658325"/>
                <a:ext cx="300" cy="7128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62" name="Google Shape;162;p24"/>
              <p:cNvCxnSpPr>
                <a:stCxn id="149" idx="6"/>
                <a:endCxn id="151" idx="2"/>
              </p:cNvCxnSpPr>
              <p:nvPr/>
            </p:nvCxnSpPr>
            <p:spPr>
              <a:xfrm>
                <a:off x="1470200" y="4661150"/>
                <a:ext cx="1144200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63" name="Google Shape;163;p24"/>
              <p:cNvCxnSpPr>
                <a:stCxn id="150" idx="6"/>
                <a:endCxn id="152" idx="1"/>
              </p:cNvCxnSpPr>
              <p:nvPr/>
            </p:nvCxnSpPr>
            <p:spPr>
              <a:xfrm>
                <a:off x="3215950" y="3368225"/>
                <a:ext cx="552000" cy="4413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64" name="Google Shape;164;p24"/>
              <p:cNvCxnSpPr>
                <a:stCxn id="152" idx="3"/>
                <a:endCxn id="151" idx="6"/>
              </p:cNvCxnSpPr>
              <p:nvPr/>
            </p:nvCxnSpPr>
            <p:spPr>
              <a:xfrm flipH="1">
                <a:off x="3216038" y="4219782"/>
                <a:ext cx="552000" cy="4413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65" name="Google Shape;165;p24"/>
              <p:cNvCxnSpPr>
                <a:stCxn id="153" idx="2"/>
                <a:endCxn id="152" idx="6"/>
              </p:cNvCxnSpPr>
              <p:nvPr/>
            </p:nvCxnSpPr>
            <p:spPr>
              <a:xfrm rot="10800000">
                <a:off x="4281550" y="4014725"/>
                <a:ext cx="718800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66" name="Google Shape;166;p24"/>
              <p:cNvCxnSpPr>
                <a:stCxn id="154" idx="2"/>
                <a:endCxn id="153" idx="7"/>
              </p:cNvCxnSpPr>
              <p:nvPr/>
            </p:nvCxnSpPr>
            <p:spPr>
              <a:xfrm flipH="1">
                <a:off x="5513900" y="3368225"/>
                <a:ext cx="563100" cy="4413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67" name="Google Shape;167;p24"/>
              <p:cNvCxnSpPr>
                <a:stCxn id="155" idx="2"/>
                <a:endCxn id="153" idx="5"/>
              </p:cNvCxnSpPr>
              <p:nvPr/>
            </p:nvCxnSpPr>
            <p:spPr>
              <a:xfrm rot="10800000">
                <a:off x="5513900" y="4219975"/>
                <a:ext cx="563100" cy="5067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68" name="Google Shape;168;p24"/>
              <p:cNvCxnSpPr>
                <a:stCxn id="154" idx="5"/>
                <a:endCxn id="157" idx="1"/>
              </p:cNvCxnSpPr>
              <p:nvPr/>
            </p:nvCxnSpPr>
            <p:spPr>
              <a:xfrm>
                <a:off x="6590412" y="3573357"/>
                <a:ext cx="1320600" cy="9483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69" name="Google Shape;169;p24"/>
              <p:cNvCxnSpPr>
                <a:stCxn id="156" idx="3"/>
                <a:endCxn id="155" idx="7"/>
              </p:cNvCxnSpPr>
              <p:nvPr/>
            </p:nvCxnSpPr>
            <p:spPr>
              <a:xfrm flipH="1">
                <a:off x="6590438" y="3573357"/>
                <a:ext cx="1320600" cy="9483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70" name="Google Shape;170;p24"/>
              <p:cNvCxnSpPr>
                <a:stCxn id="156" idx="2"/>
                <a:endCxn id="154" idx="6"/>
              </p:cNvCxnSpPr>
              <p:nvPr/>
            </p:nvCxnSpPr>
            <p:spPr>
              <a:xfrm rot="10800000">
                <a:off x="6678450" y="3368225"/>
                <a:ext cx="1144500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71" name="Google Shape;171;p24"/>
              <p:cNvCxnSpPr>
                <a:stCxn id="156" idx="4"/>
                <a:endCxn id="157" idx="0"/>
              </p:cNvCxnSpPr>
              <p:nvPr/>
            </p:nvCxnSpPr>
            <p:spPr>
              <a:xfrm>
                <a:off x="8123700" y="3658325"/>
                <a:ext cx="0" cy="7782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72" name="Google Shape;172;p24"/>
              <p:cNvCxnSpPr>
                <a:stCxn id="157" idx="2"/>
                <a:endCxn id="155" idx="6"/>
              </p:cNvCxnSpPr>
              <p:nvPr/>
            </p:nvCxnSpPr>
            <p:spPr>
              <a:xfrm rot="10800000">
                <a:off x="6678650" y="4726675"/>
                <a:ext cx="1144200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sp>
          <p:nvSpPr>
            <p:cNvPr id="173" name="Google Shape;173;p24"/>
            <p:cNvSpPr txBox="1"/>
            <p:nvPr/>
          </p:nvSpPr>
          <p:spPr>
            <a:xfrm>
              <a:off x="3604950" y="4864175"/>
              <a:ext cx="2008800" cy="46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Borgatti and Everett’s</a:t>
              </a:r>
              <a:endParaRPr/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“Thinking Graph”</a:t>
              </a:r>
              <a:endParaRPr/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5"/>
          <p:cNvSpPr txBox="1"/>
          <p:nvPr>
            <p:ph type="title"/>
          </p:nvPr>
        </p:nvSpPr>
        <p:spPr>
          <a:xfrm>
            <a:off x="311700" y="351028"/>
            <a:ext cx="8520600" cy="92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Notions of Equivalence: Structural Equivalence </a:t>
            </a:r>
            <a:endParaRPr/>
          </a:p>
        </p:txBody>
      </p:sp>
      <p:sp>
        <p:nvSpPr>
          <p:cNvPr id="179" name="Google Shape;179;p25"/>
          <p:cNvSpPr txBox="1"/>
          <p:nvPr>
            <p:ph idx="1" type="body"/>
          </p:nvPr>
        </p:nvSpPr>
        <p:spPr>
          <a:xfrm>
            <a:off x="311700" y="1361356"/>
            <a:ext cx="8520600" cy="160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simplest conceptualization of role equivalence is </a:t>
            </a:r>
            <a:r>
              <a:rPr b="1" lang="en"/>
              <a:t>structural equivalence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Two vertices u and v are structural equivalent </a:t>
            </a:r>
            <a:r>
              <a:rPr i="1" lang="en"/>
              <a:t>iff</a:t>
            </a:r>
            <a:r>
              <a:rPr lang="en"/>
              <a:t> they have the same pattern of relations with the same actors</a:t>
            </a:r>
            <a:endParaRPr/>
          </a:p>
        </p:txBody>
      </p:sp>
      <p:grpSp>
        <p:nvGrpSpPr>
          <p:cNvPr id="180" name="Google Shape;180;p25"/>
          <p:cNvGrpSpPr/>
          <p:nvPr/>
        </p:nvGrpSpPr>
        <p:grpSpPr>
          <a:xfrm>
            <a:off x="831375" y="3199200"/>
            <a:ext cx="7555950" cy="2132075"/>
            <a:chOff x="831375" y="3199200"/>
            <a:chExt cx="7555950" cy="2132075"/>
          </a:xfrm>
        </p:grpSpPr>
        <p:grpSp>
          <p:nvGrpSpPr>
            <p:cNvPr id="181" name="Google Shape;181;p25"/>
            <p:cNvGrpSpPr/>
            <p:nvPr/>
          </p:nvGrpSpPr>
          <p:grpSpPr>
            <a:xfrm>
              <a:off x="831375" y="3199200"/>
              <a:ext cx="7555950" cy="1938650"/>
              <a:chOff x="868500" y="3078125"/>
              <a:chExt cx="7555950" cy="1938650"/>
            </a:xfrm>
          </p:grpSpPr>
          <p:sp>
            <p:nvSpPr>
              <p:cNvPr id="182" name="Google Shape;182;p25"/>
              <p:cNvSpPr/>
              <p:nvPr/>
            </p:nvSpPr>
            <p:spPr>
              <a:xfrm>
                <a:off x="868500" y="3078125"/>
                <a:ext cx="601500" cy="580200"/>
              </a:xfrm>
              <a:prstGeom prst="ellipse">
                <a:avLst/>
              </a:prstGeom>
              <a:solidFill>
                <a:srgbClr val="FF0000"/>
              </a:solidFill>
              <a:ln cap="flat" cmpd="sng" w="2857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/>
                  <a:t>a</a:t>
                </a:r>
                <a:endParaRPr sz="1800"/>
              </a:p>
            </p:txBody>
          </p:sp>
          <p:sp>
            <p:nvSpPr>
              <p:cNvPr id="183" name="Google Shape;183;p25"/>
              <p:cNvSpPr/>
              <p:nvPr/>
            </p:nvSpPr>
            <p:spPr>
              <a:xfrm>
                <a:off x="868700" y="4371050"/>
                <a:ext cx="601500" cy="580200"/>
              </a:xfrm>
              <a:prstGeom prst="ellipse">
                <a:avLst/>
              </a:prstGeom>
              <a:solidFill>
                <a:srgbClr val="FF0000"/>
              </a:solidFill>
              <a:ln cap="flat" cmpd="sng" w="2857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/>
                  <a:t>c</a:t>
                </a:r>
                <a:endParaRPr sz="1800"/>
              </a:p>
            </p:txBody>
          </p:sp>
          <p:sp>
            <p:nvSpPr>
              <p:cNvPr id="184" name="Google Shape;184;p25"/>
              <p:cNvSpPr/>
              <p:nvPr/>
            </p:nvSpPr>
            <p:spPr>
              <a:xfrm>
                <a:off x="2614450" y="3078125"/>
                <a:ext cx="601500" cy="580200"/>
              </a:xfrm>
              <a:prstGeom prst="ellipse">
                <a:avLst/>
              </a:prstGeom>
              <a:solidFill>
                <a:srgbClr val="6AA84F"/>
              </a:solidFill>
              <a:ln cap="flat" cmpd="sng" w="2857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/>
                  <a:t>b</a:t>
                </a:r>
                <a:endParaRPr sz="1800"/>
              </a:p>
            </p:txBody>
          </p:sp>
          <p:sp>
            <p:nvSpPr>
              <p:cNvPr id="185" name="Google Shape;185;p25"/>
              <p:cNvSpPr/>
              <p:nvPr/>
            </p:nvSpPr>
            <p:spPr>
              <a:xfrm>
                <a:off x="2614450" y="4371050"/>
                <a:ext cx="601500" cy="580200"/>
              </a:xfrm>
              <a:prstGeom prst="ellipse">
                <a:avLst/>
              </a:prstGeom>
              <a:solidFill>
                <a:srgbClr val="6AA84F"/>
              </a:solidFill>
              <a:ln cap="flat" cmpd="sng" w="2857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/>
                  <a:t>d</a:t>
                </a:r>
                <a:endParaRPr sz="1800"/>
              </a:p>
            </p:txBody>
          </p:sp>
          <p:sp>
            <p:nvSpPr>
              <p:cNvPr id="186" name="Google Shape;186;p25"/>
              <p:cNvSpPr/>
              <p:nvPr/>
            </p:nvSpPr>
            <p:spPr>
              <a:xfrm>
                <a:off x="3679950" y="3724550"/>
                <a:ext cx="601500" cy="580200"/>
              </a:xfrm>
              <a:prstGeom prst="ellipse">
                <a:avLst/>
              </a:prstGeom>
              <a:solidFill>
                <a:srgbClr val="FF00FF"/>
              </a:solidFill>
              <a:ln cap="flat" cmpd="sng" w="2857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/>
                  <a:t>e</a:t>
                </a:r>
                <a:endParaRPr sz="1800"/>
              </a:p>
            </p:txBody>
          </p:sp>
          <p:sp>
            <p:nvSpPr>
              <p:cNvPr id="187" name="Google Shape;187;p25"/>
              <p:cNvSpPr/>
              <p:nvPr/>
            </p:nvSpPr>
            <p:spPr>
              <a:xfrm>
                <a:off x="5000350" y="3724625"/>
                <a:ext cx="601500" cy="580200"/>
              </a:xfrm>
              <a:prstGeom prst="ellipse">
                <a:avLst/>
              </a:prstGeom>
              <a:solidFill>
                <a:srgbClr val="3C78D8"/>
              </a:solidFill>
              <a:ln cap="flat" cmpd="sng" w="2857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/>
                  <a:t>f</a:t>
                </a:r>
                <a:endParaRPr sz="1800"/>
              </a:p>
            </p:txBody>
          </p:sp>
          <p:sp>
            <p:nvSpPr>
              <p:cNvPr id="188" name="Google Shape;188;p25"/>
              <p:cNvSpPr/>
              <p:nvPr/>
            </p:nvSpPr>
            <p:spPr>
              <a:xfrm>
                <a:off x="6077000" y="3078125"/>
                <a:ext cx="601500" cy="580200"/>
              </a:xfrm>
              <a:prstGeom prst="ellipse">
                <a:avLst/>
              </a:prstGeom>
              <a:solidFill>
                <a:srgbClr val="E69138"/>
              </a:solidFill>
              <a:ln cap="flat" cmpd="sng" w="2857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/>
                  <a:t>g</a:t>
                </a:r>
                <a:endParaRPr sz="1800"/>
              </a:p>
            </p:txBody>
          </p:sp>
          <p:sp>
            <p:nvSpPr>
              <p:cNvPr id="189" name="Google Shape;189;p25"/>
              <p:cNvSpPr/>
              <p:nvPr/>
            </p:nvSpPr>
            <p:spPr>
              <a:xfrm>
                <a:off x="6077000" y="4436575"/>
                <a:ext cx="601500" cy="580200"/>
              </a:xfrm>
              <a:prstGeom prst="ellipse">
                <a:avLst/>
              </a:prstGeom>
              <a:solidFill>
                <a:srgbClr val="E69138"/>
              </a:solidFill>
              <a:ln cap="flat" cmpd="sng" w="2857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/>
                  <a:t>i</a:t>
                </a:r>
                <a:endParaRPr sz="1800"/>
              </a:p>
            </p:txBody>
          </p:sp>
          <p:sp>
            <p:nvSpPr>
              <p:cNvPr id="190" name="Google Shape;190;p25"/>
              <p:cNvSpPr/>
              <p:nvPr/>
            </p:nvSpPr>
            <p:spPr>
              <a:xfrm>
                <a:off x="7822950" y="3078125"/>
                <a:ext cx="601500" cy="580200"/>
              </a:xfrm>
              <a:prstGeom prst="ellipse">
                <a:avLst/>
              </a:prstGeom>
              <a:solidFill>
                <a:srgbClr val="C27BA0"/>
              </a:solidFill>
              <a:ln cap="flat" cmpd="sng" w="2857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/>
                  <a:t>h</a:t>
                </a:r>
                <a:endParaRPr sz="1800"/>
              </a:p>
            </p:txBody>
          </p:sp>
          <p:sp>
            <p:nvSpPr>
              <p:cNvPr id="191" name="Google Shape;191;p25"/>
              <p:cNvSpPr/>
              <p:nvPr/>
            </p:nvSpPr>
            <p:spPr>
              <a:xfrm>
                <a:off x="7822850" y="4436575"/>
                <a:ext cx="601500" cy="580200"/>
              </a:xfrm>
              <a:prstGeom prst="ellipse">
                <a:avLst/>
              </a:prstGeom>
              <a:solidFill>
                <a:srgbClr val="C27BA0"/>
              </a:solidFill>
              <a:ln cap="flat" cmpd="sng" w="2857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/>
                  <a:t>j</a:t>
                </a:r>
                <a:endParaRPr sz="1800"/>
              </a:p>
            </p:txBody>
          </p:sp>
          <p:cxnSp>
            <p:nvCxnSpPr>
              <p:cNvPr id="192" name="Google Shape;192;p25"/>
              <p:cNvCxnSpPr>
                <a:stCxn id="182" idx="6"/>
                <a:endCxn id="184" idx="2"/>
              </p:cNvCxnSpPr>
              <p:nvPr/>
            </p:nvCxnSpPr>
            <p:spPr>
              <a:xfrm>
                <a:off x="1470000" y="3368225"/>
                <a:ext cx="1144500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93" name="Google Shape;193;p25"/>
              <p:cNvCxnSpPr>
                <a:stCxn id="182" idx="5"/>
                <a:endCxn id="185" idx="1"/>
              </p:cNvCxnSpPr>
              <p:nvPr/>
            </p:nvCxnSpPr>
            <p:spPr>
              <a:xfrm>
                <a:off x="1381912" y="3573357"/>
                <a:ext cx="1320600" cy="8826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94" name="Google Shape;194;p25"/>
              <p:cNvCxnSpPr>
                <a:stCxn id="183" idx="7"/>
                <a:endCxn id="184" idx="3"/>
              </p:cNvCxnSpPr>
              <p:nvPr/>
            </p:nvCxnSpPr>
            <p:spPr>
              <a:xfrm flipH="1" rot="10800000">
                <a:off x="1382112" y="3573418"/>
                <a:ext cx="1320300" cy="8826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95" name="Google Shape;195;p25"/>
              <p:cNvCxnSpPr>
                <a:stCxn id="182" idx="4"/>
                <a:endCxn id="183" idx="0"/>
              </p:cNvCxnSpPr>
              <p:nvPr/>
            </p:nvCxnSpPr>
            <p:spPr>
              <a:xfrm>
                <a:off x="1169250" y="3658325"/>
                <a:ext cx="300" cy="7128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96" name="Google Shape;196;p25"/>
              <p:cNvCxnSpPr>
                <a:stCxn id="183" idx="6"/>
                <a:endCxn id="185" idx="2"/>
              </p:cNvCxnSpPr>
              <p:nvPr/>
            </p:nvCxnSpPr>
            <p:spPr>
              <a:xfrm>
                <a:off x="1470200" y="4661150"/>
                <a:ext cx="1144200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97" name="Google Shape;197;p25"/>
              <p:cNvCxnSpPr>
                <a:stCxn id="184" idx="6"/>
                <a:endCxn id="186" idx="1"/>
              </p:cNvCxnSpPr>
              <p:nvPr/>
            </p:nvCxnSpPr>
            <p:spPr>
              <a:xfrm>
                <a:off x="3215950" y="3368225"/>
                <a:ext cx="552000" cy="4413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98" name="Google Shape;198;p25"/>
              <p:cNvCxnSpPr>
                <a:stCxn id="186" idx="3"/>
                <a:endCxn id="185" idx="6"/>
              </p:cNvCxnSpPr>
              <p:nvPr/>
            </p:nvCxnSpPr>
            <p:spPr>
              <a:xfrm flipH="1">
                <a:off x="3216038" y="4219782"/>
                <a:ext cx="552000" cy="4413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99" name="Google Shape;199;p25"/>
              <p:cNvCxnSpPr>
                <a:stCxn id="187" idx="2"/>
                <a:endCxn id="186" idx="6"/>
              </p:cNvCxnSpPr>
              <p:nvPr/>
            </p:nvCxnSpPr>
            <p:spPr>
              <a:xfrm rot="10800000">
                <a:off x="4281550" y="4014725"/>
                <a:ext cx="718800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00" name="Google Shape;200;p25"/>
              <p:cNvCxnSpPr>
                <a:stCxn id="188" idx="2"/>
                <a:endCxn id="187" idx="7"/>
              </p:cNvCxnSpPr>
              <p:nvPr/>
            </p:nvCxnSpPr>
            <p:spPr>
              <a:xfrm flipH="1">
                <a:off x="5513900" y="3368225"/>
                <a:ext cx="563100" cy="4413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01" name="Google Shape;201;p25"/>
              <p:cNvCxnSpPr>
                <a:stCxn id="189" idx="2"/>
                <a:endCxn id="187" idx="5"/>
              </p:cNvCxnSpPr>
              <p:nvPr/>
            </p:nvCxnSpPr>
            <p:spPr>
              <a:xfrm rot="10800000">
                <a:off x="5513900" y="4219975"/>
                <a:ext cx="563100" cy="5067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02" name="Google Shape;202;p25"/>
              <p:cNvCxnSpPr>
                <a:stCxn id="188" idx="5"/>
                <a:endCxn id="191" idx="1"/>
              </p:cNvCxnSpPr>
              <p:nvPr/>
            </p:nvCxnSpPr>
            <p:spPr>
              <a:xfrm>
                <a:off x="6590412" y="3573357"/>
                <a:ext cx="1320600" cy="9483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03" name="Google Shape;203;p25"/>
              <p:cNvCxnSpPr>
                <a:stCxn id="190" idx="3"/>
                <a:endCxn id="189" idx="7"/>
              </p:cNvCxnSpPr>
              <p:nvPr/>
            </p:nvCxnSpPr>
            <p:spPr>
              <a:xfrm flipH="1">
                <a:off x="6590438" y="3573357"/>
                <a:ext cx="1320600" cy="9483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04" name="Google Shape;204;p25"/>
              <p:cNvCxnSpPr>
                <a:stCxn id="190" idx="2"/>
                <a:endCxn id="188" idx="6"/>
              </p:cNvCxnSpPr>
              <p:nvPr/>
            </p:nvCxnSpPr>
            <p:spPr>
              <a:xfrm rot="10800000">
                <a:off x="6678450" y="3368225"/>
                <a:ext cx="1144500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05" name="Google Shape;205;p25"/>
              <p:cNvCxnSpPr>
                <a:stCxn id="190" idx="4"/>
                <a:endCxn id="191" idx="0"/>
              </p:cNvCxnSpPr>
              <p:nvPr/>
            </p:nvCxnSpPr>
            <p:spPr>
              <a:xfrm>
                <a:off x="8123700" y="3658325"/>
                <a:ext cx="0" cy="7782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06" name="Google Shape;206;p25"/>
              <p:cNvCxnSpPr>
                <a:stCxn id="191" idx="2"/>
                <a:endCxn id="189" idx="6"/>
              </p:cNvCxnSpPr>
              <p:nvPr/>
            </p:nvCxnSpPr>
            <p:spPr>
              <a:xfrm rot="10800000">
                <a:off x="6678650" y="4726675"/>
                <a:ext cx="1144200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sp>
          <p:nvSpPr>
            <p:cNvPr id="207" name="Google Shape;207;p25"/>
            <p:cNvSpPr txBox="1"/>
            <p:nvPr/>
          </p:nvSpPr>
          <p:spPr>
            <a:xfrm>
              <a:off x="3604950" y="4864175"/>
              <a:ext cx="2008800" cy="46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Borgatti and Everett’s</a:t>
              </a:r>
              <a:endParaRPr/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“Thinking Graph”</a:t>
              </a:r>
              <a:endParaRPr/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2" name="Google Shape;212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78168" y="769769"/>
            <a:ext cx="7187657" cy="41754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7" name="Google Shape;217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1375" y="297656"/>
            <a:ext cx="7461250" cy="51196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2" name="Google Shape;222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1375" y="297656"/>
            <a:ext cx="7461250" cy="5119688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p28"/>
          <p:cNvSpPr/>
          <p:nvPr/>
        </p:nvSpPr>
        <p:spPr>
          <a:xfrm>
            <a:off x="3340900" y="2460075"/>
            <a:ext cx="827100" cy="708900"/>
          </a:xfrm>
          <a:prstGeom prst="ellipse">
            <a:avLst/>
          </a:prstGeom>
          <a:solidFill>
            <a:srgbClr val="FF0000">
              <a:alpha val="2423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28"/>
          <p:cNvSpPr/>
          <p:nvPr/>
        </p:nvSpPr>
        <p:spPr>
          <a:xfrm>
            <a:off x="4470875" y="1634925"/>
            <a:ext cx="827100" cy="708900"/>
          </a:xfrm>
          <a:prstGeom prst="ellipse">
            <a:avLst/>
          </a:prstGeom>
          <a:solidFill>
            <a:srgbClr val="FF0000">
              <a:alpha val="2423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28"/>
          <p:cNvSpPr/>
          <p:nvPr/>
        </p:nvSpPr>
        <p:spPr>
          <a:xfrm>
            <a:off x="4225800" y="487450"/>
            <a:ext cx="827100" cy="708900"/>
          </a:xfrm>
          <a:prstGeom prst="ellipse">
            <a:avLst/>
          </a:prstGeom>
          <a:solidFill>
            <a:srgbClr val="FF0000">
              <a:alpha val="2423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28"/>
          <p:cNvSpPr/>
          <p:nvPr/>
        </p:nvSpPr>
        <p:spPr>
          <a:xfrm>
            <a:off x="2702375" y="1037350"/>
            <a:ext cx="827100" cy="708900"/>
          </a:xfrm>
          <a:prstGeom prst="ellipse">
            <a:avLst/>
          </a:prstGeom>
          <a:solidFill>
            <a:srgbClr val="FF0000">
              <a:alpha val="2423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28"/>
          <p:cNvSpPr/>
          <p:nvPr/>
        </p:nvSpPr>
        <p:spPr>
          <a:xfrm>
            <a:off x="5798225" y="2135075"/>
            <a:ext cx="827100" cy="708900"/>
          </a:xfrm>
          <a:prstGeom prst="ellipse">
            <a:avLst/>
          </a:prstGeom>
          <a:solidFill>
            <a:srgbClr val="6BAA4F">
              <a:alpha val="280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28"/>
          <p:cNvSpPr/>
          <p:nvPr/>
        </p:nvSpPr>
        <p:spPr>
          <a:xfrm>
            <a:off x="7312900" y="926025"/>
            <a:ext cx="827100" cy="708900"/>
          </a:xfrm>
          <a:prstGeom prst="ellipse">
            <a:avLst/>
          </a:prstGeom>
          <a:solidFill>
            <a:srgbClr val="0000FF">
              <a:alpha val="1962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28"/>
          <p:cNvSpPr/>
          <p:nvPr/>
        </p:nvSpPr>
        <p:spPr>
          <a:xfrm>
            <a:off x="6724075" y="2135075"/>
            <a:ext cx="827100" cy="708900"/>
          </a:xfrm>
          <a:prstGeom prst="ellipse">
            <a:avLst/>
          </a:prstGeom>
          <a:solidFill>
            <a:srgbClr val="0000FF">
              <a:alpha val="1962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28"/>
          <p:cNvSpPr/>
          <p:nvPr/>
        </p:nvSpPr>
        <p:spPr>
          <a:xfrm>
            <a:off x="7312900" y="3267050"/>
            <a:ext cx="827100" cy="708900"/>
          </a:xfrm>
          <a:prstGeom prst="ellipse">
            <a:avLst/>
          </a:prstGeom>
          <a:solidFill>
            <a:srgbClr val="0000FF">
              <a:alpha val="1962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28"/>
          <p:cNvSpPr/>
          <p:nvPr/>
        </p:nvSpPr>
        <p:spPr>
          <a:xfrm>
            <a:off x="1178950" y="536450"/>
            <a:ext cx="827100" cy="708900"/>
          </a:xfrm>
          <a:prstGeom prst="ellipse">
            <a:avLst/>
          </a:prstGeom>
          <a:solidFill>
            <a:srgbClr val="E69138">
              <a:alpha val="3654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28"/>
          <p:cNvSpPr/>
          <p:nvPr/>
        </p:nvSpPr>
        <p:spPr>
          <a:xfrm>
            <a:off x="776750" y="1945725"/>
            <a:ext cx="827100" cy="708900"/>
          </a:xfrm>
          <a:prstGeom prst="ellipse">
            <a:avLst/>
          </a:prstGeom>
          <a:solidFill>
            <a:srgbClr val="E69138">
              <a:alpha val="3654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28"/>
          <p:cNvSpPr/>
          <p:nvPr/>
        </p:nvSpPr>
        <p:spPr>
          <a:xfrm>
            <a:off x="2058825" y="2270000"/>
            <a:ext cx="827100" cy="708900"/>
          </a:xfrm>
          <a:prstGeom prst="ellipse">
            <a:avLst/>
          </a:prstGeom>
          <a:solidFill>
            <a:srgbClr val="E69138">
              <a:alpha val="3654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28"/>
          <p:cNvSpPr/>
          <p:nvPr/>
        </p:nvSpPr>
        <p:spPr>
          <a:xfrm>
            <a:off x="2349150" y="3808175"/>
            <a:ext cx="827100" cy="708900"/>
          </a:xfrm>
          <a:prstGeom prst="ellipse">
            <a:avLst/>
          </a:prstGeom>
          <a:solidFill>
            <a:srgbClr val="E69138">
              <a:alpha val="3654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9" name="Google Shape;239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80825" y="337857"/>
            <a:ext cx="4582354" cy="52111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30"/>
          <p:cNvSpPr txBox="1"/>
          <p:nvPr>
            <p:ph type="title"/>
          </p:nvPr>
        </p:nvSpPr>
        <p:spPr>
          <a:xfrm>
            <a:off x="311700" y="351028"/>
            <a:ext cx="8520600" cy="92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Notions of Equivalence: Regular Equivalence</a:t>
            </a:r>
            <a:endParaRPr/>
          </a:p>
        </p:txBody>
      </p:sp>
      <p:sp>
        <p:nvSpPr>
          <p:cNvPr id="245" name="Google Shape;245;p30"/>
          <p:cNvSpPr txBox="1"/>
          <p:nvPr>
            <p:ph idx="1" type="body"/>
          </p:nvPr>
        </p:nvSpPr>
        <p:spPr>
          <a:xfrm>
            <a:off x="311700" y="1361356"/>
            <a:ext cx="8520600" cy="160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</a:pPr>
            <a:r>
              <a:rPr lang="en"/>
              <a:t>Theoretically, the notion of role implies similar patterns of connectivity to similarly positioned actors not to literally the same actors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Structural equivalence is the wrong measure in this case (Borgatti and </a:t>
            </a:r>
            <a:r>
              <a:rPr lang="en"/>
              <a:t>Everett</a:t>
            </a:r>
            <a:r>
              <a:rPr lang="en"/>
              <a:t> 1992)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Need a more flexible notion of equivalence: </a:t>
            </a:r>
            <a:r>
              <a:rPr b="1" lang="en"/>
              <a:t>Regular equivalence</a:t>
            </a:r>
            <a:endParaRPr b="1"/>
          </a:p>
          <a:p>
            <a:pPr indent="0" lvl="0" marL="91440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grpSp>
        <p:nvGrpSpPr>
          <p:cNvPr id="246" name="Google Shape;246;p30"/>
          <p:cNvGrpSpPr/>
          <p:nvPr/>
        </p:nvGrpSpPr>
        <p:grpSpPr>
          <a:xfrm>
            <a:off x="831375" y="3199200"/>
            <a:ext cx="7555950" cy="2132075"/>
            <a:chOff x="831375" y="3199200"/>
            <a:chExt cx="7555950" cy="2132075"/>
          </a:xfrm>
        </p:grpSpPr>
        <p:grpSp>
          <p:nvGrpSpPr>
            <p:cNvPr id="247" name="Google Shape;247;p30"/>
            <p:cNvGrpSpPr/>
            <p:nvPr/>
          </p:nvGrpSpPr>
          <p:grpSpPr>
            <a:xfrm>
              <a:off x="831375" y="3199200"/>
              <a:ext cx="7555950" cy="1938650"/>
              <a:chOff x="868500" y="3078125"/>
              <a:chExt cx="7555950" cy="1938650"/>
            </a:xfrm>
          </p:grpSpPr>
          <p:sp>
            <p:nvSpPr>
              <p:cNvPr id="248" name="Google Shape;248;p30"/>
              <p:cNvSpPr/>
              <p:nvPr/>
            </p:nvSpPr>
            <p:spPr>
              <a:xfrm>
                <a:off x="868500" y="3078125"/>
                <a:ext cx="601500" cy="580200"/>
              </a:xfrm>
              <a:prstGeom prst="ellipse">
                <a:avLst/>
              </a:prstGeom>
              <a:solidFill>
                <a:schemeClr val="lt2"/>
              </a:solidFill>
              <a:ln cap="flat" cmpd="sng" w="2857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/>
                  <a:t>a</a:t>
                </a:r>
                <a:endParaRPr sz="1800"/>
              </a:p>
            </p:txBody>
          </p:sp>
          <p:sp>
            <p:nvSpPr>
              <p:cNvPr id="249" name="Google Shape;249;p30"/>
              <p:cNvSpPr/>
              <p:nvPr/>
            </p:nvSpPr>
            <p:spPr>
              <a:xfrm>
                <a:off x="868700" y="4371050"/>
                <a:ext cx="601500" cy="580200"/>
              </a:xfrm>
              <a:prstGeom prst="ellipse">
                <a:avLst/>
              </a:prstGeom>
              <a:solidFill>
                <a:schemeClr val="lt2"/>
              </a:solidFill>
              <a:ln cap="flat" cmpd="sng" w="2857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/>
                  <a:t>c</a:t>
                </a:r>
                <a:endParaRPr sz="1800"/>
              </a:p>
            </p:txBody>
          </p:sp>
          <p:sp>
            <p:nvSpPr>
              <p:cNvPr id="250" name="Google Shape;250;p30"/>
              <p:cNvSpPr/>
              <p:nvPr/>
            </p:nvSpPr>
            <p:spPr>
              <a:xfrm>
                <a:off x="2614450" y="3078125"/>
                <a:ext cx="601500" cy="580200"/>
              </a:xfrm>
              <a:prstGeom prst="ellipse">
                <a:avLst/>
              </a:prstGeom>
              <a:solidFill>
                <a:schemeClr val="lt2"/>
              </a:solidFill>
              <a:ln cap="flat" cmpd="sng" w="2857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/>
                  <a:t>b</a:t>
                </a:r>
                <a:endParaRPr sz="1800"/>
              </a:p>
            </p:txBody>
          </p:sp>
          <p:sp>
            <p:nvSpPr>
              <p:cNvPr id="251" name="Google Shape;251;p30"/>
              <p:cNvSpPr/>
              <p:nvPr/>
            </p:nvSpPr>
            <p:spPr>
              <a:xfrm>
                <a:off x="2614450" y="4371050"/>
                <a:ext cx="601500" cy="580200"/>
              </a:xfrm>
              <a:prstGeom prst="ellipse">
                <a:avLst/>
              </a:prstGeom>
              <a:solidFill>
                <a:schemeClr val="lt2"/>
              </a:solidFill>
              <a:ln cap="flat" cmpd="sng" w="2857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/>
                  <a:t>d</a:t>
                </a:r>
                <a:endParaRPr sz="1800"/>
              </a:p>
            </p:txBody>
          </p:sp>
          <p:sp>
            <p:nvSpPr>
              <p:cNvPr id="252" name="Google Shape;252;p30"/>
              <p:cNvSpPr/>
              <p:nvPr/>
            </p:nvSpPr>
            <p:spPr>
              <a:xfrm>
                <a:off x="3679950" y="3724550"/>
                <a:ext cx="601500" cy="580200"/>
              </a:xfrm>
              <a:prstGeom prst="ellipse">
                <a:avLst/>
              </a:prstGeom>
              <a:solidFill>
                <a:schemeClr val="lt2"/>
              </a:solidFill>
              <a:ln cap="flat" cmpd="sng" w="2857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/>
                  <a:t>e</a:t>
                </a:r>
                <a:endParaRPr sz="1800"/>
              </a:p>
            </p:txBody>
          </p:sp>
          <p:sp>
            <p:nvSpPr>
              <p:cNvPr id="253" name="Google Shape;253;p30"/>
              <p:cNvSpPr/>
              <p:nvPr/>
            </p:nvSpPr>
            <p:spPr>
              <a:xfrm>
                <a:off x="5000350" y="3724625"/>
                <a:ext cx="601500" cy="580200"/>
              </a:xfrm>
              <a:prstGeom prst="ellipse">
                <a:avLst/>
              </a:prstGeom>
              <a:solidFill>
                <a:schemeClr val="lt2"/>
              </a:solidFill>
              <a:ln cap="flat" cmpd="sng" w="2857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/>
                  <a:t>f</a:t>
                </a:r>
                <a:endParaRPr sz="1800"/>
              </a:p>
            </p:txBody>
          </p:sp>
          <p:sp>
            <p:nvSpPr>
              <p:cNvPr id="254" name="Google Shape;254;p30"/>
              <p:cNvSpPr/>
              <p:nvPr/>
            </p:nvSpPr>
            <p:spPr>
              <a:xfrm>
                <a:off x="6077000" y="3078125"/>
                <a:ext cx="601500" cy="580200"/>
              </a:xfrm>
              <a:prstGeom prst="ellipse">
                <a:avLst/>
              </a:prstGeom>
              <a:solidFill>
                <a:schemeClr val="lt2"/>
              </a:solidFill>
              <a:ln cap="flat" cmpd="sng" w="2857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/>
                  <a:t>g</a:t>
                </a:r>
                <a:endParaRPr sz="1800"/>
              </a:p>
            </p:txBody>
          </p:sp>
          <p:sp>
            <p:nvSpPr>
              <p:cNvPr id="255" name="Google Shape;255;p30"/>
              <p:cNvSpPr/>
              <p:nvPr/>
            </p:nvSpPr>
            <p:spPr>
              <a:xfrm>
                <a:off x="6077000" y="4436575"/>
                <a:ext cx="601500" cy="580200"/>
              </a:xfrm>
              <a:prstGeom prst="ellipse">
                <a:avLst/>
              </a:prstGeom>
              <a:solidFill>
                <a:schemeClr val="lt2"/>
              </a:solidFill>
              <a:ln cap="flat" cmpd="sng" w="2857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/>
                  <a:t>i</a:t>
                </a:r>
                <a:endParaRPr sz="1800"/>
              </a:p>
            </p:txBody>
          </p:sp>
          <p:sp>
            <p:nvSpPr>
              <p:cNvPr id="256" name="Google Shape;256;p30"/>
              <p:cNvSpPr/>
              <p:nvPr/>
            </p:nvSpPr>
            <p:spPr>
              <a:xfrm>
                <a:off x="7822950" y="3078125"/>
                <a:ext cx="601500" cy="580200"/>
              </a:xfrm>
              <a:prstGeom prst="ellipse">
                <a:avLst/>
              </a:prstGeom>
              <a:solidFill>
                <a:schemeClr val="lt2"/>
              </a:solidFill>
              <a:ln cap="flat" cmpd="sng" w="2857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/>
                  <a:t>h</a:t>
                </a:r>
                <a:endParaRPr sz="1800"/>
              </a:p>
            </p:txBody>
          </p:sp>
          <p:sp>
            <p:nvSpPr>
              <p:cNvPr id="257" name="Google Shape;257;p30"/>
              <p:cNvSpPr/>
              <p:nvPr/>
            </p:nvSpPr>
            <p:spPr>
              <a:xfrm>
                <a:off x="7822850" y="4436575"/>
                <a:ext cx="601500" cy="580200"/>
              </a:xfrm>
              <a:prstGeom prst="ellipse">
                <a:avLst/>
              </a:prstGeom>
              <a:solidFill>
                <a:schemeClr val="lt2"/>
              </a:solidFill>
              <a:ln cap="flat" cmpd="sng" w="2857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/>
                  <a:t>j</a:t>
                </a:r>
                <a:endParaRPr sz="1800"/>
              </a:p>
            </p:txBody>
          </p:sp>
          <p:cxnSp>
            <p:nvCxnSpPr>
              <p:cNvPr id="258" name="Google Shape;258;p30"/>
              <p:cNvCxnSpPr>
                <a:stCxn id="248" idx="6"/>
                <a:endCxn id="250" idx="2"/>
              </p:cNvCxnSpPr>
              <p:nvPr/>
            </p:nvCxnSpPr>
            <p:spPr>
              <a:xfrm>
                <a:off x="1470000" y="3368225"/>
                <a:ext cx="1144500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59" name="Google Shape;259;p30"/>
              <p:cNvCxnSpPr>
                <a:stCxn id="248" idx="5"/>
                <a:endCxn id="251" idx="1"/>
              </p:cNvCxnSpPr>
              <p:nvPr/>
            </p:nvCxnSpPr>
            <p:spPr>
              <a:xfrm>
                <a:off x="1381912" y="3573357"/>
                <a:ext cx="1320600" cy="8826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60" name="Google Shape;260;p30"/>
              <p:cNvCxnSpPr>
                <a:stCxn id="249" idx="7"/>
                <a:endCxn id="250" idx="3"/>
              </p:cNvCxnSpPr>
              <p:nvPr/>
            </p:nvCxnSpPr>
            <p:spPr>
              <a:xfrm flipH="1" rot="10800000">
                <a:off x="1382112" y="3573418"/>
                <a:ext cx="1320300" cy="8826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61" name="Google Shape;261;p30"/>
              <p:cNvCxnSpPr>
                <a:stCxn id="248" idx="4"/>
                <a:endCxn id="249" idx="0"/>
              </p:cNvCxnSpPr>
              <p:nvPr/>
            </p:nvCxnSpPr>
            <p:spPr>
              <a:xfrm>
                <a:off x="1169250" y="3658325"/>
                <a:ext cx="300" cy="7128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62" name="Google Shape;262;p30"/>
              <p:cNvCxnSpPr>
                <a:stCxn id="249" idx="6"/>
                <a:endCxn id="251" idx="2"/>
              </p:cNvCxnSpPr>
              <p:nvPr/>
            </p:nvCxnSpPr>
            <p:spPr>
              <a:xfrm>
                <a:off x="1470200" y="4661150"/>
                <a:ext cx="1144200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63" name="Google Shape;263;p30"/>
              <p:cNvCxnSpPr>
                <a:stCxn id="250" idx="6"/>
                <a:endCxn id="252" idx="1"/>
              </p:cNvCxnSpPr>
              <p:nvPr/>
            </p:nvCxnSpPr>
            <p:spPr>
              <a:xfrm>
                <a:off x="3215950" y="3368225"/>
                <a:ext cx="552000" cy="4413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64" name="Google Shape;264;p30"/>
              <p:cNvCxnSpPr>
                <a:stCxn id="252" idx="3"/>
                <a:endCxn id="251" idx="6"/>
              </p:cNvCxnSpPr>
              <p:nvPr/>
            </p:nvCxnSpPr>
            <p:spPr>
              <a:xfrm flipH="1">
                <a:off x="3216038" y="4219782"/>
                <a:ext cx="552000" cy="4413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65" name="Google Shape;265;p30"/>
              <p:cNvCxnSpPr>
                <a:stCxn id="253" idx="2"/>
                <a:endCxn id="252" idx="6"/>
              </p:cNvCxnSpPr>
              <p:nvPr/>
            </p:nvCxnSpPr>
            <p:spPr>
              <a:xfrm rot="10800000">
                <a:off x="4281550" y="4014725"/>
                <a:ext cx="718800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66" name="Google Shape;266;p30"/>
              <p:cNvCxnSpPr>
                <a:stCxn id="254" idx="2"/>
                <a:endCxn id="253" idx="7"/>
              </p:cNvCxnSpPr>
              <p:nvPr/>
            </p:nvCxnSpPr>
            <p:spPr>
              <a:xfrm flipH="1">
                <a:off x="5513900" y="3368225"/>
                <a:ext cx="563100" cy="4413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67" name="Google Shape;267;p30"/>
              <p:cNvCxnSpPr>
                <a:stCxn id="255" idx="2"/>
                <a:endCxn id="253" idx="5"/>
              </p:cNvCxnSpPr>
              <p:nvPr/>
            </p:nvCxnSpPr>
            <p:spPr>
              <a:xfrm rot="10800000">
                <a:off x="5513900" y="4219975"/>
                <a:ext cx="563100" cy="5067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68" name="Google Shape;268;p30"/>
              <p:cNvCxnSpPr>
                <a:stCxn id="254" idx="5"/>
                <a:endCxn id="257" idx="1"/>
              </p:cNvCxnSpPr>
              <p:nvPr/>
            </p:nvCxnSpPr>
            <p:spPr>
              <a:xfrm>
                <a:off x="6590412" y="3573357"/>
                <a:ext cx="1320600" cy="9483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69" name="Google Shape;269;p30"/>
              <p:cNvCxnSpPr>
                <a:stCxn id="256" idx="3"/>
                <a:endCxn id="255" idx="7"/>
              </p:cNvCxnSpPr>
              <p:nvPr/>
            </p:nvCxnSpPr>
            <p:spPr>
              <a:xfrm flipH="1">
                <a:off x="6590438" y="3573357"/>
                <a:ext cx="1320600" cy="9483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70" name="Google Shape;270;p30"/>
              <p:cNvCxnSpPr>
                <a:stCxn id="256" idx="2"/>
                <a:endCxn id="254" idx="6"/>
              </p:cNvCxnSpPr>
              <p:nvPr/>
            </p:nvCxnSpPr>
            <p:spPr>
              <a:xfrm rot="10800000">
                <a:off x="6678450" y="3368225"/>
                <a:ext cx="1144500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71" name="Google Shape;271;p30"/>
              <p:cNvCxnSpPr>
                <a:stCxn id="256" idx="4"/>
                <a:endCxn id="257" idx="0"/>
              </p:cNvCxnSpPr>
              <p:nvPr/>
            </p:nvCxnSpPr>
            <p:spPr>
              <a:xfrm>
                <a:off x="8123700" y="3658325"/>
                <a:ext cx="0" cy="7782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72" name="Google Shape;272;p30"/>
              <p:cNvCxnSpPr>
                <a:stCxn id="257" idx="2"/>
                <a:endCxn id="255" idx="6"/>
              </p:cNvCxnSpPr>
              <p:nvPr/>
            </p:nvCxnSpPr>
            <p:spPr>
              <a:xfrm rot="10800000">
                <a:off x="6678650" y="4726675"/>
                <a:ext cx="1144200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sp>
          <p:nvSpPr>
            <p:cNvPr id="273" name="Google Shape;273;p30"/>
            <p:cNvSpPr txBox="1"/>
            <p:nvPr/>
          </p:nvSpPr>
          <p:spPr>
            <a:xfrm>
              <a:off x="3604950" y="4864175"/>
              <a:ext cx="2008800" cy="46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Borgatti and Everett’s</a:t>
              </a:r>
              <a:endParaRPr/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“Thinking Graph”</a:t>
              </a:r>
              <a:endParaRPr/>
            </a:p>
          </p:txBody>
        </p:sp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31"/>
          <p:cNvSpPr txBox="1"/>
          <p:nvPr>
            <p:ph type="title"/>
          </p:nvPr>
        </p:nvSpPr>
        <p:spPr>
          <a:xfrm>
            <a:off x="311700" y="351028"/>
            <a:ext cx="8520600" cy="92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Notions of Equivalence: Regular Equivalence </a:t>
            </a:r>
            <a:endParaRPr/>
          </a:p>
        </p:txBody>
      </p:sp>
      <p:sp>
        <p:nvSpPr>
          <p:cNvPr id="279" name="Google Shape;279;p31"/>
          <p:cNvSpPr txBox="1"/>
          <p:nvPr>
            <p:ph idx="1" type="body"/>
          </p:nvPr>
        </p:nvSpPr>
        <p:spPr>
          <a:xfrm>
            <a:off x="311700" y="1361350"/>
            <a:ext cx="4006800" cy="372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</a:pPr>
            <a:r>
              <a:rPr lang="en"/>
              <a:t>Structural and regular equivalence embody two intuitive but different conceptions of “similarity” between two actors: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Structural equivalence:</a:t>
            </a:r>
            <a:endParaRPr/>
          </a:p>
          <a:p>
            <a: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 Two actors are similar if they have similar relationships to the </a:t>
            </a:r>
            <a:r>
              <a:rPr b="1" lang="en"/>
              <a:t>same</a:t>
            </a:r>
            <a:r>
              <a:rPr lang="en"/>
              <a:t> actors or objects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Regular equivalence:</a:t>
            </a:r>
            <a:endParaRPr/>
          </a:p>
          <a:p>
            <a: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Two actors are similar if they have similar relationships to </a:t>
            </a:r>
            <a:r>
              <a:rPr b="1" lang="en"/>
              <a:t>similar</a:t>
            </a:r>
            <a:r>
              <a:rPr lang="en"/>
              <a:t> actors or objects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descr="Regular_equivalence.jpg" id="280" name="Google Shape;280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18475" y="1962136"/>
            <a:ext cx="4513825" cy="2525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32"/>
          <p:cNvSpPr txBox="1"/>
          <p:nvPr>
            <p:ph type="title"/>
          </p:nvPr>
        </p:nvSpPr>
        <p:spPr>
          <a:xfrm>
            <a:off x="311700" y="351028"/>
            <a:ext cx="8520600" cy="92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Notions of Equivalence: Regular Equivalence </a:t>
            </a:r>
            <a:endParaRPr/>
          </a:p>
        </p:txBody>
      </p:sp>
      <p:sp>
        <p:nvSpPr>
          <p:cNvPr id="286" name="Google Shape;286;p32"/>
          <p:cNvSpPr txBox="1"/>
          <p:nvPr>
            <p:ph idx="1" type="body"/>
          </p:nvPr>
        </p:nvSpPr>
        <p:spPr>
          <a:xfrm>
            <a:off x="311700" y="1361350"/>
            <a:ext cx="8520600" cy="167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Intuition: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Two </a:t>
            </a:r>
            <a:r>
              <a:rPr b="1" lang="en"/>
              <a:t>people</a:t>
            </a:r>
            <a:r>
              <a:rPr lang="en"/>
              <a:t> are regularly equivalent if they are </a:t>
            </a:r>
            <a:r>
              <a:rPr b="1" lang="en"/>
              <a:t>friends</a:t>
            </a:r>
            <a:r>
              <a:rPr lang="en"/>
              <a:t> with the </a:t>
            </a:r>
            <a:r>
              <a:rPr i="1" lang="en"/>
              <a:t>similar</a:t>
            </a:r>
            <a:r>
              <a:rPr lang="en"/>
              <a:t> set of </a:t>
            </a:r>
            <a:r>
              <a:rPr b="1" lang="en"/>
              <a:t>people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Two </a:t>
            </a:r>
            <a:r>
              <a:rPr b="1" lang="en"/>
              <a:t>papers</a:t>
            </a:r>
            <a:r>
              <a:rPr lang="en"/>
              <a:t> are regularly equivalent if they </a:t>
            </a:r>
            <a:r>
              <a:rPr b="1" lang="en"/>
              <a:t>cite</a:t>
            </a:r>
            <a:r>
              <a:rPr lang="en"/>
              <a:t> a </a:t>
            </a:r>
            <a:r>
              <a:rPr i="1" lang="en"/>
              <a:t>similar</a:t>
            </a:r>
            <a:r>
              <a:rPr lang="en"/>
              <a:t> set of other </a:t>
            </a:r>
            <a:r>
              <a:rPr b="1" lang="en"/>
              <a:t>papers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Two </a:t>
            </a:r>
            <a:r>
              <a:rPr b="1" lang="en"/>
              <a:t>species</a:t>
            </a:r>
            <a:r>
              <a:rPr lang="en"/>
              <a:t> are regularly equivalent if they </a:t>
            </a:r>
            <a:r>
              <a:rPr b="1" lang="en"/>
              <a:t>feed</a:t>
            </a:r>
            <a:r>
              <a:rPr lang="en"/>
              <a:t> on </a:t>
            </a:r>
            <a:r>
              <a:rPr i="1" lang="en"/>
              <a:t>similar</a:t>
            </a:r>
            <a:r>
              <a:rPr lang="en"/>
              <a:t> set of </a:t>
            </a:r>
            <a:r>
              <a:rPr b="1" lang="en"/>
              <a:t>prey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Two </a:t>
            </a:r>
            <a:r>
              <a:rPr b="1" lang="en"/>
              <a:t>clubs</a:t>
            </a:r>
            <a:r>
              <a:rPr lang="en"/>
              <a:t> are regularly equivalent if they </a:t>
            </a:r>
            <a:r>
              <a:rPr b="1" lang="en"/>
              <a:t>share</a:t>
            </a:r>
            <a:r>
              <a:rPr lang="en"/>
              <a:t> </a:t>
            </a:r>
            <a:r>
              <a:rPr i="1" lang="en"/>
              <a:t>similar</a:t>
            </a:r>
            <a:r>
              <a:rPr lang="en"/>
              <a:t> set of </a:t>
            </a:r>
            <a:r>
              <a:rPr b="1" lang="en"/>
              <a:t>members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Two </a:t>
            </a:r>
            <a:r>
              <a:rPr b="1" lang="en"/>
              <a:t>countries</a:t>
            </a:r>
            <a:r>
              <a:rPr lang="en"/>
              <a:t> are regularly equivalent if they </a:t>
            </a:r>
            <a:r>
              <a:rPr b="1" lang="en"/>
              <a:t>trade</a:t>
            </a:r>
            <a:r>
              <a:rPr lang="en"/>
              <a:t> with a </a:t>
            </a:r>
            <a:r>
              <a:rPr i="1" lang="en"/>
              <a:t>similar</a:t>
            </a:r>
            <a:r>
              <a:rPr lang="en"/>
              <a:t> set of </a:t>
            </a:r>
            <a:r>
              <a:rPr b="1" lang="en"/>
              <a:t>countries</a:t>
            </a:r>
            <a:endParaRPr b="1"/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descr="Regular_equivalence.jpg" id="287" name="Google Shape;287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15087" y="3037086"/>
            <a:ext cx="4513825" cy="2525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33"/>
          <p:cNvSpPr txBox="1"/>
          <p:nvPr>
            <p:ph type="title"/>
          </p:nvPr>
        </p:nvSpPr>
        <p:spPr>
          <a:xfrm>
            <a:off x="311700" y="351028"/>
            <a:ext cx="8520600" cy="92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Notions of Equivalence: Regular Equivalence </a:t>
            </a:r>
            <a:endParaRPr/>
          </a:p>
        </p:txBody>
      </p:sp>
      <p:sp>
        <p:nvSpPr>
          <p:cNvPr id="293" name="Google Shape;293;p33"/>
          <p:cNvSpPr txBox="1"/>
          <p:nvPr>
            <p:ph idx="1" type="body"/>
          </p:nvPr>
        </p:nvSpPr>
        <p:spPr>
          <a:xfrm>
            <a:off x="311700" y="1361350"/>
            <a:ext cx="8520600" cy="167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Intuition: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Two </a:t>
            </a:r>
            <a:r>
              <a:rPr b="1" lang="en"/>
              <a:t>people</a:t>
            </a:r>
            <a:r>
              <a:rPr lang="en"/>
              <a:t> are regularly equivalent if they are </a:t>
            </a:r>
            <a:r>
              <a:rPr b="1" lang="en"/>
              <a:t>friends</a:t>
            </a:r>
            <a:r>
              <a:rPr lang="en"/>
              <a:t> with the </a:t>
            </a:r>
            <a:r>
              <a:rPr i="1" lang="en"/>
              <a:t>similar</a:t>
            </a:r>
            <a:r>
              <a:rPr lang="en"/>
              <a:t> set of </a:t>
            </a:r>
            <a:r>
              <a:rPr b="1" lang="en"/>
              <a:t>people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Two </a:t>
            </a:r>
            <a:r>
              <a:rPr b="1" lang="en"/>
              <a:t>papers</a:t>
            </a:r>
            <a:r>
              <a:rPr lang="en"/>
              <a:t> are regularly equivalent if they </a:t>
            </a:r>
            <a:r>
              <a:rPr b="1" lang="en"/>
              <a:t>cite</a:t>
            </a:r>
            <a:r>
              <a:rPr lang="en"/>
              <a:t> a </a:t>
            </a:r>
            <a:r>
              <a:rPr i="1" lang="en"/>
              <a:t>similar</a:t>
            </a:r>
            <a:r>
              <a:rPr lang="en"/>
              <a:t> set of other </a:t>
            </a:r>
            <a:r>
              <a:rPr b="1" lang="en"/>
              <a:t>papers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Two </a:t>
            </a:r>
            <a:r>
              <a:rPr b="1" lang="en"/>
              <a:t>species</a:t>
            </a:r>
            <a:r>
              <a:rPr lang="en"/>
              <a:t> are regularly equivalent if they </a:t>
            </a:r>
            <a:r>
              <a:rPr b="1" lang="en"/>
              <a:t>feed</a:t>
            </a:r>
            <a:r>
              <a:rPr lang="en"/>
              <a:t> on </a:t>
            </a:r>
            <a:r>
              <a:rPr i="1" lang="en"/>
              <a:t>similar</a:t>
            </a:r>
            <a:r>
              <a:rPr lang="en"/>
              <a:t> set of </a:t>
            </a:r>
            <a:r>
              <a:rPr b="1" lang="en"/>
              <a:t>prey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Two </a:t>
            </a:r>
            <a:r>
              <a:rPr b="1" lang="en"/>
              <a:t>clubs</a:t>
            </a:r>
            <a:r>
              <a:rPr lang="en"/>
              <a:t> are regularly equivalent if they </a:t>
            </a:r>
            <a:r>
              <a:rPr b="1" lang="en"/>
              <a:t>share</a:t>
            </a:r>
            <a:r>
              <a:rPr lang="en"/>
              <a:t> </a:t>
            </a:r>
            <a:r>
              <a:rPr i="1" lang="en"/>
              <a:t>similar</a:t>
            </a:r>
            <a:r>
              <a:rPr lang="en"/>
              <a:t> set of </a:t>
            </a:r>
            <a:r>
              <a:rPr b="1" lang="en"/>
              <a:t>members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Two </a:t>
            </a:r>
            <a:r>
              <a:rPr b="1" lang="en"/>
              <a:t>countries</a:t>
            </a:r>
            <a:r>
              <a:rPr lang="en"/>
              <a:t> are regularly equivalent if they </a:t>
            </a:r>
            <a:r>
              <a:rPr b="1" lang="en"/>
              <a:t>trade</a:t>
            </a:r>
            <a:r>
              <a:rPr lang="en"/>
              <a:t> with a </a:t>
            </a:r>
            <a:r>
              <a:rPr i="1" lang="en"/>
              <a:t>similar</a:t>
            </a:r>
            <a:r>
              <a:rPr lang="en"/>
              <a:t> set of </a:t>
            </a:r>
            <a:r>
              <a:rPr b="1" lang="en"/>
              <a:t>countries</a:t>
            </a:r>
            <a:endParaRPr b="1"/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descr="Regular_equivalence.jpg" id="294" name="Google Shape;294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15087" y="3037086"/>
            <a:ext cx="4513825" cy="2525025"/>
          </a:xfrm>
          <a:prstGeom prst="rect">
            <a:avLst/>
          </a:prstGeom>
          <a:noFill/>
          <a:ln>
            <a:noFill/>
          </a:ln>
        </p:spPr>
      </p:pic>
      <p:sp>
        <p:nvSpPr>
          <p:cNvPr id="295" name="Google Shape;295;p33"/>
          <p:cNvSpPr txBox="1"/>
          <p:nvPr/>
        </p:nvSpPr>
        <p:spPr>
          <a:xfrm>
            <a:off x="660875" y="3837732"/>
            <a:ext cx="1654200" cy="9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Where similarity is graph theoretic similarity!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34"/>
          <p:cNvSpPr txBox="1"/>
          <p:nvPr>
            <p:ph type="title"/>
          </p:nvPr>
        </p:nvSpPr>
        <p:spPr>
          <a:xfrm>
            <a:off x="311700" y="351028"/>
            <a:ext cx="8520600" cy="92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Notions of Equivalence: Regular Equivalence</a:t>
            </a:r>
            <a:endParaRPr/>
          </a:p>
        </p:txBody>
      </p:sp>
      <p:sp>
        <p:nvSpPr>
          <p:cNvPr id="301" name="Google Shape;301;p34"/>
          <p:cNvSpPr txBox="1"/>
          <p:nvPr>
            <p:ph idx="1" type="body"/>
          </p:nvPr>
        </p:nvSpPr>
        <p:spPr>
          <a:xfrm>
            <a:off x="311700" y="1361356"/>
            <a:ext cx="8520600" cy="160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</a:pPr>
            <a:r>
              <a:rPr lang="en"/>
              <a:t>Theoretically, the notion of role implies similar patterns of connectivity to similarly positioned actors not to literally the same actors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Structural equivalence is the wrong measure in this case (Borgatti and Everett 1992)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N</a:t>
            </a:r>
            <a:r>
              <a:rPr lang="en"/>
              <a:t>eed a more flexible notion of equivalence: </a:t>
            </a:r>
            <a:r>
              <a:rPr b="1" lang="en"/>
              <a:t>Regular equivalence</a:t>
            </a:r>
            <a:endParaRPr/>
          </a:p>
          <a:p>
            <a:pPr indent="0" lvl="0" marL="137160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grpSp>
        <p:nvGrpSpPr>
          <p:cNvPr id="302" name="Google Shape;302;p34"/>
          <p:cNvGrpSpPr/>
          <p:nvPr/>
        </p:nvGrpSpPr>
        <p:grpSpPr>
          <a:xfrm>
            <a:off x="831375" y="3199200"/>
            <a:ext cx="7555950" cy="2132075"/>
            <a:chOff x="831375" y="3199200"/>
            <a:chExt cx="7555950" cy="2132075"/>
          </a:xfrm>
        </p:grpSpPr>
        <p:grpSp>
          <p:nvGrpSpPr>
            <p:cNvPr id="303" name="Google Shape;303;p34"/>
            <p:cNvGrpSpPr/>
            <p:nvPr/>
          </p:nvGrpSpPr>
          <p:grpSpPr>
            <a:xfrm>
              <a:off x="831375" y="3199200"/>
              <a:ext cx="7555950" cy="1938650"/>
              <a:chOff x="868500" y="3078125"/>
              <a:chExt cx="7555950" cy="1938650"/>
            </a:xfrm>
          </p:grpSpPr>
          <p:sp>
            <p:nvSpPr>
              <p:cNvPr id="304" name="Google Shape;304;p34"/>
              <p:cNvSpPr/>
              <p:nvPr/>
            </p:nvSpPr>
            <p:spPr>
              <a:xfrm>
                <a:off x="868500" y="3078125"/>
                <a:ext cx="601500" cy="580200"/>
              </a:xfrm>
              <a:prstGeom prst="ellipse">
                <a:avLst/>
              </a:prstGeom>
              <a:solidFill>
                <a:schemeClr val="lt2"/>
              </a:solidFill>
              <a:ln cap="flat" cmpd="sng" w="2857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/>
                  <a:t>a</a:t>
                </a:r>
                <a:endParaRPr sz="1800"/>
              </a:p>
            </p:txBody>
          </p:sp>
          <p:sp>
            <p:nvSpPr>
              <p:cNvPr id="305" name="Google Shape;305;p34"/>
              <p:cNvSpPr/>
              <p:nvPr/>
            </p:nvSpPr>
            <p:spPr>
              <a:xfrm>
                <a:off x="868700" y="4371050"/>
                <a:ext cx="601500" cy="580200"/>
              </a:xfrm>
              <a:prstGeom prst="ellipse">
                <a:avLst/>
              </a:prstGeom>
              <a:solidFill>
                <a:schemeClr val="lt2"/>
              </a:solidFill>
              <a:ln cap="flat" cmpd="sng" w="2857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/>
                  <a:t>c</a:t>
                </a:r>
                <a:endParaRPr sz="1800"/>
              </a:p>
            </p:txBody>
          </p:sp>
          <p:sp>
            <p:nvSpPr>
              <p:cNvPr id="306" name="Google Shape;306;p34"/>
              <p:cNvSpPr/>
              <p:nvPr/>
            </p:nvSpPr>
            <p:spPr>
              <a:xfrm>
                <a:off x="2614450" y="3078125"/>
                <a:ext cx="601500" cy="580200"/>
              </a:xfrm>
              <a:prstGeom prst="ellipse">
                <a:avLst/>
              </a:prstGeom>
              <a:solidFill>
                <a:schemeClr val="lt2"/>
              </a:solidFill>
              <a:ln cap="flat" cmpd="sng" w="2857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/>
                  <a:t>b</a:t>
                </a:r>
                <a:endParaRPr sz="1800"/>
              </a:p>
            </p:txBody>
          </p:sp>
          <p:sp>
            <p:nvSpPr>
              <p:cNvPr id="307" name="Google Shape;307;p34"/>
              <p:cNvSpPr/>
              <p:nvPr/>
            </p:nvSpPr>
            <p:spPr>
              <a:xfrm>
                <a:off x="2614450" y="4371050"/>
                <a:ext cx="601500" cy="580200"/>
              </a:xfrm>
              <a:prstGeom prst="ellipse">
                <a:avLst/>
              </a:prstGeom>
              <a:solidFill>
                <a:schemeClr val="lt2"/>
              </a:solidFill>
              <a:ln cap="flat" cmpd="sng" w="2857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/>
                  <a:t>d</a:t>
                </a:r>
                <a:endParaRPr sz="1800"/>
              </a:p>
            </p:txBody>
          </p:sp>
          <p:sp>
            <p:nvSpPr>
              <p:cNvPr id="308" name="Google Shape;308;p34"/>
              <p:cNvSpPr/>
              <p:nvPr/>
            </p:nvSpPr>
            <p:spPr>
              <a:xfrm>
                <a:off x="3679950" y="3724550"/>
                <a:ext cx="601500" cy="580200"/>
              </a:xfrm>
              <a:prstGeom prst="ellipse">
                <a:avLst/>
              </a:prstGeom>
              <a:solidFill>
                <a:schemeClr val="lt2"/>
              </a:solidFill>
              <a:ln cap="flat" cmpd="sng" w="2857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/>
                  <a:t>e</a:t>
                </a:r>
                <a:endParaRPr sz="1800"/>
              </a:p>
            </p:txBody>
          </p:sp>
          <p:sp>
            <p:nvSpPr>
              <p:cNvPr id="309" name="Google Shape;309;p34"/>
              <p:cNvSpPr/>
              <p:nvPr/>
            </p:nvSpPr>
            <p:spPr>
              <a:xfrm>
                <a:off x="5000350" y="3724625"/>
                <a:ext cx="601500" cy="580200"/>
              </a:xfrm>
              <a:prstGeom prst="ellipse">
                <a:avLst/>
              </a:prstGeom>
              <a:solidFill>
                <a:schemeClr val="lt2"/>
              </a:solidFill>
              <a:ln cap="flat" cmpd="sng" w="2857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/>
                  <a:t>f</a:t>
                </a:r>
                <a:endParaRPr sz="1800"/>
              </a:p>
            </p:txBody>
          </p:sp>
          <p:sp>
            <p:nvSpPr>
              <p:cNvPr id="310" name="Google Shape;310;p34"/>
              <p:cNvSpPr/>
              <p:nvPr/>
            </p:nvSpPr>
            <p:spPr>
              <a:xfrm>
                <a:off x="6077000" y="3078125"/>
                <a:ext cx="601500" cy="580200"/>
              </a:xfrm>
              <a:prstGeom prst="ellipse">
                <a:avLst/>
              </a:prstGeom>
              <a:solidFill>
                <a:schemeClr val="lt2"/>
              </a:solidFill>
              <a:ln cap="flat" cmpd="sng" w="2857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/>
                  <a:t>g</a:t>
                </a:r>
                <a:endParaRPr sz="1800"/>
              </a:p>
            </p:txBody>
          </p:sp>
          <p:sp>
            <p:nvSpPr>
              <p:cNvPr id="311" name="Google Shape;311;p34"/>
              <p:cNvSpPr/>
              <p:nvPr/>
            </p:nvSpPr>
            <p:spPr>
              <a:xfrm>
                <a:off x="6077000" y="4436575"/>
                <a:ext cx="601500" cy="580200"/>
              </a:xfrm>
              <a:prstGeom prst="ellipse">
                <a:avLst/>
              </a:prstGeom>
              <a:solidFill>
                <a:schemeClr val="lt2"/>
              </a:solidFill>
              <a:ln cap="flat" cmpd="sng" w="2857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/>
                  <a:t>i</a:t>
                </a:r>
                <a:endParaRPr sz="1800"/>
              </a:p>
            </p:txBody>
          </p:sp>
          <p:sp>
            <p:nvSpPr>
              <p:cNvPr id="312" name="Google Shape;312;p34"/>
              <p:cNvSpPr/>
              <p:nvPr/>
            </p:nvSpPr>
            <p:spPr>
              <a:xfrm>
                <a:off x="7822950" y="3078125"/>
                <a:ext cx="601500" cy="580200"/>
              </a:xfrm>
              <a:prstGeom prst="ellipse">
                <a:avLst/>
              </a:prstGeom>
              <a:solidFill>
                <a:schemeClr val="lt2"/>
              </a:solidFill>
              <a:ln cap="flat" cmpd="sng" w="2857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/>
                  <a:t>h</a:t>
                </a:r>
                <a:endParaRPr sz="1800"/>
              </a:p>
            </p:txBody>
          </p:sp>
          <p:sp>
            <p:nvSpPr>
              <p:cNvPr id="313" name="Google Shape;313;p34"/>
              <p:cNvSpPr/>
              <p:nvPr/>
            </p:nvSpPr>
            <p:spPr>
              <a:xfrm>
                <a:off x="7822850" y="4436575"/>
                <a:ext cx="601500" cy="580200"/>
              </a:xfrm>
              <a:prstGeom prst="ellipse">
                <a:avLst/>
              </a:prstGeom>
              <a:solidFill>
                <a:schemeClr val="lt2"/>
              </a:solidFill>
              <a:ln cap="flat" cmpd="sng" w="2857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/>
                  <a:t>j</a:t>
                </a:r>
                <a:endParaRPr sz="1800"/>
              </a:p>
            </p:txBody>
          </p:sp>
          <p:cxnSp>
            <p:nvCxnSpPr>
              <p:cNvPr id="314" name="Google Shape;314;p34"/>
              <p:cNvCxnSpPr>
                <a:stCxn id="304" idx="6"/>
                <a:endCxn id="306" idx="2"/>
              </p:cNvCxnSpPr>
              <p:nvPr/>
            </p:nvCxnSpPr>
            <p:spPr>
              <a:xfrm>
                <a:off x="1470000" y="3368225"/>
                <a:ext cx="1144500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15" name="Google Shape;315;p34"/>
              <p:cNvCxnSpPr>
                <a:stCxn id="304" idx="5"/>
                <a:endCxn id="307" idx="1"/>
              </p:cNvCxnSpPr>
              <p:nvPr/>
            </p:nvCxnSpPr>
            <p:spPr>
              <a:xfrm>
                <a:off x="1381912" y="3573357"/>
                <a:ext cx="1320600" cy="8826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16" name="Google Shape;316;p34"/>
              <p:cNvCxnSpPr>
                <a:stCxn id="305" idx="7"/>
                <a:endCxn id="306" idx="3"/>
              </p:cNvCxnSpPr>
              <p:nvPr/>
            </p:nvCxnSpPr>
            <p:spPr>
              <a:xfrm flipH="1" rot="10800000">
                <a:off x="1382112" y="3573418"/>
                <a:ext cx="1320300" cy="8826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17" name="Google Shape;317;p34"/>
              <p:cNvCxnSpPr>
                <a:stCxn id="304" idx="4"/>
                <a:endCxn id="305" idx="0"/>
              </p:cNvCxnSpPr>
              <p:nvPr/>
            </p:nvCxnSpPr>
            <p:spPr>
              <a:xfrm>
                <a:off x="1169250" y="3658325"/>
                <a:ext cx="300" cy="7128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18" name="Google Shape;318;p34"/>
              <p:cNvCxnSpPr>
                <a:stCxn id="305" idx="6"/>
                <a:endCxn id="307" idx="2"/>
              </p:cNvCxnSpPr>
              <p:nvPr/>
            </p:nvCxnSpPr>
            <p:spPr>
              <a:xfrm>
                <a:off x="1470200" y="4661150"/>
                <a:ext cx="1144200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19" name="Google Shape;319;p34"/>
              <p:cNvCxnSpPr>
                <a:stCxn id="306" idx="6"/>
                <a:endCxn id="308" idx="1"/>
              </p:cNvCxnSpPr>
              <p:nvPr/>
            </p:nvCxnSpPr>
            <p:spPr>
              <a:xfrm>
                <a:off x="3215950" y="3368225"/>
                <a:ext cx="552000" cy="4413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20" name="Google Shape;320;p34"/>
              <p:cNvCxnSpPr>
                <a:stCxn id="308" idx="3"/>
                <a:endCxn id="307" idx="6"/>
              </p:cNvCxnSpPr>
              <p:nvPr/>
            </p:nvCxnSpPr>
            <p:spPr>
              <a:xfrm flipH="1">
                <a:off x="3216038" y="4219782"/>
                <a:ext cx="552000" cy="4413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21" name="Google Shape;321;p34"/>
              <p:cNvCxnSpPr>
                <a:stCxn id="309" idx="2"/>
                <a:endCxn id="308" idx="6"/>
              </p:cNvCxnSpPr>
              <p:nvPr/>
            </p:nvCxnSpPr>
            <p:spPr>
              <a:xfrm rot="10800000">
                <a:off x="4281550" y="4014725"/>
                <a:ext cx="718800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22" name="Google Shape;322;p34"/>
              <p:cNvCxnSpPr>
                <a:stCxn id="310" idx="2"/>
                <a:endCxn id="309" idx="7"/>
              </p:cNvCxnSpPr>
              <p:nvPr/>
            </p:nvCxnSpPr>
            <p:spPr>
              <a:xfrm flipH="1">
                <a:off x="5513900" y="3368225"/>
                <a:ext cx="563100" cy="4413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23" name="Google Shape;323;p34"/>
              <p:cNvCxnSpPr>
                <a:stCxn id="311" idx="2"/>
                <a:endCxn id="309" idx="5"/>
              </p:cNvCxnSpPr>
              <p:nvPr/>
            </p:nvCxnSpPr>
            <p:spPr>
              <a:xfrm rot="10800000">
                <a:off x="5513900" y="4219975"/>
                <a:ext cx="563100" cy="5067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24" name="Google Shape;324;p34"/>
              <p:cNvCxnSpPr>
                <a:stCxn id="310" idx="5"/>
                <a:endCxn id="313" idx="1"/>
              </p:cNvCxnSpPr>
              <p:nvPr/>
            </p:nvCxnSpPr>
            <p:spPr>
              <a:xfrm>
                <a:off x="6590412" y="3573357"/>
                <a:ext cx="1320600" cy="9483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25" name="Google Shape;325;p34"/>
              <p:cNvCxnSpPr>
                <a:stCxn id="312" idx="3"/>
                <a:endCxn id="311" idx="7"/>
              </p:cNvCxnSpPr>
              <p:nvPr/>
            </p:nvCxnSpPr>
            <p:spPr>
              <a:xfrm flipH="1">
                <a:off x="6590438" y="3573357"/>
                <a:ext cx="1320600" cy="9483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26" name="Google Shape;326;p34"/>
              <p:cNvCxnSpPr>
                <a:stCxn id="312" idx="2"/>
                <a:endCxn id="310" idx="6"/>
              </p:cNvCxnSpPr>
              <p:nvPr/>
            </p:nvCxnSpPr>
            <p:spPr>
              <a:xfrm rot="10800000">
                <a:off x="6678450" y="3368225"/>
                <a:ext cx="1144500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27" name="Google Shape;327;p34"/>
              <p:cNvCxnSpPr>
                <a:stCxn id="312" idx="4"/>
                <a:endCxn id="313" idx="0"/>
              </p:cNvCxnSpPr>
              <p:nvPr/>
            </p:nvCxnSpPr>
            <p:spPr>
              <a:xfrm>
                <a:off x="8123700" y="3658325"/>
                <a:ext cx="0" cy="7782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28" name="Google Shape;328;p34"/>
              <p:cNvCxnSpPr>
                <a:stCxn id="313" idx="2"/>
                <a:endCxn id="311" idx="6"/>
              </p:cNvCxnSpPr>
              <p:nvPr/>
            </p:nvCxnSpPr>
            <p:spPr>
              <a:xfrm rot="10800000">
                <a:off x="6678650" y="4726675"/>
                <a:ext cx="1144200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sp>
          <p:nvSpPr>
            <p:cNvPr id="329" name="Google Shape;329;p34"/>
            <p:cNvSpPr txBox="1"/>
            <p:nvPr/>
          </p:nvSpPr>
          <p:spPr>
            <a:xfrm>
              <a:off x="3604950" y="4864175"/>
              <a:ext cx="2008800" cy="46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Borgatti and Everett’s</a:t>
              </a:r>
              <a:endParaRPr/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“Thinking Graph”</a:t>
              </a:r>
              <a:endParaRPr/>
            </a:p>
          </p:txBody>
        </p:sp>
      </p:grp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35"/>
          <p:cNvSpPr txBox="1"/>
          <p:nvPr>
            <p:ph type="title"/>
          </p:nvPr>
        </p:nvSpPr>
        <p:spPr>
          <a:xfrm>
            <a:off x="311700" y="351028"/>
            <a:ext cx="8520600" cy="92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Notions of Equivalence: Regular Equivalence </a:t>
            </a:r>
            <a:endParaRPr/>
          </a:p>
        </p:txBody>
      </p:sp>
      <p:sp>
        <p:nvSpPr>
          <p:cNvPr id="335" name="Google Shape;335;p35"/>
          <p:cNvSpPr txBox="1"/>
          <p:nvPr>
            <p:ph idx="1" type="body"/>
          </p:nvPr>
        </p:nvSpPr>
        <p:spPr>
          <a:xfrm>
            <a:off x="311700" y="1361357"/>
            <a:ext cx="8520600" cy="153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Theoretically, the notion of role implies similar patterns of connectivity to </a:t>
            </a:r>
            <a:r>
              <a:rPr b="1" lang="en"/>
              <a:t>similarly positioned</a:t>
            </a:r>
            <a:r>
              <a:rPr lang="en"/>
              <a:t> actors not to literally the </a:t>
            </a:r>
            <a:r>
              <a:rPr b="1" lang="en"/>
              <a:t>same </a:t>
            </a:r>
            <a:r>
              <a:rPr lang="en"/>
              <a:t>actors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Structural equivalence is the wrong measure in this case (Borgatti and Everett 1992)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Need a more flexible notion of equivalence: </a:t>
            </a:r>
            <a:r>
              <a:rPr b="1" lang="en"/>
              <a:t>Regular equivalence</a:t>
            </a:r>
            <a:endParaRPr/>
          </a:p>
          <a:p>
            <a:pPr indent="0" lvl="0" marL="137160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grpSp>
        <p:nvGrpSpPr>
          <p:cNvPr id="336" name="Google Shape;336;p35"/>
          <p:cNvGrpSpPr/>
          <p:nvPr/>
        </p:nvGrpSpPr>
        <p:grpSpPr>
          <a:xfrm>
            <a:off x="831375" y="3199200"/>
            <a:ext cx="7555950" cy="2132075"/>
            <a:chOff x="831375" y="3199200"/>
            <a:chExt cx="7555950" cy="2132075"/>
          </a:xfrm>
        </p:grpSpPr>
        <p:grpSp>
          <p:nvGrpSpPr>
            <p:cNvPr id="337" name="Google Shape;337;p35"/>
            <p:cNvGrpSpPr/>
            <p:nvPr/>
          </p:nvGrpSpPr>
          <p:grpSpPr>
            <a:xfrm>
              <a:off x="831375" y="3199200"/>
              <a:ext cx="7555950" cy="1938650"/>
              <a:chOff x="868500" y="3078125"/>
              <a:chExt cx="7555950" cy="1938650"/>
            </a:xfrm>
          </p:grpSpPr>
          <p:sp>
            <p:nvSpPr>
              <p:cNvPr id="338" name="Google Shape;338;p35"/>
              <p:cNvSpPr/>
              <p:nvPr/>
            </p:nvSpPr>
            <p:spPr>
              <a:xfrm>
                <a:off x="868500" y="3078125"/>
                <a:ext cx="601500" cy="580200"/>
              </a:xfrm>
              <a:prstGeom prst="ellipse">
                <a:avLst/>
              </a:prstGeom>
              <a:solidFill>
                <a:srgbClr val="FF0000"/>
              </a:solidFill>
              <a:ln cap="flat" cmpd="sng" w="2857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/>
                  <a:t>a</a:t>
                </a:r>
                <a:endParaRPr sz="1800"/>
              </a:p>
            </p:txBody>
          </p:sp>
          <p:sp>
            <p:nvSpPr>
              <p:cNvPr id="339" name="Google Shape;339;p35"/>
              <p:cNvSpPr/>
              <p:nvPr/>
            </p:nvSpPr>
            <p:spPr>
              <a:xfrm>
                <a:off x="868700" y="4371050"/>
                <a:ext cx="601500" cy="580200"/>
              </a:xfrm>
              <a:prstGeom prst="ellipse">
                <a:avLst/>
              </a:prstGeom>
              <a:solidFill>
                <a:srgbClr val="FF0000"/>
              </a:solidFill>
              <a:ln cap="flat" cmpd="sng" w="2857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/>
                  <a:t>c</a:t>
                </a:r>
                <a:endParaRPr sz="1800"/>
              </a:p>
            </p:txBody>
          </p:sp>
          <p:sp>
            <p:nvSpPr>
              <p:cNvPr id="340" name="Google Shape;340;p35"/>
              <p:cNvSpPr/>
              <p:nvPr/>
            </p:nvSpPr>
            <p:spPr>
              <a:xfrm>
                <a:off x="2614450" y="3078125"/>
                <a:ext cx="601500" cy="580200"/>
              </a:xfrm>
              <a:prstGeom prst="ellipse">
                <a:avLst/>
              </a:prstGeom>
              <a:solidFill>
                <a:srgbClr val="6AA84F"/>
              </a:solidFill>
              <a:ln cap="flat" cmpd="sng" w="2857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/>
                  <a:t>b</a:t>
                </a:r>
                <a:endParaRPr sz="1800"/>
              </a:p>
            </p:txBody>
          </p:sp>
          <p:sp>
            <p:nvSpPr>
              <p:cNvPr id="341" name="Google Shape;341;p35"/>
              <p:cNvSpPr/>
              <p:nvPr/>
            </p:nvSpPr>
            <p:spPr>
              <a:xfrm>
                <a:off x="2614450" y="4371050"/>
                <a:ext cx="601500" cy="580200"/>
              </a:xfrm>
              <a:prstGeom prst="ellipse">
                <a:avLst/>
              </a:prstGeom>
              <a:solidFill>
                <a:srgbClr val="6AA84F"/>
              </a:solidFill>
              <a:ln cap="flat" cmpd="sng" w="2857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/>
                  <a:t>d</a:t>
                </a:r>
                <a:endParaRPr sz="1800"/>
              </a:p>
            </p:txBody>
          </p:sp>
          <p:sp>
            <p:nvSpPr>
              <p:cNvPr id="342" name="Google Shape;342;p35"/>
              <p:cNvSpPr/>
              <p:nvPr/>
            </p:nvSpPr>
            <p:spPr>
              <a:xfrm>
                <a:off x="3679950" y="3724550"/>
                <a:ext cx="601500" cy="580200"/>
              </a:xfrm>
              <a:prstGeom prst="ellipse">
                <a:avLst/>
              </a:prstGeom>
              <a:solidFill>
                <a:srgbClr val="3C78D8"/>
              </a:solidFill>
              <a:ln cap="flat" cmpd="sng" w="2857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/>
                  <a:t>e</a:t>
                </a:r>
                <a:endParaRPr sz="1800"/>
              </a:p>
            </p:txBody>
          </p:sp>
          <p:sp>
            <p:nvSpPr>
              <p:cNvPr id="343" name="Google Shape;343;p35"/>
              <p:cNvSpPr/>
              <p:nvPr/>
            </p:nvSpPr>
            <p:spPr>
              <a:xfrm>
                <a:off x="5000350" y="3724625"/>
                <a:ext cx="601500" cy="580200"/>
              </a:xfrm>
              <a:prstGeom prst="ellipse">
                <a:avLst/>
              </a:prstGeom>
              <a:solidFill>
                <a:srgbClr val="3C78D8"/>
              </a:solidFill>
              <a:ln cap="flat" cmpd="sng" w="2857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/>
                  <a:t>f</a:t>
                </a:r>
                <a:endParaRPr sz="1800"/>
              </a:p>
            </p:txBody>
          </p:sp>
          <p:sp>
            <p:nvSpPr>
              <p:cNvPr id="344" name="Google Shape;344;p35"/>
              <p:cNvSpPr/>
              <p:nvPr/>
            </p:nvSpPr>
            <p:spPr>
              <a:xfrm>
                <a:off x="6077000" y="3078125"/>
                <a:ext cx="601500" cy="580200"/>
              </a:xfrm>
              <a:prstGeom prst="ellipse">
                <a:avLst/>
              </a:prstGeom>
              <a:solidFill>
                <a:srgbClr val="6AA84F"/>
              </a:solidFill>
              <a:ln cap="flat" cmpd="sng" w="2857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/>
                  <a:t>g</a:t>
                </a:r>
                <a:endParaRPr sz="1800"/>
              </a:p>
            </p:txBody>
          </p:sp>
          <p:sp>
            <p:nvSpPr>
              <p:cNvPr id="345" name="Google Shape;345;p35"/>
              <p:cNvSpPr/>
              <p:nvPr/>
            </p:nvSpPr>
            <p:spPr>
              <a:xfrm>
                <a:off x="6077000" y="4436575"/>
                <a:ext cx="601500" cy="580200"/>
              </a:xfrm>
              <a:prstGeom prst="ellipse">
                <a:avLst/>
              </a:prstGeom>
              <a:solidFill>
                <a:srgbClr val="6AA84F"/>
              </a:solidFill>
              <a:ln cap="flat" cmpd="sng" w="2857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/>
                  <a:t>i</a:t>
                </a:r>
                <a:endParaRPr sz="1800"/>
              </a:p>
            </p:txBody>
          </p:sp>
          <p:sp>
            <p:nvSpPr>
              <p:cNvPr id="346" name="Google Shape;346;p35"/>
              <p:cNvSpPr/>
              <p:nvPr/>
            </p:nvSpPr>
            <p:spPr>
              <a:xfrm>
                <a:off x="7822950" y="3078125"/>
                <a:ext cx="601500" cy="580200"/>
              </a:xfrm>
              <a:prstGeom prst="ellipse">
                <a:avLst/>
              </a:prstGeom>
              <a:solidFill>
                <a:srgbClr val="FF0000"/>
              </a:solidFill>
              <a:ln cap="flat" cmpd="sng" w="2857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/>
                  <a:t>h</a:t>
                </a:r>
                <a:endParaRPr sz="1800"/>
              </a:p>
            </p:txBody>
          </p:sp>
          <p:sp>
            <p:nvSpPr>
              <p:cNvPr id="347" name="Google Shape;347;p35"/>
              <p:cNvSpPr/>
              <p:nvPr/>
            </p:nvSpPr>
            <p:spPr>
              <a:xfrm>
                <a:off x="7822850" y="4436575"/>
                <a:ext cx="601500" cy="580200"/>
              </a:xfrm>
              <a:prstGeom prst="ellipse">
                <a:avLst/>
              </a:prstGeom>
              <a:solidFill>
                <a:srgbClr val="FF0000"/>
              </a:solidFill>
              <a:ln cap="flat" cmpd="sng" w="2857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/>
                  <a:t>j</a:t>
                </a:r>
                <a:endParaRPr sz="1800"/>
              </a:p>
            </p:txBody>
          </p:sp>
          <p:cxnSp>
            <p:nvCxnSpPr>
              <p:cNvPr id="348" name="Google Shape;348;p35"/>
              <p:cNvCxnSpPr>
                <a:stCxn id="338" idx="6"/>
                <a:endCxn id="340" idx="2"/>
              </p:cNvCxnSpPr>
              <p:nvPr/>
            </p:nvCxnSpPr>
            <p:spPr>
              <a:xfrm>
                <a:off x="1470000" y="3368225"/>
                <a:ext cx="1144500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49" name="Google Shape;349;p35"/>
              <p:cNvCxnSpPr>
                <a:stCxn id="338" idx="5"/>
                <a:endCxn id="341" idx="1"/>
              </p:cNvCxnSpPr>
              <p:nvPr/>
            </p:nvCxnSpPr>
            <p:spPr>
              <a:xfrm>
                <a:off x="1381912" y="3573357"/>
                <a:ext cx="1320600" cy="8826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50" name="Google Shape;350;p35"/>
              <p:cNvCxnSpPr>
                <a:stCxn id="339" idx="7"/>
                <a:endCxn id="340" idx="3"/>
              </p:cNvCxnSpPr>
              <p:nvPr/>
            </p:nvCxnSpPr>
            <p:spPr>
              <a:xfrm flipH="1" rot="10800000">
                <a:off x="1382112" y="3573418"/>
                <a:ext cx="1320300" cy="8826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51" name="Google Shape;351;p35"/>
              <p:cNvCxnSpPr>
                <a:stCxn id="338" idx="4"/>
                <a:endCxn id="339" idx="0"/>
              </p:cNvCxnSpPr>
              <p:nvPr/>
            </p:nvCxnSpPr>
            <p:spPr>
              <a:xfrm>
                <a:off x="1169250" y="3658325"/>
                <a:ext cx="300" cy="7128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52" name="Google Shape;352;p35"/>
              <p:cNvCxnSpPr>
                <a:stCxn id="339" idx="6"/>
                <a:endCxn id="341" idx="2"/>
              </p:cNvCxnSpPr>
              <p:nvPr/>
            </p:nvCxnSpPr>
            <p:spPr>
              <a:xfrm>
                <a:off x="1470200" y="4661150"/>
                <a:ext cx="1144200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53" name="Google Shape;353;p35"/>
              <p:cNvCxnSpPr>
                <a:stCxn id="340" idx="6"/>
                <a:endCxn id="342" idx="1"/>
              </p:cNvCxnSpPr>
              <p:nvPr/>
            </p:nvCxnSpPr>
            <p:spPr>
              <a:xfrm>
                <a:off x="3215950" y="3368225"/>
                <a:ext cx="552000" cy="4413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54" name="Google Shape;354;p35"/>
              <p:cNvCxnSpPr>
                <a:stCxn id="342" idx="3"/>
                <a:endCxn id="341" idx="6"/>
              </p:cNvCxnSpPr>
              <p:nvPr/>
            </p:nvCxnSpPr>
            <p:spPr>
              <a:xfrm flipH="1">
                <a:off x="3216038" y="4219782"/>
                <a:ext cx="552000" cy="4413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55" name="Google Shape;355;p35"/>
              <p:cNvCxnSpPr>
                <a:stCxn id="343" idx="2"/>
                <a:endCxn id="342" idx="6"/>
              </p:cNvCxnSpPr>
              <p:nvPr/>
            </p:nvCxnSpPr>
            <p:spPr>
              <a:xfrm rot="10800000">
                <a:off x="4281550" y="4014725"/>
                <a:ext cx="718800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56" name="Google Shape;356;p35"/>
              <p:cNvCxnSpPr>
                <a:stCxn id="344" idx="2"/>
                <a:endCxn id="343" idx="7"/>
              </p:cNvCxnSpPr>
              <p:nvPr/>
            </p:nvCxnSpPr>
            <p:spPr>
              <a:xfrm flipH="1">
                <a:off x="5513900" y="3368225"/>
                <a:ext cx="563100" cy="4413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57" name="Google Shape;357;p35"/>
              <p:cNvCxnSpPr>
                <a:stCxn id="345" idx="2"/>
                <a:endCxn id="343" idx="5"/>
              </p:cNvCxnSpPr>
              <p:nvPr/>
            </p:nvCxnSpPr>
            <p:spPr>
              <a:xfrm rot="10800000">
                <a:off x="5513900" y="4219975"/>
                <a:ext cx="563100" cy="5067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58" name="Google Shape;358;p35"/>
              <p:cNvCxnSpPr>
                <a:stCxn id="344" idx="5"/>
                <a:endCxn id="347" idx="1"/>
              </p:cNvCxnSpPr>
              <p:nvPr/>
            </p:nvCxnSpPr>
            <p:spPr>
              <a:xfrm>
                <a:off x="6590412" y="3573357"/>
                <a:ext cx="1320600" cy="9483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59" name="Google Shape;359;p35"/>
              <p:cNvCxnSpPr>
                <a:stCxn id="346" idx="3"/>
                <a:endCxn id="345" idx="7"/>
              </p:cNvCxnSpPr>
              <p:nvPr/>
            </p:nvCxnSpPr>
            <p:spPr>
              <a:xfrm flipH="1">
                <a:off x="6590438" y="3573357"/>
                <a:ext cx="1320600" cy="9483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60" name="Google Shape;360;p35"/>
              <p:cNvCxnSpPr>
                <a:stCxn id="346" idx="2"/>
                <a:endCxn id="344" idx="6"/>
              </p:cNvCxnSpPr>
              <p:nvPr/>
            </p:nvCxnSpPr>
            <p:spPr>
              <a:xfrm rot="10800000">
                <a:off x="6678450" y="3368225"/>
                <a:ext cx="1144500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61" name="Google Shape;361;p35"/>
              <p:cNvCxnSpPr>
                <a:stCxn id="346" idx="4"/>
                <a:endCxn id="347" idx="0"/>
              </p:cNvCxnSpPr>
              <p:nvPr/>
            </p:nvCxnSpPr>
            <p:spPr>
              <a:xfrm>
                <a:off x="8123700" y="3658325"/>
                <a:ext cx="0" cy="7782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62" name="Google Shape;362;p35"/>
              <p:cNvCxnSpPr>
                <a:stCxn id="347" idx="2"/>
                <a:endCxn id="345" idx="6"/>
              </p:cNvCxnSpPr>
              <p:nvPr/>
            </p:nvCxnSpPr>
            <p:spPr>
              <a:xfrm rot="10800000">
                <a:off x="6678650" y="4726675"/>
                <a:ext cx="1144200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sp>
          <p:nvSpPr>
            <p:cNvPr id="363" name="Google Shape;363;p35"/>
            <p:cNvSpPr txBox="1"/>
            <p:nvPr/>
          </p:nvSpPr>
          <p:spPr>
            <a:xfrm>
              <a:off x="3604950" y="4864175"/>
              <a:ext cx="2008800" cy="46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Borgatti and </a:t>
              </a:r>
              <a:r>
                <a:rPr lang="en"/>
                <a:t>Everett’s</a:t>
              </a:r>
              <a:endParaRPr/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“Thinking Graph”</a:t>
              </a:r>
              <a:endParaRPr/>
            </a:p>
          </p:txBody>
        </p:sp>
      </p:grp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8" name="Google Shape;368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2000" y="723900"/>
            <a:ext cx="7619999" cy="42671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37"/>
          <p:cNvSpPr txBox="1"/>
          <p:nvPr>
            <p:ph type="title"/>
          </p:nvPr>
        </p:nvSpPr>
        <p:spPr>
          <a:xfrm>
            <a:off x="311700" y="351028"/>
            <a:ext cx="8520600" cy="92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Notions of Equivalence: Regular Equivalence </a:t>
            </a:r>
            <a:endParaRPr/>
          </a:p>
        </p:txBody>
      </p:sp>
      <p:sp>
        <p:nvSpPr>
          <p:cNvPr id="374" name="Google Shape;374;p37"/>
          <p:cNvSpPr txBox="1"/>
          <p:nvPr>
            <p:ph idx="1" type="body"/>
          </p:nvPr>
        </p:nvSpPr>
        <p:spPr>
          <a:xfrm>
            <a:off x="311700" y="1361356"/>
            <a:ext cx="8520600" cy="179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If two actors are regularly equivalent they have the same graph theoretic attributes, and </a:t>
            </a:r>
            <a:r>
              <a:rPr b="1" lang="en"/>
              <a:t>vice versa: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If two actors share all graph theoretic attributes they are regularly equivalent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Regular equivalence is a </a:t>
            </a:r>
            <a:r>
              <a:rPr b="1" lang="en"/>
              <a:t>non-local</a:t>
            </a:r>
            <a:r>
              <a:rPr b="1" lang="en"/>
              <a:t> concept</a:t>
            </a:r>
            <a:endParaRPr/>
          </a:p>
        </p:txBody>
      </p:sp>
      <p:grpSp>
        <p:nvGrpSpPr>
          <p:cNvPr id="375" name="Google Shape;375;p37"/>
          <p:cNvGrpSpPr/>
          <p:nvPr/>
        </p:nvGrpSpPr>
        <p:grpSpPr>
          <a:xfrm>
            <a:off x="831375" y="3199200"/>
            <a:ext cx="7555950" cy="2132075"/>
            <a:chOff x="831375" y="3199200"/>
            <a:chExt cx="7555950" cy="2132075"/>
          </a:xfrm>
        </p:grpSpPr>
        <p:grpSp>
          <p:nvGrpSpPr>
            <p:cNvPr id="376" name="Google Shape;376;p37"/>
            <p:cNvGrpSpPr/>
            <p:nvPr/>
          </p:nvGrpSpPr>
          <p:grpSpPr>
            <a:xfrm>
              <a:off x="831375" y="3199200"/>
              <a:ext cx="7555950" cy="1938650"/>
              <a:chOff x="868500" y="3078125"/>
              <a:chExt cx="7555950" cy="1938650"/>
            </a:xfrm>
          </p:grpSpPr>
          <p:sp>
            <p:nvSpPr>
              <p:cNvPr id="377" name="Google Shape;377;p37"/>
              <p:cNvSpPr/>
              <p:nvPr/>
            </p:nvSpPr>
            <p:spPr>
              <a:xfrm>
                <a:off x="868500" y="3078125"/>
                <a:ext cx="601500" cy="580200"/>
              </a:xfrm>
              <a:prstGeom prst="ellipse">
                <a:avLst/>
              </a:prstGeom>
              <a:solidFill>
                <a:srgbClr val="FF0000"/>
              </a:solidFill>
              <a:ln cap="flat" cmpd="sng" w="2857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/>
                  <a:t>a</a:t>
                </a:r>
                <a:endParaRPr sz="1800"/>
              </a:p>
            </p:txBody>
          </p:sp>
          <p:sp>
            <p:nvSpPr>
              <p:cNvPr id="378" name="Google Shape;378;p37"/>
              <p:cNvSpPr/>
              <p:nvPr/>
            </p:nvSpPr>
            <p:spPr>
              <a:xfrm>
                <a:off x="868700" y="4371050"/>
                <a:ext cx="601500" cy="580200"/>
              </a:xfrm>
              <a:prstGeom prst="ellipse">
                <a:avLst/>
              </a:prstGeom>
              <a:solidFill>
                <a:srgbClr val="FF0000"/>
              </a:solidFill>
              <a:ln cap="flat" cmpd="sng" w="2857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/>
                  <a:t>c</a:t>
                </a:r>
                <a:endParaRPr sz="1800"/>
              </a:p>
            </p:txBody>
          </p:sp>
          <p:sp>
            <p:nvSpPr>
              <p:cNvPr id="379" name="Google Shape;379;p37"/>
              <p:cNvSpPr/>
              <p:nvPr/>
            </p:nvSpPr>
            <p:spPr>
              <a:xfrm>
                <a:off x="2614450" y="3078125"/>
                <a:ext cx="601500" cy="580200"/>
              </a:xfrm>
              <a:prstGeom prst="ellipse">
                <a:avLst/>
              </a:prstGeom>
              <a:solidFill>
                <a:srgbClr val="6AA84F"/>
              </a:solidFill>
              <a:ln cap="flat" cmpd="sng" w="2857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/>
                  <a:t>b</a:t>
                </a:r>
                <a:endParaRPr sz="1800"/>
              </a:p>
            </p:txBody>
          </p:sp>
          <p:sp>
            <p:nvSpPr>
              <p:cNvPr id="380" name="Google Shape;380;p37"/>
              <p:cNvSpPr/>
              <p:nvPr/>
            </p:nvSpPr>
            <p:spPr>
              <a:xfrm>
                <a:off x="2614450" y="4371050"/>
                <a:ext cx="601500" cy="580200"/>
              </a:xfrm>
              <a:prstGeom prst="ellipse">
                <a:avLst/>
              </a:prstGeom>
              <a:solidFill>
                <a:srgbClr val="6AA84F"/>
              </a:solidFill>
              <a:ln cap="flat" cmpd="sng" w="2857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/>
                  <a:t>d</a:t>
                </a:r>
                <a:endParaRPr sz="1800"/>
              </a:p>
            </p:txBody>
          </p:sp>
          <p:sp>
            <p:nvSpPr>
              <p:cNvPr id="381" name="Google Shape;381;p37"/>
              <p:cNvSpPr/>
              <p:nvPr/>
            </p:nvSpPr>
            <p:spPr>
              <a:xfrm>
                <a:off x="3679950" y="3724550"/>
                <a:ext cx="601500" cy="580200"/>
              </a:xfrm>
              <a:prstGeom prst="ellipse">
                <a:avLst/>
              </a:prstGeom>
              <a:solidFill>
                <a:srgbClr val="3C78D8"/>
              </a:solidFill>
              <a:ln cap="flat" cmpd="sng" w="2857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/>
                  <a:t>e</a:t>
                </a:r>
                <a:endParaRPr sz="1800"/>
              </a:p>
            </p:txBody>
          </p:sp>
          <p:sp>
            <p:nvSpPr>
              <p:cNvPr id="382" name="Google Shape;382;p37"/>
              <p:cNvSpPr/>
              <p:nvPr/>
            </p:nvSpPr>
            <p:spPr>
              <a:xfrm>
                <a:off x="5000350" y="3724625"/>
                <a:ext cx="601500" cy="580200"/>
              </a:xfrm>
              <a:prstGeom prst="ellipse">
                <a:avLst/>
              </a:prstGeom>
              <a:solidFill>
                <a:srgbClr val="3C78D8"/>
              </a:solidFill>
              <a:ln cap="flat" cmpd="sng" w="2857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/>
                  <a:t>f</a:t>
                </a:r>
                <a:endParaRPr sz="1800"/>
              </a:p>
            </p:txBody>
          </p:sp>
          <p:sp>
            <p:nvSpPr>
              <p:cNvPr id="383" name="Google Shape;383;p37"/>
              <p:cNvSpPr/>
              <p:nvPr/>
            </p:nvSpPr>
            <p:spPr>
              <a:xfrm>
                <a:off x="6077000" y="3078125"/>
                <a:ext cx="601500" cy="580200"/>
              </a:xfrm>
              <a:prstGeom prst="ellipse">
                <a:avLst/>
              </a:prstGeom>
              <a:solidFill>
                <a:srgbClr val="6AA84F"/>
              </a:solidFill>
              <a:ln cap="flat" cmpd="sng" w="2857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/>
                  <a:t>g</a:t>
                </a:r>
                <a:endParaRPr sz="1800"/>
              </a:p>
            </p:txBody>
          </p:sp>
          <p:sp>
            <p:nvSpPr>
              <p:cNvPr id="384" name="Google Shape;384;p37"/>
              <p:cNvSpPr/>
              <p:nvPr/>
            </p:nvSpPr>
            <p:spPr>
              <a:xfrm>
                <a:off x="6077000" y="4436575"/>
                <a:ext cx="601500" cy="580200"/>
              </a:xfrm>
              <a:prstGeom prst="ellipse">
                <a:avLst/>
              </a:prstGeom>
              <a:solidFill>
                <a:srgbClr val="6AA84F"/>
              </a:solidFill>
              <a:ln cap="flat" cmpd="sng" w="2857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/>
                  <a:t>i</a:t>
                </a:r>
                <a:endParaRPr sz="1800"/>
              </a:p>
            </p:txBody>
          </p:sp>
          <p:sp>
            <p:nvSpPr>
              <p:cNvPr id="385" name="Google Shape;385;p37"/>
              <p:cNvSpPr/>
              <p:nvPr/>
            </p:nvSpPr>
            <p:spPr>
              <a:xfrm>
                <a:off x="7822950" y="3078125"/>
                <a:ext cx="601500" cy="580200"/>
              </a:xfrm>
              <a:prstGeom prst="ellipse">
                <a:avLst/>
              </a:prstGeom>
              <a:solidFill>
                <a:srgbClr val="FF0000"/>
              </a:solidFill>
              <a:ln cap="flat" cmpd="sng" w="2857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/>
                  <a:t>h</a:t>
                </a:r>
                <a:endParaRPr sz="1800"/>
              </a:p>
            </p:txBody>
          </p:sp>
          <p:sp>
            <p:nvSpPr>
              <p:cNvPr id="386" name="Google Shape;386;p37"/>
              <p:cNvSpPr/>
              <p:nvPr/>
            </p:nvSpPr>
            <p:spPr>
              <a:xfrm>
                <a:off x="7822850" y="4436575"/>
                <a:ext cx="601500" cy="580200"/>
              </a:xfrm>
              <a:prstGeom prst="ellipse">
                <a:avLst/>
              </a:prstGeom>
              <a:solidFill>
                <a:srgbClr val="FF0000"/>
              </a:solidFill>
              <a:ln cap="flat" cmpd="sng" w="2857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/>
                  <a:t>j</a:t>
                </a:r>
                <a:endParaRPr sz="1800"/>
              </a:p>
            </p:txBody>
          </p:sp>
          <p:cxnSp>
            <p:nvCxnSpPr>
              <p:cNvPr id="387" name="Google Shape;387;p37"/>
              <p:cNvCxnSpPr>
                <a:stCxn id="377" idx="6"/>
                <a:endCxn id="379" idx="2"/>
              </p:cNvCxnSpPr>
              <p:nvPr/>
            </p:nvCxnSpPr>
            <p:spPr>
              <a:xfrm>
                <a:off x="1470000" y="3368225"/>
                <a:ext cx="1144500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88" name="Google Shape;388;p37"/>
              <p:cNvCxnSpPr>
                <a:stCxn id="377" idx="5"/>
                <a:endCxn id="380" idx="1"/>
              </p:cNvCxnSpPr>
              <p:nvPr/>
            </p:nvCxnSpPr>
            <p:spPr>
              <a:xfrm>
                <a:off x="1381912" y="3573357"/>
                <a:ext cx="1320600" cy="8826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89" name="Google Shape;389;p37"/>
              <p:cNvCxnSpPr>
                <a:stCxn id="378" idx="7"/>
                <a:endCxn id="379" idx="3"/>
              </p:cNvCxnSpPr>
              <p:nvPr/>
            </p:nvCxnSpPr>
            <p:spPr>
              <a:xfrm flipH="1" rot="10800000">
                <a:off x="1382112" y="3573418"/>
                <a:ext cx="1320300" cy="8826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90" name="Google Shape;390;p37"/>
              <p:cNvCxnSpPr>
                <a:stCxn id="377" idx="4"/>
                <a:endCxn id="378" idx="0"/>
              </p:cNvCxnSpPr>
              <p:nvPr/>
            </p:nvCxnSpPr>
            <p:spPr>
              <a:xfrm>
                <a:off x="1169250" y="3658325"/>
                <a:ext cx="300" cy="7128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91" name="Google Shape;391;p37"/>
              <p:cNvCxnSpPr>
                <a:stCxn id="378" idx="6"/>
                <a:endCxn id="380" idx="2"/>
              </p:cNvCxnSpPr>
              <p:nvPr/>
            </p:nvCxnSpPr>
            <p:spPr>
              <a:xfrm>
                <a:off x="1470200" y="4661150"/>
                <a:ext cx="1144200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92" name="Google Shape;392;p37"/>
              <p:cNvCxnSpPr>
                <a:stCxn id="379" idx="6"/>
                <a:endCxn id="381" idx="1"/>
              </p:cNvCxnSpPr>
              <p:nvPr/>
            </p:nvCxnSpPr>
            <p:spPr>
              <a:xfrm>
                <a:off x="3215950" y="3368225"/>
                <a:ext cx="552000" cy="4413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93" name="Google Shape;393;p37"/>
              <p:cNvCxnSpPr>
                <a:stCxn id="381" idx="3"/>
                <a:endCxn id="380" idx="6"/>
              </p:cNvCxnSpPr>
              <p:nvPr/>
            </p:nvCxnSpPr>
            <p:spPr>
              <a:xfrm flipH="1">
                <a:off x="3216038" y="4219782"/>
                <a:ext cx="552000" cy="4413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94" name="Google Shape;394;p37"/>
              <p:cNvCxnSpPr>
                <a:stCxn id="382" idx="2"/>
                <a:endCxn id="381" idx="6"/>
              </p:cNvCxnSpPr>
              <p:nvPr/>
            </p:nvCxnSpPr>
            <p:spPr>
              <a:xfrm rot="10800000">
                <a:off x="4281550" y="4014725"/>
                <a:ext cx="718800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95" name="Google Shape;395;p37"/>
              <p:cNvCxnSpPr>
                <a:stCxn id="383" idx="2"/>
                <a:endCxn id="382" idx="7"/>
              </p:cNvCxnSpPr>
              <p:nvPr/>
            </p:nvCxnSpPr>
            <p:spPr>
              <a:xfrm flipH="1">
                <a:off x="5513900" y="3368225"/>
                <a:ext cx="563100" cy="4413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96" name="Google Shape;396;p37"/>
              <p:cNvCxnSpPr>
                <a:stCxn id="384" idx="2"/>
                <a:endCxn id="382" idx="5"/>
              </p:cNvCxnSpPr>
              <p:nvPr/>
            </p:nvCxnSpPr>
            <p:spPr>
              <a:xfrm rot="10800000">
                <a:off x="5513900" y="4219975"/>
                <a:ext cx="563100" cy="5067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97" name="Google Shape;397;p37"/>
              <p:cNvCxnSpPr>
                <a:stCxn id="383" idx="5"/>
                <a:endCxn id="386" idx="1"/>
              </p:cNvCxnSpPr>
              <p:nvPr/>
            </p:nvCxnSpPr>
            <p:spPr>
              <a:xfrm>
                <a:off x="6590412" y="3573357"/>
                <a:ext cx="1320600" cy="9483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98" name="Google Shape;398;p37"/>
              <p:cNvCxnSpPr>
                <a:stCxn id="385" idx="3"/>
                <a:endCxn id="384" idx="7"/>
              </p:cNvCxnSpPr>
              <p:nvPr/>
            </p:nvCxnSpPr>
            <p:spPr>
              <a:xfrm flipH="1">
                <a:off x="6590438" y="3573357"/>
                <a:ext cx="1320600" cy="9483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99" name="Google Shape;399;p37"/>
              <p:cNvCxnSpPr>
                <a:stCxn id="385" idx="2"/>
                <a:endCxn id="383" idx="6"/>
              </p:cNvCxnSpPr>
              <p:nvPr/>
            </p:nvCxnSpPr>
            <p:spPr>
              <a:xfrm rot="10800000">
                <a:off x="6678450" y="3368225"/>
                <a:ext cx="1144500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00" name="Google Shape;400;p37"/>
              <p:cNvCxnSpPr>
                <a:stCxn id="385" idx="4"/>
                <a:endCxn id="386" idx="0"/>
              </p:cNvCxnSpPr>
              <p:nvPr/>
            </p:nvCxnSpPr>
            <p:spPr>
              <a:xfrm>
                <a:off x="8123700" y="3658325"/>
                <a:ext cx="0" cy="7782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01" name="Google Shape;401;p37"/>
              <p:cNvCxnSpPr>
                <a:stCxn id="386" idx="2"/>
                <a:endCxn id="384" idx="6"/>
              </p:cNvCxnSpPr>
              <p:nvPr/>
            </p:nvCxnSpPr>
            <p:spPr>
              <a:xfrm rot="10800000">
                <a:off x="6678650" y="4726675"/>
                <a:ext cx="1144200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sp>
          <p:nvSpPr>
            <p:cNvPr id="402" name="Google Shape;402;p37"/>
            <p:cNvSpPr txBox="1"/>
            <p:nvPr/>
          </p:nvSpPr>
          <p:spPr>
            <a:xfrm>
              <a:off x="3604950" y="4864175"/>
              <a:ext cx="2008800" cy="46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Borgatti and Everett’s</a:t>
              </a:r>
              <a:endParaRPr/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“Thinking Graph”</a:t>
              </a:r>
              <a:endParaRPr/>
            </a:p>
          </p:txBody>
        </p:sp>
      </p:grp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38"/>
          <p:cNvSpPr txBox="1"/>
          <p:nvPr>
            <p:ph type="title"/>
          </p:nvPr>
        </p:nvSpPr>
        <p:spPr>
          <a:xfrm>
            <a:off x="311700" y="351028"/>
            <a:ext cx="8520600" cy="92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Notions of Equivalence: Regular Equivalence </a:t>
            </a:r>
            <a:endParaRPr/>
          </a:p>
        </p:txBody>
      </p:sp>
      <p:sp>
        <p:nvSpPr>
          <p:cNvPr id="408" name="Google Shape;408;p38"/>
          <p:cNvSpPr txBox="1"/>
          <p:nvPr>
            <p:ph idx="1" type="body"/>
          </p:nvPr>
        </p:nvSpPr>
        <p:spPr>
          <a:xfrm>
            <a:off x="311700" y="1361356"/>
            <a:ext cx="8520600" cy="179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If two actors are regularly equivalent they have the same graph theoretic attributes, and </a:t>
            </a:r>
            <a:r>
              <a:rPr b="1" lang="en"/>
              <a:t>vice versa: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If two actors share all graph theoretic attributes they are regularly equivalent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Regular equivalence is a </a:t>
            </a:r>
            <a:r>
              <a:rPr b="1" lang="en"/>
              <a:t>non-local concept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Simple trick: if you have a graph and lose the “vertex labels” nodes that cannot be told apart are regularly equivalent</a:t>
            </a:r>
            <a:endParaRPr b="1"/>
          </a:p>
        </p:txBody>
      </p:sp>
      <p:grpSp>
        <p:nvGrpSpPr>
          <p:cNvPr id="409" name="Google Shape;409;p38"/>
          <p:cNvGrpSpPr/>
          <p:nvPr/>
        </p:nvGrpSpPr>
        <p:grpSpPr>
          <a:xfrm>
            <a:off x="831375" y="3199200"/>
            <a:ext cx="7555950" cy="2132075"/>
            <a:chOff x="831375" y="3199200"/>
            <a:chExt cx="7555950" cy="2132075"/>
          </a:xfrm>
        </p:grpSpPr>
        <p:grpSp>
          <p:nvGrpSpPr>
            <p:cNvPr id="410" name="Google Shape;410;p38"/>
            <p:cNvGrpSpPr/>
            <p:nvPr/>
          </p:nvGrpSpPr>
          <p:grpSpPr>
            <a:xfrm>
              <a:off x="831375" y="3199200"/>
              <a:ext cx="7555950" cy="1938650"/>
              <a:chOff x="868500" y="3078125"/>
              <a:chExt cx="7555950" cy="1938650"/>
            </a:xfrm>
          </p:grpSpPr>
          <p:sp>
            <p:nvSpPr>
              <p:cNvPr id="411" name="Google Shape;411;p38"/>
              <p:cNvSpPr/>
              <p:nvPr/>
            </p:nvSpPr>
            <p:spPr>
              <a:xfrm>
                <a:off x="868500" y="3078125"/>
                <a:ext cx="601500" cy="580200"/>
              </a:xfrm>
              <a:prstGeom prst="ellipse">
                <a:avLst/>
              </a:prstGeom>
              <a:solidFill>
                <a:schemeClr val="lt2"/>
              </a:solidFill>
              <a:ln cap="flat" cmpd="sng" w="2857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/>
              </a:p>
            </p:txBody>
          </p:sp>
          <p:sp>
            <p:nvSpPr>
              <p:cNvPr id="412" name="Google Shape;412;p38"/>
              <p:cNvSpPr/>
              <p:nvPr/>
            </p:nvSpPr>
            <p:spPr>
              <a:xfrm>
                <a:off x="868700" y="4371050"/>
                <a:ext cx="601500" cy="580200"/>
              </a:xfrm>
              <a:prstGeom prst="ellipse">
                <a:avLst/>
              </a:prstGeom>
              <a:solidFill>
                <a:schemeClr val="lt2"/>
              </a:solidFill>
              <a:ln cap="flat" cmpd="sng" w="2857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/>
              </a:p>
            </p:txBody>
          </p:sp>
          <p:sp>
            <p:nvSpPr>
              <p:cNvPr id="413" name="Google Shape;413;p38"/>
              <p:cNvSpPr/>
              <p:nvPr/>
            </p:nvSpPr>
            <p:spPr>
              <a:xfrm>
                <a:off x="2614450" y="3078125"/>
                <a:ext cx="601500" cy="580200"/>
              </a:xfrm>
              <a:prstGeom prst="ellipse">
                <a:avLst/>
              </a:prstGeom>
              <a:solidFill>
                <a:schemeClr val="lt2"/>
              </a:solidFill>
              <a:ln cap="flat" cmpd="sng" w="2857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/>
              </a:p>
            </p:txBody>
          </p:sp>
          <p:sp>
            <p:nvSpPr>
              <p:cNvPr id="414" name="Google Shape;414;p38"/>
              <p:cNvSpPr/>
              <p:nvPr/>
            </p:nvSpPr>
            <p:spPr>
              <a:xfrm>
                <a:off x="2614450" y="4371050"/>
                <a:ext cx="601500" cy="580200"/>
              </a:xfrm>
              <a:prstGeom prst="ellipse">
                <a:avLst/>
              </a:prstGeom>
              <a:solidFill>
                <a:schemeClr val="lt2"/>
              </a:solidFill>
              <a:ln cap="flat" cmpd="sng" w="2857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/>
              </a:p>
            </p:txBody>
          </p:sp>
          <p:sp>
            <p:nvSpPr>
              <p:cNvPr id="415" name="Google Shape;415;p38"/>
              <p:cNvSpPr/>
              <p:nvPr/>
            </p:nvSpPr>
            <p:spPr>
              <a:xfrm>
                <a:off x="3679950" y="3724550"/>
                <a:ext cx="601500" cy="580200"/>
              </a:xfrm>
              <a:prstGeom prst="ellipse">
                <a:avLst/>
              </a:prstGeom>
              <a:solidFill>
                <a:schemeClr val="lt2"/>
              </a:solidFill>
              <a:ln cap="flat" cmpd="sng" w="2857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/>
              </a:p>
            </p:txBody>
          </p:sp>
          <p:sp>
            <p:nvSpPr>
              <p:cNvPr id="416" name="Google Shape;416;p38"/>
              <p:cNvSpPr/>
              <p:nvPr/>
            </p:nvSpPr>
            <p:spPr>
              <a:xfrm>
                <a:off x="5000350" y="3724625"/>
                <a:ext cx="601500" cy="580200"/>
              </a:xfrm>
              <a:prstGeom prst="ellipse">
                <a:avLst/>
              </a:prstGeom>
              <a:solidFill>
                <a:schemeClr val="lt2"/>
              </a:solidFill>
              <a:ln cap="flat" cmpd="sng" w="2857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/>
              </a:p>
            </p:txBody>
          </p:sp>
          <p:sp>
            <p:nvSpPr>
              <p:cNvPr id="417" name="Google Shape;417;p38"/>
              <p:cNvSpPr/>
              <p:nvPr/>
            </p:nvSpPr>
            <p:spPr>
              <a:xfrm>
                <a:off x="6077000" y="3078125"/>
                <a:ext cx="601500" cy="580200"/>
              </a:xfrm>
              <a:prstGeom prst="ellipse">
                <a:avLst/>
              </a:prstGeom>
              <a:solidFill>
                <a:schemeClr val="lt2"/>
              </a:solidFill>
              <a:ln cap="flat" cmpd="sng" w="2857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/>
              </a:p>
            </p:txBody>
          </p:sp>
          <p:sp>
            <p:nvSpPr>
              <p:cNvPr id="418" name="Google Shape;418;p38"/>
              <p:cNvSpPr/>
              <p:nvPr/>
            </p:nvSpPr>
            <p:spPr>
              <a:xfrm>
                <a:off x="6077000" y="4436575"/>
                <a:ext cx="601500" cy="580200"/>
              </a:xfrm>
              <a:prstGeom prst="ellipse">
                <a:avLst/>
              </a:prstGeom>
              <a:solidFill>
                <a:schemeClr val="lt2"/>
              </a:solidFill>
              <a:ln cap="flat" cmpd="sng" w="2857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/>
              </a:p>
            </p:txBody>
          </p:sp>
          <p:sp>
            <p:nvSpPr>
              <p:cNvPr id="419" name="Google Shape;419;p38"/>
              <p:cNvSpPr/>
              <p:nvPr/>
            </p:nvSpPr>
            <p:spPr>
              <a:xfrm>
                <a:off x="7822950" y="3078125"/>
                <a:ext cx="601500" cy="580200"/>
              </a:xfrm>
              <a:prstGeom prst="ellipse">
                <a:avLst/>
              </a:prstGeom>
              <a:solidFill>
                <a:schemeClr val="lt2"/>
              </a:solidFill>
              <a:ln cap="flat" cmpd="sng" w="2857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/>
              </a:p>
            </p:txBody>
          </p:sp>
          <p:sp>
            <p:nvSpPr>
              <p:cNvPr id="420" name="Google Shape;420;p38"/>
              <p:cNvSpPr/>
              <p:nvPr/>
            </p:nvSpPr>
            <p:spPr>
              <a:xfrm>
                <a:off x="7822850" y="4436575"/>
                <a:ext cx="601500" cy="580200"/>
              </a:xfrm>
              <a:prstGeom prst="ellipse">
                <a:avLst/>
              </a:prstGeom>
              <a:solidFill>
                <a:schemeClr val="lt2"/>
              </a:solidFill>
              <a:ln cap="flat" cmpd="sng" w="2857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/>
              </a:p>
            </p:txBody>
          </p:sp>
          <p:cxnSp>
            <p:nvCxnSpPr>
              <p:cNvPr id="421" name="Google Shape;421;p38"/>
              <p:cNvCxnSpPr>
                <a:stCxn id="411" idx="6"/>
                <a:endCxn id="413" idx="2"/>
              </p:cNvCxnSpPr>
              <p:nvPr/>
            </p:nvCxnSpPr>
            <p:spPr>
              <a:xfrm>
                <a:off x="1470000" y="3368225"/>
                <a:ext cx="1144500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22" name="Google Shape;422;p38"/>
              <p:cNvCxnSpPr>
                <a:stCxn id="411" idx="5"/>
                <a:endCxn id="414" idx="1"/>
              </p:cNvCxnSpPr>
              <p:nvPr/>
            </p:nvCxnSpPr>
            <p:spPr>
              <a:xfrm>
                <a:off x="1381912" y="3573357"/>
                <a:ext cx="1320600" cy="8826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23" name="Google Shape;423;p38"/>
              <p:cNvCxnSpPr>
                <a:stCxn id="412" idx="7"/>
                <a:endCxn id="413" idx="3"/>
              </p:cNvCxnSpPr>
              <p:nvPr/>
            </p:nvCxnSpPr>
            <p:spPr>
              <a:xfrm flipH="1" rot="10800000">
                <a:off x="1382112" y="3573418"/>
                <a:ext cx="1320300" cy="8826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24" name="Google Shape;424;p38"/>
              <p:cNvCxnSpPr>
                <a:stCxn id="411" idx="4"/>
                <a:endCxn id="412" idx="0"/>
              </p:cNvCxnSpPr>
              <p:nvPr/>
            </p:nvCxnSpPr>
            <p:spPr>
              <a:xfrm>
                <a:off x="1169250" y="3658325"/>
                <a:ext cx="300" cy="7128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25" name="Google Shape;425;p38"/>
              <p:cNvCxnSpPr>
                <a:stCxn id="412" idx="6"/>
                <a:endCxn id="414" idx="2"/>
              </p:cNvCxnSpPr>
              <p:nvPr/>
            </p:nvCxnSpPr>
            <p:spPr>
              <a:xfrm>
                <a:off x="1470200" y="4661150"/>
                <a:ext cx="1144200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26" name="Google Shape;426;p38"/>
              <p:cNvCxnSpPr>
                <a:stCxn id="413" idx="6"/>
                <a:endCxn id="415" idx="1"/>
              </p:cNvCxnSpPr>
              <p:nvPr/>
            </p:nvCxnSpPr>
            <p:spPr>
              <a:xfrm>
                <a:off x="3215950" y="3368225"/>
                <a:ext cx="552000" cy="4413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27" name="Google Shape;427;p38"/>
              <p:cNvCxnSpPr>
                <a:stCxn id="415" idx="3"/>
                <a:endCxn id="414" idx="6"/>
              </p:cNvCxnSpPr>
              <p:nvPr/>
            </p:nvCxnSpPr>
            <p:spPr>
              <a:xfrm flipH="1">
                <a:off x="3216038" y="4219782"/>
                <a:ext cx="552000" cy="4413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28" name="Google Shape;428;p38"/>
              <p:cNvCxnSpPr>
                <a:stCxn id="416" idx="2"/>
                <a:endCxn id="415" idx="6"/>
              </p:cNvCxnSpPr>
              <p:nvPr/>
            </p:nvCxnSpPr>
            <p:spPr>
              <a:xfrm rot="10800000">
                <a:off x="4281550" y="4014725"/>
                <a:ext cx="718800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29" name="Google Shape;429;p38"/>
              <p:cNvCxnSpPr>
                <a:stCxn id="417" idx="2"/>
                <a:endCxn id="416" idx="7"/>
              </p:cNvCxnSpPr>
              <p:nvPr/>
            </p:nvCxnSpPr>
            <p:spPr>
              <a:xfrm flipH="1">
                <a:off x="5513900" y="3368225"/>
                <a:ext cx="563100" cy="4413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30" name="Google Shape;430;p38"/>
              <p:cNvCxnSpPr>
                <a:stCxn id="418" idx="2"/>
                <a:endCxn id="416" idx="5"/>
              </p:cNvCxnSpPr>
              <p:nvPr/>
            </p:nvCxnSpPr>
            <p:spPr>
              <a:xfrm rot="10800000">
                <a:off x="5513900" y="4219975"/>
                <a:ext cx="563100" cy="5067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31" name="Google Shape;431;p38"/>
              <p:cNvCxnSpPr>
                <a:stCxn id="417" idx="5"/>
                <a:endCxn id="420" idx="1"/>
              </p:cNvCxnSpPr>
              <p:nvPr/>
            </p:nvCxnSpPr>
            <p:spPr>
              <a:xfrm>
                <a:off x="6590412" y="3573357"/>
                <a:ext cx="1320600" cy="9483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32" name="Google Shape;432;p38"/>
              <p:cNvCxnSpPr>
                <a:stCxn id="419" idx="3"/>
                <a:endCxn id="418" idx="7"/>
              </p:cNvCxnSpPr>
              <p:nvPr/>
            </p:nvCxnSpPr>
            <p:spPr>
              <a:xfrm flipH="1">
                <a:off x="6590438" y="3573357"/>
                <a:ext cx="1320600" cy="9483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33" name="Google Shape;433;p38"/>
              <p:cNvCxnSpPr>
                <a:stCxn id="419" idx="2"/>
                <a:endCxn id="417" idx="6"/>
              </p:cNvCxnSpPr>
              <p:nvPr/>
            </p:nvCxnSpPr>
            <p:spPr>
              <a:xfrm rot="10800000">
                <a:off x="6678450" y="3368225"/>
                <a:ext cx="1144500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34" name="Google Shape;434;p38"/>
              <p:cNvCxnSpPr>
                <a:stCxn id="419" idx="4"/>
                <a:endCxn id="420" idx="0"/>
              </p:cNvCxnSpPr>
              <p:nvPr/>
            </p:nvCxnSpPr>
            <p:spPr>
              <a:xfrm>
                <a:off x="8123700" y="3658325"/>
                <a:ext cx="0" cy="7782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35" name="Google Shape;435;p38"/>
              <p:cNvCxnSpPr>
                <a:stCxn id="420" idx="2"/>
                <a:endCxn id="418" idx="6"/>
              </p:cNvCxnSpPr>
              <p:nvPr/>
            </p:nvCxnSpPr>
            <p:spPr>
              <a:xfrm rot="10800000">
                <a:off x="6678650" y="4726675"/>
                <a:ext cx="1144200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sp>
          <p:nvSpPr>
            <p:cNvPr id="436" name="Google Shape;436;p38"/>
            <p:cNvSpPr txBox="1"/>
            <p:nvPr/>
          </p:nvSpPr>
          <p:spPr>
            <a:xfrm>
              <a:off x="3604950" y="4864175"/>
              <a:ext cx="2008800" cy="46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Borgatti and Everett’s</a:t>
              </a:r>
              <a:endParaRPr/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“Thinking Graph”</a:t>
              </a:r>
              <a:endParaRPr/>
            </a:p>
          </p:txBody>
        </p:sp>
      </p:grp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p39"/>
          <p:cNvSpPr txBox="1"/>
          <p:nvPr>
            <p:ph type="title"/>
          </p:nvPr>
        </p:nvSpPr>
        <p:spPr>
          <a:xfrm>
            <a:off x="311700" y="351028"/>
            <a:ext cx="8520600" cy="92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Blockmodeling</a:t>
            </a:r>
            <a:endParaRPr/>
          </a:p>
        </p:txBody>
      </p:sp>
      <p:sp>
        <p:nvSpPr>
          <p:cNvPr id="442" name="Google Shape;442;p39"/>
          <p:cNvSpPr txBox="1"/>
          <p:nvPr>
            <p:ph idx="1" type="body"/>
          </p:nvPr>
        </p:nvSpPr>
        <p:spPr>
          <a:xfrm>
            <a:off x="311700" y="1361356"/>
            <a:ext cx="8520600" cy="168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most real world applications the strong graph-theoretic definitions of structural or regular equivalence are unlikely to hold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Attempts to come up with stochastic approximations of </a:t>
            </a:r>
            <a:r>
              <a:rPr b="1" lang="en"/>
              <a:t>graph theoretic equivalence relations</a:t>
            </a:r>
            <a:r>
              <a:rPr lang="en"/>
              <a:t> for the purposes of vertex classification using </a:t>
            </a:r>
            <a:r>
              <a:rPr b="1" lang="en"/>
              <a:t>matrix algebra</a:t>
            </a:r>
            <a:r>
              <a:rPr lang="en"/>
              <a:t> is called </a:t>
            </a:r>
            <a:r>
              <a:rPr b="1" lang="en"/>
              <a:t>blockmodeling</a:t>
            </a:r>
            <a:endParaRPr b="1"/>
          </a:p>
        </p:txBody>
      </p:sp>
      <p:pic>
        <p:nvPicPr>
          <p:cNvPr id="443" name="Google Shape;443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80338" y="3048015"/>
            <a:ext cx="6183313" cy="20399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p40"/>
          <p:cNvSpPr txBox="1"/>
          <p:nvPr>
            <p:ph type="title"/>
          </p:nvPr>
        </p:nvSpPr>
        <p:spPr>
          <a:xfrm>
            <a:off x="311700" y="351028"/>
            <a:ext cx="8520600" cy="92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Blockmodeling</a:t>
            </a:r>
            <a:endParaRPr/>
          </a:p>
        </p:txBody>
      </p:sp>
      <p:sp>
        <p:nvSpPr>
          <p:cNvPr id="449" name="Google Shape;449;p40"/>
          <p:cNvSpPr txBox="1"/>
          <p:nvPr>
            <p:ph idx="1" type="body"/>
          </p:nvPr>
        </p:nvSpPr>
        <p:spPr>
          <a:xfrm>
            <a:off x="311700" y="1361356"/>
            <a:ext cx="8520600" cy="168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most real world applications the strong graph-theoretic definitions of structural or regular equivalence are unlikely to hold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Rather than thinking that two or more actors are exactly structural or </a:t>
            </a:r>
            <a:r>
              <a:rPr lang="en"/>
              <a:t>regulatory</a:t>
            </a:r>
            <a:r>
              <a:rPr lang="en"/>
              <a:t> equivalent we come up with a </a:t>
            </a:r>
            <a:r>
              <a:rPr lang="en"/>
              <a:t>measurement</a:t>
            </a:r>
            <a:r>
              <a:rPr lang="en"/>
              <a:t> criterion for determining degrees of equivalence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With exact equivalence as a limiting case</a:t>
            </a:r>
            <a:endParaRPr/>
          </a:p>
        </p:txBody>
      </p:sp>
      <p:pic>
        <p:nvPicPr>
          <p:cNvPr id="450" name="Google Shape;450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80338" y="3048015"/>
            <a:ext cx="6183313" cy="20399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41"/>
          <p:cNvSpPr txBox="1"/>
          <p:nvPr>
            <p:ph type="title"/>
          </p:nvPr>
        </p:nvSpPr>
        <p:spPr>
          <a:xfrm>
            <a:off x="311700" y="351028"/>
            <a:ext cx="8520600" cy="92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Blockmodeling</a:t>
            </a:r>
            <a:endParaRPr/>
          </a:p>
        </p:txBody>
      </p:sp>
      <p:sp>
        <p:nvSpPr>
          <p:cNvPr id="456" name="Google Shape;456;p41"/>
          <p:cNvSpPr txBox="1"/>
          <p:nvPr>
            <p:ph idx="1" type="body"/>
          </p:nvPr>
        </p:nvSpPr>
        <p:spPr>
          <a:xfrm>
            <a:off x="311700" y="1361361"/>
            <a:ext cx="8520600" cy="372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What is a blockmodel?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 procedure to reorder the rows of matrix (representing nodes and their relations) such that: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Rows that are close together are closer to being (structural or regularly) equivalent than rows that are far apart</a:t>
            </a:r>
            <a:endParaRPr/>
          </a:p>
          <a:p>
            <a:pPr indent="-317500" lvl="3" marL="18288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The matrix can then be divided into </a:t>
            </a:r>
            <a:r>
              <a:rPr b="1" lang="en"/>
              <a:t>blocks</a:t>
            </a:r>
            <a:r>
              <a:rPr lang="en"/>
              <a:t> 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Blocks contain disjoint set of actors and thus define “positions” in the network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Actors in block have connections among themselves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Diagonal blocks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Actors in a block also have connections with actors in other blocks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Off-diagonal blocks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can think of blockmodeling as an attempt to reduce a matrix of N x N actors and their relations to a reduced matrix of B x B blocks and their relations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42"/>
          <p:cNvSpPr txBox="1"/>
          <p:nvPr>
            <p:ph type="title"/>
          </p:nvPr>
        </p:nvSpPr>
        <p:spPr>
          <a:xfrm>
            <a:off x="311700" y="351028"/>
            <a:ext cx="8520600" cy="92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Blockmodeling</a:t>
            </a:r>
            <a:endParaRPr/>
          </a:p>
        </p:txBody>
      </p:sp>
      <p:sp>
        <p:nvSpPr>
          <p:cNvPr id="462" name="Google Shape;462;p42"/>
          <p:cNvSpPr txBox="1"/>
          <p:nvPr>
            <p:ph idx="1" type="body"/>
          </p:nvPr>
        </p:nvSpPr>
        <p:spPr>
          <a:xfrm>
            <a:off x="311700" y="1361361"/>
            <a:ext cx="8520600" cy="372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For a given graph G, a blockmodel consists of two parts: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 partition P = {P</a:t>
            </a:r>
            <a:r>
              <a:rPr baseline="-25000" lang="en"/>
              <a:t>1</a:t>
            </a:r>
            <a:r>
              <a:rPr lang="en"/>
              <a:t>, P</a:t>
            </a:r>
            <a:r>
              <a:rPr baseline="-25000" lang="en"/>
              <a:t>2</a:t>
            </a:r>
            <a:r>
              <a:rPr lang="en"/>
              <a:t>, ...P</a:t>
            </a:r>
            <a:r>
              <a:rPr baseline="-25000" lang="en"/>
              <a:t>k</a:t>
            </a:r>
            <a:r>
              <a:rPr lang="en"/>
              <a:t>} into k disjoint subsets called the positions of G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 set of matrices B (called image matrices) that represent hypotheses on the relations between positions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Blockmodels build on minimal relaxations of structural equivalence that still correspond to some minimal numbers of positions in the network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blockmodel is thus a simplified representation of the original network whose basic elements are the positions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basic task is to ascertain to what extent the observed network approximates some idealized (theoretical) image of the "underlying" role relations</a:t>
            </a:r>
            <a:endParaRPr/>
          </a:p>
          <a:p>
            <a:pPr indent="0" lvl="0" marL="45720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p43"/>
          <p:cNvSpPr txBox="1"/>
          <p:nvPr>
            <p:ph type="title"/>
          </p:nvPr>
        </p:nvSpPr>
        <p:spPr>
          <a:xfrm>
            <a:off x="311700" y="351028"/>
            <a:ext cx="8520600" cy="92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Blockmodeling</a:t>
            </a:r>
            <a:endParaRPr/>
          </a:p>
        </p:txBody>
      </p:sp>
      <p:sp>
        <p:nvSpPr>
          <p:cNvPr id="468" name="Google Shape;468;p43"/>
          <p:cNvSpPr txBox="1"/>
          <p:nvPr>
            <p:ph idx="1" type="body"/>
          </p:nvPr>
        </p:nvSpPr>
        <p:spPr>
          <a:xfrm>
            <a:off x="311700" y="1361361"/>
            <a:ext cx="8520600" cy="372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For a given graph G, a blockmodel consists of two parts: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 partition P = {P</a:t>
            </a:r>
            <a:r>
              <a:rPr baseline="-25000" lang="en"/>
              <a:t>1</a:t>
            </a:r>
            <a:r>
              <a:rPr lang="en"/>
              <a:t>, P</a:t>
            </a:r>
            <a:r>
              <a:rPr baseline="-25000" lang="en"/>
              <a:t>2</a:t>
            </a:r>
            <a:r>
              <a:rPr lang="en"/>
              <a:t>, ...P</a:t>
            </a:r>
            <a:r>
              <a:rPr baseline="-25000" lang="en"/>
              <a:t>k</a:t>
            </a:r>
            <a:r>
              <a:rPr lang="en"/>
              <a:t>} into k disjoint subsets called the positions of G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 set of matrices B (called image matrices) that represent hypotheses on the relations between positions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Blockmodels build on minimal relaxations of structural equivalence that still correspond to some minimal numbers of positions in the network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From the point of view of the adjacency matrix A a blockmodel is defined as: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 permutation (shuffling of the rows and columns) of A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Such that vertices in the same position end up in consecutive rows and columns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p44"/>
          <p:cNvSpPr txBox="1"/>
          <p:nvPr>
            <p:ph type="title"/>
          </p:nvPr>
        </p:nvSpPr>
        <p:spPr>
          <a:xfrm>
            <a:off x="311700" y="351028"/>
            <a:ext cx="8520600" cy="92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Blockmodeling</a:t>
            </a:r>
            <a:endParaRPr/>
          </a:p>
        </p:txBody>
      </p:sp>
      <p:sp>
        <p:nvSpPr>
          <p:cNvPr id="474" name="Google Shape;474;p44"/>
          <p:cNvSpPr txBox="1"/>
          <p:nvPr>
            <p:ph idx="1" type="body"/>
          </p:nvPr>
        </p:nvSpPr>
        <p:spPr>
          <a:xfrm>
            <a:off x="311700" y="1361361"/>
            <a:ext cx="8520600" cy="372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Two basic approaches to blockmodeling: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So-called "deterministic" approaches (bottom-up, inductive)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So-called "stochastic" approaches (top-down, deductive)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Basic task in deterministic blockmodeling is to come up with a criterion for "approximate" equivalence: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</a:t>
            </a:r>
            <a:r>
              <a:rPr b="1" lang="en"/>
              <a:t>Euclidean distance</a:t>
            </a:r>
            <a:r>
              <a:rPr lang="en"/>
              <a:t> (Burt 1976)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</a:t>
            </a:r>
            <a:r>
              <a:rPr b="1" lang="en"/>
              <a:t> Pearson product-moment correlation</a:t>
            </a:r>
            <a:r>
              <a:rPr lang="en"/>
              <a:t> (Breiger, Boorman and Arabie 1975) 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8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p45"/>
          <p:cNvSpPr txBox="1"/>
          <p:nvPr>
            <p:ph type="title"/>
          </p:nvPr>
        </p:nvSpPr>
        <p:spPr>
          <a:xfrm>
            <a:off x="311700" y="351028"/>
            <a:ext cx="8520600" cy="92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Blockmodeling (Deterministic)</a:t>
            </a:r>
            <a:endParaRPr/>
          </a:p>
        </p:txBody>
      </p:sp>
      <p:sp>
        <p:nvSpPr>
          <p:cNvPr id="480" name="Google Shape;480;p45"/>
          <p:cNvSpPr txBox="1"/>
          <p:nvPr>
            <p:ph idx="1" type="body"/>
          </p:nvPr>
        </p:nvSpPr>
        <p:spPr>
          <a:xfrm>
            <a:off x="311700" y="1361361"/>
            <a:ext cx="8520600" cy="372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For two actors i and j, the Euclidean distance is defined as: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</p:txBody>
      </p:sp>
      <p:pic>
        <p:nvPicPr>
          <p:cNvPr id="481" name="Google Shape;481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39424" y="1968600"/>
            <a:ext cx="4465150" cy="758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82" name="Google Shape;482;p4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80338" y="3048015"/>
            <a:ext cx="6183313" cy="20399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6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p46"/>
          <p:cNvSpPr txBox="1"/>
          <p:nvPr>
            <p:ph type="title"/>
          </p:nvPr>
        </p:nvSpPr>
        <p:spPr>
          <a:xfrm>
            <a:off x="311700" y="351028"/>
            <a:ext cx="8520600" cy="92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Blockmodeling (Deterministic)</a:t>
            </a:r>
            <a:endParaRPr/>
          </a:p>
        </p:txBody>
      </p:sp>
      <p:sp>
        <p:nvSpPr>
          <p:cNvPr id="488" name="Google Shape;488;p46"/>
          <p:cNvSpPr txBox="1"/>
          <p:nvPr>
            <p:ph idx="1" type="body"/>
          </p:nvPr>
        </p:nvSpPr>
        <p:spPr>
          <a:xfrm>
            <a:off x="311700" y="1361357"/>
            <a:ext cx="8520600" cy="12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Burt's (1976) Euclidean distance approach, the basic idea is to: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Generate the distance matrix D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And the use a scaling method (e.g. MDS, hierarchical clustering) to come up with a reduced form representation of the various groups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489" name="Google Shape;489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80338" y="3048015"/>
            <a:ext cx="6183313" cy="20399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3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47"/>
          <p:cNvSpPr txBox="1"/>
          <p:nvPr>
            <p:ph type="title"/>
          </p:nvPr>
        </p:nvSpPr>
        <p:spPr>
          <a:xfrm>
            <a:off x="311700" y="351028"/>
            <a:ext cx="8520600" cy="92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Blockmodeling (Deterministic)</a:t>
            </a:r>
            <a:endParaRPr/>
          </a:p>
        </p:txBody>
      </p:sp>
      <p:sp>
        <p:nvSpPr>
          <p:cNvPr id="495" name="Google Shape;495;p47"/>
          <p:cNvSpPr txBox="1"/>
          <p:nvPr>
            <p:ph idx="1" type="body"/>
          </p:nvPr>
        </p:nvSpPr>
        <p:spPr>
          <a:xfrm>
            <a:off x="311700" y="1361356"/>
            <a:ext cx="8520600" cy="168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For a given adjacency matrix A, the correlation matrix C is the matrix containing the Pearson product moment correlations between the respective row and columns for two actors r</a:t>
            </a:r>
            <a:r>
              <a:rPr baseline="-25000" lang="en"/>
              <a:t>ij</a:t>
            </a:r>
            <a:endParaRPr baseline="-25000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496" name="Google Shape;496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80338" y="3048015"/>
            <a:ext cx="6183313" cy="20399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0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p48"/>
          <p:cNvSpPr txBox="1"/>
          <p:nvPr>
            <p:ph type="title"/>
          </p:nvPr>
        </p:nvSpPr>
        <p:spPr>
          <a:xfrm>
            <a:off x="311700" y="351028"/>
            <a:ext cx="8520600" cy="92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Blockmodeling (Deterministic)</a:t>
            </a:r>
            <a:endParaRPr/>
          </a:p>
        </p:txBody>
      </p:sp>
      <p:sp>
        <p:nvSpPr>
          <p:cNvPr id="502" name="Google Shape;502;p48"/>
          <p:cNvSpPr txBox="1"/>
          <p:nvPr>
            <p:ph idx="1" type="body"/>
          </p:nvPr>
        </p:nvSpPr>
        <p:spPr>
          <a:xfrm>
            <a:off x="311700" y="1361356"/>
            <a:ext cx="8520600" cy="157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Breiger, Boorman and Arabie's CONCOR strategy, the basic idea is to: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Generate the (initial) correlation matrix C</a:t>
            </a:r>
            <a:r>
              <a:rPr baseline="-25000" lang="en"/>
              <a:t>1</a:t>
            </a:r>
            <a:r>
              <a:rPr lang="en"/>
              <a:t> from A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Iteratively obtain further correlation matrices of correlation matrices {C</a:t>
            </a:r>
            <a:r>
              <a:rPr baseline="-25000" lang="en"/>
              <a:t>2,</a:t>
            </a:r>
            <a:r>
              <a:rPr lang="en"/>
              <a:t> C</a:t>
            </a:r>
            <a:r>
              <a:rPr baseline="-25000" lang="en"/>
              <a:t>3</a:t>
            </a:r>
            <a:r>
              <a:rPr lang="en"/>
              <a:t>, ...}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until we have a "final" correlation matrix C</a:t>
            </a:r>
            <a:r>
              <a:rPr baseline="-25000" lang="en"/>
              <a:t>k</a:t>
            </a:r>
            <a:r>
              <a:rPr lang="en"/>
              <a:t> that contains only +1 and -1 entries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Place actors that have +1 relations next to another</a:t>
            </a:r>
            <a:endParaRPr/>
          </a:p>
        </p:txBody>
      </p:sp>
      <p:pic>
        <p:nvPicPr>
          <p:cNvPr id="503" name="Google Shape;503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80338" y="3048015"/>
            <a:ext cx="6183313" cy="20399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7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p49"/>
          <p:cNvSpPr txBox="1"/>
          <p:nvPr>
            <p:ph type="title"/>
          </p:nvPr>
        </p:nvSpPr>
        <p:spPr>
          <a:xfrm>
            <a:off x="311700" y="351028"/>
            <a:ext cx="8520600" cy="92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Generalized and </a:t>
            </a:r>
            <a:r>
              <a:rPr lang="en"/>
              <a:t>Stochastic</a:t>
            </a:r>
            <a:r>
              <a:rPr lang="en"/>
              <a:t> blockmodeling</a:t>
            </a:r>
            <a:endParaRPr/>
          </a:p>
        </p:txBody>
      </p:sp>
      <p:sp>
        <p:nvSpPr>
          <p:cNvPr id="509" name="Google Shape;509;p49"/>
          <p:cNvSpPr txBox="1"/>
          <p:nvPr>
            <p:ph idx="1" type="body"/>
          </p:nvPr>
        </p:nvSpPr>
        <p:spPr>
          <a:xfrm>
            <a:off x="311700" y="1361350"/>
            <a:ext cx="4765500" cy="372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</a:t>
            </a:r>
            <a:r>
              <a:rPr b="1" lang="en"/>
              <a:t>generalized blockmodeling </a:t>
            </a:r>
            <a:r>
              <a:rPr lang="en"/>
              <a:t>an idealized "image" of the role structure is pre-specified in advance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We then use statistical techniques to ascertain how close the observed network is to the specified structure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We may choose from a "canned" list of theoretically interesting patterns of role relations</a:t>
            </a:r>
            <a:endParaRPr/>
          </a:p>
        </p:txBody>
      </p:sp>
      <p:pic>
        <p:nvPicPr>
          <p:cNvPr id="510" name="Google Shape;510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77200" y="1404175"/>
            <a:ext cx="3755099" cy="380037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4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50"/>
          <p:cNvSpPr txBox="1"/>
          <p:nvPr>
            <p:ph type="title"/>
          </p:nvPr>
        </p:nvSpPr>
        <p:spPr>
          <a:xfrm>
            <a:off x="311700" y="351028"/>
            <a:ext cx="8520600" cy="92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Types of canned “inter-block” relations</a:t>
            </a:r>
            <a:endParaRPr/>
          </a:p>
        </p:txBody>
      </p:sp>
      <p:sp>
        <p:nvSpPr>
          <p:cNvPr id="516" name="Google Shape;516;p50"/>
          <p:cNvSpPr txBox="1"/>
          <p:nvPr>
            <p:ph idx="1" type="body"/>
          </p:nvPr>
        </p:nvSpPr>
        <p:spPr>
          <a:xfrm>
            <a:off x="311700" y="1361350"/>
            <a:ext cx="4714200" cy="372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" sz="1400"/>
              <a:t>Complete</a:t>
            </a:r>
            <a:endParaRPr b="1"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" sz="1400"/>
              <a:t>Row(Column) Dominant	</a:t>
            </a:r>
            <a:endParaRPr b="1" sz="1400"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 sz="1200"/>
              <a:t>A block has at least one unit in </a:t>
            </a:r>
            <a:r>
              <a:rPr b="1" lang="en" sz="1200">
                <a:solidFill>
                  <a:srgbClr val="CC4125"/>
                </a:solidFill>
              </a:rPr>
              <a:t>A</a:t>
            </a:r>
            <a:r>
              <a:rPr lang="en" sz="1200">
                <a:solidFill>
                  <a:srgbClr val="000000"/>
                </a:solidFill>
              </a:rPr>
              <a:t>(</a:t>
            </a:r>
            <a:r>
              <a:rPr b="1" lang="en" sz="1200">
                <a:solidFill>
                  <a:srgbClr val="00FFFF"/>
                </a:solidFill>
              </a:rPr>
              <a:t>B</a:t>
            </a:r>
            <a:r>
              <a:rPr lang="en" sz="1200">
                <a:solidFill>
                  <a:srgbClr val="000000"/>
                </a:solidFill>
              </a:rPr>
              <a:t>)</a:t>
            </a:r>
            <a:r>
              <a:rPr b="1" lang="en" sz="1200"/>
              <a:t> </a:t>
            </a:r>
            <a:r>
              <a:rPr lang="en" sz="1200"/>
              <a:t>that sends(receives) ties to(from) all units in </a:t>
            </a:r>
            <a:r>
              <a:rPr b="1" lang="en" sz="1200">
                <a:solidFill>
                  <a:srgbClr val="00FFFF"/>
                </a:solidFill>
              </a:rPr>
              <a:t>B</a:t>
            </a:r>
            <a:r>
              <a:rPr lang="en" sz="1200">
                <a:solidFill>
                  <a:srgbClr val="000000"/>
                </a:solidFill>
              </a:rPr>
              <a:t>(</a:t>
            </a:r>
            <a:r>
              <a:rPr b="1" lang="en" sz="1200">
                <a:solidFill>
                  <a:srgbClr val="CC4125"/>
                </a:solidFill>
              </a:rPr>
              <a:t>A</a:t>
            </a:r>
            <a:r>
              <a:rPr lang="en" sz="1200">
                <a:solidFill>
                  <a:srgbClr val="000000"/>
                </a:solidFill>
              </a:rPr>
              <a:t>)</a:t>
            </a:r>
            <a:endParaRPr sz="1200">
              <a:solidFill>
                <a:srgbClr val="000000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" sz="1400"/>
              <a:t>Regular</a:t>
            </a:r>
            <a:endParaRPr b="1" sz="1400"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 sz="1200"/>
              <a:t>Each unit in </a:t>
            </a:r>
            <a:r>
              <a:rPr b="1" lang="en" sz="1200">
                <a:solidFill>
                  <a:srgbClr val="CC4125"/>
                </a:solidFill>
              </a:rPr>
              <a:t>A</a:t>
            </a:r>
            <a:r>
              <a:rPr b="1" lang="en" sz="1200"/>
              <a:t> </a:t>
            </a:r>
            <a:r>
              <a:rPr lang="en" sz="1200"/>
              <a:t>sends to at least one unit in </a:t>
            </a:r>
            <a:r>
              <a:rPr b="1" lang="en" sz="1200">
                <a:solidFill>
                  <a:srgbClr val="00FFFF"/>
                </a:solidFill>
              </a:rPr>
              <a:t>B</a:t>
            </a:r>
            <a:r>
              <a:rPr lang="en" sz="1200">
                <a:solidFill>
                  <a:srgbClr val="00FFFF"/>
                </a:solidFill>
              </a:rPr>
              <a:t> </a:t>
            </a:r>
            <a:r>
              <a:rPr lang="en" sz="1200"/>
              <a:t>and each unit in </a:t>
            </a:r>
            <a:r>
              <a:rPr b="1" lang="en" sz="1200">
                <a:solidFill>
                  <a:srgbClr val="00FFFF"/>
                </a:solidFill>
              </a:rPr>
              <a:t>B</a:t>
            </a:r>
            <a:r>
              <a:rPr lang="en" sz="1200"/>
              <a:t> receives from at least one unit in </a:t>
            </a:r>
            <a:r>
              <a:rPr b="1" lang="en" sz="1200">
                <a:solidFill>
                  <a:srgbClr val="CC4125"/>
                </a:solidFill>
              </a:rPr>
              <a:t>A</a:t>
            </a:r>
            <a:endParaRPr b="1" sz="1200">
              <a:solidFill>
                <a:srgbClr val="CC4125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" sz="1400"/>
              <a:t>Row(Column) Regular</a:t>
            </a:r>
            <a:endParaRPr b="1" sz="1400"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 sz="1200"/>
              <a:t>Each unit in </a:t>
            </a:r>
            <a:r>
              <a:rPr b="1" lang="en" sz="1200">
                <a:solidFill>
                  <a:srgbClr val="CC4125"/>
                </a:solidFill>
              </a:rPr>
              <a:t>A</a:t>
            </a:r>
            <a:r>
              <a:rPr lang="en" sz="1200">
                <a:solidFill>
                  <a:srgbClr val="000000"/>
                </a:solidFill>
              </a:rPr>
              <a:t>(</a:t>
            </a:r>
            <a:r>
              <a:rPr b="1" lang="en" sz="1200">
                <a:solidFill>
                  <a:srgbClr val="00FFFF"/>
                </a:solidFill>
              </a:rPr>
              <a:t>B</a:t>
            </a:r>
            <a:r>
              <a:rPr lang="en" sz="1200"/>
              <a:t>) sends(</a:t>
            </a:r>
            <a:r>
              <a:rPr lang="en" sz="1200"/>
              <a:t>receives</a:t>
            </a:r>
            <a:r>
              <a:rPr lang="en" sz="1200"/>
              <a:t>) to(from) at least one unit in </a:t>
            </a:r>
            <a:r>
              <a:rPr b="1" lang="en" sz="1200">
                <a:solidFill>
                  <a:srgbClr val="00FFFF"/>
                </a:solidFill>
              </a:rPr>
              <a:t>B</a:t>
            </a:r>
            <a:r>
              <a:rPr lang="en" sz="1200"/>
              <a:t>(</a:t>
            </a:r>
            <a:r>
              <a:rPr b="1" lang="en" sz="1200">
                <a:solidFill>
                  <a:srgbClr val="CC4125"/>
                </a:solidFill>
              </a:rPr>
              <a:t>A</a:t>
            </a:r>
            <a:r>
              <a:rPr lang="en" sz="1200"/>
              <a:t>)</a:t>
            </a:r>
            <a:endParaRPr sz="12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" sz="1400"/>
              <a:t>Null</a:t>
            </a:r>
            <a:endParaRPr b="1"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" sz="1400"/>
              <a:t>Row(Column) Functional</a:t>
            </a:r>
            <a:endParaRPr b="1" sz="1400"/>
          </a:p>
          <a:p>
            <a:pPr indent="-3048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 sz="1200"/>
              <a:t>E</a:t>
            </a:r>
            <a:r>
              <a:rPr lang="en" sz="1200"/>
              <a:t>ach unit in </a:t>
            </a:r>
            <a:r>
              <a:rPr b="1" lang="en" sz="1200">
                <a:solidFill>
                  <a:srgbClr val="00FFFF"/>
                </a:solidFill>
              </a:rPr>
              <a:t>B</a:t>
            </a:r>
            <a:r>
              <a:rPr lang="en" sz="1200"/>
              <a:t>(</a:t>
            </a:r>
            <a:r>
              <a:rPr b="1" lang="en" sz="1200">
                <a:solidFill>
                  <a:srgbClr val="CC4125"/>
                </a:solidFill>
              </a:rPr>
              <a:t>A</a:t>
            </a:r>
            <a:r>
              <a:rPr lang="en" sz="1200"/>
              <a:t>) receives(sends) ties from(to) at least one unit in </a:t>
            </a:r>
            <a:r>
              <a:rPr b="1" lang="en" sz="1200">
                <a:solidFill>
                  <a:srgbClr val="CC4125"/>
                </a:solidFill>
              </a:rPr>
              <a:t>A</a:t>
            </a:r>
            <a:r>
              <a:rPr lang="en" sz="1200"/>
              <a:t>(</a:t>
            </a:r>
            <a:r>
              <a:rPr b="1" lang="en" sz="1200">
                <a:solidFill>
                  <a:srgbClr val="00FFFF"/>
                </a:solidFill>
              </a:rPr>
              <a:t>B</a:t>
            </a:r>
            <a:r>
              <a:rPr lang="en" sz="1200"/>
              <a:t>)</a:t>
            </a:r>
            <a:endParaRPr sz="1200"/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1200"/>
          </a:p>
        </p:txBody>
      </p:sp>
      <p:pic>
        <p:nvPicPr>
          <p:cNvPr descr="Screenshot 2017-11-01 at 22.49.05.png" id="517" name="Google Shape;517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25800" y="1361349"/>
            <a:ext cx="3806498" cy="3726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p51"/>
          <p:cNvSpPr txBox="1"/>
          <p:nvPr>
            <p:ph type="title"/>
          </p:nvPr>
        </p:nvSpPr>
        <p:spPr>
          <a:xfrm>
            <a:off x="311700" y="351028"/>
            <a:ext cx="8520600" cy="92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Extensions of blockmodeling</a:t>
            </a:r>
            <a:endParaRPr/>
          </a:p>
        </p:txBody>
      </p:sp>
      <p:sp>
        <p:nvSpPr>
          <p:cNvPr id="523" name="Google Shape;523;p51"/>
          <p:cNvSpPr txBox="1"/>
          <p:nvPr>
            <p:ph idx="1" type="body"/>
          </p:nvPr>
        </p:nvSpPr>
        <p:spPr>
          <a:xfrm>
            <a:off x="311700" y="1361361"/>
            <a:ext cx="8520600" cy="372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Blockmodeling for two mode networks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Blockmodeling for valued graphs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Blockmodeling for </a:t>
            </a:r>
            <a:r>
              <a:rPr lang="en"/>
              <a:t>multi-relational</a:t>
            </a:r>
            <a:r>
              <a:rPr lang="en"/>
              <a:t> networks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all cases procedure is similar: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Come up with a </a:t>
            </a:r>
            <a:r>
              <a:rPr b="1" lang="en"/>
              <a:t>Blocking</a:t>
            </a:r>
            <a:r>
              <a:rPr lang="en"/>
              <a:t> criterion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The Blocking criterion produces:</a:t>
            </a:r>
            <a:endParaRPr/>
          </a:p>
          <a:p>
            <a:pPr indent="-317500" lvl="3" marL="18288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A (dis)similarity matrix between nodes</a:t>
            </a:r>
            <a:endParaRPr/>
          </a:p>
          <a:p>
            <a:pPr indent="-317500" lvl="3" marL="18288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A clustering of nodes into classes: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Come up with a </a:t>
            </a:r>
            <a:r>
              <a:rPr b="1" lang="en"/>
              <a:t>Modelling </a:t>
            </a:r>
            <a:r>
              <a:rPr lang="en"/>
              <a:t>criterion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The modelling criterion produces:</a:t>
            </a:r>
            <a:endParaRPr/>
          </a:p>
          <a:p>
            <a:pPr indent="-317500" lvl="3" marL="18288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A reduced </a:t>
            </a:r>
            <a:r>
              <a:rPr b="1" lang="en"/>
              <a:t>image matrix</a:t>
            </a:r>
            <a:r>
              <a:rPr lang="en"/>
              <a:t> of blocks and their internal and external relations</a:t>
            </a:r>
            <a:endParaRPr/>
          </a:p>
          <a:p>
            <a:pPr indent="-317500" lvl="3" marL="18288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Which may (or may not) be compared to a hypothesized ideal image matrix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Luxe">
  <a:themeElements>
    <a:clrScheme name="Luxe">
      <a:dk1>
        <a:srgbClr val="000000"/>
      </a:dk1>
      <a:lt1>
        <a:srgbClr val="FFFFFF"/>
      </a:lt1>
      <a:dk2>
        <a:srgbClr val="B7B7B7"/>
      </a:dk2>
      <a:lt2>
        <a:srgbClr val="CCA677"/>
      </a:lt2>
      <a:accent1>
        <a:srgbClr val="5D4037"/>
      </a:accent1>
      <a:accent2>
        <a:srgbClr val="455A64"/>
      </a:accent2>
      <a:accent3>
        <a:srgbClr val="607D8B"/>
      </a:accent3>
      <a:accent4>
        <a:srgbClr val="78909C"/>
      </a:accent4>
      <a:accent5>
        <a:srgbClr val="57BB8A"/>
      </a:accent5>
      <a:accent6>
        <a:srgbClr val="DCE755"/>
      </a:accent6>
      <a:hlink>
        <a:srgbClr val="57BB8A"/>
      </a:hlink>
      <a:folHlink>
        <a:srgbClr val="57BB8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