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autoCompressPictures="0" embedTrueTypeFonts="1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</p:sldIdLst>
  <p:sldSz cy="5143500" cx="9144000"/>
  <p:notesSz cx="6858000" cy="9144000"/>
  <p:embeddedFontLst>
    <p:embeddedFont>
      <p:font typeface="Economica"/>
      <p:regular r:id="rId13"/>
      <p:bold r:id="rId14"/>
      <p:italic r:id="rId15"/>
      <p:boldItalic r:id="rId16"/>
    </p:embeddedFont>
    <p:embeddedFont>
      <p:font typeface="Linden Hill"/>
      <p:regular r:id="rId17"/>
      <p:italic r:id="rId18"/>
    </p:embeddedFont>
    <p:embeddedFont>
      <p:font typeface="Open Sans"/>
      <p:regular r:id="rId19"/>
      <p:bold r:id="rId20"/>
      <p:italic r:id="rId21"/>
      <p:boldItalic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OpenSans-bold.fntdata"/><Relationship Id="rId11" Type="http://schemas.openxmlformats.org/officeDocument/2006/relationships/slide" Target="slides/slide7.xml"/><Relationship Id="rId22" Type="http://schemas.openxmlformats.org/officeDocument/2006/relationships/font" Target="fonts/OpenSans-boldItalic.fntdata"/><Relationship Id="rId10" Type="http://schemas.openxmlformats.org/officeDocument/2006/relationships/slide" Target="slides/slide6.xml"/><Relationship Id="rId21" Type="http://schemas.openxmlformats.org/officeDocument/2006/relationships/font" Target="fonts/OpenSans-italic.fntdata"/><Relationship Id="rId13" Type="http://schemas.openxmlformats.org/officeDocument/2006/relationships/font" Target="fonts/Economica-regular.fntdata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font" Target="fonts/Economica-italic.fntdata"/><Relationship Id="rId14" Type="http://schemas.openxmlformats.org/officeDocument/2006/relationships/font" Target="fonts/Economica-bold.fntdata"/><Relationship Id="rId17" Type="http://schemas.openxmlformats.org/officeDocument/2006/relationships/font" Target="fonts/LindenHill-regular.fntdata"/><Relationship Id="rId16" Type="http://schemas.openxmlformats.org/officeDocument/2006/relationships/font" Target="fonts/Economica-boldItalic.fntdata"/><Relationship Id="rId5" Type="http://schemas.openxmlformats.org/officeDocument/2006/relationships/slide" Target="slides/slide1.xml"/><Relationship Id="rId19" Type="http://schemas.openxmlformats.org/officeDocument/2006/relationships/font" Target="fonts/OpenSans-regular.fntdata"/><Relationship Id="rId6" Type="http://schemas.openxmlformats.org/officeDocument/2006/relationships/slide" Target="slides/slide2.xml"/><Relationship Id="rId18" Type="http://schemas.openxmlformats.org/officeDocument/2006/relationships/font" Target="fonts/LindenHill-italic.fnt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25f13d4ff3_0_1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25f13d4ff3_0_1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25f13d4ff3_0_1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25f13d4ff3_0_1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25f13d4ff3_0_1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25f13d4ff3_0_1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25f13d4ff3_0_1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25f13d4ff3_0_1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25f13d4ff3_0_1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25f13d4ff3_0_1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25f13d4ff3_0_1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25f13d4ff3_0_1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25f13d4ff3_0_2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25f13d4ff3_0_2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2744013" y="756700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1" name="Google Shape;11;p2"/>
          <p:cNvSpPr/>
          <p:nvPr/>
        </p:nvSpPr>
        <p:spPr>
          <a:xfrm rot="10800000">
            <a:off x="5318350" y="32667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044700" y="1444255"/>
            <a:ext cx="3054600" cy="153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3044700" y="3116580"/>
            <a:ext cx="3054600" cy="70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 flipH="1">
            <a:off x="7595938" y="4602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7" name="Google Shape;17;p3"/>
          <p:cNvSpPr/>
          <p:nvPr/>
        </p:nvSpPr>
        <p:spPr>
          <a:xfrm flipH="1" rot="10800000">
            <a:off x="466425" y="35583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8" name="Google Shape;18;p3"/>
          <p:cNvSpPr txBox="1"/>
          <p:nvPr>
            <p:ph type="title"/>
          </p:nvPr>
        </p:nvSpPr>
        <p:spPr>
          <a:xfrm>
            <a:off x="773700" y="1806450"/>
            <a:ext cx="7596600" cy="153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body" type="tx">
  <p:cSld name="TITLE_AND_BOD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two columns" type="twoColTx">
  <p:cSld name="TITLE_AND_TWO_COLUMNS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27" name="Google Shape;27;p5"/>
          <p:cNvSpPr txBox="1"/>
          <p:nvPr>
            <p:ph idx="1" type="body"/>
          </p:nvPr>
        </p:nvSpPr>
        <p:spPr>
          <a:xfrm>
            <a:off x="311700" y="1225225"/>
            <a:ext cx="39999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5"/>
          <p:cNvSpPr txBox="1"/>
          <p:nvPr>
            <p:ph idx="2" type="body"/>
          </p:nvPr>
        </p:nvSpPr>
        <p:spPr>
          <a:xfrm>
            <a:off x="4832400" y="1225225"/>
            <a:ext cx="39999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only" type="titleOnly">
  <p:cSld name="TITLE_ONLY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32" name="Google Shape;32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One column text">
  <p:cSld name="ONE_COLUMN_TEX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5" name="Google Shape;35;p7"/>
          <p:cNvSpPr txBox="1"/>
          <p:nvPr>
            <p:ph idx="1" type="body"/>
          </p:nvPr>
        </p:nvSpPr>
        <p:spPr>
          <a:xfrm>
            <a:off x="311700" y="1399400"/>
            <a:ext cx="2808000" cy="278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6" name="Google Shape;36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Main point">
  <p:cSld name="MAIN_POINT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8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8"/>
          <p:cNvSpPr txBox="1"/>
          <p:nvPr>
            <p:ph type="title"/>
          </p:nvPr>
        </p:nvSpPr>
        <p:spPr>
          <a:xfrm>
            <a:off x="490250" y="450150"/>
            <a:ext cx="5878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0" name="Google Shape;4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Section title and description">
  <p:cSld name="SECTION_TITLE_AND_DESCRIPTION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9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3" name="Google Shape;43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4" name="Google Shape;44;p9"/>
          <p:cNvSpPr txBox="1"/>
          <p:nvPr>
            <p:ph type="title"/>
          </p:nvPr>
        </p:nvSpPr>
        <p:spPr>
          <a:xfrm>
            <a:off x="265500" y="929275"/>
            <a:ext cx="4045200" cy="1786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45" name="Google Shape;45;p9"/>
          <p:cNvSpPr txBox="1"/>
          <p:nvPr>
            <p:ph idx="1" type="subTitle"/>
          </p:nvPr>
        </p:nvSpPr>
        <p:spPr>
          <a:xfrm>
            <a:off x="265500" y="2769001"/>
            <a:ext cx="4045200" cy="157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46" name="Google Shape;46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Caption">
  <p:cSld name="CAPTION_ONLY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0"/>
          <p:cNvSpPr txBox="1"/>
          <p:nvPr>
            <p:ph idx="1" type="body"/>
          </p:nvPr>
        </p:nvSpPr>
        <p:spPr>
          <a:xfrm>
            <a:off x="319500" y="42189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</a:lstStyle>
          <a:p/>
        </p:txBody>
      </p:sp>
      <p:sp>
        <p:nvSpPr>
          <p:cNvPr id="50" name="Google Shape;50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Big number">
  <p:cSld name="BIG_NUMBER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1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11"/>
          <p:cNvSpPr txBox="1"/>
          <p:nvPr>
            <p:ph hasCustomPrompt="1" type="title"/>
          </p:nvPr>
        </p:nvSpPr>
        <p:spPr>
          <a:xfrm>
            <a:off x="311700" y="957125"/>
            <a:ext cx="8520600" cy="212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4" name="Google Shape;54;p11"/>
          <p:cNvSpPr txBox="1"/>
          <p:nvPr>
            <p:ph idx="1" type="body"/>
          </p:nvPr>
        </p:nvSpPr>
        <p:spPr>
          <a:xfrm>
            <a:off x="311700" y="3162000"/>
            <a:ext cx="85206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5" name="Google Shape;55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Blank" type="blank">
  <p:cSld name="BLANK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 name="lux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  <a:def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3"/>
          <p:cNvSpPr txBox="1"/>
          <p:nvPr>
            <p:ph type="ctrTitle"/>
          </p:nvPr>
        </p:nvSpPr>
        <p:spPr>
          <a:xfrm>
            <a:off x="3044700" y="1444255"/>
            <a:ext cx="3054600" cy="153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Network Measurement </a:t>
            </a:r>
            <a:endParaRPr/>
          </a:p>
        </p:txBody>
      </p:sp>
      <p:sp>
        <p:nvSpPr>
          <p:cNvPr id="63" name="Google Shape;63;p13"/>
          <p:cNvSpPr txBox="1"/>
          <p:nvPr>
            <p:ph idx="1" type="subTitle"/>
          </p:nvPr>
        </p:nvSpPr>
        <p:spPr>
          <a:xfrm>
            <a:off x="3044700" y="3116580"/>
            <a:ext cx="3054600" cy="70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Types of Network Data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Where does network data come from?</a:t>
            </a:r>
            <a:endParaRPr/>
          </a:p>
        </p:txBody>
      </p:sp>
      <p:sp>
        <p:nvSpPr>
          <p:cNvPr id="69" name="Google Shape;69;p14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Surveys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You </a:t>
            </a:r>
            <a:r>
              <a:rPr b="1" lang="en"/>
              <a:t>ask</a:t>
            </a:r>
            <a:r>
              <a:rPr lang="en"/>
              <a:t> people about their relations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Best approach for the collection of </a:t>
            </a:r>
            <a:r>
              <a:rPr b="1" lang="en"/>
              <a:t>ego network </a:t>
            </a:r>
            <a:r>
              <a:rPr lang="en"/>
              <a:t>data </a:t>
            </a:r>
            <a:endParaRPr/>
          </a:p>
          <a:p>
            <a:pPr indent="-317500" lvl="3" marL="18288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Next class!</a:t>
            </a:r>
            <a:endParaRPr/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</a:pPr>
            <a:r>
              <a:rPr lang="en"/>
              <a:t>Direct Observation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You </a:t>
            </a:r>
            <a:r>
              <a:rPr b="1" lang="en"/>
              <a:t>go</a:t>
            </a:r>
            <a:r>
              <a:rPr lang="en"/>
              <a:t> to a site and </a:t>
            </a:r>
            <a:r>
              <a:rPr b="1" lang="en"/>
              <a:t>record</a:t>
            </a:r>
            <a:r>
              <a:rPr lang="en"/>
              <a:t> interactions between people</a:t>
            </a:r>
            <a:endParaRPr/>
          </a:p>
          <a:p>
            <a: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Classrooms</a:t>
            </a:r>
            <a:endParaRPr/>
          </a:p>
          <a:p>
            <a: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Neighborhoods</a:t>
            </a:r>
            <a:endParaRPr/>
          </a:p>
          <a:p>
            <a: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Karate Club</a:t>
            </a:r>
            <a:endParaRPr/>
          </a:p>
          <a:p>
            <a: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Monastery </a:t>
            </a:r>
            <a:endParaRPr/>
          </a:p>
          <a:p>
            <a: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Frat House</a:t>
            </a:r>
            <a:endParaRPr/>
          </a:p>
          <a:p>
            <a: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Beach?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Where does network data come from?</a:t>
            </a:r>
            <a:endParaRPr/>
          </a:p>
        </p:txBody>
      </p:sp>
      <p:sp>
        <p:nvSpPr>
          <p:cNvPr id="75" name="Google Shape;75;p15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Archives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You find independent records recording the (direct or indirect) relations between people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i="1" lang="en"/>
              <a:t>Old Fashioned</a:t>
            </a:r>
            <a:endParaRPr i="1"/>
          </a:p>
          <a:p>
            <a:pPr indent="-317500" lvl="3" marL="18288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Organizational rosters recording common memberships</a:t>
            </a:r>
            <a:endParaRPr/>
          </a:p>
          <a:p>
            <a:pPr indent="-317500" lvl="3" marL="18288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Letters or other snail-type correspondence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i="1" lang="en"/>
              <a:t>Newfangled </a:t>
            </a:r>
            <a:endParaRPr i="1"/>
          </a:p>
          <a:p>
            <a:pPr indent="-317500" lvl="3" marL="18288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Email logs</a:t>
            </a:r>
            <a:endParaRPr/>
          </a:p>
          <a:p>
            <a:pPr indent="-317500" lvl="3" marL="18288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Electronic communications logs (e.g. texts, calls, snapchat, messenger)</a:t>
            </a:r>
            <a:endParaRPr/>
          </a:p>
          <a:p>
            <a:pPr indent="-317500" lvl="3" marL="18288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Social media (e.g. Facebook, twitter, instagram)</a:t>
            </a:r>
            <a:endParaRPr/>
          </a:p>
          <a:p>
            <a:pPr indent="-317500" lvl="3" marL="18288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Dating websites (e.g. OK Cupid, Tinder, Grindr)</a:t>
            </a:r>
            <a:endParaRPr/>
          </a:p>
          <a:p>
            <a:pPr indent="-317500" lvl="3" marL="18288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Virtual memberships  (e.g. chat boards, newsgroups)</a:t>
            </a:r>
            <a:endParaRPr/>
          </a:p>
          <a:p>
            <a:pPr indent="-317500" lvl="3" marL="18288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Electronic consumption records (e.g. Amazon, Reddit, Netflix, Imgur, etc.)</a:t>
            </a:r>
            <a:endParaRPr/>
          </a:p>
          <a:p>
            <a:pPr indent="-317500" lvl="3" marL="18288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Blogs and electronic journals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do you store network data?</a:t>
            </a:r>
            <a:endParaRPr/>
          </a:p>
        </p:txBody>
      </p:sp>
      <p:sp>
        <p:nvSpPr>
          <p:cNvPr id="81" name="Google Shape;81;p16"/>
          <p:cNvSpPr txBox="1"/>
          <p:nvPr>
            <p:ph idx="1" type="body"/>
          </p:nvPr>
        </p:nvSpPr>
        <p:spPr>
          <a:xfrm>
            <a:off x="311700" y="1225225"/>
            <a:ext cx="43290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</a:pPr>
            <a:r>
              <a:rPr lang="en"/>
              <a:t>First: Give each vertex in the network a unique identifier!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Usually consecutive integers: </a:t>
            </a:r>
            <a:endParaRPr/>
          </a:p>
          <a:p>
            <a: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1, 2, 3...</a:t>
            </a:r>
            <a:r>
              <a:rPr i="1" lang="en"/>
              <a:t>N</a:t>
            </a:r>
            <a:endParaRPr/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Second: Pick a storage format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Adjacency Matrices</a:t>
            </a:r>
            <a:endParaRPr b="1"/>
          </a:p>
          <a:p>
            <a: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Fine for small to medium size networks</a:t>
            </a:r>
            <a:endParaRPr/>
          </a:p>
          <a:p>
            <a: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Gets cumbersome for large, sparse networks</a:t>
            </a:r>
            <a:endParaRPr/>
          </a:p>
          <a:p>
            <a:pPr indent="0" lvl="0" marL="4572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descr="5.-Undirected-Graph-Adjacency-Matrix.png" id="82" name="Google Shape;82;p16"/>
          <p:cNvPicPr preferRelativeResize="0"/>
          <p:nvPr/>
        </p:nvPicPr>
        <p:blipFill rotWithShape="1">
          <a:blip r:embed="rId3">
            <a:alphaModFix/>
          </a:blip>
          <a:srcRect b="16429" l="0" r="0" t="0"/>
          <a:stretch/>
        </p:blipFill>
        <p:spPr>
          <a:xfrm>
            <a:off x="4640700" y="1762075"/>
            <a:ext cx="4239951" cy="228029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do you store network data?</a:t>
            </a:r>
            <a:endParaRPr/>
          </a:p>
        </p:txBody>
      </p:sp>
      <p:sp>
        <p:nvSpPr>
          <p:cNvPr id="88" name="Google Shape;88;p17"/>
          <p:cNvSpPr txBox="1"/>
          <p:nvPr>
            <p:ph idx="1" type="body"/>
          </p:nvPr>
        </p:nvSpPr>
        <p:spPr>
          <a:xfrm>
            <a:off x="311700" y="1225225"/>
            <a:ext cx="43290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</a:pPr>
            <a:r>
              <a:rPr lang="en"/>
              <a:t>First: Give each vertex in the network a unique identifier!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Usually consecutive integers: </a:t>
            </a:r>
            <a:endParaRPr/>
          </a:p>
          <a:p>
            <a: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1, 2, 3...</a:t>
            </a:r>
            <a:r>
              <a:rPr i="1" lang="en"/>
              <a:t>N</a:t>
            </a:r>
            <a:endParaRPr/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Second: Pick a storage format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Adjacency Lists</a:t>
            </a:r>
            <a:endParaRPr b="1"/>
          </a:p>
          <a:p>
            <a: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More efficient for large, sparse networks</a:t>
            </a:r>
            <a:endParaRPr/>
          </a:p>
          <a:p>
            <a: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Can be used in traditional statistical packages</a:t>
            </a:r>
            <a:endParaRPr/>
          </a:p>
          <a:p>
            <a:pPr indent="0" lvl="0" marL="4572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grpSp>
        <p:nvGrpSpPr>
          <p:cNvPr id="89" name="Google Shape;89;p17"/>
          <p:cNvGrpSpPr/>
          <p:nvPr/>
        </p:nvGrpSpPr>
        <p:grpSpPr>
          <a:xfrm>
            <a:off x="5375550" y="1225225"/>
            <a:ext cx="2623831" cy="3354000"/>
            <a:chOff x="5375550" y="1225225"/>
            <a:chExt cx="2623831" cy="3354000"/>
          </a:xfrm>
        </p:grpSpPr>
        <p:pic>
          <p:nvPicPr>
            <p:cNvPr descr="Screenshot 2017-09-05 at 08.57.15.png" id="90" name="Google Shape;90;p1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5626875" y="1225225"/>
              <a:ext cx="2372506" cy="3354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1" name="Google Shape;91;p17"/>
            <p:cNvSpPr txBox="1"/>
            <p:nvPr/>
          </p:nvSpPr>
          <p:spPr>
            <a:xfrm>
              <a:off x="5375550" y="2726450"/>
              <a:ext cx="2223600" cy="2997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do you store network data?</a:t>
            </a:r>
            <a:endParaRPr/>
          </a:p>
        </p:txBody>
      </p:sp>
      <p:sp>
        <p:nvSpPr>
          <p:cNvPr id="97" name="Google Shape;97;p18"/>
          <p:cNvSpPr txBox="1"/>
          <p:nvPr>
            <p:ph idx="1" type="body"/>
          </p:nvPr>
        </p:nvSpPr>
        <p:spPr>
          <a:xfrm>
            <a:off x="311700" y="1225225"/>
            <a:ext cx="43290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</a:pPr>
            <a:r>
              <a:rPr lang="en"/>
              <a:t>First: Give each vertex in the network a unique identifier!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Usually consecutive integers: </a:t>
            </a:r>
            <a:endParaRPr/>
          </a:p>
          <a:p>
            <a: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1, 2, 3...</a:t>
            </a:r>
            <a:r>
              <a:rPr i="1" lang="en"/>
              <a:t>N</a:t>
            </a:r>
            <a:endParaRPr/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Second: Pick a storage format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Adjacency Lists</a:t>
            </a:r>
            <a:endParaRPr b="1"/>
          </a:p>
          <a:p>
            <a: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More efficient for large, sparse networks</a:t>
            </a:r>
            <a:endParaRPr/>
          </a:p>
          <a:p>
            <a: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Can be used to also store </a:t>
            </a:r>
            <a:r>
              <a:rPr lang="en"/>
              <a:t>vertex</a:t>
            </a:r>
            <a:r>
              <a:rPr lang="en"/>
              <a:t> properties</a:t>
            </a:r>
            <a:endParaRPr/>
          </a:p>
          <a:p>
            <a:pPr indent="0" lvl="0" marL="4572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grpSp>
        <p:nvGrpSpPr>
          <p:cNvPr id="98" name="Google Shape;98;p18"/>
          <p:cNvGrpSpPr/>
          <p:nvPr/>
        </p:nvGrpSpPr>
        <p:grpSpPr>
          <a:xfrm>
            <a:off x="5172776" y="1179950"/>
            <a:ext cx="2755548" cy="3444558"/>
            <a:chOff x="5375550" y="1225225"/>
            <a:chExt cx="2623831" cy="3354000"/>
          </a:xfrm>
        </p:grpSpPr>
        <p:pic>
          <p:nvPicPr>
            <p:cNvPr descr="Screenshot 2017-09-05 at 08.57.15.png" id="99" name="Google Shape;99;p1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5626875" y="1225225"/>
              <a:ext cx="2372506" cy="3354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0" name="Google Shape;100;p18"/>
            <p:cNvSpPr txBox="1"/>
            <p:nvPr/>
          </p:nvSpPr>
          <p:spPr>
            <a:xfrm>
              <a:off x="5375550" y="2726450"/>
              <a:ext cx="2223600" cy="2997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9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do you store network data?</a:t>
            </a:r>
            <a:endParaRPr/>
          </a:p>
        </p:txBody>
      </p:sp>
      <p:sp>
        <p:nvSpPr>
          <p:cNvPr id="106" name="Google Shape;106;p19"/>
          <p:cNvSpPr txBox="1"/>
          <p:nvPr>
            <p:ph idx="1" type="body"/>
          </p:nvPr>
        </p:nvSpPr>
        <p:spPr>
          <a:xfrm>
            <a:off x="311700" y="1225225"/>
            <a:ext cx="43290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</a:pPr>
            <a:r>
              <a:rPr lang="en"/>
              <a:t>First: Give each vertex in the network a unique identifier!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Usually consecutive integers: </a:t>
            </a:r>
            <a:endParaRPr/>
          </a:p>
          <a:p>
            <a: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1, 2, 3...</a:t>
            </a:r>
            <a:r>
              <a:rPr i="1" lang="en"/>
              <a:t>N</a:t>
            </a:r>
            <a:endParaRPr/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Second: Pick a storage format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Adjacency Lists</a:t>
            </a:r>
            <a:endParaRPr b="1"/>
          </a:p>
          <a:p>
            <a: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More efficient for large, sparse networks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Can be used to also store vertex properties</a:t>
            </a:r>
            <a:endParaRPr/>
          </a:p>
          <a:p>
            <a: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Can be used to store undirected and </a:t>
            </a:r>
            <a:r>
              <a:rPr b="1" lang="en"/>
              <a:t>directed</a:t>
            </a:r>
            <a:r>
              <a:rPr lang="en"/>
              <a:t> networks</a:t>
            </a:r>
            <a:endParaRPr/>
          </a:p>
          <a:p>
            <a:pPr indent="0" lvl="0" marL="4572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descr="Screenshot 2017-09-05 at 08.59.30.png" id="107" name="Google Shape;107;p19"/>
          <p:cNvPicPr preferRelativeResize="0"/>
          <p:nvPr/>
        </p:nvPicPr>
        <p:blipFill rotWithShape="1">
          <a:blip r:embed="rId3">
            <a:alphaModFix/>
          </a:blip>
          <a:srcRect b="0" l="0" r="0" t="13382"/>
          <a:stretch/>
        </p:blipFill>
        <p:spPr>
          <a:xfrm>
            <a:off x="5259475" y="1225225"/>
            <a:ext cx="2529731" cy="1742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Screenshot 2017-09-05 at 08.59.54.png" id="108" name="Google Shape;108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02025" y="2967300"/>
            <a:ext cx="3844625" cy="1611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0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do you store network data?</a:t>
            </a:r>
            <a:endParaRPr/>
          </a:p>
        </p:txBody>
      </p:sp>
      <p:sp>
        <p:nvSpPr>
          <p:cNvPr id="114" name="Google Shape;114;p20"/>
          <p:cNvSpPr txBox="1"/>
          <p:nvPr>
            <p:ph idx="1" type="body"/>
          </p:nvPr>
        </p:nvSpPr>
        <p:spPr>
          <a:xfrm>
            <a:off x="311700" y="1225225"/>
            <a:ext cx="43290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</a:pPr>
            <a:r>
              <a:rPr lang="en"/>
              <a:t>First: Give each vertex in the network a unique identifier!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Usually consecutive integers: </a:t>
            </a:r>
            <a:endParaRPr/>
          </a:p>
          <a:p>
            <a: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1, 2, 3...</a:t>
            </a:r>
            <a:r>
              <a:rPr i="1" lang="en"/>
              <a:t>N</a:t>
            </a:r>
            <a:endParaRPr/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Second: Pick a storage format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Edge List</a:t>
            </a:r>
            <a:endParaRPr b="1"/>
          </a:p>
          <a:p>
            <a: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Most convenient and </a:t>
            </a:r>
            <a:r>
              <a:rPr b="1" lang="en"/>
              <a:t>space-efficient</a:t>
            </a:r>
            <a:r>
              <a:rPr lang="en"/>
              <a:t> way to store network data</a:t>
            </a:r>
            <a:endParaRPr/>
          </a:p>
          <a:p>
            <a: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Vertex properties must be stored elsewhere</a:t>
            </a:r>
            <a:endParaRPr/>
          </a:p>
          <a:p>
            <a:pPr indent="0" lvl="0" marL="4572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descr="Screenshot 2017-09-05 at 08.59.30.png" id="115" name="Google Shape;115;p20"/>
          <p:cNvPicPr preferRelativeResize="0"/>
          <p:nvPr/>
        </p:nvPicPr>
        <p:blipFill rotWithShape="1">
          <a:blip r:embed="rId3">
            <a:alphaModFix/>
          </a:blip>
          <a:srcRect b="0" l="0" r="0" t="13382"/>
          <a:stretch/>
        </p:blipFill>
        <p:spPr>
          <a:xfrm>
            <a:off x="5259475" y="1225225"/>
            <a:ext cx="2529731" cy="1742075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20"/>
          <p:cNvSpPr txBox="1"/>
          <p:nvPr/>
        </p:nvSpPr>
        <p:spPr>
          <a:xfrm>
            <a:off x="6990132" y="2610600"/>
            <a:ext cx="1347000" cy="2223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Linden Hill"/>
                <a:ea typeface="Linden Hill"/>
                <a:cs typeface="Linden Hill"/>
                <a:sym typeface="Linden Hill"/>
              </a:rPr>
              <a:t>Edge List</a:t>
            </a:r>
            <a:endParaRPr sz="1800">
              <a:latin typeface="Linden Hill"/>
              <a:ea typeface="Linden Hill"/>
              <a:cs typeface="Linden Hill"/>
              <a:sym typeface="Linden Hill"/>
            </a:endParaRPr>
          </a:p>
        </p:txBody>
      </p:sp>
      <p:sp>
        <p:nvSpPr>
          <p:cNvPr id="117" name="Google Shape;117;p20"/>
          <p:cNvSpPr txBox="1"/>
          <p:nvPr/>
        </p:nvSpPr>
        <p:spPr>
          <a:xfrm>
            <a:off x="7305900" y="2832900"/>
            <a:ext cx="483300" cy="183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Linden Hill"/>
                <a:ea typeface="Linden Hill"/>
                <a:cs typeface="Linden Hill"/>
                <a:sym typeface="Linden Hill"/>
              </a:rPr>
              <a:t>1,3</a:t>
            </a:r>
            <a:endParaRPr sz="1800">
              <a:latin typeface="Linden Hill"/>
              <a:ea typeface="Linden Hill"/>
              <a:cs typeface="Linden Hill"/>
              <a:sym typeface="Linden Hil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Linden Hill"/>
                <a:ea typeface="Linden Hill"/>
                <a:cs typeface="Linden Hill"/>
                <a:sym typeface="Linden Hill"/>
              </a:rPr>
              <a:t>1,4</a:t>
            </a:r>
            <a:endParaRPr sz="1800">
              <a:latin typeface="Linden Hill"/>
              <a:ea typeface="Linden Hill"/>
              <a:cs typeface="Linden Hill"/>
              <a:sym typeface="Linden Hil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Linden Hill"/>
                <a:ea typeface="Linden Hill"/>
                <a:cs typeface="Linden Hill"/>
                <a:sym typeface="Linden Hill"/>
              </a:rPr>
              <a:t>3,4</a:t>
            </a:r>
            <a:endParaRPr sz="1800">
              <a:latin typeface="Linden Hill"/>
              <a:ea typeface="Linden Hill"/>
              <a:cs typeface="Linden Hill"/>
              <a:sym typeface="Linden Hil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Linden Hill"/>
                <a:ea typeface="Linden Hill"/>
                <a:cs typeface="Linden Hill"/>
                <a:sym typeface="Linden Hill"/>
              </a:rPr>
              <a:t>4,1</a:t>
            </a:r>
            <a:endParaRPr sz="1800">
              <a:latin typeface="Linden Hill"/>
              <a:ea typeface="Linden Hill"/>
              <a:cs typeface="Linden Hill"/>
              <a:sym typeface="Linden Hil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Linden Hill"/>
                <a:ea typeface="Linden Hill"/>
                <a:cs typeface="Linden Hill"/>
                <a:sym typeface="Linden Hill"/>
              </a:rPr>
              <a:t>4,5</a:t>
            </a:r>
            <a:endParaRPr sz="1800">
              <a:latin typeface="Linden Hill"/>
              <a:ea typeface="Linden Hill"/>
              <a:cs typeface="Linden Hill"/>
              <a:sym typeface="Linden Hil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Linden Hill"/>
                <a:ea typeface="Linden Hill"/>
                <a:cs typeface="Linden Hill"/>
                <a:sym typeface="Linden Hill"/>
              </a:rPr>
              <a:t>5,4</a:t>
            </a:r>
            <a:endParaRPr sz="1800">
              <a:latin typeface="Linden Hill"/>
              <a:ea typeface="Linden Hill"/>
              <a:cs typeface="Linden Hill"/>
              <a:sym typeface="Linden Hil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Linden Hill"/>
              <a:ea typeface="Linden Hill"/>
              <a:cs typeface="Linden Hill"/>
              <a:sym typeface="Linden Hil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Luxe">
  <a:themeElements>
    <a:clrScheme name="Luxe">
      <a:dk1>
        <a:srgbClr val="000000"/>
      </a:dk1>
      <a:lt1>
        <a:srgbClr val="FFFFFF"/>
      </a:lt1>
      <a:dk2>
        <a:srgbClr val="B7B7B7"/>
      </a:dk2>
      <a:lt2>
        <a:srgbClr val="CCA677"/>
      </a:lt2>
      <a:accent1>
        <a:srgbClr val="5D4037"/>
      </a:accent1>
      <a:accent2>
        <a:srgbClr val="455A64"/>
      </a:accent2>
      <a:accent3>
        <a:srgbClr val="607D8B"/>
      </a:accent3>
      <a:accent4>
        <a:srgbClr val="78909C"/>
      </a:accent4>
      <a:accent5>
        <a:srgbClr val="57BB8A"/>
      </a:accent5>
      <a:accent6>
        <a:srgbClr val="DCE755"/>
      </a:accent6>
      <a:hlink>
        <a:srgbClr val="57BB8A"/>
      </a:hlink>
      <a:folHlink>
        <a:srgbClr val="57BB8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