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Economica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6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Economica-bold.fntdata"/><Relationship Id="rId14" Type="http://schemas.openxmlformats.org/officeDocument/2006/relationships/slide" Target="slides/slide10.xml"/><Relationship Id="rId36" Type="http://schemas.openxmlformats.org/officeDocument/2006/relationships/font" Target="fonts/Economica-regular.fntdata"/><Relationship Id="rId17" Type="http://schemas.openxmlformats.org/officeDocument/2006/relationships/slide" Target="slides/slide13.xml"/><Relationship Id="rId39" Type="http://schemas.openxmlformats.org/officeDocument/2006/relationships/font" Target="fonts/Economica-boldItalic.fntdata"/><Relationship Id="rId16" Type="http://schemas.openxmlformats.org/officeDocument/2006/relationships/slide" Target="slides/slide12.xml"/><Relationship Id="rId38" Type="http://schemas.openxmlformats.org/officeDocument/2006/relationships/font" Target="fonts/Economica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004ad5f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004ad5f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004ad5f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004ad5f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004ad5f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004ad5f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ffcc19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ffcc19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ffcc195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ffcc195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ffcc1951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ffcc1951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ffcc195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ffcc195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ffcc1951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ffcc1951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ffcc1951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affcc1951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ffcc1951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ffcc1951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ffcc1951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ffcc1951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ffcc195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ffcc195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ffcc1951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affcc1951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ffcc1951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ffcc1951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ffcc1951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ffcc1951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ffcc19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ffcc19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ffcc195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ffcc195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ffcc195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affcc195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ffcc195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affcc195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ffcc195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affcc195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ffcc195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ffcc195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ffcc1951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ffcc1951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ffcc1951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affcc1951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ffcc1951_4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affcc1951_4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ffcc1951_4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affcc1951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ffcc1951_4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affcc1951_4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affcc1951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affcc1951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ffcc1951_4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affcc1951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affcc1951_4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affcc1951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ffcc1951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ffcc1951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23348"/>
            <a:ext cx="3054600" cy="22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Measurement: Multiplexity and Multilayer Networks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multilayer networks?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 we have dealt mainly with social networks that can be represented by simple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set E is composed of a single “type” of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human society is composed of people linked via a multiplicity of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multiplicity of relations is defined across a variety of </a:t>
            </a:r>
            <a:r>
              <a:rPr b="1" lang="en"/>
              <a:t>role</a:t>
            </a:r>
            <a:r>
              <a:rPr lang="en"/>
              <a:t>, </a:t>
            </a:r>
            <a:r>
              <a:rPr b="1" lang="en"/>
              <a:t>sentiment</a:t>
            </a:r>
            <a:r>
              <a:rPr lang="en"/>
              <a:t>, </a:t>
            </a:r>
            <a:r>
              <a:rPr b="1" lang="en"/>
              <a:t>behavior</a:t>
            </a:r>
            <a:r>
              <a:rPr lang="en"/>
              <a:t>, and </a:t>
            </a:r>
            <a:r>
              <a:rPr b="1" lang="en"/>
              <a:t>exchange</a:t>
            </a:r>
            <a:r>
              <a:rPr lang="en"/>
              <a:t> relations: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Love, Friendship, Exchange, Enmity, collocation, etc.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 way to model this added layer of complexity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both directed and undirected graphs, the same vertices may be joined by more than one distinct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multigraphs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may be used to represent the social network concept of </a:t>
            </a:r>
            <a:r>
              <a:rPr b="1" lang="en"/>
              <a:t>multiplexity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Multiplexity exist when persons have multiple relations relationships with one another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friend who is also an advisor who is also a member of your congregation</a:t>
            </a:r>
            <a:endParaRPr/>
          </a:p>
        </p:txBody>
      </p:sp>
      <p:pic>
        <p:nvPicPr>
          <p:cNvPr descr="BZfq7zbCQAAYgaI.jpg"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multilayer networks?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multigraph can be thought of as a set of simple graphs “superimposed” on top of one another: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</a:t>
            </a:r>
            <a:r>
              <a:rPr baseline="-25000" lang="en"/>
              <a:t>1</a:t>
            </a:r>
            <a:r>
              <a:rPr lang="en"/>
              <a:t>), </a:t>
            </a:r>
            <a:r>
              <a:rPr lang="en"/>
              <a:t>(V, E</a:t>
            </a:r>
            <a:r>
              <a:rPr baseline="-25000" lang="en"/>
              <a:t>2</a:t>
            </a:r>
            <a:r>
              <a:rPr lang="en"/>
              <a:t>), (V, E</a:t>
            </a:r>
            <a:r>
              <a:rPr baseline="-25000" lang="en"/>
              <a:t>3</a:t>
            </a:r>
            <a:r>
              <a:rPr lang="en"/>
              <a:t>), … (V, E</a:t>
            </a:r>
            <a:r>
              <a:rPr baseline="-25000" lang="en"/>
              <a:t>m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A.K.A. multiplex, multirelational, multimodal, or multivariate graphs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Analytically we may be interested in possible patterns of dependence or constraint across different network “layers”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Are different layers (positively, negatively) correlated?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“friends” (role-relation) also more likely to communicate (exchange) and appear in the same place (behavior)?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Does and edge in one layer “imply” the presence or absence of a link in the other?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the presence of negative affect (sentiment) imply the absence of friendship (role-relation)?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41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 relations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Interpersonal sentiments and cognitions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enmity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Behavioral interactions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Social exchange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Supporting, resource transfer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000" y="1295737"/>
            <a:ext cx="4386299" cy="2552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  <p:pic>
        <p:nvPicPr>
          <p:cNvPr descr="Screenshot 2017-08-22 at 09.35.16.png"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Multiplexity in sociology and anthropology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Mainly studied in the context of the co-presence of </a:t>
            </a:r>
            <a:r>
              <a:rPr b="1" lang="en"/>
              <a:t>multiple role relations in a single 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correlations between different role relations at the ego-level: Do friends tend to also be co-workers? (Verbrugge 1979)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recent work has extended the notion to the study of the link between multiple </a:t>
            </a:r>
            <a:r>
              <a:rPr b="1" lang="en"/>
              <a:t>types </a:t>
            </a:r>
            <a:r>
              <a:rPr lang="en"/>
              <a:t>of connectivity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Role-relations + behavioral interaction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work concerned itself with whether different types of role-relations </a:t>
            </a:r>
            <a:r>
              <a:rPr lang="en"/>
              <a:t>concatenated</a:t>
            </a:r>
            <a:r>
              <a:rPr lang="en"/>
              <a:t> into “systems”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role-relation logically implied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role-relation was a sub or </a:t>
            </a:r>
            <a:r>
              <a:rPr lang="en"/>
              <a:t>superset</a:t>
            </a:r>
            <a:r>
              <a:rPr lang="en"/>
              <a:t> of another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multilayer network?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433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general form multilayer networks subsume temporal networks as 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(</a:t>
            </a:r>
            <a:r>
              <a:rPr i="1" lang="en"/>
              <a:t>t</a:t>
            </a:r>
            <a:r>
              <a:rPr lang="en"/>
              <a:t>) as a set of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need to specify sets of layers for “relation type,” location” or whatever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“layer” in a multilayer network is therefore a particular </a:t>
            </a:r>
            <a:r>
              <a:rPr b="1" lang="en"/>
              <a:t>combination</a:t>
            </a:r>
            <a:r>
              <a:rPr lang="en"/>
              <a:t> (n-tuple) of two or </a:t>
            </a:r>
            <a:r>
              <a:rPr lang="en"/>
              <a:t>more</a:t>
            </a:r>
            <a:r>
              <a:rPr lang="en"/>
              <a:t> of these </a:t>
            </a:r>
            <a:r>
              <a:rPr b="1" lang="en"/>
              <a:t>aspects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42866" t="0"/>
          <a:stretch/>
        </p:blipFill>
        <p:spPr>
          <a:xfrm>
            <a:off x="4647600" y="1727950"/>
            <a:ext cx="4184699" cy="234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multilayer network?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5225"/>
            <a:ext cx="433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this a multilayer network can be defined as a quadruple: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(V, </a:t>
            </a:r>
            <a:r>
              <a:rPr b="1" lang="en"/>
              <a:t>L, </a:t>
            </a:r>
            <a:r>
              <a:rPr lang="en"/>
              <a:t>V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</a:t>
            </a:r>
            <a:r>
              <a:rPr lang="en"/>
              <a:t>, 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is the set of all </a:t>
            </a:r>
            <a:r>
              <a:rPr b="1" lang="en"/>
              <a:t>possible combinations</a:t>
            </a:r>
            <a:r>
              <a:rPr lang="en"/>
              <a:t> of nodes and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</a:t>
            </a:r>
            <a:r>
              <a:rPr baseline="-25000" lang="en"/>
              <a:t>M</a:t>
            </a:r>
            <a:r>
              <a:rPr lang="en"/>
              <a:t> is the V subset of existing nodes and layers triplets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</a:t>
            </a:r>
            <a:r>
              <a:rPr baseline="-25000" lang="en"/>
              <a:t>M</a:t>
            </a:r>
            <a:r>
              <a:rPr lang="en"/>
              <a:t> is a set of ordered pair of nodes across and within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L </a:t>
            </a:r>
            <a:r>
              <a:rPr lang="en"/>
              <a:t>is the set of all ordered pairs of layers: L = (time, relation-type)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42866" t="0"/>
          <a:stretch/>
        </p:blipFill>
        <p:spPr>
          <a:xfrm>
            <a:off x="4647600" y="1727950"/>
            <a:ext cx="4184699" cy="234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multilayer network?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25225"/>
            <a:ext cx="433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most general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can differ across time-type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can be: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intra-layer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Inter-layer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Reflexive inter-layer edges are </a:t>
            </a:r>
            <a:r>
              <a:rPr b="1" lang="en"/>
              <a:t>coupling </a:t>
            </a:r>
            <a:r>
              <a:rPr lang="en"/>
              <a:t>edges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Inter-layer</a:t>
            </a:r>
            <a:r>
              <a:rPr lang="en"/>
              <a:t> edges make more substantive sense for the temporal aspect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can be defined for each type of edge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42866" t="0"/>
          <a:stretch/>
        </p:blipFill>
        <p:spPr>
          <a:xfrm>
            <a:off x="4647600" y="1727950"/>
            <a:ext cx="4184699" cy="234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multilayer network?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25225"/>
            <a:ext cx="418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familiar types of multilayer networks emerge from restrictions on the general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Node aligned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layers contain the same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Layer-disjoint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layer contains a unique set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Diagonal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inter-layer edges are reflexive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23"/>
          <p:cNvGrpSpPr/>
          <p:nvPr/>
        </p:nvGrpSpPr>
        <p:grpSpPr>
          <a:xfrm>
            <a:off x="4762925" y="1225225"/>
            <a:ext cx="4267100" cy="3354001"/>
            <a:chOff x="4762925" y="1225225"/>
            <a:chExt cx="4267100" cy="3354001"/>
          </a:xfrm>
        </p:grpSpPr>
        <p:pic>
          <p:nvPicPr>
            <p:cNvPr id="129" name="Google Shape;129;p23"/>
            <p:cNvPicPr preferRelativeResize="0"/>
            <p:nvPr/>
          </p:nvPicPr>
          <p:blipFill rotWithShape="1">
            <a:blip r:embed="rId3">
              <a:alphaModFix/>
            </a:blip>
            <a:srcRect b="0" l="4047" r="31294" t="0"/>
            <a:stretch/>
          </p:blipFill>
          <p:spPr>
            <a:xfrm>
              <a:off x="4762925" y="1225225"/>
              <a:ext cx="4243975" cy="335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3"/>
            <p:cNvSpPr txBox="1"/>
            <p:nvPr/>
          </p:nvSpPr>
          <p:spPr>
            <a:xfrm>
              <a:off x="8880025" y="1391600"/>
              <a:ext cx="150000" cy="100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multilayer network?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225225"/>
            <a:ext cx="418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familiar types of multilayer networks emerge from restrictions on the general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Node aligned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layers contain the same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Layer-disjoint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layer contains a unique set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Categorical</a:t>
            </a:r>
            <a:r>
              <a:rPr b="1" lang="en"/>
              <a:t> multilayer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inter-layer edges are reflexive and are present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24"/>
          <p:cNvGrpSpPr/>
          <p:nvPr/>
        </p:nvGrpSpPr>
        <p:grpSpPr>
          <a:xfrm>
            <a:off x="6538868" y="1147215"/>
            <a:ext cx="2293440" cy="3354001"/>
            <a:chOff x="6538925" y="1225225"/>
            <a:chExt cx="2296425" cy="3354001"/>
          </a:xfrm>
        </p:grpSpPr>
        <p:pic>
          <p:nvPicPr>
            <p:cNvPr id="138" name="Google Shape;138;p24"/>
            <p:cNvPicPr preferRelativeResize="0"/>
            <p:nvPr/>
          </p:nvPicPr>
          <p:blipFill rotWithShape="1">
            <a:blip r:embed="rId3">
              <a:alphaModFix/>
            </a:blip>
            <a:srcRect b="0" l="66244" r="0" t="0"/>
            <a:stretch/>
          </p:blipFill>
          <p:spPr>
            <a:xfrm>
              <a:off x="6619650" y="1225225"/>
              <a:ext cx="2215701" cy="335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4"/>
            <p:cNvSpPr txBox="1"/>
            <p:nvPr/>
          </p:nvSpPr>
          <p:spPr>
            <a:xfrm>
              <a:off x="6538925" y="3836475"/>
              <a:ext cx="242100" cy="26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supra-adjancency matrix representation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25225"/>
            <a:ext cx="446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supra-adjacency matrix representation</a:t>
            </a:r>
            <a:r>
              <a:rPr lang="en"/>
              <a:t> is the multilayer analogue of </a:t>
            </a:r>
            <a:r>
              <a:rPr lang="en"/>
              <a:t>the </a:t>
            </a:r>
            <a:r>
              <a:rPr lang="en"/>
              <a:t>regular adjancecy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node-aligned network with V vertices and </a:t>
            </a:r>
            <a:r>
              <a:rPr i="1" lang="en"/>
              <a:t>ȴ </a:t>
            </a:r>
            <a:r>
              <a:rPr lang="en"/>
              <a:t>total layers: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supra-adjancency matrix </a:t>
            </a:r>
            <a:r>
              <a:rPr b="1" lang="en"/>
              <a:t>A </a:t>
            </a:r>
            <a:r>
              <a:rPr lang="en"/>
              <a:t>is an </a:t>
            </a:r>
            <a:r>
              <a:rPr i="1" lang="en"/>
              <a:t>ȴ </a:t>
            </a:r>
            <a:r>
              <a:rPr lang="en"/>
              <a:t>x </a:t>
            </a:r>
            <a:r>
              <a:rPr i="1" lang="en"/>
              <a:t>ȴ</a:t>
            </a:r>
            <a:r>
              <a:rPr lang="en"/>
              <a:t> matrix of V x V </a:t>
            </a:r>
            <a:r>
              <a:rPr b="1" lang="en"/>
              <a:t>blocks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</a:t>
            </a:r>
            <a:r>
              <a:rPr b="1" lang="en"/>
              <a:t>A</a:t>
            </a:r>
            <a:r>
              <a:rPr baseline="-25000" lang="en"/>
              <a:t>aa</a:t>
            </a:r>
            <a:r>
              <a:rPr lang="en"/>
              <a:t>)</a:t>
            </a:r>
            <a:r>
              <a:rPr baseline="-25000" lang="en"/>
              <a:t>ij </a:t>
            </a:r>
            <a:r>
              <a:rPr lang="en"/>
              <a:t> = 1 if i and j are adjacent in layer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</a:t>
            </a:r>
            <a:r>
              <a:rPr b="1" lang="en"/>
              <a:t>A</a:t>
            </a:r>
            <a:r>
              <a:rPr baseline="-25000" lang="en"/>
              <a:t>ab</a:t>
            </a:r>
            <a:r>
              <a:rPr lang="en"/>
              <a:t>)</a:t>
            </a:r>
            <a:r>
              <a:rPr baseline="-25000" lang="en"/>
              <a:t>ii</a:t>
            </a:r>
            <a:r>
              <a:rPr lang="en"/>
              <a:t> = 1 if i is present in both a and b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800" y="1147225"/>
            <a:ext cx="4067400" cy="328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supra-adjancency matrix representation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225225"/>
            <a:ext cx="446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Krackhardt’s (1987) </a:t>
            </a:r>
            <a:r>
              <a:rPr b="1" lang="en"/>
              <a:t>Cognitive Social Structures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person is asked not just about their relations with other persons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also about their </a:t>
            </a:r>
            <a:r>
              <a:rPr b="1" lang="en"/>
              <a:t>perception</a:t>
            </a:r>
            <a:r>
              <a:rPr lang="en"/>
              <a:t> of </a:t>
            </a:r>
            <a:r>
              <a:rPr lang="en"/>
              <a:t>the existence of </a:t>
            </a:r>
            <a:r>
              <a:rPr lang="en"/>
              <a:t>relations between each other pair of people in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yields </a:t>
            </a:r>
            <a:r>
              <a:rPr b="1" lang="en"/>
              <a:t>N</a:t>
            </a:r>
            <a:r>
              <a:rPr lang="en"/>
              <a:t> matrices of perceived relations </a:t>
            </a:r>
            <a:r>
              <a:rPr lang="en"/>
              <a:t>between</a:t>
            </a:r>
            <a:r>
              <a:rPr lang="en"/>
              <a:t> all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One for each informant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report on multiple relations (R):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Layers = N X 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800" y="1147225"/>
            <a:ext cx="4067400" cy="328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supra-adjancency matrix representation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225225"/>
            <a:ext cx="446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Krackhardt’s (1987) </a:t>
            </a:r>
            <a:r>
              <a:rPr b="1" lang="en"/>
              <a:t>Cognitive Social Structures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person is asked not just about their relations with other persons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also about their </a:t>
            </a:r>
            <a:r>
              <a:rPr b="1" lang="en"/>
              <a:t>perception</a:t>
            </a:r>
            <a:r>
              <a:rPr lang="en"/>
              <a:t> of the existence of relations between each other pair of people in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yields </a:t>
            </a:r>
            <a:r>
              <a:rPr b="1" lang="en"/>
              <a:t>N</a:t>
            </a:r>
            <a:r>
              <a:rPr lang="en"/>
              <a:t> matrices of perceived relations beween all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One for each informant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report on multiple relations (R):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Layers = N X 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800" y="1186225"/>
            <a:ext cx="3662917" cy="3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Multilayer network metrics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Multiplex intra-layer degree: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</a:t>
            </a:r>
            <a:r>
              <a:rPr baseline="-25000" lang="en"/>
              <a:t>i</a:t>
            </a:r>
            <a:r>
              <a:rPr lang="en"/>
              <a:t> = {k</a:t>
            </a:r>
            <a:r>
              <a:rPr baseline="-25000" lang="en"/>
              <a:t>i</a:t>
            </a:r>
            <a:r>
              <a:rPr lang="en"/>
              <a:t>(1), k</a:t>
            </a:r>
            <a:r>
              <a:rPr baseline="-25000" lang="en"/>
              <a:t>i</a:t>
            </a:r>
            <a:r>
              <a:rPr lang="en"/>
              <a:t>(2), k</a:t>
            </a:r>
            <a:r>
              <a:rPr baseline="-25000" lang="en"/>
              <a:t>i</a:t>
            </a:r>
            <a:r>
              <a:rPr lang="en"/>
              <a:t>(3),...k</a:t>
            </a:r>
            <a:r>
              <a:rPr baseline="-25000" lang="en"/>
              <a:t>i</a:t>
            </a:r>
            <a:r>
              <a:rPr lang="en"/>
              <a:t>(m)}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</a:t>
            </a:r>
            <a:r>
              <a:rPr baseline="-25000" lang="en"/>
              <a:t>i</a:t>
            </a:r>
            <a:r>
              <a:rPr lang="en"/>
              <a:t> = 𝚺</a:t>
            </a:r>
            <a:r>
              <a:rPr baseline="-25000" lang="en"/>
              <a:t>m</a:t>
            </a:r>
            <a:r>
              <a:rPr lang="en"/>
              <a:t>k(m)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makes sense in some applications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Cross-layer degree correlation: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also use rank-based correlations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Cross-layer edge overlap: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548" y="2658225"/>
            <a:ext cx="2328650" cy="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550" y="3906825"/>
            <a:ext cx="2117784" cy="6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on multirelational networks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Szell, Lambiotte and Thurner: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300,000 players of a massive multiplayer online game (MMOG)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types of relations across players, Inclusive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Communications (private messages)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“friendships” and cooperation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conflict: Attacks, fights, revenge, destruction of “property”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Positive relations (whether role or exchange-based) tend to be reciprocal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Negative relations are less reciprocal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distributions based on negative behavioral interactions (e.g. attack) have long tails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the case for positive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“rich get richer” effect seems to governing negative behaviors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“Pile on” for negative indegree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on multirelational networks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Szell, Lambiotte and Thurner: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300,000 players of a massive multiplayer online game (MMOG)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types of relations across players, Inclusive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Communications (private messages)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“friendships” and cooperation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conflict: Attacks, fights, revenge, destruction of “property”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Positive interaction layers have high 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Negative interaction layers do not have high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between different layers: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Given by link overlap (Jaccard) and degree-degree (rank) correlations across layers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on multirelational networks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Szell, Lambiotte and Thurner: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300,000 players of a massive multiplayer online game (MMOG)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types of relations across players, Inclusive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Communications (private messages)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“friendships” and cooperation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conflict: Attacks, fights, revenge, destruction of “property”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following layers have </a:t>
            </a:r>
            <a:r>
              <a:rPr b="1" lang="en"/>
              <a:t>high </a:t>
            </a:r>
            <a:r>
              <a:rPr lang="en"/>
              <a:t>overlap: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Communication/friendship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Trade/communication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Enemy/attack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Community/attack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on multirelational networks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Szell, Lambiotte and Thurner: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300,000 players of a massive multiplayer online game (MMOG)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types of relations across players, Inclusive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Communications (private messages)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“friendships” and cooperation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In-game conflict: Attacks, fights, revenge, destruction of “property”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following layers have </a:t>
            </a:r>
            <a:r>
              <a:rPr b="1" lang="en"/>
              <a:t>low </a:t>
            </a:r>
            <a:r>
              <a:rPr lang="en"/>
              <a:t>overlap: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Friendship/attack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Trade/attack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Trade/enmity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Players have high degree correlation across the friendship/enmity layers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3"/>
          <p:cNvPicPr preferRelativeResize="0"/>
          <p:nvPr/>
        </p:nvPicPr>
        <p:blipFill rotWithShape="1">
          <a:blip r:embed="rId3">
            <a:alphaModFix/>
          </a:blip>
          <a:srcRect b="0" l="0" r="0" t="83909"/>
          <a:stretch/>
        </p:blipFill>
        <p:spPr>
          <a:xfrm>
            <a:off x="530650" y="4125699"/>
            <a:ext cx="8082725" cy="94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 rotWithShape="1">
          <a:blip r:embed="rId3">
            <a:alphaModFix/>
          </a:blip>
          <a:srcRect b="16804" l="0" r="0" t="13755"/>
          <a:stretch/>
        </p:blipFill>
        <p:spPr>
          <a:xfrm>
            <a:off x="1098963" y="638600"/>
            <a:ext cx="6946076" cy="348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4"/>
          <p:cNvPicPr preferRelativeResize="0"/>
          <p:nvPr/>
        </p:nvPicPr>
        <p:blipFill rotWithShape="1">
          <a:blip r:embed="rId3">
            <a:alphaModFix/>
          </a:blip>
          <a:srcRect b="26155" l="0" r="30752" t="0"/>
          <a:stretch/>
        </p:blipFill>
        <p:spPr>
          <a:xfrm>
            <a:off x="1790238" y="810250"/>
            <a:ext cx="5563526" cy="33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4"/>
          <p:cNvPicPr preferRelativeResize="0"/>
          <p:nvPr/>
        </p:nvPicPr>
        <p:blipFill rotWithShape="1">
          <a:blip r:embed="rId4">
            <a:alphaModFix/>
          </a:blip>
          <a:srcRect b="0" l="0" r="0" t="83909"/>
          <a:stretch/>
        </p:blipFill>
        <p:spPr>
          <a:xfrm>
            <a:off x="530650" y="4125699"/>
            <a:ext cx="8082725" cy="9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225225"/>
            <a:ext cx="85206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collected as part of NetSense can be thought of as node-aligned multilayer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be interested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temporal dependence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topological similarities and differences</a:t>
            </a:r>
            <a:endParaRPr/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150" y="2946925"/>
            <a:ext cx="7679707" cy="18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225225"/>
            <a:ext cx="85206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collected as part of NetSense can be thought of as node-aligned multilayer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be interested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Cross-layer correlations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temporal dependence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topological similarities and differences</a:t>
            </a:r>
            <a:endParaRPr/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300" y="2946925"/>
            <a:ext cx="5601393" cy="18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 rotWithShape="1">
          <a:blip r:embed="rId3">
            <a:alphaModFix/>
          </a:blip>
          <a:srcRect b="10820" l="20425" r="15240" t="16510"/>
          <a:stretch/>
        </p:blipFill>
        <p:spPr>
          <a:xfrm>
            <a:off x="1558663" y="1147225"/>
            <a:ext cx="6026674" cy="38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225225"/>
            <a:ext cx="85206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collected as part of NetSense can be thought of as node-aligned multilayer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be interested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Cross-layer temporal dependence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topological similarities and differences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 rotWithShape="1">
          <a:blip r:embed="rId3">
            <a:alphaModFix/>
          </a:blip>
          <a:srcRect b="24825" l="18353" r="12284" t="37566"/>
          <a:stretch/>
        </p:blipFill>
        <p:spPr>
          <a:xfrm>
            <a:off x="1487663" y="3024925"/>
            <a:ext cx="6168677" cy="18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 rotWithShape="1">
          <a:blip r:embed="rId3">
            <a:alphaModFix/>
          </a:blip>
          <a:srcRect b="9243" l="20248" r="15060" t="14923"/>
          <a:stretch/>
        </p:blipFill>
        <p:spPr>
          <a:xfrm>
            <a:off x="1713688" y="1147229"/>
            <a:ext cx="5716627" cy="376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43" name="Google Shape;243;p40"/>
          <p:cNvPicPr preferRelativeResize="0"/>
          <p:nvPr/>
        </p:nvPicPr>
        <p:blipFill rotWithShape="1">
          <a:blip r:embed="rId3">
            <a:alphaModFix/>
          </a:blip>
          <a:srcRect b="20309" l="19003" r="13103" t="12706"/>
          <a:stretch/>
        </p:blipFill>
        <p:spPr>
          <a:xfrm>
            <a:off x="1311363" y="1147225"/>
            <a:ext cx="6521275" cy="361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49" name="Google Shape;249;p41"/>
          <p:cNvPicPr preferRelativeResize="0"/>
          <p:nvPr/>
        </p:nvPicPr>
        <p:blipFill rotWithShape="1">
          <a:blip r:embed="rId3">
            <a:alphaModFix/>
          </a:blip>
          <a:srcRect b="16514" l="18823" r="12754" t="16191"/>
          <a:stretch/>
        </p:blipFill>
        <p:spPr>
          <a:xfrm>
            <a:off x="1206300" y="1147225"/>
            <a:ext cx="6731400" cy="372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55" name="Google Shape;255;p42"/>
          <p:cNvPicPr preferRelativeResize="0"/>
          <p:nvPr/>
        </p:nvPicPr>
        <p:blipFill rotWithShape="1">
          <a:blip r:embed="rId3">
            <a:alphaModFix/>
          </a:blip>
          <a:srcRect b="17783" l="17935" r="13108" t="11759"/>
          <a:stretch/>
        </p:blipFill>
        <p:spPr>
          <a:xfrm>
            <a:off x="1599075" y="1314075"/>
            <a:ext cx="5945851" cy="34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 as a multilayer network</a:t>
            </a:r>
            <a:endParaRPr/>
          </a:p>
        </p:txBody>
      </p:sp>
      <p:pic>
        <p:nvPicPr>
          <p:cNvPr id="261" name="Google Shape;261;p43"/>
          <p:cNvPicPr preferRelativeResize="0"/>
          <p:nvPr/>
        </p:nvPicPr>
        <p:blipFill rotWithShape="1">
          <a:blip r:embed="rId3">
            <a:alphaModFix/>
          </a:blip>
          <a:srcRect b="37367" l="22918" r="21987" t="28509"/>
          <a:stretch/>
        </p:blipFill>
        <p:spPr>
          <a:xfrm>
            <a:off x="1592463" y="2946925"/>
            <a:ext cx="5959075" cy="207604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311700" y="1225225"/>
            <a:ext cx="85206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collected as part of NetSense can be thought of as node-aligned multilayer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be interested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Cross-layer temporal dependence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Cross-layer topological similarities and differences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