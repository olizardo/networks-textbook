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6858000" cy="9144000"/>
  <p:embeddedFontLs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Economica-regular.fntdata"/><Relationship Id="rId43" Type="http://schemas.openxmlformats.org/officeDocument/2006/relationships/slide" Target="slides/slide39.xml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684aa175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684aa17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84e44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84e44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684aa175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684aa175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684aa175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684aa175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684aa175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684aa175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684aa175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4684aa175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684aa175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684aa175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684aa17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4684aa17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684aa175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684aa175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7eadf4c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7eadf4c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4684aa175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4684aa175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684aa175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4684aa175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684aa175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684aa175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4684aa175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4684aa175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4684aa17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4684aa17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4684aa17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4684aa17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684aa17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4684aa17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4684aa175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4684aa175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4684aa175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4684aa175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4684aa175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4684aa175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684aa175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4684aa175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37eadf4c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37eadf4c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37eadf4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37eadf4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37eadf4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37eadf4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37eadf4c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37eadf4c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7eadf4c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37eadf4c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37eadf4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37eadf4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37eadf4c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37eadf4c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37eadf4c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37eadf4c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37eadf4c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37eadf4c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37eadf4c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37eadf4c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37eadf4c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37eadf4c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37eadf4c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37eadf4c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37eadf4c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37eadf4c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37eadf4c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37eadf4c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37eadf4c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37eadf4c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7eadf4c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37eadf4c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37eadf4c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37eadf4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33900"/>
            <a:ext cx="3344400" cy="20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Networks, Graphs, and Matrices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36238" y="1147225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564263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00538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4"/>
          <p:cNvCxnSpPr>
            <a:stCxn id="71" idx="3"/>
            <a:endCxn id="69" idx="2"/>
          </p:cNvCxnSpPr>
          <p:nvPr/>
        </p:nvCxnSpPr>
        <p:spPr>
          <a:xfrm flipH="1" rot="10800000">
            <a:off x="2579738" y="2042700"/>
            <a:ext cx="18960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2"/>
            <a:endCxn id="70" idx="1"/>
          </p:cNvCxnSpPr>
          <p:nvPr/>
        </p:nvCxnSpPr>
        <p:spPr>
          <a:xfrm>
            <a:off x="4475838" y="2042725"/>
            <a:ext cx="20883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1" idx="2"/>
            <a:endCxn id="70" idx="2"/>
          </p:cNvCxnSpPr>
          <p:nvPr/>
        </p:nvCxnSpPr>
        <p:spPr>
          <a:xfrm flipH="1" rot="-5400000">
            <a:off x="4571738" y="928350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536238" y="1147225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564263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00538" y="2964450"/>
            <a:ext cx="1879200" cy="89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5"/>
          <p:cNvCxnSpPr>
            <a:stCxn id="82" idx="3"/>
            <a:endCxn id="80" idx="2"/>
          </p:cNvCxnSpPr>
          <p:nvPr/>
        </p:nvCxnSpPr>
        <p:spPr>
          <a:xfrm flipH="1" rot="10800000">
            <a:off x="2579738" y="2042700"/>
            <a:ext cx="18960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stCxn id="80" idx="2"/>
            <a:endCxn id="81" idx="1"/>
          </p:cNvCxnSpPr>
          <p:nvPr/>
        </p:nvCxnSpPr>
        <p:spPr>
          <a:xfrm>
            <a:off x="4475838" y="2042725"/>
            <a:ext cx="2088300" cy="136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82" idx="2"/>
            <a:endCxn id="81" idx="2"/>
          </p:cNvCxnSpPr>
          <p:nvPr/>
        </p:nvCxnSpPr>
        <p:spPr>
          <a:xfrm flipH="1" rot="-5400000">
            <a:off x="4571738" y="928350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86" name="Google Shape;86;p15"/>
          <p:cNvSpPr txBox="1"/>
          <p:nvPr/>
        </p:nvSpPr>
        <p:spPr>
          <a:xfrm>
            <a:off x="3775250" y="4427393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5415450" y="2387745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Analogy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1942650" y="2387745"/>
            <a:ext cx="1593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</a:t>
            </a:r>
            <a:r>
              <a:rPr lang="en"/>
              <a:t>pecification of processes occurring in social systems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16572058-Abstract-word-cloud-for-Network-theory-with-related-tags-and-terms-Stock-Photo.jpg"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300" y="1372950"/>
            <a:ext cx="3024900" cy="31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pic>
        <p:nvPicPr>
          <p:cNvPr descr="figure1-300x297.png"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564500"/>
            <a:ext cx="2857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</a:t>
            </a:r>
            <a:r>
              <a:rPr b="1" lang="en"/>
              <a:t>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225225"/>
            <a:ext cx="550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i="1" lang="en"/>
              <a:t>applied mathematics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to graph to theoretic concepts to allow for calculation and the development of "measures" and metric representations of social network concepts (e.g. “centrality”)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element of a matrix is ...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610225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can lead to a criterion for differentiating "network theory" from "network analysis"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Network theory </a:t>
            </a:r>
            <a:r>
              <a:rPr lang="en"/>
              <a:t>consists in the </a:t>
            </a:r>
            <a:r>
              <a:rPr b="1" lang="en"/>
              <a:t>linking</a:t>
            </a:r>
            <a:r>
              <a:rPr lang="en"/>
              <a:t> of a social process or structure to a mathematical representation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(e.g. a graph-theoretic representation)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to keep in mind: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mapping from network theory to graph theory can be one to many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not  "calculation" or "operationalization"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Matrices are not direct representations of “social networks”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Instead, the matrix representation links to the graph theoretic concept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graph theoretic concept is an analogue of a structure found in "real"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can lead to a criterion for differentiating "network theory" from "network analysis"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Network Analysis</a:t>
            </a:r>
            <a:r>
              <a:rPr lang="en"/>
              <a:t> consists in proposing of </a:t>
            </a:r>
            <a:r>
              <a:rPr b="1" lang="en"/>
              <a:t>metric</a:t>
            </a:r>
            <a:r>
              <a:rPr lang="en"/>
              <a:t> representations of network-theoretic concepts (e.g. matrix-algebra) for purposes of: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Calculation/Measurement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Operationalization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V </a:t>
            </a:r>
            <a:r>
              <a:rPr b="1" lang="en"/>
              <a:t>vertices</a:t>
            </a:r>
            <a:r>
              <a:rPr lang="en"/>
              <a:t>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nodes, actors, individuals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E </a:t>
            </a:r>
            <a:r>
              <a:rPr b="1" lang="en"/>
              <a:t>edges</a:t>
            </a:r>
            <a:r>
              <a:rPr lang="en"/>
              <a:t>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called links, ties,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(size) of the set V is usually denoted by 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</a:t>
            </a:r>
            <a:r>
              <a:rPr b="1" lang="en"/>
              <a:t>order</a:t>
            </a:r>
            <a:r>
              <a:rPr lang="en"/>
              <a:t> of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cardinality of the set E is usually denoted by 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the graph is the maximum number of possible edges: (N(N-1))/2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density</a:t>
            </a:r>
            <a:r>
              <a:rPr lang="en"/>
              <a:t> (</a:t>
            </a:r>
            <a:r>
              <a:rPr i="1" lang="en"/>
              <a:t>d</a:t>
            </a:r>
            <a:r>
              <a:rPr lang="en"/>
              <a:t>) of the graph is the ratio of the observed to the maximum number of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complete</a:t>
            </a:r>
            <a:r>
              <a:rPr lang="en"/>
              <a:t> (all vertices joined by an edge) graph has </a:t>
            </a:r>
            <a:r>
              <a:rPr i="1" lang="en"/>
              <a:t>d</a:t>
            </a:r>
            <a:r>
              <a:rPr lang="en"/>
              <a:t> =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425" y="1662175"/>
            <a:ext cx="3461575" cy="291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vertices in the same graph may be joined by an edge, in which case, they are </a:t>
            </a:r>
            <a:r>
              <a:rPr b="1" lang="en"/>
              <a:t>adjacent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Adjacent vertices are also called </a:t>
            </a:r>
            <a:r>
              <a:rPr b="1" lang="en"/>
              <a:t>neighbors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can either be undirected and directed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directed</a:t>
            </a:r>
            <a:r>
              <a:rPr lang="en"/>
              <a:t> graphs edges have a direction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can exist but not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</a:t>
            </a:r>
            <a:r>
              <a:rPr b="1" lang="en"/>
              <a:t>undirected</a:t>
            </a:r>
            <a:r>
              <a:rPr lang="en"/>
              <a:t> graphs a single edge connects two vertices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} =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49073" l="1982" r="51491" t="22707"/>
          <a:stretch/>
        </p:blipFill>
        <p:spPr>
          <a:xfrm>
            <a:off x="5264900" y="1147225"/>
            <a:ext cx="3081876" cy="140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49073" l="50925" r="2549" t="22707"/>
          <a:stretch/>
        </p:blipFill>
        <p:spPr>
          <a:xfrm>
            <a:off x="5264906" y="2821300"/>
            <a:ext cx="3081876" cy="14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graphs result in “square” matrices of dimensions </a:t>
            </a:r>
            <a:r>
              <a:rPr b="1" lang="en"/>
              <a:t>N</a:t>
            </a:r>
            <a:r>
              <a:rPr lang="en"/>
              <a:t> X </a:t>
            </a:r>
            <a:r>
              <a:rPr b="1" lang="en"/>
              <a:t>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N = V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vertices in the graph</a:t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 b="10426" l="2468" r="3688" t="25724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edge exists linking vertex </a:t>
            </a:r>
            <a:r>
              <a:rPr i="1" lang="en"/>
              <a:t>i </a:t>
            </a:r>
            <a:r>
              <a:rPr lang="en"/>
              <a:t>and vertex </a:t>
            </a:r>
            <a:r>
              <a:rPr i="1" lang="en"/>
              <a:t>j</a:t>
            </a:r>
            <a:r>
              <a:rPr lang="en"/>
              <a:t> in the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“1” in 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 of matrix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put a “0” in </a:t>
            </a:r>
            <a:r>
              <a:rPr lang="en"/>
              <a:t>the </a:t>
            </a:r>
            <a:r>
              <a:rPr i="1" lang="en"/>
              <a:t>ij</a:t>
            </a:r>
            <a:r>
              <a:rPr baseline="30000" lang="en"/>
              <a:t>th </a:t>
            </a:r>
            <a:r>
              <a:rPr lang="en"/>
              <a:t>cell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10426" l="2468" r="3688" t="25724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formally,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1,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 be found in 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0 if {v</a:t>
            </a:r>
            <a:r>
              <a:rPr baseline="-25000" lang="en"/>
              <a:t>i</a:t>
            </a:r>
            <a:r>
              <a:rPr lang="en"/>
              <a:t>v</a:t>
            </a:r>
            <a:r>
              <a:rPr baseline="-25000" lang="en"/>
              <a:t>j</a:t>
            </a:r>
            <a:r>
              <a:rPr lang="en"/>
              <a:t>} cannot be found in 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10426" l="2468" r="3688" t="25724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8"/>
          <p:cNvPicPr preferRelativeResize="0"/>
          <p:nvPr/>
        </p:nvPicPr>
        <p:blipFill rotWithShape="1">
          <a:blip r:embed="rId3">
            <a:alphaModFix/>
          </a:blip>
          <a:srcRect b="10426" l="2468" r="3688" t="25724"/>
          <a:stretch/>
        </p:blipFill>
        <p:spPr>
          <a:xfrm>
            <a:off x="4803900" y="1874288"/>
            <a:ext cx="4028400" cy="20558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225225"/>
            <a:ext cx="4492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Matrices can be used to represent graphs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Vertices are arranged in the rows (</a:t>
            </a:r>
            <a:r>
              <a:rPr i="1" lang="en"/>
              <a:t>i</a:t>
            </a:r>
            <a:r>
              <a:rPr lang="en"/>
              <a:t>) and columns (</a:t>
            </a:r>
            <a:r>
              <a:rPr i="1" lang="en"/>
              <a:t>j</a:t>
            </a:r>
            <a:r>
              <a:rPr lang="en"/>
              <a:t>) of the matrix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Matrices can be used to represent either </a:t>
            </a:r>
            <a:r>
              <a:rPr b="1" lang="en"/>
              <a:t>directed</a:t>
            </a:r>
            <a:r>
              <a:rPr lang="en"/>
              <a:t> or </a:t>
            </a:r>
            <a:r>
              <a:rPr b="1" lang="en"/>
              <a:t>undirected</a:t>
            </a:r>
            <a:r>
              <a:rPr lang="en"/>
              <a:t>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Undirected graphs result in </a:t>
            </a:r>
            <a:r>
              <a:rPr b="1" lang="en"/>
              <a:t>symmetric</a:t>
            </a:r>
            <a:r>
              <a:rPr lang="en"/>
              <a:t> adjacency matrices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Digraphs result in </a:t>
            </a:r>
            <a:r>
              <a:rPr b="1" lang="en"/>
              <a:t>asymmetric</a:t>
            </a:r>
            <a:r>
              <a:rPr lang="en"/>
              <a:t> adjacency matrices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28"/>
          <p:cNvCxnSpPr/>
          <p:nvPr/>
        </p:nvCxnSpPr>
        <p:spPr>
          <a:xfrm>
            <a:off x="5224475" y="2769700"/>
            <a:ext cx="1109400" cy="108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8"/>
          <p:cNvCxnSpPr/>
          <p:nvPr/>
        </p:nvCxnSpPr>
        <p:spPr>
          <a:xfrm>
            <a:off x="7343325" y="2802050"/>
            <a:ext cx="1077300" cy="104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Addition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Multiplication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Subtraction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475" y="1240951"/>
            <a:ext cx="4430825" cy="332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matrix?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225225"/>
            <a:ext cx="408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matrix a rectangular array of numbers arranged in rows and columns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The main advantage of matrices is that you can do </a:t>
            </a:r>
            <a:r>
              <a:rPr b="1" lang="en"/>
              <a:t>simple mathematical operations </a:t>
            </a:r>
            <a:r>
              <a:rPr lang="en"/>
              <a:t>on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 sums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Column sums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This creates measures of graph theoretic concepts!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um-of-row-and-column-elements-of-a-matrix.png"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600" y="1836688"/>
            <a:ext cx="3992950" cy="21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network analysis three-step shuffle </a:t>
            </a:r>
            <a:endParaRPr/>
          </a:p>
        </p:txBody>
      </p:sp>
      <p:sp>
        <p:nvSpPr>
          <p:cNvPr id="199" name="Google Shape;199;p31"/>
          <p:cNvSpPr/>
          <p:nvPr/>
        </p:nvSpPr>
        <p:spPr>
          <a:xfrm>
            <a:off x="69932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Think up or grab an “off the shelf” fuzzy concept from social science to develop a </a:t>
            </a:r>
            <a:r>
              <a:rPr b="1" lang="en">
                <a:solidFill>
                  <a:srgbClr val="FFFFFF"/>
                </a:solidFill>
              </a:rPr>
              <a:t>network-theoretic concept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(e.g. popularity, brokerage, reciprocity, role, status)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0" name="Google Shape;200;p31"/>
          <p:cNvCxnSpPr>
            <a:stCxn id="199" idx="3"/>
            <a:endCxn id="201" idx="1"/>
          </p:cNvCxnSpPr>
          <p:nvPr/>
        </p:nvCxnSpPr>
        <p:spPr>
          <a:xfrm>
            <a:off x="2889325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31"/>
          <p:cNvSpPr/>
          <p:nvPr/>
        </p:nvSpPr>
        <p:spPr>
          <a:xfrm>
            <a:off x="3606400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Translate the concept from natural language to the “language” of graph theory to develop a </a:t>
            </a:r>
            <a:r>
              <a:rPr b="1" lang="en">
                <a:solidFill>
                  <a:srgbClr val="FFFFFF"/>
                </a:solidFill>
              </a:rPr>
              <a:t>graph-theoretic concept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(</a:t>
            </a:r>
            <a:r>
              <a:rPr lang="en">
                <a:solidFill>
                  <a:srgbClr val="FFFFFF"/>
                </a:solidFill>
              </a:rPr>
              <a:t>e.g. points and lines)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02" name="Google Shape;202;p31"/>
          <p:cNvCxnSpPr>
            <a:stCxn id="201" idx="3"/>
            <a:endCxn id="203" idx="1"/>
          </p:cNvCxnSpPr>
          <p:nvPr/>
        </p:nvCxnSpPr>
        <p:spPr>
          <a:xfrm>
            <a:off x="5796400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31"/>
          <p:cNvSpPr/>
          <p:nvPr/>
        </p:nvSpPr>
        <p:spPr>
          <a:xfrm>
            <a:off x="651347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Link the graph-theoretic concept to matrix algebra to develop a </a:t>
            </a:r>
            <a:r>
              <a:rPr b="1" lang="en">
                <a:solidFill>
                  <a:srgbClr val="FFFFFF"/>
                </a:solidFill>
              </a:rPr>
              <a:t>network-analytic measure</a:t>
            </a:r>
            <a:r>
              <a:rPr lang="en">
                <a:solidFill>
                  <a:srgbClr val="FFFFFF"/>
                </a:solidFill>
              </a:rPr>
              <a:t> of the network-theoretic concept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(e.g. indegree centrality as a measure of popularity)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specify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1:</a:t>
            </a:r>
            <a:r>
              <a:rPr lang="en"/>
              <a:t> Define the concept in natural language network-theoretic terms: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“A person who is well known among her peers”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ean_girls.jpg"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200" y="1555800"/>
            <a:ext cx="3671125" cy="27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specify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2:</a:t>
            </a:r>
            <a:r>
              <a:rPr lang="en"/>
              <a:t> Translate the concept from natural language to the “language” of graph theory to develop a graph-theoretic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“Indegree”: Number of incident edges on a vertex in a directed graph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lec27-29-638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0" l="6253" r="12951" t="20992"/>
          <a:stretch/>
        </p:blipFill>
        <p:spPr>
          <a:xfrm>
            <a:off x="4864250" y="1478950"/>
            <a:ext cx="3968051" cy="29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network theory three-step shuffle: Example </a:t>
            </a:r>
            <a:endParaRPr/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225225"/>
            <a:ext cx="4552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measure the social science concept of popularity In network terms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Step 3: </a:t>
            </a:r>
            <a:r>
              <a:rPr lang="en"/>
              <a:t>Link the graph-theoretic concept to a matrix representation and perform a mathematical operation: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“The indegree of node 3 is </a:t>
            </a:r>
            <a:r>
              <a:rPr b="1" lang="en"/>
              <a:t>1</a:t>
            </a:r>
            <a:r>
              <a:rPr lang="en"/>
              <a:t>, which we can obtain by </a:t>
            </a:r>
            <a:r>
              <a:rPr b="1" lang="en"/>
              <a:t>summing</a:t>
            </a:r>
            <a:r>
              <a:rPr lang="en"/>
              <a:t> the number of </a:t>
            </a:r>
            <a:r>
              <a:rPr lang="en"/>
              <a:t>nonzero</a:t>
            </a:r>
            <a:r>
              <a:rPr lang="en"/>
              <a:t> entries in the 3rd column of the matrix”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5025450" y="2900500"/>
            <a:ext cx="714600" cy="30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ode+degree+from+matrix+values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27042" l="8774" r="64076" t="59132"/>
          <a:stretch/>
        </p:blipFill>
        <p:spPr>
          <a:xfrm>
            <a:off x="5944250" y="3362200"/>
            <a:ext cx="2054150" cy="784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34"/>
          <p:cNvGrpSpPr/>
          <p:nvPr/>
        </p:nvGrpSpPr>
        <p:grpSpPr>
          <a:xfrm>
            <a:off x="5088975" y="1387710"/>
            <a:ext cx="3493750" cy="1974499"/>
            <a:chOff x="5088975" y="1387710"/>
            <a:chExt cx="3493750" cy="1974499"/>
          </a:xfrm>
        </p:grpSpPr>
        <p:pic>
          <p:nvPicPr>
            <p:cNvPr descr="Node+degree+from+matrix+values.jpg" id="227" name="Google Shape;227;p34"/>
            <p:cNvPicPr preferRelativeResize="0"/>
            <p:nvPr/>
          </p:nvPicPr>
          <p:blipFill rotWithShape="1">
            <a:blip r:embed="rId3">
              <a:alphaModFix/>
            </a:blip>
            <a:srcRect b="10108" l="50835" r="2987" t="55095"/>
            <a:stretch/>
          </p:blipFill>
          <p:spPr>
            <a:xfrm>
              <a:off x="5088975" y="1387710"/>
              <a:ext cx="3493750" cy="1974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34"/>
            <p:cNvSpPr txBox="1"/>
            <p:nvPr/>
          </p:nvSpPr>
          <p:spPr>
            <a:xfrm>
              <a:off x="5088975" y="2632225"/>
              <a:ext cx="607500" cy="40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“social networks"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</a:t>
            </a:r>
            <a:r>
              <a:rPr b="1" lang="en"/>
              <a:t>"real life" states or processes</a:t>
            </a:r>
            <a:r>
              <a:rPr lang="en"/>
              <a:t> in a social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 in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"popularity" or "expansiveness" of an actor's social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the </a:t>
            </a:r>
            <a:r>
              <a:rPr b="1" lang="en"/>
              <a:t>graph-theoretic concept</a:t>
            </a:r>
            <a:r>
              <a:rPr lang="en"/>
              <a:t> that is the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presence of directed edge (arc) joining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set of edges terminating or originating at at a given vertex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the </a:t>
            </a:r>
            <a:r>
              <a:rPr b="1" lang="en"/>
              <a:t>matrix algebraic representation</a:t>
            </a:r>
            <a:r>
              <a:rPr lang="en"/>
              <a:t> of the graph-theoretic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Whether the product a</a:t>
            </a:r>
            <a:r>
              <a:rPr baseline="-25000" lang="en"/>
              <a:t>ij </a:t>
            </a:r>
            <a:r>
              <a:rPr lang="en"/>
              <a:t>X a</a:t>
            </a:r>
            <a:r>
              <a:rPr baseline="-25000" lang="en"/>
              <a:t>ji</a:t>
            </a:r>
            <a:r>
              <a:rPr lang="en"/>
              <a:t> in the adjacency matrix is 1 (reciprocity) or 0 (non-reciprocity)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sum Σ</a:t>
            </a:r>
            <a:r>
              <a:rPr baseline="-25000" lang="en"/>
              <a:t>j</a:t>
            </a: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(outdegree) or the sum Σ</a:t>
            </a:r>
            <a:r>
              <a:rPr baseline="-25000" lang="en"/>
              <a:t>i</a:t>
            </a: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(indegree) in the adjacency matrix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Don’t Confuse them!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Representing network concepts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“Simple” (binary, undirected) graphs can represent some social network concepts: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“having a tie,” “having lots of connections,” “being a broker between two people”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“Reciprocity” can only be represented in a </a:t>
            </a:r>
            <a:r>
              <a:rPr b="1" lang="en"/>
              <a:t>directed </a:t>
            </a:r>
            <a:r>
              <a:rPr lang="en"/>
              <a:t>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representation of other social network concepts require other types of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“having ties of different strengths” can only be represented by a graph with non-binary values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253" name="Google Shape;253;p38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Sometimes people “binarize” weighted graphs using a cutoff to simplify analysis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w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a</a:t>
            </a:r>
            <a:r>
              <a:rPr baseline="-25000" lang="en"/>
              <a:t>ij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753574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Multigraphs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both directed and undirected graphs, the same vertices may be joined by more than one distinct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called </a:t>
            </a:r>
            <a:r>
              <a:rPr b="1" lang="en"/>
              <a:t>multigraphs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Multigraphs may be used to represent the social network concept of </a:t>
            </a:r>
            <a:r>
              <a:rPr b="1" lang="en"/>
              <a:t>multiplexity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Multiplexity exist when persons have multiple relations relationships with one another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friend who is also an advisor who is also a member of your congregation</a:t>
            </a:r>
            <a:endParaRPr/>
          </a:p>
        </p:txBody>
      </p:sp>
      <p:pic>
        <p:nvPicPr>
          <p:cNvPr descr="BZfq7zbCQAAYgaI.jpg"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characterized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disjoint sets of vertices.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within</a:t>
            </a:r>
            <a:r>
              <a:rPr lang="en"/>
              <a:t>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Bipartite graphs can be used to represent the social network concepts of </a:t>
            </a:r>
            <a:r>
              <a:rPr b="1" lang="en"/>
              <a:t>affiliation</a:t>
            </a:r>
            <a:r>
              <a:rPr lang="en"/>
              <a:t> or </a:t>
            </a:r>
            <a:r>
              <a:rPr b="1" lang="en"/>
              <a:t>membership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Affiliation networks people are linked to other entities that are not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Actors and movies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Scientists and papers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Persons and events</a:t>
            </a:r>
            <a:endParaRPr/>
          </a:p>
        </p:txBody>
      </p:sp>
      <p:pic>
        <p:nvPicPr>
          <p:cNvPr descr="220px-Simple-bipartite-graph.svg.png"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Degree</a:t>
            </a:r>
            <a:endParaRPr/>
          </a:p>
        </p:txBody>
      </p:sp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a vertex d(v) in an undirected graph is the number of edges that have v as their destination (origin)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neighbors of v is denoted N(v)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outdegree of vertex v d</a:t>
            </a:r>
            <a:r>
              <a:rPr baseline="30000" lang="en"/>
              <a:t>out</a:t>
            </a:r>
            <a:r>
              <a:rPr lang="en"/>
              <a:t>(v) is the number of edges that originate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indegree of vertex d</a:t>
            </a:r>
            <a:r>
              <a:rPr baseline="30000" lang="en"/>
              <a:t>in</a:t>
            </a:r>
            <a:r>
              <a:rPr lang="en"/>
              <a:t>(v) is the number of edges that terminate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may be considered an index of a node's centrality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variety of graph properties are derived from vertex degree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degree = Σ</a:t>
            </a:r>
            <a:r>
              <a:rPr baseline="-25000" lang="en"/>
              <a:t>i</a:t>
            </a:r>
            <a:r>
              <a:rPr lang="en"/>
              <a:t>d(v</a:t>
            </a:r>
            <a:r>
              <a:rPr baseline="-25000" lang="en"/>
              <a:t>i</a:t>
            </a:r>
            <a:r>
              <a:rPr lang="en"/>
              <a:t>)/N = 2M/N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Density = M/[N(N-1)/2] = 2M/[N(N-1)] = D/N-1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Degree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of a vertex d(v) in an undirected graph is the number of edges that have v as their destination (origin)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neighbors of v is denoted N(v)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outdegree of vertex v d</a:t>
            </a:r>
            <a:r>
              <a:rPr baseline="30000" lang="en"/>
              <a:t>out</a:t>
            </a:r>
            <a:r>
              <a:rPr lang="en"/>
              <a:t>(v) is the number of edges that originate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the indegree of vertex d</a:t>
            </a:r>
            <a:r>
              <a:rPr baseline="30000" lang="en"/>
              <a:t>in</a:t>
            </a:r>
            <a:r>
              <a:rPr lang="en"/>
              <a:t>(v) is the number of edges that terminate in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may be considered an index of a node's centrality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the graph theoretic concept of degree maps onto important social network concepts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Gregariousness (Isolation)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Popularity (Unpopularity)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graph theoretic concepts: Subgraphs</a:t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G' = (V', E') is a subgraph of a graph G iff: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Subgraphs may induced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vertices and the selecting the subset of edges that link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a group of edges and the selecting of the vertices that are the destination (origin) of each edge.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lot of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concepts of </a:t>
            </a:r>
            <a:r>
              <a:rPr b="1" lang="en"/>
              <a:t>groups</a:t>
            </a:r>
            <a:r>
              <a:rPr lang="en"/>
              <a:t>, </a:t>
            </a:r>
            <a:r>
              <a:rPr b="1" lang="en"/>
              <a:t>cliques</a:t>
            </a:r>
            <a:r>
              <a:rPr lang="en"/>
              <a:t>, or </a:t>
            </a:r>
            <a:r>
              <a:rPr b="1" lang="en"/>
              <a:t>communities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the </a:t>
            </a:r>
            <a:r>
              <a:rPr b="1" lang="en"/>
              <a:t>average </a:t>
            </a:r>
            <a:r>
              <a:rPr lang="en"/>
              <a:t>length of the shortest paths (also called </a:t>
            </a:r>
            <a:r>
              <a:rPr b="1" lang="en"/>
              <a:t>geodesics</a:t>
            </a:r>
            <a:r>
              <a:rPr lang="en"/>
              <a:t>) linking each pair of vertices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this is smaller than we would expect (e.g. “6”) this quantity can be used to represent the social network concept of a “</a:t>
            </a:r>
            <a:r>
              <a:rPr b="1" lang="en"/>
              <a:t>small world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05" name="Google Shape;305;p46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12" name="Google Shape;312;p47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7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7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7"/>
          <p:cNvSpPr txBox="1"/>
          <p:nvPr/>
        </p:nvSpPr>
        <p:spPr>
          <a:xfrm>
            <a:off x="5014200" y="11846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22" name="Google Shape;322;p48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8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8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8"/>
          <p:cNvSpPr/>
          <p:nvPr/>
        </p:nvSpPr>
        <p:spPr>
          <a:xfrm>
            <a:off x="6841925" y="1038175"/>
            <a:ext cx="1754700" cy="3728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31" name="Google Shape;331;p4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exists a (finite) path between each vertex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the graph is </a:t>
            </a:r>
            <a:r>
              <a:rPr b="1" lang="en"/>
              <a:t>disconnected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maximal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the connected subgraph that contains the largest proportion of vertices is called the </a:t>
            </a:r>
            <a:r>
              <a:rPr b="1" lang="en"/>
              <a:t>giant</a:t>
            </a:r>
            <a:r>
              <a:rPr lang="en"/>
              <a:t> component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32" name="Google Shape;332;p49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9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9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9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42" name="Google Shape;342;p5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edges whose removal is required to disconnect a graph can represent the social network concept of </a:t>
            </a:r>
            <a:r>
              <a:rPr b="1" lang="en"/>
              <a:t>social integration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cutset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43" name="Google Shape;343;p50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0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0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0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0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0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</a:t>
            </a:r>
            <a:endParaRPr/>
          </a:p>
        </p:txBody>
      </p:sp>
      <p:sp>
        <p:nvSpPr>
          <p:cNvPr id="356" name="Google Shape;356;p5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graphs are easy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few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hard to disconnect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lot of link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higher</a:t>
            </a:r>
            <a:r>
              <a:rPr lang="en"/>
              <a:t> the cutset the more </a:t>
            </a:r>
            <a:r>
              <a:rPr b="1" lang="en"/>
              <a:t>integrated</a:t>
            </a:r>
            <a:r>
              <a:rPr lang="en"/>
              <a:t> the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lower</a:t>
            </a:r>
            <a:r>
              <a:rPr lang="en"/>
              <a:t> the cutset the more potentially </a:t>
            </a:r>
            <a:r>
              <a:rPr b="1" lang="en"/>
              <a:t>fragmented</a:t>
            </a:r>
            <a:r>
              <a:rPr lang="en"/>
              <a:t> the social structure is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xresdefault.jpg" id="357" name="Google Shape;357;p51"/>
          <p:cNvPicPr preferRelativeResize="0"/>
          <p:nvPr/>
        </p:nvPicPr>
        <p:blipFill rotWithShape="1">
          <a:blip r:embed="rId3">
            <a:alphaModFix/>
          </a:blip>
          <a:srcRect b="8239" l="29288" r="29008" t="23890"/>
          <a:stretch/>
        </p:blipFill>
        <p:spPr>
          <a:xfrm>
            <a:off x="5151675" y="1239788"/>
            <a:ext cx="3632099" cy="33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1"/>
          <p:cNvSpPr txBox="1"/>
          <p:nvPr/>
        </p:nvSpPr>
        <p:spPr>
          <a:xfrm>
            <a:off x="6753375" y="2381850"/>
            <a:ext cx="428700" cy="37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1"/>
          <p:cNvSpPr txBox="1"/>
          <p:nvPr/>
        </p:nvSpPr>
        <p:spPr>
          <a:xfrm>
            <a:off x="6711675" y="3198325"/>
            <a:ext cx="3081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1"/>
          <p:cNvSpPr txBox="1"/>
          <p:nvPr/>
        </p:nvSpPr>
        <p:spPr>
          <a:xfrm>
            <a:off x="7536600" y="2713225"/>
            <a:ext cx="348600" cy="28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1"/>
          <p:cNvSpPr txBox="1"/>
          <p:nvPr/>
        </p:nvSpPr>
        <p:spPr>
          <a:xfrm>
            <a:off x="8093350" y="2680750"/>
            <a:ext cx="348600" cy="4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1"/>
          <p:cNvSpPr/>
          <p:nvPr/>
        </p:nvSpPr>
        <p:spPr>
          <a:xfrm>
            <a:off x="6867075" y="10782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1"/>
          <p:cNvSpPr/>
          <p:nvPr/>
        </p:nvSpPr>
        <p:spPr>
          <a:xfrm>
            <a:off x="6752550" y="2831925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1"/>
          <p:cNvSpPr/>
          <p:nvPr/>
        </p:nvSpPr>
        <p:spPr>
          <a:xfrm>
            <a:off x="5122950" y="1939838"/>
            <a:ext cx="1916700" cy="19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