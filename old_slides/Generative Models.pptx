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715000" cx="9144000"/>
  <p:notesSz cx="6858000" cy="9144000"/>
  <p:embeddedFontLst>
    <p:embeddedFont>
      <p:font typeface="Josefin Slab"/>
      <p:regular r:id="rId41"/>
      <p:bold r:id="rId42"/>
      <p:italic r:id="rId43"/>
      <p:boldItalic r:id="rId44"/>
    </p:embeddedFont>
    <p:embeddedFont>
      <p:font typeface="Economica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avid Hache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A77A68-BFED-4DF0-ACBF-38413D7FAB2E}">
  <a:tblStyle styleId="{0CA77A68-BFED-4DF0-ACBF-38413D7FAB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JosefinSlab-bold.fntdata"/><Relationship Id="rId41" Type="http://schemas.openxmlformats.org/officeDocument/2006/relationships/font" Target="fonts/JosefinSlab-regular.fntdata"/><Relationship Id="rId44" Type="http://schemas.openxmlformats.org/officeDocument/2006/relationships/font" Target="fonts/JosefinSlab-boldItalic.fntdata"/><Relationship Id="rId43" Type="http://schemas.openxmlformats.org/officeDocument/2006/relationships/font" Target="fonts/JosefinSlab-italic.fntdata"/><Relationship Id="rId46" Type="http://schemas.openxmlformats.org/officeDocument/2006/relationships/font" Target="fonts/Economica-bold.fntdata"/><Relationship Id="rId45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Economica-boldItalic.fntdata"/><Relationship Id="rId47" Type="http://schemas.openxmlformats.org/officeDocument/2006/relationships/font" Target="fonts/Economica-italic.fntdata"/><Relationship Id="rId49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1-06T17:30:18.981">
    <p:pos x="6000" y="0"/>
    <p:text>redo slide about models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6458a9b5_0_53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6458a9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1e5a3d9a_0_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1e5a3d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1e5a3d9a_0_1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1e5a3d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6458a9b5_0_1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6458a9b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1e5a3d9a_0_3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1e5a3d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b097e03_03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b097e03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1e5a3d9a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1e5a3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b097e03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b097e03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6745f2ab_0_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6745f2a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b097e03_05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b097e03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b6458a9b5_0_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b6458a9b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6745f2ab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6745f2a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6458a9b5_0_20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6458a9b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6745f2ab_0_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6745f2a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6745f2ab_0_5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6745f2a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6745f2ab_0_5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6745f2a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745f2ab_0_6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6745f2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b097e03_08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b097e03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b097e03_0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9b097e03_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a4f389d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a4f389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a4f389d_02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ba4f389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a4f389d_05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a4f389d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ba4f389d_0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ba4f389d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ba4f389d_0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ba4f389d_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745f2ab_0_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745f2a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a4f389d_09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a4f389d_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a4f389d_010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a4f389d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a4f389d_01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a4f389d_0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6385b963_0_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6385b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b6385b963_0_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b6385b9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6385b963_0_1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b6385b9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6385b963_0_1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b6385b9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b6745f2ab_0_17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b6745f2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348350"/>
            <a:ext cx="3054600" cy="30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Generative and Computational Models of Social Network Structure and Dynamics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57200" y="1333500"/>
            <a:ext cx="8141100" cy="13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model?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Descriptive vs</a:t>
            </a:r>
            <a:r>
              <a:rPr lang="en"/>
              <a:t>. </a:t>
            </a:r>
            <a:r>
              <a:rPr lang="en"/>
              <a:t> generative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model social networks?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rules (logics) informing social processes that generate observed social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Dynamics (processes)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formation, evolution, decay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local and global properties “match”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choice homophily (rule) leads to global clustering by traits (macro property)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global property is “surprising”: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Preferential attachment (rule) leads to a small diameter (macro property)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Evolution Models (NEMs)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addition of new links depend on the local network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main subcategories of NEMs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Dynamical Models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Growing Models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75" y="3497400"/>
            <a:ext cx="7662374" cy="18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main subcategories of NEMs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Dynamical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Growing Models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815400" y="1417708"/>
            <a:ext cx="926400" cy="3950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5602700" y="1417708"/>
            <a:ext cx="926400" cy="2386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89550" y="2966833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Social Network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479050" y="21846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Network Evolution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479050" y="32539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Node Attribute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212300" y="1417704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Growing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212300" y="28582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Dynamical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479075" y="43232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Exponential Random Graph Models*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529100" y="45877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*Not a real growth model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361350"/>
            <a:ext cx="502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network realization G is produced by an iterative process that starts from an initial network configuration G(t</a:t>
            </a:r>
            <a:r>
              <a:rPr baseline="-25000" lang="en"/>
              <a:t>0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Dynamical models</a:t>
            </a:r>
            <a:r>
              <a:rPr lang="en"/>
              <a:t> begin a graph of a certain order and a given density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Empty graph special case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Growing models </a:t>
            </a:r>
            <a:r>
              <a:rPr lang="en"/>
              <a:t>begin with a (small) seed network (sometimes a single node with “stubs”)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rules determine allowed transitions from one network G(t</a:t>
            </a:r>
            <a:r>
              <a:rPr baseline="-25000" lang="en"/>
              <a:t>k−1</a:t>
            </a:r>
            <a:r>
              <a:rPr lang="en"/>
              <a:t>) to the next G(t</a:t>
            </a:r>
            <a:r>
              <a:rPr baseline="-25000" lang="en"/>
              <a:t>k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iterative process generates a single network realization G = G(t</a:t>
            </a:r>
            <a:r>
              <a:rPr baseline="-25000" lang="en"/>
              <a:t>end</a:t>
            </a:r>
            <a:r>
              <a:rPr lang="en"/>
              <a:t>).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361350"/>
            <a:ext cx="467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NEMs is to test the hypothesis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network growth mechanisms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Specific global structures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Given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Community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361350"/>
            <a:ext cx="475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analyst must specify the stochastic rules by which the network evolves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we may delete or add a subset of links at each time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“rewire” a set of existing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stopping criteria for NEMs: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growing NEM, the algorithm finishes when a network reaches a predetermined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dynamical NEM the algorithm finishes when the network reaches a steady state 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57200" y="1333500"/>
            <a:ext cx="83019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and/or remove ties on (starting) fixed set (N) of nodes: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fixed number of times 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Until the structure of the network approaches equilibrium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Erdos-Renyi (1960) random graph model is a “dynamical model” by this definition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Homogeneous (bell-shaped) distribution of node degrees</a:t>
            </a:r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3090900"/>
            <a:ext cx="3186472" cy="23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3545025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425" y="3090913"/>
            <a:ext cx="3186450" cy="23192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7725900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500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Attach one end of the selected edge to a random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</a:t>
            </a:r>
            <a:r>
              <a:rPr i="1" lang="en"/>
              <a:t>N</a:t>
            </a:r>
            <a:r>
              <a:rPr lang="en"/>
              <a:t> times</a:t>
            </a:r>
            <a:r>
              <a:rPr lang="en"/>
              <a:t> 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</a:t>
            </a:r>
            <a:r>
              <a:rPr i="1" lang="en"/>
              <a:t>p </a:t>
            </a:r>
            <a:r>
              <a:rPr lang="en"/>
              <a:t>= 1 the Watt-strogatz model is an Erdos-Renyi graph with density determined by </a:t>
            </a:r>
            <a:r>
              <a:rPr i="1" lang="en"/>
              <a:t>k </a:t>
            </a:r>
            <a:r>
              <a:rPr lang="en"/>
              <a:t>(mean degree)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are added (and link according to some rule) until the network contains the desired number (N) of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Barabasi-Albert preferential attachment model is a growing model by this definition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57200" y="1333500"/>
            <a:ext cx="8301900" cy="18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two connected nodes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nodes connect to existing ones with p ~ k(i)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k is the degree of node 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adding nodes until graph reaches size N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Heterogeneous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Log-log plot can be fitted by a linear regression with beta = exponent of the power law</a:t>
            </a:r>
            <a:r>
              <a:rPr i="1" lang="en"/>
              <a:t> p</a:t>
            </a:r>
            <a:r>
              <a:rPr lang="en"/>
              <a:t> ∝ </a:t>
            </a:r>
            <a:r>
              <a:rPr i="1" lang="en"/>
              <a:t>k</a:t>
            </a:r>
            <a:r>
              <a:rPr baseline="30000" i="1" lang="en"/>
              <a:t>beta</a:t>
            </a:r>
            <a:endParaRPr baseline="30000" i="1"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930400"/>
            <a:ext cx="3406981" cy="24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925" y="2930400"/>
            <a:ext cx="3103199" cy="2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4206838" y="29891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(NAMs)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361350"/>
            <a:ext cx="4054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</a:t>
            </a:r>
            <a:r>
              <a:rPr lang="en"/>
              <a:t>odal attribute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of an edge e</a:t>
            </a:r>
            <a:r>
              <a:rPr baseline="-25000" lang="en"/>
              <a:t>ij</a:t>
            </a:r>
            <a:r>
              <a:rPr lang="en"/>
              <a:t> is a function of the attributes of i and j only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p(e</a:t>
            </a:r>
            <a:r>
              <a:rPr baseline="-25000" lang="en"/>
              <a:t>ij</a:t>
            </a:r>
            <a:r>
              <a:rPr lang="en"/>
              <a:t>) ~ d(i, j)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d is distance in some socio-demographic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NAMs are thus models of the effect of homophily on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also referred to as spatial models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(NAMs)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361350"/>
            <a:ext cx="4387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ERGMs (so-called "statistical" models) are not true models of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NEMs explicitly specify the rules of network evolution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ERGMs tell us that some rule or mechanism is in operation but do not specify which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Mechanisms generating network structure are made explicit in NEMs but remain implicit in ERGMs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DEB (Davidsen et al., 2002)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13" name="Google Shape;213;p33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1547975"/>
                <a:gridCol w="6564175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 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if i has fewer than two ties, introduce it to a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random node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otherwise pick two neighbors of i and introduce them if they are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node and with prob.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remove all of its ties.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MVS(Marsili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0" name="Google Shape;220;p34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ξ, η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(λ=0.001) 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connect i to another random node with probability η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Select a friend’s friend of i (by uniformly random search) with probability ξ and introduce i to it if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tie and delete it with probability λ.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TOSHK(Toivonen et al., 2006)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7" name="Google Shape;227;p35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p, k (simplified)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Add a new node i to the network, connecting it to one random initial contact with probability p, or two with probability 1−p.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For each random initial contact j, draw a number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of secondary connections from the distribution U[0,k] and connect i to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neighbors of j if available.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 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Váz(Vázquez, 2003)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34" name="Google Shape;234;p36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 N, u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(I) With probability 1−u, add a new node to the network, connecting it to a random node i. Potential edges are created between the newcomer n and the neighbors j of i (a potential edge means that n and j have a common neighbor, i, but no direct link between them).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With probability u, convert one of such potential edges generated on any previous time step to an edge. Potential edges generated by converting an edge are ignored.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BPDA(Boguñá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41" name="Google Shape;241;p37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graphicFrame>
        <p:nvGraphicFramePr>
          <p:cNvPr id="247" name="Google Shape;247;p38"/>
          <p:cNvGraphicFramePr/>
          <p:nvPr/>
        </p:nvGraphicFramePr>
        <p:xfrm>
          <a:off x="451450" y="1274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{0CA77A68-BFED-4DF0-ACBF-38413D7FAB2E}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models reproduce average degree and size of largest component fairly well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Simpler (one-parameter) models (DEB, Vaz) overstate clustering; other models did not have this problem</a:t>
            </a:r>
            <a:endParaRPr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 (homophily-based) models do not generate realistic levels of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fail to produce heterogeneous (long-tailed) degree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do generate clique and community structure</a:t>
            </a:r>
            <a:endParaRPr/>
          </a:p>
        </p:txBody>
      </p:sp>
      <p:pic>
        <p:nvPicPr>
          <p:cNvPr id="261" name="Google Shape;2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361348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NEMs generate realistic level of degree-heterogeneity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generate realistic levels of clustering and giant component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assortativity falls short of empirical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weights into account improves performance</a:t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159300" y="1132750"/>
            <a:ext cx="5463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question: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accounts for the stability of social groups?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assumptions: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Groups are defined by shared socio-cultural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acquire and communicate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mediates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interact with people who share cultural knowledge with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individual’s behavior is a function of their current knowledge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Groups form an endure via the exchange of knowledge across persons in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at a maximum when no new knowledge enters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typically in flux as new knowledge (or individuals with different knowledge) enter the system</a:t>
            </a:r>
            <a:endParaRPr/>
          </a:p>
        </p:txBody>
      </p:sp>
      <p:pic>
        <p:nvPicPr>
          <p:cNvPr id="275" name="Google Shape;2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500" y="2144300"/>
            <a:ext cx="2950051" cy="216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Action/Interaction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</a:t>
            </a:r>
            <a:r>
              <a:rPr baseline="-25000" lang="en"/>
              <a:t>ij</a:t>
            </a:r>
            <a:r>
              <a:rPr lang="en"/>
              <a:t>(t) = 1 if i and j interact at time 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exchange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jk</a:t>
            </a:r>
            <a:r>
              <a:rPr lang="en"/>
              <a:t>(t) = 1 if i and j interact and j communicates fact k: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ijk</a:t>
            </a:r>
            <a:r>
              <a:rPr lang="en"/>
              <a:t>(t) = INT</a:t>
            </a:r>
            <a:r>
              <a:rPr baseline="-25000" lang="en"/>
              <a:t>ij</a:t>
            </a:r>
            <a:r>
              <a:rPr lang="en"/>
              <a:t>(t)  * u</a:t>
            </a:r>
            <a:r>
              <a:rPr baseline="-25000" lang="en"/>
              <a:t>jk</a:t>
            </a:r>
            <a:r>
              <a:rPr lang="en"/>
              <a:t>(t):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Interaction between i and j and j communicates fact k to i who “learns” it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a subsequent time period the probability of future interaction is a function of the “</a:t>
            </a:r>
            <a:r>
              <a:rPr b="1" lang="en"/>
              <a:t>relative</a:t>
            </a:r>
            <a:r>
              <a:rPr lang="en"/>
              <a:t> </a:t>
            </a:r>
            <a:r>
              <a:rPr b="1" lang="en"/>
              <a:t>cultural</a:t>
            </a:r>
            <a:r>
              <a:rPr lang="en"/>
              <a:t> </a:t>
            </a:r>
            <a:r>
              <a:rPr b="1" lang="en"/>
              <a:t>matching</a:t>
            </a:r>
            <a:r>
              <a:rPr lang="en"/>
              <a:t>” (overlap in facts) between i and j: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3128"/>
            <a:ext cx="3883324" cy="75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each time step a person i chooses a random interaction partner j with probability p</a:t>
            </a:r>
            <a:r>
              <a:rPr baseline="-25000" lang="en"/>
              <a:t>ij </a:t>
            </a:r>
            <a:r>
              <a:rPr lang="en"/>
              <a:t>if that person has not been chosen yet</a:t>
            </a:r>
            <a:r>
              <a:rPr lang="en"/>
              <a:t>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0700"/>
            <a:ext cx="3883324" cy="7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301" name="Google Shape;301;p46"/>
          <p:cNvSpPr txBox="1"/>
          <p:nvPr>
            <p:ph idx="1" type="body"/>
          </p:nvPr>
        </p:nvSpPr>
        <p:spPr>
          <a:xfrm>
            <a:off x="311700" y="1361350"/>
            <a:ext cx="62274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Constructural model can be thought as driven by the two mode person x cultural item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Share knowledge between people is the 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Leading to relative overlap probabilities of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structure then determines who interacts with whom in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Perfect stability as a special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Time to 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Longer less 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Endurance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Cultural Homogeneity:</a:t>
            </a:r>
            <a:endParaRPr/>
          </a:p>
        </p:txBody>
      </p:sp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025" y="1361350"/>
            <a:ext cx="2293285" cy="37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226" y="4063626"/>
            <a:ext cx="2650800" cy="10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