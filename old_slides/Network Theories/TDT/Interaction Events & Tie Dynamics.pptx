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xygen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xygen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Oxygen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19" Type="http://schemas.openxmlformats.org/officeDocument/2006/relationships/font" Target="fonts/Economica-boldItalic.fntdata"/><Relationship Id="rId18" Type="http://schemas.openxmlformats.org/officeDocument/2006/relationships/font" Target="fonts/Economic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c65a7e9da_0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c65a7e9d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27ef948c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27ef948c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c65a7e9da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c65a7e9d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27ef948c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27ef948c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27ef948c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27ef948c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27ef948c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27ef948c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27ef948c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27ef948c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27ef948c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27ef948c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c65a7e9d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c65a7e9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Events &amp; Tie Dynamics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of a Tie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918919"/>
            <a:ext cx="8520600" cy="25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(edges) have a life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Beginning 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Ending 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dynamics (changes):  3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evolution (maintenance)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 (Choice) 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Triadic 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Preferential Attachment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evolution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Decy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&amp; Events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13025"/>
            <a:ext cx="8520600" cy="16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= {V, E}     set of vertices and set of edges (arcs) connecting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determine if an edge exists between two vertices?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</a:t>
            </a:r>
            <a:r>
              <a:rPr baseline="-25000" lang="en"/>
              <a:t>ij</a:t>
            </a:r>
            <a:r>
              <a:rPr lang="en"/>
              <a:t> = 1      tie variable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Specify the relationship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Devise protocol to indicate </a:t>
            </a:r>
            <a:r>
              <a:rPr lang="en"/>
              <a:t>presence</a:t>
            </a:r>
            <a:r>
              <a:rPr lang="en"/>
              <a:t>/absence of an edge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8-22 at 09.35.16.png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15" y="3062275"/>
            <a:ext cx="6580960" cy="20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268800" y="179150"/>
            <a:ext cx="86064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918919"/>
            <a:ext cx="8520600" cy="25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social network?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Sets of vertices and edges:  G(N,M)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When does an edge between two vertices exist?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interaction event:  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communicative interaction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Social Network Dynamics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Temporal pattern of the interactions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Beginning and end to a sequence of interactions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873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Interaction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9501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also exchanges, transfers, purchases, joint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and often is directional in terms of sender/receiver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(interaction) </a:t>
            </a:r>
            <a:r>
              <a:rPr lang="en">
                <a:solidFill>
                  <a:srgbClr val="FF0000"/>
                </a:solidFill>
              </a:rPr>
              <a:t>events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ijt</a:t>
            </a:r>
            <a:r>
              <a:rPr lang="en"/>
              <a:t> = 1     communication from i to j starting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</a:t>
            </a:r>
            <a:r>
              <a:rPr lang="en">
                <a:solidFill>
                  <a:srgbClr val="FF0000"/>
                </a:solidFill>
              </a:rPr>
              <a:t>edges</a:t>
            </a:r>
            <a:r>
              <a:rPr lang="en"/>
              <a:t>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</a:t>
            </a:r>
            <a:r>
              <a:rPr baseline="-25000" lang="en"/>
              <a:t>ij(t,t+Δt)</a:t>
            </a:r>
            <a:r>
              <a:rPr lang="en"/>
              <a:t> = 1 if a</a:t>
            </a:r>
            <a:r>
              <a:rPr baseline="-25000" lang="en"/>
              <a:t>ijt*</a:t>
            </a:r>
            <a:r>
              <a:rPr lang="en"/>
              <a:t> = 1 where    t ≤ t* ≤ t + </a:t>
            </a:r>
            <a:r>
              <a:rPr lang="en"/>
              <a:t>Δt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filter by tie frequency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(Event) Frequency (aka tie strength)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</a:t>
            </a:r>
            <a:r>
              <a:rPr baseline="-25000" lang="en"/>
              <a:t>ij(t,t+Δt)</a:t>
            </a:r>
            <a:r>
              <a:rPr lang="en"/>
              <a:t> = ∑a</a:t>
            </a:r>
            <a:r>
              <a:rPr baseline="-25000" lang="en"/>
              <a:t>ijt</a:t>
            </a:r>
            <a:r>
              <a:rPr lang="en"/>
              <a:t> = 1   within time period t, t + Δt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Aggregating events across time to compute indicator of an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lost of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Sequencing of events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Waiting times between events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Dating Ties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25225"/>
            <a:ext cx="8520600" cy="23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Beginning date:  first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 of left-censoring.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NetHealth assume first interaction at ND is first interaction.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Ending date:  Date of last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 of dormant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much time after an interaction has occurred before probability of another interaction is very small?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NetHealth numbers:   two semesters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50" y="926000"/>
            <a:ext cx="7002001" cy="38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edge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30000" lang="en"/>
              <a:t>*</a:t>
            </a:r>
            <a:r>
              <a:rPr baseline="-25000" lang="en"/>
              <a:t>ijt</a:t>
            </a:r>
            <a:r>
              <a:rPr lang="en"/>
              <a:t> = 1 if a</a:t>
            </a:r>
            <a:r>
              <a:rPr baseline="-25000" lang="en"/>
              <a:t>ijt*</a:t>
            </a:r>
            <a:r>
              <a:rPr lang="en"/>
              <a:t> = 1 for t* &lt;= t  </a:t>
            </a:r>
            <a:r>
              <a:rPr lang="en" u="sng"/>
              <a:t>and</a:t>
            </a:r>
            <a:r>
              <a:rPr lang="en"/>
              <a:t> a</a:t>
            </a:r>
            <a:r>
              <a:rPr baseline="-25000" lang="en"/>
              <a:t>ijt*</a:t>
            </a:r>
            <a:r>
              <a:rPr lang="en"/>
              <a:t> = 1 for t* &gt;= 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between i and j is effective at a give point in time t iff there had been interaction between i and j prior to (or at) t </a:t>
            </a:r>
            <a:r>
              <a:rPr lang="en" u="sng"/>
              <a:t>and</a:t>
            </a:r>
            <a:r>
              <a:rPr lang="en"/>
              <a:t> there is interaction between i and j after 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and effective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ijt</a:t>
            </a:r>
            <a:r>
              <a:rPr lang="en"/>
              <a:t> = 1 , active at time t because of an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</a:t>
            </a:r>
            <a:r>
              <a:rPr baseline="30000" lang="en"/>
              <a:t>*</a:t>
            </a:r>
            <a:r>
              <a:rPr baseline="-25000" lang="en"/>
              <a:t>ijt</a:t>
            </a:r>
            <a:r>
              <a:rPr lang="en"/>
              <a:t> = 1 , effective at time t event if a</a:t>
            </a:r>
            <a:r>
              <a:rPr baseline="-25000" lang="en"/>
              <a:t>ijt</a:t>
            </a:r>
            <a:r>
              <a:rPr lang="en"/>
              <a:t> = 0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9" y="1074200"/>
            <a:ext cx="5001312" cy="37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5157300" y="46775"/>
            <a:ext cx="3986700" cy="4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∑x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1 over all j’s   </a:t>
            </a:r>
            <a:endParaRPr baseline="-250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i(t,t+Δt)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∑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ij(t,t+Δt)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aseline="-250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i(t,t+Δt)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d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for t at the end of the period            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Cumulative degree:  number of new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Plus  number of ties at beginning of the period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Cumulative count of decayed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Effective degree (Kappa - 𝛋) = new - decay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Cumulative - effective degree = ?????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Aggregating over time and alters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Over time to compute edges from events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Over alters to compute degree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Multilevel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Ties within Vertices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Variation between vertices and within vertices across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 within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Variation with ties over time (e.g., tie strength) and variation between ties (av. tie strength)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41265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Degree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Open Sans"/>
                <a:ea typeface="Open Sans"/>
                <a:cs typeface="Open Sans"/>
                <a:sym typeface="Open Sans"/>
              </a:rPr>
              <a:t>Mean weekly values of Cumulative Degree, Cumulative Deactivated Ties, Effective Degree and Active Degree over 40 weeks (N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etSense Data)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6130375" y="1153200"/>
            <a:ext cx="2736900" cy="3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xygen"/>
              <a:ea typeface="Oxygen"/>
              <a:cs typeface="Oxygen"/>
              <a:sym typeface="Oxyge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xygen"/>
              <a:buChar char="●"/>
            </a:pPr>
            <a:r>
              <a:rPr lang="en" sz="1600">
                <a:latin typeface="Oxygen"/>
                <a:ea typeface="Oxygen"/>
                <a:cs typeface="Oxygen"/>
                <a:sym typeface="Oxygen"/>
              </a:rPr>
              <a:t>Growth Period  (weeks 1-15)</a:t>
            </a:r>
            <a:endParaRPr sz="1600">
              <a:latin typeface="Oxygen"/>
              <a:ea typeface="Oxygen"/>
              <a:cs typeface="Oxygen"/>
              <a:sym typeface="Oxyge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xygen"/>
              <a:buChar char="●"/>
            </a:pPr>
            <a:r>
              <a:rPr lang="en" sz="1600">
                <a:latin typeface="Oxygen"/>
                <a:ea typeface="Oxygen"/>
                <a:cs typeface="Oxygen"/>
                <a:sym typeface="Oxygen"/>
              </a:rPr>
              <a:t>Mean Effective Degree fairly stable, μ = 25-28</a:t>
            </a:r>
            <a:endParaRPr sz="1600">
              <a:latin typeface="Oxygen"/>
              <a:ea typeface="Oxygen"/>
              <a:cs typeface="Oxygen"/>
              <a:sym typeface="Oxyge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xygen"/>
              <a:buChar char="●"/>
            </a:pPr>
            <a:r>
              <a:rPr lang="en" sz="1600">
                <a:latin typeface="Oxygen"/>
                <a:ea typeface="Oxygen"/>
                <a:cs typeface="Oxygen"/>
                <a:sym typeface="Oxygen"/>
              </a:rPr>
              <a:t>Mean Active Degree fluctuates because of period effects</a:t>
            </a:r>
            <a:endParaRPr sz="1600">
              <a:latin typeface="Oxygen"/>
              <a:ea typeface="Oxygen"/>
              <a:cs typeface="Oxygen"/>
              <a:sym typeface="Oxyge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xygen"/>
              <a:buChar char="●"/>
            </a:pPr>
            <a:r>
              <a:rPr lang="en" sz="1600">
                <a:latin typeface="Oxygen"/>
                <a:ea typeface="Oxygen"/>
                <a:cs typeface="Oxygen"/>
                <a:sym typeface="Oxygen"/>
              </a:rPr>
              <a:t>Cumulative New </a:t>
            </a:r>
            <a:br>
              <a:rPr lang="en" sz="1600">
                <a:latin typeface="Oxygen"/>
                <a:ea typeface="Oxygen"/>
                <a:cs typeface="Oxygen"/>
                <a:sym typeface="Oxygen"/>
              </a:rPr>
            </a:br>
            <a:r>
              <a:rPr lang="en" sz="1600">
                <a:latin typeface="Oxygen"/>
                <a:ea typeface="Oxygen"/>
                <a:cs typeface="Oxygen"/>
                <a:sym typeface="Oxygen"/>
              </a:rPr>
              <a:t>and Cumulative Deactivated captures churn</a:t>
            </a:r>
            <a:endParaRPr sz="1600"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descr="line-graph.png"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39125"/>
            <a:ext cx="5821649" cy="315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