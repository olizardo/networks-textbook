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8b124a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8b124a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a8b124a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a8b124a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8b124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8b124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a8b124a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a8b124a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a8b124a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a8b124a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a8b124a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7a8b124a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a8b124a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a8b124a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a8b124a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a8b124a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a8b124a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a8b124a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a8b124a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a8b124a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a8b124a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a8b124a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ae2ac1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ae2ac1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a8b124a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a8b124a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a8b124a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a8b124a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Brokerage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Triangles &amp; Intermediation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25225"/>
            <a:ext cx="5961900" cy="3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dyads to triads (Simmel)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Introducing a third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2-path connections through an 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focus from ego network to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network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Redundancy: if information comes into your network you could obtain it from any of your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 redundant ego networks → structural holes →  intermediation via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networks lead to both opportunity to obtain more information/ideas AND more mediation in social relationships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600" y="1299625"/>
            <a:ext cx="2718000" cy="27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Holes &amp; Weak Ties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25225"/>
            <a:ext cx="4836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Strong ties lead to triadic closure  (SWT)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Communities of densely connected nodes with bridges between communities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Ego level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Open vs. closed ego network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ego network clustering coefficient leads to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Redundancy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Constraint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Structural holes -- two-paths that are not full triangles -- creates opportunities to “fill” the hole as an intermediary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Brokerage</a:t>
            </a:r>
            <a:endParaRPr sz="14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500" y="1100625"/>
            <a:ext cx="3869500" cy="32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Redundancy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460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there is clustering, the effective size of a person’s network is lower than the </a:t>
            </a:r>
            <a:r>
              <a:rPr lang="en" sz="1600"/>
              <a:t>observed</a:t>
            </a:r>
            <a:r>
              <a:rPr lang="en" sz="1600"/>
              <a:t> size (degree centrality)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Consider the subgraph consisting only of the alters of an ego, along with the edges connecting them (i.e. remove ego from graph).  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 = number of alters, i.e. degree of ego</a:t>
            </a:r>
            <a:endParaRPr sz="1600"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lang="en" sz="1600"/>
              <a:t>M = number of edges among the N </a:t>
            </a:r>
            <a:r>
              <a:rPr lang="en"/>
              <a:t>alters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Size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525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N = 7, M = 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Av. Degree = 2M/N =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2*6/7 =  1.7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CC = density = 2M/(N(N-1)) = (2*6)/(7*6) = .286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ES = N - (2M/N) =  N - CC(N-1) = N - Av. D</a:t>
            </a:r>
            <a:endParaRPr/>
          </a:p>
          <a:p>
            <a:pPr indent="-317500" lvl="1" marL="914400" rtl="0" algn="l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/>
              <a:t>7-(2*6/7) = 7 - .286*6 = 7- 1.7 = 5.285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Efficiency = ES/N  = 5.285/7 = .755</a:t>
            </a:r>
            <a:endParaRPr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/>
              <a:t>Reach Efficiency:  ratio of 2-hop to 1-hop network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338" y="10059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28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Coefficient and Constraint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an ego’s perspective, how much is she a broker/intermediary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</a:t>
            </a:r>
            <a:r>
              <a:rPr lang="en"/>
              <a:t> is the opposite of brokerage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constrained, the fewer structural holes a person “fills”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“determinants” of constraint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hierarchy 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109" y="1057251"/>
            <a:ext cx="4202491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41220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</a:t>
            </a:r>
            <a:r>
              <a:rPr baseline="-25000" lang="en" sz="1600"/>
              <a:t>ij</a:t>
            </a:r>
            <a:r>
              <a:rPr lang="en" sz="1600"/>
              <a:t> = m</a:t>
            </a:r>
            <a:r>
              <a:rPr baseline="-25000" lang="en" sz="1600"/>
              <a:t>ij</a:t>
            </a:r>
            <a:r>
              <a:rPr lang="en" sz="1600"/>
              <a:t>/m</a:t>
            </a:r>
            <a:r>
              <a:rPr baseline="-25000" lang="en" sz="1600"/>
              <a:t>i+</a:t>
            </a:r>
            <a:r>
              <a:rPr lang="en" sz="1600"/>
              <a:t> 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conditional probability that if j interacts with someone it will be with i  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aseline="-25000" lang="en" sz="1600"/>
              <a:t> </a:t>
            </a:r>
            <a:endParaRPr baseline="-25000" sz="16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aseline="-25000" lang="en" sz="1600"/>
              <a:t>	</a:t>
            </a:r>
            <a:endParaRPr baseline="-25000" sz="1600"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734" y="676201"/>
            <a:ext cx="4202491" cy="3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50" y="2364625"/>
            <a:ext cx="3182717" cy="5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882475"/>
            <a:ext cx="1750700" cy="5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355950" y="3751075"/>
            <a:ext cx="38811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constraint ego networks means that the person spans fewer structural holes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4660775" y="3763150"/>
            <a:ext cx="42864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Constraint increases with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Decreases in network size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CC (alters talk to each other a lot)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Hierarchy ( alters convey information to ego via other alters)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Constraint by Hierarchical Level 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7225"/>
            <a:ext cx="5762077" cy="38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6287950" y="1293675"/>
            <a:ext cx="27177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higher the rank the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less constrained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larger their networks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Shorter the distance to all other managers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citations (selection as discussion partner by other managers)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More constrained their discussion partners are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225225"/>
            <a:ext cx="3788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in c</a:t>
            </a:r>
            <a:r>
              <a:rPr lang="en"/>
              <a:t>onstraint does not affect very much salary of lower and middle-levels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among senior managers and executives, the more constrained the less they make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constrained managers have lower evaluations and lower promotion rates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200" y="1299625"/>
            <a:ext cx="4739400" cy="350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Brokerage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248250"/>
            <a:ext cx="4847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Group nodes by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Brokerage can be within a group or between groups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Within-group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Coordinators</a:t>
            </a:r>
            <a:r>
              <a:rPr lang="en" sz="1200"/>
              <a:t>: brings together two persons within a group who would not otherwise be connected. Coordinator is also part of the group. 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Itinerant</a:t>
            </a:r>
            <a:r>
              <a:rPr b="1" lang="en" sz="1200"/>
              <a:t> Broker (consultant)</a:t>
            </a:r>
            <a:r>
              <a:rPr lang="en" sz="1200"/>
              <a:t>: same as coordinator but broker is not in the same group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Between-Group brokers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Gatekeeper</a:t>
            </a:r>
            <a:r>
              <a:rPr lang="en" sz="1200"/>
              <a:t>:  grants access to someone in the brokers group to someone outside the group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Representative</a:t>
            </a:r>
            <a:r>
              <a:rPr lang="en" sz="1200"/>
              <a:t>:  Broker connects people in her group to outsiders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Liaison</a:t>
            </a:r>
            <a:r>
              <a:rPr lang="en" sz="1200"/>
              <a:t>:  All three actors in different groups</a:t>
            </a:r>
            <a:endParaRPr sz="1200"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400" y="613825"/>
            <a:ext cx="3291900" cy="40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Brokerage Type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Computes measure of brokerage of each type for each agent (person, organization)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brokerage, sum of brokerage type measures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Compute individual measures by counting the number of triads of each type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Normalize by taking into account possibility of counts occurring by random matching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sort nodes into groups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of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025" y="119275"/>
            <a:ext cx="31943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Scores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225225"/>
            <a:ext cx="500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73  organizations divided into 3 groups:  businesses, government, non-profit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While for over half of organizations brokerage levels below what we would expect by chance, a few have very high  brokerage scores  →  not a random network.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Radio station highest  brokerage level and for all types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Newspaper next highest, but not as a coordinator (i.e. not in the same group)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Chamber of Commerce not as liason or consultant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Municipal employees union #2 : overall not a broker, though it is more likely than chance to be coordinator within its sector (which includes other non-profit)</a:t>
            </a:r>
            <a:endParaRPr sz="1400"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6521" y="152400"/>
            <a:ext cx="31315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Brokerage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Burt:  Brokerage as not constrained, i.e. “spans”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 of network size, clustering and hierarchy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Gould and Fernandez:  Brokerage as role played in a triangle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Distinguish different brokerage (mediation) roles in terms of different structural network motifs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and between group intermediation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group brokerage -- bringing together people who are in the same group but not already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 group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Representing group to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Gatekeeping for group with access by outsider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Bringing together people from different groups who are not connected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Brokerage as Process</a:t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2104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Obstfeld, Borgatti and Davis counter-examples to brokerage defined in terms of structural holes: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Brokerage between 2 parties who already interact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Brokers as “</a:t>
            </a:r>
            <a:r>
              <a:rPr lang="en"/>
              <a:t>facilitators</a:t>
            </a:r>
            <a:r>
              <a:rPr lang="en"/>
              <a:t>” within a dense network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necessarily brokerage when party connects two unconnected persons (i.e. a structural hole)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Structural holes (2-paths) are opportunities for brokerage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Brokerage requires not just opportunity, but motivation and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forms brokering can take:  Conduit, Tertius Gaudens, Tertius lungens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