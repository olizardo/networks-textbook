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Economica"/>
      <p:regular r:id="rId35"/>
      <p:bold r:id="rId36"/>
      <p:italic r:id="rId37"/>
      <p:boldItalic r:id="rId38"/>
    </p:embeddedFont>
    <p:embeddedFont>
      <p:font typeface="Open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fntdata"/><Relationship Id="rId20" Type="http://schemas.openxmlformats.org/officeDocument/2006/relationships/slide" Target="slides/slide15.xml"/><Relationship Id="rId42" Type="http://schemas.openxmlformats.org/officeDocument/2006/relationships/font" Target="fonts/OpenSans-boldItalic.fntdata"/><Relationship Id="rId41" Type="http://schemas.openxmlformats.org/officeDocument/2006/relationships/font" Target="fonts/OpenSans-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Economica-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Economica-italic.fntdata"/><Relationship Id="rId14" Type="http://schemas.openxmlformats.org/officeDocument/2006/relationships/slide" Target="slides/slide9.xml"/><Relationship Id="rId36" Type="http://schemas.openxmlformats.org/officeDocument/2006/relationships/font" Target="fonts/Economica-bold.fntdata"/><Relationship Id="rId17" Type="http://schemas.openxmlformats.org/officeDocument/2006/relationships/slide" Target="slides/slide12.xml"/><Relationship Id="rId39" Type="http://schemas.openxmlformats.org/officeDocument/2006/relationships/font" Target="fonts/OpenSans-regular.fntdata"/><Relationship Id="rId16" Type="http://schemas.openxmlformats.org/officeDocument/2006/relationships/slide" Target="slides/slide11.xml"/><Relationship Id="rId38" Type="http://schemas.openxmlformats.org/officeDocument/2006/relationships/font" Target="fonts/Economica-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7419557f26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7419557f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7419557f26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7419557f2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7419557f26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7419557f2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7419557f26_0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7419557f2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7419557f26_0_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7419557f26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7419557f26_0_5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7419557f2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7419557f26_0_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7419557f2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7419557f26_0_6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7419557f26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7419557f26_0_7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7419557f26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7419557f26_0_7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7419557f26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7419557f26_0_9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7419557f26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7419557f26_0_1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7419557f26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7419557f26_0_1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7419557f26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7419557f26_0_1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7419557f26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7419557f26_0_13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7419557f26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7419557f26_0_14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7419557f26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7419557f26_0_14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7419557f26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7419557f26_0_16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7419557f26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7419557f26_0_18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7419557f26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7419557f26_0_2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7419557f26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7419557f26_0_2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7419557f26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and out degree??</a:t>
            </a:r>
            <a:endParaRPr/>
          </a:p>
          <a:p>
            <a:pPr indent="0" lvl="0" marL="0" rtl="0" algn="l">
              <a:spcBef>
                <a:spcPts val="0"/>
              </a:spcBef>
              <a:spcAft>
                <a:spcPts val="0"/>
              </a:spcAft>
              <a:buNone/>
            </a:pPr>
            <a:r>
              <a:rPr lang="en"/>
              <a:t>out -  URLs found on HTML doc</a:t>
            </a:r>
            <a:endParaRPr/>
          </a:p>
          <a:p>
            <a:pPr indent="0" lvl="0" marL="0" rtl="0" algn="l">
              <a:spcBef>
                <a:spcPts val="0"/>
              </a:spcBef>
              <a:spcAft>
                <a:spcPts val="0"/>
              </a:spcAft>
              <a:buNone/>
            </a:pPr>
            <a:r>
              <a:rPr lang="en"/>
              <a:t>in - links that point to doc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adding edges vs adding nodes</a:t>
            </a:r>
            <a:endParaRPr/>
          </a:p>
          <a:p>
            <a:pPr indent="0" lvl="0" marL="0" rtl="0" algn="l">
              <a:spcBef>
                <a:spcPts val="0"/>
              </a:spcBef>
              <a:spcAft>
                <a:spcPts val="0"/>
              </a:spcAft>
              <a:buNone/>
            </a:pPr>
            <a:r>
              <a:rPr lang="en"/>
              <a:t>reattachment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7419557f26_0_23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7419557f26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7419557f26_0_24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7419557f26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7419557f26_0_2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7419557f26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cf2311608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cf2311608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7419557f26_0_2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7419557f26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7419557f26_0_2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7419557f26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7419557f26_0_15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7419557f26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2.jpg"/><Relationship Id="rId5"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gif"/><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Whole Networks &amp; Dynamics</a:t>
            </a:r>
            <a:endParaRPr/>
          </a:p>
        </p:txBody>
      </p:sp>
      <p:sp>
        <p:nvSpPr>
          <p:cNvPr id="63" name="Google Shape;63;p13"/>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Units of Analysis</a:t>
            </a:r>
            <a:endParaRPr/>
          </a:p>
        </p:txBody>
      </p:sp>
      <p:sp>
        <p:nvSpPr>
          <p:cNvPr id="69" name="Google Shape;69;p1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Social Network Analysis</a:t>
            </a:r>
            <a:endParaRPr/>
          </a:p>
          <a:p>
            <a:pPr indent="-317500" lvl="1" marL="914400" rtl="0" algn="l">
              <a:spcBef>
                <a:spcPts val="0"/>
              </a:spcBef>
              <a:spcAft>
                <a:spcPts val="0"/>
              </a:spcAft>
              <a:buSzPts val="1400"/>
              <a:buChar char="○"/>
            </a:pPr>
            <a:r>
              <a:rPr lang="en"/>
              <a:t>vertices (people) </a:t>
            </a:r>
            <a:endParaRPr/>
          </a:p>
          <a:p>
            <a:pPr indent="-317500" lvl="1" marL="914400" rtl="0" algn="l">
              <a:spcBef>
                <a:spcPts val="0"/>
              </a:spcBef>
              <a:spcAft>
                <a:spcPts val="0"/>
              </a:spcAft>
              <a:buSzPts val="1400"/>
              <a:buChar char="○"/>
            </a:pPr>
            <a:r>
              <a:rPr lang="en"/>
              <a:t>dyads</a:t>
            </a:r>
            <a:endParaRPr/>
          </a:p>
          <a:p>
            <a:pPr indent="-342900" lvl="0" marL="457200" rtl="0" algn="l">
              <a:spcBef>
                <a:spcPts val="0"/>
              </a:spcBef>
              <a:spcAft>
                <a:spcPts val="0"/>
              </a:spcAft>
              <a:buSzPts val="1800"/>
              <a:buChar char="●"/>
            </a:pPr>
            <a:r>
              <a:rPr lang="en"/>
              <a:t>Network Science:  whole networks</a:t>
            </a:r>
            <a:endParaRPr/>
          </a:p>
          <a:p>
            <a:pPr indent="-342900" lvl="0" marL="457200" rtl="0" algn="l">
              <a:spcBef>
                <a:spcPts val="0"/>
              </a:spcBef>
              <a:spcAft>
                <a:spcPts val="0"/>
              </a:spcAft>
              <a:buSzPts val="1800"/>
              <a:buChar char="●"/>
            </a:pPr>
            <a:r>
              <a:rPr lang="en"/>
              <a:t>Compare different networks</a:t>
            </a:r>
            <a:endParaRPr/>
          </a:p>
          <a:p>
            <a:pPr indent="-317500" lvl="1" marL="914400" rtl="0" algn="l">
              <a:spcBef>
                <a:spcPts val="0"/>
              </a:spcBef>
              <a:spcAft>
                <a:spcPts val="0"/>
              </a:spcAft>
              <a:buSzPts val="1400"/>
              <a:buChar char="○"/>
            </a:pPr>
            <a:r>
              <a:rPr lang="en"/>
              <a:t>How are they similar</a:t>
            </a:r>
            <a:endParaRPr/>
          </a:p>
          <a:p>
            <a:pPr indent="-317500" lvl="1" marL="914400" rtl="0" algn="l">
              <a:spcBef>
                <a:spcPts val="0"/>
              </a:spcBef>
              <a:spcAft>
                <a:spcPts val="0"/>
              </a:spcAft>
              <a:buSzPts val="1400"/>
              <a:buChar char="○"/>
            </a:pPr>
            <a:r>
              <a:rPr lang="en"/>
              <a:t>How do they differ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t>Social and physical scientists tend to have different goals. In the physical sciences, it has not been unusual for a research paper to have as its goal to demonstrate that a series of networks have a certain property (and that this property would be rare in random networks). For social scientists, the default expectation has been that different networks (and nodes within them) will have varying network properties and that these variations account for differences in outcomes for the networks (or nodes).</a:t>
            </a:r>
            <a:endParaRPr sz="1800"/>
          </a:p>
          <a:p>
            <a:pPr indent="0" lvl="0" marL="1828800" rtl="0" algn="l">
              <a:spcBef>
                <a:spcPts val="1600"/>
              </a:spcBef>
              <a:spcAft>
                <a:spcPts val="0"/>
              </a:spcAft>
              <a:buClr>
                <a:schemeClr val="dk1"/>
              </a:buClr>
              <a:buSzPts val="1100"/>
              <a:buFont typeface="Arial"/>
              <a:buNone/>
            </a:pPr>
            <a:r>
              <a:rPr lang="en" sz="1400">
                <a:solidFill>
                  <a:srgbClr val="222222"/>
                </a:solidFill>
                <a:highlight>
                  <a:srgbClr val="FFFFFF"/>
                </a:highlight>
              </a:rPr>
              <a:t>Borgatti, Stephen P., et al. "Network analysis in the social </a:t>
            </a:r>
            <a:br>
              <a:rPr lang="en" sz="1400">
                <a:solidFill>
                  <a:srgbClr val="222222"/>
                </a:solidFill>
                <a:highlight>
                  <a:srgbClr val="FFFFFF"/>
                </a:highlight>
              </a:rPr>
            </a:br>
            <a:r>
              <a:rPr lang="en" sz="1400">
                <a:solidFill>
                  <a:srgbClr val="222222"/>
                </a:solidFill>
                <a:highlight>
                  <a:srgbClr val="FFFFFF"/>
                </a:highlight>
              </a:rPr>
              <a:t>sciences." </a:t>
            </a:r>
            <a:r>
              <a:rPr i="1" lang="en" sz="1400">
                <a:solidFill>
                  <a:srgbClr val="222222"/>
                </a:solidFill>
                <a:highlight>
                  <a:srgbClr val="FFFFFF"/>
                </a:highlight>
              </a:rPr>
              <a:t>Science </a:t>
            </a:r>
            <a:r>
              <a:rPr lang="en" sz="1400">
                <a:solidFill>
                  <a:srgbClr val="222222"/>
                </a:solidFill>
                <a:highlight>
                  <a:srgbClr val="FFFFFF"/>
                </a:highlight>
              </a:rPr>
              <a:t>323.5916 (2009): 892-895.</a:t>
            </a:r>
            <a:endParaRPr sz="1400"/>
          </a:p>
          <a:p>
            <a:pPr indent="0" lvl="0" marL="0" rtl="0" algn="l">
              <a:spcBef>
                <a:spcPts val="1600"/>
              </a:spcBef>
              <a:spcAft>
                <a:spcPts val="160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6"/>
          <p:cNvPicPr preferRelativeResize="0"/>
          <p:nvPr/>
        </p:nvPicPr>
        <p:blipFill>
          <a:blip r:embed="rId3">
            <a:alphaModFix/>
          </a:blip>
          <a:stretch>
            <a:fillRect/>
          </a:stretch>
        </p:blipFill>
        <p:spPr>
          <a:xfrm>
            <a:off x="7262750" y="2087225"/>
            <a:ext cx="896824" cy="647700"/>
          </a:xfrm>
          <a:prstGeom prst="rect">
            <a:avLst/>
          </a:prstGeom>
          <a:noFill/>
          <a:ln>
            <a:noFill/>
          </a:ln>
        </p:spPr>
      </p:pic>
      <p:sp>
        <p:nvSpPr>
          <p:cNvPr id="81" name="Google Shape;81;p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Properties</a:t>
            </a:r>
            <a:endParaRPr/>
          </a:p>
        </p:txBody>
      </p:sp>
      <p:sp>
        <p:nvSpPr>
          <p:cNvPr id="82" name="Google Shape;82;p16"/>
          <p:cNvSpPr txBox="1"/>
          <p:nvPr>
            <p:ph idx="1" type="body"/>
          </p:nvPr>
        </p:nvSpPr>
        <p:spPr>
          <a:xfrm>
            <a:off x="549450" y="1235675"/>
            <a:ext cx="8229600" cy="3725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Size:   Number of edges (E), Number of Vertices (N)</a:t>
            </a:r>
            <a:endParaRPr/>
          </a:p>
          <a:p>
            <a:pPr indent="-342900" lvl="0" marL="457200" rtl="0" algn="l">
              <a:spcBef>
                <a:spcPts val="0"/>
              </a:spcBef>
              <a:spcAft>
                <a:spcPts val="0"/>
              </a:spcAft>
              <a:buSzPts val="1800"/>
              <a:buChar char="●"/>
            </a:pPr>
            <a:r>
              <a:rPr lang="en"/>
              <a:t>Density: </a:t>
            </a:r>
            <a:endParaRPr/>
          </a:p>
          <a:p>
            <a:pPr indent="-342900" lvl="0" marL="457200" rtl="0" algn="l">
              <a:spcBef>
                <a:spcPts val="0"/>
              </a:spcBef>
              <a:spcAft>
                <a:spcPts val="0"/>
              </a:spcAft>
              <a:buSzPts val="1800"/>
              <a:buChar char="●"/>
            </a:pPr>
            <a:r>
              <a:rPr lang="en"/>
              <a:t>Average Degree   </a:t>
            </a:r>
            <a:endParaRPr/>
          </a:p>
          <a:p>
            <a:pPr indent="0" lvl="0" marL="0" rtl="0" algn="l">
              <a:spcBef>
                <a:spcPts val="1600"/>
              </a:spcBef>
              <a:spcAft>
                <a:spcPts val="1600"/>
              </a:spcAft>
              <a:buNone/>
            </a:pPr>
            <a:r>
              <a:t/>
            </a:r>
            <a:endParaRPr sz="2400"/>
          </a:p>
        </p:txBody>
      </p:sp>
      <p:pic>
        <p:nvPicPr>
          <p:cNvPr id="83" name="Google Shape;83;p16"/>
          <p:cNvPicPr preferRelativeResize="0"/>
          <p:nvPr/>
        </p:nvPicPr>
        <p:blipFill>
          <a:blip r:embed="rId4">
            <a:alphaModFix/>
          </a:blip>
          <a:stretch>
            <a:fillRect/>
          </a:stretch>
        </p:blipFill>
        <p:spPr>
          <a:xfrm>
            <a:off x="6795925" y="1072375"/>
            <a:ext cx="1711779" cy="647700"/>
          </a:xfrm>
          <a:prstGeom prst="rect">
            <a:avLst/>
          </a:prstGeom>
          <a:noFill/>
          <a:ln>
            <a:noFill/>
          </a:ln>
        </p:spPr>
      </p:pic>
      <p:pic>
        <p:nvPicPr>
          <p:cNvPr id="84" name="Google Shape;84;p16"/>
          <p:cNvPicPr preferRelativeResize="0"/>
          <p:nvPr/>
        </p:nvPicPr>
        <p:blipFill>
          <a:blip r:embed="rId5">
            <a:alphaModFix/>
          </a:blip>
          <a:stretch>
            <a:fillRect/>
          </a:stretch>
        </p:blipFill>
        <p:spPr>
          <a:xfrm>
            <a:off x="7030113" y="3044025"/>
            <a:ext cx="1362075" cy="647700"/>
          </a:xfrm>
          <a:prstGeom prst="rect">
            <a:avLst/>
          </a:prstGeom>
          <a:noFill/>
          <a:ln>
            <a:noFill/>
          </a:ln>
        </p:spPr>
      </p:pic>
      <p:sp>
        <p:nvSpPr>
          <p:cNvPr id="85" name="Google Shape;85;p16"/>
          <p:cNvSpPr txBox="1"/>
          <p:nvPr/>
        </p:nvSpPr>
        <p:spPr>
          <a:xfrm>
            <a:off x="3924950" y="4339225"/>
            <a:ext cx="32457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Properties</a:t>
            </a:r>
            <a:endParaRPr/>
          </a:p>
        </p:txBody>
      </p:sp>
      <p:sp>
        <p:nvSpPr>
          <p:cNvPr id="91" name="Google Shape;91;p17"/>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Largest Component Size:  fraction of vertices in largest component</a:t>
            </a:r>
            <a:endParaRPr/>
          </a:p>
          <a:p>
            <a:pPr indent="-317500" lvl="1" marL="914400" rtl="0" algn="l">
              <a:spcBef>
                <a:spcPts val="1600"/>
              </a:spcBef>
              <a:spcAft>
                <a:spcPts val="0"/>
              </a:spcAft>
              <a:buSzPts val="1400"/>
              <a:buChar char="○"/>
            </a:pPr>
            <a:r>
              <a:rPr lang="en"/>
              <a:t>how connected is the network</a:t>
            </a:r>
            <a:endParaRPr/>
          </a:p>
          <a:p>
            <a:pPr indent="-342900" lvl="0" marL="457200" rtl="0" algn="l">
              <a:spcBef>
                <a:spcPts val="1600"/>
              </a:spcBef>
              <a:spcAft>
                <a:spcPts val="0"/>
              </a:spcAft>
              <a:buSzPts val="1800"/>
              <a:buChar char="●"/>
            </a:pPr>
            <a:r>
              <a:rPr lang="en"/>
              <a:t>Average Clustering Coefficient</a:t>
            </a:r>
            <a:endParaRPr sz="2400"/>
          </a:p>
          <a:p>
            <a:pPr indent="0" lvl="0" marL="0" rtl="0" algn="l">
              <a:spcBef>
                <a:spcPts val="1600"/>
              </a:spcBef>
              <a:spcAft>
                <a:spcPts val="1600"/>
              </a:spcAft>
              <a:buNone/>
            </a:pPr>
            <a:r>
              <a:t/>
            </a:r>
            <a:endParaRPr/>
          </a:p>
        </p:txBody>
      </p:sp>
      <p:pic>
        <p:nvPicPr>
          <p:cNvPr id="92" name="Google Shape;92;p17"/>
          <p:cNvPicPr preferRelativeResize="0"/>
          <p:nvPr/>
        </p:nvPicPr>
        <p:blipFill>
          <a:blip r:embed="rId3">
            <a:alphaModFix/>
          </a:blip>
          <a:stretch>
            <a:fillRect/>
          </a:stretch>
        </p:blipFill>
        <p:spPr>
          <a:xfrm>
            <a:off x="600550" y="3173438"/>
            <a:ext cx="2743200" cy="1152525"/>
          </a:xfrm>
          <a:prstGeom prst="rect">
            <a:avLst/>
          </a:prstGeom>
          <a:noFill/>
          <a:ln>
            <a:noFill/>
          </a:ln>
        </p:spPr>
      </p:pic>
      <p:sp>
        <p:nvSpPr>
          <p:cNvPr id="93" name="Google Shape;93;p17"/>
          <p:cNvSpPr txBox="1"/>
          <p:nvPr/>
        </p:nvSpPr>
        <p:spPr>
          <a:xfrm>
            <a:off x="3233300" y="3502375"/>
            <a:ext cx="2398500" cy="4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where E</a:t>
            </a:r>
            <a:r>
              <a:rPr baseline="-25000" lang="en"/>
              <a:t>i</a:t>
            </a:r>
            <a:r>
              <a:rPr lang="en"/>
              <a:t> is number of edges among i’s alters</a:t>
            </a:r>
            <a:endParaRPr/>
          </a:p>
        </p:txBody>
      </p:sp>
      <p:pic>
        <p:nvPicPr>
          <p:cNvPr id="94" name="Google Shape;94;p17"/>
          <p:cNvPicPr preferRelativeResize="0"/>
          <p:nvPr/>
        </p:nvPicPr>
        <p:blipFill>
          <a:blip r:embed="rId4">
            <a:alphaModFix/>
          </a:blip>
          <a:stretch>
            <a:fillRect/>
          </a:stretch>
        </p:blipFill>
        <p:spPr>
          <a:xfrm>
            <a:off x="6044463" y="3230375"/>
            <a:ext cx="2028825" cy="1181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Diameter</a:t>
            </a:r>
            <a:endParaRPr/>
          </a:p>
        </p:txBody>
      </p:sp>
      <p:sp>
        <p:nvSpPr>
          <p:cNvPr id="100" name="Google Shape;100;p18"/>
          <p:cNvSpPr txBox="1"/>
          <p:nvPr>
            <p:ph idx="1" type="body"/>
          </p:nvPr>
        </p:nvSpPr>
        <p:spPr>
          <a:xfrm>
            <a:off x="457200" y="1200150"/>
            <a:ext cx="3653700" cy="37257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Geodesic distance:  l</a:t>
            </a:r>
            <a:r>
              <a:rPr baseline="-25000" lang="en" sz="2200"/>
              <a:t>ij</a:t>
            </a:r>
            <a:endParaRPr sz="2200"/>
          </a:p>
          <a:p>
            <a:pPr indent="-368300" lvl="1" marL="914400" rtl="0" algn="l">
              <a:spcBef>
                <a:spcPts val="0"/>
              </a:spcBef>
              <a:spcAft>
                <a:spcPts val="0"/>
              </a:spcAft>
              <a:buSzPts val="2200"/>
              <a:buChar char="○"/>
            </a:pPr>
            <a:r>
              <a:rPr lang="en" sz="2200"/>
              <a:t>shortest number of hops from </a:t>
            </a:r>
            <a:r>
              <a:rPr i="1" lang="en" sz="2200"/>
              <a:t>i</a:t>
            </a:r>
            <a:r>
              <a:rPr lang="en" sz="2200"/>
              <a:t> to </a:t>
            </a:r>
            <a:r>
              <a:rPr i="1" lang="en" sz="2200"/>
              <a:t>j</a:t>
            </a:r>
            <a:endParaRPr i="1" sz="2200"/>
          </a:p>
          <a:p>
            <a:pPr indent="-368300" lvl="1" marL="914400" rtl="0" algn="l">
              <a:spcBef>
                <a:spcPts val="0"/>
              </a:spcBef>
              <a:spcAft>
                <a:spcPts val="0"/>
              </a:spcAft>
              <a:buSzPts val="2200"/>
              <a:buChar char="○"/>
            </a:pPr>
            <a:r>
              <a:rPr lang="en" sz="2200"/>
              <a:t>shortest path length</a:t>
            </a:r>
            <a:endParaRPr sz="2200"/>
          </a:p>
          <a:p>
            <a:pPr indent="-368300" lvl="0" marL="457200" rtl="0" algn="l">
              <a:spcBef>
                <a:spcPts val="0"/>
              </a:spcBef>
              <a:spcAft>
                <a:spcPts val="0"/>
              </a:spcAft>
              <a:buSzPts val="2200"/>
              <a:buChar char="●"/>
            </a:pPr>
            <a:r>
              <a:rPr lang="en" sz="2200"/>
              <a:t>Diameter:  Longest shortest path:  max l</a:t>
            </a:r>
            <a:r>
              <a:rPr baseline="-25000" lang="en" sz="2200"/>
              <a:t>ij</a:t>
            </a:r>
            <a:endParaRPr baseline="-25000" sz="2200"/>
          </a:p>
          <a:p>
            <a:pPr indent="-368300" lvl="0" marL="457200" rtl="0" algn="l">
              <a:spcBef>
                <a:spcPts val="0"/>
              </a:spcBef>
              <a:spcAft>
                <a:spcPts val="0"/>
              </a:spcAft>
              <a:buSzPts val="2200"/>
              <a:buChar char="●"/>
            </a:pPr>
            <a:r>
              <a:rPr lang="en" sz="2200"/>
              <a:t>Average path length  </a:t>
            </a:r>
            <a:endParaRPr sz="2200"/>
          </a:p>
        </p:txBody>
      </p:sp>
      <p:pic>
        <p:nvPicPr>
          <p:cNvPr id="101" name="Google Shape;101;p18"/>
          <p:cNvPicPr preferRelativeResize="0"/>
          <p:nvPr/>
        </p:nvPicPr>
        <p:blipFill>
          <a:blip r:embed="rId3">
            <a:alphaModFix/>
          </a:blip>
          <a:stretch>
            <a:fillRect/>
          </a:stretch>
        </p:blipFill>
        <p:spPr>
          <a:xfrm>
            <a:off x="4233863" y="161925"/>
            <a:ext cx="4791075" cy="4819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Assortativity</a:t>
            </a:r>
            <a:endParaRPr/>
          </a:p>
        </p:txBody>
      </p:sp>
      <p:sp>
        <p:nvSpPr>
          <p:cNvPr id="107" name="Google Shape;107;p1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Dyad level - homophily</a:t>
            </a:r>
            <a:endParaRPr/>
          </a:p>
          <a:p>
            <a:pPr indent="-342900" lvl="0" marL="457200" rtl="0" algn="l">
              <a:spcBef>
                <a:spcPts val="0"/>
              </a:spcBef>
              <a:spcAft>
                <a:spcPts val="0"/>
              </a:spcAft>
              <a:buSzPts val="1800"/>
              <a:buChar char="●"/>
            </a:pPr>
            <a:r>
              <a:rPr lang="en"/>
              <a:t>Network - assortativity</a:t>
            </a:r>
            <a:endParaRPr/>
          </a:p>
          <a:p>
            <a:pPr indent="-317500" lvl="1" marL="914400" rtl="0" algn="l">
              <a:spcBef>
                <a:spcPts val="0"/>
              </a:spcBef>
              <a:spcAft>
                <a:spcPts val="0"/>
              </a:spcAft>
              <a:buSzPts val="1400"/>
              <a:buChar char="○"/>
            </a:pPr>
            <a:r>
              <a:rPr lang="en"/>
              <a:t>correlation between values of the two vertices</a:t>
            </a:r>
            <a:endParaRPr/>
          </a:p>
          <a:p>
            <a:pPr indent="-342900" lvl="0" marL="457200" rtl="0" algn="l">
              <a:spcBef>
                <a:spcPts val="0"/>
              </a:spcBef>
              <a:spcAft>
                <a:spcPts val="0"/>
              </a:spcAft>
              <a:buSzPts val="1800"/>
              <a:buChar char="●"/>
            </a:pPr>
            <a:r>
              <a:rPr lang="en"/>
              <a:t>Degree assortativity</a:t>
            </a:r>
            <a:endParaRPr/>
          </a:p>
          <a:p>
            <a:pPr indent="-317500" lvl="1" marL="914400" rtl="0" algn="l">
              <a:spcBef>
                <a:spcPts val="0"/>
              </a:spcBef>
              <a:spcAft>
                <a:spcPts val="0"/>
              </a:spcAft>
              <a:buSzPts val="1400"/>
              <a:buChar char="○"/>
            </a:pPr>
            <a:r>
              <a:rPr lang="en"/>
              <a:t>high degree nodes more likely to have ties with other high degree nodes</a:t>
            </a:r>
            <a:endParaRPr/>
          </a:p>
          <a:p>
            <a:pPr indent="-317500" lvl="1" marL="914400" rtl="0" algn="l">
              <a:spcBef>
                <a:spcPts val="0"/>
              </a:spcBef>
              <a:spcAft>
                <a:spcPts val="0"/>
              </a:spcAft>
              <a:buSzPts val="1400"/>
              <a:buChar char="○"/>
            </a:pPr>
            <a:r>
              <a:rPr lang="en"/>
              <a:t>low degree nodes more likely to have ties with other low degree nodes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20"/>
          <p:cNvPicPr preferRelativeResize="0"/>
          <p:nvPr/>
        </p:nvPicPr>
        <p:blipFill>
          <a:blip r:embed="rId3">
            <a:alphaModFix/>
          </a:blip>
          <a:stretch>
            <a:fillRect/>
          </a:stretch>
        </p:blipFill>
        <p:spPr>
          <a:xfrm>
            <a:off x="4447775" y="1737003"/>
            <a:ext cx="759000" cy="548150"/>
          </a:xfrm>
          <a:prstGeom prst="rect">
            <a:avLst/>
          </a:prstGeom>
          <a:noFill/>
          <a:ln>
            <a:noFill/>
          </a:ln>
        </p:spPr>
      </p:pic>
      <p:sp>
        <p:nvSpPr>
          <p:cNvPr id="113" name="Google Shape;113;p20"/>
          <p:cNvSpPr txBox="1"/>
          <p:nvPr>
            <p:ph type="title"/>
          </p:nvPr>
        </p:nvSpPr>
        <p:spPr>
          <a:xfrm>
            <a:off x="182525" y="1940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Random Graph</a:t>
            </a:r>
            <a:endParaRPr/>
          </a:p>
        </p:txBody>
      </p:sp>
      <p:pic>
        <p:nvPicPr>
          <p:cNvPr id="114" name="Google Shape;114;p20"/>
          <p:cNvPicPr preferRelativeResize="0"/>
          <p:nvPr/>
        </p:nvPicPr>
        <p:blipFill>
          <a:blip r:embed="rId4">
            <a:alphaModFix/>
          </a:blip>
          <a:stretch>
            <a:fillRect/>
          </a:stretch>
        </p:blipFill>
        <p:spPr>
          <a:xfrm>
            <a:off x="6366675" y="2711263"/>
            <a:ext cx="2381250" cy="1800225"/>
          </a:xfrm>
          <a:prstGeom prst="rect">
            <a:avLst/>
          </a:prstGeom>
          <a:noFill/>
          <a:ln>
            <a:noFill/>
          </a:ln>
        </p:spPr>
      </p:pic>
      <p:pic>
        <p:nvPicPr>
          <p:cNvPr id="115" name="Google Shape;115;p20"/>
          <p:cNvPicPr preferRelativeResize="0"/>
          <p:nvPr/>
        </p:nvPicPr>
        <p:blipFill>
          <a:blip r:embed="rId5">
            <a:alphaModFix/>
          </a:blip>
          <a:stretch>
            <a:fillRect/>
          </a:stretch>
        </p:blipFill>
        <p:spPr>
          <a:xfrm>
            <a:off x="6903920" y="978395"/>
            <a:ext cx="1306750" cy="1306750"/>
          </a:xfrm>
          <a:prstGeom prst="rect">
            <a:avLst/>
          </a:prstGeom>
          <a:noFill/>
          <a:ln>
            <a:noFill/>
          </a:ln>
        </p:spPr>
      </p:pic>
      <p:sp>
        <p:nvSpPr>
          <p:cNvPr id="116" name="Google Shape;116;p20"/>
          <p:cNvSpPr txBox="1"/>
          <p:nvPr>
            <p:ph idx="1" type="body"/>
          </p:nvPr>
        </p:nvSpPr>
        <p:spPr>
          <a:xfrm>
            <a:off x="311700" y="1106175"/>
            <a:ext cx="5926200" cy="3862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P</a:t>
            </a:r>
            <a:r>
              <a:rPr lang="en" sz="1800"/>
              <a:t>lace links randomly between pairs of vertices</a:t>
            </a:r>
            <a:endParaRPr sz="1800"/>
          </a:p>
          <a:p>
            <a:pPr indent="-342900" lvl="0" marL="457200" rtl="0" algn="l">
              <a:spcBef>
                <a:spcPts val="0"/>
              </a:spcBef>
              <a:spcAft>
                <a:spcPts val="0"/>
              </a:spcAft>
              <a:buSzPts val="1800"/>
              <a:buChar char="●"/>
            </a:pPr>
            <a:r>
              <a:rPr lang="en" sz="1800"/>
              <a:t>some vertices will have more edges, others less</a:t>
            </a:r>
            <a:endParaRPr sz="1800"/>
          </a:p>
          <a:p>
            <a:pPr indent="-342900" lvl="0" marL="457200" rtl="0" algn="l">
              <a:spcBef>
                <a:spcPts val="0"/>
              </a:spcBef>
              <a:spcAft>
                <a:spcPts val="0"/>
              </a:spcAft>
              <a:buSzPts val="1800"/>
              <a:buChar char="●"/>
            </a:pPr>
            <a:r>
              <a:rPr lang="en" sz="1800"/>
              <a:t>but on average a vertex will have</a:t>
            </a:r>
            <a:endParaRPr sz="1800"/>
          </a:p>
          <a:p>
            <a:pPr indent="-342900" lvl="0" marL="457200" rtl="0" algn="l">
              <a:spcBef>
                <a:spcPts val="0"/>
              </a:spcBef>
              <a:spcAft>
                <a:spcPts val="0"/>
              </a:spcAft>
              <a:buSzPts val="1800"/>
              <a:buChar char="●"/>
            </a:pPr>
            <a:r>
              <a:rPr lang="en" sz="1800"/>
              <a:t>degree distribution across all vertices will be a poisson (normal) distribution (where mean=median=mode)</a:t>
            </a:r>
            <a:endParaRPr sz="1800"/>
          </a:p>
          <a:p>
            <a:pPr indent="-342900" lvl="0" marL="457200" rtl="0" algn="l">
              <a:spcBef>
                <a:spcPts val="0"/>
              </a:spcBef>
              <a:spcAft>
                <a:spcPts val="0"/>
              </a:spcAft>
              <a:buSzPts val="1800"/>
              <a:buChar char="●"/>
            </a:pPr>
            <a:r>
              <a:rPr lang="en" sz="1800"/>
              <a:t>can also look at variance (standard deviation) around the mean</a:t>
            </a:r>
            <a:endParaRPr sz="1800"/>
          </a:p>
          <a:p>
            <a:pPr indent="-317500" lvl="1" marL="914400" rtl="0" algn="l">
              <a:spcBef>
                <a:spcPts val="0"/>
              </a:spcBef>
              <a:spcAft>
                <a:spcPts val="0"/>
              </a:spcAft>
              <a:buSzPts val="1400"/>
              <a:buChar char="○"/>
            </a:pPr>
            <a:r>
              <a:rPr lang="en" sz="1400"/>
              <a:t>centralization measure</a:t>
            </a:r>
            <a:endParaRPr sz="1400"/>
          </a:p>
          <a:p>
            <a:pPr indent="-342900" lvl="0" marL="457200" rtl="0" algn="l">
              <a:spcBef>
                <a:spcPts val="0"/>
              </a:spcBef>
              <a:spcAft>
                <a:spcPts val="0"/>
              </a:spcAft>
              <a:buSzPts val="1800"/>
              <a:buChar char="●"/>
            </a:pPr>
            <a:r>
              <a:rPr b="1" lang="en" sz="1800"/>
              <a:t>But is this what we find in social networks?????</a:t>
            </a:r>
            <a:endParaRPr b="1"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Summary:  Network Properties</a:t>
            </a:r>
            <a:endParaRPr/>
          </a:p>
        </p:txBody>
      </p:sp>
      <p:sp>
        <p:nvSpPr>
          <p:cNvPr id="122" name="Google Shape;122;p21"/>
          <p:cNvSpPr txBox="1"/>
          <p:nvPr>
            <p:ph idx="1" type="body"/>
          </p:nvPr>
        </p:nvSpPr>
        <p:spPr>
          <a:xfrm>
            <a:off x="145725" y="1226950"/>
            <a:ext cx="4868100" cy="37257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Number of Vertices</a:t>
            </a:r>
            <a:endParaRPr sz="2200"/>
          </a:p>
          <a:p>
            <a:pPr indent="-368300" lvl="0" marL="457200" rtl="0" algn="l">
              <a:spcBef>
                <a:spcPts val="0"/>
              </a:spcBef>
              <a:spcAft>
                <a:spcPts val="0"/>
              </a:spcAft>
              <a:buSzPts val="2200"/>
              <a:buChar char="●"/>
            </a:pPr>
            <a:r>
              <a:rPr lang="en" sz="2200"/>
              <a:t>Number of Edges</a:t>
            </a:r>
            <a:endParaRPr sz="2200"/>
          </a:p>
          <a:p>
            <a:pPr indent="-368300" lvl="0" marL="457200" rtl="0" algn="l">
              <a:spcBef>
                <a:spcPts val="0"/>
              </a:spcBef>
              <a:spcAft>
                <a:spcPts val="0"/>
              </a:spcAft>
              <a:buSzPts val="2200"/>
              <a:buChar char="●"/>
            </a:pPr>
            <a:r>
              <a:rPr lang="en" sz="2200"/>
              <a:t>Size of largest component</a:t>
            </a:r>
            <a:endParaRPr sz="2200"/>
          </a:p>
          <a:p>
            <a:pPr indent="-368300" lvl="0" marL="457200" rtl="0" algn="l">
              <a:spcBef>
                <a:spcPts val="0"/>
              </a:spcBef>
              <a:spcAft>
                <a:spcPts val="0"/>
              </a:spcAft>
              <a:buSzPts val="2200"/>
              <a:buChar char="●"/>
            </a:pPr>
            <a:r>
              <a:rPr lang="en" sz="2200"/>
              <a:t>Density  (or average degree)</a:t>
            </a:r>
            <a:endParaRPr sz="2200"/>
          </a:p>
          <a:p>
            <a:pPr indent="-368300" lvl="0" marL="457200" rtl="0" algn="l">
              <a:spcBef>
                <a:spcPts val="0"/>
              </a:spcBef>
              <a:spcAft>
                <a:spcPts val="0"/>
              </a:spcAft>
              <a:buSzPts val="2200"/>
              <a:buChar char="●"/>
            </a:pPr>
            <a:r>
              <a:rPr lang="en" sz="2200"/>
              <a:t>Degree distribution </a:t>
            </a:r>
            <a:endParaRPr sz="2200"/>
          </a:p>
          <a:p>
            <a:pPr indent="-368300" lvl="0" marL="457200" rtl="0" algn="l">
              <a:spcBef>
                <a:spcPts val="0"/>
              </a:spcBef>
              <a:spcAft>
                <a:spcPts val="0"/>
              </a:spcAft>
              <a:buSzPts val="2200"/>
              <a:buChar char="●"/>
            </a:pPr>
            <a:r>
              <a:rPr lang="en" sz="2200"/>
              <a:t>Average Clustering Coefficient</a:t>
            </a:r>
            <a:endParaRPr sz="2200"/>
          </a:p>
          <a:p>
            <a:pPr indent="-368300" lvl="0" marL="457200" rtl="0" algn="l">
              <a:spcBef>
                <a:spcPts val="0"/>
              </a:spcBef>
              <a:spcAft>
                <a:spcPts val="0"/>
              </a:spcAft>
              <a:buSzPts val="2200"/>
              <a:buChar char="●"/>
            </a:pPr>
            <a:r>
              <a:rPr lang="en" sz="2200"/>
              <a:t>Diameter</a:t>
            </a:r>
            <a:endParaRPr sz="2200"/>
          </a:p>
          <a:p>
            <a:pPr indent="-368300" lvl="0" marL="457200" rtl="0" algn="l">
              <a:spcBef>
                <a:spcPts val="0"/>
              </a:spcBef>
              <a:spcAft>
                <a:spcPts val="0"/>
              </a:spcAft>
              <a:buSzPts val="2200"/>
              <a:buChar char="●"/>
            </a:pPr>
            <a:r>
              <a:rPr lang="en" sz="2200"/>
              <a:t>Average shortest path length</a:t>
            </a:r>
            <a:endParaRPr sz="2200"/>
          </a:p>
          <a:p>
            <a:pPr indent="-368300" lvl="0" marL="457200" rtl="0" algn="l">
              <a:spcBef>
                <a:spcPts val="0"/>
              </a:spcBef>
              <a:spcAft>
                <a:spcPts val="0"/>
              </a:spcAft>
              <a:buSzPts val="2200"/>
              <a:buChar char="●"/>
            </a:pPr>
            <a:r>
              <a:rPr lang="en" sz="2200"/>
              <a:t>Degree Assortativity</a:t>
            </a:r>
            <a:endParaRPr sz="2400"/>
          </a:p>
        </p:txBody>
      </p:sp>
      <p:sp>
        <p:nvSpPr>
          <p:cNvPr id="123" name="Google Shape;123;p21"/>
          <p:cNvSpPr txBox="1"/>
          <p:nvPr/>
        </p:nvSpPr>
        <p:spPr>
          <a:xfrm>
            <a:off x="5173075" y="1200150"/>
            <a:ext cx="4092600" cy="10194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t/>
            </a:r>
            <a:endParaRPr sz="24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22"/>
          <p:cNvPicPr preferRelativeResize="0"/>
          <p:nvPr/>
        </p:nvPicPr>
        <p:blipFill>
          <a:blip r:embed="rId3">
            <a:alphaModFix/>
          </a:blip>
          <a:stretch>
            <a:fillRect/>
          </a:stretch>
        </p:blipFill>
        <p:spPr>
          <a:xfrm>
            <a:off x="221600" y="-457200"/>
            <a:ext cx="7177176" cy="5545974"/>
          </a:xfrm>
          <a:prstGeom prst="rect">
            <a:avLst/>
          </a:prstGeom>
          <a:noFill/>
          <a:ln>
            <a:noFill/>
          </a:ln>
        </p:spPr>
      </p:pic>
      <p:sp>
        <p:nvSpPr>
          <p:cNvPr id="129" name="Google Shape;129;p22"/>
          <p:cNvSpPr txBox="1"/>
          <p:nvPr/>
        </p:nvSpPr>
        <p:spPr>
          <a:xfrm>
            <a:off x="4423450" y="4431450"/>
            <a:ext cx="3853800" cy="50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222222"/>
                </a:solidFill>
                <a:highlight>
                  <a:srgbClr val="FFFFFF"/>
                </a:highlight>
              </a:rPr>
              <a:t>Leskovec, Jure, et al. "Community structure in large networks: Natural cluster sizes and the absence of large well-defined clusters." </a:t>
            </a:r>
            <a:r>
              <a:rPr i="1" lang="en" sz="1000">
                <a:solidFill>
                  <a:srgbClr val="222222"/>
                </a:solidFill>
                <a:highlight>
                  <a:srgbClr val="FFFFFF"/>
                </a:highlight>
              </a:rPr>
              <a:t>Internet Mathematics</a:t>
            </a:r>
            <a:r>
              <a:rPr lang="en" sz="1000">
                <a:solidFill>
                  <a:srgbClr val="222222"/>
                </a:solidFill>
                <a:highlight>
                  <a:srgbClr val="FFFFFF"/>
                </a:highlight>
              </a:rPr>
              <a:t> 6.1 (2009): 29-123.</a:t>
            </a:r>
            <a:endParaRPr/>
          </a:p>
        </p:txBody>
      </p:sp>
      <p:sp>
        <p:nvSpPr>
          <p:cNvPr id="130" name="Google Shape;130;p22"/>
          <p:cNvSpPr txBox="1"/>
          <p:nvPr/>
        </p:nvSpPr>
        <p:spPr>
          <a:xfrm>
            <a:off x="806100" y="4567925"/>
            <a:ext cx="2670600" cy="3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https://snap.stanford.edu/data/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nvSpPr>
        <p:spPr>
          <a:xfrm>
            <a:off x="7171825" y="4213675"/>
            <a:ext cx="2008500" cy="3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222222"/>
                </a:solidFill>
                <a:highlight>
                  <a:srgbClr val="FFFFFF"/>
                </a:highlight>
              </a:rPr>
              <a:t>Newmann, Mark. </a:t>
            </a:r>
            <a:r>
              <a:rPr i="1" lang="en" sz="1000">
                <a:solidFill>
                  <a:srgbClr val="222222"/>
                </a:solidFill>
                <a:highlight>
                  <a:srgbClr val="FFFFFF"/>
                </a:highlight>
              </a:rPr>
              <a:t>Networks: An Introduction</a:t>
            </a:r>
            <a:r>
              <a:rPr lang="en" sz="1000">
                <a:solidFill>
                  <a:srgbClr val="222222"/>
                </a:solidFill>
                <a:highlight>
                  <a:srgbClr val="FFFFFF"/>
                </a:highlight>
              </a:rPr>
              <a:t>. Oxford University Press, 2010. p. 237</a:t>
            </a:r>
            <a:endParaRPr/>
          </a:p>
        </p:txBody>
      </p:sp>
      <p:pic>
        <p:nvPicPr>
          <p:cNvPr id="136" name="Google Shape;136;p23"/>
          <p:cNvPicPr preferRelativeResize="0"/>
          <p:nvPr/>
        </p:nvPicPr>
        <p:blipFill>
          <a:blip r:embed="rId3">
            <a:alphaModFix/>
          </a:blip>
          <a:stretch>
            <a:fillRect/>
          </a:stretch>
        </p:blipFill>
        <p:spPr>
          <a:xfrm>
            <a:off x="400075" y="127800"/>
            <a:ext cx="6634780" cy="50156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type="title"/>
          </p:nvPr>
        </p:nvSpPr>
        <p:spPr>
          <a:xfrm>
            <a:off x="311700" y="333769"/>
            <a:ext cx="8520600" cy="42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to form a network -  not random</a:t>
            </a:r>
            <a:endParaRPr/>
          </a:p>
        </p:txBody>
      </p:sp>
      <p:sp>
        <p:nvSpPr>
          <p:cNvPr id="142" name="Google Shape;142;p24"/>
          <p:cNvSpPr txBox="1"/>
          <p:nvPr>
            <p:ph idx="1" type="body"/>
          </p:nvPr>
        </p:nvSpPr>
        <p:spPr>
          <a:xfrm>
            <a:off x="457200" y="1200150"/>
            <a:ext cx="8229600" cy="3712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If persons prefer to connect with those who are already connected…</a:t>
            </a:r>
            <a:endParaRPr/>
          </a:p>
          <a:p>
            <a:pPr indent="-317500" lvl="2" marL="1371600" rtl="0" algn="l">
              <a:spcBef>
                <a:spcPts val="0"/>
              </a:spcBef>
              <a:spcAft>
                <a:spcPts val="0"/>
              </a:spcAft>
              <a:buSzPts val="1400"/>
              <a:buChar char="■"/>
            </a:pPr>
            <a:r>
              <a:rPr lang="en"/>
              <a:t>The distribution of connections gets a little funny</a:t>
            </a:r>
            <a:endParaRPr/>
          </a:p>
          <a:p>
            <a:pPr indent="0" lvl="0" marL="457200" rtl="0" algn="l">
              <a:spcBef>
                <a:spcPts val="1600"/>
              </a:spcBef>
              <a:spcAft>
                <a:spcPts val="1600"/>
              </a:spcAft>
              <a:buNone/>
            </a:pPr>
            <a:r>
              <a:t/>
            </a:r>
            <a:endParaRPr/>
          </a:p>
        </p:txBody>
      </p:sp>
      <p:pic>
        <p:nvPicPr>
          <p:cNvPr descr="Distributions.gif" id="143" name="Google Shape;143;p24"/>
          <p:cNvPicPr preferRelativeResize="0"/>
          <p:nvPr/>
        </p:nvPicPr>
        <p:blipFill>
          <a:blip r:embed="rId3">
            <a:alphaModFix/>
          </a:blip>
          <a:stretch>
            <a:fillRect/>
          </a:stretch>
        </p:blipFill>
        <p:spPr>
          <a:xfrm>
            <a:off x="1006437" y="2755275"/>
            <a:ext cx="5348344" cy="22244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311700" y="333769"/>
            <a:ext cx="8520600" cy="42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to form a network</a:t>
            </a:r>
            <a:endParaRPr/>
          </a:p>
        </p:txBody>
      </p:sp>
      <p:sp>
        <p:nvSpPr>
          <p:cNvPr id="149" name="Google Shape;149;p25"/>
          <p:cNvSpPr txBox="1"/>
          <p:nvPr>
            <p:ph idx="1" type="body"/>
          </p:nvPr>
        </p:nvSpPr>
        <p:spPr>
          <a:xfrm>
            <a:off x="3912500" y="1200150"/>
            <a:ext cx="4774500" cy="3725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“Matthew Effect”</a:t>
            </a:r>
            <a:endParaRPr/>
          </a:p>
          <a:p>
            <a:pPr indent="-317500" lvl="1" marL="914400" rtl="0" algn="l">
              <a:spcBef>
                <a:spcPts val="0"/>
              </a:spcBef>
              <a:spcAft>
                <a:spcPts val="0"/>
              </a:spcAft>
              <a:buSzPts val="1400"/>
              <a:buChar char="○"/>
            </a:pPr>
            <a:r>
              <a:rPr lang="en"/>
              <a:t>First noted by sociologist Robert Merton in the context of citations in science</a:t>
            </a:r>
            <a:endParaRPr/>
          </a:p>
          <a:p>
            <a:pPr indent="-317500" lvl="2" marL="1371600" rtl="0" algn="l">
              <a:spcBef>
                <a:spcPts val="0"/>
              </a:spcBef>
              <a:spcAft>
                <a:spcPts val="0"/>
              </a:spcAft>
              <a:buSzPts val="1400"/>
              <a:buChar char="■"/>
            </a:pPr>
            <a:r>
              <a:rPr lang="en"/>
              <a:t>The consequence?</a:t>
            </a:r>
            <a:endParaRPr/>
          </a:p>
          <a:p>
            <a:pPr indent="0" lvl="0" marL="0" rtl="0" algn="l">
              <a:spcBef>
                <a:spcPts val="1600"/>
              </a:spcBef>
              <a:spcAft>
                <a:spcPts val="1600"/>
              </a:spcAft>
              <a:buNone/>
            </a:pPr>
            <a:r>
              <a:t/>
            </a:r>
            <a:endParaRPr/>
          </a:p>
        </p:txBody>
      </p:sp>
      <p:pic>
        <p:nvPicPr>
          <p:cNvPr descr="Robert_K_Merton.jpg" id="150" name="Google Shape;150;p25"/>
          <p:cNvPicPr preferRelativeResize="0"/>
          <p:nvPr/>
        </p:nvPicPr>
        <p:blipFill>
          <a:blip r:embed="rId3">
            <a:alphaModFix/>
          </a:blip>
          <a:stretch>
            <a:fillRect/>
          </a:stretch>
        </p:blipFill>
        <p:spPr>
          <a:xfrm>
            <a:off x="457203" y="1265100"/>
            <a:ext cx="2562037" cy="359585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title"/>
          </p:nvPr>
        </p:nvSpPr>
        <p:spPr>
          <a:xfrm>
            <a:off x="311700" y="333769"/>
            <a:ext cx="8520600" cy="42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to form a network</a:t>
            </a:r>
            <a:endParaRPr/>
          </a:p>
        </p:txBody>
      </p:sp>
      <p:sp>
        <p:nvSpPr>
          <p:cNvPr id="156" name="Google Shape;156;p26"/>
          <p:cNvSpPr txBox="1"/>
          <p:nvPr>
            <p:ph idx="1" type="body"/>
          </p:nvPr>
        </p:nvSpPr>
        <p:spPr>
          <a:xfrm>
            <a:off x="457200" y="1200150"/>
            <a:ext cx="3767100" cy="3725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Papers that </a:t>
            </a:r>
            <a:r>
              <a:rPr b="1" lang="en">
                <a:solidFill>
                  <a:srgbClr val="38761D"/>
                </a:solidFill>
              </a:rPr>
              <a:t>already </a:t>
            </a:r>
            <a:r>
              <a:rPr lang="en"/>
              <a:t>have a </a:t>
            </a:r>
            <a:r>
              <a:rPr b="1" lang="en">
                <a:solidFill>
                  <a:srgbClr val="38761D"/>
                </a:solidFill>
              </a:rPr>
              <a:t>lot </a:t>
            </a:r>
            <a:r>
              <a:rPr lang="en"/>
              <a:t>of citations…</a:t>
            </a:r>
            <a:endParaRPr/>
          </a:p>
          <a:p>
            <a:pPr indent="-317500" lvl="1" marL="914400" rtl="0" algn="l">
              <a:spcBef>
                <a:spcPts val="0"/>
              </a:spcBef>
              <a:spcAft>
                <a:spcPts val="0"/>
              </a:spcAft>
              <a:buSzPts val="1400"/>
              <a:buChar char="○"/>
            </a:pPr>
            <a:r>
              <a:rPr b="1" lang="en">
                <a:solidFill>
                  <a:srgbClr val="38761D"/>
                </a:solidFill>
              </a:rPr>
              <a:t>More likely </a:t>
            </a:r>
            <a:r>
              <a:rPr lang="en"/>
              <a:t>to be cited in the future</a:t>
            </a:r>
            <a:endParaRPr/>
          </a:p>
          <a:p>
            <a:pPr indent="0" lvl="0" marL="0" rtl="0" algn="l">
              <a:spcBef>
                <a:spcPts val="1600"/>
              </a:spcBef>
              <a:spcAft>
                <a:spcPts val="1600"/>
              </a:spcAft>
              <a:buNone/>
            </a:pPr>
            <a:r>
              <a:t/>
            </a:r>
            <a:endParaRPr/>
          </a:p>
        </p:txBody>
      </p:sp>
      <p:pic>
        <p:nvPicPr>
          <p:cNvPr descr="fncom-05-00055-g002.jpg" id="157" name="Google Shape;157;p26"/>
          <p:cNvPicPr preferRelativeResize="0"/>
          <p:nvPr/>
        </p:nvPicPr>
        <p:blipFill>
          <a:blip r:embed="rId3">
            <a:alphaModFix/>
          </a:blip>
          <a:stretch>
            <a:fillRect/>
          </a:stretch>
        </p:blipFill>
        <p:spPr>
          <a:xfrm>
            <a:off x="4019550" y="1727156"/>
            <a:ext cx="3500438" cy="267176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311700" y="333769"/>
            <a:ext cx="8520600" cy="42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to form a network</a:t>
            </a:r>
            <a:endParaRPr/>
          </a:p>
        </p:txBody>
      </p:sp>
      <p:sp>
        <p:nvSpPr>
          <p:cNvPr id="163" name="Google Shape;163;p27"/>
          <p:cNvSpPr txBox="1"/>
          <p:nvPr>
            <p:ph idx="1" type="body"/>
          </p:nvPr>
        </p:nvSpPr>
        <p:spPr>
          <a:xfrm>
            <a:off x="457200" y="1200150"/>
            <a:ext cx="3767100" cy="3725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Papers that </a:t>
            </a:r>
            <a:r>
              <a:rPr b="1" lang="en">
                <a:solidFill>
                  <a:srgbClr val="38761D"/>
                </a:solidFill>
              </a:rPr>
              <a:t>don’t </a:t>
            </a:r>
            <a:r>
              <a:rPr lang="en"/>
              <a:t>have a </a:t>
            </a:r>
            <a:r>
              <a:rPr b="1" lang="en">
                <a:solidFill>
                  <a:srgbClr val="38761D"/>
                </a:solidFill>
              </a:rPr>
              <a:t>lot </a:t>
            </a:r>
            <a:r>
              <a:rPr lang="en"/>
              <a:t>of citations…</a:t>
            </a:r>
            <a:endParaRPr/>
          </a:p>
          <a:p>
            <a:pPr indent="-317500" lvl="1" marL="914400" rtl="0" algn="l">
              <a:spcBef>
                <a:spcPts val="0"/>
              </a:spcBef>
              <a:spcAft>
                <a:spcPts val="0"/>
              </a:spcAft>
              <a:buSzPts val="1400"/>
              <a:buChar char="○"/>
            </a:pPr>
            <a:r>
              <a:rPr b="1" lang="en">
                <a:solidFill>
                  <a:srgbClr val="38761D"/>
                </a:solidFill>
              </a:rPr>
              <a:t>Less likely </a:t>
            </a:r>
            <a:r>
              <a:rPr lang="en"/>
              <a:t>to be cited in the future</a:t>
            </a:r>
            <a:endParaRPr/>
          </a:p>
          <a:p>
            <a:pPr indent="0" lvl="0" marL="0" rtl="0" algn="l">
              <a:spcBef>
                <a:spcPts val="1600"/>
              </a:spcBef>
              <a:spcAft>
                <a:spcPts val="1600"/>
              </a:spcAft>
              <a:buNone/>
            </a:pPr>
            <a:r>
              <a:t/>
            </a:r>
            <a:endParaRPr/>
          </a:p>
        </p:txBody>
      </p:sp>
      <p:pic>
        <p:nvPicPr>
          <p:cNvPr descr="fncom-05-00055-g002.jpg" id="164" name="Google Shape;164;p27"/>
          <p:cNvPicPr preferRelativeResize="0"/>
          <p:nvPr/>
        </p:nvPicPr>
        <p:blipFill>
          <a:blip r:embed="rId3">
            <a:alphaModFix/>
          </a:blip>
          <a:stretch>
            <a:fillRect/>
          </a:stretch>
        </p:blipFill>
        <p:spPr>
          <a:xfrm>
            <a:off x="4019550" y="1727156"/>
            <a:ext cx="3500438" cy="26717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8"/>
          <p:cNvSpPr txBox="1"/>
          <p:nvPr>
            <p:ph type="title"/>
          </p:nvPr>
        </p:nvSpPr>
        <p:spPr>
          <a:xfrm>
            <a:off x="311700" y="333769"/>
            <a:ext cx="8520600" cy="42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to form a network</a:t>
            </a:r>
            <a:endParaRPr/>
          </a:p>
        </p:txBody>
      </p:sp>
      <p:sp>
        <p:nvSpPr>
          <p:cNvPr id="170" name="Google Shape;170;p28"/>
          <p:cNvSpPr txBox="1"/>
          <p:nvPr>
            <p:ph idx="1" type="body"/>
          </p:nvPr>
        </p:nvSpPr>
        <p:spPr>
          <a:xfrm>
            <a:off x="457200" y="1200150"/>
            <a:ext cx="8187600" cy="3725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“Matthew Effect”:</a:t>
            </a:r>
            <a:endParaRPr/>
          </a:p>
          <a:p>
            <a:pPr indent="-317500" lvl="1" marL="914400" rtl="0" algn="l">
              <a:spcBef>
                <a:spcPts val="0"/>
              </a:spcBef>
              <a:spcAft>
                <a:spcPts val="0"/>
              </a:spcAft>
              <a:buSzPts val="1400"/>
              <a:buChar char="○"/>
            </a:pPr>
            <a:r>
              <a:rPr lang="en"/>
              <a:t>Does it “work” for other things?</a:t>
            </a:r>
            <a:endParaRPr/>
          </a:p>
          <a:p>
            <a:pPr indent="-317500" lvl="2" marL="1371600" rtl="0" algn="l">
              <a:spcBef>
                <a:spcPts val="0"/>
              </a:spcBef>
              <a:spcAft>
                <a:spcPts val="0"/>
              </a:spcAft>
              <a:buSzPts val="1400"/>
              <a:buChar char="■"/>
            </a:pPr>
            <a:r>
              <a:rPr lang="en"/>
              <a:t>The World Wide Web (not to be confused with the internet!)</a:t>
            </a:r>
            <a:endParaRPr/>
          </a:p>
          <a:p>
            <a:pPr indent="-317500" lvl="2" marL="1371600" rtl="0" algn="l">
              <a:spcBef>
                <a:spcPts val="0"/>
              </a:spcBef>
              <a:spcAft>
                <a:spcPts val="0"/>
              </a:spcAft>
              <a:buSzPts val="1400"/>
              <a:buChar char="■"/>
            </a:pPr>
            <a:r>
              <a:rPr lang="en"/>
              <a:t>Sexual networks (success breeds success)</a:t>
            </a:r>
            <a:endParaRPr/>
          </a:p>
          <a:p>
            <a:pPr indent="-317500" lvl="2" marL="1371600" rtl="0" algn="l">
              <a:spcBef>
                <a:spcPts val="0"/>
              </a:spcBef>
              <a:spcAft>
                <a:spcPts val="0"/>
              </a:spcAft>
              <a:buSzPts val="1400"/>
              <a:buChar char="■"/>
            </a:pPr>
            <a:r>
              <a:rPr lang="en"/>
              <a:t>Corporate partnerships</a:t>
            </a:r>
            <a:endParaRPr/>
          </a:p>
          <a:p>
            <a:pPr indent="-317500" lvl="2" marL="1371600" rtl="0" algn="l">
              <a:spcBef>
                <a:spcPts val="0"/>
              </a:spcBef>
              <a:spcAft>
                <a:spcPts val="0"/>
              </a:spcAft>
              <a:buSzPts val="1400"/>
              <a:buChar char="■"/>
            </a:pPr>
            <a:r>
              <a:rPr lang="en"/>
              <a:t>Hollywood actors</a:t>
            </a:r>
            <a:endParaRPr/>
          </a:p>
          <a:p>
            <a:pPr indent="-317500" lvl="1" marL="914400" rtl="0" algn="l">
              <a:spcBef>
                <a:spcPts val="0"/>
              </a:spcBef>
              <a:spcAft>
                <a:spcPts val="0"/>
              </a:spcAft>
              <a:buSzPts val="1400"/>
              <a:buChar char="○"/>
            </a:pPr>
            <a:r>
              <a:rPr lang="en"/>
              <a:t>Why?</a:t>
            </a:r>
            <a:endParaRPr/>
          </a:p>
          <a:p>
            <a:pPr indent="-317500" lvl="2" marL="1371600" rtl="0" algn="l">
              <a:spcBef>
                <a:spcPts val="0"/>
              </a:spcBef>
              <a:spcAft>
                <a:spcPts val="0"/>
              </a:spcAft>
              <a:buSzPts val="1400"/>
              <a:buChar char="■"/>
            </a:pPr>
            <a:r>
              <a:rPr lang="en"/>
              <a:t>Each setting probably has its own “explanation”</a:t>
            </a:r>
            <a:endParaRPr/>
          </a:p>
          <a:p>
            <a:pPr indent="-317500" lvl="3" marL="1828800" rtl="0" algn="l">
              <a:spcBef>
                <a:spcPts val="0"/>
              </a:spcBef>
              <a:spcAft>
                <a:spcPts val="0"/>
              </a:spcAft>
              <a:buSzPts val="1400"/>
              <a:buChar char="●"/>
            </a:pPr>
            <a:r>
              <a:rPr lang="en"/>
              <a:t>But general idea is that previous </a:t>
            </a:r>
            <a:r>
              <a:rPr b="1" lang="en"/>
              <a:t>history of connections</a:t>
            </a:r>
            <a:r>
              <a:rPr lang="en"/>
              <a:t> signals something </a:t>
            </a:r>
            <a:r>
              <a:rPr b="1" lang="en"/>
              <a:t>desirable</a:t>
            </a:r>
            <a:r>
              <a:rPr lang="en"/>
              <a:t> about that person</a:t>
            </a:r>
            <a:endParaRPr/>
          </a:p>
          <a:p>
            <a:pPr indent="-317500" lvl="3" marL="1828800" rtl="0" algn="l">
              <a:spcBef>
                <a:spcPts val="0"/>
              </a:spcBef>
              <a:spcAft>
                <a:spcPts val="0"/>
              </a:spcAft>
              <a:buSzPts val="1400"/>
              <a:buChar char="●"/>
            </a:pPr>
            <a:r>
              <a:rPr lang="en"/>
              <a:t>e.g. “Rating/Dating” complex</a:t>
            </a:r>
            <a:endParaRPr/>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ph type="title"/>
          </p:nvPr>
        </p:nvSpPr>
        <p:spPr>
          <a:xfrm>
            <a:off x="311700" y="333769"/>
            <a:ext cx="8520600" cy="42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Forming a (scale free) network</a:t>
            </a:r>
            <a:endParaRPr/>
          </a:p>
        </p:txBody>
      </p:sp>
      <p:sp>
        <p:nvSpPr>
          <p:cNvPr id="176" name="Google Shape;176;p29"/>
          <p:cNvSpPr txBox="1"/>
          <p:nvPr>
            <p:ph idx="1" type="body"/>
          </p:nvPr>
        </p:nvSpPr>
        <p:spPr>
          <a:xfrm>
            <a:off x="457200" y="1200150"/>
            <a:ext cx="8187600" cy="3725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General model:</a:t>
            </a:r>
            <a:endParaRPr/>
          </a:p>
          <a:p>
            <a:pPr indent="-317500" lvl="2" marL="1371600" rtl="0" algn="l">
              <a:spcBef>
                <a:spcPts val="0"/>
              </a:spcBef>
              <a:spcAft>
                <a:spcPts val="0"/>
              </a:spcAft>
              <a:buSzPts val="1400"/>
              <a:buChar char="■"/>
            </a:pPr>
            <a:r>
              <a:rPr lang="en"/>
              <a:t>New people come into the network (network grows)</a:t>
            </a:r>
            <a:endParaRPr/>
          </a:p>
          <a:p>
            <a:pPr indent="-317500" lvl="2" marL="1371600" rtl="0" algn="l">
              <a:spcBef>
                <a:spcPts val="0"/>
              </a:spcBef>
              <a:spcAft>
                <a:spcPts val="0"/>
              </a:spcAft>
              <a:buSzPts val="1400"/>
              <a:buChar char="■"/>
            </a:pPr>
            <a:r>
              <a:rPr lang="en"/>
              <a:t>When people enter the network they prefer to connect to people that already have a lot of connections</a:t>
            </a:r>
            <a:endParaRPr/>
          </a:p>
          <a:p>
            <a:pPr indent="0" lvl="0" marL="0" rtl="0" algn="l">
              <a:spcBef>
                <a:spcPts val="1600"/>
              </a:spcBef>
              <a:spcAft>
                <a:spcPts val="1600"/>
              </a:spcAft>
              <a:buNone/>
            </a:pPr>
            <a:r>
              <a:t/>
            </a:r>
            <a:endParaRPr/>
          </a:p>
        </p:txBody>
      </p:sp>
      <p:pic>
        <p:nvPicPr>
          <p:cNvPr descr="barabasisciam_Page_06.png" id="177" name="Google Shape;177;p29"/>
          <p:cNvPicPr preferRelativeResize="0"/>
          <p:nvPr/>
        </p:nvPicPr>
        <p:blipFill rotWithShape="1">
          <a:blip r:embed="rId3">
            <a:alphaModFix/>
          </a:blip>
          <a:srcRect b="63872" l="9418" r="7019" t="16348"/>
          <a:stretch/>
        </p:blipFill>
        <p:spPr>
          <a:xfrm>
            <a:off x="745163" y="3128212"/>
            <a:ext cx="7653673" cy="179771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type="title"/>
          </p:nvPr>
        </p:nvSpPr>
        <p:spPr>
          <a:xfrm>
            <a:off x="311700" y="333769"/>
            <a:ext cx="8520600" cy="42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Forming a (scale free) network</a:t>
            </a:r>
            <a:endParaRPr/>
          </a:p>
        </p:txBody>
      </p:sp>
      <p:sp>
        <p:nvSpPr>
          <p:cNvPr id="183" name="Google Shape;183;p30"/>
          <p:cNvSpPr txBox="1"/>
          <p:nvPr>
            <p:ph idx="1" type="body"/>
          </p:nvPr>
        </p:nvSpPr>
        <p:spPr>
          <a:xfrm>
            <a:off x="457200" y="1200150"/>
            <a:ext cx="8187600" cy="3725700"/>
          </a:xfrm>
          <a:prstGeom prst="rect">
            <a:avLst/>
          </a:prstGeom>
        </p:spPr>
        <p:txBody>
          <a:bodyPr anchorCtr="0" anchor="t" bIns="91425" lIns="91425" spcFirstLastPara="1" rIns="91425" wrap="square" tIns="91425">
            <a:noAutofit/>
          </a:bodyPr>
          <a:lstStyle/>
          <a:p>
            <a:pPr indent="-457200" lvl="0" marL="457200" marR="0" rtl="0" algn="l">
              <a:lnSpc>
                <a:spcPct val="100000"/>
              </a:lnSpc>
              <a:spcBef>
                <a:spcPts val="600"/>
              </a:spcBef>
              <a:spcAft>
                <a:spcPts val="0"/>
              </a:spcAft>
              <a:buClr>
                <a:schemeClr val="dk1"/>
              </a:buClr>
              <a:buSzPts val="3600"/>
              <a:buFont typeface="Junge"/>
              <a:buChar char="●"/>
            </a:pPr>
            <a:r>
              <a:rPr lang="en"/>
              <a:t>This process generates a “scale free” network (in terms of ‘degree”)</a:t>
            </a:r>
            <a:endParaRPr/>
          </a:p>
          <a:p>
            <a:pPr indent="-317500" lvl="1" marL="914400" marR="0" rtl="0" algn="l">
              <a:lnSpc>
                <a:spcPct val="100000"/>
              </a:lnSpc>
              <a:spcBef>
                <a:spcPts val="0"/>
              </a:spcBef>
              <a:spcAft>
                <a:spcPts val="0"/>
              </a:spcAft>
              <a:buSzPts val="1400"/>
              <a:buChar char="○"/>
            </a:pPr>
            <a:r>
              <a:rPr lang="en"/>
              <a:t>What the heck is a “scale”?</a:t>
            </a:r>
            <a:endParaRPr/>
          </a:p>
          <a:p>
            <a:pPr indent="-317500" lvl="2" marL="1371600" marR="0" rtl="0" algn="l">
              <a:lnSpc>
                <a:spcPct val="100000"/>
              </a:lnSpc>
              <a:spcBef>
                <a:spcPts val="0"/>
              </a:spcBef>
              <a:spcAft>
                <a:spcPts val="0"/>
              </a:spcAft>
              <a:buSzPts val="1400"/>
              <a:buChar char="■"/>
            </a:pPr>
            <a:r>
              <a:rPr lang="en"/>
              <a:t>It’s a metric researchers use to measure the amount of something</a:t>
            </a:r>
            <a:endParaRPr/>
          </a:p>
          <a:p>
            <a:pPr indent="0" lvl="0" marL="0" rtl="0" algn="l">
              <a:spcBef>
                <a:spcPts val="0"/>
              </a:spcBef>
              <a:spcAft>
                <a:spcPts val="1600"/>
              </a:spcAft>
              <a:buNone/>
            </a:pPr>
            <a:r>
              <a:t/>
            </a:r>
            <a:endParaRPr/>
          </a:p>
        </p:txBody>
      </p:sp>
      <p:pic>
        <p:nvPicPr>
          <p:cNvPr descr="us-income-distribution-2010-1210x7201.gif" id="184" name="Google Shape;184;p30"/>
          <p:cNvPicPr preferRelativeResize="0"/>
          <p:nvPr/>
        </p:nvPicPr>
        <p:blipFill>
          <a:blip r:embed="rId3">
            <a:alphaModFix/>
          </a:blip>
          <a:stretch>
            <a:fillRect/>
          </a:stretch>
        </p:blipFill>
        <p:spPr>
          <a:xfrm>
            <a:off x="4164500" y="2987054"/>
            <a:ext cx="3360224" cy="1999471"/>
          </a:xfrm>
          <a:prstGeom prst="rect">
            <a:avLst/>
          </a:prstGeom>
          <a:noFill/>
          <a:ln>
            <a:noFill/>
          </a:ln>
        </p:spPr>
      </p:pic>
      <p:pic>
        <p:nvPicPr>
          <p:cNvPr descr="main-qimg-7ca1b9aeab2a1ef304aa5df52b2f9524" id="185" name="Google Shape;185;p30"/>
          <p:cNvPicPr preferRelativeResize="0"/>
          <p:nvPr/>
        </p:nvPicPr>
        <p:blipFill>
          <a:blip r:embed="rId4">
            <a:alphaModFix/>
          </a:blip>
          <a:stretch>
            <a:fillRect/>
          </a:stretch>
        </p:blipFill>
        <p:spPr>
          <a:xfrm>
            <a:off x="396425" y="3135900"/>
            <a:ext cx="2797482" cy="170178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type="title"/>
          </p:nvPr>
        </p:nvSpPr>
        <p:spPr>
          <a:xfrm>
            <a:off x="311700" y="333769"/>
            <a:ext cx="8520600" cy="42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Properties of scale free nets</a:t>
            </a:r>
            <a:endParaRPr/>
          </a:p>
        </p:txBody>
      </p:sp>
      <p:sp>
        <p:nvSpPr>
          <p:cNvPr id="191" name="Google Shape;191;p31"/>
          <p:cNvSpPr txBox="1"/>
          <p:nvPr>
            <p:ph idx="1" type="body"/>
          </p:nvPr>
        </p:nvSpPr>
        <p:spPr>
          <a:xfrm>
            <a:off x="457200" y="1200150"/>
            <a:ext cx="8187600" cy="3725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“Scale free” networks have a number of “good” properties</a:t>
            </a:r>
            <a:endParaRPr/>
          </a:p>
          <a:p>
            <a:pPr indent="-317500" lvl="2" marL="1371600" rtl="0" algn="l">
              <a:spcBef>
                <a:spcPts val="0"/>
              </a:spcBef>
              <a:spcAft>
                <a:spcPts val="0"/>
              </a:spcAft>
              <a:buSzPts val="1400"/>
              <a:buChar char="■"/>
            </a:pPr>
            <a:r>
              <a:rPr lang="en"/>
              <a:t>They are resistant to disruption by the removal of any one single actor</a:t>
            </a:r>
            <a:endParaRPr/>
          </a:p>
          <a:p>
            <a:pPr indent="-317500" lvl="3" marL="1828800" rtl="0" algn="l">
              <a:spcBef>
                <a:spcPts val="0"/>
              </a:spcBef>
              <a:spcAft>
                <a:spcPts val="0"/>
              </a:spcAft>
              <a:buSzPts val="1400"/>
              <a:buChar char="●"/>
            </a:pPr>
            <a:r>
              <a:rPr lang="en"/>
              <a:t>Why?</a:t>
            </a:r>
            <a:endParaRPr/>
          </a:p>
          <a:p>
            <a:pPr indent="0" lvl="0" marL="0" rtl="0" algn="l">
              <a:spcBef>
                <a:spcPts val="1600"/>
              </a:spcBef>
              <a:spcAft>
                <a:spcPts val="1600"/>
              </a:spcAft>
              <a:buNone/>
            </a:pPr>
            <a:r>
              <a:t/>
            </a:r>
            <a:endParaRPr/>
          </a:p>
        </p:txBody>
      </p:sp>
      <p:pic>
        <p:nvPicPr>
          <p:cNvPr descr="barabasisciam_Page_08.png" id="192" name="Google Shape;192;p31"/>
          <p:cNvPicPr preferRelativeResize="0"/>
          <p:nvPr/>
        </p:nvPicPr>
        <p:blipFill rotWithShape="1">
          <a:blip r:embed="rId3">
            <a:alphaModFix/>
          </a:blip>
          <a:srcRect b="42041" l="9073" r="7531" t="37296"/>
          <a:stretch/>
        </p:blipFill>
        <p:spPr>
          <a:xfrm>
            <a:off x="692038" y="2941050"/>
            <a:ext cx="7717925" cy="189765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ph type="title"/>
          </p:nvPr>
        </p:nvSpPr>
        <p:spPr>
          <a:xfrm>
            <a:off x="311700" y="333769"/>
            <a:ext cx="8520600" cy="42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Properties of scale free nets</a:t>
            </a:r>
            <a:endParaRPr/>
          </a:p>
        </p:txBody>
      </p:sp>
      <p:sp>
        <p:nvSpPr>
          <p:cNvPr id="198" name="Google Shape;198;p32"/>
          <p:cNvSpPr txBox="1"/>
          <p:nvPr>
            <p:ph idx="1" type="body"/>
          </p:nvPr>
        </p:nvSpPr>
        <p:spPr>
          <a:xfrm>
            <a:off x="457200" y="1200150"/>
            <a:ext cx="8187600" cy="3725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Scale free networks have a number of “good” properties</a:t>
            </a:r>
            <a:endParaRPr/>
          </a:p>
          <a:p>
            <a:pPr indent="-317500" lvl="2" marL="1371600" rtl="0" algn="l">
              <a:spcBef>
                <a:spcPts val="0"/>
              </a:spcBef>
              <a:spcAft>
                <a:spcPts val="0"/>
              </a:spcAft>
              <a:buSzPts val="1400"/>
              <a:buChar char="■"/>
            </a:pPr>
            <a:r>
              <a:rPr lang="en"/>
              <a:t>But they are vulnerable to targeted attacks</a:t>
            </a:r>
            <a:endParaRPr/>
          </a:p>
          <a:p>
            <a:pPr indent="-317500" lvl="3" marL="1828800" rtl="0" algn="l">
              <a:spcBef>
                <a:spcPts val="0"/>
              </a:spcBef>
              <a:spcAft>
                <a:spcPts val="0"/>
              </a:spcAft>
              <a:buSzPts val="1400"/>
              <a:buChar char="●"/>
            </a:pPr>
            <a:r>
              <a:rPr lang="en"/>
              <a:t>Why?</a:t>
            </a:r>
            <a:endParaRPr/>
          </a:p>
          <a:p>
            <a:pPr indent="0" lvl="0" marL="0" rtl="0" algn="l">
              <a:spcBef>
                <a:spcPts val="1600"/>
              </a:spcBef>
              <a:spcAft>
                <a:spcPts val="1600"/>
              </a:spcAft>
              <a:buNone/>
            </a:pPr>
            <a:r>
              <a:t/>
            </a:r>
            <a:endParaRPr/>
          </a:p>
        </p:txBody>
      </p:sp>
      <p:pic>
        <p:nvPicPr>
          <p:cNvPr descr="barabasisciam_Page_08.png" id="199" name="Google Shape;199;p32"/>
          <p:cNvPicPr preferRelativeResize="0"/>
          <p:nvPr/>
        </p:nvPicPr>
        <p:blipFill rotWithShape="1">
          <a:blip r:embed="rId3">
            <a:alphaModFix/>
          </a:blip>
          <a:srcRect b="22286" l="8735" r="7188" t="57311"/>
          <a:stretch/>
        </p:blipFill>
        <p:spPr>
          <a:xfrm>
            <a:off x="747100" y="2829938"/>
            <a:ext cx="7649801" cy="184203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3"/>
          <p:cNvSpPr txBox="1"/>
          <p:nvPr>
            <p:ph type="title"/>
          </p:nvPr>
        </p:nvSpPr>
        <p:spPr>
          <a:xfrm>
            <a:off x="311700" y="333769"/>
            <a:ext cx="8520600" cy="42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Preferential Attachment</a:t>
            </a:r>
            <a:endParaRPr/>
          </a:p>
        </p:txBody>
      </p:sp>
      <p:sp>
        <p:nvSpPr>
          <p:cNvPr id="205" name="Google Shape;205;p33"/>
          <p:cNvSpPr txBox="1"/>
          <p:nvPr>
            <p:ph idx="1" type="body"/>
          </p:nvPr>
        </p:nvSpPr>
        <p:spPr>
          <a:xfrm>
            <a:off x="457200" y="1200150"/>
            <a:ext cx="8229600" cy="1294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2400"/>
              <a:t>Preferential Connectivity</a:t>
            </a:r>
            <a:endParaRPr sz="2400"/>
          </a:p>
          <a:p>
            <a:pPr indent="-317500" lvl="1" marL="914400" rtl="0" algn="l">
              <a:spcBef>
                <a:spcPts val="1600"/>
              </a:spcBef>
              <a:spcAft>
                <a:spcPts val="0"/>
              </a:spcAft>
              <a:buSzPts val="1400"/>
              <a:buChar char="○"/>
            </a:pPr>
            <a:r>
              <a:rPr lang="en" sz="1800"/>
              <a:t>Probability a new vertex will connect to another vertex is a function of the degree of the other vertices</a:t>
            </a:r>
            <a:endParaRPr sz="1800"/>
          </a:p>
          <a:p>
            <a:pPr indent="-317500" lvl="1" marL="914400" rtl="0" algn="l">
              <a:spcBef>
                <a:spcPts val="1600"/>
              </a:spcBef>
              <a:spcAft>
                <a:spcPts val="0"/>
              </a:spcAft>
              <a:buSzPts val="1400"/>
              <a:buChar char="○"/>
            </a:pPr>
            <a:r>
              <a:rPr lang="en" sz="1800"/>
              <a:t>P(k) ~ k </a:t>
            </a:r>
            <a:r>
              <a:rPr baseline="30000" lang="en" sz="1800"/>
              <a:t>-y</a:t>
            </a:r>
            <a:endParaRPr baseline="30000" sz="1800"/>
          </a:p>
          <a:p>
            <a:pPr indent="0" lvl="0" marL="0" rtl="0" algn="l">
              <a:spcBef>
                <a:spcPts val="1600"/>
              </a:spcBef>
              <a:spcAft>
                <a:spcPts val="1600"/>
              </a:spcAft>
              <a:buNone/>
            </a:pPr>
            <a:r>
              <a:t/>
            </a:r>
            <a:endParaRPr/>
          </a:p>
        </p:txBody>
      </p:sp>
      <p:pic>
        <p:nvPicPr>
          <p:cNvPr id="206" name="Google Shape;206;p33"/>
          <p:cNvPicPr preferRelativeResize="0"/>
          <p:nvPr/>
        </p:nvPicPr>
        <p:blipFill>
          <a:blip r:embed="rId3">
            <a:alphaModFix/>
          </a:blip>
          <a:stretch>
            <a:fillRect/>
          </a:stretch>
        </p:blipFill>
        <p:spPr>
          <a:xfrm>
            <a:off x="4356769" y="2571750"/>
            <a:ext cx="4071932" cy="212015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4"/>
          <p:cNvSpPr txBox="1"/>
          <p:nvPr>
            <p:ph type="title"/>
          </p:nvPr>
        </p:nvSpPr>
        <p:spPr>
          <a:xfrm>
            <a:off x="311700" y="333769"/>
            <a:ext cx="8520600" cy="42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Properties of PA Model</a:t>
            </a:r>
            <a:endParaRPr/>
          </a:p>
        </p:txBody>
      </p:sp>
      <p:sp>
        <p:nvSpPr>
          <p:cNvPr id="212" name="Google Shape;212;p34"/>
          <p:cNvSpPr txBox="1"/>
          <p:nvPr>
            <p:ph idx="1" type="body"/>
          </p:nvPr>
        </p:nvSpPr>
        <p:spPr>
          <a:xfrm>
            <a:off x="457200" y="763375"/>
            <a:ext cx="4167600" cy="2730300"/>
          </a:xfrm>
          <a:prstGeom prst="rect">
            <a:avLst/>
          </a:prstGeom>
        </p:spPr>
        <p:txBody>
          <a:bodyPr anchorCtr="0" anchor="t" bIns="91425" lIns="91425" spcFirstLastPara="1" rIns="91425" wrap="square" tIns="91425">
            <a:noAutofit/>
          </a:bodyPr>
          <a:lstStyle/>
          <a:p>
            <a:pPr indent="-381000" lvl="0" marL="457200" rtl="0" algn="l">
              <a:lnSpc>
                <a:spcPct val="100000"/>
              </a:lnSpc>
              <a:spcBef>
                <a:spcPts val="0"/>
              </a:spcBef>
              <a:spcAft>
                <a:spcPts val="0"/>
              </a:spcAft>
              <a:buSzPts val="2400"/>
              <a:buChar char="●"/>
            </a:pPr>
            <a:r>
              <a:rPr lang="en" sz="2400"/>
              <a:t>Power-law degree distribution</a:t>
            </a:r>
            <a:endParaRPr sz="2400"/>
          </a:p>
          <a:p>
            <a:pPr indent="-342900" lvl="1" marL="914400" rtl="0" algn="l">
              <a:lnSpc>
                <a:spcPct val="100000"/>
              </a:lnSpc>
              <a:spcBef>
                <a:spcPts val="0"/>
              </a:spcBef>
              <a:spcAft>
                <a:spcPts val="0"/>
              </a:spcAft>
              <a:buSzPts val="1800"/>
              <a:buChar char="○"/>
            </a:pPr>
            <a:r>
              <a:rPr lang="en" sz="1800"/>
              <a:t>linear on log-log scale</a:t>
            </a:r>
            <a:endParaRPr sz="1800"/>
          </a:p>
          <a:p>
            <a:pPr indent="-342900" lvl="1" marL="914400" rtl="0" algn="l">
              <a:lnSpc>
                <a:spcPct val="100000"/>
              </a:lnSpc>
              <a:spcBef>
                <a:spcPts val="0"/>
              </a:spcBef>
              <a:spcAft>
                <a:spcPts val="0"/>
              </a:spcAft>
              <a:buSzPts val="1800"/>
              <a:buChar char="○"/>
            </a:pPr>
            <a:r>
              <a:rPr lang="en" sz="1800"/>
              <a:t>hubs</a:t>
            </a:r>
            <a:endParaRPr sz="1800"/>
          </a:p>
          <a:p>
            <a:pPr indent="-342900" lvl="1" marL="914400" rtl="0" algn="l">
              <a:lnSpc>
                <a:spcPct val="100000"/>
              </a:lnSpc>
              <a:spcBef>
                <a:spcPts val="0"/>
              </a:spcBef>
              <a:spcAft>
                <a:spcPts val="0"/>
              </a:spcAft>
              <a:buSzPts val="1800"/>
              <a:buChar char="○"/>
            </a:pPr>
            <a:r>
              <a:rPr lang="en" sz="1800"/>
              <a:t>y ~ 2.5 - 3.0</a:t>
            </a:r>
            <a:endParaRPr sz="1800"/>
          </a:p>
          <a:p>
            <a:pPr indent="-381000" lvl="0" marL="457200" rtl="0" algn="l">
              <a:lnSpc>
                <a:spcPct val="100000"/>
              </a:lnSpc>
              <a:spcBef>
                <a:spcPts val="0"/>
              </a:spcBef>
              <a:spcAft>
                <a:spcPts val="0"/>
              </a:spcAft>
              <a:buSzPts val="2400"/>
              <a:buChar char="●"/>
            </a:pPr>
            <a:r>
              <a:rPr lang="en" sz="2400"/>
              <a:t>scale-free  (invariance)</a:t>
            </a:r>
            <a:endParaRPr sz="2400"/>
          </a:p>
          <a:p>
            <a:pPr indent="-342900" lvl="1" marL="914400" rtl="0" algn="l">
              <a:lnSpc>
                <a:spcPct val="100000"/>
              </a:lnSpc>
              <a:spcBef>
                <a:spcPts val="0"/>
              </a:spcBef>
              <a:spcAft>
                <a:spcPts val="0"/>
              </a:spcAft>
              <a:buClr>
                <a:srgbClr val="FF0000"/>
              </a:buClr>
              <a:buSzPts val="1800"/>
              <a:buChar char="○"/>
            </a:pPr>
            <a:r>
              <a:rPr lang="en" sz="1800">
                <a:solidFill>
                  <a:srgbClr val="FF0000"/>
                </a:solidFill>
              </a:rPr>
              <a:t>percent increase in k --&gt;  percent increase in P(k)</a:t>
            </a:r>
            <a:endParaRPr sz="1800">
              <a:solidFill>
                <a:srgbClr val="FF0000"/>
              </a:solidFill>
            </a:endParaRPr>
          </a:p>
          <a:p>
            <a:pPr indent="-342900" lvl="1" marL="914400" rtl="0" algn="l">
              <a:lnSpc>
                <a:spcPct val="100000"/>
              </a:lnSpc>
              <a:spcBef>
                <a:spcPts val="0"/>
              </a:spcBef>
              <a:spcAft>
                <a:spcPts val="0"/>
              </a:spcAft>
              <a:buSzPts val="1800"/>
              <a:buChar char="○"/>
            </a:pPr>
            <a:r>
              <a:rPr lang="en" sz="1800"/>
              <a:t>no mean (average, norm)</a:t>
            </a:r>
            <a:endParaRPr sz="1800"/>
          </a:p>
          <a:p>
            <a:pPr indent="-342900" lvl="1" marL="914400" rtl="0" algn="l">
              <a:lnSpc>
                <a:spcPct val="100000"/>
              </a:lnSpc>
              <a:spcBef>
                <a:spcPts val="0"/>
              </a:spcBef>
              <a:spcAft>
                <a:spcPts val="0"/>
              </a:spcAft>
              <a:buSzPts val="1800"/>
              <a:buChar char="○"/>
            </a:pPr>
            <a:r>
              <a:rPr lang="en" sz="1800"/>
              <a:t>self-organized scale-free stationary state</a:t>
            </a:r>
            <a:endParaRPr sz="1800"/>
          </a:p>
          <a:p>
            <a:pPr indent="-342900" lvl="1" marL="914400" rtl="0" algn="l">
              <a:lnSpc>
                <a:spcPct val="100000"/>
              </a:lnSpc>
              <a:spcBef>
                <a:spcPts val="0"/>
              </a:spcBef>
              <a:spcAft>
                <a:spcPts val="0"/>
              </a:spcAft>
              <a:buSzPts val="1800"/>
              <a:buChar char="○"/>
            </a:pPr>
            <a:r>
              <a:rPr lang="en" sz="1800"/>
              <a:t>Small world </a:t>
            </a:r>
            <a:endParaRPr sz="1800"/>
          </a:p>
        </p:txBody>
      </p:sp>
      <p:pic>
        <p:nvPicPr>
          <p:cNvPr id="213" name="Google Shape;213;p34"/>
          <p:cNvPicPr preferRelativeResize="0"/>
          <p:nvPr/>
        </p:nvPicPr>
        <p:blipFill>
          <a:blip r:embed="rId3">
            <a:alphaModFix/>
          </a:blip>
          <a:stretch>
            <a:fillRect/>
          </a:stretch>
        </p:blipFill>
        <p:spPr>
          <a:xfrm>
            <a:off x="4273150" y="1325833"/>
            <a:ext cx="3432470" cy="189647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5"/>
          <p:cNvSpPr txBox="1"/>
          <p:nvPr>
            <p:ph type="title"/>
          </p:nvPr>
        </p:nvSpPr>
        <p:spPr>
          <a:xfrm>
            <a:off x="311700" y="333769"/>
            <a:ext cx="8520600" cy="42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Gould 2002	</a:t>
            </a:r>
            <a:endParaRPr/>
          </a:p>
        </p:txBody>
      </p:sp>
      <p:sp>
        <p:nvSpPr>
          <p:cNvPr id="219" name="Google Shape;219;p35"/>
          <p:cNvSpPr txBox="1"/>
          <p:nvPr>
            <p:ph idx="1" type="body"/>
          </p:nvPr>
        </p:nvSpPr>
        <p:spPr>
          <a:xfrm>
            <a:off x="262775" y="864350"/>
            <a:ext cx="8569500" cy="39474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Hierarchies as status </a:t>
            </a:r>
            <a:r>
              <a:rPr b="1" lang="en">
                <a:solidFill>
                  <a:srgbClr val="FF0000"/>
                </a:solidFill>
              </a:rPr>
              <a:t>inequalities</a:t>
            </a:r>
            <a:r>
              <a:rPr b="1" lang="en"/>
              <a:t> </a:t>
            </a:r>
            <a:r>
              <a:rPr lang="en"/>
              <a:t>are</a:t>
            </a:r>
            <a:r>
              <a:rPr b="1" lang="en"/>
              <a:t> </a:t>
            </a:r>
            <a:r>
              <a:rPr lang="en"/>
              <a:t> emergent social process</a:t>
            </a:r>
            <a:endParaRPr/>
          </a:p>
          <a:p>
            <a:pPr indent="-342900" lvl="1" marL="914400" rtl="0" algn="l">
              <a:spcBef>
                <a:spcPts val="0"/>
              </a:spcBef>
              <a:spcAft>
                <a:spcPts val="0"/>
              </a:spcAft>
              <a:buSzPts val="1800"/>
              <a:buChar char="○"/>
            </a:pPr>
            <a:r>
              <a:rPr lang="en" sz="1800"/>
              <a:t>local actions (respect, liking, admiring)</a:t>
            </a:r>
            <a:endParaRPr sz="1800"/>
          </a:p>
          <a:p>
            <a:pPr indent="-342900" lvl="1" marL="914400" rtl="0" algn="l">
              <a:spcBef>
                <a:spcPts val="0"/>
              </a:spcBef>
              <a:spcAft>
                <a:spcPts val="0"/>
              </a:spcAft>
              <a:buSzPts val="1800"/>
              <a:buChar char="○"/>
            </a:pPr>
            <a:r>
              <a:rPr lang="en" sz="1800"/>
              <a:t>individual differences </a:t>
            </a:r>
            <a:r>
              <a:rPr lang="en" sz="1800">
                <a:solidFill>
                  <a:srgbClr val="FF0000"/>
                </a:solidFill>
              </a:rPr>
              <a:t>amplified</a:t>
            </a:r>
            <a:r>
              <a:rPr lang="en" sz="1800"/>
              <a:t> </a:t>
            </a:r>
            <a:endParaRPr sz="1800"/>
          </a:p>
          <a:p>
            <a:pPr indent="-342900" lvl="2" marL="1371600" rtl="0" algn="l">
              <a:spcBef>
                <a:spcPts val="0"/>
              </a:spcBef>
              <a:spcAft>
                <a:spcPts val="0"/>
              </a:spcAft>
              <a:buSzPts val="1800"/>
              <a:buChar char="■"/>
            </a:pPr>
            <a:r>
              <a:rPr lang="en" sz="1800"/>
              <a:t>via judgements of relative quality</a:t>
            </a:r>
            <a:endParaRPr sz="1800"/>
          </a:p>
          <a:p>
            <a:pPr indent="-342900" lvl="1" marL="914400" rtl="0" algn="l">
              <a:spcBef>
                <a:spcPts val="0"/>
              </a:spcBef>
              <a:spcAft>
                <a:spcPts val="0"/>
              </a:spcAft>
              <a:buSzPts val="1800"/>
              <a:buChar char="○"/>
            </a:pPr>
            <a:r>
              <a:rPr lang="en" sz="1800"/>
              <a:t>emergent social structure</a:t>
            </a:r>
            <a:endParaRPr sz="1800"/>
          </a:p>
          <a:p>
            <a:pPr indent="-342900" lvl="0" marL="457200" rtl="0" algn="l">
              <a:spcBef>
                <a:spcPts val="0"/>
              </a:spcBef>
              <a:spcAft>
                <a:spcPts val="0"/>
              </a:spcAft>
              <a:buSzPts val="1800"/>
              <a:buChar char="●"/>
            </a:pPr>
            <a:r>
              <a:rPr lang="en"/>
              <a:t>Argument</a:t>
            </a:r>
            <a:endParaRPr/>
          </a:p>
          <a:p>
            <a:pPr indent="-342900" lvl="1" marL="914400" rtl="0" algn="l">
              <a:spcBef>
                <a:spcPts val="0"/>
              </a:spcBef>
              <a:spcAft>
                <a:spcPts val="0"/>
              </a:spcAft>
              <a:buSzPts val="1800"/>
              <a:buChar char="○"/>
            </a:pPr>
            <a:r>
              <a:rPr lang="en" sz="1800"/>
              <a:t>if no individual differences --&gt;  equality </a:t>
            </a:r>
            <a:endParaRPr sz="1800"/>
          </a:p>
          <a:p>
            <a:pPr indent="-342900" lvl="1" marL="914400" rtl="0" algn="l">
              <a:spcBef>
                <a:spcPts val="0"/>
              </a:spcBef>
              <a:spcAft>
                <a:spcPts val="0"/>
              </a:spcAft>
              <a:buSzPts val="1800"/>
              <a:buChar char="○"/>
            </a:pPr>
            <a:r>
              <a:rPr lang="en" sz="1800"/>
              <a:t>If differences, then through amplification --&gt; inequality (star/hub)</a:t>
            </a:r>
            <a:endParaRPr sz="1800"/>
          </a:p>
          <a:p>
            <a:pPr indent="-342900" lvl="1" marL="914400" rtl="0" algn="l">
              <a:spcBef>
                <a:spcPts val="0"/>
              </a:spcBef>
              <a:spcAft>
                <a:spcPts val="0"/>
              </a:spcAft>
              <a:buSzPts val="1800"/>
              <a:buChar char="○"/>
            </a:pPr>
            <a:r>
              <a:rPr lang="en" sz="1800"/>
              <a:t>but social systems in between</a:t>
            </a:r>
            <a:endParaRPr sz="1800"/>
          </a:p>
          <a:p>
            <a:pPr indent="-342900" lvl="1" marL="914400" rtl="0" algn="l">
              <a:spcBef>
                <a:spcPts val="0"/>
              </a:spcBef>
              <a:spcAft>
                <a:spcPts val="0"/>
              </a:spcAft>
              <a:buSzPts val="1800"/>
              <a:buChar char="○"/>
            </a:pPr>
            <a:r>
              <a:rPr lang="en" sz="1800"/>
              <a:t>another social process -- reciprocity</a:t>
            </a:r>
            <a:endParaRPr sz="1800"/>
          </a:p>
          <a:p>
            <a:pPr indent="-342900" lvl="2" marL="1371600" rtl="0" algn="l">
              <a:spcBef>
                <a:spcPts val="0"/>
              </a:spcBef>
              <a:spcAft>
                <a:spcPts val="0"/>
              </a:spcAft>
              <a:buSzPts val="1800"/>
              <a:buChar char="■"/>
            </a:pPr>
            <a:r>
              <a:rPr lang="en" sz="1800"/>
              <a:t>cost of liking A and not being liked by A</a:t>
            </a:r>
            <a:endParaRPr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6"/>
          <p:cNvSpPr txBox="1"/>
          <p:nvPr>
            <p:ph type="title"/>
          </p:nvPr>
        </p:nvSpPr>
        <p:spPr>
          <a:xfrm>
            <a:off x="457200" y="196041"/>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Amplification (of individual differences)</a:t>
            </a:r>
            <a:endParaRPr/>
          </a:p>
        </p:txBody>
      </p:sp>
      <p:sp>
        <p:nvSpPr>
          <p:cNvPr id="225" name="Google Shape;225;p36"/>
          <p:cNvSpPr txBox="1"/>
          <p:nvPr>
            <p:ph idx="1" type="body"/>
          </p:nvPr>
        </p:nvSpPr>
        <p:spPr>
          <a:xfrm>
            <a:off x="159326" y="2499551"/>
            <a:ext cx="2994000" cy="2378100"/>
          </a:xfrm>
          <a:prstGeom prst="rect">
            <a:avLst/>
          </a:prstGeom>
        </p:spPr>
        <p:txBody>
          <a:bodyPr anchorCtr="0" anchor="t" bIns="91425" lIns="91425" spcFirstLastPara="1" rIns="91425" wrap="square" tIns="91425">
            <a:noAutofit/>
          </a:bodyPr>
          <a:lstStyle/>
          <a:p>
            <a:pPr indent="0" lvl="0" marL="0" rtl="0" algn="l">
              <a:spcBef>
                <a:spcPts val="480"/>
              </a:spcBef>
              <a:spcAft>
                <a:spcPts val="1600"/>
              </a:spcAft>
              <a:buNone/>
            </a:pPr>
            <a:r>
              <a:rPr lang="en" sz="2400"/>
              <a:t>  </a:t>
            </a:r>
            <a:r>
              <a:rPr lang="en"/>
              <a:t>"a substantial intensification of status inequality as the importance of social influence relative to exogenous quality increases" (p. 1158)</a:t>
            </a:r>
            <a:endParaRPr/>
          </a:p>
        </p:txBody>
      </p:sp>
      <p:pic>
        <p:nvPicPr>
          <p:cNvPr id="226" name="Google Shape;226;p36"/>
          <p:cNvPicPr preferRelativeResize="0"/>
          <p:nvPr/>
        </p:nvPicPr>
        <p:blipFill>
          <a:blip r:embed="rId3">
            <a:alphaModFix/>
          </a:blip>
          <a:stretch>
            <a:fillRect/>
          </a:stretch>
        </p:blipFill>
        <p:spPr>
          <a:xfrm>
            <a:off x="3484399" y="2388337"/>
            <a:ext cx="3901800" cy="2433206"/>
          </a:xfrm>
          <a:prstGeom prst="rect">
            <a:avLst/>
          </a:prstGeom>
          <a:noFill/>
          <a:ln>
            <a:noFill/>
          </a:ln>
        </p:spPr>
      </p:pic>
      <p:pic>
        <p:nvPicPr>
          <p:cNvPr id="227" name="Google Shape;227;p36"/>
          <p:cNvPicPr preferRelativeResize="0"/>
          <p:nvPr/>
        </p:nvPicPr>
        <p:blipFill>
          <a:blip r:embed="rId4">
            <a:alphaModFix/>
          </a:blip>
          <a:stretch>
            <a:fillRect/>
          </a:stretch>
        </p:blipFill>
        <p:spPr>
          <a:xfrm>
            <a:off x="2151600" y="1818966"/>
            <a:ext cx="2821409" cy="471148"/>
          </a:xfrm>
          <a:prstGeom prst="rect">
            <a:avLst/>
          </a:prstGeom>
          <a:noFill/>
          <a:ln>
            <a:noFill/>
          </a:ln>
        </p:spPr>
      </p:pic>
      <p:sp>
        <p:nvSpPr>
          <p:cNvPr id="228" name="Google Shape;228;p36"/>
          <p:cNvSpPr txBox="1"/>
          <p:nvPr/>
        </p:nvSpPr>
        <p:spPr>
          <a:xfrm>
            <a:off x="457575" y="1338431"/>
            <a:ext cx="8254800" cy="4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Weighted social influence (w) amplifies perception of quality </a:t>
            </a:r>
            <a:endParaRPr sz="24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311700" y="333769"/>
            <a:ext cx="8520600" cy="42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Tradeoff	</a:t>
            </a:r>
            <a:endParaRPr/>
          </a:p>
        </p:txBody>
      </p:sp>
      <p:sp>
        <p:nvSpPr>
          <p:cNvPr id="234" name="Google Shape;234;p37"/>
          <p:cNvSpPr txBox="1"/>
          <p:nvPr>
            <p:ph idx="1" type="body"/>
          </p:nvPr>
        </p:nvSpPr>
        <p:spPr>
          <a:xfrm>
            <a:off x="457200" y="1200150"/>
            <a:ext cx="8229600" cy="27792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SzPts val="1800"/>
              <a:buChar char="●"/>
            </a:pPr>
            <a:r>
              <a:rPr lang="en"/>
              <a:t>Attached to desirable others (</a:t>
            </a:r>
            <a:r>
              <a:rPr b="1" lang="en"/>
              <a:t>preferential attachment</a:t>
            </a:r>
            <a:r>
              <a:rPr lang="en"/>
              <a:t>)  --&gt; amplification of differences &amp; inequality</a:t>
            </a:r>
            <a:endParaRPr sz="2400"/>
          </a:p>
          <a:p>
            <a:pPr indent="-342900" lvl="0" marL="457200" rtl="0" algn="l">
              <a:lnSpc>
                <a:spcPct val="100000"/>
              </a:lnSpc>
              <a:spcBef>
                <a:spcPts val="480"/>
              </a:spcBef>
              <a:spcAft>
                <a:spcPts val="0"/>
              </a:spcAft>
              <a:buSzPts val="1800"/>
              <a:buChar char="●"/>
            </a:pPr>
            <a:r>
              <a:rPr lang="en"/>
              <a:t>attach to available others (</a:t>
            </a:r>
            <a:r>
              <a:rPr b="1" lang="en"/>
              <a:t>reciprocity</a:t>
            </a:r>
            <a:r>
              <a:rPr lang="en"/>
              <a:t>)</a:t>
            </a:r>
            <a:endParaRPr/>
          </a:p>
          <a:p>
            <a:pPr indent="-342900" lvl="0" marL="457200" rtl="0" algn="l">
              <a:lnSpc>
                <a:spcPct val="100000"/>
              </a:lnSpc>
              <a:spcBef>
                <a:spcPts val="480"/>
              </a:spcBef>
              <a:spcAft>
                <a:spcPts val="0"/>
              </a:spcAft>
              <a:buSzPts val="1800"/>
              <a:buChar char="●"/>
            </a:pPr>
            <a:r>
              <a:rPr lang="en"/>
              <a:t>tolerance for non-reciprocity	 (</a:t>
            </a:r>
            <a:r>
              <a:rPr i="1" lang="en"/>
              <a:t>s</a:t>
            </a:r>
            <a:r>
              <a:rPr lang="en"/>
              <a:t> parameter)</a:t>
            </a:r>
            <a:endParaRPr/>
          </a:p>
          <a:p>
            <a:pPr indent="-317500" lvl="1" marL="914400" rtl="0" algn="l">
              <a:lnSpc>
                <a:spcPct val="100000"/>
              </a:lnSpc>
              <a:spcBef>
                <a:spcPts val="480"/>
              </a:spcBef>
              <a:spcAft>
                <a:spcPts val="0"/>
              </a:spcAft>
              <a:buSzPts val="1400"/>
              <a:buChar char="○"/>
            </a:pPr>
            <a:r>
              <a:rPr lang="en"/>
              <a:t>if painful --&gt; attach to </a:t>
            </a:r>
            <a:r>
              <a:rPr i="1" lang="en"/>
              <a:t>available</a:t>
            </a:r>
            <a:r>
              <a:rPr lang="en"/>
              <a:t> others</a:t>
            </a:r>
            <a:endParaRPr/>
          </a:p>
          <a:p>
            <a:pPr indent="-317500" lvl="2" marL="1371600" rtl="0" algn="l">
              <a:lnSpc>
                <a:spcPct val="100000"/>
              </a:lnSpc>
              <a:spcBef>
                <a:spcPts val="480"/>
              </a:spcBef>
              <a:spcAft>
                <a:spcPts val="0"/>
              </a:spcAft>
              <a:buSzPts val="1400"/>
              <a:buChar char="■"/>
            </a:pPr>
            <a:r>
              <a:rPr lang="en"/>
              <a:t>slows amplification process</a:t>
            </a:r>
            <a:endParaRPr/>
          </a:p>
          <a:p>
            <a:pPr indent="-317500" lvl="1" marL="914400" rtl="0" algn="l">
              <a:lnSpc>
                <a:spcPct val="100000"/>
              </a:lnSpc>
              <a:spcBef>
                <a:spcPts val="480"/>
              </a:spcBef>
              <a:spcAft>
                <a:spcPts val="0"/>
              </a:spcAft>
              <a:buSzPts val="1400"/>
              <a:buChar char="○"/>
            </a:pPr>
            <a:r>
              <a:rPr lang="en"/>
              <a:t>if not painful --&gt; attach to desirable others</a:t>
            </a:r>
            <a:endParaRPr/>
          </a:p>
          <a:p>
            <a:pPr indent="-317500" lvl="2" marL="1371600" rtl="0" algn="l">
              <a:lnSpc>
                <a:spcPct val="100000"/>
              </a:lnSpc>
              <a:spcBef>
                <a:spcPts val="480"/>
              </a:spcBef>
              <a:spcAft>
                <a:spcPts val="0"/>
              </a:spcAft>
              <a:buSzPts val="1400"/>
              <a:buChar char="■"/>
            </a:pPr>
            <a:r>
              <a:rPr lang="en"/>
              <a:t>acceptance of status inferiority</a:t>
            </a:r>
            <a:endParaRPr/>
          </a:p>
          <a:p>
            <a:pPr indent="0" lvl="0" marL="0" rtl="0" algn="l">
              <a:spcBef>
                <a:spcPts val="480"/>
              </a:spcBef>
              <a:spcAft>
                <a:spcPts val="16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Martin’s Schematic Triangle</a:t>
            </a:r>
            <a:endParaRPr/>
          </a:p>
        </p:txBody>
      </p:sp>
      <p:pic>
        <p:nvPicPr>
          <p:cNvPr id="240" name="Google Shape;240;p38"/>
          <p:cNvPicPr preferRelativeResize="0"/>
          <p:nvPr/>
        </p:nvPicPr>
        <p:blipFill>
          <a:blip r:embed="rId3">
            <a:alphaModFix/>
          </a:blip>
          <a:stretch>
            <a:fillRect/>
          </a:stretch>
        </p:blipFill>
        <p:spPr>
          <a:xfrm>
            <a:off x="1705348" y="1467700"/>
            <a:ext cx="4503724" cy="30045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4" name="Shape 244"/>
        <p:cNvGrpSpPr/>
        <p:nvPr/>
      </p:nvGrpSpPr>
      <p:grpSpPr>
        <a:xfrm>
          <a:off x="0" y="0"/>
          <a:ext cx="0" cy="0"/>
          <a:chOff x="0" y="0"/>
          <a:chExt cx="0" cy="0"/>
        </a:xfrm>
      </p:grpSpPr>
      <p:sp>
        <p:nvSpPr>
          <p:cNvPr id="245" name="Google Shape;245;p39"/>
          <p:cNvSpPr txBox="1"/>
          <p:nvPr>
            <p:ph type="title"/>
          </p:nvPr>
        </p:nvSpPr>
        <p:spPr>
          <a:xfrm>
            <a:off x="311700" y="333769"/>
            <a:ext cx="8520600" cy="42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Preferential Attachment		</a:t>
            </a:r>
            <a:endParaRPr/>
          </a:p>
        </p:txBody>
      </p:sp>
      <p:sp>
        <p:nvSpPr>
          <p:cNvPr id="246" name="Google Shape;246;p39"/>
          <p:cNvSpPr txBox="1"/>
          <p:nvPr>
            <p:ph idx="1" type="body"/>
          </p:nvPr>
        </p:nvSpPr>
        <p:spPr>
          <a:xfrm>
            <a:off x="311700" y="864356"/>
            <a:ext cx="8520600" cy="25623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SzPts val="1800"/>
              <a:buChar char="●"/>
            </a:pPr>
            <a:r>
              <a:rPr b="1" lang="en" sz="1800"/>
              <a:t>Edros-Renyi (ER) random graph</a:t>
            </a:r>
            <a:r>
              <a:rPr lang="en" sz="1800"/>
              <a:t>	</a:t>
            </a:r>
            <a:endParaRPr sz="1800"/>
          </a:p>
          <a:p>
            <a:pPr indent="-317500" lvl="1" marL="914400" rtl="0" algn="l">
              <a:lnSpc>
                <a:spcPct val="100000"/>
              </a:lnSpc>
              <a:spcBef>
                <a:spcPts val="0"/>
              </a:spcBef>
              <a:spcAft>
                <a:spcPts val="0"/>
              </a:spcAft>
              <a:buSzPts val="1400"/>
              <a:buChar char="○"/>
            </a:pPr>
            <a:r>
              <a:rPr lang="en" sz="1800"/>
              <a:t>Probability 2 vertices connected is random and uniform</a:t>
            </a:r>
            <a:endParaRPr sz="1800"/>
          </a:p>
          <a:p>
            <a:pPr indent="-317500" lvl="1" marL="914400" rtl="0" algn="l">
              <a:lnSpc>
                <a:spcPct val="100000"/>
              </a:lnSpc>
              <a:spcBef>
                <a:spcPts val="0"/>
              </a:spcBef>
              <a:spcAft>
                <a:spcPts val="0"/>
              </a:spcAft>
              <a:buSzPts val="1400"/>
              <a:buChar char="○"/>
            </a:pPr>
            <a:r>
              <a:rPr lang="en" sz="1800"/>
              <a:t>Constant degree</a:t>
            </a:r>
            <a:endParaRPr sz="1800"/>
          </a:p>
          <a:p>
            <a:pPr indent="-317500" lvl="1" marL="914400" rtl="0" algn="l">
              <a:lnSpc>
                <a:spcPct val="100000"/>
              </a:lnSpc>
              <a:spcBef>
                <a:spcPts val="0"/>
              </a:spcBef>
              <a:spcAft>
                <a:spcPts val="0"/>
              </a:spcAft>
              <a:buSzPts val="1400"/>
              <a:buChar char="○"/>
            </a:pPr>
            <a:r>
              <a:rPr lang="en" sz="1800"/>
              <a:t>Low clustering</a:t>
            </a:r>
            <a:endParaRPr sz="1800"/>
          </a:p>
          <a:p>
            <a:pPr indent="-317500" lvl="1" marL="914400" rtl="0" algn="l">
              <a:lnSpc>
                <a:spcPct val="100000"/>
              </a:lnSpc>
              <a:spcBef>
                <a:spcPts val="0"/>
              </a:spcBef>
              <a:spcAft>
                <a:spcPts val="0"/>
              </a:spcAft>
              <a:buSzPts val="1400"/>
              <a:buChar char="○"/>
            </a:pPr>
            <a:r>
              <a:rPr lang="en" sz="1800"/>
              <a:t>Poisson distribution</a:t>
            </a:r>
            <a:endParaRPr sz="1800"/>
          </a:p>
          <a:p>
            <a:pPr indent="-317500" lvl="2" marL="1371600" rtl="0" algn="l">
              <a:lnSpc>
                <a:spcPct val="100000"/>
              </a:lnSpc>
              <a:spcBef>
                <a:spcPts val="0"/>
              </a:spcBef>
              <a:spcAft>
                <a:spcPts val="0"/>
              </a:spcAft>
              <a:buSzPts val="1400"/>
              <a:buChar char="■"/>
            </a:pPr>
            <a:r>
              <a:rPr lang="en" sz="1800"/>
              <a:t>Probability of vertices with large k decreases exponentially with k</a:t>
            </a:r>
            <a:endParaRPr sz="1800"/>
          </a:p>
          <a:p>
            <a:pPr indent="-317500" lvl="1" marL="914400" rtl="0" algn="l">
              <a:lnSpc>
                <a:spcPct val="100000"/>
              </a:lnSpc>
              <a:spcBef>
                <a:spcPts val="0"/>
              </a:spcBef>
              <a:spcAft>
                <a:spcPts val="0"/>
              </a:spcAft>
              <a:buSzPts val="1400"/>
              <a:buChar char="○"/>
            </a:pPr>
            <a:r>
              <a:rPr lang="en" sz="1800"/>
              <a:t>Fixed N</a:t>
            </a:r>
            <a:endParaRPr sz="1800"/>
          </a:p>
          <a:p>
            <a:pPr indent="-342900" lvl="0" marL="457200" rtl="0" algn="l">
              <a:lnSpc>
                <a:spcPct val="100000"/>
              </a:lnSpc>
              <a:spcBef>
                <a:spcPts val="0"/>
              </a:spcBef>
              <a:spcAft>
                <a:spcPts val="0"/>
              </a:spcAft>
              <a:buSzPts val="1800"/>
              <a:buChar char="●"/>
            </a:pPr>
            <a:r>
              <a:rPr b="1" lang="en" sz="1800"/>
              <a:t>Watts-Stogatz (WS)</a:t>
            </a:r>
            <a:endParaRPr b="1" sz="1800"/>
          </a:p>
          <a:p>
            <a:pPr indent="-317500" lvl="1" marL="914400" rtl="0" algn="l">
              <a:lnSpc>
                <a:spcPct val="100000"/>
              </a:lnSpc>
              <a:spcBef>
                <a:spcPts val="0"/>
              </a:spcBef>
              <a:spcAft>
                <a:spcPts val="0"/>
              </a:spcAft>
              <a:buSzPts val="1400"/>
              <a:buChar char="○"/>
            </a:pPr>
            <a:r>
              <a:rPr lang="en" sz="1800"/>
              <a:t>lattice with clustering</a:t>
            </a:r>
            <a:endParaRPr sz="1800"/>
          </a:p>
          <a:p>
            <a:pPr indent="-317500" lvl="1" marL="914400" rtl="0" algn="l">
              <a:lnSpc>
                <a:spcPct val="100000"/>
              </a:lnSpc>
              <a:spcBef>
                <a:spcPts val="0"/>
              </a:spcBef>
              <a:spcAft>
                <a:spcPts val="0"/>
              </a:spcAft>
              <a:buSzPts val="1400"/>
              <a:buChar char="○"/>
            </a:pPr>
            <a:r>
              <a:rPr lang="en" sz="1800"/>
              <a:t>random rewiring</a:t>
            </a:r>
            <a:endParaRPr sz="1800"/>
          </a:p>
          <a:p>
            <a:pPr indent="-317500" lvl="1" marL="914400" rtl="0" algn="l">
              <a:lnSpc>
                <a:spcPct val="100000"/>
              </a:lnSpc>
              <a:spcBef>
                <a:spcPts val="0"/>
              </a:spcBef>
              <a:spcAft>
                <a:spcPts val="0"/>
              </a:spcAft>
              <a:buSzPts val="1400"/>
              <a:buChar char="○"/>
            </a:pPr>
            <a:r>
              <a:rPr lang="en" sz="1800"/>
              <a:t>constant degree</a:t>
            </a:r>
            <a:endParaRPr sz="1800"/>
          </a:p>
          <a:p>
            <a:pPr indent="-317500" lvl="1" marL="914400" rtl="0" algn="l">
              <a:spcBef>
                <a:spcPts val="0"/>
              </a:spcBef>
              <a:spcAft>
                <a:spcPts val="0"/>
              </a:spcAft>
              <a:buSzPts val="1400"/>
              <a:buChar char="○"/>
            </a:pPr>
            <a:r>
              <a:rPr lang="en" sz="1800"/>
              <a:t>Fixed N</a:t>
            </a:r>
            <a:endParaRPr sz="1800"/>
          </a:p>
          <a:p>
            <a:pPr indent="-317500" lvl="1" marL="914400" rtl="0" algn="l">
              <a:spcBef>
                <a:spcPts val="1600"/>
              </a:spcBef>
              <a:spcAft>
                <a:spcPts val="0"/>
              </a:spcAft>
              <a:buSzPts val="1400"/>
              <a:buChar char="○"/>
            </a:pPr>
            <a:r>
              <a:rPr lang="en" sz="1800"/>
              <a:t>Poisson Distribution</a:t>
            </a:r>
            <a:endParaRPr sz="1800"/>
          </a:p>
          <a:p>
            <a:pPr indent="0" lvl="0" marL="0" rtl="0" algn="l">
              <a:spcBef>
                <a:spcPts val="1600"/>
              </a:spcBef>
              <a:spcAft>
                <a:spcPts val="0"/>
              </a:spcAft>
              <a:buNone/>
            </a:pPr>
            <a:r>
              <a:t/>
            </a:r>
            <a:endParaRPr sz="1800"/>
          </a:p>
          <a:p>
            <a:pPr indent="0" lvl="0" marL="0" rtl="0" algn="l">
              <a:spcBef>
                <a:spcPts val="1600"/>
              </a:spcBef>
              <a:spcAft>
                <a:spcPts val="1600"/>
              </a:spcAft>
              <a:buNone/>
            </a:pPr>
            <a:r>
              <a:t/>
            </a:r>
            <a:endParaRPr sz="18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0" name="Shape 250"/>
        <p:cNvGrpSpPr/>
        <p:nvPr/>
      </p:nvGrpSpPr>
      <p:grpSpPr>
        <a:xfrm>
          <a:off x="0" y="0"/>
          <a:ext cx="0" cy="0"/>
          <a:chOff x="0" y="0"/>
          <a:chExt cx="0" cy="0"/>
        </a:xfrm>
      </p:grpSpPr>
      <p:sp>
        <p:nvSpPr>
          <p:cNvPr id="251" name="Google Shape;251;p40"/>
          <p:cNvSpPr txBox="1"/>
          <p:nvPr>
            <p:ph type="title"/>
          </p:nvPr>
        </p:nvSpPr>
        <p:spPr>
          <a:xfrm>
            <a:off x="311700" y="333769"/>
            <a:ext cx="8520600" cy="42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Preferential Attachment</a:t>
            </a:r>
            <a:endParaRPr/>
          </a:p>
        </p:txBody>
      </p:sp>
      <p:sp>
        <p:nvSpPr>
          <p:cNvPr id="252" name="Google Shape;252;p40"/>
          <p:cNvSpPr txBox="1"/>
          <p:nvPr>
            <p:ph idx="1" type="body"/>
          </p:nvPr>
        </p:nvSpPr>
        <p:spPr>
          <a:xfrm>
            <a:off x="457200" y="1200150"/>
            <a:ext cx="8229600" cy="1096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2400"/>
              <a:t>Not fixed N:  N varies over time</a:t>
            </a:r>
            <a:endParaRPr sz="2400"/>
          </a:p>
          <a:p>
            <a:pPr indent="-342900" lvl="0" marL="457200" rtl="0" algn="l">
              <a:spcBef>
                <a:spcPts val="1600"/>
              </a:spcBef>
              <a:spcAft>
                <a:spcPts val="1600"/>
              </a:spcAft>
              <a:buSzPts val="1800"/>
              <a:buChar char="●"/>
            </a:pPr>
            <a:r>
              <a:rPr lang="en" sz="2400"/>
              <a:t>Probability two vertices are connected is not random or uniform</a:t>
            </a:r>
            <a:endParaRPr baseline="30000" sz="1800"/>
          </a:p>
        </p:txBody>
      </p:sp>
      <p:pic>
        <p:nvPicPr>
          <p:cNvPr id="253" name="Google Shape;253;p40"/>
          <p:cNvPicPr preferRelativeResize="0"/>
          <p:nvPr/>
        </p:nvPicPr>
        <p:blipFill>
          <a:blip r:embed="rId3">
            <a:alphaModFix/>
          </a:blip>
          <a:stretch>
            <a:fillRect/>
          </a:stretch>
        </p:blipFill>
        <p:spPr>
          <a:xfrm>
            <a:off x="4235826" y="2296950"/>
            <a:ext cx="3700407" cy="261924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7" name="Shape 257"/>
        <p:cNvGrpSpPr/>
        <p:nvPr/>
      </p:nvGrpSpPr>
      <p:grpSpPr>
        <a:xfrm>
          <a:off x="0" y="0"/>
          <a:ext cx="0" cy="0"/>
          <a:chOff x="0" y="0"/>
          <a:chExt cx="0" cy="0"/>
        </a:xfrm>
      </p:grpSpPr>
      <p:sp>
        <p:nvSpPr>
          <p:cNvPr id="258" name="Google Shape;258;p41"/>
          <p:cNvSpPr txBox="1"/>
          <p:nvPr>
            <p:ph type="title"/>
          </p:nvPr>
        </p:nvSpPr>
        <p:spPr>
          <a:xfrm>
            <a:off x="311700" y="333769"/>
            <a:ext cx="8520600" cy="42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Forming a (scale free) network</a:t>
            </a:r>
            <a:endParaRPr/>
          </a:p>
        </p:txBody>
      </p:sp>
      <p:sp>
        <p:nvSpPr>
          <p:cNvPr id="259" name="Google Shape;259;p41"/>
          <p:cNvSpPr txBox="1"/>
          <p:nvPr>
            <p:ph idx="1" type="body"/>
          </p:nvPr>
        </p:nvSpPr>
        <p:spPr>
          <a:xfrm>
            <a:off x="457200" y="1200150"/>
            <a:ext cx="8187600" cy="3725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Scale free networks have a number of “good” properties</a:t>
            </a:r>
            <a:endParaRPr/>
          </a:p>
          <a:p>
            <a:pPr indent="-317500" lvl="2" marL="1371600" rtl="0" algn="l">
              <a:spcBef>
                <a:spcPts val="0"/>
              </a:spcBef>
              <a:spcAft>
                <a:spcPts val="0"/>
              </a:spcAft>
              <a:buSzPts val="1400"/>
              <a:buChar char="■"/>
            </a:pPr>
            <a:r>
              <a:rPr lang="en"/>
              <a:t>They are resistant to disruption by the removal of any one single actor</a:t>
            </a:r>
            <a:endParaRPr/>
          </a:p>
          <a:p>
            <a:pPr indent="-317500" lvl="3" marL="1828800" rtl="0" algn="l">
              <a:spcBef>
                <a:spcPts val="0"/>
              </a:spcBef>
              <a:spcAft>
                <a:spcPts val="0"/>
              </a:spcAft>
              <a:buSzPts val="1400"/>
              <a:buChar char="●"/>
            </a:pPr>
            <a:r>
              <a:rPr lang="en"/>
              <a:t>Why?</a:t>
            </a:r>
            <a:endParaRPr/>
          </a:p>
          <a:p>
            <a:pPr indent="0" lvl="0" marL="0" rtl="0" algn="l">
              <a:spcBef>
                <a:spcPts val="1600"/>
              </a:spcBef>
              <a:spcAft>
                <a:spcPts val="1600"/>
              </a:spcAft>
              <a:buNone/>
            </a:pPr>
            <a:r>
              <a:t/>
            </a:r>
            <a:endParaRPr/>
          </a:p>
        </p:txBody>
      </p:sp>
      <p:pic>
        <p:nvPicPr>
          <p:cNvPr descr="barabasisciam_Page_06.png" id="260" name="Google Shape;260;p41"/>
          <p:cNvPicPr preferRelativeResize="0"/>
          <p:nvPr/>
        </p:nvPicPr>
        <p:blipFill rotWithShape="1">
          <a:blip r:embed="rId3">
            <a:alphaModFix/>
          </a:blip>
          <a:srcRect b="63872" l="9418" r="7019" t="16348"/>
          <a:stretch/>
        </p:blipFill>
        <p:spPr>
          <a:xfrm>
            <a:off x="745163" y="3128212"/>
            <a:ext cx="7653673" cy="179771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