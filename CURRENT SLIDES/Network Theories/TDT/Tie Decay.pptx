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Economica"/>
      <p:regular r:id="rId22"/>
      <p:bold r:id="rId23"/>
      <p:italic r:id="rId24"/>
      <p:boldItalic r:id="rId25"/>
    </p:embeddedFont>
    <p:embeddedFont>
      <p:font typeface="Junge"/>
      <p:regular r:id="rId26"/>
    </p:embeddedFont>
    <p:embeddedFont>
      <p:font typeface="Open Sa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Economica-regular.fntdata"/><Relationship Id="rId21" Type="http://schemas.openxmlformats.org/officeDocument/2006/relationships/slide" Target="slides/slide16.xml"/><Relationship Id="rId24" Type="http://schemas.openxmlformats.org/officeDocument/2006/relationships/font" Target="fonts/Economica-italic.fntdata"/><Relationship Id="rId23" Type="http://schemas.openxmlformats.org/officeDocument/2006/relationships/font" Target="fonts/Economica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Junge-regular.fntdata"/><Relationship Id="rId25" Type="http://schemas.openxmlformats.org/officeDocument/2006/relationships/font" Target="fonts/Economica-boldItalic.fntdata"/><Relationship Id="rId28" Type="http://schemas.openxmlformats.org/officeDocument/2006/relationships/font" Target="fonts/OpenSans-bold.fntdata"/><Relationship Id="rId27" Type="http://schemas.openxmlformats.org/officeDocument/2006/relationships/font" Target="fonts/OpenSa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Open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65198f7e8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65198f7e8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65198f7e88_0_4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65198f7e88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compatibility, learning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65198f7e88_0_5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65198f7e88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65198f7e88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65198f7e88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65198f7e88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65198f7e88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65198f7e88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65198f7e88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65198f7e88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65198f7e88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65198f7e88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65198f7e88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65198f7e88_0_18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65198f7e88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65198f7e88_0_18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65198f7e88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65198f7e88_0_19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65198f7e88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65198f7e88_0_19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65198f7e88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65198f7e88_0_20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65198f7e88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65198f7e88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65198f7e88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65198f7e8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65198f7e8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Tie Decay</a:t>
            </a:r>
            <a:endParaRPr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is it so important to look at Tie Decay?</a:t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10020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Three Processes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Tie Formation	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Tie Evolution (Development, Maintenance)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Tie Decay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Cross-Sectional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Tie Prediction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Assumed indicator of tie formation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not look at tie decay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Pipes and Flows Metaphor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Network (edges) very stable (</a:t>
            </a:r>
            <a:r>
              <a:rPr lang="en"/>
              <a:t>persistent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People change through diffusion within networks (social influence)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Time scales: Assumes networks change at a slower pace than human behavior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Empirical Reality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Edges come and go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Tie decay rates are high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333769"/>
            <a:ext cx="8520600" cy="42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Burt:  Tie Decay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4069" y="1165837"/>
            <a:ext cx="3913500" cy="19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2400"/>
              <a:t>formation vs. persistence</a:t>
            </a:r>
            <a:endParaRPr sz="2400"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 sz="2400"/>
              <a:t>liability of newness: </a:t>
            </a:r>
            <a:r>
              <a:rPr lang="en" sz="1800"/>
              <a:t> </a:t>
            </a:r>
            <a:endParaRPr sz="1800"/>
          </a:p>
          <a:p>
            <a:pPr indent="-342900" lvl="1" marL="914400" rtl="0" algn="l">
              <a:spcBef>
                <a:spcPts val="160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longer in a state less likely to leave the state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688" y="3291072"/>
            <a:ext cx="2941955" cy="1470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12988" y="1321982"/>
            <a:ext cx="3047823" cy="34398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11700" y="333769"/>
            <a:ext cx="8520600" cy="42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Burt:  Tie Decay	- Predictors</a:t>
            </a:r>
            <a:endParaRPr/>
          </a:p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311700" y="864356"/>
            <a:ext cx="8520600" cy="25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Node Age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Tie Age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Strength (subjective measure)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Homophily</a:t>
            </a:r>
            <a:endParaRPr sz="2200"/>
          </a:p>
          <a:p>
            <a:pPr indent="-3683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minimal rank homophily</a:t>
            </a:r>
            <a:endParaRPr sz="2200"/>
          </a:p>
          <a:p>
            <a:pPr indent="-3683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Gender:  M-M lower</a:t>
            </a:r>
            <a:endParaRPr sz="2200"/>
          </a:p>
          <a:p>
            <a:pPr indent="-3683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Age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Embeddedness (number of third parties connecting A &amp; B)</a:t>
            </a:r>
            <a:endParaRPr sz="2200"/>
          </a:p>
          <a:p>
            <a:pPr indent="-3683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lowers decay, increases persistence</a:t>
            </a:r>
            <a:endParaRPr sz="2200"/>
          </a:p>
          <a:p>
            <a:pPr indent="-3683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explains homophily effects</a:t>
            </a:r>
            <a:endParaRPr sz="2200"/>
          </a:p>
          <a:p>
            <a:pPr indent="-3683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 sz="2200"/>
              <a:t>disruptive embedding (cascading tie decay)</a:t>
            </a:r>
            <a:endParaRPr sz="2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Principles of tie decay</a:t>
            </a:r>
            <a:endParaRPr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1225225"/>
            <a:ext cx="3953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fundamental principle of tie decay is the </a:t>
            </a:r>
            <a:r>
              <a:rPr b="1" lang="en"/>
              <a:t>liability of newness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more recently “born” the tie is the more likely it is that it will not be observed in the future</a:t>
            </a:r>
            <a:endParaRPr/>
          </a:p>
        </p:txBody>
      </p:sp>
      <p:grpSp>
        <p:nvGrpSpPr>
          <p:cNvPr id="90" name="Google Shape;90;p17"/>
          <p:cNvGrpSpPr/>
          <p:nvPr/>
        </p:nvGrpSpPr>
        <p:grpSpPr>
          <a:xfrm>
            <a:off x="4264900" y="899708"/>
            <a:ext cx="4567400" cy="4005027"/>
            <a:chOff x="4021025" y="1626525"/>
            <a:chExt cx="4567400" cy="4806225"/>
          </a:xfrm>
        </p:grpSpPr>
        <p:cxnSp>
          <p:nvCxnSpPr>
            <p:cNvPr id="91" name="Google Shape;91;p17"/>
            <p:cNvCxnSpPr/>
            <p:nvPr/>
          </p:nvCxnSpPr>
          <p:spPr>
            <a:xfrm>
              <a:off x="4690525" y="5956350"/>
              <a:ext cx="3897900" cy="0"/>
            </a:xfrm>
            <a:prstGeom prst="straightConnector1">
              <a:avLst/>
            </a:prstGeom>
            <a:noFill/>
            <a:ln cap="flat" cmpd="sng" w="28575">
              <a:solidFill>
                <a:srgbClr val="5B595A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92" name="Google Shape;92;p17"/>
            <p:cNvSpPr txBox="1"/>
            <p:nvPr/>
          </p:nvSpPr>
          <p:spPr>
            <a:xfrm rot="-5400000">
              <a:off x="1996925" y="3650625"/>
              <a:ext cx="4426200" cy="37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latin typeface="Junge"/>
                  <a:ea typeface="Junge"/>
                  <a:cs typeface="Junge"/>
                  <a:sym typeface="Junge"/>
                </a:rPr>
                <a:t>Probability of that the tie will be gone at next time step</a:t>
              </a:r>
              <a:endParaRPr b="1" sz="1000">
                <a:latin typeface="Junge"/>
                <a:ea typeface="Junge"/>
                <a:cs typeface="Junge"/>
                <a:sym typeface="Junge"/>
              </a:endParaRPr>
            </a:p>
          </p:txBody>
        </p:sp>
        <p:sp>
          <p:nvSpPr>
            <p:cNvPr id="93" name="Google Shape;93;p17"/>
            <p:cNvSpPr txBox="1"/>
            <p:nvPr/>
          </p:nvSpPr>
          <p:spPr>
            <a:xfrm>
              <a:off x="4758750" y="6006300"/>
              <a:ext cx="3506400" cy="21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Junge"/>
                  <a:ea typeface="Junge"/>
                  <a:cs typeface="Junge"/>
                  <a:sym typeface="Junge"/>
                </a:rPr>
                <a:t>1	2	3	4	5	6	7	8</a:t>
              </a:r>
              <a:endParaRPr>
                <a:latin typeface="Junge"/>
                <a:ea typeface="Junge"/>
                <a:cs typeface="Junge"/>
                <a:sym typeface="Junge"/>
              </a:endParaRPr>
            </a:p>
          </p:txBody>
        </p:sp>
        <p:sp>
          <p:nvSpPr>
            <p:cNvPr id="94" name="Google Shape;94;p17"/>
            <p:cNvSpPr txBox="1"/>
            <p:nvPr/>
          </p:nvSpPr>
          <p:spPr>
            <a:xfrm>
              <a:off x="4731450" y="6168750"/>
              <a:ext cx="3561000" cy="26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Junge"/>
                  <a:ea typeface="Junge"/>
                  <a:cs typeface="Junge"/>
                  <a:sym typeface="Junge"/>
                </a:rPr>
                <a:t>Time</a:t>
              </a:r>
              <a:endParaRPr>
                <a:latin typeface="Junge"/>
                <a:ea typeface="Junge"/>
                <a:cs typeface="Junge"/>
                <a:sym typeface="Junge"/>
              </a:endParaRPr>
            </a:p>
          </p:txBody>
        </p:sp>
        <p:sp>
          <p:nvSpPr>
            <p:cNvPr id="95" name="Google Shape;95;p17"/>
            <p:cNvSpPr/>
            <p:nvPr/>
          </p:nvSpPr>
          <p:spPr>
            <a:xfrm>
              <a:off x="4799700" y="1803300"/>
              <a:ext cx="3679551" cy="4072655"/>
            </a:xfrm>
            <a:custGeom>
              <a:rect b="b" l="l" r="r" t="t"/>
              <a:pathLst>
                <a:path extrusionOk="0" h="160657" w="146815">
                  <a:moveTo>
                    <a:pt x="0" y="0"/>
                  </a:moveTo>
                  <a:cubicBezTo>
                    <a:pt x="3400" y="14572"/>
                    <a:pt x="12568" y="67396"/>
                    <a:pt x="20401" y="87433"/>
                  </a:cubicBezTo>
                  <a:cubicBezTo>
                    <a:pt x="28234" y="107470"/>
                    <a:pt x="30420" y="109473"/>
                    <a:pt x="46996" y="120220"/>
                  </a:cubicBezTo>
                  <a:cubicBezTo>
                    <a:pt x="63572" y="130967"/>
                    <a:pt x="103220" y="145175"/>
                    <a:pt x="119856" y="151914"/>
                  </a:cubicBezTo>
                  <a:cubicBezTo>
                    <a:pt x="136493" y="158654"/>
                    <a:pt x="142322" y="159200"/>
                    <a:pt x="146815" y="160657"/>
                  </a:cubicBezTo>
                </a:path>
              </a:pathLst>
            </a:custGeom>
            <a:noFill/>
            <a:ln cap="flat" cmpd="sng" w="38100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96" name="Google Shape;96;p17"/>
            <p:cNvSpPr txBox="1"/>
            <p:nvPr/>
          </p:nvSpPr>
          <p:spPr>
            <a:xfrm>
              <a:off x="5145775" y="1848825"/>
              <a:ext cx="1284300" cy="62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0000"/>
                  </a:solidFill>
                </a:rPr>
                <a:t>Liability of newness</a:t>
              </a:r>
              <a:endParaRPr>
                <a:solidFill>
                  <a:srgbClr val="FF0000"/>
                </a:solidFill>
              </a:endParaRPr>
            </a:p>
          </p:txBody>
        </p:sp>
        <p:cxnSp>
          <p:nvCxnSpPr>
            <p:cNvPr id="97" name="Google Shape;97;p17"/>
            <p:cNvCxnSpPr>
              <a:stCxn id="96" idx="2"/>
            </p:cNvCxnSpPr>
            <p:nvPr/>
          </p:nvCxnSpPr>
          <p:spPr>
            <a:xfrm flipH="1">
              <a:off x="5218525" y="2477325"/>
              <a:ext cx="569400" cy="6648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98" name="Google Shape;98;p17"/>
            <p:cNvSpPr txBox="1"/>
            <p:nvPr/>
          </p:nvSpPr>
          <p:spPr>
            <a:xfrm>
              <a:off x="4353450" y="1656150"/>
              <a:ext cx="378000" cy="427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Junge"/>
                  <a:ea typeface="Junge"/>
                  <a:cs typeface="Junge"/>
                  <a:sym typeface="Junge"/>
                </a:rPr>
                <a:t>1</a:t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Junge"/>
                  <a:ea typeface="Junge"/>
                  <a:cs typeface="Junge"/>
                  <a:sym typeface="Junge"/>
                </a:rPr>
                <a:t>.5</a:t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Principles of tie decay</a:t>
            </a:r>
            <a:endParaRPr/>
          </a:p>
        </p:txBody>
      </p:sp>
      <p:sp>
        <p:nvSpPr>
          <p:cNvPr id="104" name="Google Shape;104;p18"/>
          <p:cNvSpPr txBox="1"/>
          <p:nvPr>
            <p:ph idx="1" type="body"/>
          </p:nvPr>
        </p:nvSpPr>
        <p:spPr>
          <a:xfrm>
            <a:off x="311700" y="1225225"/>
            <a:ext cx="3953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The</a:t>
            </a:r>
            <a:r>
              <a:rPr b="1" lang="en"/>
              <a:t> liability of newness</a:t>
            </a:r>
            <a:r>
              <a:rPr lang="en"/>
              <a:t> is conditioned by a variety of factors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Most important: </a:t>
            </a:r>
            <a:r>
              <a:rPr b="1" lang="en"/>
              <a:t>Simmelian dyad </a:t>
            </a:r>
            <a:r>
              <a:rPr lang="en"/>
              <a:t>status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i="1"/>
          </a:p>
        </p:txBody>
      </p:sp>
      <p:sp>
        <p:nvSpPr>
          <p:cNvPr id="105" name="Google Shape;105;p18"/>
          <p:cNvSpPr/>
          <p:nvPr/>
        </p:nvSpPr>
        <p:spPr>
          <a:xfrm>
            <a:off x="5028225" y="1147224"/>
            <a:ext cx="3618086" cy="3302686"/>
          </a:xfrm>
          <a:custGeom>
            <a:rect b="b" l="l" r="r" t="t"/>
            <a:pathLst>
              <a:path extrusionOk="0" h="160656" w="141719">
                <a:moveTo>
                  <a:pt x="0" y="0"/>
                </a:moveTo>
                <a:cubicBezTo>
                  <a:pt x="1165" y="13548"/>
                  <a:pt x="4013" y="59004"/>
                  <a:pt x="6988" y="81287"/>
                </a:cubicBezTo>
                <a:cubicBezTo>
                  <a:pt x="9963" y="103570"/>
                  <a:pt x="11548" y="121260"/>
                  <a:pt x="17851" y="133699"/>
                </a:cubicBezTo>
                <a:cubicBezTo>
                  <a:pt x="24155" y="146138"/>
                  <a:pt x="32362" y="151733"/>
                  <a:pt x="44809" y="155922"/>
                </a:cubicBezTo>
                <a:cubicBezTo>
                  <a:pt x="57256" y="160112"/>
                  <a:pt x="76381" y="158047"/>
                  <a:pt x="92533" y="158836"/>
                </a:cubicBezTo>
                <a:cubicBezTo>
                  <a:pt x="108685" y="159625"/>
                  <a:pt x="133521" y="160353"/>
                  <a:pt x="141719" y="160656"/>
                </a:cubicBezTo>
              </a:path>
            </a:pathLst>
          </a:cu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106" name="Google Shape;106;p18"/>
          <p:cNvGrpSpPr/>
          <p:nvPr/>
        </p:nvGrpSpPr>
        <p:grpSpPr>
          <a:xfrm>
            <a:off x="4264800" y="899708"/>
            <a:ext cx="4567400" cy="4005027"/>
            <a:chOff x="4021025" y="1626525"/>
            <a:chExt cx="4567400" cy="4806225"/>
          </a:xfrm>
        </p:grpSpPr>
        <p:cxnSp>
          <p:nvCxnSpPr>
            <p:cNvPr id="107" name="Google Shape;107;p18"/>
            <p:cNvCxnSpPr/>
            <p:nvPr/>
          </p:nvCxnSpPr>
          <p:spPr>
            <a:xfrm>
              <a:off x="4690525" y="5956350"/>
              <a:ext cx="3897900" cy="0"/>
            </a:xfrm>
            <a:prstGeom prst="straightConnector1">
              <a:avLst/>
            </a:prstGeom>
            <a:noFill/>
            <a:ln cap="flat" cmpd="sng" w="28575">
              <a:solidFill>
                <a:srgbClr val="5B595A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108" name="Google Shape;108;p18"/>
            <p:cNvSpPr txBox="1"/>
            <p:nvPr/>
          </p:nvSpPr>
          <p:spPr>
            <a:xfrm rot="-5400000">
              <a:off x="1996925" y="3650625"/>
              <a:ext cx="4426200" cy="37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latin typeface="Junge"/>
                  <a:ea typeface="Junge"/>
                  <a:cs typeface="Junge"/>
                  <a:sym typeface="Junge"/>
                </a:rPr>
                <a:t>Probability of that the tie will be gone at next time step</a:t>
              </a:r>
              <a:endParaRPr b="1" sz="1000">
                <a:latin typeface="Junge"/>
                <a:ea typeface="Junge"/>
                <a:cs typeface="Junge"/>
                <a:sym typeface="Junge"/>
              </a:endParaRPr>
            </a:p>
          </p:txBody>
        </p:sp>
        <p:sp>
          <p:nvSpPr>
            <p:cNvPr id="109" name="Google Shape;109;p18"/>
            <p:cNvSpPr txBox="1"/>
            <p:nvPr/>
          </p:nvSpPr>
          <p:spPr>
            <a:xfrm>
              <a:off x="4758750" y="6006300"/>
              <a:ext cx="3506400" cy="21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Junge"/>
                  <a:ea typeface="Junge"/>
                  <a:cs typeface="Junge"/>
                  <a:sym typeface="Junge"/>
                </a:rPr>
                <a:t>1	2	3	4	5	6	7	8</a:t>
              </a:r>
              <a:endParaRPr>
                <a:latin typeface="Junge"/>
                <a:ea typeface="Junge"/>
                <a:cs typeface="Junge"/>
                <a:sym typeface="Junge"/>
              </a:endParaRPr>
            </a:p>
          </p:txBody>
        </p:sp>
        <p:sp>
          <p:nvSpPr>
            <p:cNvPr id="110" name="Google Shape;110;p18"/>
            <p:cNvSpPr txBox="1"/>
            <p:nvPr/>
          </p:nvSpPr>
          <p:spPr>
            <a:xfrm>
              <a:off x="4731450" y="6168750"/>
              <a:ext cx="3561000" cy="26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Junge"/>
                  <a:ea typeface="Junge"/>
                  <a:cs typeface="Junge"/>
                  <a:sym typeface="Junge"/>
                </a:rPr>
                <a:t>Time</a:t>
              </a:r>
              <a:endParaRPr>
                <a:latin typeface="Junge"/>
                <a:ea typeface="Junge"/>
                <a:cs typeface="Junge"/>
                <a:sym typeface="Junge"/>
              </a:endParaRPr>
            </a:p>
          </p:txBody>
        </p:sp>
        <p:sp>
          <p:nvSpPr>
            <p:cNvPr id="111" name="Google Shape;111;p18"/>
            <p:cNvSpPr/>
            <p:nvPr/>
          </p:nvSpPr>
          <p:spPr>
            <a:xfrm>
              <a:off x="4799700" y="1803300"/>
              <a:ext cx="3679551" cy="4072655"/>
            </a:xfrm>
            <a:custGeom>
              <a:rect b="b" l="l" r="r" t="t"/>
              <a:pathLst>
                <a:path extrusionOk="0" h="160657" w="146815">
                  <a:moveTo>
                    <a:pt x="0" y="0"/>
                  </a:moveTo>
                  <a:cubicBezTo>
                    <a:pt x="3400" y="14572"/>
                    <a:pt x="12568" y="67396"/>
                    <a:pt x="20401" y="87433"/>
                  </a:cubicBezTo>
                  <a:cubicBezTo>
                    <a:pt x="28234" y="107470"/>
                    <a:pt x="30420" y="109473"/>
                    <a:pt x="46996" y="120220"/>
                  </a:cubicBezTo>
                  <a:cubicBezTo>
                    <a:pt x="63572" y="130967"/>
                    <a:pt x="103220" y="145175"/>
                    <a:pt x="119856" y="151914"/>
                  </a:cubicBezTo>
                  <a:cubicBezTo>
                    <a:pt x="136493" y="158654"/>
                    <a:pt x="142322" y="159200"/>
                    <a:pt x="146815" y="160657"/>
                  </a:cubicBezTo>
                </a:path>
              </a:pathLst>
            </a:custGeom>
            <a:noFill/>
            <a:ln cap="flat" cmpd="sng" w="38100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2" name="Google Shape;112;p18"/>
            <p:cNvSpPr txBox="1"/>
            <p:nvPr/>
          </p:nvSpPr>
          <p:spPr>
            <a:xfrm>
              <a:off x="5145775" y="1848825"/>
              <a:ext cx="1284300" cy="62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0000"/>
                  </a:solidFill>
                </a:rPr>
                <a:t>Simmelian Dyads</a:t>
              </a:r>
              <a:endParaRPr>
                <a:solidFill>
                  <a:srgbClr val="FF0000"/>
                </a:solidFill>
              </a:endParaRPr>
            </a:p>
          </p:txBody>
        </p:sp>
        <p:cxnSp>
          <p:nvCxnSpPr>
            <p:cNvPr id="113" name="Google Shape;113;p18"/>
            <p:cNvCxnSpPr>
              <a:stCxn id="112" idx="2"/>
            </p:cNvCxnSpPr>
            <p:nvPr/>
          </p:nvCxnSpPr>
          <p:spPr>
            <a:xfrm flipH="1">
              <a:off x="5218525" y="2477325"/>
              <a:ext cx="569400" cy="6648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4" name="Google Shape;114;p18"/>
            <p:cNvSpPr txBox="1"/>
            <p:nvPr/>
          </p:nvSpPr>
          <p:spPr>
            <a:xfrm>
              <a:off x="6154300" y="4269025"/>
              <a:ext cx="1284300" cy="62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0000"/>
                  </a:solidFill>
                </a:rPr>
                <a:t>“Standalone” Dyads</a:t>
              </a:r>
              <a:endParaRPr>
                <a:solidFill>
                  <a:srgbClr val="FF0000"/>
                </a:solidFill>
              </a:endParaRPr>
            </a:p>
          </p:txBody>
        </p:sp>
        <p:cxnSp>
          <p:nvCxnSpPr>
            <p:cNvPr id="115" name="Google Shape;115;p18"/>
            <p:cNvCxnSpPr>
              <a:stCxn id="114" idx="2"/>
            </p:cNvCxnSpPr>
            <p:nvPr/>
          </p:nvCxnSpPr>
          <p:spPr>
            <a:xfrm flipH="1">
              <a:off x="6011350" y="4897525"/>
              <a:ext cx="785100" cy="7401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6" name="Google Shape;116;p18"/>
            <p:cNvSpPr txBox="1"/>
            <p:nvPr/>
          </p:nvSpPr>
          <p:spPr>
            <a:xfrm>
              <a:off x="4353450" y="1656150"/>
              <a:ext cx="378000" cy="427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Junge"/>
                  <a:ea typeface="Junge"/>
                  <a:cs typeface="Junge"/>
                  <a:sym typeface="Junge"/>
                </a:rPr>
                <a:t>1</a:t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Junge"/>
                  <a:ea typeface="Junge"/>
                  <a:cs typeface="Junge"/>
                  <a:sym typeface="Junge"/>
                </a:rPr>
                <a:t>.5</a:t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Junge"/>
                <a:ea typeface="Junge"/>
                <a:cs typeface="Junge"/>
                <a:sym typeface="Junge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Principles of tie decay</a:t>
            </a:r>
            <a:endParaRPr/>
          </a:p>
        </p:txBody>
      </p:sp>
      <p:sp>
        <p:nvSpPr>
          <p:cNvPr id="122" name="Google Shape;122;p19"/>
          <p:cNvSpPr txBox="1"/>
          <p:nvPr>
            <p:ph idx="1" type="body"/>
          </p:nvPr>
        </p:nvSpPr>
        <p:spPr>
          <a:xfrm>
            <a:off x="311700" y="1225225"/>
            <a:ext cx="3953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The</a:t>
            </a:r>
            <a:r>
              <a:rPr b="1" lang="en"/>
              <a:t> liability of newness</a:t>
            </a:r>
            <a:r>
              <a:rPr lang="en"/>
              <a:t> is conditioned by a variety of factors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Most important: </a:t>
            </a:r>
            <a:r>
              <a:rPr b="1" lang="en"/>
              <a:t>Simmelian dyad </a:t>
            </a:r>
            <a:r>
              <a:rPr lang="en"/>
              <a:t>status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i="1"/>
          </a:p>
        </p:txBody>
      </p:sp>
      <p:pic>
        <p:nvPicPr>
          <p:cNvPr descr="OverlapPlot.png" id="123" name="Google Shape;12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6725" y="1382738"/>
            <a:ext cx="4525575" cy="303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Principles of tie decay</a:t>
            </a:r>
            <a:endParaRPr/>
          </a:p>
        </p:txBody>
      </p:sp>
      <p:sp>
        <p:nvSpPr>
          <p:cNvPr id="129" name="Google Shape;129;p20"/>
          <p:cNvSpPr txBox="1"/>
          <p:nvPr>
            <p:ph idx="1" type="body"/>
          </p:nvPr>
        </p:nvSpPr>
        <p:spPr>
          <a:xfrm>
            <a:off x="311700" y="1225225"/>
            <a:ext cx="3953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The</a:t>
            </a:r>
            <a:r>
              <a:rPr b="1" lang="en"/>
              <a:t> liability of newness</a:t>
            </a:r>
            <a:r>
              <a:rPr lang="en"/>
              <a:t> is conditioned by a variety of factors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Most important: </a:t>
            </a:r>
            <a:r>
              <a:rPr b="1" lang="en"/>
              <a:t>Simmelian dyad </a:t>
            </a:r>
            <a:r>
              <a:rPr lang="en"/>
              <a:t>status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Also: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Node characteristics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Tie-strength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Homophily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Social Foci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Transitions out Simmelian status bring back the liability of newness</a:t>
            </a:r>
            <a:endParaRPr i="1"/>
          </a:p>
        </p:txBody>
      </p:sp>
      <p:pic>
        <p:nvPicPr>
          <p:cNvPr descr="hazard-by-type-gender.png" id="130" name="Google Shape;13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0724" y="1282613"/>
            <a:ext cx="4341574" cy="3239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Principles of tie decay</a:t>
            </a:r>
            <a:endParaRPr/>
          </a:p>
        </p:txBody>
      </p:sp>
      <p:sp>
        <p:nvSpPr>
          <p:cNvPr id="136" name="Google Shape;136;p21"/>
          <p:cNvSpPr txBox="1"/>
          <p:nvPr>
            <p:ph idx="1" type="body"/>
          </p:nvPr>
        </p:nvSpPr>
        <p:spPr>
          <a:xfrm>
            <a:off x="311700" y="1225225"/>
            <a:ext cx="3953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The</a:t>
            </a:r>
            <a:r>
              <a:rPr b="1" lang="en"/>
              <a:t> liability of newness</a:t>
            </a:r>
            <a:r>
              <a:rPr lang="en"/>
              <a:t> is conditioned by a variety of factors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Most important: </a:t>
            </a:r>
            <a:r>
              <a:rPr b="1" lang="en"/>
              <a:t>Simmelian dyad </a:t>
            </a:r>
            <a:r>
              <a:rPr lang="en"/>
              <a:t>status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Also: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Node characteristics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Tie-strength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Homophily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Social Foci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Transitions out Simmelian status bring back the liability of newness</a:t>
            </a:r>
            <a:endParaRPr i="1"/>
          </a:p>
        </p:txBody>
      </p:sp>
      <p:pic>
        <p:nvPicPr>
          <p:cNvPr descr="hazard-by-type-race.png" id="137" name="Google Shape;13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4800" y="806500"/>
            <a:ext cx="4803302" cy="3583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Tie Decay Model</a:t>
            </a:r>
            <a:endParaRPr/>
          </a:p>
        </p:txBody>
      </p:sp>
      <p:sp>
        <p:nvSpPr>
          <p:cNvPr id="143" name="Google Shape;143;p22"/>
          <p:cNvSpPr txBox="1"/>
          <p:nvPr>
            <p:ph idx="1" type="body"/>
          </p:nvPr>
        </p:nvSpPr>
        <p:spPr>
          <a:xfrm>
            <a:off x="457200" y="1200150"/>
            <a:ext cx="69780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Cell phone data</a:t>
            </a:r>
            <a:endParaRPr/>
          </a:p>
        </p:txBody>
      </p:sp>
      <p:pic>
        <p:nvPicPr>
          <p:cNvPr id="144" name="Google Shape;14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4250" y="1924288"/>
            <a:ext cx="5514843" cy="25563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Possible Predictors of Tie Decay</a:t>
            </a:r>
            <a:endParaRPr/>
          </a:p>
        </p:txBody>
      </p:sp>
      <p:pic>
        <p:nvPicPr>
          <p:cNvPr id="150" name="Google Shape;15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225" y="1074350"/>
            <a:ext cx="9008001" cy="354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Regression Results</a:t>
            </a:r>
            <a:endParaRPr/>
          </a:p>
        </p:txBody>
      </p:sp>
      <p:pic>
        <p:nvPicPr>
          <p:cNvPr id="156" name="Google Shape;15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0825" y="1306926"/>
            <a:ext cx="4121653" cy="36967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Logic</a:t>
            </a:r>
            <a:endParaRPr/>
          </a:p>
        </p:txBody>
      </p:sp>
      <p:pic>
        <p:nvPicPr>
          <p:cNvPr id="162" name="Google Shape;16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20707"/>
            <a:ext cx="6858000" cy="29995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Decision-Tree Results</a:t>
            </a:r>
            <a:endParaRPr/>
          </a:p>
        </p:txBody>
      </p:sp>
      <p:pic>
        <p:nvPicPr>
          <p:cNvPr id="168" name="Google Shape;16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229" y="1248692"/>
            <a:ext cx="2789247" cy="376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6"/>
          <p:cNvSpPr txBox="1"/>
          <p:nvPr>
            <p:ph idx="1" type="body"/>
          </p:nvPr>
        </p:nvSpPr>
        <p:spPr>
          <a:xfrm>
            <a:off x="4382610" y="1205078"/>
            <a:ext cx="4304100" cy="37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Path 1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directed tie strength &gt; 3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recent activation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Path 2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somewhat weak tie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reciprocated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recent activation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Strong ties persist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Weaker ties can persist if they become reciprocate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They then can also strengthen with time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Net of this, embeddedness not important.  </a:t>
            </a:r>
            <a:endParaRPr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Embeddedness</a:t>
            </a:r>
            <a:endParaRPr/>
          </a:p>
        </p:txBody>
      </p:sp>
      <p:sp>
        <p:nvSpPr>
          <p:cNvPr id="175" name="Google Shape;175;p27"/>
          <p:cNvSpPr txBox="1"/>
          <p:nvPr>
            <p:ph idx="1" type="body"/>
          </p:nvPr>
        </p:nvSpPr>
        <p:spPr>
          <a:xfrm>
            <a:off x="311700" y="1225225"/>
            <a:ext cx="3009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76" name="Google Shape;17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3836" y="1225224"/>
            <a:ext cx="5534739" cy="264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Embeddedness</a:t>
            </a:r>
            <a:endParaRPr/>
          </a:p>
        </p:txBody>
      </p:sp>
      <p:pic>
        <p:nvPicPr>
          <p:cNvPr id="182" name="Google Shape;18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1326" y="50550"/>
            <a:ext cx="4991424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