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Economica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Economica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Economica-italic.fntdata"/><Relationship Id="rId14" Type="http://schemas.openxmlformats.org/officeDocument/2006/relationships/font" Target="fonts/Economica-bold.fntdata"/><Relationship Id="rId17" Type="http://schemas.openxmlformats.org/officeDocument/2006/relationships/font" Target="fonts/OpenSans-regular.fntdata"/><Relationship Id="rId16" Type="http://schemas.openxmlformats.org/officeDocument/2006/relationships/font" Target="fonts/Economica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2a9b5324d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2a9b5324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62a9b5324d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62a9b5324d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2a9b5324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2a9b5324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2a9b532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62a9b532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a9b532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2a9b532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</a:t>
            </a:r>
            <a:endParaRPr/>
          </a:p>
        </p:txBody>
      </p:sp>
      <p:sp>
        <p:nvSpPr>
          <p:cNvPr id="116" name="Google Shape;116;p2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social ties</a:t>
            </a:r>
            <a:endParaRPr/>
          </a:p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Dyadic </a:t>
            </a:r>
            <a:r>
              <a:rPr b="1" lang="en"/>
              <a:t>ties</a:t>
            </a:r>
            <a:r>
              <a:rPr lang="en"/>
              <a:t> (edges, links) are the building blocks of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social network theories are built on properties of ties (Kitts 2014)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different ways can two people be connected?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Two people can be connected by </a:t>
            </a:r>
            <a:r>
              <a:rPr b="1" lang="en"/>
              <a:t>one-way (asymmetric) tie</a:t>
            </a:r>
            <a:r>
              <a:rPr lang="en"/>
              <a:t> or </a:t>
            </a:r>
            <a:r>
              <a:rPr b="1" lang="en"/>
              <a:t>two-way (non-symmetric) 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links are thought of as conduits via which some things “flow” then people can be connected by </a:t>
            </a:r>
            <a:r>
              <a:rPr b="1" lang="en"/>
              <a:t>one-way flow links</a:t>
            </a:r>
            <a:r>
              <a:rPr lang="en"/>
              <a:t> (non-reciprocal) or </a:t>
            </a:r>
            <a:r>
              <a:rPr b="1" lang="en"/>
              <a:t>two-way flow ties</a:t>
            </a:r>
            <a:r>
              <a:rPr lang="en"/>
              <a:t> (reciprocal)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can be connected via </a:t>
            </a:r>
            <a:r>
              <a:rPr b="1" lang="en"/>
              <a:t>more than one type </a:t>
            </a:r>
            <a:r>
              <a:rPr lang="en"/>
              <a:t>of tie (multiplexity) or a </a:t>
            </a:r>
            <a:r>
              <a:rPr b="1" lang="en"/>
              <a:t>single</a:t>
            </a:r>
            <a:r>
              <a:rPr lang="en"/>
              <a:t> </a:t>
            </a:r>
            <a:r>
              <a:rPr b="1" lang="en"/>
              <a:t>type </a:t>
            </a:r>
            <a:r>
              <a:rPr lang="en"/>
              <a:t>of tie (uniplexitiy)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can be connected via </a:t>
            </a:r>
            <a:r>
              <a:rPr b="1" lang="en"/>
              <a:t>fleeting, emotionally distant (weak) ties</a:t>
            </a:r>
            <a:r>
              <a:rPr lang="en"/>
              <a:t> or via </a:t>
            </a:r>
            <a:r>
              <a:rPr b="1" lang="en"/>
              <a:t>durable, sturdy, emotionally close, frequently  activated, hard to break (strong) ties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ypes of social ties </a:t>
            </a:r>
            <a:endParaRPr/>
          </a:p>
        </p:txBody>
      </p:sp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311700" y="1225225"/>
            <a:ext cx="85206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Role relations (states)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Interpersonal sentiments and cognitions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acquaintanceship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Behavioral Social Interactions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Opportunity structure for exchange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holes, brokerage, intermediation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“Non-ties” matter here</a:t>
            </a:r>
            <a:endParaRPr/>
          </a:p>
        </p:txBody>
      </p:sp>
      <p:sp>
        <p:nvSpPr>
          <p:cNvPr id="129" name="Google Shape;129;p27"/>
          <p:cNvSpPr txBox="1"/>
          <p:nvPr/>
        </p:nvSpPr>
        <p:spPr>
          <a:xfrm>
            <a:off x="392300" y="4016425"/>
            <a:ext cx="7933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Kitts, J. A. (2014). Beyond networks in structural theories of exchange: Promises from computational social science. In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Advances in group processes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(pp. 263-298). Emerald Group Publishing Limited.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(combined)</a:t>
            </a:r>
            <a:endParaRPr/>
          </a:p>
        </p:txBody>
      </p:sp>
      <p:sp>
        <p:nvSpPr>
          <p:cNvPr id="135" name="Google Shape;135;p28"/>
          <p:cNvSpPr/>
          <p:nvPr/>
        </p:nvSpPr>
        <p:spPr>
          <a:xfrm>
            <a:off x="78825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1915453" y="4379650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Role Relations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3752065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Sentiments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5588664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Communication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7425276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Exchanges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2611613" y="2303875"/>
            <a:ext cx="2205900" cy="29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Relationships</a:t>
            </a:r>
            <a:endParaRPr b="1" sz="16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6255438" y="2303875"/>
            <a:ext cx="2205900" cy="29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 b="1" sz="16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2" name="Google Shape;142;p28"/>
          <p:cNvCxnSpPr>
            <a:stCxn id="140" idx="2"/>
            <a:endCxn id="136" idx="0"/>
          </p:cNvCxnSpPr>
          <p:nvPr/>
        </p:nvCxnSpPr>
        <p:spPr>
          <a:xfrm flipH="1">
            <a:off x="2746463" y="2598175"/>
            <a:ext cx="9681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8"/>
          <p:cNvCxnSpPr>
            <a:stCxn id="140" idx="2"/>
            <a:endCxn id="137" idx="0"/>
          </p:cNvCxnSpPr>
          <p:nvPr/>
        </p:nvCxnSpPr>
        <p:spPr>
          <a:xfrm>
            <a:off x="3714563" y="2598175"/>
            <a:ext cx="8688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8"/>
          <p:cNvCxnSpPr>
            <a:stCxn id="141" idx="2"/>
            <a:endCxn id="138" idx="0"/>
          </p:cNvCxnSpPr>
          <p:nvPr/>
        </p:nvCxnSpPr>
        <p:spPr>
          <a:xfrm flipH="1">
            <a:off x="6419688" y="2598175"/>
            <a:ext cx="9387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8"/>
          <p:cNvCxnSpPr>
            <a:stCxn id="141" idx="2"/>
            <a:endCxn id="139" idx="0"/>
          </p:cNvCxnSpPr>
          <p:nvPr/>
        </p:nvCxnSpPr>
        <p:spPr>
          <a:xfrm>
            <a:off x="7358388" y="2598175"/>
            <a:ext cx="8979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8"/>
          <p:cNvSpPr/>
          <p:nvPr/>
        </p:nvSpPr>
        <p:spPr>
          <a:xfrm>
            <a:off x="4470250" y="1201438"/>
            <a:ext cx="2205900" cy="436800"/>
          </a:xfrm>
          <a:prstGeom prst="diamond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Social Ties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7" name="Google Shape;147;p28"/>
          <p:cNvCxnSpPr>
            <a:stCxn id="146" idx="1"/>
            <a:endCxn id="135" idx="0"/>
          </p:cNvCxnSpPr>
          <p:nvPr/>
        </p:nvCxnSpPr>
        <p:spPr>
          <a:xfrm flipH="1">
            <a:off x="909850" y="1419838"/>
            <a:ext cx="3560400" cy="29598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8"/>
          <p:cNvCxnSpPr>
            <a:stCxn id="146" idx="2"/>
            <a:endCxn id="140" idx="0"/>
          </p:cNvCxnSpPr>
          <p:nvPr/>
        </p:nvCxnSpPr>
        <p:spPr>
          <a:xfrm flipH="1">
            <a:off x="3714700" y="1638238"/>
            <a:ext cx="1858500" cy="66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8"/>
          <p:cNvCxnSpPr>
            <a:stCxn id="146" idx="2"/>
            <a:endCxn id="141" idx="0"/>
          </p:cNvCxnSpPr>
          <p:nvPr/>
        </p:nvCxnSpPr>
        <p:spPr>
          <a:xfrm>
            <a:off x="5573200" y="1638238"/>
            <a:ext cx="1785300" cy="66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indicators have been suggested as (jointly?) making up the concept of tie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spent together  (frequency of interaction)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Relationship duration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Emotional intensity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Reciprocal exchanges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Intimacy and confiding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ones are the best indicators?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MIxes together frequency, sentiment, and exchange criteria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“The strength of a tie is a (probably linear) combination of the amount of time, the emotional intensity, the intimacy (mutual confiding) and the reciprocal services which characterize the tie”</a:t>
            </a:r>
            <a:r>
              <a:rPr lang="en"/>
              <a:t> (Granovetter 1973:  1361)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Problems with previous approaches: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mix together role-relation and sentiment criteria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“Close Friends”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(even worse) </a:t>
            </a:r>
            <a:r>
              <a:rPr i="1" lang="en"/>
              <a:t>use</a:t>
            </a:r>
            <a:r>
              <a:rPr lang="en"/>
              <a:t> role-relations criteria to define tie 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Kin and Friends are strong ties, acquaintances, co-workers, and neighbors are weak 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Problem: You can be weakly connected some relatives and strongly connected to some co-workers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purely frequency based criteria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Problem: You can be weakly connected to people you see frequently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the number of kinds of relations connecting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“Multiplex” ties are strong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some multiplex relations can be weak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