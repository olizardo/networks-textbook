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9144000"/>
  <p:notesSz cx="6858000" cy="9144000"/>
  <p:embeddedFontLst>
    <p:embeddedFont>
      <p:font typeface="Jung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Junge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b="0" i="0" sz="1200" u="none" cap="none" strike="noStrike"/>
          </a:p>
          <a:p>
            <a: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4f60a532_0_0:notes"/>
          <p:cNvSpPr/>
          <p:nvPr>
            <p:ph idx="11" type="ftr"/>
          </p:nvPr>
        </p:nvSpPr>
        <p:spPr>
          <a:xfrm>
            <a:off x="2898648" y="6356350"/>
            <a:ext cx="3505200" cy="365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4f60a5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:notes"/>
          <p:cNvSpPr/>
          <p:nvPr>
            <p:ph idx="12" type="sldNum"/>
          </p:nvPr>
        </p:nvSpPr>
        <p:spPr>
          <a:xfrm>
            <a:off x="612648" y="6356350"/>
            <a:ext cx="1981200" cy="365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Flows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Communication/Information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energy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resources, exchanges, goods &amp; services, trade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evaluations, like and dislike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influence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people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authority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kinship</a:t>
            </a:r>
            <a:endParaRPr/>
          </a:p>
        </p:txBody>
      </p:sp>
      <p:sp>
        <p:nvSpPr>
          <p:cNvPr id="65" name="Google Shape;65;p15:notes"/>
          <p:cNvSpPr txBox="1"/>
          <p:nvPr>
            <p:ph idx="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b0553f4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8b0553f4_1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:notes"/>
          <p:cNvSpPr/>
          <p:nvPr>
            <p:ph idx="11" type="ftr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Models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Path Model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Evolutionary Model 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Generative Model:  simple rules governing processes which generate observed patterns (emerge);  grow network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Demographic models  (states and flows)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Distributions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e.g. normal, gassian, gen process random variation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:notes"/>
          <p:cNvSpPr/>
          <p:nvPr>
            <p:ph idx="11" type="ftr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ad06062_1_5:notes"/>
          <p:cNvSpPr/>
          <p:nvPr>
            <p:ph idx="12" type="sldNum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ad0606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6" name="Google Shape;16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1" name="Google Shape;21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5" name="Google Shape;25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2" name="Google Shape;32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6400800" y="6356350"/>
            <a:ext cx="228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2898648" y="6356350"/>
            <a:ext cx="350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612648" y="6356350"/>
            <a:ext cx="198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●"/>
              <a:defRPr sz="2600">
                <a:solidFill>
                  <a:schemeClr val="dk1"/>
                </a:solidFill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●"/>
              <a:defRPr sz="2300">
                <a:solidFill>
                  <a:schemeClr val="dk2"/>
                </a:solidFill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2400"/>
              <a:buChar char="●"/>
              <a:defRPr sz="2000">
                <a:solidFill>
                  <a:schemeClr val="dk1"/>
                </a:solidFill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 sz="1600">
                <a:solidFill>
                  <a:schemeClr val="dk1"/>
                </a:solidFill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800"/>
              <a:buChar char="●"/>
              <a:defRPr sz="1600">
                <a:solidFill>
                  <a:schemeClr val="dk1"/>
                </a:solidFill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800"/>
              <a:buChar char="●"/>
              <a:defRPr sz="1400">
                <a:solidFill>
                  <a:schemeClr val="dk1"/>
                </a:solidFill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800"/>
              <a:buChar char="●"/>
              <a:defRPr sz="1400">
                <a:solidFill>
                  <a:schemeClr val="dk1"/>
                </a:solidFill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8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0" type="dt"/>
          </p:nvPr>
        </p:nvSpPr>
        <p:spPr>
          <a:xfrm>
            <a:off x="6400800" y="6356350"/>
            <a:ext cx="228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1" type="ftr"/>
          </p:nvPr>
        </p:nvSpPr>
        <p:spPr>
          <a:xfrm>
            <a:off x="2898648" y="6356350"/>
            <a:ext cx="350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612648" y="6356350"/>
            <a:ext cx="198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457200" y="1219200"/>
            <a:ext cx="40416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●"/>
              <a:defRPr sz="2600">
                <a:solidFill>
                  <a:schemeClr val="dk1"/>
                </a:solidFill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●"/>
              <a:defRPr sz="2300">
                <a:solidFill>
                  <a:schemeClr val="dk2"/>
                </a:solidFill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2400"/>
              <a:buChar char="●"/>
              <a:defRPr sz="2000">
                <a:solidFill>
                  <a:schemeClr val="dk1"/>
                </a:solidFill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 sz="1600">
                <a:solidFill>
                  <a:schemeClr val="dk1"/>
                </a:solidFill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800"/>
              <a:buChar char="●"/>
              <a:defRPr sz="1600">
                <a:solidFill>
                  <a:schemeClr val="dk1"/>
                </a:solidFill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800"/>
              <a:buChar char="●"/>
              <a:defRPr sz="1400">
                <a:solidFill>
                  <a:schemeClr val="dk1"/>
                </a:solidFill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800"/>
              <a:buChar char="●"/>
              <a:defRPr sz="1400">
                <a:solidFill>
                  <a:schemeClr val="dk1"/>
                </a:solidFill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8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632198" y="1216152"/>
            <a:ext cx="40416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●"/>
              <a:defRPr sz="2600">
                <a:solidFill>
                  <a:schemeClr val="dk1"/>
                </a:solidFill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●"/>
              <a:defRPr sz="2300">
                <a:solidFill>
                  <a:schemeClr val="dk2"/>
                </a:solidFill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2400"/>
              <a:buChar char="●"/>
              <a:defRPr sz="2000">
                <a:solidFill>
                  <a:schemeClr val="dk1"/>
                </a:solidFill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 sz="1600">
                <a:solidFill>
                  <a:schemeClr val="dk1"/>
                </a:solidFill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800"/>
              <a:buChar char="●"/>
              <a:defRPr sz="1600">
                <a:solidFill>
                  <a:schemeClr val="dk1"/>
                </a:solidFill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800"/>
              <a:buChar char="●"/>
              <a:defRPr sz="1400">
                <a:solidFill>
                  <a:schemeClr val="dk1"/>
                </a:solidFill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800"/>
              <a:buChar char="●"/>
              <a:defRPr sz="1400">
                <a:solidFill>
                  <a:schemeClr val="dk1"/>
                </a:solidFill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8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icensa.nd.edu/" TargetMode="External"/><Relationship Id="rId4" Type="http://schemas.openxmlformats.org/officeDocument/2006/relationships/hyperlink" Target="http://icensa.nd.edu/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insna.org/" TargetMode="External"/><Relationship Id="rId4" Type="http://schemas.openxmlformats.org/officeDocument/2006/relationships/hyperlink" Target="http://netsci2011.net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Social Network Seminar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Introductions:  Us &amp; You</a:t>
            </a:r>
            <a:endParaRPr b="0" i="0" sz="3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The Seminar</a:t>
            </a:r>
            <a:endParaRPr b="0" i="0" sz="3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Objectives</a:t>
            </a:r>
            <a:endParaRPr b="0" i="0" sz="36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Topics &amp; Readings</a:t>
            </a:r>
            <a:endParaRPr b="0" i="0" sz="36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Requirements</a:t>
            </a:r>
            <a:endParaRPr b="0" i="0" sz="36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Using RefWorks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15265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1981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Interests</a:t>
            </a:r>
            <a:endParaRPr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57200" y="1219200"/>
            <a:ext cx="3975900" cy="52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2420" lvl="0" marL="274320" rtl="0" algn="l">
              <a:spcBef>
                <a:spcPts val="60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David Hachen's Interests in Networks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29565" lvl="1" marL="548640" rtl="0" algn="l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 sz="180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Job mobility, vacancy chains, event history analysis</a:t>
            </a:r>
            <a:endParaRPr sz="1800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29565" lvl="1" marL="548640" rtl="0" algn="l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 sz="180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Granovetter &amp; Burt:  Finding jobs</a:t>
            </a:r>
            <a:endParaRPr sz="1800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29565" lvl="1" marL="548640" rtl="0" algn="l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 sz="180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Web Group:  Barabasi and others, </a:t>
            </a:r>
            <a:endParaRPr sz="1800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29565" lvl="1" marL="548640" rtl="0" algn="l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 sz="1800" u="sng">
                <a:solidFill>
                  <a:schemeClr val="hlink"/>
                </a:solidFill>
                <a:latin typeface="Junge"/>
                <a:ea typeface="Junge"/>
                <a:cs typeface="Junge"/>
                <a:sym typeface="Junge"/>
                <a:hlinkClick r:id="rId3"/>
              </a:rPr>
              <a:t>iCeNSA</a:t>
            </a:r>
            <a:endParaRPr sz="1800">
              <a:solidFill>
                <a:schemeClr val="dk2"/>
              </a:solidFill>
              <a:uFill>
                <a:noFill/>
              </a:uFill>
              <a:latin typeface="Junge"/>
              <a:ea typeface="Junge"/>
              <a:cs typeface="Junge"/>
              <a:sym typeface="Junge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329565" lvl="1" marL="548640" rtl="0" algn="l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Research Projects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12420" lvl="0" marL="274320" rtl="0" algn="l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Omar Lizardo's Interests in Networks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29565" lvl="1" marL="548640" rtl="0" algn="l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Cultural tastes and networks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29565" lvl="1" marL="548640" rtl="0" algn="l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Cultural worldviews and homophily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29565" lvl="1" marL="548640" rtl="0" algn="l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Mechanisms of relationship maintenance, dissolution and decay</a:t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60" name="Google Shape;60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3798" y="3718560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5639" y="1219200"/>
            <a:ext cx="3554718" cy="2365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Seeing Networks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457200" y="1219200"/>
            <a:ext cx="40416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Networks as connectors</a:t>
            </a:r>
            <a:endParaRPr b="1" i="0" sz="18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91465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Other connectors:  social relationships, groups, organizations, social circ</a:t>
            </a:r>
            <a:r>
              <a:rPr lang="en-US" sz="1800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les</a:t>
            </a:r>
            <a:endParaRPr b="0" i="0" sz="18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Connect the Dots Metaphor</a:t>
            </a:r>
            <a:endParaRPr b="1" i="0" sz="18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Dots:  Nodes</a:t>
            </a:r>
            <a:endParaRPr b="0" i="0" sz="18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People, organizations, places, ideas</a:t>
            </a:r>
            <a:endParaRPr b="0" i="0" sz="18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Lines:  Ties (edges)</a:t>
            </a:r>
            <a:endParaRPr b="0" i="0" sz="18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Interaction, friendship, exchange, authority, lineage</a:t>
            </a:r>
            <a:endParaRPr b="0" i="0" sz="18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Flows </a:t>
            </a:r>
            <a:endParaRPr b="0" i="0" sz="18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Information</a:t>
            </a:r>
            <a:endParaRPr b="0" i="0" sz="18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resources</a:t>
            </a:r>
            <a:endParaRPr b="0" i="0" sz="18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evaluations  (like, dislike)</a:t>
            </a:r>
            <a:endParaRPr b="0" i="0" sz="18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people  </a:t>
            </a:r>
            <a:endParaRPr b="0" i="0" sz="18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Objects and commodities</a:t>
            </a:r>
            <a:endParaRPr b="0" i="0" sz="18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8408" y="1674313"/>
            <a:ext cx="4516517" cy="3838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Do Social Networks Do?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Diffusion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91465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lang="en-US" sz="2600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Ideas, behavior, information, moods, practices, disease, techniques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Exchange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91465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lang="en-US" sz="2600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Advice, money, commodities, information, political favors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Support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91465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lang="en-US" sz="2600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Financial, emotional, security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Inclusion/Exclusion (Access)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91465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lang="en-US" sz="2600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Homophily, social closure, hiring, secrecy, monopoly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Why Study Networks: Ne</a:t>
            </a:r>
            <a:r>
              <a:rPr b="0" lang="en-US"/>
              <a:t>twork Theorizing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457200" y="1219200"/>
            <a:ext cx="8182500" cy="53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1" lang="en-US" sz="2200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rPr>
              <a:t>A Typology of Network Theorizing (Borgatti and Haldin 2011):</a:t>
            </a:r>
            <a:endParaRPr b="1" sz="2200">
              <a:solidFill>
                <a:srgbClr val="000000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91465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1" lang="en-US" sz="2200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rPr>
              <a:t>(Classical)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rPr>
              <a:t>Network Theory </a:t>
            </a:r>
            <a:r>
              <a:rPr b="1" lang="en-US" sz="2200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rPr>
              <a:t>(NT)</a:t>
            </a:r>
            <a:r>
              <a:rPr b="0" i="0" lang="en-US" sz="2200" u="none" cap="none" strike="noStrike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rPr>
              <a:t>:  networks as determinants of behavior, network effects, social influence, performance outcomes (e.g. getting a job, prom</a:t>
            </a:r>
            <a:r>
              <a:rPr lang="en-US" sz="2200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rPr>
              <a:t>otions, etc.)</a:t>
            </a:r>
            <a:endParaRPr sz="2200">
              <a:solidFill>
                <a:srgbClr val="000000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57810" lvl="2" marL="82296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i="1" lang="en-US" sz="2200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rPr>
              <a:t>Strength of Weak Ties Theory (SWT)</a:t>
            </a:r>
            <a:endParaRPr i="1" sz="2200">
              <a:solidFill>
                <a:srgbClr val="000000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57810" lvl="2" marL="82296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i="1" lang="en-US" sz="2200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rPr>
              <a:t>Structural Holes Theory (SH)</a:t>
            </a:r>
            <a:endParaRPr b="0" i="1" sz="2200" u="none" cap="none" strike="noStrike">
              <a:solidFill>
                <a:srgbClr val="000000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1" lang="en-US" sz="2200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rPr>
              <a:t>Theory of Networks (TN)</a:t>
            </a:r>
            <a:r>
              <a:rPr lang="en-US" sz="2200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rPr>
              <a:t>: Origins of networks, tie formation, cognitive and social balance mechanisms, exchange processes, power-dependence processes</a:t>
            </a:r>
            <a:endParaRPr sz="2200">
              <a:solidFill>
                <a:srgbClr val="000000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1" lang="en-US" sz="2200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rPr>
              <a:t>Network Theory of Networks (NTN): </a:t>
            </a:r>
            <a:r>
              <a:rPr lang="en-US" sz="2200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rPr>
              <a:t>Networks causing networks, Coupled dynamics, Formation and dissolution processes, tie-aging dynamics, homophily dynamics, structural influences on dyadic and triadic processes.</a:t>
            </a:r>
            <a:endParaRPr b="0" i="0" sz="2400" u="none" cap="none" strike="noStrike">
              <a:solidFill>
                <a:srgbClr val="000000"/>
              </a:solidFill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Network Field:  </a:t>
            </a:r>
            <a:r>
              <a:rPr b="0" lang="en-US"/>
              <a:t>Six 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57200" y="1219200"/>
            <a:ext cx="8163900" cy="52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Mathematics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Graph Theory, Ma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trix Algebra, Dynamic Systems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Anthropolog</a:t>
            </a:r>
            <a:r>
              <a:rPr b="1" lang="en-US" sz="2000">
                <a:latin typeface="Junge"/>
                <a:ea typeface="Junge"/>
                <a:cs typeface="Junge"/>
                <a:sym typeface="Junge"/>
              </a:rPr>
              <a:t>y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: K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inship and pat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ronage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 networks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AutoNum type="arabicPeriod"/>
            </a:pPr>
            <a:r>
              <a:rPr b="1" lang="en-US" sz="2000">
                <a:latin typeface="Junge"/>
                <a:ea typeface="Junge"/>
                <a:cs typeface="Junge"/>
                <a:sym typeface="Junge"/>
              </a:rPr>
              <a:t>Psychology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: Moreno's sociometry, Balance theory (Heider, Festinger), Small World Studies, Newcomb's Fraternity Study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AutoNum type="arabicPeriod"/>
            </a:pPr>
            <a:r>
              <a:rPr b="1" lang="en-US" sz="2000">
                <a:latin typeface="Junge"/>
                <a:ea typeface="Junge"/>
                <a:cs typeface="Junge"/>
                <a:sym typeface="Junge"/>
              </a:rPr>
              <a:t>Sociology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: Lazarsfeld and Merton on opinion diffusion, Urban community studies (e.g. Laumann), urban sociology (Fischer)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Social Network</a:t>
            </a:r>
            <a:r>
              <a:rPr b="1" lang="en-US" sz="2000">
                <a:latin typeface="Junge"/>
                <a:ea typeface="Junge"/>
                <a:cs typeface="Junge"/>
                <a:sym typeface="Junge"/>
              </a:rPr>
              <a:t> Analysis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 (</a:t>
            </a:r>
            <a:r>
              <a:rPr b="0" i="0" lang="en-US" sz="2000" u="sng" cap="none" strike="noStrike">
                <a:solidFill>
                  <a:schemeClr val="hlink"/>
                </a:solidFill>
                <a:latin typeface="Junge"/>
                <a:ea typeface="Junge"/>
                <a:cs typeface="Junge"/>
                <a:sym typeface="Junge"/>
                <a:hlinkClick r:id="rId3"/>
              </a:rPr>
              <a:t>INSNA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): Post 1978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Network Science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(</a:t>
            </a:r>
            <a:r>
              <a:rPr b="0" i="0" lang="en-US" sz="2000" u="sng" cap="none" strike="noStrike">
                <a:solidFill>
                  <a:schemeClr val="hlink"/>
                </a:solidFill>
                <a:latin typeface="Junge"/>
                <a:ea typeface="Junge"/>
                <a:cs typeface="Junge"/>
                <a:sym typeface="Junge"/>
                <a:hlinkClick r:id="rId4"/>
              </a:rPr>
              <a:t>NetSci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): Post 199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8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Current State of Research: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Exponential Growth</a:t>
            </a:r>
            <a:endParaRPr b="0" i="0" sz="20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Interdisciplinary</a:t>
            </a:r>
            <a:endParaRPr b="0" i="0" sz="20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Game changing  </a:t>
            </a:r>
            <a:endParaRPr b="0" i="0" sz="20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complex, dynamic, distributed systems</a:t>
            </a:r>
            <a:endParaRPr b="0" i="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Social Media (Facebook, Twitter)</a:t>
            </a:r>
            <a:endParaRPr b="0" i="0" sz="20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Levels of Analysis 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57200" y="1219200"/>
            <a:ext cx="43776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marR="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Node (Vertices)</a:t>
            </a:r>
            <a:endParaRPr b="0" i="0" sz="3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Dyads (Ties, Edges)</a:t>
            </a:r>
            <a:endParaRPr b="0" i="0" sz="3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Triads</a:t>
            </a:r>
            <a:endParaRPr b="0" i="0" sz="3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>
                <a:latin typeface="Junge"/>
                <a:ea typeface="Junge"/>
                <a:cs typeface="Junge"/>
                <a:sym typeface="Junge"/>
              </a:rPr>
              <a:t>Higher Order Motifs (Quadruplets, Quintuplets, etc.)</a:t>
            </a:r>
            <a:endParaRPr b="0" i="0" sz="3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Clusters (communities)</a:t>
            </a:r>
            <a:endParaRPr b="0" i="0" sz="3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Whole Network</a:t>
            </a:r>
            <a:endParaRPr b="0" i="0" sz="3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>
                <a:latin typeface="Junge"/>
                <a:ea typeface="Junge"/>
                <a:cs typeface="Junge"/>
                <a:sym typeface="Junge"/>
              </a:rPr>
              <a:t>Multiple Networks</a:t>
            </a:r>
            <a:endParaRPr b="0" i="0" sz="3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775" y="2022675"/>
            <a:ext cx="4443696" cy="33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Node (Vertices)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457200" y="1219200"/>
            <a:ext cx="45189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Degree</a:t>
            </a:r>
            <a:endParaRPr sz="24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etwork size</a:t>
            </a:r>
            <a:endParaRPr sz="2400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eighbor</a:t>
            </a:r>
            <a:endParaRPr b="0" i="0" sz="24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P</a:t>
            </a:r>
            <a:r>
              <a:rPr b="0" i="0" lang="en-US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opularity</a:t>
            </a:r>
            <a:r>
              <a:rPr lang="en-US" sz="2400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 (indegree)</a:t>
            </a:r>
            <a:endParaRPr sz="2400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Expansiveness (outdegree)</a:t>
            </a:r>
            <a:endParaRPr b="0" i="0" sz="24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Centrality</a:t>
            </a:r>
            <a:endParaRPr sz="24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Betweenness</a:t>
            </a:r>
            <a:endParaRPr sz="2400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Closeness</a:t>
            </a:r>
            <a:endParaRPr b="0" i="0" sz="24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Gregariousness (activity level)</a:t>
            </a:r>
            <a:endParaRPr b="0" i="0" sz="24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Composition</a:t>
            </a:r>
            <a:endParaRPr b="0" i="0" sz="24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Redundancy</a:t>
            </a:r>
            <a:r>
              <a:rPr lang="en-US" sz="2400">
                <a:latin typeface="Junge"/>
                <a:ea typeface="Junge"/>
                <a:cs typeface="Junge"/>
                <a:sym typeface="Junge"/>
              </a:rPr>
              <a:t>/</a:t>
            </a:r>
            <a:r>
              <a:rPr b="0" i="0" lang="en-US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Clustering</a:t>
            </a:r>
            <a:endParaRPr b="0" i="0" sz="24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Junge"/>
                <a:ea typeface="Junge"/>
                <a:cs typeface="Junge"/>
                <a:sym typeface="Junge"/>
              </a:rPr>
              <a:t>Average characteristics</a:t>
            </a:r>
            <a:endParaRPr b="0" i="0" sz="24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2600" y="1628775"/>
            <a:ext cx="400050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lang="en-US"/>
              <a:t>Dyad (Ties, Edges)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457200" y="1219200"/>
            <a:ext cx="46785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Strength (Weight)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1800">
                <a:solidFill>
                  <a:srgbClr val="666666"/>
                </a:solidFill>
                <a:latin typeface="Junge"/>
                <a:ea typeface="Junge"/>
                <a:cs typeface="Junge"/>
                <a:sym typeface="Junge"/>
              </a:rPr>
              <a:t>Frequency, duration, closeness</a:t>
            </a:r>
            <a:endParaRPr sz="1800">
              <a:solidFill>
                <a:srgbClr val="666666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Directionality (Martin, p, 12, 21):  Three Forms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1800">
                <a:solidFill>
                  <a:srgbClr val="666666"/>
                </a:solidFill>
                <a:latin typeface="Junge"/>
                <a:ea typeface="Junge"/>
                <a:cs typeface="Junge"/>
                <a:sym typeface="Junge"/>
              </a:rPr>
              <a:t>Mutual, Symmetric: e.g., "spend time together," friendship, alliance</a:t>
            </a:r>
            <a:endParaRPr sz="1800">
              <a:solidFill>
                <a:srgbClr val="666666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1800">
                <a:solidFill>
                  <a:srgbClr val="666666"/>
                </a:solidFill>
                <a:latin typeface="Junge"/>
                <a:ea typeface="Junge"/>
                <a:cs typeface="Junge"/>
                <a:sym typeface="Junge"/>
              </a:rPr>
              <a:t>Antisymmetric:  e.g, "employed by",  domination, hierarchy</a:t>
            </a:r>
            <a:endParaRPr sz="1800">
              <a:solidFill>
                <a:srgbClr val="666666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1800">
                <a:solidFill>
                  <a:srgbClr val="666666"/>
                </a:solidFill>
                <a:latin typeface="Junge"/>
                <a:ea typeface="Junge"/>
                <a:cs typeface="Junge"/>
                <a:sym typeface="Junge"/>
              </a:rPr>
              <a:t>Asymmetric:  e.g, "exchange with", can be reciprocated</a:t>
            </a:r>
            <a:endParaRPr sz="1800">
              <a:solidFill>
                <a:srgbClr val="666666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Social Distance, Homophily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Persistence/Decay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Formation</a:t>
            </a:r>
            <a:endParaRPr b="0" i="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2600" y="1628775"/>
            <a:ext cx="400050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Triads and Clusters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457200" y="1219200"/>
            <a:ext cx="3617100" cy="51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marR="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Triads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Transitivity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Closure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Embeddedness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Triadic Census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Clusters (Communities)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Cliques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Bridges (cross cutting ties)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7625" y="2481950"/>
            <a:ext cx="5274762" cy="263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Whole Network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457200" y="1219200"/>
            <a:ext cx="4904100" cy="54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Size/Density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Degree distribution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Network topologies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00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Core/Periphery</a:t>
            </a:r>
            <a:endParaRPr sz="2000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00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Rich Club</a:t>
            </a:r>
            <a:endParaRPr sz="2000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Clustering/Connectivity 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1950">
                <a:latin typeface="Junge"/>
                <a:ea typeface="Junge"/>
                <a:cs typeface="Junge"/>
                <a:sym typeface="Junge"/>
              </a:rPr>
              <a:t>G</a:t>
            </a:r>
            <a:r>
              <a:rPr lang="en-US" sz="195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iant </a:t>
            </a:r>
            <a:r>
              <a:rPr lang="en-US" sz="1950">
                <a:latin typeface="Junge"/>
                <a:ea typeface="Junge"/>
                <a:cs typeface="Junge"/>
                <a:sym typeface="Junge"/>
              </a:rPr>
              <a:t>C</a:t>
            </a:r>
            <a:r>
              <a:rPr lang="en-US" sz="195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omponent</a:t>
            </a:r>
            <a:endParaRPr sz="2300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1950">
                <a:latin typeface="Junge"/>
                <a:ea typeface="Junge"/>
                <a:cs typeface="Junge"/>
                <a:sym typeface="Junge"/>
              </a:rPr>
              <a:t>R</a:t>
            </a:r>
            <a:r>
              <a:rPr lang="en-US" sz="195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esilience</a:t>
            </a:r>
            <a:endParaRPr sz="2300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Geodesic distance/size/diameter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195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Small World</a:t>
            </a:r>
            <a:endParaRPr sz="2300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Mixing Patterns (assortativity)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1950">
                <a:latin typeface="Junge"/>
                <a:ea typeface="Junge"/>
                <a:cs typeface="Junge"/>
                <a:sym typeface="Junge"/>
              </a:rPr>
              <a:t>D</a:t>
            </a:r>
            <a:r>
              <a:rPr lang="en-US" sz="195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egree </a:t>
            </a:r>
            <a:r>
              <a:rPr lang="en-US" sz="1950">
                <a:latin typeface="Junge"/>
                <a:ea typeface="Junge"/>
                <a:cs typeface="Junge"/>
                <a:sym typeface="Junge"/>
              </a:rPr>
              <a:t>A</a:t>
            </a:r>
            <a:r>
              <a:rPr lang="en-US" sz="195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ssortativity</a:t>
            </a:r>
            <a:endParaRPr sz="2300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Stability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573" y="1720635"/>
            <a:ext cx="4701228" cy="3416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Research Issues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marR="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Strength of weak ties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 (SWT) and Structural Holes (SH)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Cross-cutting ties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Bridging and bonding social capital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Intermediation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/</a:t>
            </a:r>
            <a:r>
              <a:rPr b="0" i="0" lang="en-US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Brokerage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Scale-free networks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Non-normal distributions (Power-law/Exponential)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Hubs and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Spokes C</a:t>
            </a:r>
            <a:r>
              <a:rPr b="0" i="0" lang="en-US" sz="23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onfiguration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Core/Periphery structures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Motifs</a:t>
            </a:r>
            <a:endParaRPr b="0" i="0" sz="23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Weights and Reciprocity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Research Issues (continued)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Emergence, self-organization</a:t>
            </a:r>
            <a:endParaRPr b="0" i="0" sz="24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local →  global</a:t>
            </a:r>
            <a:endParaRPr b="0" i="0" sz="24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Agent based models</a:t>
            </a:r>
            <a:endParaRPr b="0" i="0" sz="24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Network Evolution</a:t>
            </a:r>
            <a:endParaRPr b="0" i="0" sz="24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Tie Formation vs. Persistence</a:t>
            </a:r>
            <a:endParaRPr b="0" i="0" sz="24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Assembling Networks</a:t>
            </a:r>
            <a:endParaRPr b="0" i="0" sz="24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Generative Models </a:t>
            </a:r>
            <a:r>
              <a:rPr lang="en-US" sz="2400">
                <a:latin typeface="Junge"/>
                <a:ea typeface="Junge"/>
                <a:cs typeface="Junge"/>
                <a:sym typeface="Junge"/>
              </a:rPr>
              <a:t>(Martin, pp. 68-9)</a:t>
            </a:r>
            <a:endParaRPr b="0" i="0" sz="24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48285" lvl="2" marL="82296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lang="en-US" sz="240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Preferential attachment</a:t>
            </a:r>
            <a:endParaRPr sz="2400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48285" lvl="2" marL="82296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lang="en-US" sz="240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Norm of reciprocity</a:t>
            </a:r>
            <a:endParaRPr sz="2400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48285" lvl="2" marL="82296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lang="en-US" sz="2400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Transitivity</a:t>
            </a:r>
            <a:endParaRPr b="0" i="0" sz="2400" u="none" cap="none" strike="noStrike">
              <a:solidFill>
                <a:schemeClr val="dk2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Diffusion, influence, contagion</a:t>
            </a:r>
            <a:endParaRPr b="0" i="0" sz="24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2"/>
                </a:solidFill>
                <a:latin typeface="Junge"/>
                <a:ea typeface="Junge"/>
                <a:cs typeface="Junge"/>
                <a:sym typeface="Junge"/>
              </a:rPr>
              <a:t>Network effects</a:t>
            </a:r>
            <a:endParaRPr b="0" i="0" sz="2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Issues	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-US" sz="2400"/>
              <a:t>What is different about social networks?</a:t>
            </a:r>
            <a:endParaRPr sz="2400"/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2400"/>
              <a:t>What is a “good” network?  What properties can networks maximize?</a:t>
            </a:r>
            <a:endParaRPr sz="2400"/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2400"/>
              <a:t>Connections among networks (social, technical, information, semantic)</a:t>
            </a:r>
            <a:endParaRPr sz="2400"/>
          </a:p>
          <a:p>
            <a:pPr indent="-198120" lvl="0" marL="27432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98120" lvl="0" marL="27432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