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abin"/>
      <p:regular r:id="rId22"/>
      <p:bold r:id="rId23"/>
      <p:italic r:id="rId24"/>
      <p:boldItalic r:id="rId25"/>
    </p:embeddedFont>
    <p:embeddedFont>
      <p:font typeface="Domin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abin-regular.fntdata"/><Relationship Id="rId21" Type="http://schemas.openxmlformats.org/officeDocument/2006/relationships/slide" Target="slides/slide16.xml"/><Relationship Id="rId24" Type="http://schemas.openxmlformats.org/officeDocument/2006/relationships/font" Target="fonts/Cabin-italic.fntdata"/><Relationship Id="rId23" Type="http://schemas.openxmlformats.org/officeDocument/2006/relationships/font" Target="fonts/Cabin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Domine-regular.fntdata"/><Relationship Id="rId25" Type="http://schemas.openxmlformats.org/officeDocument/2006/relationships/font" Target="fonts/Cabin-boldItalic.fntdata"/><Relationship Id="rId27" Type="http://schemas.openxmlformats.org/officeDocument/2006/relationships/font" Target="fonts/Domin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92321bb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92321b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92321bb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92321bb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92321bbe_0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92321bb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b92321bbe_0_1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5699b7b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5699b7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b92321bbe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b92321bb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b92321bbe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b92321bb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92321bbe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92321bb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92321bb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92321bb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92321bbe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b92321bb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92321bbe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b92321bb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Path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Evolutionary Model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Generative Model:  simple rules governing processes which generate observed patterns (emerge);  grow network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Demographic models  (states and flows)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e.g. normal, gassian, gen process random variation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92321bbe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92321bbe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b92321bbe_0_2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6400800" y="6356350"/>
            <a:ext cx="22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2898648" y="6356350"/>
            <a:ext cx="350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12648" y="6356350"/>
            <a:ext cx="198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ymbol"/>
              <a:buChar char=""/>
              <a:defRPr/>
            </a:lvl1pPr>
            <a:lvl2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ymbol"/>
              <a:buChar char=""/>
              <a:defRPr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2400"/>
              <a:buFont typeface="Noto Symbol"/>
              <a:buChar char=""/>
              <a:defRPr/>
            </a:lvl3pPr>
            <a:lvl4pPr indent="-3429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800"/>
              <a:buFont typeface="Noto Symbol"/>
              <a:buChar char="◻"/>
              <a:defRPr/>
            </a:lvl4pPr>
            <a:lvl5pPr indent="-3429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ymbol"/>
              <a:buChar char="◻"/>
              <a:defRPr/>
            </a:lvl5pPr>
            <a:lvl6pPr indent="-3429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800"/>
              <a:buFont typeface="Noto Symbol"/>
              <a:buChar char=""/>
              <a:defRPr/>
            </a:lvl6pPr>
            <a:lvl7pPr indent="-3429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800"/>
              <a:buFont typeface="Noto Symbol"/>
              <a:buChar char=""/>
              <a:defRPr/>
            </a:lvl7pPr>
            <a:lvl8pPr indent="-3429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800"/>
              <a:buFont typeface="Noto Symbol"/>
              <a:buChar char=""/>
              <a:defRPr/>
            </a:lvl8pPr>
            <a:lvl9pPr indent="-3429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800"/>
              <a:buFont typeface="Noto Symbol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icensa.nd.edu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Relationship Id="rId5" Type="http://schemas.openxmlformats.org/officeDocument/2006/relationships/hyperlink" Target="http://www.iccss2015.eu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Social Network Seminar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Introductions:  </a:t>
            </a:r>
            <a:r>
              <a:rPr lang="en-US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&amp; You</a:t>
            </a:r>
            <a:endParaRPr sz="1800"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Seminar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Objectives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Topics &amp; Readings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Requirements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Software</a:t>
            </a:r>
            <a:endParaRPr b="0" i="0" sz="18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My Interests in Networks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Social class, relational sociology</a:t>
            </a:r>
            <a:endParaRPr sz="18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Job mobility, vacancy chains, event history analysis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Granovetter &amp; Burt:  Finding jobs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Web Group:  Barabasi and others </a:t>
            </a:r>
            <a:endParaRPr sz="1800"/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bin"/>
              <a:buChar char="○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iCeNSA</a:t>
            </a:r>
            <a:endParaRPr b="0" i="0" sz="18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bin"/>
              <a:buChar char="○"/>
            </a:pPr>
            <a:r>
              <a:rPr b="0" i="0" lang="en-US" sz="18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Research Projects</a:t>
            </a:r>
            <a:endParaRPr sz="1800"/>
          </a:p>
          <a:p>
            <a:pPr indent="-170942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48844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Social Networks are In</a:t>
            </a:r>
            <a:endParaRPr/>
          </a:p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Facebook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Exponential growth in network research, papers, articles, journals, conferences</a:t>
            </a:r>
            <a:endParaRPr/>
          </a:p>
        </p:txBody>
      </p:sp>
      <p:pic>
        <p:nvPicPr>
          <p:cNvPr id="70" name="Google Shape;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475" y="3666167"/>
            <a:ext cx="3759525" cy="20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/>
          <p:nvPr/>
        </p:nvSpPr>
        <p:spPr>
          <a:xfrm>
            <a:off x="2675500" y="6224733"/>
            <a:ext cx="37464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http://www.researchtrends.com/issue16-march-2010/research-trends-8/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Social Networks Have Always Existed</a:t>
            </a:r>
            <a:endParaRPr sz="3000"/>
          </a:p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Kinship networks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Friendship networks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trading networks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transportation networks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alliances among countries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/>
              <a:t>Social Networks Have Been Studied for a While</a:t>
            </a:r>
            <a:endParaRPr b="1"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Social Network Analysis (since the 1950s)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 Science (the 2000s)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Computational Social Science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The Network Field:  </a:t>
            </a:r>
            <a:r>
              <a:rPr lang="en-US" sz="3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Five</a:t>
            </a: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 Sources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Mathematics – Graph Theory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Anthropology (kinship networks)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Networks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INSNA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Science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NetSci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2600"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Computational Social Science (</a:t>
            </a:r>
            <a:r>
              <a:rPr lang="en-US" sz="2600" u="sng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5"/>
              </a:rPr>
              <a:t>International Conference</a:t>
            </a: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 (Big Data)</a:t>
            </a:r>
            <a:endParaRPr sz="23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Why Study Networks?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●"/>
            </a:pPr>
            <a:r>
              <a:rPr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Determinants of human behavior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Standard theories:  Categories (taxonomies) 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Theory:  network effects, social influence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●"/>
            </a:pPr>
            <a:r>
              <a:rPr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Non-independence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●"/>
            </a:pPr>
            <a:r>
              <a:rPr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indirect ties</a:t>
            </a:r>
            <a:endParaRPr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Sociology in not just about determinants of human behavior</a:t>
            </a:r>
            <a:endParaRPr b="1"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●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Also about how people connect to other people -- Social Organization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●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Group, Organizations, Social Relationships &amp; Roles, Networks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9344" lvl="0" marL="27432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ymbol"/>
              <a:buChar char=""/>
            </a:pPr>
            <a:r>
              <a:rPr lang="en-US" sz="3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Current State of Research</a:t>
            </a:r>
            <a:endParaRPr sz="3000"/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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lang="en-US" sz="23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Exponential Growth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lang="en-US" sz="23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Interdisciplinary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lang="en-US" sz="23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Game changing  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bin"/>
              <a:buChar char="○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complex, dynamic, distributed systems</a:t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lang="en-US" sz="23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Social Media (Facebook, Twitter)</a:t>
            </a:r>
            <a:endParaRPr sz="23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abin"/>
              <a:buChar char="●"/>
            </a:pPr>
            <a:r>
              <a:rPr lang="en-US" sz="230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Dynamics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Seeing Networks</a:t>
            </a:r>
            <a:endParaRPr/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457200" y="1600200"/>
            <a:ext cx="4737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Connect the dots metaphor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Dots:  Nodes (vertices)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People, organizations, places, ideas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Lines:  Ties (edges)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Interaction, friendship, exchange, authority, lineage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Flows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information, resources, evaluations (like, dislike), people</a:t>
            </a:r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475" y="2389000"/>
            <a:ext cx="2143350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Levels of Analysis</a:t>
            </a:r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Node (Vertices)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Dyad (Ties, Edges)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Triad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Clusters (communities)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Whole Network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(Vertices) – Ego Networks</a:t>
            </a:r>
            <a:endParaRPr/>
          </a:p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457200" y="1219200"/>
            <a:ext cx="48762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Degree (network size, neighbors, popularity, in &amp; out degree)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Centrality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Gregariousness (activity level)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Composition (percentage of friends that are women)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Redundancy, Clustering (ties among alters)</a:t>
            </a:r>
            <a:endParaRPr sz="2400"/>
          </a:p>
        </p:txBody>
      </p:sp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400" y="1829242"/>
            <a:ext cx="35433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Dyads (Ties, Edges)</a:t>
            </a:r>
            <a:endParaRPr/>
          </a:p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Strength (Weight)</a:t>
            </a:r>
            <a:endParaRPr sz="1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300"/>
              <a:buFont typeface="Cabin"/>
              <a:buChar char="○"/>
            </a:pPr>
            <a:r>
              <a:rPr lang="en-US" sz="2300">
                <a:solidFill>
                  <a:srgbClr val="464653"/>
                </a:solidFill>
                <a:latin typeface="Cabin"/>
                <a:ea typeface="Cabin"/>
                <a:cs typeface="Cabin"/>
                <a:sym typeface="Cabin"/>
              </a:rPr>
              <a:t>Frequency, duration, closeness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Reciprocity  (Mutuality, Symmetry)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Social Distance, Homophily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Hierarchy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Persistence/Decay</a:t>
            </a:r>
            <a:endParaRPr sz="14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bin"/>
              <a:buChar char="●"/>
            </a:pPr>
            <a:r>
              <a:rPr lang="en-US" sz="2600">
                <a:latin typeface="Cabin"/>
                <a:ea typeface="Cabin"/>
                <a:cs typeface="Cabin"/>
                <a:sym typeface="Cabin"/>
              </a:rPr>
              <a:t>Formation</a:t>
            </a:r>
            <a:endParaRPr/>
          </a:p>
        </p:txBody>
      </p:sp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175" y="3360856"/>
            <a:ext cx="3692200" cy="25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Triads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Transitivity (a friend of a friend is my friend)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Triadic closure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Tie embededness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Triadic Census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Brokerage (intermediation)</a:t>
            </a:r>
            <a:endParaRPr/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325" y="4178027"/>
            <a:ext cx="4254599" cy="1616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Clusters (Communities)</a:t>
            </a:r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Cliques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Distinct communities with bridges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Core-Periphery Structures</a:t>
            </a:r>
            <a:endParaRPr/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000" y="3142666"/>
            <a:ext cx="2091725" cy="245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425" y="3508675"/>
            <a:ext cx="2302700" cy="22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Whole Network	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Size</a:t>
            </a:r>
            <a:endParaRPr sz="24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Density</a:t>
            </a:r>
            <a:endParaRPr sz="24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Degree distribution</a:t>
            </a:r>
            <a:endParaRPr sz="24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Clustering</a:t>
            </a:r>
            <a:endParaRPr sz="24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Connectivity </a:t>
            </a:r>
            <a:endParaRPr sz="2400"/>
          </a:p>
          <a:p>
            <a:pPr indent="-3429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rgbClr val="464653"/>
                </a:solidFill>
                <a:latin typeface="Cabin"/>
                <a:ea typeface="Cabin"/>
                <a:cs typeface="Cabin"/>
                <a:sym typeface="Cabin"/>
              </a:rPr>
              <a:t>giant component</a:t>
            </a:r>
            <a:endParaRPr sz="1800"/>
          </a:p>
          <a:p>
            <a:pPr indent="-3429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rgbClr val="464653"/>
                </a:solidFill>
                <a:latin typeface="Cabin"/>
                <a:ea typeface="Cabin"/>
                <a:cs typeface="Cabin"/>
                <a:sym typeface="Cabin"/>
              </a:rPr>
              <a:t>resilience</a:t>
            </a:r>
            <a:endParaRPr sz="18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Geodesic distance/size/diameter</a:t>
            </a:r>
            <a:endParaRPr sz="2400"/>
          </a:p>
          <a:p>
            <a:pPr indent="-3429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rgbClr val="464653"/>
                </a:solidFill>
                <a:latin typeface="Cabin"/>
                <a:ea typeface="Cabin"/>
                <a:cs typeface="Cabin"/>
                <a:sym typeface="Cabin"/>
              </a:rPr>
              <a:t>Small World</a:t>
            </a:r>
            <a:endParaRPr sz="18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Mixing Patterns (assortativity)</a:t>
            </a:r>
            <a:endParaRPr sz="2400"/>
          </a:p>
          <a:p>
            <a:pPr indent="-3429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Font typeface="Cabin"/>
              <a:buChar char="○"/>
            </a:pPr>
            <a:r>
              <a:rPr lang="en-US" sz="1800">
                <a:solidFill>
                  <a:srgbClr val="464653"/>
                </a:solidFill>
                <a:latin typeface="Cabin"/>
                <a:ea typeface="Cabin"/>
                <a:cs typeface="Cabin"/>
                <a:sym typeface="Cabin"/>
              </a:rPr>
              <a:t>degree assortativity</a:t>
            </a:r>
            <a:endParaRPr sz="1800"/>
          </a:p>
          <a:p>
            <a:pPr indent="-3810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bin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Stability</a:t>
            </a:r>
            <a:endParaRPr sz="2400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475" y="1295250"/>
            <a:ext cx="2712550" cy="26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</a:t>
            </a:r>
            <a:endParaRPr b="1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Strength of weak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Structural Holes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Cross-cutting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Bridging and bonding social capital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Brokerage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Scale-free networks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not normally distributed but power laws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Hubs and star configuration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Core/Periphery structures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ymbol"/>
              <a:buChar char="○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motifs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ymbo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Weights and Reciprocity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 (continued)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Emergence, self-organization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local →  global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Agent based models</a:t>
            </a:r>
            <a:endParaRPr b="0" i="0" sz="215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Evolution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Tie Formation vs. Persistence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Assembling Networks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Generative Models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ymbo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Diffusion, influence, contagion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lang="en-US" sz="215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Selection vs. influence</a:t>
            </a:r>
            <a:endParaRPr sz="215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Noto Symbol"/>
              <a:buChar char="○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effects</a:t>
            </a:r>
            <a:endParaRPr/>
          </a:p>
          <a:p>
            <a:pPr indent="-158255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8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lang="en-US" sz="3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 (continued)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What is different about social networks?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What is a “good” network?  What properties can networks maximize?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Char char="●"/>
            </a:pPr>
            <a:r>
              <a:rPr lang="en-US" sz="2400">
                <a:latin typeface="Cabin"/>
                <a:ea typeface="Cabin"/>
                <a:cs typeface="Cabin"/>
                <a:sym typeface="Cabin"/>
              </a:rPr>
              <a:t>Connections among networks (social, technical, information, semantic)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