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5143500" cx="9144000"/>
  <p:notesSz cx="6858000" cy="9144000"/>
  <p:embeddedFontLst>
    <p:embeddedFont>
      <p:font typeface="Economica"/>
      <p:regular r:id="rId28"/>
      <p:bold r:id="rId29"/>
      <p:italic r:id="rId30"/>
      <p:boldItalic r:id="rId31"/>
    </p:embeddedFont>
    <p:embeddedFont>
      <p:font typeface="Open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Economica-regular.fntdata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Economica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Economica-boldItalic.fntdata"/><Relationship Id="rId30" Type="http://schemas.openxmlformats.org/officeDocument/2006/relationships/font" Target="fonts/Economica-italic.fntdata"/><Relationship Id="rId11" Type="http://schemas.openxmlformats.org/officeDocument/2006/relationships/slide" Target="slides/slide7.xml"/><Relationship Id="rId33" Type="http://schemas.openxmlformats.org/officeDocument/2006/relationships/font" Target="fonts/OpenSans-bold.fntdata"/><Relationship Id="rId10" Type="http://schemas.openxmlformats.org/officeDocument/2006/relationships/slide" Target="slides/slide6.xml"/><Relationship Id="rId32" Type="http://schemas.openxmlformats.org/officeDocument/2006/relationships/font" Target="fonts/OpenSans-regular.fntdata"/><Relationship Id="rId13" Type="http://schemas.openxmlformats.org/officeDocument/2006/relationships/slide" Target="slides/slide9.xml"/><Relationship Id="rId35" Type="http://schemas.openxmlformats.org/officeDocument/2006/relationships/font" Target="fonts/OpenSans-boldItalic.fntdata"/><Relationship Id="rId12" Type="http://schemas.openxmlformats.org/officeDocument/2006/relationships/slide" Target="slides/slide8.xml"/><Relationship Id="rId34" Type="http://schemas.openxmlformats.org/officeDocument/2006/relationships/font" Target="fonts/OpenSans-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discuss important matters</a:t>
            </a:r>
            <a:endParaRPr/>
          </a:p>
        </p:txBody>
      </p:sp>
      <p:sp>
        <p:nvSpPr>
          <p:cNvPr id="77" name="Google Shape;77;p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07" name="Google Shape;10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Older </a:t>
            </a:r>
            <a:r>
              <a:rPr lang="en-US"/>
              <a:t>people's</a:t>
            </a:r>
            <a:r>
              <a:rPr b="0" i="0" lang="en-US" sz="1800" u="none" cap="none" strike="noStrike"/>
              <a:t> nets are composed of people who are both close, seen frequently and kin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Low status people’s nets are composed of people who  are close, </a:t>
            </a:r>
            <a:r>
              <a:rPr lang="en-US"/>
              <a:t>frequent</a:t>
            </a:r>
            <a:r>
              <a:rPr b="0" i="0" lang="en-US" sz="1800" u="none" cap="none" strike="noStrike"/>
              <a:t> and </a:t>
            </a:r>
            <a:r>
              <a:rPr lang="en-US"/>
              <a:t>kim</a:t>
            </a:r>
            <a:r>
              <a:rPr b="0" i="0" lang="en-US" sz="1800" u="none" cap="none" strike="noStrike"/>
              <a:t>  (so relations are ambiguous)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8" name="Google Shape;108;p1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20" name="Google Shape;12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Who is likely to have more diverse networks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Why diversity important</a:t>
            </a:r>
            <a:endParaRPr/>
          </a:p>
        </p:txBody>
      </p:sp>
      <p:sp>
        <p:nvSpPr>
          <p:cNvPr id="121" name="Google Shape;121;p1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33" name="Google Shape;13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for types need a variable trait of alters, like </a:t>
            </a:r>
            <a:r>
              <a:rPr lang="en-US"/>
              <a:t>education</a:t>
            </a:r>
            <a:r>
              <a:rPr b="0" i="0" lang="en-US" sz="1800" u="none" cap="none" strike="noStrike"/>
              <a:t>, SES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2 </a:t>
            </a:r>
            <a:r>
              <a:rPr lang="en-US"/>
              <a:t>litres</a:t>
            </a:r>
            <a:r>
              <a:rPr b="0" i="0" lang="en-US" sz="1800" u="none" cap="none" strike="noStrike"/>
              <a:t> of same type count only once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caveat – </a:t>
            </a:r>
            <a:r>
              <a:rPr lang="en-US"/>
              <a:t>cohesiveness</a:t>
            </a:r>
            <a:r>
              <a:rPr b="0" i="0" lang="en-US" sz="1800" u="none" cap="none" strike="noStrike"/>
              <a:t> of status group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34" name="Google Shape;134;p1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46" name="Google Shape;14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redundancy and </a:t>
            </a:r>
            <a:r>
              <a:rPr lang="en-US"/>
              <a:t>vomiting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47" name="Google Shape;147;p2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59" name="Google Shape;15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Different ways to find out about jobs:  newspapers, signs,  word of mouth</a:t>
            </a:r>
            <a:endParaRPr/>
          </a:p>
        </p:txBody>
      </p:sp>
      <p:sp>
        <p:nvSpPr>
          <p:cNvPr id="160" name="Google Shape;160;p2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85" name="Google Shape;18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does struct equiv lead to cohesion as triangle close</a:t>
            </a:r>
            <a:endParaRPr/>
          </a:p>
        </p:txBody>
      </p:sp>
      <p:sp>
        <p:nvSpPr>
          <p:cNvPr id="186" name="Google Shape;186;p2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99" name="Google Shape;19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en-US"/>
              <a:t>Effectiveness</a:t>
            </a:r>
            <a:r>
              <a:rPr b="0" i="0" lang="en-US" sz="1800" u="none" cap="none" strike="noStrike"/>
              <a:t> concerns connecting to hubs within a cluster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reachability :  number of 2 degree neighbors.  </a:t>
            </a:r>
            <a:endParaRPr/>
          </a:p>
        </p:txBody>
      </p:sp>
      <p:sp>
        <p:nvSpPr>
          <p:cNvPr id="200" name="Google Shape;200;p3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" name="Google Shape;15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6" name="Google Shape;16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1" name="Google Shape;21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2" name="Google Shape;22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image" Target="../media/image16.png"/><Relationship Id="rId6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4.png"/><Relationship Id="rId7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Ego Networks	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Alter (j) and k egos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Nodal</a:t>
            </a:r>
            <a:r>
              <a:rPr lang="en-US"/>
              <a:t> degree (k)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How diverse is an ego’s network?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Correlates of “diversity”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US"/>
              <a:t>Degree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US"/>
              <a:t>heterogeneity (composition)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US"/>
              <a:t>weak ties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US"/>
              <a:t>redundancy/density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Marsden Findings </a:t>
            </a:r>
            <a:b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network is dense  (.61)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network is more homogenous on age, education, race, sex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though there is age and education </a:t>
            </a:r>
            <a:r>
              <a:rPr lang="en-US"/>
              <a:t>heterogeneity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Age, Education, Sex, Race and Place Correlates of network size, density and </a:t>
            </a:r>
            <a:r>
              <a:rPr lang="en-US"/>
              <a:t>heterogeneity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(Tables 3 </a:t>
            </a:r>
            <a:r>
              <a:rPr lang="en-US"/>
              <a:t>&amp; 4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Burt – Discussion Groups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more diverse network is one in which ties with alters vary in their content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 and Content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Three dimensions:  Frequency, Closeness, and Kin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Burt Discussion Groups</a:t>
            </a:r>
            <a:endParaRPr/>
          </a:p>
        </p:txBody>
      </p:sp>
      <p:pic>
        <p:nvPicPr>
          <p:cNvPr id="92" name="Google Shape;9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1063228"/>
            <a:ext cx="6578700" cy="362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Burt Findings	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predominant character of core </a:t>
            </a:r>
            <a:r>
              <a:rPr lang="en-US" sz="3000"/>
              <a:t>discussion</a:t>
            </a:r>
            <a:r>
              <a:rPr b="0" i="0" lang="en-US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groups is that they connect people to alters that a person sees more often, are close to,  and are kin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Distinction between different types of alters increases with status and declines with age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status people have kin, but they also have nonkin they see frequency (co-workers) AND close people beyond family and </a:t>
            </a:r>
            <a:r>
              <a:rPr lang="en-US" sz="2600"/>
              <a:t>coworkers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Younger people have kin, but also non-kin that they see frequently and close people who are not kin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middle aged keep kin (but now children), less daily contact</a:t>
            </a:r>
            <a:endParaRPr/>
          </a:p>
          <a:p>
            <a:pPr indent="-88900" lvl="2" marL="114300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0650" lvl="1" marL="742950" marR="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342900" marR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Burt - Range</a:t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Degree (number of alters)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of </a:t>
            </a:r>
            <a:r>
              <a:rPr b="0" i="0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 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alters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Redundancy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Granovetter:</a:t>
            </a:r>
            <a:b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Strength of Weak Ties</a:t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0" i="0" lang="en-US" sz="2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Getting a better job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0" i="0" lang="en-US" sz="2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Job Search &amp; Information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0" i="0" lang="en-US" sz="2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people find out about jobs?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0" i="0" lang="en-US" sz="2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Measure whether job is better and type of contact used to find a job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0" i="0" lang="en-US" sz="2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 of contact:  family/friend vs. acquaintance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0" i="0" lang="en-US" sz="2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Finding:  Odds of getting better job increases when a person hears about the job through an acquaintance (weak tie)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0" i="0" lang="en-US" sz="2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Explanation:  weak ties are to non-redundant alters who are more likely to know about jobs than ego’s strong ties</a:t>
            </a:r>
            <a:endParaRPr/>
          </a:p>
          <a:p>
            <a:pPr indent="-18415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t/>
            </a:r>
            <a:endParaRPr b="0" i="0" sz="25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Granovetter Assumptions</a:t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Acquaintance = Weak Tie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Weak Tie = Non-redundant tie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Burt – Structural Holes</a:t>
            </a:r>
            <a:endParaRPr/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degree and high density → less diverse network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Dense networks are redundant, i.e. not diverse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Structural Hole:  </a:t>
            </a:r>
            <a:r>
              <a:rPr lang="en-US" sz="3000"/>
              <a:t>Separation</a:t>
            </a:r>
            <a:r>
              <a:rPr b="0" i="0" lang="en-US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(lack of direct or indirect ties) between </a:t>
            </a:r>
            <a:r>
              <a:rPr lang="en-US" sz="3000"/>
              <a:t>non redundant</a:t>
            </a:r>
            <a:r>
              <a:rPr b="0" i="0" lang="en-US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contact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benefits of each alter additive (no overlap)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 between ego and non-redundant alter is a bridge</a:t>
            </a:r>
            <a:endParaRPr/>
          </a:p>
          <a:p>
            <a:pPr indent="-177800" lvl="0" marL="342900" marR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Redundancy</a:t>
            </a:r>
            <a:endParaRPr/>
          </a:p>
        </p:txBody>
      </p:sp>
      <p:pic>
        <p:nvPicPr>
          <p:cNvPr id="130" name="Google Shape;13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8375" y="1375650"/>
            <a:ext cx="4457100" cy="32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Efficiency &amp; </a:t>
            </a:r>
            <a:r>
              <a:rPr lang="en-US"/>
              <a:t>Effectiveness</a:t>
            </a: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Efficiency:  Maximize the number of non-redundant alters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Effectiveness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 Draw your alters from different social worlds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Weak Ties &amp; Structural Holes</a:t>
            </a:r>
            <a:endParaRPr/>
          </a:p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Hypothesis:  The ties with non-redundant alters that form a structural hole tend to be weak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Structural Holes &amp; Weak Ties</a:t>
            </a:r>
            <a:endParaRPr/>
          </a:p>
        </p:txBody>
      </p:sp>
      <p:pic>
        <p:nvPicPr>
          <p:cNvPr id="150" name="Google Shape;15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3300" y="1200150"/>
            <a:ext cx="3992700" cy="34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Redundancy:  2 Steps	</a:t>
            </a:r>
            <a:endParaRPr/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how important each alter is to ego (relative strength of a tie)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redundancy of each alter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Relative Strength of a Tie</a:t>
            </a:r>
            <a:endParaRPr/>
          </a:p>
        </p:txBody>
      </p:sp>
      <p:pic>
        <p:nvPicPr>
          <p:cNvPr id="163" name="Google Shape;16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225" y="1257300"/>
            <a:ext cx="3632100" cy="6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5375" y="1933575"/>
            <a:ext cx="3073200" cy="6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8"/>
          <p:cNvSpPr txBox="1"/>
          <p:nvPr/>
        </p:nvSpPr>
        <p:spPr>
          <a:xfrm>
            <a:off x="1295400" y="2971800"/>
            <a:ext cx="6858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volume of interaction</a:t>
            </a:r>
            <a:r>
              <a:rPr lang="en-US" sz="1800">
                <a:solidFill>
                  <a:schemeClr val="dk1"/>
                </a:solidFill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between i and q divided by total volume of interaction of i with all the other j alters</a:t>
            </a:r>
            <a:endParaRPr/>
          </a:p>
        </p:txBody>
      </p:sp>
      <p:sp>
        <p:nvSpPr>
          <p:cNvPr id="166" name="Google Shape;166;p28"/>
          <p:cNvSpPr txBox="1"/>
          <p:nvPr/>
        </p:nvSpPr>
        <p:spPr>
          <a:xfrm>
            <a:off x="1295400" y="3829050"/>
            <a:ext cx="70866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case of 1,0 ties: numerator = 1, denominator = i’s degree - 1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/>
          </a:p>
        </p:txBody>
      </p:sp>
      <p:pic>
        <p:nvPicPr>
          <p:cNvPr id="172" name="Google Shape;17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825" y="1254138"/>
            <a:ext cx="3174900" cy="22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000" y="1485900"/>
            <a:ext cx="5524500" cy="16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Redundancy of an Alter</a:t>
            </a:r>
            <a:endParaRPr/>
          </a:p>
        </p:txBody>
      </p:sp>
      <p:pic>
        <p:nvPicPr>
          <p:cNvPr id="179" name="Google Shape;17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1143000"/>
            <a:ext cx="4038600" cy="6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8300" y="1714500"/>
            <a:ext cx="3848100" cy="62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0"/>
          <p:cNvSpPr txBox="1"/>
          <p:nvPr/>
        </p:nvSpPr>
        <p:spPr>
          <a:xfrm>
            <a:off x="1066800" y="2457450"/>
            <a:ext cx="6934200" cy="6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volume of interaction between j and q (i.e. two of i’s alters) divided by maximum volume of interaction between any of i’s two alters</a:t>
            </a:r>
            <a:endParaRPr/>
          </a:p>
        </p:txBody>
      </p:sp>
      <p:sp>
        <p:nvSpPr>
          <p:cNvPr id="182" name="Google Shape;182;p30"/>
          <p:cNvSpPr txBox="1"/>
          <p:nvPr/>
        </p:nvSpPr>
        <p:spPr>
          <a:xfrm>
            <a:off x="1066800" y="3314700"/>
            <a:ext cx="69342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simple case of 0,1 ties:  whether tie exists between two alters, i.e. Z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jq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Redundancy of Ego Network</a:t>
            </a:r>
            <a:endParaRPr/>
          </a:p>
        </p:txBody>
      </p:sp>
      <p:pic>
        <p:nvPicPr>
          <p:cNvPr id="189" name="Google Shape;18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143000"/>
            <a:ext cx="4813200" cy="4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1714500"/>
            <a:ext cx="4813200" cy="43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1"/>
          <p:cNvSpPr txBox="1"/>
          <p:nvPr/>
        </p:nvSpPr>
        <p:spPr>
          <a:xfrm>
            <a:off x="838200" y="2372915"/>
            <a:ext cx="62484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summation over q is the key here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iq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1/d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i.e. inverse of i’s degree</a:t>
            </a:r>
            <a:endParaRPr/>
          </a:p>
        </p:txBody>
      </p:sp>
      <p:grpSp>
        <p:nvGrpSpPr>
          <p:cNvPr id="192" name="Google Shape;192;p31"/>
          <p:cNvGrpSpPr/>
          <p:nvPr/>
        </p:nvGrpSpPr>
        <p:grpSpPr>
          <a:xfrm>
            <a:off x="1088707" y="2382706"/>
            <a:ext cx="3616928" cy="371508"/>
            <a:chOff x="0" y="0"/>
            <a:chExt cx="2147483647" cy="2147483647"/>
          </a:xfrm>
        </p:grpSpPr>
        <p:pic>
          <p:nvPicPr>
            <p:cNvPr id="193" name="Google Shape;193;p3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0"/>
              <a:ext cx="502755350" cy="20045067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" name="Google Shape;194;p31"/>
            <p:cNvSpPr txBox="1"/>
            <p:nvPr/>
          </p:nvSpPr>
          <p:spPr>
            <a:xfrm>
              <a:off x="502755384" y="189593206"/>
              <a:ext cx="1644728262" cy="13556647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        1/d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m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jq</a:t>
              </a:r>
              <a:endParaRPr/>
            </a:p>
          </p:txBody>
        </p:sp>
        <p:pic>
          <p:nvPicPr>
            <p:cNvPr id="195" name="Google Shape;195;p3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89493049" y="189593206"/>
              <a:ext cx="186737702" cy="195789044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6" name="Google Shape;196;p31"/>
          <p:cNvSpPr txBox="1"/>
          <p:nvPr/>
        </p:nvSpPr>
        <p:spPr>
          <a:xfrm>
            <a:off x="838200" y="3486150"/>
            <a:ext cx="4572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sum 1/d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 times, where N is number of connections of j to all other alters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THIS?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Degree of alter j – 1,  i.e d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-1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Redundancy of Ego Network (cont’d)</a:t>
            </a:r>
            <a:endParaRPr/>
          </a:p>
        </p:txBody>
      </p:sp>
      <p:grpSp>
        <p:nvGrpSpPr>
          <p:cNvPr id="203" name="Google Shape;203;p32"/>
          <p:cNvGrpSpPr/>
          <p:nvPr/>
        </p:nvGrpSpPr>
        <p:grpSpPr>
          <a:xfrm>
            <a:off x="479107" y="764647"/>
            <a:ext cx="3616928" cy="371508"/>
            <a:chOff x="0" y="0"/>
            <a:chExt cx="2147483647" cy="2147483647"/>
          </a:xfrm>
        </p:grpSpPr>
        <p:pic>
          <p:nvPicPr>
            <p:cNvPr id="204" name="Google Shape;204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502755350" cy="20045067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" name="Google Shape;205;p32"/>
            <p:cNvSpPr txBox="1"/>
            <p:nvPr/>
          </p:nvSpPr>
          <p:spPr>
            <a:xfrm>
              <a:off x="502755384" y="189593206"/>
              <a:ext cx="1644728262" cy="13556647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        1/d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m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jq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(d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-1)/d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</p:txBody>
        </p:sp>
        <p:pic>
          <p:nvPicPr>
            <p:cNvPr id="206" name="Google Shape;206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9493049" y="189593206"/>
              <a:ext cx="186737702" cy="195789044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7" name="Google Shape;207;p32"/>
          <p:cNvSpPr txBox="1"/>
          <p:nvPr/>
        </p:nvSpPr>
        <p:spPr>
          <a:xfrm>
            <a:off x="4191000" y="1260871"/>
            <a:ext cx="4953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the redundancy of alter j is j’s degree -1 divided by i’s degree</a:t>
            </a:r>
            <a:endParaRPr/>
          </a:p>
        </p:txBody>
      </p:sp>
      <p:pic>
        <p:nvPicPr>
          <p:cNvPr id="208" name="Google Shape;208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2000250"/>
            <a:ext cx="4762500" cy="14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2"/>
          <p:cNvSpPr txBox="1"/>
          <p:nvPr/>
        </p:nvSpPr>
        <p:spPr>
          <a:xfrm>
            <a:off x="609600" y="3600450"/>
            <a:ext cx="70866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 Redundancy of Alter A for Ego G = 1/6*3 = (4-1)/6 = .5 </a:t>
            </a:r>
            <a:endParaRPr/>
          </a:p>
        </p:txBody>
      </p:sp>
      <p:pic>
        <p:nvPicPr>
          <p:cNvPr id="210" name="Google Shape;210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" y="3948113"/>
            <a:ext cx="8015400" cy="10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38800" y="1868090"/>
            <a:ext cx="2438400" cy="175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2"/>
          <p:cNvSpPr txBox="1"/>
          <p:nvPr/>
        </p:nvSpPr>
        <p:spPr>
          <a:xfrm>
            <a:off x="6324600" y="2286000"/>
            <a:ext cx="381000" cy="1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1/6</a:t>
            </a:r>
            <a:endParaRPr/>
          </a:p>
        </p:txBody>
      </p:sp>
      <p:sp>
        <p:nvSpPr>
          <p:cNvPr id="213" name="Google Shape;213;p32"/>
          <p:cNvSpPr txBox="1"/>
          <p:nvPr/>
        </p:nvSpPr>
        <p:spPr>
          <a:xfrm>
            <a:off x="6515100" y="2044303"/>
            <a:ext cx="266700" cy="1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14" name="Google Shape;214;p32"/>
          <p:cNvSpPr txBox="1"/>
          <p:nvPr/>
        </p:nvSpPr>
        <p:spPr>
          <a:xfrm>
            <a:off x="6705600" y="1815703"/>
            <a:ext cx="266700" cy="1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15" name="Google Shape;215;p32"/>
          <p:cNvSpPr txBox="1"/>
          <p:nvPr/>
        </p:nvSpPr>
        <p:spPr>
          <a:xfrm>
            <a:off x="5638800" y="2286000"/>
            <a:ext cx="266700" cy="1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Redundancy of Ego Network (cont’d)</a:t>
            </a:r>
            <a:endParaRPr/>
          </a:p>
        </p:txBody>
      </p:sp>
      <p:pic>
        <p:nvPicPr>
          <p:cNvPr id="221" name="Google Shape;22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714500"/>
            <a:ext cx="4813200" cy="438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2" name="Google Shape;222;p33"/>
          <p:cNvGrpSpPr/>
          <p:nvPr/>
        </p:nvGrpSpPr>
        <p:grpSpPr>
          <a:xfrm>
            <a:off x="1280986" y="1999996"/>
            <a:ext cx="3241929" cy="419354"/>
            <a:chOff x="0" y="0"/>
            <a:chExt cx="2147483647" cy="2147483647"/>
          </a:xfrm>
        </p:grpSpPr>
        <p:sp>
          <p:nvSpPr>
            <p:cNvPr id="223" name="Google Shape;223;p33"/>
            <p:cNvSpPr txBox="1"/>
            <p:nvPr/>
          </p:nvSpPr>
          <p:spPr>
            <a:xfrm>
              <a:off x="408662910" y="45749191"/>
              <a:ext cx="1738820736" cy="21017344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[ 1 - (d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-1)/d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]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4" name="Google Shape;224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408662919" cy="18171018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5" name="Google Shape;225;p33"/>
          <p:cNvSpPr txBox="1"/>
          <p:nvPr/>
        </p:nvSpPr>
        <p:spPr>
          <a:xfrm>
            <a:off x="838200" y="2971800"/>
            <a:ext cx="66294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we are summing N terms, where N is the degree of i</a:t>
            </a:r>
            <a:endParaRPr/>
          </a:p>
        </p:txBody>
      </p:sp>
      <p:sp>
        <p:nvSpPr>
          <p:cNvPr id="226" name="Google Shape;226;p33"/>
          <p:cNvSpPr txBox="1"/>
          <p:nvPr/>
        </p:nvSpPr>
        <p:spPr>
          <a:xfrm>
            <a:off x="838200" y="3600450"/>
            <a:ext cx="61722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baseline="-2500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     (d</a:t>
            </a:r>
            <a:r>
              <a:rPr b="0" baseline="-2500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-1)/d</a:t>
            </a:r>
            <a:r>
              <a:rPr b="0" baseline="-2500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=  d</a:t>
            </a:r>
            <a:r>
              <a:rPr b="0" baseline="-2500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mean(d</a:t>
            </a:r>
            <a:r>
              <a:rPr b="0" baseline="-2500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pic>
        <p:nvPicPr>
          <p:cNvPr id="227" name="Google Shape;227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0800" y="3600450"/>
            <a:ext cx="304800" cy="43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3"/>
          <p:cNvSpPr txBox="1"/>
          <p:nvPr/>
        </p:nvSpPr>
        <p:spPr>
          <a:xfrm>
            <a:off x="838200" y="4033838"/>
            <a:ext cx="67818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mean(d</a:t>
            </a:r>
            <a:r>
              <a:rPr b="0" baseline="-2500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is the average degree of all of i’s alters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 do not include ego in the degree </a:t>
            </a:r>
            <a:r>
              <a:rPr lang="en-US" sz="1800">
                <a:solidFill>
                  <a:schemeClr val="dk1"/>
                </a:solidFill>
              </a:rPr>
              <a:t>calculations</a:t>
            </a:r>
            <a:endParaRPr/>
          </a:p>
        </p:txBody>
      </p:sp>
      <p:sp>
        <p:nvSpPr>
          <p:cNvPr id="229" name="Google Shape;229;p33"/>
          <p:cNvSpPr txBox="1"/>
          <p:nvPr/>
        </p:nvSpPr>
        <p:spPr>
          <a:xfrm>
            <a:off x="838200" y="4637484"/>
            <a:ext cx="73914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 Total redundancy when G is Ego = 6 – (3+2+0+1+1+1)/6 = 4.67 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Redundancy &amp; Density</a:t>
            </a:r>
            <a:endParaRPr/>
          </a:p>
        </p:txBody>
      </p:sp>
      <p:sp>
        <p:nvSpPr>
          <p:cNvPr id="235" name="Google Shape;235;p34"/>
          <p:cNvSpPr txBox="1"/>
          <p:nvPr/>
        </p:nvSpPr>
        <p:spPr>
          <a:xfrm>
            <a:off x="914400" y="1257300"/>
            <a:ext cx="65532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Δ = Mean(d)/n-1</a:t>
            </a:r>
            <a:endParaRPr/>
          </a:p>
        </p:txBody>
      </p:sp>
      <p:sp>
        <p:nvSpPr>
          <p:cNvPr id="236" name="Google Shape;236;p34"/>
          <p:cNvSpPr txBox="1"/>
          <p:nvPr/>
        </p:nvSpPr>
        <p:spPr>
          <a:xfrm>
            <a:off x="914400" y="1657350"/>
            <a:ext cx="37338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Mean(d) = Δ (n-1) </a:t>
            </a:r>
            <a:endParaRPr/>
          </a:p>
        </p:txBody>
      </p:sp>
      <p:sp>
        <p:nvSpPr>
          <p:cNvPr id="237" name="Google Shape;237;p34"/>
          <p:cNvSpPr txBox="1"/>
          <p:nvPr/>
        </p:nvSpPr>
        <p:spPr>
          <a:xfrm>
            <a:off x="914400" y="2171700"/>
            <a:ext cx="58674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case of </a:t>
            </a:r>
            <a:r>
              <a:rPr lang="en-US" sz="1800">
                <a:solidFill>
                  <a:schemeClr val="dk1"/>
                </a:solidFill>
              </a:rPr>
              <a:t>alters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an ego, the density is of the graph among all the alters</a:t>
            </a:r>
            <a:endParaRPr/>
          </a:p>
        </p:txBody>
      </p:sp>
      <p:sp>
        <p:nvSpPr>
          <p:cNvPr id="238" name="Google Shape;238;p34"/>
          <p:cNvSpPr txBox="1"/>
          <p:nvPr/>
        </p:nvSpPr>
        <p:spPr>
          <a:xfrm>
            <a:off x="914400" y="2800350"/>
            <a:ext cx="79248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Effective size = d</a:t>
            </a:r>
            <a:r>
              <a:rPr b="0" baseline="-2500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mean(d</a:t>
            </a:r>
            <a:r>
              <a:rPr b="0" baseline="-2500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= d</a:t>
            </a:r>
            <a:r>
              <a:rPr b="0" baseline="-2500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Δ (n-1)       where n is the # of alters  </a:t>
            </a:r>
            <a:endParaRPr/>
          </a:p>
        </p:txBody>
      </p:sp>
      <p:sp>
        <p:nvSpPr>
          <p:cNvPr id="239" name="Google Shape;239;p34"/>
          <p:cNvSpPr txBox="1"/>
          <p:nvPr/>
        </p:nvSpPr>
        <p:spPr>
          <a:xfrm>
            <a:off x="990600" y="3143250"/>
            <a:ext cx="72390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Δ = 2L/n(n-1)			Note:  This is the clustering coefficient</a:t>
            </a:r>
            <a:endParaRPr/>
          </a:p>
        </p:txBody>
      </p:sp>
      <p:sp>
        <p:nvSpPr>
          <p:cNvPr id="240" name="Google Shape;240;p34"/>
          <p:cNvSpPr txBox="1"/>
          <p:nvPr/>
        </p:nvSpPr>
        <p:spPr>
          <a:xfrm>
            <a:off x="914400" y="3543300"/>
            <a:ext cx="73152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effective size = d</a:t>
            </a:r>
            <a:r>
              <a:rPr b="0" baseline="-2500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2L/d</a:t>
            </a:r>
            <a:r>
              <a:rPr b="0" baseline="-2500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= n – [2L/n]  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L is the number of ties among ego’s alters </a:t>
            </a:r>
            <a:endParaRPr/>
          </a:p>
        </p:txBody>
      </p:sp>
      <p:sp>
        <p:nvSpPr>
          <p:cNvPr id="241" name="Google Shape;241;p34"/>
          <p:cNvSpPr txBox="1"/>
          <p:nvPr/>
        </p:nvSpPr>
        <p:spPr>
          <a:xfrm>
            <a:off x="914400" y="4286250"/>
            <a:ext cx="58674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 Node G’s effective size = 6 – (2*4)/6 = 4.67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Redundancy and Reach</a:t>
            </a:r>
            <a:endParaRPr/>
          </a:p>
        </p:txBody>
      </p:sp>
      <p:pic>
        <p:nvPicPr>
          <p:cNvPr id="247" name="Google Shape;24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89250" y="1028700"/>
            <a:ext cx="3365400" cy="23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5"/>
          <p:cNvSpPr txBox="1"/>
          <p:nvPr/>
        </p:nvSpPr>
        <p:spPr>
          <a:xfrm>
            <a:off x="1143000" y="3429000"/>
            <a:ext cx="70104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Effective Size =  8 – (2*4)/8 = 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Efficiency = 7/8 = .875 </a:t>
            </a:r>
            <a:endParaRPr/>
          </a:p>
        </p:txBody>
      </p:sp>
      <p:sp>
        <p:nvSpPr>
          <p:cNvPr id="249" name="Google Shape;249;p35"/>
          <p:cNvSpPr txBox="1"/>
          <p:nvPr/>
        </p:nvSpPr>
        <p:spPr>
          <a:xfrm>
            <a:off x="1143000" y="4229100"/>
            <a:ext cx="6096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Reach </a:t>
            </a:r>
            <a:r>
              <a:rPr lang="en-US" sz="1800">
                <a:solidFill>
                  <a:schemeClr val="dk1"/>
                </a:solidFill>
              </a:rPr>
              <a:t>efficiency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size of 2</a:t>
            </a:r>
            <a:r>
              <a:rPr b="0" baseline="3000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nd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order neighborhood divided by sum of degrees of alters = 8/16 = .5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 Issues</a:t>
            </a:r>
            <a:endParaRPr/>
          </a:p>
        </p:txBody>
      </p:sp>
      <p:sp>
        <p:nvSpPr>
          <p:cNvPr id="255" name="Google Shape;255;p36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Intermediation (Bridges)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Core/Periphery Network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Alters with different edge weights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