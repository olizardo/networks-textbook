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Josefin Slab"/>
      <p:regular r:id="rId43"/>
      <p:bold r:id="rId44"/>
      <p:italic r:id="rId45"/>
      <p:boldItalic r:id="rId46"/>
    </p:embeddedFont>
    <p:embeddedFont>
      <p:font typeface="Economica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BA8764-4E55-43E3-B133-85B2EF4AEF58}">
  <a:tblStyle styleId="{6EBA8764-4E55-43E3-B133-85B2EF4AEF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98552B3-5C6C-456B-9070-3C2D97D08B2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JosefinSlab-bold.fntdata"/><Relationship Id="rId43" Type="http://schemas.openxmlformats.org/officeDocument/2006/relationships/font" Target="fonts/JosefinSlab-regular.fntdata"/><Relationship Id="rId46" Type="http://schemas.openxmlformats.org/officeDocument/2006/relationships/font" Target="fonts/JosefinSlab-boldItalic.fntdata"/><Relationship Id="rId45" Type="http://schemas.openxmlformats.org/officeDocument/2006/relationships/font" Target="fonts/JosefinSlab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Economica-bold.fntdata"/><Relationship Id="rId47" Type="http://schemas.openxmlformats.org/officeDocument/2006/relationships/font" Target="fonts/Economica-regular.fntdata"/><Relationship Id="rId49" Type="http://schemas.openxmlformats.org/officeDocument/2006/relationships/font" Target="fonts/Economic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regular.fntdata"/><Relationship Id="rId50" Type="http://schemas.openxmlformats.org/officeDocument/2006/relationships/font" Target="fonts/Economica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617d9a2699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617d9a26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47984855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47984855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47984855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47984855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7984855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47984855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47ab619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47ab619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47ab6197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47ab6197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47ab6197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47ab6197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47ab6197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47ab6197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7984855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47984855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47984855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47984855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47984855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47984855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7ab6197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47ab6197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47ab6197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47ab6197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4e76fa86e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4e76fa86e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e76fa86e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e76fa86e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4e76fa86e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4e76fa86e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e76fa86e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4e76fa86e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4e76fa86e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4e76fa86e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4e76fa86e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4e76fa86e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4e76fa86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4e76fa86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e76fa86eb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e76fa86eb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4e76fa86eb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4e76fa86eb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4e76fa86eb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4e76fa86eb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4e76fa86eb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4e76fa86eb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4e76fa86eb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4e76fa86eb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47ab6197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47ab6197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47ab6197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47ab6197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47ab6197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47ab6197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47ab61973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47ab6197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47ab6197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47ab6197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47ab6197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247ab6197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47984855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247984855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47ab6197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47ab6197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47ab61973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47ab61973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47ab6197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47ab6197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47b5856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47b5856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11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11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11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944025"/>
            <a:ext cx="2924400" cy="20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Who Are the Most Important Actors (Vertices) in a Network?</a:t>
            </a:r>
            <a:endParaRPr sz="3400"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25225"/>
            <a:ext cx="496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Vertices connected to most other vertices?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Vertices connected to other vertices that connect to most other vertices?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Vertices that can get to all other vertices in the shortest number of hops (amount of time)?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Vertices that are intermediaries, i.e. vertices that other vertices must go through to get to other vertices?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3700" y="1225226"/>
            <a:ext cx="3567155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What is it?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225225"/>
            <a:ext cx="488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Central</a:t>
            </a:r>
            <a:r>
              <a:rPr lang="en"/>
              <a:t> notion in network analysis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ill-defined conceptually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Intuitively, vertex-level index of </a:t>
            </a:r>
            <a:r>
              <a:rPr i="1" lang="en"/>
              <a:t>prominence</a:t>
            </a:r>
            <a:r>
              <a:rPr lang="en"/>
              <a:t> or </a:t>
            </a:r>
            <a:r>
              <a:rPr i="1" lang="en"/>
              <a:t>importance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Dozens and dozens of centrality have and continue to be proposed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agreement is that centrality is a </a:t>
            </a:r>
            <a:r>
              <a:rPr b="1" lang="en"/>
              <a:t>vertex-level</a:t>
            </a:r>
            <a:r>
              <a:rPr lang="en"/>
              <a:t> construct</a:t>
            </a:r>
            <a:endParaRPr/>
          </a:p>
        </p:txBody>
      </p:sp>
      <p:pic>
        <p:nvPicPr>
          <p:cNvPr descr="Ego_network.png"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925" y="1079425"/>
            <a:ext cx="3759301" cy="3645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What is it?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25225"/>
            <a:ext cx="4768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Plethora of (sometimes inconsistent) substantive interpretations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Autonomy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Control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Risk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Exposure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Influence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Belongingness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Brokerage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Independence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Power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Strategic Location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Ego_network.png"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925" y="1079425"/>
            <a:ext cx="3759301" cy="3645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A coherent or a fuzzy category?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225225"/>
            <a:ext cx="3957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there any </a:t>
            </a:r>
            <a:r>
              <a:rPr b="1" lang="en"/>
              <a:t>criterion</a:t>
            </a:r>
            <a:r>
              <a:rPr lang="en"/>
              <a:t> that is definitional of the notion of a centrality index?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there </a:t>
            </a:r>
            <a:r>
              <a:rPr b="1" lang="en"/>
              <a:t>anything</a:t>
            </a:r>
            <a:r>
              <a:rPr lang="en"/>
              <a:t> that all measures of centrality have in common?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there any </a:t>
            </a:r>
            <a:r>
              <a:rPr b="1" lang="en"/>
              <a:t>structural</a:t>
            </a:r>
            <a:r>
              <a:rPr lang="en"/>
              <a:t> </a:t>
            </a:r>
            <a:r>
              <a:rPr b="1" lang="en"/>
              <a:t>properties</a:t>
            </a:r>
            <a:r>
              <a:rPr lang="en"/>
              <a:t> of a vertex that are not a centrality measure?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676" y="1339614"/>
            <a:ext cx="4101625" cy="3125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Some conceptual issues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25225"/>
            <a:ext cx="530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What Kind of Network do You have?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i="1" lang="en">
                <a:solidFill>
                  <a:srgbClr val="000000"/>
                </a:solidFill>
              </a:rPr>
              <a:t>The same measure means different things in networks defined by different kinds of ties</a:t>
            </a:r>
            <a:endParaRPr i="1"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Role relations (states)</a:t>
            </a:r>
            <a:endParaRPr b="1"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Friends, kin, business partners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Interpersonal sentiments and cognitions</a:t>
            </a:r>
            <a:endParaRPr b="1"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Liking, trusting, acquaintanceship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Behavioral social interactions</a:t>
            </a:r>
            <a:endParaRPr b="1"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Calling, texting, supporting, resource exchange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Opportunity structure for exchange</a:t>
            </a:r>
            <a:endParaRPr b="1"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Structural holes, brokerage, intermediation (non-ties” matter here)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Figure-1-Typology-of-Types-of-Ties-Among-Persons-Studied-in-the-Social-Networks.png" id="100" name="Google Shape;100;p19"/>
          <p:cNvPicPr preferRelativeResize="0"/>
          <p:nvPr/>
        </p:nvPicPr>
        <p:blipFill rotWithShape="1">
          <a:blip r:embed="rId3">
            <a:alphaModFix/>
          </a:blip>
          <a:srcRect b="2136" l="1811" r="1365" t="1645"/>
          <a:stretch/>
        </p:blipFill>
        <p:spPr>
          <a:xfrm>
            <a:off x="5675250" y="1624275"/>
            <a:ext cx="3113175" cy="25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Some conceptual issues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Acquaintanceship</a:t>
            </a:r>
            <a:r>
              <a:rPr lang="en"/>
              <a:t> network: Being connected to connected others is </a:t>
            </a:r>
            <a:r>
              <a:rPr b="1" lang="en"/>
              <a:t>good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Restricted </a:t>
            </a:r>
            <a:r>
              <a:rPr b="1" lang="en"/>
              <a:t>Exchange</a:t>
            </a:r>
            <a:r>
              <a:rPr lang="en"/>
              <a:t> Network: Being connected to connected others is </a:t>
            </a:r>
            <a:r>
              <a:rPr b="1" lang="en"/>
              <a:t>bad</a:t>
            </a:r>
            <a:r>
              <a:rPr lang="en"/>
              <a:t>!</a:t>
            </a:r>
            <a:endParaRPr/>
          </a:p>
        </p:txBody>
      </p:sp>
      <p:pic>
        <p:nvPicPr>
          <p:cNvPr descr="rb365f1.jpg" id="108" name="Google Shape;108;p20"/>
          <p:cNvPicPr preferRelativeResize="0"/>
          <p:nvPr/>
        </p:nvPicPr>
        <p:blipFill rotWithShape="1">
          <a:blip r:embed="rId3">
            <a:alphaModFix/>
          </a:blip>
          <a:srcRect b="16290" l="0" r="43716" t="0"/>
          <a:stretch/>
        </p:blipFill>
        <p:spPr>
          <a:xfrm>
            <a:off x="863924" y="1836975"/>
            <a:ext cx="2895450" cy="274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b365f1.jpg" id="109" name="Google Shape;109;p20"/>
          <p:cNvPicPr preferRelativeResize="0"/>
          <p:nvPr/>
        </p:nvPicPr>
        <p:blipFill rotWithShape="1">
          <a:blip r:embed="rId3">
            <a:alphaModFix/>
          </a:blip>
          <a:srcRect b="16290" l="0" r="43716" t="0"/>
          <a:stretch/>
        </p:blipFill>
        <p:spPr>
          <a:xfrm>
            <a:off x="5384624" y="1836975"/>
            <a:ext cx="2895450" cy="27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Some conceptual issues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Acquaintanceship</a:t>
            </a:r>
            <a:r>
              <a:rPr lang="en"/>
              <a:t> network: Being connected to connected others is </a:t>
            </a:r>
            <a:r>
              <a:rPr b="1" lang="en"/>
              <a:t>good</a:t>
            </a:r>
            <a:r>
              <a:rPr lang="en"/>
              <a:t>!</a:t>
            </a:r>
            <a:endParaRPr/>
          </a:p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Restricted Exchange</a:t>
            </a:r>
            <a:r>
              <a:rPr lang="en"/>
              <a:t> Network: Being connected to connected others is </a:t>
            </a:r>
            <a:r>
              <a:rPr b="1" lang="en"/>
              <a:t>bad</a:t>
            </a:r>
            <a:r>
              <a:rPr lang="en"/>
              <a:t>!</a:t>
            </a:r>
            <a:endParaRPr/>
          </a:p>
        </p:txBody>
      </p:sp>
      <p:pic>
        <p:nvPicPr>
          <p:cNvPr descr="rb365f1.jpg" id="117" name="Google Shape;117;p21"/>
          <p:cNvPicPr preferRelativeResize="0"/>
          <p:nvPr/>
        </p:nvPicPr>
        <p:blipFill rotWithShape="1">
          <a:blip r:embed="rId3">
            <a:alphaModFix/>
          </a:blip>
          <a:srcRect b="16290" l="0" r="43716" t="0"/>
          <a:stretch/>
        </p:blipFill>
        <p:spPr>
          <a:xfrm>
            <a:off x="863924" y="1836975"/>
            <a:ext cx="2895450" cy="274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b365f1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16290" l="68907" r="1963" t="0"/>
          <a:stretch/>
        </p:blipFill>
        <p:spPr>
          <a:xfrm>
            <a:off x="5928338" y="1836975"/>
            <a:ext cx="1498575" cy="27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From network concepts to measures</a:t>
            </a:r>
            <a:endParaRPr/>
          </a:p>
        </p:txBody>
      </p:sp>
      <p:grpSp>
        <p:nvGrpSpPr>
          <p:cNvPr id="124" name="Google Shape;124;p22"/>
          <p:cNvGrpSpPr/>
          <p:nvPr/>
        </p:nvGrpSpPr>
        <p:grpSpPr>
          <a:xfrm>
            <a:off x="628475" y="1427600"/>
            <a:ext cx="7887050" cy="3273300"/>
            <a:chOff x="311700" y="1328725"/>
            <a:chExt cx="7887050" cy="3273300"/>
          </a:xfrm>
        </p:grpSpPr>
        <p:sp>
          <p:nvSpPr>
            <p:cNvPr id="125" name="Google Shape;125;p22"/>
            <p:cNvSpPr/>
            <p:nvPr/>
          </p:nvSpPr>
          <p:spPr>
            <a:xfrm>
              <a:off x="311700" y="1328725"/>
              <a:ext cx="1864500" cy="3273300"/>
            </a:xfrm>
            <a:prstGeom prst="roundRect">
              <a:avLst>
                <a:gd fmla="val 16667" name="adj"/>
              </a:avLst>
            </a:prstGeom>
            <a:solidFill>
              <a:srgbClr val="CCA67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</a:rPr>
                <a:t>Some notion of prominence, importance, brokerage, being “in the middle of things,” being in a favorable exchange position, etc.</a:t>
              </a:r>
              <a:endParaRPr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2786412" y="1328725"/>
              <a:ext cx="1864500" cy="3273300"/>
            </a:xfrm>
            <a:prstGeom prst="roundRect">
              <a:avLst>
                <a:gd fmla="val 16667" name="adj"/>
              </a:avLst>
            </a:prstGeom>
            <a:solidFill>
              <a:srgbClr val="CCA67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</a:rPr>
                <a:t>Translate the concept from natural language to the “language” of graph theory to develop a </a:t>
              </a:r>
              <a:r>
                <a:rPr b="1" lang="en" sz="1600">
                  <a:solidFill>
                    <a:srgbClr val="FFFFFF"/>
                  </a:solidFill>
                </a:rPr>
                <a:t>graph-theoretic concept</a:t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(</a:t>
              </a:r>
              <a:r>
                <a:rPr lang="en" sz="1600">
                  <a:solidFill>
                    <a:srgbClr val="FFFFFF"/>
                  </a:solidFill>
                </a:rPr>
                <a:t>e.g. points and lines)</a:t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5261125" y="1328725"/>
              <a:ext cx="1864500" cy="3273300"/>
            </a:xfrm>
            <a:prstGeom prst="roundRect">
              <a:avLst>
                <a:gd fmla="val 16667" name="adj"/>
              </a:avLst>
            </a:prstGeom>
            <a:solidFill>
              <a:srgbClr val="CCA67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</a:rPr>
                <a:t>Link the graph-theoretic concept to matrix algebra to develop a</a:t>
              </a:r>
              <a:r>
                <a:rPr b="1" lang="en">
                  <a:solidFill>
                    <a:srgbClr val="FFFFFF"/>
                  </a:solidFill>
                </a:rPr>
                <a:t> measure</a:t>
              </a:r>
              <a:r>
                <a:rPr lang="en">
                  <a:solidFill>
                    <a:srgbClr val="FFFFFF"/>
                  </a:solidFill>
                </a:rPr>
                <a:t> of the network-theoretic concept (e.g. matrix operations)</a:t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</a:rPr>
                <a:t>Result: A </a:t>
              </a:r>
              <a:r>
                <a:rPr b="1" lang="en">
                  <a:solidFill>
                    <a:srgbClr val="FFFFFF"/>
                  </a:solidFill>
                </a:rPr>
                <a:t>ranking</a:t>
              </a:r>
              <a:r>
                <a:rPr lang="en">
                  <a:solidFill>
                    <a:srgbClr val="FFFFFF"/>
                  </a:solidFill>
                </a:rPr>
                <a:t> of the nodes in the network</a:t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28" name="Google Shape;128;p22"/>
            <p:cNvCxnSpPr>
              <a:stCxn id="125" idx="3"/>
              <a:endCxn id="126" idx="1"/>
            </p:cNvCxnSpPr>
            <p:nvPr/>
          </p:nvCxnSpPr>
          <p:spPr>
            <a:xfrm>
              <a:off x="2176200" y="2965375"/>
              <a:ext cx="610200" cy="0"/>
            </a:xfrm>
            <a:prstGeom prst="straightConnector1">
              <a:avLst/>
            </a:prstGeom>
            <a:noFill/>
            <a:ln cap="flat" cmpd="sng" w="38100">
              <a:solidFill>
                <a:srgbClr val="B7B7B7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9" name="Google Shape;129;p22"/>
            <p:cNvCxnSpPr>
              <a:stCxn id="126" idx="3"/>
              <a:endCxn id="127" idx="1"/>
            </p:cNvCxnSpPr>
            <p:nvPr/>
          </p:nvCxnSpPr>
          <p:spPr>
            <a:xfrm>
              <a:off x="4650912" y="2965375"/>
              <a:ext cx="610200" cy="0"/>
            </a:xfrm>
            <a:prstGeom prst="straightConnector1">
              <a:avLst/>
            </a:prstGeom>
            <a:noFill/>
            <a:ln cap="flat" cmpd="sng" w="38100">
              <a:solidFill>
                <a:srgbClr val="B7B7B7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0" name="Google Shape;130;p22"/>
            <p:cNvCxnSpPr>
              <a:stCxn id="127" idx="3"/>
              <a:endCxn id="131" idx="1"/>
            </p:cNvCxnSpPr>
            <p:nvPr/>
          </p:nvCxnSpPr>
          <p:spPr>
            <a:xfrm>
              <a:off x="7125625" y="2965375"/>
              <a:ext cx="610200" cy="0"/>
            </a:xfrm>
            <a:prstGeom prst="straightConnector1">
              <a:avLst/>
            </a:prstGeom>
            <a:noFill/>
            <a:ln cap="flat" cmpd="sng" w="38100">
              <a:solidFill>
                <a:srgbClr val="B7B7B7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1" name="Google Shape;131;p22"/>
            <p:cNvSpPr/>
            <p:nvPr/>
          </p:nvSpPr>
          <p:spPr>
            <a:xfrm>
              <a:off x="7735850" y="1328725"/>
              <a:ext cx="462900" cy="3273300"/>
            </a:xfrm>
            <a:prstGeom prst="roundRect">
              <a:avLst>
                <a:gd fmla="val 16667" name="adj"/>
              </a:avLst>
            </a:prstGeom>
            <a:solidFill>
              <a:srgbClr val="CCA67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V</a:t>
              </a:r>
              <a:r>
                <a:rPr b="1" baseline="-25000" lang="en" sz="1600">
                  <a:solidFill>
                    <a:srgbClr val="FFFFFF"/>
                  </a:solidFill>
                </a:rPr>
                <a:t>1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V</a:t>
              </a:r>
              <a:r>
                <a:rPr b="1" baseline="-25000" lang="en" sz="1600">
                  <a:solidFill>
                    <a:srgbClr val="FFFFFF"/>
                  </a:solidFill>
                </a:rPr>
                <a:t>2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V</a:t>
              </a:r>
              <a:r>
                <a:rPr b="1" baseline="-25000" lang="en" sz="1600">
                  <a:solidFill>
                    <a:srgbClr val="FFFFFF"/>
                  </a:solidFill>
                </a:rPr>
                <a:t>3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V</a:t>
              </a:r>
              <a:r>
                <a:rPr b="1" baseline="-25000" lang="en" sz="1600">
                  <a:solidFill>
                    <a:srgbClr val="FFFFFF"/>
                  </a:solidFill>
                </a:rPr>
                <a:t>n</a:t>
              </a:r>
              <a:endParaRPr b="1" baseline="-25000" sz="16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C</a:t>
            </a:r>
            <a:r>
              <a:rPr baseline="-25000" lang="en"/>
              <a:t>d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225225"/>
            <a:ext cx="3957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(local) centrality measure to compute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</a:t>
            </a:r>
            <a:r>
              <a:rPr b="1" lang="en"/>
              <a:t>criterion</a:t>
            </a:r>
            <a:r>
              <a:rPr lang="en"/>
              <a:t> and </a:t>
            </a:r>
            <a:r>
              <a:rPr b="1" lang="en"/>
              <a:t>face</a:t>
            </a:r>
            <a:r>
              <a:rPr lang="en"/>
              <a:t> validity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undirected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by the row </a:t>
            </a:r>
            <a:r>
              <a:rPr b="1" lang="en"/>
              <a:t>or</a:t>
            </a:r>
            <a:r>
              <a:rPr lang="en"/>
              <a:t> column sum vector of corresponding </a:t>
            </a:r>
            <a:r>
              <a:rPr b="1" lang="en"/>
              <a:t>adjacency</a:t>
            </a:r>
            <a:r>
              <a:rPr b="1" lang="en"/>
              <a:t>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Outdegree</a:t>
            </a:r>
            <a:r>
              <a:rPr lang="en"/>
              <a:t> given by the </a:t>
            </a:r>
            <a:r>
              <a:rPr b="1" lang="en"/>
              <a:t>row</a:t>
            </a:r>
            <a:r>
              <a:rPr lang="en"/>
              <a:t> sum vector of </a:t>
            </a:r>
            <a:r>
              <a:rPr lang="en"/>
              <a:t>corresponding </a:t>
            </a:r>
            <a:r>
              <a:rPr b="1" lang="en"/>
              <a:t>adjacency matrix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400" y="1147227"/>
            <a:ext cx="2844950" cy="9682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23"/>
          <p:cNvGrpSpPr/>
          <p:nvPr/>
        </p:nvGrpSpPr>
        <p:grpSpPr>
          <a:xfrm>
            <a:off x="5540188" y="2115475"/>
            <a:ext cx="2275376" cy="2330277"/>
            <a:chOff x="5696479" y="-756195"/>
            <a:chExt cx="2794272" cy="2821158"/>
          </a:xfrm>
        </p:grpSpPr>
        <p:pic>
          <p:nvPicPr>
            <p:cNvPr descr="Node+degree+from+matrix+values.jpg" id="140" name="Google Shape;140;p23"/>
            <p:cNvPicPr preferRelativeResize="0"/>
            <p:nvPr/>
          </p:nvPicPr>
          <p:blipFill rotWithShape="1">
            <a:blip r:embed="rId4">
              <a:alphaModFix/>
            </a:blip>
            <a:srcRect b="63726" l="8696" r="64375" t="22123"/>
            <a:stretch/>
          </p:blipFill>
          <p:spPr>
            <a:xfrm>
              <a:off x="5938097" y="1261998"/>
              <a:ext cx="2037547" cy="8029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Node+degree+from+matrix+values.jpg" id="141" name="Google Shape;141;p23"/>
            <p:cNvPicPr preferRelativeResize="0"/>
            <p:nvPr/>
          </p:nvPicPr>
          <p:blipFill rotWithShape="1">
            <a:blip r:embed="rId4">
              <a:alphaModFix/>
            </a:blip>
            <a:srcRect b="48916" l="58856" r="4214" t="17310"/>
            <a:stretch/>
          </p:blipFill>
          <p:spPr>
            <a:xfrm>
              <a:off x="5696479" y="-756195"/>
              <a:ext cx="2794272" cy="19166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Radial centralities: Degree C</a:t>
            </a:r>
            <a:r>
              <a:rPr baseline="-25000" lang="en"/>
              <a:t>d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11700" y="1225225"/>
            <a:ext cx="3957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(local) centrality measure to compute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</a:t>
            </a:r>
            <a:r>
              <a:rPr b="1" lang="en"/>
              <a:t>criterion</a:t>
            </a:r>
            <a:r>
              <a:rPr lang="en"/>
              <a:t> and </a:t>
            </a:r>
            <a:r>
              <a:rPr b="1" lang="en"/>
              <a:t>face</a:t>
            </a:r>
            <a:r>
              <a:rPr lang="en"/>
              <a:t> validity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undirected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by the row </a:t>
            </a:r>
            <a:r>
              <a:rPr b="1" lang="en"/>
              <a:t>or</a:t>
            </a:r>
            <a:r>
              <a:rPr lang="en"/>
              <a:t> column sum vector of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Outdegree</a:t>
            </a:r>
            <a:r>
              <a:rPr lang="en"/>
              <a:t> given by the </a:t>
            </a:r>
            <a:r>
              <a:rPr b="1" lang="en"/>
              <a:t>row</a:t>
            </a:r>
            <a:r>
              <a:rPr lang="en"/>
              <a:t> sum vector of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Indegree</a:t>
            </a:r>
            <a:r>
              <a:rPr lang="en"/>
              <a:t> given by the </a:t>
            </a:r>
            <a:r>
              <a:rPr b="1" lang="en"/>
              <a:t>column</a:t>
            </a:r>
            <a:r>
              <a:rPr lang="en"/>
              <a:t> sum vector of matrix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400" y="1147227"/>
            <a:ext cx="2844950" cy="9682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24"/>
          <p:cNvGrpSpPr/>
          <p:nvPr/>
        </p:nvGrpSpPr>
        <p:grpSpPr>
          <a:xfrm>
            <a:off x="4994047" y="2115475"/>
            <a:ext cx="2844954" cy="2278895"/>
            <a:chOff x="5088975" y="1387722"/>
            <a:chExt cx="3493742" cy="2758953"/>
          </a:xfrm>
        </p:grpSpPr>
        <p:pic>
          <p:nvPicPr>
            <p:cNvPr descr="Node+degree+from+matrix+values.jpg" id="150" name="Google Shape;150;p24"/>
            <p:cNvPicPr preferRelativeResize="0"/>
            <p:nvPr/>
          </p:nvPicPr>
          <p:blipFill rotWithShape="1">
            <a:blip r:embed="rId4">
              <a:alphaModFix/>
            </a:blip>
            <a:srcRect b="27043" l="8775" r="64077" t="59133"/>
            <a:stretch/>
          </p:blipFill>
          <p:spPr>
            <a:xfrm>
              <a:off x="5944250" y="3362200"/>
              <a:ext cx="2054150" cy="7844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" name="Google Shape;151;p24"/>
            <p:cNvGrpSpPr/>
            <p:nvPr/>
          </p:nvGrpSpPr>
          <p:grpSpPr>
            <a:xfrm>
              <a:off x="5088975" y="1387722"/>
              <a:ext cx="3493742" cy="1974485"/>
              <a:chOff x="5088975" y="1387722"/>
              <a:chExt cx="3493742" cy="1974485"/>
            </a:xfrm>
          </p:grpSpPr>
          <p:pic>
            <p:nvPicPr>
              <p:cNvPr descr="Node+degree+from+matrix+values.jpg" id="152" name="Google Shape;152;p24"/>
              <p:cNvPicPr preferRelativeResize="0"/>
              <p:nvPr/>
            </p:nvPicPr>
            <p:blipFill rotWithShape="1">
              <a:blip r:embed="rId4">
                <a:alphaModFix/>
              </a:blip>
              <a:srcRect b="10108" l="58865" r="2987" t="55096"/>
              <a:stretch/>
            </p:blipFill>
            <p:spPr>
              <a:xfrm>
                <a:off x="5696465" y="1387722"/>
                <a:ext cx="2886252" cy="19744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" name="Google Shape;153;p24"/>
              <p:cNvSpPr txBox="1"/>
              <p:nvPr/>
            </p:nvSpPr>
            <p:spPr>
              <a:xfrm>
                <a:off x="5088975" y="2632225"/>
                <a:ext cx="607500" cy="404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 and Paths (again)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11700" y="1225225"/>
            <a:ext cx="8457300" cy="22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walk</a:t>
            </a:r>
            <a:r>
              <a:rPr lang="en"/>
              <a:t> is an alternating </a:t>
            </a:r>
            <a:r>
              <a:rPr b="1" lang="en"/>
              <a:t>sequence</a:t>
            </a:r>
            <a:r>
              <a:rPr lang="en"/>
              <a:t>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...u</a:t>
            </a:r>
            <a:r>
              <a:rPr baseline="-25000" lang="en"/>
              <a:t>m</a:t>
            </a:r>
            <a:r>
              <a:rPr lang="en"/>
              <a:t>, e</a:t>
            </a:r>
            <a:r>
              <a:rPr baseline="-25000" lang="en"/>
              <a:t>mn</a:t>
            </a:r>
            <a:r>
              <a:rPr lang="en"/>
              <a:t>, </a:t>
            </a:r>
            <a:r>
              <a:rPr lang="en"/>
              <a:t>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an edge linking each successive vertex in the sequence (excluding the origin and destination vertices)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GF5.png"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788" y="3461125"/>
            <a:ext cx="4835125" cy="12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 and Paths (again)</a:t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11700" y="1225225"/>
            <a:ext cx="8457300" cy="22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walk</a:t>
            </a:r>
            <a:r>
              <a:rPr lang="en"/>
              <a:t> is an alternating </a:t>
            </a:r>
            <a:r>
              <a:rPr b="1" lang="en"/>
              <a:t>sequence</a:t>
            </a:r>
            <a:r>
              <a:rPr lang="en"/>
              <a:t>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...u</a:t>
            </a:r>
            <a:r>
              <a:rPr baseline="-25000" lang="en"/>
              <a:t>m</a:t>
            </a:r>
            <a:r>
              <a:rPr lang="en"/>
              <a:t>, e</a:t>
            </a:r>
            <a:r>
              <a:rPr baseline="-25000" lang="en"/>
              <a:t>mn</a:t>
            </a:r>
            <a:r>
              <a:rPr lang="en"/>
              <a:t>, 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an edge linking each successive vertex in the sequence (excluding the origin and destination vertices)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cycle </a:t>
            </a:r>
            <a:r>
              <a:rPr lang="en"/>
              <a:t>is a path the begins and ends with the same vertex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GF5.png"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788" y="3461125"/>
            <a:ext cx="4835125" cy="12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 and Paths (again)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311700" y="1225225"/>
            <a:ext cx="8457300" cy="22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walk</a:t>
            </a:r>
            <a:r>
              <a:rPr lang="en"/>
              <a:t> is an alternating </a:t>
            </a:r>
            <a:r>
              <a:rPr b="1" lang="en"/>
              <a:t>sequence</a:t>
            </a:r>
            <a:r>
              <a:rPr lang="en"/>
              <a:t>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...u</a:t>
            </a:r>
            <a:r>
              <a:rPr baseline="-25000" lang="en"/>
              <a:t>m</a:t>
            </a:r>
            <a:r>
              <a:rPr lang="en"/>
              <a:t>, e</a:t>
            </a:r>
            <a:r>
              <a:rPr baseline="-25000" lang="en"/>
              <a:t>mn</a:t>
            </a:r>
            <a:r>
              <a:rPr lang="en"/>
              <a:t>, 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an edge linking each successive vertex in the sequence (excluding the origin and destination vertices)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shortest</a:t>
            </a:r>
            <a:r>
              <a:rPr b="1" lang="en"/>
              <a:t> path</a:t>
            </a:r>
            <a:r>
              <a:rPr lang="en"/>
              <a:t> between two vertices is the path with the smallest length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GF5.png" id="174" name="Google Shape;17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788" y="3461125"/>
            <a:ext cx="4835125" cy="12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311325" y="1225225"/>
            <a:ext cx="8520600" cy="19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Matrices: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Two-dimensional array of numbers: Row dimension and column dimension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kinds of matrix multiplication: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Element-wise matrix multiplication, also known as the Hadamard product (￮)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defined for matrices with the same row and column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multiplication proper (✕)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defined for </a:t>
            </a:r>
            <a:r>
              <a:rPr b="1" lang="en"/>
              <a:t>conformable</a:t>
            </a:r>
            <a:r>
              <a:rPr lang="en"/>
              <a:t> matrices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1" name="Google Shape;181;p28"/>
          <p:cNvGraphicFramePr/>
          <p:nvPr/>
        </p:nvGraphicFramePr>
        <p:xfrm>
          <a:off x="1730250" y="3355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82" name="Google Shape;182;p28"/>
          <p:cNvSpPr/>
          <p:nvPr/>
        </p:nvSpPr>
        <p:spPr>
          <a:xfrm>
            <a:off x="3210375" y="38320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3" name="Google Shape;183;p28"/>
          <p:cNvGraphicFramePr/>
          <p:nvPr/>
        </p:nvGraphicFramePr>
        <p:xfrm>
          <a:off x="35740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84" name="Google Shape;184;p28"/>
          <p:cNvGraphicFramePr/>
          <p:nvPr/>
        </p:nvGraphicFramePr>
        <p:xfrm>
          <a:off x="607470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85" name="Google Shape;185;p28"/>
          <p:cNvSpPr/>
          <p:nvPr/>
        </p:nvSpPr>
        <p:spPr>
          <a:xfrm>
            <a:off x="5182200" y="3700375"/>
            <a:ext cx="623400" cy="3897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"/>
          <p:cNvSpPr txBox="1"/>
          <p:nvPr/>
        </p:nvSpPr>
        <p:spPr>
          <a:xfrm>
            <a:off x="2199375" y="459797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4043175" y="456182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 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6543825" y="45377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\circ B = (a_{ij} \times b_{ij})" id="189" name="Google Shape;189;p2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7712" y="2773975"/>
            <a:ext cx="3114024" cy="4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96" name="Google Shape;196;p29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9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00" name="Google Shape;200;p29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1" name="Google Shape;201;p29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2" name="Google Shape;202;p29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04" name="Google Shape;204;p29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5" name="Google Shape;205;p29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6" name="Google Shape;206;p29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29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9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9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6337575" y="1954363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19" name="Google Shape;219;p30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23" name="Google Shape;223;p30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4" name="Google Shape;224;p30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5" name="Google Shape;225;p30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27" name="Google Shape;227;p30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8" name="Google Shape;228;p30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9" name="Google Shape;229;p30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30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</a:t>
            </a: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7" name="Google Shape;237;p30"/>
          <p:cNvCxnSpPr>
            <a:stCxn id="236" idx="1"/>
            <a:endCxn id="222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30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9" name="Google Shape;239;p30"/>
          <p:cNvCxnSpPr>
            <a:stCxn id="238" idx="3"/>
            <a:endCxn id="235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46" name="Google Shape;246;p31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50" name="Google Shape;250;p31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51" name="Google Shape;251;p31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2" name="Google Shape;252;p31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p31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54" name="Google Shape;254;p31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55" name="Google Shape;255;p31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{6EBA8764-4E55-43E3-B133-85B2EF4AEF58}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6" name="Google Shape;256;p31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31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31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1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1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4" name="Google Shape;264;p31"/>
          <p:cNvCxnSpPr>
            <a:stCxn id="263" idx="1"/>
            <a:endCxn id="249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31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6" name="Google Shape;266;p31"/>
          <p:cNvCxnSpPr>
            <a:stCxn id="265" idx="3"/>
            <a:endCxn id="262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67" name="Google Shape;26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75" name="Google Shape;275;p32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2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32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9" name="Google Shape;279;p32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2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2" name="Google Shape;282;p32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32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4" name="Google Shape;284;p32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5" name="Google Shape;285;p32"/>
          <p:cNvCxnSpPr>
            <a:stCxn id="284" idx="1"/>
            <a:endCxn id="278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32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7" name="Google Shape;287;p32"/>
          <p:cNvCxnSpPr>
            <a:stCxn id="286" idx="3"/>
            <a:endCxn id="283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" name="Google Shape;288;p32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 you can </a:t>
            </a:r>
            <a:r>
              <a:rPr lang="en"/>
              <a:t>multiply</a:t>
            </a:r>
            <a:r>
              <a:rPr lang="en"/>
              <a:t> any A</a:t>
            </a:r>
            <a:r>
              <a:rPr baseline="-25000" lang="en"/>
              <a:t>m x n</a:t>
            </a:r>
            <a:r>
              <a:rPr lang="en"/>
              <a:t> matrix </a:t>
            </a:r>
            <a:r>
              <a:rPr b="1" lang="en" sz="2200"/>
              <a:t>✕ </a:t>
            </a:r>
            <a:r>
              <a:rPr lang="en"/>
              <a:t>any B </a:t>
            </a:r>
            <a:r>
              <a:rPr baseline="-25000" lang="en"/>
              <a:t>q x p</a:t>
            </a:r>
            <a:r>
              <a:rPr lang="en"/>
              <a:t>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</a:t>
            </a:r>
            <a:r>
              <a:rPr lang="en"/>
              <a:t>o long as n =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doesn’t matter what the values of the outer dimensions is</a:t>
            </a:r>
            <a:endParaRPr/>
          </a:p>
        </p:txBody>
      </p:sp>
      <p:pic>
        <p:nvPicPr>
          <p:cNvPr id="289" name="Google Shape;2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/>
          <p:nvPr/>
        </p:nvSpPr>
        <p:spPr>
          <a:xfrm rot="-5334278">
            <a:off x="5284792" y="1812913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97" name="Google Shape;297;p33"/>
          <p:cNvSpPr/>
          <p:nvPr/>
        </p:nvSpPr>
        <p:spPr>
          <a:xfrm rot="-5345394">
            <a:off x="1204691" y="1585129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3"/>
          <p:cNvSpPr txBox="1"/>
          <p:nvPr/>
        </p:nvSpPr>
        <p:spPr>
          <a:xfrm>
            <a:off x="311709" y="124812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= C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solidFill>
                  <a:srgbClr val="257E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33"/>
          <p:cNvSpPr txBox="1"/>
          <p:nvPr/>
        </p:nvSpPr>
        <p:spPr>
          <a:xfrm>
            <a:off x="4924209" y="1248116"/>
            <a:ext cx="39081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✕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  = Not defined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p33"/>
          <p:cNvSpPr/>
          <p:nvPr/>
        </p:nvSpPr>
        <p:spPr>
          <a:xfrm rot="-5344964">
            <a:off x="5853696" y="1599388"/>
            <a:ext cx="449758" cy="732389"/>
          </a:xfrm>
          <a:prstGeom prst="leftBrace">
            <a:avLst>
              <a:gd fmla="val 8333" name="adj1"/>
              <a:gd fmla="val 5181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3"/>
          <p:cNvSpPr txBox="1"/>
          <p:nvPr/>
        </p:nvSpPr>
        <p:spPr>
          <a:xfrm>
            <a:off x="5482925" y="2156100"/>
            <a:ext cx="124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02" name="Google Shape;302;p33"/>
          <p:cNvSpPr txBox="1"/>
          <p:nvPr/>
        </p:nvSpPr>
        <p:spPr>
          <a:xfrm>
            <a:off x="731175" y="2156113"/>
            <a:ext cx="1324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03" name="Google Shape;303;p33"/>
          <p:cNvSpPr txBox="1"/>
          <p:nvPr/>
        </p:nvSpPr>
        <p:spPr>
          <a:xfrm>
            <a:off x="5068925" y="3226200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04" name="Google Shape;304;p33"/>
          <p:cNvSpPr/>
          <p:nvPr/>
        </p:nvSpPr>
        <p:spPr>
          <a:xfrm rot="-5334278">
            <a:off x="663842" y="1812925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3"/>
          <p:cNvSpPr txBox="1"/>
          <p:nvPr/>
        </p:nvSpPr>
        <p:spPr>
          <a:xfrm>
            <a:off x="447975" y="3226213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06" name="Google Shape;306;p33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outer dimensions determine the dimensions of the resulting matrix s</a:t>
            </a:r>
            <a:r>
              <a:rPr lang="en"/>
              <a:t>uch that </a:t>
            </a:r>
            <a:r>
              <a:rPr b="1" lang="en"/>
              <a:t>A</a:t>
            </a:r>
            <a:r>
              <a:rPr b="1" baseline="-25000" lang="en"/>
              <a:t>m x n</a:t>
            </a:r>
            <a:r>
              <a:rPr b="1" lang="en"/>
              <a:t> ✕  B </a:t>
            </a:r>
            <a:r>
              <a:rPr b="1" baseline="-25000" lang="en"/>
              <a:t>q x p</a:t>
            </a:r>
            <a:r>
              <a:rPr b="1" lang="en"/>
              <a:t> = C </a:t>
            </a:r>
            <a:r>
              <a:rPr b="1" baseline="-25000" lang="en"/>
              <a:t>m x p</a:t>
            </a:r>
            <a:endParaRPr b="1" baseline="-25000"/>
          </a:p>
        </p:txBody>
      </p:sp>
      <p:sp>
        <p:nvSpPr>
          <p:cNvPr id="307" name="Google Shape;307;p33"/>
          <p:cNvSpPr txBox="1"/>
          <p:nvPr/>
        </p:nvSpPr>
        <p:spPr>
          <a:xfrm>
            <a:off x="2286600" y="2393400"/>
            <a:ext cx="19836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Product matrix C is 3 X 4 same as the outer dimensions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08" name="Google Shape;308;p33"/>
          <p:cNvCxnSpPr>
            <a:stCxn id="307" idx="0"/>
          </p:cNvCxnSpPr>
          <p:nvPr/>
        </p:nvCxnSpPr>
        <p:spPr>
          <a:xfrm rot="10800000">
            <a:off x="2910000" y="1770300"/>
            <a:ext cx="368400" cy="623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14" name="Google Shape;3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5" name="Google Shape;315;p34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{698552B3-5C6C-456B-9070-3C2D97D08B27}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6" name="Google Shape;316;p34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317" name="Google Shape;317;p34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{698552B3-5C6C-456B-9070-3C2D97D08B27}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8" name="Google Shape;318;p34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19" name="Google Shape;319;p34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34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21" name="Google Shape;321;p34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{698552B3-5C6C-456B-9070-3C2D97D08B27}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2" name="Google Shape;322;p34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34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4"/>
          <p:cNvSpPr txBox="1"/>
          <p:nvPr/>
        </p:nvSpPr>
        <p:spPr>
          <a:xfrm>
            <a:off x="460775" y="2905750"/>
            <a:ext cx="39411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does it work?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For A X B: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The ij cell of the resulting matrix is given by the sum of the product of the corresponding cells of row i in A and column j of B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30" name="Google Shape;33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1" name="Google Shape;331;p35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{698552B3-5C6C-456B-9070-3C2D97D08B27}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2" name="Google Shape;332;p35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333" name="Google Shape;333;p35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{698552B3-5C6C-456B-9070-3C2D97D08B27}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p35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35" name="Google Shape;335;p35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6" name="Google Shape;336;p35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37" name="Google Shape;337;p35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{698552B3-5C6C-456B-9070-3C2D97D08B27}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8" name="Google Shape;338;p35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9" name="Google Shape;339;p35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340" name="Google Shape;34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46" name="Google Shape;3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7" name="Google Shape;347;p36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{698552B3-5C6C-456B-9070-3C2D97D08B27}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8" name="Google Shape;348;p36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349" name="Google Shape;349;p36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{698552B3-5C6C-456B-9070-3C2D97D08B27}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0" name="Google Shape;350;p36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51" name="Google Shape;351;p36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36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53" name="Google Shape;353;p36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{698552B3-5C6C-456B-9070-3C2D97D08B27}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4" name="Google Shape;354;p36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5" name="Google Shape;355;p36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356" name="Google Shape;35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6"/>
          <p:cNvSpPr/>
          <p:nvPr/>
        </p:nvSpPr>
        <p:spPr>
          <a:xfrm>
            <a:off x="3244050" y="3083875"/>
            <a:ext cx="445200" cy="423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6"/>
          <p:cNvSpPr txBox="1"/>
          <p:nvPr/>
        </p:nvSpPr>
        <p:spPr>
          <a:xfrm>
            <a:off x="322175" y="2605150"/>
            <a:ext cx="26880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(1 * 2) + (2 * 1) = 4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59" name="Google Shape;359;p36"/>
          <p:cNvCxnSpPr>
            <a:stCxn id="358" idx="3"/>
            <a:endCxn id="357" idx="1"/>
          </p:cNvCxnSpPr>
          <p:nvPr/>
        </p:nvCxnSpPr>
        <p:spPr>
          <a:xfrm>
            <a:off x="3010175" y="2804200"/>
            <a:ext cx="299100" cy="34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0" name="Google Shape;360;p36"/>
          <p:cNvSpPr txBox="1"/>
          <p:nvPr/>
        </p:nvSpPr>
        <p:spPr>
          <a:xfrm>
            <a:off x="7562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19875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3409075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68" name="Google Shape;36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9" name="Google Shape;369;p37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{698552B3-5C6C-456B-9070-3C2D97D08B27}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0" name="Google Shape;370;p37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371" name="Google Shape;371;p37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{698552B3-5C6C-456B-9070-3C2D97D08B27}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2" name="Google Shape;372;p37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73" name="Google Shape;373;p37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p37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75" name="Google Shape;375;p37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{698552B3-5C6C-456B-9070-3C2D97D08B27}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6" name="Google Shape;376;p37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37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378" name="Google Shape;37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7"/>
          <p:cNvSpPr/>
          <p:nvPr/>
        </p:nvSpPr>
        <p:spPr>
          <a:xfrm>
            <a:off x="3244050" y="3429000"/>
            <a:ext cx="445200" cy="423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7"/>
          <p:cNvSpPr txBox="1"/>
          <p:nvPr/>
        </p:nvSpPr>
        <p:spPr>
          <a:xfrm>
            <a:off x="82250" y="2598288"/>
            <a:ext cx="28611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(3 * 2) + (4 * 1) = 10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81" name="Google Shape;381;p37"/>
          <p:cNvCxnSpPr>
            <a:stCxn id="380" idx="3"/>
            <a:endCxn id="379" idx="1"/>
          </p:cNvCxnSpPr>
          <p:nvPr/>
        </p:nvCxnSpPr>
        <p:spPr>
          <a:xfrm>
            <a:off x="2943350" y="2797338"/>
            <a:ext cx="366000" cy="69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2" name="Google Shape;382;p37"/>
          <p:cNvSpPr txBox="1"/>
          <p:nvPr/>
        </p:nvSpPr>
        <p:spPr>
          <a:xfrm>
            <a:off x="7562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37"/>
          <p:cNvSpPr txBox="1"/>
          <p:nvPr/>
        </p:nvSpPr>
        <p:spPr>
          <a:xfrm>
            <a:off x="19875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4" name="Google Shape;384;p37"/>
          <p:cNvSpPr txBox="1"/>
          <p:nvPr/>
        </p:nvSpPr>
        <p:spPr>
          <a:xfrm>
            <a:off x="3409075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90" name="Google Shape;39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8"/>
          <p:cNvSpPr txBox="1"/>
          <p:nvPr>
            <p:ph idx="1" type="body"/>
          </p:nvPr>
        </p:nvSpPr>
        <p:spPr>
          <a:xfrm>
            <a:off x="311700" y="1225225"/>
            <a:ext cx="4557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matrix multiplication: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commutative!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B ≠ B X A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B </a:t>
            </a:r>
            <a:r>
              <a:rPr lang="en"/>
              <a:t>can be defined but the reverse is no the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Associative: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(A X B) X C = A X (B X 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Distributive over addition: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(B + C) = (A X B) + (A X C)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97" name="Google Shape;39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9"/>
          <p:cNvSpPr txBox="1"/>
          <p:nvPr>
            <p:ph idx="1" type="body"/>
          </p:nvPr>
        </p:nvSpPr>
        <p:spPr>
          <a:xfrm>
            <a:off x="311700" y="1225225"/>
            <a:ext cx="4557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matrix multiplication: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Square matrices of the same dimension can always be multiplied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square matrix</a:t>
            </a:r>
            <a:r>
              <a:rPr lang="en"/>
              <a:t> is one in which the row and column dimensions are of the same size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</a:t>
            </a:r>
            <a:r>
              <a:rPr b="1" lang="en"/>
              <a:t>adjacency matrices</a:t>
            </a:r>
            <a:r>
              <a:rPr lang="en"/>
              <a:t> are square matrices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take matrix powers by self-multiplication: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2</a:t>
            </a:r>
            <a:r>
              <a:rPr b="1" lang="en"/>
              <a:t> = A X A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3</a:t>
            </a:r>
            <a:r>
              <a:rPr b="1" lang="en"/>
              <a:t> = A X A X A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k</a:t>
            </a:r>
            <a:r>
              <a:rPr b="1" lang="en"/>
              <a:t> = A X A X A ....(k times) 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Powers</a:t>
            </a:r>
            <a:endParaRPr/>
          </a:p>
        </p:txBody>
      </p:sp>
      <p:sp>
        <p:nvSpPr>
          <p:cNvPr id="404" name="Google Shape;404;p40"/>
          <p:cNvSpPr txBox="1"/>
          <p:nvPr>
            <p:ph idx="1" type="body"/>
          </p:nvPr>
        </p:nvSpPr>
        <p:spPr>
          <a:xfrm>
            <a:off x="311700" y="1225225"/>
            <a:ext cx="8520600" cy="14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Why do we care about matrix multiplication?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we represent a graph using </a:t>
            </a:r>
            <a:r>
              <a:rPr lang="en"/>
              <a:t>adjacency</a:t>
            </a:r>
            <a:r>
              <a:rPr lang="en"/>
              <a:t> matrix A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Taking n</a:t>
            </a:r>
            <a:r>
              <a:rPr baseline="30000" lang="en"/>
              <a:t>th</a:t>
            </a:r>
            <a:r>
              <a:rPr lang="en"/>
              <a:t> power of the </a:t>
            </a:r>
            <a:r>
              <a:rPr lang="en"/>
              <a:t>adjacency</a:t>
            </a:r>
            <a:r>
              <a:rPr lang="en"/>
              <a:t> matrix gives us the number of paths of length n connecting each vertex to one another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basis of most “path-length” measures of centrality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05" name="Google Shape;405;p40"/>
          <p:cNvPicPr preferRelativeResize="0"/>
          <p:nvPr/>
        </p:nvPicPr>
        <p:blipFill rotWithShape="1">
          <a:blip r:embed="rId3">
            <a:alphaModFix/>
          </a:blip>
          <a:srcRect b="10427" l="2468" r="3688" t="25725"/>
          <a:stretch/>
        </p:blipFill>
        <p:spPr>
          <a:xfrm>
            <a:off x="2742563" y="2711924"/>
            <a:ext cx="3658874" cy="18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typology of centrality measures </a:t>
            </a:r>
            <a:endParaRPr/>
          </a:p>
        </p:txBody>
      </p:sp>
      <p:sp>
        <p:nvSpPr>
          <p:cNvPr id="411" name="Google Shape;411;p41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Centrality measures appear to cluster around some key dimensions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they all have in common is that: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all somehow index the </a:t>
            </a:r>
            <a:r>
              <a:rPr b="1" lang="en"/>
              <a:t>importance</a:t>
            </a:r>
            <a:r>
              <a:rPr lang="en"/>
              <a:t> of the vertex in the </a:t>
            </a:r>
            <a:r>
              <a:rPr b="1" lang="en"/>
              <a:t>walk structure </a:t>
            </a:r>
            <a:r>
              <a:rPr lang="en"/>
              <a:t>of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Computation is based on a matrix of </a:t>
            </a:r>
            <a:r>
              <a:rPr b="1" lang="en"/>
              <a:t>pairwise reachability</a:t>
            </a:r>
            <a:r>
              <a:rPr lang="en"/>
              <a:t> between all vertices in a graph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n-qimg-02f67872949caddbd062330d80aa3007" id="412" name="Google Shape;41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typology of centrality measures </a:t>
            </a:r>
            <a:endParaRPr/>
          </a:p>
        </p:txBody>
      </p:sp>
      <p:sp>
        <p:nvSpPr>
          <p:cNvPr id="418" name="Google Shape;418;p42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Centrality measures appear to cluster around some key dimensions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vertex is central insofar as a lot of walks of a certain type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Feature</a:t>
            </a:r>
            <a:r>
              <a:rPr lang="en"/>
              <a:t> that node as their </a:t>
            </a:r>
            <a:r>
              <a:rPr b="1" lang="en"/>
              <a:t>origin</a:t>
            </a:r>
            <a:r>
              <a:rPr lang="en"/>
              <a:t> or </a:t>
            </a:r>
            <a:r>
              <a:rPr b="1" lang="en"/>
              <a:t>endpoint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are "radial" measures (e.g. degree)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Contain</a:t>
            </a:r>
            <a:r>
              <a:rPr lang="en"/>
              <a:t> that node in the walk sequence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are "medial" measures (e.g. betweenness)</a:t>
            </a:r>
            <a:endParaRPr/>
          </a:p>
        </p:txBody>
      </p:sp>
      <p:pic>
        <p:nvPicPr>
          <p:cNvPr descr="main-qimg-02f67872949caddbd062330d80aa3007" id="419" name="Google Shape;41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typology of centrality measures </a:t>
            </a:r>
            <a:endParaRPr/>
          </a:p>
        </p:txBody>
      </p:sp>
      <p:sp>
        <p:nvSpPr>
          <p:cNvPr id="425" name="Google Shape;425;p43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Within the radial and medial categories we may distinguish centralities measures that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Restrict the type of walk to be considered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Shortest paths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k-paths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Edge(vertex)-disjoint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not restrict the type of walk to be considered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n-qimg-02f67872949caddbd062330d80aa3007" id="426" name="Google Shape;42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typology of centrality measures </a:t>
            </a:r>
            <a:endParaRPr/>
          </a:p>
        </p:txBody>
      </p:sp>
      <p:sp>
        <p:nvSpPr>
          <p:cNvPr id="432" name="Google Shape;432;p44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Finally, we can distinguish measures depending on whether we are interested in either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number</a:t>
            </a:r>
            <a:r>
              <a:rPr lang="en"/>
              <a:t> of walks of a certain type that either originate or contain a vertex (volume)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 the </a:t>
            </a:r>
            <a:r>
              <a:rPr b="1" lang="en"/>
              <a:t>size</a:t>
            </a:r>
            <a:r>
              <a:rPr lang="en"/>
              <a:t> of walks of a certain type that either originate in or contain a vertex (length)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n-qimg-02f67872949caddbd062330d80aa3007" id="433" name="Google Shape;43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Radial centralities: K-path centrality C</a:t>
            </a:r>
            <a:r>
              <a:rPr baseline="-25000" lang="en"/>
              <a:t>k-path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444" name="Google Shape;444;p46"/>
          <p:cNvSpPr txBox="1"/>
          <p:nvPr>
            <p:ph idx="1" type="body"/>
          </p:nvPr>
        </p:nvSpPr>
        <p:spPr>
          <a:xfrm>
            <a:off x="311700" y="1225225"/>
            <a:ext cx="5747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Sade (1989)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b="1" lang="en"/>
              <a:t>Social Network Concept:</a:t>
            </a:r>
            <a:r>
              <a:rPr lang="en"/>
              <a:t> How many people is a person indirectly connected to?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</a:t>
            </a:r>
            <a:r>
              <a:rPr lang="en"/>
              <a:t>: Sum of all paths of length </a:t>
            </a:r>
            <a:r>
              <a:rPr i="1" lang="en"/>
              <a:t>k</a:t>
            </a:r>
            <a:r>
              <a:rPr lang="en"/>
              <a:t> that have vertex v</a:t>
            </a:r>
            <a:r>
              <a:rPr baseline="-25000" lang="en"/>
              <a:t>i</a:t>
            </a:r>
            <a:r>
              <a:rPr lang="en"/>
              <a:t> as their first element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Matrix Procedure</a:t>
            </a:r>
            <a:r>
              <a:rPr lang="en"/>
              <a:t>: Take the row sum of matrix W, where W</a:t>
            </a:r>
            <a:r>
              <a:rPr baseline="-25000" lang="en"/>
              <a:t>ij</a:t>
            </a:r>
            <a:r>
              <a:rPr lang="en"/>
              <a:t> is the number of paths of length k from i to j	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thought of as a generalization of degree centrality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centrality = 1-path centrality, since all entries in the adjacency matrix indicate a path of length 1 from i to j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220px-Srep17095-f1.jpg" id="445" name="Google Shape;44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1200" y="1299625"/>
            <a:ext cx="2095500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Closeness centrality C</a:t>
            </a:r>
            <a:r>
              <a:rPr baseline="-25000" lang="en"/>
              <a:t>close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451" name="Google Shape;451;p47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Sabidussi (1966)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Social Network Concept: </a:t>
            </a:r>
            <a:r>
              <a:rPr lang="en"/>
              <a:t>How many other people can a given person easily reach if they wanted to?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</a:t>
            </a:r>
            <a:r>
              <a:rPr lang="en"/>
              <a:t>: Given by the Reciprocal of the sum of of the number of shortest paths that originate in v</a:t>
            </a:r>
            <a:r>
              <a:rPr baseline="-25000" lang="en"/>
              <a:t>i</a:t>
            </a:r>
            <a:r>
              <a:rPr lang="en"/>
              <a:t> and end in all other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Matrix Procedure</a:t>
            </a:r>
            <a:r>
              <a:rPr lang="en"/>
              <a:t>: Take the reciprocal of the row sum of matrix W, where W</a:t>
            </a:r>
            <a:r>
              <a:rPr baseline="-25000" lang="en"/>
              <a:t>ij</a:t>
            </a:r>
            <a:r>
              <a:rPr lang="en"/>
              <a:t> is the number of shortest paths from i to j	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n-qimg-02f67872949caddbd062330d80aa3007" id="452" name="Google Shape;45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Medial centralities: Betweenness C</a:t>
            </a:r>
            <a:r>
              <a:rPr baseline="-25000" lang="en"/>
              <a:t>between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458" name="Google Shape;458;p48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Freeman (1977)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Social Network Concept: </a:t>
            </a:r>
            <a:r>
              <a:rPr lang="en"/>
              <a:t>What share of the entire network flow goes through  a given person?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concept:</a:t>
            </a:r>
            <a:r>
              <a:rPr lang="en"/>
              <a:t> Sum of of the </a:t>
            </a:r>
            <a:r>
              <a:rPr i="1" lang="en"/>
              <a:t>proportion</a:t>
            </a:r>
            <a:r>
              <a:rPr lang="en"/>
              <a:t> of shortest paths in the graph between all other pairs of vertices {v</a:t>
            </a:r>
            <a:r>
              <a:rPr baseline="-25000" lang="en"/>
              <a:t>j</a:t>
            </a:r>
            <a:r>
              <a:rPr lang="en"/>
              <a:t>, v</a:t>
            </a:r>
            <a:r>
              <a:rPr baseline="-25000" lang="en"/>
              <a:t>k</a:t>
            </a:r>
            <a:r>
              <a:rPr lang="en"/>
              <a:t>} that contain v</a:t>
            </a:r>
            <a:r>
              <a:rPr baseline="-25000" lang="en"/>
              <a:t>i </a:t>
            </a:r>
            <a:r>
              <a:rPr lang="en"/>
              <a:t>	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Defined for both connected and unconnected graphs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n-qimg-02f67872949caddbd062330d80aa3007" id="459" name="Google Shape;45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Radial</a:t>
            </a:r>
            <a:r>
              <a:rPr lang="en"/>
              <a:t> centralities: Eigenvector C</a:t>
            </a:r>
            <a:r>
              <a:rPr baseline="-25000" lang="en"/>
              <a:t>eigen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465" name="Google Shape;465;p49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Bonacich (1972)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Social Network Concept</a:t>
            </a:r>
            <a:r>
              <a:rPr lang="en"/>
              <a:t>: Somebody is central if they are connected to central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Matrix Procedure</a:t>
            </a:r>
            <a:r>
              <a:rPr lang="en"/>
              <a:t>: Factorize the adjacency matrix A using the Singular Value Decomposition (SVD):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= UWV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Generate vector u from the first column of the matrix 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Create a new matrix (W) where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Wij = Aij x Uj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</a:t>
            </a:r>
            <a:r>
              <a:rPr baseline="-25000" lang="en"/>
              <a:t>Eigenvector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 = Row sums of W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n-qimg-02f67872949caddbd062330d80aa3007" id="466" name="Google Shape;46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Radial centralities: Eigenvector C</a:t>
            </a:r>
            <a:r>
              <a:rPr baseline="-25000" lang="en"/>
              <a:t>eigen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472" name="Google Shape;472;p50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Acquaintanceship</a:t>
            </a:r>
            <a:r>
              <a:rPr lang="en"/>
              <a:t> network: </a:t>
            </a:r>
            <a:r>
              <a:rPr lang="en"/>
              <a:t> C</a:t>
            </a:r>
            <a:r>
              <a:rPr baseline="-25000" lang="en"/>
              <a:t>eigen</a:t>
            </a:r>
            <a:r>
              <a:rPr lang="en"/>
              <a:t> gives the right answer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sp>
        <p:nvSpPr>
          <p:cNvPr id="473" name="Google Shape;473;p50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Restricted Exchange</a:t>
            </a:r>
            <a:r>
              <a:rPr lang="en"/>
              <a:t> Network: </a:t>
            </a:r>
            <a:r>
              <a:rPr lang="en"/>
              <a:t>C</a:t>
            </a:r>
            <a:r>
              <a:rPr baseline="-25000" lang="en"/>
              <a:t>eigen</a:t>
            </a:r>
            <a:r>
              <a:rPr lang="en"/>
              <a:t> gives the  wrong answer (right answer: C</a:t>
            </a:r>
            <a:r>
              <a:rPr baseline="-25000" lang="en"/>
              <a:t>eigen </a:t>
            </a:r>
            <a:r>
              <a:rPr lang="en"/>
              <a:t>* -1)</a:t>
            </a:r>
            <a:endParaRPr/>
          </a:p>
        </p:txBody>
      </p:sp>
      <p:pic>
        <p:nvPicPr>
          <p:cNvPr descr="rb365f1.jpg" id="474" name="Google Shape;474;p50"/>
          <p:cNvPicPr preferRelativeResize="0"/>
          <p:nvPr/>
        </p:nvPicPr>
        <p:blipFill rotWithShape="1">
          <a:blip r:embed="rId3">
            <a:alphaModFix/>
          </a:blip>
          <a:srcRect b="16290" l="0" r="43716" t="0"/>
          <a:stretch/>
        </p:blipFill>
        <p:spPr>
          <a:xfrm>
            <a:off x="863924" y="1836975"/>
            <a:ext cx="2895450" cy="274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b365f1.jpg" id="475" name="Google Shape;475;p50"/>
          <p:cNvPicPr preferRelativeResize="0"/>
          <p:nvPr/>
        </p:nvPicPr>
        <p:blipFill rotWithShape="1">
          <a:blip r:embed="rId3">
            <a:alphaModFix/>
          </a:blip>
          <a:srcRect b="16290" l="0" r="43716" t="0"/>
          <a:stretch/>
        </p:blipFill>
        <p:spPr>
          <a:xfrm>
            <a:off x="5384624" y="1836975"/>
            <a:ext cx="2895450" cy="27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