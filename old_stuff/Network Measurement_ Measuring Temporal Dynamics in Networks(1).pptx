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embeddedFontLst>
    <p:embeddedFont>
      <p:font typeface="Economica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font" Target="fonts/Economic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Economica-italic.fntdata"/><Relationship Id="rId50" Type="http://schemas.openxmlformats.org/officeDocument/2006/relationships/font" Target="fonts/Economica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Economica-boldItalic.fntdata"/><Relationship Id="rId11" Type="http://schemas.openxmlformats.org/officeDocument/2006/relationships/slide" Target="slides/slide7.xml"/><Relationship Id="rId55" Type="http://schemas.openxmlformats.org/officeDocument/2006/relationships/font" Target="fonts/OpenSans-italic.fntdata"/><Relationship Id="rId10" Type="http://schemas.openxmlformats.org/officeDocument/2006/relationships/slide" Target="slides/slide6.xml"/><Relationship Id="rId54" Type="http://schemas.openxmlformats.org/officeDocument/2006/relationships/font" Target="fonts/OpenSans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cd2915d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cd2915d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acd2915d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acd2915d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cd2915d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cd2915d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adb1712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adb1712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adb1712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adb1712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acd2915d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acd2915d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cd2915d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cd2915d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cd2915d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cd2915d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acd2915d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acd2915d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cfe11cc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cfe11cc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acfe11cc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acfe11cc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ab2a44fdc_0_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ab2a44fdc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acfe11cc7_0_4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acfe11cc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cd29187a_0_13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cd29187a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acd29187a_0_7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acd29187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acd29187a_0_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acd29187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acd29187a_0_1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acd29187a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ab2a44fdc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2ab2a44fd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cd29187a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cd29187a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acd29187a_0_25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2acd29187a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acd29187a_0_29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acd29187a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ab2a44fdc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ab2a44fd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acd29187a_0_3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2acd29187a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acd29187a_0_38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acd29187a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acd2915d0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acd2915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ab2a44fdc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ab2a44fd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ab2a44fdc_0_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ab2a44fd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acfe11cc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2acfe11c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acfe11cc7_0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2acfe11c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acfe11cc7_0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acfe11c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acfe11cc7_0_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2acfe11cc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acfe11cc7_0_3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2acfe11cc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acfe11cc7_0_1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acfe11cc7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2acfe11cc7_0_1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2acfe11cc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acfe11cc7_0_14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2acfe11cc7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acfe11cc7_0_15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2acfe11cc7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acfe11cc7_0_16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acfe11cc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acfe11cc7_0_16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acfe11cc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ad1f665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ad1f665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acd29187a_0_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acd29187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ad1f66506_0_5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ad1f6650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ad1f66506_0_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2ad1f665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ad1f66506_0_7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ad1f6650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link-springer-com/article/10.1140/epjb/e2015-60657-4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gif"/><Relationship Id="rId4" Type="http://schemas.openxmlformats.org/officeDocument/2006/relationships/image" Target="../media/image10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gif"/><Relationship Id="rId4" Type="http://schemas.openxmlformats.org/officeDocument/2006/relationships/image" Target="../media/image10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gif"/><Relationship Id="rId4" Type="http://schemas.openxmlformats.org/officeDocument/2006/relationships/image" Target="../media/image6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906875"/>
            <a:ext cx="3054600" cy="286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Network Measurement: Measuring Temporal Dynamics in Networks</a:t>
            </a:r>
            <a:endParaRPr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usual representations of networks as graphs ignores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(V,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case in which networks are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at one point in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Aggregated across different time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real world networks have an implicit time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Email messages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Phone calls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media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Collocation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usual representations of networks as graphs ignores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(V, 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Special case in which networks are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Observed at one point in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Aggregated across different time points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real world networks have an implicit time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becomes explicit if observed at multiple points in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this case the set of edges (and possibly vertices) acquire a time dimension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(V, E</a:t>
            </a:r>
            <a:r>
              <a:rPr baseline="-25000" lang="en"/>
              <a:t>t</a:t>
            </a:r>
            <a:r>
              <a:rPr lang="en"/>
              <a:t>), where t = {1, 2, 3, … </a:t>
            </a:r>
            <a:r>
              <a:rPr i="1" lang="en"/>
              <a:t>T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Graphs in which edges have a time dimension are </a:t>
            </a:r>
            <a:r>
              <a:rPr b="1" lang="en"/>
              <a:t>temporal</a:t>
            </a:r>
            <a:r>
              <a:rPr b="1" lang="en"/>
              <a:t> graphs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Adding a temporal dimension changes most graph (and by implication vertex and edge level) metrics: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Vertices and edges have time-specific properties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Centralities, Clustering,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Graphs have time-specific properties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Densities, Diameters, Community Structure,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Most importantly, </a:t>
            </a:r>
            <a:r>
              <a:rPr b="1" lang="en"/>
              <a:t>pairs of vertices have time-specific properties: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makes </a:t>
            </a:r>
            <a:r>
              <a:rPr b="1" lang="en"/>
              <a:t>reachability</a:t>
            </a:r>
            <a:r>
              <a:rPr lang="en"/>
              <a:t> between any pair of vertices something that switches on and off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any pair of vertices {u, v} ∈ 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Shortest path between u and v = ∞ at </a:t>
            </a:r>
            <a:r>
              <a:rPr i="1" lang="en"/>
              <a:t>t</a:t>
            </a:r>
            <a:r>
              <a:rPr lang="en"/>
              <a:t> and &lt; ∞ at </a:t>
            </a:r>
            <a:r>
              <a:rPr i="1" lang="en"/>
              <a:t>t </a:t>
            </a:r>
            <a:r>
              <a:rPr lang="en"/>
              <a:t>+ 1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the reachability problem in time-ordered graphs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From edges, links, ties, to contact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temporal networks notion of a contact replaces the notion of link or edge in static networks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Note that while the link or tie relation is transitive: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tie from i -&gt; j, and a tie from j -&gt; k implies the existence of a path from i -&gt; k.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However the temporal contact relation does not have this property: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 contact from i -&gt; j, and a contact from j -&gt; k, does not imply a temporal path from i -&gt; k because this depends on the temporal order of the contact sequence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4294967295"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9500" y="4218925"/>
            <a:ext cx="83625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representations of temporal networks, from: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https://link-springer-com/article/10.1140/epjb/e2015-60657-4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4">
            <a:alphaModFix/>
          </a:blip>
          <a:srcRect b="0" l="1380" r="3399" t="0"/>
          <a:stretch/>
        </p:blipFill>
        <p:spPr>
          <a:xfrm>
            <a:off x="319500" y="1147225"/>
            <a:ext cx="5934802" cy="3030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6950" y="1126688"/>
            <a:ext cx="2096509" cy="30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pic>
        <p:nvPicPr>
          <p:cNvPr descr="Screenshot 2017-11-13 at 18.33.55.png"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800" y="1147225"/>
            <a:ext cx="6494396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5225"/>
            <a:ext cx="8520600" cy="15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is it required to pay attention to temporal order?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 need to have temporal structure: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Clear ordering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When interactions are frequent</a:t>
            </a:r>
            <a:r>
              <a:rPr lang="en"/>
              <a:t> and </a:t>
            </a:r>
            <a:r>
              <a:rPr lang="en"/>
              <a:t>closely spaced: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can be modelled by a weighted network agregated across time-periods</a:t>
            </a:r>
            <a:endParaRPr/>
          </a:p>
        </p:txBody>
      </p:sp>
      <p:pic>
        <p:nvPicPr>
          <p:cNvPr descr="Screenshot 2017-11-13 at 19.22.30.png"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3609" r="1405" t="0"/>
          <a:stretch/>
        </p:blipFill>
        <p:spPr>
          <a:xfrm>
            <a:off x="374175" y="2888725"/>
            <a:ext cx="8395651" cy="16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5225"/>
            <a:ext cx="4407900" cy="3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Two types of temporal network representation: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Contact sequences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Interval graphs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contact sequence: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preserve information about instantaneous communication events between vertices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 times are an ordered series of integers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System fully represented by a set of contact triplets: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</a:t>
            </a:r>
            <a:r>
              <a:rPr lang="en"/>
              <a:t>(i, j, t) where i, j ∈ V</a:t>
            </a:r>
            <a:endParaRPr/>
          </a:p>
        </p:txBody>
      </p:sp>
      <p:pic>
        <p:nvPicPr>
          <p:cNvPr descr="Screenshot 2017-11-13 at 19.30.06.png"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49964" t="0"/>
          <a:stretch/>
        </p:blipFill>
        <p:spPr>
          <a:xfrm>
            <a:off x="4594475" y="1293300"/>
            <a:ext cx="4237826" cy="33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25225"/>
            <a:ext cx="4407900" cy="3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Two types of temporal network representation: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Contact sequences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Interval graphs</a:t>
            </a:r>
            <a:endParaRPr b="1"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contact sequence: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Edges preserve information about the time-interval between uninterrupted contacts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Event times are sets of ordered paired of beginning and and end sequences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Intervals are non-overlapping within edges but can overlap between edges	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descr="Screenshot 2017-11-13 at 19.30.06.png"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49964" r="0" t="0"/>
          <a:stretch/>
        </p:blipFill>
        <p:spPr>
          <a:xfrm>
            <a:off x="4594475" y="1293300"/>
            <a:ext cx="4237826" cy="339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Graph-theoretic paths can be used to represent the social network concept of “n-degrees of separation” between people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particular, we may be interested in the length of the </a:t>
            </a:r>
            <a:r>
              <a:rPr b="1" lang="en"/>
              <a:t>shortest path </a:t>
            </a:r>
            <a:r>
              <a:rPr lang="en"/>
              <a:t>(L &gt; 1) linking two people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Walks, Trails, Paths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walk is an alternating sequence of vertices and edges {u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12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, e</a:t>
            </a:r>
            <a:r>
              <a:rPr baseline="-25000" lang="en"/>
              <a:t>23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....u</a:t>
            </a:r>
            <a:r>
              <a:rPr baseline="-25000" lang="en"/>
              <a:t>n</a:t>
            </a:r>
            <a:r>
              <a:rPr lang="en"/>
              <a:t>} starting with an </a:t>
            </a:r>
            <a:r>
              <a:rPr b="1" lang="en"/>
              <a:t>origin</a:t>
            </a:r>
            <a:r>
              <a:rPr lang="en"/>
              <a:t> vertex u</a:t>
            </a:r>
            <a:r>
              <a:rPr baseline="-25000" lang="en"/>
              <a:t>1</a:t>
            </a:r>
            <a:r>
              <a:rPr lang="en"/>
              <a:t> ending with a </a:t>
            </a:r>
            <a:r>
              <a:rPr b="1" lang="en"/>
              <a:t>destination</a:t>
            </a:r>
            <a:r>
              <a:rPr lang="en"/>
              <a:t> vertex u</a:t>
            </a:r>
            <a:r>
              <a:rPr baseline="-25000" lang="en"/>
              <a:t>n</a:t>
            </a:r>
            <a:r>
              <a:rPr lang="en"/>
              <a:t> such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vertex in the sequence (excluding the origin and destination vertices) is adjacent to the vertex the precedes it and the vertex that follows 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b="1" lang="en"/>
              <a:t>length</a:t>
            </a:r>
            <a:r>
              <a:rPr lang="en"/>
              <a:t> of the walk is the number of edges contained in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walk is called a </a:t>
            </a:r>
            <a:r>
              <a:rPr b="1" lang="en"/>
              <a:t>path</a:t>
            </a:r>
            <a:r>
              <a:rPr lang="en"/>
              <a:t> if all edges and all vertices appear only once in the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also be interested in the </a:t>
            </a:r>
            <a:r>
              <a:rPr b="1" lang="en"/>
              <a:t>average </a:t>
            </a:r>
            <a:r>
              <a:rPr lang="en"/>
              <a:t>length of the shortest paths (also called </a:t>
            </a:r>
            <a:r>
              <a:rPr b="1" lang="en"/>
              <a:t>geodesics</a:t>
            </a:r>
            <a:r>
              <a:rPr lang="en"/>
              <a:t>) linking each pair of vertices in a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When this is smaller than we would expect (e.g. “6”) this quantity can be used to represent the social network concept of a “</a:t>
            </a:r>
            <a:r>
              <a:rPr b="1" lang="en"/>
              <a:t>small world</a:t>
            </a:r>
            <a:r>
              <a:rPr lang="en"/>
              <a:t>”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In temporal networks diffusion can only occur via</a:t>
            </a:r>
            <a:r>
              <a:rPr b="1" lang="en"/>
              <a:t> time-ordered paths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regular paths these are sequences of vertices and edges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edges in the sequence must be in increasing order: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i2t(</a:t>
            </a:r>
            <a:r>
              <a:rPr b="1" baseline="-25000" lang="en"/>
              <a:t>1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2, </a:t>
            </a:r>
            <a:r>
              <a:rPr lang="en"/>
              <a:t>e</a:t>
            </a:r>
            <a:r>
              <a:rPr baseline="-25000" lang="en"/>
              <a:t>23t(</a:t>
            </a:r>
            <a:r>
              <a:rPr b="1" baseline="-25000" lang="en"/>
              <a:t>2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, e</a:t>
            </a:r>
            <a:r>
              <a:rPr baseline="-25000" lang="en"/>
              <a:t>34t(</a:t>
            </a:r>
            <a:r>
              <a:rPr b="1" baseline="-25000" lang="en"/>
              <a:t>3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4</a:t>
            </a:r>
            <a:r>
              <a:rPr lang="en"/>
              <a:t> is time ordered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1</a:t>
            </a:r>
            <a:r>
              <a:rPr lang="en"/>
              <a:t>, e</a:t>
            </a:r>
            <a:r>
              <a:rPr baseline="-25000" lang="en"/>
              <a:t>i2t(</a:t>
            </a:r>
            <a:r>
              <a:rPr b="1" baseline="-25000" lang="en"/>
              <a:t>3)</a:t>
            </a:r>
            <a:r>
              <a:rPr lang="en"/>
              <a:t>, u</a:t>
            </a:r>
            <a:r>
              <a:rPr baseline="-25000" lang="en"/>
              <a:t>2, </a:t>
            </a:r>
            <a:r>
              <a:rPr lang="en"/>
              <a:t>e</a:t>
            </a:r>
            <a:r>
              <a:rPr baseline="-25000" lang="en"/>
              <a:t>23t(</a:t>
            </a:r>
            <a:r>
              <a:rPr b="1" baseline="-25000" lang="en"/>
              <a:t>1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, e</a:t>
            </a:r>
            <a:r>
              <a:rPr baseline="-25000" lang="en"/>
              <a:t>34t(</a:t>
            </a:r>
            <a:r>
              <a:rPr b="1" baseline="-25000" lang="en"/>
              <a:t>2</a:t>
            </a:r>
            <a:r>
              <a:rPr baseline="-25000" lang="en"/>
              <a:t>)</a:t>
            </a:r>
            <a:r>
              <a:rPr lang="en"/>
              <a:t>, u</a:t>
            </a:r>
            <a:r>
              <a:rPr baseline="-25000" lang="en"/>
              <a:t>4 </a:t>
            </a:r>
            <a:r>
              <a:rPr lang="en"/>
              <a:t> is not time ordered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u</a:t>
            </a:r>
            <a:r>
              <a:rPr baseline="-25000" lang="en"/>
              <a:t>1</a:t>
            </a:r>
            <a:r>
              <a:rPr lang="en"/>
              <a:t>, u</a:t>
            </a:r>
            <a:r>
              <a:rPr baseline="-25000" lang="en"/>
              <a:t>2</a:t>
            </a:r>
            <a:r>
              <a:rPr lang="en"/>
              <a:t> interaction (and transmission) occurs </a:t>
            </a:r>
            <a:r>
              <a:rPr b="1" lang="en"/>
              <a:t>after</a:t>
            </a:r>
            <a:r>
              <a:rPr lang="en"/>
              <a:t>  u</a:t>
            </a:r>
            <a:r>
              <a:rPr baseline="-25000" lang="en"/>
              <a:t>2</a:t>
            </a:r>
            <a:r>
              <a:rPr lang="en"/>
              <a:t>, u</a:t>
            </a:r>
            <a:r>
              <a:rPr baseline="-25000" lang="en"/>
              <a:t>3</a:t>
            </a:r>
            <a:r>
              <a:rPr lang="en"/>
              <a:t>, then no diffusion from u</a:t>
            </a:r>
            <a:r>
              <a:rPr baseline="-25000" lang="en"/>
              <a:t>1</a:t>
            </a:r>
            <a:r>
              <a:rPr lang="en"/>
              <a:t>to u</a:t>
            </a:r>
            <a:r>
              <a:rPr baseline="-25000" lang="en"/>
              <a:t>3</a:t>
            </a:r>
            <a:endParaRPr baseline="-250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Time respecting paths define which vertices are reachable within a given time interval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vertices that can be reached by a given vertex </a:t>
            </a:r>
            <a:r>
              <a:rPr i="1" lang="en"/>
              <a:t>u</a:t>
            </a:r>
            <a:r>
              <a:rPr lang="en"/>
              <a:t> via time respecting paths at time t is </a:t>
            </a:r>
            <a:r>
              <a:rPr i="1" lang="en"/>
              <a:t>u</a:t>
            </a:r>
            <a:r>
              <a:rPr lang="en"/>
              <a:t>’s </a:t>
            </a:r>
            <a:r>
              <a:rPr b="1" lang="en"/>
              <a:t>influence set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set of vertices that can reach </a:t>
            </a:r>
            <a:r>
              <a:rPr i="1" lang="en"/>
              <a:t>u</a:t>
            </a:r>
            <a:r>
              <a:rPr lang="en"/>
              <a:t> within a given time interval are </a:t>
            </a:r>
            <a:r>
              <a:rPr i="1" lang="en"/>
              <a:t>u</a:t>
            </a:r>
            <a:r>
              <a:rPr lang="en"/>
              <a:t>’s </a:t>
            </a:r>
            <a:r>
              <a:rPr b="1" lang="en"/>
              <a:t>source set</a:t>
            </a:r>
            <a:endParaRPr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time ordered paths the </a:t>
            </a:r>
            <a:r>
              <a:rPr b="1" lang="en"/>
              <a:t>length </a:t>
            </a:r>
            <a:r>
              <a:rPr lang="en"/>
              <a:t>is the difference between the last and first contact time in the path: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length of the ACE path is 4 - 3 = 1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length of the BDE path is 3 - 2 = 1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length of the ABDE path is 3 - 1 = 2</a:t>
            </a:r>
            <a:endParaRPr/>
          </a:p>
        </p:txBody>
      </p:sp>
      <p:grpSp>
        <p:nvGrpSpPr>
          <p:cNvPr id="146" name="Google Shape;146;p26"/>
          <p:cNvGrpSpPr/>
          <p:nvPr/>
        </p:nvGrpSpPr>
        <p:grpSpPr>
          <a:xfrm>
            <a:off x="2333490" y="3047725"/>
            <a:ext cx="4476998" cy="1833150"/>
            <a:chOff x="2333490" y="3047725"/>
            <a:chExt cx="4476998" cy="1833150"/>
          </a:xfrm>
        </p:grpSpPr>
        <p:sp>
          <p:nvSpPr>
            <p:cNvPr id="147" name="Google Shape;147;p26"/>
            <p:cNvSpPr/>
            <p:nvPr/>
          </p:nvSpPr>
          <p:spPr>
            <a:xfrm>
              <a:off x="6220688" y="3691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sp>
          <p:nvSpPr>
            <p:cNvPr id="148" name="Google Shape;148;p26"/>
            <p:cNvSpPr/>
            <p:nvPr/>
          </p:nvSpPr>
          <p:spPr>
            <a:xfrm>
              <a:off x="4503250" y="3047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149" name="Google Shape;149;p26"/>
            <p:cNvSpPr/>
            <p:nvPr/>
          </p:nvSpPr>
          <p:spPr>
            <a:xfrm>
              <a:off x="4570675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150" name="Google Shape;150;p26"/>
            <p:cNvSpPr/>
            <p:nvPr/>
          </p:nvSpPr>
          <p:spPr>
            <a:xfrm>
              <a:off x="2478513" y="3053688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cxnSp>
          <p:nvCxnSpPr>
            <p:cNvPr id="151" name="Google Shape;151;p26"/>
            <p:cNvCxnSpPr>
              <a:stCxn id="150" idx="6"/>
              <a:endCxn id="148" idx="2"/>
            </p:cNvCxnSpPr>
            <p:nvPr/>
          </p:nvCxnSpPr>
          <p:spPr>
            <a:xfrm flipH="1" rot="10800000">
              <a:off x="3068313" y="3323238"/>
              <a:ext cx="1434900" cy="6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2" name="Google Shape;152;p26"/>
            <p:cNvSpPr txBox="1"/>
            <p:nvPr/>
          </p:nvSpPr>
          <p:spPr>
            <a:xfrm>
              <a:off x="2333490" y="3830785"/>
              <a:ext cx="4977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t(1)</a:t>
              </a:r>
              <a:endParaRPr/>
            </a:p>
          </p:txBody>
        </p:sp>
        <p:cxnSp>
          <p:nvCxnSpPr>
            <p:cNvPr id="153" name="Google Shape;153;p26"/>
            <p:cNvCxnSpPr>
              <a:stCxn id="148" idx="6"/>
              <a:endCxn id="147" idx="2"/>
            </p:cNvCxnSpPr>
            <p:nvPr/>
          </p:nvCxnSpPr>
          <p:spPr>
            <a:xfrm>
              <a:off x="5093050" y="3323275"/>
              <a:ext cx="1127700" cy="64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4" name="Google Shape;154;p26"/>
            <p:cNvSpPr txBox="1"/>
            <p:nvPr/>
          </p:nvSpPr>
          <p:spPr>
            <a:xfrm>
              <a:off x="5431675" y="334245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t(4)</a:t>
              </a:r>
              <a:endParaRPr/>
            </a:p>
          </p:txBody>
        </p:sp>
        <p:cxnSp>
          <p:nvCxnSpPr>
            <p:cNvPr id="155" name="Google Shape;155;p26"/>
            <p:cNvCxnSpPr>
              <a:stCxn id="150" idx="4"/>
              <a:endCxn id="156" idx="0"/>
            </p:cNvCxnSpPr>
            <p:nvPr/>
          </p:nvCxnSpPr>
          <p:spPr>
            <a:xfrm>
              <a:off x="2773413" y="3604788"/>
              <a:ext cx="0" cy="725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7" name="Google Shape;157;p26"/>
            <p:cNvSpPr txBox="1"/>
            <p:nvPr/>
          </p:nvSpPr>
          <p:spPr>
            <a:xfrm>
              <a:off x="3610725" y="4605325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t(2)</a:t>
              </a:r>
              <a:endParaRPr/>
            </a:p>
          </p:txBody>
        </p:sp>
        <p:cxnSp>
          <p:nvCxnSpPr>
            <p:cNvPr id="158" name="Google Shape;158;p26"/>
            <p:cNvCxnSpPr>
              <a:stCxn id="149" idx="6"/>
              <a:endCxn id="147" idx="2"/>
            </p:cNvCxnSpPr>
            <p:nvPr/>
          </p:nvCxnSpPr>
          <p:spPr>
            <a:xfrm flipH="1" rot="10800000">
              <a:off x="5160475" y="3967225"/>
              <a:ext cx="1060200" cy="638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59" name="Google Shape;159;p26"/>
            <p:cNvSpPr txBox="1"/>
            <p:nvPr/>
          </p:nvSpPr>
          <p:spPr>
            <a:xfrm>
              <a:off x="5431675" y="434310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  <p:sp>
          <p:nvSpPr>
            <p:cNvPr id="156" name="Google Shape;156;p26"/>
            <p:cNvSpPr/>
            <p:nvPr/>
          </p:nvSpPr>
          <p:spPr>
            <a:xfrm>
              <a:off x="2478513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160" name="Google Shape;160;p26"/>
            <p:cNvCxnSpPr>
              <a:stCxn id="156" idx="6"/>
              <a:endCxn id="149" idx="2"/>
            </p:cNvCxnSpPr>
            <p:nvPr/>
          </p:nvCxnSpPr>
          <p:spPr>
            <a:xfrm>
              <a:off x="3068313" y="4605325"/>
              <a:ext cx="1502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161" name="Google Shape;161;p26"/>
            <p:cNvSpPr txBox="1"/>
            <p:nvPr/>
          </p:nvSpPr>
          <p:spPr>
            <a:xfrm>
              <a:off x="3557900" y="3047725"/>
              <a:ext cx="5178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time ordered paths the </a:t>
            </a:r>
            <a:r>
              <a:rPr b="1" lang="en"/>
              <a:t>length </a:t>
            </a:r>
            <a:r>
              <a:rPr lang="en"/>
              <a:t>is the difference between the last and first contact time in the path: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can be of the same </a:t>
            </a:r>
            <a:r>
              <a:rPr b="1" lang="en"/>
              <a:t>topological </a:t>
            </a:r>
            <a:r>
              <a:rPr b="1" lang="en"/>
              <a:t>length </a:t>
            </a:r>
            <a:r>
              <a:rPr lang="en"/>
              <a:t>but of different </a:t>
            </a:r>
            <a:r>
              <a:rPr b="1" lang="en"/>
              <a:t>temporal length</a:t>
            </a:r>
            <a:endParaRPr b="1"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topological-length(ACE) = topological-length(ABD)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temporal-length(ACE) &lt; temporal-length(ABD)</a:t>
            </a:r>
            <a:endParaRPr/>
          </a:p>
        </p:txBody>
      </p:sp>
      <p:sp>
        <p:nvSpPr>
          <p:cNvPr id="168" name="Google Shape;168;p27"/>
          <p:cNvSpPr/>
          <p:nvPr/>
        </p:nvSpPr>
        <p:spPr>
          <a:xfrm>
            <a:off x="6220688" y="3691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169" name="Google Shape;169;p27"/>
          <p:cNvSpPr/>
          <p:nvPr/>
        </p:nvSpPr>
        <p:spPr>
          <a:xfrm>
            <a:off x="4503250" y="3047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170" name="Google Shape;170;p27"/>
          <p:cNvSpPr/>
          <p:nvPr/>
        </p:nvSpPr>
        <p:spPr>
          <a:xfrm>
            <a:off x="4570675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171" name="Google Shape;171;p27"/>
          <p:cNvSpPr/>
          <p:nvPr/>
        </p:nvSpPr>
        <p:spPr>
          <a:xfrm>
            <a:off x="2478513" y="3053688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72" name="Google Shape;172;p27"/>
          <p:cNvCxnSpPr>
            <a:stCxn id="171" idx="6"/>
            <a:endCxn id="169" idx="2"/>
          </p:cNvCxnSpPr>
          <p:nvPr/>
        </p:nvCxnSpPr>
        <p:spPr>
          <a:xfrm flipH="1" rot="10800000">
            <a:off x="3068313" y="3323238"/>
            <a:ext cx="14349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3" name="Google Shape;173;p27"/>
          <p:cNvSpPr txBox="1"/>
          <p:nvPr/>
        </p:nvSpPr>
        <p:spPr>
          <a:xfrm>
            <a:off x="2333490" y="3830785"/>
            <a:ext cx="497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t(1)</a:t>
            </a:r>
            <a:endParaRPr/>
          </a:p>
        </p:txBody>
      </p:sp>
      <p:cxnSp>
        <p:nvCxnSpPr>
          <p:cNvPr id="174" name="Google Shape;174;p27"/>
          <p:cNvCxnSpPr>
            <a:stCxn id="169" idx="6"/>
            <a:endCxn id="168" idx="2"/>
          </p:cNvCxnSpPr>
          <p:nvPr/>
        </p:nvCxnSpPr>
        <p:spPr>
          <a:xfrm>
            <a:off x="5093050" y="3323275"/>
            <a:ext cx="11277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" name="Google Shape;175;p27"/>
          <p:cNvSpPr txBox="1"/>
          <p:nvPr/>
        </p:nvSpPr>
        <p:spPr>
          <a:xfrm>
            <a:off x="5431675" y="334245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176" name="Google Shape;176;p27"/>
          <p:cNvCxnSpPr>
            <a:stCxn id="171" idx="4"/>
            <a:endCxn id="177" idx="0"/>
          </p:cNvCxnSpPr>
          <p:nvPr/>
        </p:nvCxnSpPr>
        <p:spPr>
          <a:xfrm>
            <a:off x="2773413" y="3604788"/>
            <a:ext cx="0" cy="725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8" name="Google Shape;178;p27"/>
          <p:cNvSpPr txBox="1"/>
          <p:nvPr/>
        </p:nvSpPr>
        <p:spPr>
          <a:xfrm>
            <a:off x="3610725" y="4605325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179" name="Google Shape;179;p27"/>
          <p:cNvCxnSpPr>
            <a:stCxn id="170" idx="6"/>
            <a:endCxn id="168" idx="2"/>
          </p:cNvCxnSpPr>
          <p:nvPr/>
        </p:nvCxnSpPr>
        <p:spPr>
          <a:xfrm flipH="1" rot="10800000">
            <a:off x="5160475" y="3967225"/>
            <a:ext cx="1060200" cy="63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0" name="Google Shape;180;p27"/>
          <p:cNvSpPr txBox="1"/>
          <p:nvPr/>
        </p:nvSpPr>
        <p:spPr>
          <a:xfrm>
            <a:off x="5431675" y="434310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2478513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181" name="Google Shape;181;p27"/>
          <p:cNvCxnSpPr>
            <a:stCxn id="177" idx="6"/>
            <a:endCxn id="170" idx="2"/>
          </p:cNvCxnSpPr>
          <p:nvPr/>
        </p:nvCxnSpPr>
        <p:spPr>
          <a:xfrm>
            <a:off x="3068313" y="4605325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82" name="Google Shape;182;p27"/>
          <p:cNvSpPr txBox="1"/>
          <p:nvPr/>
        </p:nvSpPr>
        <p:spPr>
          <a:xfrm>
            <a:off x="3557900" y="3047725"/>
            <a:ext cx="517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fastness</a:t>
            </a:r>
            <a:r>
              <a:rPr lang="en"/>
              <a:t> of a path is equal to the time stamp of its last edge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smaller (earlier) the fastest the path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paths can </a:t>
            </a:r>
            <a:r>
              <a:rPr b="1" lang="en"/>
              <a:t>be of the same temporal length</a:t>
            </a:r>
            <a:r>
              <a:rPr lang="en"/>
              <a:t> but one can be </a:t>
            </a:r>
            <a:r>
              <a:rPr b="1" lang="en"/>
              <a:t>faster</a:t>
            </a:r>
            <a:r>
              <a:rPr lang="en"/>
              <a:t> than the other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The length(ACE) = length(BDE)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fastness(BDE) &gt; fastness(ACE)</a:t>
            </a:r>
            <a:endParaRPr/>
          </a:p>
        </p:txBody>
      </p:sp>
      <p:sp>
        <p:nvSpPr>
          <p:cNvPr id="189" name="Google Shape;189;p28"/>
          <p:cNvSpPr/>
          <p:nvPr/>
        </p:nvSpPr>
        <p:spPr>
          <a:xfrm>
            <a:off x="6220688" y="3691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4503250" y="3047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4570675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2478513" y="3053688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193" name="Google Shape;193;p28"/>
          <p:cNvCxnSpPr>
            <a:stCxn id="192" idx="6"/>
            <a:endCxn id="190" idx="2"/>
          </p:cNvCxnSpPr>
          <p:nvPr/>
        </p:nvCxnSpPr>
        <p:spPr>
          <a:xfrm flipH="1" rot="10800000">
            <a:off x="3068313" y="3323238"/>
            <a:ext cx="14349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28"/>
          <p:cNvSpPr txBox="1"/>
          <p:nvPr/>
        </p:nvSpPr>
        <p:spPr>
          <a:xfrm>
            <a:off x="2333490" y="3830785"/>
            <a:ext cx="497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t(1)</a:t>
            </a:r>
            <a:endParaRPr/>
          </a:p>
        </p:txBody>
      </p:sp>
      <p:cxnSp>
        <p:nvCxnSpPr>
          <p:cNvPr id="195" name="Google Shape;195;p28"/>
          <p:cNvCxnSpPr>
            <a:stCxn id="190" idx="6"/>
            <a:endCxn id="189" idx="2"/>
          </p:cNvCxnSpPr>
          <p:nvPr/>
        </p:nvCxnSpPr>
        <p:spPr>
          <a:xfrm>
            <a:off x="5093050" y="3323275"/>
            <a:ext cx="11277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6" name="Google Shape;196;p28"/>
          <p:cNvSpPr txBox="1"/>
          <p:nvPr/>
        </p:nvSpPr>
        <p:spPr>
          <a:xfrm>
            <a:off x="5431675" y="334245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197" name="Google Shape;197;p28"/>
          <p:cNvCxnSpPr>
            <a:stCxn id="192" idx="4"/>
            <a:endCxn id="198" idx="0"/>
          </p:cNvCxnSpPr>
          <p:nvPr/>
        </p:nvCxnSpPr>
        <p:spPr>
          <a:xfrm>
            <a:off x="2773413" y="3604788"/>
            <a:ext cx="0" cy="72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9" name="Google Shape;199;p28"/>
          <p:cNvSpPr txBox="1"/>
          <p:nvPr/>
        </p:nvSpPr>
        <p:spPr>
          <a:xfrm>
            <a:off x="3610725" y="4605325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t(2)</a:t>
            </a:r>
            <a:endParaRPr/>
          </a:p>
        </p:txBody>
      </p:sp>
      <p:cxnSp>
        <p:nvCxnSpPr>
          <p:cNvPr id="200" name="Google Shape;200;p28"/>
          <p:cNvCxnSpPr>
            <a:stCxn id="191" idx="6"/>
            <a:endCxn id="189" idx="2"/>
          </p:cNvCxnSpPr>
          <p:nvPr/>
        </p:nvCxnSpPr>
        <p:spPr>
          <a:xfrm flipH="1" rot="10800000">
            <a:off x="5160475" y="3967225"/>
            <a:ext cx="1060200" cy="6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1" name="Google Shape;201;p28"/>
          <p:cNvSpPr txBox="1"/>
          <p:nvPr/>
        </p:nvSpPr>
        <p:spPr>
          <a:xfrm>
            <a:off x="5431675" y="434310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  <p:sp>
        <p:nvSpPr>
          <p:cNvPr id="198" name="Google Shape;198;p28"/>
          <p:cNvSpPr/>
          <p:nvPr/>
        </p:nvSpPr>
        <p:spPr>
          <a:xfrm>
            <a:off x="2478513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202" name="Google Shape;202;p28"/>
          <p:cNvCxnSpPr>
            <a:stCxn id="198" idx="6"/>
            <a:endCxn id="191" idx="2"/>
          </p:cNvCxnSpPr>
          <p:nvPr/>
        </p:nvCxnSpPr>
        <p:spPr>
          <a:xfrm>
            <a:off x="3068313" y="4605325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03" name="Google Shape;203;p28"/>
          <p:cNvSpPr txBox="1"/>
          <p:nvPr/>
        </p:nvSpPr>
        <p:spPr>
          <a:xfrm>
            <a:off x="3557900" y="3047725"/>
            <a:ext cx="517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fastness</a:t>
            </a:r>
            <a:r>
              <a:rPr lang="en"/>
              <a:t> of a path is equal to the time stamp of its last edge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smaller (earlier) the fastest the path 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path can be </a:t>
            </a:r>
            <a:r>
              <a:rPr b="1" lang="en"/>
              <a:t>temporally</a:t>
            </a:r>
            <a:r>
              <a:rPr lang="en"/>
              <a:t> </a:t>
            </a:r>
            <a:r>
              <a:rPr b="1" lang="en"/>
              <a:t>longer</a:t>
            </a:r>
            <a:r>
              <a:rPr lang="en"/>
              <a:t> than another and yet be of </a:t>
            </a:r>
            <a:r>
              <a:rPr b="1" lang="en"/>
              <a:t>equal</a:t>
            </a:r>
            <a:r>
              <a:rPr lang="en"/>
              <a:t> or greater fastness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</a:pPr>
            <a:r>
              <a:rPr lang="en"/>
              <a:t>The length(ABDE) &gt; length(ACE)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fastness(ABDE) &gt; fastness(ACE)</a:t>
            </a:r>
            <a:endParaRPr/>
          </a:p>
        </p:txBody>
      </p:sp>
      <p:grpSp>
        <p:nvGrpSpPr>
          <p:cNvPr id="210" name="Google Shape;210;p29"/>
          <p:cNvGrpSpPr/>
          <p:nvPr/>
        </p:nvGrpSpPr>
        <p:grpSpPr>
          <a:xfrm>
            <a:off x="2333490" y="3047725"/>
            <a:ext cx="4476998" cy="1833150"/>
            <a:chOff x="2333490" y="3047725"/>
            <a:chExt cx="4476998" cy="1833150"/>
          </a:xfrm>
        </p:grpSpPr>
        <p:sp>
          <p:nvSpPr>
            <p:cNvPr id="211" name="Google Shape;211;p29"/>
            <p:cNvSpPr/>
            <p:nvPr/>
          </p:nvSpPr>
          <p:spPr>
            <a:xfrm>
              <a:off x="6220688" y="3691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sp>
          <p:nvSpPr>
            <p:cNvPr id="212" name="Google Shape;212;p29"/>
            <p:cNvSpPr/>
            <p:nvPr/>
          </p:nvSpPr>
          <p:spPr>
            <a:xfrm>
              <a:off x="4503250" y="304772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4570675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2478513" y="3053688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A</a:t>
              </a:r>
              <a:endParaRPr sz="1800"/>
            </a:p>
          </p:txBody>
        </p:sp>
        <p:cxnSp>
          <p:nvCxnSpPr>
            <p:cNvPr id="215" name="Google Shape;215;p29"/>
            <p:cNvCxnSpPr>
              <a:stCxn id="214" idx="6"/>
              <a:endCxn id="212" idx="2"/>
            </p:cNvCxnSpPr>
            <p:nvPr/>
          </p:nvCxnSpPr>
          <p:spPr>
            <a:xfrm flipH="1" rot="10800000">
              <a:off x="3068313" y="3323238"/>
              <a:ext cx="1434900" cy="60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16" name="Google Shape;216;p29"/>
            <p:cNvSpPr txBox="1"/>
            <p:nvPr/>
          </p:nvSpPr>
          <p:spPr>
            <a:xfrm>
              <a:off x="2333490" y="3830785"/>
              <a:ext cx="4977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t(1)</a:t>
              </a:r>
              <a:endParaRPr/>
            </a:p>
          </p:txBody>
        </p:sp>
        <p:cxnSp>
          <p:nvCxnSpPr>
            <p:cNvPr id="217" name="Google Shape;217;p29"/>
            <p:cNvCxnSpPr>
              <a:stCxn id="212" idx="6"/>
              <a:endCxn id="211" idx="2"/>
            </p:cNvCxnSpPr>
            <p:nvPr/>
          </p:nvCxnSpPr>
          <p:spPr>
            <a:xfrm>
              <a:off x="5093050" y="3323275"/>
              <a:ext cx="1127700" cy="6441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18" name="Google Shape;218;p29"/>
            <p:cNvSpPr txBox="1"/>
            <p:nvPr/>
          </p:nvSpPr>
          <p:spPr>
            <a:xfrm>
              <a:off x="5431675" y="334245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t(4)</a:t>
              </a:r>
              <a:endParaRPr/>
            </a:p>
          </p:txBody>
        </p:sp>
        <p:cxnSp>
          <p:nvCxnSpPr>
            <p:cNvPr id="219" name="Google Shape;219;p29"/>
            <p:cNvCxnSpPr>
              <a:stCxn id="214" idx="4"/>
              <a:endCxn id="220" idx="0"/>
            </p:cNvCxnSpPr>
            <p:nvPr/>
          </p:nvCxnSpPr>
          <p:spPr>
            <a:xfrm>
              <a:off x="2773413" y="3604788"/>
              <a:ext cx="0" cy="7251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1" name="Google Shape;221;p29"/>
            <p:cNvSpPr txBox="1"/>
            <p:nvPr/>
          </p:nvSpPr>
          <p:spPr>
            <a:xfrm>
              <a:off x="3610725" y="4605325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t(2)</a:t>
              </a:r>
              <a:endParaRPr/>
            </a:p>
          </p:txBody>
        </p:sp>
        <p:cxnSp>
          <p:nvCxnSpPr>
            <p:cNvPr id="222" name="Google Shape;222;p29"/>
            <p:cNvCxnSpPr>
              <a:stCxn id="213" idx="6"/>
              <a:endCxn id="211" idx="2"/>
            </p:cNvCxnSpPr>
            <p:nvPr/>
          </p:nvCxnSpPr>
          <p:spPr>
            <a:xfrm flipH="1" rot="10800000">
              <a:off x="5160475" y="3967225"/>
              <a:ext cx="1060200" cy="63810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3" name="Google Shape;223;p29"/>
            <p:cNvSpPr txBox="1"/>
            <p:nvPr/>
          </p:nvSpPr>
          <p:spPr>
            <a:xfrm>
              <a:off x="5431675" y="4343100"/>
              <a:ext cx="517800" cy="24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2478513" y="43297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224" name="Google Shape;224;p29"/>
            <p:cNvCxnSpPr>
              <a:stCxn id="220" idx="6"/>
              <a:endCxn id="213" idx="2"/>
            </p:cNvCxnSpPr>
            <p:nvPr/>
          </p:nvCxnSpPr>
          <p:spPr>
            <a:xfrm>
              <a:off x="3068313" y="4605325"/>
              <a:ext cx="1502400" cy="0"/>
            </a:xfrm>
            <a:prstGeom prst="straightConnector1">
              <a:avLst/>
            </a:prstGeom>
            <a:noFill/>
            <a:ln cap="flat" cmpd="sng" w="28575">
              <a:solidFill>
                <a:srgbClr val="0000FF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225" name="Google Shape;225;p29"/>
            <p:cNvSpPr txBox="1"/>
            <p:nvPr/>
          </p:nvSpPr>
          <p:spPr>
            <a:xfrm>
              <a:off x="3557900" y="3047725"/>
              <a:ext cx="517800" cy="2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t(3)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311700" y="1225225"/>
            <a:ext cx="8520600" cy="17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networks have analogues for shortest paths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fastest time-ordered path between two nodes is their </a:t>
            </a:r>
            <a:r>
              <a:rPr b="1" lang="en"/>
              <a:t>latency</a:t>
            </a:r>
            <a:r>
              <a:rPr lang="en"/>
              <a:t> or </a:t>
            </a:r>
            <a:r>
              <a:rPr b="1" lang="en"/>
              <a:t>temporal distance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A and E, this is path ABDE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may also calculate the </a:t>
            </a:r>
            <a:r>
              <a:rPr b="1" lang="en"/>
              <a:t>average latency</a:t>
            </a:r>
            <a:r>
              <a:rPr lang="en"/>
              <a:t> between two pairs of nodes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nodes A and E, this is: (4 - 3) + (3 - 2) / 2 = 1.5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>
            <a:off x="6220688" y="3691725"/>
            <a:ext cx="589800" cy="551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>
            <a:off x="4503250" y="304772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4570675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2478513" y="3053688"/>
            <a:ext cx="589800" cy="5511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</a:t>
            </a:r>
            <a:endParaRPr sz="1800"/>
          </a:p>
        </p:txBody>
      </p:sp>
      <p:cxnSp>
        <p:nvCxnSpPr>
          <p:cNvPr id="236" name="Google Shape;236;p30"/>
          <p:cNvCxnSpPr>
            <a:stCxn id="235" idx="6"/>
            <a:endCxn id="233" idx="2"/>
          </p:cNvCxnSpPr>
          <p:nvPr/>
        </p:nvCxnSpPr>
        <p:spPr>
          <a:xfrm flipH="1" rot="10800000">
            <a:off x="3068313" y="3323238"/>
            <a:ext cx="1434900" cy="6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7" name="Google Shape;237;p30"/>
          <p:cNvSpPr txBox="1"/>
          <p:nvPr/>
        </p:nvSpPr>
        <p:spPr>
          <a:xfrm>
            <a:off x="2333490" y="3830785"/>
            <a:ext cx="497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t(1)</a:t>
            </a:r>
            <a:endParaRPr/>
          </a:p>
        </p:txBody>
      </p:sp>
      <p:cxnSp>
        <p:nvCxnSpPr>
          <p:cNvPr id="238" name="Google Shape;238;p30"/>
          <p:cNvCxnSpPr>
            <a:stCxn id="233" idx="6"/>
            <a:endCxn id="232" idx="2"/>
          </p:cNvCxnSpPr>
          <p:nvPr/>
        </p:nvCxnSpPr>
        <p:spPr>
          <a:xfrm>
            <a:off x="5093050" y="3323275"/>
            <a:ext cx="1127700" cy="644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" name="Google Shape;239;p30"/>
          <p:cNvSpPr txBox="1"/>
          <p:nvPr/>
        </p:nvSpPr>
        <p:spPr>
          <a:xfrm>
            <a:off x="5431675" y="334245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t(4)</a:t>
            </a:r>
            <a:endParaRPr/>
          </a:p>
        </p:txBody>
      </p:sp>
      <p:cxnSp>
        <p:nvCxnSpPr>
          <p:cNvPr id="240" name="Google Shape;240;p30"/>
          <p:cNvCxnSpPr>
            <a:stCxn id="235" idx="4"/>
            <a:endCxn id="241" idx="0"/>
          </p:cNvCxnSpPr>
          <p:nvPr/>
        </p:nvCxnSpPr>
        <p:spPr>
          <a:xfrm>
            <a:off x="2773413" y="3604788"/>
            <a:ext cx="0" cy="725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2" name="Google Shape;242;p30"/>
          <p:cNvSpPr txBox="1"/>
          <p:nvPr/>
        </p:nvSpPr>
        <p:spPr>
          <a:xfrm>
            <a:off x="3610725" y="4605325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t(2)</a:t>
            </a:r>
            <a:endParaRPr/>
          </a:p>
        </p:txBody>
      </p:sp>
      <p:cxnSp>
        <p:nvCxnSpPr>
          <p:cNvPr id="243" name="Google Shape;243;p30"/>
          <p:cNvCxnSpPr>
            <a:stCxn id="234" idx="6"/>
            <a:endCxn id="232" idx="2"/>
          </p:cNvCxnSpPr>
          <p:nvPr/>
        </p:nvCxnSpPr>
        <p:spPr>
          <a:xfrm flipH="1" rot="10800000">
            <a:off x="5160475" y="3967225"/>
            <a:ext cx="1060200" cy="638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4" name="Google Shape;244;p30"/>
          <p:cNvSpPr txBox="1"/>
          <p:nvPr/>
        </p:nvSpPr>
        <p:spPr>
          <a:xfrm>
            <a:off x="5431675" y="4343100"/>
            <a:ext cx="5178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2478513" y="43297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245" name="Google Shape;245;p30"/>
          <p:cNvCxnSpPr>
            <a:stCxn id="241" idx="6"/>
            <a:endCxn id="234" idx="2"/>
          </p:cNvCxnSpPr>
          <p:nvPr/>
        </p:nvCxnSpPr>
        <p:spPr>
          <a:xfrm>
            <a:off x="3068313" y="4605325"/>
            <a:ext cx="15024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6" name="Google Shape;246;p30"/>
          <p:cNvSpPr txBox="1"/>
          <p:nvPr/>
        </p:nvSpPr>
        <p:spPr>
          <a:xfrm>
            <a:off x="3557900" y="3047725"/>
            <a:ext cx="517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t(3)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252" name="Google Shape;252;p31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Moody example (interval graph representation)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Ignore times and you have a typical fully connected network graph (there is a possible path between any two vertices)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Bring in times, and some paths disappear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Path only exists between two nodes if intervals are time ordered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 path exists, but not AD path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53" name="Google Shape;253;p31"/>
          <p:cNvGrpSpPr/>
          <p:nvPr/>
        </p:nvGrpSpPr>
        <p:grpSpPr>
          <a:xfrm>
            <a:off x="794138" y="3167163"/>
            <a:ext cx="7555700" cy="1567038"/>
            <a:chOff x="794138" y="3167163"/>
            <a:chExt cx="7555700" cy="1567038"/>
          </a:xfrm>
        </p:grpSpPr>
        <p:sp>
          <p:nvSpPr>
            <p:cNvPr id="254" name="Google Shape;254;p31"/>
            <p:cNvSpPr/>
            <p:nvPr/>
          </p:nvSpPr>
          <p:spPr>
            <a:xfrm>
              <a:off x="794138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</a:t>
              </a:r>
              <a:endParaRPr/>
            </a:p>
          </p:txBody>
        </p:sp>
        <p:cxnSp>
          <p:nvCxnSpPr>
            <p:cNvPr id="255" name="Google Shape;255;p31"/>
            <p:cNvCxnSpPr>
              <a:stCxn id="254" idx="6"/>
              <a:endCxn id="256" idx="2"/>
            </p:cNvCxnSpPr>
            <p:nvPr/>
          </p:nvCxnSpPr>
          <p:spPr>
            <a:xfrm>
              <a:off x="1383938" y="3853550"/>
              <a:ext cx="17400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6" name="Google Shape;256;p31"/>
            <p:cNvSpPr/>
            <p:nvPr/>
          </p:nvSpPr>
          <p:spPr>
            <a:xfrm>
              <a:off x="3123825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257" name="Google Shape;257;p31"/>
            <p:cNvCxnSpPr>
              <a:stCxn id="256" idx="6"/>
              <a:endCxn id="258" idx="2"/>
            </p:cNvCxnSpPr>
            <p:nvPr/>
          </p:nvCxnSpPr>
          <p:spPr>
            <a:xfrm>
              <a:off x="3713625" y="3853550"/>
              <a:ext cx="1740000" cy="605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31"/>
            <p:cNvCxnSpPr>
              <a:stCxn id="256" idx="6"/>
              <a:endCxn id="260" idx="2"/>
            </p:cNvCxnSpPr>
            <p:nvPr/>
          </p:nvCxnSpPr>
          <p:spPr>
            <a:xfrm flipH="1" rot="10800000">
              <a:off x="3713625" y="3442850"/>
              <a:ext cx="1740000" cy="4107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8" name="Google Shape;258;p31"/>
            <p:cNvSpPr/>
            <p:nvPr/>
          </p:nvSpPr>
          <p:spPr>
            <a:xfrm>
              <a:off x="5453513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5453513" y="3167163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7760038" y="31671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cxnSp>
          <p:nvCxnSpPr>
            <p:cNvPr id="262" name="Google Shape;262;p31"/>
            <p:cNvCxnSpPr>
              <a:stCxn id="260" idx="6"/>
              <a:endCxn id="261" idx="2"/>
            </p:cNvCxnSpPr>
            <p:nvPr/>
          </p:nvCxnSpPr>
          <p:spPr>
            <a:xfrm>
              <a:off x="6043313" y="3442713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3" name="Google Shape;263;p31"/>
            <p:cNvSpPr/>
            <p:nvPr/>
          </p:nvSpPr>
          <p:spPr>
            <a:xfrm>
              <a:off x="7760038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F</a:t>
              </a:r>
              <a:endParaRPr/>
            </a:p>
          </p:txBody>
        </p:sp>
        <p:cxnSp>
          <p:nvCxnSpPr>
            <p:cNvPr id="264" name="Google Shape;264;p31"/>
            <p:cNvCxnSpPr>
              <a:stCxn id="258" idx="6"/>
              <a:endCxn id="263" idx="2"/>
            </p:cNvCxnSpPr>
            <p:nvPr/>
          </p:nvCxnSpPr>
          <p:spPr>
            <a:xfrm>
              <a:off x="6043313" y="4458650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5" name="Google Shape;265;p31"/>
            <p:cNvSpPr txBox="1"/>
            <p:nvPr/>
          </p:nvSpPr>
          <p:spPr>
            <a:xfrm>
              <a:off x="1810825" y="3579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(2, 5)</a:t>
              </a:r>
              <a:endParaRPr/>
            </a:p>
          </p:txBody>
        </p:sp>
        <p:sp>
          <p:nvSpPr>
            <p:cNvPr id="266" name="Google Shape;266;p31"/>
            <p:cNvSpPr txBox="1"/>
            <p:nvPr/>
          </p:nvSpPr>
          <p:spPr>
            <a:xfrm>
              <a:off x="6473138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(3, 5)</a:t>
              </a:r>
              <a:endParaRPr/>
            </a:p>
          </p:txBody>
        </p:sp>
        <p:sp>
          <p:nvSpPr>
            <p:cNvPr id="267" name="Google Shape;267;p31"/>
            <p:cNvSpPr txBox="1"/>
            <p:nvPr/>
          </p:nvSpPr>
          <p:spPr>
            <a:xfrm>
              <a:off x="6473138" y="3221325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(8, 9)</a:t>
              </a:r>
              <a:endParaRPr/>
            </a:p>
          </p:txBody>
        </p:sp>
        <p:sp>
          <p:nvSpPr>
            <p:cNvPr id="268" name="Google Shape;268;p31"/>
            <p:cNvSpPr txBox="1"/>
            <p:nvPr/>
          </p:nvSpPr>
          <p:spPr>
            <a:xfrm>
              <a:off x="4155025" y="33578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(3, 7)</a:t>
              </a:r>
              <a:endParaRPr/>
            </a:p>
          </p:txBody>
        </p:sp>
        <p:sp>
          <p:nvSpPr>
            <p:cNvPr id="269" name="Google Shape;269;p31"/>
            <p:cNvSpPr txBox="1"/>
            <p:nvPr/>
          </p:nvSpPr>
          <p:spPr>
            <a:xfrm>
              <a:off x="4166600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(0, 1)</a:t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Concurrent</a:t>
            </a:r>
            <a:r>
              <a:rPr lang="en"/>
              <a:t> edges that share a node define reciprocal or two way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A-B concurrent with B-C because intervals overlap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 AC  path exists and and so does CA path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32"/>
          <p:cNvGrpSpPr/>
          <p:nvPr/>
        </p:nvGrpSpPr>
        <p:grpSpPr>
          <a:xfrm>
            <a:off x="794138" y="3167163"/>
            <a:ext cx="7555700" cy="1567038"/>
            <a:chOff x="794138" y="3167163"/>
            <a:chExt cx="7555700" cy="1567038"/>
          </a:xfrm>
        </p:grpSpPr>
        <p:sp>
          <p:nvSpPr>
            <p:cNvPr id="277" name="Google Shape;277;p32"/>
            <p:cNvSpPr/>
            <p:nvPr/>
          </p:nvSpPr>
          <p:spPr>
            <a:xfrm>
              <a:off x="794138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</a:t>
              </a:r>
              <a:endParaRPr/>
            </a:p>
          </p:txBody>
        </p:sp>
        <p:cxnSp>
          <p:nvCxnSpPr>
            <p:cNvPr id="278" name="Google Shape;278;p32"/>
            <p:cNvCxnSpPr>
              <a:stCxn id="277" idx="6"/>
              <a:endCxn id="279" idx="2"/>
            </p:cNvCxnSpPr>
            <p:nvPr/>
          </p:nvCxnSpPr>
          <p:spPr>
            <a:xfrm>
              <a:off x="1383938" y="3853550"/>
              <a:ext cx="17400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" name="Google Shape;279;p32"/>
            <p:cNvSpPr/>
            <p:nvPr/>
          </p:nvSpPr>
          <p:spPr>
            <a:xfrm>
              <a:off x="3123825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280" name="Google Shape;280;p32"/>
            <p:cNvCxnSpPr>
              <a:stCxn id="279" idx="6"/>
              <a:endCxn id="281" idx="2"/>
            </p:cNvCxnSpPr>
            <p:nvPr/>
          </p:nvCxnSpPr>
          <p:spPr>
            <a:xfrm>
              <a:off x="3713625" y="3853550"/>
              <a:ext cx="1740000" cy="605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2" name="Google Shape;282;p32"/>
            <p:cNvCxnSpPr>
              <a:stCxn id="279" idx="6"/>
              <a:endCxn id="283" idx="2"/>
            </p:cNvCxnSpPr>
            <p:nvPr/>
          </p:nvCxnSpPr>
          <p:spPr>
            <a:xfrm flipH="1" rot="10800000">
              <a:off x="3713625" y="3442850"/>
              <a:ext cx="1740000" cy="4107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1" name="Google Shape;281;p32"/>
            <p:cNvSpPr/>
            <p:nvPr/>
          </p:nvSpPr>
          <p:spPr>
            <a:xfrm>
              <a:off x="5453513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283" name="Google Shape;283;p32"/>
            <p:cNvSpPr/>
            <p:nvPr/>
          </p:nvSpPr>
          <p:spPr>
            <a:xfrm>
              <a:off x="5453513" y="3167163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7760038" y="31671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cxnSp>
          <p:nvCxnSpPr>
            <p:cNvPr id="285" name="Google Shape;285;p32"/>
            <p:cNvCxnSpPr>
              <a:stCxn id="283" idx="6"/>
              <a:endCxn id="284" idx="2"/>
            </p:cNvCxnSpPr>
            <p:nvPr/>
          </p:nvCxnSpPr>
          <p:spPr>
            <a:xfrm>
              <a:off x="6043313" y="3442713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6" name="Google Shape;286;p32"/>
            <p:cNvSpPr/>
            <p:nvPr/>
          </p:nvSpPr>
          <p:spPr>
            <a:xfrm>
              <a:off x="7760038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F</a:t>
              </a:r>
              <a:endParaRPr/>
            </a:p>
          </p:txBody>
        </p:sp>
        <p:cxnSp>
          <p:nvCxnSpPr>
            <p:cNvPr id="287" name="Google Shape;287;p32"/>
            <p:cNvCxnSpPr>
              <a:stCxn id="281" idx="6"/>
              <a:endCxn id="286" idx="2"/>
            </p:cNvCxnSpPr>
            <p:nvPr/>
          </p:nvCxnSpPr>
          <p:spPr>
            <a:xfrm>
              <a:off x="6043313" y="4458650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8" name="Google Shape;288;p32"/>
            <p:cNvSpPr txBox="1"/>
            <p:nvPr/>
          </p:nvSpPr>
          <p:spPr>
            <a:xfrm>
              <a:off x="1810825" y="3579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(2, 5)</a:t>
              </a:r>
              <a:endParaRPr/>
            </a:p>
          </p:txBody>
        </p:sp>
        <p:sp>
          <p:nvSpPr>
            <p:cNvPr id="289" name="Google Shape;289;p32"/>
            <p:cNvSpPr txBox="1"/>
            <p:nvPr/>
          </p:nvSpPr>
          <p:spPr>
            <a:xfrm>
              <a:off x="6473138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(3, 5)</a:t>
              </a:r>
              <a:endParaRPr/>
            </a:p>
          </p:txBody>
        </p:sp>
        <p:sp>
          <p:nvSpPr>
            <p:cNvPr id="290" name="Google Shape;290;p32"/>
            <p:cNvSpPr txBox="1"/>
            <p:nvPr/>
          </p:nvSpPr>
          <p:spPr>
            <a:xfrm>
              <a:off x="6473138" y="3221325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(8, 9)</a:t>
              </a:r>
              <a:endParaRPr/>
            </a:p>
          </p:txBody>
        </p:sp>
        <p:sp>
          <p:nvSpPr>
            <p:cNvPr id="291" name="Google Shape;291;p32"/>
            <p:cNvSpPr txBox="1"/>
            <p:nvPr/>
          </p:nvSpPr>
          <p:spPr>
            <a:xfrm>
              <a:off x="4155025" y="33578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(3, 7)</a:t>
              </a:r>
              <a:endParaRPr/>
            </a:p>
          </p:txBody>
        </p:sp>
        <p:sp>
          <p:nvSpPr>
            <p:cNvPr id="292" name="Google Shape;292;p32"/>
            <p:cNvSpPr txBox="1"/>
            <p:nvPr/>
          </p:nvSpPr>
          <p:spPr>
            <a:xfrm>
              <a:off x="4166600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(0, 1)</a:t>
              </a: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paths are sequences of edges in which each new edge follows the past edges in time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AB, BC, CE</a:t>
            </a:r>
            <a:endParaRPr/>
          </a:p>
        </p:txBody>
      </p:sp>
      <p:grpSp>
        <p:nvGrpSpPr>
          <p:cNvPr id="299" name="Google Shape;299;p33"/>
          <p:cNvGrpSpPr/>
          <p:nvPr/>
        </p:nvGrpSpPr>
        <p:grpSpPr>
          <a:xfrm>
            <a:off x="794138" y="3167163"/>
            <a:ext cx="7555700" cy="1567038"/>
            <a:chOff x="794138" y="3167163"/>
            <a:chExt cx="7555700" cy="1567038"/>
          </a:xfrm>
        </p:grpSpPr>
        <p:sp>
          <p:nvSpPr>
            <p:cNvPr id="300" name="Google Shape;300;p33"/>
            <p:cNvSpPr/>
            <p:nvPr/>
          </p:nvSpPr>
          <p:spPr>
            <a:xfrm>
              <a:off x="794138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A</a:t>
              </a:r>
              <a:endParaRPr/>
            </a:p>
          </p:txBody>
        </p:sp>
        <p:cxnSp>
          <p:nvCxnSpPr>
            <p:cNvPr id="301" name="Google Shape;301;p33"/>
            <p:cNvCxnSpPr>
              <a:stCxn id="300" idx="6"/>
              <a:endCxn id="302" idx="2"/>
            </p:cNvCxnSpPr>
            <p:nvPr/>
          </p:nvCxnSpPr>
          <p:spPr>
            <a:xfrm>
              <a:off x="1383938" y="3853550"/>
              <a:ext cx="17400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2" name="Google Shape;302;p33"/>
            <p:cNvSpPr/>
            <p:nvPr/>
          </p:nvSpPr>
          <p:spPr>
            <a:xfrm>
              <a:off x="3123825" y="35780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B</a:t>
              </a:r>
              <a:endParaRPr/>
            </a:p>
          </p:txBody>
        </p:sp>
        <p:cxnSp>
          <p:nvCxnSpPr>
            <p:cNvPr id="303" name="Google Shape;303;p33"/>
            <p:cNvCxnSpPr>
              <a:stCxn id="302" idx="6"/>
              <a:endCxn id="304" idx="2"/>
            </p:cNvCxnSpPr>
            <p:nvPr/>
          </p:nvCxnSpPr>
          <p:spPr>
            <a:xfrm>
              <a:off x="3713625" y="3853550"/>
              <a:ext cx="1740000" cy="605100"/>
            </a:xfrm>
            <a:prstGeom prst="straightConnector1">
              <a:avLst/>
            </a:prstGeom>
            <a:noFill/>
            <a:ln cap="flat" cmpd="sng" w="2857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33"/>
            <p:cNvCxnSpPr>
              <a:stCxn id="302" idx="6"/>
              <a:endCxn id="306" idx="2"/>
            </p:cNvCxnSpPr>
            <p:nvPr/>
          </p:nvCxnSpPr>
          <p:spPr>
            <a:xfrm flipH="1" rot="10800000">
              <a:off x="3713625" y="3442850"/>
              <a:ext cx="1740000" cy="41070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4" name="Google Shape;304;p33"/>
            <p:cNvSpPr/>
            <p:nvPr/>
          </p:nvSpPr>
          <p:spPr>
            <a:xfrm>
              <a:off x="5453513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D</a:t>
              </a:r>
              <a:endParaRPr/>
            </a:p>
          </p:txBody>
        </p:sp>
        <p:sp>
          <p:nvSpPr>
            <p:cNvPr id="306" name="Google Shape;306;p33"/>
            <p:cNvSpPr/>
            <p:nvPr/>
          </p:nvSpPr>
          <p:spPr>
            <a:xfrm>
              <a:off x="5453513" y="3167163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C</a:t>
              </a:r>
              <a:endParaRPr/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7760038" y="3167175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E</a:t>
              </a:r>
              <a:endParaRPr/>
            </a:p>
          </p:txBody>
        </p:sp>
        <p:cxnSp>
          <p:nvCxnSpPr>
            <p:cNvPr id="308" name="Google Shape;308;p33"/>
            <p:cNvCxnSpPr>
              <a:stCxn id="306" idx="6"/>
              <a:endCxn id="307" idx="2"/>
            </p:cNvCxnSpPr>
            <p:nvPr/>
          </p:nvCxnSpPr>
          <p:spPr>
            <a:xfrm>
              <a:off x="6043313" y="3442713"/>
              <a:ext cx="1716600" cy="0"/>
            </a:xfrm>
            <a:prstGeom prst="straightConnector1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309" name="Google Shape;309;p33"/>
            <p:cNvSpPr/>
            <p:nvPr/>
          </p:nvSpPr>
          <p:spPr>
            <a:xfrm>
              <a:off x="7760038" y="4183100"/>
              <a:ext cx="589800" cy="5511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1"/>
                  </a:solidFill>
                </a:rPr>
                <a:t>F</a:t>
              </a:r>
              <a:endParaRPr/>
            </a:p>
          </p:txBody>
        </p:sp>
        <p:cxnSp>
          <p:nvCxnSpPr>
            <p:cNvPr id="310" name="Google Shape;310;p33"/>
            <p:cNvCxnSpPr>
              <a:stCxn id="304" idx="6"/>
              <a:endCxn id="309" idx="2"/>
            </p:cNvCxnSpPr>
            <p:nvPr/>
          </p:nvCxnSpPr>
          <p:spPr>
            <a:xfrm>
              <a:off x="6043313" y="4458650"/>
              <a:ext cx="1716600" cy="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" name="Google Shape;311;p33"/>
            <p:cNvSpPr txBox="1"/>
            <p:nvPr/>
          </p:nvSpPr>
          <p:spPr>
            <a:xfrm>
              <a:off x="1810825" y="3579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(2, 5)</a:t>
              </a:r>
              <a:endParaRPr/>
            </a:p>
          </p:txBody>
        </p:sp>
        <p:sp>
          <p:nvSpPr>
            <p:cNvPr id="312" name="Google Shape;312;p33"/>
            <p:cNvSpPr txBox="1"/>
            <p:nvPr/>
          </p:nvSpPr>
          <p:spPr>
            <a:xfrm>
              <a:off x="6473138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(3, 5)</a:t>
              </a:r>
              <a:endParaRPr/>
            </a:p>
          </p:txBody>
        </p:sp>
        <p:sp>
          <p:nvSpPr>
            <p:cNvPr id="313" name="Google Shape;313;p33"/>
            <p:cNvSpPr txBox="1"/>
            <p:nvPr/>
          </p:nvSpPr>
          <p:spPr>
            <a:xfrm>
              <a:off x="6473138" y="3221325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(8, 9)</a:t>
              </a:r>
              <a:endParaRPr/>
            </a:p>
          </p:txBody>
        </p:sp>
        <p:sp>
          <p:nvSpPr>
            <p:cNvPr id="314" name="Google Shape;314;p33"/>
            <p:cNvSpPr txBox="1"/>
            <p:nvPr/>
          </p:nvSpPr>
          <p:spPr>
            <a:xfrm>
              <a:off x="4155025" y="33578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(3, 7)</a:t>
              </a:r>
              <a:endParaRPr/>
            </a:p>
          </p:txBody>
        </p:sp>
        <p:sp>
          <p:nvSpPr>
            <p:cNvPr id="315" name="Google Shape;315;p33"/>
            <p:cNvSpPr txBox="1"/>
            <p:nvPr/>
          </p:nvSpPr>
          <p:spPr>
            <a:xfrm>
              <a:off x="4166600" y="4237250"/>
              <a:ext cx="857100" cy="22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(0, 1)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Time-Ordered Networks</a:t>
            </a:r>
            <a:endParaRPr/>
          </a:p>
        </p:txBody>
      </p:sp>
      <p:sp>
        <p:nvSpPr>
          <p:cNvPr id="321" name="Google Shape;321;p34"/>
          <p:cNvSpPr txBox="1"/>
          <p:nvPr>
            <p:ph idx="1" type="body"/>
          </p:nvPr>
        </p:nvSpPr>
        <p:spPr>
          <a:xfrm>
            <a:off x="311700" y="1225225"/>
            <a:ext cx="8472600" cy="17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paths are sequences of edges in which each new edge follows the past edges in time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AB, BC, 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DB, BC, 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4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cxnSp>
        <p:nvCxnSpPr>
          <p:cNvPr id="323" name="Google Shape;323;p34"/>
          <p:cNvCxnSpPr>
            <a:stCxn id="322" idx="6"/>
            <a:endCxn id="324" idx="2"/>
          </p:cNvCxnSpPr>
          <p:nvPr/>
        </p:nvCxnSpPr>
        <p:spPr>
          <a:xfrm>
            <a:off x="1383938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" name="Google Shape;324;p34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cxnSp>
        <p:nvCxnSpPr>
          <p:cNvPr id="325" name="Google Shape;325;p34"/>
          <p:cNvCxnSpPr>
            <a:stCxn id="324" idx="6"/>
            <a:endCxn id="326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7" name="Google Shape;327;p34"/>
          <p:cNvCxnSpPr>
            <a:stCxn id="324" idx="6"/>
            <a:endCxn id="328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6" name="Google Shape;326;p34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28" name="Google Shape;328;p34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cxnSp>
        <p:nvCxnSpPr>
          <p:cNvPr id="330" name="Google Shape;330;p34"/>
          <p:cNvCxnSpPr>
            <a:stCxn id="328" idx="6"/>
            <a:endCxn id="329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1" name="Google Shape;331;p34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32" name="Google Shape;332;p34"/>
          <p:cNvCxnSpPr>
            <a:stCxn id="326" idx="6"/>
            <a:endCxn id="331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4"/>
          <p:cNvSpPr txBox="1"/>
          <p:nvPr/>
        </p:nvSpPr>
        <p:spPr>
          <a:xfrm>
            <a:off x="1810825" y="35792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(2, 5)</a:t>
            </a:r>
            <a:endParaRPr/>
          </a:p>
        </p:txBody>
      </p:sp>
      <p:sp>
        <p:nvSpPr>
          <p:cNvPr id="334" name="Google Shape;334;p34"/>
          <p:cNvSpPr txBox="1"/>
          <p:nvPr/>
        </p:nvSpPr>
        <p:spPr>
          <a:xfrm>
            <a:off x="6473138" y="42372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(3, 5)</a:t>
            </a:r>
            <a:endParaRPr/>
          </a:p>
        </p:txBody>
      </p:sp>
      <p:sp>
        <p:nvSpPr>
          <p:cNvPr id="335" name="Google Shape;335;p34"/>
          <p:cNvSpPr txBox="1"/>
          <p:nvPr/>
        </p:nvSpPr>
        <p:spPr>
          <a:xfrm>
            <a:off x="6473138" y="3221325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(8, 9)</a:t>
            </a:r>
            <a:endParaRPr/>
          </a:p>
        </p:txBody>
      </p:sp>
      <p:sp>
        <p:nvSpPr>
          <p:cNvPr id="336" name="Google Shape;336;p34"/>
          <p:cNvSpPr txBox="1"/>
          <p:nvPr/>
        </p:nvSpPr>
        <p:spPr>
          <a:xfrm>
            <a:off x="4155025" y="33578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(3, 7)</a:t>
            </a:r>
            <a:endParaRPr/>
          </a:p>
        </p:txBody>
      </p:sp>
      <p:sp>
        <p:nvSpPr>
          <p:cNvPr id="337" name="Google Shape;337;p34"/>
          <p:cNvSpPr txBox="1"/>
          <p:nvPr/>
        </p:nvSpPr>
        <p:spPr>
          <a:xfrm>
            <a:off x="4166600" y="4237250"/>
            <a:ext cx="8571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(0, 1)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(reachability) Graph</a:t>
            </a:r>
            <a:endParaRPr/>
          </a:p>
        </p:txBody>
      </p:sp>
      <p:sp>
        <p:nvSpPr>
          <p:cNvPr id="343" name="Google Shape;343;p35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sp>
        <p:nvSpPr>
          <p:cNvPr id="344" name="Google Shape;344;p35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46" name="Google Shape;346;p35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47" name="Google Shape;347;p35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348" name="Google Shape;348;p35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49" name="Google Shape;349;p35"/>
          <p:cNvCxnSpPr>
            <a:endCxn id="344" idx="2"/>
          </p:cNvCxnSpPr>
          <p:nvPr/>
        </p:nvCxnSpPr>
        <p:spPr>
          <a:xfrm>
            <a:off x="1383825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0" name="Google Shape;350;p35"/>
          <p:cNvCxnSpPr>
            <a:stCxn id="343" idx="7"/>
            <a:endCxn id="346" idx="1"/>
          </p:cNvCxnSpPr>
          <p:nvPr/>
        </p:nvCxnSpPr>
        <p:spPr>
          <a:xfrm rot="-5400000">
            <a:off x="3213363" y="1332207"/>
            <a:ext cx="410700" cy="4242300"/>
          </a:xfrm>
          <a:prstGeom prst="curvedConnector3">
            <a:avLst>
              <a:gd fmla="val 21024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1" name="Google Shape;351;p35"/>
          <p:cNvCxnSpPr>
            <a:stCxn id="343" idx="7"/>
            <a:endCxn id="347" idx="1"/>
          </p:cNvCxnSpPr>
          <p:nvPr/>
        </p:nvCxnSpPr>
        <p:spPr>
          <a:xfrm rot="-5400000">
            <a:off x="4366563" y="179007"/>
            <a:ext cx="410700" cy="6548700"/>
          </a:xfrm>
          <a:prstGeom prst="curvedConnector3">
            <a:avLst>
              <a:gd fmla="val 177662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2" name="Google Shape;352;p35"/>
          <p:cNvCxnSpPr>
            <a:stCxn id="344" idx="6"/>
            <a:endCxn id="346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353" name="Google Shape;353;p35"/>
          <p:cNvCxnSpPr>
            <a:stCxn id="345" idx="6"/>
            <a:endCxn id="348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4" name="Google Shape;354;p35"/>
          <p:cNvCxnSpPr>
            <a:stCxn id="344" idx="6"/>
            <a:endCxn id="345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5" name="Google Shape;355;p35"/>
          <p:cNvCxnSpPr>
            <a:stCxn id="346" idx="6"/>
            <a:endCxn id="347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56" name="Google Shape;356;p35"/>
          <p:cNvCxnSpPr>
            <a:stCxn id="345" idx="3"/>
            <a:endCxn id="343" idx="5"/>
          </p:cNvCxnSpPr>
          <p:nvPr/>
        </p:nvCxnSpPr>
        <p:spPr>
          <a:xfrm flipH="1" rot="5400000">
            <a:off x="3116187" y="2229793"/>
            <a:ext cx="605100" cy="4242300"/>
          </a:xfrm>
          <a:prstGeom prst="curvedConnector3">
            <a:avLst>
              <a:gd fmla="val -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7" name="Google Shape;357;p35"/>
          <p:cNvCxnSpPr>
            <a:stCxn id="344" idx="7"/>
            <a:endCxn id="347" idx="1"/>
          </p:cNvCxnSpPr>
          <p:nvPr/>
        </p:nvCxnSpPr>
        <p:spPr>
          <a:xfrm rot="-5400000">
            <a:off x="5531501" y="1343757"/>
            <a:ext cx="410700" cy="4219200"/>
          </a:xfrm>
          <a:prstGeom prst="curvedConnector3">
            <a:avLst>
              <a:gd fmla="val 22197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8" name="Google Shape;358;p35"/>
          <p:cNvCxnSpPr>
            <a:stCxn id="344" idx="5"/>
            <a:endCxn id="348" idx="3"/>
          </p:cNvCxnSpPr>
          <p:nvPr/>
        </p:nvCxnSpPr>
        <p:spPr>
          <a:xfrm flipH="1" rot="-5400000">
            <a:off x="5434301" y="2241343"/>
            <a:ext cx="605100" cy="4219200"/>
          </a:xfrm>
          <a:prstGeom prst="curvedConnector3">
            <a:avLst>
              <a:gd fmla="val 1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9" name="Google Shape;359;p35"/>
          <p:cNvCxnSpPr>
            <a:stCxn id="345" idx="5"/>
            <a:endCxn id="347" idx="3"/>
          </p:cNvCxnSpPr>
          <p:nvPr/>
        </p:nvCxnSpPr>
        <p:spPr>
          <a:xfrm rot="-5400000">
            <a:off x="6393738" y="3200893"/>
            <a:ext cx="1015800" cy="1889400"/>
          </a:xfrm>
          <a:prstGeom prst="curvedConnector3">
            <a:avLst>
              <a:gd fmla="val 1828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0" name="Google Shape;360;p35"/>
          <p:cNvCxnSpPr>
            <a:stCxn id="345" idx="6"/>
            <a:endCxn id="346" idx="6"/>
          </p:cNvCxnSpPr>
          <p:nvPr/>
        </p:nvCxnSpPr>
        <p:spPr>
          <a:xfrm flipH="1" rot="10800000">
            <a:off x="6043313" y="3442850"/>
            <a:ext cx="600" cy="1015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1" name="Google Shape;361;p35"/>
          <p:cNvSpPr txBox="1"/>
          <p:nvPr>
            <p:ph idx="1" type="body"/>
          </p:nvPr>
        </p:nvSpPr>
        <p:spPr>
          <a:xfrm>
            <a:off x="311700" y="1225225"/>
            <a:ext cx="8520600" cy="1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Direct edges in the interval graph get a bi-directional (</a:t>
            </a:r>
            <a:r>
              <a:rPr b="1" lang="en">
                <a:solidFill>
                  <a:srgbClr val="FF0000"/>
                </a:solidFill>
              </a:rPr>
              <a:t>red</a:t>
            </a:r>
            <a:r>
              <a:rPr lang="en"/>
              <a:t>) edge in the reachiability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Transmission can go both ways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AB, BD, BC, CE, DF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(reachability) Graph</a:t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73" name="Google Shape;373;p36"/>
          <p:cNvCxnSpPr>
            <a:endCxn id="368" idx="2"/>
          </p:cNvCxnSpPr>
          <p:nvPr/>
        </p:nvCxnSpPr>
        <p:spPr>
          <a:xfrm>
            <a:off x="1383825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4" name="Google Shape;374;p36"/>
          <p:cNvCxnSpPr>
            <a:stCxn id="367" idx="7"/>
            <a:endCxn id="370" idx="1"/>
          </p:cNvCxnSpPr>
          <p:nvPr/>
        </p:nvCxnSpPr>
        <p:spPr>
          <a:xfrm rot="-5400000">
            <a:off x="3213363" y="1332207"/>
            <a:ext cx="410700" cy="4242300"/>
          </a:xfrm>
          <a:prstGeom prst="curvedConnector3">
            <a:avLst>
              <a:gd fmla="val 21024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5" name="Google Shape;375;p36"/>
          <p:cNvCxnSpPr>
            <a:stCxn id="367" idx="7"/>
            <a:endCxn id="371" idx="1"/>
          </p:cNvCxnSpPr>
          <p:nvPr/>
        </p:nvCxnSpPr>
        <p:spPr>
          <a:xfrm rot="-5400000">
            <a:off x="4366563" y="179007"/>
            <a:ext cx="410700" cy="6548700"/>
          </a:xfrm>
          <a:prstGeom prst="curvedConnector3">
            <a:avLst>
              <a:gd fmla="val 177662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76" name="Google Shape;376;p36"/>
          <p:cNvCxnSpPr>
            <a:stCxn id="368" idx="6"/>
            <a:endCxn id="370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377" name="Google Shape;377;p36"/>
          <p:cNvCxnSpPr>
            <a:stCxn id="369" idx="6"/>
            <a:endCxn id="372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8" name="Google Shape;378;p36"/>
          <p:cNvCxnSpPr>
            <a:stCxn id="368" idx="6"/>
            <a:endCxn id="369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79" name="Google Shape;379;p36"/>
          <p:cNvCxnSpPr>
            <a:stCxn id="370" idx="6"/>
            <a:endCxn id="371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80" name="Google Shape;380;p36"/>
          <p:cNvCxnSpPr>
            <a:stCxn id="369" idx="3"/>
            <a:endCxn id="367" idx="5"/>
          </p:cNvCxnSpPr>
          <p:nvPr/>
        </p:nvCxnSpPr>
        <p:spPr>
          <a:xfrm flipH="1" rot="5400000">
            <a:off x="3116187" y="2229793"/>
            <a:ext cx="605100" cy="4242300"/>
          </a:xfrm>
          <a:prstGeom prst="curvedConnector3">
            <a:avLst>
              <a:gd fmla="val -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1" name="Google Shape;381;p36"/>
          <p:cNvCxnSpPr>
            <a:stCxn id="368" idx="7"/>
            <a:endCxn id="371" idx="1"/>
          </p:cNvCxnSpPr>
          <p:nvPr/>
        </p:nvCxnSpPr>
        <p:spPr>
          <a:xfrm rot="-5400000">
            <a:off x="5531501" y="1343757"/>
            <a:ext cx="410700" cy="4219200"/>
          </a:xfrm>
          <a:prstGeom prst="curvedConnector3">
            <a:avLst>
              <a:gd fmla="val 22197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2" name="Google Shape;382;p36"/>
          <p:cNvCxnSpPr>
            <a:stCxn id="368" idx="5"/>
            <a:endCxn id="372" idx="3"/>
          </p:cNvCxnSpPr>
          <p:nvPr/>
        </p:nvCxnSpPr>
        <p:spPr>
          <a:xfrm flipH="1" rot="-5400000">
            <a:off x="5434301" y="2241343"/>
            <a:ext cx="605100" cy="4219200"/>
          </a:xfrm>
          <a:prstGeom prst="curvedConnector3">
            <a:avLst>
              <a:gd fmla="val 1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3" name="Google Shape;383;p36"/>
          <p:cNvCxnSpPr>
            <a:stCxn id="369" idx="5"/>
            <a:endCxn id="371" idx="3"/>
          </p:cNvCxnSpPr>
          <p:nvPr/>
        </p:nvCxnSpPr>
        <p:spPr>
          <a:xfrm rot="-5400000">
            <a:off x="6393738" y="3200893"/>
            <a:ext cx="1015800" cy="1889400"/>
          </a:xfrm>
          <a:prstGeom prst="curvedConnector3">
            <a:avLst>
              <a:gd fmla="val 1828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4" name="Google Shape;384;p36"/>
          <p:cNvCxnSpPr>
            <a:stCxn id="369" idx="6"/>
            <a:endCxn id="370" idx="6"/>
          </p:cNvCxnSpPr>
          <p:nvPr/>
        </p:nvCxnSpPr>
        <p:spPr>
          <a:xfrm flipH="1" rot="10800000">
            <a:off x="6043313" y="3442850"/>
            <a:ext cx="600" cy="1015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5" name="Google Shape;385;p36"/>
          <p:cNvSpPr txBox="1"/>
          <p:nvPr>
            <p:ph idx="1" type="body"/>
          </p:nvPr>
        </p:nvSpPr>
        <p:spPr>
          <a:xfrm>
            <a:off x="311700" y="1225225"/>
            <a:ext cx="8520600" cy="1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</a:t>
            </a:r>
            <a:r>
              <a:rPr lang="en"/>
              <a:t> paths in the interval graph get a one-directional (</a:t>
            </a:r>
            <a:r>
              <a:rPr b="1" lang="en">
                <a:solidFill>
                  <a:srgbClr val="0000FF"/>
                </a:solidFill>
              </a:rPr>
              <a:t>blue</a:t>
            </a:r>
            <a:r>
              <a:rPr lang="en"/>
              <a:t>) edge in the reachability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 for vertices A and D, only arc DA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(reachability) Graph</a:t>
            </a:r>
            <a:endParaRPr/>
          </a:p>
        </p:txBody>
      </p:sp>
      <p:sp>
        <p:nvSpPr>
          <p:cNvPr id="391" name="Google Shape;391;p37"/>
          <p:cNvSpPr/>
          <p:nvPr/>
        </p:nvSpPr>
        <p:spPr>
          <a:xfrm>
            <a:off x="794138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</a:t>
            </a:r>
            <a:endParaRPr/>
          </a:p>
        </p:txBody>
      </p:sp>
      <p:sp>
        <p:nvSpPr>
          <p:cNvPr id="392" name="Google Shape;392;p37"/>
          <p:cNvSpPr/>
          <p:nvPr/>
        </p:nvSpPr>
        <p:spPr>
          <a:xfrm>
            <a:off x="3123825" y="35780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B</a:t>
            </a:r>
            <a:endParaRPr/>
          </a:p>
        </p:txBody>
      </p:sp>
      <p:sp>
        <p:nvSpPr>
          <p:cNvPr id="393" name="Google Shape;393;p37"/>
          <p:cNvSpPr/>
          <p:nvPr/>
        </p:nvSpPr>
        <p:spPr>
          <a:xfrm>
            <a:off x="5453513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D</a:t>
            </a:r>
            <a:endParaRPr/>
          </a:p>
        </p:txBody>
      </p:sp>
      <p:sp>
        <p:nvSpPr>
          <p:cNvPr id="394" name="Google Shape;394;p37"/>
          <p:cNvSpPr/>
          <p:nvPr/>
        </p:nvSpPr>
        <p:spPr>
          <a:xfrm>
            <a:off x="5453513" y="3167163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</a:t>
            </a:r>
            <a:endParaRPr/>
          </a:p>
        </p:txBody>
      </p:sp>
      <p:sp>
        <p:nvSpPr>
          <p:cNvPr id="395" name="Google Shape;395;p37"/>
          <p:cNvSpPr/>
          <p:nvPr/>
        </p:nvSpPr>
        <p:spPr>
          <a:xfrm>
            <a:off x="7760038" y="3167175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</a:t>
            </a:r>
            <a:endParaRPr/>
          </a:p>
        </p:txBody>
      </p:sp>
      <p:sp>
        <p:nvSpPr>
          <p:cNvPr id="396" name="Google Shape;396;p37"/>
          <p:cNvSpPr/>
          <p:nvPr/>
        </p:nvSpPr>
        <p:spPr>
          <a:xfrm>
            <a:off x="7760038" y="4183100"/>
            <a:ext cx="589800" cy="551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</a:t>
            </a:r>
            <a:endParaRPr/>
          </a:p>
        </p:txBody>
      </p:sp>
      <p:cxnSp>
        <p:nvCxnSpPr>
          <p:cNvPr id="397" name="Google Shape;397;p37"/>
          <p:cNvCxnSpPr>
            <a:endCxn id="392" idx="2"/>
          </p:cNvCxnSpPr>
          <p:nvPr/>
        </p:nvCxnSpPr>
        <p:spPr>
          <a:xfrm>
            <a:off x="1383825" y="3853550"/>
            <a:ext cx="17400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98" name="Google Shape;398;p37"/>
          <p:cNvCxnSpPr>
            <a:stCxn id="391" idx="7"/>
            <a:endCxn id="394" idx="1"/>
          </p:cNvCxnSpPr>
          <p:nvPr/>
        </p:nvCxnSpPr>
        <p:spPr>
          <a:xfrm rot="-5400000">
            <a:off x="3213363" y="1332207"/>
            <a:ext cx="410700" cy="4242300"/>
          </a:xfrm>
          <a:prstGeom prst="curvedConnector3">
            <a:avLst>
              <a:gd fmla="val 21024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399" name="Google Shape;399;p37"/>
          <p:cNvCxnSpPr>
            <a:stCxn id="391" idx="7"/>
            <a:endCxn id="395" idx="1"/>
          </p:cNvCxnSpPr>
          <p:nvPr/>
        </p:nvCxnSpPr>
        <p:spPr>
          <a:xfrm rot="-5400000">
            <a:off x="4366563" y="179007"/>
            <a:ext cx="410700" cy="6548700"/>
          </a:xfrm>
          <a:prstGeom prst="curvedConnector3">
            <a:avLst>
              <a:gd fmla="val 177662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0" name="Google Shape;400;p37"/>
          <p:cNvCxnSpPr>
            <a:stCxn id="392" idx="6"/>
            <a:endCxn id="394" idx="2"/>
          </p:cNvCxnSpPr>
          <p:nvPr/>
        </p:nvCxnSpPr>
        <p:spPr>
          <a:xfrm flipH="1" rot="10800000">
            <a:off x="3713625" y="3442850"/>
            <a:ext cx="1740000" cy="410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triangle"/>
            <a:tailEnd len="med" w="med" type="stealth"/>
          </a:ln>
        </p:spPr>
      </p:cxnSp>
      <p:cxnSp>
        <p:nvCxnSpPr>
          <p:cNvPr id="401" name="Google Shape;401;p37"/>
          <p:cNvCxnSpPr>
            <a:stCxn id="393" idx="6"/>
            <a:endCxn id="396" idx="2"/>
          </p:cNvCxnSpPr>
          <p:nvPr/>
        </p:nvCxnSpPr>
        <p:spPr>
          <a:xfrm>
            <a:off x="6043313" y="4458650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2" name="Google Shape;402;p37"/>
          <p:cNvCxnSpPr>
            <a:stCxn id="392" idx="6"/>
            <a:endCxn id="393" idx="2"/>
          </p:cNvCxnSpPr>
          <p:nvPr/>
        </p:nvCxnSpPr>
        <p:spPr>
          <a:xfrm>
            <a:off x="3713625" y="3853550"/>
            <a:ext cx="1740000" cy="60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3" name="Google Shape;403;p37"/>
          <p:cNvCxnSpPr>
            <a:stCxn id="394" idx="6"/>
            <a:endCxn id="395" idx="2"/>
          </p:cNvCxnSpPr>
          <p:nvPr/>
        </p:nvCxnSpPr>
        <p:spPr>
          <a:xfrm>
            <a:off x="6043313" y="3442713"/>
            <a:ext cx="1716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404" name="Google Shape;404;p37"/>
          <p:cNvCxnSpPr>
            <a:stCxn id="393" idx="3"/>
            <a:endCxn id="391" idx="5"/>
          </p:cNvCxnSpPr>
          <p:nvPr/>
        </p:nvCxnSpPr>
        <p:spPr>
          <a:xfrm flipH="1" rot="5400000">
            <a:off x="3116187" y="2229793"/>
            <a:ext cx="605100" cy="4242300"/>
          </a:xfrm>
          <a:prstGeom prst="curvedConnector3">
            <a:avLst>
              <a:gd fmla="val -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5" name="Google Shape;405;p37"/>
          <p:cNvCxnSpPr>
            <a:stCxn id="392" idx="7"/>
            <a:endCxn id="395" idx="1"/>
          </p:cNvCxnSpPr>
          <p:nvPr/>
        </p:nvCxnSpPr>
        <p:spPr>
          <a:xfrm rot="-5400000">
            <a:off x="5531501" y="1343757"/>
            <a:ext cx="410700" cy="4219200"/>
          </a:xfrm>
          <a:prstGeom prst="curvedConnector3">
            <a:avLst>
              <a:gd fmla="val 221976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6" name="Google Shape;406;p37"/>
          <p:cNvCxnSpPr>
            <a:stCxn id="392" idx="5"/>
            <a:endCxn id="396" idx="3"/>
          </p:cNvCxnSpPr>
          <p:nvPr/>
        </p:nvCxnSpPr>
        <p:spPr>
          <a:xfrm flipH="1" rot="-5400000">
            <a:off x="5434301" y="2241343"/>
            <a:ext cx="605100" cy="4219200"/>
          </a:xfrm>
          <a:prstGeom prst="curvedConnector3">
            <a:avLst>
              <a:gd fmla="val 152691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7" name="Google Shape;407;p37"/>
          <p:cNvCxnSpPr>
            <a:stCxn id="393" idx="5"/>
            <a:endCxn id="395" idx="3"/>
          </p:cNvCxnSpPr>
          <p:nvPr/>
        </p:nvCxnSpPr>
        <p:spPr>
          <a:xfrm rot="-5400000">
            <a:off x="6393738" y="3200893"/>
            <a:ext cx="1015800" cy="1889400"/>
          </a:xfrm>
          <a:prstGeom prst="curvedConnector3">
            <a:avLst>
              <a:gd fmla="val 1828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8" name="Google Shape;408;p37"/>
          <p:cNvCxnSpPr>
            <a:stCxn id="393" idx="6"/>
            <a:endCxn id="394" idx="6"/>
          </p:cNvCxnSpPr>
          <p:nvPr/>
        </p:nvCxnSpPr>
        <p:spPr>
          <a:xfrm flipH="1" rot="10800000">
            <a:off x="6043313" y="3442850"/>
            <a:ext cx="600" cy="1015800"/>
          </a:xfrm>
          <a:prstGeom prst="curvedConnector3">
            <a:avLst>
              <a:gd fmla="val 39687500" name="adj1"/>
            </a:avLst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9" name="Google Shape;409;p37"/>
          <p:cNvSpPr txBox="1"/>
          <p:nvPr>
            <p:ph idx="1" type="body"/>
          </p:nvPr>
        </p:nvSpPr>
        <p:spPr>
          <a:xfrm>
            <a:off x="311700" y="1225225"/>
            <a:ext cx="8520600" cy="14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paths in the interval graph get a one-directional (blue) arc in the reachiability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Reachability (density of paths):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Static Network = 1.0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Temporal Network = 0.6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Reachability</a:t>
            </a:r>
            <a:endParaRPr/>
          </a:p>
        </p:txBody>
      </p:sp>
      <p:pic>
        <p:nvPicPr>
          <p:cNvPr id="415" name="Google Shape;4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09" y="1147226"/>
            <a:ext cx="2474317" cy="35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8"/>
          <p:cNvSpPr txBox="1"/>
          <p:nvPr>
            <p:ph idx="1" type="body"/>
          </p:nvPr>
        </p:nvSpPr>
        <p:spPr>
          <a:xfrm>
            <a:off x="457200" y="1200150"/>
            <a:ext cx="5900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lines are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timing noted on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paths inside circle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graph indicates number of temporal paths between two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asymmetry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non-transitivity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Note difference between 2 serial monogamy graph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Reachability</a:t>
            </a:r>
            <a:endParaRPr/>
          </a:p>
        </p:txBody>
      </p:sp>
      <p:pic>
        <p:nvPicPr>
          <p:cNvPr id="422" name="Google Shape;42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84" y="1147226"/>
            <a:ext cx="2474317" cy="35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>
            <p:ph idx="1" type="body"/>
          </p:nvPr>
        </p:nvSpPr>
        <p:spPr>
          <a:xfrm>
            <a:off x="457200" y="1200150"/>
            <a:ext cx="59007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 vertices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heavy lines are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timing noted on edges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indirect paths inside circle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Path graph indicates number of temporal paths between two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change in relationship timing leads to big change in reachability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Implications for all measures of centrality that involve paths (e.g. betweeness, closeness)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also brokerage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Revisited</a:t>
            </a:r>
            <a:endParaRPr/>
          </a:p>
        </p:txBody>
      </p:sp>
      <p:sp>
        <p:nvSpPr>
          <p:cNvPr id="429" name="Google Shape;429;p40"/>
          <p:cNvSpPr txBox="1"/>
          <p:nvPr>
            <p:ph idx="1" type="body"/>
          </p:nvPr>
        </p:nvSpPr>
        <p:spPr>
          <a:xfrm>
            <a:off x="311700" y="1225225"/>
            <a:ext cx="5583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Possibility of diffusion:  time-ordered path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Probability of diffusion: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pairwise transmission probability  (q)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q &lt; 1 then diffusion probability = f(number of paths, length of paths)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is an emergent property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depends on one's partner's future partner's</a:t>
            </a:r>
            <a:endParaRPr/>
          </a:p>
        </p:txBody>
      </p:sp>
      <p:pic>
        <p:nvPicPr>
          <p:cNvPr id="430" name="Google Shape;4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7984" y="1147226"/>
            <a:ext cx="2474317" cy="354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36" name="Google Shape;436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 have seen a time evolving networked system has three components: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contacts (time-stamped edges) C, a set of nodes V, and an interval within which the system is observed {0, T}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contact between two vertices is thus a quadruplet: 	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 = {i, j, t, δt}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Where </a:t>
            </a:r>
            <a:r>
              <a:rPr lang="en"/>
              <a:t>δt is the contact duration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special case of in which δt is considered instantanoeus then contact reduces to a triplet {i, j, t}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42" name="Google Shape;442;p42"/>
          <p:cNvSpPr txBox="1"/>
          <p:nvPr>
            <p:ph idx="1" type="body"/>
          </p:nvPr>
        </p:nvSpPr>
        <p:spPr>
          <a:xfrm>
            <a:off x="311700" y="122522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Representing temporal graphs as static aggregated graphs can be a problem: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Loss of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Multiple but incompatible representations of the same temporal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Unclear how to choose between different static representations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May be appropriate if interested in topological characteristics only</a:t>
            </a:r>
            <a:endParaRPr/>
          </a:p>
        </p:txBody>
      </p:sp>
      <p:pic>
        <p:nvPicPr>
          <p:cNvPr descr="302564_1_En_2_Fig2_HTML.gif" id="443" name="Google Shape;44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025" y="3286575"/>
            <a:ext cx="3545275" cy="1164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02564_1_En_2_Fig1_HTML.gif" id="444" name="Google Shape;44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557" y="3013225"/>
            <a:ext cx="2882244" cy="1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2"/>
          <p:cNvSpPr/>
          <p:nvPr/>
        </p:nvSpPr>
        <p:spPr>
          <a:xfrm>
            <a:off x="4026125" y="3784900"/>
            <a:ext cx="682800" cy="4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51" name="Google Shape;451;p43"/>
          <p:cNvSpPr txBox="1"/>
          <p:nvPr>
            <p:ph idx="1" type="body"/>
          </p:nvPr>
        </p:nvSpPr>
        <p:spPr>
          <a:xfrm>
            <a:off x="311700" y="1225225"/>
            <a:ext cx="8520600" cy="17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way to incorporate time is to create a separate graph for multiple time instant </a:t>
            </a:r>
            <a:r>
              <a:rPr i="1" lang="en"/>
              <a:t>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appropriately, we can define a time-window [</a:t>
            </a:r>
            <a:r>
              <a:rPr i="1" lang="en"/>
              <a:t>t, t</a:t>
            </a:r>
            <a:r>
              <a:rPr lang="en"/>
              <a:t> + 𝛥t] and place an edge between all pairs of vertices for which we observe a contact during that window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302564_1_En_2_Fig2_HTML.gif" id="452" name="Google Shape;45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025" y="3286575"/>
            <a:ext cx="3545275" cy="1164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302564_1_En_2_Fig1_HTML.gif" id="453" name="Google Shape;45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557" y="3013225"/>
            <a:ext cx="2882244" cy="1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3"/>
          <p:cNvSpPr/>
          <p:nvPr/>
        </p:nvSpPr>
        <p:spPr>
          <a:xfrm>
            <a:off x="4026125" y="3784900"/>
            <a:ext cx="682800" cy="4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60" name="Google Shape;460;p4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sequence of successive non-overlapping time-windows yields a </a:t>
            </a:r>
            <a:r>
              <a:rPr b="1" lang="en"/>
              <a:t>time-varying graph: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sequence of </a:t>
            </a:r>
            <a:r>
              <a:rPr i="1" lang="en"/>
              <a:t>M </a:t>
            </a:r>
            <a:r>
              <a:rPr lang="en"/>
              <a:t>graphs {G</a:t>
            </a:r>
            <a:r>
              <a:rPr baseline="-25000" lang="en"/>
              <a:t>1</a:t>
            </a:r>
            <a:r>
              <a:rPr lang="en"/>
              <a:t>, G</a:t>
            </a:r>
            <a:r>
              <a:rPr baseline="-25000" lang="en"/>
              <a:t>2</a:t>
            </a:r>
            <a:r>
              <a:rPr lang="en"/>
              <a:t>, …, G</a:t>
            </a:r>
            <a:r>
              <a:rPr baseline="-25000" lang="en"/>
              <a:t>M</a:t>
            </a:r>
            <a:r>
              <a:rPr lang="en"/>
              <a:t>} defined over V vertices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Each graph G</a:t>
            </a:r>
            <a:r>
              <a:rPr baseline="-25000" lang="en"/>
              <a:t>m</a:t>
            </a:r>
            <a:r>
              <a:rPr lang="en"/>
              <a:t> defines the state of the network in the time window: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461" name="Google Shape;4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050" y="1882650"/>
            <a:ext cx="4151076" cy="70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4763" y="3323750"/>
            <a:ext cx="3821650" cy="32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68" name="Google Shape;468;p45"/>
          <p:cNvSpPr txBox="1"/>
          <p:nvPr>
            <p:ph idx="1" type="body"/>
          </p:nvPr>
        </p:nvSpPr>
        <p:spPr>
          <a:xfrm>
            <a:off x="311700" y="1225225"/>
            <a:ext cx="85206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choose the time window to represent different snapshots of the same system at different time scales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longer the time scale the greater the chances of observing an edge between two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Smaller time scales more likely to yield low density/empty graphs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descr="302564_1_En_2_Fig1_HTML.gif" id="469" name="Google Shape;46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557" y="3013225"/>
            <a:ext cx="2882244" cy="18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5"/>
          <p:cNvSpPr/>
          <p:nvPr/>
        </p:nvSpPr>
        <p:spPr>
          <a:xfrm>
            <a:off x="4026125" y="3784900"/>
            <a:ext cx="682800" cy="43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302564_1_En_2_Fig3_HTML.gif" id="471" name="Google Shape;47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8889" y="2738425"/>
            <a:ext cx="3553411" cy="20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77" name="Google Shape;477;p4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nodes in temporal networks are connected by </a:t>
            </a:r>
            <a:r>
              <a:rPr b="1" lang="en"/>
              <a:t>temporally ordered paths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nodes are </a:t>
            </a:r>
            <a:r>
              <a:rPr b="1" lang="en"/>
              <a:t>temporally connected</a:t>
            </a:r>
            <a:r>
              <a:rPr lang="en"/>
              <a:t> if there exists a temporally ordered path between them during a time window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Not a symmetric 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nodes i, j, have </a:t>
            </a:r>
            <a:r>
              <a:rPr b="1" lang="en"/>
              <a:t>strong temporal connectivity </a:t>
            </a:r>
            <a:r>
              <a:rPr lang="en"/>
              <a:t>if i is temporally connected to j and j is temporally connected to 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Strong temporal connectedness is not necessarily a transitive relation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nodes i, j, </a:t>
            </a:r>
            <a:r>
              <a:rPr lang="en"/>
              <a:t>have </a:t>
            </a:r>
            <a:r>
              <a:rPr b="1" lang="en"/>
              <a:t>weak temporal connectivity </a:t>
            </a:r>
            <a:r>
              <a:rPr lang="en"/>
              <a:t>if they are connected in the underlying temporal graph that ignores link directionality but retains time ordering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Connectivity is retained across time windows of increasing size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83" name="Google Shape;483;p47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seen that nodes in temporal networks are connected by </a:t>
            </a:r>
            <a:r>
              <a:rPr b="1" lang="en"/>
              <a:t>temporally ordered paths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temporal out(in)-component of a node i, is the set of nodes that can be reached from (can reach)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strong temporal out</a:t>
            </a:r>
            <a:r>
              <a:rPr lang="en"/>
              <a:t>(in)-component of a node i, is the set of nodes that can be reached from (can reach) i and that can also reach i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size of temporal out and in components are sensitive to time windows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exhibit heterogeneity over time within nodes and heterogeneity within time across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are generally smaller than the giant component of the time-aggregated graph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89" name="Google Shape;489;p4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we have seen the </a:t>
            </a:r>
            <a:r>
              <a:rPr b="1" lang="en"/>
              <a:t>temporal length</a:t>
            </a:r>
            <a:r>
              <a:rPr lang="en"/>
              <a:t> of a given time-ordered path does not have to correspond to it’s graph-theoretic length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temporal graph therefore a natural extension of the average geodesic distance is the </a:t>
            </a:r>
            <a:r>
              <a:rPr b="1" lang="en"/>
              <a:t>characteristic temporal path length: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Where d</a:t>
            </a:r>
            <a:r>
              <a:rPr baseline="-25000" lang="en"/>
              <a:t>ij</a:t>
            </a:r>
            <a:r>
              <a:rPr lang="en"/>
              <a:t> is the shortest temporal length between nodes i and j within time window [t, t + 𝛥t]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temporal diameter of the graph can also be defined accordingly: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490" name="Google Shape;49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800" y="2356475"/>
            <a:ext cx="2437026" cy="72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5613" y="4181975"/>
            <a:ext cx="1869400" cy="39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497" name="Google Shape;497;p49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graphs allow for the calculation of ego-level temporal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the persistence of ego’s links to its neighbors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we consider a given node i, observed over successive time-windows (snapshots) </a:t>
            </a:r>
            <a:r>
              <a:rPr i="1" lang="en"/>
              <a:t>t</a:t>
            </a:r>
            <a:r>
              <a:rPr baseline="-25000" i="1" lang="en"/>
              <a:t>m</a:t>
            </a:r>
            <a:r>
              <a:rPr lang="en"/>
              <a:t> and </a:t>
            </a:r>
            <a:r>
              <a:rPr i="1" lang="en"/>
              <a:t>t</a:t>
            </a:r>
            <a:r>
              <a:rPr baseline="-25000" i="1" lang="en"/>
              <a:t>m+1</a:t>
            </a:r>
            <a:endParaRPr baseline="-25000"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Then the </a:t>
            </a:r>
            <a:r>
              <a:rPr b="1" lang="en"/>
              <a:t>topological overlap</a:t>
            </a:r>
            <a:r>
              <a:rPr lang="en"/>
              <a:t> over successive temporal neighborhoods can be defined as: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498" name="Google Shape;49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7525" y="3210250"/>
            <a:ext cx="3476750" cy="13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504" name="Google Shape;504;p5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graphs allow for the calculation of ego-level temporal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the persistence of ego’s links to its neighbors over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</a:t>
            </a:r>
            <a:r>
              <a:rPr b="1" lang="en"/>
              <a:t>average topological overlap</a:t>
            </a:r>
            <a:r>
              <a:rPr lang="en"/>
              <a:t> for node i is that same quantity averaged over all available snapshots: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be thought of as a </a:t>
            </a:r>
            <a:r>
              <a:rPr b="1" lang="en"/>
              <a:t>temporal extension of the clustering coefficient</a:t>
            </a:r>
            <a:r>
              <a:rPr lang="en"/>
              <a:t> for static graphs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505" name="Google Shape;50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775" y="2606750"/>
            <a:ext cx="2996724" cy="72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representation of temporal networks</a:t>
            </a:r>
            <a:endParaRPr/>
          </a:p>
        </p:txBody>
      </p:sp>
      <p:sp>
        <p:nvSpPr>
          <p:cNvPr id="511" name="Google Shape;511;p5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Temporal graphs allow for the calculation of ego-level temporal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may be interested in the persistence of ego’s links to its neighbors over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average (across vertices) of the </a:t>
            </a:r>
            <a:r>
              <a:rPr lang="en"/>
              <a:t>average topological overlap (within vertices across time) then gives us the graph index called the </a:t>
            </a:r>
            <a:r>
              <a:rPr b="1" lang="en"/>
              <a:t>temporal correlation coefficient: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the average probability that an edge will persist across successive snapshots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512" name="Google Shape;51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800" y="2942425"/>
            <a:ext cx="2095750" cy="90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typology of centrality measures </a:t>
            </a:r>
            <a:endParaRPr/>
          </a:p>
        </p:txBody>
      </p:sp>
      <p:sp>
        <p:nvSpPr>
          <p:cNvPr id="518" name="Google Shape;518;p52"/>
          <p:cNvSpPr txBox="1"/>
          <p:nvPr>
            <p:ph idx="1" type="body"/>
          </p:nvPr>
        </p:nvSpPr>
        <p:spPr>
          <a:xfrm>
            <a:off x="311700" y="1225225"/>
            <a:ext cx="4435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Centrality measures appear to cluster around some key dimensions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vertex is central insofar as a lot of walks of a certain type either: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Feature</a:t>
            </a:r>
            <a:r>
              <a:rPr lang="en"/>
              <a:t> that node as their </a:t>
            </a:r>
            <a:r>
              <a:rPr b="1" lang="en"/>
              <a:t>origin</a:t>
            </a:r>
            <a:r>
              <a:rPr lang="en"/>
              <a:t> or </a:t>
            </a:r>
            <a:r>
              <a:rPr b="1" lang="en"/>
              <a:t>endpoint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"radial" measures (e.g. degree)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Contain</a:t>
            </a:r>
            <a:r>
              <a:rPr lang="en"/>
              <a:t> that node in the walk sequence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These are "medial" measures (e.g. betweenness)</a:t>
            </a:r>
            <a:endParaRPr/>
          </a:p>
        </p:txBody>
      </p:sp>
      <p:pic>
        <p:nvPicPr>
          <p:cNvPr descr="main-qimg-02f67872949caddbd062330d80aa3007" id="519" name="Google Shape;51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7200" y="1845238"/>
            <a:ext cx="4092000" cy="2113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25" name="Google Shape;525;p5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Temporal </a:t>
            </a:r>
            <a:r>
              <a:rPr b="1" lang="en"/>
              <a:t>Medial Centralities </a:t>
            </a:r>
            <a:r>
              <a:rPr lang="en"/>
              <a:t>for Vertices (e.g. Closeness, Betweenness):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redefined so that they count over </a:t>
            </a:r>
            <a:r>
              <a:rPr b="1" lang="en"/>
              <a:t>temporal shortest paths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thing to worry about is what to do with unreachable pairs of vertices within a given time-window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closeness, graph is required to be connected for the calculation window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Radial Centralities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computed by calculating the product of the snapshot specific radial centralities across different snapshots: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26" name="Google Shape;52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50" y="3439675"/>
            <a:ext cx="3577274" cy="7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32" name="Google Shape;532;p5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Temporal Medial Centralities </a:t>
            </a:r>
            <a:r>
              <a:rPr lang="en"/>
              <a:t>for Vertices (e.g. Closeness, Betweenness):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redefined so that they count over </a:t>
            </a:r>
            <a:r>
              <a:rPr b="1" lang="en"/>
              <a:t>temporal shortest paths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thing to worry about is what to do with unreachable pairs of vertices within a given time-window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closeness, graph is required to be connected for the calculation window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Radial Centralities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</a:t>
            </a:r>
            <a:r>
              <a:rPr b="1" lang="en"/>
              <a:t>communicability matrix</a:t>
            </a:r>
            <a:r>
              <a:rPr lang="en"/>
              <a:t> give us a sense of the extent to which each node can reach every other node by paths of arbitrary length across all temporal snapshots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50" y="3439675"/>
            <a:ext cx="3577274" cy="7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39" name="Google Shape;539;p5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Temporal Medial Centralities </a:t>
            </a:r>
            <a:r>
              <a:rPr lang="en"/>
              <a:t>for Vertices (e.g. Closeness, Betweenness):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redefined so that they count over </a:t>
            </a:r>
            <a:r>
              <a:rPr b="1" lang="en"/>
              <a:t>temporal shortest paths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thing to worry about is what to do with unreachable pairs of vertices within a given time-window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closeness, graph is required to be connected for the calculation window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Temporal Radial Centralities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the rows of the Q matrix is the </a:t>
            </a:r>
            <a:r>
              <a:rPr b="1" lang="en"/>
              <a:t>temporal broadcast centrality</a:t>
            </a:r>
            <a:r>
              <a:rPr lang="en"/>
              <a:t> of node 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Sum of the columns of the Q matrix gives us the </a:t>
            </a:r>
            <a:r>
              <a:rPr b="1" lang="en"/>
              <a:t>temporal reachability</a:t>
            </a:r>
            <a:r>
              <a:rPr lang="en"/>
              <a:t> of node i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500" y="3720325"/>
            <a:ext cx="2098000" cy="73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5975" y="3701978"/>
            <a:ext cx="2098000" cy="770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temporal dimension of networks</a:t>
            </a:r>
            <a:endParaRPr/>
          </a:p>
        </p:txBody>
      </p:sp>
      <p:sp>
        <p:nvSpPr>
          <p:cNvPr id="547" name="Google Shape;547;p5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lang="en"/>
              <a:t>Temporal extensions of: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Graphlets, motifs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Community structure, groups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Position and equivalence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Small world phenomena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