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5143500" cx="9144000"/>
  <p:notesSz cx="6858000" cy="9144000"/>
  <p:embeddedFontLst>
    <p:embeddedFont>
      <p:font typeface="Economica"/>
      <p:regular r:id="rId51"/>
      <p:bold r:id="rId52"/>
      <p:italic r:id="rId53"/>
      <p:boldItalic r:id="rId54"/>
    </p:embeddedFont>
    <p:embeddedFont>
      <p:font typeface="Roboto"/>
      <p:regular r:id="rId55"/>
      <p:bold r:id="rId56"/>
      <p:italic r:id="rId57"/>
      <p:boldItalic r:id="rId58"/>
    </p:embeddedFont>
    <p:embeddedFont>
      <p:font typeface="Open Sans"/>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C004714-7C27-400D-AF19-6A7FADFF251D}">
  <a:tblStyle styleId="{9C004714-7C27-400D-AF19-6A7FADFF251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OpenSans-boldItalic.fntdata"/><Relationship Id="rId61" Type="http://schemas.openxmlformats.org/officeDocument/2006/relationships/font" Target="fonts/OpenSans-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OpenSans-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Economica-regular.fntdata"/><Relationship Id="rId50" Type="http://schemas.openxmlformats.org/officeDocument/2006/relationships/slide" Target="slides/slide45.xml"/><Relationship Id="rId53" Type="http://schemas.openxmlformats.org/officeDocument/2006/relationships/font" Target="fonts/Economica-italic.fntdata"/><Relationship Id="rId52" Type="http://schemas.openxmlformats.org/officeDocument/2006/relationships/font" Target="fonts/Economica-bold.fntdata"/><Relationship Id="rId11" Type="http://schemas.openxmlformats.org/officeDocument/2006/relationships/slide" Target="slides/slide6.xml"/><Relationship Id="rId55" Type="http://schemas.openxmlformats.org/officeDocument/2006/relationships/font" Target="fonts/Roboto-regular.fntdata"/><Relationship Id="rId10" Type="http://schemas.openxmlformats.org/officeDocument/2006/relationships/slide" Target="slides/slide5.xml"/><Relationship Id="rId54" Type="http://schemas.openxmlformats.org/officeDocument/2006/relationships/font" Target="fonts/Economica-boldItalic.fntdata"/><Relationship Id="rId13" Type="http://schemas.openxmlformats.org/officeDocument/2006/relationships/slide" Target="slides/slide8.xml"/><Relationship Id="rId57" Type="http://schemas.openxmlformats.org/officeDocument/2006/relationships/font" Target="fonts/Roboto-italic.fntdata"/><Relationship Id="rId12" Type="http://schemas.openxmlformats.org/officeDocument/2006/relationships/slide" Target="slides/slide7.xml"/><Relationship Id="rId56" Type="http://schemas.openxmlformats.org/officeDocument/2006/relationships/font" Target="fonts/Roboto-bold.fntdata"/><Relationship Id="rId15" Type="http://schemas.openxmlformats.org/officeDocument/2006/relationships/slide" Target="slides/slide10.xml"/><Relationship Id="rId59" Type="http://schemas.openxmlformats.org/officeDocument/2006/relationships/font" Target="fonts/OpenSans-regular.fntdata"/><Relationship Id="rId14" Type="http://schemas.openxmlformats.org/officeDocument/2006/relationships/slide" Target="slides/slide9.xml"/><Relationship Id="rId58" Type="http://schemas.openxmlformats.org/officeDocument/2006/relationships/font" Target="fonts/Robot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7e08ed6de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7e08ed6de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7e08ed6dee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7e08ed6dee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4f19d54368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4f19d54368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4f1ae43dad_0_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4f1ae43dad_0_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4f1ae43da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4f1ae43d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4f1ae43dad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4f1ae43dad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4f1ae43dad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4f1ae43dad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4f1ae43dad_0_3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4f1ae43dad_0_3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51ffc58b99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51ffc58b99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4f1ae43dad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4f1ae43dad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4f1ae43dad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4f1ae43dad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4f1ae43dad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4f1ae43dad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4f1ae43dad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4f1ae43dad_0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4f1ae43dad_0_5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4f1ae43dad_0_5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4f1ae43dad_0_6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4f1ae43dad_0_6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4f1ae43dad_0_6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4f1ae43dad_0_6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4f1ae43dad_0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4f1ae43dad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4f1ae43dad_0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4" name="Google Shape;564;g4f1ae43dad_0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4f1ae43dad_0_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4f1ae43dad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4fa58ea981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g4fa58ea981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4fa58ea981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4fa58ea981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4f19d5436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g4f19d5436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g4fa58ea981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0" name="Google Shape;650;g4fa58ea981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4fa58ea981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9" name="Google Shape;669;g4fa58ea981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4fa58ea981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1" name="Google Shape;691;g4fa58ea981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g4fa58ea981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 name="Google Shape;714;g4fa58ea981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4fa58ea981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4fa58ea981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4f1ae43dad_0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0" name="Google Shape;760;g4f1ae43dad_0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4f19d54368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4" name="Google Shape;784;g4f19d54368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4f1ae43dad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4f1ae43dad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1" name="Shape 831"/>
        <p:cNvGrpSpPr/>
        <p:nvPr/>
      </p:nvGrpSpPr>
      <p:grpSpPr>
        <a:xfrm>
          <a:off x="0" y="0"/>
          <a:ext cx="0" cy="0"/>
          <a:chOff x="0" y="0"/>
          <a:chExt cx="0" cy="0"/>
        </a:xfrm>
      </p:grpSpPr>
      <p:sp>
        <p:nvSpPr>
          <p:cNvPr id="832" name="Google Shape;832;g4f1ae43dad_0_4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3" name="Google Shape;833;g4f1ae43dad_0_4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4f1ae43dad_0_7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4f1ae43dad_0_7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4f1ae43dad_0_5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6" name="Google Shape;856;g4f1ae43dad_0_5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4f1ae43dad_0_7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1" name="Google Shape;871;g4f1ae43dad_0_7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4f1ae43dad_0_8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8" name="Google Shape;878;g4f1ae43dad_0_8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4f1ae43dad_0_8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5" name="Google Shape;885;g4f1ae43dad_0_8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4f1ae43dad_0_8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2" name="Google Shape;892;g4f1ae43dad_0_8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4f1ae43dad_0_8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9" name="Google Shape;899;g4f1ae43dad_0_8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4f1ae43dad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0" name="Google Shape;910;g4f1ae43dad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g4f1ae43dad_0_8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7" name="Google Shape;917;g4f1ae43dad_0_8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4f1ae43dad_0_8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4" name="Google Shape;924;g4f1ae43dad_0_8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4f1ae43dad_0_8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4f1ae43dad_0_8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g4f1ae43dad_0_8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8" name="Google Shape;938;g4f1ae43dad_0_8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4f1ae43dad_0_8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5" name="Google Shape;945;g4f1ae43dad_0_8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4013" y="756700"/>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1" name="Google Shape;11;p2"/>
          <p:cNvSpPr/>
          <p:nvPr/>
        </p:nvSpPr>
        <p:spPr>
          <a:xfrm rot="10800000">
            <a:off x="5318350" y="32667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2" name="Google Shape;12;p2"/>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3" name="Google Shape;13;p2"/>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flipH="1">
            <a:off x="7595938" y="4602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7" name="Google Shape;17;p3"/>
          <p:cNvSpPr/>
          <p:nvPr/>
        </p:nvSpPr>
        <p:spPr>
          <a:xfrm flipH="1" rot="10800000">
            <a:off x="466425" y="3558325"/>
            <a:ext cx="1081625" cy="1124950"/>
          </a:xfrm>
          <a:custGeom>
            <a:rect b="b" l="l" r="r" t="t"/>
            <a:pathLst>
              <a:path extrusionOk="0" h="44998" w="43265">
                <a:moveTo>
                  <a:pt x="0" y="44998"/>
                </a:moveTo>
                <a:lnTo>
                  <a:pt x="0" y="0"/>
                </a:lnTo>
                <a:lnTo>
                  <a:pt x="43265" y="0"/>
                </a:lnTo>
              </a:path>
            </a:pathLst>
          </a:custGeom>
          <a:noFill/>
          <a:ln cap="flat" cmpd="sng" w="28575">
            <a:solidFill>
              <a:schemeClr val="lt2"/>
            </a:solidFill>
            <a:prstDash val="solid"/>
            <a:miter lim="8000"/>
            <a:headEnd len="sm" w="sm" type="none"/>
            <a:tailEnd len="sm" w="sm" type="none"/>
          </a:ln>
        </p:spPr>
      </p:sp>
      <p:sp>
        <p:nvSpPr>
          <p:cNvPr id="18" name="Google Shape;18;p3"/>
          <p:cNvSpPr txBox="1"/>
          <p:nvPr>
            <p:ph type="title"/>
          </p:nvPr>
        </p:nvSpPr>
        <p:spPr>
          <a:xfrm>
            <a:off x="773700" y="1806450"/>
            <a:ext cx="7596600" cy="1530600"/>
          </a:xfrm>
          <a:prstGeom prst="rect">
            <a:avLst/>
          </a:prstGeom>
        </p:spPr>
        <p:txBody>
          <a:bodyPr anchorCtr="0" anchor="ctr" bIns="91425" lIns="91425" spcFirstLastPara="1" rIns="91425" wrap="square" tIns="91425">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4"/>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sp>
        <p:nvSpPr>
          <p:cNvPr id="26" name="Google Shape;26;p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7" name="Google Shape;27;p5"/>
          <p:cNvSpPr txBox="1"/>
          <p:nvPr>
            <p:ph idx="1" type="body"/>
          </p:nvPr>
        </p:nvSpPr>
        <p:spPr>
          <a:xfrm>
            <a:off x="3117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2" type="body"/>
          </p:nvPr>
        </p:nvSpPr>
        <p:spPr>
          <a:xfrm>
            <a:off x="4832400" y="1225225"/>
            <a:ext cx="3999900" cy="33540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sp>
        <p:nvSpPr>
          <p:cNvPr id="34" name="Google Shape;34;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5" name="Google Shape;35;p7"/>
          <p:cNvSpPr txBox="1"/>
          <p:nvPr>
            <p:ph idx="1" type="body"/>
          </p:nvPr>
        </p:nvSpPr>
        <p:spPr>
          <a:xfrm>
            <a:off x="311700" y="1399400"/>
            <a:ext cx="2808000" cy="27849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6" name="Google Shape;36;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7"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8"/>
          <p:cNvSpPr txBox="1"/>
          <p:nvPr>
            <p:ph type="title"/>
          </p:nvPr>
        </p:nvSpPr>
        <p:spPr>
          <a:xfrm>
            <a:off x="490250" y="450150"/>
            <a:ext cx="5878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p9"/>
          <p:cNvSpPr txBox="1"/>
          <p:nvPr>
            <p:ph type="title"/>
          </p:nvPr>
        </p:nvSpPr>
        <p:spPr>
          <a:xfrm>
            <a:off x="265500" y="929275"/>
            <a:ext cx="4045200" cy="1786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p:txBody>
      </p:sp>
      <p:sp>
        <p:nvSpPr>
          <p:cNvPr id="45" name="Google Shape;45;p9"/>
          <p:cNvSpPr txBox="1"/>
          <p:nvPr>
            <p:ph idx="1" type="subTitle"/>
          </p:nvPr>
        </p:nvSpPr>
        <p:spPr>
          <a:xfrm>
            <a:off x="265500" y="2769001"/>
            <a:ext cx="4045200" cy="1574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9500" y="42189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11"/>
          <p:cNvSpPr txBox="1"/>
          <p:nvPr>
            <p:ph hasCustomPrompt="1" type="title"/>
          </p:nvPr>
        </p:nvSpPr>
        <p:spPr>
          <a:xfrm>
            <a:off x="311700" y="957125"/>
            <a:ext cx="8520600" cy="21288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p:nvPr>
            <p:ph idx="1" type="body"/>
          </p:nvPr>
        </p:nvSpPr>
        <p:spPr>
          <a:xfrm>
            <a:off x="311700" y="3162000"/>
            <a:ext cx="85206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lux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15925"/>
            <a:ext cx="8520600" cy="8313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p:txBody>
      </p:sp>
      <p:sp>
        <p:nvSpPr>
          <p:cNvPr id="7" name="Google Shape;7;p1"/>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indent="-317500" lvl="1" marL="914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indent="-317500" lvl="2" marL="1371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indent="-317500" lvl="3" marL="18288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indent="-317500" lvl="4" marL="22860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indent="-317500" lvl="5" marL="27432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indent="-317500" lvl="6" marL="32004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indent="-317500" lvl="7" marL="36576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indent="-317500" lvl="8" marL="41148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9.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6.png"/><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image" Target="../media/image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8.png"/><Relationship Id="rId4"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3.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5.gi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7.gi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3044700" y="1444255"/>
            <a:ext cx="3054600" cy="1537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Whole Network Level</a:t>
            </a:r>
            <a:endParaRPr/>
          </a:p>
        </p:txBody>
      </p:sp>
      <p:sp>
        <p:nvSpPr>
          <p:cNvPr id="63" name="Google Shape;63;p13"/>
          <p:cNvSpPr txBox="1"/>
          <p:nvPr>
            <p:ph idx="1" type="subTitle"/>
          </p:nvPr>
        </p:nvSpPr>
        <p:spPr>
          <a:xfrm>
            <a:off x="3044700" y="3116580"/>
            <a:ext cx="3054600" cy="7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grpSp>
        <p:nvGrpSpPr>
          <p:cNvPr id="68" name="Google Shape;68;p14"/>
          <p:cNvGrpSpPr/>
          <p:nvPr/>
        </p:nvGrpSpPr>
        <p:grpSpPr>
          <a:xfrm>
            <a:off x="4725650" y="1479057"/>
            <a:ext cx="3820529" cy="747300"/>
            <a:chOff x="4530625" y="1206568"/>
            <a:chExt cx="3820529" cy="747300"/>
          </a:xfrm>
        </p:grpSpPr>
        <p:cxnSp>
          <p:nvCxnSpPr>
            <p:cNvPr id="69" name="Google Shape;69;p14"/>
            <p:cNvCxnSpPr/>
            <p:nvPr/>
          </p:nvCxnSpPr>
          <p:spPr>
            <a:xfrm>
              <a:off x="4530625" y="1582195"/>
              <a:ext cx="1652700" cy="0"/>
            </a:xfrm>
            <a:prstGeom prst="straightConnector1">
              <a:avLst/>
            </a:prstGeom>
            <a:noFill/>
            <a:ln cap="flat" cmpd="sng" w="9525">
              <a:solidFill>
                <a:srgbClr val="BDBDBD"/>
              </a:solidFill>
              <a:prstDash val="solid"/>
              <a:round/>
              <a:headEnd len="sm" w="sm" type="none"/>
              <a:tailEnd len="sm" w="sm" type="none"/>
            </a:ln>
          </p:spPr>
        </p:cxnSp>
        <p:sp>
          <p:nvSpPr>
            <p:cNvPr id="70" name="Google Shape;70;p14"/>
            <p:cNvSpPr/>
            <p:nvPr/>
          </p:nvSpPr>
          <p:spPr>
            <a:xfrm>
              <a:off x="6014671" y="1481782"/>
              <a:ext cx="198600" cy="198300"/>
            </a:xfrm>
            <a:prstGeom prst="ellipse">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4"/>
            <p:cNvSpPr txBox="1"/>
            <p:nvPr/>
          </p:nvSpPr>
          <p:spPr>
            <a:xfrm>
              <a:off x="5990215" y="142376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1</a:t>
              </a:r>
              <a:endParaRPr>
                <a:solidFill>
                  <a:srgbClr val="FFFFFF"/>
                </a:solidFill>
              </a:endParaRPr>
            </a:p>
          </p:txBody>
        </p:sp>
        <p:sp>
          <p:nvSpPr>
            <p:cNvPr id="72" name="Google Shape;72;p14"/>
            <p:cNvSpPr txBox="1"/>
            <p:nvPr/>
          </p:nvSpPr>
          <p:spPr>
            <a:xfrm>
              <a:off x="6223854" y="1206568"/>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Individual</a:t>
              </a:r>
              <a:endParaRPr b="1" sz="1800">
                <a:latin typeface="Roboto"/>
                <a:ea typeface="Roboto"/>
                <a:cs typeface="Roboto"/>
                <a:sym typeface="Roboto"/>
              </a:endParaRPr>
            </a:p>
          </p:txBody>
        </p:sp>
      </p:grpSp>
      <p:grpSp>
        <p:nvGrpSpPr>
          <p:cNvPr id="73" name="Google Shape;73;p14"/>
          <p:cNvGrpSpPr/>
          <p:nvPr/>
        </p:nvGrpSpPr>
        <p:grpSpPr>
          <a:xfrm>
            <a:off x="5769175" y="3491301"/>
            <a:ext cx="2777004" cy="747300"/>
            <a:chOff x="5574150" y="3083456"/>
            <a:chExt cx="2777004" cy="747300"/>
          </a:xfrm>
        </p:grpSpPr>
        <p:cxnSp>
          <p:nvCxnSpPr>
            <p:cNvPr id="74" name="Google Shape;74;p14"/>
            <p:cNvCxnSpPr/>
            <p:nvPr/>
          </p:nvCxnSpPr>
          <p:spPr>
            <a:xfrm>
              <a:off x="5574150" y="3449448"/>
              <a:ext cx="609300" cy="0"/>
            </a:xfrm>
            <a:prstGeom prst="straightConnector1">
              <a:avLst/>
            </a:prstGeom>
            <a:noFill/>
            <a:ln cap="flat" cmpd="sng" w="9525">
              <a:solidFill>
                <a:srgbClr val="BDBDBD"/>
              </a:solidFill>
              <a:prstDash val="solid"/>
              <a:round/>
              <a:headEnd len="sm" w="sm" type="none"/>
              <a:tailEnd len="sm" w="sm" type="none"/>
            </a:ln>
          </p:spPr>
        </p:cxnSp>
        <p:sp>
          <p:nvSpPr>
            <p:cNvPr id="75" name="Google Shape;75;p14"/>
            <p:cNvSpPr/>
            <p:nvPr/>
          </p:nvSpPr>
          <p:spPr>
            <a:xfrm>
              <a:off x="6014671" y="3349032"/>
              <a:ext cx="198600" cy="198300"/>
            </a:xfrm>
            <a:prstGeom prst="ellipse">
              <a:avLst/>
            </a:prstGeom>
            <a:solidFill>
              <a:srgbClr val="9225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4"/>
            <p:cNvSpPr txBox="1"/>
            <p:nvPr/>
          </p:nvSpPr>
          <p:spPr>
            <a:xfrm>
              <a:off x="5991690" y="329111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5</a:t>
              </a:r>
              <a:endParaRPr>
                <a:solidFill>
                  <a:srgbClr val="FFFFFF"/>
                </a:solidFill>
              </a:endParaRPr>
            </a:p>
          </p:txBody>
        </p:sp>
        <p:sp>
          <p:nvSpPr>
            <p:cNvPr id="77" name="Google Shape;77;p14"/>
            <p:cNvSpPr txBox="1"/>
            <p:nvPr/>
          </p:nvSpPr>
          <p:spPr>
            <a:xfrm>
              <a:off x="6223854" y="3083456"/>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Whole Network</a:t>
              </a:r>
              <a:endParaRPr b="1" sz="1800">
                <a:latin typeface="Roboto"/>
                <a:ea typeface="Roboto"/>
                <a:cs typeface="Roboto"/>
                <a:sym typeface="Roboto"/>
              </a:endParaRPr>
            </a:p>
          </p:txBody>
        </p:sp>
      </p:grpSp>
      <p:grpSp>
        <p:nvGrpSpPr>
          <p:cNvPr id="78" name="Google Shape;78;p14"/>
          <p:cNvGrpSpPr/>
          <p:nvPr/>
        </p:nvGrpSpPr>
        <p:grpSpPr>
          <a:xfrm>
            <a:off x="597801" y="1980193"/>
            <a:ext cx="3468724" cy="747300"/>
            <a:chOff x="744101" y="1672393"/>
            <a:chExt cx="3468724" cy="747300"/>
          </a:xfrm>
        </p:grpSpPr>
        <p:cxnSp>
          <p:nvCxnSpPr>
            <p:cNvPr id="79" name="Google Shape;79;p14"/>
            <p:cNvCxnSpPr/>
            <p:nvPr/>
          </p:nvCxnSpPr>
          <p:spPr>
            <a:xfrm rot="10800000">
              <a:off x="2921325" y="2046050"/>
              <a:ext cx="1291500" cy="0"/>
            </a:xfrm>
            <a:prstGeom prst="straightConnector1">
              <a:avLst/>
            </a:prstGeom>
            <a:noFill/>
            <a:ln cap="flat" cmpd="sng" w="9525">
              <a:solidFill>
                <a:srgbClr val="BDBDBD"/>
              </a:solidFill>
              <a:prstDash val="solid"/>
              <a:round/>
              <a:headEnd len="sm" w="sm" type="none"/>
              <a:tailEnd len="sm" w="sm" type="none"/>
            </a:ln>
          </p:spPr>
        </p:cxnSp>
        <p:sp>
          <p:nvSpPr>
            <p:cNvPr id="80" name="Google Shape;80;p14"/>
            <p:cNvSpPr/>
            <p:nvPr/>
          </p:nvSpPr>
          <p:spPr>
            <a:xfrm>
              <a:off x="2874851" y="1943786"/>
              <a:ext cx="198600" cy="198300"/>
            </a:xfrm>
            <a:prstGeom prst="ellipse">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4"/>
            <p:cNvSpPr txBox="1"/>
            <p:nvPr/>
          </p:nvSpPr>
          <p:spPr>
            <a:xfrm>
              <a:off x="2849841" y="1884747"/>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2</a:t>
              </a:r>
              <a:endParaRPr>
                <a:solidFill>
                  <a:srgbClr val="FFFFFF"/>
                </a:solidFill>
              </a:endParaRPr>
            </a:p>
          </p:txBody>
        </p:sp>
        <p:sp>
          <p:nvSpPr>
            <p:cNvPr id="82" name="Google Shape;82;p14"/>
            <p:cNvSpPr txBox="1"/>
            <p:nvPr/>
          </p:nvSpPr>
          <p:spPr>
            <a:xfrm>
              <a:off x="744101" y="1672393"/>
              <a:ext cx="2127300" cy="7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1600"/>
                </a:spcAft>
                <a:buNone/>
              </a:pPr>
              <a:r>
                <a:rPr b="1" lang="en" sz="1800">
                  <a:latin typeface="Roboto"/>
                  <a:ea typeface="Roboto"/>
                  <a:cs typeface="Roboto"/>
                  <a:sym typeface="Roboto"/>
                </a:rPr>
                <a:t>Dyads</a:t>
              </a:r>
              <a:endParaRPr b="1" sz="1800">
                <a:latin typeface="Roboto"/>
                <a:ea typeface="Roboto"/>
                <a:cs typeface="Roboto"/>
                <a:sym typeface="Roboto"/>
              </a:endParaRPr>
            </a:p>
          </p:txBody>
        </p:sp>
      </p:grpSp>
      <p:grpSp>
        <p:nvGrpSpPr>
          <p:cNvPr id="83" name="Google Shape;83;p14"/>
          <p:cNvGrpSpPr/>
          <p:nvPr/>
        </p:nvGrpSpPr>
        <p:grpSpPr>
          <a:xfrm>
            <a:off x="597801" y="2897769"/>
            <a:ext cx="3021694" cy="747300"/>
            <a:chOff x="744101" y="2507609"/>
            <a:chExt cx="3021694" cy="747300"/>
          </a:xfrm>
        </p:grpSpPr>
        <p:cxnSp>
          <p:nvCxnSpPr>
            <p:cNvPr id="84" name="Google Shape;84;p14"/>
            <p:cNvCxnSpPr/>
            <p:nvPr/>
          </p:nvCxnSpPr>
          <p:spPr>
            <a:xfrm rot="10800000">
              <a:off x="2915895" y="2881250"/>
              <a:ext cx="849900" cy="0"/>
            </a:xfrm>
            <a:prstGeom prst="straightConnector1">
              <a:avLst/>
            </a:prstGeom>
            <a:noFill/>
            <a:ln cap="flat" cmpd="sng" w="9525">
              <a:solidFill>
                <a:srgbClr val="BDBDBD"/>
              </a:solidFill>
              <a:prstDash val="solid"/>
              <a:round/>
              <a:headEnd len="sm" w="sm" type="none"/>
              <a:tailEnd len="sm" w="sm" type="none"/>
            </a:ln>
          </p:spPr>
        </p:cxnSp>
        <p:sp>
          <p:nvSpPr>
            <p:cNvPr id="85" name="Google Shape;85;p14"/>
            <p:cNvSpPr/>
            <p:nvPr/>
          </p:nvSpPr>
          <p:spPr>
            <a:xfrm>
              <a:off x="2874851" y="2780836"/>
              <a:ext cx="198600" cy="198300"/>
            </a:xfrm>
            <a:prstGeom prst="ellipse">
              <a:avLst/>
            </a:prstGeom>
            <a:solidFill>
              <a:srgbClr val="7F2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4"/>
            <p:cNvSpPr txBox="1"/>
            <p:nvPr/>
          </p:nvSpPr>
          <p:spPr>
            <a:xfrm>
              <a:off x="2849841" y="272479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4</a:t>
              </a:r>
              <a:endParaRPr>
                <a:solidFill>
                  <a:srgbClr val="FFFFFF"/>
                </a:solidFill>
              </a:endParaRPr>
            </a:p>
          </p:txBody>
        </p:sp>
        <p:sp>
          <p:nvSpPr>
            <p:cNvPr id="87" name="Google Shape;87;p14"/>
            <p:cNvSpPr txBox="1"/>
            <p:nvPr/>
          </p:nvSpPr>
          <p:spPr>
            <a:xfrm>
              <a:off x="744101" y="2507609"/>
              <a:ext cx="2127300" cy="7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1600"/>
                </a:spcAft>
                <a:buNone/>
              </a:pPr>
              <a:r>
                <a:rPr b="1" lang="en" sz="1800">
                  <a:latin typeface="Roboto"/>
                  <a:ea typeface="Roboto"/>
                  <a:cs typeface="Roboto"/>
                  <a:sym typeface="Roboto"/>
                </a:rPr>
                <a:t>Cliques, Communities</a:t>
              </a:r>
              <a:endParaRPr b="1" sz="1800">
                <a:latin typeface="Roboto"/>
                <a:ea typeface="Roboto"/>
                <a:cs typeface="Roboto"/>
                <a:sym typeface="Roboto"/>
              </a:endParaRPr>
            </a:p>
          </p:txBody>
        </p:sp>
      </p:grpSp>
      <p:grpSp>
        <p:nvGrpSpPr>
          <p:cNvPr id="88" name="Google Shape;88;p14"/>
          <p:cNvGrpSpPr/>
          <p:nvPr/>
        </p:nvGrpSpPr>
        <p:grpSpPr>
          <a:xfrm>
            <a:off x="2811509" y="1603902"/>
            <a:ext cx="3509178" cy="3257208"/>
            <a:chOff x="3318063" y="1368287"/>
            <a:chExt cx="2408000" cy="2993482"/>
          </a:xfrm>
        </p:grpSpPr>
        <p:sp>
          <p:nvSpPr>
            <p:cNvPr id="89" name="Google Shape;89;p14"/>
            <p:cNvSpPr/>
            <p:nvPr/>
          </p:nvSpPr>
          <p:spPr>
            <a:xfrm>
              <a:off x="3595785" y="2775241"/>
              <a:ext cx="1853168" cy="919151"/>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90" name="Google Shape;90;p14"/>
            <p:cNvSpPr/>
            <p:nvPr/>
          </p:nvSpPr>
          <p:spPr>
            <a:xfrm>
              <a:off x="3318063" y="3194383"/>
              <a:ext cx="1203867" cy="1167385"/>
            </a:xfrm>
            <a:custGeom>
              <a:rect b="b" l="l" r="r" t="t"/>
              <a:pathLst>
                <a:path extrusionOk="0" h="20822" w="31954">
                  <a:moveTo>
                    <a:pt x="7355" y="0"/>
                  </a:moveTo>
                  <a:lnTo>
                    <a:pt x="31954" y="8796"/>
                  </a:lnTo>
                  <a:lnTo>
                    <a:pt x="31954" y="20822"/>
                  </a:lnTo>
                  <a:lnTo>
                    <a:pt x="0" y="8895"/>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91" name="Google Shape;91;p14"/>
            <p:cNvSpPr/>
            <p:nvPr/>
          </p:nvSpPr>
          <p:spPr>
            <a:xfrm flipH="1">
              <a:off x="4522196" y="3194383"/>
              <a:ext cx="1203867" cy="1167385"/>
            </a:xfrm>
            <a:custGeom>
              <a:rect b="b" l="l" r="r" t="t"/>
              <a:pathLst>
                <a:path extrusionOk="0" h="20822" w="31954">
                  <a:moveTo>
                    <a:pt x="7355" y="0"/>
                  </a:moveTo>
                  <a:lnTo>
                    <a:pt x="31954" y="8796"/>
                  </a:lnTo>
                  <a:lnTo>
                    <a:pt x="31954" y="20822"/>
                  </a:lnTo>
                  <a:lnTo>
                    <a:pt x="0" y="8895"/>
                  </a:lnTo>
                  <a:close/>
                </a:path>
              </a:pathLst>
            </a:custGeom>
            <a:solidFill>
              <a:srgbClr val="9225A5"/>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92" name="Google Shape;92;p14"/>
            <p:cNvSpPr/>
            <p:nvPr/>
          </p:nvSpPr>
          <p:spPr>
            <a:xfrm>
              <a:off x="3844034" y="2401368"/>
              <a:ext cx="1356545" cy="672851"/>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93" name="Google Shape;93;p14"/>
            <p:cNvSpPr/>
            <p:nvPr/>
          </p:nvSpPr>
          <p:spPr>
            <a:xfrm>
              <a:off x="3930892" y="2272397"/>
              <a:ext cx="1175304" cy="581421"/>
            </a:xfrm>
            <a:custGeom>
              <a:rect b="b" l="l" r="r" t="t"/>
              <a:pathLst>
                <a:path extrusionOk="0" h="16300" w="49248">
                  <a:moveTo>
                    <a:pt x="0" y="7554"/>
                  </a:moveTo>
                  <a:lnTo>
                    <a:pt x="24649" y="16300"/>
                  </a:lnTo>
                  <a:lnTo>
                    <a:pt x="49248" y="7604"/>
                  </a:lnTo>
                  <a:lnTo>
                    <a:pt x="24599"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94" name="Google Shape;94;p14"/>
            <p:cNvSpPr/>
            <p:nvPr/>
          </p:nvSpPr>
          <p:spPr>
            <a:xfrm>
              <a:off x="4052837" y="2081437"/>
              <a:ext cx="931314" cy="460727"/>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95" name="Google Shape;95;p14"/>
            <p:cNvSpPr/>
            <p:nvPr/>
          </p:nvSpPr>
          <p:spPr>
            <a:xfrm>
              <a:off x="4233144" y="1787006"/>
              <a:ext cx="573183" cy="289305"/>
            </a:xfrm>
            <a:custGeom>
              <a:rect b="b" l="l" r="r" t="t"/>
              <a:pathLst>
                <a:path extrusionOk="0" h="8150" w="24053">
                  <a:moveTo>
                    <a:pt x="0" y="3827"/>
                  </a:moveTo>
                  <a:lnTo>
                    <a:pt x="11976" y="8150"/>
                  </a:lnTo>
                  <a:lnTo>
                    <a:pt x="24053" y="3827"/>
                  </a:lnTo>
                  <a:lnTo>
                    <a:pt x="12126"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96" name="Google Shape;96;p14"/>
            <p:cNvSpPr/>
            <p:nvPr/>
          </p:nvSpPr>
          <p:spPr>
            <a:xfrm>
              <a:off x="3640743" y="2708179"/>
              <a:ext cx="881371" cy="854431"/>
            </a:xfrm>
            <a:custGeom>
              <a:rect b="b" l="l" r="r" t="t"/>
              <a:pathLst>
                <a:path extrusionOk="0" h="20822" w="31954">
                  <a:moveTo>
                    <a:pt x="7355" y="0"/>
                  </a:moveTo>
                  <a:lnTo>
                    <a:pt x="31954" y="8796"/>
                  </a:lnTo>
                  <a:lnTo>
                    <a:pt x="31954" y="20822"/>
                  </a:lnTo>
                  <a:lnTo>
                    <a:pt x="0" y="8895"/>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97" name="Google Shape;97;p14"/>
            <p:cNvSpPr/>
            <p:nvPr/>
          </p:nvSpPr>
          <p:spPr>
            <a:xfrm>
              <a:off x="3964720" y="2291507"/>
              <a:ext cx="555203" cy="453658"/>
            </a:xfrm>
            <a:custGeom>
              <a:rect b="b" l="l" r="r" t="t"/>
              <a:pathLst>
                <a:path extrusionOk="0" h="12771" w="23257">
                  <a:moveTo>
                    <a:pt x="3727" y="0"/>
                  </a:moveTo>
                  <a:lnTo>
                    <a:pt x="0" y="4522"/>
                  </a:lnTo>
                  <a:lnTo>
                    <a:pt x="23257" y="12771"/>
                  </a:lnTo>
                  <a:lnTo>
                    <a:pt x="23257" y="7056"/>
                  </a:lnTo>
                  <a:close/>
                </a:path>
              </a:pathLst>
            </a:custGeom>
            <a:gradFill>
              <a:gsLst>
                <a:gs pos="0">
                  <a:srgbClr val="FFCA37"/>
                </a:gs>
                <a:gs pos="100000">
                  <a:srgbClr val="AD8107"/>
                </a:gs>
              </a:gsLst>
              <a:lin ang="5400012" scaled="0"/>
            </a:gra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98" name="Google Shape;98;p14"/>
            <p:cNvSpPr/>
            <p:nvPr/>
          </p:nvSpPr>
          <p:spPr>
            <a:xfrm flipH="1">
              <a:off x="4518736" y="2291507"/>
              <a:ext cx="555203" cy="453658"/>
            </a:xfrm>
            <a:custGeom>
              <a:rect b="b" l="l" r="r" t="t"/>
              <a:pathLst>
                <a:path extrusionOk="0" h="12771" w="23257">
                  <a:moveTo>
                    <a:pt x="3727" y="0"/>
                  </a:moveTo>
                  <a:lnTo>
                    <a:pt x="0" y="4522"/>
                  </a:lnTo>
                  <a:lnTo>
                    <a:pt x="23257" y="12771"/>
                  </a:lnTo>
                  <a:lnTo>
                    <a:pt x="23257" y="7056"/>
                  </a:lnTo>
                  <a:close/>
                </a:path>
              </a:pathLst>
            </a:custGeom>
            <a:solidFill>
              <a:srgbClr val="F4B400"/>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99" name="Google Shape;99;p14"/>
            <p:cNvSpPr/>
            <p:nvPr/>
          </p:nvSpPr>
          <p:spPr>
            <a:xfrm>
              <a:off x="4084537" y="1922553"/>
              <a:ext cx="435387" cy="501365"/>
            </a:xfrm>
            <a:custGeom>
              <a:rect b="b" l="l" r="r" t="t"/>
              <a:pathLst>
                <a:path extrusionOk="0" h="14114" w="18238">
                  <a:moveTo>
                    <a:pt x="6262" y="0"/>
                  </a:moveTo>
                  <a:lnTo>
                    <a:pt x="18238" y="4324"/>
                  </a:lnTo>
                  <a:lnTo>
                    <a:pt x="18238" y="14114"/>
                  </a:lnTo>
                  <a:lnTo>
                    <a:pt x="0" y="7554"/>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00" name="Google Shape;100;p14"/>
            <p:cNvSpPr/>
            <p:nvPr/>
          </p:nvSpPr>
          <p:spPr>
            <a:xfrm flipH="1">
              <a:off x="4518735" y="1922553"/>
              <a:ext cx="435387" cy="501365"/>
            </a:xfrm>
            <a:custGeom>
              <a:rect b="b" l="l" r="r" t="t"/>
              <a:pathLst>
                <a:path extrusionOk="0" h="14114" w="18238">
                  <a:moveTo>
                    <a:pt x="6262" y="0"/>
                  </a:moveTo>
                  <a:lnTo>
                    <a:pt x="18238" y="4324"/>
                  </a:lnTo>
                  <a:lnTo>
                    <a:pt x="18238" y="14114"/>
                  </a:lnTo>
                  <a:lnTo>
                    <a:pt x="0" y="7554"/>
                  </a:lnTo>
                  <a:close/>
                </a:path>
              </a:pathLst>
            </a:custGeom>
            <a:solidFill>
              <a:srgbClr val="701C7F"/>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01" name="Google Shape;101;p14"/>
            <p:cNvSpPr/>
            <p:nvPr/>
          </p:nvSpPr>
          <p:spPr>
            <a:xfrm>
              <a:off x="4266040" y="1368287"/>
              <a:ext cx="253884" cy="593119"/>
            </a:xfrm>
            <a:custGeom>
              <a:rect b="b" l="l" r="r" t="t"/>
              <a:pathLst>
                <a:path extrusionOk="0" h="16697" w="10635">
                  <a:moveTo>
                    <a:pt x="10635" y="0"/>
                  </a:moveTo>
                  <a:lnTo>
                    <a:pt x="0" y="12722"/>
                  </a:lnTo>
                  <a:lnTo>
                    <a:pt x="10635" y="16697"/>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02" name="Google Shape;102;p14"/>
            <p:cNvSpPr/>
            <p:nvPr/>
          </p:nvSpPr>
          <p:spPr>
            <a:xfrm flipH="1">
              <a:off x="4518734" y="1368287"/>
              <a:ext cx="253884" cy="593119"/>
            </a:xfrm>
            <a:custGeom>
              <a:rect b="b" l="l" r="r" t="t"/>
              <a:pathLst>
                <a:path extrusionOk="0" h="16697" w="10635">
                  <a:moveTo>
                    <a:pt x="10635" y="0"/>
                  </a:moveTo>
                  <a:lnTo>
                    <a:pt x="0" y="12722"/>
                  </a:lnTo>
                  <a:lnTo>
                    <a:pt x="10635" y="16697"/>
                  </a:lnTo>
                  <a:close/>
                </a:path>
              </a:pathLst>
            </a:custGeom>
            <a:solidFill>
              <a:srgbClr val="701C7F"/>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03" name="Google Shape;103;p14"/>
            <p:cNvSpPr/>
            <p:nvPr/>
          </p:nvSpPr>
          <p:spPr>
            <a:xfrm>
              <a:off x="3877348" y="2290728"/>
              <a:ext cx="642683" cy="657851"/>
            </a:xfrm>
            <a:custGeom>
              <a:rect b="b" l="l" r="r" t="t"/>
              <a:pathLst>
                <a:path extrusionOk="0" h="46623" w="65016">
                  <a:moveTo>
                    <a:pt x="17858" y="0"/>
                  </a:moveTo>
                  <a:lnTo>
                    <a:pt x="0" y="22135"/>
                  </a:lnTo>
                  <a:lnTo>
                    <a:pt x="65016" y="46623"/>
                  </a:lnTo>
                  <a:lnTo>
                    <a:pt x="65016" y="17537"/>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04" name="Google Shape;104;p14"/>
            <p:cNvSpPr/>
            <p:nvPr/>
          </p:nvSpPr>
          <p:spPr>
            <a:xfrm flipH="1">
              <a:off x="4518572" y="2291772"/>
              <a:ext cx="642683" cy="657851"/>
            </a:xfrm>
            <a:custGeom>
              <a:rect b="b" l="l" r="r" t="t"/>
              <a:pathLst>
                <a:path extrusionOk="0" h="46623" w="65016">
                  <a:moveTo>
                    <a:pt x="17858" y="0"/>
                  </a:moveTo>
                  <a:lnTo>
                    <a:pt x="0" y="22135"/>
                  </a:lnTo>
                  <a:lnTo>
                    <a:pt x="65016" y="46623"/>
                  </a:lnTo>
                  <a:lnTo>
                    <a:pt x="65016" y="17537"/>
                  </a:lnTo>
                  <a:close/>
                </a:path>
              </a:pathLst>
            </a:custGeom>
            <a:solidFill>
              <a:srgbClr val="761E86"/>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05" name="Google Shape;105;p14"/>
            <p:cNvSpPr/>
            <p:nvPr/>
          </p:nvSpPr>
          <p:spPr>
            <a:xfrm flipH="1">
              <a:off x="4522009" y="2708179"/>
              <a:ext cx="881371" cy="854431"/>
            </a:xfrm>
            <a:custGeom>
              <a:rect b="b" l="l" r="r" t="t"/>
              <a:pathLst>
                <a:path extrusionOk="0" h="20822" w="31954">
                  <a:moveTo>
                    <a:pt x="7355" y="0"/>
                  </a:moveTo>
                  <a:lnTo>
                    <a:pt x="31954" y="8796"/>
                  </a:lnTo>
                  <a:lnTo>
                    <a:pt x="31954" y="20822"/>
                  </a:lnTo>
                  <a:lnTo>
                    <a:pt x="0" y="8895"/>
                  </a:lnTo>
                  <a:close/>
                </a:path>
              </a:pathLst>
            </a:custGeom>
            <a:solidFill>
              <a:srgbClr val="7F2090"/>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grpSp>
      <p:grpSp>
        <p:nvGrpSpPr>
          <p:cNvPr id="106" name="Google Shape;106;p14"/>
          <p:cNvGrpSpPr/>
          <p:nvPr/>
        </p:nvGrpSpPr>
        <p:grpSpPr>
          <a:xfrm>
            <a:off x="5259475" y="2411864"/>
            <a:ext cx="3286704" cy="747300"/>
            <a:chOff x="5064450" y="2086419"/>
            <a:chExt cx="3286704" cy="747300"/>
          </a:xfrm>
        </p:grpSpPr>
        <p:cxnSp>
          <p:nvCxnSpPr>
            <p:cNvPr id="107" name="Google Shape;107;p14"/>
            <p:cNvCxnSpPr/>
            <p:nvPr/>
          </p:nvCxnSpPr>
          <p:spPr>
            <a:xfrm>
              <a:off x="5064450" y="2460069"/>
              <a:ext cx="1119000" cy="0"/>
            </a:xfrm>
            <a:prstGeom prst="straightConnector1">
              <a:avLst/>
            </a:prstGeom>
            <a:noFill/>
            <a:ln cap="flat" cmpd="sng" w="9525">
              <a:solidFill>
                <a:srgbClr val="BDBDBD"/>
              </a:solidFill>
              <a:prstDash val="solid"/>
              <a:round/>
              <a:headEnd len="sm" w="sm" type="none"/>
              <a:tailEnd len="sm" w="sm" type="none"/>
            </a:ln>
          </p:spPr>
        </p:cxnSp>
        <p:sp>
          <p:nvSpPr>
            <p:cNvPr id="108" name="Google Shape;108;p14"/>
            <p:cNvSpPr/>
            <p:nvPr/>
          </p:nvSpPr>
          <p:spPr>
            <a:xfrm>
              <a:off x="6014671" y="2353882"/>
              <a:ext cx="198600" cy="198300"/>
            </a:xfrm>
            <a:prstGeom prst="ellipse">
              <a:avLst/>
            </a:prstGeom>
            <a:solidFill>
              <a:srgbClr val="761E8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4"/>
            <p:cNvSpPr txBox="1"/>
            <p:nvPr/>
          </p:nvSpPr>
          <p:spPr>
            <a:xfrm>
              <a:off x="5991690" y="2295028"/>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3</a:t>
              </a:r>
              <a:endParaRPr>
                <a:solidFill>
                  <a:srgbClr val="FFFFFF"/>
                </a:solidFill>
              </a:endParaRPr>
            </a:p>
          </p:txBody>
        </p:sp>
        <p:sp>
          <p:nvSpPr>
            <p:cNvPr id="110" name="Google Shape;110;p14"/>
            <p:cNvSpPr txBox="1"/>
            <p:nvPr/>
          </p:nvSpPr>
          <p:spPr>
            <a:xfrm>
              <a:off x="6223854" y="2086419"/>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Triads</a:t>
              </a:r>
              <a:endParaRPr b="1" sz="1800">
                <a:latin typeface="Roboto"/>
                <a:ea typeface="Roboto"/>
                <a:cs typeface="Roboto"/>
                <a:sym typeface="Roboto"/>
              </a:endParaRPr>
            </a:p>
          </p:txBody>
        </p:sp>
      </p:grpSp>
      <p:sp>
        <p:nvSpPr>
          <p:cNvPr id="111" name="Google Shape;111;p14"/>
          <p:cNvSpPr txBox="1"/>
          <p:nvPr/>
        </p:nvSpPr>
        <p:spPr>
          <a:xfrm>
            <a:off x="78425" y="3815350"/>
            <a:ext cx="2777100" cy="132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Economica"/>
                <a:ea typeface="Economica"/>
                <a:cs typeface="Economica"/>
                <a:sym typeface="Economica"/>
              </a:rPr>
              <a:t> The first part of the course follows this organization!</a:t>
            </a:r>
            <a:endParaRPr b="1" sz="2400">
              <a:latin typeface="Economica"/>
              <a:ea typeface="Economica"/>
              <a:cs typeface="Economica"/>
              <a:sym typeface="Economica"/>
            </a:endParaRPr>
          </a:p>
        </p:txBody>
      </p:sp>
      <p:sp>
        <p:nvSpPr>
          <p:cNvPr id="112" name="Google Shape;112;p1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Levels of Analysis in social networks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grpSp>
        <p:nvGrpSpPr>
          <p:cNvPr id="117" name="Google Shape;117;p15"/>
          <p:cNvGrpSpPr/>
          <p:nvPr/>
        </p:nvGrpSpPr>
        <p:grpSpPr>
          <a:xfrm>
            <a:off x="4725650" y="1479057"/>
            <a:ext cx="3820529" cy="747300"/>
            <a:chOff x="4530625" y="1206568"/>
            <a:chExt cx="3820529" cy="747300"/>
          </a:xfrm>
        </p:grpSpPr>
        <p:cxnSp>
          <p:nvCxnSpPr>
            <p:cNvPr id="118" name="Google Shape;118;p15"/>
            <p:cNvCxnSpPr/>
            <p:nvPr/>
          </p:nvCxnSpPr>
          <p:spPr>
            <a:xfrm>
              <a:off x="4530625" y="1582195"/>
              <a:ext cx="1652700" cy="0"/>
            </a:xfrm>
            <a:prstGeom prst="straightConnector1">
              <a:avLst/>
            </a:prstGeom>
            <a:noFill/>
            <a:ln cap="flat" cmpd="sng" w="9525">
              <a:solidFill>
                <a:srgbClr val="BDBDBD"/>
              </a:solidFill>
              <a:prstDash val="solid"/>
              <a:round/>
              <a:headEnd len="sm" w="sm" type="none"/>
              <a:tailEnd len="sm" w="sm" type="none"/>
            </a:ln>
          </p:spPr>
        </p:cxnSp>
        <p:sp>
          <p:nvSpPr>
            <p:cNvPr id="119" name="Google Shape;119;p15"/>
            <p:cNvSpPr/>
            <p:nvPr/>
          </p:nvSpPr>
          <p:spPr>
            <a:xfrm>
              <a:off x="6014671" y="1481782"/>
              <a:ext cx="198600" cy="198300"/>
            </a:xfrm>
            <a:prstGeom prst="ellipse">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5"/>
            <p:cNvSpPr txBox="1"/>
            <p:nvPr/>
          </p:nvSpPr>
          <p:spPr>
            <a:xfrm>
              <a:off x="5990215" y="142376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1</a:t>
              </a:r>
              <a:endParaRPr>
                <a:solidFill>
                  <a:srgbClr val="FFFFFF"/>
                </a:solidFill>
              </a:endParaRPr>
            </a:p>
          </p:txBody>
        </p:sp>
        <p:sp>
          <p:nvSpPr>
            <p:cNvPr id="121" name="Google Shape;121;p15"/>
            <p:cNvSpPr txBox="1"/>
            <p:nvPr/>
          </p:nvSpPr>
          <p:spPr>
            <a:xfrm>
              <a:off x="6223854" y="1206568"/>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Individual</a:t>
              </a:r>
              <a:endParaRPr b="1" sz="1800">
                <a:latin typeface="Roboto"/>
                <a:ea typeface="Roboto"/>
                <a:cs typeface="Roboto"/>
                <a:sym typeface="Roboto"/>
              </a:endParaRPr>
            </a:p>
          </p:txBody>
        </p:sp>
      </p:grpSp>
      <p:grpSp>
        <p:nvGrpSpPr>
          <p:cNvPr id="122" name="Google Shape;122;p15"/>
          <p:cNvGrpSpPr/>
          <p:nvPr/>
        </p:nvGrpSpPr>
        <p:grpSpPr>
          <a:xfrm>
            <a:off x="5769175" y="3491301"/>
            <a:ext cx="2777004" cy="747300"/>
            <a:chOff x="5574150" y="3083456"/>
            <a:chExt cx="2777004" cy="747300"/>
          </a:xfrm>
        </p:grpSpPr>
        <p:cxnSp>
          <p:nvCxnSpPr>
            <p:cNvPr id="123" name="Google Shape;123;p15"/>
            <p:cNvCxnSpPr/>
            <p:nvPr/>
          </p:nvCxnSpPr>
          <p:spPr>
            <a:xfrm>
              <a:off x="5574150" y="3449448"/>
              <a:ext cx="609300" cy="0"/>
            </a:xfrm>
            <a:prstGeom prst="straightConnector1">
              <a:avLst/>
            </a:prstGeom>
            <a:noFill/>
            <a:ln cap="flat" cmpd="sng" w="9525">
              <a:solidFill>
                <a:srgbClr val="BDBDBD"/>
              </a:solidFill>
              <a:prstDash val="solid"/>
              <a:round/>
              <a:headEnd len="sm" w="sm" type="none"/>
              <a:tailEnd len="sm" w="sm" type="none"/>
            </a:ln>
          </p:spPr>
        </p:cxnSp>
        <p:sp>
          <p:nvSpPr>
            <p:cNvPr id="124" name="Google Shape;124;p15"/>
            <p:cNvSpPr/>
            <p:nvPr/>
          </p:nvSpPr>
          <p:spPr>
            <a:xfrm>
              <a:off x="6014671" y="3349032"/>
              <a:ext cx="198600" cy="198300"/>
            </a:xfrm>
            <a:prstGeom prst="ellipse">
              <a:avLst/>
            </a:prstGeom>
            <a:solidFill>
              <a:srgbClr val="9225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5"/>
            <p:cNvSpPr txBox="1"/>
            <p:nvPr/>
          </p:nvSpPr>
          <p:spPr>
            <a:xfrm>
              <a:off x="5991690" y="329111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5</a:t>
              </a:r>
              <a:endParaRPr>
                <a:solidFill>
                  <a:srgbClr val="FFFFFF"/>
                </a:solidFill>
              </a:endParaRPr>
            </a:p>
          </p:txBody>
        </p:sp>
        <p:sp>
          <p:nvSpPr>
            <p:cNvPr id="126" name="Google Shape;126;p15"/>
            <p:cNvSpPr txBox="1"/>
            <p:nvPr/>
          </p:nvSpPr>
          <p:spPr>
            <a:xfrm>
              <a:off x="6223854" y="3083456"/>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Whole Network</a:t>
              </a:r>
              <a:endParaRPr b="1" sz="1800">
                <a:latin typeface="Roboto"/>
                <a:ea typeface="Roboto"/>
                <a:cs typeface="Roboto"/>
                <a:sym typeface="Roboto"/>
              </a:endParaRPr>
            </a:p>
          </p:txBody>
        </p:sp>
      </p:grpSp>
      <p:grpSp>
        <p:nvGrpSpPr>
          <p:cNvPr id="127" name="Google Shape;127;p15"/>
          <p:cNvGrpSpPr/>
          <p:nvPr/>
        </p:nvGrpSpPr>
        <p:grpSpPr>
          <a:xfrm>
            <a:off x="597801" y="1980193"/>
            <a:ext cx="3468724" cy="747300"/>
            <a:chOff x="744101" y="1672393"/>
            <a:chExt cx="3468724" cy="747300"/>
          </a:xfrm>
        </p:grpSpPr>
        <p:cxnSp>
          <p:nvCxnSpPr>
            <p:cNvPr id="128" name="Google Shape;128;p15"/>
            <p:cNvCxnSpPr/>
            <p:nvPr/>
          </p:nvCxnSpPr>
          <p:spPr>
            <a:xfrm rot="10800000">
              <a:off x="2921325" y="2046050"/>
              <a:ext cx="1291500" cy="0"/>
            </a:xfrm>
            <a:prstGeom prst="straightConnector1">
              <a:avLst/>
            </a:prstGeom>
            <a:noFill/>
            <a:ln cap="flat" cmpd="sng" w="9525">
              <a:solidFill>
                <a:srgbClr val="BDBDBD"/>
              </a:solidFill>
              <a:prstDash val="solid"/>
              <a:round/>
              <a:headEnd len="sm" w="sm" type="none"/>
              <a:tailEnd len="sm" w="sm" type="none"/>
            </a:ln>
          </p:spPr>
        </p:cxnSp>
        <p:sp>
          <p:nvSpPr>
            <p:cNvPr id="129" name="Google Shape;129;p15"/>
            <p:cNvSpPr/>
            <p:nvPr/>
          </p:nvSpPr>
          <p:spPr>
            <a:xfrm>
              <a:off x="2874851" y="1943786"/>
              <a:ext cx="198600" cy="198300"/>
            </a:xfrm>
            <a:prstGeom prst="ellipse">
              <a:avLst/>
            </a:prstGeom>
            <a:solidFill>
              <a:srgbClr val="701C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5"/>
            <p:cNvSpPr txBox="1"/>
            <p:nvPr/>
          </p:nvSpPr>
          <p:spPr>
            <a:xfrm>
              <a:off x="2849841" y="1884747"/>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2</a:t>
              </a:r>
              <a:endParaRPr>
                <a:solidFill>
                  <a:srgbClr val="FFFFFF"/>
                </a:solidFill>
              </a:endParaRPr>
            </a:p>
          </p:txBody>
        </p:sp>
        <p:sp>
          <p:nvSpPr>
            <p:cNvPr id="131" name="Google Shape;131;p15"/>
            <p:cNvSpPr txBox="1"/>
            <p:nvPr/>
          </p:nvSpPr>
          <p:spPr>
            <a:xfrm>
              <a:off x="744101" y="1672393"/>
              <a:ext cx="2127300" cy="7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1600"/>
                </a:spcAft>
                <a:buNone/>
              </a:pPr>
              <a:r>
                <a:rPr b="1" lang="en" sz="1800">
                  <a:latin typeface="Roboto"/>
                  <a:ea typeface="Roboto"/>
                  <a:cs typeface="Roboto"/>
                  <a:sym typeface="Roboto"/>
                </a:rPr>
                <a:t>Dyads</a:t>
              </a:r>
              <a:endParaRPr b="1" sz="1800">
                <a:latin typeface="Roboto"/>
                <a:ea typeface="Roboto"/>
                <a:cs typeface="Roboto"/>
                <a:sym typeface="Roboto"/>
              </a:endParaRPr>
            </a:p>
          </p:txBody>
        </p:sp>
      </p:grpSp>
      <p:grpSp>
        <p:nvGrpSpPr>
          <p:cNvPr id="132" name="Google Shape;132;p15"/>
          <p:cNvGrpSpPr/>
          <p:nvPr/>
        </p:nvGrpSpPr>
        <p:grpSpPr>
          <a:xfrm>
            <a:off x="597801" y="2897769"/>
            <a:ext cx="3021694" cy="747300"/>
            <a:chOff x="744101" y="2507609"/>
            <a:chExt cx="3021694" cy="747300"/>
          </a:xfrm>
        </p:grpSpPr>
        <p:cxnSp>
          <p:nvCxnSpPr>
            <p:cNvPr id="133" name="Google Shape;133;p15"/>
            <p:cNvCxnSpPr/>
            <p:nvPr/>
          </p:nvCxnSpPr>
          <p:spPr>
            <a:xfrm rot="10800000">
              <a:off x="2915895" y="2881250"/>
              <a:ext cx="849900" cy="0"/>
            </a:xfrm>
            <a:prstGeom prst="straightConnector1">
              <a:avLst/>
            </a:prstGeom>
            <a:noFill/>
            <a:ln cap="flat" cmpd="sng" w="9525">
              <a:solidFill>
                <a:srgbClr val="BDBDBD"/>
              </a:solidFill>
              <a:prstDash val="solid"/>
              <a:round/>
              <a:headEnd len="sm" w="sm" type="none"/>
              <a:tailEnd len="sm" w="sm" type="none"/>
            </a:ln>
          </p:spPr>
        </p:cxnSp>
        <p:sp>
          <p:nvSpPr>
            <p:cNvPr id="134" name="Google Shape;134;p15"/>
            <p:cNvSpPr/>
            <p:nvPr/>
          </p:nvSpPr>
          <p:spPr>
            <a:xfrm>
              <a:off x="2874851" y="2780836"/>
              <a:ext cx="198600" cy="198300"/>
            </a:xfrm>
            <a:prstGeom prst="ellipse">
              <a:avLst/>
            </a:prstGeom>
            <a:solidFill>
              <a:srgbClr val="7F209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5"/>
            <p:cNvSpPr txBox="1"/>
            <p:nvPr/>
          </p:nvSpPr>
          <p:spPr>
            <a:xfrm>
              <a:off x="2849841" y="2724795"/>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4</a:t>
              </a:r>
              <a:endParaRPr>
                <a:solidFill>
                  <a:srgbClr val="FFFFFF"/>
                </a:solidFill>
              </a:endParaRPr>
            </a:p>
          </p:txBody>
        </p:sp>
        <p:sp>
          <p:nvSpPr>
            <p:cNvPr id="136" name="Google Shape;136;p15"/>
            <p:cNvSpPr txBox="1"/>
            <p:nvPr/>
          </p:nvSpPr>
          <p:spPr>
            <a:xfrm>
              <a:off x="744101" y="2507609"/>
              <a:ext cx="2127300" cy="747300"/>
            </a:xfrm>
            <a:prstGeom prst="rect">
              <a:avLst/>
            </a:prstGeom>
            <a:noFill/>
            <a:ln>
              <a:noFill/>
            </a:ln>
          </p:spPr>
          <p:txBody>
            <a:bodyPr anchorCtr="0" anchor="ctr" bIns="91425" lIns="91425" spcFirstLastPara="1" rIns="91425" wrap="square" tIns="91425">
              <a:noAutofit/>
            </a:bodyPr>
            <a:lstStyle/>
            <a:p>
              <a:pPr indent="0" lvl="0" marL="0" rtl="0" algn="r">
                <a:lnSpc>
                  <a:spcPct val="115000"/>
                </a:lnSpc>
                <a:spcBef>
                  <a:spcPts val="0"/>
                </a:spcBef>
                <a:spcAft>
                  <a:spcPts val="1600"/>
                </a:spcAft>
                <a:buNone/>
              </a:pPr>
              <a:r>
                <a:rPr b="1" lang="en" sz="1800">
                  <a:latin typeface="Roboto"/>
                  <a:ea typeface="Roboto"/>
                  <a:cs typeface="Roboto"/>
                  <a:sym typeface="Roboto"/>
                </a:rPr>
                <a:t>Cliques, Communities</a:t>
              </a:r>
              <a:endParaRPr b="1" sz="1800">
                <a:latin typeface="Roboto"/>
                <a:ea typeface="Roboto"/>
                <a:cs typeface="Roboto"/>
                <a:sym typeface="Roboto"/>
              </a:endParaRPr>
            </a:p>
          </p:txBody>
        </p:sp>
      </p:grpSp>
      <p:grpSp>
        <p:nvGrpSpPr>
          <p:cNvPr id="137" name="Google Shape;137;p15"/>
          <p:cNvGrpSpPr/>
          <p:nvPr/>
        </p:nvGrpSpPr>
        <p:grpSpPr>
          <a:xfrm>
            <a:off x="2811509" y="1603902"/>
            <a:ext cx="3509178" cy="3257208"/>
            <a:chOff x="3318063" y="1368287"/>
            <a:chExt cx="2408000" cy="2993482"/>
          </a:xfrm>
        </p:grpSpPr>
        <p:sp>
          <p:nvSpPr>
            <p:cNvPr id="138" name="Google Shape;138;p15"/>
            <p:cNvSpPr/>
            <p:nvPr/>
          </p:nvSpPr>
          <p:spPr>
            <a:xfrm>
              <a:off x="3595785" y="2775241"/>
              <a:ext cx="1853168" cy="919151"/>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39" name="Google Shape;139;p15"/>
            <p:cNvSpPr/>
            <p:nvPr/>
          </p:nvSpPr>
          <p:spPr>
            <a:xfrm>
              <a:off x="3318063" y="3194383"/>
              <a:ext cx="1203867" cy="1167385"/>
            </a:xfrm>
            <a:custGeom>
              <a:rect b="b" l="l" r="r" t="t"/>
              <a:pathLst>
                <a:path extrusionOk="0" h="20822" w="31954">
                  <a:moveTo>
                    <a:pt x="7355" y="0"/>
                  </a:moveTo>
                  <a:lnTo>
                    <a:pt x="31954" y="8796"/>
                  </a:lnTo>
                  <a:lnTo>
                    <a:pt x="31954" y="20822"/>
                  </a:lnTo>
                  <a:lnTo>
                    <a:pt x="0" y="8895"/>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0" name="Google Shape;140;p15"/>
            <p:cNvSpPr/>
            <p:nvPr/>
          </p:nvSpPr>
          <p:spPr>
            <a:xfrm flipH="1">
              <a:off x="4522196" y="3194383"/>
              <a:ext cx="1203867" cy="1167385"/>
            </a:xfrm>
            <a:custGeom>
              <a:rect b="b" l="l" r="r" t="t"/>
              <a:pathLst>
                <a:path extrusionOk="0" h="20822" w="31954">
                  <a:moveTo>
                    <a:pt x="7355" y="0"/>
                  </a:moveTo>
                  <a:lnTo>
                    <a:pt x="31954" y="8796"/>
                  </a:lnTo>
                  <a:lnTo>
                    <a:pt x="31954" y="20822"/>
                  </a:lnTo>
                  <a:lnTo>
                    <a:pt x="0" y="8895"/>
                  </a:lnTo>
                  <a:close/>
                </a:path>
              </a:pathLst>
            </a:custGeom>
            <a:solidFill>
              <a:srgbClr val="9225A5"/>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1" name="Google Shape;141;p15"/>
            <p:cNvSpPr/>
            <p:nvPr/>
          </p:nvSpPr>
          <p:spPr>
            <a:xfrm>
              <a:off x="3844034" y="2401368"/>
              <a:ext cx="1356545" cy="672851"/>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2" name="Google Shape;142;p15"/>
            <p:cNvSpPr/>
            <p:nvPr/>
          </p:nvSpPr>
          <p:spPr>
            <a:xfrm>
              <a:off x="3930892" y="2272397"/>
              <a:ext cx="1175304" cy="581421"/>
            </a:xfrm>
            <a:custGeom>
              <a:rect b="b" l="l" r="r" t="t"/>
              <a:pathLst>
                <a:path extrusionOk="0" h="16300" w="49248">
                  <a:moveTo>
                    <a:pt x="0" y="7554"/>
                  </a:moveTo>
                  <a:lnTo>
                    <a:pt x="24649" y="16300"/>
                  </a:lnTo>
                  <a:lnTo>
                    <a:pt x="49248" y="7604"/>
                  </a:lnTo>
                  <a:lnTo>
                    <a:pt x="24599"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3" name="Google Shape;143;p15"/>
            <p:cNvSpPr/>
            <p:nvPr/>
          </p:nvSpPr>
          <p:spPr>
            <a:xfrm>
              <a:off x="4052837" y="2081437"/>
              <a:ext cx="931314" cy="460727"/>
            </a:xfrm>
            <a:custGeom>
              <a:rect b="b" l="l" r="r" t="t"/>
              <a:pathLst>
                <a:path extrusionOk="0" h="12970" w="39012">
                  <a:moveTo>
                    <a:pt x="0" y="5914"/>
                  </a:moveTo>
                  <a:lnTo>
                    <a:pt x="19531" y="12970"/>
                  </a:lnTo>
                  <a:lnTo>
                    <a:pt x="39012" y="5914"/>
                  </a:lnTo>
                  <a:lnTo>
                    <a:pt x="19581"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4" name="Google Shape;144;p15"/>
            <p:cNvSpPr/>
            <p:nvPr/>
          </p:nvSpPr>
          <p:spPr>
            <a:xfrm>
              <a:off x="4233144" y="1787006"/>
              <a:ext cx="573183" cy="289305"/>
            </a:xfrm>
            <a:custGeom>
              <a:rect b="b" l="l" r="r" t="t"/>
              <a:pathLst>
                <a:path extrusionOk="0" h="8150" w="24053">
                  <a:moveTo>
                    <a:pt x="0" y="3827"/>
                  </a:moveTo>
                  <a:lnTo>
                    <a:pt x="11976" y="8150"/>
                  </a:lnTo>
                  <a:lnTo>
                    <a:pt x="24053" y="3827"/>
                  </a:lnTo>
                  <a:lnTo>
                    <a:pt x="12126" y="0"/>
                  </a:lnTo>
                  <a:close/>
                </a:path>
              </a:pathLst>
            </a:custGeom>
            <a:solidFill>
              <a:srgbClr val="D9D9D9"/>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5" name="Google Shape;145;p15"/>
            <p:cNvSpPr/>
            <p:nvPr/>
          </p:nvSpPr>
          <p:spPr>
            <a:xfrm>
              <a:off x="3640743" y="2708179"/>
              <a:ext cx="881371" cy="854431"/>
            </a:xfrm>
            <a:custGeom>
              <a:rect b="b" l="l" r="r" t="t"/>
              <a:pathLst>
                <a:path extrusionOk="0" h="20822" w="31954">
                  <a:moveTo>
                    <a:pt x="7355" y="0"/>
                  </a:moveTo>
                  <a:lnTo>
                    <a:pt x="31954" y="8796"/>
                  </a:lnTo>
                  <a:lnTo>
                    <a:pt x="31954" y="20822"/>
                  </a:lnTo>
                  <a:lnTo>
                    <a:pt x="0" y="8895"/>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6" name="Google Shape;146;p15"/>
            <p:cNvSpPr/>
            <p:nvPr/>
          </p:nvSpPr>
          <p:spPr>
            <a:xfrm>
              <a:off x="3964720" y="2291507"/>
              <a:ext cx="555203" cy="453658"/>
            </a:xfrm>
            <a:custGeom>
              <a:rect b="b" l="l" r="r" t="t"/>
              <a:pathLst>
                <a:path extrusionOk="0" h="12771" w="23257">
                  <a:moveTo>
                    <a:pt x="3727" y="0"/>
                  </a:moveTo>
                  <a:lnTo>
                    <a:pt x="0" y="4522"/>
                  </a:lnTo>
                  <a:lnTo>
                    <a:pt x="23257" y="12771"/>
                  </a:lnTo>
                  <a:lnTo>
                    <a:pt x="23257" y="7056"/>
                  </a:lnTo>
                  <a:close/>
                </a:path>
              </a:pathLst>
            </a:custGeom>
            <a:gradFill>
              <a:gsLst>
                <a:gs pos="0">
                  <a:srgbClr val="FFCA37"/>
                </a:gs>
                <a:gs pos="100000">
                  <a:srgbClr val="AD8107"/>
                </a:gs>
              </a:gsLst>
              <a:lin ang="5400012" scaled="0"/>
            </a:gra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7" name="Google Shape;147;p15"/>
            <p:cNvSpPr/>
            <p:nvPr/>
          </p:nvSpPr>
          <p:spPr>
            <a:xfrm flipH="1">
              <a:off x="4518736" y="2291507"/>
              <a:ext cx="555203" cy="453658"/>
            </a:xfrm>
            <a:custGeom>
              <a:rect b="b" l="l" r="r" t="t"/>
              <a:pathLst>
                <a:path extrusionOk="0" h="12771" w="23257">
                  <a:moveTo>
                    <a:pt x="3727" y="0"/>
                  </a:moveTo>
                  <a:lnTo>
                    <a:pt x="0" y="4522"/>
                  </a:lnTo>
                  <a:lnTo>
                    <a:pt x="23257" y="12771"/>
                  </a:lnTo>
                  <a:lnTo>
                    <a:pt x="23257" y="7056"/>
                  </a:lnTo>
                  <a:close/>
                </a:path>
              </a:pathLst>
            </a:custGeom>
            <a:solidFill>
              <a:srgbClr val="F4B400"/>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8" name="Google Shape;148;p15"/>
            <p:cNvSpPr/>
            <p:nvPr/>
          </p:nvSpPr>
          <p:spPr>
            <a:xfrm>
              <a:off x="4084537" y="1922553"/>
              <a:ext cx="435387" cy="501365"/>
            </a:xfrm>
            <a:custGeom>
              <a:rect b="b" l="l" r="r" t="t"/>
              <a:pathLst>
                <a:path extrusionOk="0" h="14114" w="18238">
                  <a:moveTo>
                    <a:pt x="6262" y="0"/>
                  </a:moveTo>
                  <a:lnTo>
                    <a:pt x="18238" y="4324"/>
                  </a:lnTo>
                  <a:lnTo>
                    <a:pt x="18238" y="14114"/>
                  </a:lnTo>
                  <a:lnTo>
                    <a:pt x="0" y="7554"/>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49" name="Google Shape;149;p15"/>
            <p:cNvSpPr/>
            <p:nvPr/>
          </p:nvSpPr>
          <p:spPr>
            <a:xfrm flipH="1">
              <a:off x="4518735" y="1922553"/>
              <a:ext cx="435387" cy="501365"/>
            </a:xfrm>
            <a:custGeom>
              <a:rect b="b" l="l" r="r" t="t"/>
              <a:pathLst>
                <a:path extrusionOk="0" h="14114" w="18238">
                  <a:moveTo>
                    <a:pt x="6262" y="0"/>
                  </a:moveTo>
                  <a:lnTo>
                    <a:pt x="18238" y="4324"/>
                  </a:lnTo>
                  <a:lnTo>
                    <a:pt x="18238" y="14114"/>
                  </a:lnTo>
                  <a:lnTo>
                    <a:pt x="0" y="7554"/>
                  </a:lnTo>
                  <a:close/>
                </a:path>
              </a:pathLst>
            </a:custGeom>
            <a:solidFill>
              <a:srgbClr val="701C7F"/>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0" name="Google Shape;150;p15"/>
            <p:cNvSpPr/>
            <p:nvPr/>
          </p:nvSpPr>
          <p:spPr>
            <a:xfrm>
              <a:off x="4266040" y="1368287"/>
              <a:ext cx="253884" cy="593119"/>
            </a:xfrm>
            <a:custGeom>
              <a:rect b="b" l="l" r="r" t="t"/>
              <a:pathLst>
                <a:path extrusionOk="0" h="16697" w="10635">
                  <a:moveTo>
                    <a:pt x="10635" y="0"/>
                  </a:moveTo>
                  <a:lnTo>
                    <a:pt x="0" y="12722"/>
                  </a:lnTo>
                  <a:lnTo>
                    <a:pt x="10635" y="16697"/>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1" name="Google Shape;151;p15"/>
            <p:cNvSpPr/>
            <p:nvPr/>
          </p:nvSpPr>
          <p:spPr>
            <a:xfrm flipH="1">
              <a:off x="4518734" y="1368287"/>
              <a:ext cx="253884" cy="593119"/>
            </a:xfrm>
            <a:custGeom>
              <a:rect b="b" l="l" r="r" t="t"/>
              <a:pathLst>
                <a:path extrusionOk="0" h="16697" w="10635">
                  <a:moveTo>
                    <a:pt x="10635" y="0"/>
                  </a:moveTo>
                  <a:lnTo>
                    <a:pt x="0" y="12722"/>
                  </a:lnTo>
                  <a:lnTo>
                    <a:pt x="10635" y="16697"/>
                  </a:lnTo>
                  <a:close/>
                </a:path>
              </a:pathLst>
            </a:custGeom>
            <a:solidFill>
              <a:srgbClr val="701C7F"/>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2" name="Google Shape;152;p15"/>
            <p:cNvSpPr/>
            <p:nvPr/>
          </p:nvSpPr>
          <p:spPr>
            <a:xfrm>
              <a:off x="3877348" y="2290728"/>
              <a:ext cx="642683" cy="657851"/>
            </a:xfrm>
            <a:custGeom>
              <a:rect b="b" l="l" r="r" t="t"/>
              <a:pathLst>
                <a:path extrusionOk="0" h="46623" w="65016">
                  <a:moveTo>
                    <a:pt x="17858" y="0"/>
                  </a:moveTo>
                  <a:lnTo>
                    <a:pt x="0" y="22135"/>
                  </a:lnTo>
                  <a:lnTo>
                    <a:pt x="65016" y="46623"/>
                  </a:lnTo>
                  <a:lnTo>
                    <a:pt x="65016" y="17537"/>
                  </a:lnTo>
                  <a:close/>
                </a:path>
              </a:pathLst>
            </a:custGeom>
            <a:solidFill>
              <a:srgbClr val="551561"/>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3" name="Google Shape;153;p15"/>
            <p:cNvSpPr/>
            <p:nvPr/>
          </p:nvSpPr>
          <p:spPr>
            <a:xfrm flipH="1">
              <a:off x="4518572" y="2291772"/>
              <a:ext cx="642683" cy="657851"/>
            </a:xfrm>
            <a:custGeom>
              <a:rect b="b" l="l" r="r" t="t"/>
              <a:pathLst>
                <a:path extrusionOk="0" h="46623" w="65016">
                  <a:moveTo>
                    <a:pt x="17858" y="0"/>
                  </a:moveTo>
                  <a:lnTo>
                    <a:pt x="0" y="22135"/>
                  </a:lnTo>
                  <a:lnTo>
                    <a:pt x="65016" y="46623"/>
                  </a:lnTo>
                  <a:lnTo>
                    <a:pt x="65016" y="17537"/>
                  </a:lnTo>
                  <a:close/>
                </a:path>
              </a:pathLst>
            </a:custGeom>
            <a:solidFill>
              <a:srgbClr val="761E86"/>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sp>
          <p:nvSpPr>
            <p:cNvPr id="154" name="Google Shape;154;p15"/>
            <p:cNvSpPr/>
            <p:nvPr/>
          </p:nvSpPr>
          <p:spPr>
            <a:xfrm flipH="1">
              <a:off x="4522009" y="2708179"/>
              <a:ext cx="881371" cy="854431"/>
            </a:xfrm>
            <a:custGeom>
              <a:rect b="b" l="l" r="r" t="t"/>
              <a:pathLst>
                <a:path extrusionOk="0" h="20822" w="31954">
                  <a:moveTo>
                    <a:pt x="7355" y="0"/>
                  </a:moveTo>
                  <a:lnTo>
                    <a:pt x="31954" y="8796"/>
                  </a:lnTo>
                  <a:lnTo>
                    <a:pt x="31954" y="20822"/>
                  </a:lnTo>
                  <a:lnTo>
                    <a:pt x="0" y="8895"/>
                  </a:lnTo>
                  <a:close/>
                </a:path>
              </a:pathLst>
            </a:custGeom>
            <a:solidFill>
              <a:srgbClr val="7F2090"/>
            </a:solidFill>
            <a:ln>
              <a:noFill/>
            </a:ln>
            <a:effectLst>
              <a:outerShdw blurRad="57150" rotWithShape="0" algn="bl" dir="5400000" dist="19050">
                <a:srgbClr val="000000">
                  <a:alpha val="50000"/>
                </a:srgbClr>
              </a:outerShdw>
              <a:reflection blurRad="0" dir="5400000" dist="38100" endA="0" endPos="30000" fadeDir="5400012" kx="0" rotWithShape="0" algn="bl" stPos="0" sy="-100000" ky="0"/>
            </a:effectLst>
          </p:spPr>
        </p:sp>
      </p:grpSp>
      <p:grpSp>
        <p:nvGrpSpPr>
          <p:cNvPr id="155" name="Google Shape;155;p15"/>
          <p:cNvGrpSpPr/>
          <p:nvPr/>
        </p:nvGrpSpPr>
        <p:grpSpPr>
          <a:xfrm>
            <a:off x="5259475" y="2411864"/>
            <a:ext cx="3286704" cy="747300"/>
            <a:chOff x="5064450" y="2086419"/>
            <a:chExt cx="3286704" cy="747300"/>
          </a:xfrm>
        </p:grpSpPr>
        <p:cxnSp>
          <p:nvCxnSpPr>
            <p:cNvPr id="156" name="Google Shape;156;p15"/>
            <p:cNvCxnSpPr/>
            <p:nvPr/>
          </p:nvCxnSpPr>
          <p:spPr>
            <a:xfrm>
              <a:off x="5064450" y="2460069"/>
              <a:ext cx="1119000" cy="0"/>
            </a:xfrm>
            <a:prstGeom prst="straightConnector1">
              <a:avLst/>
            </a:prstGeom>
            <a:noFill/>
            <a:ln cap="flat" cmpd="sng" w="9525">
              <a:solidFill>
                <a:srgbClr val="BDBDBD"/>
              </a:solidFill>
              <a:prstDash val="solid"/>
              <a:round/>
              <a:headEnd len="sm" w="sm" type="none"/>
              <a:tailEnd len="sm" w="sm" type="none"/>
            </a:ln>
          </p:spPr>
        </p:cxnSp>
        <p:sp>
          <p:nvSpPr>
            <p:cNvPr id="157" name="Google Shape;157;p15"/>
            <p:cNvSpPr/>
            <p:nvPr/>
          </p:nvSpPr>
          <p:spPr>
            <a:xfrm>
              <a:off x="6014671" y="2353882"/>
              <a:ext cx="198600" cy="198300"/>
            </a:xfrm>
            <a:prstGeom prst="ellipse">
              <a:avLst/>
            </a:prstGeom>
            <a:solidFill>
              <a:srgbClr val="761E8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5"/>
            <p:cNvSpPr txBox="1"/>
            <p:nvPr/>
          </p:nvSpPr>
          <p:spPr>
            <a:xfrm>
              <a:off x="5991690" y="2295028"/>
              <a:ext cx="247500" cy="31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600"/>
                </a:spcAft>
                <a:buNone/>
              </a:pPr>
              <a:r>
                <a:rPr lang="en" sz="800">
                  <a:solidFill>
                    <a:srgbClr val="FFFFFF"/>
                  </a:solidFill>
                  <a:latin typeface="Roboto"/>
                  <a:ea typeface="Roboto"/>
                  <a:cs typeface="Roboto"/>
                  <a:sym typeface="Roboto"/>
                </a:rPr>
                <a:t>3</a:t>
              </a:r>
              <a:endParaRPr>
                <a:solidFill>
                  <a:srgbClr val="FFFFFF"/>
                </a:solidFill>
              </a:endParaRPr>
            </a:p>
          </p:txBody>
        </p:sp>
        <p:sp>
          <p:nvSpPr>
            <p:cNvPr id="159" name="Google Shape;159;p15"/>
            <p:cNvSpPr txBox="1"/>
            <p:nvPr/>
          </p:nvSpPr>
          <p:spPr>
            <a:xfrm>
              <a:off x="6223854" y="2086419"/>
              <a:ext cx="2127300" cy="7473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600"/>
                </a:spcAft>
                <a:buNone/>
              </a:pPr>
              <a:r>
                <a:rPr b="1" lang="en" sz="1800">
                  <a:latin typeface="Roboto"/>
                  <a:ea typeface="Roboto"/>
                  <a:cs typeface="Roboto"/>
                  <a:sym typeface="Roboto"/>
                </a:rPr>
                <a:t>Triads</a:t>
              </a:r>
              <a:endParaRPr b="1" sz="1800">
                <a:latin typeface="Roboto"/>
                <a:ea typeface="Roboto"/>
                <a:cs typeface="Roboto"/>
                <a:sym typeface="Roboto"/>
              </a:endParaRPr>
            </a:p>
          </p:txBody>
        </p:sp>
      </p:grpSp>
      <p:sp>
        <p:nvSpPr>
          <p:cNvPr id="160" name="Google Shape;160;p15"/>
          <p:cNvSpPr txBox="1"/>
          <p:nvPr/>
        </p:nvSpPr>
        <p:spPr>
          <a:xfrm>
            <a:off x="78425" y="3815350"/>
            <a:ext cx="2777100" cy="132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latin typeface="Economica"/>
                <a:ea typeface="Economica"/>
                <a:cs typeface="Economica"/>
                <a:sym typeface="Economica"/>
              </a:rPr>
              <a:t> The first part of the course follows this organization!</a:t>
            </a:r>
            <a:endParaRPr b="1" sz="2400">
              <a:latin typeface="Economica"/>
              <a:ea typeface="Economica"/>
              <a:cs typeface="Economica"/>
              <a:sym typeface="Economica"/>
            </a:endParaRPr>
          </a:p>
        </p:txBody>
      </p:sp>
      <p:sp>
        <p:nvSpPr>
          <p:cNvPr id="161" name="Google Shape;161;p1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Levels of Analysis in social networks</a:t>
            </a:r>
            <a:endParaRPr/>
          </a:p>
        </p:txBody>
      </p:sp>
      <p:sp>
        <p:nvSpPr>
          <p:cNvPr id="162" name="Google Shape;162;p15"/>
          <p:cNvSpPr/>
          <p:nvPr/>
        </p:nvSpPr>
        <p:spPr>
          <a:xfrm>
            <a:off x="4804775" y="3357950"/>
            <a:ext cx="4196100" cy="10140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b="1">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Key properties of whole networks</a:t>
            </a:r>
            <a:endParaRPr/>
          </a:p>
        </p:txBody>
      </p:sp>
      <p:sp>
        <p:nvSpPr>
          <p:cNvPr id="168" name="Google Shape;168;p16"/>
          <p:cNvSpPr txBox="1"/>
          <p:nvPr>
            <p:ph idx="1" type="body"/>
          </p:nvPr>
        </p:nvSpPr>
        <p:spPr>
          <a:xfrm>
            <a:off x="311700" y="1225225"/>
            <a:ext cx="41544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have already seen three of the main ones:</a:t>
            </a:r>
            <a:endParaRPr/>
          </a:p>
          <a:p>
            <a:pPr indent="-317500" lvl="1" marL="914400" rtl="0" algn="l">
              <a:spcBef>
                <a:spcPts val="0"/>
              </a:spcBef>
              <a:spcAft>
                <a:spcPts val="0"/>
              </a:spcAft>
              <a:buSzPts val="1400"/>
              <a:buChar char="○"/>
            </a:pPr>
            <a:r>
              <a:rPr b="1" lang="en"/>
              <a:t>Number of nodes (graph order): N</a:t>
            </a:r>
            <a:endParaRPr b="1"/>
          </a:p>
          <a:p>
            <a:pPr indent="-317500" lvl="1" marL="914400" rtl="0" algn="l">
              <a:spcBef>
                <a:spcPts val="0"/>
              </a:spcBef>
              <a:spcAft>
                <a:spcPts val="0"/>
              </a:spcAft>
              <a:buSzPts val="1400"/>
              <a:buChar char="○"/>
            </a:pPr>
            <a:r>
              <a:rPr b="1" lang="en"/>
              <a:t>Number of links (graph size): E</a:t>
            </a:r>
            <a:endParaRPr b="1"/>
          </a:p>
          <a:p>
            <a:pPr indent="-317500" lvl="1" marL="914400" rtl="0" algn="l">
              <a:spcBef>
                <a:spcPts val="0"/>
              </a:spcBef>
              <a:spcAft>
                <a:spcPts val="0"/>
              </a:spcAft>
              <a:buSzPts val="1400"/>
              <a:buChar char="○"/>
            </a:pPr>
            <a:r>
              <a:rPr b="1" lang="en"/>
              <a:t>Density: E / (N(N-1)/2)</a:t>
            </a:r>
            <a:endParaRPr b="1"/>
          </a:p>
          <a:p>
            <a:pPr indent="0" lvl="0" marL="457200" marR="0" rtl="0" algn="l">
              <a:lnSpc>
                <a:spcPct val="115000"/>
              </a:lnSpc>
              <a:spcBef>
                <a:spcPts val="1600"/>
              </a:spcBef>
              <a:spcAft>
                <a:spcPts val="1600"/>
              </a:spcAft>
              <a:buNone/>
            </a:pPr>
            <a:r>
              <a:t/>
            </a:r>
            <a:endParaRPr b="1"/>
          </a:p>
        </p:txBody>
      </p:sp>
      <p:pic>
        <p:nvPicPr>
          <p:cNvPr id="169" name="Google Shape;169;p16"/>
          <p:cNvPicPr preferRelativeResize="0"/>
          <p:nvPr/>
        </p:nvPicPr>
        <p:blipFill>
          <a:blip r:embed="rId3">
            <a:alphaModFix/>
          </a:blip>
          <a:stretch>
            <a:fillRect/>
          </a:stretch>
        </p:blipFill>
        <p:spPr>
          <a:xfrm>
            <a:off x="4723026" y="1371225"/>
            <a:ext cx="4109275" cy="30619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Key properties of whole networks</a:t>
            </a:r>
            <a:endParaRPr/>
          </a:p>
        </p:txBody>
      </p:sp>
      <p:sp>
        <p:nvSpPr>
          <p:cNvPr id="175" name="Google Shape;175;p17"/>
          <p:cNvSpPr txBox="1"/>
          <p:nvPr>
            <p:ph idx="1" type="body"/>
          </p:nvPr>
        </p:nvSpPr>
        <p:spPr>
          <a:xfrm>
            <a:off x="311700" y="1225225"/>
            <a:ext cx="46320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We will discuss additional ones:</a:t>
            </a:r>
            <a:endParaRPr/>
          </a:p>
          <a:p>
            <a:pPr indent="-317500" lvl="1" marL="914400" rtl="0" algn="l">
              <a:spcBef>
                <a:spcPts val="0"/>
              </a:spcBef>
              <a:spcAft>
                <a:spcPts val="0"/>
              </a:spcAft>
              <a:buSzPts val="1400"/>
              <a:buChar char="○"/>
            </a:pPr>
            <a:r>
              <a:rPr lang="en"/>
              <a:t>Degree based:</a:t>
            </a:r>
            <a:endParaRPr/>
          </a:p>
          <a:p>
            <a:pPr indent="-317500" lvl="2" marL="1371600" rtl="0" algn="l">
              <a:spcBef>
                <a:spcPts val="0"/>
              </a:spcBef>
              <a:spcAft>
                <a:spcPts val="0"/>
              </a:spcAft>
              <a:buSzPts val="1400"/>
              <a:buChar char="■"/>
            </a:pPr>
            <a:r>
              <a:rPr b="1" lang="en"/>
              <a:t>Max/min degree</a:t>
            </a:r>
            <a:endParaRPr b="1"/>
          </a:p>
          <a:p>
            <a:pPr indent="-317500" lvl="2" marL="1371600" rtl="0" algn="l">
              <a:spcBef>
                <a:spcPts val="0"/>
              </a:spcBef>
              <a:spcAft>
                <a:spcPts val="0"/>
              </a:spcAft>
              <a:buSzPts val="1400"/>
              <a:buChar char="■"/>
            </a:pPr>
            <a:r>
              <a:rPr b="1" lang="en"/>
              <a:t>Average degree: d</a:t>
            </a:r>
            <a:r>
              <a:rPr b="1" baseline="-25000" lang="en"/>
              <a:t>avg</a:t>
            </a:r>
            <a:endParaRPr b="1" baseline="-25000"/>
          </a:p>
          <a:p>
            <a:pPr indent="-317500" lvl="2" marL="1371600" rtl="0" algn="l">
              <a:spcBef>
                <a:spcPts val="0"/>
              </a:spcBef>
              <a:spcAft>
                <a:spcPts val="0"/>
              </a:spcAft>
              <a:buSzPts val="1400"/>
              <a:buChar char="■"/>
            </a:pPr>
            <a:r>
              <a:rPr b="1" lang="en"/>
              <a:t>Degree distribution</a:t>
            </a:r>
            <a:endParaRPr b="1"/>
          </a:p>
          <a:p>
            <a:pPr indent="-317500" lvl="2" marL="1371600" rtl="0" algn="l">
              <a:spcBef>
                <a:spcPts val="0"/>
              </a:spcBef>
              <a:spcAft>
                <a:spcPts val="0"/>
              </a:spcAft>
              <a:buSzPts val="1400"/>
              <a:buChar char="■"/>
            </a:pPr>
            <a:r>
              <a:rPr b="1" lang="en"/>
              <a:t>Degree Centralization: C</a:t>
            </a:r>
            <a:r>
              <a:rPr b="1" baseline="-25000" lang="en"/>
              <a:t>d</a:t>
            </a:r>
            <a:endParaRPr b="1" baseline="-25000"/>
          </a:p>
          <a:p>
            <a:pPr indent="-317500" lvl="1" marL="914400" rtl="0" algn="l">
              <a:spcBef>
                <a:spcPts val="0"/>
              </a:spcBef>
              <a:spcAft>
                <a:spcPts val="0"/>
              </a:spcAft>
              <a:buSzPts val="1400"/>
              <a:buChar char="○"/>
            </a:pPr>
            <a:r>
              <a:rPr lang="en"/>
              <a:t>Path based:</a:t>
            </a:r>
            <a:endParaRPr/>
          </a:p>
          <a:p>
            <a:pPr indent="-317500" lvl="2" marL="1371600" rtl="0" algn="l">
              <a:spcBef>
                <a:spcPts val="0"/>
              </a:spcBef>
              <a:spcAft>
                <a:spcPts val="0"/>
              </a:spcAft>
              <a:buSzPts val="1400"/>
              <a:buChar char="■"/>
            </a:pPr>
            <a:r>
              <a:rPr b="1" lang="en"/>
              <a:t>Network Diameter: D</a:t>
            </a:r>
            <a:endParaRPr b="1"/>
          </a:p>
          <a:p>
            <a:pPr indent="-317500" lvl="2" marL="1371600" rtl="0" algn="l">
              <a:spcBef>
                <a:spcPts val="0"/>
              </a:spcBef>
              <a:spcAft>
                <a:spcPts val="0"/>
              </a:spcAft>
              <a:buSzPts val="1400"/>
              <a:buChar char="■"/>
            </a:pPr>
            <a:r>
              <a:rPr b="1" lang="en"/>
              <a:t>Average shortest path: L</a:t>
            </a:r>
            <a:endParaRPr b="1"/>
          </a:p>
          <a:p>
            <a:pPr indent="-317500" lvl="2" marL="1371600" rtl="0" algn="l">
              <a:spcBef>
                <a:spcPts val="0"/>
              </a:spcBef>
              <a:spcAft>
                <a:spcPts val="0"/>
              </a:spcAft>
              <a:buSzPts val="1400"/>
              <a:buChar char="■"/>
            </a:pPr>
            <a:r>
              <a:rPr b="1" lang="en"/>
              <a:t>Hierarchy: H</a:t>
            </a:r>
            <a:endParaRPr b="1"/>
          </a:p>
          <a:p>
            <a:pPr indent="-317500" lvl="1" marL="914400" rtl="0" algn="l">
              <a:spcBef>
                <a:spcPts val="0"/>
              </a:spcBef>
              <a:spcAft>
                <a:spcPts val="0"/>
              </a:spcAft>
              <a:buSzPts val="1400"/>
              <a:buChar char="○"/>
            </a:pPr>
            <a:r>
              <a:rPr lang="en"/>
              <a:t>Dyad based:</a:t>
            </a:r>
            <a:endParaRPr/>
          </a:p>
          <a:p>
            <a:pPr indent="-317500" lvl="2" marL="1371600" rtl="0" algn="l">
              <a:spcBef>
                <a:spcPts val="0"/>
              </a:spcBef>
              <a:spcAft>
                <a:spcPts val="0"/>
              </a:spcAft>
              <a:buSzPts val="1400"/>
              <a:buChar char="■"/>
            </a:pPr>
            <a:r>
              <a:rPr b="1" lang="en"/>
              <a:t>Reciprocity: R </a:t>
            </a:r>
            <a:endParaRPr b="1"/>
          </a:p>
          <a:p>
            <a:pPr indent="-317500" lvl="1" marL="914400" rtl="0" algn="l">
              <a:spcBef>
                <a:spcPts val="0"/>
              </a:spcBef>
              <a:spcAft>
                <a:spcPts val="0"/>
              </a:spcAft>
              <a:buSzPts val="1400"/>
              <a:buChar char="○"/>
            </a:pPr>
            <a:r>
              <a:rPr lang="en"/>
              <a:t>Node based:</a:t>
            </a:r>
            <a:endParaRPr/>
          </a:p>
          <a:p>
            <a:pPr indent="-317500" lvl="2" marL="1371600" rtl="0" algn="l">
              <a:spcBef>
                <a:spcPts val="0"/>
              </a:spcBef>
              <a:spcAft>
                <a:spcPts val="0"/>
              </a:spcAft>
              <a:buSzPts val="1400"/>
              <a:buChar char="■"/>
            </a:pPr>
            <a:r>
              <a:rPr b="1" lang="en"/>
              <a:t>Average clustering coefficient: c</a:t>
            </a:r>
            <a:r>
              <a:rPr b="1" baseline="-25000" lang="en"/>
              <a:t>avg</a:t>
            </a:r>
            <a:endParaRPr b="1" baseline="-25000"/>
          </a:p>
          <a:p>
            <a:pPr indent="0" lvl="0" marL="914400" marR="0" rtl="0" algn="l">
              <a:lnSpc>
                <a:spcPct val="115000"/>
              </a:lnSpc>
              <a:spcBef>
                <a:spcPts val="1600"/>
              </a:spcBef>
              <a:spcAft>
                <a:spcPts val="0"/>
              </a:spcAft>
              <a:buNone/>
            </a:pPr>
            <a:r>
              <a:t/>
            </a:r>
            <a:endParaRPr/>
          </a:p>
          <a:p>
            <a:pPr indent="0" lvl="0" marL="457200" marR="0" rtl="0" algn="l">
              <a:lnSpc>
                <a:spcPct val="115000"/>
              </a:lnSpc>
              <a:spcBef>
                <a:spcPts val="1600"/>
              </a:spcBef>
              <a:spcAft>
                <a:spcPts val="0"/>
              </a:spcAft>
              <a:buNone/>
            </a:pPr>
            <a:r>
              <a:t/>
            </a:r>
            <a:endParaRPr/>
          </a:p>
          <a:p>
            <a:pPr indent="0" lvl="0" marL="457200" marR="0" rtl="0" algn="l">
              <a:lnSpc>
                <a:spcPct val="115000"/>
              </a:lnSpc>
              <a:spcBef>
                <a:spcPts val="1600"/>
              </a:spcBef>
              <a:spcAft>
                <a:spcPts val="1600"/>
              </a:spcAft>
              <a:buNone/>
            </a:pPr>
            <a:r>
              <a:t/>
            </a:r>
            <a:endParaRPr b="1"/>
          </a:p>
        </p:txBody>
      </p:sp>
      <p:pic>
        <p:nvPicPr>
          <p:cNvPr id="176" name="Google Shape;176;p17"/>
          <p:cNvPicPr preferRelativeResize="0"/>
          <p:nvPr/>
        </p:nvPicPr>
        <p:blipFill>
          <a:blip r:embed="rId3">
            <a:alphaModFix/>
          </a:blip>
          <a:stretch>
            <a:fillRect/>
          </a:stretch>
        </p:blipFill>
        <p:spPr>
          <a:xfrm>
            <a:off x="4723026" y="1371225"/>
            <a:ext cx="4109275" cy="30619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Degree-based network properties</a:t>
            </a:r>
            <a:endParaRPr/>
          </a:p>
        </p:txBody>
      </p:sp>
      <p:sp>
        <p:nvSpPr>
          <p:cNvPr id="182" name="Google Shape;182;p18"/>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183" name="Google Shape;183;p18"/>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184" name="Google Shape;184;p18"/>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185" name="Google Shape;185;p18"/>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186" name="Google Shape;186;p18"/>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187" name="Google Shape;187;p18"/>
          <p:cNvCxnSpPr>
            <a:stCxn id="183" idx="4"/>
            <a:endCxn id="184"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188" name="Google Shape;188;p18"/>
          <p:cNvCxnSpPr>
            <a:stCxn id="183" idx="5"/>
            <a:endCxn id="185" idx="1"/>
          </p:cNvCxnSpPr>
          <p:nvPr/>
        </p:nvCxnSpPr>
        <p:spPr>
          <a:xfrm>
            <a:off x="1873855" y="1561320"/>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189" name="Google Shape;189;p18"/>
          <p:cNvCxnSpPr>
            <a:stCxn id="184" idx="2"/>
            <a:endCxn id="182"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190" name="Google Shape;190;p18"/>
          <p:cNvCxnSpPr>
            <a:stCxn id="183" idx="3"/>
            <a:endCxn id="182" idx="7"/>
          </p:cNvCxnSpPr>
          <p:nvPr/>
        </p:nvCxnSpPr>
        <p:spPr>
          <a:xfrm flipH="1">
            <a:off x="872578" y="1561320"/>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191" name="Google Shape;191;p18"/>
          <p:cNvCxnSpPr>
            <a:stCxn id="184" idx="6"/>
            <a:endCxn id="185"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192" name="Google Shape;192;p18"/>
          <p:cNvCxnSpPr>
            <a:stCxn id="183" idx="2"/>
            <a:endCxn id="186" idx="2"/>
          </p:cNvCxnSpPr>
          <p:nvPr/>
        </p:nvCxnSpPr>
        <p:spPr>
          <a:xfrm>
            <a:off x="1466967" y="1403600"/>
            <a:ext cx="600" cy="1830900"/>
          </a:xfrm>
          <a:prstGeom prst="curvedConnector3">
            <a:avLst>
              <a:gd fmla="val -192544425" name="adj1"/>
            </a:avLst>
          </a:prstGeom>
          <a:noFill/>
          <a:ln cap="flat" cmpd="sng" w="28575">
            <a:solidFill>
              <a:srgbClr val="666666"/>
            </a:solidFill>
            <a:prstDash val="solid"/>
            <a:round/>
            <a:headEnd len="med" w="med" type="none"/>
            <a:tailEnd len="med" w="med" type="none"/>
          </a:ln>
        </p:spPr>
      </p:cxnSp>
      <p:sp>
        <p:nvSpPr>
          <p:cNvPr id="193" name="Google Shape;193;p18"/>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194" name="Google Shape;194;p18"/>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195" name="Google Shape;195;p18"/>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196" name="Google Shape;196;p18"/>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197" name="Google Shape;197;p18"/>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198" name="Google Shape;198;p18"/>
          <p:cNvCxnSpPr>
            <a:stCxn id="194" idx="4"/>
            <a:endCxn id="195"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199" name="Google Shape;199;p18"/>
          <p:cNvCxnSpPr>
            <a:stCxn id="194" idx="5"/>
            <a:endCxn id="196"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200" name="Google Shape;200;p18"/>
          <p:cNvCxnSpPr>
            <a:stCxn id="195" idx="2"/>
            <a:endCxn id="193"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01" name="Google Shape;201;p18"/>
          <p:cNvCxnSpPr>
            <a:stCxn id="194" idx="3"/>
            <a:endCxn id="193"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202" name="Google Shape;202;p18"/>
          <p:cNvCxnSpPr>
            <a:stCxn id="195" idx="6"/>
            <a:endCxn id="196"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03" name="Google Shape;203;p18"/>
          <p:cNvCxnSpPr>
            <a:stCxn id="197" idx="1"/>
            <a:endCxn id="193"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204" name="Google Shape;204;p18"/>
          <p:cNvCxnSpPr>
            <a:stCxn id="195" idx="4"/>
            <a:endCxn id="197"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205" name="Google Shape;205;p18"/>
          <p:cNvCxnSpPr>
            <a:stCxn id="196" idx="3"/>
            <a:endCxn id="197"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Degree-based network properties</a:t>
            </a:r>
            <a:endParaRPr/>
          </a:p>
        </p:txBody>
      </p:sp>
      <p:graphicFrame>
        <p:nvGraphicFramePr>
          <p:cNvPr id="211" name="Google Shape;211;p19"/>
          <p:cNvGraphicFramePr/>
          <p:nvPr/>
        </p:nvGraphicFramePr>
        <p:xfrm>
          <a:off x="508013" y="3547350"/>
          <a:ext cx="3000000" cy="3000000"/>
        </p:xfrm>
        <a:graphic>
          <a:graphicData uri="http://schemas.openxmlformats.org/drawingml/2006/table">
            <a:tbl>
              <a:tblPr>
                <a:noFill/>
                <a:tableStyleId>{9C004714-7C27-400D-AF19-6A7FADFF251D}</a:tableStyleId>
              </a:tblPr>
              <a:tblGrid>
                <a:gridCol w="478925"/>
                <a:gridCol w="478925"/>
                <a:gridCol w="478925"/>
                <a:gridCol w="478925"/>
                <a:gridCol w="478925"/>
              </a:tblGrid>
              <a:tr h="469800">
                <a:tc>
                  <a:txBody>
                    <a:bodyPr/>
                    <a:lstStyle/>
                    <a:p>
                      <a:pPr indent="0" lvl="0" marL="0" rtl="0" algn="ctr">
                        <a:spcBef>
                          <a:spcPts val="0"/>
                        </a:spcBef>
                        <a:spcAft>
                          <a:spcPts val="0"/>
                        </a:spcAft>
                        <a:buNone/>
                      </a:pPr>
                      <a:r>
                        <a:rPr b="1" lang="en" sz="1800">
                          <a:solidFill>
                            <a:srgbClr val="FFFFFF"/>
                          </a:solidFill>
                        </a:rPr>
                        <a:t>A</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B</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C </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D</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E</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469800">
                <a:tc>
                  <a:txBody>
                    <a:bodyPr/>
                    <a:lstStyle/>
                    <a:p>
                      <a:pPr indent="0" lvl="0" marL="0" rtl="0" algn="ctr">
                        <a:spcBef>
                          <a:spcPts val="0"/>
                        </a:spcBef>
                        <a:spcAft>
                          <a:spcPts val="0"/>
                        </a:spcAft>
                        <a:buNone/>
                      </a:pPr>
                      <a:r>
                        <a:rPr lang="en" sz="1800"/>
                        <a:t>4</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2</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1</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2</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212" name="Google Shape;212;p19"/>
          <p:cNvGraphicFramePr/>
          <p:nvPr/>
        </p:nvGraphicFramePr>
        <p:xfrm>
          <a:off x="4781638" y="3564150"/>
          <a:ext cx="3000000" cy="3000000"/>
        </p:xfrm>
        <a:graphic>
          <a:graphicData uri="http://schemas.openxmlformats.org/drawingml/2006/table">
            <a:tbl>
              <a:tblPr>
                <a:noFill/>
                <a:tableStyleId>{9C004714-7C27-400D-AF19-6A7FADFF251D}</a:tableStyleId>
              </a:tblPr>
              <a:tblGrid>
                <a:gridCol w="478925"/>
                <a:gridCol w="478925"/>
                <a:gridCol w="478925"/>
                <a:gridCol w="478925"/>
                <a:gridCol w="478925"/>
              </a:tblGrid>
              <a:tr h="469800">
                <a:tc>
                  <a:txBody>
                    <a:bodyPr/>
                    <a:lstStyle/>
                    <a:p>
                      <a:pPr indent="0" lvl="0" marL="0" rtl="0" algn="ctr">
                        <a:spcBef>
                          <a:spcPts val="0"/>
                        </a:spcBef>
                        <a:spcAft>
                          <a:spcPts val="0"/>
                        </a:spcAft>
                        <a:buNone/>
                      </a:pPr>
                      <a:r>
                        <a:rPr b="1" lang="en" sz="1800">
                          <a:solidFill>
                            <a:srgbClr val="FFFFFF"/>
                          </a:solidFill>
                        </a:rPr>
                        <a:t>A</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B</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C </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D</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E</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469800">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4</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13" name="Google Shape;213;p19"/>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Degree Sequence</a:t>
            </a:r>
            <a:endParaRPr sz="1800">
              <a:latin typeface="Economica"/>
              <a:ea typeface="Economica"/>
              <a:cs typeface="Economica"/>
              <a:sym typeface="Economica"/>
            </a:endParaRPr>
          </a:p>
        </p:txBody>
      </p:sp>
      <p:sp>
        <p:nvSpPr>
          <p:cNvPr id="214" name="Google Shape;214;p19"/>
          <p:cNvSpPr txBox="1"/>
          <p:nvPr/>
        </p:nvSpPr>
        <p:spPr>
          <a:xfrm>
            <a:off x="4781650" y="45767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Degree Sequence</a:t>
            </a:r>
            <a:endParaRPr sz="1800">
              <a:latin typeface="Economica"/>
              <a:ea typeface="Economica"/>
              <a:cs typeface="Economica"/>
              <a:sym typeface="Economica"/>
            </a:endParaRPr>
          </a:p>
        </p:txBody>
      </p:sp>
      <p:sp>
        <p:nvSpPr>
          <p:cNvPr id="215" name="Google Shape;215;p19"/>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216" name="Google Shape;216;p19"/>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217" name="Google Shape;217;p19"/>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218" name="Google Shape;218;p19"/>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219" name="Google Shape;219;p19"/>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220" name="Google Shape;220;p19"/>
          <p:cNvCxnSpPr>
            <a:stCxn id="216" idx="4"/>
            <a:endCxn id="217"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221" name="Google Shape;221;p19"/>
          <p:cNvCxnSpPr>
            <a:stCxn id="216" idx="5"/>
            <a:endCxn id="218" idx="1"/>
          </p:cNvCxnSpPr>
          <p:nvPr/>
        </p:nvCxnSpPr>
        <p:spPr>
          <a:xfrm>
            <a:off x="1873855" y="1561320"/>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222" name="Google Shape;222;p19"/>
          <p:cNvCxnSpPr>
            <a:stCxn id="217" idx="2"/>
            <a:endCxn id="215"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23" name="Google Shape;223;p19"/>
          <p:cNvCxnSpPr>
            <a:stCxn id="216" idx="3"/>
            <a:endCxn id="215" idx="7"/>
          </p:cNvCxnSpPr>
          <p:nvPr/>
        </p:nvCxnSpPr>
        <p:spPr>
          <a:xfrm flipH="1">
            <a:off x="872578" y="1561320"/>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224" name="Google Shape;224;p19"/>
          <p:cNvCxnSpPr>
            <a:stCxn id="217" idx="6"/>
            <a:endCxn id="218"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25" name="Google Shape;225;p19"/>
          <p:cNvCxnSpPr>
            <a:stCxn id="216" idx="2"/>
            <a:endCxn id="219" idx="2"/>
          </p:cNvCxnSpPr>
          <p:nvPr/>
        </p:nvCxnSpPr>
        <p:spPr>
          <a:xfrm>
            <a:off x="1466967" y="1403600"/>
            <a:ext cx="600" cy="1830900"/>
          </a:xfrm>
          <a:prstGeom prst="curvedConnector3">
            <a:avLst>
              <a:gd fmla="val -194106925" name="adj1"/>
            </a:avLst>
          </a:prstGeom>
          <a:noFill/>
          <a:ln cap="flat" cmpd="sng" w="28575">
            <a:solidFill>
              <a:srgbClr val="666666"/>
            </a:solidFill>
            <a:prstDash val="solid"/>
            <a:round/>
            <a:headEnd len="med" w="med" type="none"/>
            <a:tailEnd len="med" w="med" type="none"/>
          </a:ln>
        </p:spPr>
      </p:cxnSp>
      <p:sp>
        <p:nvSpPr>
          <p:cNvPr id="226" name="Google Shape;226;p19"/>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227" name="Google Shape;227;p19"/>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228" name="Google Shape;228;p19"/>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229" name="Google Shape;229;p19"/>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230" name="Google Shape;230;p19"/>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231" name="Google Shape;231;p19"/>
          <p:cNvCxnSpPr>
            <a:stCxn id="227" idx="4"/>
            <a:endCxn id="228"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232" name="Google Shape;232;p19"/>
          <p:cNvCxnSpPr>
            <a:stCxn id="227" idx="5"/>
            <a:endCxn id="229"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233" name="Google Shape;233;p19"/>
          <p:cNvCxnSpPr>
            <a:stCxn id="228" idx="2"/>
            <a:endCxn id="226"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34" name="Google Shape;234;p19"/>
          <p:cNvCxnSpPr>
            <a:stCxn id="227" idx="3"/>
            <a:endCxn id="226"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235" name="Google Shape;235;p19"/>
          <p:cNvCxnSpPr>
            <a:stCxn id="228" idx="6"/>
            <a:endCxn id="229"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36" name="Google Shape;236;p19"/>
          <p:cNvCxnSpPr>
            <a:stCxn id="230" idx="1"/>
            <a:endCxn id="226"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237" name="Google Shape;237;p19"/>
          <p:cNvCxnSpPr>
            <a:stCxn id="228" idx="4"/>
            <a:endCxn id="230"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238" name="Google Shape;238;p19"/>
          <p:cNvCxnSpPr>
            <a:stCxn id="229" idx="3"/>
            <a:endCxn id="230"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Degree-based network properties</a:t>
            </a:r>
            <a:endParaRPr/>
          </a:p>
        </p:txBody>
      </p:sp>
      <p:sp>
        <p:nvSpPr>
          <p:cNvPr id="244" name="Google Shape;244;p20"/>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245" name="Google Shape;245;p20"/>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246" name="Google Shape;246;p20"/>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247" name="Google Shape;247;p20"/>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248" name="Google Shape;248;p20"/>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249" name="Google Shape;249;p20"/>
          <p:cNvCxnSpPr>
            <a:stCxn id="245" idx="4"/>
            <a:endCxn id="246"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250" name="Google Shape;250;p20"/>
          <p:cNvCxnSpPr>
            <a:stCxn id="245" idx="5"/>
            <a:endCxn id="247" idx="1"/>
          </p:cNvCxnSpPr>
          <p:nvPr/>
        </p:nvCxnSpPr>
        <p:spPr>
          <a:xfrm>
            <a:off x="1873855" y="1561320"/>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251" name="Google Shape;251;p20"/>
          <p:cNvCxnSpPr>
            <a:stCxn id="246" idx="2"/>
            <a:endCxn id="244"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52" name="Google Shape;252;p20"/>
          <p:cNvCxnSpPr>
            <a:stCxn id="245" idx="3"/>
            <a:endCxn id="244" idx="7"/>
          </p:cNvCxnSpPr>
          <p:nvPr/>
        </p:nvCxnSpPr>
        <p:spPr>
          <a:xfrm flipH="1">
            <a:off x="872578" y="1561320"/>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253" name="Google Shape;253;p20"/>
          <p:cNvCxnSpPr>
            <a:stCxn id="246" idx="6"/>
            <a:endCxn id="247"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54" name="Google Shape;254;p20"/>
          <p:cNvCxnSpPr>
            <a:stCxn id="245" idx="2"/>
            <a:endCxn id="248" idx="2"/>
          </p:cNvCxnSpPr>
          <p:nvPr/>
        </p:nvCxnSpPr>
        <p:spPr>
          <a:xfrm>
            <a:off x="1466967" y="1403600"/>
            <a:ext cx="600" cy="1830900"/>
          </a:xfrm>
          <a:prstGeom prst="curvedConnector3">
            <a:avLst>
              <a:gd fmla="val -192544425" name="adj1"/>
            </a:avLst>
          </a:prstGeom>
          <a:noFill/>
          <a:ln cap="flat" cmpd="sng" w="28575">
            <a:solidFill>
              <a:srgbClr val="666666"/>
            </a:solidFill>
            <a:prstDash val="solid"/>
            <a:round/>
            <a:headEnd len="med" w="med" type="none"/>
            <a:tailEnd len="med" w="med" type="none"/>
          </a:ln>
        </p:spPr>
      </p:cxnSp>
      <p:graphicFrame>
        <p:nvGraphicFramePr>
          <p:cNvPr id="255" name="Google Shape;255;p20"/>
          <p:cNvGraphicFramePr/>
          <p:nvPr/>
        </p:nvGraphicFramePr>
        <p:xfrm>
          <a:off x="508013" y="3547350"/>
          <a:ext cx="3000000" cy="3000000"/>
        </p:xfrm>
        <a:graphic>
          <a:graphicData uri="http://schemas.openxmlformats.org/drawingml/2006/table">
            <a:tbl>
              <a:tblPr>
                <a:noFill/>
                <a:tableStyleId>{9C004714-7C27-400D-AF19-6A7FADFF251D}</a:tableStyleId>
              </a:tblPr>
              <a:tblGrid>
                <a:gridCol w="478925"/>
                <a:gridCol w="478925"/>
                <a:gridCol w="478925"/>
                <a:gridCol w="478925"/>
                <a:gridCol w="478925"/>
              </a:tblGrid>
              <a:tr h="469800">
                <a:tc>
                  <a:txBody>
                    <a:bodyPr/>
                    <a:lstStyle/>
                    <a:p>
                      <a:pPr indent="0" lvl="0" marL="0" rtl="0" algn="ctr">
                        <a:spcBef>
                          <a:spcPts val="0"/>
                        </a:spcBef>
                        <a:spcAft>
                          <a:spcPts val="0"/>
                        </a:spcAft>
                        <a:buNone/>
                      </a:pPr>
                      <a:r>
                        <a:rPr b="1" lang="en" sz="1800">
                          <a:solidFill>
                            <a:srgbClr val="FFFFFF"/>
                          </a:solidFill>
                        </a:rPr>
                        <a:t>A</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B</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C </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D</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E</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469800">
                <a:tc>
                  <a:txBody>
                    <a:bodyPr/>
                    <a:lstStyle/>
                    <a:p>
                      <a:pPr indent="0" lvl="0" marL="0" rtl="0" algn="ctr">
                        <a:spcBef>
                          <a:spcPts val="0"/>
                        </a:spcBef>
                        <a:spcAft>
                          <a:spcPts val="0"/>
                        </a:spcAft>
                        <a:buNone/>
                      </a:pPr>
                      <a:r>
                        <a:rPr lang="en" sz="1800"/>
                        <a:t>4</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2</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1</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2</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256" name="Google Shape;256;p20"/>
          <p:cNvGraphicFramePr/>
          <p:nvPr/>
        </p:nvGraphicFramePr>
        <p:xfrm>
          <a:off x="4781638" y="3564163"/>
          <a:ext cx="3000000" cy="3000000"/>
        </p:xfrm>
        <a:graphic>
          <a:graphicData uri="http://schemas.openxmlformats.org/drawingml/2006/table">
            <a:tbl>
              <a:tblPr>
                <a:noFill/>
                <a:tableStyleId>{9C004714-7C27-400D-AF19-6A7FADFF251D}</a:tableStyleId>
              </a:tblPr>
              <a:tblGrid>
                <a:gridCol w="478925"/>
                <a:gridCol w="478925"/>
                <a:gridCol w="478925"/>
                <a:gridCol w="478925"/>
                <a:gridCol w="478925"/>
              </a:tblGrid>
              <a:tr h="469800">
                <a:tc>
                  <a:txBody>
                    <a:bodyPr/>
                    <a:lstStyle/>
                    <a:p>
                      <a:pPr indent="0" lvl="0" marL="0" rtl="0" algn="ctr">
                        <a:spcBef>
                          <a:spcPts val="0"/>
                        </a:spcBef>
                        <a:spcAft>
                          <a:spcPts val="0"/>
                        </a:spcAft>
                        <a:buNone/>
                      </a:pPr>
                      <a:r>
                        <a:rPr b="1" lang="en" sz="1800">
                          <a:solidFill>
                            <a:srgbClr val="FFFFFF"/>
                          </a:solidFill>
                        </a:rPr>
                        <a:t>A</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B</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C </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D</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E</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469800">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4</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57" name="Google Shape;257;p20"/>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Degree Sequence</a:t>
            </a:r>
            <a:endParaRPr sz="1800">
              <a:latin typeface="Economica"/>
              <a:ea typeface="Economica"/>
              <a:cs typeface="Economica"/>
              <a:sym typeface="Economica"/>
            </a:endParaRPr>
          </a:p>
        </p:txBody>
      </p:sp>
      <p:sp>
        <p:nvSpPr>
          <p:cNvPr id="258" name="Google Shape;258;p20"/>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Degree Sequence</a:t>
            </a:r>
            <a:endParaRPr sz="1800">
              <a:latin typeface="Economica"/>
              <a:ea typeface="Economica"/>
              <a:cs typeface="Economica"/>
              <a:sym typeface="Economica"/>
            </a:endParaRPr>
          </a:p>
        </p:txBody>
      </p:sp>
      <p:sp>
        <p:nvSpPr>
          <p:cNvPr id="259" name="Google Shape;259;p20"/>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Max degree: 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Min degree: 1</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260" name="Google Shape;260;p20"/>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Max degree: 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Min degree: 3</a:t>
            </a:r>
            <a:endParaRPr>
              <a:latin typeface="Open Sans"/>
              <a:ea typeface="Open Sans"/>
              <a:cs typeface="Open Sans"/>
              <a:sym typeface="Open Sans"/>
            </a:endParaRPr>
          </a:p>
        </p:txBody>
      </p:sp>
      <p:sp>
        <p:nvSpPr>
          <p:cNvPr id="261" name="Google Shape;261;p20"/>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262" name="Google Shape;262;p20"/>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263" name="Google Shape;263;p20"/>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264" name="Google Shape;264;p20"/>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265" name="Google Shape;265;p20"/>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266" name="Google Shape;266;p20"/>
          <p:cNvCxnSpPr>
            <a:stCxn id="262" idx="4"/>
            <a:endCxn id="263"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267" name="Google Shape;267;p20"/>
          <p:cNvCxnSpPr>
            <a:stCxn id="262" idx="5"/>
            <a:endCxn id="264"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268" name="Google Shape;268;p20"/>
          <p:cNvCxnSpPr>
            <a:stCxn id="263" idx="2"/>
            <a:endCxn id="261"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69" name="Google Shape;269;p20"/>
          <p:cNvCxnSpPr>
            <a:stCxn id="262" idx="3"/>
            <a:endCxn id="261"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270" name="Google Shape;270;p20"/>
          <p:cNvCxnSpPr>
            <a:stCxn id="263" idx="6"/>
            <a:endCxn id="264"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71" name="Google Shape;271;p20"/>
          <p:cNvCxnSpPr>
            <a:stCxn id="265" idx="1"/>
            <a:endCxn id="261"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272" name="Google Shape;272;p20"/>
          <p:cNvCxnSpPr>
            <a:stCxn id="263" idx="4"/>
            <a:endCxn id="265"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273" name="Google Shape;273;p20"/>
          <p:cNvCxnSpPr>
            <a:stCxn id="264" idx="3"/>
            <a:endCxn id="265"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sp>
        <p:nvSpPr>
          <p:cNvPr id="274" name="Google Shape;274;p20"/>
          <p:cNvSpPr txBox="1"/>
          <p:nvPr/>
        </p:nvSpPr>
        <p:spPr>
          <a:xfrm>
            <a:off x="2406800" y="1180550"/>
            <a:ext cx="2394600" cy="63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d</a:t>
            </a:r>
            <a:r>
              <a:rPr lang="en">
                <a:solidFill>
                  <a:schemeClr val="dk1"/>
                </a:solidFill>
                <a:latin typeface="Open Sans"/>
                <a:ea typeface="Open Sans"/>
                <a:cs typeface="Open Sans"/>
                <a:sym typeface="Open Sans"/>
              </a:rPr>
              <a:t> = (4 + 3 + 2 + 1 + 2) / 5</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
        <p:nvSpPr>
          <p:cNvPr id="275" name="Google Shape;275;p20"/>
          <p:cNvSpPr txBox="1"/>
          <p:nvPr/>
        </p:nvSpPr>
        <p:spPr>
          <a:xfrm>
            <a:off x="6474700" y="1180550"/>
            <a:ext cx="2394600" cy="63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d = (3 + 4 + 3 + 3 + 3) / 5</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Degree-based network properties</a:t>
            </a:r>
            <a:endParaRPr/>
          </a:p>
        </p:txBody>
      </p:sp>
      <p:sp>
        <p:nvSpPr>
          <p:cNvPr id="281" name="Google Shape;281;p21"/>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282" name="Google Shape;282;p21"/>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283" name="Google Shape;283;p21"/>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284" name="Google Shape;284;p21"/>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285" name="Google Shape;285;p21"/>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286" name="Google Shape;286;p21"/>
          <p:cNvCxnSpPr>
            <a:stCxn id="282" idx="4"/>
            <a:endCxn id="283"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287" name="Google Shape;287;p21"/>
          <p:cNvCxnSpPr>
            <a:stCxn id="282" idx="5"/>
            <a:endCxn id="284" idx="1"/>
          </p:cNvCxnSpPr>
          <p:nvPr/>
        </p:nvCxnSpPr>
        <p:spPr>
          <a:xfrm>
            <a:off x="1873855" y="1561320"/>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288" name="Google Shape;288;p21"/>
          <p:cNvCxnSpPr>
            <a:stCxn id="283" idx="2"/>
            <a:endCxn id="281"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89" name="Google Shape;289;p21"/>
          <p:cNvCxnSpPr>
            <a:stCxn id="282" idx="3"/>
            <a:endCxn id="281" idx="7"/>
          </p:cNvCxnSpPr>
          <p:nvPr/>
        </p:nvCxnSpPr>
        <p:spPr>
          <a:xfrm flipH="1">
            <a:off x="872578" y="1561320"/>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290" name="Google Shape;290;p21"/>
          <p:cNvCxnSpPr>
            <a:stCxn id="283" idx="6"/>
            <a:endCxn id="284"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291" name="Google Shape;291;p21"/>
          <p:cNvCxnSpPr>
            <a:stCxn id="282" idx="2"/>
            <a:endCxn id="285" idx="2"/>
          </p:cNvCxnSpPr>
          <p:nvPr/>
        </p:nvCxnSpPr>
        <p:spPr>
          <a:xfrm>
            <a:off x="1466967" y="1403600"/>
            <a:ext cx="600" cy="1830900"/>
          </a:xfrm>
          <a:prstGeom prst="curvedConnector3">
            <a:avLst>
              <a:gd fmla="val -192544425" name="adj1"/>
            </a:avLst>
          </a:prstGeom>
          <a:noFill/>
          <a:ln cap="flat" cmpd="sng" w="28575">
            <a:solidFill>
              <a:srgbClr val="666666"/>
            </a:solidFill>
            <a:prstDash val="solid"/>
            <a:round/>
            <a:headEnd len="med" w="med" type="none"/>
            <a:tailEnd len="med" w="med" type="none"/>
          </a:ln>
        </p:spPr>
      </p:cxnSp>
      <p:graphicFrame>
        <p:nvGraphicFramePr>
          <p:cNvPr id="292" name="Google Shape;292;p21"/>
          <p:cNvGraphicFramePr/>
          <p:nvPr/>
        </p:nvGraphicFramePr>
        <p:xfrm>
          <a:off x="508013" y="3547350"/>
          <a:ext cx="3000000" cy="3000000"/>
        </p:xfrm>
        <a:graphic>
          <a:graphicData uri="http://schemas.openxmlformats.org/drawingml/2006/table">
            <a:tbl>
              <a:tblPr>
                <a:noFill/>
                <a:tableStyleId>{9C004714-7C27-400D-AF19-6A7FADFF251D}</a:tableStyleId>
              </a:tblPr>
              <a:tblGrid>
                <a:gridCol w="478925"/>
                <a:gridCol w="478925"/>
                <a:gridCol w="478925"/>
                <a:gridCol w="478925"/>
                <a:gridCol w="478925"/>
              </a:tblGrid>
              <a:tr h="469800">
                <a:tc>
                  <a:txBody>
                    <a:bodyPr/>
                    <a:lstStyle/>
                    <a:p>
                      <a:pPr indent="0" lvl="0" marL="0" rtl="0" algn="ctr">
                        <a:spcBef>
                          <a:spcPts val="0"/>
                        </a:spcBef>
                        <a:spcAft>
                          <a:spcPts val="0"/>
                        </a:spcAft>
                        <a:buNone/>
                      </a:pPr>
                      <a:r>
                        <a:rPr b="1" lang="en" sz="1800">
                          <a:solidFill>
                            <a:srgbClr val="FFFFFF"/>
                          </a:solidFill>
                        </a:rPr>
                        <a:t>A</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B</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C </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D</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E</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469800">
                <a:tc>
                  <a:txBody>
                    <a:bodyPr/>
                    <a:lstStyle/>
                    <a:p>
                      <a:pPr indent="0" lvl="0" marL="0" rtl="0" algn="ctr">
                        <a:spcBef>
                          <a:spcPts val="0"/>
                        </a:spcBef>
                        <a:spcAft>
                          <a:spcPts val="0"/>
                        </a:spcAft>
                        <a:buNone/>
                      </a:pPr>
                      <a:r>
                        <a:rPr lang="en" sz="1800"/>
                        <a:t>4</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2</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1</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2</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293" name="Google Shape;293;p21"/>
          <p:cNvGraphicFramePr/>
          <p:nvPr/>
        </p:nvGraphicFramePr>
        <p:xfrm>
          <a:off x="4781638" y="3564163"/>
          <a:ext cx="3000000" cy="3000000"/>
        </p:xfrm>
        <a:graphic>
          <a:graphicData uri="http://schemas.openxmlformats.org/drawingml/2006/table">
            <a:tbl>
              <a:tblPr>
                <a:noFill/>
                <a:tableStyleId>{9C004714-7C27-400D-AF19-6A7FADFF251D}</a:tableStyleId>
              </a:tblPr>
              <a:tblGrid>
                <a:gridCol w="478925"/>
                <a:gridCol w="478925"/>
                <a:gridCol w="478925"/>
                <a:gridCol w="478925"/>
                <a:gridCol w="478925"/>
              </a:tblGrid>
              <a:tr h="469800">
                <a:tc>
                  <a:txBody>
                    <a:bodyPr/>
                    <a:lstStyle/>
                    <a:p>
                      <a:pPr indent="0" lvl="0" marL="0" rtl="0" algn="ctr">
                        <a:spcBef>
                          <a:spcPts val="0"/>
                        </a:spcBef>
                        <a:spcAft>
                          <a:spcPts val="0"/>
                        </a:spcAft>
                        <a:buNone/>
                      </a:pPr>
                      <a:r>
                        <a:rPr b="1" lang="en" sz="1800">
                          <a:solidFill>
                            <a:srgbClr val="FFFFFF"/>
                          </a:solidFill>
                        </a:rPr>
                        <a:t>A</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B</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C </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D</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E</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469800">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4</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94" name="Google Shape;294;p21"/>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Degree Sequence</a:t>
            </a:r>
            <a:endParaRPr sz="1800">
              <a:latin typeface="Economica"/>
              <a:ea typeface="Economica"/>
              <a:cs typeface="Economica"/>
              <a:sym typeface="Economica"/>
            </a:endParaRPr>
          </a:p>
        </p:txBody>
      </p:sp>
      <p:sp>
        <p:nvSpPr>
          <p:cNvPr id="295" name="Google Shape;295;p21"/>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Degree Sequence</a:t>
            </a:r>
            <a:endParaRPr sz="1800">
              <a:latin typeface="Economica"/>
              <a:ea typeface="Economica"/>
              <a:cs typeface="Economica"/>
              <a:sym typeface="Economica"/>
            </a:endParaRPr>
          </a:p>
        </p:txBody>
      </p:sp>
      <p:sp>
        <p:nvSpPr>
          <p:cNvPr id="296" name="Google Shape;296;p21"/>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Max degree: 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Min degree: 1</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d</a:t>
            </a:r>
            <a:r>
              <a:rPr lang="en">
                <a:latin typeface="Open Sans"/>
                <a:ea typeface="Open Sans"/>
                <a:cs typeface="Open Sans"/>
                <a:sym typeface="Open Sans"/>
              </a:rPr>
              <a:t> = 2.4</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297" name="Google Shape;297;p21"/>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Max degree: 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Min degree: 3</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d</a:t>
            </a:r>
            <a:r>
              <a:rPr lang="en">
                <a:latin typeface="Open Sans"/>
                <a:ea typeface="Open Sans"/>
                <a:cs typeface="Open Sans"/>
                <a:sym typeface="Open Sans"/>
              </a:rPr>
              <a:t> = 3.2</a:t>
            </a:r>
            <a:endParaRPr>
              <a:latin typeface="Open Sans"/>
              <a:ea typeface="Open Sans"/>
              <a:cs typeface="Open Sans"/>
              <a:sym typeface="Open Sans"/>
            </a:endParaRPr>
          </a:p>
        </p:txBody>
      </p:sp>
      <p:sp>
        <p:nvSpPr>
          <p:cNvPr id="298" name="Google Shape;298;p21"/>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299" name="Google Shape;299;p21"/>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300" name="Google Shape;300;p21"/>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301" name="Google Shape;301;p21"/>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302" name="Google Shape;302;p21"/>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303" name="Google Shape;303;p21"/>
          <p:cNvCxnSpPr>
            <a:stCxn id="299" idx="4"/>
            <a:endCxn id="300"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304" name="Google Shape;304;p21"/>
          <p:cNvCxnSpPr>
            <a:stCxn id="299" idx="5"/>
            <a:endCxn id="301"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305" name="Google Shape;305;p21"/>
          <p:cNvCxnSpPr>
            <a:stCxn id="300" idx="2"/>
            <a:endCxn id="298"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306" name="Google Shape;306;p21"/>
          <p:cNvCxnSpPr>
            <a:stCxn id="299" idx="3"/>
            <a:endCxn id="298"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307" name="Google Shape;307;p21"/>
          <p:cNvCxnSpPr>
            <a:stCxn id="300" idx="6"/>
            <a:endCxn id="301"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308" name="Google Shape;308;p21"/>
          <p:cNvCxnSpPr>
            <a:stCxn id="302" idx="1"/>
            <a:endCxn id="298"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309" name="Google Shape;309;p21"/>
          <p:cNvCxnSpPr>
            <a:stCxn id="300" idx="4"/>
            <a:endCxn id="302"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310" name="Google Shape;310;p21"/>
          <p:cNvCxnSpPr>
            <a:stCxn id="301" idx="3"/>
            <a:endCxn id="302"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sp>
        <p:nvSpPr>
          <p:cNvPr id="311" name="Google Shape;311;p21"/>
          <p:cNvSpPr txBox="1"/>
          <p:nvPr/>
        </p:nvSpPr>
        <p:spPr>
          <a:xfrm>
            <a:off x="2406800" y="1180550"/>
            <a:ext cx="2394600" cy="63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d = (4 + 3 + 2 + 1 + 2) / 5</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
        <p:nvSpPr>
          <p:cNvPr id="312" name="Google Shape;312;p21"/>
          <p:cNvSpPr txBox="1"/>
          <p:nvPr/>
        </p:nvSpPr>
        <p:spPr>
          <a:xfrm>
            <a:off x="6474700" y="1180550"/>
            <a:ext cx="2394600" cy="63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d = (3 + 4 + 3 + 3 + 3) / 5</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Degree-based network properties</a:t>
            </a:r>
            <a:endParaRPr/>
          </a:p>
        </p:txBody>
      </p:sp>
      <p:sp>
        <p:nvSpPr>
          <p:cNvPr id="318" name="Google Shape;318;p22"/>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319" name="Google Shape;319;p22"/>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320" name="Google Shape;320;p22"/>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321" name="Google Shape;321;p22"/>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322" name="Google Shape;322;p22"/>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323" name="Google Shape;323;p22"/>
          <p:cNvCxnSpPr>
            <a:stCxn id="319" idx="4"/>
            <a:endCxn id="320"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324" name="Google Shape;324;p22"/>
          <p:cNvCxnSpPr>
            <a:stCxn id="319" idx="5"/>
            <a:endCxn id="321" idx="1"/>
          </p:cNvCxnSpPr>
          <p:nvPr/>
        </p:nvCxnSpPr>
        <p:spPr>
          <a:xfrm>
            <a:off x="1873855" y="1561320"/>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325" name="Google Shape;325;p22"/>
          <p:cNvCxnSpPr>
            <a:stCxn id="320" idx="2"/>
            <a:endCxn id="318"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326" name="Google Shape;326;p22"/>
          <p:cNvCxnSpPr>
            <a:stCxn id="319" idx="3"/>
            <a:endCxn id="318" idx="7"/>
          </p:cNvCxnSpPr>
          <p:nvPr/>
        </p:nvCxnSpPr>
        <p:spPr>
          <a:xfrm flipH="1">
            <a:off x="872578" y="1561320"/>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327" name="Google Shape;327;p22"/>
          <p:cNvCxnSpPr>
            <a:stCxn id="320" idx="6"/>
            <a:endCxn id="321"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328" name="Google Shape;328;p22"/>
          <p:cNvCxnSpPr>
            <a:stCxn id="319" idx="2"/>
            <a:endCxn id="322" idx="2"/>
          </p:cNvCxnSpPr>
          <p:nvPr/>
        </p:nvCxnSpPr>
        <p:spPr>
          <a:xfrm>
            <a:off x="1466967" y="1403600"/>
            <a:ext cx="600" cy="1830900"/>
          </a:xfrm>
          <a:prstGeom prst="curvedConnector3">
            <a:avLst>
              <a:gd fmla="val -192544425" name="adj1"/>
            </a:avLst>
          </a:prstGeom>
          <a:noFill/>
          <a:ln cap="flat" cmpd="sng" w="28575">
            <a:solidFill>
              <a:srgbClr val="666666"/>
            </a:solidFill>
            <a:prstDash val="solid"/>
            <a:round/>
            <a:headEnd len="med" w="med" type="none"/>
            <a:tailEnd len="med" w="med" type="none"/>
          </a:ln>
        </p:spPr>
      </p:cxnSp>
      <p:graphicFrame>
        <p:nvGraphicFramePr>
          <p:cNvPr id="329" name="Google Shape;329;p22"/>
          <p:cNvGraphicFramePr/>
          <p:nvPr/>
        </p:nvGraphicFramePr>
        <p:xfrm>
          <a:off x="508013" y="3547350"/>
          <a:ext cx="3000000" cy="3000000"/>
        </p:xfrm>
        <a:graphic>
          <a:graphicData uri="http://schemas.openxmlformats.org/drawingml/2006/table">
            <a:tbl>
              <a:tblPr>
                <a:noFill/>
                <a:tableStyleId>{9C004714-7C27-400D-AF19-6A7FADFF251D}</a:tableStyleId>
              </a:tblPr>
              <a:tblGrid>
                <a:gridCol w="478925"/>
                <a:gridCol w="478925"/>
                <a:gridCol w="478925"/>
                <a:gridCol w="478925"/>
                <a:gridCol w="478925"/>
              </a:tblGrid>
              <a:tr h="469800">
                <a:tc>
                  <a:txBody>
                    <a:bodyPr/>
                    <a:lstStyle/>
                    <a:p>
                      <a:pPr indent="0" lvl="0" marL="0" rtl="0" algn="ctr">
                        <a:spcBef>
                          <a:spcPts val="0"/>
                        </a:spcBef>
                        <a:spcAft>
                          <a:spcPts val="0"/>
                        </a:spcAft>
                        <a:buNone/>
                      </a:pPr>
                      <a:r>
                        <a:rPr b="1" lang="en" sz="1800">
                          <a:solidFill>
                            <a:srgbClr val="FFFFFF"/>
                          </a:solidFill>
                        </a:rPr>
                        <a:t>A</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B</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C </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D</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E</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469800">
                <a:tc>
                  <a:txBody>
                    <a:bodyPr/>
                    <a:lstStyle/>
                    <a:p>
                      <a:pPr indent="0" lvl="0" marL="0" rtl="0" algn="ctr">
                        <a:spcBef>
                          <a:spcPts val="0"/>
                        </a:spcBef>
                        <a:spcAft>
                          <a:spcPts val="0"/>
                        </a:spcAft>
                        <a:buNone/>
                      </a:pPr>
                      <a:r>
                        <a:rPr lang="en" sz="1800"/>
                        <a:t>4</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2</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1</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2</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330" name="Google Shape;330;p22"/>
          <p:cNvGraphicFramePr/>
          <p:nvPr/>
        </p:nvGraphicFramePr>
        <p:xfrm>
          <a:off x="4781638" y="3564163"/>
          <a:ext cx="3000000" cy="3000000"/>
        </p:xfrm>
        <a:graphic>
          <a:graphicData uri="http://schemas.openxmlformats.org/drawingml/2006/table">
            <a:tbl>
              <a:tblPr>
                <a:noFill/>
                <a:tableStyleId>{9C004714-7C27-400D-AF19-6A7FADFF251D}</a:tableStyleId>
              </a:tblPr>
              <a:tblGrid>
                <a:gridCol w="478925"/>
                <a:gridCol w="478925"/>
                <a:gridCol w="478925"/>
                <a:gridCol w="478925"/>
                <a:gridCol w="478925"/>
              </a:tblGrid>
              <a:tr h="469800">
                <a:tc>
                  <a:txBody>
                    <a:bodyPr/>
                    <a:lstStyle/>
                    <a:p>
                      <a:pPr indent="0" lvl="0" marL="0" rtl="0" algn="ctr">
                        <a:spcBef>
                          <a:spcPts val="0"/>
                        </a:spcBef>
                        <a:spcAft>
                          <a:spcPts val="0"/>
                        </a:spcAft>
                        <a:buNone/>
                      </a:pPr>
                      <a:r>
                        <a:rPr b="1" lang="en" sz="1800">
                          <a:solidFill>
                            <a:srgbClr val="FFFFFF"/>
                          </a:solidFill>
                        </a:rPr>
                        <a:t>A</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B</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C </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D</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800">
                          <a:solidFill>
                            <a:srgbClr val="FFFFFF"/>
                          </a:solidFill>
                        </a:rPr>
                        <a:t>E</a:t>
                      </a:r>
                      <a:endParaRPr b="1" sz="1800">
                        <a:solidFill>
                          <a:srgbClr val="FFFFFF"/>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469800">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4</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800"/>
                        <a:t>3</a:t>
                      </a:r>
                      <a:endParaRPr sz="1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331" name="Google Shape;331;p22"/>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Degree Sequence</a:t>
            </a:r>
            <a:endParaRPr sz="1800">
              <a:latin typeface="Economica"/>
              <a:ea typeface="Economica"/>
              <a:cs typeface="Economica"/>
              <a:sym typeface="Economica"/>
            </a:endParaRPr>
          </a:p>
        </p:txBody>
      </p:sp>
      <p:sp>
        <p:nvSpPr>
          <p:cNvPr id="332" name="Google Shape;332;p22"/>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Degree Sequence</a:t>
            </a:r>
            <a:endParaRPr sz="1800">
              <a:latin typeface="Economica"/>
              <a:ea typeface="Economica"/>
              <a:cs typeface="Economica"/>
              <a:sym typeface="Economica"/>
            </a:endParaRPr>
          </a:p>
        </p:txBody>
      </p:sp>
      <p:sp>
        <p:nvSpPr>
          <p:cNvPr id="333" name="Google Shape;333;p22"/>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Max degree: 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Min degree: 1</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d = 2.4</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334" name="Google Shape;334;p22"/>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Max degree: 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Min degree: 3</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d = 3.2</a:t>
            </a:r>
            <a:endParaRPr>
              <a:latin typeface="Open Sans"/>
              <a:ea typeface="Open Sans"/>
              <a:cs typeface="Open Sans"/>
              <a:sym typeface="Open Sans"/>
            </a:endParaRPr>
          </a:p>
        </p:txBody>
      </p:sp>
      <p:sp>
        <p:nvSpPr>
          <p:cNvPr id="335" name="Google Shape;335;p22"/>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336" name="Google Shape;336;p22"/>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337" name="Google Shape;337;p22"/>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338" name="Google Shape;338;p22"/>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339" name="Google Shape;339;p22"/>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340" name="Google Shape;340;p22"/>
          <p:cNvCxnSpPr>
            <a:stCxn id="336" idx="4"/>
            <a:endCxn id="337"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341" name="Google Shape;341;p22"/>
          <p:cNvCxnSpPr>
            <a:stCxn id="336" idx="5"/>
            <a:endCxn id="338"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342" name="Google Shape;342;p22"/>
          <p:cNvCxnSpPr>
            <a:stCxn id="337" idx="2"/>
            <a:endCxn id="335"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343" name="Google Shape;343;p22"/>
          <p:cNvCxnSpPr>
            <a:stCxn id="336" idx="3"/>
            <a:endCxn id="335"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344" name="Google Shape;344;p22"/>
          <p:cNvCxnSpPr>
            <a:stCxn id="337" idx="6"/>
            <a:endCxn id="338"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345" name="Google Shape;345;p22"/>
          <p:cNvCxnSpPr>
            <a:stCxn id="339" idx="1"/>
            <a:endCxn id="335"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346" name="Google Shape;346;p22"/>
          <p:cNvCxnSpPr>
            <a:stCxn id="337" idx="4"/>
            <a:endCxn id="339"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347" name="Google Shape;347;p22"/>
          <p:cNvCxnSpPr>
            <a:stCxn id="338" idx="3"/>
            <a:endCxn id="339"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sp>
        <p:nvSpPr>
          <p:cNvPr id="348" name="Google Shape;348;p22"/>
          <p:cNvSpPr txBox="1"/>
          <p:nvPr/>
        </p:nvSpPr>
        <p:spPr>
          <a:xfrm>
            <a:off x="2406800" y="1180550"/>
            <a:ext cx="2394600" cy="63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d = (4 + 3 + 2 + 1 + 2) / 5</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
        <p:nvSpPr>
          <p:cNvPr id="349" name="Google Shape;349;p22"/>
          <p:cNvSpPr txBox="1"/>
          <p:nvPr/>
        </p:nvSpPr>
        <p:spPr>
          <a:xfrm>
            <a:off x="6474700" y="1180550"/>
            <a:ext cx="2394600" cy="63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Open Sans"/>
                <a:ea typeface="Open Sans"/>
                <a:cs typeface="Open Sans"/>
                <a:sym typeface="Open Sans"/>
              </a:rPr>
              <a:t>d = (3 + 4 + 3 + 3 + 3) / 5</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Degree-based network properties</a:t>
            </a:r>
            <a:endParaRPr/>
          </a:p>
        </p:txBody>
      </p:sp>
      <p:sp>
        <p:nvSpPr>
          <p:cNvPr id="355" name="Google Shape;355;p23"/>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356" name="Google Shape;356;p23"/>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357" name="Google Shape;357;p23"/>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358" name="Google Shape;358;p23"/>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359" name="Google Shape;359;p23"/>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360" name="Google Shape;360;p23"/>
          <p:cNvCxnSpPr>
            <a:stCxn id="356" idx="4"/>
            <a:endCxn id="357"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361" name="Google Shape;361;p23"/>
          <p:cNvCxnSpPr>
            <a:stCxn id="356" idx="5"/>
            <a:endCxn id="358" idx="1"/>
          </p:cNvCxnSpPr>
          <p:nvPr/>
        </p:nvCxnSpPr>
        <p:spPr>
          <a:xfrm>
            <a:off x="1873855" y="1561320"/>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362" name="Google Shape;362;p23"/>
          <p:cNvCxnSpPr>
            <a:stCxn id="357" idx="2"/>
            <a:endCxn id="355"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363" name="Google Shape;363;p23"/>
          <p:cNvCxnSpPr>
            <a:stCxn id="356" idx="3"/>
            <a:endCxn id="355" idx="7"/>
          </p:cNvCxnSpPr>
          <p:nvPr/>
        </p:nvCxnSpPr>
        <p:spPr>
          <a:xfrm flipH="1">
            <a:off x="872578" y="1561320"/>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364" name="Google Shape;364;p23"/>
          <p:cNvCxnSpPr>
            <a:stCxn id="357" idx="6"/>
            <a:endCxn id="358"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365" name="Google Shape;365;p23"/>
          <p:cNvCxnSpPr>
            <a:stCxn id="356" idx="2"/>
            <a:endCxn id="359" idx="2"/>
          </p:cNvCxnSpPr>
          <p:nvPr/>
        </p:nvCxnSpPr>
        <p:spPr>
          <a:xfrm>
            <a:off x="1466967" y="1403600"/>
            <a:ext cx="600" cy="1830900"/>
          </a:xfrm>
          <a:prstGeom prst="curvedConnector3">
            <a:avLst>
              <a:gd fmla="val -192544425" name="adj1"/>
            </a:avLst>
          </a:prstGeom>
          <a:noFill/>
          <a:ln cap="flat" cmpd="sng" w="28575">
            <a:solidFill>
              <a:srgbClr val="666666"/>
            </a:solidFill>
            <a:prstDash val="solid"/>
            <a:round/>
            <a:headEnd len="med" w="med" type="none"/>
            <a:tailEnd len="med" w="med" type="none"/>
          </a:ln>
        </p:spPr>
      </p:cxnSp>
      <p:graphicFrame>
        <p:nvGraphicFramePr>
          <p:cNvPr id="366" name="Google Shape;366;p23"/>
          <p:cNvGraphicFramePr/>
          <p:nvPr/>
        </p:nvGraphicFramePr>
        <p:xfrm>
          <a:off x="508013" y="3547350"/>
          <a:ext cx="3000000" cy="3000000"/>
        </p:xfrm>
        <a:graphic>
          <a:graphicData uri="http://schemas.openxmlformats.org/drawingml/2006/table">
            <a:tbl>
              <a:tblPr>
                <a:noFill/>
                <a:tableStyleId>{9C004714-7C27-400D-AF19-6A7FADFF251D}</a:tableStyleId>
              </a:tblPr>
              <a:tblGrid>
                <a:gridCol w="609200"/>
                <a:gridCol w="609200"/>
                <a:gridCol w="609200"/>
                <a:gridCol w="609200"/>
              </a:tblGrid>
              <a:tr h="312200">
                <a:tc>
                  <a:txBody>
                    <a:bodyPr/>
                    <a:lstStyle/>
                    <a:p>
                      <a:pPr indent="0" lvl="0" marL="0" rtl="0" algn="ctr">
                        <a:spcBef>
                          <a:spcPts val="0"/>
                        </a:spcBef>
                        <a:spcAft>
                          <a:spcPts val="0"/>
                        </a:spcAft>
                        <a:buNone/>
                      </a:pPr>
                      <a:r>
                        <a:rPr b="1" lang="en">
                          <a:solidFill>
                            <a:srgbClr val="FFFFFF"/>
                          </a:solidFill>
                        </a:rPr>
                        <a:t>1</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rgbClr val="FFFFFF"/>
                          </a:solidFill>
                        </a:rPr>
                        <a:t>2</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rgbClr val="FFFFFF"/>
                          </a:solidFill>
                        </a:rPr>
                        <a:t>3</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rgbClr val="FFFFFF"/>
                          </a:solidFill>
                        </a:rPr>
                        <a:t>4</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2200">
                <a:tc>
                  <a:txBody>
                    <a:bodyPr/>
                    <a:lstStyle/>
                    <a:p>
                      <a:pPr indent="0" lvl="0" marL="0" rtl="0" algn="ctr">
                        <a:spcBef>
                          <a:spcPts val="0"/>
                        </a:spcBef>
                        <a:spcAft>
                          <a:spcPts val="0"/>
                        </a:spcAft>
                        <a:buNone/>
                      </a:pPr>
                      <a:r>
                        <a:rPr lang="en"/>
                        <a:t>1</a:t>
                      </a:r>
                      <a:r>
                        <a:rPr lang="en"/>
                        <a:t>/5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2/5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1/5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1/5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5225">
                <a:tc>
                  <a:txBody>
                    <a:bodyPr/>
                    <a:lstStyle/>
                    <a:p>
                      <a:pPr indent="0" lvl="0" marL="0" rtl="0" algn="ctr">
                        <a:spcBef>
                          <a:spcPts val="0"/>
                        </a:spcBef>
                        <a:spcAft>
                          <a:spcPts val="0"/>
                        </a:spcAft>
                        <a:buNone/>
                      </a:pPr>
                      <a:r>
                        <a:rPr lang="en"/>
                        <a:t>0.2</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0.4</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0.2</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0.2</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367" name="Google Shape;367;p23"/>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Degree Distribution</a:t>
            </a:r>
            <a:endParaRPr sz="1800">
              <a:latin typeface="Economica"/>
              <a:ea typeface="Economica"/>
              <a:cs typeface="Economica"/>
              <a:sym typeface="Economica"/>
            </a:endParaRPr>
          </a:p>
        </p:txBody>
      </p:sp>
      <p:sp>
        <p:nvSpPr>
          <p:cNvPr id="368" name="Google Shape;368;p23"/>
          <p:cNvSpPr txBox="1"/>
          <p:nvPr/>
        </p:nvSpPr>
        <p:spPr>
          <a:xfrm>
            <a:off x="478165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Economica"/>
                <a:ea typeface="Economica"/>
                <a:cs typeface="Economica"/>
                <a:sym typeface="Economica"/>
              </a:rPr>
              <a:t>Degree Distribution</a:t>
            </a:r>
            <a:endParaRPr sz="1800">
              <a:latin typeface="Economica"/>
              <a:ea typeface="Economica"/>
              <a:cs typeface="Economica"/>
              <a:sym typeface="Economica"/>
            </a:endParaRPr>
          </a:p>
        </p:txBody>
      </p:sp>
      <p:graphicFrame>
        <p:nvGraphicFramePr>
          <p:cNvPr id="369" name="Google Shape;369;p23"/>
          <p:cNvGraphicFramePr/>
          <p:nvPr/>
        </p:nvGraphicFramePr>
        <p:xfrm>
          <a:off x="4781638" y="3547338"/>
          <a:ext cx="3000000" cy="3000000"/>
        </p:xfrm>
        <a:graphic>
          <a:graphicData uri="http://schemas.openxmlformats.org/drawingml/2006/table">
            <a:tbl>
              <a:tblPr>
                <a:noFill/>
                <a:tableStyleId>{9C004714-7C27-400D-AF19-6A7FADFF251D}</a:tableStyleId>
              </a:tblPr>
              <a:tblGrid>
                <a:gridCol w="609200"/>
                <a:gridCol w="609200"/>
                <a:gridCol w="609200"/>
                <a:gridCol w="609200"/>
              </a:tblGrid>
              <a:tr h="312200">
                <a:tc>
                  <a:txBody>
                    <a:bodyPr/>
                    <a:lstStyle/>
                    <a:p>
                      <a:pPr indent="0" lvl="0" marL="0" rtl="0" algn="ctr">
                        <a:spcBef>
                          <a:spcPts val="0"/>
                        </a:spcBef>
                        <a:spcAft>
                          <a:spcPts val="0"/>
                        </a:spcAft>
                        <a:buNone/>
                      </a:pPr>
                      <a:r>
                        <a:rPr b="1" lang="en">
                          <a:solidFill>
                            <a:srgbClr val="FFFFFF"/>
                          </a:solidFill>
                        </a:rPr>
                        <a:t>1</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rgbClr val="FFFFFF"/>
                          </a:solidFill>
                        </a:rPr>
                        <a:t>2</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rgbClr val="FFFFFF"/>
                          </a:solidFill>
                        </a:rPr>
                        <a:t>3</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rgbClr val="FFFFFF"/>
                          </a:solidFill>
                        </a:rPr>
                        <a:t>4</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2200">
                <a:tc>
                  <a:txBody>
                    <a:bodyPr/>
                    <a:lstStyle/>
                    <a:p>
                      <a:pPr indent="0" lvl="0" marL="0" rtl="0" algn="ctr">
                        <a:spcBef>
                          <a:spcPts val="0"/>
                        </a:spcBef>
                        <a:spcAft>
                          <a:spcPts val="0"/>
                        </a:spcAft>
                        <a:buNone/>
                      </a:pPr>
                      <a:r>
                        <a:rPr lang="en"/>
                        <a:t>0/5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4/5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1/5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5225">
                <a:tc>
                  <a:txBody>
                    <a:bodyPr/>
                    <a:lstStyle/>
                    <a:p>
                      <a:pPr indent="0" lvl="0" marL="0" rtl="0" algn="ctr">
                        <a:spcBef>
                          <a:spcPts val="0"/>
                        </a:spcBef>
                        <a:spcAft>
                          <a:spcPts val="0"/>
                        </a:spcAft>
                        <a:buNone/>
                      </a:pPr>
                      <a:r>
                        <a:rPr lang="en"/>
                        <a:t>0</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0.8</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0.2</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370" name="Google Shape;370;p23"/>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371" name="Google Shape;371;p23"/>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372" name="Google Shape;372;p23"/>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373" name="Google Shape;373;p23"/>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374" name="Google Shape;374;p23"/>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375" name="Google Shape;375;p23"/>
          <p:cNvCxnSpPr>
            <a:stCxn id="371" idx="4"/>
            <a:endCxn id="372"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376" name="Google Shape;376;p23"/>
          <p:cNvCxnSpPr>
            <a:stCxn id="371" idx="5"/>
            <a:endCxn id="373"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377" name="Google Shape;377;p23"/>
          <p:cNvCxnSpPr>
            <a:stCxn id="372" idx="2"/>
            <a:endCxn id="370"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378" name="Google Shape;378;p23"/>
          <p:cNvCxnSpPr>
            <a:stCxn id="371" idx="3"/>
            <a:endCxn id="370"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379" name="Google Shape;379;p23"/>
          <p:cNvCxnSpPr>
            <a:stCxn id="372" idx="6"/>
            <a:endCxn id="373"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380" name="Google Shape;380;p23"/>
          <p:cNvCxnSpPr>
            <a:stCxn id="374" idx="1"/>
            <a:endCxn id="370"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381" name="Google Shape;381;p23"/>
          <p:cNvCxnSpPr>
            <a:stCxn id="372" idx="4"/>
            <a:endCxn id="374"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382" name="Google Shape;382;p23"/>
          <p:cNvCxnSpPr>
            <a:stCxn id="373" idx="3"/>
            <a:endCxn id="374"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sp>
        <p:nvSpPr>
          <p:cNvPr id="383" name="Google Shape;383;p23"/>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Max degree: 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Min degree: 1</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d = 2.4</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384" name="Google Shape;384;p23"/>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Max degree: 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Min degree: 3</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d = 3.2</a:t>
            </a:r>
            <a:endParaRPr>
              <a:latin typeface="Open Sans"/>
              <a:ea typeface="Open Sans"/>
              <a:cs typeface="Open Sans"/>
              <a:sym typeface="Open Sans"/>
            </a:endParaRPr>
          </a:p>
        </p:txBody>
      </p:sp>
      <p:sp>
        <p:nvSpPr>
          <p:cNvPr id="385" name="Google Shape;385;p23"/>
          <p:cNvSpPr txBox="1"/>
          <p:nvPr/>
        </p:nvSpPr>
        <p:spPr>
          <a:xfrm>
            <a:off x="6667425" y="224925"/>
            <a:ext cx="22035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The degree distribution (p</a:t>
            </a:r>
            <a:r>
              <a:rPr b="1" baseline="-25000" lang="en">
                <a:solidFill>
                  <a:srgbClr val="FF0000"/>
                </a:solidFill>
                <a:latin typeface="Open Sans"/>
                <a:ea typeface="Open Sans"/>
                <a:cs typeface="Open Sans"/>
                <a:sym typeface="Open Sans"/>
              </a:rPr>
              <a:t>k</a:t>
            </a:r>
            <a:r>
              <a:rPr b="1" lang="en">
                <a:solidFill>
                  <a:srgbClr val="FF0000"/>
                </a:solidFill>
                <a:latin typeface="Open Sans"/>
                <a:ea typeface="Open Sans"/>
                <a:cs typeface="Open Sans"/>
                <a:sym typeface="Open Sans"/>
              </a:rPr>
              <a:t>) is the probability of observing a node with degree k for each value of degree in the network!</a:t>
            </a:r>
            <a:endParaRPr b="1">
              <a:solidFill>
                <a:srgbClr val="FF0000"/>
              </a:solidFill>
              <a:latin typeface="Open Sans"/>
              <a:ea typeface="Open Sans"/>
              <a:cs typeface="Open Sans"/>
              <a:sym typeface="Open Sans"/>
            </a:endParaRPr>
          </a:p>
        </p:txBody>
      </p:sp>
      <p:cxnSp>
        <p:nvCxnSpPr>
          <p:cNvPr id="386" name="Google Shape;386;p23"/>
          <p:cNvCxnSpPr>
            <a:stCxn id="385" idx="3"/>
            <a:endCxn id="368" idx="3"/>
          </p:cNvCxnSpPr>
          <p:nvPr/>
        </p:nvCxnSpPr>
        <p:spPr>
          <a:xfrm flipH="1">
            <a:off x="7176225" y="1140375"/>
            <a:ext cx="1694700" cy="3647100"/>
          </a:xfrm>
          <a:prstGeom prst="bentConnector3">
            <a:avLst>
              <a:gd fmla="val -2760" name="adj1"/>
            </a:avLst>
          </a:prstGeom>
          <a:noFill/>
          <a:ln cap="flat" cmpd="sng" w="28575">
            <a:solidFill>
              <a:srgbClr val="FF0000"/>
            </a:solidFill>
            <a:prstDash val="solid"/>
            <a:round/>
            <a:headEnd len="med" w="med" type="none"/>
            <a:tailEnd len="med" w="med" type="stealth"/>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2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Degree-based network properties</a:t>
            </a:r>
            <a:endParaRPr/>
          </a:p>
        </p:txBody>
      </p:sp>
      <p:graphicFrame>
        <p:nvGraphicFramePr>
          <p:cNvPr id="392" name="Google Shape;392;p24"/>
          <p:cNvGraphicFramePr/>
          <p:nvPr/>
        </p:nvGraphicFramePr>
        <p:xfrm>
          <a:off x="508013" y="3547350"/>
          <a:ext cx="3000000" cy="3000000"/>
        </p:xfrm>
        <a:graphic>
          <a:graphicData uri="http://schemas.openxmlformats.org/drawingml/2006/table">
            <a:tbl>
              <a:tblPr>
                <a:noFill/>
                <a:tableStyleId>{9C004714-7C27-400D-AF19-6A7FADFF251D}</a:tableStyleId>
              </a:tblPr>
              <a:tblGrid>
                <a:gridCol w="609200"/>
                <a:gridCol w="609200"/>
                <a:gridCol w="609200"/>
                <a:gridCol w="609200"/>
              </a:tblGrid>
              <a:tr h="312200">
                <a:tc>
                  <a:txBody>
                    <a:bodyPr/>
                    <a:lstStyle/>
                    <a:p>
                      <a:pPr indent="0" lvl="0" marL="0" rtl="0" algn="ctr">
                        <a:spcBef>
                          <a:spcPts val="0"/>
                        </a:spcBef>
                        <a:spcAft>
                          <a:spcPts val="0"/>
                        </a:spcAft>
                        <a:buNone/>
                      </a:pPr>
                      <a:r>
                        <a:rPr b="1" lang="en">
                          <a:solidFill>
                            <a:srgbClr val="FFFFFF"/>
                          </a:solidFill>
                        </a:rPr>
                        <a:t>1</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rgbClr val="FFFFFF"/>
                          </a:solidFill>
                        </a:rPr>
                        <a:t>2</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rgbClr val="FFFFFF"/>
                          </a:solidFill>
                        </a:rPr>
                        <a:t>3</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rgbClr val="FFFFFF"/>
                          </a:solidFill>
                        </a:rPr>
                        <a:t>4</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2200">
                <a:tc>
                  <a:txBody>
                    <a:bodyPr/>
                    <a:lstStyle/>
                    <a:p>
                      <a:pPr indent="0" lvl="0" marL="0" rtl="0" algn="ctr">
                        <a:spcBef>
                          <a:spcPts val="0"/>
                        </a:spcBef>
                        <a:spcAft>
                          <a:spcPts val="0"/>
                        </a:spcAft>
                        <a:buNone/>
                      </a:pPr>
                      <a:r>
                        <a:rPr lang="en"/>
                        <a:t>0/5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2/5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1/5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1/5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5225">
                <a:tc>
                  <a:txBody>
                    <a:bodyPr/>
                    <a:lstStyle/>
                    <a:p>
                      <a:pPr indent="0" lvl="0" marL="0" rtl="0" algn="ctr">
                        <a:spcBef>
                          <a:spcPts val="0"/>
                        </a:spcBef>
                        <a:spcAft>
                          <a:spcPts val="0"/>
                        </a:spcAft>
                        <a:buNone/>
                      </a:pPr>
                      <a:r>
                        <a:rPr lang="en"/>
                        <a:t>0</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0.4</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0.2</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0.2</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393" name="Google Shape;393;p24"/>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Degree Distribution</a:t>
            </a:r>
            <a:endParaRPr sz="1800">
              <a:latin typeface="Economica"/>
              <a:ea typeface="Economica"/>
              <a:cs typeface="Economica"/>
              <a:sym typeface="Economica"/>
            </a:endParaRPr>
          </a:p>
        </p:txBody>
      </p:sp>
      <p:sp>
        <p:nvSpPr>
          <p:cNvPr id="394" name="Google Shape;394;p24"/>
          <p:cNvSpPr txBox="1"/>
          <p:nvPr/>
        </p:nvSpPr>
        <p:spPr>
          <a:xfrm>
            <a:off x="478165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Economica"/>
                <a:ea typeface="Economica"/>
                <a:cs typeface="Economica"/>
                <a:sym typeface="Economica"/>
              </a:rPr>
              <a:t>Degree Distribution</a:t>
            </a:r>
            <a:endParaRPr sz="1800">
              <a:latin typeface="Economica"/>
              <a:ea typeface="Economica"/>
              <a:cs typeface="Economica"/>
              <a:sym typeface="Economica"/>
            </a:endParaRPr>
          </a:p>
        </p:txBody>
      </p:sp>
      <p:graphicFrame>
        <p:nvGraphicFramePr>
          <p:cNvPr id="395" name="Google Shape;395;p24"/>
          <p:cNvGraphicFramePr/>
          <p:nvPr/>
        </p:nvGraphicFramePr>
        <p:xfrm>
          <a:off x="4781638" y="3547338"/>
          <a:ext cx="3000000" cy="3000000"/>
        </p:xfrm>
        <a:graphic>
          <a:graphicData uri="http://schemas.openxmlformats.org/drawingml/2006/table">
            <a:tbl>
              <a:tblPr>
                <a:noFill/>
                <a:tableStyleId>{9C004714-7C27-400D-AF19-6A7FADFF251D}</a:tableStyleId>
              </a:tblPr>
              <a:tblGrid>
                <a:gridCol w="609200"/>
                <a:gridCol w="609200"/>
                <a:gridCol w="609200"/>
                <a:gridCol w="609200"/>
              </a:tblGrid>
              <a:tr h="312200">
                <a:tc>
                  <a:txBody>
                    <a:bodyPr/>
                    <a:lstStyle/>
                    <a:p>
                      <a:pPr indent="0" lvl="0" marL="0" rtl="0" algn="ctr">
                        <a:spcBef>
                          <a:spcPts val="0"/>
                        </a:spcBef>
                        <a:spcAft>
                          <a:spcPts val="0"/>
                        </a:spcAft>
                        <a:buNone/>
                      </a:pPr>
                      <a:r>
                        <a:rPr b="1" lang="en">
                          <a:solidFill>
                            <a:srgbClr val="FFFFFF"/>
                          </a:solidFill>
                        </a:rPr>
                        <a:t>1</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rgbClr val="FFFFFF"/>
                          </a:solidFill>
                        </a:rPr>
                        <a:t>2</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rgbClr val="FFFFFF"/>
                          </a:solidFill>
                        </a:rPr>
                        <a:t>3</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a:solidFill>
                            <a:srgbClr val="FFFFFF"/>
                          </a:solidFill>
                        </a:rPr>
                        <a:t>4</a:t>
                      </a:r>
                      <a:endParaRPr b="1">
                        <a:solidFill>
                          <a:srgbClr val="FFFFFF"/>
                        </a:solidFill>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2200">
                <a:tc>
                  <a:txBody>
                    <a:bodyPr/>
                    <a:lstStyle/>
                    <a:p>
                      <a:pPr indent="0" lvl="0" marL="0" rtl="0" algn="ctr">
                        <a:spcBef>
                          <a:spcPts val="0"/>
                        </a:spcBef>
                        <a:spcAft>
                          <a:spcPts val="0"/>
                        </a:spcAft>
                        <a:buNone/>
                      </a:pPr>
                      <a:r>
                        <a:rPr lang="en"/>
                        <a:t>0/5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4/5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1/5</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5225">
                <a:tc>
                  <a:txBody>
                    <a:bodyPr/>
                    <a:lstStyle/>
                    <a:p>
                      <a:pPr indent="0" lvl="0" marL="0" rtl="0" algn="ctr">
                        <a:spcBef>
                          <a:spcPts val="0"/>
                        </a:spcBef>
                        <a:spcAft>
                          <a:spcPts val="0"/>
                        </a:spcAft>
                        <a:buNone/>
                      </a:pPr>
                      <a:r>
                        <a:rPr lang="en"/>
                        <a:t>0</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0.8</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t>0.2</a:t>
                      </a:r>
                      <a:endParaRPr/>
                    </a:p>
                  </a:txBody>
                  <a:tcPr marT="0" marB="0"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pic>
        <p:nvPicPr>
          <p:cNvPr id="396" name="Google Shape;396;p24" title="Chart"/>
          <p:cNvPicPr preferRelativeResize="0"/>
          <p:nvPr/>
        </p:nvPicPr>
        <p:blipFill>
          <a:blip r:embed="rId3">
            <a:alphaModFix/>
          </a:blip>
          <a:stretch>
            <a:fillRect/>
          </a:stretch>
        </p:blipFill>
        <p:spPr>
          <a:xfrm>
            <a:off x="152400" y="1299625"/>
            <a:ext cx="3388665" cy="2095325"/>
          </a:xfrm>
          <a:prstGeom prst="rect">
            <a:avLst/>
          </a:prstGeom>
          <a:noFill/>
          <a:ln>
            <a:noFill/>
          </a:ln>
        </p:spPr>
      </p:pic>
      <p:pic>
        <p:nvPicPr>
          <p:cNvPr id="397" name="Google Shape;397;p24" title="Chart"/>
          <p:cNvPicPr preferRelativeResize="0"/>
          <p:nvPr/>
        </p:nvPicPr>
        <p:blipFill>
          <a:blip r:embed="rId4">
            <a:alphaModFix/>
          </a:blip>
          <a:stretch>
            <a:fillRect/>
          </a:stretch>
        </p:blipFill>
        <p:spPr>
          <a:xfrm>
            <a:off x="4305727" y="1299625"/>
            <a:ext cx="3388626" cy="2095300"/>
          </a:xfrm>
          <a:prstGeom prst="rect">
            <a:avLst/>
          </a:prstGeom>
          <a:noFill/>
          <a:ln>
            <a:noFill/>
          </a:ln>
        </p:spPr>
      </p:pic>
      <p:sp>
        <p:nvSpPr>
          <p:cNvPr id="398" name="Google Shape;398;p24"/>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Max degree: 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Min degree: 1</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d = 2.4</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399" name="Google Shape;399;p24"/>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Max degree: 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Min degree: 3</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d = 3.2</a:t>
            </a:r>
            <a:endParaRPr>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2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Degree-based network properties</a:t>
            </a:r>
            <a:endParaRPr/>
          </a:p>
        </p:txBody>
      </p:sp>
      <p:grpSp>
        <p:nvGrpSpPr>
          <p:cNvPr id="405" name="Google Shape;405;p25"/>
          <p:cNvGrpSpPr/>
          <p:nvPr/>
        </p:nvGrpSpPr>
        <p:grpSpPr>
          <a:xfrm>
            <a:off x="459802" y="1147225"/>
            <a:ext cx="8224398" cy="2267500"/>
            <a:chOff x="311702" y="1147225"/>
            <a:chExt cx="8224398" cy="2267500"/>
          </a:xfrm>
        </p:grpSpPr>
        <p:sp>
          <p:nvSpPr>
            <p:cNvPr id="406" name="Google Shape;406;p25"/>
            <p:cNvSpPr txBox="1"/>
            <p:nvPr/>
          </p:nvSpPr>
          <p:spPr>
            <a:xfrm>
              <a:off x="321438"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Facebook Users</a:t>
              </a:r>
              <a:endParaRPr sz="1800">
                <a:latin typeface="Economica"/>
                <a:ea typeface="Economica"/>
                <a:cs typeface="Economica"/>
                <a:sym typeface="Economica"/>
              </a:endParaRPr>
            </a:p>
          </p:txBody>
        </p:sp>
        <p:pic>
          <p:nvPicPr>
            <p:cNvPr id="407" name="Google Shape;407;p25"/>
            <p:cNvPicPr preferRelativeResize="0"/>
            <p:nvPr/>
          </p:nvPicPr>
          <p:blipFill>
            <a:blip r:embed="rId3">
              <a:alphaModFix/>
            </a:blip>
            <a:stretch>
              <a:fillRect/>
            </a:stretch>
          </p:blipFill>
          <p:spPr>
            <a:xfrm>
              <a:off x="311702" y="1163800"/>
              <a:ext cx="2469000" cy="1939600"/>
            </a:xfrm>
            <a:prstGeom prst="rect">
              <a:avLst/>
            </a:prstGeom>
            <a:noFill/>
            <a:ln>
              <a:noFill/>
            </a:ln>
          </p:spPr>
        </p:pic>
        <p:pic>
          <p:nvPicPr>
            <p:cNvPr id="408" name="Google Shape;408;p25"/>
            <p:cNvPicPr preferRelativeResize="0"/>
            <p:nvPr/>
          </p:nvPicPr>
          <p:blipFill>
            <a:blip r:embed="rId4">
              <a:alphaModFix/>
            </a:blip>
            <a:stretch>
              <a:fillRect/>
            </a:stretch>
          </p:blipFill>
          <p:spPr>
            <a:xfrm>
              <a:off x="3125221" y="1147225"/>
              <a:ext cx="2597355" cy="1939600"/>
            </a:xfrm>
            <a:prstGeom prst="rect">
              <a:avLst/>
            </a:prstGeom>
            <a:noFill/>
            <a:ln>
              <a:noFill/>
            </a:ln>
          </p:spPr>
        </p:pic>
        <p:sp>
          <p:nvSpPr>
            <p:cNvPr id="409" name="Google Shape;409;p25"/>
            <p:cNvSpPr txBox="1"/>
            <p:nvPr/>
          </p:nvSpPr>
          <p:spPr>
            <a:xfrm>
              <a:off x="3199138"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Add Health Study (High School)</a:t>
              </a:r>
              <a:endParaRPr sz="1800">
                <a:latin typeface="Economica"/>
                <a:ea typeface="Economica"/>
                <a:cs typeface="Economica"/>
                <a:sym typeface="Economica"/>
              </a:endParaRPr>
            </a:p>
          </p:txBody>
        </p:sp>
        <p:sp>
          <p:nvSpPr>
            <p:cNvPr id="410" name="Google Shape;410;p25"/>
            <p:cNvSpPr txBox="1"/>
            <p:nvPr/>
          </p:nvSpPr>
          <p:spPr>
            <a:xfrm>
              <a:off x="6131763"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LiveJournal Users</a:t>
              </a:r>
              <a:endParaRPr sz="1800">
                <a:latin typeface="Economica"/>
                <a:ea typeface="Economica"/>
                <a:cs typeface="Economica"/>
                <a:sym typeface="Economica"/>
              </a:endParaRPr>
            </a:p>
          </p:txBody>
        </p:sp>
        <p:pic>
          <p:nvPicPr>
            <p:cNvPr id="411" name="Google Shape;411;p25"/>
            <p:cNvPicPr preferRelativeResize="0"/>
            <p:nvPr/>
          </p:nvPicPr>
          <p:blipFill>
            <a:blip r:embed="rId5">
              <a:alphaModFix/>
            </a:blip>
            <a:stretch>
              <a:fillRect/>
            </a:stretch>
          </p:blipFill>
          <p:spPr>
            <a:xfrm>
              <a:off x="6067100" y="1190579"/>
              <a:ext cx="2469000" cy="1852896"/>
            </a:xfrm>
            <a:prstGeom prst="rect">
              <a:avLst/>
            </a:prstGeom>
            <a:noFill/>
            <a:ln>
              <a:noFill/>
            </a:ln>
          </p:spPr>
        </p:pic>
      </p:grpSp>
      <p:sp>
        <p:nvSpPr>
          <p:cNvPr id="412" name="Google Shape;412;p25"/>
          <p:cNvSpPr txBox="1"/>
          <p:nvPr/>
        </p:nvSpPr>
        <p:spPr>
          <a:xfrm>
            <a:off x="6258975"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4,847,571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68,475,391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22,887</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28.5</a:t>
            </a:r>
            <a:endParaRPr b="1" sz="1200">
              <a:latin typeface="Economica"/>
              <a:ea typeface="Economica"/>
              <a:cs typeface="Economica"/>
              <a:sym typeface="Economica"/>
            </a:endParaRPr>
          </a:p>
          <a:p>
            <a:pPr indent="0" lvl="0" marL="0" rtl="0" algn="l">
              <a:spcBef>
                <a:spcPts val="0"/>
              </a:spcBef>
              <a:spcAft>
                <a:spcPts val="0"/>
              </a:spcAft>
              <a:buNone/>
            </a:pPr>
            <a:r>
              <a:t/>
            </a:r>
            <a:endParaRPr b="1" sz="1200">
              <a:latin typeface="Economica"/>
              <a:ea typeface="Economica"/>
              <a:cs typeface="Economica"/>
              <a:sym typeface="Economica"/>
            </a:endParaRPr>
          </a:p>
          <a:p>
            <a:pPr indent="0" lvl="0" marL="0" rtl="0" algn="l">
              <a:spcBef>
                <a:spcPts val="0"/>
              </a:spcBef>
              <a:spcAft>
                <a:spcPts val="0"/>
              </a:spcAft>
              <a:buNone/>
            </a:pPr>
            <a:r>
              <a:t/>
            </a:r>
            <a:endParaRPr b="1" sz="1200">
              <a:solidFill>
                <a:schemeClr val="dk1"/>
              </a:solidFill>
              <a:highlight>
                <a:srgbClr val="F4F4FF"/>
              </a:highlight>
              <a:latin typeface="Economica"/>
              <a:ea typeface="Economica"/>
              <a:cs typeface="Economica"/>
              <a:sym typeface="Economica"/>
            </a:endParaRPr>
          </a:p>
        </p:txBody>
      </p:sp>
      <p:sp>
        <p:nvSpPr>
          <p:cNvPr id="413" name="Google Shape;413;p25"/>
          <p:cNvSpPr txBox="1"/>
          <p:nvPr/>
        </p:nvSpPr>
        <p:spPr>
          <a:xfrm>
            <a:off x="448650"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63,731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817,035</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1,098 </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25.6</a:t>
            </a:r>
            <a:endParaRPr b="1" sz="1200">
              <a:latin typeface="Economica"/>
              <a:ea typeface="Economica"/>
              <a:cs typeface="Economica"/>
              <a:sym typeface="Economica"/>
            </a:endParaRPr>
          </a:p>
          <a:p>
            <a:pPr indent="0" lvl="0" marL="0" rtl="0" algn="l">
              <a:spcBef>
                <a:spcPts val="0"/>
              </a:spcBef>
              <a:spcAft>
                <a:spcPts val="0"/>
              </a:spcAft>
              <a:buNone/>
            </a:pPr>
            <a:r>
              <a:t/>
            </a:r>
            <a:endParaRPr b="1" sz="1200">
              <a:latin typeface="Economica"/>
              <a:ea typeface="Economica"/>
              <a:cs typeface="Economica"/>
              <a:sym typeface="Economica"/>
            </a:endParaRPr>
          </a:p>
        </p:txBody>
      </p:sp>
      <p:sp>
        <p:nvSpPr>
          <p:cNvPr id="414" name="Google Shape;414;p25"/>
          <p:cNvSpPr txBox="1"/>
          <p:nvPr/>
        </p:nvSpPr>
        <p:spPr>
          <a:xfrm>
            <a:off x="3501900"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2539</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12,969</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36</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10.2</a:t>
            </a:r>
            <a:endParaRPr b="1" sz="1200">
              <a:latin typeface="Economica"/>
              <a:ea typeface="Economica"/>
              <a:cs typeface="Economica"/>
              <a:sym typeface="Economica"/>
            </a:endParaRPr>
          </a:p>
          <a:p>
            <a:pPr indent="0" lvl="0" marL="0" rtl="0" algn="l">
              <a:spcBef>
                <a:spcPts val="0"/>
              </a:spcBef>
              <a:spcAft>
                <a:spcPts val="0"/>
              </a:spcAft>
              <a:buNone/>
            </a:pPr>
            <a:r>
              <a:t/>
            </a:r>
            <a:endParaRPr b="1" sz="1200">
              <a:latin typeface="Economica"/>
              <a:ea typeface="Economica"/>
              <a:cs typeface="Economica"/>
              <a:sym typeface="Economic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2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Degree-based network properties</a:t>
            </a:r>
            <a:endParaRPr/>
          </a:p>
        </p:txBody>
      </p:sp>
      <p:sp>
        <p:nvSpPr>
          <p:cNvPr id="420" name="Google Shape;420;p26"/>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21" name="Google Shape;421;p26"/>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22" name="Google Shape;422;p26"/>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23" name="Google Shape;423;p26"/>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24" name="Google Shape;424;p26"/>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25" name="Google Shape;425;p26"/>
          <p:cNvCxnSpPr>
            <a:stCxn id="421" idx="4"/>
            <a:endCxn id="422"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26" name="Google Shape;426;p26"/>
          <p:cNvCxnSpPr>
            <a:stCxn id="422" idx="2"/>
            <a:endCxn id="420"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27" name="Google Shape;427;p26"/>
          <p:cNvCxnSpPr>
            <a:stCxn id="422" idx="6"/>
            <a:endCxn id="423"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graphicFrame>
        <p:nvGraphicFramePr>
          <p:cNvPr id="428" name="Google Shape;428;p26"/>
          <p:cNvGraphicFramePr/>
          <p:nvPr/>
        </p:nvGraphicFramePr>
        <p:xfrm>
          <a:off x="508013" y="3547350"/>
          <a:ext cx="3000000" cy="3000000"/>
        </p:xfrm>
        <a:graphic>
          <a:graphicData uri="http://schemas.openxmlformats.org/drawingml/2006/table">
            <a:tbl>
              <a:tblPr>
                <a:noFill/>
                <a:tableStyleId>{9C004714-7C27-400D-AF19-6A7FADFF251D}</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a:t>
                      </a: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29" name="Google Shape;429;p26"/>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Maximally Centralized Network (N = 5)</a:t>
            </a:r>
            <a:endParaRPr sz="1800">
              <a:latin typeface="Economica"/>
              <a:ea typeface="Economica"/>
              <a:cs typeface="Economica"/>
              <a:sym typeface="Economica"/>
            </a:endParaRPr>
          </a:p>
        </p:txBody>
      </p:sp>
      <p:sp>
        <p:nvSpPr>
          <p:cNvPr id="430" name="Google Shape;430;p26"/>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Observed Network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 = 5)</a:t>
            </a:r>
            <a:endParaRPr sz="1800">
              <a:latin typeface="Economica"/>
              <a:ea typeface="Economica"/>
              <a:cs typeface="Economica"/>
              <a:sym typeface="Economica"/>
            </a:endParaRPr>
          </a:p>
        </p:txBody>
      </p:sp>
      <p:sp>
        <p:nvSpPr>
          <p:cNvPr id="431" name="Google Shape;431;p26"/>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Max degree: 4</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32" name="Google Shape;432;p26"/>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Max degree: 4</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33" name="Google Shape;433;p26"/>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34" name="Google Shape;434;p26"/>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35" name="Google Shape;435;p26"/>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36" name="Google Shape;436;p26"/>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37" name="Google Shape;437;p26"/>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38" name="Google Shape;438;p26"/>
          <p:cNvCxnSpPr>
            <a:stCxn id="434" idx="4"/>
            <a:endCxn id="435"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39" name="Google Shape;439;p26"/>
          <p:cNvCxnSpPr>
            <a:stCxn id="434" idx="5"/>
            <a:endCxn id="436"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440" name="Google Shape;440;p26"/>
          <p:cNvCxnSpPr>
            <a:stCxn id="435" idx="2"/>
            <a:endCxn id="433"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41" name="Google Shape;441;p26"/>
          <p:cNvCxnSpPr>
            <a:stCxn id="434" idx="3"/>
            <a:endCxn id="433"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442" name="Google Shape;442;p26"/>
          <p:cNvCxnSpPr>
            <a:stCxn id="435" idx="6"/>
            <a:endCxn id="436"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43" name="Google Shape;443;p26"/>
          <p:cNvCxnSpPr>
            <a:stCxn id="437" idx="1"/>
            <a:endCxn id="433"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444" name="Google Shape;444;p26"/>
          <p:cNvCxnSpPr>
            <a:stCxn id="435" idx="4"/>
            <a:endCxn id="437"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445" name="Google Shape;445;p26"/>
          <p:cNvCxnSpPr>
            <a:stCxn id="436" idx="3"/>
            <a:endCxn id="437"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446" name="Google Shape;446;p26"/>
          <p:cNvCxnSpPr>
            <a:stCxn id="422" idx="4"/>
            <a:endCxn id="424" idx="0"/>
          </p:cNvCxnSpPr>
          <p:nvPr/>
        </p:nvCxnSpPr>
        <p:spPr>
          <a:xfrm>
            <a:off x="1705317" y="2575745"/>
            <a:ext cx="0" cy="435600"/>
          </a:xfrm>
          <a:prstGeom prst="straightConnector1">
            <a:avLst/>
          </a:prstGeom>
          <a:noFill/>
          <a:ln cap="flat" cmpd="sng" w="28575">
            <a:solidFill>
              <a:srgbClr val="666666"/>
            </a:solidFill>
            <a:prstDash val="solid"/>
            <a:round/>
            <a:headEnd len="med" w="med" type="none"/>
            <a:tailEnd len="med" w="med" type="none"/>
          </a:ln>
        </p:spPr>
      </p:cxnSp>
      <p:graphicFrame>
        <p:nvGraphicFramePr>
          <p:cNvPr id="447" name="Google Shape;447;p26"/>
          <p:cNvGraphicFramePr/>
          <p:nvPr/>
        </p:nvGraphicFramePr>
        <p:xfrm>
          <a:off x="4781638" y="3547350"/>
          <a:ext cx="3000000" cy="3000000"/>
        </p:xfrm>
        <a:graphic>
          <a:graphicData uri="http://schemas.openxmlformats.org/drawingml/2006/table">
            <a:tbl>
              <a:tblPr>
                <a:noFill/>
                <a:tableStyleId>{9C004714-7C27-400D-AF19-6A7FADFF251D}</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48" name="Google Shape;448;p26"/>
          <p:cNvSpPr txBox="1"/>
          <p:nvPr/>
        </p:nvSpPr>
        <p:spPr>
          <a:xfrm>
            <a:off x="6667425" y="224925"/>
            <a:ext cx="22035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Degree Centralization compares an observed network to one that is maximally centralized (the star graph of the same order)</a:t>
            </a:r>
            <a:endParaRPr b="1">
              <a:solidFill>
                <a:srgbClr val="FF0000"/>
              </a:solidFill>
              <a:latin typeface="Open Sans"/>
              <a:ea typeface="Open Sans"/>
              <a:cs typeface="Open Sans"/>
              <a:sym typeface="Open Sans"/>
            </a:endParaRPr>
          </a:p>
        </p:txBody>
      </p:sp>
      <p:pic>
        <p:nvPicPr>
          <p:cNvPr descr="C_d=\frac{\sum_i d(max)-d_i}{C(max)}" id="449" name="Google Shape;449;p26" title="MathEquation,#000000"/>
          <p:cNvPicPr preferRelativeResize="0"/>
          <p:nvPr/>
        </p:nvPicPr>
        <p:blipFill>
          <a:blip r:embed="rId3">
            <a:alphaModFix/>
          </a:blip>
          <a:stretch>
            <a:fillRect/>
          </a:stretch>
        </p:blipFill>
        <p:spPr>
          <a:xfrm>
            <a:off x="2668251" y="1265400"/>
            <a:ext cx="2516300" cy="6668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2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Degree-based network properties</a:t>
            </a:r>
            <a:endParaRPr/>
          </a:p>
        </p:txBody>
      </p:sp>
      <p:sp>
        <p:nvSpPr>
          <p:cNvPr id="455" name="Google Shape;455;p27"/>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56" name="Google Shape;456;p27"/>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57" name="Google Shape;457;p27"/>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58" name="Google Shape;458;p27"/>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59" name="Google Shape;459;p27"/>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60" name="Google Shape;460;p27"/>
          <p:cNvCxnSpPr>
            <a:stCxn id="456" idx="4"/>
            <a:endCxn id="457"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61" name="Google Shape;461;p27"/>
          <p:cNvCxnSpPr>
            <a:stCxn id="457" idx="2"/>
            <a:endCxn id="455"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62" name="Google Shape;462;p27"/>
          <p:cNvCxnSpPr>
            <a:stCxn id="457" idx="6"/>
            <a:endCxn id="458"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graphicFrame>
        <p:nvGraphicFramePr>
          <p:cNvPr id="463" name="Google Shape;463;p27"/>
          <p:cNvGraphicFramePr/>
          <p:nvPr/>
        </p:nvGraphicFramePr>
        <p:xfrm>
          <a:off x="508013" y="3547350"/>
          <a:ext cx="3000000" cy="3000000"/>
        </p:xfrm>
        <a:graphic>
          <a:graphicData uri="http://schemas.openxmlformats.org/drawingml/2006/table">
            <a:tbl>
              <a:tblPr>
                <a:noFill/>
                <a:tableStyleId>{9C004714-7C27-400D-AF19-6A7FADFF251D}</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64" name="Google Shape;464;p27"/>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Maximally Centralized Network (N = 5)</a:t>
            </a:r>
            <a:endParaRPr sz="1800">
              <a:latin typeface="Economica"/>
              <a:ea typeface="Economica"/>
              <a:cs typeface="Economica"/>
              <a:sym typeface="Economica"/>
            </a:endParaRPr>
          </a:p>
        </p:txBody>
      </p:sp>
      <p:sp>
        <p:nvSpPr>
          <p:cNvPr id="465" name="Google Shape;465;p27"/>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Observed </a:t>
            </a:r>
            <a:r>
              <a:rPr lang="en" sz="1800">
                <a:latin typeface="Economica"/>
                <a:ea typeface="Economica"/>
                <a:cs typeface="Economica"/>
                <a:sym typeface="Economica"/>
              </a:rPr>
              <a:t>Network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 = 5)</a:t>
            </a:r>
            <a:endParaRPr sz="1800">
              <a:latin typeface="Economica"/>
              <a:ea typeface="Economica"/>
              <a:cs typeface="Economica"/>
              <a:sym typeface="Economica"/>
            </a:endParaRPr>
          </a:p>
        </p:txBody>
      </p:sp>
      <p:sp>
        <p:nvSpPr>
          <p:cNvPr id="466" name="Google Shape;466;p27"/>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Max degree: 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Sum of differences: 12</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67" name="Google Shape;467;p27"/>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Max degree: 4</a:t>
            </a:r>
            <a:br>
              <a:rPr lang="en">
                <a:latin typeface="Open Sans"/>
                <a:ea typeface="Open Sans"/>
                <a:cs typeface="Open Sans"/>
                <a:sym typeface="Open Sans"/>
              </a:rPr>
            </a:br>
            <a:r>
              <a:rPr lang="en">
                <a:latin typeface="Open Sans"/>
                <a:ea typeface="Open Sans"/>
                <a:cs typeface="Open Sans"/>
                <a:sym typeface="Open Sans"/>
              </a:rPr>
              <a:t>Sum of differences: 4</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468" name="Google Shape;468;p27"/>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69" name="Google Shape;469;p27"/>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70" name="Google Shape;470;p27"/>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71" name="Google Shape;471;p27"/>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72" name="Google Shape;472;p27"/>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73" name="Google Shape;473;p27"/>
          <p:cNvCxnSpPr>
            <a:stCxn id="469" idx="4"/>
            <a:endCxn id="470"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74" name="Google Shape;474;p27"/>
          <p:cNvCxnSpPr>
            <a:stCxn id="469" idx="5"/>
            <a:endCxn id="471"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475" name="Google Shape;475;p27"/>
          <p:cNvCxnSpPr>
            <a:stCxn id="470" idx="2"/>
            <a:endCxn id="468"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76" name="Google Shape;476;p27"/>
          <p:cNvCxnSpPr>
            <a:stCxn id="469" idx="3"/>
            <a:endCxn id="468"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477" name="Google Shape;477;p27"/>
          <p:cNvCxnSpPr>
            <a:stCxn id="470" idx="6"/>
            <a:endCxn id="471"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78" name="Google Shape;478;p27"/>
          <p:cNvCxnSpPr>
            <a:stCxn id="472" idx="1"/>
            <a:endCxn id="468"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479" name="Google Shape;479;p27"/>
          <p:cNvCxnSpPr>
            <a:stCxn id="470" idx="4"/>
            <a:endCxn id="472"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480" name="Google Shape;480;p27"/>
          <p:cNvCxnSpPr>
            <a:stCxn id="471" idx="3"/>
            <a:endCxn id="472"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481" name="Google Shape;481;p27"/>
          <p:cNvCxnSpPr>
            <a:stCxn id="457" idx="4"/>
            <a:endCxn id="459" idx="0"/>
          </p:cNvCxnSpPr>
          <p:nvPr/>
        </p:nvCxnSpPr>
        <p:spPr>
          <a:xfrm>
            <a:off x="1705317" y="2575745"/>
            <a:ext cx="0" cy="435600"/>
          </a:xfrm>
          <a:prstGeom prst="straightConnector1">
            <a:avLst/>
          </a:prstGeom>
          <a:noFill/>
          <a:ln cap="flat" cmpd="sng" w="28575">
            <a:solidFill>
              <a:srgbClr val="666666"/>
            </a:solidFill>
            <a:prstDash val="solid"/>
            <a:round/>
            <a:headEnd len="med" w="med" type="none"/>
            <a:tailEnd len="med" w="med" type="none"/>
          </a:ln>
        </p:spPr>
      </p:cxnSp>
      <p:graphicFrame>
        <p:nvGraphicFramePr>
          <p:cNvPr id="482" name="Google Shape;482;p27"/>
          <p:cNvGraphicFramePr/>
          <p:nvPr/>
        </p:nvGraphicFramePr>
        <p:xfrm>
          <a:off x="4781638" y="3547350"/>
          <a:ext cx="3000000" cy="3000000"/>
        </p:xfrm>
        <a:graphic>
          <a:graphicData uri="http://schemas.openxmlformats.org/drawingml/2006/table">
            <a:tbl>
              <a:tblPr>
                <a:noFill/>
                <a:tableStyleId>{9C004714-7C27-400D-AF19-6A7FADFF251D}</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83" name="Google Shape;483;p27"/>
          <p:cNvSpPr txBox="1"/>
          <p:nvPr/>
        </p:nvSpPr>
        <p:spPr>
          <a:xfrm>
            <a:off x="6667425" y="224925"/>
            <a:ext cx="24432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It is given by the sum of the differences between maximum degree and the degree of each node in the observed network to the same number in the star graph of the same size</a:t>
            </a:r>
            <a:endParaRPr b="1">
              <a:solidFill>
                <a:srgbClr val="FF0000"/>
              </a:solidFill>
              <a:latin typeface="Open Sans"/>
              <a:ea typeface="Open Sans"/>
              <a:cs typeface="Open Sans"/>
              <a:sym typeface="Open Sans"/>
            </a:endParaRPr>
          </a:p>
        </p:txBody>
      </p:sp>
      <p:pic>
        <p:nvPicPr>
          <p:cNvPr descr="C_d=\frac{\sum_i d(max)-d_i}{C(max)}" id="484" name="Google Shape;484;p27" title="MathEquation,#000000"/>
          <p:cNvPicPr preferRelativeResize="0"/>
          <p:nvPr/>
        </p:nvPicPr>
        <p:blipFill>
          <a:blip r:embed="rId3">
            <a:alphaModFix/>
          </a:blip>
          <a:stretch>
            <a:fillRect/>
          </a:stretch>
        </p:blipFill>
        <p:spPr>
          <a:xfrm>
            <a:off x="2668251" y="1265400"/>
            <a:ext cx="2516300" cy="6668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2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Degree-based network properties</a:t>
            </a:r>
            <a:endParaRPr/>
          </a:p>
        </p:txBody>
      </p:sp>
      <p:sp>
        <p:nvSpPr>
          <p:cNvPr id="490" name="Google Shape;490;p28"/>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491" name="Google Shape;491;p28"/>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492" name="Google Shape;492;p28"/>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493" name="Google Shape;493;p28"/>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494" name="Google Shape;494;p28"/>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495" name="Google Shape;495;p28"/>
          <p:cNvCxnSpPr>
            <a:stCxn id="491" idx="4"/>
            <a:endCxn id="492"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496" name="Google Shape;496;p28"/>
          <p:cNvCxnSpPr>
            <a:stCxn id="492" idx="2"/>
            <a:endCxn id="490"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497" name="Google Shape;497;p28"/>
          <p:cNvCxnSpPr>
            <a:stCxn id="492" idx="6"/>
            <a:endCxn id="493"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graphicFrame>
        <p:nvGraphicFramePr>
          <p:cNvPr id="498" name="Google Shape;498;p28"/>
          <p:cNvGraphicFramePr/>
          <p:nvPr/>
        </p:nvGraphicFramePr>
        <p:xfrm>
          <a:off x="508013" y="3547350"/>
          <a:ext cx="3000000" cy="3000000"/>
        </p:xfrm>
        <a:graphic>
          <a:graphicData uri="http://schemas.openxmlformats.org/drawingml/2006/table">
            <a:tbl>
              <a:tblPr>
                <a:noFill/>
                <a:tableStyleId>{9C004714-7C27-400D-AF19-6A7FADFF251D}</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499" name="Google Shape;499;p28"/>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Maximally Centralized Network (N = 5)</a:t>
            </a:r>
            <a:endParaRPr sz="1800">
              <a:latin typeface="Economica"/>
              <a:ea typeface="Economica"/>
              <a:cs typeface="Economica"/>
              <a:sym typeface="Economica"/>
            </a:endParaRPr>
          </a:p>
        </p:txBody>
      </p:sp>
      <p:sp>
        <p:nvSpPr>
          <p:cNvPr id="500" name="Google Shape;500;p28"/>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Observed Network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 = 5)</a:t>
            </a:r>
            <a:endParaRPr sz="1800">
              <a:latin typeface="Economica"/>
              <a:ea typeface="Economica"/>
              <a:cs typeface="Economica"/>
              <a:sym typeface="Economica"/>
            </a:endParaRPr>
          </a:p>
        </p:txBody>
      </p:sp>
      <p:sp>
        <p:nvSpPr>
          <p:cNvPr id="501" name="Google Shape;501;p28"/>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Max degree: 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Sum of differences: 12</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(n-1)*(n-2)</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502" name="Google Shape;502;p28"/>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Max degree: 4</a:t>
            </a:r>
            <a:br>
              <a:rPr lang="en">
                <a:latin typeface="Open Sans"/>
                <a:ea typeface="Open Sans"/>
                <a:cs typeface="Open Sans"/>
                <a:sym typeface="Open Sans"/>
              </a:rPr>
            </a:br>
            <a:r>
              <a:rPr lang="en">
                <a:latin typeface="Open Sans"/>
                <a:ea typeface="Open Sans"/>
                <a:cs typeface="Open Sans"/>
                <a:sym typeface="Open Sans"/>
              </a:rPr>
              <a:t>Sum of differences: 4</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503" name="Google Shape;503;p28"/>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504" name="Google Shape;504;p28"/>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505" name="Google Shape;505;p28"/>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506" name="Google Shape;506;p28"/>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507" name="Google Shape;507;p28"/>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508" name="Google Shape;508;p28"/>
          <p:cNvCxnSpPr>
            <a:stCxn id="504" idx="4"/>
            <a:endCxn id="505"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509" name="Google Shape;509;p28"/>
          <p:cNvCxnSpPr>
            <a:stCxn id="504" idx="5"/>
            <a:endCxn id="506"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510" name="Google Shape;510;p28"/>
          <p:cNvCxnSpPr>
            <a:stCxn id="505" idx="2"/>
            <a:endCxn id="503"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511" name="Google Shape;511;p28"/>
          <p:cNvCxnSpPr>
            <a:stCxn id="504" idx="3"/>
            <a:endCxn id="503" idx="7"/>
          </p:cNvCxnSpPr>
          <p:nvPr/>
        </p:nvCxnSpPr>
        <p:spPr>
          <a:xfrm flipH="1">
            <a:off x="5146203"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512" name="Google Shape;512;p28"/>
          <p:cNvCxnSpPr>
            <a:stCxn id="505" idx="6"/>
            <a:endCxn id="506"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513" name="Google Shape;513;p28"/>
          <p:cNvCxnSpPr>
            <a:stCxn id="507" idx="1"/>
            <a:endCxn id="503"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514" name="Google Shape;514;p28"/>
          <p:cNvCxnSpPr>
            <a:stCxn id="505" idx="4"/>
            <a:endCxn id="507"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515" name="Google Shape;515;p28"/>
          <p:cNvCxnSpPr>
            <a:stCxn id="506" idx="3"/>
            <a:endCxn id="507" idx="7"/>
          </p:cNvCxnSpPr>
          <p:nvPr/>
        </p:nvCxnSpPr>
        <p:spPr>
          <a:xfrm flipH="1">
            <a:off x="6147369" y="2544091"/>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516" name="Google Shape;516;p28"/>
          <p:cNvCxnSpPr>
            <a:stCxn id="492" idx="4"/>
            <a:endCxn id="494" idx="0"/>
          </p:cNvCxnSpPr>
          <p:nvPr/>
        </p:nvCxnSpPr>
        <p:spPr>
          <a:xfrm>
            <a:off x="1705317" y="2575745"/>
            <a:ext cx="0" cy="435600"/>
          </a:xfrm>
          <a:prstGeom prst="straightConnector1">
            <a:avLst/>
          </a:prstGeom>
          <a:noFill/>
          <a:ln cap="flat" cmpd="sng" w="28575">
            <a:solidFill>
              <a:srgbClr val="666666"/>
            </a:solidFill>
            <a:prstDash val="solid"/>
            <a:round/>
            <a:headEnd len="med" w="med" type="none"/>
            <a:tailEnd len="med" w="med" type="none"/>
          </a:ln>
        </p:spPr>
      </p:cxnSp>
      <p:graphicFrame>
        <p:nvGraphicFramePr>
          <p:cNvPr id="517" name="Google Shape;517;p28"/>
          <p:cNvGraphicFramePr/>
          <p:nvPr/>
        </p:nvGraphicFramePr>
        <p:xfrm>
          <a:off x="4781638" y="3547350"/>
          <a:ext cx="3000000" cy="3000000"/>
        </p:xfrm>
        <a:graphic>
          <a:graphicData uri="http://schemas.openxmlformats.org/drawingml/2006/table">
            <a:tbl>
              <a:tblPr>
                <a:noFill/>
                <a:tableStyleId>{9C004714-7C27-400D-AF19-6A7FADFF251D}</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518" name="Google Shape;518;p28"/>
          <p:cNvSpPr txBox="1"/>
          <p:nvPr/>
        </p:nvSpPr>
        <p:spPr>
          <a:xfrm>
            <a:off x="6667425" y="224925"/>
            <a:ext cx="24432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It is given by the sum of the differences between maximum degree and the degree of each node in the observed network to the same number in the star graph of the same size</a:t>
            </a:r>
            <a:endParaRPr b="1">
              <a:solidFill>
                <a:srgbClr val="FF0000"/>
              </a:solidFill>
              <a:latin typeface="Open Sans"/>
              <a:ea typeface="Open Sans"/>
              <a:cs typeface="Open Sans"/>
              <a:sym typeface="Open Sans"/>
            </a:endParaRPr>
          </a:p>
        </p:txBody>
      </p:sp>
      <p:pic>
        <p:nvPicPr>
          <p:cNvPr descr="C_d=\frac{\sum_i d(max)-d_i}{(N-1)(N-2)}" id="519" name="Google Shape;519;p28" title="MathEquation,#000000"/>
          <p:cNvPicPr preferRelativeResize="0"/>
          <p:nvPr/>
        </p:nvPicPr>
        <p:blipFill>
          <a:blip r:embed="rId3">
            <a:alphaModFix/>
          </a:blip>
          <a:stretch>
            <a:fillRect/>
          </a:stretch>
        </p:blipFill>
        <p:spPr>
          <a:xfrm>
            <a:off x="2668262" y="1265403"/>
            <a:ext cx="2516300" cy="666822"/>
          </a:xfrm>
          <a:prstGeom prst="rect">
            <a:avLst/>
          </a:prstGeom>
          <a:noFill/>
          <a:ln>
            <a:noFill/>
          </a:ln>
        </p:spPr>
      </p:pic>
      <p:pic>
        <p:nvPicPr>
          <p:cNvPr descr="C_d=\frac{4}{12} = 0.33" id="520" name="Google Shape;520;p28" title="MathEquation,#000000"/>
          <p:cNvPicPr preferRelativeResize="0"/>
          <p:nvPr/>
        </p:nvPicPr>
        <p:blipFill>
          <a:blip r:embed="rId4">
            <a:alphaModFix/>
          </a:blip>
          <a:stretch>
            <a:fillRect/>
          </a:stretch>
        </p:blipFill>
        <p:spPr>
          <a:xfrm>
            <a:off x="6908144" y="2860587"/>
            <a:ext cx="2014342" cy="435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2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Degree-based network properties</a:t>
            </a:r>
            <a:endParaRPr/>
          </a:p>
        </p:txBody>
      </p:sp>
      <p:sp>
        <p:nvSpPr>
          <p:cNvPr id="526" name="Google Shape;526;p29"/>
          <p:cNvSpPr/>
          <p:nvPr/>
        </p:nvSpPr>
        <p:spPr>
          <a:xfrm>
            <a:off x="465800"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527" name="Google Shape;527;p29"/>
          <p:cNvSpPr/>
          <p:nvPr/>
        </p:nvSpPr>
        <p:spPr>
          <a:xfrm>
            <a:off x="1466967" y="118055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528" name="Google Shape;528;p29"/>
          <p:cNvSpPr/>
          <p:nvPr/>
        </p:nvSpPr>
        <p:spPr>
          <a:xfrm>
            <a:off x="1466967"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529" name="Google Shape;529;p29"/>
          <p:cNvSpPr/>
          <p:nvPr/>
        </p:nvSpPr>
        <p:spPr>
          <a:xfrm>
            <a:off x="2468133" y="21296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530" name="Google Shape;530;p29"/>
          <p:cNvSpPr/>
          <p:nvPr/>
        </p:nvSpPr>
        <p:spPr>
          <a:xfrm>
            <a:off x="1466967" y="301140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531" name="Google Shape;531;p29"/>
          <p:cNvCxnSpPr>
            <a:stCxn id="527" idx="4"/>
            <a:endCxn id="528" idx="0"/>
          </p:cNvCxnSpPr>
          <p:nvPr/>
        </p:nvCxnSpPr>
        <p:spPr>
          <a:xfrm>
            <a:off x="1705317" y="1626650"/>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532" name="Google Shape;532;p29"/>
          <p:cNvCxnSpPr>
            <a:stCxn id="528" idx="2"/>
            <a:endCxn id="526" idx="6"/>
          </p:cNvCxnSpPr>
          <p:nvPr/>
        </p:nvCxnSpPr>
        <p:spPr>
          <a:xfrm rot="10800000">
            <a:off x="942567" y="2352695"/>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533" name="Google Shape;533;p29"/>
          <p:cNvCxnSpPr>
            <a:stCxn id="528" idx="6"/>
            <a:endCxn id="529" idx="2"/>
          </p:cNvCxnSpPr>
          <p:nvPr/>
        </p:nvCxnSpPr>
        <p:spPr>
          <a:xfrm>
            <a:off x="1943667" y="2352695"/>
            <a:ext cx="524400" cy="0"/>
          </a:xfrm>
          <a:prstGeom prst="straightConnector1">
            <a:avLst/>
          </a:prstGeom>
          <a:noFill/>
          <a:ln cap="flat" cmpd="sng" w="28575">
            <a:solidFill>
              <a:srgbClr val="666666"/>
            </a:solidFill>
            <a:prstDash val="solid"/>
            <a:round/>
            <a:headEnd len="med" w="med" type="none"/>
            <a:tailEnd len="med" w="med" type="none"/>
          </a:ln>
        </p:spPr>
      </p:cxnSp>
      <p:graphicFrame>
        <p:nvGraphicFramePr>
          <p:cNvPr id="534" name="Google Shape;534;p29"/>
          <p:cNvGraphicFramePr/>
          <p:nvPr/>
        </p:nvGraphicFramePr>
        <p:xfrm>
          <a:off x="508013" y="3547350"/>
          <a:ext cx="3000000" cy="3000000"/>
        </p:xfrm>
        <a:graphic>
          <a:graphicData uri="http://schemas.openxmlformats.org/drawingml/2006/table">
            <a:tbl>
              <a:tblPr>
                <a:noFill/>
                <a:tableStyleId>{9C004714-7C27-400D-AF19-6A7FADFF251D}</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4 - 1</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3</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535" name="Google Shape;535;p29"/>
          <p:cNvSpPr txBox="1"/>
          <p:nvPr/>
        </p:nvSpPr>
        <p:spPr>
          <a:xfrm>
            <a:off x="533800" y="4623500"/>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Maximally Centralized Network (N = 5)</a:t>
            </a:r>
            <a:endParaRPr sz="1800">
              <a:latin typeface="Economica"/>
              <a:ea typeface="Economica"/>
              <a:cs typeface="Economica"/>
              <a:sym typeface="Economica"/>
            </a:endParaRPr>
          </a:p>
        </p:txBody>
      </p:sp>
      <p:sp>
        <p:nvSpPr>
          <p:cNvPr id="536" name="Google Shape;536;p29"/>
          <p:cNvSpPr txBox="1"/>
          <p:nvPr/>
        </p:nvSpPr>
        <p:spPr>
          <a:xfrm>
            <a:off x="4781650" y="457677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Observed Network </a:t>
            </a:r>
            <a:endParaRPr sz="1800">
              <a:latin typeface="Economica"/>
              <a:ea typeface="Economica"/>
              <a:cs typeface="Economica"/>
              <a:sym typeface="Economica"/>
            </a:endParaRPr>
          </a:p>
          <a:p>
            <a:pPr indent="0" lvl="0" marL="0" rtl="0" algn="ctr">
              <a:spcBef>
                <a:spcPts val="0"/>
              </a:spcBef>
              <a:spcAft>
                <a:spcPts val="0"/>
              </a:spcAft>
              <a:buNone/>
            </a:pPr>
            <a:r>
              <a:rPr lang="en" sz="1800">
                <a:latin typeface="Economica"/>
                <a:ea typeface="Economica"/>
                <a:cs typeface="Economica"/>
                <a:sym typeface="Economica"/>
              </a:rPr>
              <a:t>(N = 5)</a:t>
            </a:r>
            <a:endParaRPr sz="1800">
              <a:latin typeface="Economica"/>
              <a:ea typeface="Economica"/>
              <a:cs typeface="Economica"/>
              <a:sym typeface="Economica"/>
            </a:endParaRPr>
          </a:p>
        </p:txBody>
      </p:sp>
      <p:sp>
        <p:nvSpPr>
          <p:cNvPr id="537" name="Google Shape;537;p29"/>
          <p:cNvSpPr txBox="1"/>
          <p:nvPr/>
        </p:nvSpPr>
        <p:spPr>
          <a:xfrm>
            <a:off x="2983375" y="3547350"/>
            <a:ext cx="14787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Max degree: 4</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Sum of differences: 12</a:t>
            </a:r>
            <a:endParaRPr>
              <a:latin typeface="Open Sans"/>
              <a:ea typeface="Open Sans"/>
              <a:cs typeface="Open Sans"/>
              <a:sym typeface="Open Sans"/>
            </a:endParaRPr>
          </a:p>
          <a:p>
            <a:pPr indent="0" lvl="0" marL="0" rtl="0" algn="l">
              <a:spcBef>
                <a:spcPts val="0"/>
              </a:spcBef>
              <a:spcAft>
                <a:spcPts val="0"/>
              </a:spcAft>
              <a:buNone/>
            </a:pPr>
            <a:r>
              <a:rPr lang="en">
                <a:latin typeface="Open Sans"/>
                <a:ea typeface="Open Sans"/>
                <a:cs typeface="Open Sans"/>
                <a:sym typeface="Open Sans"/>
              </a:rPr>
              <a:t>(n-1)*(n-2)</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538" name="Google Shape;538;p29"/>
          <p:cNvSpPr txBox="1"/>
          <p:nvPr/>
        </p:nvSpPr>
        <p:spPr>
          <a:xfrm>
            <a:off x="7250600" y="3547325"/>
            <a:ext cx="1408200" cy="109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Open Sans"/>
                <a:ea typeface="Open Sans"/>
                <a:cs typeface="Open Sans"/>
                <a:sym typeface="Open Sans"/>
              </a:rPr>
              <a:t>Max degree: 4</a:t>
            </a:r>
            <a:br>
              <a:rPr lang="en">
                <a:latin typeface="Open Sans"/>
                <a:ea typeface="Open Sans"/>
                <a:cs typeface="Open Sans"/>
                <a:sym typeface="Open Sans"/>
              </a:rPr>
            </a:br>
            <a:r>
              <a:rPr lang="en">
                <a:latin typeface="Open Sans"/>
                <a:ea typeface="Open Sans"/>
                <a:cs typeface="Open Sans"/>
                <a:sym typeface="Open Sans"/>
              </a:rPr>
              <a:t>Sum of differences: 8</a:t>
            </a:r>
            <a:endParaRPr>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
        <p:nvSpPr>
          <p:cNvPr id="539" name="Google Shape;539;p29"/>
          <p:cNvSpPr/>
          <p:nvPr/>
        </p:nvSpPr>
        <p:spPr>
          <a:xfrm>
            <a:off x="4739425"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540" name="Google Shape;540;p29"/>
          <p:cNvSpPr/>
          <p:nvPr/>
        </p:nvSpPr>
        <p:spPr>
          <a:xfrm>
            <a:off x="5740592" y="12142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541" name="Google Shape;541;p29"/>
          <p:cNvSpPr/>
          <p:nvPr/>
        </p:nvSpPr>
        <p:spPr>
          <a:xfrm>
            <a:off x="5740592"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542" name="Google Shape;542;p29"/>
          <p:cNvSpPr/>
          <p:nvPr/>
        </p:nvSpPr>
        <p:spPr>
          <a:xfrm>
            <a:off x="6741758" y="21633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543" name="Google Shape;543;p29"/>
          <p:cNvSpPr/>
          <p:nvPr/>
        </p:nvSpPr>
        <p:spPr>
          <a:xfrm>
            <a:off x="5740592" y="30450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544" name="Google Shape;544;p29"/>
          <p:cNvCxnSpPr>
            <a:stCxn id="540" idx="4"/>
            <a:endCxn id="541" idx="0"/>
          </p:cNvCxnSpPr>
          <p:nvPr/>
        </p:nvCxnSpPr>
        <p:spPr>
          <a:xfrm>
            <a:off x="5978942" y="16603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545" name="Google Shape;545;p29"/>
          <p:cNvCxnSpPr>
            <a:stCxn id="540" idx="5"/>
            <a:endCxn id="542" idx="1"/>
          </p:cNvCxnSpPr>
          <p:nvPr/>
        </p:nvCxnSpPr>
        <p:spPr>
          <a:xfrm>
            <a:off x="6147480" y="15949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546" name="Google Shape;546;p29"/>
          <p:cNvCxnSpPr>
            <a:stCxn id="541" idx="2"/>
            <a:endCxn id="539" idx="6"/>
          </p:cNvCxnSpPr>
          <p:nvPr/>
        </p:nvCxnSpPr>
        <p:spPr>
          <a:xfrm rot="10800000">
            <a:off x="52161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547" name="Google Shape;547;p29"/>
          <p:cNvCxnSpPr>
            <a:stCxn id="541" idx="6"/>
            <a:endCxn id="542" idx="2"/>
          </p:cNvCxnSpPr>
          <p:nvPr/>
        </p:nvCxnSpPr>
        <p:spPr>
          <a:xfrm>
            <a:off x="6217292" y="2386370"/>
            <a:ext cx="524400" cy="0"/>
          </a:xfrm>
          <a:prstGeom prst="straightConnector1">
            <a:avLst/>
          </a:prstGeom>
          <a:noFill/>
          <a:ln cap="flat" cmpd="sng" w="28575">
            <a:solidFill>
              <a:srgbClr val="666666"/>
            </a:solidFill>
            <a:prstDash val="solid"/>
            <a:round/>
            <a:headEnd len="med" w="med" type="none"/>
            <a:tailEnd len="med" w="med" type="none"/>
          </a:ln>
        </p:spPr>
      </p:cxnSp>
      <p:cxnSp>
        <p:nvCxnSpPr>
          <p:cNvPr id="548" name="Google Shape;548;p29"/>
          <p:cNvCxnSpPr>
            <a:stCxn id="543" idx="1"/>
            <a:endCxn id="539" idx="5"/>
          </p:cNvCxnSpPr>
          <p:nvPr/>
        </p:nvCxnSpPr>
        <p:spPr>
          <a:xfrm rot="10800000">
            <a:off x="5146203" y="2544004"/>
            <a:ext cx="664200" cy="566400"/>
          </a:xfrm>
          <a:prstGeom prst="straightConnector1">
            <a:avLst/>
          </a:prstGeom>
          <a:noFill/>
          <a:ln cap="flat" cmpd="sng" w="28575">
            <a:solidFill>
              <a:srgbClr val="666666"/>
            </a:solidFill>
            <a:prstDash val="solid"/>
            <a:round/>
            <a:headEnd len="med" w="med" type="none"/>
            <a:tailEnd len="med" w="med" type="none"/>
          </a:ln>
        </p:spPr>
      </p:cxnSp>
      <p:cxnSp>
        <p:nvCxnSpPr>
          <p:cNvPr id="549" name="Google Shape;549;p29"/>
          <p:cNvCxnSpPr>
            <a:stCxn id="541" idx="4"/>
            <a:endCxn id="543" idx="0"/>
          </p:cNvCxnSpPr>
          <p:nvPr/>
        </p:nvCxnSpPr>
        <p:spPr>
          <a:xfrm>
            <a:off x="5978942" y="2609420"/>
            <a:ext cx="0" cy="435600"/>
          </a:xfrm>
          <a:prstGeom prst="straightConnector1">
            <a:avLst/>
          </a:prstGeom>
          <a:noFill/>
          <a:ln cap="flat" cmpd="sng" w="28575">
            <a:solidFill>
              <a:srgbClr val="666666"/>
            </a:solidFill>
            <a:prstDash val="solid"/>
            <a:round/>
            <a:headEnd len="med" w="med" type="none"/>
            <a:tailEnd len="med" w="med" type="none"/>
          </a:ln>
        </p:spPr>
      </p:cxnSp>
      <p:cxnSp>
        <p:nvCxnSpPr>
          <p:cNvPr id="550" name="Google Shape;550;p29"/>
          <p:cNvCxnSpPr>
            <a:stCxn id="528" idx="4"/>
            <a:endCxn id="530" idx="0"/>
          </p:cNvCxnSpPr>
          <p:nvPr/>
        </p:nvCxnSpPr>
        <p:spPr>
          <a:xfrm>
            <a:off x="1705317" y="2575745"/>
            <a:ext cx="0" cy="435600"/>
          </a:xfrm>
          <a:prstGeom prst="straightConnector1">
            <a:avLst/>
          </a:prstGeom>
          <a:noFill/>
          <a:ln cap="flat" cmpd="sng" w="28575">
            <a:solidFill>
              <a:srgbClr val="666666"/>
            </a:solidFill>
            <a:prstDash val="solid"/>
            <a:round/>
            <a:headEnd len="med" w="med" type="none"/>
            <a:tailEnd len="med" w="med" type="none"/>
          </a:ln>
        </p:spPr>
      </p:cxnSp>
      <p:graphicFrame>
        <p:nvGraphicFramePr>
          <p:cNvPr id="551" name="Google Shape;551;p29"/>
          <p:cNvGraphicFramePr/>
          <p:nvPr/>
        </p:nvGraphicFramePr>
        <p:xfrm>
          <a:off x="4781638" y="3547350"/>
          <a:ext cx="3000000" cy="3000000"/>
        </p:xfrm>
        <a:graphic>
          <a:graphicData uri="http://schemas.openxmlformats.org/drawingml/2006/table">
            <a:tbl>
              <a:tblPr>
                <a:noFill/>
                <a:tableStyleId>{9C004714-7C27-400D-AF19-6A7FADFF251D}</a:tableStyleId>
              </a:tblPr>
              <a:tblGrid>
                <a:gridCol w="478925"/>
                <a:gridCol w="478925"/>
                <a:gridCol w="478925"/>
                <a:gridCol w="478925"/>
                <a:gridCol w="478925"/>
              </a:tblGrid>
              <a:tr h="316800">
                <a:tc>
                  <a:txBody>
                    <a:bodyPr/>
                    <a:lstStyle/>
                    <a:p>
                      <a:pPr indent="0" lvl="0" marL="0" rtl="0" algn="ctr">
                        <a:spcBef>
                          <a:spcPts val="0"/>
                        </a:spcBef>
                        <a:spcAft>
                          <a:spcPts val="0"/>
                        </a:spcAft>
                        <a:buNone/>
                      </a:pPr>
                      <a:r>
                        <a:rPr b="1" lang="en" sz="1200">
                          <a:solidFill>
                            <a:srgbClr val="FFFFFF"/>
                          </a:solidFill>
                        </a:rPr>
                        <a:t>A</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B</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C </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D</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b="1" lang="en" sz="1200">
                          <a:solidFill>
                            <a:srgbClr val="FFFFFF"/>
                          </a:solidFill>
                        </a:rPr>
                        <a:t>E</a:t>
                      </a:r>
                      <a:endParaRPr b="1" sz="1200">
                        <a:solidFill>
                          <a:srgbClr val="FFFFFF"/>
                        </a:solidFill>
                      </a:endParaRPr>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2"/>
                    </a:solidFill>
                  </a:tcPr>
                </a:tc>
              </a:tr>
              <a:tr h="316800">
                <a:tc>
                  <a:txBody>
                    <a:bodyPr/>
                    <a:lstStyle/>
                    <a:p>
                      <a:pPr indent="0" lvl="0" marL="0" rtl="0" algn="ctr">
                        <a:spcBef>
                          <a:spcPts val="0"/>
                        </a:spcBef>
                        <a:spcAft>
                          <a:spcPts val="0"/>
                        </a:spcAft>
                        <a:buNone/>
                      </a:pPr>
                      <a:r>
                        <a:rPr lang="en" sz="1200"/>
                        <a:t>4 - 2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4 - 4</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4 - 2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6800">
                <a:tc>
                  <a:txBody>
                    <a:bodyPr/>
                    <a:lstStyle/>
                    <a:p>
                      <a:pPr indent="0" lvl="0" marL="0" rtl="0" algn="ctr">
                        <a:spcBef>
                          <a:spcPts val="0"/>
                        </a:spcBef>
                        <a:spcAft>
                          <a:spcPts val="0"/>
                        </a:spcAft>
                        <a:buNone/>
                      </a:pPr>
                      <a:r>
                        <a:rPr lang="en" sz="1200"/>
                        <a:t>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0</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sz="1200"/>
                        <a:t>2</a:t>
                      </a:r>
                      <a:endParaRPr sz="1200"/>
                    </a:p>
                  </a:txBody>
                  <a:tcPr marT="0" marB="91425" marR="0"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552" name="Google Shape;552;p29"/>
          <p:cNvSpPr txBox="1"/>
          <p:nvPr/>
        </p:nvSpPr>
        <p:spPr>
          <a:xfrm>
            <a:off x="6667425" y="224925"/>
            <a:ext cx="2443200" cy="183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It is given by the sum of the differences between maximum degree and the degree of each node in the observed network to the same number in the star graph of the same size</a:t>
            </a:r>
            <a:endParaRPr b="1">
              <a:solidFill>
                <a:srgbClr val="FF0000"/>
              </a:solidFill>
              <a:latin typeface="Open Sans"/>
              <a:ea typeface="Open Sans"/>
              <a:cs typeface="Open Sans"/>
              <a:sym typeface="Open Sans"/>
            </a:endParaRPr>
          </a:p>
        </p:txBody>
      </p:sp>
      <p:pic>
        <p:nvPicPr>
          <p:cNvPr descr="C_d=\frac{\sum_i d(max)-d_i}{(N-1)(N-2)}" id="553" name="Google Shape;553;p29" title="MathEquation,#000000"/>
          <p:cNvPicPr preferRelativeResize="0"/>
          <p:nvPr/>
        </p:nvPicPr>
        <p:blipFill>
          <a:blip r:embed="rId3">
            <a:alphaModFix/>
          </a:blip>
          <a:stretch>
            <a:fillRect/>
          </a:stretch>
        </p:blipFill>
        <p:spPr>
          <a:xfrm>
            <a:off x="2668262" y="1265403"/>
            <a:ext cx="2516300" cy="666822"/>
          </a:xfrm>
          <a:prstGeom prst="rect">
            <a:avLst/>
          </a:prstGeom>
          <a:noFill/>
          <a:ln>
            <a:noFill/>
          </a:ln>
        </p:spPr>
      </p:pic>
      <p:pic>
        <p:nvPicPr>
          <p:cNvPr descr="C_d=\frac{8}{12} = 0.66" id="554" name="Google Shape;554;p29" title="MathEquation,#000000"/>
          <p:cNvPicPr preferRelativeResize="0"/>
          <p:nvPr/>
        </p:nvPicPr>
        <p:blipFill>
          <a:blip r:embed="rId4">
            <a:alphaModFix/>
          </a:blip>
          <a:stretch>
            <a:fillRect/>
          </a:stretch>
        </p:blipFill>
        <p:spPr>
          <a:xfrm>
            <a:off x="6811675" y="2843069"/>
            <a:ext cx="2091750" cy="47064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3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Path-based network properties</a:t>
            </a:r>
            <a:endParaRPr/>
          </a:p>
        </p:txBody>
      </p:sp>
      <p:sp>
        <p:nvSpPr>
          <p:cNvPr id="560" name="Google Shape;560;p30"/>
          <p:cNvSpPr txBox="1"/>
          <p:nvPr>
            <p:ph idx="1" type="body"/>
          </p:nvPr>
        </p:nvSpPr>
        <p:spPr>
          <a:xfrm>
            <a:off x="311700" y="1225225"/>
            <a:ext cx="52305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Flashback:</a:t>
            </a:r>
            <a:endParaRPr/>
          </a:p>
          <a:p>
            <a:pPr indent="-317500" lvl="1" marL="914400" rtl="0" algn="l">
              <a:spcBef>
                <a:spcPts val="0"/>
              </a:spcBef>
              <a:spcAft>
                <a:spcPts val="0"/>
              </a:spcAft>
              <a:buSzPts val="1400"/>
              <a:buChar char="○"/>
            </a:pPr>
            <a:r>
              <a:rPr lang="en"/>
              <a:t>In a network, shortest paths </a:t>
            </a:r>
            <a:r>
              <a:rPr lang="en"/>
              <a:t>between</a:t>
            </a:r>
            <a:r>
              <a:rPr lang="en"/>
              <a:t> two nodes are also called </a:t>
            </a:r>
            <a:r>
              <a:rPr b="1" lang="en"/>
              <a:t>geodesics</a:t>
            </a:r>
            <a:endParaRPr b="1"/>
          </a:p>
          <a:p>
            <a:pPr indent="-342900" lvl="0" marL="457200" rtl="0" algn="l">
              <a:spcBef>
                <a:spcPts val="0"/>
              </a:spcBef>
              <a:spcAft>
                <a:spcPts val="0"/>
              </a:spcAft>
              <a:buSzPts val="1800"/>
              <a:buChar char="●"/>
            </a:pPr>
            <a:r>
              <a:rPr lang="en"/>
              <a:t>The </a:t>
            </a:r>
            <a:r>
              <a:rPr b="1" lang="en"/>
              <a:t>diameter </a:t>
            </a:r>
            <a:r>
              <a:rPr lang="en"/>
              <a:t>(D) of a network is the length of the longest shortest path between two nodes</a:t>
            </a:r>
            <a:endParaRPr/>
          </a:p>
          <a:p>
            <a:pPr indent="-342900" lvl="0" marL="457200" rtl="0" algn="l">
              <a:spcBef>
                <a:spcPts val="0"/>
              </a:spcBef>
              <a:spcAft>
                <a:spcPts val="0"/>
              </a:spcAft>
              <a:buSzPts val="1800"/>
              <a:buChar char="●"/>
            </a:pPr>
            <a:r>
              <a:rPr lang="en"/>
              <a:t>We can also compute the </a:t>
            </a:r>
            <a:r>
              <a:rPr b="1" lang="en"/>
              <a:t>average shortest path length</a:t>
            </a:r>
            <a:r>
              <a:rPr lang="en"/>
              <a:t> </a:t>
            </a:r>
            <a:r>
              <a:rPr b="1" lang="en"/>
              <a:t>(L)</a:t>
            </a:r>
            <a:r>
              <a:rPr lang="en"/>
              <a:t> between all pairs of nodes in a network</a:t>
            </a:r>
            <a:endParaRPr/>
          </a:p>
          <a:p>
            <a:pPr indent="-317500" lvl="1" marL="914400" rtl="0" algn="l">
              <a:spcBef>
                <a:spcPts val="0"/>
              </a:spcBef>
              <a:spcAft>
                <a:spcPts val="0"/>
              </a:spcAft>
              <a:buSzPts val="1400"/>
              <a:buChar char="○"/>
            </a:pPr>
            <a:r>
              <a:rPr lang="en"/>
              <a:t>Can only be computed for </a:t>
            </a:r>
            <a:r>
              <a:rPr b="1" lang="en"/>
              <a:t>connected graphs</a:t>
            </a:r>
            <a:r>
              <a:rPr lang="en"/>
              <a:t> or in the </a:t>
            </a:r>
            <a:r>
              <a:rPr b="1" lang="en"/>
              <a:t>giant component </a:t>
            </a:r>
            <a:r>
              <a:rPr lang="en"/>
              <a:t>of disconnected ones</a:t>
            </a:r>
            <a:endParaRPr/>
          </a:p>
          <a:p>
            <a:pPr indent="0" lvl="0" marL="0" rtl="0" algn="l">
              <a:spcBef>
                <a:spcPts val="1600"/>
              </a:spcBef>
              <a:spcAft>
                <a:spcPts val="1600"/>
              </a:spcAft>
              <a:buNone/>
            </a:pPr>
            <a:r>
              <a:t/>
            </a:r>
            <a:endParaRPr/>
          </a:p>
        </p:txBody>
      </p:sp>
      <p:pic>
        <p:nvPicPr>
          <p:cNvPr id="561" name="Google Shape;561;p30"/>
          <p:cNvPicPr preferRelativeResize="0"/>
          <p:nvPr/>
        </p:nvPicPr>
        <p:blipFill rotWithShape="1">
          <a:blip r:embed="rId3">
            <a:alphaModFix/>
          </a:blip>
          <a:srcRect b="10373" l="12259" r="8186" t="11220"/>
          <a:stretch/>
        </p:blipFill>
        <p:spPr>
          <a:xfrm>
            <a:off x="5542200" y="1270175"/>
            <a:ext cx="3311974" cy="32641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3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Path-based network properties</a:t>
            </a:r>
            <a:endParaRPr/>
          </a:p>
        </p:txBody>
      </p:sp>
      <p:grpSp>
        <p:nvGrpSpPr>
          <p:cNvPr id="567" name="Google Shape;567;p31"/>
          <p:cNvGrpSpPr/>
          <p:nvPr/>
        </p:nvGrpSpPr>
        <p:grpSpPr>
          <a:xfrm>
            <a:off x="459802" y="1147225"/>
            <a:ext cx="8224398" cy="2267500"/>
            <a:chOff x="311702" y="1147225"/>
            <a:chExt cx="8224398" cy="2267500"/>
          </a:xfrm>
        </p:grpSpPr>
        <p:sp>
          <p:nvSpPr>
            <p:cNvPr id="568" name="Google Shape;568;p31"/>
            <p:cNvSpPr txBox="1"/>
            <p:nvPr/>
          </p:nvSpPr>
          <p:spPr>
            <a:xfrm>
              <a:off x="321438"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Facebook Users</a:t>
              </a:r>
              <a:endParaRPr sz="1800">
                <a:latin typeface="Economica"/>
                <a:ea typeface="Economica"/>
                <a:cs typeface="Economica"/>
                <a:sym typeface="Economica"/>
              </a:endParaRPr>
            </a:p>
          </p:txBody>
        </p:sp>
        <p:pic>
          <p:nvPicPr>
            <p:cNvPr id="569" name="Google Shape;569;p31"/>
            <p:cNvPicPr preferRelativeResize="0"/>
            <p:nvPr/>
          </p:nvPicPr>
          <p:blipFill>
            <a:blip r:embed="rId3">
              <a:alphaModFix/>
            </a:blip>
            <a:stretch>
              <a:fillRect/>
            </a:stretch>
          </p:blipFill>
          <p:spPr>
            <a:xfrm>
              <a:off x="311702" y="1163800"/>
              <a:ext cx="2469000" cy="1939600"/>
            </a:xfrm>
            <a:prstGeom prst="rect">
              <a:avLst/>
            </a:prstGeom>
            <a:noFill/>
            <a:ln>
              <a:noFill/>
            </a:ln>
          </p:spPr>
        </p:pic>
        <p:pic>
          <p:nvPicPr>
            <p:cNvPr id="570" name="Google Shape;570;p31"/>
            <p:cNvPicPr preferRelativeResize="0"/>
            <p:nvPr/>
          </p:nvPicPr>
          <p:blipFill>
            <a:blip r:embed="rId4">
              <a:alphaModFix/>
            </a:blip>
            <a:stretch>
              <a:fillRect/>
            </a:stretch>
          </p:blipFill>
          <p:spPr>
            <a:xfrm>
              <a:off x="3125221" y="1147225"/>
              <a:ext cx="2597355" cy="1939600"/>
            </a:xfrm>
            <a:prstGeom prst="rect">
              <a:avLst/>
            </a:prstGeom>
            <a:noFill/>
            <a:ln>
              <a:noFill/>
            </a:ln>
          </p:spPr>
        </p:pic>
        <p:sp>
          <p:nvSpPr>
            <p:cNvPr id="571" name="Google Shape;571;p31"/>
            <p:cNvSpPr txBox="1"/>
            <p:nvPr/>
          </p:nvSpPr>
          <p:spPr>
            <a:xfrm>
              <a:off x="3199138"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Add Health Study (High School)</a:t>
              </a:r>
              <a:endParaRPr sz="1800">
                <a:latin typeface="Economica"/>
                <a:ea typeface="Economica"/>
                <a:cs typeface="Economica"/>
                <a:sym typeface="Economica"/>
              </a:endParaRPr>
            </a:p>
          </p:txBody>
        </p:sp>
        <p:sp>
          <p:nvSpPr>
            <p:cNvPr id="572" name="Google Shape;572;p31"/>
            <p:cNvSpPr txBox="1"/>
            <p:nvPr/>
          </p:nvSpPr>
          <p:spPr>
            <a:xfrm>
              <a:off x="6131763"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LiveJournal</a:t>
              </a:r>
              <a:endParaRPr sz="1800">
                <a:latin typeface="Economica"/>
                <a:ea typeface="Economica"/>
                <a:cs typeface="Economica"/>
                <a:sym typeface="Economica"/>
              </a:endParaRPr>
            </a:p>
          </p:txBody>
        </p:sp>
        <p:pic>
          <p:nvPicPr>
            <p:cNvPr id="573" name="Google Shape;573;p31"/>
            <p:cNvPicPr preferRelativeResize="0"/>
            <p:nvPr/>
          </p:nvPicPr>
          <p:blipFill>
            <a:blip r:embed="rId5">
              <a:alphaModFix/>
            </a:blip>
            <a:stretch>
              <a:fillRect/>
            </a:stretch>
          </p:blipFill>
          <p:spPr>
            <a:xfrm>
              <a:off x="6067100" y="1190579"/>
              <a:ext cx="2469000" cy="1852896"/>
            </a:xfrm>
            <a:prstGeom prst="rect">
              <a:avLst/>
            </a:prstGeom>
            <a:noFill/>
            <a:ln>
              <a:noFill/>
            </a:ln>
          </p:spPr>
        </p:pic>
      </p:grpSp>
      <p:sp>
        <p:nvSpPr>
          <p:cNvPr id="574" name="Google Shape;574;p31"/>
          <p:cNvSpPr txBox="1"/>
          <p:nvPr/>
        </p:nvSpPr>
        <p:spPr>
          <a:xfrm>
            <a:off x="6258975"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4,847,571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68,475,391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22,887</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28.5</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20</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L = 5.5</a:t>
            </a:r>
            <a:endParaRPr b="1" sz="1200">
              <a:latin typeface="Economica"/>
              <a:ea typeface="Economica"/>
              <a:cs typeface="Economica"/>
              <a:sym typeface="Economica"/>
            </a:endParaRPr>
          </a:p>
          <a:p>
            <a:pPr indent="0" lvl="0" marL="0" rtl="0" algn="l">
              <a:spcBef>
                <a:spcPts val="0"/>
              </a:spcBef>
              <a:spcAft>
                <a:spcPts val="0"/>
              </a:spcAft>
              <a:buNone/>
            </a:pPr>
            <a:r>
              <a:t/>
            </a:r>
            <a:endParaRPr b="1" sz="1200">
              <a:solidFill>
                <a:schemeClr val="dk1"/>
              </a:solidFill>
              <a:highlight>
                <a:srgbClr val="F4F4FF"/>
              </a:highlight>
              <a:latin typeface="Economica"/>
              <a:ea typeface="Economica"/>
              <a:cs typeface="Economica"/>
              <a:sym typeface="Economica"/>
            </a:endParaRPr>
          </a:p>
        </p:txBody>
      </p:sp>
      <p:sp>
        <p:nvSpPr>
          <p:cNvPr id="575" name="Google Shape;575;p31"/>
          <p:cNvSpPr txBox="1"/>
          <p:nvPr/>
        </p:nvSpPr>
        <p:spPr>
          <a:xfrm>
            <a:off x="448650"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63,731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817,035</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1,098 </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25.6</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15</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L = 4.3</a:t>
            </a:r>
            <a:endParaRPr b="1" sz="1200">
              <a:latin typeface="Economica"/>
              <a:ea typeface="Economica"/>
              <a:cs typeface="Economica"/>
              <a:sym typeface="Economica"/>
            </a:endParaRPr>
          </a:p>
          <a:p>
            <a:pPr indent="0" lvl="0" marL="0" rtl="0" algn="l">
              <a:spcBef>
                <a:spcPts val="0"/>
              </a:spcBef>
              <a:spcAft>
                <a:spcPts val="0"/>
              </a:spcAft>
              <a:buNone/>
            </a:pPr>
            <a:r>
              <a:t/>
            </a:r>
            <a:endParaRPr b="1" sz="1200">
              <a:latin typeface="Economica"/>
              <a:ea typeface="Economica"/>
              <a:cs typeface="Economica"/>
              <a:sym typeface="Economica"/>
            </a:endParaRPr>
          </a:p>
        </p:txBody>
      </p:sp>
      <p:sp>
        <p:nvSpPr>
          <p:cNvPr id="576" name="Google Shape;576;p31"/>
          <p:cNvSpPr txBox="1"/>
          <p:nvPr/>
        </p:nvSpPr>
        <p:spPr>
          <a:xfrm>
            <a:off x="3501900"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2539</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12,969</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36</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10.2</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10</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L = 4.5</a:t>
            </a:r>
            <a:endParaRPr b="1" sz="1200">
              <a:latin typeface="Economica"/>
              <a:ea typeface="Economica"/>
              <a:cs typeface="Economica"/>
              <a:sym typeface="Economica"/>
            </a:endParaRPr>
          </a:p>
          <a:p>
            <a:pPr indent="0" lvl="0" marL="0" rtl="0" algn="l">
              <a:spcBef>
                <a:spcPts val="0"/>
              </a:spcBef>
              <a:spcAft>
                <a:spcPts val="0"/>
              </a:spcAft>
              <a:buNone/>
            </a:pPr>
            <a:r>
              <a:t/>
            </a:r>
            <a:endParaRPr b="1" sz="1200">
              <a:latin typeface="Economica"/>
              <a:ea typeface="Economica"/>
              <a:cs typeface="Economica"/>
              <a:sym typeface="Economic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3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Path-based network properties</a:t>
            </a:r>
            <a:endParaRPr/>
          </a:p>
        </p:txBody>
      </p:sp>
      <p:grpSp>
        <p:nvGrpSpPr>
          <p:cNvPr id="582" name="Google Shape;582;p32"/>
          <p:cNvGrpSpPr/>
          <p:nvPr/>
        </p:nvGrpSpPr>
        <p:grpSpPr>
          <a:xfrm>
            <a:off x="459802" y="1147225"/>
            <a:ext cx="8224398" cy="2267500"/>
            <a:chOff x="311702" y="1147225"/>
            <a:chExt cx="8224398" cy="2267500"/>
          </a:xfrm>
        </p:grpSpPr>
        <p:sp>
          <p:nvSpPr>
            <p:cNvPr id="583" name="Google Shape;583;p32"/>
            <p:cNvSpPr txBox="1"/>
            <p:nvPr/>
          </p:nvSpPr>
          <p:spPr>
            <a:xfrm>
              <a:off x="321438"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Facebook Users</a:t>
              </a:r>
              <a:endParaRPr sz="1800">
                <a:latin typeface="Economica"/>
                <a:ea typeface="Economica"/>
                <a:cs typeface="Economica"/>
                <a:sym typeface="Economica"/>
              </a:endParaRPr>
            </a:p>
          </p:txBody>
        </p:sp>
        <p:pic>
          <p:nvPicPr>
            <p:cNvPr id="584" name="Google Shape;584;p32"/>
            <p:cNvPicPr preferRelativeResize="0"/>
            <p:nvPr/>
          </p:nvPicPr>
          <p:blipFill>
            <a:blip r:embed="rId3">
              <a:alphaModFix/>
            </a:blip>
            <a:stretch>
              <a:fillRect/>
            </a:stretch>
          </p:blipFill>
          <p:spPr>
            <a:xfrm>
              <a:off x="311702" y="1163800"/>
              <a:ext cx="2469000" cy="1939600"/>
            </a:xfrm>
            <a:prstGeom prst="rect">
              <a:avLst/>
            </a:prstGeom>
            <a:noFill/>
            <a:ln>
              <a:noFill/>
            </a:ln>
          </p:spPr>
        </p:pic>
        <p:pic>
          <p:nvPicPr>
            <p:cNvPr id="585" name="Google Shape;585;p32"/>
            <p:cNvPicPr preferRelativeResize="0"/>
            <p:nvPr/>
          </p:nvPicPr>
          <p:blipFill>
            <a:blip r:embed="rId4">
              <a:alphaModFix/>
            </a:blip>
            <a:stretch>
              <a:fillRect/>
            </a:stretch>
          </p:blipFill>
          <p:spPr>
            <a:xfrm>
              <a:off x="3125221" y="1147225"/>
              <a:ext cx="2597355" cy="1939600"/>
            </a:xfrm>
            <a:prstGeom prst="rect">
              <a:avLst/>
            </a:prstGeom>
            <a:noFill/>
            <a:ln>
              <a:noFill/>
            </a:ln>
          </p:spPr>
        </p:pic>
        <p:sp>
          <p:nvSpPr>
            <p:cNvPr id="586" name="Google Shape;586;p32"/>
            <p:cNvSpPr txBox="1"/>
            <p:nvPr/>
          </p:nvSpPr>
          <p:spPr>
            <a:xfrm>
              <a:off x="3199138"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Add Health Study (High School)</a:t>
              </a:r>
              <a:endParaRPr sz="1800">
                <a:latin typeface="Economica"/>
                <a:ea typeface="Economica"/>
                <a:cs typeface="Economica"/>
                <a:sym typeface="Economica"/>
              </a:endParaRPr>
            </a:p>
          </p:txBody>
        </p:sp>
        <p:sp>
          <p:nvSpPr>
            <p:cNvPr id="587" name="Google Shape;587;p32"/>
            <p:cNvSpPr txBox="1"/>
            <p:nvPr/>
          </p:nvSpPr>
          <p:spPr>
            <a:xfrm>
              <a:off x="6131763"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LiveJournal</a:t>
              </a:r>
              <a:endParaRPr sz="1800">
                <a:latin typeface="Economica"/>
                <a:ea typeface="Economica"/>
                <a:cs typeface="Economica"/>
                <a:sym typeface="Economica"/>
              </a:endParaRPr>
            </a:p>
          </p:txBody>
        </p:sp>
        <p:pic>
          <p:nvPicPr>
            <p:cNvPr id="588" name="Google Shape;588;p32"/>
            <p:cNvPicPr preferRelativeResize="0"/>
            <p:nvPr/>
          </p:nvPicPr>
          <p:blipFill>
            <a:blip r:embed="rId5">
              <a:alphaModFix/>
            </a:blip>
            <a:stretch>
              <a:fillRect/>
            </a:stretch>
          </p:blipFill>
          <p:spPr>
            <a:xfrm>
              <a:off x="6067100" y="1190579"/>
              <a:ext cx="2469000" cy="1852896"/>
            </a:xfrm>
            <a:prstGeom prst="rect">
              <a:avLst/>
            </a:prstGeom>
            <a:noFill/>
            <a:ln>
              <a:noFill/>
            </a:ln>
          </p:spPr>
        </p:pic>
      </p:grpSp>
      <p:sp>
        <p:nvSpPr>
          <p:cNvPr id="589" name="Google Shape;589;p32"/>
          <p:cNvSpPr txBox="1"/>
          <p:nvPr/>
        </p:nvSpPr>
        <p:spPr>
          <a:xfrm>
            <a:off x="6258975"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4,847,571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68,475,391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22,887</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28.5</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20</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L = 5.5</a:t>
            </a:r>
            <a:endParaRPr b="1" sz="1200">
              <a:latin typeface="Economica"/>
              <a:ea typeface="Economica"/>
              <a:cs typeface="Economica"/>
              <a:sym typeface="Economica"/>
            </a:endParaRPr>
          </a:p>
          <a:p>
            <a:pPr indent="0" lvl="0" marL="0" rtl="0" algn="l">
              <a:spcBef>
                <a:spcPts val="0"/>
              </a:spcBef>
              <a:spcAft>
                <a:spcPts val="0"/>
              </a:spcAft>
              <a:buNone/>
            </a:pPr>
            <a:r>
              <a:t/>
            </a:r>
            <a:endParaRPr b="1" sz="1200">
              <a:solidFill>
                <a:schemeClr val="dk1"/>
              </a:solidFill>
              <a:highlight>
                <a:srgbClr val="F4F4FF"/>
              </a:highlight>
              <a:latin typeface="Economica"/>
              <a:ea typeface="Economica"/>
              <a:cs typeface="Economica"/>
              <a:sym typeface="Economica"/>
            </a:endParaRPr>
          </a:p>
        </p:txBody>
      </p:sp>
      <p:sp>
        <p:nvSpPr>
          <p:cNvPr id="590" name="Google Shape;590;p32"/>
          <p:cNvSpPr txBox="1"/>
          <p:nvPr/>
        </p:nvSpPr>
        <p:spPr>
          <a:xfrm>
            <a:off x="448650"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63,731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817,035</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1,098 </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25.6</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15</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L = 4.3</a:t>
            </a:r>
            <a:endParaRPr b="1" sz="1200">
              <a:latin typeface="Economica"/>
              <a:ea typeface="Economica"/>
              <a:cs typeface="Economica"/>
              <a:sym typeface="Economica"/>
            </a:endParaRPr>
          </a:p>
          <a:p>
            <a:pPr indent="0" lvl="0" marL="0" rtl="0" algn="l">
              <a:spcBef>
                <a:spcPts val="0"/>
              </a:spcBef>
              <a:spcAft>
                <a:spcPts val="0"/>
              </a:spcAft>
              <a:buNone/>
            </a:pPr>
            <a:r>
              <a:t/>
            </a:r>
            <a:endParaRPr b="1" sz="1200">
              <a:latin typeface="Economica"/>
              <a:ea typeface="Economica"/>
              <a:cs typeface="Economica"/>
              <a:sym typeface="Economica"/>
            </a:endParaRPr>
          </a:p>
        </p:txBody>
      </p:sp>
      <p:sp>
        <p:nvSpPr>
          <p:cNvPr id="591" name="Google Shape;591;p32"/>
          <p:cNvSpPr txBox="1"/>
          <p:nvPr/>
        </p:nvSpPr>
        <p:spPr>
          <a:xfrm>
            <a:off x="3501900"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2539</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12,969</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36</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10.2</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10</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L = 4.5</a:t>
            </a:r>
            <a:endParaRPr b="1" sz="1200">
              <a:latin typeface="Economica"/>
              <a:ea typeface="Economica"/>
              <a:cs typeface="Economica"/>
              <a:sym typeface="Economica"/>
            </a:endParaRPr>
          </a:p>
          <a:p>
            <a:pPr indent="0" lvl="0" marL="0" rtl="0" algn="l">
              <a:spcBef>
                <a:spcPts val="0"/>
              </a:spcBef>
              <a:spcAft>
                <a:spcPts val="0"/>
              </a:spcAft>
              <a:buNone/>
            </a:pPr>
            <a:r>
              <a:t/>
            </a:r>
            <a:endParaRPr b="1" sz="1200">
              <a:latin typeface="Economica"/>
              <a:ea typeface="Economica"/>
              <a:cs typeface="Economica"/>
              <a:sym typeface="Economica"/>
            </a:endParaRPr>
          </a:p>
        </p:txBody>
      </p:sp>
      <p:sp>
        <p:nvSpPr>
          <p:cNvPr id="592" name="Google Shape;592;p32"/>
          <p:cNvSpPr/>
          <p:nvPr/>
        </p:nvSpPr>
        <p:spPr>
          <a:xfrm>
            <a:off x="328050" y="4359900"/>
            <a:ext cx="707100" cy="2829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32"/>
          <p:cNvSpPr/>
          <p:nvPr/>
        </p:nvSpPr>
        <p:spPr>
          <a:xfrm>
            <a:off x="3418675" y="4359900"/>
            <a:ext cx="707100" cy="2829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32"/>
          <p:cNvSpPr/>
          <p:nvPr/>
        </p:nvSpPr>
        <p:spPr>
          <a:xfrm>
            <a:off x="6200675" y="4388225"/>
            <a:ext cx="707100" cy="2829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32"/>
          <p:cNvSpPr txBox="1"/>
          <p:nvPr/>
        </p:nvSpPr>
        <p:spPr>
          <a:xfrm>
            <a:off x="1485350" y="3999850"/>
            <a:ext cx="1157400" cy="67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L is small!</a:t>
            </a:r>
            <a:endParaRPr b="1">
              <a:solidFill>
                <a:srgbClr val="FF0000"/>
              </a:solidFill>
              <a:latin typeface="Open Sans"/>
              <a:ea typeface="Open Sans"/>
              <a:cs typeface="Open Sans"/>
              <a:sym typeface="Open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3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Path-based network properties</a:t>
            </a:r>
            <a:endParaRPr/>
          </a:p>
        </p:txBody>
      </p:sp>
      <p:sp>
        <p:nvSpPr>
          <p:cNvPr id="601" name="Google Shape;601;p33"/>
          <p:cNvSpPr/>
          <p:nvPr/>
        </p:nvSpPr>
        <p:spPr>
          <a:xfrm>
            <a:off x="572150" y="34605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602" name="Google Shape;602;p33"/>
          <p:cNvSpPr/>
          <p:nvPr/>
        </p:nvSpPr>
        <p:spPr>
          <a:xfrm>
            <a:off x="1573317" y="25114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603" name="Google Shape;603;p33"/>
          <p:cNvSpPr/>
          <p:nvPr/>
        </p:nvSpPr>
        <p:spPr>
          <a:xfrm>
            <a:off x="1573317" y="34605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604" name="Google Shape;604;p33"/>
          <p:cNvSpPr/>
          <p:nvPr/>
        </p:nvSpPr>
        <p:spPr>
          <a:xfrm>
            <a:off x="2574483" y="34605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605" name="Google Shape;605;p33"/>
          <p:cNvSpPr/>
          <p:nvPr/>
        </p:nvSpPr>
        <p:spPr>
          <a:xfrm>
            <a:off x="1573317" y="43422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graphicFrame>
        <p:nvGraphicFramePr>
          <p:cNvPr id="606" name="Google Shape;606;p33"/>
          <p:cNvGraphicFramePr/>
          <p:nvPr/>
        </p:nvGraphicFramePr>
        <p:xfrm>
          <a:off x="6210600" y="2506375"/>
          <a:ext cx="3000000" cy="3000000"/>
        </p:xfrm>
        <a:graphic>
          <a:graphicData uri="http://schemas.openxmlformats.org/drawingml/2006/table">
            <a:tbl>
              <a:tblPr>
                <a:noFill/>
                <a:tableStyleId>{9C004714-7C27-400D-AF19-6A7FADFF251D}</a:tableStyleId>
              </a:tblPr>
              <a:tblGrid>
                <a:gridCol w="413950"/>
                <a:gridCol w="413950"/>
                <a:gridCol w="413950"/>
                <a:gridCol w="413950"/>
                <a:gridCol w="413950"/>
                <a:gridCol w="413950"/>
              </a:tblGrid>
              <a:tr h="3477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E</a:t>
                      </a:r>
                      <a:endParaRPr/>
                    </a:p>
                  </a:txBody>
                  <a:tcPr marT="91425" marB="91425" marR="91425" marL="91425"/>
                </a:tc>
              </a:tr>
              <a:tr h="347725">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47725">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47725">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47725">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r h="347725">
                <a:tc>
                  <a:txBody>
                    <a:bodyPr/>
                    <a:lstStyle/>
                    <a:p>
                      <a:pPr indent="0" lvl="0" marL="0" rtl="0" algn="l">
                        <a:spcBef>
                          <a:spcPts val="0"/>
                        </a:spcBef>
                        <a:spcAft>
                          <a:spcPts val="0"/>
                        </a:spcAft>
                        <a:buNone/>
                      </a:pPr>
                      <a:r>
                        <a:rPr lang="en"/>
                        <a:t>E</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r>
            </a:tbl>
          </a:graphicData>
        </a:graphic>
      </p:graphicFrame>
      <p:cxnSp>
        <p:nvCxnSpPr>
          <p:cNvPr id="607" name="Google Shape;607;p33"/>
          <p:cNvCxnSpPr>
            <a:stCxn id="602" idx="4"/>
            <a:endCxn id="603" idx="0"/>
          </p:cNvCxnSpPr>
          <p:nvPr/>
        </p:nvCxnSpPr>
        <p:spPr>
          <a:xfrm>
            <a:off x="1811667" y="29575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608" name="Google Shape;608;p33"/>
          <p:cNvCxnSpPr>
            <a:stCxn id="602" idx="5"/>
            <a:endCxn id="604" idx="1"/>
          </p:cNvCxnSpPr>
          <p:nvPr/>
        </p:nvCxnSpPr>
        <p:spPr>
          <a:xfrm>
            <a:off x="1980205" y="28921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609" name="Google Shape;609;p33"/>
          <p:cNvCxnSpPr>
            <a:stCxn id="603" idx="2"/>
            <a:endCxn id="601" idx="6"/>
          </p:cNvCxnSpPr>
          <p:nvPr/>
        </p:nvCxnSpPr>
        <p:spPr>
          <a:xfrm rot="10800000">
            <a:off x="1048917" y="3683570"/>
            <a:ext cx="524400" cy="0"/>
          </a:xfrm>
          <a:prstGeom prst="straightConnector1">
            <a:avLst/>
          </a:prstGeom>
          <a:noFill/>
          <a:ln cap="flat" cmpd="sng" w="28575">
            <a:solidFill>
              <a:srgbClr val="666666"/>
            </a:solidFill>
            <a:prstDash val="solid"/>
            <a:round/>
            <a:headEnd len="med" w="med" type="none"/>
            <a:tailEnd len="med" w="med" type="none"/>
          </a:ln>
        </p:spPr>
      </p:cxnSp>
      <p:sp>
        <p:nvSpPr>
          <p:cNvPr id="610" name="Google Shape;610;p33"/>
          <p:cNvSpPr txBox="1"/>
          <p:nvPr>
            <p:ph idx="1" type="body"/>
          </p:nvPr>
        </p:nvSpPr>
        <p:spPr>
          <a:xfrm>
            <a:off x="311700" y="1225225"/>
            <a:ext cx="8520600" cy="1202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The </a:t>
            </a:r>
            <a:r>
              <a:rPr b="1" lang="en"/>
              <a:t>reachability matrix</a:t>
            </a:r>
            <a:r>
              <a:rPr lang="en"/>
              <a:t> of a graph has a one in each cell if the corresponding pair of nodes are connected via a path of some length</a:t>
            </a:r>
            <a:endParaRPr/>
          </a:p>
        </p:txBody>
      </p:sp>
      <p:sp>
        <p:nvSpPr>
          <p:cNvPr id="611" name="Google Shape;611;p33"/>
          <p:cNvSpPr/>
          <p:nvPr/>
        </p:nvSpPr>
        <p:spPr>
          <a:xfrm>
            <a:off x="3807200" y="3120775"/>
            <a:ext cx="1638600" cy="831300"/>
          </a:xfrm>
          <a:prstGeom prst="striped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33"/>
          <p:cNvSpPr txBox="1"/>
          <p:nvPr/>
        </p:nvSpPr>
        <p:spPr>
          <a:xfrm>
            <a:off x="6199800" y="2060325"/>
            <a:ext cx="2473500" cy="36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Reachability matrix</a:t>
            </a:r>
            <a:endParaRPr sz="1800">
              <a:latin typeface="Economica"/>
              <a:ea typeface="Economica"/>
              <a:cs typeface="Economica"/>
              <a:sym typeface="Economic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3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Path-based network properties</a:t>
            </a:r>
            <a:endParaRPr/>
          </a:p>
        </p:txBody>
      </p:sp>
      <p:sp>
        <p:nvSpPr>
          <p:cNvPr id="618" name="Google Shape;618;p34"/>
          <p:cNvSpPr txBox="1"/>
          <p:nvPr>
            <p:ph idx="1" type="body"/>
          </p:nvPr>
        </p:nvSpPr>
        <p:spPr>
          <a:xfrm>
            <a:off x="311700" y="1225225"/>
            <a:ext cx="8520600" cy="1782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Connectedness</a:t>
            </a:r>
            <a:r>
              <a:rPr lang="en"/>
              <a:t> (C) is the pairwise connectivity of nodes in a network</a:t>
            </a:r>
            <a:endParaRPr/>
          </a:p>
          <a:p>
            <a:pPr indent="-317500" lvl="1" marL="914400" rtl="0" algn="l">
              <a:spcBef>
                <a:spcPts val="0"/>
              </a:spcBef>
              <a:spcAft>
                <a:spcPts val="0"/>
              </a:spcAft>
              <a:buSzPts val="1400"/>
              <a:buChar char="○"/>
            </a:pPr>
            <a:r>
              <a:rPr lang="en"/>
              <a:t>Defined as one minus the number of pairs that </a:t>
            </a:r>
            <a:r>
              <a:rPr b="1" lang="en"/>
              <a:t>cannot</a:t>
            </a:r>
            <a:r>
              <a:rPr lang="en"/>
              <a:t> reach one another (V) divided by the total number of possible pairs:</a:t>
            </a:r>
            <a:endParaRPr/>
          </a:p>
          <a:p>
            <a:pPr indent="0" lvl="0" marL="914400" rtl="0" algn="l">
              <a:spcBef>
                <a:spcPts val="1600"/>
              </a:spcBef>
              <a:spcAft>
                <a:spcPts val="1600"/>
              </a:spcAft>
              <a:buNone/>
            </a:pPr>
            <a:r>
              <a:t/>
            </a:r>
            <a:endParaRPr/>
          </a:p>
        </p:txBody>
      </p:sp>
      <p:sp>
        <p:nvSpPr>
          <p:cNvPr id="619" name="Google Shape;619;p34"/>
          <p:cNvSpPr/>
          <p:nvPr/>
        </p:nvSpPr>
        <p:spPr>
          <a:xfrm>
            <a:off x="572150" y="34605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620" name="Google Shape;620;p34"/>
          <p:cNvSpPr/>
          <p:nvPr/>
        </p:nvSpPr>
        <p:spPr>
          <a:xfrm>
            <a:off x="1573317" y="25114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621" name="Google Shape;621;p34"/>
          <p:cNvSpPr/>
          <p:nvPr/>
        </p:nvSpPr>
        <p:spPr>
          <a:xfrm>
            <a:off x="1573317" y="34605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622" name="Google Shape;622;p34"/>
          <p:cNvSpPr/>
          <p:nvPr/>
        </p:nvSpPr>
        <p:spPr>
          <a:xfrm>
            <a:off x="2574483" y="34605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623" name="Google Shape;623;p34"/>
          <p:cNvSpPr/>
          <p:nvPr/>
        </p:nvSpPr>
        <p:spPr>
          <a:xfrm>
            <a:off x="1573317" y="43422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graphicFrame>
        <p:nvGraphicFramePr>
          <p:cNvPr id="624" name="Google Shape;624;p34"/>
          <p:cNvGraphicFramePr/>
          <p:nvPr/>
        </p:nvGraphicFramePr>
        <p:xfrm>
          <a:off x="6210600" y="2506375"/>
          <a:ext cx="3000000" cy="3000000"/>
        </p:xfrm>
        <a:graphic>
          <a:graphicData uri="http://schemas.openxmlformats.org/drawingml/2006/table">
            <a:tbl>
              <a:tblPr>
                <a:noFill/>
                <a:tableStyleId>{9C004714-7C27-400D-AF19-6A7FADFF251D}</a:tableStyleId>
              </a:tblPr>
              <a:tblGrid>
                <a:gridCol w="413950"/>
                <a:gridCol w="413950"/>
                <a:gridCol w="413950"/>
                <a:gridCol w="413950"/>
                <a:gridCol w="413950"/>
                <a:gridCol w="413950"/>
              </a:tblGrid>
              <a:tr h="3477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E</a:t>
                      </a:r>
                      <a:endParaRPr/>
                    </a:p>
                  </a:txBody>
                  <a:tcPr marT="91425" marB="91425" marR="91425" marL="91425"/>
                </a:tc>
              </a:tr>
              <a:tr h="347725">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47725">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47725">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47725">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r h="347725">
                <a:tc>
                  <a:txBody>
                    <a:bodyPr/>
                    <a:lstStyle/>
                    <a:p>
                      <a:pPr indent="0" lvl="0" marL="0" rtl="0" algn="l">
                        <a:spcBef>
                          <a:spcPts val="0"/>
                        </a:spcBef>
                        <a:spcAft>
                          <a:spcPts val="0"/>
                        </a:spcAft>
                        <a:buNone/>
                      </a:pPr>
                      <a:r>
                        <a:rPr lang="en"/>
                        <a:t>E</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r>
            </a:tbl>
          </a:graphicData>
        </a:graphic>
      </p:graphicFrame>
      <p:cxnSp>
        <p:nvCxnSpPr>
          <p:cNvPr id="625" name="Google Shape;625;p34"/>
          <p:cNvCxnSpPr>
            <a:stCxn id="620" idx="4"/>
            <a:endCxn id="621" idx="0"/>
          </p:cNvCxnSpPr>
          <p:nvPr/>
        </p:nvCxnSpPr>
        <p:spPr>
          <a:xfrm>
            <a:off x="1811667" y="29575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626" name="Google Shape;626;p34"/>
          <p:cNvCxnSpPr>
            <a:stCxn id="620" idx="5"/>
            <a:endCxn id="622" idx="1"/>
          </p:cNvCxnSpPr>
          <p:nvPr/>
        </p:nvCxnSpPr>
        <p:spPr>
          <a:xfrm>
            <a:off x="1980205" y="28921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627" name="Google Shape;627;p34"/>
          <p:cNvCxnSpPr>
            <a:stCxn id="621" idx="2"/>
            <a:endCxn id="619" idx="6"/>
          </p:cNvCxnSpPr>
          <p:nvPr/>
        </p:nvCxnSpPr>
        <p:spPr>
          <a:xfrm rot="10800000">
            <a:off x="1048917" y="3683570"/>
            <a:ext cx="524400" cy="0"/>
          </a:xfrm>
          <a:prstGeom prst="straightConnector1">
            <a:avLst/>
          </a:prstGeom>
          <a:noFill/>
          <a:ln cap="flat" cmpd="sng" w="28575">
            <a:solidFill>
              <a:srgbClr val="666666"/>
            </a:solidFill>
            <a:prstDash val="solid"/>
            <a:round/>
            <a:headEnd len="med" w="med" type="none"/>
            <a:tailEnd len="med" w="med" type="none"/>
          </a:ln>
        </p:spPr>
      </p:cxnSp>
      <p:pic>
        <p:nvPicPr>
          <p:cNvPr descr="C =1 - \left[\frac{V}{(N(N-1))/2}\right]" id="628" name="Google Shape;628;p34" title="MathEquation,#000000"/>
          <p:cNvPicPr preferRelativeResize="0"/>
          <p:nvPr/>
        </p:nvPicPr>
        <p:blipFill>
          <a:blip r:embed="rId3">
            <a:alphaModFix/>
          </a:blip>
          <a:stretch>
            <a:fillRect/>
          </a:stretch>
        </p:blipFill>
        <p:spPr>
          <a:xfrm>
            <a:off x="2987450" y="2511427"/>
            <a:ext cx="2880090" cy="633600"/>
          </a:xfrm>
          <a:prstGeom prst="rect">
            <a:avLst/>
          </a:prstGeom>
          <a:noFill/>
          <a:ln>
            <a:noFill/>
          </a:ln>
        </p:spPr>
      </p:pic>
      <p:sp>
        <p:nvSpPr>
          <p:cNvPr id="629" name="Google Shape;629;p34"/>
          <p:cNvSpPr txBox="1"/>
          <p:nvPr/>
        </p:nvSpPr>
        <p:spPr>
          <a:xfrm>
            <a:off x="6199800" y="2060325"/>
            <a:ext cx="2473500" cy="36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Reachability matrix</a:t>
            </a:r>
            <a:endParaRPr sz="1800">
              <a:latin typeface="Economica"/>
              <a:ea typeface="Economica"/>
              <a:cs typeface="Economica"/>
              <a:sym typeface="Economic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3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Path-based network properties</a:t>
            </a:r>
            <a:endParaRPr/>
          </a:p>
        </p:txBody>
      </p:sp>
      <p:sp>
        <p:nvSpPr>
          <p:cNvPr id="635" name="Google Shape;635;p35"/>
          <p:cNvSpPr txBox="1"/>
          <p:nvPr>
            <p:ph idx="1" type="body"/>
          </p:nvPr>
        </p:nvSpPr>
        <p:spPr>
          <a:xfrm>
            <a:off x="311700" y="1225225"/>
            <a:ext cx="8520600" cy="1782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Connectedness</a:t>
            </a:r>
            <a:r>
              <a:rPr lang="en"/>
              <a:t> (C) is the pairwise connectivity of nodes in a network</a:t>
            </a:r>
            <a:endParaRPr/>
          </a:p>
          <a:p>
            <a:pPr indent="-317500" lvl="1" marL="914400" rtl="0" algn="l">
              <a:spcBef>
                <a:spcPts val="0"/>
              </a:spcBef>
              <a:spcAft>
                <a:spcPts val="0"/>
              </a:spcAft>
              <a:buSzPts val="1400"/>
              <a:buChar char="○"/>
            </a:pPr>
            <a:r>
              <a:rPr lang="en"/>
              <a:t>Defined as one minus the number of pairs that </a:t>
            </a:r>
            <a:r>
              <a:rPr b="1" lang="en"/>
              <a:t>cannot</a:t>
            </a:r>
            <a:r>
              <a:rPr lang="en"/>
              <a:t> reach one another (V) divided by the total number of possible pairs:</a:t>
            </a:r>
            <a:endParaRPr/>
          </a:p>
          <a:p>
            <a:pPr indent="0" lvl="0" marL="0" rtl="0" algn="l">
              <a:spcBef>
                <a:spcPts val="1600"/>
              </a:spcBef>
              <a:spcAft>
                <a:spcPts val="1600"/>
              </a:spcAft>
              <a:buNone/>
            </a:pPr>
            <a:r>
              <a:t/>
            </a:r>
            <a:endParaRPr/>
          </a:p>
        </p:txBody>
      </p:sp>
      <p:sp>
        <p:nvSpPr>
          <p:cNvPr id="636" name="Google Shape;636;p35"/>
          <p:cNvSpPr/>
          <p:nvPr/>
        </p:nvSpPr>
        <p:spPr>
          <a:xfrm>
            <a:off x="572150" y="34605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637" name="Google Shape;637;p35"/>
          <p:cNvSpPr/>
          <p:nvPr/>
        </p:nvSpPr>
        <p:spPr>
          <a:xfrm>
            <a:off x="1573317" y="25114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638" name="Google Shape;638;p35"/>
          <p:cNvSpPr/>
          <p:nvPr/>
        </p:nvSpPr>
        <p:spPr>
          <a:xfrm>
            <a:off x="1573317" y="34605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639" name="Google Shape;639;p35"/>
          <p:cNvSpPr/>
          <p:nvPr/>
        </p:nvSpPr>
        <p:spPr>
          <a:xfrm>
            <a:off x="2574483" y="34605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640" name="Google Shape;640;p35"/>
          <p:cNvSpPr/>
          <p:nvPr/>
        </p:nvSpPr>
        <p:spPr>
          <a:xfrm>
            <a:off x="1573317" y="43422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graphicFrame>
        <p:nvGraphicFramePr>
          <p:cNvPr id="641" name="Google Shape;641;p35"/>
          <p:cNvGraphicFramePr/>
          <p:nvPr/>
        </p:nvGraphicFramePr>
        <p:xfrm>
          <a:off x="6210600" y="2506375"/>
          <a:ext cx="3000000" cy="3000000"/>
        </p:xfrm>
        <a:graphic>
          <a:graphicData uri="http://schemas.openxmlformats.org/drawingml/2006/table">
            <a:tbl>
              <a:tblPr>
                <a:noFill/>
                <a:tableStyleId>{9C004714-7C27-400D-AF19-6A7FADFF251D}</a:tableStyleId>
              </a:tblPr>
              <a:tblGrid>
                <a:gridCol w="413950"/>
                <a:gridCol w="413950"/>
                <a:gridCol w="413950"/>
                <a:gridCol w="413950"/>
                <a:gridCol w="413950"/>
                <a:gridCol w="413950"/>
              </a:tblGrid>
              <a:tr h="3477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E</a:t>
                      </a:r>
                      <a:endParaRPr/>
                    </a:p>
                  </a:txBody>
                  <a:tcPr marT="91425" marB="91425" marR="91425" marL="91425"/>
                </a:tc>
              </a:tr>
              <a:tr h="347725">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47725">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47725">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47725">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r h="347725">
                <a:tc>
                  <a:txBody>
                    <a:bodyPr/>
                    <a:lstStyle/>
                    <a:p>
                      <a:pPr indent="0" lvl="0" marL="0" rtl="0" algn="l">
                        <a:spcBef>
                          <a:spcPts val="0"/>
                        </a:spcBef>
                        <a:spcAft>
                          <a:spcPts val="0"/>
                        </a:spcAft>
                        <a:buNone/>
                      </a:pPr>
                      <a:r>
                        <a:rPr lang="en"/>
                        <a:t>E</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r>
            </a:tbl>
          </a:graphicData>
        </a:graphic>
      </p:graphicFrame>
      <p:cxnSp>
        <p:nvCxnSpPr>
          <p:cNvPr id="642" name="Google Shape;642;p35"/>
          <p:cNvCxnSpPr>
            <a:stCxn id="637" idx="4"/>
            <a:endCxn id="638" idx="0"/>
          </p:cNvCxnSpPr>
          <p:nvPr/>
        </p:nvCxnSpPr>
        <p:spPr>
          <a:xfrm>
            <a:off x="1811667" y="2957525"/>
            <a:ext cx="0" cy="503100"/>
          </a:xfrm>
          <a:prstGeom prst="straightConnector1">
            <a:avLst/>
          </a:prstGeom>
          <a:noFill/>
          <a:ln cap="flat" cmpd="sng" w="28575">
            <a:solidFill>
              <a:srgbClr val="666666"/>
            </a:solidFill>
            <a:prstDash val="solid"/>
            <a:round/>
            <a:headEnd len="med" w="med" type="none"/>
            <a:tailEnd len="med" w="med" type="none"/>
          </a:ln>
        </p:spPr>
      </p:cxnSp>
      <p:cxnSp>
        <p:nvCxnSpPr>
          <p:cNvPr id="643" name="Google Shape;643;p35"/>
          <p:cNvCxnSpPr>
            <a:stCxn id="637" idx="5"/>
            <a:endCxn id="639" idx="1"/>
          </p:cNvCxnSpPr>
          <p:nvPr/>
        </p:nvCxnSpPr>
        <p:spPr>
          <a:xfrm>
            <a:off x="1980205" y="2892195"/>
            <a:ext cx="664200" cy="633600"/>
          </a:xfrm>
          <a:prstGeom prst="straightConnector1">
            <a:avLst/>
          </a:prstGeom>
          <a:noFill/>
          <a:ln cap="flat" cmpd="sng" w="28575">
            <a:solidFill>
              <a:srgbClr val="666666"/>
            </a:solidFill>
            <a:prstDash val="solid"/>
            <a:round/>
            <a:headEnd len="med" w="med" type="none"/>
            <a:tailEnd len="med" w="med" type="none"/>
          </a:ln>
        </p:spPr>
      </p:cxnSp>
      <p:cxnSp>
        <p:nvCxnSpPr>
          <p:cNvPr id="644" name="Google Shape;644;p35"/>
          <p:cNvCxnSpPr>
            <a:stCxn id="638" idx="2"/>
            <a:endCxn id="636" idx="6"/>
          </p:cNvCxnSpPr>
          <p:nvPr/>
        </p:nvCxnSpPr>
        <p:spPr>
          <a:xfrm rot="10800000">
            <a:off x="1048917" y="3683570"/>
            <a:ext cx="524400" cy="0"/>
          </a:xfrm>
          <a:prstGeom prst="straightConnector1">
            <a:avLst/>
          </a:prstGeom>
          <a:noFill/>
          <a:ln cap="flat" cmpd="sng" w="28575">
            <a:solidFill>
              <a:srgbClr val="666666"/>
            </a:solidFill>
            <a:prstDash val="solid"/>
            <a:round/>
            <a:headEnd len="med" w="med" type="none"/>
            <a:tailEnd len="med" w="med" type="none"/>
          </a:ln>
        </p:spPr>
      </p:cxnSp>
      <p:pic>
        <p:nvPicPr>
          <p:cNvPr descr="C =1 - \left[\frac{V}{(N(N-1))/2}\right]" id="645" name="Google Shape;645;p35" title="MathEquation,#000000"/>
          <p:cNvPicPr preferRelativeResize="0"/>
          <p:nvPr/>
        </p:nvPicPr>
        <p:blipFill>
          <a:blip r:embed="rId3">
            <a:alphaModFix/>
          </a:blip>
          <a:stretch>
            <a:fillRect/>
          </a:stretch>
        </p:blipFill>
        <p:spPr>
          <a:xfrm>
            <a:off x="2987450" y="2511427"/>
            <a:ext cx="2880090" cy="633600"/>
          </a:xfrm>
          <a:prstGeom prst="rect">
            <a:avLst/>
          </a:prstGeom>
          <a:noFill/>
          <a:ln>
            <a:noFill/>
          </a:ln>
        </p:spPr>
      </p:pic>
      <p:pic>
        <p:nvPicPr>
          <p:cNvPr descr="C =1 - \left[\frac{4}{(5(5-1))/2}\right]= 1 -\frac{4}{10}=0.6" id="646" name="Google Shape;646;p35" title="MathEquation,#000000"/>
          <p:cNvPicPr preferRelativeResize="0"/>
          <p:nvPr/>
        </p:nvPicPr>
        <p:blipFill>
          <a:blip r:embed="rId4">
            <a:alphaModFix/>
          </a:blip>
          <a:stretch>
            <a:fillRect/>
          </a:stretch>
        </p:blipFill>
        <p:spPr>
          <a:xfrm>
            <a:off x="2294622" y="4222125"/>
            <a:ext cx="3833146" cy="503100"/>
          </a:xfrm>
          <a:prstGeom prst="rect">
            <a:avLst/>
          </a:prstGeom>
          <a:noFill/>
          <a:ln>
            <a:noFill/>
          </a:ln>
        </p:spPr>
      </p:pic>
      <p:sp>
        <p:nvSpPr>
          <p:cNvPr id="647" name="Google Shape;647;p35"/>
          <p:cNvSpPr txBox="1"/>
          <p:nvPr/>
        </p:nvSpPr>
        <p:spPr>
          <a:xfrm>
            <a:off x="6199800" y="2060325"/>
            <a:ext cx="2473500" cy="36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Reachability matrix</a:t>
            </a:r>
            <a:endParaRPr sz="1800">
              <a:latin typeface="Economica"/>
              <a:ea typeface="Economica"/>
              <a:cs typeface="Economica"/>
              <a:sym typeface="Economic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3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Path-based network properties</a:t>
            </a:r>
            <a:endParaRPr/>
          </a:p>
        </p:txBody>
      </p:sp>
      <p:sp>
        <p:nvSpPr>
          <p:cNvPr id="653" name="Google Shape;653;p36"/>
          <p:cNvSpPr txBox="1"/>
          <p:nvPr>
            <p:ph idx="1" type="body"/>
          </p:nvPr>
        </p:nvSpPr>
        <p:spPr>
          <a:xfrm>
            <a:off x="311700" y="1225225"/>
            <a:ext cx="8520600" cy="1782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Hierarchy</a:t>
            </a:r>
            <a:r>
              <a:rPr lang="en"/>
              <a:t> (H) measures </a:t>
            </a:r>
            <a:r>
              <a:rPr b="1" lang="en"/>
              <a:t>anti-symmetry</a:t>
            </a:r>
            <a:r>
              <a:rPr lang="en"/>
              <a:t> in a network</a:t>
            </a:r>
            <a:endParaRPr/>
          </a:p>
          <a:p>
            <a:pPr indent="0" lvl="0" marL="457200" rtl="0" algn="l">
              <a:spcBef>
                <a:spcPts val="1600"/>
              </a:spcBef>
              <a:spcAft>
                <a:spcPts val="0"/>
              </a:spcAft>
              <a:buNone/>
            </a:pPr>
            <a:r>
              <a:t/>
            </a:r>
            <a:endParaRPr/>
          </a:p>
          <a:p>
            <a:pPr indent="0" lvl="0" marL="914400" rtl="0" algn="l">
              <a:spcBef>
                <a:spcPts val="1600"/>
              </a:spcBef>
              <a:spcAft>
                <a:spcPts val="1600"/>
              </a:spcAft>
              <a:buNone/>
            </a:pPr>
            <a:r>
              <a:t/>
            </a:r>
            <a:endParaRPr/>
          </a:p>
        </p:txBody>
      </p:sp>
      <p:sp>
        <p:nvSpPr>
          <p:cNvPr id="654" name="Google Shape;654;p36"/>
          <p:cNvSpPr/>
          <p:nvPr/>
        </p:nvSpPr>
        <p:spPr>
          <a:xfrm>
            <a:off x="572225" y="434227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655" name="Google Shape;655;p36"/>
          <p:cNvSpPr/>
          <p:nvPr/>
        </p:nvSpPr>
        <p:spPr>
          <a:xfrm>
            <a:off x="1573317" y="25114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656" name="Google Shape;656;p36"/>
          <p:cNvSpPr/>
          <p:nvPr/>
        </p:nvSpPr>
        <p:spPr>
          <a:xfrm>
            <a:off x="1573317" y="34268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657" name="Google Shape;657;p36"/>
          <p:cNvSpPr/>
          <p:nvPr/>
        </p:nvSpPr>
        <p:spPr>
          <a:xfrm>
            <a:off x="2574483" y="34605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658" name="Google Shape;658;p36"/>
          <p:cNvSpPr/>
          <p:nvPr/>
        </p:nvSpPr>
        <p:spPr>
          <a:xfrm>
            <a:off x="1573317" y="43422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graphicFrame>
        <p:nvGraphicFramePr>
          <p:cNvPr id="659" name="Google Shape;659;p36"/>
          <p:cNvGraphicFramePr/>
          <p:nvPr/>
        </p:nvGraphicFramePr>
        <p:xfrm>
          <a:off x="6210600" y="2506375"/>
          <a:ext cx="3000000" cy="3000000"/>
        </p:xfrm>
        <a:graphic>
          <a:graphicData uri="http://schemas.openxmlformats.org/drawingml/2006/table">
            <a:tbl>
              <a:tblPr>
                <a:noFill/>
                <a:tableStyleId>{9C004714-7C27-400D-AF19-6A7FADFF251D}</a:tableStyleId>
              </a:tblPr>
              <a:tblGrid>
                <a:gridCol w="413950"/>
                <a:gridCol w="413950"/>
                <a:gridCol w="413950"/>
                <a:gridCol w="413950"/>
                <a:gridCol w="413950"/>
                <a:gridCol w="413950"/>
              </a:tblGrid>
              <a:tr h="3477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B</a:t>
                      </a:r>
                      <a:endParaRPr/>
                    </a:p>
                  </a:txBody>
                  <a:tcPr marT="91425" marB="91425" marR="91425" marL="91425">
                    <a:lnB cap="flat" cmpd="sng" w="9525">
                      <a:solidFill>
                        <a:srgbClr val="999999"/>
                      </a:solidFill>
                      <a:prstDash val="solid"/>
                      <a:round/>
                      <a:headEnd len="sm" w="sm" type="none"/>
                      <a:tailEnd len="sm" w="sm" type="none"/>
                    </a:lnB>
                  </a:tcPr>
                </a:tc>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E</a:t>
                      </a:r>
                      <a:endParaRPr/>
                    </a:p>
                  </a:txBody>
                  <a:tcPr marT="91425" marB="91425" marR="91425" marL="91425"/>
                </a:tc>
              </a:tr>
              <a:tr h="347725">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lnR cap="flat" cmpd="sng" w="9525">
                      <a:solidFill>
                        <a:srgbClr val="999999"/>
                      </a:solidFill>
                      <a:prstDash val="solid"/>
                      <a:round/>
                      <a:headEnd len="sm" w="sm" type="none"/>
                      <a:tailEnd len="sm" w="sm" type="none"/>
                    </a:lnR>
                  </a:tcPr>
                </a:tc>
                <a:tc>
                  <a:txBody>
                    <a:bodyPr/>
                    <a:lstStyle/>
                    <a:p>
                      <a:pPr indent="0" lvl="0" marL="0" rtl="0" algn="l">
                        <a:spcBef>
                          <a:spcPts val="0"/>
                        </a:spcBef>
                        <a:spcAft>
                          <a:spcPts val="0"/>
                        </a:spcAft>
                        <a:buNone/>
                      </a:pPr>
                      <a:r>
                        <a:rPr b="1" lang="en">
                          <a:solidFill>
                            <a:srgbClr val="0000FF"/>
                          </a:solidFill>
                        </a:rPr>
                        <a:t>1</a:t>
                      </a:r>
                      <a:endParaRPr b="1">
                        <a:solidFill>
                          <a:srgbClr val="0000FF"/>
                        </a:solidFill>
                      </a:endParaRPr>
                    </a:p>
                  </a:txBody>
                  <a:tcPr marT="91425" marB="91425" marR="91425" marL="91425">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CE5CD"/>
                    </a:solidFill>
                  </a:tcPr>
                </a:tc>
                <a:tc>
                  <a:txBody>
                    <a:bodyPr/>
                    <a:lstStyle/>
                    <a:p>
                      <a:pPr indent="0" lvl="0" marL="0" rtl="0" algn="l">
                        <a:spcBef>
                          <a:spcPts val="0"/>
                        </a:spcBef>
                        <a:spcAft>
                          <a:spcPts val="0"/>
                        </a:spcAft>
                        <a:buNone/>
                      </a:pPr>
                      <a:r>
                        <a:rPr b="1" lang="en">
                          <a:solidFill>
                            <a:srgbClr val="0000FF"/>
                          </a:solidFill>
                        </a:rPr>
                        <a:t>1</a:t>
                      </a:r>
                      <a:endParaRPr b="1">
                        <a:solidFill>
                          <a:srgbClr val="0000FF"/>
                        </a:solidFill>
                      </a:endParaRPr>
                    </a:p>
                  </a:txBody>
                  <a:tcPr marT="91425" marB="91425" marR="91425" marL="91425">
                    <a:lnL cap="flat" cmpd="sng" w="9525">
                      <a:solidFill>
                        <a:srgbClr val="999999"/>
                      </a:solidFill>
                      <a:prstDash val="solid"/>
                      <a:round/>
                      <a:headEnd len="sm" w="sm" type="none"/>
                      <a:tailEnd len="sm" w="sm" type="none"/>
                    </a:lnL>
                    <a:solidFill>
                      <a:srgbClr val="FCE5CD"/>
                    </a:solidFill>
                  </a:tcPr>
                </a:tc>
                <a:tc>
                  <a:txBody>
                    <a:bodyPr/>
                    <a:lstStyle/>
                    <a:p>
                      <a:pPr indent="0" lvl="0" marL="0" rtl="0" algn="l">
                        <a:spcBef>
                          <a:spcPts val="0"/>
                        </a:spcBef>
                        <a:spcAft>
                          <a:spcPts val="0"/>
                        </a:spcAft>
                        <a:buNone/>
                      </a:pPr>
                      <a:r>
                        <a:rPr b="1" lang="en">
                          <a:solidFill>
                            <a:srgbClr val="0000FF"/>
                          </a:solidFill>
                        </a:rPr>
                        <a:t>1</a:t>
                      </a:r>
                      <a:endParaRPr b="1">
                        <a:solidFill>
                          <a:srgbClr val="0000FF"/>
                        </a:solidFill>
                      </a:endParaRPr>
                    </a:p>
                  </a:txBody>
                  <a:tcPr marT="91425" marB="91425" marR="91425" marL="91425">
                    <a:solidFill>
                      <a:srgbClr val="FCE5CD"/>
                    </a:solidFill>
                  </a:tcPr>
                </a:tc>
                <a:tc>
                  <a:txBody>
                    <a:bodyPr/>
                    <a:lstStyle/>
                    <a:p>
                      <a:pPr indent="0" lvl="0" marL="0" rtl="0" algn="l">
                        <a:spcBef>
                          <a:spcPts val="0"/>
                        </a:spcBef>
                        <a:spcAft>
                          <a:spcPts val="0"/>
                        </a:spcAft>
                        <a:buNone/>
                      </a:pPr>
                      <a:r>
                        <a:rPr b="1" lang="en">
                          <a:solidFill>
                            <a:srgbClr val="0000FF"/>
                          </a:solidFill>
                        </a:rPr>
                        <a:t>1</a:t>
                      </a:r>
                      <a:endParaRPr b="1">
                        <a:solidFill>
                          <a:srgbClr val="0000FF"/>
                        </a:solidFill>
                      </a:endParaRPr>
                    </a:p>
                  </a:txBody>
                  <a:tcPr marT="91425" marB="91425" marR="91425" marL="91425">
                    <a:solidFill>
                      <a:srgbClr val="FCE5CD"/>
                    </a:solidFill>
                  </a:tcPr>
                </a:tc>
              </a:tr>
              <a:tr h="347725">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lnT cap="flat" cmpd="sng" w="9525">
                      <a:solidFill>
                        <a:srgbClr val="999999"/>
                      </a:solidFill>
                      <a:prstDash val="solid"/>
                      <a:round/>
                      <a:headEnd len="sm" w="sm" type="none"/>
                      <a:tailEnd len="sm" w="sm" type="none"/>
                    </a:lnT>
                  </a:tcPr>
                </a:tc>
                <a:tc>
                  <a:txBody>
                    <a:bodyPr/>
                    <a:lstStyle/>
                    <a:p>
                      <a:pPr indent="0" lvl="0" marL="0" rtl="0" algn="l">
                        <a:spcBef>
                          <a:spcPts val="0"/>
                        </a:spcBef>
                        <a:spcAft>
                          <a:spcPts val="0"/>
                        </a:spcAft>
                        <a:buNone/>
                      </a:pPr>
                      <a:r>
                        <a:rPr lang="en"/>
                        <a:t>0</a:t>
                      </a:r>
                      <a:endParaRPr/>
                    </a:p>
                  </a:txBody>
                  <a:tcPr marT="91425" marB="91425" marR="91425" marL="91425">
                    <a:solidFill>
                      <a:srgbClr val="FCE5CD"/>
                    </a:solidFill>
                  </a:tcPr>
                </a:tc>
                <a:tc>
                  <a:txBody>
                    <a:bodyPr/>
                    <a:lstStyle/>
                    <a:p>
                      <a:pPr indent="0" lvl="0" marL="0" rtl="0" algn="l">
                        <a:spcBef>
                          <a:spcPts val="0"/>
                        </a:spcBef>
                        <a:spcAft>
                          <a:spcPts val="0"/>
                        </a:spcAft>
                        <a:buNone/>
                      </a:pPr>
                      <a:r>
                        <a:rPr b="1" lang="en">
                          <a:solidFill>
                            <a:srgbClr val="0000FF"/>
                          </a:solidFill>
                        </a:rPr>
                        <a:t>1</a:t>
                      </a:r>
                      <a:endParaRPr b="1">
                        <a:solidFill>
                          <a:srgbClr val="0000FF"/>
                        </a:solidFill>
                      </a:endParaRPr>
                    </a:p>
                  </a:txBody>
                  <a:tcPr marT="91425" marB="91425" marR="91425" marL="91425">
                    <a:solidFill>
                      <a:srgbClr val="FCE5CD"/>
                    </a:solidFill>
                  </a:tcPr>
                </a:tc>
                <a:tc>
                  <a:txBody>
                    <a:bodyPr/>
                    <a:lstStyle/>
                    <a:p>
                      <a:pPr indent="0" lvl="0" marL="0" rtl="0" algn="l">
                        <a:spcBef>
                          <a:spcPts val="0"/>
                        </a:spcBef>
                        <a:spcAft>
                          <a:spcPts val="0"/>
                        </a:spcAft>
                        <a:buNone/>
                      </a:pPr>
                      <a:r>
                        <a:rPr b="1" lang="en">
                          <a:solidFill>
                            <a:srgbClr val="0000FF"/>
                          </a:solidFill>
                        </a:rPr>
                        <a:t>1</a:t>
                      </a:r>
                      <a:endParaRPr b="1">
                        <a:solidFill>
                          <a:srgbClr val="0000FF"/>
                        </a:solidFill>
                      </a:endParaRPr>
                    </a:p>
                  </a:txBody>
                  <a:tcPr marT="91425" marB="91425" marR="91425" marL="91425">
                    <a:solidFill>
                      <a:srgbClr val="FCE5CD"/>
                    </a:solidFill>
                  </a:tcPr>
                </a:tc>
              </a:tr>
              <a:tr h="347725">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b="1" lang="en">
                          <a:solidFill>
                            <a:srgbClr val="0000FF"/>
                          </a:solidFill>
                        </a:rPr>
                        <a:t>1</a:t>
                      </a:r>
                      <a:endParaRPr b="1">
                        <a:solidFill>
                          <a:srgbClr val="0000FF"/>
                        </a:solidFill>
                      </a:endParaRPr>
                    </a:p>
                  </a:txBody>
                  <a:tcPr marT="91425" marB="91425" marR="91425" marL="91425">
                    <a:solidFill>
                      <a:srgbClr val="FCE5CD"/>
                    </a:solidFill>
                  </a:tcPr>
                </a:tc>
                <a:tc>
                  <a:txBody>
                    <a:bodyPr/>
                    <a:lstStyle/>
                    <a:p>
                      <a:pPr indent="0" lvl="0" marL="0" rtl="0" algn="l">
                        <a:spcBef>
                          <a:spcPts val="0"/>
                        </a:spcBef>
                        <a:spcAft>
                          <a:spcPts val="0"/>
                        </a:spcAft>
                        <a:buClr>
                          <a:schemeClr val="dk1"/>
                        </a:buClr>
                        <a:buSzPts val="1100"/>
                        <a:buFont typeface="Arial"/>
                        <a:buNone/>
                      </a:pPr>
                      <a:r>
                        <a:rPr lang="en">
                          <a:solidFill>
                            <a:schemeClr val="dk1"/>
                          </a:solidFill>
                        </a:rPr>
                        <a:t>0</a:t>
                      </a:r>
                      <a:endParaRPr b="1">
                        <a:solidFill>
                          <a:srgbClr val="0000FF"/>
                        </a:solidFill>
                      </a:endParaRPr>
                    </a:p>
                  </a:txBody>
                  <a:tcPr marT="91425" marB="91425" marR="91425" marL="91425">
                    <a:solidFill>
                      <a:srgbClr val="FCE5CD"/>
                    </a:solidFill>
                  </a:tcPr>
                </a:tc>
              </a:tr>
              <a:tr h="347725">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solidFill>
                      <a:srgbClr val="FCE5CD"/>
                    </a:solidFill>
                  </a:tcPr>
                </a:tc>
              </a:tr>
              <a:tr h="347725">
                <a:tc>
                  <a:txBody>
                    <a:bodyPr/>
                    <a:lstStyle/>
                    <a:p>
                      <a:pPr indent="0" lvl="0" marL="0" rtl="0" algn="l">
                        <a:spcBef>
                          <a:spcPts val="0"/>
                        </a:spcBef>
                        <a:spcAft>
                          <a:spcPts val="0"/>
                        </a:spcAft>
                        <a:buNone/>
                      </a:pPr>
                      <a:r>
                        <a:rPr lang="en"/>
                        <a:t>E</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r>
            </a:tbl>
          </a:graphicData>
        </a:graphic>
      </p:graphicFrame>
      <p:cxnSp>
        <p:nvCxnSpPr>
          <p:cNvPr id="660" name="Google Shape;660;p36"/>
          <p:cNvCxnSpPr>
            <a:stCxn id="655" idx="4"/>
            <a:endCxn id="656" idx="0"/>
          </p:cNvCxnSpPr>
          <p:nvPr/>
        </p:nvCxnSpPr>
        <p:spPr>
          <a:xfrm>
            <a:off x="1811667" y="2957525"/>
            <a:ext cx="0" cy="469200"/>
          </a:xfrm>
          <a:prstGeom prst="straightConnector1">
            <a:avLst/>
          </a:prstGeom>
          <a:noFill/>
          <a:ln cap="flat" cmpd="sng" w="28575">
            <a:solidFill>
              <a:srgbClr val="0000FF"/>
            </a:solidFill>
            <a:prstDash val="solid"/>
            <a:round/>
            <a:headEnd len="med" w="med" type="none"/>
            <a:tailEnd len="med" w="med" type="stealth"/>
          </a:ln>
        </p:spPr>
      </p:cxnSp>
      <p:cxnSp>
        <p:nvCxnSpPr>
          <p:cNvPr id="661" name="Google Shape;661;p36"/>
          <p:cNvCxnSpPr>
            <a:stCxn id="655" idx="5"/>
            <a:endCxn id="657" idx="1"/>
          </p:cNvCxnSpPr>
          <p:nvPr/>
        </p:nvCxnSpPr>
        <p:spPr>
          <a:xfrm>
            <a:off x="1980205" y="2892195"/>
            <a:ext cx="664200" cy="633600"/>
          </a:xfrm>
          <a:prstGeom prst="straightConnector1">
            <a:avLst/>
          </a:prstGeom>
          <a:noFill/>
          <a:ln cap="flat" cmpd="sng" w="28575">
            <a:solidFill>
              <a:srgbClr val="0000FF"/>
            </a:solidFill>
            <a:prstDash val="solid"/>
            <a:round/>
            <a:headEnd len="med" w="med" type="none"/>
            <a:tailEnd len="med" w="med" type="stealth"/>
          </a:ln>
        </p:spPr>
      </p:cxnSp>
      <p:cxnSp>
        <p:nvCxnSpPr>
          <p:cNvPr id="662" name="Google Shape;662;p36"/>
          <p:cNvCxnSpPr>
            <a:stCxn id="656" idx="3"/>
            <a:endCxn id="654" idx="7"/>
          </p:cNvCxnSpPr>
          <p:nvPr/>
        </p:nvCxnSpPr>
        <p:spPr>
          <a:xfrm flipH="1">
            <a:off x="979228" y="3807616"/>
            <a:ext cx="663900" cy="600000"/>
          </a:xfrm>
          <a:prstGeom prst="straightConnector1">
            <a:avLst/>
          </a:prstGeom>
          <a:noFill/>
          <a:ln cap="flat" cmpd="sng" w="28575">
            <a:solidFill>
              <a:srgbClr val="0000FF"/>
            </a:solidFill>
            <a:prstDash val="solid"/>
            <a:round/>
            <a:headEnd len="med" w="med" type="none"/>
            <a:tailEnd len="med" w="med" type="stealth"/>
          </a:ln>
        </p:spPr>
      </p:cxnSp>
      <p:cxnSp>
        <p:nvCxnSpPr>
          <p:cNvPr id="663" name="Google Shape;663;p36"/>
          <p:cNvCxnSpPr>
            <a:stCxn id="656" idx="4"/>
            <a:endCxn id="658" idx="0"/>
          </p:cNvCxnSpPr>
          <p:nvPr/>
        </p:nvCxnSpPr>
        <p:spPr>
          <a:xfrm>
            <a:off x="1811667" y="3872945"/>
            <a:ext cx="0" cy="469200"/>
          </a:xfrm>
          <a:prstGeom prst="straightConnector1">
            <a:avLst/>
          </a:prstGeom>
          <a:noFill/>
          <a:ln cap="flat" cmpd="sng" w="28575">
            <a:solidFill>
              <a:srgbClr val="0000FF"/>
            </a:solidFill>
            <a:prstDash val="solid"/>
            <a:round/>
            <a:headEnd len="med" w="med" type="none"/>
            <a:tailEnd len="med" w="med" type="stealth"/>
          </a:ln>
        </p:spPr>
      </p:cxnSp>
      <p:cxnSp>
        <p:nvCxnSpPr>
          <p:cNvPr id="664" name="Google Shape;664;p36"/>
          <p:cNvCxnSpPr>
            <a:stCxn id="657" idx="4"/>
            <a:endCxn id="658" idx="7"/>
          </p:cNvCxnSpPr>
          <p:nvPr/>
        </p:nvCxnSpPr>
        <p:spPr>
          <a:xfrm flipH="1">
            <a:off x="1980333" y="3906620"/>
            <a:ext cx="832500" cy="501000"/>
          </a:xfrm>
          <a:prstGeom prst="straightConnector1">
            <a:avLst/>
          </a:prstGeom>
          <a:noFill/>
          <a:ln cap="flat" cmpd="sng" w="28575">
            <a:solidFill>
              <a:srgbClr val="0000FF"/>
            </a:solidFill>
            <a:prstDash val="solid"/>
            <a:round/>
            <a:headEnd len="med" w="med" type="none"/>
            <a:tailEnd len="med" w="med" type="stealth"/>
          </a:ln>
        </p:spPr>
      </p:cxnSp>
      <p:sp>
        <p:nvSpPr>
          <p:cNvPr id="665" name="Google Shape;665;p36"/>
          <p:cNvSpPr txBox="1"/>
          <p:nvPr/>
        </p:nvSpPr>
        <p:spPr>
          <a:xfrm>
            <a:off x="2812825" y="2067750"/>
            <a:ext cx="3054900" cy="100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Hierarchy implies that only entries in the upper triangle of the reachability matrix have ones in them!</a:t>
            </a:r>
            <a:endParaRPr b="1">
              <a:solidFill>
                <a:srgbClr val="FF0000"/>
              </a:solidFill>
              <a:latin typeface="Open Sans"/>
              <a:ea typeface="Open Sans"/>
              <a:cs typeface="Open Sans"/>
              <a:sym typeface="Open Sans"/>
            </a:endParaRPr>
          </a:p>
        </p:txBody>
      </p:sp>
      <p:sp>
        <p:nvSpPr>
          <p:cNvPr id="666" name="Google Shape;666;p36"/>
          <p:cNvSpPr txBox="1"/>
          <p:nvPr/>
        </p:nvSpPr>
        <p:spPr>
          <a:xfrm>
            <a:off x="6199800" y="2060325"/>
            <a:ext cx="2473500" cy="36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Reachability matrix</a:t>
            </a:r>
            <a:endParaRPr sz="1800">
              <a:latin typeface="Economica"/>
              <a:ea typeface="Economica"/>
              <a:cs typeface="Economica"/>
              <a:sym typeface="Economic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0" name="Shape 670"/>
        <p:cNvGrpSpPr/>
        <p:nvPr/>
      </p:nvGrpSpPr>
      <p:grpSpPr>
        <a:xfrm>
          <a:off x="0" y="0"/>
          <a:ext cx="0" cy="0"/>
          <a:chOff x="0" y="0"/>
          <a:chExt cx="0" cy="0"/>
        </a:xfrm>
      </p:grpSpPr>
      <p:sp>
        <p:nvSpPr>
          <p:cNvPr id="671" name="Google Shape;671;p3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Path-based network properties</a:t>
            </a:r>
            <a:endParaRPr/>
          </a:p>
        </p:txBody>
      </p:sp>
      <p:sp>
        <p:nvSpPr>
          <p:cNvPr id="672" name="Google Shape;672;p37"/>
          <p:cNvSpPr txBox="1"/>
          <p:nvPr>
            <p:ph idx="1" type="body"/>
          </p:nvPr>
        </p:nvSpPr>
        <p:spPr>
          <a:xfrm>
            <a:off x="311700" y="1225225"/>
            <a:ext cx="8520600" cy="1782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Hierarchy</a:t>
            </a:r>
            <a:r>
              <a:rPr lang="en"/>
              <a:t> (H) measures </a:t>
            </a:r>
            <a:r>
              <a:rPr b="1" lang="en"/>
              <a:t>anti-symmetry</a:t>
            </a:r>
            <a:r>
              <a:rPr lang="en"/>
              <a:t> in a network</a:t>
            </a:r>
            <a:endParaRPr/>
          </a:p>
          <a:p>
            <a:pPr indent="0" lvl="0" marL="0" rtl="0" algn="l">
              <a:spcBef>
                <a:spcPts val="1600"/>
              </a:spcBef>
              <a:spcAft>
                <a:spcPts val="0"/>
              </a:spcAft>
              <a:buNone/>
            </a:pPr>
            <a:r>
              <a:t/>
            </a:r>
            <a:endParaRPr/>
          </a:p>
          <a:p>
            <a:pPr indent="0" lvl="0" marL="914400" rtl="0" algn="l">
              <a:spcBef>
                <a:spcPts val="1600"/>
              </a:spcBef>
              <a:spcAft>
                <a:spcPts val="0"/>
              </a:spcAft>
              <a:buClr>
                <a:schemeClr val="dk1"/>
              </a:buClr>
              <a:buSzPts val="1100"/>
              <a:buFont typeface="Arial"/>
              <a:buNone/>
            </a:pPr>
            <a:r>
              <a:t/>
            </a:r>
            <a:endParaRPr/>
          </a:p>
          <a:p>
            <a:pPr indent="0" lvl="0" marL="914400" rtl="0" algn="l">
              <a:spcBef>
                <a:spcPts val="1600"/>
              </a:spcBef>
              <a:spcAft>
                <a:spcPts val="0"/>
              </a:spcAft>
              <a:buClr>
                <a:schemeClr val="dk1"/>
              </a:buClr>
              <a:buSzPts val="1100"/>
              <a:buFont typeface="Arial"/>
              <a:buNone/>
            </a:pPr>
            <a:r>
              <a:t/>
            </a:r>
            <a:endParaRPr/>
          </a:p>
          <a:p>
            <a:pPr indent="0" lvl="0" marL="914400" rtl="0" algn="l">
              <a:spcBef>
                <a:spcPts val="1600"/>
              </a:spcBef>
              <a:spcAft>
                <a:spcPts val="0"/>
              </a:spcAft>
              <a:buClr>
                <a:schemeClr val="dk1"/>
              </a:buClr>
              <a:buSzPts val="1100"/>
              <a:buFont typeface="Arial"/>
              <a:buNone/>
            </a:pPr>
            <a:r>
              <a:t/>
            </a:r>
            <a:endParaRPr/>
          </a:p>
          <a:p>
            <a:pPr indent="0" lvl="0" marL="914400" rtl="0" algn="l">
              <a:spcBef>
                <a:spcPts val="1600"/>
              </a:spcBef>
              <a:spcAft>
                <a:spcPts val="1600"/>
              </a:spcAft>
              <a:buNone/>
            </a:pPr>
            <a:r>
              <a:t/>
            </a:r>
            <a:endParaRPr/>
          </a:p>
        </p:txBody>
      </p:sp>
      <p:sp>
        <p:nvSpPr>
          <p:cNvPr id="673" name="Google Shape;673;p37"/>
          <p:cNvSpPr txBox="1"/>
          <p:nvPr/>
        </p:nvSpPr>
        <p:spPr>
          <a:xfrm>
            <a:off x="3219825" y="3291175"/>
            <a:ext cx="2285700" cy="15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Hierarchy</a:t>
            </a:r>
            <a:r>
              <a:rPr b="1" lang="en">
                <a:solidFill>
                  <a:srgbClr val="FF0000"/>
                </a:solidFill>
                <a:latin typeface="Open Sans"/>
                <a:ea typeface="Open Sans"/>
                <a:cs typeface="Open Sans"/>
                <a:sym typeface="Open Sans"/>
              </a:rPr>
              <a:t> violations appear as entries on the lower diagonal!</a:t>
            </a:r>
            <a:endParaRPr b="1">
              <a:solidFill>
                <a:srgbClr val="FF0000"/>
              </a:solidFill>
              <a:latin typeface="Open Sans"/>
              <a:ea typeface="Open Sans"/>
              <a:cs typeface="Open Sans"/>
              <a:sym typeface="Open Sans"/>
            </a:endParaRPr>
          </a:p>
          <a:p>
            <a:pPr indent="0" lvl="0" marL="0" rtl="0" algn="l">
              <a:spcBef>
                <a:spcPts val="0"/>
              </a:spcBef>
              <a:spcAft>
                <a:spcPts val="0"/>
              </a:spcAft>
              <a:buNone/>
            </a:pPr>
            <a:r>
              <a:t/>
            </a:r>
            <a:endParaRPr b="1">
              <a:solidFill>
                <a:srgbClr val="FF0000"/>
              </a:solidFill>
              <a:latin typeface="Open Sans"/>
              <a:ea typeface="Open Sans"/>
              <a:cs typeface="Open Sans"/>
              <a:sym typeface="Open Sans"/>
            </a:endParaRPr>
          </a:p>
          <a:p>
            <a:pPr indent="0" lvl="0" marL="0" rtl="0" algn="l">
              <a:spcBef>
                <a:spcPts val="0"/>
              </a:spcBef>
              <a:spcAft>
                <a:spcPts val="0"/>
              </a:spcAft>
              <a:buNone/>
            </a:pPr>
            <a:r>
              <a:rPr b="1" lang="en">
                <a:solidFill>
                  <a:srgbClr val="FF0000"/>
                </a:solidFill>
                <a:latin typeface="Open Sans"/>
                <a:ea typeface="Open Sans"/>
                <a:cs typeface="Open Sans"/>
                <a:sym typeface="Open Sans"/>
              </a:rPr>
              <a:t>This implies that these nodes are now mutually </a:t>
            </a:r>
            <a:r>
              <a:rPr b="1" lang="en">
                <a:solidFill>
                  <a:srgbClr val="FF0000"/>
                </a:solidFill>
                <a:latin typeface="Open Sans"/>
                <a:ea typeface="Open Sans"/>
                <a:cs typeface="Open Sans"/>
                <a:sym typeface="Open Sans"/>
              </a:rPr>
              <a:t>reachable</a:t>
            </a:r>
            <a:endParaRPr b="1">
              <a:solidFill>
                <a:srgbClr val="FF0000"/>
              </a:solidFill>
              <a:latin typeface="Open Sans"/>
              <a:ea typeface="Open Sans"/>
              <a:cs typeface="Open Sans"/>
              <a:sym typeface="Open Sans"/>
            </a:endParaRPr>
          </a:p>
          <a:p>
            <a:pPr indent="0" lvl="0" marL="0" rtl="0" algn="l">
              <a:spcBef>
                <a:spcPts val="0"/>
              </a:spcBef>
              <a:spcAft>
                <a:spcPts val="0"/>
              </a:spcAft>
              <a:buNone/>
            </a:pPr>
            <a:r>
              <a:t/>
            </a:r>
            <a:endParaRPr b="1">
              <a:solidFill>
                <a:srgbClr val="FF0000"/>
              </a:solidFill>
              <a:latin typeface="Open Sans"/>
              <a:ea typeface="Open Sans"/>
              <a:cs typeface="Open Sans"/>
              <a:sym typeface="Open Sans"/>
            </a:endParaRPr>
          </a:p>
        </p:txBody>
      </p:sp>
      <p:sp>
        <p:nvSpPr>
          <p:cNvPr id="674" name="Google Shape;674;p37"/>
          <p:cNvSpPr/>
          <p:nvPr/>
        </p:nvSpPr>
        <p:spPr>
          <a:xfrm>
            <a:off x="572225" y="434227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675" name="Google Shape;675;p37"/>
          <p:cNvSpPr/>
          <p:nvPr/>
        </p:nvSpPr>
        <p:spPr>
          <a:xfrm>
            <a:off x="1573317" y="25114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676" name="Google Shape;676;p37"/>
          <p:cNvSpPr/>
          <p:nvPr/>
        </p:nvSpPr>
        <p:spPr>
          <a:xfrm>
            <a:off x="1573317" y="34268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677" name="Google Shape;677;p37"/>
          <p:cNvSpPr/>
          <p:nvPr/>
        </p:nvSpPr>
        <p:spPr>
          <a:xfrm>
            <a:off x="2574483" y="34605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678" name="Google Shape;678;p37"/>
          <p:cNvSpPr/>
          <p:nvPr/>
        </p:nvSpPr>
        <p:spPr>
          <a:xfrm>
            <a:off x="1573317" y="43422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679" name="Google Shape;679;p37"/>
          <p:cNvCxnSpPr>
            <a:stCxn id="675" idx="4"/>
            <a:endCxn id="676" idx="0"/>
          </p:cNvCxnSpPr>
          <p:nvPr/>
        </p:nvCxnSpPr>
        <p:spPr>
          <a:xfrm>
            <a:off x="1811667" y="2957525"/>
            <a:ext cx="0" cy="469200"/>
          </a:xfrm>
          <a:prstGeom prst="straightConnector1">
            <a:avLst/>
          </a:prstGeom>
          <a:noFill/>
          <a:ln cap="flat" cmpd="sng" w="28575">
            <a:solidFill>
              <a:srgbClr val="666666"/>
            </a:solidFill>
            <a:prstDash val="solid"/>
            <a:round/>
            <a:headEnd len="med" w="med" type="none"/>
            <a:tailEnd len="med" w="med" type="stealth"/>
          </a:ln>
        </p:spPr>
      </p:cxnSp>
      <p:cxnSp>
        <p:nvCxnSpPr>
          <p:cNvPr id="680" name="Google Shape;680;p37"/>
          <p:cNvCxnSpPr>
            <a:stCxn id="675" idx="5"/>
            <a:endCxn id="677" idx="1"/>
          </p:cNvCxnSpPr>
          <p:nvPr/>
        </p:nvCxnSpPr>
        <p:spPr>
          <a:xfrm>
            <a:off x="1980205" y="2892195"/>
            <a:ext cx="664200" cy="633600"/>
          </a:xfrm>
          <a:prstGeom prst="straightConnector1">
            <a:avLst/>
          </a:prstGeom>
          <a:noFill/>
          <a:ln cap="flat" cmpd="sng" w="28575">
            <a:solidFill>
              <a:srgbClr val="666666"/>
            </a:solidFill>
            <a:prstDash val="solid"/>
            <a:round/>
            <a:headEnd len="med" w="med" type="none"/>
            <a:tailEnd len="med" w="med" type="stealth"/>
          </a:ln>
        </p:spPr>
      </p:cxnSp>
      <p:cxnSp>
        <p:nvCxnSpPr>
          <p:cNvPr id="681" name="Google Shape;681;p37"/>
          <p:cNvCxnSpPr>
            <a:stCxn id="676" idx="3"/>
            <a:endCxn id="674" idx="7"/>
          </p:cNvCxnSpPr>
          <p:nvPr/>
        </p:nvCxnSpPr>
        <p:spPr>
          <a:xfrm flipH="1">
            <a:off x="979228" y="3807616"/>
            <a:ext cx="663900" cy="600000"/>
          </a:xfrm>
          <a:prstGeom prst="straightConnector1">
            <a:avLst/>
          </a:prstGeom>
          <a:noFill/>
          <a:ln cap="flat" cmpd="sng" w="28575">
            <a:solidFill>
              <a:srgbClr val="666666"/>
            </a:solidFill>
            <a:prstDash val="solid"/>
            <a:round/>
            <a:headEnd len="med" w="med" type="none"/>
            <a:tailEnd len="med" w="med" type="stealth"/>
          </a:ln>
        </p:spPr>
      </p:cxnSp>
      <p:cxnSp>
        <p:nvCxnSpPr>
          <p:cNvPr id="682" name="Google Shape;682;p37"/>
          <p:cNvCxnSpPr>
            <a:stCxn id="676" idx="4"/>
            <a:endCxn id="678" idx="0"/>
          </p:cNvCxnSpPr>
          <p:nvPr/>
        </p:nvCxnSpPr>
        <p:spPr>
          <a:xfrm>
            <a:off x="1811667" y="3872945"/>
            <a:ext cx="0" cy="469200"/>
          </a:xfrm>
          <a:prstGeom prst="straightConnector1">
            <a:avLst/>
          </a:prstGeom>
          <a:noFill/>
          <a:ln cap="flat" cmpd="sng" w="28575">
            <a:solidFill>
              <a:srgbClr val="666666"/>
            </a:solidFill>
            <a:prstDash val="solid"/>
            <a:round/>
            <a:headEnd len="med" w="med" type="none"/>
            <a:tailEnd len="med" w="med" type="stealth"/>
          </a:ln>
        </p:spPr>
      </p:cxnSp>
      <p:cxnSp>
        <p:nvCxnSpPr>
          <p:cNvPr id="683" name="Google Shape;683;p37"/>
          <p:cNvCxnSpPr>
            <a:stCxn id="677" idx="4"/>
            <a:endCxn id="678" idx="7"/>
          </p:cNvCxnSpPr>
          <p:nvPr/>
        </p:nvCxnSpPr>
        <p:spPr>
          <a:xfrm flipH="1">
            <a:off x="1980333" y="3906620"/>
            <a:ext cx="832500" cy="501000"/>
          </a:xfrm>
          <a:prstGeom prst="straightConnector1">
            <a:avLst/>
          </a:prstGeom>
          <a:noFill/>
          <a:ln cap="flat" cmpd="sng" w="28575">
            <a:solidFill>
              <a:srgbClr val="666666"/>
            </a:solidFill>
            <a:prstDash val="solid"/>
            <a:round/>
            <a:headEnd len="med" w="med" type="none"/>
            <a:tailEnd len="med" w="med" type="stealth"/>
          </a:ln>
        </p:spPr>
      </p:cxnSp>
      <p:cxnSp>
        <p:nvCxnSpPr>
          <p:cNvPr id="684" name="Google Shape;684;p37"/>
          <p:cNvCxnSpPr>
            <a:stCxn id="674" idx="7"/>
            <a:endCxn id="675" idx="3"/>
          </p:cNvCxnSpPr>
          <p:nvPr/>
        </p:nvCxnSpPr>
        <p:spPr>
          <a:xfrm flipH="1" rot="10800000">
            <a:off x="979114" y="2892300"/>
            <a:ext cx="663900" cy="1515300"/>
          </a:xfrm>
          <a:prstGeom prst="straightConnector1">
            <a:avLst/>
          </a:prstGeom>
          <a:noFill/>
          <a:ln cap="flat" cmpd="sng" w="28575">
            <a:solidFill>
              <a:srgbClr val="FF0000"/>
            </a:solidFill>
            <a:prstDash val="solid"/>
            <a:round/>
            <a:headEnd len="med" w="med" type="none"/>
            <a:tailEnd len="med" w="med" type="stealth"/>
          </a:ln>
        </p:spPr>
      </p:cxnSp>
      <p:cxnSp>
        <p:nvCxnSpPr>
          <p:cNvPr id="685" name="Google Shape;685;p37"/>
          <p:cNvCxnSpPr>
            <a:stCxn id="676" idx="6"/>
            <a:endCxn id="675" idx="6"/>
          </p:cNvCxnSpPr>
          <p:nvPr/>
        </p:nvCxnSpPr>
        <p:spPr>
          <a:xfrm flipH="1" rot="10800000">
            <a:off x="2050017" y="2734595"/>
            <a:ext cx="600" cy="915300"/>
          </a:xfrm>
          <a:prstGeom prst="curvedConnector3">
            <a:avLst>
              <a:gd fmla="val 39687500" name="adj1"/>
            </a:avLst>
          </a:prstGeom>
          <a:noFill/>
          <a:ln cap="flat" cmpd="sng" w="28575">
            <a:solidFill>
              <a:srgbClr val="FF0000"/>
            </a:solidFill>
            <a:prstDash val="solid"/>
            <a:round/>
            <a:headEnd len="med" w="med" type="none"/>
            <a:tailEnd len="med" w="med" type="stealth"/>
          </a:ln>
        </p:spPr>
      </p:cxnSp>
      <p:graphicFrame>
        <p:nvGraphicFramePr>
          <p:cNvPr id="686" name="Google Shape;686;p37"/>
          <p:cNvGraphicFramePr/>
          <p:nvPr/>
        </p:nvGraphicFramePr>
        <p:xfrm>
          <a:off x="6210600" y="2506375"/>
          <a:ext cx="3000000" cy="3000000"/>
        </p:xfrm>
        <a:graphic>
          <a:graphicData uri="http://schemas.openxmlformats.org/drawingml/2006/table">
            <a:tbl>
              <a:tblPr>
                <a:noFill/>
                <a:tableStyleId>{9C004714-7C27-400D-AF19-6A7FADFF251D}</a:tableStyleId>
              </a:tblPr>
              <a:tblGrid>
                <a:gridCol w="413950"/>
                <a:gridCol w="413950"/>
                <a:gridCol w="413950"/>
                <a:gridCol w="413950"/>
                <a:gridCol w="413950"/>
                <a:gridCol w="413950"/>
              </a:tblGrid>
              <a:tr h="3477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E</a:t>
                      </a:r>
                      <a:endParaRPr/>
                    </a:p>
                  </a:txBody>
                  <a:tcPr marT="91425" marB="91425" marR="91425" marL="91425"/>
                </a:tc>
              </a:tr>
              <a:tr h="347725">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47725">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solidFill>
                      <a:srgbClr val="CFE2F3"/>
                    </a:solidFill>
                  </a:tcPr>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47725">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solidFill>
                      <a:srgbClr val="CFE2F3"/>
                    </a:solidFill>
                  </a:tcPr>
                </a:tc>
                <a:tc>
                  <a:txBody>
                    <a:bodyPr/>
                    <a:lstStyle/>
                    <a:p>
                      <a:pPr indent="0" lvl="0" marL="0" rtl="0" algn="l">
                        <a:spcBef>
                          <a:spcPts val="0"/>
                        </a:spcBef>
                        <a:spcAft>
                          <a:spcPts val="0"/>
                        </a:spcAft>
                        <a:buNone/>
                      </a:pPr>
                      <a:r>
                        <a:rPr lang="en"/>
                        <a:t>0</a:t>
                      </a:r>
                      <a:endParaRPr/>
                    </a:p>
                  </a:txBody>
                  <a:tcPr marT="91425" marB="91425" marR="91425" marL="91425">
                    <a:solidFill>
                      <a:srgbClr val="CFE2F3"/>
                    </a:solidFill>
                  </a:tcPr>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r h="347725">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solidFill>
                      <a:srgbClr val="CFE2F3"/>
                    </a:solidFill>
                  </a:tcPr>
                </a:tc>
                <a:tc>
                  <a:txBody>
                    <a:bodyPr/>
                    <a:lstStyle/>
                    <a:p>
                      <a:pPr indent="0" lvl="0" marL="0" rtl="0" algn="l">
                        <a:spcBef>
                          <a:spcPts val="0"/>
                        </a:spcBef>
                        <a:spcAft>
                          <a:spcPts val="0"/>
                        </a:spcAft>
                        <a:buNone/>
                      </a:pPr>
                      <a:r>
                        <a:rPr lang="en"/>
                        <a:t>0</a:t>
                      </a:r>
                      <a:endParaRPr/>
                    </a:p>
                  </a:txBody>
                  <a:tcPr marT="91425" marB="91425" marR="91425" marL="91425">
                    <a:solidFill>
                      <a:srgbClr val="CFE2F3"/>
                    </a:solidFill>
                  </a:tcPr>
                </a:tc>
                <a:tc>
                  <a:txBody>
                    <a:bodyPr/>
                    <a:lstStyle/>
                    <a:p>
                      <a:pPr indent="0" lvl="0" marL="0" rtl="0" algn="l">
                        <a:spcBef>
                          <a:spcPts val="0"/>
                        </a:spcBef>
                        <a:spcAft>
                          <a:spcPts val="0"/>
                        </a:spcAft>
                        <a:buNone/>
                      </a:pPr>
                      <a:r>
                        <a:rPr lang="en"/>
                        <a:t>0</a:t>
                      </a:r>
                      <a:endParaRPr/>
                    </a:p>
                  </a:txBody>
                  <a:tcPr marT="91425" marB="91425" marR="91425" marL="91425">
                    <a:solidFill>
                      <a:srgbClr val="CFE2F3"/>
                    </a:solidFill>
                  </a:tcPr>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r h="347725">
                <a:tc>
                  <a:txBody>
                    <a:bodyPr/>
                    <a:lstStyle/>
                    <a:p>
                      <a:pPr indent="0" lvl="0" marL="0" rtl="0" algn="l">
                        <a:spcBef>
                          <a:spcPts val="0"/>
                        </a:spcBef>
                        <a:spcAft>
                          <a:spcPts val="0"/>
                        </a:spcAft>
                        <a:buNone/>
                      </a:pPr>
                      <a:r>
                        <a:rPr lang="en"/>
                        <a:t>E</a:t>
                      </a:r>
                      <a:endParaRPr/>
                    </a:p>
                  </a:txBody>
                  <a:tcPr marT="91425" marB="91425" marR="91425" marL="91425"/>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solidFill>
                      <a:srgbClr val="CFE2F3"/>
                    </a:solidFill>
                  </a:tcPr>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solidFill>
                      <a:srgbClr val="CFE2F3"/>
                    </a:solidFill>
                  </a:tcPr>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solidFill>
                      <a:srgbClr val="CFE2F3"/>
                    </a:solidFill>
                  </a:tcPr>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solidFill>
                      <a:srgbClr val="CFE2F3"/>
                    </a:solidFill>
                  </a:tcPr>
                </a:tc>
                <a:tc>
                  <a:txBody>
                    <a:bodyPr/>
                    <a:lstStyle/>
                    <a:p>
                      <a:pPr indent="0" lvl="0" marL="0" rtl="0" algn="l">
                        <a:spcBef>
                          <a:spcPts val="0"/>
                        </a:spcBef>
                        <a:spcAft>
                          <a:spcPts val="0"/>
                        </a:spcAft>
                        <a:buNone/>
                      </a:pPr>
                      <a:r>
                        <a:rPr lang="en"/>
                        <a:t>--</a:t>
                      </a:r>
                      <a:endParaRPr/>
                    </a:p>
                  </a:txBody>
                  <a:tcPr marT="91425" marB="91425" marR="91425" marL="91425"/>
                </a:tc>
              </a:tr>
            </a:tbl>
          </a:graphicData>
        </a:graphic>
      </p:graphicFrame>
      <p:sp>
        <p:nvSpPr>
          <p:cNvPr id="687" name="Google Shape;687;p37"/>
          <p:cNvSpPr txBox="1"/>
          <p:nvPr/>
        </p:nvSpPr>
        <p:spPr>
          <a:xfrm>
            <a:off x="6199800" y="2060325"/>
            <a:ext cx="2473500" cy="36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Reachability matrix</a:t>
            </a:r>
            <a:endParaRPr sz="1800">
              <a:latin typeface="Economica"/>
              <a:ea typeface="Economica"/>
              <a:cs typeface="Economica"/>
              <a:sym typeface="Economica"/>
            </a:endParaRPr>
          </a:p>
        </p:txBody>
      </p:sp>
      <p:cxnSp>
        <p:nvCxnSpPr>
          <p:cNvPr id="688" name="Google Shape;688;p37"/>
          <p:cNvCxnSpPr>
            <a:stCxn id="673" idx="3"/>
          </p:cNvCxnSpPr>
          <p:nvPr/>
        </p:nvCxnSpPr>
        <p:spPr>
          <a:xfrm>
            <a:off x="5505525" y="4053475"/>
            <a:ext cx="805500" cy="3669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3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Path-based network properties</a:t>
            </a:r>
            <a:endParaRPr/>
          </a:p>
        </p:txBody>
      </p:sp>
      <p:sp>
        <p:nvSpPr>
          <p:cNvPr id="694" name="Google Shape;694;p38"/>
          <p:cNvSpPr txBox="1"/>
          <p:nvPr>
            <p:ph idx="1" type="body"/>
          </p:nvPr>
        </p:nvSpPr>
        <p:spPr>
          <a:xfrm>
            <a:off x="311700" y="1225225"/>
            <a:ext cx="8520600" cy="1782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Hierarchy</a:t>
            </a:r>
            <a:r>
              <a:rPr lang="en"/>
              <a:t> (H) measures </a:t>
            </a:r>
            <a:r>
              <a:rPr b="1" lang="en"/>
              <a:t>anti-symmetry</a:t>
            </a:r>
            <a:r>
              <a:rPr lang="en"/>
              <a:t> in a network</a:t>
            </a:r>
            <a:endParaRPr/>
          </a:p>
          <a:p>
            <a:pPr indent="-317500" lvl="1" marL="914400" rtl="0" algn="l">
              <a:spcBef>
                <a:spcPts val="0"/>
              </a:spcBef>
              <a:spcAft>
                <a:spcPts val="0"/>
              </a:spcAft>
              <a:buSzPts val="1400"/>
              <a:buChar char="○"/>
            </a:pPr>
            <a:r>
              <a:rPr lang="en"/>
              <a:t>We can measure hierarchy as one minus the total number of </a:t>
            </a:r>
            <a:r>
              <a:rPr b="1" lang="en"/>
              <a:t>anti-symmetry violating entries (V)</a:t>
            </a:r>
            <a:r>
              <a:rPr lang="en"/>
              <a:t> in the lower diagonal divided by the possible number of pairs</a:t>
            </a:r>
            <a:endParaRPr/>
          </a:p>
          <a:p>
            <a:pPr indent="0" lvl="0" marL="914400" rtl="0" algn="l">
              <a:spcBef>
                <a:spcPts val="1600"/>
              </a:spcBef>
              <a:spcAft>
                <a:spcPts val="0"/>
              </a:spcAft>
              <a:buNone/>
            </a:pPr>
            <a:r>
              <a:t/>
            </a:r>
            <a:endParaRPr/>
          </a:p>
          <a:p>
            <a:pPr indent="0" lvl="0" marL="914400" rtl="0" algn="l">
              <a:spcBef>
                <a:spcPts val="1600"/>
              </a:spcBef>
              <a:spcAft>
                <a:spcPts val="0"/>
              </a:spcAft>
              <a:buNone/>
            </a:pPr>
            <a:r>
              <a:t/>
            </a:r>
            <a:endParaRPr/>
          </a:p>
          <a:p>
            <a:pPr indent="0" lvl="0" marL="914400" rtl="0" algn="l">
              <a:spcBef>
                <a:spcPts val="1600"/>
              </a:spcBef>
              <a:spcAft>
                <a:spcPts val="1600"/>
              </a:spcAft>
              <a:buNone/>
            </a:pPr>
            <a:r>
              <a:t/>
            </a:r>
            <a:endParaRPr/>
          </a:p>
        </p:txBody>
      </p:sp>
      <p:sp>
        <p:nvSpPr>
          <p:cNvPr id="695" name="Google Shape;695;p38"/>
          <p:cNvSpPr/>
          <p:nvPr/>
        </p:nvSpPr>
        <p:spPr>
          <a:xfrm>
            <a:off x="572225" y="434227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696" name="Google Shape;696;p38"/>
          <p:cNvSpPr/>
          <p:nvPr/>
        </p:nvSpPr>
        <p:spPr>
          <a:xfrm>
            <a:off x="1573317" y="25114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697" name="Google Shape;697;p38"/>
          <p:cNvSpPr/>
          <p:nvPr/>
        </p:nvSpPr>
        <p:spPr>
          <a:xfrm>
            <a:off x="1573317" y="34268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698" name="Google Shape;698;p38"/>
          <p:cNvSpPr/>
          <p:nvPr/>
        </p:nvSpPr>
        <p:spPr>
          <a:xfrm>
            <a:off x="2574483" y="34605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699" name="Google Shape;699;p38"/>
          <p:cNvSpPr/>
          <p:nvPr/>
        </p:nvSpPr>
        <p:spPr>
          <a:xfrm>
            <a:off x="1573317" y="43422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700" name="Google Shape;700;p38"/>
          <p:cNvCxnSpPr>
            <a:stCxn id="696" idx="4"/>
            <a:endCxn id="697" idx="0"/>
          </p:cNvCxnSpPr>
          <p:nvPr/>
        </p:nvCxnSpPr>
        <p:spPr>
          <a:xfrm>
            <a:off x="1811667" y="2957525"/>
            <a:ext cx="0" cy="469200"/>
          </a:xfrm>
          <a:prstGeom prst="straightConnector1">
            <a:avLst/>
          </a:prstGeom>
          <a:noFill/>
          <a:ln cap="flat" cmpd="sng" w="28575">
            <a:solidFill>
              <a:srgbClr val="666666"/>
            </a:solidFill>
            <a:prstDash val="solid"/>
            <a:round/>
            <a:headEnd len="med" w="med" type="none"/>
            <a:tailEnd len="med" w="med" type="stealth"/>
          </a:ln>
        </p:spPr>
      </p:cxnSp>
      <p:cxnSp>
        <p:nvCxnSpPr>
          <p:cNvPr id="701" name="Google Shape;701;p38"/>
          <p:cNvCxnSpPr>
            <a:stCxn id="696" idx="5"/>
            <a:endCxn id="698" idx="1"/>
          </p:cNvCxnSpPr>
          <p:nvPr/>
        </p:nvCxnSpPr>
        <p:spPr>
          <a:xfrm>
            <a:off x="1980205" y="2892195"/>
            <a:ext cx="664200" cy="633600"/>
          </a:xfrm>
          <a:prstGeom prst="straightConnector1">
            <a:avLst/>
          </a:prstGeom>
          <a:noFill/>
          <a:ln cap="flat" cmpd="sng" w="28575">
            <a:solidFill>
              <a:srgbClr val="666666"/>
            </a:solidFill>
            <a:prstDash val="solid"/>
            <a:round/>
            <a:headEnd len="med" w="med" type="none"/>
            <a:tailEnd len="med" w="med" type="stealth"/>
          </a:ln>
        </p:spPr>
      </p:cxnSp>
      <p:cxnSp>
        <p:nvCxnSpPr>
          <p:cNvPr id="702" name="Google Shape;702;p38"/>
          <p:cNvCxnSpPr>
            <a:stCxn id="697" idx="3"/>
            <a:endCxn id="695" idx="7"/>
          </p:cNvCxnSpPr>
          <p:nvPr/>
        </p:nvCxnSpPr>
        <p:spPr>
          <a:xfrm flipH="1">
            <a:off x="979228" y="3807616"/>
            <a:ext cx="663900" cy="600000"/>
          </a:xfrm>
          <a:prstGeom prst="straightConnector1">
            <a:avLst/>
          </a:prstGeom>
          <a:noFill/>
          <a:ln cap="flat" cmpd="sng" w="28575">
            <a:solidFill>
              <a:srgbClr val="666666"/>
            </a:solidFill>
            <a:prstDash val="solid"/>
            <a:round/>
            <a:headEnd len="med" w="med" type="none"/>
            <a:tailEnd len="med" w="med" type="stealth"/>
          </a:ln>
        </p:spPr>
      </p:cxnSp>
      <p:cxnSp>
        <p:nvCxnSpPr>
          <p:cNvPr id="703" name="Google Shape;703;p38"/>
          <p:cNvCxnSpPr>
            <a:stCxn id="697" idx="4"/>
            <a:endCxn id="699" idx="0"/>
          </p:cNvCxnSpPr>
          <p:nvPr/>
        </p:nvCxnSpPr>
        <p:spPr>
          <a:xfrm>
            <a:off x="1811667" y="3872945"/>
            <a:ext cx="0" cy="469200"/>
          </a:xfrm>
          <a:prstGeom prst="straightConnector1">
            <a:avLst/>
          </a:prstGeom>
          <a:noFill/>
          <a:ln cap="flat" cmpd="sng" w="28575">
            <a:solidFill>
              <a:srgbClr val="666666"/>
            </a:solidFill>
            <a:prstDash val="solid"/>
            <a:round/>
            <a:headEnd len="med" w="med" type="none"/>
            <a:tailEnd len="med" w="med" type="stealth"/>
          </a:ln>
        </p:spPr>
      </p:cxnSp>
      <p:cxnSp>
        <p:nvCxnSpPr>
          <p:cNvPr id="704" name="Google Shape;704;p38"/>
          <p:cNvCxnSpPr>
            <a:stCxn id="698" idx="4"/>
            <a:endCxn id="699" idx="7"/>
          </p:cNvCxnSpPr>
          <p:nvPr/>
        </p:nvCxnSpPr>
        <p:spPr>
          <a:xfrm flipH="1">
            <a:off x="1980333" y="3906620"/>
            <a:ext cx="832500" cy="501000"/>
          </a:xfrm>
          <a:prstGeom prst="straightConnector1">
            <a:avLst/>
          </a:prstGeom>
          <a:noFill/>
          <a:ln cap="flat" cmpd="sng" w="28575">
            <a:solidFill>
              <a:srgbClr val="666666"/>
            </a:solidFill>
            <a:prstDash val="solid"/>
            <a:round/>
            <a:headEnd len="med" w="med" type="none"/>
            <a:tailEnd len="med" w="med" type="stealth"/>
          </a:ln>
        </p:spPr>
      </p:cxnSp>
      <p:cxnSp>
        <p:nvCxnSpPr>
          <p:cNvPr id="705" name="Google Shape;705;p38"/>
          <p:cNvCxnSpPr>
            <a:stCxn id="695" idx="7"/>
            <a:endCxn id="696" idx="3"/>
          </p:cNvCxnSpPr>
          <p:nvPr/>
        </p:nvCxnSpPr>
        <p:spPr>
          <a:xfrm flipH="1" rot="10800000">
            <a:off x="979114" y="2892300"/>
            <a:ext cx="663900" cy="1515300"/>
          </a:xfrm>
          <a:prstGeom prst="straightConnector1">
            <a:avLst/>
          </a:prstGeom>
          <a:noFill/>
          <a:ln cap="flat" cmpd="sng" w="28575">
            <a:solidFill>
              <a:srgbClr val="FF0000"/>
            </a:solidFill>
            <a:prstDash val="solid"/>
            <a:round/>
            <a:headEnd len="med" w="med" type="none"/>
            <a:tailEnd len="med" w="med" type="stealth"/>
          </a:ln>
        </p:spPr>
      </p:cxnSp>
      <p:pic>
        <p:nvPicPr>
          <p:cNvPr descr="H = 1 - \left(\frac{V}{(N(N-1))/2}\right)" id="706" name="Google Shape;706;p38" title="MathEquation,#000000"/>
          <p:cNvPicPr preferRelativeResize="0"/>
          <p:nvPr/>
        </p:nvPicPr>
        <p:blipFill>
          <a:blip r:embed="rId3">
            <a:alphaModFix/>
          </a:blip>
          <a:stretch>
            <a:fillRect/>
          </a:stretch>
        </p:blipFill>
        <p:spPr>
          <a:xfrm>
            <a:off x="3055902" y="2427225"/>
            <a:ext cx="2743200" cy="580292"/>
          </a:xfrm>
          <a:prstGeom prst="rect">
            <a:avLst/>
          </a:prstGeom>
          <a:noFill/>
          <a:ln>
            <a:noFill/>
          </a:ln>
        </p:spPr>
      </p:pic>
      <p:sp>
        <p:nvSpPr>
          <p:cNvPr id="707" name="Google Shape;707;p38"/>
          <p:cNvSpPr txBox="1"/>
          <p:nvPr/>
        </p:nvSpPr>
        <p:spPr>
          <a:xfrm>
            <a:off x="3219825" y="3291175"/>
            <a:ext cx="2285700" cy="15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Hierarchy violations appear as entries on the lower diagonal!</a:t>
            </a:r>
            <a:endParaRPr b="1">
              <a:solidFill>
                <a:srgbClr val="FF0000"/>
              </a:solidFill>
              <a:latin typeface="Open Sans"/>
              <a:ea typeface="Open Sans"/>
              <a:cs typeface="Open Sans"/>
              <a:sym typeface="Open Sans"/>
            </a:endParaRPr>
          </a:p>
          <a:p>
            <a:pPr indent="0" lvl="0" marL="0" rtl="0" algn="l">
              <a:spcBef>
                <a:spcPts val="0"/>
              </a:spcBef>
              <a:spcAft>
                <a:spcPts val="0"/>
              </a:spcAft>
              <a:buNone/>
            </a:pPr>
            <a:r>
              <a:t/>
            </a:r>
            <a:endParaRPr b="1">
              <a:solidFill>
                <a:srgbClr val="FF0000"/>
              </a:solidFill>
              <a:latin typeface="Open Sans"/>
              <a:ea typeface="Open Sans"/>
              <a:cs typeface="Open Sans"/>
              <a:sym typeface="Open Sans"/>
            </a:endParaRPr>
          </a:p>
          <a:p>
            <a:pPr indent="0" lvl="0" marL="0" rtl="0" algn="l">
              <a:spcBef>
                <a:spcPts val="0"/>
              </a:spcBef>
              <a:spcAft>
                <a:spcPts val="0"/>
              </a:spcAft>
              <a:buNone/>
            </a:pPr>
            <a:r>
              <a:rPr b="1" lang="en">
                <a:solidFill>
                  <a:srgbClr val="FF0000"/>
                </a:solidFill>
                <a:latin typeface="Open Sans"/>
                <a:ea typeface="Open Sans"/>
                <a:cs typeface="Open Sans"/>
                <a:sym typeface="Open Sans"/>
              </a:rPr>
              <a:t>This implies that these nodes are now mutually reachable</a:t>
            </a:r>
            <a:endParaRPr b="1">
              <a:solidFill>
                <a:srgbClr val="FF0000"/>
              </a:solidFill>
              <a:latin typeface="Open Sans"/>
              <a:ea typeface="Open Sans"/>
              <a:cs typeface="Open Sans"/>
              <a:sym typeface="Open Sans"/>
            </a:endParaRPr>
          </a:p>
          <a:p>
            <a:pPr indent="0" lvl="0" marL="0" rtl="0" algn="l">
              <a:spcBef>
                <a:spcPts val="0"/>
              </a:spcBef>
              <a:spcAft>
                <a:spcPts val="0"/>
              </a:spcAft>
              <a:buNone/>
            </a:pPr>
            <a:r>
              <a:t/>
            </a:r>
            <a:endParaRPr b="1">
              <a:solidFill>
                <a:srgbClr val="FF0000"/>
              </a:solidFill>
              <a:latin typeface="Open Sans"/>
              <a:ea typeface="Open Sans"/>
              <a:cs typeface="Open Sans"/>
              <a:sym typeface="Open Sans"/>
            </a:endParaRPr>
          </a:p>
        </p:txBody>
      </p:sp>
      <p:cxnSp>
        <p:nvCxnSpPr>
          <p:cNvPr id="708" name="Google Shape;708;p38"/>
          <p:cNvCxnSpPr>
            <a:stCxn id="707" idx="3"/>
          </p:cNvCxnSpPr>
          <p:nvPr/>
        </p:nvCxnSpPr>
        <p:spPr>
          <a:xfrm>
            <a:off x="5505525" y="4053475"/>
            <a:ext cx="805500" cy="366900"/>
          </a:xfrm>
          <a:prstGeom prst="straightConnector1">
            <a:avLst/>
          </a:prstGeom>
          <a:noFill/>
          <a:ln cap="flat" cmpd="sng" w="19050">
            <a:solidFill>
              <a:srgbClr val="FF0000"/>
            </a:solidFill>
            <a:prstDash val="solid"/>
            <a:round/>
            <a:headEnd len="med" w="med" type="none"/>
            <a:tailEnd len="med" w="med" type="triangle"/>
          </a:ln>
        </p:spPr>
      </p:cxnSp>
      <p:graphicFrame>
        <p:nvGraphicFramePr>
          <p:cNvPr id="709" name="Google Shape;709;p38"/>
          <p:cNvGraphicFramePr/>
          <p:nvPr/>
        </p:nvGraphicFramePr>
        <p:xfrm>
          <a:off x="6210600" y="2506375"/>
          <a:ext cx="3000000" cy="3000000"/>
        </p:xfrm>
        <a:graphic>
          <a:graphicData uri="http://schemas.openxmlformats.org/drawingml/2006/table">
            <a:tbl>
              <a:tblPr>
                <a:noFill/>
                <a:tableStyleId>{9C004714-7C27-400D-AF19-6A7FADFF251D}</a:tableStyleId>
              </a:tblPr>
              <a:tblGrid>
                <a:gridCol w="413950"/>
                <a:gridCol w="413950"/>
                <a:gridCol w="413950"/>
                <a:gridCol w="413950"/>
                <a:gridCol w="413950"/>
                <a:gridCol w="413950"/>
              </a:tblGrid>
              <a:tr h="3477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E</a:t>
                      </a:r>
                      <a:endParaRPr/>
                    </a:p>
                  </a:txBody>
                  <a:tcPr marT="91425" marB="91425" marR="91425" marL="91425"/>
                </a:tc>
              </a:tr>
              <a:tr h="347725">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47725">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solidFill>
                      <a:srgbClr val="CFE2F3"/>
                    </a:solidFill>
                  </a:tcPr>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47725">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solidFill>
                      <a:srgbClr val="CFE2F3"/>
                    </a:solidFill>
                  </a:tcPr>
                </a:tc>
                <a:tc>
                  <a:txBody>
                    <a:bodyPr/>
                    <a:lstStyle/>
                    <a:p>
                      <a:pPr indent="0" lvl="0" marL="0" rtl="0" algn="l">
                        <a:spcBef>
                          <a:spcPts val="0"/>
                        </a:spcBef>
                        <a:spcAft>
                          <a:spcPts val="0"/>
                        </a:spcAft>
                        <a:buNone/>
                      </a:pPr>
                      <a:r>
                        <a:rPr lang="en"/>
                        <a:t>0</a:t>
                      </a:r>
                      <a:endParaRPr/>
                    </a:p>
                  </a:txBody>
                  <a:tcPr marT="91425" marB="91425" marR="91425" marL="91425">
                    <a:solidFill>
                      <a:srgbClr val="CFE2F3"/>
                    </a:solidFill>
                  </a:tcPr>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r h="347725">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solidFill>
                      <a:srgbClr val="CFE2F3"/>
                    </a:solidFill>
                  </a:tcPr>
                </a:tc>
                <a:tc>
                  <a:txBody>
                    <a:bodyPr/>
                    <a:lstStyle/>
                    <a:p>
                      <a:pPr indent="0" lvl="0" marL="0" rtl="0" algn="l">
                        <a:spcBef>
                          <a:spcPts val="0"/>
                        </a:spcBef>
                        <a:spcAft>
                          <a:spcPts val="0"/>
                        </a:spcAft>
                        <a:buNone/>
                      </a:pPr>
                      <a:r>
                        <a:rPr lang="en"/>
                        <a:t>0</a:t>
                      </a:r>
                      <a:endParaRPr/>
                    </a:p>
                  </a:txBody>
                  <a:tcPr marT="91425" marB="91425" marR="91425" marL="91425">
                    <a:solidFill>
                      <a:srgbClr val="CFE2F3"/>
                    </a:solidFill>
                  </a:tcPr>
                </a:tc>
                <a:tc>
                  <a:txBody>
                    <a:bodyPr/>
                    <a:lstStyle/>
                    <a:p>
                      <a:pPr indent="0" lvl="0" marL="0" rtl="0" algn="l">
                        <a:spcBef>
                          <a:spcPts val="0"/>
                        </a:spcBef>
                        <a:spcAft>
                          <a:spcPts val="0"/>
                        </a:spcAft>
                        <a:buNone/>
                      </a:pPr>
                      <a:r>
                        <a:rPr lang="en"/>
                        <a:t>0</a:t>
                      </a:r>
                      <a:endParaRPr/>
                    </a:p>
                  </a:txBody>
                  <a:tcPr marT="91425" marB="91425" marR="91425" marL="91425">
                    <a:solidFill>
                      <a:srgbClr val="CFE2F3"/>
                    </a:solidFill>
                  </a:tcPr>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r h="347725">
                <a:tc>
                  <a:txBody>
                    <a:bodyPr/>
                    <a:lstStyle/>
                    <a:p>
                      <a:pPr indent="0" lvl="0" marL="0" rtl="0" algn="l">
                        <a:spcBef>
                          <a:spcPts val="0"/>
                        </a:spcBef>
                        <a:spcAft>
                          <a:spcPts val="0"/>
                        </a:spcAft>
                        <a:buNone/>
                      </a:pPr>
                      <a:r>
                        <a:rPr lang="en"/>
                        <a:t>E</a:t>
                      </a:r>
                      <a:endParaRPr/>
                    </a:p>
                  </a:txBody>
                  <a:tcPr marT="91425" marB="91425" marR="91425" marL="91425"/>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solidFill>
                      <a:srgbClr val="CFE2F3"/>
                    </a:solidFill>
                  </a:tcPr>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solidFill>
                      <a:srgbClr val="CFE2F3"/>
                    </a:solidFill>
                  </a:tcPr>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solidFill>
                      <a:srgbClr val="CFE2F3"/>
                    </a:solidFill>
                  </a:tcPr>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solidFill>
                      <a:srgbClr val="CFE2F3"/>
                    </a:solidFill>
                  </a:tcPr>
                </a:tc>
                <a:tc>
                  <a:txBody>
                    <a:bodyPr/>
                    <a:lstStyle/>
                    <a:p>
                      <a:pPr indent="0" lvl="0" marL="0" rtl="0" algn="l">
                        <a:spcBef>
                          <a:spcPts val="0"/>
                        </a:spcBef>
                        <a:spcAft>
                          <a:spcPts val="0"/>
                        </a:spcAft>
                        <a:buNone/>
                      </a:pPr>
                      <a:r>
                        <a:rPr lang="en"/>
                        <a:t>--</a:t>
                      </a:r>
                      <a:endParaRPr/>
                    </a:p>
                  </a:txBody>
                  <a:tcPr marT="91425" marB="91425" marR="91425" marL="91425"/>
                </a:tc>
              </a:tr>
            </a:tbl>
          </a:graphicData>
        </a:graphic>
      </p:graphicFrame>
      <p:sp>
        <p:nvSpPr>
          <p:cNvPr id="710" name="Google Shape;710;p38"/>
          <p:cNvSpPr txBox="1"/>
          <p:nvPr/>
        </p:nvSpPr>
        <p:spPr>
          <a:xfrm>
            <a:off x="6199800" y="2060325"/>
            <a:ext cx="2473500" cy="36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Reachability matrix</a:t>
            </a:r>
            <a:endParaRPr sz="1800">
              <a:latin typeface="Economica"/>
              <a:ea typeface="Economica"/>
              <a:cs typeface="Economica"/>
              <a:sym typeface="Economica"/>
            </a:endParaRPr>
          </a:p>
        </p:txBody>
      </p:sp>
      <p:cxnSp>
        <p:nvCxnSpPr>
          <p:cNvPr id="711" name="Google Shape;711;p38"/>
          <p:cNvCxnSpPr>
            <a:stCxn id="697" idx="6"/>
            <a:endCxn id="696" idx="6"/>
          </p:cNvCxnSpPr>
          <p:nvPr/>
        </p:nvCxnSpPr>
        <p:spPr>
          <a:xfrm flipH="1" rot="10800000">
            <a:off x="2050017" y="2734595"/>
            <a:ext cx="600" cy="915300"/>
          </a:xfrm>
          <a:prstGeom prst="curvedConnector3">
            <a:avLst>
              <a:gd fmla="val 39687500" name="adj1"/>
            </a:avLst>
          </a:prstGeom>
          <a:noFill/>
          <a:ln cap="flat" cmpd="sng" w="28575">
            <a:solidFill>
              <a:srgbClr val="FF0000"/>
            </a:solidFill>
            <a:prstDash val="solid"/>
            <a:round/>
            <a:headEnd len="med" w="med" type="none"/>
            <a:tailEnd len="med" w="med" type="stealth"/>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3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Path-based network properties</a:t>
            </a:r>
            <a:endParaRPr/>
          </a:p>
        </p:txBody>
      </p:sp>
      <p:sp>
        <p:nvSpPr>
          <p:cNvPr id="717" name="Google Shape;717;p39"/>
          <p:cNvSpPr txBox="1"/>
          <p:nvPr>
            <p:ph idx="1" type="body"/>
          </p:nvPr>
        </p:nvSpPr>
        <p:spPr>
          <a:xfrm>
            <a:off x="311700" y="1225225"/>
            <a:ext cx="8520600" cy="850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Hierarchy</a:t>
            </a:r>
            <a:r>
              <a:rPr lang="en"/>
              <a:t> (H) measures </a:t>
            </a:r>
            <a:r>
              <a:rPr b="1" lang="en"/>
              <a:t>anti-symmetry</a:t>
            </a:r>
            <a:r>
              <a:rPr lang="en"/>
              <a:t> in a network</a:t>
            </a:r>
            <a:endParaRPr/>
          </a:p>
          <a:p>
            <a:pPr indent="-317500" lvl="1" marL="914400" rtl="0" algn="l">
              <a:spcBef>
                <a:spcPts val="0"/>
              </a:spcBef>
              <a:spcAft>
                <a:spcPts val="0"/>
              </a:spcAft>
              <a:buSzPts val="1400"/>
              <a:buChar char="○"/>
            </a:pPr>
            <a:r>
              <a:rPr lang="en"/>
              <a:t>We can measure hierarchy as one minus the total number of </a:t>
            </a:r>
            <a:r>
              <a:rPr b="1" lang="en"/>
              <a:t>anti-symmetry violating entries (V)</a:t>
            </a:r>
            <a:r>
              <a:rPr lang="en"/>
              <a:t> in the lower diagonal divided by the possible number of pairs</a:t>
            </a:r>
            <a:endParaRPr/>
          </a:p>
          <a:p>
            <a:pPr indent="0" lvl="0" marL="0" rtl="0" algn="l">
              <a:spcBef>
                <a:spcPts val="1600"/>
              </a:spcBef>
              <a:spcAft>
                <a:spcPts val="1600"/>
              </a:spcAft>
              <a:buNone/>
            </a:pPr>
            <a:r>
              <a:t/>
            </a:r>
            <a:endParaRPr/>
          </a:p>
        </p:txBody>
      </p:sp>
      <p:sp>
        <p:nvSpPr>
          <p:cNvPr id="718" name="Google Shape;718;p39"/>
          <p:cNvSpPr txBox="1"/>
          <p:nvPr/>
        </p:nvSpPr>
        <p:spPr>
          <a:xfrm>
            <a:off x="3219825" y="3291175"/>
            <a:ext cx="2285700" cy="152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Hierarchy violations appear as entries on the lower diagonal!</a:t>
            </a:r>
            <a:endParaRPr b="1">
              <a:solidFill>
                <a:srgbClr val="FF0000"/>
              </a:solidFill>
              <a:latin typeface="Open Sans"/>
              <a:ea typeface="Open Sans"/>
              <a:cs typeface="Open Sans"/>
              <a:sym typeface="Open Sans"/>
            </a:endParaRPr>
          </a:p>
          <a:p>
            <a:pPr indent="0" lvl="0" marL="0" rtl="0" algn="l">
              <a:spcBef>
                <a:spcPts val="0"/>
              </a:spcBef>
              <a:spcAft>
                <a:spcPts val="0"/>
              </a:spcAft>
              <a:buNone/>
            </a:pPr>
            <a:r>
              <a:t/>
            </a:r>
            <a:endParaRPr b="1">
              <a:solidFill>
                <a:srgbClr val="FF0000"/>
              </a:solidFill>
              <a:latin typeface="Open Sans"/>
              <a:ea typeface="Open Sans"/>
              <a:cs typeface="Open Sans"/>
              <a:sym typeface="Open Sans"/>
            </a:endParaRPr>
          </a:p>
          <a:p>
            <a:pPr indent="0" lvl="0" marL="0" rtl="0" algn="l">
              <a:spcBef>
                <a:spcPts val="0"/>
              </a:spcBef>
              <a:spcAft>
                <a:spcPts val="0"/>
              </a:spcAft>
              <a:buNone/>
            </a:pPr>
            <a:r>
              <a:rPr b="1" lang="en">
                <a:solidFill>
                  <a:srgbClr val="FF0000"/>
                </a:solidFill>
                <a:latin typeface="Open Sans"/>
                <a:ea typeface="Open Sans"/>
                <a:cs typeface="Open Sans"/>
                <a:sym typeface="Open Sans"/>
              </a:rPr>
              <a:t>This implies that these nodes are now mutually reachable</a:t>
            </a:r>
            <a:endParaRPr b="1">
              <a:solidFill>
                <a:srgbClr val="FF0000"/>
              </a:solidFill>
              <a:latin typeface="Open Sans"/>
              <a:ea typeface="Open Sans"/>
              <a:cs typeface="Open Sans"/>
              <a:sym typeface="Open Sans"/>
            </a:endParaRPr>
          </a:p>
          <a:p>
            <a:pPr indent="0" lvl="0" marL="0" rtl="0" algn="l">
              <a:spcBef>
                <a:spcPts val="0"/>
              </a:spcBef>
              <a:spcAft>
                <a:spcPts val="0"/>
              </a:spcAft>
              <a:buNone/>
            </a:pPr>
            <a:r>
              <a:t/>
            </a:r>
            <a:endParaRPr b="1">
              <a:solidFill>
                <a:srgbClr val="FF0000"/>
              </a:solidFill>
              <a:latin typeface="Open Sans"/>
              <a:ea typeface="Open Sans"/>
              <a:cs typeface="Open Sans"/>
              <a:sym typeface="Open Sans"/>
            </a:endParaRPr>
          </a:p>
        </p:txBody>
      </p:sp>
      <p:pic>
        <p:nvPicPr>
          <p:cNvPr descr="H = 1-\frac{5}{10}= 0.5" id="719" name="Google Shape;719;p39" title="MathEquation,#000000"/>
          <p:cNvPicPr preferRelativeResize="0"/>
          <p:nvPr/>
        </p:nvPicPr>
        <p:blipFill>
          <a:blip r:embed="rId3">
            <a:alphaModFix/>
          </a:blip>
          <a:stretch>
            <a:fillRect/>
          </a:stretch>
        </p:blipFill>
        <p:spPr>
          <a:xfrm>
            <a:off x="3050500" y="2419416"/>
            <a:ext cx="2770910" cy="533400"/>
          </a:xfrm>
          <a:prstGeom prst="rect">
            <a:avLst/>
          </a:prstGeom>
          <a:noFill/>
          <a:ln>
            <a:noFill/>
          </a:ln>
        </p:spPr>
      </p:pic>
      <p:sp>
        <p:nvSpPr>
          <p:cNvPr id="720" name="Google Shape;720;p39"/>
          <p:cNvSpPr/>
          <p:nvPr/>
        </p:nvSpPr>
        <p:spPr>
          <a:xfrm>
            <a:off x="572225" y="434227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721" name="Google Shape;721;p39"/>
          <p:cNvSpPr/>
          <p:nvPr/>
        </p:nvSpPr>
        <p:spPr>
          <a:xfrm>
            <a:off x="1573317" y="25114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722" name="Google Shape;722;p39"/>
          <p:cNvSpPr/>
          <p:nvPr/>
        </p:nvSpPr>
        <p:spPr>
          <a:xfrm>
            <a:off x="1573317" y="34268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723" name="Google Shape;723;p39"/>
          <p:cNvSpPr/>
          <p:nvPr/>
        </p:nvSpPr>
        <p:spPr>
          <a:xfrm>
            <a:off x="2574483" y="34605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724" name="Google Shape;724;p39"/>
          <p:cNvSpPr/>
          <p:nvPr/>
        </p:nvSpPr>
        <p:spPr>
          <a:xfrm>
            <a:off x="1573317" y="43422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725" name="Google Shape;725;p39"/>
          <p:cNvCxnSpPr>
            <a:stCxn id="721" idx="4"/>
            <a:endCxn id="722" idx="0"/>
          </p:cNvCxnSpPr>
          <p:nvPr/>
        </p:nvCxnSpPr>
        <p:spPr>
          <a:xfrm>
            <a:off x="1811667" y="2957525"/>
            <a:ext cx="0" cy="469200"/>
          </a:xfrm>
          <a:prstGeom prst="straightConnector1">
            <a:avLst/>
          </a:prstGeom>
          <a:noFill/>
          <a:ln cap="flat" cmpd="sng" w="28575">
            <a:solidFill>
              <a:srgbClr val="666666"/>
            </a:solidFill>
            <a:prstDash val="solid"/>
            <a:round/>
            <a:headEnd len="med" w="med" type="none"/>
            <a:tailEnd len="med" w="med" type="stealth"/>
          </a:ln>
        </p:spPr>
      </p:cxnSp>
      <p:cxnSp>
        <p:nvCxnSpPr>
          <p:cNvPr id="726" name="Google Shape;726;p39"/>
          <p:cNvCxnSpPr>
            <a:stCxn id="721" idx="5"/>
            <a:endCxn id="723" idx="1"/>
          </p:cNvCxnSpPr>
          <p:nvPr/>
        </p:nvCxnSpPr>
        <p:spPr>
          <a:xfrm>
            <a:off x="1980205" y="2892195"/>
            <a:ext cx="664200" cy="633600"/>
          </a:xfrm>
          <a:prstGeom prst="straightConnector1">
            <a:avLst/>
          </a:prstGeom>
          <a:noFill/>
          <a:ln cap="flat" cmpd="sng" w="28575">
            <a:solidFill>
              <a:srgbClr val="666666"/>
            </a:solidFill>
            <a:prstDash val="solid"/>
            <a:round/>
            <a:headEnd len="med" w="med" type="none"/>
            <a:tailEnd len="med" w="med" type="stealth"/>
          </a:ln>
        </p:spPr>
      </p:cxnSp>
      <p:cxnSp>
        <p:nvCxnSpPr>
          <p:cNvPr id="727" name="Google Shape;727;p39"/>
          <p:cNvCxnSpPr>
            <a:stCxn id="722" idx="3"/>
            <a:endCxn id="720" idx="7"/>
          </p:cNvCxnSpPr>
          <p:nvPr/>
        </p:nvCxnSpPr>
        <p:spPr>
          <a:xfrm flipH="1">
            <a:off x="979228" y="3807616"/>
            <a:ext cx="663900" cy="600000"/>
          </a:xfrm>
          <a:prstGeom prst="straightConnector1">
            <a:avLst/>
          </a:prstGeom>
          <a:noFill/>
          <a:ln cap="flat" cmpd="sng" w="28575">
            <a:solidFill>
              <a:srgbClr val="666666"/>
            </a:solidFill>
            <a:prstDash val="solid"/>
            <a:round/>
            <a:headEnd len="med" w="med" type="none"/>
            <a:tailEnd len="med" w="med" type="stealth"/>
          </a:ln>
        </p:spPr>
      </p:cxnSp>
      <p:cxnSp>
        <p:nvCxnSpPr>
          <p:cNvPr id="728" name="Google Shape;728;p39"/>
          <p:cNvCxnSpPr>
            <a:stCxn id="722" idx="4"/>
            <a:endCxn id="724" idx="0"/>
          </p:cNvCxnSpPr>
          <p:nvPr/>
        </p:nvCxnSpPr>
        <p:spPr>
          <a:xfrm>
            <a:off x="1811667" y="3872945"/>
            <a:ext cx="0" cy="469200"/>
          </a:xfrm>
          <a:prstGeom prst="straightConnector1">
            <a:avLst/>
          </a:prstGeom>
          <a:noFill/>
          <a:ln cap="flat" cmpd="sng" w="28575">
            <a:solidFill>
              <a:srgbClr val="666666"/>
            </a:solidFill>
            <a:prstDash val="solid"/>
            <a:round/>
            <a:headEnd len="med" w="med" type="none"/>
            <a:tailEnd len="med" w="med" type="stealth"/>
          </a:ln>
        </p:spPr>
      </p:cxnSp>
      <p:cxnSp>
        <p:nvCxnSpPr>
          <p:cNvPr id="729" name="Google Shape;729;p39"/>
          <p:cNvCxnSpPr>
            <a:stCxn id="723" idx="4"/>
            <a:endCxn id="724" idx="7"/>
          </p:cNvCxnSpPr>
          <p:nvPr/>
        </p:nvCxnSpPr>
        <p:spPr>
          <a:xfrm flipH="1">
            <a:off x="1980333" y="3906620"/>
            <a:ext cx="832500" cy="501000"/>
          </a:xfrm>
          <a:prstGeom prst="straightConnector1">
            <a:avLst/>
          </a:prstGeom>
          <a:noFill/>
          <a:ln cap="flat" cmpd="sng" w="28575">
            <a:solidFill>
              <a:srgbClr val="666666"/>
            </a:solidFill>
            <a:prstDash val="solid"/>
            <a:round/>
            <a:headEnd len="med" w="med" type="none"/>
            <a:tailEnd len="med" w="med" type="stealth"/>
          </a:ln>
        </p:spPr>
      </p:cxnSp>
      <p:cxnSp>
        <p:nvCxnSpPr>
          <p:cNvPr id="730" name="Google Shape;730;p39"/>
          <p:cNvCxnSpPr>
            <a:stCxn id="720" idx="7"/>
            <a:endCxn id="721" idx="3"/>
          </p:cNvCxnSpPr>
          <p:nvPr/>
        </p:nvCxnSpPr>
        <p:spPr>
          <a:xfrm flipH="1" rot="10800000">
            <a:off x="979114" y="2892300"/>
            <a:ext cx="663900" cy="1515300"/>
          </a:xfrm>
          <a:prstGeom prst="straightConnector1">
            <a:avLst/>
          </a:prstGeom>
          <a:noFill/>
          <a:ln cap="flat" cmpd="sng" w="28575">
            <a:solidFill>
              <a:srgbClr val="FF0000"/>
            </a:solidFill>
            <a:prstDash val="solid"/>
            <a:round/>
            <a:headEnd len="med" w="med" type="none"/>
            <a:tailEnd len="med" w="med" type="stealth"/>
          </a:ln>
        </p:spPr>
      </p:cxnSp>
      <p:cxnSp>
        <p:nvCxnSpPr>
          <p:cNvPr id="731" name="Google Shape;731;p39"/>
          <p:cNvCxnSpPr>
            <a:stCxn id="722" idx="6"/>
            <a:endCxn id="721" idx="6"/>
          </p:cNvCxnSpPr>
          <p:nvPr/>
        </p:nvCxnSpPr>
        <p:spPr>
          <a:xfrm flipH="1" rot="10800000">
            <a:off x="2050017" y="2734595"/>
            <a:ext cx="600" cy="915300"/>
          </a:xfrm>
          <a:prstGeom prst="curvedConnector3">
            <a:avLst>
              <a:gd fmla="val 39687500" name="adj1"/>
            </a:avLst>
          </a:prstGeom>
          <a:noFill/>
          <a:ln cap="flat" cmpd="sng" w="28575">
            <a:solidFill>
              <a:srgbClr val="FF0000"/>
            </a:solidFill>
            <a:prstDash val="solid"/>
            <a:round/>
            <a:headEnd len="med" w="med" type="none"/>
            <a:tailEnd len="med" w="med" type="stealth"/>
          </a:ln>
        </p:spPr>
      </p:cxnSp>
      <p:graphicFrame>
        <p:nvGraphicFramePr>
          <p:cNvPr id="732" name="Google Shape;732;p39"/>
          <p:cNvGraphicFramePr/>
          <p:nvPr/>
        </p:nvGraphicFramePr>
        <p:xfrm>
          <a:off x="6210600" y="2506375"/>
          <a:ext cx="3000000" cy="3000000"/>
        </p:xfrm>
        <a:graphic>
          <a:graphicData uri="http://schemas.openxmlformats.org/drawingml/2006/table">
            <a:tbl>
              <a:tblPr>
                <a:noFill/>
                <a:tableStyleId>{9C004714-7C27-400D-AF19-6A7FADFF251D}</a:tableStyleId>
              </a:tblPr>
              <a:tblGrid>
                <a:gridCol w="413950"/>
                <a:gridCol w="413950"/>
                <a:gridCol w="413950"/>
                <a:gridCol w="413950"/>
                <a:gridCol w="413950"/>
                <a:gridCol w="413950"/>
              </a:tblGrid>
              <a:tr h="3477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E</a:t>
                      </a:r>
                      <a:endParaRPr/>
                    </a:p>
                  </a:txBody>
                  <a:tcPr marT="91425" marB="91425" marR="91425" marL="91425"/>
                </a:tc>
              </a:tr>
              <a:tr h="347725">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47725">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solidFill>
                      <a:srgbClr val="CFE2F3"/>
                    </a:solidFill>
                  </a:tcPr>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47725">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solidFill>
                      <a:srgbClr val="CFE2F3"/>
                    </a:solidFill>
                  </a:tcPr>
                </a:tc>
                <a:tc>
                  <a:txBody>
                    <a:bodyPr/>
                    <a:lstStyle/>
                    <a:p>
                      <a:pPr indent="0" lvl="0" marL="0" rtl="0" algn="l">
                        <a:spcBef>
                          <a:spcPts val="0"/>
                        </a:spcBef>
                        <a:spcAft>
                          <a:spcPts val="0"/>
                        </a:spcAft>
                        <a:buNone/>
                      </a:pPr>
                      <a:r>
                        <a:rPr lang="en"/>
                        <a:t>0</a:t>
                      </a:r>
                      <a:endParaRPr/>
                    </a:p>
                  </a:txBody>
                  <a:tcPr marT="91425" marB="91425" marR="91425" marL="91425">
                    <a:solidFill>
                      <a:srgbClr val="CFE2F3"/>
                    </a:solidFill>
                  </a:tcPr>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r h="347725">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solidFill>
                      <a:srgbClr val="CFE2F3"/>
                    </a:solidFill>
                  </a:tcPr>
                </a:tc>
                <a:tc>
                  <a:txBody>
                    <a:bodyPr/>
                    <a:lstStyle/>
                    <a:p>
                      <a:pPr indent="0" lvl="0" marL="0" rtl="0" algn="l">
                        <a:spcBef>
                          <a:spcPts val="0"/>
                        </a:spcBef>
                        <a:spcAft>
                          <a:spcPts val="0"/>
                        </a:spcAft>
                        <a:buNone/>
                      </a:pPr>
                      <a:r>
                        <a:rPr lang="en"/>
                        <a:t>0</a:t>
                      </a:r>
                      <a:endParaRPr/>
                    </a:p>
                  </a:txBody>
                  <a:tcPr marT="91425" marB="91425" marR="91425" marL="91425">
                    <a:solidFill>
                      <a:srgbClr val="CFE2F3"/>
                    </a:solidFill>
                  </a:tcPr>
                </a:tc>
                <a:tc>
                  <a:txBody>
                    <a:bodyPr/>
                    <a:lstStyle/>
                    <a:p>
                      <a:pPr indent="0" lvl="0" marL="0" rtl="0" algn="l">
                        <a:spcBef>
                          <a:spcPts val="0"/>
                        </a:spcBef>
                        <a:spcAft>
                          <a:spcPts val="0"/>
                        </a:spcAft>
                        <a:buNone/>
                      </a:pPr>
                      <a:r>
                        <a:rPr lang="en"/>
                        <a:t>0</a:t>
                      </a:r>
                      <a:endParaRPr/>
                    </a:p>
                  </a:txBody>
                  <a:tcPr marT="91425" marB="91425" marR="91425" marL="91425">
                    <a:solidFill>
                      <a:srgbClr val="CFE2F3"/>
                    </a:solidFill>
                  </a:tcPr>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r h="347725">
                <a:tc>
                  <a:txBody>
                    <a:bodyPr/>
                    <a:lstStyle/>
                    <a:p>
                      <a:pPr indent="0" lvl="0" marL="0" rtl="0" algn="l">
                        <a:spcBef>
                          <a:spcPts val="0"/>
                        </a:spcBef>
                        <a:spcAft>
                          <a:spcPts val="0"/>
                        </a:spcAft>
                        <a:buNone/>
                      </a:pPr>
                      <a:r>
                        <a:rPr lang="en"/>
                        <a:t>E</a:t>
                      </a:r>
                      <a:endParaRPr/>
                    </a:p>
                  </a:txBody>
                  <a:tcPr marT="91425" marB="91425" marR="91425" marL="91425"/>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solidFill>
                      <a:srgbClr val="CFE2F3"/>
                    </a:solidFill>
                  </a:tcPr>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solidFill>
                      <a:srgbClr val="CFE2F3"/>
                    </a:solidFill>
                  </a:tcPr>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solidFill>
                      <a:srgbClr val="CFE2F3"/>
                    </a:solidFill>
                  </a:tcPr>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solidFill>
                      <a:srgbClr val="CFE2F3"/>
                    </a:solidFill>
                  </a:tcPr>
                </a:tc>
                <a:tc>
                  <a:txBody>
                    <a:bodyPr/>
                    <a:lstStyle/>
                    <a:p>
                      <a:pPr indent="0" lvl="0" marL="0" rtl="0" algn="l">
                        <a:spcBef>
                          <a:spcPts val="0"/>
                        </a:spcBef>
                        <a:spcAft>
                          <a:spcPts val="0"/>
                        </a:spcAft>
                        <a:buNone/>
                      </a:pPr>
                      <a:r>
                        <a:rPr lang="en"/>
                        <a:t>--</a:t>
                      </a:r>
                      <a:endParaRPr/>
                    </a:p>
                  </a:txBody>
                  <a:tcPr marT="91425" marB="91425" marR="91425" marL="91425"/>
                </a:tc>
              </a:tr>
            </a:tbl>
          </a:graphicData>
        </a:graphic>
      </p:graphicFrame>
      <p:sp>
        <p:nvSpPr>
          <p:cNvPr id="733" name="Google Shape;733;p39"/>
          <p:cNvSpPr txBox="1"/>
          <p:nvPr/>
        </p:nvSpPr>
        <p:spPr>
          <a:xfrm>
            <a:off x="6199800" y="2060325"/>
            <a:ext cx="2473500" cy="36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Reachability matrix</a:t>
            </a:r>
            <a:endParaRPr sz="1800">
              <a:latin typeface="Economica"/>
              <a:ea typeface="Economica"/>
              <a:cs typeface="Economica"/>
              <a:sym typeface="Economica"/>
            </a:endParaRPr>
          </a:p>
        </p:txBody>
      </p:sp>
      <p:cxnSp>
        <p:nvCxnSpPr>
          <p:cNvPr id="734" name="Google Shape;734;p39"/>
          <p:cNvCxnSpPr>
            <a:stCxn id="718" idx="3"/>
          </p:cNvCxnSpPr>
          <p:nvPr/>
        </p:nvCxnSpPr>
        <p:spPr>
          <a:xfrm>
            <a:off x="5505525" y="4053475"/>
            <a:ext cx="805500" cy="366900"/>
          </a:xfrm>
          <a:prstGeom prst="straightConnector1">
            <a:avLst/>
          </a:prstGeom>
          <a:noFill/>
          <a:ln cap="flat" cmpd="sng" w="19050">
            <a:solidFill>
              <a:srgbClr val="FF0000"/>
            </a:solidFill>
            <a:prstDash val="solid"/>
            <a:round/>
            <a:headEnd len="med" w="med" type="none"/>
            <a:tailEnd len="med" w="med" type="triangl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4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Path-based network properties</a:t>
            </a:r>
            <a:endParaRPr/>
          </a:p>
        </p:txBody>
      </p:sp>
      <p:sp>
        <p:nvSpPr>
          <p:cNvPr id="740" name="Google Shape;740;p40"/>
          <p:cNvSpPr txBox="1"/>
          <p:nvPr>
            <p:ph idx="1" type="body"/>
          </p:nvPr>
        </p:nvSpPr>
        <p:spPr>
          <a:xfrm>
            <a:off x="311700" y="1225225"/>
            <a:ext cx="8520600" cy="113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Hierarchy</a:t>
            </a:r>
            <a:r>
              <a:rPr lang="en"/>
              <a:t> (H) measures </a:t>
            </a:r>
            <a:r>
              <a:rPr b="1" lang="en"/>
              <a:t>anti-symmetry</a:t>
            </a:r>
            <a:r>
              <a:rPr lang="en"/>
              <a:t> in a network</a:t>
            </a:r>
            <a:endParaRPr/>
          </a:p>
          <a:p>
            <a:pPr indent="-317500" lvl="1" marL="914400" rtl="0" algn="l">
              <a:spcBef>
                <a:spcPts val="0"/>
              </a:spcBef>
              <a:spcAft>
                <a:spcPts val="0"/>
              </a:spcAft>
              <a:buSzPts val="1400"/>
              <a:buChar char="○"/>
            </a:pPr>
            <a:r>
              <a:rPr lang="en"/>
              <a:t>We can measure hierarchy as one minus the total number of </a:t>
            </a:r>
            <a:r>
              <a:rPr b="1" lang="en"/>
              <a:t>anti-symmetry violating entries (V)</a:t>
            </a:r>
            <a:r>
              <a:rPr lang="en"/>
              <a:t> in the lower diagonal divided by the possible number of pairs</a:t>
            </a:r>
            <a:endParaRPr/>
          </a:p>
          <a:p>
            <a:pPr indent="0" lvl="0" marL="0" rtl="0" algn="l">
              <a:spcBef>
                <a:spcPts val="1600"/>
              </a:spcBef>
              <a:spcAft>
                <a:spcPts val="0"/>
              </a:spcAft>
              <a:buNone/>
            </a:pPr>
            <a:r>
              <a:t/>
            </a:r>
            <a:endParaRPr/>
          </a:p>
          <a:p>
            <a:pPr indent="0" lvl="0" marL="0" rtl="0" algn="l">
              <a:spcBef>
                <a:spcPts val="1600"/>
              </a:spcBef>
              <a:spcAft>
                <a:spcPts val="0"/>
              </a:spcAft>
              <a:buNone/>
            </a:pPr>
            <a:r>
              <a:t/>
            </a:r>
            <a:endParaRPr/>
          </a:p>
          <a:p>
            <a:pPr indent="0" lvl="0" marL="914400" rtl="0" algn="l">
              <a:spcBef>
                <a:spcPts val="1600"/>
              </a:spcBef>
              <a:spcAft>
                <a:spcPts val="1600"/>
              </a:spcAft>
              <a:buNone/>
            </a:pPr>
            <a:r>
              <a:t/>
            </a:r>
            <a:endParaRPr/>
          </a:p>
        </p:txBody>
      </p:sp>
      <p:sp>
        <p:nvSpPr>
          <p:cNvPr id="741" name="Google Shape;741;p40"/>
          <p:cNvSpPr txBox="1"/>
          <p:nvPr/>
        </p:nvSpPr>
        <p:spPr>
          <a:xfrm>
            <a:off x="3227150" y="3179575"/>
            <a:ext cx="2569200" cy="100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The </a:t>
            </a:r>
            <a:r>
              <a:rPr b="1" lang="en">
                <a:solidFill>
                  <a:srgbClr val="0000FF"/>
                </a:solidFill>
                <a:latin typeface="Open Sans"/>
                <a:ea typeface="Open Sans"/>
                <a:cs typeface="Open Sans"/>
                <a:sym typeface="Open Sans"/>
              </a:rPr>
              <a:t>more</a:t>
            </a:r>
            <a:r>
              <a:rPr b="1" lang="en">
                <a:solidFill>
                  <a:srgbClr val="FF0000"/>
                </a:solidFill>
                <a:latin typeface="Open Sans"/>
                <a:ea typeface="Open Sans"/>
                <a:cs typeface="Open Sans"/>
                <a:sym typeface="Open Sans"/>
              </a:rPr>
              <a:t> violations the </a:t>
            </a:r>
            <a:r>
              <a:rPr b="1" lang="en">
                <a:solidFill>
                  <a:srgbClr val="0000FF"/>
                </a:solidFill>
                <a:latin typeface="Open Sans"/>
                <a:ea typeface="Open Sans"/>
                <a:cs typeface="Open Sans"/>
                <a:sym typeface="Open Sans"/>
              </a:rPr>
              <a:t>less</a:t>
            </a:r>
            <a:r>
              <a:rPr b="1" lang="en">
                <a:solidFill>
                  <a:srgbClr val="FF0000"/>
                </a:solidFill>
                <a:latin typeface="Open Sans"/>
                <a:ea typeface="Open Sans"/>
                <a:cs typeface="Open Sans"/>
                <a:sym typeface="Open Sans"/>
              </a:rPr>
              <a:t> hierarchy!</a:t>
            </a:r>
            <a:endParaRPr b="1">
              <a:solidFill>
                <a:srgbClr val="FF0000"/>
              </a:solidFill>
              <a:latin typeface="Open Sans"/>
              <a:ea typeface="Open Sans"/>
              <a:cs typeface="Open Sans"/>
              <a:sym typeface="Open Sans"/>
            </a:endParaRPr>
          </a:p>
        </p:txBody>
      </p:sp>
      <p:sp>
        <p:nvSpPr>
          <p:cNvPr id="742" name="Google Shape;742;p40"/>
          <p:cNvSpPr/>
          <p:nvPr/>
        </p:nvSpPr>
        <p:spPr>
          <a:xfrm>
            <a:off x="572225" y="434227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743" name="Google Shape;743;p40"/>
          <p:cNvSpPr/>
          <p:nvPr/>
        </p:nvSpPr>
        <p:spPr>
          <a:xfrm>
            <a:off x="1573317" y="25114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744" name="Google Shape;744;p40"/>
          <p:cNvSpPr/>
          <p:nvPr/>
        </p:nvSpPr>
        <p:spPr>
          <a:xfrm>
            <a:off x="1573317" y="34268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745" name="Google Shape;745;p40"/>
          <p:cNvSpPr/>
          <p:nvPr/>
        </p:nvSpPr>
        <p:spPr>
          <a:xfrm>
            <a:off x="2574483" y="34605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746" name="Google Shape;746;p40"/>
          <p:cNvSpPr/>
          <p:nvPr/>
        </p:nvSpPr>
        <p:spPr>
          <a:xfrm>
            <a:off x="1573317" y="43422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747" name="Google Shape;747;p40"/>
          <p:cNvCxnSpPr>
            <a:stCxn id="743" idx="4"/>
            <a:endCxn id="744" idx="0"/>
          </p:cNvCxnSpPr>
          <p:nvPr/>
        </p:nvCxnSpPr>
        <p:spPr>
          <a:xfrm>
            <a:off x="1811667" y="2957525"/>
            <a:ext cx="0" cy="469200"/>
          </a:xfrm>
          <a:prstGeom prst="straightConnector1">
            <a:avLst/>
          </a:prstGeom>
          <a:noFill/>
          <a:ln cap="flat" cmpd="sng" w="28575">
            <a:solidFill>
              <a:srgbClr val="666666"/>
            </a:solidFill>
            <a:prstDash val="solid"/>
            <a:round/>
            <a:headEnd len="med" w="med" type="none"/>
            <a:tailEnd len="med" w="med" type="stealth"/>
          </a:ln>
        </p:spPr>
      </p:cxnSp>
      <p:cxnSp>
        <p:nvCxnSpPr>
          <p:cNvPr id="748" name="Google Shape;748;p40"/>
          <p:cNvCxnSpPr>
            <a:stCxn id="743" idx="5"/>
            <a:endCxn id="745" idx="1"/>
          </p:cNvCxnSpPr>
          <p:nvPr/>
        </p:nvCxnSpPr>
        <p:spPr>
          <a:xfrm>
            <a:off x="1980205" y="2892195"/>
            <a:ext cx="664200" cy="633600"/>
          </a:xfrm>
          <a:prstGeom prst="straightConnector1">
            <a:avLst/>
          </a:prstGeom>
          <a:noFill/>
          <a:ln cap="flat" cmpd="sng" w="28575">
            <a:solidFill>
              <a:srgbClr val="666666"/>
            </a:solidFill>
            <a:prstDash val="solid"/>
            <a:round/>
            <a:headEnd len="med" w="med" type="none"/>
            <a:tailEnd len="med" w="med" type="stealth"/>
          </a:ln>
        </p:spPr>
      </p:cxnSp>
      <p:cxnSp>
        <p:nvCxnSpPr>
          <p:cNvPr id="749" name="Google Shape;749;p40"/>
          <p:cNvCxnSpPr>
            <a:stCxn id="744" idx="3"/>
            <a:endCxn id="742" idx="7"/>
          </p:cNvCxnSpPr>
          <p:nvPr/>
        </p:nvCxnSpPr>
        <p:spPr>
          <a:xfrm flipH="1">
            <a:off x="979228" y="3807616"/>
            <a:ext cx="663900" cy="600000"/>
          </a:xfrm>
          <a:prstGeom prst="straightConnector1">
            <a:avLst/>
          </a:prstGeom>
          <a:noFill/>
          <a:ln cap="flat" cmpd="sng" w="28575">
            <a:solidFill>
              <a:srgbClr val="666666"/>
            </a:solidFill>
            <a:prstDash val="solid"/>
            <a:round/>
            <a:headEnd len="med" w="med" type="none"/>
            <a:tailEnd len="med" w="med" type="stealth"/>
          </a:ln>
        </p:spPr>
      </p:cxnSp>
      <p:cxnSp>
        <p:nvCxnSpPr>
          <p:cNvPr id="750" name="Google Shape;750;p40"/>
          <p:cNvCxnSpPr>
            <a:stCxn id="744" idx="4"/>
            <a:endCxn id="746" idx="0"/>
          </p:cNvCxnSpPr>
          <p:nvPr/>
        </p:nvCxnSpPr>
        <p:spPr>
          <a:xfrm>
            <a:off x="1811667" y="3872945"/>
            <a:ext cx="0" cy="469200"/>
          </a:xfrm>
          <a:prstGeom prst="straightConnector1">
            <a:avLst/>
          </a:prstGeom>
          <a:noFill/>
          <a:ln cap="flat" cmpd="sng" w="28575">
            <a:solidFill>
              <a:srgbClr val="666666"/>
            </a:solidFill>
            <a:prstDash val="solid"/>
            <a:round/>
            <a:headEnd len="med" w="med" type="none"/>
            <a:tailEnd len="med" w="med" type="stealth"/>
          </a:ln>
        </p:spPr>
      </p:cxnSp>
      <p:cxnSp>
        <p:nvCxnSpPr>
          <p:cNvPr id="751" name="Google Shape;751;p40"/>
          <p:cNvCxnSpPr>
            <a:stCxn id="745" idx="4"/>
            <a:endCxn id="746" idx="7"/>
          </p:cNvCxnSpPr>
          <p:nvPr/>
        </p:nvCxnSpPr>
        <p:spPr>
          <a:xfrm flipH="1">
            <a:off x="1980333" y="3906620"/>
            <a:ext cx="832500" cy="501000"/>
          </a:xfrm>
          <a:prstGeom prst="straightConnector1">
            <a:avLst/>
          </a:prstGeom>
          <a:noFill/>
          <a:ln cap="flat" cmpd="sng" w="28575">
            <a:solidFill>
              <a:srgbClr val="666666"/>
            </a:solidFill>
            <a:prstDash val="solid"/>
            <a:round/>
            <a:headEnd len="med" w="med" type="none"/>
            <a:tailEnd len="med" w="med" type="stealth"/>
          </a:ln>
        </p:spPr>
      </p:cxnSp>
      <p:cxnSp>
        <p:nvCxnSpPr>
          <p:cNvPr id="752" name="Google Shape;752;p40"/>
          <p:cNvCxnSpPr>
            <a:stCxn id="742" idx="7"/>
            <a:endCxn id="743" idx="3"/>
          </p:cNvCxnSpPr>
          <p:nvPr/>
        </p:nvCxnSpPr>
        <p:spPr>
          <a:xfrm flipH="1" rot="10800000">
            <a:off x="979114" y="2892300"/>
            <a:ext cx="663900" cy="1515300"/>
          </a:xfrm>
          <a:prstGeom prst="straightConnector1">
            <a:avLst/>
          </a:prstGeom>
          <a:noFill/>
          <a:ln cap="flat" cmpd="sng" w="28575">
            <a:solidFill>
              <a:srgbClr val="FF0000"/>
            </a:solidFill>
            <a:prstDash val="solid"/>
            <a:round/>
            <a:headEnd len="med" w="med" type="none"/>
            <a:tailEnd len="med" w="med" type="stealth"/>
          </a:ln>
        </p:spPr>
      </p:cxnSp>
      <p:cxnSp>
        <p:nvCxnSpPr>
          <p:cNvPr id="753" name="Google Shape;753;p40"/>
          <p:cNvCxnSpPr>
            <a:stCxn id="744" idx="6"/>
            <a:endCxn id="743" idx="6"/>
          </p:cNvCxnSpPr>
          <p:nvPr/>
        </p:nvCxnSpPr>
        <p:spPr>
          <a:xfrm flipH="1" rot="10800000">
            <a:off x="2050017" y="2734595"/>
            <a:ext cx="600" cy="915300"/>
          </a:xfrm>
          <a:prstGeom prst="curvedConnector3">
            <a:avLst>
              <a:gd fmla="val 39687500" name="adj1"/>
            </a:avLst>
          </a:prstGeom>
          <a:noFill/>
          <a:ln cap="flat" cmpd="sng" w="28575">
            <a:solidFill>
              <a:srgbClr val="FF0000"/>
            </a:solidFill>
            <a:prstDash val="solid"/>
            <a:round/>
            <a:headEnd len="med" w="med" type="none"/>
            <a:tailEnd len="med" w="med" type="stealth"/>
          </a:ln>
        </p:spPr>
      </p:cxnSp>
      <p:graphicFrame>
        <p:nvGraphicFramePr>
          <p:cNvPr id="754" name="Google Shape;754;p40"/>
          <p:cNvGraphicFramePr/>
          <p:nvPr/>
        </p:nvGraphicFramePr>
        <p:xfrm>
          <a:off x="6210600" y="2506375"/>
          <a:ext cx="3000000" cy="3000000"/>
        </p:xfrm>
        <a:graphic>
          <a:graphicData uri="http://schemas.openxmlformats.org/drawingml/2006/table">
            <a:tbl>
              <a:tblPr>
                <a:noFill/>
                <a:tableStyleId>{9C004714-7C27-400D-AF19-6A7FADFF251D}</a:tableStyleId>
              </a:tblPr>
              <a:tblGrid>
                <a:gridCol w="413950"/>
                <a:gridCol w="413950"/>
                <a:gridCol w="413950"/>
                <a:gridCol w="413950"/>
                <a:gridCol w="413950"/>
                <a:gridCol w="413950"/>
              </a:tblGrid>
              <a:tr h="3477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E</a:t>
                      </a:r>
                      <a:endParaRPr/>
                    </a:p>
                  </a:txBody>
                  <a:tcPr marT="91425" marB="91425" marR="91425" marL="91425"/>
                </a:tc>
              </a:tr>
              <a:tr h="347725">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47725">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solidFill>
                      <a:srgbClr val="CFE2F3"/>
                    </a:solidFill>
                  </a:tcPr>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47725">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solidFill>
                      <a:srgbClr val="CFE2F3"/>
                    </a:solidFill>
                  </a:tcPr>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solidFill>
                      <a:srgbClr val="CFE2F3"/>
                    </a:solidFill>
                  </a:tcPr>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47725">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solidFill>
                      <a:srgbClr val="CFE2F3"/>
                    </a:solidFill>
                  </a:tcPr>
                </a:tc>
                <a:tc>
                  <a:txBody>
                    <a:bodyPr/>
                    <a:lstStyle/>
                    <a:p>
                      <a:pPr indent="0" lvl="0" marL="0" rtl="0" algn="l">
                        <a:spcBef>
                          <a:spcPts val="0"/>
                        </a:spcBef>
                        <a:spcAft>
                          <a:spcPts val="0"/>
                        </a:spcAft>
                        <a:buNone/>
                      </a:pPr>
                      <a:r>
                        <a:rPr lang="en"/>
                        <a:t>0</a:t>
                      </a:r>
                      <a:endParaRPr/>
                    </a:p>
                  </a:txBody>
                  <a:tcPr marT="91425" marB="91425" marR="91425" marL="91425">
                    <a:solidFill>
                      <a:srgbClr val="CFE2F3"/>
                    </a:solidFill>
                  </a:tcPr>
                </a:tc>
                <a:tc>
                  <a:txBody>
                    <a:bodyPr/>
                    <a:lstStyle/>
                    <a:p>
                      <a:pPr indent="0" lvl="0" marL="0" rtl="0" algn="l">
                        <a:spcBef>
                          <a:spcPts val="0"/>
                        </a:spcBef>
                        <a:spcAft>
                          <a:spcPts val="0"/>
                        </a:spcAft>
                        <a:buNone/>
                      </a:pPr>
                      <a:r>
                        <a:rPr lang="en"/>
                        <a:t>0</a:t>
                      </a:r>
                      <a:endParaRPr/>
                    </a:p>
                  </a:txBody>
                  <a:tcPr marT="91425" marB="91425" marR="91425" marL="91425">
                    <a:solidFill>
                      <a:srgbClr val="CFE2F3"/>
                    </a:solidFill>
                  </a:tcPr>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r h="347725">
                <a:tc>
                  <a:txBody>
                    <a:bodyPr/>
                    <a:lstStyle/>
                    <a:p>
                      <a:pPr indent="0" lvl="0" marL="0" rtl="0" algn="l">
                        <a:spcBef>
                          <a:spcPts val="0"/>
                        </a:spcBef>
                        <a:spcAft>
                          <a:spcPts val="0"/>
                        </a:spcAft>
                        <a:buNone/>
                      </a:pPr>
                      <a:r>
                        <a:rPr lang="en"/>
                        <a:t>E</a:t>
                      </a:r>
                      <a:endParaRPr/>
                    </a:p>
                  </a:txBody>
                  <a:tcPr marT="91425" marB="91425" marR="91425" marL="91425"/>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solidFill>
                      <a:srgbClr val="CFE2F3"/>
                    </a:solidFill>
                  </a:tcPr>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solidFill>
                      <a:srgbClr val="CFE2F3"/>
                    </a:solidFill>
                  </a:tcPr>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solidFill>
                      <a:srgbClr val="CFE2F3"/>
                    </a:solidFill>
                  </a:tcPr>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solidFill>
                      <a:srgbClr val="CFE2F3"/>
                    </a:solidFill>
                  </a:tcPr>
                </a:tc>
                <a:tc>
                  <a:txBody>
                    <a:bodyPr/>
                    <a:lstStyle/>
                    <a:p>
                      <a:pPr indent="0" lvl="0" marL="0" rtl="0" algn="l">
                        <a:spcBef>
                          <a:spcPts val="0"/>
                        </a:spcBef>
                        <a:spcAft>
                          <a:spcPts val="0"/>
                        </a:spcAft>
                        <a:buNone/>
                      </a:pPr>
                      <a:r>
                        <a:rPr lang="en"/>
                        <a:t>--</a:t>
                      </a:r>
                      <a:endParaRPr/>
                    </a:p>
                  </a:txBody>
                  <a:tcPr marT="91425" marB="91425" marR="91425" marL="91425"/>
                </a:tc>
              </a:tr>
            </a:tbl>
          </a:graphicData>
        </a:graphic>
      </p:graphicFrame>
      <p:sp>
        <p:nvSpPr>
          <p:cNvPr id="755" name="Google Shape;755;p40"/>
          <p:cNvSpPr txBox="1"/>
          <p:nvPr/>
        </p:nvSpPr>
        <p:spPr>
          <a:xfrm>
            <a:off x="6199800" y="2060325"/>
            <a:ext cx="2473500" cy="366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Reachability matrix</a:t>
            </a:r>
            <a:endParaRPr sz="1800">
              <a:latin typeface="Economica"/>
              <a:ea typeface="Economica"/>
              <a:cs typeface="Economica"/>
              <a:sym typeface="Economica"/>
            </a:endParaRPr>
          </a:p>
        </p:txBody>
      </p:sp>
      <p:cxnSp>
        <p:nvCxnSpPr>
          <p:cNvPr id="756" name="Google Shape;756;p40"/>
          <p:cNvCxnSpPr>
            <a:stCxn id="745" idx="0"/>
            <a:endCxn id="743" idx="0"/>
          </p:cNvCxnSpPr>
          <p:nvPr/>
        </p:nvCxnSpPr>
        <p:spPr>
          <a:xfrm flipH="1" rot="5400000">
            <a:off x="1837683" y="2485370"/>
            <a:ext cx="949200" cy="1001100"/>
          </a:xfrm>
          <a:prstGeom prst="curvedConnector3">
            <a:avLst>
              <a:gd fmla="val 125076" name="adj1"/>
            </a:avLst>
          </a:prstGeom>
          <a:noFill/>
          <a:ln cap="flat" cmpd="sng" w="28575">
            <a:solidFill>
              <a:srgbClr val="FF0000"/>
            </a:solidFill>
            <a:prstDash val="solid"/>
            <a:round/>
            <a:headEnd len="med" w="med" type="none"/>
            <a:tailEnd len="med" w="med" type="stealth"/>
          </a:ln>
        </p:spPr>
      </p:cxnSp>
      <p:pic>
        <p:nvPicPr>
          <p:cNvPr descr="H = 1-\frac{7}{10}= 0.3" id="757" name="Google Shape;757;p40" title="MathEquation,#000000"/>
          <p:cNvPicPr preferRelativeResize="0"/>
          <p:nvPr/>
        </p:nvPicPr>
        <p:blipFill>
          <a:blip r:embed="rId3">
            <a:alphaModFix/>
          </a:blip>
          <a:stretch>
            <a:fillRect/>
          </a:stretch>
        </p:blipFill>
        <p:spPr>
          <a:xfrm>
            <a:off x="3050500" y="2419416"/>
            <a:ext cx="2770910" cy="5334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1" name="Shape 761"/>
        <p:cNvGrpSpPr/>
        <p:nvPr/>
      </p:nvGrpSpPr>
      <p:grpSpPr>
        <a:xfrm>
          <a:off x="0" y="0"/>
          <a:ext cx="0" cy="0"/>
          <a:chOff x="0" y="0"/>
          <a:chExt cx="0" cy="0"/>
        </a:xfrm>
      </p:grpSpPr>
      <p:sp>
        <p:nvSpPr>
          <p:cNvPr id="762" name="Google Shape;762;p4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Dyad-based network properties</a:t>
            </a:r>
            <a:endParaRPr/>
          </a:p>
        </p:txBody>
      </p:sp>
      <p:sp>
        <p:nvSpPr>
          <p:cNvPr id="763" name="Google Shape;763;p41"/>
          <p:cNvSpPr txBox="1"/>
          <p:nvPr/>
        </p:nvSpPr>
        <p:spPr>
          <a:xfrm>
            <a:off x="3142900" y="2688125"/>
            <a:ext cx="2569200" cy="194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Mutual ties appear as symmetrical entries in the </a:t>
            </a:r>
            <a:r>
              <a:rPr b="1" lang="en">
                <a:solidFill>
                  <a:srgbClr val="FF0000"/>
                </a:solidFill>
                <a:latin typeface="Open Sans"/>
                <a:ea typeface="Open Sans"/>
                <a:cs typeface="Open Sans"/>
                <a:sym typeface="Open Sans"/>
              </a:rPr>
              <a:t>adjacency</a:t>
            </a:r>
            <a:r>
              <a:rPr b="1" lang="en">
                <a:solidFill>
                  <a:srgbClr val="FF0000"/>
                </a:solidFill>
                <a:latin typeface="Open Sans"/>
                <a:ea typeface="Open Sans"/>
                <a:cs typeface="Open Sans"/>
                <a:sym typeface="Open Sans"/>
              </a:rPr>
              <a:t> matrix!</a:t>
            </a:r>
            <a:endParaRPr b="1">
              <a:solidFill>
                <a:srgbClr val="FF0000"/>
              </a:solidFill>
              <a:latin typeface="Open Sans"/>
              <a:ea typeface="Open Sans"/>
              <a:cs typeface="Open Sans"/>
              <a:sym typeface="Open Sans"/>
            </a:endParaRPr>
          </a:p>
          <a:p>
            <a:pPr indent="0" lvl="0" marL="0" rtl="0" algn="l">
              <a:spcBef>
                <a:spcPts val="0"/>
              </a:spcBef>
              <a:spcAft>
                <a:spcPts val="0"/>
              </a:spcAft>
              <a:buNone/>
            </a:pPr>
            <a:r>
              <a:t/>
            </a:r>
            <a:endParaRPr b="1">
              <a:solidFill>
                <a:srgbClr val="FF0000"/>
              </a:solidFill>
              <a:latin typeface="Open Sans"/>
              <a:ea typeface="Open Sans"/>
              <a:cs typeface="Open Sans"/>
              <a:sym typeface="Open Sans"/>
            </a:endParaRPr>
          </a:p>
          <a:p>
            <a:pPr indent="0" lvl="0" marL="0" rtl="0" algn="l">
              <a:spcBef>
                <a:spcPts val="0"/>
              </a:spcBef>
              <a:spcAft>
                <a:spcPts val="0"/>
              </a:spcAft>
              <a:buNone/>
            </a:pPr>
            <a:r>
              <a:rPr b="1" lang="en">
                <a:solidFill>
                  <a:srgbClr val="FF0000"/>
                </a:solidFill>
                <a:latin typeface="Open Sans"/>
                <a:ea typeface="Open Sans"/>
                <a:cs typeface="Open Sans"/>
                <a:sym typeface="Open Sans"/>
              </a:rPr>
              <a:t>In a matrix the entries </a:t>
            </a:r>
            <a:r>
              <a:rPr b="1" lang="en">
                <a:solidFill>
                  <a:srgbClr val="0000FF"/>
                </a:solidFill>
                <a:latin typeface="Open Sans"/>
                <a:ea typeface="Open Sans"/>
                <a:cs typeface="Open Sans"/>
                <a:sym typeface="Open Sans"/>
              </a:rPr>
              <a:t>A</a:t>
            </a:r>
            <a:r>
              <a:rPr b="1" baseline="-25000" lang="en">
                <a:solidFill>
                  <a:srgbClr val="0000FF"/>
                </a:solidFill>
                <a:latin typeface="Open Sans"/>
                <a:ea typeface="Open Sans"/>
                <a:cs typeface="Open Sans"/>
                <a:sym typeface="Open Sans"/>
              </a:rPr>
              <a:t>ij</a:t>
            </a:r>
            <a:r>
              <a:rPr b="1" lang="en">
                <a:solidFill>
                  <a:srgbClr val="0000FF"/>
                </a:solidFill>
                <a:latin typeface="Open Sans"/>
                <a:ea typeface="Open Sans"/>
                <a:cs typeface="Open Sans"/>
                <a:sym typeface="Open Sans"/>
              </a:rPr>
              <a:t> </a:t>
            </a:r>
            <a:r>
              <a:rPr b="1" lang="en">
                <a:solidFill>
                  <a:srgbClr val="FF0000"/>
                </a:solidFill>
                <a:latin typeface="Open Sans"/>
                <a:ea typeface="Open Sans"/>
                <a:cs typeface="Open Sans"/>
                <a:sym typeface="Open Sans"/>
              </a:rPr>
              <a:t>and </a:t>
            </a:r>
            <a:r>
              <a:rPr b="1" lang="en">
                <a:solidFill>
                  <a:srgbClr val="0000FF"/>
                </a:solidFill>
                <a:latin typeface="Open Sans"/>
                <a:ea typeface="Open Sans"/>
                <a:cs typeface="Open Sans"/>
                <a:sym typeface="Open Sans"/>
              </a:rPr>
              <a:t>A</a:t>
            </a:r>
            <a:r>
              <a:rPr b="1" baseline="-25000" lang="en">
                <a:solidFill>
                  <a:srgbClr val="0000FF"/>
                </a:solidFill>
                <a:latin typeface="Open Sans"/>
                <a:ea typeface="Open Sans"/>
                <a:cs typeface="Open Sans"/>
                <a:sym typeface="Open Sans"/>
              </a:rPr>
              <a:t>ji</a:t>
            </a:r>
            <a:r>
              <a:rPr b="1" lang="en">
                <a:solidFill>
                  <a:srgbClr val="0000FF"/>
                </a:solidFill>
                <a:latin typeface="Open Sans"/>
                <a:ea typeface="Open Sans"/>
                <a:cs typeface="Open Sans"/>
                <a:sym typeface="Open Sans"/>
              </a:rPr>
              <a:t> </a:t>
            </a:r>
            <a:r>
              <a:rPr b="1" lang="en">
                <a:solidFill>
                  <a:srgbClr val="FF0000"/>
                </a:solidFill>
                <a:latin typeface="Open Sans"/>
                <a:ea typeface="Open Sans"/>
                <a:cs typeface="Open Sans"/>
                <a:sym typeface="Open Sans"/>
              </a:rPr>
              <a:t>are symmetrical</a:t>
            </a:r>
            <a:endParaRPr b="1" i="1">
              <a:solidFill>
                <a:srgbClr val="FF0000"/>
              </a:solidFill>
              <a:latin typeface="Open Sans"/>
              <a:ea typeface="Open Sans"/>
              <a:cs typeface="Open Sans"/>
              <a:sym typeface="Open Sans"/>
            </a:endParaRPr>
          </a:p>
        </p:txBody>
      </p:sp>
      <p:cxnSp>
        <p:nvCxnSpPr>
          <p:cNvPr id="764" name="Google Shape;764;p41"/>
          <p:cNvCxnSpPr>
            <a:stCxn id="763" idx="3"/>
          </p:cNvCxnSpPr>
          <p:nvPr/>
        </p:nvCxnSpPr>
        <p:spPr>
          <a:xfrm>
            <a:off x="5712100" y="3659525"/>
            <a:ext cx="972000" cy="212100"/>
          </a:xfrm>
          <a:prstGeom prst="straightConnector1">
            <a:avLst/>
          </a:prstGeom>
          <a:noFill/>
          <a:ln cap="flat" cmpd="sng" w="19050">
            <a:solidFill>
              <a:srgbClr val="FF0000"/>
            </a:solidFill>
            <a:prstDash val="solid"/>
            <a:round/>
            <a:headEnd len="med" w="med" type="none"/>
            <a:tailEnd len="med" w="med" type="triangle"/>
          </a:ln>
        </p:spPr>
      </p:cxnSp>
      <p:graphicFrame>
        <p:nvGraphicFramePr>
          <p:cNvPr id="765" name="Google Shape;765;p41"/>
          <p:cNvGraphicFramePr/>
          <p:nvPr/>
        </p:nvGraphicFramePr>
        <p:xfrm>
          <a:off x="6210600" y="2506375"/>
          <a:ext cx="3000000" cy="3000000"/>
        </p:xfrm>
        <a:graphic>
          <a:graphicData uri="http://schemas.openxmlformats.org/drawingml/2006/table">
            <a:tbl>
              <a:tblPr>
                <a:noFill/>
                <a:tableStyleId>{9C004714-7C27-400D-AF19-6A7FADFF251D}</a:tableStyleId>
              </a:tblPr>
              <a:tblGrid>
                <a:gridCol w="413950"/>
                <a:gridCol w="413950"/>
                <a:gridCol w="413950"/>
                <a:gridCol w="413950"/>
                <a:gridCol w="413950"/>
                <a:gridCol w="413950"/>
              </a:tblGrid>
              <a:tr h="3477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E</a:t>
                      </a:r>
                      <a:endParaRPr/>
                    </a:p>
                  </a:txBody>
                  <a:tcPr marT="91425" marB="91425" marR="91425" marL="91425"/>
                </a:tc>
              </a:tr>
              <a:tr h="347725">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r h="347725">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47725">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47725">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lnR cap="flat" cmpd="sng" w="9525">
                      <a:solidFill>
                        <a:srgbClr val="666666"/>
                      </a:solidFill>
                      <a:prstDash val="solid"/>
                      <a:round/>
                      <a:headEnd len="sm" w="sm" type="none"/>
                      <a:tailEnd len="sm" w="sm" type="none"/>
                    </a:lnR>
                  </a:tcPr>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lnL cap="flat" cmpd="sng" w="9525">
                      <a:solidFill>
                        <a:srgbClr val="666666"/>
                      </a:solidFill>
                      <a:prstDash val="solid"/>
                      <a:round/>
                      <a:headEnd len="sm" w="sm" type="none"/>
                      <a:tailEnd len="sm" w="sm" type="none"/>
                    </a:lnL>
                  </a:tcPr>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r h="347725">
                <a:tc>
                  <a:txBody>
                    <a:bodyPr/>
                    <a:lstStyle/>
                    <a:p>
                      <a:pPr indent="0" lvl="0" marL="0" rtl="0" algn="l">
                        <a:spcBef>
                          <a:spcPts val="0"/>
                        </a:spcBef>
                        <a:spcAft>
                          <a:spcPts val="0"/>
                        </a:spcAft>
                        <a:buNone/>
                      </a:pPr>
                      <a:r>
                        <a:rPr lang="en"/>
                        <a:t>E</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lnT cap="flat" cmpd="sng" w="9525">
                      <a:solidFill>
                        <a:srgbClr val="666666"/>
                      </a:solidFill>
                      <a:prstDash val="solid"/>
                      <a:round/>
                      <a:headEnd len="sm" w="sm" type="none"/>
                      <a:tailEnd len="sm" w="sm" type="none"/>
                    </a:lnT>
                  </a:tcPr>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r>
            </a:tbl>
          </a:graphicData>
        </a:graphic>
      </p:graphicFrame>
      <p:sp>
        <p:nvSpPr>
          <p:cNvPr id="766" name="Google Shape;766;p41"/>
          <p:cNvSpPr txBox="1"/>
          <p:nvPr/>
        </p:nvSpPr>
        <p:spPr>
          <a:xfrm>
            <a:off x="6199800" y="1964925"/>
            <a:ext cx="2473500" cy="46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Adjacency matrix</a:t>
            </a:r>
            <a:endParaRPr sz="1800">
              <a:latin typeface="Economica"/>
              <a:ea typeface="Economica"/>
              <a:cs typeface="Economica"/>
              <a:sym typeface="Economica"/>
            </a:endParaRPr>
          </a:p>
        </p:txBody>
      </p:sp>
      <p:sp>
        <p:nvSpPr>
          <p:cNvPr id="767" name="Google Shape;767;p41"/>
          <p:cNvSpPr/>
          <p:nvPr/>
        </p:nvSpPr>
        <p:spPr>
          <a:xfrm>
            <a:off x="572225" y="434227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768" name="Google Shape;768;p41"/>
          <p:cNvSpPr/>
          <p:nvPr/>
        </p:nvSpPr>
        <p:spPr>
          <a:xfrm>
            <a:off x="1573317" y="25114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769" name="Google Shape;769;p41"/>
          <p:cNvSpPr/>
          <p:nvPr/>
        </p:nvSpPr>
        <p:spPr>
          <a:xfrm>
            <a:off x="1573317" y="34268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770" name="Google Shape;770;p41"/>
          <p:cNvSpPr/>
          <p:nvPr/>
        </p:nvSpPr>
        <p:spPr>
          <a:xfrm>
            <a:off x="2574483" y="34605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771" name="Google Shape;771;p41"/>
          <p:cNvSpPr/>
          <p:nvPr/>
        </p:nvSpPr>
        <p:spPr>
          <a:xfrm>
            <a:off x="1573317" y="43422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772" name="Google Shape;772;p41"/>
          <p:cNvCxnSpPr>
            <a:stCxn id="768" idx="4"/>
            <a:endCxn id="769" idx="0"/>
          </p:cNvCxnSpPr>
          <p:nvPr/>
        </p:nvCxnSpPr>
        <p:spPr>
          <a:xfrm>
            <a:off x="1811667" y="2957525"/>
            <a:ext cx="0" cy="469200"/>
          </a:xfrm>
          <a:prstGeom prst="straightConnector1">
            <a:avLst/>
          </a:prstGeom>
          <a:noFill/>
          <a:ln cap="flat" cmpd="sng" w="28575">
            <a:solidFill>
              <a:srgbClr val="666666"/>
            </a:solidFill>
            <a:prstDash val="solid"/>
            <a:round/>
            <a:headEnd len="med" w="med" type="none"/>
            <a:tailEnd len="med" w="med" type="stealth"/>
          </a:ln>
        </p:spPr>
      </p:cxnSp>
      <p:cxnSp>
        <p:nvCxnSpPr>
          <p:cNvPr id="773" name="Google Shape;773;p41"/>
          <p:cNvCxnSpPr>
            <a:stCxn id="768" idx="5"/>
            <a:endCxn id="770" idx="1"/>
          </p:cNvCxnSpPr>
          <p:nvPr/>
        </p:nvCxnSpPr>
        <p:spPr>
          <a:xfrm>
            <a:off x="1980205" y="2892195"/>
            <a:ext cx="664200" cy="633600"/>
          </a:xfrm>
          <a:prstGeom prst="straightConnector1">
            <a:avLst/>
          </a:prstGeom>
          <a:noFill/>
          <a:ln cap="flat" cmpd="sng" w="28575">
            <a:solidFill>
              <a:srgbClr val="FF0000"/>
            </a:solidFill>
            <a:prstDash val="solid"/>
            <a:round/>
            <a:headEnd len="med" w="med" type="none"/>
            <a:tailEnd len="med" w="med" type="stealth"/>
          </a:ln>
        </p:spPr>
      </p:cxnSp>
      <p:cxnSp>
        <p:nvCxnSpPr>
          <p:cNvPr id="774" name="Google Shape;774;p41"/>
          <p:cNvCxnSpPr>
            <a:stCxn id="769" idx="3"/>
            <a:endCxn id="767" idx="7"/>
          </p:cNvCxnSpPr>
          <p:nvPr/>
        </p:nvCxnSpPr>
        <p:spPr>
          <a:xfrm flipH="1">
            <a:off x="979228" y="3807616"/>
            <a:ext cx="663900" cy="600000"/>
          </a:xfrm>
          <a:prstGeom prst="straightConnector1">
            <a:avLst/>
          </a:prstGeom>
          <a:noFill/>
          <a:ln cap="flat" cmpd="sng" w="28575">
            <a:solidFill>
              <a:srgbClr val="666666"/>
            </a:solidFill>
            <a:prstDash val="solid"/>
            <a:round/>
            <a:headEnd len="med" w="med" type="none"/>
            <a:tailEnd len="med" w="med" type="stealth"/>
          </a:ln>
        </p:spPr>
      </p:cxnSp>
      <p:cxnSp>
        <p:nvCxnSpPr>
          <p:cNvPr id="775" name="Google Shape;775;p41"/>
          <p:cNvCxnSpPr>
            <a:stCxn id="769" idx="4"/>
            <a:endCxn id="771" idx="0"/>
          </p:cNvCxnSpPr>
          <p:nvPr/>
        </p:nvCxnSpPr>
        <p:spPr>
          <a:xfrm>
            <a:off x="1811667" y="3872945"/>
            <a:ext cx="0" cy="469200"/>
          </a:xfrm>
          <a:prstGeom prst="straightConnector1">
            <a:avLst/>
          </a:prstGeom>
          <a:noFill/>
          <a:ln cap="flat" cmpd="sng" w="28575">
            <a:solidFill>
              <a:srgbClr val="FF0000"/>
            </a:solidFill>
            <a:prstDash val="solid"/>
            <a:round/>
            <a:headEnd len="med" w="med" type="none"/>
            <a:tailEnd len="med" w="med" type="stealth"/>
          </a:ln>
        </p:spPr>
      </p:cxnSp>
      <p:cxnSp>
        <p:nvCxnSpPr>
          <p:cNvPr id="776" name="Google Shape;776;p41"/>
          <p:cNvCxnSpPr>
            <a:stCxn id="770" idx="4"/>
            <a:endCxn id="771" idx="7"/>
          </p:cNvCxnSpPr>
          <p:nvPr/>
        </p:nvCxnSpPr>
        <p:spPr>
          <a:xfrm flipH="1">
            <a:off x="1980333" y="3906620"/>
            <a:ext cx="832500" cy="501000"/>
          </a:xfrm>
          <a:prstGeom prst="straightConnector1">
            <a:avLst/>
          </a:prstGeom>
          <a:noFill/>
          <a:ln cap="flat" cmpd="sng" w="28575">
            <a:solidFill>
              <a:srgbClr val="FF0000"/>
            </a:solidFill>
            <a:prstDash val="solid"/>
            <a:round/>
            <a:headEnd len="med" w="med" type="none"/>
            <a:tailEnd len="med" w="med" type="stealth"/>
          </a:ln>
        </p:spPr>
      </p:cxnSp>
      <p:cxnSp>
        <p:nvCxnSpPr>
          <p:cNvPr id="777" name="Google Shape;777;p41"/>
          <p:cNvCxnSpPr>
            <a:stCxn id="767" idx="7"/>
            <a:endCxn id="768" idx="3"/>
          </p:cNvCxnSpPr>
          <p:nvPr/>
        </p:nvCxnSpPr>
        <p:spPr>
          <a:xfrm flipH="1" rot="10800000">
            <a:off x="979114" y="2892300"/>
            <a:ext cx="663900" cy="1515300"/>
          </a:xfrm>
          <a:prstGeom prst="straightConnector1">
            <a:avLst/>
          </a:prstGeom>
          <a:noFill/>
          <a:ln cap="flat" cmpd="sng" w="28575">
            <a:solidFill>
              <a:srgbClr val="666666"/>
            </a:solidFill>
            <a:prstDash val="solid"/>
            <a:round/>
            <a:headEnd len="med" w="med" type="none"/>
            <a:tailEnd len="med" w="med" type="stealth"/>
          </a:ln>
        </p:spPr>
      </p:cxnSp>
      <p:cxnSp>
        <p:nvCxnSpPr>
          <p:cNvPr id="778" name="Google Shape;778;p41"/>
          <p:cNvCxnSpPr>
            <a:stCxn id="771" idx="6"/>
            <a:endCxn id="770" idx="4"/>
          </p:cNvCxnSpPr>
          <p:nvPr/>
        </p:nvCxnSpPr>
        <p:spPr>
          <a:xfrm flipH="1" rot="10800000">
            <a:off x="2050017" y="3906525"/>
            <a:ext cx="762900" cy="658800"/>
          </a:xfrm>
          <a:prstGeom prst="curvedConnector2">
            <a:avLst/>
          </a:prstGeom>
          <a:noFill/>
          <a:ln cap="flat" cmpd="sng" w="28575">
            <a:solidFill>
              <a:srgbClr val="FF0000"/>
            </a:solidFill>
            <a:prstDash val="solid"/>
            <a:round/>
            <a:headEnd len="med" w="med" type="none"/>
            <a:tailEnd len="med" w="med" type="stealth"/>
          </a:ln>
        </p:spPr>
      </p:cxnSp>
      <p:cxnSp>
        <p:nvCxnSpPr>
          <p:cNvPr id="779" name="Google Shape;779;p41"/>
          <p:cNvCxnSpPr>
            <a:stCxn id="771" idx="6"/>
            <a:endCxn id="769" idx="6"/>
          </p:cNvCxnSpPr>
          <p:nvPr/>
        </p:nvCxnSpPr>
        <p:spPr>
          <a:xfrm flipH="1" rot="10800000">
            <a:off x="2050017" y="3650025"/>
            <a:ext cx="600" cy="915300"/>
          </a:xfrm>
          <a:prstGeom prst="curvedConnector3">
            <a:avLst>
              <a:gd fmla="val 39687500" name="adj1"/>
            </a:avLst>
          </a:prstGeom>
          <a:noFill/>
          <a:ln cap="flat" cmpd="sng" w="28575">
            <a:solidFill>
              <a:srgbClr val="FF0000"/>
            </a:solidFill>
            <a:prstDash val="solid"/>
            <a:round/>
            <a:headEnd len="med" w="med" type="none"/>
            <a:tailEnd len="med" w="med" type="stealth"/>
          </a:ln>
        </p:spPr>
      </p:cxnSp>
      <p:cxnSp>
        <p:nvCxnSpPr>
          <p:cNvPr id="780" name="Google Shape;780;p41"/>
          <p:cNvCxnSpPr>
            <a:stCxn id="770" idx="0"/>
            <a:endCxn id="768" idx="6"/>
          </p:cNvCxnSpPr>
          <p:nvPr/>
        </p:nvCxnSpPr>
        <p:spPr>
          <a:xfrm flipH="1" rot="5400000">
            <a:off x="2068383" y="2716070"/>
            <a:ext cx="726000" cy="762900"/>
          </a:xfrm>
          <a:prstGeom prst="curvedConnector2">
            <a:avLst/>
          </a:prstGeom>
          <a:noFill/>
          <a:ln cap="flat" cmpd="sng" w="28575">
            <a:solidFill>
              <a:srgbClr val="FF0000"/>
            </a:solidFill>
            <a:prstDash val="solid"/>
            <a:round/>
            <a:headEnd len="med" w="med" type="none"/>
            <a:tailEnd len="med" w="med" type="stealth"/>
          </a:ln>
        </p:spPr>
      </p:cxnSp>
      <p:sp>
        <p:nvSpPr>
          <p:cNvPr id="781" name="Google Shape;781;p41"/>
          <p:cNvSpPr txBox="1"/>
          <p:nvPr>
            <p:ph idx="1" type="body"/>
          </p:nvPr>
        </p:nvSpPr>
        <p:spPr>
          <a:xfrm>
            <a:off x="311700" y="1225225"/>
            <a:ext cx="8520600" cy="831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Reciprocity</a:t>
            </a:r>
            <a:r>
              <a:rPr lang="en"/>
              <a:t> (R) measures whether relations go both ways in the network</a:t>
            </a:r>
            <a:endParaRPr/>
          </a:p>
          <a:p>
            <a:pPr indent="-317500" lvl="1" marL="914400" rtl="0" algn="l">
              <a:spcBef>
                <a:spcPts val="0"/>
              </a:spcBef>
              <a:spcAft>
                <a:spcPts val="0"/>
              </a:spcAft>
              <a:buSzPts val="1400"/>
              <a:buChar char="○"/>
            </a:pPr>
            <a:r>
              <a:rPr lang="en"/>
              <a:t>Reciprocity (R) is given by counting the number of </a:t>
            </a:r>
            <a:r>
              <a:rPr b="1" lang="en"/>
              <a:t>mutual</a:t>
            </a:r>
            <a:r>
              <a:rPr b="1" lang="en"/>
              <a:t> links</a:t>
            </a:r>
            <a:r>
              <a:rPr lang="en"/>
              <a:t> (V) in the </a:t>
            </a:r>
            <a:r>
              <a:rPr b="1" lang="en"/>
              <a:t>adjacency matrix </a:t>
            </a:r>
            <a:r>
              <a:rPr lang="en"/>
              <a:t>and dividing by the total number of </a:t>
            </a:r>
            <a:r>
              <a:rPr b="1" lang="en"/>
              <a:t>existing ties</a:t>
            </a:r>
            <a:r>
              <a:rPr lang="en"/>
              <a:t> (E)</a:t>
            </a:r>
            <a:endParaRPr/>
          </a:p>
          <a:p>
            <a:pPr indent="0" lvl="0" marL="914400" rtl="0" algn="l">
              <a:spcBef>
                <a:spcPts val="1600"/>
              </a:spcBef>
              <a:spcAft>
                <a:spcPts val="16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4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Dyad</a:t>
            </a:r>
            <a:r>
              <a:rPr lang="en"/>
              <a:t>-based network properties</a:t>
            </a:r>
            <a:endParaRPr/>
          </a:p>
        </p:txBody>
      </p:sp>
      <p:sp>
        <p:nvSpPr>
          <p:cNvPr id="787" name="Google Shape;787;p42"/>
          <p:cNvSpPr txBox="1"/>
          <p:nvPr>
            <p:ph idx="1" type="body"/>
          </p:nvPr>
        </p:nvSpPr>
        <p:spPr>
          <a:xfrm>
            <a:off x="311700" y="1225225"/>
            <a:ext cx="8520600" cy="831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Reciprocity</a:t>
            </a:r>
            <a:r>
              <a:rPr lang="en"/>
              <a:t> (R) measures whether relations go both ways in the network</a:t>
            </a:r>
            <a:endParaRPr b="1"/>
          </a:p>
          <a:p>
            <a:pPr indent="-317500" lvl="1" marL="914400" rtl="0" algn="l">
              <a:spcBef>
                <a:spcPts val="0"/>
              </a:spcBef>
              <a:spcAft>
                <a:spcPts val="0"/>
              </a:spcAft>
              <a:buSzPts val="1400"/>
              <a:buChar char="○"/>
            </a:pPr>
            <a:r>
              <a:rPr lang="en"/>
              <a:t>Reciprocity (R) is given by counting the number of </a:t>
            </a:r>
            <a:r>
              <a:rPr b="1" lang="en"/>
              <a:t>reciprocal links</a:t>
            </a:r>
            <a:r>
              <a:rPr lang="en"/>
              <a:t> (V) in the </a:t>
            </a:r>
            <a:r>
              <a:rPr b="1" lang="en"/>
              <a:t>adjacency matrix </a:t>
            </a:r>
            <a:r>
              <a:rPr lang="en"/>
              <a:t>and dividing by the total number of </a:t>
            </a:r>
            <a:r>
              <a:rPr b="1" lang="en"/>
              <a:t>existing ties</a:t>
            </a:r>
            <a:r>
              <a:rPr lang="en"/>
              <a:t> (E)</a:t>
            </a:r>
            <a:endParaRPr/>
          </a:p>
          <a:p>
            <a:pPr indent="0" lvl="0" marL="914400" rtl="0" algn="l">
              <a:spcBef>
                <a:spcPts val="1600"/>
              </a:spcBef>
              <a:spcAft>
                <a:spcPts val="1600"/>
              </a:spcAft>
              <a:buNone/>
            </a:pPr>
            <a:r>
              <a:t/>
            </a:r>
            <a:endParaRPr/>
          </a:p>
        </p:txBody>
      </p:sp>
      <p:sp>
        <p:nvSpPr>
          <p:cNvPr id="788" name="Google Shape;788;p42"/>
          <p:cNvSpPr/>
          <p:nvPr/>
        </p:nvSpPr>
        <p:spPr>
          <a:xfrm>
            <a:off x="572225" y="434227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789" name="Google Shape;789;p42"/>
          <p:cNvSpPr/>
          <p:nvPr/>
        </p:nvSpPr>
        <p:spPr>
          <a:xfrm>
            <a:off x="1573317" y="25114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790" name="Google Shape;790;p42"/>
          <p:cNvSpPr/>
          <p:nvPr/>
        </p:nvSpPr>
        <p:spPr>
          <a:xfrm>
            <a:off x="1573317" y="34268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791" name="Google Shape;791;p42"/>
          <p:cNvSpPr/>
          <p:nvPr/>
        </p:nvSpPr>
        <p:spPr>
          <a:xfrm>
            <a:off x="2574483" y="34605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792" name="Google Shape;792;p42"/>
          <p:cNvSpPr/>
          <p:nvPr/>
        </p:nvSpPr>
        <p:spPr>
          <a:xfrm>
            <a:off x="1573317" y="43422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793" name="Google Shape;793;p42"/>
          <p:cNvCxnSpPr>
            <a:stCxn id="789" idx="4"/>
            <a:endCxn id="790" idx="0"/>
          </p:cNvCxnSpPr>
          <p:nvPr/>
        </p:nvCxnSpPr>
        <p:spPr>
          <a:xfrm>
            <a:off x="1811667" y="2957525"/>
            <a:ext cx="0" cy="469200"/>
          </a:xfrm>
          <a:prstGeom prst="straightConnector1">
            <a:avLst/>
          </a:prstGeom>
          <a:noFill/>
          <a:ln cap="flat" cmpd="sng" w="28575">
            <a:solidFill>
              <a:srgbClr val="666666"/>
            </a:solidFill>
            <a:prstDash val="solid"/>
            <a:round/>
            <a:headEnd len="med" w="med" type="none"/>
            <a:tailEnd len="med" w="med" type="stealth"/>
          </a:ln>
        </p:spPr>
      </p:cxnSp>
      <p:cxnSp>
        <p:nvCxnSpPr>
          <p:cNvPr id="794" name="Google Shape;794;p42"/>
          <p:cNvCxnSpPr>
            <a:stCxn id="789" idx="5"/>
            <a:endCxn id="791" idx="1"/>
          </p:cNvCxnSpPr>
          <p:nvPr/>
        </p:nvCxnSpPr>
        <p:spPr>
          <a:xfrm>
            <a:off x="1980205" y="2892195"/>
            <a:ext cx="664200" cy="633600"/>
          </a:xfrm>
          <a:prstGeom prst="straightConnector1">
            <a:avLst/>
          </a:prstGeom>
          <a:noFill/>
          <a:ln cap="flat" cmpd="sng" w="28575">
            <a:solidFill>
              <a:srgbClr val="FF0000"/>
            </a:solidFill>
            <a:prstDash val="solid"/>
            <a:round/>
            <a:headEnd len="med" w="med" type="none"/>
            <a:tailEnd len="med" w="med" type="stealth"/>
          </a:ln>
        </p:spPr>
      </p:cxnSp>
      <p:cxnSp>
        <p:nvCxnSpPr>
          <p:cNvPr id="795" name="Google Shape;795;p42"/>
          <p:cNvCxnSpPr>
            <a:stCxn id="790" idx="3"/>
            <a:endCxn id="788" idx="7"/>
          </p:cNvCxnSpPr>
          <p:nvPr/>
        </p:nvCxnSpPr>
        <p:spPr>
          <a:xfrm flipH="1">
            <a:off x="979228" y="3807616"/>
            <a:ext cx="663900" cy="600000"/>
          </a:xfrm>
          <a:prstGeom prst="straightConnector1">
            <a:avLst/>
          </a:prstGeom>
          <a:noFill/>
          <a:ln cap="flat" cmpd="sng" w="28575">
            <a:solidFill>
              <a:srgbClr val="666666"/>
            </a:solidFill>
            <a:prstDash val="solid"/>
            <a:round/>
            <a:headEnd len="med" w="med" type="none"/>
            <a:tailEnd len="med" w="med" type="stealth"/>
          </a:ln>
        </p:spPr>
      </p:cxnSp>
      <p:cxnSp>
        <p:nvCxnSpPr>
          <p:cNvPr id="796" name="Google Shape;796;p42"/>
          <p:cNvCxnSpPr>
            <a:stCxn id="790" idx="4"/>
            <a:endCxn id="792" idx="0"/>
          </p:cNvCxnSpPr>
          <p:nvPr/>
        </p:nvCxnSpPr>
        <p:spPr>
          <a:xfrm>
            <a:off x="1811667" y="3872945"/>
            <a:ext cx="0" cy="469200"/>
          </a:xfrm>
          <a:prstGeom prst="straightConnector1">
            <a:avLst/>
          </a:prstGeom>
          <a:noFill/>
          <a:ln cap="flat" cmpd="sng" w="28575">
            <a:solidFill>
              <a:srgbClr val="FF0000"/>
            </a:solidFill>
            <a:prstDash val="solid"/>
            <a:round/>
            <a:headEnd len="med" w="med" type="none"/>
            <a:tailEnd len="med" w="med" type="stealth"/>
          </a:ln>
        </p:spPr>
      </p:cxnSp>
      <p:cxnSp>
        <p:nvCxnSpPr>
          <p:cNvPr id="797" name="Google Shape;797;p42"/>
          <p:cNvCxnSpPr>
            <a:stCxn id="791" idx="4"/>
            <a:endCxn id="792" idx="7"/>
          </p:cNvCxnSpPr>
          <p:nvPr/>
        </p:nvCxnSpPr>
        <p:spPr>
          <a:xfrm flipH="1">
            <a:off x="1980333" y="3906620"/>
            <a:ext cx="832500" cy="501000"/>
          </a:xfrm>
          <a:prstGeom prst="straightConnector1">
            <a:avLst/>
          </a:prstGeom>
          <a:noFill/>
          <a:ln cap="flat" cmpd="sng" w="28575">
            <a:solidFill>
              <a:srgbClr val="FF0000"/>
            </a:solidFill>
            <a:prstDash val="solid"/>
            <a:round/>
            <a:headEnd len="med" w="med" type="none"/>
            <a:tailEnd len="med" w="med" type="stealth"/>
          </a:ln>
        </p:spPr>
      </p:cxnSp>
      <p:cxnSp>
        <p:nvCxnSpPr>
          <p:cNvPr id="798" name="Google Shape;798;p42"/>
          <p:cNvCxnSpPr>
            <a:stCxn id="788" idx="7"/>
            <a:endCxn id="789" idx="3"/>
          </p:cNvCxnSpPr>
          <p:nvPr/>
        </p:nvCxnSpPr>
        <p:spPr>
          <a:xfrm flipH="1" rot="10800000">
            <a:off x="979114" y="2892300"/>
            <a:ext cx="663900" cy="1515300"/>
          </a:xfrm>
          <a:prstGeom prst="straightConnector1">
            <a:avLst/>
          </a:prstGeom>
          <a:noFill/>
          <a:ln cap="flat" cmpd="sng" w="28575">
            <a:solidFill>
              <a:srgbClr val="666666"/>
            </a:solidFill>
            <a:prstDash val="solid"/>
            <a:round/>
            <a:headEnd len="med" w="med" type="none"/>
            <a:tailEnd len="med" w="med" type="stealth"/>
          </a:ln>
        </p:spPr>
      </p:cxnSp>
      <p:cxnSp>
        <p:nvCxnSpPr>
          <p:cNvPr id="799" name="Google Shape;799;p42"/>
          <p:cNvCxnSpPr>
            <a:stCxn id="792" idx="6"/>
            <a:endCxn id="791" idx="4"/>
          </p:cNvCxnSpPr>
          <p:nvPr/>
        </p:nvCxnSpPr>
        <p:spPr>
          <a:xfrm flipH="1" rot="10800000">
            <a:off x="2050017" y="3906525"/>
            <a:ext cx="762900" cy="658800"/>
          </a:xfrm>
          <a:prstGeom prst="curvedConnector2">
            <a:avLst/>
          </a:prstGeom>
          <a:noFill/>
          <a:ln cap="flat" cmpd="sng" w="28575">
            <a:solidFill>
              <a:srgbClr val="FF0000"/>
            </a:solidFill>
            <a:prstDash val="solid"/>
            <a:round/>
            <a:headEnd len="med" w="med" type="none"/>
            <a:tailEnd len="med" w="med" type="stealth"/>
          </a:ln>
        </p:spPr>
      </p:cxnSp>
      <p:cxnSp>
        <p:nvCxnSpPr>
          <p:cNvPr id="800" name="Google Shape;800;p42"/>
          <p:cNvCxnSpPr>
            <a:stCxn id="792" idx="6"/>
            <a:endCxn id="790" idx="6"/>
          </p:cNvCxnSpPr>
          <p:nvPr/>
        </p:nvCxnSpPr>
        <p:spPr>
          <a:xfrm flipH="1" rot="10800000">
            <a:off x="2050017" y="3650025"/>
            <a:ext cx="600" cy="915300"/>
          </a:xfrm>
          <a:prstGeom prst="curvedConnector3">
            <a:avLst>
              <a:gd fmla="val 39687500" name="adj1"/>
            </a:avLst>
          </a:prstGeom>
          <a:noFill/>
          <a:ln cap="flat" cmpd="sng" w="28575">
            <a:solidFill>
              <a:srgbClr val="FF0000"/>
            </a:solidFill>
            <a:prstDash val="solid"/>
            <a:round/>
            <a:headEnd len="med" w="med" type="none"/>
            <a:tailEnd len="med" w="med" type="stealth"/>
          </a:ln>
        </p:spPr>
      </p:cxnSp>
      <p:cxnSp>
        <p:nvCxnSpPr>
          <p:cNvPr id="801" name="Google Shape;801;p42"/>
          <p:cNvCxnSpPr>
            <a:stCxn id="791" idx="0"/>
            <a:endCxn id="789" idx="6"/>
          </p:cNvCxnSpPr>
          <p:nvPr/>
        </p:nvCxnSpPr>
        <p:spPr>
          <a:xfrm flipH="1" rot="5400000">
            <a:off x="2068383" y="2716070"/>
            <a:ext cx="726000" cy="762900"/>
          </a:xfrm>
          <a:prstGeom prst="curvedConnector2">
            <a:avLst/>
          </a:prstGeom>
          <a:noFill/>
          <a:ln cap="flat" cmpd="sng" w="28575">
            <a:solidFill>
              <a:srgbClr val="FF0000"/>
            </a:solidFill>
            <a:prstDash val="solid"/>
            <a:round/>
            <a:headEnd len="med" w="med" type="none"/>
            <a:tailEnd len="med" w="med" type="stealth"/>
          </a:ln>
        </p:spPr>
      </p:cxnSp>
      <p:graphicFrame>
        <p:nvGraphicFramePr>
          <p:cNvPr id="802" name="Google Shape;802;p42"/>
          <p:cNvGraphicFramePr/>
          <p:nvPr/>
        </p:nvGraphicFramePr>
        <p:xfrm>
          <a:off x="6210600" y="2506375"/>
          <a:ext cx="3000000" cy="3000000"/>
        </p:xfrm>
        <a:graphic>
          <a:graphicData uri="http://schemas.openxmlformats.org/drawingml/2006/table">
            <a:tbl>
              <a:tblPr>
                <a:noFill/>
                <a:tableStyleId>{9C004714-7C27-400D-AF19-6A7FADFF251D}</a:tableStyleId>
              </a:tblPr>
              <a:tblGrid>
                <a:gridCol w="413950"/>
                <a:gridCol w="413950"/>
                <a:gridCol w="413950"/>
                <a:gridCol w="413950"/>
                <a:gridCol w="413950"/>
                <a:gridCol w="413950"/>
              </a:tblGrid>
              <a:tr h="3477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E</a:t>
                      </a:r>
                      <a:endParaRPr/>
                    </a:p>
                  </a:txBody>
                  <a:tcPr marT="91425" marB="91425" marR="91425" marL="91425"/>
                </a:tc>
              </a:tr>
              <a:tr h="347725">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r h="347725">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47725">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47725">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lnR cap="flat" cmpd="sng" w="9525">
                      <a:solidFill>
                        <a:srgbClr val="666666"/>
                      </a:solidFill>
                      <a:prstDash val="solid"/>
                      <a:round/>
                      <a:headEnd len="sm" w="sm" type="none"/>
                      <a:tailEnd len="sm" w="sm" type="none"/>
                    </a:lnR>
                  </a:tcPr>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lnL cap="flat" cmpd="sng" w="9525">
                      <a:solidFill>
                        <a:srgbClr val="666666"/>
                      </a:solidFill>
                      <a:prstDash val="solid"/>
                      <a:round/>
                      <a:headEnd len="sm" w="sm" type="none"/>
                      <a:tailEnd len="sm" w="sm" type="none"/>
                    </a:lnL>
                  </a:tcPr>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r h="347725">
                <a:tc>
                  <a:txBody>
                    <a:bodyPr/>
                    <a:lstStyle/>
                    <a:p>
                      <a:pPr indent="0" lvl="0" marL="0" rtl="0" algn="l">
                        <a:spcBef>
                          <a:spcPts val="0"/>
                        </a:spcBef>
                        <a:spcAft>
                          <a:spcPts val="0"/>
                        </a:spcAft>
                        <a:buNone/>
                      </a:pPr>
                      <a:r>
                        <a:rPr lang="en"/>
                        <a:t>E</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lnT cap="flat" cmpd="sng" w="9525">
                      <a:solidFill>
                        <a:srgbClr val="666666"/>
                      </a:solidFill>
                      <a:prstDash val="solid"/>
                      <a:round/>
                      <a:headEnd len="sm" w="sm" type="none"/>
                      <a:tailEnd len="sm" w="sm" type="none"/>
                    </a:lnT>
                  </a:tcPr>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r>
            </a:tbl>
          </a:graphicData>
        </a:graphic>
      </p:graphicFrame>
      <p:sp>
        <p:nvSpPr>
          <p:cNvPr id="803" name="Google Shape;803;p42"/>
          <p:cNvSpPr txBox="1"/>
          <p:nvPr/>
        </p:nvSpPr>
        <p:spPr>
          <a:xfrm>
            <a:off x="6199800" y="2056526"/>
            <a:ext cx="2473500" cy="37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Adjacency</a:t>
            </a:r>
            <a:r>
              <a:rPr lang="en" sz="1800">
                <a:latin typeface="Economica"/>
                <a:ea typeface="Economica"/>
                <a:cs typeface="Economica"/>
                <a:sym typeface="Economica"/>
              </a:rPr>
              <a:t> </a:t>
            </a:r>
            <a:r>
              <a:rPr lang="en" sz="1800">
                <a:latin typeface="Economica"/>
                <a:ea typeface="Economica"/>
                <a:cs typeface="Economica"/>
                <a:sym typeface="Economica"/>
              </a:rPr>
              <a:t>matrix</a:t>
            </a:r>
            <a:endParaRPr sz="1800">
              <a:latin typeface="Economica"/>
              <a:ea typeface="Economica"/>
              <a:cs typeface="Economica"/>
              <a:sym typeface="Economica"/>
            </a:endParaRPr>
          </a:p>
        </p:txBody>
      </p:sp>
      <p:pic>
        <p:nvPicPr>
          <p:cNvPr descr="R = \frac{V}{E}" id="804" name="Google Shape;804;p42" title="MathEquation,#000000"/>
          <p:cNvPicPr preferRelativeResize="0"/>
          <p:nvPr/>
        </p:nvPicPr>
        <p:blipFill>
          <a:blip r:embed="rId3">
            <a:alphaModFix/>
          </a:blip>
          <a:stretch>
            <a:fillRect/>
          </a:stretch>
        </p:blipFill>
        <p:spPr>
          <a:xfrm>
            <a:off x="3851401" y="2281825"/>
            <a:ext cx="1441196" cy="726000"/>
          </a:xfrm>
          <a:prstGeom prst="rect">
            <a:avLst/>
          </a:prstGeom>
          <a:noFill/>
          <a:ln>
            <a:noFill/>
          </a:ln>
        </p:spPr>
      </p:pic>
      <p:sp>
        <p:nvSpPr>
          <p:cNvPr id="805" name="Google Shape;805;p42"/>
          <p:cNvSpPr txBox="1"/>
          <p:nvPr/>
        </p:nvSpPr>
        <p:spPr>
          <a:xfrm>
            <a:off x="3142900" y="3799625"/>
            <a:ext cx="2569200" cy="83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Looks like we have six reciprocal links out of a total of 10 links</a:t>
            </a:r>
            <a:endParaRPr b="1" i="1">
              <a:solidFill>
                <a:srgbClr val="FF0000"/>
              </a:solidFill>
              <a:latin typeface="Open Sans"/>
              <a:ea typeface="Open Sans"/>
              <a:cs typeface="Open Sans"/>
              <a:sym typeface="Open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4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Dyad</a:t>
            </a:r>
            <a:r>
              <a:rPr lang="en"/>
              <a:t>-based network properties</a:t>
            </a:r>
            <a:endParaRPr/>
          </a:p>
        </p:txBody>
      </p:sp>
      <p:sp>
        <p:nvSpPr>
          <p:cNvPr id="811" name="Google Shape;811;p43"/>
          <p:cNvSpPr txBox="1"/>
          <p:nvPr>
            <p:ph idx="1" type="body"/>
          </p:nvPr>
        </p:nvSpPr>
        <p:spPr>
          <a:xfrm>
            <a:off x="311700" y="1225225"/>
            <a:ext cx="8520600" cy="1782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Reciprocity</a:t>
            </a:r>
            <a:r>
              <a:rPr lang="en"/>
              <a:t> (R) measures whether relations go both ways in the network</a:t>
            </a:r>
            <a:endParaRPr b="1"/>
          </a:p>
          <a:p>
            <a:pPr indent="-317500" lvl="1" marL="914400" rtl="0" algn="l">
              <a:spcBef>
                <a:spcPts val="0"/>
              </a:spcBef>
              <a:spcAft>
                <a:spcPts val="0"/>
              </a:spcAft>
              <a:buSzPts val="1400"/>
              <a:buChar char="○"/>
            </a:pPr>
            <a:r>
              <a:rPr lang="en"/>
              <a:t>Reciprocity (R) is given by counting the number of </a:t>
            </a:r>
            <a:r>
              <a:rPr b="1" lang="en"/>
              <a:t>reciprocal links</a:t>
            </a:r>
            <a:r>
              <a:rPr lang="en"/>
              <a:t> (V) in the </a:t>
            </a:r>
            <a:r>
              <a:rPr b="1" lang="en"/>
              <a:t>adjacency matrix </a:t>
            </a:r>
            <a:r>
              <a:rPr lang="en"/>
              <a:t>and dividing by the total number of </a:t>
            </a:r>
            <a:r>
              <a:rPr b="1" lang="en"/>
              <a:t>existing ties</a:t>
            </a:r>
            <a:r>
              <a:rPr lang="en"/>
              <a:t> (E)</a:t>
            </a:r>
            <a:endParaRPr/>
          </a:p>
          <a:p>
            <a:pPr indent="0" lvl="0" marL="0" rtl="0" algn="l">
              <a:spcBef>
                <a:spcPts val="1600"/>
              </a:spcBef>
              <a:spcAft>
                <a:spcPts val="0"/>
              </a:spcAft>
              <a:buNone/>
            </a:pPr>
            <a:r>
              <a:t/>
            </a:r>
            <a:endParaRPr/>
          </a:p>
          <a:p>
            <a:pPr indent="0" lvl="0" marL="914400" rtl="0" algn="l">
              <a:spcBef>
                <a:spcPts val="1600"/>
              </a:spcBef>
              <a:spcAft>
                <a:spcPts val="0"/>
              </a:spcAft>
              <a:buNone/>
            </a:pPr>
            <a:r>
              <a:t/>
            </a:r>
            <a:endParaRPr/>
          </a:p>
          <a:p>
            <a:pPr indent="0" lvl="0" marL="914400" rtl="0" algn="l">
              <a:spcBef>
                <a:spcPts val="1600"/>
              </a:spcBef>
              <a:spcAft>
                <a:spcPts val="1600"/>
              </a:spcAft>
              <a:buNone/>
            </a:pPr>
            <a:r>
              <a:t/>
            </a:r>
            <a:endParaRPr/>
          </a:p>
        </p:txBody>
      </p:sp>
      <p:sp>
        <p:nvSpPr>
          <p:cNvPr id="812" name="Google Shape;812;p43"/>
          <p:cNvSpPr/>
          <p:nvPr/>
        </p:nvSpPr>
        <p:spPr>
          <a:xfrm>
            <a:off x="572225" y="434227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E</a:t>
            </a:r>
            <a:endParaRPr b="1" sz="1800">
              <a:solidFill>
                <a:srgbClr val="FFFFFF"/>
              </a:solidFill>
            </a:endParaRPr>
          </a:p>
        </p:txBody>
      </p:sp>
      <p:sp>
        <p:nvSpPr>
          <p:cNvPr id="813" name="Google Shape;813;p43"/>
          <p:cNvSpPr/>
          <p:nvPr/>
        </p:nvSpPr>
        <p:spPr>
          <a:xfrm>
            <a:off x="1573317" y="251142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lang="en" sz="1800">
                <a:solidFill>
                  <a:srgbClr val="FFFFFF"/>
                </a:solidFill>
              </a:rPr>
              <a:t>A</a:t>
            </a:r>
            <a:endParaRPr sz="1800">
              <a:solidFill>
                <a:srgbClr val="FFFFFF"/>
              </a:solidFill>
            </a:endParaRPr>
          </a:p>
        </p:txBody>
      </p:sp>
      <p:sp>
        <p:nvSpPr>
          <p:cNvPr id="814" name="Google Shape;814;p43"/>
          <p:cNvSpPr/>
          <p:nvPr/>
        </p:nvSpPr>
        <p:spPr>
          <a:xfrm>
            <a:off x="1573317" y="342684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B</a:t>
            </a:r>
            <a:endParaRPr b="1" sz="1800">
              <a:solidFill>
                <a:srgbClr val="FFFFFF"/>
              </a:solidFill>
            </a:endParaRPr>
          </a:p>
        </p:txBody>
      </p:sp>
      <p:sp>
        <p:nvSpPr>
          <p:cNvPr id="815" name="Google Shape;815;p43"/>
          <p:cNvSpPr/>
          <p:nvPr/>
        </p:nvSpPr>
        <p:spPr>
          <a:xfrm>
            <a:off x="2574483" y="3460520"/>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C</a:t>
            </a:r>
            <a:endParaRPr b="1" sz="1800">
              <a:solidFill>
                <a:srgbClr val="FFFFFF"/>
              </a:solidFill>
            </a:endParaRPr>
          </a:p>
        </p:txBody>
      </p:sp>
      <p:sp>
        <p:nvSpPr>
          <p:cNvPr id="816" name="Google Shape;816;p43"/>
          <p:cNvSpPr/>
          <p:nvPr/>
        </p:nvSpPr>
        <p:spPr>
          <a:xfrm>
            <a:off x="1573317" y="4342275"/>
            <a:ext cx="476700" cy="4461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marR="0" rtl="0" algn="ctr">
              <a:spcBef>
                <a:spcPts val="0"/>
              </a:spcBef>
              <a:spcAft>
                <a:spcPts val="0"/>
              </a:spcAft>
              <a:buNone/>
            </a:pPr>
            <a:r>
              <a:rPr b="1" lang="en" sz="1800">
                <a:solidFill>
                  <a:srgbClr val="FFFFFF"/>
                </a:solidFill>
              </a:rPr>
              <a:t>D</a:t>
            </a:r>
            <a:endParaRPr b="1" sz="1800">
              <a:solidFill>
                <a:srgbClr val="FFFFFF"/>
              </a:solidFill>
            </a:endParaRPr>
          </a:p>
        </p:txBody>
      </p:sp>
      <p:cxnSp>
        <p:nvCxnSpPr>
          <p:cNvPr id="817" name="Google Shape;817;p43"/>
          <p:cNvCxnSpPr>
            <a:stCxn id="813" idx="4"/>
            <a:endCxn id="814" idx="0"/>
          </p:cNvCxnSpPr>
          <p:nvPr/>
        </p:nvCxnSpPr>
        <p:spPr>
          <a:xfrm>
            <a:off x="1811667" y="2957525"/>
            <a:ext cx="0" cy="469200"/>
          </a:xfrm>
          <a:prstGeom prst="straightConnector1">
            <a:avLst/>
          </a:prstGeom>
          <a:noFill/>
          <a:ln cap="flat" cmpd="sng" w="28575">
            <a:solidFill>
              <a:srgbClr val="666666"/>
            </a:solidFill>
            <a:prstDash val="solid"/>
            <a:round/>
            <a:headEnd len="med" w="med" type="none"/>
            <a:tailEnd len="med" w="med" type="stealth"/>
          </a:ln>
        </p:spPr>
      </p:cxnSp>
      <p:cxnSp>
        <p:nvCxnSpPr>
          <p:cNvPr id="818" name="Google Shape;818;p43"/>
          <p:cNvCxnSpPr>
            <a:stCxn id="813" idx="5"/>
            <a:endCxn id="815" idx="1"/>
          </p:cNvCxnSpPr>
          <p:nvPr/>
        </p:nvCxnSpPr>
        <p:spPr>
          <a:xfrm>
            <a:off x="1980205" y="2892195"/>
            <a:ext cx="664200" cy="633600"/>
          </a:xfrm>
          <a:prstGeom prst="straightConnector1">
            <a:avLst/>
          </a:prstGeom>
          <a:noFill/>
          <a:ln cap="flat" cmpd="sng" w="28575">
            <a:solidFill>
              <a:srgbClr val="FF0000"/>
            </a:solidFill>
            <a:prstDash val="solid"/>
            <a:round/>
            <a:headEnd len="med" w="med" type="none"/>
            <a:tailEnd len="med" w="med" type="stealth"/>
          </a:ln>
        </p:spPr>
      </p:cxnSp>
      <p:cxnSp>
        <p:nvCxnSpPr>
          <p:cNvPr id="819" name="Google Shape;819;p43"/>
          <p:cNvCxnSpPr>
            <a:stCxn id="814" idx="3"/>
            <a:endCxn id="812" idx="7"/>
          </p:cNvCxnSpPr>
          <p:nvPr/>
        </p:nvCxnSpPr>
        <p:spPr>
          <a:xfrm flipH="1">
            <a:off x="979228" y="3807616"/>
            <a:ext cx="663900" cy="600000"/>
          </a:xfrm>
          <a:prstGeom prst="straightConnector1">
            <a:avLst/>
          </a:prstGeom>
          <a:noFill/>
          <a:ln cap="flat" cmpd="sng" w="28575">
            <a:solidFill>
              <a:srgbClr val="666666"/>
            </a:solidFill>
            <a:prstDash val="solid"/>
            <a:round/>
            <a:headEnd len="med" w="med" type="none"/>
            <a:tailEnd len="med" w="med" type="stealth"/>
          </a:ln>
        </p:spPr>
      </p:cxnSp>
      <p:cxnSp>
        <p:nvCxnSpPr>
          <p:cNvPr id="820" name="Google Shape;820;p43"/>
          <p:cNvCxnSpPr>
            <a:stCxn id="814" idx="4"/>
            <a:endCxn id="816" idx="0"/>
          </p:cNvCxnSpPr>
          <p:nvPr/>
        </p:nvCxnSpPr>
        <p:spPr>
          <a:xfrm>
            <a:off x="1811667" y="3872945"/>
            <a:ext cx="0" cy="469200"/>
          </a:xfrm>
          <a:prstGeom prst="straightConnector1">
            <a:avLst/>
          </a:prstGeom>
          <a:noFill/>
          <a:ln cap="flat" cmpd="sng" w="28575">
            <a:solidFill>
              <a:srgbClr val="FF0000"/>
            </a:solidFill>
            <a:prstDash val="solid"/>
            <a:round/>
            <a:headEnd len="med" w="med" type="none"/>
            <a:tailEnd len="med" w="med" type="stealth"/>
          </a:ln>
        </p:spPr>
      </p:cxnSp>
      <p:cxnSp>
        <p:nvCxnSpPr>
          <p:cNvPr id="821" name="Google Shape;821;p43"/>
          <p:cNvCxnSpPr>
            <a:stCxn id="815" idx="4"/>
            <a:endCxn id="816" idx="7"/>
          </p:cNvCxnSpPr>
          <p:nvPr/>
        </p:nvCxnSpPr>
        <p:spPr>
          <a:xfrm flipH="1">
            <a:off x="1980333" y="3906620"/>
            <a:ext cx="832500" cy="501000"/>
          </a:xfrm>
          <a:prstGeom prst="straightConnector1">
            <a:avLst/>
          </a:prstGeom>
          <a:noFill/>
          <a:ln cap="flat" cmpd="sng" w="28575">
            <a:solidFill>
              <a:srgbClr val="FF0000"/>
            </a:solidFill>
            <a:prstDash val="solid"/>
            <a:round/>
            <a:headEnd len="med" w="med" type="none"/>
            <a:tailEnd len="med" w="med" type="stealth"/>
          </a:ln>
        </p:spPr>
      </p:cxnSp>
      <p:cxnSp>
        <p:nvCxnSpPr>
          <p:cNvPr id="822" name="Google Shape;822;p43"/>
          <p:cNvCxnSpPr>
            <a:stCxn id="812" idx="7"/>
            <a:endCxn id="813" idx="3"/>
          </p:cNvCxnSpPr>
          <p:nvPr/>
        </p:nvCxnSpPr>
        <p:spPr>
          <a:xfrm flipH="1" rot="10800000">
            <a:off x="979114" y="2892300"/>
            <a:ext cx="663900" cy="1515300"/>
          </a:xfrm>
          <a:prstGeom prst="straightConnector1">
            <a:avLst/>
          </a:prstGeom>
          <a:noFill/>
          <a:ln cap="flat" cmpd="sng" w="28575">
            <a:solidFill>
              <a:srgbClr val="666666"/>
            </a:solidFill>
            <a:prstDash val="solid"/>
            <a:round/>
            <a:headEnd len="med" w="med" type="none"/>
            <a:tailEnd len="med" w="med" type="stealth"/>
          </a:ln>
        </p:spPr>
      </p:cxnSp>
      <p:cxnSp>
        <p:nvCxnSpPr>
          <p:cNvPr id="823" name="Google Shape;823;p43"/>
          <p:cNvCxnSpPr>
            <a:stCxn id="816" idx="6"/>
            <a:endCxn id="815" idx="4"/>
          </p:cNvCxnSpPr>
          <p:nvPr/>
        </p:nvCxnSpPr>
        <p:spPr>
          <a:xfrm flipH="1" rot="10800000">
            <a:off x="2050017" y="3906525"/>
            <a:ext cx="762900" cy="658800"/>
          </a:xfrm>
          <a:prstGeom prst="curvedConnector2">
            <a:avLst/>
          </a:prstGeom>
          <a:noFill/>
          <a:ln cap="flat" cmpd="sng" w="28575">
            <a:solidFill>
              <a:srgbClr val="FF0000"/>
            </a:solidFill>
            <a:prstDash val="solid"/>
            <a:round/>
            <a:headEnd len="med" w="med" type="none"/>
            <a:tailEnd len="med" w="med" type="stealth"/>
          </a:ln>
        </p:spPr>
      </p:cxnSp>
      <p:cxnSp>
        <p:nvCxnSpPr>
          <p:cNvPr id="824" name="Google Shape;824;p43"/>
          <p:cNvCxnSpPr>
            <a:stCxn id="816" idx="6"/>
            <a:endCxn id="814" idx="6"/>
          </p:cNvCxnSpPr>
          <p:nvPr/>
        </p:nvCxnSpPr>
        <p:spPr>
          <a:xfrm flipH="1" rot="10800000">
            <a:off x="2050017" y="3650025"/>
            <a:ext cx="600" cy="915300"/>
          </a:xfrm>
          <a:prstGeom prst="curvedConnector3">
            <a:avLst>
              <a:gd fmla="val 39687500" name="adj1"/>
            </a:avLst>
          </a:prstGeom>
          <a:noFill/>
          <a:ln cap="flat" cmpd="sng" w="28575">
            <a:solidFill>
              <a:srgbClr val="FF0000"/>
            </a:solidFill>
            <a:prstDash val="solid"/>
            <a:round/>
            <a:headEnd len="med" w="med" type="none"/>
            <a:tailEnd len="med" w="med" type="stealth"/>
          </a:ln>
        </p:spPr>
      </p:cxnSp>
      <p:cxnSp>
        <p:nvCxnSpPr>
          <p:cNvPr id="825" name="Google Shape;825;p43"/>
          <p:cNvCxnSpPr>
            <a:stCxn id="815" idx="0"/>
            <a:endCxn id="813" idx="6"/>
          </p:cNvCxnSpPr>
          <p:nvPr/>
        </p:nvCxnSpPr>
        <p:spPr>
          <a:xfrm flipH="1" rot="5400000">
            <a:off x="2068383" y="2716070"/>
            <a:ext cx="726000" cy="762900"/>
          </a:xfrm>
          <a:prstGeom prst="curvedConnector2">
            <a:avLst/>
          </a:prstGeom>
          <a:noFill/>
          <a:ln cap="flat" cmpd="sng" w="28575">
            <a:solidFill>
              <a:srgbClr val="FF0000"/>
            </a:solidFill>
            <a:prstDash val="solid"/>
            <a:round/>
            <a:headEnd len="med" w="med" type="none"/>
            <a:tailEnd len="med" w="med" type="stealth"/>
          </a:ln>
        </p:spPr>
      </p:cxnSp>
      <p:graphicFrame>
        <p:nvGraphicFramePr>
          <p:cNvPr id="826" name="Google Shape;826;p43"/>
          <p:cNvGraphicFramePr/>
          <p:nvPr/>
        </p:nvGraphicFramePr>
        <p:xfrm>
          <a:off x="6210600" y="2506375"/>
          <a:ext cx="3000000" cy="3000000"/>
        </p:xfrm>
        <a:graphic>
          <a:graphicData uri="http://schemas.openxmlformats.org/drawingml/2006/table">
            <a:tbl>
              <a:tblPr>
                <a:noFill/>
                <a:tableStyleId>{9C004714-7C27-400D-AF19-6A7FADFF251D}</a:tableStyleId>
              </a:tblPr>
              <a:tblGrid>
                <a:gridCol w="413950"/>
                <a:gridCol w="413950"/>
                <a:gridCol w="413950"/>
                <a:gridCol w="413950"/>
                <a:gridCol w="413950"/>
                <a:gridCol w="413950"/>
              </a:tblGrid>
              <a:tr h="347725">
                <a:tc>
                  <a:txBody>
                    <a:bodyPr/>
                    <a:lstStyle/>
                    <a:p>
                      <a:pPr indent="0" lvl="0" marL="0" rtl="0" algn="l">
                        <a:spcBef>
                          <a:spcPts val="0"/>
                        </a:spcBef>
                        <a:spcAft>
                          <a:spcPts val="0"/>
                        </a:spcAft>
                        <a:buNone/>
                      </a:pPr>
                      <a:r>
                        <a:t/>
                      </a:r>
                      <a:endParaRPr/>
                    </a:p>
                  </a:txBody>
                  <a:tcPr marT="91425" marB="91425" marR="91425" marL="91425"/>
                </a:tc>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E</a:t>
                      </a:r>
                      <a:endParaRPr/>
                    </a:p>
                  </a:txBody>
                  <a:tcPr marT="91425" marB="91425" marR="91425" marL="91425"/>
                </a:tc>
              </a:tr>
              <a:tr h="347725">
                <a:tc>
                  <a:txBody>
                    <a:bodyPr/>
                    <a:lstStyle/>
                    <a:p>
                      <a:pPr indent="0" lvl="0" marL="0" rtl="0" algn="l">
                        <a:spcBef>
                          <a:spcPts val="0"/>
                        </a:spcBef>
                        <a:spcAft>
                          <a:spcPts val="0"/>
                        </a:spcAft>
                        <a:buNone/>
                      </a:pPr>
                      <a:r>
                        <a:rPr lang="en"/>
                        <a:t>A</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r h="347725">
                <a:tc>
                  <a:txBody>
                    <a:bodyPr/>
                    <a:lstStyle/>
                    <a:p>
                      <a:pPr indent="0" lvl="0" marL="0" rtl="0" algn="l">
                        <a:spcBef>
                          <a:spcPts val="0"/>
                        </a:spcBef>
                        <a:spcAft>
                          <a:spcPts val="0"/>
                        </a:spcAft>
                        <a:buNone/>
                      </a:pPr>
                      <a:r>
                        <a:rPr lang="en"/>
                        <a:t>B</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47725">
                <a:tc>
                  <a:txBody>
                    <a:bodyPr/>
                    <a:lstStyle/>
                    <a:p>
                      <a:pPr indent="0" lvl="0" marL="0" rtl="0" algn="l">
                        <a:spcBef>
                          <a:spcPts val="0"/>
                        </a:spcBef>
                        <a:spcAft>
                          <a:spcPts val="0"/>
                        </a:spcAft>
                        <a:buNone/>
                      </a:pPr>
                      <a:r>
                        <a:rPr lang="en"/>
                        <a:t>C</a:t>
                      </a:r>
                      <a:endParaRPr/>
                    </a:p>
                  </a:txBody>
                  <a:tcPr marT="91425" marB="91425" marR="91425" marL="91425"/>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r>
              <a:tr h="347725">
                <a:tc>
                  <a:txBody>
                    <a:bodyPr/>
                    <a:lstStyle/>
                    <a:p>
                      <a:pPr indent="0" lvl="0" marL="0" rtl="0" algn="l">
                        <a:spcBef>
                          <a:spcPts val="0"/>
                        </a:spcBef>
                        <a:spcAft>
                          <a:spcPts val="0"/>
                        </a:spcAft>
                        <a:buNone/>
                      </a:pPr>
                      <a:r>
                        <a:rPr lang="en"/>
                        <a:t>D</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lnR cap="flat" cmpd="sng" w="9525">
                      <a:solidFill>
                        <a:srgbClr val="666666"/>
                      </a:solidFill>
                      <a:prstDash val="solid"/>
                      <a:round/>
                      <a:headEnd len="sm" w="sm" type="none"/>
                      <a:tailEnd len="sm" w="sm" type="none"/>
                    </a:lnR>
                  </a:tcPr>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l">
                        <a:spcBef>
                          <a:spcPts val="0"/>
                        </a:spcBef>
                        <a:spcAft>
                          <a:spcPts val="0"/>
                        </a:spcAft>
                        <a:buNone/>
                      </a:pPr>
                      <a:r>
                        <a:rPr b="1" lang="en">
                          <a:solidFill>
                            <a:srgbClr val="FF0000"/>
                          </a:solidFill>
                        </a:rPr>
                        <a:t>1</a:t>
                      </a:r>
                      <a:endParaRPr b="1">
                        <a:solidFill>
                          <a:srgbClr val="FF0000"/>
                        </a:solidFill>
                      </a:endParaRPr>
                    </a:p>
                  </a:txBody>
                  <a:tcPr marT="91425" marB="91425" marR="91425" marL="91425">
                    <a:lnL cap="flat" cmpd="sng" w="9525">
                      <a:solidFill>
                        <a:srgbClr val="666666"/>
                      </a:solidFill>
                      <a:prstDash val="solid"/>
                      <a:round/>
                      <a:headEnd len="sm" w="sm" type="none"/>
                      <a:tailEnd len="sm" w="sm" type="none"/>
                    </a:lnL>
                  </a:tcPr>
                </a:tc>
                <a:tc>
                  <a:txBody>
                    <a:bodyPr/>
                    <a:lstStyle/>
                    <a:p>
                      <a:pPr indent="0" lvl="0" marL="0" rtl="0" algn="l">
                        <a:spcBef>
                          <a:spcPts val="0"/>
                        </a:spcBef>
                        <a:spcAft>
                          <a:spcPts val="0"/>
                        </a:spcAft>
                        <a:buNone/>
                      </a:pPr>
                      <a:r>
                        <a:rPr lang="en"/>
                        <a:t>--</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r>
              <a:tr h="347725">
                <a:tc>
                  <a:txBody>
                    <a:bodyPr/>
                    <a:lstStyle/>
                    <a:p>
                      <a:pPr indent="0" lvl="0" marL="0" rtl="0" algn="l">
                        <a:spcBef>
                          <a:spcPts val="0"/>
                        </a:spcBef>
                        <a:spcAft>
                          <a:spcPts val="0"/>
                        </a:spcAft>
                        <a:buNone/>
                      </a:pPr>
                      <a:r>
                        <a:rPr lang="en"/>
                        <a:t>E</a:t>
                      </a:r>
                      <a:endParaRPr/>
                    </a:p>
                  </a:txBody>
                  <a:tcPr marT="91425" marB="91425" marR="91425" marL="91425"/>
                </a:tc>
                <a:tc>
                  <a:txBody>
                    <a:bodyPr/>
                    <a:lstStyle/>
                    <a:p>
                      <a:pPr indent="0" lvl="0" marL="0" rtl="0" algn="l">
                        <a:spcBef>
                          <a:spcPts val="0"/>
                        </a:spcBef>
                        <a:spcAft>
                          <a:spcPts val="0"/>
                        </a:spcAft>
                        <a:buNone/>
                      </a:pPr>
                      <a:r>
                        <a:rPr lang="en"/>
                        <a:t>1</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lnT cap="flat" cmpd="sng" w="9525">
                      <a:solidFill>
                        <a:srgbClr val="666666"/>
                      </a:solidFill>
                      <a:prstDash val="solid"/>
                      <a:round/>
                      <a:headEnd len="sm" w="sm" type="none"/>
                      <a:tailEnd len="sm" w="sm" type="none"/>
                    </a:lnT>
                  </a:tcPr>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0</a:t>
                      </a:r>
                      <a:endParaRPr/>
                    </a:p>
                  </a:txBody>
                  <a:tcPr marT="91425" marB="91425" marR="91425" marL="91425"/>
                </a:tc>
                <a:tc>
                  <a:txBody>
                    <a:bodyPr/>
                    <a:lstStyle/>
                    <a:p>
                      <a:pPr indent="0" lvl="0" marL="0" rtl="0" algn="l">
                        <a:spcBef>
                          <a:spcPts val="0"/>
                        </a:spcBef>
                        <a:spcAft>
                          <a:spcPts val="0"/>
                        </a:spcAft>
                        <a:buNone/>
                      </a:pPr>
                      <a:r>
                        <a:rPr lang="en"/>
                        <a:t>--</a:t>
                      </a:r>
                      <a:endParaRPr/>
                    </a:p>
                  </a:txBody>
                  <a:tcPr marT="91425" marB="91425" marR="91425" marL="91425"/>
                </a:tc>
              </a:tr>
            </a:tbl>
          </a:graphicData>
        </a:graphic>
      </p:graphicFrame>
      <p:pic>
        <p:nvPicPr>
          <p:cNvPr descr="R = \frac{V}{E}" id="827" name="Google Shape;827;p43" title="MathEquation,#000000"/>
          <p:cNvPicPr preferRelativeResize="0"/>
          <p:nvPr/>
        </p:nvPicPr>
        <p:blipFill>
          <a:blip r:embed="rId3">
            <a:alphaModFix/>
          </a:blip>
          <a:stretch>
            <a:fillRect/>
          </a:stretch>
        </p:blipFill>
        <p:spPr>
          <a:xfrm>
            <a:off x="3851401" y="2281825"/>
            <a:ext cx="1441196" cy="726000"/>
          </a:xfrm>
          <a:prstGeom prst="rect">
            <a:avLst/>
          </a:prstGeom>
          <a:noFill/>
          <a:ln>
            <a:noFill/>
          </a:ln>
        </p:spPr>
      </p:pic>
      <p:pic>
        <p:nvPicPr>
          <p:cNvPr descr="R = \frac{6}{10}=0.6" id="828" name="Google Shape;828;p43" title="MathEquation,#000000"/>
          <p:cNvPicPr preferRelativeResize="0"/>
          <p:nvPr/>
        </p:nvPicPr>
        <p:blipFill>
          <a:blip r:embed="rId4">
            <a:alphaModFix/>
          </a:blip>
          <a:stretch>
            <a:fillRect/>
          </a:stretch>
        </p:blipFill>
        <p:spPr>
          <a:xfrm>
            <a:off x="3648507" y="3158445"/>
            <a:ext cx="1951922" cy="495300"/>
          </a:xfrm>
          <a:prstGeom prst="rect">
            <a:avLst/>
          </a:prstGeom>
          <a:noFill/>
          <a:ln>
            <a:noFill/>
          </a:ln>
        </p:spPr>
      </p:pic>
      <p:sp>
        <p:nvSpPr>
          <p:cNvPr id="829" name="Google Shape;829;p43"/>
          <p:cNvSpPr txBox="1"/>
          <p:nvPr/>
        </p:nvSpPr>
        <p:spPr>
          <a:xfrm>
            <a:off x="6199800" y="2056526"/>
            <a:ext cx="2473500" cy="37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Adjacency matrix</a:t>
            </a:r>
            <a:endParaRPr sz="1800">
              <a:latin typeface="Economica"/>
              <a:ea typeface="Economica"/>
              <a:cs typeface="Economica"/>
              <a:sym typeface="Economica"/>
            </a:endParaRPr>
          </a:p>
        </p:txBody>
      </p:sp>
      <p:sp>
        <p:nvSpPr>
          <p:cNvPr id="830" name="Google Shape;830;p43"/>
          <p:cNvSpPr txBox="1"/>
          <p:nvPr/>
        </p:nvSpPr>
        <p:spPr>
          <a:xfrm>
            <a:off x="3142900" y="3799625"/>
            <a:ext cx="2569200" cy="83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FF0000"/>
                </a:solidFill>
                <a:latin typeface="Open Sans"/>
                <a:ea typeface="Open Sans"/>
                <a:cs typeface="Open Sans"/>
                <a:sym typeface="Open Sans"/>
              </a:rPr>
              <a:t>Looks like we have six reciprocal links out of a total of 10 links</a:t>
            </a:r>
            <a:endParaRPr b="1" i="1">
              <a:solidFill>
                <a:srgbClr val="FF0000"/>
              </a:solidFill>
              <a:latin typeface="Open Sans"/>
              <a:ea typeface="Open Sans"/>
              <a:cs typeface="Open Sans"/>
              <a:sym typeface="Open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4" name="Shape 834"/>
        <p:cNvGrpSpPr/>
        <p:nvPr/>
      </p:nvGrpSpPr>
      <p:grpSpPr>
        <a:xfrm>
          <a:off x="0" y="0"/>
          <a:ext cx="0" cy="0"/>
          <a:chOff x="0" y="0"/>
          <a:chExt cx="0" cy="0"/>
        </a:xfrm>
      </p:grpSpPr>
      <p:sp>
        <p:nvSpPr>
          <p:cNvPr id="835" name="Google Shape;835;p4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Dyad-based network properties</a:t>
            </a:r>
            <a:endParaRPr/>
          </a:p>
        </p:txBody>
      </p:sp>
      <p:grpSp>
        <p:nvGrpSpPr>
          <p:cNvPr id="836" name="Google Shape;836;p44"/>
          <p:cNvGrpSpPr/>
          <p:nvPr/>
        </p:nvGrpSpPr>
        <p:grpSpPr>
          <a:xfrm>
            <a:off x="459802" y="1147225"/>
            <a:ext cx="8224398" cy="2267500"/>
            <a:chOff x="311702" y="1147225"/>
            <a:chExt cx="8224398" cy="2267500"/>
          </a:xfrm>
        </p:grpSpPr>
        <p:sp>
          <p:nvSpPr>
            <p:cNvPr id="837" name="Google Shape;837;p44"/>
            <p:cNvSpPr txBox="1"/>
            <p:nvPr/>
          </p:nvSpPr>
          <p:spPr>
            <a:xfrm>
              <a:off x="321438"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Facebook Users</a:t>
              </a:r>
              <a:endParaRPr sz="1800">
                <a:latin typeface="Economica"/>
                <a:ea typeface="Economica"/>
                <a:cs typeface="Economica"/>
                <a:sym typeface="Economica"/>
              </a:endParaRPr>
            </a:p>
          </p:txBody>
        </p:sp>
        <p:pic>
          <p:nvPicPr>
            <p:cNvPr id="838" name="Google Shape;838;p44"/>
            <p:cNvPicPr preferRelativeResize="0"/>
            <p:nvPr/>
          </p:nvPicPr>
          <p:blipFill>
            <a:blip r:embed="rId3">
              <a:alphaModFix/>
            </a:blip>
            <a:stretch>
              <a:fillRect/>
            </a:stretch>
          </p:blipFill>
          <p:spPr>
            <a:xfrm>
              <a:off x="311702" y="1163800"/>
              <a:ext cx="2469000" cy="1939600"/>
            </a:xfrm>
            <a:prstGeom prst="rect">
              <a:avLst/>
            </a:prstGeom>
            <a:noFill/>
            <a:ln>
              <a:noFill/>
            </a:ln>
          </p:spPr>
        </p:pic>
        <p:pic>
          <p:nvPicPr>
            <p:cNvPr id="839" name="Google Shape;839;p44"/>
            <p:cNvPicPr preferRelativeResize="0"/>
            <p:nvPr/>
          </p:nvPicPr>
          <p:blipFill>
            <a:blip r:embed="rId4">
              <a:alphaModFix/>
            </a:blip>
            <a:stretch>
              <a:fillRect/>
            </a:stretch>
          </p:blipFill>
          <p:spPr>
            <a:xfrm>
              <a:off x="3125221" y="1147225"/>
              <a:ext cx="2597355" cy="1939600"/>
            </a:xfrm>
            <a:prstGeom prst="rect">
              <a:avLst/>
            </a:prstGeom>
            <a:noFill/>
            <a:ln>
              <a:noFill/>
            </a:ln>
          </p:spPr>
        </p:pic>
        <p:sp>
          <p:nvSpPr>
            <p:cNvPr id="840" name="Google Shape;840;p44"/>
            <p:cNvSpPr txBox="1"/>
            <p:nvPr/>
          </p:nvSpPr>
          <p:spPr>
            <a:xfrm>
              <a:off x="3199138"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Add Health Study (High School)</a:t>
              </a:r>
              <a:endParaRPr sz="1800">
                <a:latin typeface="Economica"/>
                <a:ea typeface="Economica"/>
                <a:cs typeface="Economica"/>
                <a:sym typeface="Economica"/>
              </a:endParaRPr>
            </a:p>
          </p:txBody>
        </p:sp>
        <p:sp>
          <p:nvSpPr>
            <p:cNvPr id="841" name="Google Shape;841;p44"/>
            <p:cNvSpPr txBox="1"/>
            <p:nvPr/>
          </p:nvSpPr>
          <p:spPr>
            <a:xfrm>
              <a:off x="6131763"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LiveJournal</a:t>
              </a:r>
              <a:endParaRPr sz="1800">
                <a:latin typeface="Economica"/>
                <a:ea typeface="Economica"/>
                <a:cs typeface="Economica"/>
                <a:sym typeface="Economica"/>
              </a:endParaRPr>
            </a:p>
          </p:txBody>
        </p:sp>
        <p:pic>
          <p:nvPicPr>
            <p:cNvPr id="842" name="Google Shape;842;p44"/>
            <p:cNvPicPr preferRelativeResize="0"/>
            <p:nvPr/>
          </p:nvPicPr>
          <p:blipFill>
            <a:blip r:embed="rId5">
              <a:alphaModFix/>
            </a:blip>
            <a:stretch>
              <a:fillRect/>
            </a:stretch>
          </p:blipFill>
          <p:spPr>
            <a:xfrm>
              <a:off x="6067100" y="1190579"/>
              <a:ext cx="2469000" cy="1852896"/>
            </a:xfrm>
            <a:prstGeom prst="rect">
              <a:avLst/>
            </a:prstGeom>
            <a:noFill/>
            <a:ln>
              <a:noFill/>
            </a:ln>
          </p:spPr>
        </p:pic>
      </p:grpSp>
      <p:sp>
        <p:nvSpPr>
          <p:cNvPr id="843" name="Google Shape;843;p44"/>
          <p:cNvSpPr txBox="1"/>
          <p:nvPr/>
        </p:nvSpPr>
        <p:spPr>
          <a:xfrm>
            <a:off x="6258975"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4,847,571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68,475,391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22,887</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28.5</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20</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L = 5.5</a:t>
            </a:r>
            <a:endParaRPr b="1" sz="1200">
              <a:latin typeface="Economica"/>
              <a:ea typeface="Economica"/>
              <a:cs typeface="Economica"/>
              <a:sym typeface="Economica"/>
            </a:endParaRPr>
          </a:p>
          <a:p>
            <a:pPr indent="0" lvl="0" marL="0" rtl="0" algn="l">
              <a:spcBef>
                <a:spcPts val="0"/>
              </a:spcBef>
              <a:spcAft>
                <a:spcPts val="0"/>
              </a:spcAft>
              <a:buClr>
                <a:schemeClr val="dk1"/>
              </a:buClr>
              <a:buSzPts val="1100"/>
              <a:buFont typeface="Arial"/>
              <a:buNone/>
            </a:pPr>
            <a:r>
              <a:rPr b="1" lang="en" sz="1200">
                <a:solidFill>
                  <a:schemeClr val="dk1"/>
                </a:solidFill>
                <a:latin typeface="Economica"/>
                <a:ea typeface="Economica"/>
                <a:cs typeface="Economica"/>
                <a:sym typeface="Economica"/>
              </a:rPr>
              <a:t>R = 0.75</a:t>
            </a:r>
            <a:endParaRPr b="1" sz="1200">
              <a:latin typeface="Economica"/>
              <a:ea typeface="Economica"/>
              <a:cs typeface="Economica"/>
              <a:sym typeface="Economica"/>
            </a:endParaRPr>
          </a:p>
          <a:p>
            <a:pPr indent="0" lvl="0" marL="0" rtl="0" algn="l">
              <a:spcBef>
                <a:spcPts val="0"/>
              </a:spcBef>
              <a:spcAft>
                <a:spcPts val="0"/>
              </a:spcAft>
              <a:buNone/>
            </a:pPr>
            <a:r>
              <a:t/>
            </a:r>
            <a:endParaRPr b="1" sz="1200">
              <a:latin typeface="Economica"/>
              <a:ea typeface="Economica"/>
              <a:cs typeface="Economica"/>
              <a:sym typeface="Economica"/>
            </a:endParaRPr>
          </a:p>
          <a:p>
            <a:pPr indent="0" lvl="0" marL="0" rtl="0" algn="l">
              <a:spcBef>
                <a:spcPts val="0"/>
              </a:spcBef>
              <a:spcAft>
                <a:spcPts val="0"/>
              </a:spcAft>
              <a:buNone/>
            </a:pPr>
            <a:r>
              <a:t/>
            </a:r>
            <a:endParaRPr b="1" sz="1200">
              <a:solidFill>
                <a:schemeClr val="dk1"/>
              </a:solidFill>
              <a:highlight>
                <a:srgbClr val="F4F4FF"/>
              </a:highlight>
              <a:latin typeface="Economica"/>
              <a:ea typeface="Economica"/>
              <a:cs typeface="Economica"/>
              <a:sym typeface="Economica"/>
            </a:endParaRPr>
          </a:p>
        </p:txBody>
      </p:sp>
      <p:sp>
        <p:nvSpPr>
          <p:cNvPr id="844" name="Google Shape;844;p44"/>
          <p:cNvSpPr txBox="1"/>
          <p:nvPr/>
        </p:nvSpPr>
        <p:spPr>
          <a:xfrm>
            <a:off x="448650"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63,731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817,035</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1,098 </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25.6</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15</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L = 4.3</a:t>
            </a:r>
            <a:endParaRPr b="1" sz="1200">
              <a:latin typeface="Economica"/>
              <a:ea typeface="Economica"/>
              <a:cs typeface="Economica"/>
              <a:sym typeface="Economica"/>
            </a:endParaRPr>
          </a:p>
          <a:p>
            <a:pPr indent="0" lvl="0" marL="0" rtl="0" algn="l">
              <a:spcBef>
                <a:spcPts val="0"/>
              </a:spcBef>
              <a:spcAft>
                <a:spcPts val="0"/>
              </a:spcAft>
              <a:buClr>
                <a:schemeClr val="dk1"/>
              </a:buClr>
              <a:buSzPts val="1100"/>
              <a:buFont typeface="Arial"/>
              <a:buNone/>
            </a:pPr>
            <a:r>
              <a:rPr b="1" lang="en" sz="1200">
                <a:solidFill>
                  <a:schemeClr val="dk1"/>
                </a:solidFill>
                <a:latin typeface="Economica"/>
                <a:ea typeface="Economica"/>
                <a:cs typeface="Economica"/>
                <a:sym typeface="Economica"/>
              </a:rPr>
              <a:t>R = 1.0</a:t>
            </a:r>
            <a:endParaRPr b="1" sz="1200">
              <a:latin typeface="Economica"/>
              <a:ea typeface="Economica"/>
              <a:cs typeface="Economica"/>
              <a:sym typeface="Economica"/>
            </a:endParaRPr>
          </a:p>
          <a:p>
            <a:pPr indent="0" lvl="0" marL="0" rtl="0" algn="l">
              <a:spcBef>
                <a:spcPts val="0"/>
              </a:spcBef>
              <a:spcAft>
                <a:spcPts val="0"/>
              </a:spcAft>
              <a:buNone/>
            </a:pPr>
            <a:r>
              <a:t/>
            </a:r>
            <a:endParaRPr b="1" sz="1200">
              <a:latin typeface="Economica"/>
              <a:ea typeface="Economica"/>
              <a:cs typeface="Economica"/>
              <a:sym typeface="Economica"/>
            </a:endParaRPr>
          </a:p>
        </p:txBody>
      </p:sp>
      <p:sp>
        <p:nvSpPr>
          <p:cNvPr id="845" name="Google Shape;845;p44"/>
          <p:cNvSpPr txBox="1"/>
          <p:nvPr/>
        </p:nvSpPr>
        <p:spPr>
          <a:xfrm>
            <a:off x="3501900"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2539</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12,969</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36</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10.2</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10</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L = 4.5</a:t>
            </a:r>
            <a:endParaRPr b="1" sz="1200">
              <a:latin typeface="Economica"/>
              <a:ea typeface="Economica"/>
              <a:cs typeface="Economica"/>
              <a:sym typeface="Economica"/>
            </a:endParaRPr>
          </a:p>
          <a:p>
            <a:pPr indent="0" lvl="0" marL="0" rtl="0" algn="l">
              <a:spcBef>
                <a:spcPts val="0"/>
              </a:spcBef>
              <a:spcAft>
                <a:spcPts val="0"/>
              </a:spcAft>
              <a:buClr>
                <a:schemeClr val="dk1"/>
              </a:buClr>
              <a:buSzPts val="1100"/>
              <a:buFont typeface="Arial"/>
              <a:buNone/>
            </a:pPr>
            <a:r>
              <a:rPr b="1" lang="en" sz="1200">
                <a:solidFill>
                  <a:schemeClr val="dk1"/>
                </a:solidFill>
                <a:latin typeface="Economica"/>
                <a:ea typeface="Economica"/>
                <a:cs typeface="Economica"/>
                <a:sym typeface="Economica"/>
              </a:rPr>
              <a:t>R = 0.38</a:t>
            </a:r>
            <a:endParaRPr b="1" sz="1200">
              <a:latin typeface="Economica"/>
              <a:ea typeface="Economica"/>
              <a:cs typeface="Economica"/>
              <a:sym typeface="Economica"/>
            </a:endParaRPr>
          </a:p>
          <a:p>
            <a:pPr indent="0" lvl="0" marL="0" rtl="0" algn="l">
              <a:spcBef>
                <a:spcPts val="0"/>
              </a:spcBef>
              <a:spcAft>
                <a:spcPts val="0"/>
              </a:spcAft>
              <a:buNone/>
            </a:pPr>
            <a:r>
              <a:t/>
            </a:r>
            <a:endParaRPr b="1" sz="1200">
              <a:latin typeface="Economica"/>
              <a:ea typeface="Economica"/>
              <a:cs typeface="Economica"/>
              <a:sym typeface="Economica"/>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4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Node-based network properties</a:t>
            </a:r>
            <a:endParaRPr/>
          </a:p>
        </p:txBody>
      </p:sp>
      <p:sp>
        <p:nvSpPr>
          <p:cNvPr id="851" name="Google Shape;851;p45"/>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a:t>Flashback:</a:t>
            </a:r>
            <a:endParaRPr b="1"/>
          </a:p>
          <a:p>
            <a:pPr indent="-317500" lvl="1" marL="914400" rtl="0" algn="l">
              <a:spcBef>
                <a:spcPts val="0"/>
              </a:spcBef>
              <a:spcAft>
                <a:spcPts val="0"/>
              </a:spcAft>
              <a:buSzPts val="1400"/>
              <a:buChar char="○"/>
            </a:pPr>
            <a:r>
              <a:rPr lang="en"/>
              <a:t>Clustering coefficient at the ego-network level:</a:t>
            </a:r>
            <a:endParaRPr/>
          </a:p>
          <a:p>
            <a:pPr indent="0" lvl="0" marL="457200" rtl="0" algn="l">
              <a:spcBef>
                <a:spcPts val="1600"/>
              </a:spcBef>
              <a:spcAft>
                <a:spcPts val="0"/>
              </a:spcAft>
              <a:buNone/>
            </a:pPr>
            <a:r>
              <a:t/>
            </a:r>
            <a:endParaRPr/>
          </a:p>
          <a:p>
            <a:pPr indent="-317500" lvl="1" marL="914400" rtl="0" algn="l">
              <a:spcBef>
                <a:spcPts val="1600"/>
              </a:spcBef>
              <a:spcAft>
                <a:spcPts val="0"/>
              </a:spcAft>
              <a:buSzPts val="1400"/>
              <a:buChar char="○"/>
            </a:pPr>
            <a:r>
              <a:rPr lang="en"/>
              <a:t>Where g</a:t>
            </a:r>
            <a:r>
              <a:rPr baseline="-25000" lang="en"/>
              <a:t>jk</a:t>
            </a:r>
            <a:r>
              <a:rPr lang="en"/>
              <a:t> = 1 if i's j</a:t>
            </a:r>
            <a:r>
              <a:rPr baseline="30000" lang="en"/>
              <a:t>th</a:t>
            </a:r>
            <a:r>
              <a:rPr lang="en"/>
              <a:t> neighbor is connected to her k</a:t>
            </a:r>
            <a:r>
              <a:rPr baseline="30000" lang="en"/>
              <a:t>th</a:t>
            </a:r>
            <a:r>
              <a:rPr lang="en"/>
              <a:t> neighbor, and k</a:t>
            </a:r>
            <a:r>
              <a:rPr baseline="-25000" lang="en"/>
              <a:t>i</a:t>
            </a:r>
            <a:r>
              <a:rPr lang="en"/>
              <a:t> is i's total number of neighbors.</a:t>
            </a:r>
            <a:endParaRPr/>
          </a:p>
          <a:p>
            <a:pPr indent="-317500" lvl="0" marL="457200" rtl="0" algn="l">
              <a:spcBef>
                <a:spcPts val="0"/>
              </a:spcBef>
              <a:spcAft>
                <a:spcPts val="0"/>
              </a:spcAft>
              <a:buSzPts val="1400"/>
              <a:buChar char="●"/>
            </a:pPr>
            <a:r>
              <a:rPr lang="en" sz="1400"/>
              <a:t>The </a:t>
            </a:r>
            <a:r>
              <a:rPr b="1" lang="en" sz="1400"/>
              <a:t>Average Clustering Coefficient </a:t>
            </a:r>
            <a:r>
              <a:rPr lang="en" sz="1400"/>
              <a:t>at the network level is just the sum of each node’s clustering coefficient divided by total number of nodes:</a:t>
            </a:r>
            <a:endParaRPr sz="1400"/>
          </a:p>
          <a:p>
            <a:pPr indent="0" lvl="0" marL="45720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852" name="Google Shape;852;p45"/>
          <p:cNvPicPr preferRelativeResize="0"/>
          <p:nvPr/>
        </p:nvPicPr>
        <p:blipFill>
          <a:blip r:embed="rId3">
            <a:alphaModFix/>
          </a:blip>
          <a:stretch>
            <a:fillRect/>
          </a:stretch>
        </p:blipFill>
        <p:spPr>
          <a:xfrm>
            <a:off x="5556075" y="1484538"/>
            <a:ext cx="1715750" cy="939275"/>
          </a:xfrm>
          <a:prstGeom prst="rect">
            <a:avLst/>
          </a:prstGeom>
          <a:noFill/>
          <a:ln>
            <a:noFill/>
          </a:ln>
        </p:spPr>
      </p:pic>
      <p:pic>
        <p:nvPicPr>
          <p:cNvPr id="853" name="Google Shape;853;p45"/>
          <p:cNvPicPr preferRelativeResize="0"/>
          <p:nvPr/>
        </p:nvPicPr>
        <p:blipFill>
          <a:blip r:embed="rId4">
            <a:alphaModFix/>
          </a:blip>
          <a:stretch>
            <a:fillRect/>
          </a:stretch>
        </p:blipFill>
        <p:spPr>
          <a:xfrm>
            <a:off x="5599589" y="3440023"/>
            <a:ext cx="1628707" cy="87987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4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Node-based network properties</a:t>
            </a:r>
            <a:endParaRPr/>
          </a:p>
        </p:txBody>
      </p:sp>
      <p:grpSp>
        <p:nvGrpSpPr>
          <p:cNvPr id="859" name="Google Shape;859;p46"/>
          <p:cNvGrpSpPr/>
          <p:nvPr/>
        </p:nvGrpSpPr>
        <p:grpSpPr>
          <a:xfrm>
            <a:off x="459802" y="1147225"/>
            <a:ext cx="8224398" cy="2267500"/>
            <a:chOff x="311702" y="1147225"/>
            <a:chExt cx="8224398" cy="2267500"/>
          </a:xfrm>
        </p:grpSpPr>
        <p:sp>
          <p:nvSpPr>
            <p:cNvPr id="860" name="Google Shape;860;p46"/>
            <p:cNvSpPr txBox="1"/>
            <p:nvPr/>
          </p:nvSpPr>
          <p:spPr>
            <a:xfrm>
              <a:off x="321438"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Facebook Users</a:t>
              </a:r>
              <a:endParaRPr sz="1800">
                <a:latin typeface="Economica"/>
                <a:ea typeface="Economica"/>
                <a:cs typeface="Economica"/>
                <a:sym typeface="Economica"/>
              </a:endParaRPr>
            </a:p>
          </p:txBody>
        </p:sp>
        <p:pic>
          <p:nvPicPr>
            <p:cNvPr id="861" name="Google Shape;861;p46"/>
            <p:cNvPicPr preferRelativeResize="0"/>
            <p:nvPr/>
          </p:nvPicPr>
          <p:blipFill>
            <a:blip r:embed="rId3">
              <a:alphaModFix/>
            </a:blip>
            <a:stretch>
              <a:fillRect/>
            </a:stretch>
          </p:blipFill>
          <p:spPr>
            <a:xfrm>
              <a:off x="311702" y="1163800"/>
              <a:ext cx="2469000" cy="1939600"/>
            </a:xfrm>
            <a:prstGeom prst="rect">
              <a:avLst/>
            </a:prstGeom>
            <a:noFill/>
            <a:ln>
              <a:noFill/>
            </a:ln>
          </p:spPr>
        </p:pic>
        <p:pic>
          <p:nvPicPr>
            <p:cNvPr id="862" name="Google Shape;862;p46"/>
            <p:cNvPicPr preferRelativeResize="0"/>
            <p:nvPr/>
          </p:nvPicPr>
          <p:blipFill>
            <a:blip r:embed="rId4">
              <a:alphaModFix/>
            </a:blip>
            <a:stretch>
              <a:fillRect/>
            </a:stretch>
          </p:blipFill>
          <p:spPr>
            <a:xfrm>
              <a:off x="3125221" y="1147225"/>
              <a:ext cx="2597355" cy="1939600"/>
            </a:xfrm>
            <a:prstGeom prst="rect">
              <a:avLst/>
            </a:prstGeom>
            <a:noFill/>
            <a:ln>
              <a:noFill/>
            </a:ln>
          </p:spPr>
        </p:pic>
        <p:sp>
          <p:nvSpPr>
            <p:cNvPr id="863" name="Google Shape;863;p46"/>
            <p:cNvSpPr txBox="1"/>
            <p:nvPr/>
          </p:nvSpPr>
          <p:spPr>
            <a:xfrm>
              <a:off x="3199138"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Add Health Study (High School)</a:t>
              </a:r>
              <a:endParaRPr sz="1800">
                <a:latin typeface="Economica"/>
                <a:ea typeface="Economica"/>
                <a:cs typeface="Economica"/>
                <a:sym typeface="Economica"/>
              </a:endParaRPr>
            </a:p>
          </p:txBody>
        </p:sp>
        <p:sp>
          <p:nvSpPr>
            <p:cNvPr id="864" name="Google Shape;864;p46"/>
            <p:cNvSpPr txBox="1"/>
            <p:nvPr/>
          </p:nvSpPr>
          <p:spPr>
            <a:xfrm>
              <a:off x="6131763" y="3086825"/>
              <a:ext cx="2394600" cy="327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Economica"/>
                  <a:ea typeface="Economica"/>
                  <a:cs typeface="Economica"/>
                  <a:sym typeface="Economica"/>
                </a:rPr>
                <a:t>LiveJournal</a:t>
              </a:r>
              <a:endParaRPr sz="1800">
                <a:latin typeface="Economica"/>
                <a:ea typeface="Economica"/>
                <a:cs typeface="Economica"/>
                <a:sym typeface="Economica"/>
              </a:endParaRPr>
            </a:p>
          </p:txBody>
        </p:sp>
        <p:pic>
          <p:nvPicPr>
            <p:cNvPr id="865" name="Google Shape;865;p46"/>
            <p:cNvPicPr preferRelativeResize="0"/>
            <p:nvPr/>
          </p:nvPicPr>
          <p:blipFill>
            <a:blip r:embed="rId5">
              <a:alphaModFix/>
            </a:blip>
            <a:stretch>
              <a:fillRect/>
            </a:stretch>
          </p:blipFill>
          <p:spPr>
            <a:xfrm>
              <a:off x="6067100" y="1190579"/>
              <a:ext cx="2469000" cy="1852896"/>
            </a:xfrm>
            <a:prstGeom prst="rect">
              <a:avLst/>
            </a:prstGeom>
            <a:noFill/>
            <a:ln>
              <a:noFill/>
            </a:ln>
          </p:spPr>
        </p:pic>
      </p:grpSp>
      <p:sp>
        <p:nvSpPr>
          <p:cNvPr id="866" name="Google Shape;866;p46"/>
          <p:cNvSpPr txBox="1"/>
          <p:nvPr/>
        </p:nvSpPr>
        <p:spPr>
          <a:xfrm>
            <a:off x="6258975"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4,847,571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68,475,391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22,887</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28.5</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20</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L = 5.5</a:t>
            </a:r>
            <a:endParaRPr b="1" sz="1200">
              <a:latin typeface="Economica"/>
              <a:ea typeface="Economica"/>
              <a:cs typeface="Economica"/>
              <a:sym typeface="Economica"/>
            </a:endParaRPr>
          </a:p>
          <a:p>
            <a:pPr indent="0" lvl="0" marL="0" rtl="0" algn="l">
              <a:spcBef>
                <a:spcPts val="0"/>
              </a:spcBef>
              <a:spcAft>
                <a:spcPts val="0"/>
              </a:spcAft>
              <a:buNone/>
            </a:pPr>
            <a:r>
              <a:rPr b="1" lang="en" sz="1200">
                <a:solidFill>
                  <a:schemeClr val="dk1"/>
                </a:solidFill>
                <a:latin typeface="Economica"/>
                <a:ea typeface="Economica"/>
                <a:cs typeface="Economica"/>
                <a:sym typeface="Economica"/>
              </a:rPr>
              <a:t>R = 0.75</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C = 0.12</a:t>
            </a:r>
            <a:endParaRPr b="1" sz="1200">
              <a:latin typeface="Economica"/>
              <a:ea typeface="Economica"/>
              <a:cs typeface="Economica"/>
              <a:sym typeface="Economica"/>
            </a:endParaRPr>
          </a:p>
          <a:p>
            <a:pPr indent="0" lvl="0" marL="0" rtl="0" algn="l">
              <a:spcBef>
                <a:spcPts val="0"/>
              </a:spcBef>
              <a:spcAft>
                <a:spcPts val="0"/>
              </a:spcAft>
              <a:buNone/>
            </a:pPr>
            <a:r>
              <a:t/>
            </a:r>
            <a:endParaRPr b="1" sz="1200">
              <a:solidFill>
                <a:schemeClr val="dk1"/>
              </a:solidFill>
              <a:highlight>
                <a:srgbClr val="F4F4FF"/>
              </a:highlight>
              <a:latin typeface="Economica"/>
              <a:ea typeface="Economica"/>
              <a:cs typeface="Economica"/>
              <a:sym typeface="Economica"/>
            </a:endParaRPr>
          </a:p>
        </p:txBody>
      </p:sp>
      <p:sp>
        <p:nvSpPr>
          <p:cNvPr id="867" name="Google Shape;867;p46"/>
          <p:cNvSpPr txBox="1"/>
          <p:nvPr/>
        </p:nvSpPr>
        <p:spPr>
          <a:xfrm>
            <a:off x="448650"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63,731</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817,035</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1,098 </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25.6</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15</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L = 4.3</a:t>
            </a:r>
            <a:endParaRPr b="1" sz="1200">
              <a:latin typeface="Economica"/>
              <a:ea typeface="Economica"/>
              <a:cs typeface="Economica"/>
              <a:sym typeface="Economica"/>
            </a:endParaRPr>
          </a:p>
          <a:p>
            <a:pPr indent="0" lvl="0" marL="0" rtl="0" algn="l">
              <a:spcBef>
                <a:spcPts val="0"/>
              </a:spcBef>
              <a:spcAft>
                <a:spcPts val="0"/>
              </a:spcAft>
              <a:buNone/>
            </a:pPr>
            <a:r>
              <a:rPr b="1" lang="en" sz="1200">
                <a:solidFill>
                  <a:schemeClr val="dk1"/>
                </a:solidFill>
                <a:latin typeface="Economica"/>
                <a:ea typeface="Economica"/>
                <a:cs typeface="Economica"/>
                <a:sym typeface="Economica"/>
              </a:rPr>
              <a:t>R = 1.0</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C = 0.15</a:t>
            </a:r>
            <a:endParaRPr b="1" sz="1200">
              <a:latin typeface="Economica"/>
              <a:ea typeface="Economica"/>
              <a:cs typeface="Economica"/>
              <a:sym typeface="Economica"/>
            </a:endParaRPr>
          </a:p>
        </p:txBody>
      </p:sp>
      <p:sp>
        <p:nvSpPr>
          <p:cNvPr id="868" name="Google Shape;868;p46"/>
          <p:cNvSpPr txBox="1"/>
          <p:nvPr/>
        </p:nvSpPr>
        <p:spPr>
          <a:xfrm>
            <a:off x="3501900" y="3414725"/>
            <a:ext cx="2140200" cy="15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latin typeface="Economica"/>
                <a:ea typeface="Economica"/>
                <a:cs typeface="Economica"/>
                <a:sym typeface="Economica"/>
              </a:rPr>
              <a:t>N = 2539</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E = 12,969</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Max degree: 36</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10.2</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D = 10</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L = 4.5</a:t>
            </a:r>
            <a:endParaRPr b="1" sz="1200">
              <a:latin typeface="Economica"/>
              <a:ea typeface="Economica"/>
              <a:cs typeface="Economica"/>
              <a:sym typeface="Economica"/>
            </a:endParaRPr>
          </a:p>
          <a:p>
            <a:pPr indent="0" lvl="0" marL="0" rtl="0" algn="l">
              <a:spcBef>
                <a:spcPts val="0"/>
              </a:spcBef>
              <a:spcAft>
                <a:spcPts val="0"/>
              </a:spcAft>
              <a:buNone/>
            </a:pPr>
            <a:r>
              <a:rPr b="1" lang="en" sz="1200">
                <a:solidFill>
                  <a:schemeClr val="dk1"/>
                </a:solidFill>
                <a:latin typeface="Economica"/>
                <a:ea typeface="Economica"/>
                <a:cs typeface="Economica"/>
                <a:sym typeface="Economica"/>
              </a:rPr>
              <a:t>R = 0.38</a:t>
            </a:r>
            <a:endParaRPr b="1" sz="1200">
              <a:latin typeface="Economica"/>
              <a:ea typeface="Economica"/>
              <a:cs typeface="Economica"/>
              <a:sym typeface="Economica"/>
            </a:endParaRPr>
          </a:p>
          <a:p>
            <a:pPr indent="0" lvl="0" marL="0" rtl="0" algn="l">
              <a:spcBef>
                <a:spcPts val="0"/>
              </a:spcBef>
              <a:spcAft>
                <a:spcPts val="0"/>
              </a:spcAft>
              <a:buNone/>
            </a:pPr>
            <a:r>
              <a:rPr b="1" lang="en" sz="1200">
                <a:latin typeface="Economica"/>
                <a:ea typeface="Economica"/>
                <a:cs typeface="Economica"/>
                <a:sym typeface="Economica"/>
              </a:rPr>
              <a:t>C = 0.14</a:t>
            </a:r>
            <a:endParaRPr b="1" sz="1200">
              <a:latin typeface="Economica"/>
              <a:ea typeface="Economica"/>
              <a:cs typeface="Economica"/>
              <a:sym typeface="Economica"/>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72" name="Shape 872"/>
        <p:cNvGrpSpPr/>
        <p:nvPr/>
      </p:nvGrpSpPr>
      <p:grpSpPr>
        <a:xfrm>
          <a:off x="0" y="0"/>
          <a:ext cx="0" cy="0"/>
          <a:chOff x="0" y="0"/>
          <a:chExt cx="0" cy="0"/>
        </a:xfrm>
      </p:grpSpPr>
      <p:sp>
        <p:nvSpPr>
          <p:cNvPr id="873" name="Google Shape;873;p4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874" name="Google Shape;874;p47"/>
          <p:cNvSpPr txBox="1"/>
          <p:nvPr>
            <p:ph idx="1" type="body"/>
          </p:nvPr>
        </p:nvSpPr>
        <p:spPr>
          <a:xfrm>
            <a:off x="311700" y="1225225"/>
            <a:ext cx="52944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A given (large-scale) network is a "small world" if:</a:t>
            </a:r>
            <a:endParaRPr/>
          </a:p>
          <a:p>
            <a:pPr indent="-317500" lvl="1" marL="914400" rtl="0" algn="l">
              <a:spcBef>
                <a:spcPts val="0"/>
              </a:spcBef>
              <a:spcAft>
                <a:spcPts val="0"/>
              </a:spcAft>
              <a:buSzPts val="1400"/>
              <a:buChar char="○"/>
            </a:pPr>
            <a:r>
              <a:rPr lang="en"/>
              <a:t>The </a:t>
            </a:r>
            <a:r>
              <a:rPr b="1" lang="en"/>
              <a:t>order</a:t>
            </a:r>
            <a:r>
              <a:rPr lang="en"/>
              <a:t> of the graph (N) is </a:t>
            </a:r>
            <a:r>
              <a:rPr b="1" lang="en"/>
              <a:t>large</a:t>
            </a:r>
            <a:r>
              <a:rPr lang="en"/>
              <a:t> </a:t>
            </a:r>
            <a:endParaRPr/>
          </a:p>
          <a:p>
            <a:pPr indent="-317500" lvl="1" marL="914400" rtl="0" algn="l">
              <a:spcBef>
                <a:spcPts val="0"/>
              </a:spcBef>
              <a:spcAft>
                <a:spcPts val="0"/>
              </a:spcAft>
              <a:buSzPts val="1400"/>
              <a:buChar char="○"/>
            </a:pPr>
            <a:r>
              <a:rPr lang="en"/>
              <a:t>The graph is </a:t>
            </a:r>
            <a:r>
              <a:rPr b="1" lang="en"/>
              <a:t>sparse</a:t>
            </a:r>
            <a:r>
              <a:rPr lang="en"/>
              <a:t> (any node is on average connected to only a relatively small number of other nodes k)</a:t>
            </a:r>
            <a:endParaRPr/>
          </a:p>
          <a:p>
            <a:pPr indent="-317500" lvl="2" marL="1371600" rtl="0" algn="l">
              <a:spcBef>
                <a:spcPts val="0"/>
              </a:spcBef>
              <a:spcAft>
                <a:spcPts val="0"/>
              </a:spcAft>
              <a:buSzPts val="1400"/>
              <a:buChar char="■"/>
            </a:pPr>
            <a:r>
              <a:rPr lang="en"/>
              <a:t>k ~ 10</a:t>
            </a:r>
            <a:r>
              <a:rPr baseline="30000" lang="en"/>
              <a:t>2 </a:t>
            </a:r>
            <a:r>
              <a:rPr lang="en"/>
              <a:t>in human social networks (Pool and Kochen 1978)</a:t>
            </a:r>
            <a:endParaRPr/>
          </a:p>
          <a:p>
            <a:pPr indent="-317500" lvl="1" marL="914400" rtl="0" algn="l">
              <a:spcBef>
                <a:spcPts val="0"/>
              </a:spcBef>
              <a:spcAft>
                <a:spcPts val="0"/>
              </a:spcAft>
              <a:buSzPts val="1400"/>
              <a:buChar char="○"/>
            </a:pPr>
            <a:r>
              <a:rPr lang="en"/>
              <a:t>Graph is </a:t>
            </a:r>
            <a:r>
              <a:rPr b="1" lang="en"/>
              <a:t>decentralized</a:t>
            </a:r>
            <a:r>
              <a:rPr lang="en"/>
              <a:t> (max degree is much smaller than the order of the graph </a:t>
            </a:r>
            <a:r>
              <a:rPr i="1" lang="en"/>
              <a:t>N</a:t>
            </a:r>
            <a:r>
              <a:rPr lang="en"/>
              <a:t>)</a:t>
            </a:r>
            <a:endParaRPr/>
          </a:p>
          <a:p>
            <a:pPr indent="-317500" lvl="1" marL="914400" rtl="0" algn="l">
              <a:spcBef>
                <a:spcPts val="0"/>
              </a:spcBef>
              <a:spcAft>
                <a:spcPts val="0"/>
              </a:spcAft>
              <a:buSzPts val="1400"/>
              <a:buChar char="○"/>
            </a:pPr>
            <a:r>
              <a:rPr lang="en"/>
              <a:t>The network exhibits </a:t>
            </a:r>
            <a:r>
              <a:rPr b="1" lang="en"/>
              <a:t>clustering</a:t>
            </a:r>
            <a:r>
              <a:rPr lang="en"/>
              <a:t> (friends of friends tend to be friends)</a:t>
            </a:r>
            <a:endParaRPr/>
          </a:p>
          <a:p>
            <a:pPr indent="0" lvl="0" marL="45720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descr="2553555562_9eac4fa7d4_b.jpg" id="875" name="Google Shape;875;p47"/>
          <p:cNvPicPr preferRelativeResize="0"/>
          <p:nvPr/>
        </p:nvPicPr>
        <p:blipFill>
          <a:blip r:embed="rId3">
            <a:alphaModFix/>
          </a:blip>
          <a:stretch>
            <a:fillRect/>
          </a:stretch>
        </p:blipFill>
        <p:spPr>
          <a:xfrm>
            <a:off x="5606100" y="1487750"/>
            <a:ext cx="3233098" cy="2828961"/>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79" name="Shape 879"/>
        <p:cNvGrpSpPr/>
        <p:nvPr/>
      </p:nvGrpSpPr>
      <p:grpSpPr>
        <a:xfrm>
          <a:off x="0" y="0"/>
          <a:ext cx="0" cy="0"/>
          <a:chOff x="0" y="0"/>
          <a:chExt cx="0" cy="0"/>
        </a:xfrm>
      </p:grpSpPr>
      <p:sp>
        <p:nvSpPr>
          <p:cNvPr id="880" name="Google Shape;880;p48"/>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881" name="Google Shape;881;p48"/>
          <p:cNvSpPr txBox="1"/>
          <p:nvPr>
            <p:ph idx="1" type="body"/>
          </p:nvPr>
        </p:nvSpPr>
        <p:spPr>
          <a:xfrm>
            <a:off x="311700" y="1225225"/>
            <a:ext cx="52944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Classic study by Travers and Milgram (1969)</a:t>
            </a:r>
            <a:endParaRPr/>
          </a:p>
          <a:p>
            <a:pPr indent="-342900" lvl="0" marL="457200" rtl="0" algn="l">
              <a:spcBef>
                <a:spcPts val="0"/>
              </a:spcBef>
              <a:spcAft>
                <a:spcPts val="0"/>
              </a:spcAft>
              <a:buSzPts val="1800"/>
              <a:buChar char="●"/>
            </a:pPr>
            <a:r>
              <a:rPr lang="en"/>
              <a:t>Target  (Boston stockbroker)</a:t>
            </a:r>
            <a:endParaRPr/>
          </a:p>
          <a:p>
            <a:pPr indent="-317500" lvl="1" marL="914400" rtl="0" algn="l">
              <a:spcBef>
                <a:spcPts val="0"/>
              </a:spcBef>
              <a:spcAft>
                <a:spcPts val="0"/>
              </a:spcAft>
              <a:buSzPts val="1400"/>
              <a:buChar char="○"/>
            </a:pPr>
            <a:r>
              <a:rPr lang="en"/>
              <a:t>296 participants ("starting persons")</a:t>
            </a:r>
            <a:endParaRPr/>
          </a:p>
          <a:p>
            <a:pPr indent="-317500" lvl="1" marL="914400" rtl="0" algn="l">
              <a:spcBef>
                <a:spcPts val="0"/>
              </a:spcBef>
              <a:spcAft>
                <a:spcPts val="0"/>
              </a:spcAft>
              <a:buSzPts val="1400"/>
              <a:buChar char="○"/>
            </a:pPr>
            <a:r>
              <a:rPr lang="en"/>
              <a:t>196 from Nebraska</a:t>
            </a:r>
            <a:endParaRPr/>
          </a:p>
          <a:p>
            <a:pPr indent="-317500" lvl="2" marL="1371600" rtl="0" algn="l">
              <a:spcBef>
                <a:spcPts val="0"/>
              </a:spcBef>
              <a:spcAft>
                <a:spcPts val="0"/>
              </a:spcAft>
              <a:buSzPts val="1400"/>
              <a:buChar char="■"/>
            </a:pPr>
            <a:r>
              <a:rPr lang="en"/>
              <a:t>100 Stockbrokers</a:t>
            </a:r>
            <a:endParaRPr/>
          </a:p>
          <a:p>
            <a:pPr indent="-317500" lvl="2" marL="1371600" rtl="0" algn="l">
              <a:spcBef>
                <a:spcPts val="0"/>
              </a:spcBef>
              <a:spcAft>
                <a:spcPts val="0"/>
              </a:spcAft>
              <a:buSzPts val="1400"/>
              <a:buChar char="■"/>
            </a:pPr>
            <a:r>
              <a:rPr lang="en"/>
              <a:t>96 Random</a:t>
            </a:r>
            <a:endParaRPr/>
          </a:p>
          <a:p>
            <a:pPr indent="-317500" lvl="1" marL="914400" rtl="0" algn="l">
              <a:spcBef>
                <a:spcPts val="0"/>
              </a:spcBef>
              <a:spcAft>
                <a:spcPts val="0"/>
              </a:spcAft>
              <a:buSzPts val="1400"/>
              <a:buChar char="○"/>
            </a:pPr>
            <a:r>
              <a:rPr lang="en"/>
              <a:t>100 from Boston</a:t>
            </a:r>
            <a:endParaRPr/>
          </a:p>
          <a:p>
            <a:pPr indent="-317500" lvl="1" marL="914400" rtl="0" algn="l">
              <a:spcBef>
                <a:spcPts val="0"/>
              </a:spcBef>
              <a:spcAft>
                <a:spcPts val="0"/>
              </a:spcAft>
              <a:buSzPts val="1400"/>
              <a:buChar char="○"/>
            </a:pPr>
            <a:r>
              <a:rPr lang="en"/>
              <a:t>217 forwarded packet so get to target person</a:t>
            </a:r>
            <a:endParaRPr/>
          </a:p>
          <a:p>
            <a:pPr indent="-317500" lvl="1" marL="914400" rtl="0" algn="l">
              <a:spcBef>
                <a:spcPts val="0"/>
              </a:spcBef>
              <a:spcAft>
                <a:spcPts val="0"/>
              </a:spcAft>
              <a:buSzPts val="1400"/>
              <a:buChar char="○"/>
            </a:pPr>
            <a:r>
              <a:rPr lang="en"/>
              <a:t>453 Intermediaries enlisted by the participants</a:t>
            </a:r>
            <a:endParaRPr/>
          </a:p>
          <a:p>
            <a:pPr indent="0" lvl="0" marL="0" rtl="0" algn="l">
              <a:spcBef>
                <a:spcPts val="1600"/>
              </a:spcBef>
              <a:spcAft>
                <a:spcPts val="1600"/>
              </a:spcAft>
              <a:buNone/>
            </a:pPr>
            <a:r>
              <a:t/>
            </a:r>
            <a:endParaRPr/>
          </a:p>
        </p:txBody>
      </p:sp>
      <p:pic>
        <p:nvPicPr>
          <p:cNvPr id="882" name="Google Shape;882;p48"/>
          <p:cNvPicPr preferRelativeResize="0"/>
          <p:nvPr/>
        </p:nvPicPr>
        <p:blipFill>
          <a:blip r:embed="rId3">
            <a:alphaModFix/>
          </a:blip>
          <a:stretch>
            <a:fillRect/>
          </a:stretch>
        </p:blipFill>
        <p:spPr>
          <a:xfrm>
            <a:off x="6120075" y="1225225"/>
            <a:ext cx="2440524" cy="3354001"/>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86" name="Shape 886"/>
        <p:cNvGrpSpPr/>
        <p:nvPr/>
      </p:nvGrpSpPr>
      <p:grpSpPr>
        <a:xfrm>
          <a:off x="0" y="0"/>
          <a:ext cx="0" cy="0"/>
          <a:chOff x="0" y="0"/>
          <a:chExt cx="0" cy="0"/>
        </a:xfrm>
      </p:grpSpPr>
      <p:sp>
        <p:nvSpPr>
          <p:cNvPr id="887" name="Google Shape;887;p49"/>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888" name="Google Shape;888;p49"/>
          <p:cNvSpPr txBox="1"/>
          <p:nvPr>
            <p:ph idx="1" type="body"/>
          </p:nvPr>
        </p:nvSpPr>
        <p:spPr>
          <a:xfrm>
            <a:off x="311700" y="1225225"/>
            <a:ext cx="52944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Target  (Boston stockbroker)</a:t>
            </a:r>
            <a:endParaRPr/>
          </a:p>
          <a:p>
            <a:pPr indent="-317500" lvl="1" marL="914400" rtl="0" algn="l">
              <a:spcBef>
                <a:spcPts val="0"/>
              </a:spcBef>
              <a:spcAft>
                <a:spcPts val="0"/>
              </a:spcAft>
              <a:buSzPts val="1400"/>
              <a:buChar char="○"/>
            </a:pPr>
            <a:r>
              <a:rPr lang="en"/>
              <a:t>296 participants ("starting persons")</a:t>
            </a:r>
            <a:endParaRPr/>
          </a:p>
          <a:p>
            <a:pPr indent="-317500" lvl="1" marL="914400" rtl="0" algn="l">
              <a:spcBef>
                <a:spcPts val="0"/>
              </a:spcBef>
              <a:spcAft>
                <a:spcPts val="0"/>
              </a:spcAft>
              <a:buSzPts val="1400"/>
              <a:buChar char="○"/>
            </a:pPr>
            <a:r>
              <a:rPr lang="en"/>
              <a:t>196 from Nebraska</a:t>
            </a:r>
            <a:endParaRPr/>
          </a:p>
          <a:p>
            <a:pPr indent="-317500" lvl="2" marL="1371600" rtl="0" algn="l">
              <a:spcBef>
                <a:spcPts val="0"/>
              </a:spcBef>
              <a:spcAft>
                <a:spcPts val="0"/>
              </a:spcAft>
              <a:buSzPts val="1400"/>
              <a:buChar char="■"/>
            </a:pPr>
            <a:r>
              <a:rPr lang="en"/>
              <a:t>100 Stockbrokers</a:t>
            </a:r>
            <a:endParaRPr/>
          </a:p>
          <a:p>
            <a:pPr indent="-317500" lvl="2" marL="1371600" rtl="0" algn="l">
              <a:spcBef>
                <a:spcPts val="0"/>
              </a:spcBef>
              <a:spcAft>
                <a:spcPts val="0"/>
              </a:spcAft>
              <a:buSzPts val="1400"/>
              <a:buChar char="■"/>
            </a:pPr>
            <a:r>
              <a:rPr lang="en"/>
              <a:t>96 Random</a:t>
            </a:r>
            <a:endParaRPr/>
          </a:p>
          <a:p>
            <a:pPr indent="-317500" lvl="1" marL="914400" rtl="0" algn="l">
              <a:spcBef>
                <a:spcPts val="0"/>
              </a:spcBef>
              <a:spcAft>
                <a:spcPts val="0"/>
              </a:spcAft>
              <a:buSzPts val="1400"/>
              <a:buChar char="○"/>
            </a:pPr>
            <a:r>
              <a:rPr lang="en"/>
              <a:t>100 from Boston</a:t>
            </a:r>
            <a:endParaRPr/>
          </a:p>
          <a:p>
            <a:pPr indent="-317500" lvl="1" marL="914400" rtl="0" algn="l">
              <a:spcBef>
                <a:spcPts val="0"/>
              </a:spcBef>
              <a:spcAft>
                <a:spcPts val="0"/>
              </a:spcAft>
              <a:buSzPts val="1400"/>
              <a:buChar char="○"/>
            </a:pPr>
            <a:r>
              <a:rPr lang="en"/>
              <a:t>217 forwarded packet so get to target person</a:t>
            </a:r>
            <a:endParaRPr/>
          </a:p>
          <a:p>
            <a:pPr indent="-317500" lvl="1" marL="914400" rtl="0" algn="l">
              <a:spcBef>
                <a:spcPts val="0"/>
              </a:spcBef>
              <a:spcAft>
                <a:spcPts val="0"/>
              </a:spcAft>
              <a:buSzPts val="1400"/>
              <a:buChar char="○"/>
            </a:pPr>
            <a:r>
              <a:rPr lang="en"/>
              <a:t>453 Intermediaries enlisted by the participants</a:t>
            </a:r>
            <a:endParaRPr/>
          </a:p>
          <a:p>
            <a:pPr indent="-342900" lvl="0" marL="457200" rtl="0" algn="l">
              <a:spcBef>
                <a:spcPts val="0"/>
              </a:spcBef>
              <a:spcAft>
                <a:spcPts val="0"/>
              </a:spcAft>
              <a:buSzPts val="1800"/>
              <a:buChar char="●"/>
            </a:pPr>
            <a:r>
              <a:rPr lang="en"/>
              <a:t>64 completed chains (29%)</a:t>
            </a:r>
            <a:endParaRPr/>
          </a:p>
          <a:p>
            <a:pPr indent="-317500" lvl="2" marL="1371600" rtl="0" algn="l">
              <a:spcBef>
                <a:spcPts val="0"/>
              </a:spcBef>
              <a:spcAft>
                <a:spcPts val="0"/>
              </a:spcAft>
              <a:buSzPts val="1400"/>
              <a:buChar char="■"/>
            </a:pPr>
            <a:r>
              <a:rPr lang="en"/>
              <a:t>Mean path length: 5.2</a:t>
            </a:r>
            <a:endParaRPr/>
          </a:p>
          <a:p>
            <a:pPr indent="0" lvl="0" marL="0" rtl="0" algn="l">
              <a:spcBef>
                <a:spcPts val="1600"/>
              </a:spcBef>
              <a:spcAft>
                <a:spcPts val="1600"/>
              </a:spcAft>
              <a:buNone/>
            </a:pPr>
            <a:r>
              <a:t/>
            </a:r>
            <a:endParaRPr/>
          </a:p>
        </p:txBody>
      </p:sp>
      <p:pic>
        <p:nvPicPr>
          <p:cNvPr id="889" name="Google Shape;889;p49"/>
          <p:cNvPicPr preferRelativeResize="0"/>
          <p:nvPr/>
        </p:nvPicPr>
        <p:blipFill rotWithShape="1">
          <a:blip r:embed="rId3">
            <a:alphaModFix/>
          </a:blip>
          <a:srcRect b="0" l="0" r="0" t="8717"/>
          <a:stretch/>
        </p:blipFill>
        <p:spPr>
          <a:xfrm>
            <a:off x="5497150" y="1562837"/>
            <a:ext cx="3335149" cy="26787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93" name="Shape 893"/>
        <p:cNvGrpSpPr/>
        <p:nvPr/>
      </p:nvGrpSpPr>
      <p:grpSpPr>
        <a:xfrm>
          <a:off x="0" y="0"/>
          <a:ext cx="0" cy="0"/>
          <a:chOff x="0" y="0"/>
          <a:chExt cx="0" cy="0"/>
        </a:xfrm>
      </p:grpSpPr>
      <p:sp>
        <p:nvSpPr>
          <p:cNvPr id="894" name="Google Shape;894;p50"/>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895" name="Google Shape;895;p50"/>
          <p:cNvSpPr txBox="1"/>
          <p:nvPr>
            <p:ph idx="1" type="body"/>
          </p:nvPr>
        </p:nvSpPr>
        <p:spPr>
          <a:xfrm>
            <a:off x="311700" y="1225225"/>
            <a:ext cx="52944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Target  (Boston stockbroker)</a:t>
            </a:r>
            <a:endParaRPr/>
          </a:p>
          <a:p>
            <a:pPr indent="-317500" lvl="1" marL="914400" rtl="0" algn="l">
              <a:spcBef>
                <a:spcPts val="0"/>
              </a:spcBef>
              <a:spcAft>
                <a:spcPts val="0"/>
              </a:spcAft>
              <a:buSzPts val="1400"/>
              <a:buChar char="○"/>
            </a:pPr>
            <a:r>
              <a:rPr lang="en"/>
              <a:t>296 participants ("starting persons")</a:t>
            </a:r>
            <a:endParaRPr/>
          </a:p>
          <a:p>
            <a:pPr indent="-317500" lvl="1" marL="914400" rtl="0" algn="l">
              <a:spcBef>
                <a:spcPts val="0"/>
              </a:spcBef>
              <a:spcAft>
                <a:spcPts val="0"/>
              </a:spcAft>
              <a:buSzPts val="1400"/>
              <a:buChar char="○"/>
            </a:pPr>
            <a:r>
              <a:rPr lang="en"/>
              <a:t>196 from Nebraska</a:t>
            </a:r>
            <a:endParaRPr/>
          </a:p>
          <a:p>
            <a:pPr indent="-317500" lvl="2" marL="1371600" rtl="0" algn="l">
              <a:spcBef>
                <a:spcPts val="0"/>
              </a:spcBef>
              <a:spcAft>
                <a:spcPts val="0"/>
              </a:spcAft>
              <a:buSzPts val="1400"/>
              <a:buChar char="■"/>
            </a:pPr>
            <a:r>
              <a:rPr lang="en"/>
              <a:t>100 Stockbrokers</a:t>
            </a:r>
            <a:endParaRPr/>
          </a:p>
          <a:p>
            <a:pPr indent="-317500" lvl="2" marL="1371600" rtl="0" algn="l">
              <a:spcBef>
                <a:spcPts val="0"/>
              </a:spcBef>
              <a:spcAft>
                <a:spcPts val="0"/>
              </a:spcAft>
              <a:buSzPts val="1400"/>
              <a:buChar char="■"/>
            </a:pPr>
            <a:r>
              <a:rPr lang="en"/>
              <a:t>96 Random</a:t>
            </a:r>
            <a:endParaRPr/>
          </a:p>
          <a:p>
            <a:pPr indent="-317500" lvl="1" marL="914400" rtl="0" algn="l">
              <a:spcBef>
                <a:spcPts val="0"/>
              </a:spcBef>
              <a:spcAft>
                <a:spcPts val="0"/>
              </a:spcAft>
              <a:buSzPts val="1400"/>
              <a:buChar char="○"/>
            </a:pPr>
            <a:r>
              <a:rPr lang="en"/>
              <a:t>100 from Boston</a:t>
            </a:r>
            <a:endParaRPr/>
          </a:p>
          <a:p>
            <a:pPr indent="-317500" lvl="1" marL="914400" rtl="0" algn="l">
              <a:spcBef>
                <a:spcPts val="0"/>
              </a:spcBef>
              <a:spcAft>
                <a:spcPts val="0"/>
              </a:spcAft>
              <a:buSzPts val="1400"/>
              <a:buChar char="○"/>
            </a:pPr>
            <a:r>
              <a:rPr lang="en"/>
              <a:t>217 forwarded packet so get to target person</a:t>
            </a:r>
            <a:endParaRPr/>
          </a:p>
          <a:p>
            <a:pPr indent="-317500" lvl="1" marL="914400" rtl="0" algn="l">
              <a:spcBef>
                <a:spcPts val="0"/>
              </a:spcBef>
              <a:spcAft>
                <a:spcPts val="0"/>
              </a:spcAft>
              <a:buSzPts val="1400"/>
              <a:buChar char="○"/>
            </a:pPr>
            <a:r>
              <a:rPr lang="en"/>
              <a:t>453 Intermediaries enlisted by the participants</a:t>
            </a:r>
            <a:endParaRPr/>
          </a:p>
          <a:p>
            <a:pPr indent="-342900" lvl="0" marL="457200" rtl="0" algn="l">
              <a:spcBef>
                <a:spcPts val="0"/>
              </a:spcBef>
              <a:spcAft>
                <a:spcPts val="0"/>
              </a:spcAft>
              <a:buSzPts val="1800"/>
              <a:buChar char="●"/>
            </a:pPr>
            <a:r>
              <a:rPr lang="en"/>
              <a:t>232 incomplete chains (71%)</a:t>
            </a:r>
            <a:endParaRPr/>
          </a:p>
          <a:p>
            <a:pPr indent="-317500" lvl="1" marL="914400" rtl="0" algn="l">
              <a:spcBef>
                <a:spcPts val="0"/>
              </a:spcBef>
              <a:spcAft>
                <a:spcPts val="0"/>
              </a:spcAft>
              <a:buSzPts val="1400"/>
              <a:buChar char="○"/>
            </a:pPr>
            <a:r>
              <a:rPr lang="en"/>
              <a:t>Mean path length: 2.6</a:t>
            </a:r>
            <a:endParaRPr/>
          </a:p>
          <a:p>
            <a:pPr indent="0" lvl="0" marL="0" rtl="0" algn="l">
              <a:spcBef>
                <a:spcPts val="1600"/>
              </a:spcBef>
              <a:spcAft>
                <a:spcPts val="1600"/>
              </a:spcAft>
              <a:buNone/>
            </a:pPr>
            <a:r>
              <a:t/>
            </a:r>
            <a:endParaRPr/>
          </a:p>
        </p:txBody>
      </p:sp>
      <p:pic>
        <p:nvPicPr>
          <p:cNvPr id="896" name="Google Shape;896;p50"/>
          <p:cNvPicPr preferRelativeResize="0"/>
          <p:nvPr/>
        </p:nvPicPr>
        <p:blipFill rotWithShape="1">
          <a:blip r:embed="rId3">
            <a:alphaModFix/>
          </a:blip>
          <a:srcRect b="0" l="8298" r="9384" t="0"/>
          <a:stretch/>
        </p:blipFill>
        <p:spPr>
          <a:xfrm>
            <a:off x="5397350" y="1469400"/>
            <a:ext cx="3434949" cy="286564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00" name="Shape 900"/>
        <p:cNvGrpSpPr/>
        <p:nvPr/>
      </p:nvGrpSpPr>
      <p:grpSpPr>
        <a:xfrm>
          <a:off x="0" y="0"/>
          <a:ext cx="0" cy="0"/>
          <a:chOff x="0" y="0"/>
          <a:chExt cx="0" cy="0"/>
        </a:xfrm>
      </p:grpSpPr>
      <p:sp>
        <p:nvSpPr>
          <p:cNvPr id="901" name="Google Shape;901;p51"/>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902" name="Google Shape;902;p51"/>
          <p:cNvSpPr txBox="1"/>
          <p:nvPr>
            <p:ph idx="1" type="body"/>
          </p:nvPr>
        </p:nvSpPr>
        <p:spPr>
          <a:xfrm>
            <a:off x="311700" y="1225225"/>
            <a:ext cx="5595000" cy="3354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Out of the 64 completed chains 26 people made the final link</a:t>
            </a:r>
            <a:endParaRPr/>
          </a:p>
          <a:p>
            <a:pPr indent="-342900" lvl="0" marL="457200" rtl="0" algn="l">
              <a:spcBef>
                <a:spcPts val="0"/>
              </a:spcBef>
              <a:spcAft>
                <a:spcPts val="0"/>
              </a:spcAft>
              <a:buSzPts val="1800"/>
              <a:buChar char="●"/>
            </a:pPr>
            <a:r>
              <a:rPr lang="en"/>
              <a:t>16 (25%) reached the target via a single neighbor: "Mr. G."</a:t>
            </a:r>
            <a:endParaRPr/>
          </a:p>
          <a:p>
            <a:pPr indent="-317500" lvl="1" marL="914400" rtl="0" algn="l">
              <a:spcBef>
                <a:spcPts val="0"/>
              </a:spcBef>
              <a:spcAft>
                <a:spcPts val="0"/>
              </a:spcAft>
              <a:buSzPts val="1400"/>
              <a:buChar char="○"/>
            </a:pPr>
            <a:r>
              <a:rPr lang="en"/>
              <a:t>Another accounted for 10 </a:t>
            </a:r>
            <a:endParaRPr/>
          </a:p>
          <a:p>
            <a:pPr indent="-317500" lvl="1" marL="914400" rtl="0" algn="l">
              <a:spcBef>
                <a:spcPts val="0"/>
              </a:spcBef>
              <a:spcAft>
                <a:spcPts val="0"/>
              </a:spcAft>
              <a:buSzPts val="1400"/>
              <a:buChar char="○"/>
            </a:pPr>
            <a:r>
              <a:rPr lang="en"/>
              <a:t>Another for 5</a:t>
            </a:r>
            <a:endParaRPr/>
          </a:p>
          <a:p>
            <a:pPr indent="-317500" lvl="1" marL="914400" rtl="0" algn="l">
              <a:spcBef>
                <a:spcPts val="0"/>
              </a:spcBef>
              <a:spcAft>
                <a:spcPts val="0"/>
              </a:spcAft>
              <a:buSzPts val="1400"/>
              <a:buChar char="○"/>
            </a:pPr>
            <a:r>
              <a:rPr lang="en"/>
              <a:t>The top three account for 48% of completions </a:t>
            </a:r>
            <a:endParaRPr/>
          </a:p>
          <a:p>
            <a:pPr indent="-342900" lvl="0" marL="457200" rtl="0" algn="l">
              <a:spcBef>
                <a:spcPts val="0"/>
              </a:spcBef>
              <a:spcAft>
                <a:spcPts val="0"/>
              </a:spcAft>
              <a:buSzPts val="1800"/>
              <a:buChar char="●"/>
            </a:pPr>
            <a:r>
              <a:rPr lang="en"/>
              <a:t>86% of “starters” sent the letter to friends and acquaintances</a:t>
            </a:r>
            <a:endParaRPr/>
          </a:p>
          <a:p>
            <a:pPr indent="-317500" lvl="1" marL="914400" rtl="0" algn="l">
              <a:spcBef>
                <a:spcPts val="0"/>
              </a:spcBef>
              <a:spcAft>
                <a:spcPts val="0"/>
              </a:spcAft>
              <a:buSzPts val="1400"/>
              <a:buChar char="○"/>
            </a:pPr>
            <a:r>
              <a:rPr lang="en"/>
              <a:t>14% send it to relatives</a:t>
            </a:r>
            <a:endParaRPr/>
          </a:p>
          <a:p>
            <a:pPr indent="-317500" lvl="1" marL="914400" rtl="0" algn="l">
              <a:spcBef>
                <a:spcPts val="0"/>
              </a:spcBef>
              <a:spcAft>
                <a:spcPts val="0"/>
              </a:spcAft>
              <a:buSzPts val="1400"/>
              <a:buChar char="○"/>
            </a:pPr>
            <a:r>
              <a:rPr lang="en"/>
              <a:t>age, gender, SES homophily in Intermediary choice </a:t>
            </a:r>
            <a:endParaRPr/>
          </a:p>
          <a:p>
            <a:pPr indent="0" lvl="0" marL="0" rtl="0" algn="l">
              <a:spcBef>
                <a:spcPts val="1600"/>
              </a:spcBef>
              <a:spcAft>
                <a:spcPts val="1600"/>
              </a:spcAft>
              <a:buNone/>
            </a:pPr>
            <a:r>
              <a:t/>
            </a:r>
            <a:endParaRPr/>
          </a:p>
        </p:txBody>
      </p:sp>
      <p:grpSp>
        <p:nvGrpSpPr>
          <p:cNvPr id="903" name="Google Shape;903;p51"/>
          <p:cNvGrpSpPr/>
          <p:nvPr/>
        </p:nvGrpSpPr>
        <p:grpSpPr>
          <a:xfrm>
            <a:off x="5906704" y="1225215"/>
            <a:ext cx="2609404" cy="3435684"/>
            <a:chOff x="4963250" y="1775572"/>
            <a:chExt cx="3496454" cy="4805152"/>
          </a:xfrm>
        </p:grpSpPr>
        <p:pic>
          <p:nvPicPr>
            <p:cNvPr id="904" name="Google Shape;904;p51"/>
            <p:cNvPicPr preferRelativeResize="0"/>
            <p:nvPr/>
          </p:nvPicPr>
          <p:blipFill>
            <a:blip r:embed="rId3">
              <a:alphaModFix/>
            </a:blip>
            <a:stretch>
              <a:fillRect/>
            </a:stretch>
          </p:blipFill>
          <p:spPr>
            <a:xfrm>
              <a:off x="4963250" y="1775572"/>
              <a:ext cx="3496454" cy="4805152"/>
            </a:xfrm>
            <a:prstGeom prst="rect">
              <a:avLst/>
            </a:prstGeom>
            <a:noFill/>
            <a:ln>
              <a:noFill/>
            </a:ln>
          </p:spPr>
        </p:pic>
        <p:sp>
          <p:nvSpPr>
            <p:cNvPr id="905" name="Google Shape;905;p51"/>
            <p:cNvSpPr/>
            <p:nvPr/>
          </p:nvSpPr>
          <p:spPr>
            <a:xfrm>
              <a:off x="6578075" y="2405550"/>
              <a:ext cx="843900" cy="8616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51"/>
            <p:cNvSpPr/>
            <p:nvPr/>
          </p:nvSpPr>
          <p:spPr>
            <a:xfrm>
              <a:off x="6511800" y="3458925"/>
              <a:ext cx="843900" cy="8616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51"/>
            <p:cNvSpPr/>
            <p:nvPr/>
          </p:nvSpPr>
          <p:spPr>
            <a:xfrm>
              <a:off x="6511800" y="4206150"/>
              <a:ext cx="843900" cy="8616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11" name="Shape 911"/>
        <p:cNvGrpSpPr/>
        <p:nvPr/>
      </p:nvGrpSpPr>
      <p:grpSpPr>
        <a:xfrm>
          <a:off x="0" y="0"/>
          <a:ext cx="0" cy="0"/>
          <a:chOff x="0" y="0"/>
          <a:chExt cx="0" cy="0"/>
        </a:xfrm>
      </p:grpSpPr>
      <p:sp>
        <p:nvSpPr>
          <p:cNvPr id="912" name="Google Shape;912;p52"/>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913" name="Google Shape;913;p52"/>
          <p:cNvSpPr txBox="1"/>
          <p:nvPr>
            <p:ph idx="1" type="body"/>
          </p:nvPr>
        </p:nvSpPr>
        <p:spPr>
          <a:xfrm>
            <a:off x="311700" y="1225225"/>
            <a:ext cx="8520600" cy="1693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Dodds, Muhamad and Watts (2003) Replication of Milgram</a:t>
            </a:r>
            <a:endParaRPr/>
          </a:p>
          <a:p>
            <a:pPr indent="-317500" lvl="1" marL="914400" rtl="0" algn="l">
              <a:spcBef>
                <a:spcPts val="0"/>
              </a:spcBef>
              <a:spcAft>
                <a:spcPts val="0"/>
              </a:spcAft>
              <a:buSzPts val="1400"/>
              <a:buChar char="○"/>
            </a:pPr>
            <a:r>
              <a:rPr lang="en"/>
              <a:t>Internet based social experiment</a:t>
            </a:r>
            <a:endParaRPr/>
          </a:p>
          <a:p>
            <a:pPr indent="-317500" lvl="2" marL="1371600" rtl="0" algn="l">
              <a:spcBef>
                <a:spcPts val="0"/>
              </a:spcBef>
              <a:spcAft>
                <a:spcPts val="0"/>
              </a:spcAft>
              <a:buSzPts val="1400"/>
              <a:buChar char="■"/>
            </a:pPr>
            <a:r>
              <a:rPr lang="en"/>
              <a:t>18 target persons from 13 countries randomly allocated </a:t>
            </a:r>
            <a:endParaRPr/>
          </a:p>
          <a:p>
            <a:pPr indent="-317500" lvl="2" marL="1371600" rtl="0" algn="l">
              <a:spcBef>
                <a:spcPts val="0"/>
              </a:spcBef>
              <a:spcAft>
                <a:spcPts val="0"/>
              </a:spcAft>
              <a:buSzPts val="1400"/>
              <a:buChar char="■"/>
            </a:pPr>
            <a:r>
              <a:rPr lang="en"/>
              <a:t>98,847 participants registered, 25% initiated a chain</a:t>
            </a:r>
            <a:endParaRPr/>
          </a:p>
          <a:p>
            <a:pPr indent="-317500" lvl="2" marL="1371600" rtl="0" algn="l">
              <a:spcBef>
                <a:spcPts val="0"/>
              </a:spcBef>
              <a:spcAft>
                <a:spcPts val="0"/>
              </a:spcAft>
              <a:buSzPts val="1400"/>
              <a:buChar char="■"/>
            </a:pPr>
            <a:r>
              <a:rPr lang="en"/>
              <a:t>61,168 total participants from 166 countries (including intermediaries)</a:t>
            </a:r>
            <a:endParaRPr/>
          </a:p>
          <a:p>
            <a:pPr indent="0" lvl="0" marL="457200" rtl="0" algn="l">
              <a:spcBef>
                <a:spcPts val="1600"/>
              </a:spcBef>
              <a:spcAft>
                <a:spcPts val="0"/>
              </a:spcAft>
              <a:buNone/>
            </a:pPr>
            <a:r>
              <a:t/>
            </a:r>
            <a:endParaRPr/>
          </a:p>
          <a:p>
            <a:pPr indent="0" lvl="0" marL="0" rtl="0" algn="l">
              <a:spcBef>
                <a:spcPts val="1600"/>
              </a:spcBef>
              <a:spcAft>
                <a:spcPts val="1600"/>
              </a:spcAft>
              <a:buNone/>
            </a:pPr>
            <a:r>
              <a:t/>
            </a:r>
            <a:endParaRPr/>
          </a:p>
        </p:txBody>
      </p:sp>
      <p:pic>
        <p:nvPicPr>
          <p:cNvPr id="914" name="Google Shape;914;p52"/>
          <p:cNvPicPr preferRelativeResize="0"/>
          <p:nvPr/>
        </p:nvPicPr>
        <p:blipFill>
          <a:blip r:embed="rId3">
            <a:alphaModFix/>
          </a:blip>
          <a:stretch>
            <a:fillRect/>
          </a:stretch>
        </p:blipFill>
        <p:spPr>
          <a:xfrm>
            <a:off x="1786575" y="2918725"/>
            <a:ext cx="5570849" cy="18576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18" name="Shape 918"/>
        <p:cNvGrpSpPr/>
        <p:nvPr/>
      </p:nvGrpSpPr>
      <p:grpSpPr>
        <a:xfrm>
          <a:off x="0" y="0"/>
          <a:ext cx="0" cy="0"/>
          <a:chOff x="0" y="0"/>
          <a:chExt cx="0" cy="0"/>
        </a:xfrm>
      </p:grpSpPr>
      <p:sp>
        <p:nvSpPr>
          <p:cNvPr id="919" name="Google Shape;919;p53"/>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920" name="Google Shape;920;p53"/>
          <p:cNvSpPr txBox="1"/>
          <p:nvPr>
            <p:ph idx="1" type="body"/>
          </p:nvPr>
        </p:nvSpPr>
        <p:spPr>
          <a:xfrm>
            <a:off x="311700" y="1225225"/>
            <a:ext cx="8520600" cy="1693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Dodds, Muhamad and Watts (2003) Replication of Milgram</a:t>
            </a:r>
            <a:endParaRPr/>
          </a:p>
          <a:p>
            <a:pPr indent="-317500" lvl="1" marL="914400" rtl="0" algn="l">
              <a:spcBef>
                <a:spcPts val="0"/>
              </a:spcBef>
              <a:spcAft>
                <a:spcPts val="0"/>
              </a:spcAft>
              <a:buSzPts val="1400"/>
              <a:buChar char="○"/>
            </a:pPr>
            <a:r>
              <a:rPr lang="en"/>
              <a:t>More than half from North America</a:t>
            </a:r>
            <a:endParaRPr/>
          </a:p>
          <a:p>
            <a:pPr indent="-317500" lvl="2" marL="1371600" rtl="0" algn="l">
              <a:spcBef>
                <a:spcPts val="0"/>
              </a:spcBef>
              <a:spcAft>
                <a:spcPts val="0"/>
              </a:spcAft>
              <a:buSzPts val="1400"/>
              <a:buChar char="■"/>
            </a:pPr>
            <a:r>
              <a:rPr lang="en"/>
              <a:t>Middle Class</a:t>
            </a:r>
            <a:endParaRPr/>
          </a:p>
          <a:p>
            <a:pPr indent="-317500" lvl="2" marL="1371600" rtl="0" algn="l">
              <a:spcBef>
                <a:spcPts val="0"/>
              </a:spcBef>
              <a:spcAft>
                <a:spcPts val="0"/>
              </a:spcAft>
              <a:buSzPts val="1400"/>
              <a:buChar char="■"/>
            </a:pPr>
            <a:r>
              <a:rPr lang="en"/>
              <a:t>Professional, College Educated</a:t>
            </a:r>
            <a:endParaRPr/>
          </a:p>
          <a:p>
            <a:pPr indent="-317500" lvl="2" marL="1371600" rtl="0" algn="l">
              <a:spcBef>
                <a:spcPts val="0"/>
              </a:spcBef>
              <a:spcAft>
                <a:spcPts val="0"/>
              </a:spcAft>
              <a:buSzPts val="1400"/>
              <a:buChar char="■"/>
            </a:pPr>
            <a:r>
              <a:rPr lang="en"/>
              <a:t>Largely Christian</a:t>
            </a:r>
            <a:endParaRPr/>
          </a:p>
          <a:p>
            <a:pPr indent="0" lvl="0" marL="457200" rtl="0" algn="l">
              <a:spcBef>
                <a:spcPts val="1600"/>
              </a:spcBef>
              <a:spcAft>
                <a:spcPts val="1600"/>
              </a:spcAft>
              <a:buNone/>
            </a:pPr>
            <a:r>
              <a:t/>
            </a:r>
            <a:endParaRPr/>
          </a:p>
        </p:txBody>
      </p:sp>
      <p:pic>
        <p:nvPicPr>
          <p:cNvPr id="921" name="Google Shape;921;p53"/>
          <p:cNvPicPr preferRelativeResize="0"/>
          <p:nvPr/>
        </p:nvPicPr>
        <p:blipFill>
          <a:blip r:embed="rId3">
            <a:alphaModFix/>
          </a:blip>
          <a:stretch>
            <a:fillRect/>
          </a:stretch>
        </p:blipFill>
        <p:spPr>
          <a:xfrm>
            <a:off x="1786575" y="2918725"/>
            <a:ext cx="5570849" cy="18576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25" name="Shape 925"/>
        <p:cNvGrpSpPr/>
        <p:nvPr/>
      </p:nvGrpSpPr>
      <p:grpSpPr>
        <a:xfrm>
          <a:off x="0" y="0"/>
          <a:ext cx="0" cy="0"/>
          <a:chOff x="0" y="0"/>
          <a:chExt cx="0" cy="0"/>
        </a:xfrm>
      </p:grpSpPr>
      <p:sp>
        <p:nvSpPr>
          <p:cNvPr id="926" name="Google Shape;926;p54"/>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927" name="Google Shape;927;p54"/>
          <p:cNvSpPr txBox="1"/>
          <p:nvPr>
            <p:ph idx="1" type="body"/>
          </p:nvPr>
        </p:nvSpPr>
        <p:spPr>
          <a:xfrm>
            <a:off x="311700" y="1225225"/>
            <a:ext cx="8520600" cy="1693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Dodds, Muhamad and Watts (2003) Replication of Milgram</a:t>
            </a:r>
            <a:endParaRPr/>
          </a:p>
          <a:p>
            <a:pPr indent="-317500" lvl="1" marL="914400" rtl="0" algn="l">
              <a:spcBef>
                <a:spcPts val="0"/>
              </a:spcBef>
              <a:spcAft>
                <a:spcPts val="0"/>
              </a:spcAft>
              <a:buSzPts val="1400"/>
              <a:buChar char="○"/>
            </a:pPr>
            <a:r>
              <a:rPr lang="en"/>
              <a:t>Strong preference for:</a:t>
            </a:r>
            <a:endParaRPr/>
          </a:p>
          <a:p>
            <a:pPr indent="-317500" lvl="2" marL="1371600" rtl="0" algn="l">
              <a:spcBef>
                <a:spcPts val="0"/>
              </a:spcBef>
              <a:spcAft>
                <a:spcPts val="0"/>
              </a:spcAft>
              <a:buSzPts val="1400"/>
              <a:buChar char="■"/>
            </a:pPr>
            <a:r>
              <a:rPr lang="en"/>
              <a:t>Friends as role relations (rather than kin or co-workers)</a:t>
            </a:r>
            <a:endParaRPr/>
          </a:p>
          <a:p>
            <a:pPr indent="-317500" lvl="2" marL="1371600" rtl="0" algn="l">
              <a:spcBef>
                <a:spcPts val="0"/>
              </a:spcBef>
              <a:spcAft>
                <a:spcPts val="0"/>
              </a:spcAft>
              <a:buSzPts val="1400"/>
              <a:buChar char="■"/>
            </a:pPr>
            <a:r>
              <a:rPr lang="en"/>
              <a:t>Ties embedded in work and school affiliations </a:t>
            </a:r>
            <a:endParaRPr/>
          </a:p>
          <a:p>
            <a:pPr indent="-317500" lvl="2" marL="1371600" rtl="0" algn="l">
              <a:spcBef>
                <a:spcPts val="0"/>
              </a:spcBef>
              <a:spcAft>
                <a:spcPts val="0"/>
              </a:spcAft>
              <a:buSzPts val="1400"/>
              <a:buChar char="■"/>
            </a:pPr>
            <a:r>
              <a:rPr lang="en"/>
              <a:t>Ties of Intermediate strength (closeness)</a:t>
            </a:r>
            <a:endParaRPr/>
          </a:p>
          <a:p>
            <a:pPr indent="-317500" lvl="2" marL="1371600" rtl="0" algn="l">
              <a:spcBef>
                <a:spcPts val="0"/>
              </a:spcBef>
              <a:spcAft>
                <a:spcPts val="0"/>
              </a:spcAft>
              <a:buSzPts val="1400"/>
              <a:buChar char="■"/>
            </a:pPr>
            <a:r>
              <a:rPr lang="en"/>
              <a:t>Same-gender ties</a:t>
            </a:r>
            <a:endParaRPr/>
          </a:p>
        </p:txBody>
      </p:sp>
      <p:pic>
        <p:nvPicPr>
          <p:cNvPr id="928" name="Google Shape;928;p54"/>
          <p:cNvPicPr preferRelativeResize="0"/>
          <p:nvPr/>
        </p:nvPicPr>
        <p:blipFill>
          <a:blip r:embed="rId3">
            <a:alphaModFix/>
          </a:blip>
          <a:stretch>
            <a:fillRect/>
          </a:stretch>
        </p:blipFill>
        <p:spPr>
          <a:xfrm>
            <a:off x="1786575" y="2918725"/>
            <a:ext cx="5570849" cy="18576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32" name="Shape 932"/>
        <p:cNvGrpSpPr/>
        <p:nvPr/>
      </p:nvGrpSpPr>
      <p:grpSpPr>
        <a:xfrm>
          <a:off x="0" y="0"/>
          <a:ext cx="0" cy="0"/>
          <a:chOff x="0" y="0"/>
          <a:chExt cx="0" cy="0"/>
        </a:xfrm>
      </p:grpSpPr>
      <p:sp>
        <p:nvSpPr>
          <p:cNvPr id="933" name="Google Shape;933;p55"/>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934" name="Google Shape;934;p55"/>
          <p:cNvSpPr txBox="1"/>
          <p:nvPr>
            <p:ph idx="1" type="body"/>
          </p:nvPr>
        </p:nvSpPr>
        <p:spPr>
          <a:xfrm>
            <a:off x="311700" y="1225225"/>
            <a:ext cx="8520600" cy="1693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Dodds, Muhamad and Watts (2003) Replication of Milgram</a:t>
            </a:r>
            <a:endParaRPr/>
          </a:p>
          <a:p>
            <a:pPr indent="-317500" lvl="1" marL="914400" rtl="0" algn="l">
              <a:spcBef>
                <a:spcPts val="0"/>
              </a:spcBef>
              <a:spcAft>
                <a:spcPts val="0"/>
              </a:spcAft>
              <a:buSzPts val="1400"/>
              <a:buChar char="○"/>
            </a:pPr>
            <a:r>
              <a:rPr lang="en"/>
              <a:t>Most effective chains more likely to feature:</a:t>
            </a:r>
            <a:endParaRPr/>
          </a:p>
          <a:p>
            <a:pPr indent="-317500" lvl="2" marL="1371600" rtl="0" algn="l">
              <a:spcBef>
                <a:spcPts val="0"/>
              </a:spcBef>
              <a:spcAft>
                <a:spcPts val="0"/>
              </a:spcAft>
              <a:buSzPts val="1400"/>
              <a:buChar char="■"/>
            </a:pPr>
            <a:r>
              <a:rPr lang="en"/>
              <a:t>Professional ties (in contrast to friend and kin) as role relations</a:t>
            </a:r>
            <a:endParaRPr/>
          </a:p>
          <a:p>
            <a:pPr indent="-317500" lvl="2" marL="1371600" rtl="0" algn="l">
              <a:spcBef>
                <a:spcPts val="0"/>
              </a:spcBef>
              <a:spcAft>
                <a:spcPts val="0"/>
              </a:spcAft>
              <a:buSzPts val="1400"/>
              <a:buChar char="■"/>
            </a:pPr>
            <a:r>
              <a:rPr lang="en"/>
              <a:t>Work or higher education ties as foci</a:t>
            </a:r>
            <a:endParaRPr/>
          </a:p>
          <a:p>
            <a:pPr indent="-317500" lvl="2" marL="1371600" rtl="0" algn="l">
              <a:spcBef>
                <a:spcPts val="0"/>
              </a:spcBef>
              <a:spcAft>
                <a:spcPts val="0"/>
              </a:spcAft>
              <a:buSzPts val="1400"/>
              <a:buChar char="■"/>
            </a:pPr>
            <a:r>
              <a:rPr lang="en"/>
              <a:t>Either causal or “not close” ties in terms of strength</a:t>
            </a:r>
            <a:endParaRPr/>
          </a:p>
          <a:p>
            <a:pPr indent="-317500" lvl="3" marL="1828800" rtl="0" algn="l">
              <a:spcBef>
                <a:spcPts val="0"/>
              </a:spcBef>
              <a:spcAft>
                <a:spcPts val="0"/>
              </a:spcAft>
              <a:buSzPts val="1400"/>
              <a:buChar char="●"/>
            </a:pPr>
            <a:r>
              <a:rPr lang="en"/>
              <a:t>Why this pattern?</a:t>
            </a:r>
            <a:endParaRPr/>
          </a:p>
        </p:txBody>
      </p:sp>
      <p:pic>
        <p:nvPicPr>
          <p:cNvPr id="935" name="Google Shape;935;p55"/>
          <p:cNvPicPr preferRelativeResize="0"/>
          <p:nvPr/>
        </p:nvPicPr>
        <p:blipFill>
          <a:blip r:embed="rId3">
            <a:alphaModFix/>
          </a:blip>
          <a:stretch>
            <a:fillRect/>
          </a:stretch>
        </p:blipFill>
        <p:spPr>
          <a:xfrm>
            <a:off x="1786575" y="2918725"/>
            <a:ext cx="5570849" cy="18576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39" name="Shape 939"/>
        <p:cNvGrpSpPr/>
        <p:nvPr/>
      </p:nvGrpSpPr>
      <p:grpSpPr>
        <a:xfrm>
          <a:off x="0" y="0"/>
          <a:ext cx="0" cy="0"/>
          <a:chOff x="0" y="0"/>
          <a:chExt cx="0" cy="0"/>
        </a:xfrm>
      </p:grpSpPr>
      <p:sp>
        <p:nvSpPr>
          <p:cNvPr id="940" name="Google Shape;940;p56"/>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941" name="Google Shape;941;p56"/>
          <p:cNvSpPr txBox="1"/>
          <p:nvPr>
            <p:ph idx="1" type="body"/>
          </p:nvPr>
        </p:nvSpPr>
        <p:spPr>
          <a:xfrm>
            <a:off x="311700" y="1225225"/>
            <a:ext cx="8520600" cy="1230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Dodds, Muhamad and Watts (2003) Replication of Milgram</a:t>
            </a:r>
            <a:endParaRPr/>
          </a:p>
          <a:p>
            <a:pPr indent="-317500" lvl="1" marL="914400" rtl="0" algn="l">
              <a:spcBef>
                <a:spcPts val="0"/>
              </a:spcBef>
              <a:spcAft>
                <a:spcPts val="0"/>
              </a:spcAft>
              <a:buSzPts val="1400"/>
              <a:buChar char="○"/>
            </a:pPr>
            <a:r>
              <a:rPr lang="en"/>
              <a:t>Geographic proximity and similarity of occupation were the primary search heuristics</a:t>
            </a:r>
            <a:endParaRPr/>
          </a:p>
          <a:p>
            <a:pPr indent="-317500" lvl="2" marL="1371600" rtl="0" algn="l">
              <a:spcBef>
                <a:spcPts val="0"/>
              </a:spcBef>
              <a:spcAft>
                <a:spcPts val="0"/>
              </a:spcAft>
              <a:buSzPts val="1400"/>
              <a:buChar char="■"/>
            </a:pPr>
            <a:r>
              <a:rPr lang="en"/>
              <a:t>Number of friends ("hub heuristic") almost never used</a:t>
            </a:r>
            <a:endParaRPr/>
          </a:p>
          <a:p>
            <a:pPr indent="-317500" lvl="2" marL="1371600" rtl="0" algn="l">
              <a:spcBef>
                <a:spcPts val="0"/>
              </a:spcBef>
              <a:spcAft>
                <a:spcPts val="0"/>
              </a:spcAft>
              <a:buSzPts val="1400"/>
              <a:buChar char="■"/>
            </a:pPr>
            <a:r>
              <a:rPr lang="en"/>
              <a:t>Proximity declines and homophily increases in importance with chain length</a:t>
            </a:r>
            <a:endParaRPr/>
          </a:p>
          <a:p>
            <a:pPr indent="0" lvl="0" marL="457200" rtl="0" algn="l">
              <a:spcBef>
                <a:spcPts val="1600"/>
              </a:spcBef>
              <a:spcAft>
                <a:spcPts val="1600"/>
              </a:spcAft>
              <a:buNone/>
            </a:pPr>
            <a:r>
              <a:t/>
            </a:r>
            <a:endParaRPr/>
          </a:p>
        </p:txBody>
      </p:sp>
      <p:pic>
        <p:nvPicPr>
          <p:cNvPr id="942" name="Google Shape;942;p56"/>
          <p:cNvPicPr preferRelativeResize="0"/>
          <p:nvPr/>
        </p:nvPicPr>
        <p:blipFill>
          <a:blip r:embed="rId3">
            <a:alphaModFix/>
          </a:blip>
          <a:stretch>
            <a:fillRect/>
          </a:stretch>
        </p:blipFill>
        <p:spPr>
          <a:xfrm>
            <a:off x="1709200" y="2456125"/>
            <a:ext cx="5725601" cy="234922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46" name="Shape 946"/>
        <p:cNvGrpSpPr/>
        <p:nvPr/>
      </p:nvGrpSpPr>
      <p:grpSpPr>
        <a:xfrm>
          <a:off x="0" y="0"/>
          <a:ext cx="0" cy="0"/>
          <a:chOff x="0" y="0"/>
          <a:chExt cx="0" cy="0"/>
        </a:xfrm>
      </p:grpSpPr>
      <p:sp>
        <p:nvSpPr>
          <p:cNvPr id="947" name="Google Shape;947;p57"/>
          <p:cNvSpPr txBox="1"/>
          <p:nvPr>
            <p:ph type="title"/>
          </p:nvPr>
        </p:nvSpPr>
        <p:spPr>
          <a:xfrm>
            <a:off x="311700" y="315925"/>
            <a:ext cx="85206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The small world phenomenon</a:t>
            </a:r>
            <a:endParaRPr/>
          </a:p>
        </p:txBody>
      </p:sp>
      <p:sp>
        <p:nvSpPr>
          <p:cNvPr id="948" name="Google Shape;948;p57"/>
          <p:cNvSpPr txBox="1"/>
          <p:nvPr>
            <p:ph idx="1" type="body"/>
          </p:nvPr>
        </p:nvSpPr>
        <p:spPr>
          <a:xfrm>
            <a:off x="311700" y="1225225"/>
            <a:ext cx="2900700" cy="3571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384 completed chains (out 24,163); Average (L): 4.05</a:t>
            </a:r>
            <a:endParaRPr/>
          </a:p>
          <a:p>
            <a:pPr indent="-342900" lvl="0" marL="457200" rtl="0" algn="l">
              <a:spcBef>
                <a:spcPts val="0"/>
              </a:spcBef>
              <a:spcAft>
                <a:spcPts val="0"/>
              </a:spcAft>
              <a:buSzPts val="1800"/>
              <a:buChar char="●"/>
            </a:pPr>
            <a:r>
              <a:rPr lang="en"/>
              <a:t>Corrected for attrition the median chain length is between 5 and 7</a:t>
            </a:r>
            <a:endParaRPr/>
          </a:p>
        </p:txBody>
      </p:sp>
      <p:pic>
        <p:nvPicPr>
          <p:cNvPr id="949" name="Google Shape;949;p57"/>
          <p:cNvPicPr preferRelativeResize="0"/>
          <p:nvPr/>
        </p:nvPicPr>
        <p:blipFill>
          <a:blip r:embed="rId3">
            <a:alphaModFix/>
          </a:blip>
          <a:stretch>
            <a:fillRect/>
          </a:stretch>
        </p:blipFill>
        <p:spPr>
          <a:xfrm>
            <a:off x="3365000" y="1517350"/>
            <a:ext cx="5467300" cy="29869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