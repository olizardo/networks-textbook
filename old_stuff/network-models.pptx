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6858000" cx="9144000"/>
  <p:notesSz cx="6858000" cy="9144000"/>
  <p:embeddedFontLst>
    <p:embeddedFont>
      <p:font typeface="Josefin Slab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E37A63-36DB-42D7-880A-4AA9F29F7EB2}">
  <a:tblStyle styleId="{13E37A63-36DB-42D7-880A-4AA9F29F7E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efinSlab-italic.fntdata"/><Relationship Id="rId20" Type="http://schemas.openxmlformats.org/officeDocument/2006/relationships/slide" Target="slides/slide15.xml"/><Relationship Id="rId41" Type="http://schemas.openxmlformats.org/officeDocument/2006/relationships/font" Target="fonts/JosefinSlab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JosefinSlab-bold.fntdata"/><Relationship Id="rId16" Type="http://schemas.openxmlformats.org/officeDocument/2006/relationships/slide" Target="slides/slide11.xml"/><Relationship Id="rId38" Type="http://schemas.openxmlformats.org/officeDocument/2006/relationships/font" Target="fonts/JosefinSlab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9b097e03_0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9b097e03_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71e5a3d9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71e5a3d9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71e5a3d9a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71e5a3d9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1e5a3d9a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1e5a3d9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71e5a3d9a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71e5a3d9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9b097e03_0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9b097e03_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71e5a3d9a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71e5a3d9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9b097e03_0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9b097e03_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71e5a3d9a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71e5a3d9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71e5a3d9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71e5a3d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71e5a3d9a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71e5a3d9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b097e03_0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9b097e03_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9b097e03_0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9b097e03_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9b097e03_0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9b097e03_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9b097e03_0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9b097e03_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ba4f389d_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ba4f389d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ba4f389d_0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ba4f389d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ba4f389d_0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ba4f389d_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ba4f389d_0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ba4f389d_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ba4f389d_0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ba4f389d_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ba4f389d_0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ba4f389d_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ba4f389d_0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ba4f389d_0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ba4f389d_0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ba4f389d_0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ba4f389d_0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ba4f389d_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ba4f389d_0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ba4f389d_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ba4f389d_0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ba4f389d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ba4f389d_0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ba4f389d_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ba4f389d_0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ba4f389d_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ba4f389d_0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ba4f389d_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ba4f389d_0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ba4f389d_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ba4f389d_0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ba4f389d_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gif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</a:t>
            </a:r>
            <a:endParaRPr/>
          </a:p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57200" y="1600200"/>
            <a:ext cx="8141100" cy="30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Two purposes for modelling social networks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Helps us understand 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rules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that govern 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formation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of network structures (Martin 2009)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Specify the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interaction structure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underlying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processes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of interest (e.g. diffusion)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Lots of different models have (and continue to be) proposed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37" name="Google Shape;3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688" y="4694238"/>
            <a:ext cx="6334125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 (NEMs)</a:t>
            </a:r>
            <a:endParaRPr/>
          </a:p>
        </p:txBody>
      </p:sp>
      <p:sp>
        <p:nvSpPr>
          <p:cNvPr id="43" name="Google Shape;43;p9"/>
          <p:cNvSpPr txBox="1"/>
          <p:nvPr>
            <p:ph idx="1" type="body"/>
          </p:nvPr>
        </p:nvSpPr>
        <p:spPr>
          <a:xfrm>
            <a:off x="457200" y="1600200"/>
            <a:ext cx="58602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purpose of NEMs is to test the hypothesis that: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Local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network growth mechanisms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lead to: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Specific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global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structures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Clustering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Given degree distribution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Clustering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Community structure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Short diameter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Degree correlations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etc.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44" name="Google Shape;4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9300" y="371040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1750" y="1951275"/>
            <a:ext cx="2095500" cy="15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</a:t>
            </a:r>
            <a:endParaRPr/>
          </a:p>
        </p:txBody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457200" y="1600200"/>
            <a:ext cx="8141100" cy="30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General idea is “emergentist”: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Global properties are generated from microlevel mechanisms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Sometimes the local and global properties “match”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E.g. choice homophily (rule) lead to global clustering by traits (macro property)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2" name="Google Shape;5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688" y="4694238"/>
            <a:ext cx="6334125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</a:t>
            </a:r>
            <a:endParaRPr/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57200" y="1600200"/>
            <a:ext cx="8141100" cy="30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General idea is “emergentist”: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Global properties are generated from microlevel mechanisms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Sometimes the global property is “surprising”: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E.g. Preferential attachment (rule) leads to a small diameter (macro property)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59" name="Google Shape;5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688" y="4694238"/>
            <a:ext cx="6334125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</a:t>
            </a:r>
            <a:endParaRPr/>
          </a:p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457200" y="1600200"/>
            <a:ext cx="8141100" cy="27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You’ve already seen a few “network growth” models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Erdos and Renyi (1960)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Begin with a set of nodes 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Pick two at random and link with probability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p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Repeat N(N-1) times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descr="chap5Newth-final-5.jpg" id="66" name="Google Shape;6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688" y="4137875"/>
            <a:ext cx="6792126" cy="24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</a:t>
            </a:r>
            <a:endParaRPr/>
          </a:p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0200"/>
            <a:ext cx="8141100" cy="27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You’ve already seen a few “network growth” models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Barabasi and Albert (1999)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Begin with two nodes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New nodes connect to existing ones with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p ~ k(i)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Where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the degree of node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i</a:t>
            </a:r>
            <a:endParaRPr i="1"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descr="barabasisciam_Page_06.png" id="73" name="Google Shape;73;p13"/>
          <p:cNvPicPr preferRelativeResize="0"/>
          <p:nvPr/>
        </p:nvPicPr>
        <p:blipFill rotWithShape="1">
          <a:blip r:embed="rId3">
            <a:alphaModFix/>
          </a:blip>
          <a:srcRect b="63872" l="9418" r="7019" t="16348"/>
          <a:stretch/>
        </p:blipFill>
        <p:spPr>
          <a:xfrm>
            <a:off x="745163" y="4170950"/>
            <a:ext cx="7653673" cy="239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 (Toivonen et al 2009)</a:t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2815400" y="1701250"/>
            <a:ext cx="926400" cy="47406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5602700" y="1701250"/>
            <a:ext cx="926400" cy="2863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589550" y="3560200"/>
            <a:ext cx="22860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Social Network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3316700" y="2707900"/>
            <a:ext cx="22860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Network Evolution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3429000" y="4264000"/>
            <a:ext cx="22860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Node Attribute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6212300" y="1897775"/>
            <a:ext cx="22860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Growing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6212300" y="3241300"/>
            <a:ext cx="22860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Dynamical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3545300" y="5354875"/>
            <a:ext cx="22860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Exponential Random Graph Models*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6529100" y="5505325"/>
            <a:ext cx="22860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Josefin Slab"/>
                <a:ea typeface="Josefin Slab"/>
                <a:cs typeface="Josefin Slab"/>
                <a:sym typeface="Josefin Slab"/>
              </a:rPr>
              <a:t>*Not a real growth model</a:t>
            </a:r>
            <a:endParaRPr b="1" sz="12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 (Toivonen et al 2009, </a:t>
            </a:r>
            <a:r>
              <a:rPr i="1" lang="en"/>
              <a:t>Social Networks</a:t>
            </a:r>
            <a:r>
              <a:rPr lang="en"/>
              <a:t>)</a:t>
            </a:r>
            <a:endParaRPr/>
          </a:p>
        </p:txBody>
      </p:sp>
      <p:sp>
        <p:nvSpPr>
          <p:cNvPr id="93" name="Google Shape;93;p15"/>
          <p:cNvSpPr txBox="1"/>
          <p:nvPr>
            <p:ph idx="1" type="body"/>
          </p:nvPr>
        </p:nvSpPr>
        <p:spPr>
          <a:xfrm>
            <a:off x="457200" y="1600200"/>
            <a:ext cx="8301900" cy="49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Four main categories of models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Nodal Attribute Models (NAMs)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Probability of a link depends on attributes of the nodes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Network Evolution Models (NEMs)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The addition of new links depend on the local network structure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Two main subcategories of NEMs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Dynamical Models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●"/>
            </a:pPr>
            <a:r>
              <a:rPr lang="en" sz="2400">
                <a:latin typeface="Josefin Slab"/>
                <a:ea typeface="Josefin Slab"/>
                <a:cs typeface="Josefin Slab"/>
                <a:sym typeface="Josefin Slab"/>
              </a:rPr>
              <a:t>Growing Models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 (Toivonen et al 2009, </a:t>
            </a:r>
            <a:r>
              <a:rPr i="1" lang="en"/>
              <a:t>Social Networks</a:t>
            </a:r>
            <a:r>
              <a:rPr lang="en"/>
              <a:t>)</a:t>
            </a:r>
            <a:endParaRPr/>
          </a:p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457200" y="1600200"/>
            <a:ext cx="8301900" cy="49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Dynamical Models: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We add and/or remove ties on (starting) fixed set (N) of nodes: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A fixed number of times M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Until the structure of the network approaches equilibrium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SzPts val="18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Erdos-Renyi (1960) random graph model is a “dynamical model” by this definition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descr="chap5Newth-final-5.jpg"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100" y="4600375"/>
            <a:ext cx="5533799" cy="19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 (Toivonen et al 2009, </a:t>
            </a:r>
            <a:r>
              <a:rPr i="1" lang="en"/>
              <a:t>Social Networks</a:t>
            </a:r>
            <a:r>
              <a:rPr lang="en"/>
              <a:t>)</a:t>
            </a:r>
            <a:endParaRPr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457200" y="1600200"/>
            <a:ext cx="8301900" cy="49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Growing Models: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Nodes are added (and link according to some rule) 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Until the network contains the desired number (N) of nodes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Barabasi-Albert preferential attachment model is a growing model by this definition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descr="barabasisciam_Page_06.png" id="107" name="Google Shape;107;p17"/>
          <p:cNvPicPr preferRelativeResize="0"/>
          <p:nvPr/>
        </p:nvPicPr>
        <p:blipFill rotWithShape="1">
          <a:blip r:embed="rId3">
            <a:alphaModFix/>
          </a:blip>
          <a:srcRect b="63872" l="9418" r="7019" t="16348"/>
          <a:stretch/>
        </p:blipFill>
        <p:spPr>
          <a:xfrm>
            <a:off x="745163" y="4170950"/>
            <a:ext cx="7653673" cy="239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 (NEMs)</a:t>
            </a:r>
            <a:endParaRPr/>
          </a:p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457200" y="1600200"/>
            <a:ext cx="8229600" cy="33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Some network realization G is produced by an iterative process that starts from an initial network configuration G(t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0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Dynamical models begin an empty graph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Growing models begin with a (small) seed network (sometimes a single node with “stubs”)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150" y="4348225"/>
            <a:ext cx="2291875" cy="22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6063" y="4348225"/>
            <a:ext cx="2291875" cy="229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9975" y="4348225"/>
            <a:ext cx="2291875" cy="229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 (NEMs)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457200" y="1600200"/>
            <a:ext cx="8229600" cy="33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rules determine allowed transitions from one network G(t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k−1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osefin Slab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to the next G(t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k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iterative process generates a single network realization G = G(t</a:t>
            </a:r>
            <a:r>
              <a:rPr baseline="-25000" lang="en">
                <a:latin typeface="Josefin Slab"/>
                <a:ea typeface="Josefin Slab"/>
                <a:cs typeface="Josefin Slab"/>
                <a:sym typeface="Josefin Slab"/>
              </a:rPr>
              <a:t>end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).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pSp>
        <p:nvGrpSpPr>
          <p:cNvPr id="123" name="Google Shape;123;p19"/>
          <p:cNvGrpSpPr/>
          <p:nvPr/>
        </p:nvGrpSpPr>
        <p:grpSpPr>
          <a:xfrm>
            <a:off x="812150" y="4348225"/>
            <a:ext cx="7519700" cy="2291875"/>
            <a:chOff x="812150" y="4348225"/>
            <a:chExt cx="7519700" cy="2291875"/>
          </a:xfrm>
        </p:grpSpPr>
        <p:pic>
          <p:nvPicPr>
            <p:cNvPr id="124" name="Google Shape;124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2150" y="4348225"/>
              <a:ext cx="2291875" cy="2291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26063" y="4348225"/>
              <a:ext cx="2291875" cy="2291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39975" y="4348225"/>
              <a:ext cx="2291875" cy="2291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 (NEMs)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457200" y="1600200"/>
            <a:ext cx="8229600" cy="25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analyst must specify the stochastic rules by which the network evolves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For instance, we may delete or add a subset of links at each time step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Josefin Slab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We may “rewire” a set of existing links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pSp>
        <p:nvGrpSpPr>
          <p:cNvPr id="133" name="Google Shape;133;p20"/>
          <p:cNvGrpSpPr/>
          <p:nvPr/>
        </p:nvGrpSpPr>
        <p:grpSpPr>
          <a:xfrm>
            <a:off x="812150" y="4348225"/>
            <a:ext cx="7519700" cy="2291875"/>
            <a:chOff x="812150" y="4348225"/>
            <a:chExt cx="7519700" cy="2291875"/>
          </a:xfrm>
        </p:grpSpPr>
        <p:pic>
          <p:nvPicPr>
            <p:cNvPr id="134" name="Google Shape;13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2150" y="4348225"/>
              <a:ext cx="2291875" cy="2291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26063" y="4348225"/>
              <a:ext cx="2291875" cy="2291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39975" y="4348225"/>
              <a:ext cx="2291875" cy="2291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 (NEMs)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There are two stopping criteria for NEMs: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For a 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growing 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NEM, the algorithm finishes when a network reaches a 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predetermined size</a:t>
            </a:r>
            <a:endParaRPr b="1"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Once the network is large enough the relevant statistical properties (e.g. degree distribution are fixed)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For a 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dynamical </a:t>
            </a:r>
            <a:r>
              <a:rPr lang="en" sz="2200">
                <a:latin typeface="Josefin Slab"/>
                <a:ea typeface="Josefin Slab"/>
                <a:cs typeface="Josefin Slab"/>
                <a:sym typeface="Josefin Slab"/>
              </a:rPr>
              <a:t>NEM the algorithm finishes when the network reaches a </a:t>
            </a:r>
            <a:r>
              <a:rPr b="1" lang="en" sz="2200">
                <a:latin typeface="Josefin Slab"/>
                <a:ea typeface="Josefin Slab"/>
                <a:cs typeface="Josefin Slab"/>
                <a:sym typeface="Josefin Slab"/>
              </a:rPr>
              <a:t>steady state </a:t>
            </a:r>
            <a:endParaRPr sz="22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pSp>
        <p:nvGrpSpPr>
          <p:cNvPr id="143" name="Google Shape;143;p21"/>
          <p:cNvGrpSpPr/>
          <p:nvPr/>
        </p:nvGrpSpPr>
        <p:grpSpPr>
          <a:xfrm>
            <a:off x="812150" y="4348225"/>
            <a:ext cx="7519700" cy="2291875"/>
            <a:chOff x="812150" y="4348225"/>
            <a:chExt cx="7519700" cy="2291875"/>
          </a:xfrm>
        </p:grpSpPr>
        <p:pic>
          <p:nvPicPr>
            <p:cNvPr id="144" name="Google Shape;144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2150" y="4348225"/>
              <a:ext cx="2291875" cy="2291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26063" y="4348225"/>
              <a:ext cx="2291875" cy="2291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39975" y="4348225"/>
              <a:ext cx="2291875" cy="2291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Nodal Attribute models (NEMs)</a:t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457200" y="1600200"/>
            <a:ext cx="5495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In nodal attribute models: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 probability of an edge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e</a:t>
            </a:r>
            <a:r>
              <a:rPr baseline="-25000" i="1" lang="en"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is a function of the attributes of i and j only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e.g. p(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e</a:t>
            </a:r>
            <a:r>
              <a:rPr baseline="-25000" i="1" lang="en">
                <a:latin typeface="Josefin Slab"/>
                <a:ea typeface="Josefin Slab"/>
                <a:cs typeface="Josefin Slab"/>
                <a:sym typeface="Josefin Slab"/>
              </a:rPr>
              <a:t>ij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) ~ d(i, j)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Where d is distance in some socio-demographic dimension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NAMs are thus models of the effect of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homophily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on network structure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These are also referred to as </a:t>
            </a:r>
            <a:r>
              <a:rPr b="1" lang="en">
                <a:latin typeface="Josefin Slab"/>
                <a:ea typeface="Josefin Slab"/>
                <a:cs typeface="Josefin Slab"/>
                <a:sym typeface="Josefin Slab"/>
              </a:rPr>
              <a:t>spatial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 models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9707" y="2549338"/>
            <a:ext cx="3404293" cy="3069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Nodal Attribute models (NEMs)</a:t>
            </a:r>
            <a:endParaRPr/>
          </a:p>
        </p:txBody>
      </p:sp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457200" y="1600200"/>
            <a:ext cx="54951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ERGMs (so-called "statistical" models) are not true models of network structure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NEMs explicitly specify the rules of network evolution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ERMGs tell us that </a:t>
            </a:r>
            <a:r>
              <a:rPr i="1" lang="en">
                <a:latin typeface="Josefin Slab"/>
                <a:ea typeface="Josefin Slab"/>
                <a:cs typeface="Josefin Slab"/>
                <a:sym typeface="Josefin Slab"/>
              </a:rPr>
              <a:t>some </a:t>
            </a: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rule or mechanism is in operation but do not specify which one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Mechanisms generating network structure are made explicit in NEMs but remain implicit in ERGMs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9707" y="2549338"/>
            <a:ext cx="3404293" cy="3069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A0002"/>
                </a:solidFill>
              </a:rPr>
              <a:t>Example Dynamical NEMs (Toivonen et al 2009, SN)</a:t>
            </a:r>
            <a:endParaRPr/>
          </a:p>
        </p:txBody>
      </p:sp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DEB (Davidsen et al., 2002)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167" name="Google Shape;167;p24"/>
          <p:cNvGraphicFramePr/>
          <p:nvPr/>
        </p:nvGraphicFramePr>
        <p:xfrm>
          <a:off x="583400" y="24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{13E37A63-36DB-42D7-880A-4AA9F29F7EB2}</a:tableStyleId>
              </a:tblPr>
              <a:tblGrid>
                <a:gridCol w="1547975"/>
                <a:gridCol w="6564175"/>
              </a:tblGrid>
              <a:tr h="61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Mechanisms </a:t>
                      </a: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(number of nodes </a:t>
                      </a:r>
                      <a:r>
                        <a:rPr i="1"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N </a:t>
                      </a: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fixed; repeat steps for (I) adding ties and (II) deleting ties until stationary distributions are reached)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15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2 free, </a:t>
                      </a:r>
                      <a:r>
                        <a:rPr i="1"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N</a:t>
                      </a: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, </a:t>
                      </a:r>
                      <a:r>
                        <a:rPr i="1"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 </a:t>
                      </a: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 (I) Select a node i randomly, and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21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(a) if i has fewer than two ties, introduce it to a </a:t>
                      </a:r>
                      <a:r>
                        <a:rPr i="1"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randomnode</a:t>
                      </a: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,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77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(b) otherwise pick two neighbors of i and introduce them if they are not already acquainted.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Select a random node and with prob. </a:t>
                      </a:r>
                      <a:r>
                        <a:rPr i="1"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</a:t>
                      </a: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remove all of its ties.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A0002"/>
                </a:solidFill>
              </a:rPr>
              <a:t>Example Dynamical NEMs (Toivonen et al 2009, SN)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MVS(Marsili et al., 2004)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174" name="Google Shape;174;p25"/>
          <p:cNvGraphicFramePr/>
          <p:nvPr/>
        </p:nvGraphicFramePr>
        <p:xfrm>
          <a:off x="583400" y="24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{13E37A63-36DB-42D7-880A-4AA9F29F7EB2}</a:tableStyleId>
              </a:tblPr>
              <a:tblGrid>
                <a:gridCol w="2071850"/>
                <a:gridCol w="6040300"/>
              </a:tblGrid>
              <a:tr h="61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Mechanisms </a:t>
                      </a: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(number of nodes </a:t>
                      </a:r>
                      <a:r>
                        <a:rPr i="1"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N </a:t>
                      </a: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fixed; repeat steps for (I) adding ties and (II) deleting ties until stationary distributions are reached)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15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ξ, η 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(I) Select a node i randomly, and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21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(λ=0.001)  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(a) connect i to another random node with probability η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778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(b) Select a friend’s friend of i (by uniformly random search) with probability ξ and introduce i to it if not already acquainted.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Select a random tie and delete it with probability λ.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A0002"/>
                </a:solidFill>
              </a:rPr>
              <a:t>Example Growing NEMs (Toivonen et al 2009, SN)</a:t>
            </a:r>
            <a:endParaRPr/>
          </a:p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TOSHK(Toivonen et al., 2006)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181" name="Google Shape;181;p26"/>
          <p:cNvGraphicFramePr/>
          <p:nvPr/>
        </p:nvGraphicFramePr>
        <p:xfrm>
          <a:off x="515925" y="2566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{13E37A63-36DB-42D7-880A-4AA9F29F7EB2}</a:tableStyleId>
              </a:tblPr>
              <a:tblGrid>
                <a:gridCol w="2071850"/>
                <a:gridCol w="6040300"/>
              </a:tblGrid>
              <a:tr h="61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(repeat steps for (I) adding nodes and ties (II) adding ties only until network contains N nodes)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15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p, k (simplified)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(I) Add a new node i to the network, connecting it to one random initial contact with probability p, or two with probability 1−p.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21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For each random initial contact j, draw a number msec of secondary connections from the distribution U[0,k] and connect i to msec neighbors of j if available.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A0002"/>
                </a:solidFill>
              </a:rPr>
              <a:t>Example Growing NEMs (Toivonen et al 2009, SN)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Váz(Vázquez, 2003)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188" name="Google Shape;188;p27"/>
          <p:cNvGraphicFramePr/>
          <p:nvPr/>
        </p:nvGraphicFramePr>
        <p:xfrm>
          <a:off x="515925" y="2566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{13E37A63-36DB-42D7-880A-4AA9F29F7EB2}</a:tableStyleId>
              </a:tblPr>
              <a:tblGrid>
                <a:gridCol w="2071850"/>
                <a:gridCol w="6040300"/>
              </a:tblGrid>
              <a:tr h="61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(repeat steps for (I) adding nodes and ties (II) adding ties only until network contains N nodes)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15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2 free N, u 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(I) With probability 1−u, add a new node to the network, connecting it to a random node i. Potential edges are created between the newcomer n and the neighbors j of i (a potential edge means that n and j have a common neighbor, i, but no direct link between them).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21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With probability u, convert one of such potential edges generated on any previous time step to an edge. Potential edges generated by converting an edge are ignored.</a:t>
                      </a:r>
                      <a:endParaRPr sz="18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A0002"/>
                </a:solidFill>
              </a:rPr>
              <a:t>Example NAMs (Toivonen et al 2009, SN)</a:t>
            </a:r>
            <a:endParaRPr/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BPDA(Boguñá et al., 2004)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195" name="Google Shape;195;p28"/>
          <p:cNvGraphicFramePr/>
          <p:nvPr/>
        </p:nvGraphicFramePr>
        <p:xfrm>
          <a:off x="515925" y="2566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{13E37A63-36DB-42D7-880A-4AA9F29F7EB2}</a:tableStyleId>
              </a:tblPr>
              <a:tblGrid>
                <a:gridCol w="2071850"/>
                <a:gridCol w="6040300"/>
              </a:tblGrid>
              <a:tr h="610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2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endParaRPr sz="2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  <a:tr h="15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α, b</a:t>
                      </a:r>
                      <a:endParaRPr sz="2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Distribute N nodes with uniform probability in a (one-dimensional) social space (a segment of length hmax). Link nodes with prob. p=1/(1+(d/b)α), where d is their distance in the social space. (hmax can be absorbed within b). If treated many-dimensionally, similarity along one of the social dimensions is sufficient for the nodes to be seen as similar.</a:t>
                      </a:r>
                      <a:endParaRPr sz="20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of comparison of model predictions against real world data</a:t>
            </a:r>
            <a:endParaRPr/>
          </a:p>
        </p:txBody>
      </p:sp>
      <p:sp>
        <p:nvSpPr>
          <p:cNvPr id="201" name="Google Shape;201;p2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Most models reproduce average degree and size of largest component fairly well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Simpler (one-parameter) models (DEB, Vaz) overstate clustering; other models did not have this problem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02" name="Google Shape;2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94" y="4021116"/>
            <a:ext cx="8278812" cy="2328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of comparison of model predictions against real world data</a:t>
            </a:r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NAM (homophily-based) models do not generate realistic levels of clustering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They also fail to produce heterogeneous (long-tailed) degree distributions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They do generate clique and community structure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09" name="Google Shape;20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94" y="4021116"/>
            <a:ext cx="8278812" cy="2328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of comparison of model predictions against real world data</a:t>
            </a:r>
            <a:endParaRPr/>
          </a:p>
        </p:txBody>
      </p:sp>
      <p:sp>
        <p:nvSpPr>
          <p:cNvPr id="215" name="Google Shape;215;p3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NEMs generate realistic level of degree-heterogeneity and clustering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They also generate realistic levels of clustering and giant component size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But assortativity falls short of empirical results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>
                <a:latin typeface="Josefin Slab"/>
                <a:ea typeface="Josefin Slab"/>
                <a:cs typeface="Josefin Slab"/>
                <a:sym typeface="Josefin Slab"/>
              </a:rPr>
              <a:t>Taking weights into account improves performance</a:t>
            </a:r>
            <a:endParaRPr>
              <a:latin typeface="Josefin Slab"/>
              <a:ea typeface="Josefin Slab"/>
              <a:cs typeface="Josefin Slab"/>
              <a:sym typeface="Josefin Slab"/>
            </a:endParaRPr>
          </a:p>
        </p:txBody>
      </p:sp>
      <p:pic>
        <p:nvPicPr>
          <p:cNvPr id="216" name="Google Shape;21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94" y="4239891"/>
            <a:ext cx="8278812" cy="2328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Davidson, Ebel, and Bornholdt (2002), </a:t>
            </a:r>
            <a:r>
              <a:rPr i="1" lang="en"/>
              <a:t>Physical Review Letters</a:t>
            </a:r>
            <a:endParaRPr i="1"/>
          </a:p>
        </p:txBody>
      </p:sp>
      <p:pic>
        <p:nvPicPr>
          <p:cNvPr id="222" name="Google Shape;2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493" y="1951388"/>
            <a:ext cx="3899262" cy="3869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2755" y="4139400"/>
            <a:ext cx="4464045" cy="2505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4074" y="1610405"/>
            <a:ext cx="2881407" cy="2636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Marsili, Vega-Redondo, and Slanina (2003, </a:t>
            </a:r>
            <a:r>
              <a:rPr i="1" lang="en"/>
              <a:t>PNAS</a:t>
            </a:r>
            <a:r>
              <a:rPr lang="en"/>
              <a:t>)</a:t>
            </a:r>
            <a:endParaRPr/>
          </a:p>
        </p:txBody>
      </p:sp>
      <p:pic>
        <p:nvPicPr>
          <p:cNvPr id="230" name="Google Shape;23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6446" y="1650627"/>
            <a:ext cx="4738909" cy="396515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3"/>
          <p:cNvSpPr txBox="1"/>
          <p:nvPr/>
        </p:nvSpPr>
        <p:spPr>
          <a:xfrm>
            <a:off x="1263650" y="5726907"/>
            <a:ext cx="64845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Average degree z (Upper) and clustering coefficient C (Lower) from numerical simulations with η = 0.001 and λ = 0.1 for populations of size n = 100, 1,000, and 2,000. 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Marsili, Vega-Redondo, and Slanina (2003, </a:t>
            </a:r>
            <a:r>
              <a:rPr i="1" lang="en"/>
              <a:t>PNAS</a:t>
            </a:r>
            <a:r>
              <a:rPr lang="en"/>
              <a:t>)</a:t>
            </a:r>
            <a:endParaRPr/>
          </a:p>
        </p:txBody>
      </p:sp>
      <p:pic>
        <p:nvPicPr>
          <p:cNvPr id="237" name="Google Shape;23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451" y="1747689"/>
            <a:ext cx="5186022" cy="378471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/>
          <p:nvPr/>
        </p:nvSpPr>
        <p:spPr>
          <a:xfrm>
            <a:off x="557213" y="5726907"/>
            <a:ext cx="80085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Josefin Slab"/>
                <a:ea typeface="Josefin Slab"/>
                <a:cs typeface="Josefin Slab"/>
                <a:sym typeface="Josefin Slab"/>
              </a:rPr>
              <a:t>Mean degree z (Top) and clustering coefficient C (Middle) as a function of ξ/λ for η/λ = 0.19. (Bottom) Phase diagram in the mean field approximation. The behavior of z and C along the dashed line corresponds to the simulation scenario reported above.</a:t>
            </a:r>
            <a:endParaRPr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of Dynamical NEMs</a:t>
            </a:r>
            <a:endParaRPr/>
          </a:p>
        </p:txBody>
      </p:sp>
      <p:pic>
        <p:nvPicPr>
          <p:cNvPr id="244" name="Google Shape;24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543" y="1763575"/>
            <a:ext cx="5898915" cy="308911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5"/>
          <p:cNvSpPr txBox="1"/>
          <p:nvPr/>
        </p:nvSpPr>
        <p:spPr>
          <a:xfrm>
            <a:off x="793074" y="5227157"/>
            <a:ext cx="77652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5C5C5C"/>
                </a:solidFill>
                <a:highlight>
                  <a:srgbClr val="FFFFFF"/>
                </a:highlight>
                <a:latin typeface="Josefin Slab"/>
                <a:ea typeface="Josefin Slab"/>
                <a:cs typeface="Josefin Slab"/>
                <a:sym typeface="Josefin Slab"/>
              </a:rPr>
              <a:t>Fig. 2. The dynamical network evolution models DEB, KOSKK, and MVS, classified according to the mechanisms for triadic closure and link deletion employed in them.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Toivonen, Onnela, Saramaki, Hyvonen, and Kaski (2006, </a:t>
            </a:r>
            <a:r>
              <a:rPr i="1" lang="en" sz="3400"/>
              <a:t>Physica A</a:t>
            </a:r>
            <a:r>
              <a:rPr lang="en" sz="3400"/>
              <a:t>)</a:t>
            </a:r>
            <a:endParaRPr sz="3400"/>
          </a:p>
        </p:txBody>
      </p:sp>
      <p:pic>
        <p:nvPicPr>
          <p:cNvPr id="251" name="Google Shape;25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0809" y="1597859"/>
            <a:ext cx="5482382" cy="5043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Toivonen, Onnela, Saramaki, Hyvonen, and Kaski (2006, </a:t>
            </a:r>
            <a:r>
              <a:rPr i="1" lang="en" sz="3400"/>
              <a:t>Physica A</a:t>
            </a:r>
            <a:r>
              <a:rPr lang="en" sz="3400"/>
              <a:t>)</a:t>
            </a:r>
            <a:endParaRPr sz="3400"/>
          </a:p>
        </p:txBody>
      </p:sp>
      <p:pic>
        <p:nvPicPr>
          <p:cNvPr id="257" name="Google Shape;25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453" y="1896942"/>
            <a:ext cx="8243093" cy="4169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Toivonen, Onnela, Saramaki, Hyvonen, and Kaski (2006, </a:t>
            </a:r>
            <a:r>
              <a:rPr i="1" lang="en" sz="3400"/>
              <a:t>Physica A</a:t>
            </a:r>
            <a:r>
              <a:rPr lang="en" sz="3400"/>
              <a:t>)</a:t>
            </a:r>
            <a:endParaRPr sz="3400"/>
          </a:p>
        </p:txBody>
      </p:sp>
      <p:pic>
        <p:nvPicPr>
          <p:cNvPr id="263" name="Google Shape;26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2718" y="1595438"/>
            <a:ext cx="4892568" cy="5075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Toivonen, Onnela, Saramaki, Hyvonen, and Kaski (2006, </a:t>
            </a:r>
            <a:r>
              <a:rPr i="1" lang="en" sz="3400"/>
              <a:t>Physica A</a:t>
            </a:r>
            <a:r>
              <a:rPr lang="en" sz="3400"/>
              <a:t>)</a:t>
            </a:r>
            <a:endParaRPr sz="3400"/>
          </a:p>
        </p:txBody>
      </p:sp>
      <p:pic>
        <p:nvPicPr>
          <p:cNvPr id="269" name="Google Shape;26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8594" y="1618425"/>
            <a:ext cx="6246812" cy="5032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