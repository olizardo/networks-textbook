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</p:sldIdLst>
  <p:sldSz cy="5143500" cx="9144000"/>
  <p:notesSz cx="6858000" cy="9144000"/>
  <p:embeddedFontLst>
    <p:embeddedFont>
      <p:font typeface="Economica"/>
      <p:regular r:id="rId78"/>
      <p:bold r:id="rId79"/>
      <p:italic r:id="rId80"/>
      <p:boldItalic r:id="rId81"/>
    </p:embeddedFont>
    <p:embeddedFont>
      <p:font typeface="Oxygen"/>
      <p:regular r:id="rId82"/>
      <p:bold r:id="rId83"/>
    </p:embeddedFont>
    <p:embeddedFont>
      <p:font typeface="Open Sans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F72F14-D754-4E47-9A04-621F610EC433}">
  <a:tblStyle styleId="{B5F72F14-D754-4E47-9A04-621F610EC4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84" Type="http://schemas.openxmlformats.org/officeDocument/2006/relationships/font" Target="fonts/OpenSans-regular.fntdata"/><Relationship Id="rId83" Type="http://schemas.openxmlformats.org/officeDocument/2006/relationships/font" Target="fonts/Oxygen-bold.fntdata"/><Relationship Id="rId42" Type="http://schemas.openxmlformats.org/officeDocument/2006/relationships/slide" Target="slides/slide34.xml"/><Relationship Id="rId86" Type="http://schemas.openxmlformats.org/officeDocument/2006/relationships/font" Target="fonts/OpenSans-italic.fntdata"/><Relationship Id="rId41" Type="http://schemas.openxmlformats.org/officeDocument/2006/relationships/slide" Target="slides/slide33.xml"/><Relationship Id="rId85" Type="http://schemas.openxmlformats.org/officeDocument/2006/relationships/font" Target="fonts/OpenSans-bold.fntdata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87" Type="http://schemas.openxmlformats.org/officeDocument/2006/relationships/font" Target="fonts/OpenSans-boldItalic.fntdata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80" Type="http://schemas.openxmlformats.org/officeDocument/2006/relationships/font" Target="fonts/Economica-italic.fntdata"/><Relationship Id="rId82" Type="http://schemas.openxmlformats.org/officeDocument/2006/relationships/font" Target="fonts/Oxygen-regular.fntdata"/><Relationship Id="rId81" Type="http://schemas.openxmlformats.org/officeDocument/2006/relationships/font" Target="fonts/Economica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31" Type="http://schemas.openxmlformats.org/officeDocument/2006/relationships/slide" Target="slides/slide23.xml"/><Relationship Id="rId75" Type="http://schemas.openxmlformats.org/officeDocument/2006/relationships/slide" Target="slides/slide67.xml"/><Relationship Id="rId30" Type="http://schemas.openxmlformats.org/officeDocument/2006/relationships/slide" Target="slides/slide22.xml"/><Relationship Id="rId74" Type="http://schemas.openxmlformats.org/officeDocument/2006/relationships/slide" Target="slides/slide66.xml"/><Relationship Id="rId33" Type="http://schemas.openxmlformats.org/officeDocument/2006/relationships/slide" Target="slides/slide25.xml"/><Relationship Id="rId77" Type="http://schemas.openxmlformats.org/officeDocument/2006/relationships/slide" Target="slides/slide69.xml"/><Relationship Id="rId32" Type="http://schemas.openxmlformats.org/officeDocument/2006/relationships/slide" Target="slides/slide24.xml"/><Relationship Id="rId76" Type="http://schemas.openxmlformats.org/officeDocument/2006/relationships/slide" Target="slides/slide68.xml"/><Relationship Id="rId35" Type="http://schemas.openxmlformats.org/officeDocument/2006/relationships/slide" Target="slides/slide27.xml"/><Relationship Id="rId79" Type="http://schemas.openxmlformats.org/officeDocument/2006/relationships/font" Target="fonts/Economica-bold.fntdata"/><Relationship Id="rId34" Type="http://schemas.openxmlformats.org/officeDocument/2006/relationships/slide" Target="slides/slide26.xml"/><Relationship Id="rId78" Type="http://schemas.openxmlformats.org/officeDocument/2006/relationships/font" Target="fonts/Economica-regular.fntdata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slide" Target="slides/slide60.xml"/><Relationship Id="rId23" Type="http://schemas.openxmlformats.org/officeDocument/2006/relationships/slide" Target="slides/slide15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slide" Target="slides/slide6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70881554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070881554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708815549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708815549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708815549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0708815549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70881554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70881554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70881554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70881554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708815549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708815549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708815549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708815549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708815549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0708815549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0708815549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0708815549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708815549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708815549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70881554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70881554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070881554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070881554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0708815549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0708815549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0708815549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0708815549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0708815549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0708815549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708815549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708815549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0708815549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0708815549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0708815549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0708815549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0708815549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0708815549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0708815549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0708815549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0708815549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0708815549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0708815549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0708815549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09ae8bd4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09ae8bd4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0708815549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0708815549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0708815549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0708815549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0708815549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0708815549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09ae8bd4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109ae8bd4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0708815549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0708815549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0708815549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0708815549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1245d7c8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1245d7c8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0708815549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0708815549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708815549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708815549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708815549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708815549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0708815549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0708815549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0708815549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0708815549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0708815549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0708815549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708815549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708815549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0708815549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0708815549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0708815549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0708815549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1245d7c8f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1245d7c8f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1245d7c8f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1245d7c8f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1245d7c8f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1245d7c8f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1245d7c8f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1245d7c8f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1245d7c8f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1245d7c8f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1245d7c8fe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1245d7c8fe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1245d7c8f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1245d7c8f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1245d7c8f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1245d7c8f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11245d7c8fe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11245d7c8f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1245d7c8f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1245d7c8f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11245d7c8f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11245d7c8f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11245d7c8f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11245d7c8f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1245d7c8fe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1245d7c8fe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1245d7c8f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1245d7c8f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1245d7c8f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1245d7c8f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1245d7c8f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1245d7c8f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1245d7c8fe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1245d7c8fe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0708815549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0708815549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0708815549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0708815549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1245d7c8fe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1245d7c8fe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10708815549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10708815549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10708815549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10708815549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1245d7c8fe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1245d7c8fe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1245d7c8fe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1245d7c8fe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1245d7c8fe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1245d7c8fe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0708815549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10708815549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1245d7c8fe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11245d7c8fe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245d7c8f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245d7c8f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1245d7c8fe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11245d7c8fe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11245d7c8fe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1245d7c8fe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2" name="Google Shape;112;p27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3" name="Google Shape;113;p27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8" name="Google Shape;118;p28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9" name="Google Shape;119;p2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6" name="Google Shape;136;p32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1" name="Google Shape;14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3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34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" name="Google Shape;146;p34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7" name="Google Shape;147;p3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51" name="Google Shape;15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6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6" name="Google Shape;15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4.gif"/><Relationship Id="rId5" Type="http://schemas.openxmlformats.org/officeDocument/2006/relationships/image" Target="../media/image2.gif"/><Relationship Id="rId6" Type="http://schemas.openxmlformats.org/officeDocument/2006/relationships/image" Target="../media/image3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4.gif"/><Relationship Id="rId5" Type="http://schemas.openxmlformats.org/officeDocument/2006/relationships/image" Target="../media/image16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4.gif"/><Relationship Id="rId5" Type="http://schemas.openxmlformats.org/officeDocument/2006/relationships/image" Target="../media/image16.gif"/><Relationship Id="rId6" Type="http://schemas.openxmlformats.org/officeDocument/2006/relationships/image" Target="../media/image9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6.gif"/><Relationship Id="rId5" Type="http://schemas.openxmlformats.org/officeDocument/2006/relationships/image" Target="../media/image2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6.gif"/><Relationship Id="rId5" Type="http://schemas.openxmlformats.org/officeDocument/2006/relationships/image" Target="../media/image2.gif"/><Relationship Id="rId6" Type="http://schemas.openxmlformats.org/officeDocument/2006/relationships/image" Target="../media/image8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14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14.gif"/><Relationship Id="rId5" Type="http://schemas.openxmlformats.org/officeDocument/2006/relationships/image" Target="../media/image15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Relationship Id="rId4" Type="http://schemas.openxmlformats.org/officeDocument/2006/relationships/image" Target="../media/image10.gif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12.gif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11.gif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13.gif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Matrices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69" name="Google Shape;169;p3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70" name="Google Shape;170;p39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1" name="Google Shape;171;p39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rows is the </a:t>
            </a:r>
            <a:r>
              <a:rPr b="1" lang="en"/>
              <a:t>row dimension (i)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columns is the </a:t>
            </a:r>
            <a:r>
              <a:rPr b="1" lang="en"/>
              <a:t>column dimension (j)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graphicFrame>
        <p:nvGraphicFramePr>
          <p:cNvPr id="177" name="Google Shape;177;p40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8" name="Google Shape;178;p40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rows is the </a:t>
            </a:r>
            <a:r>
              <a:rPr b="1" lang="en"/>
              <a:t>row dimension (i)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columns is the </a:t>
            </a:r>
            <a:r>
              <a:rPr b="1" lang="en"/>
              <a:t>column dimension (j)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 dimension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Fruits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Column dimension is: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Weekdays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graphicFrame>
        <p:nvGraphicFramePr>
          <p:cNvPr id="185" name="Google Shape;185;p41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6" name="Google Shape;186;p41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1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 dimension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Fruits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Column dimension is: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Weekdays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graphicFrame>
        <p:nvGraphicFramePr>
          <p:cNvPr id="193" name="Google Shape;193;p42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94" name="Google Shape;194;p42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 dimension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Fruits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Column dimension is: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Weekdays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2"/>
          <p:cNvSpPr/>
          <p:nvPr/>
        </p:nvSpPr>
        <p:spPr>
          <a:xfrm>
            <a:off x="157925" y="415945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matrix is 4 X 5!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97" name="Google Shape;197;p42"/>
          <p:cNvCxnSpPr>
            <a:stCxn id="196" idx="7"/>
          </p:cNvCxnSpPr>
          <p:nvPr/>
        </p:nvCxnSpPr>
        <p:spPr>
          <a:xfrm flipH="1" rot="10800000">
            <a:off x="2818963" y="3907391"/>
            <a:ext cx="662700" cy="37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203" name="Google Shape;203;p43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Cells record: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times you ate the row fruit in the column day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4" name="Google Shape;204;p43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5" name="Google Shape;205;p43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211" name="Google Shape;211;p44"/>
          <p:cNvSpPr txBox="1"/>
          <p:nvPr>
            <p:ph idx="1" type="body"/>
          </p:nvPr>
        </p:nvSpPr>
        <p:spPr>
          <a:xfrm>
            <a:off x="311700" y="2625325"/>
            <a:ext cx="397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call this matrix </a:t>
            </a:r>
            <a:r>
              <a:rPr b="1" lang="en"/>
              <a:t>A</a:t>
            </a:r>
            <a:r>
              <a:rPr lang="en"/>
              <a:t>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Grapes, Wed</a:t>
            </a:r>
            <a:r>
              <a:rPr lang="en"/>
              <a:t>  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Bananas, Thurs</a:t>
            </a:r>
            <a:r>
              <a:rPr lang="en"/>
              <a:t>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Pears, Fri</a:t>
            </a:r>
            <a:r>
              <a:rPr lang="en"/>
              <a:t>       = 1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2" name="Google Shape;212;p44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13" name="Google Shape;213;p44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19" name="Google Shape;219;p45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Adjacency relations</a:t>
            </a:r>
            <a:r>
              <a:rPr lang="en">
                <a:solidFill>
                  <a:srgbClr val="000000"/>
                </a:solidFill>
              </a:rPr>
              <a:t> between vertices in a graph can be represented using a matrix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20" name="Google Shape;220;p4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21" name="Google Shape;221;p4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4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23" name="Google Shape;223;p45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30" name="Google Shape;230;p4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31" name="Google Shape;231;p4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4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33" name="Google Shape;233;p46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34" name="Google Shape;234;p4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40" name="Google Shape;240;p47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41" name="Google Shape;241;p4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42" name="Google Shape;242;p4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4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44" name="Google Shape;244;p47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45" name="Google Shape;245;p4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51" name="Google Shape;251;p48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row objects</a:t>
            </a:r>
            <a:r>
              <a:rPr lang="en">
                <a:solidFill>
                  <a:srgbClr val="000000"/>
                </a:solidFill>
              </a:rPr>
              <a:t> are the </a:t>
            </a:r>
            <a:r>
              <a:rPr b="1" lang="en">
                <a:solidFill>
                  <a:srgbClr val="000000"/>
                </a:solidFill>
              </a:rPr>
              <a:t>vertices</a:t>
            </a:r>
            <a:r>
              <a:rPr lang="en">
                <a:solidFill>
                  <a:srgbClr val="000000"/>
                </a:solidFill>
              </a:rPr>
              <a:t> in the graph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And so are the </a:t>
            </a:r>
            <a:r>
              <a:rPr b="1" lang="en">
                <a:solidFill>
                  <a:srgbClr val="000000"/>
                </a:solidFill>
              </a:rPr>
              <a:t>column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objects</a:t>
            </a:r>
            <a:r>
              <a:rPr lang="en">
                <a:solidFill>
                  <a:srgbClr val="000000"/>
                </a:solidFill>
              </a:rPr>
              <a:t>!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52" name="Google Shape;252;p4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53" name="Google Shape;253;p4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4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55" name="Google Shape;255;p48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6" name="Google Shape;256;p4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62" name="Google Shape;262;p49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is called the </a:t>
            </a:r>
            <a:r>
              <a:rPr b="1" lang="en" sz="1800"/>
              <a:t>adjacency matrix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adjacency matrix is </a:t>
            </a:r>
            <a:r>
              <a:rPr b="1" lang="en">
                <a:solidFill>
                  <a:srgbClr val="000000"/>
                </a:solidFill>
              </a:rPr>
              <a:t>square</a:t>
            </a:r>
            <a:r>
              <a:rPr lang="en">
                <a:solidFill>
                  <a:srgbClr val="000000"/>
                </a:solidFill>
              </a:rPr>
              <a:t> because the number of rows is the same as the number of columns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R = C = 5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63" name="Google Shape;263;p4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64" name="Google Shape;264;p4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4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66" name="Google Shape;266;p4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7" name="Google Shape;267;p49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matrix is 5 X 5!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8" name="Google Shape;268;p49"/>
          <p:cNvCxnSpPr>
            <a:stCxn id="267" idx="7"/>
          </p:cNvCxnSpPr>
          <p:nvPr/>
        </p:nvCxnSpPr>
        <p:spPr>
          <a:xfrm flipH="1" rot="10800000">
            <a:off x="5228963" y="3831841"/>
            <a:ext cx="662700" cy="37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74" name="Google Shape;274;p50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b="1" lang="en">
                <a:solidFill>
                  <a:srgbClr val="000000"/>
                </a:solidFill>
              </a:rPr>
              <a:t>matrix name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75" name="Google Shape;275;p5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76" name="Google Shape;276;p5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5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78" name="Google Shape;278;p5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79" name="Google Shape;279;p50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85" name="Google Shape;285;p51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86" name="Google Shape;286;p5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87" name="Google Shape;287;p5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5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89" name="Google Shape;289;p5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0" name="Google Shape;290;p51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1" name="Google Shape;291;p51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97" name="Google Shape;297;p52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98" name="Google Shape;298;p5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99" name="Google Shape;299;p5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5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01" name="Google Shape;301;p5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2" name="Google Shape;302;p52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3" name="Google Shape;303;p52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is the cell corresponding to row </a:t>
            </a:r>
            <a:r>
              <a:rPr i="1" lang="en"/>
              <a:t>i </a:t>
            </a:r>
            <a:r>
              <a:rPr lang="en"/>
              <a:t>and column </a:t>
            </a:r>
            <a:r>
              <a:rPr i="1" lang="en"/>
              <a:t>j</a:t>
            </a:r>
            <a:r>
              <a:rPr lang="en"/>
              <a:t> of matrix </a:t>
            </a:r>
            <a:r>
              <a:rPr b="1" lang="en"/>
              <a:t>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09" name="Google Shape;309;p53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10" name="Google Shape;310;p5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11" name="Google Shape;311;p5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5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13" name="Google Shape;313;p5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53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is the cell corresponding to row </a:t>
            </a:r>
            <a:r>
              <a:rPr i="1" lang="en"/>
              <a:t>i </a:t>
            </a:r>
            <a:r>
              <a:rPr lang="en"/>
              <a:t>and column </a:t>
            </a:r>
            <a:r>
              <a:rPr i="1" lang="en"/>
              <a:t>j</a:t>
            </a:r>
            <a:r>
              <a:rPr lang="en"/>
              <a:t> of matrix </a:t>
            </a:r>
            <a:r>
              <a:rPr b="1" lang="en"/>
              <a:t>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cells in which </a:t>
            </a:r>
            <a:r>
              <a:rPr i="1" lang="en"/>
              <a:t>i </a:t>
            </a:r>
            <a:r>
              <a:rPr lang="en"/>
              <a:t>= </a:t>
            </a:r>
            <a:r>
              <a:rPr i="1" lang="en"/>
              <a:t>j</a:t>
            </a:r>
            <a:r>
              <a:rPr lang="en"/>
              <a:t> is called the </a:t>
            </a:r>
            <a:r>
              <a:rPr b="1" lang="en"/>
              <a:t>matrix diagonal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21" name="Google Shape;321;p54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adjacency matrix in two ways: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22" name="Google Shape;322;p5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23" name="Google Shape;323;p5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5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25" name="Google Shape;325;p5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6" name="Google Shape;326;p54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b="1" lang="en">
                <a:solidFill>
                  <a:srgbClr val="000000"/>
                </a:solidFill>
              </a:rPr>
              <a:t>matrix name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33" name="Google Shape;333;p5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34" name="Google Shape;334;p5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5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36" name="Google Shape;336;p5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37" name="Google Shape;337;p55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43" name="Google Shape;343;p56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b="1" lang="en">
                <a:solidFill>
                  <a:srgbClr val="000000"/>
                </a:solidFill>
              </a:rPr>
              <a:t>matrix name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/>
              <a:t>By typing the matrix name followed by the </a:t>
            </a:r>
            <a:r>
              <a:rPr b="1" lang="en"/>
              <a:t>row number</a:t>
            </a:r>
            <a:r>
              <a:rPr lang="en"/>
              <a:t> and the </a:t>
            </a:r>
            <a:r>
              <a:rPr b="1" lang="en"/>
              <a:t>column number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44" name="Google Shape;344;p5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45" name="Google Shape;345;p5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5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47" name="Google Shape;347;p5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48" name="Google Shape;348;p56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54" name="Google Shape;354;p57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b="1" lang="en">
                <a:solidFill>
                  <a:srgbClr val="000000"/>
                </a:solidFill>
              </a:rPr>
              <a:t>matrix name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/>
              <a:t>By typing the matrix name followed by the </a:t>
            </a:r>
            <a:r>
              <a:rPr b="1" lang="en"/>
              <a:t>row number</a:t>
            </a:r>
            <a:r>
              <a:rPr lang="en"/>
              <a:t> and the </a:t>
            </a:r>
            <a:r>
              <a:rPr b="1" lang="en"/>
              <a:t>column number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55" name="Google Shape;355;p5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56" name="Google Shape;356;p5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5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58" name="Google Shape;358;p5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59" name="Google Shape;359;p57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0" name="Google Shape;360;p57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will typically use this approach!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61" name="Google Shape;361;p57"/>
          <p:cNvCxnSpPr>
            <a:stCxn id="360" idx="1"/>
          </p:cNvCxnSpPr>
          <p:nvPr/>
        </p:nvCxnSpPr>
        <p:spPr>
          <a:xfrm rot="10800000">
            <a:off x="2190487" y="3605341"/>
            <a:ext cx="834000" cy="60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67" name="Google Shape;367;p58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b="1" lang="en">
                <a:solidFill>
                  <a:srgbClr val="000000"/>
                </a:solidFill>
              </a:rPr>
              <a:t>matrix name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/>
              <a:t>By typing the matrix name followed by the </a:t>
            </a:r>
            <a:r>
              <a:rPr b="1" lang="en"/>
              <a:t>row number</a:t>
            </a:r>
            <a:r>
              <a:rPr lang="en"/>
              <a:t> and the </a:t>
            </a:r>
            <a:r>
              <a:rPr b="1" lang="en"/>
              <a:t>column number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r>
              <a:rPr lang="en"/>
              <a:t> = </a:t>
            </a:r>
            <a:r>
              <a:rPr b="1" lang="en"/>
              <a:t>a</a:t>
            </a:r>
            <a:r>
              <a:rPr baseline="-25000" lang="en"/>
              <a:t>d,e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68" name="Google Shape;368;p5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69" name="Google Shape;369;p5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5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71" name="Google Shape;371;p5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72" name="Google Shape;372;p58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78" name="Google Shape;378;p59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formally,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= 1,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 be found in 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 </a:t>
            </a:r>
            <a:r>
              <a:rPr lang="en"/>
              <a:t>∋ 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= 0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cannot be found in 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 ∌ 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5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80" name="Google Shape;380;p5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5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82" name="Google Shape;382;p5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83" name="Google Shape;383;p5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89" name="Google Shape;389;p60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6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91" name="Google Shape;391;p6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6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93" name="Google Shape;393;p6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94" name="Google Shape;394;p60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00" name="Google Shape;400;p61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6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02" name="Google Shape;402;p6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6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04" name="Google Shape;404;p6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5" name="Google Shape;405;p61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11" name="Google Shape;411;p62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6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13" name="Google Shape;413;p6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6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15" name="Google Shape;415;p6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6" name="Google Shape;416;p62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22" name="Google Shape;422;p63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same for each row object until every cell has a value {0, 1}!</a:t>
            </a:r>
            <a:endParaRPr/>
          </a:p>
        </p:txBody>
      </p:sp>
      <p:grpSp>
        <p:nvGrpSpPr>
          <p:cNvPr id="423" name="Google Shape;423;p6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24" name="Google Shape;424;p6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6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26" name="Google Shape;426;p6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27" name="Google Shape;427;p63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33" name="Google Shape;433;p64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same for each row object until every cell has a value {0, 1}!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graph’s </a:t>
            </a:r>
            <a:r>
              <a:rPr b="1" lang="en"/>
              <a:t>adjacency</a:t>
            </a:r>
            <a:r>
              <a:rPr b="1" lang="en"/>
              <a:t> matrix</a:t>
            </a:r>
            <a:endParaRPr b="1"/>
          </a:p>
        </p:txBody>
      </p:sp>
      <p:grpSp>
        <p:nvGrpSpPr>
          <p:cNvPr id="434" name="Google Shape;434;p6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35" name="Google Shape;435;p6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6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37" name="Google Shape;437;p6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38" name="Google Shape;438;p64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44" name="Google Shape;444;p6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</a:t>
            </a:r>
            <a:r>
              <a:rPr lang="en"/>
              <a:t>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45" name="Google Shape;445;p6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46" name="Google Shape;446;p6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6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48" name="Google Shape;448;p6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pSp>
        <p:nvGrpSpPr>
          <p:cNvPr id="454" name="Google Shape;454;p66"/>
          <p:cNvGrpSpPr/>
          <p:nvPr/>
        </p:nvGrpSpPr>
        <p:grpSpPr>
          <a:xfrm>
            <a:off x="5341612" y="805761"/>
            <a:ext cx="3490675" cy="1614202"/>
            <a:chOff x="5264900" y="3059073"/>
            <a:chExt cx="3490675" cy="1614202"/>
          </a:xfrm>
        </p:grpSpPr>
        <p:pic>
          <p:nvPicPr>
            <p:cNvPr id="455" name="Google Shape;455;p66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66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57" name="Google Shape;457;p66"/>
          <p:cNvGraphicFramePr/>
          <p:nvPr/>
        </p:nvGraphicFramePr>
        <p:xfrm>
          <a:off x="5891663" y="2419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58" name="Google Shape;458;p6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</a:t>
            </a:r>
            <a:r>
              <a:rPr lang="en"/>
              <a:t>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</a:t>
            </a:r>
            <a:r>
              <a:rPr b="1" lang="en"/>
              <a:t> </a:t>
            </a:r>
            <a:r>
              <a:rPr lang="en"/>
              <a:t>result in </a:t>
            </a:r>
            <a:r>
              <a:rPr b="1" lang="en">
                <a:solidFill>
                  <a:srgbClr val="0000FF"/>
                </a:solidFill>
              </a:rPr>
              <a:t>asymmetric adjacency matrices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pSp>
        <p:nvGrpSpPr>
          <p:cNvPr id="464" name="Google Shape;464;p67"/>
          <p:cNvGrpSpPr/>
          <p:nvPr/>
        </p:nvGrpSpPr>
        <p:grpSpPr>
          <a:xfrm>
            <a:off x="5341612" y="805761"/>
            <a:ext cx="3490675" cy="1614202"/>
            <a:chOff x="5264900" y="3059073"/>
            <a:chExt cx="3490675" cy="1614202"/>
          </a:xfrm>
        </p:grpSpPr>
        <p:pic>
          <p:nvPicPr>
            <p:cNvPr id="465" name="Google Shape;465;p67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67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467" name="Google Shape;467;p6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</a:t>
            </a:r>
            <a:r>
              <a:rPr b="1" lang="en"/>
              <a:t> </a:t>
            </a:r>
            <a:r>
              <a:rPr lang="en"/>
              <a:t>result in </a:t>
            </a:r>
            <a:r>
              <a:rPr b="1" lang="en">
                <a:solidFill>
                  <a:srgbClr val="0000FF"/>
                </a:solidFill>
              </a:rPr>
              <a:t>asymmetric adjacency matrices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68" name="Google Shape;468;p67"/>
          <p:cNvGraphicFramePr/>
          <p:nvPr/>
        </p:nvGraphicFramePr>
        <p:xfrm>
          <a:off x="5888736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474" name="Google Shape;474;p68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475" name="Google Shape;475;p68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8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477" name="Google Shape;477;p68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68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79" name="Google Shape;479;p68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80" name="Google Shape;480;p68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1" name="Google Shape;481;p68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2" name="Google Shape;482;p68"/>
          <p:cNvSpPr txBox="1"/>
          <p:nvPr/>
        </p:nvSpPr>
        <p:spPr>
          <a:xfrm>
            <a:off x="3465963" y="2413000"/>
            <a:ext cx="21351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How do we know if an adjacency matrix is symmetric or asymmetric? 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488" name="Google Shape;488;p69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489" name="Google Shape;489;p69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9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491" name="Google Shape;491;p69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69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93" name="Google Shape;493;p69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94" name="Google Shape;494;p69"/>
          <p:cNvSpPr txBox="1"/>
          <p:nvPr/>
        </p:nvSpPr>
        <p:spPr>
          <a:xfrm>
            <a:off x="3158875" y="2064500"/>
            <a:ext cx="27729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 upper and lower “triangles” (off-diagonal entries) are mirror images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○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an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they can be different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≠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ji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5" name="Google Shape;495;p69"/>
          <p:cNvCxnSpPr/>
          <p:nvPr/>
        </p:nvCxnSpPr>
        <p:spPr>
          <a:xfrm>
            <a:off x="1274425" y="2778863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69"/>
          <p:cNvCxnSpPr/>
          <p:nvPr/>
        </p:nvCxnSpPr>
        <p:spPr>
          <a:xfrm>
            <a:off x="6294875" y="2715788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69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8" name="Google Shape;498;p69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0"/>
          <p:cNvSpPr txBox="1"/>
          <p:nvPr>
            <p:ph idx="1" type="body"/>
          </p:nvPr>
        </p:nvSpPr>
        <p:spPr>
          <a:xfrm>
            <a:off x="0" y="45276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Symmetric and Asymmetric Adjacency Matrices</a:t>
            </a:r>
            <a:endParaRPr/>
          </a:p>
        </p:txBody>
      </p:sp>
      <p:pic>
        <p:nvPicPr>
          <p:cNvPr id="504" name="Google Shape;504;p70"/>
          <p:cNvPicPr preferRelativeResize="0"/>
          <p:nvPr/>
        </p:nvPicPr>
        <p:blipFill rotWithShape="1">
          <a:blip r:embed="rId3">
            <a:alphaModFix/>
          </a:blip>
          <a:srcRect b="53299" l="1982" r="51491" t="22709"/>
          <a:stretch/>
        </p:blipFill>
        <p:spPr>
          <a:xfrm>
            <a:off x="311700" y="305123"/>
            <a:ext cx="3490675" cy="13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0"/>
          <p:cNvSpPr txBox="1"/>
          <p:nvPr/>
        </p:nvSpPr>
        <p:spPr>
          <a:xfrm>
            <a:off x="824938" y="16794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06" name="Google Shape;506;p70"/>
          <p:cNvPicPr preferRelativeResize="0"/>
          <p:nvPr/>
        </p:nvPicPr>
        <p:blipFill rotWithShape="1">
          <a:blip r:embed="rId3">
            <a:alphaModFix/>
          </a:blip>
          <a:srcRect b="54218" l="50926" r="2550" t="22708"/>
          <a:stretch/>
        </p:blipFill>
        <p:spPr>
          <a:xfrm>
            <a:off x="311700" y="2913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0"/>
          <p:cNvSpPr txBox="1"/>
          <p:nvPr/>
        </p:nvSpPr>
        <p:spPr>
          <a:xfrm>
            <a:off x="829700" y="4235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08" name="Google Shape;508;p70"/>
          <p:cNvGraphicFramePr/>
          <p:nvPr/>
        </p:nvGraphicFramePr>
        <p:xfrm>
          <a:off x="6443863" y="223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49575"/>
                <a:gridCol w="349575"/>
                <a:gridCol w="349575"/>
                <a:gridCol w="349575"/>
                <a:gridCol w="349575"/>
                <a:gridCol w="349575"/>
              </a:tblGrid>
              <a:tr h="3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09" name="Google Shape;509;p70"/>
          <p:cNvSpPr txBox="1"/>
          <p:nvPr/>
        </p:nvSpPr>
        <p:spPr>
          <a:xfrm>
            <a:off x="6260500" y="2053733"/>
            <a:ext cx="2464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10" name="Google Shape;510;p70"/>
          <p:cNvGraphicFramePr/>
          <p:nvPr/>
        </p:nvGraphicFramePr>
        <p:xfrm>
          <a:off x="6346238" y="2608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65850"/>
                <a:gridCol w="365850"/>
                <a:gridCol w="365850"/>
                <a:gridCol w="365850"/>
                <a:gridCol w="365850"/>
                <a:gridCol w="365825"/>
              </a:tblGrid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11" name="Google Shape;511;p70"/>
          <p:cNvSpPr txBox="1"/>
          <p:nvPr/>
        </p:nvSpPr>
        <p:spPr>
          <a:xfrm>
            <a:off x="6260500" y="4438862"/>
            <a:ext cx="2464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2" name="Google Shape;512;p70"/>
          <p:cNvSpPr/>
          <p:nvPr/>
        </p:nvSpPr>
        <p:spPr>
          <a:xfrm>
            <a:off x="4024450" y="1106350"/>
            <a:ext cx="1974300" cy="605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0"/>
          <p:cNvSpPr/>
          <p:nvPr/>
        </p:nvSpPr>
        <p:spPr>
          <a:xfrm>
            <a:off x="4024473" y="3523625"/>
            <a:ext cx="1974300" cy="605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70"/>
          <p:cNvSpPr txBox="1"/>
          <p:nvPr/>
        </p:nvSpPr>
        <p:spPr>
          <a:xfrm>
            <a:off x="533675" y="2038000"/>
            <a:ext cx="2930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0"/>
          <p:cNvSpPr txBox="1"/>
          <p:nvPr/>
        </p:nvSpPr>
        <p:spPr>
          <a:xfrm>
            <a:off x="533675" y="2240700"/>
            <a:ext cx="34908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Adjacent vertices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: Edge exists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Non-adjacent vertices: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Edge does not exist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21" name="Google Shape;52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2" name="Google Shape;522;p71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23" name="Google Shape;523;p71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29" name="Google Shape;5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0" name="Google Shape;530;p72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31" name="Google Shape;531;p72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2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38" name="Google Shape;5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73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0" name="Google Shape;540;p73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41" name="Google Shape;541;p73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47" name="Google Shape;54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74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9" name="Google Shape;549;p74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50" name="Google Shape;550;p74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56" name="Google Shape;55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75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58" name="Google Shape;558;p75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59" name="Google Shape;559;p75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65" name="Google Shape;56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6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67" name="Google Shape;567;p76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68" name="Google Shape;568;p76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574" name="Google Shape;574;p77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5" name="Google Shape;575;p77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6" name="Google Shape;576;p77"/>
          <p:cNvCxnSpPr>
            <a:stCxn id="574" idx="0"/>
            <a:endCxn id="575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77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8" name="Google Shape;578;p77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9" name="Google Shape;579;p77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0" name="Google Shape;580;p77"/>
          <p:cNvCxnSpPr>
            <a:stCxn id="575" idx="7"/>
            <a:endCxn id="577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77"/>
          <p:cNvCxnSpPr>
            <a:stCxn id="579" idx="1"/>
            <a:endCxn id="577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77"/>
          <p:cNvCxnSpPr>
            <a:stCxn id="579" idx="3"/>
            <a:endCxn id="578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77"/>
          <p:cNvCxnSpPr>
            <a:stCxn id="578" idx="0"/>
            <a:endCxn id="577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77"/>
          <p:cNvCxnSpPr>
            <a:stCxn id="578" idx="0"/>
            <a:endCxn id="575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77"/>
          <p:cNvCxnSpPr>
            <a:stCxn id="574" idx="0"/>
            <a:endCxn id="577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77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p77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8" name="Google Shape;588;p77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9" name="Google Shape;589;p77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0" name="Google Shape;590;p77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1" name="Google Shape;591;p77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2" name="Google Shape;592;p77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77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94" name="Google Shape;594;p77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00" name="Google Shape;600;p78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1" name="Google Shape;601;p78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2" name="Google Shape;602;p78"/>
          <p:cNvCxnSpPr>
            <a:stCxn id="600" idx="0"/>
            <a:endCxn id="601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78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4" name="Google Shape;604;p78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5" name="Google Shape;605;p78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6" name="Google Shape;606;p78"/>
          <p:cNvCxnSpPr>
            <a:stCxn id="601" idx="7"/>
            <a:endCxn id="603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78"/>
          <p:cNvCxnSpPr>
            <a:stCxn id="605" idx="1"/>
            <a:endCxn id="603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78"/>
          <p:cNvCxnSpPr>
            <a:stCxn id="605" idx="3"/>
            <a:endCxn id="604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78"/>
          <p:cNvCxnSpPr>
            <a:stCxn id="604" idx="0"/>
            <a:endCxn id="603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78"/>
          <p:cNvCxnSpPr>
            <a:stCxn id="604" idx="0"/>
            <a:endCxn id="601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78"/>
          <p:cNvCxnSpPr>
            <a:stCxn id="600" idx="0"/>
            <a:endCxn id="603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78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78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p78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p78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78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7" name="Google Shape;617;p78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8" name="Google Shape;618;p78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78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20" name="Google Shape;620;p78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26" name="Google Shape;626;p79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7" name="Google Shape;627;p79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8" name="Google Shape;628;p79"/>
          <p:cNvCxnSpPr>
            <a:stCxn id="626" idx="0"/>
            <a:endCxn id="627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79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0" name="Google Shape;630;p79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1" name="Google Shape;631;p79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2" name="Google Shape;632;p79"/>
          <p:cNvCxnSpPr>
            <a:stCxn id="627" idx="7"/>
            <a:endCxn id="629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79"/>
          <p:cNvCxnSpPr>
            <a:stCxn id="631" idx="1"/>
            <a:endCxn id="629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79"/>
          <p:cNvCxnSpPr>
            <a:stCxn id="631" idx="3"/>
            <a:endCxn id="630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79"/>
          <p:cNvCxnSpPr>
            <a:stCxn id="630" idx="0"/>
            <a:endCxn id="629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79"/>
          <p:cNvCxnSpPr>
            <a:stCxn id="630" idx="0"/>
            <a:endCxn id="627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79"/>
          <p:cNvCxnSpPr>
            <a:stCxn id="626" idx="0"/>
            <a:endCxn id="629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79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9" name="Google Shape;639;p79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0" name="Google Shape;640;p79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p79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p79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3" name="Google Shape;643;p79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4" name="Google Shape;644;p79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5" name="Google Shape;645;p79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46" name="Google Shape;646;p79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47" name="Google Shape;647;p79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4" name="Google Shape;654;p80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5" name="Google Shape;655;p80"/>
          <p:cNvCxnSpPr>
            <a:stCxn id="653" idx="0"/>
            <a:endCxn id="654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80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7" name="Google Shape;657;p80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8" name="Google Shape;658;p80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9" name="Google Shape;659;p80"/>
          <p:cNvCxnSpPr>
            <a:stCxn id="654" idx="7"/>
            <a:endCxn id="656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80"/>
          <p:cNvCxnSpPr>
            <a:stCxn id="658" idx="1"/>
            <a:endCxn id="656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80"/>
          <p:cNvCxnSpPr>
            <a:stCxn id="658" idx="3"/>
            <a:endCxn id="657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80"/>
          <p:cNvCxnSpPr>
            <a:stCxn id="657" idx="0"/>
            <a:endCxn id="656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80"/>
          <p:cNvCxnSpPr>
            <a:stCxn id="657" idx="0"/>
            <a:endCxn id="654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80"/>
          <p:cNvCxnSpPr>
            <a:stCxn id="653" idx="0"/>
            <a:endCxn id="656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80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80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7" name="Google Shape;667;p80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80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80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0" name="Google Shape;670;p80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1" name="Google Shape;671;p80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2" name="Google Shape;672;p80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73" name="Google Shape;673;p80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74" name="Google Shape;674;p80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75" name="Google Shape;675;p80"/>
          <p:cNvSpPr/>
          <p:nvPr/>
        </p:nvSpPr>
        <p:spPr>
          <a:xfrm>
            <a:off x="5716750" y="2990200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76" name="Google Shape;676;p80"/>
          <p:cNvSpPr/>
          <p:nvPr/>
        </p:nvSpPr>
        <p:spPr>
          <a:xfrm>
            <a:off x="6935850" y="1884975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77" name="Google Shape;677;p80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Symmetric cells have the same value!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8" name="Google Shape;678;p80"/>
          <p:cNvSpPr txBox="1"/>
          <p:nvPr/>
        </p:nvSpPr>
        <p:spPr>
          <a:xfrm>
            <a:off x="3158875" y="2895800"/>
            <a:ext cx="18183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3,1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1,3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-1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9" name="Google Shape;679;p80"/>
          <p:cNvCxnSpPr/>
          <p:nvPr/>
        </p:nvCxnSpPr>
        <p:spPr>
          <a:xfrm>
            <a:off x="5805975" y="1994263"/>
            <a:ext cx="2845500" cy="257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4" name="Google Shape;684;p81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85" name="Google Shape;685;p81"/>
          <p:cNvSpPr/>
          <p:nvPr/>
        </p:nvSpPr>
        <p:spPr>
          <a:xfrm>
            <a:off x="8098050" y="2428700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86" name="Google Shape;686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87" name="Google Shape;687;p81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8" name="Google Shape;688;p81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9" name="Google Shape;689;p81"/>
          <p:cNvCxnSpPr>
            <a:stCxn id="687" idx="0"/>
            <a:endCxn id="688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81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1" name="Google Shape;691;p81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2" name="Google Shape;692;p81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3" name="Google Shape;693;p81"/>
          <p:cNvCxnSpPr>
            <a:stCxn id="688" idx="7"/>
            <a:endCxn id="690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81"/>
          <p:cNvCxnSpPr>
            <a:stCxn id="692" idx="1"/>
            <a:endCxn id="690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81"/>
          <p:cNvCxnSpPr>
            <a:stCxn id="692" idx="3"/>
            <a:endCxn id="691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81"/>
          <p:cNvCxnSpPr>
            <a:stCxn id="691" idx="0"/>
            <a:endCxn id="690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81"/>
          <p:cNvCxnSpPr>
            <a:stCxn id="691" idx="0"/>
            <a:endCxn id="688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81"/>
          <p:cNvCxnSpPr>
            <a:stCxn id="687" idx="0"/>
            <a:endCxn id="690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81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0" name="Google Shape;700;p81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p81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2" name="Google Shape;702;p81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3" name="Google Shape;703;p81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81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p81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p81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07" name="Google Shape;707;p81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08" name="Google Shape;708;p81"/>
          <p:cNvSpPr/>
          <p:nvPr/>
        </p:nvSpPr>
        <p:spPr>
          <a:xfrm>
            <a:off x="6269250" y="4085525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09" name="Google Shape;709;p81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Symmetric cells have the same value!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0" name="Google Shape;710;p81"/>
          <p:cNvSpPr txBox="1"/>
          <p:nvPr/>
        </p:nvSpPr>
        <p:spPr>
          <a:xfrm>
            <a:off x="3158875" y="2895800"/>
            <a:ext cx="18183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3,1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1,3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-1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5,2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2,5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1" name="Google Shape;711;p81"/>
          <p:cNvCxnSpPr/>
          <p:nvPr/>
        </p:nvCxnSpPr>
        <p:spPr>
          <a:xfrm>
            <a:off x="5805975" y="1994263"/>
            <a:ext cx="2845500" cy="257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17" name="Google Shape;717;p82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8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19" name="Google Shape;719;p8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8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21" name="Google Shape;721;p8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722" name="Google Shape;72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j a_{ij}" id="723" name="Google Shape;72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060388"/>
            <a:ext cx="685800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i \sum_j a_{ij}" id="724" name="Google Shape;724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31" y="3817741"/>
            <a:ext cx="1097280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82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p82"/>
          <p:cNvSpPr txBox="1"/>
          <p:nvPr/>
        </p:nvSpPr>
        <p:spPr>
          <a:xfrm>
            <a:off x="1632600" y="3817738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all the cells in the matrix”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7" name="Google Shape;727;p82"/>
          <p:cNvSpPr txBox="1"/>
          <p:nvPr/>
        </p:nvSpPr>
        <p:spPr>
          <a:xfrm>
            <a:off x="1632600" y="30604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column j down the rows”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33" name="Google Shape;733;p83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8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35" name="Google Shape;735;p8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8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37" name="Google Shape;737;p8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738" name="Google Shape;73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1^{ }a_{1j} = 1 + 0 + 0 + 0 = 1" id="739" name="Google Shape;73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180104"/>
            <a:ext cx="2743201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83"/>
          <p:cNvSpPr/>
          <p:nvPr/>
        </p:nvSpPr>
        <p:spPr>
          <a:xfrm>
            <a:off x="6181575" y="2754775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1" name="Google Shape;741;p83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47" name="Google Shape;747;p84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8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49" name="Google Shape;749;p8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0" name="Google Shape;750;p8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51" name="Google Shape;751;p8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752" name="Google Shape;75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1^{ }a_{1j} = 1 + 0 + 0 + 0 = 1" id="753" name="Google Shape;753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180104"/>
            <a:ext cx="2743201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84"/>
          <p:cNvSpPr/>
          <p:nvPr/>
        </p:nvSpPr>
        <p:spPr>
          <a:xfrm>
            <a:off x="6174625" y="3532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3^{ }a_{3j}=0+1+1+1=3" id="755" name="Google Shape;755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25" y="3814279"/>
            <a:ext cx="2743200" cy="503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84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62" name="Google Shape;762;p85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8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64" name="Google Shape;764;p8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" name="Google Shape;765;p8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66" name="Google Shape;766;p8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67" name="Google Shape;767;p85"/>
          <p:cNvSpPr txBox="1"/>
          <p:nvPr/>
        </p:nvSpPr>
        <p:spPr>
          <a:xfrm>
            <a:off x="1632600" y="2395300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each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cell down row j”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\sum_2 a_{i2}=1+1+0+0=2" id="768" name="Google Shape;76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3186708"/>
            <a:ext cx="27432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85"/>
          <p:cNvSpPr/>
          <p:nvPr/>
        </p:nvSpPr>
        <p:spPr>
          <a:xfrm rot="5400000">
            <a:off x="5858625" y="35566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" id="770" name="Google Shape;77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2313675"/>
            <a:ext cx="685800" cy="5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76" name="Google Shape;776;p86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77" name="Google Shape;777;p8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78" name="Google Shape;778;p8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8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80" name="Google Shape;780;p8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81" name="Google Shape;781;p86"/>
          <p:cNvSpPr txBox="1"/>
          <p:nvPr/>
        </p:nvSpPr>
        <p:spPr>
          <a:xfrm>
            <a:off x="1632600" y="2395300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down row j”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\sum_2 a_{i2}=1+1+0+0=2" id="782" name="Google Shape;78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3186708"/>
            <a:ext cx="27432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86"/>
          <p:cNvSpPr/>
          <p:nvPr/>
        </p:nvSpPr>
        <p:spPr>
          <a:xfrm rot="5400000">
            <a:off x="6657075" y="354972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" id="784" name="Google Shape;784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2313675"/>
            <a:ext cx="685800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4^{ }a_{i4}=0+0+1+1=2" id="785" name="Google Shape;785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715" y="3814279"/>
            <a:ext cx="2719221" cy="50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91" name="Google Shape;791;p87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</a:t>
            </a:r>
            <a:r>
              <a:rPr lang="en"/>
              <a:t>adjacency</a:t>
            </a:r>
            <a:r>
              <a:rPr lang="en"/>
              <a:t>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92" name="Google Shape;792;p8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93" name="Google Shape;793;p8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8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95" name="Google Shape;795;p8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96" name="Google Shape;796;p87"/>
          <p:cNvSpPr/>
          <p:nvPr/>
        </p:nvSpPr>
        <p:spPr>
          <a:xfrm rot="5400000">
            <a:off x="6657075" y="354972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97" name="Google Shape;797;p87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03" name="Google Shape;803;p88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row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outdegree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4" name="Google Shape;804;p88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05" name="Google Shape;805;p88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88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\sum_i^{ }a_{ij} = k^{out}" id="807" name="Google Shape;80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3375" y="3447038"/>
            <a:ext cx="1051560" cy="40150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88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14" name="Google Shape;814;p89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row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outdegree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column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indegree</a:t>
            </a:r>
            <a:endParaRPr b="1"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5" name="Google Shape;815;p89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16" name="Google Shape;816;p89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89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18" name="Google Shape;818;p89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19" name="Google Shape;819;p89"/>
          <p:cNvSpPr/>
          <p:nvPr/>
        </p:nvSpPr>
        <p:spPr>
          <a:xfrm rot="5400000">
            <a:off x="5866175" y="35091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i^{ }a_{ij} = k^{out}" id="820" name="Google Shape;82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3375" y="3447038"/>
            <a:ext cx="1051560" cy="401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j^{ } a_{ij}=k^{in}" id="821" name="Google Shape;82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6227" y="3944041"/>
            <a:ext cx="1005840" cy="442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27" name="Google Shape;827;p90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the </a:t>
            </a:r>
            <a:r>
              <a:rPr b="1" lang="en"/>
              <a:t>graph size </a:t>
            </a:r>
            <a:r>
              <a:rPr lang="en"/>
              <a:t>(number of edges)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8" name="Google Shape;828;p90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29" name="Google Shape;829;p90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90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31" name="Google Shape;831;p90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i^{ }\sum_j^{ }a_{ij}=m" id="832" name="Google Shape;83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162" y="3892998"/>
            <a:ext cx="15773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38" name="Google Shape;838;p91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the </a:t>
            </a:r>
            <a:r>
              <a:rPr b="1" lang="en"/>
              <a:t>graph size </a:t>
            </a:r>
            <a:r>
              <a:rPr lang="en"/>
              <a:t>(number of edges)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9" name="Google Shape;839;p91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40" name="Google Shape;840;p91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91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\sum_i \sum_j a_{ij} = 1 + 0 + 0 + 0 + 1 + 0 + 0 + 0 + 0 + 0 + 1 + 1 + 1 + 0 + 0 + 0 + 0 + 0 + 0 + 1 + 1 = 7" id="842" name="Google Shape;84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631" y="3892998"/>
            <a:ext cx="5486401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91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49" name="Google Shape;849;p92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</a:t>
            </a:r>
            <a:r>
              <a:rPr b="1" lang="en"/>
              <a:t>double the graph size </a:t>
            </a:r>
            <a:r>
              <a:rPr lang="en"/>
              <a:t>(twice the number of edges)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50" name="Google Shape;850;p9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851" name="Google Shape;851;p9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9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53" name="Google Shape;853;p9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^{ }\sum_j^{ }a_{ij}=2m" id="854" name="Google Shape;85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162" y="3912027"/>
            <a:ext cx="1577340" cy="510584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92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61" name="Google Shape;861;p93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that means the matrix formula for the </a:t>
            </a:r>
            <a:r>
              <a:rPr b="1" lang="en"/>
              <a:t>size</a:t>
            </a:r>
            <a:r>
              <a:rPr lang="en"/>
              <a:t> of an </a:t>
            </a:r>
            <a:r>
              <a:rPr b="1" lang="en"/>
              <a:t>undirected graph</a:t>
            </a:r>
            <a:r>
              <a:rPr lang="en"/>
              <a:t> is: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62" name="Google Shape;862;p9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863" name="Google Shape;863;p9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p9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65" name="Google Shape;865;p9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m = \frac{\sum_i^{ }\sum_j^{ }a_{ij}}{2}" id="866" name="Google Shape;86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868" y="3912027"/>
            <a:ext cx="1828800" cy="6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93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873" name="Google Shape;873;p9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4" name="Google Shape;874;p9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reachability matrix</a:t>
            </a:r>
            <a:r>
              <a:rPr lang="en"/>
              <a:t> (D</a:t>
            </a:r>
            <a:r>
              <a:rPr baseline="30000" lang="en"/>
              <a:t>r</a:t>
            </a:r>
            <a:r>
              <a:rPr lang="en"/>
              <a:t>) of</a:t>
            </a:r>
            <a:r>
              <a:rPr lang="en"/>
              <a:t> a directed graph has a one in each cell if the corresponding pair of nodes are connected via a path of some length</a:t>
            </a:r>
            <a:endParaRPr/>
          </a:p>
        </p:txBody>
      </p:sp>
      <p:sp>
        <p:nvSpPr>
          <p:cNvPr id="875" name="Google Shape;875;p94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9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77" name="Google Shape;877;p94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8" name="Google Shape;878;p94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9" name="Google Shape;879;p94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0" name="Google Shape;880;p94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1" name="Google Shape;881;p94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82" name="Google Shape;882;p94"/>
          <p:cNvCxnSpPr>
            <a:stCxn id="878" idx="7"/>
            <a:endCxn id="87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3" name="Google Shape;883;p94"/>
          <p:cNvCxnSpPr>
            <a:stCxn id="881" idx="1"/>
            <a:endCxn id="87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4" name="Google Shape;884;p94"/>
          <p:cNvCxnSpPr>
            <a:stCxn id="881" idx="3"/>
            <a:endCxn id="88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5" name="Google Shape;885;p94"/>
          <p:cNvCxnSpPr>
            <a:stCxn id="880" idx="1"/>
            <a:endCxn id="87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6" name="Google Shape;886;p94"/>
          <p:cNvCxnSpPr>
            <a:stCxn id="878" idx="1"/>
            <a:endCxn id="87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7" name="Google Shape;887;p94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893" name="Google Shape;893;p9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4" name="Google Shape;894;p9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fill it out we put a “1” in the </a:t>
            </a:r>
            <a:r>
              <a:rPr i="1" lang="en"/>
              <a:t>ij</a:t>
            </a:r>
            <a:r>
              <a:rPr baseline="30000" lang="en"/>
              <a:t>th</a:t>
            </a:r>
            <a:r>
              <a:rPr lang="en"/>
              <a:t> cell if node </a:t>
            </a:r>
            <a:r>
              <a:rPr i="1" lang="en"/>
              <a:t>i</a:t>
            </a:r>
            <a:r>
              <a:rPr lang="en"/>
              <a:t> can </a:t>
            </a:r>
            <a:r>
              <a:rPr b="1" lang="en"/>
              <a:t>reach</a:t>
            </a:r>
            <a:r>
              <a:rPr lang="en"/>
              <a:t> node </a:t>
            </a:r>
            <a:r>
              <a:rPr i="1" lang="en"/>
              <a:t>j</a:t>
            </a:r>
            <a:r>
              <a:rPr lang="en"/>
              <a:t> via a </a:t>
            </a:r>
            <a:r>
              <a:rPr b="1" lang="en"/>
              <a:t>directed path</a:t>
            </a:r>
            <a:r>
              <a:rPr lang="en"/>
              <a:t> of any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a zero otherwise</a:t>
            </a:r>
            <a:endParaRPr/>
          </a:p>
        </p:txBody>
      </p:sp>
      <p:sp>
        <p:nvSpPr>
          <p:cNvPr id="895" name="Google Shape;895;p95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9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97" name="Google Shape;897;p9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8" name="Google Shape;898;p9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9" name="Google Shape;899;p9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0" name="Google Shape;900;p9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1" name="Google Shape;901;p9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02" name="Google Shape;902;p95"/>
          <p:cNvCxnSpPr>
            <a:stCxn id="898" idx="7"/>
            <a:endCxn id="89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3" name="Google Shape;903;p95"/>
          <p:cNvCxnSpPr>
            <a:stCxn id="901" idx="1"/>
            <a:endCxn id="89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4" name="Google Shape;904;p95"/>
          <p:cNvCxnSpPr>
            <a:stCxn id="901" idx="3"/>
            <a:endCxn id="90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5" name="Google Shape;905;p95"/>
          <p:cNvCxnSpPr>
            <a:stCxn id="900" idx="1"/>
            <a:endCxn id="89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6" name="Google Shape;906;p95"/>
          <p:cNvCxnSpPr>
            <a:stCxn id="898" idx="1"/>
            <a:endCxn id="89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7" name="Google Shape;907;p9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913" name="Google Shape;913;p9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14" name="Google Shape;914;p9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fill it out we put a “1” in the </a:t>
            </a:r>
            <a:r>
              <a:rPr i="1" lang="en"/>
              <a:t>ij</a:t>
            </a:r>
            <a:r>
              <a:rPr baseline="30000" lang="en"/>
              <a:t>th</a:t>
            </a:r>
            <a:r>
              <a:rPr lang="en"/>
              <a:t> cell if node </a:t>
            </a:r>
            <a:r>
              <a:rPr i="1" lang="en"/>
              <a:t>i</a:t>
            </a:r>
            <a:r>
              <a:rPr lang="en"/>
              <a:t> can </a:t>
            </a:r>
            <a:r>
              <a:rPr b="1" lang="en"/>
              <a:t>reach</a:t>
            </a:r>
            <a:r>
              <a:rPr lang="en"/>
              <a:t> node </a:t>
            </a:r>
            <a:r>
              <a:rPr i="1" lang="en"/>
              <a:t>j</a:t>
            </a:r>
            <a:r>
              <a:rPr lang="en"/>
              <a:t> via a </a:t>
            </a:r>
            <a:r>
              <a:rPr b="1" lang="en"/>
              <a:t>directed path</a:t>
            </a:r>
            <a:r>
              <a:rPr lang="en"/>
              <a:t> of any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direct link counts as a “path”! (of length 1)</a:t>
            </a:r>
            <a:endParaRPr/>
          </a:p>
        </p:txBody>
      </p:sp>
      <p:sp>
        <p:nvSpPr>
          <p:cNvPr id="915" name="Google Shape;915;p96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9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17" name="Google Shape;917;p9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8" name="Google Shape;918;p9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9" name="Google Shape;919;p9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0" name="Google Shape;920;p9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1" name="Google Shape;921;p9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2" name="Google Shape;922;p96"/>
          <p:cNvCxnSpPr>
            <a:stCxn id="918" idx="7"/>
            <a:endCxn id="91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3" name="Google Shape;923;p96"/>
          <p:cNvCxnSpPr>
            <a:stCxn id="921" idx="1"/>
            <a:endCxn id="91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96"/>
          <p:cNvCxnSpPr>
            <a:stCxn id="921" idx="3"/>
            <a:endCxn id="92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96"/>
          <p:cNvCxnSpPr>
            <a:stCxn id="920" idx="1"/>
            <a:endCxn id="91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6" name="Google Shape;926;p96"/>
          <p:cNvCxnSpPr>
            <a:stCxn id="918" idx="1"/>
            <a:endCxn id="91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7" name="Google Shape;927;p9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933" name="Google Shape;933;p9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34" name="Google Shape;934;p9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B</a:t>
            </a:r>
            <a:r>
              <a:rPr lang="en"/>
              <a:t>?</a:t>
            </a:r>
            <a:endParaRPr/>
          </a:p>
        </p:txBody>
      </p:sp>
      <p:sp>
        <p:nvSpPr>
          <p:cNvPr id="935" name="Google Shape;935;p9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9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37" name="Google Shape;937;p97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8" name="Google Shape;938;p97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9" name="Google Shape;939;p97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0" name="Google Shape;940;p97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1" name="Google Shape;941;p97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2" name="Google Shape;942;p97"/>
          <p:cNvCxnSpPr>
            <a:stCxn id="938" idx="7"/>
            <a:endCxn id="93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3" name="Google Shape;943;p97"/>
          <p:cNvCxnSpPr>
            <a:stCxn id="941" idx="1"/>
            <a:endCxn id="93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4" name="Google Shape;944;p97"/>
          <p:cNvCxnSpPr>
            <a:stCxn id="941" idx="3"/>
            <a:endCxn id="94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5" name="Google Shape;945;p97"/>
          <p:cNvCxnSpPr>
            <a:stCxn id="940" idx="1"/>
            <a:endCxn id="93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6" name="Google Shape;946;p97"/>
          <p:cNvCxnSpPr>
            <a:stCxn id="938" idx="1"/>
            <a:endCxn id="93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7" name="Google Shape;947;p97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953" name="Google Shape;953;p9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4" name="Google Shape;954;p9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B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No! (d</a:t>
            </a:r>
            <a:r>
              <a:rPr baseline="30000" lang="en"/>
              <a:t>r</a:t>
            </a:r>
            <a:r>
              <a:rPr baseline="-25000" lang="en"/>
              <a:t>1,2</a:t>
            </a:r>
            <a:r>
              <a:rPr lang="en"/>
              <a:t> = 0) because no directed path exists</a:t>
            </a:r>
            <a:endParaRPr/>
          </a:p>
        </p:txBody>
      </p:sp>
      <p:sp>
        <p:nvSpPr>
          <p:cNvPr id="955" name="Google Shape;955;p9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9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57" name="Google Shape;957;p98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8" name="Google Shape;958;p98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9" name="Google Shape;959;p98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0" name="Google Shape;960;p98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1" name="Google Shape;961;p98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62" name="Google Shape;962;p98"/>
          <p:cNvCxnSpPr>
            <a:stCxn id="958" idx="7"/>
            <a:endCxn id="95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3" name="Google Shape;963;p98"/>
          <p:cNvCxnSpPr>
            <a:stCxn id="961" idx="1"/>
            <a:endCxn id="95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4" name="Google Shape;964;p98"/>
          <p:cNvCxnSpPr>
            <a:stCxn id="961" idx="3"/>
            <a:endCxn id="96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5" name="Google Shape;965;p98"/>
          <p:cNvCxnSpPr>
            <a:stCxn id="960" idx="1"/>
            <a:endCxn id="95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6" name="Google Shape;966;p98"/>
          <p:cNvCxnSpPr>
            <a:stCxn id="958" idx="1"/>
            <a:endCxn id="95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7" name="Google Shape;967;p98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973" name="Google Shape;973;p9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4" name="Google Shape;974;p9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C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</a:t>
            </a:r>
            <a:r>
              <a:rPr lang="en"/>
              <a:t>(d</a:t>
            </a:r>
            <a:r>
              <a:rPr baseline="30000" lang="en"/>
              <a:t>r</a:t>
            </a:r>
            <a:r>
              <a:rPr baseline="-25000" lang="en"/>
              <a:t>1,3</a:t>
            </a:r>
            <a:r>
              <a:rPr lang="en"/>
              <a:t> = 1)</a:t>
            </a:r>
            <a:r>
              <a:rPr lang="en"/>
              <a:t> because they are </a:t>
            </a:r>
            <a:r>
              <a:rPr lang="en"/>
              <a:t>adjacent</a:t>
            </a:r>
            <a:endParaRPr/>
          </a:p>
        </p:txBody>
      </p:sp>
      <p:sp>
        <p:nvSpPr>
          <p:cNvPr id="975" name="Google Shape;975;p9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9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77" name="Google Shape;977;p99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8" name="Google Shape;978;p99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9" name="Google Shape;979;p99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0" name="Google Shape;980;p99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1" name="Google Shape;981;p99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2" name="Google Shape;982;p99"/>
          <p:cNvCxnSpPr>
            <a:stCxn id="978" idx="7"/>
            <a:endCxn id="97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3" name="Google Shape;983;p99"/>
          <p:cNvCxnSpPr>
            <a:stCxn id="981" idx="1"/>
            <a:endCxn id="97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4" name="Google Shape;984;p99"/>
          <p:cNvCxnSpPr>
            <a:stCxn id="981" idx="3"/>
            <a:endCxn id="98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5" name="Google Shape;985;p99"/>
          <p:cNvCxnSpPr>
            <a:stCxn id="980" idx="1"/>
            <a:endCxn id="97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6" name="Google Shape;986;p99"/>
          <p:cNvCxnSpPr>
            <a:stCxn id="978" idx="1"/>
            <a:endCxn id="97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7" name="Google Shape;987;p99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993" name="Google Shape;993;p10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94" name="Google Shape;994;p100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D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1,4</a:t>
            </a:r>
            <a:r>
              <a:rPr lang="en"/>
              <a:t> = 1) because they are adjacent</a:t>
            </a:r>
            <a:endParaRPr/>
          </a:p>
        </p:txBody>
      </p:sp>
      <p:sp>
        <p:nvSpPr>
          <p:cNvPr id="995" name="Google Shape;995;p100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0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97" name="Google Shape;997;p100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100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9" name="Google Shape;999;p100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0" name="Google Shape;1000;p100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1" name="Google Shape;1001;p100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2" name="Google Shape;1002;p100"/>
          <p:cNvCxnSpPr>
            <a:stCxn id="998" idx="7"/>
            <a:endCxn id="99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3" name="Google Shape;1003;p100"/>
          <p:cNvCxnSpPr>
            <a:stCxn id="1001" idx="1"/>
            <a:endCxn id="99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4" name="Google Shape;1004;p100"/>
          <p:cNvCxnSpPr>
            <a:stCxn id="1001" idx="3"/>
            <a:endCxn id="100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5" name="Google Shape;1005;p100"/>
          <p:cNvCxnSpPr>
            <a:stCxn id="1000" idx="1"/>
            <a:endCxn id="99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6" name="Google Shape;1006;p100"/>
          <p:cNvCxnSpPr>
            <a:stCxn id="998" idx="1"/>
            <a:endCxn id="99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7" name="Google Shape;1007;p100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013" name="Google Shape;1013;p10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4" name="Google Shape;1014;p101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e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1,5</a:t>
            </a:r>
            <a:r>
              <a:rPr lang="en"/>
              <a:t> = 1) because directed path {AC, CE} exists</a:t>
            </a:r>
            <a:endParaRPr/>
          </a:p>
        </p:txBody>
      </p:sp>
      <p:sp>
        <p:nvSpPr>
          <p:cNvPr id="1015" name="Google Shape;1015;p101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0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17" name="Google Shape;1017;p101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8" name="Google Shape;1018;p101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9" name="Google Shape;1019;p101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0" name="Google Shape;1020;p101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1" name="Google Shape;1021;p101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2" name="Google Shape;1022;p101"/>
          <p:cNvCxnSpPr>
            <a:stCxn id="1018" idx="7"/>
            <a:endCxn id="101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23" name="Google Shape;1023;p101"/>
          <p:cNvCxnSpPr>
            <a:stCxn id="1021" idx="1"/>
            <a:endCxn id="101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4" name="Google Shape;1024;p101"/>
          <p:cNvCxnSpPr>
            <a:stCxn id="1021" idx="3"/>
            <a:endCxn id="102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5" name="Google Shape;1025;p101"/>
          <p:cNvCxnSpPr>
            <a:stCxn id="1020" idx="1"/>
            <a:endCxn id="101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26" name="Google Shape;1026;p101"/>
          <p:cNvCxnSpPr>
            <a:stCxn id="1018" idx="1"/>
            <a:endCxn id="101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27" name="Google Shape;1027;p101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033" name="Google Shape;1033;p10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4" name="Google Shape;1034;p102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1035" name="Google Shape;1035;p102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0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37" name="Google Shape;1037;p102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8" name="Google Shape;1038;p102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9" name="Google Shape;1039;p102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0" name="Google Shape;1040;p102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1" name="Google Shape;1041;p102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2" name="Google Shape;1042;p102"/>
          <p:cNvCxnSpPr>
            <a:stCxn id="1038" idx="7"/>
            <a:endCxn id="103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3" name="Google Shape;1043;p102"/>
          <p:cNvCxnSpPr>
            <a:stCxn id="1041" idx="1"/>
            <a:endCxn id="103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4" name="Google Shape;1044;p102"/>
          <p:cNvCxnSpPr>
            <a:stCxn id="1041" idx="3"/>
            <a:endCxn id="104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5" name="Google Shape;1045;p102"/>
          <p:cNvCxnSpPr>
            <a:stCxn id="1040" idx="1"/>
            <a:endCxn id="103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6" name="Google Shape;1046;p102"/>
          <p:cNvCxnSpPr>
            <a:stCxn id="1038" idx="1"/>
            <a:endCxn id="103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7" name="Google Shape;1047;p102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053" name="Google Shape;1053;p10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4" name="Google Shape;1054;p10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1055" name="Google Shape;1055;p10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56" name="Google Shape;1056;p103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7" name="Google Shape;1057;p103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8" name="Google Shape;1058;p103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9" name="Google Shape;1059;p103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0" name="Google Shape;1060;p103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1" name="Google Shape;1061;p103"/>
          <p:cNvCxnSpPr>
            <a:stCxn id="1057" idx="7"/>
            <a:endCxn id="1058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2" name="Google Shape;1062;p103"/>
          <p:cNvCxnSpPr>
            <a:stCxn id="1060" idx="1"/>
            <a:endCxn id="1058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3" name="Google Shape;1063;p103"/>
          <p:cNvCxnSpPr>
            <a:stCxn id="1060" idx="3"/>
            <a:endCxn id="1059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4" name="Google Shape;1064;p103"/>
          <p:cNvCxnSpPr>
            <a:stCxn id="1059" idx="1"/>
            <a:endCxn id="1058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5" name="Google Shape;1065;p103"/>
          <p:cNvCxnSpPr>
            <a:stCxn id="1057" idx="1"/>
            <a:endCxn id="1056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6" name="Google Shape;1066;p103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67" name="Google Shape;1067;p103"/>
          <p:cNvSpPr/>
          <p:nvPr/>
        </p:nvSpPr>
        <p:spPr>
          <a:xfrm>
            <a:off x="3082200" y="1960925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have all zeros in their corresponding row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68" name="Google Shape;1068;p103"/>
          <p:cNvSpPr/>
          <p:nvPr/>
        </p:nvSpPr>
        <p:spPr>
          <a:xfrm>
            <a:off x="6164250" y="40343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074" name="Google Shape;1074;p10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5" name="Google Shape;1075;p10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1076" name="Google Shape;1076;p10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77" name="Google Shape;1077;p104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8" name="Google Shape;1078;p104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9" name="Google Shape;1079;p104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0" name="Google Shape;1080;p104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1" name="Google Shape;1081;p104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82" name="Google Shape;1082;p104"/>
          <p:cNvCxnSpPr>
            <a:stCxn id="1078" idx="7"/>
            <a:endCxn id="107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83" name="Google Shape;1083;p104"/>
          <p:cNvCxnSpPr>
            <a:stCxn id="1081" idx="1"/>
            <a:endCxn id="107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4" name="Google Shape;1084;p104"/>
          <p:cNvCxnSpPr>
            <a:stCxn id="1081" idx="3"/>
            <a:endCxn id="108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5" name="Google Shape;1085;p104"/>
          <p:cNvCxnSpPr>
            <a:stCxn id="1080" idx="1"/>
            <a:endCxn id="107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86" name="Google Shape;1086;p104"/>
          <p:cNvCxnSpPr>
            <a:stCxn id="1078" idx="1"/>
            <a:endCxn id="107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87" name="Google Shape;1087;p104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88" name="Google Shape;1088;p104"/>
          <p:cNvSpPr/>
          <p:nvPr/>
        </p:nvSpPr>
        <p:spPr>
          <a:xfrm>
            <a:off x="3082200" y="1960925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have all zeros in their corresponding row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89" name="Google Shape;1089;p104"/>
          <p:cNvSpPr/>
          <p:nvPr/>
        </p:nvSpPr>
        <p:spPr>
          <a:xfrm>
            <a:off x="6164250" y="40343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90" name="Google Shape;1090;p104"/>
          <p:cNvSpPr/>
          <p:nvPr/>
        </p:nvSpPr>
        <p:spPr>
          <a:xfrm>
            <a:off x="3212700" y="3880125"/>
            <a:ext cx="2856600" cy="88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can’t reach anyone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096" name="Google Shape;1096;p10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7" name="Google Shape;1097;p10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1098" name="Google Shape;1098;p10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99" name="Google Shape;1099;p10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0" name="Google Shape;1100;p10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1" name="Google Shape;1101;p10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2" name="Google Shape;1102;p10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3" name="Google Shape;1103;p10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04" name="Google Shape;1104;p105"/>
          <p:cNvCxnSpPr>
            <a:stCxn id="1100" idx="7"/>
            <a:endCxn id="1101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5" name="Google Shape;1105;p105"/>
          <p:cNvCxnSpPr>
            <a:stCxn id="1103" idx="1"/>
            <a:endCxn id="1101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6" name="Google Shape;1106;p105"/>
          <p:cNvCxnSpPr>
            <a:stCxn id="1103" idx="3"/>
            <a:endCxn id="1102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7" name="Google Shape;1107;p105"/>
          <p:cNvCxnSpPr>
            <a:stCxn id="1102" idx="1"/>
            <a:endCxn id="1101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8" name="Google Shape;1108;p105"/>
          <p:cNvCxnSpPr>
            <a:stCxn id="1100" idx="1"/>
            <a:endCxn id="1099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9" name="Google Shape;1109;p10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10" name="Google Shape;1110;p105"/>
          <p:cNvSpPr/>
          <p:nvPr/>
        </p:nvSpPr>
        <p:spPr>
          <a:xfrm>
            <a:off x="3082200" y="1960925"/>
            <a:ext cx="3117600" cy="1202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</a:t>
            </a:r>
            <a:r>
              <a:rPr b="1" lang="en">
                <a:solidFill>
                  <a:srgbClr val="FF0000"/>
                </a:solidFill>
              </a:rPr>
              <a:t> nodes have all zeros in their corresponding </a:t>
            </a:r>
            <a:r>
              <a:rPr b="1" lang="en">
                <a:solidFill>
                  <a:srgbClr val="FF0000"/>
                </a:solidFill>
              </a:rPr>
              <a:t>column</a:t>
            </a:r>
            <a:r>
              <a:rPr b="1" lang="en">
                <a:solidFill>
                  <a:srgbClr val="FF0000"/>
                </a:solidFill>
              </a:rPr>
              <a:t>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1" name="Google Shape;1111;p105"/>
          <p:cNvSpPr/>
          <p:nvPr/>
        </p:nvSpPr>
        <p:spPr>
          <a:xfrm rot="5400000">
            <a:off x="5538250" y="35209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117" name="Google Shape;1117;p10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{B5F72F14-D754-4E47-9A04-621F610EC433}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8" name="Google Shape;1118;p10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1119" name="Google Shape;1119;p10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20" name="Google Shape;1120;p10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1" name="Google Shape;1121;p10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2" name="Google Shape;1122;p10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3" name="Google Shape;1123;p10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4" name="Google Shape;1124;p10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5" name="Google Shape;1125;p106"/>
          <p:cNvCxnSpPr>
            <a:stCxn id="1121" idx="7"/>
            <a:endCxn id="1122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26" name="Google Shape;1126;p106"/>
          <p:cNvCxnSpPr>
            <a:stCxn id="1124" idx="1"/>
            <a:endCxn id="1122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106"/>
          <p:cNvCxnSpPr>
            <a:stCxn id="1124" idx="3"/>
            <a:endCxn id="1123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8" name="Google Shape;1128;p106"/>
          <p:cNvCxnSpPr>
            <a:stCxn id="1123" idx="1"/>
            <a:endCxn id="1122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29" name="Google Shape;1129;p106"/>
          <p:cNvCxnSpPr>
            <a:stCxn id="1121" idx="1"/>
            <a:endCxn id="1120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0" name="Google Shape;1130;p10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31" name="Google Shape;1131;p106"/>
          <p:cNvSpPr/>
          <p:nvPr/>
        </p:nvSpPr>
        <p:spPr>
          <a:xfrm>
            <a:off x="3082200" y="1960925"/>
            <a:ext cx="3117600" cy="1202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have all zeros in their corresponding column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32" name="Google Shape;1132;p106"/>
          <p:cNvSpPr/>
          <p:nvPr/>
        </p:nvSpPr>
        <p:spPr>
          <a:xfrm rot="5400000">
            <a:off x="5538250" y="35209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33" name="Google Shape;1133;p106"/>
          <p:cNvSpPr/>
          <p:nvPr/>
        </p:nvSpPr>
        <p:spPr>
          <a:xfrm>
            <a:off x="3212700" y="3880125"/>
            <a:ext cx="2856600" cy="88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</a:t>
            </a:r>
            <a:r>
              <a:rPr b="1" lang="en">
                <a:solidFill>
                  <a:srgbClr val="FF0000"/>
                </a:solidFill>
              </a:rPr>
              <a:t> nodes can’t be reached by anyone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