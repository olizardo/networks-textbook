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</p:sldIdLst>
  <p:sldSz cy="5143500" cx="9144000"/>
  <p:notesSz cx="6858000" cy="9144000"/>
  <p:embeddedFontLst>
    <p:embeddedFont>
      <p:font typeface="Economica"/>
      <p:regular r:id="rId101"/>
      <p:bold r:id="rId102"/>
      <p:italic r:id="rId103"/>
      <p:boldItalic r:id="rId104"/>
    </p:embeddedFont>
    <p:embeddedFont>
      <p:font typeface="Roboto"/>
      <p:regular r:id="rId105"/>
      <p:bold r:id="rId106"/>
      <p:italic r:id="rId107"/>
      <p:boldItalic r:id="rId108"/>
    </p:embeddedFont>
    <p:embeddedFont>
      <p:font typeface="Oxygen"/>
      <p:regular r:id="rId109"/>
      <p:bold r:id="rId110"/>
    </p:embeddedFont>
    <p:embeddedFont>
      <p:font typeface="Cantarell"/>
      <p:regular r:id="rId111"/>
      <p:bold r:id="rId112"/>
      <p:italic r:id="rId113"/>
      <p:boldItalic r:id="rId114"/>
    </p:embeddedFont>
    <p:embeddedFont>
      <p:font typeface="Open Sans SemiBold"/>
      <p:regular r:id="rId115"/>
      <p:bold r:id="rId116"/>
      <p:italic r:id="rId117"/>
      <p:boldItalic r:id="rId118"/>
    </p:embeddedFont>
    <p:embeddedFont>
      <p:font typeface="Open Sans Medium"/>
      <p:regular r:id="rId119"/>
      <p:bold r:id="rId120"/>
      <p:italic r:id="rId121"/>
      <p:boldItalic r:id="rId122"/>
    </p:embeddedFont>
    <p:embeddedFont>
      <p:font typeface="Open Sans"/>
      <p:regular r:id="rId123"/>
      <p:bold r:id="rId124"/>
      <p:italic r:id="rId125"/>
      <p:boldItalic r:id="rId1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font" Target="fonts/Roboto-italic.fntdata"/><Relationship Id="rId106" Type="http://schemas.openxmlformats.org/officeDocument/2006/relationships/font" Target="fonts/Roboto-bold.fntdata"/><Relationship Id="rId105" Type="http://schemas.openxmlformats.org/officeDocument/2006/relationships/font" Target="fonts/Roboto-regular.fntdata"/><Relationship Id="rId104" Type="http://schemas.openxmlformats.org/officeDocument/2006/relationships/font" Target="fonts/Economica-boldItalic.fntdata"/><Relationship Id="rId109" Type="http://schemas.openxmlformats.org/officeDocument/2006/relationships/font" Target="fonts/Oxygen-regular.fntdata"/><Relationship Id="rId108" Type="http://schemas.openxmlformats.org/officeDocument/2006/relationships/font" Target="fonts/Roboto-boldItalic.fntdata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font" Target="fonts/Economica-italic.fntdata"/><Relationship Id="rId102" Type="http://schemas.openxmlformats.org/officeDocument/2006/relationships/font" Target="fonts/Economica-bold.fntdata"/><Relationship Id="rId101" Type="http://schemas.openxmlformats.org/officeDocument/2006/relationships/font" Target="fonts/Economica-regular.fntdata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6" Type="http://schemas.openxmlformats.org/officeDocument/2006/relationships/font" Target="fonts/OpenSans-boldItalic.fntdata"/><Relationship Id="rId26" Type="http://schemas.openxmlformats.org/officeDocument/2006/relationships/slide" Target="slides/slide20.xml"/><Relationship Id="rId121" Type="http://schemas.openxmlformats.org/officeDocument/2006/relationships/font" Target="fonts/OpenSansMedium-italic.fntdata"/><Relationship Id="rId25" Type="http://schemas.openxmlformats.org/officeDocument/2006/relationships/slide" Target="slides/slide19.xml"/><Relationship Id="rId120" Type="http://schemas.openxmlformats.org/officeDocument/2006/relationships/font" Target="fonts/OpenSansMedium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OpenSans-italic.fntdata"/><Relationship Id="rId29" Type="http://schemas.openxmlformats.org/officeDocument/2006/relationships/slide" Target="slides/slide23.xml"/><Relationship Id="rId124" Type="http://schemas.openxmlformats.org/officeDocument/2006/relationships/font" Target="fonts/OpenSans-bold.fntdata"/><Relationship Id="rId123" Type="http://schemas.openxmlformats.org/officeDocument/2006/relationships/font" Target="fonts/OpenSans-regular.fntdata"/><Relationship Id="rId122" Type="http://schemas.openxmlformats.org/officeDocument/2006/relationships/font" Target="fonts/OpenSansMedium-bold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font" Target="fonts/OpenSansSemiBold-boldItalic.fntdata"/><Relationship Id="rId117" Type="http://schemas.openxmlformats.org/officeDocument/2006/relationships/font" Target="fonts/OpenSansSemiBold-italic.fntdata"/><Relationship Id="rId116" Type="http://schemas.openxmlformats.org/officeDocument/2006/relationships/font" Target="fonts/OpenSansSemiBold-bold.fntdata"/><Relationship Id="rId115" Type="http://schemas.openxmlformats.org/officeDocument/2006/relationships/font" Target="fonts/OpenSansSemiBold-regular.fntdata"/><Relationship Id="rId119" Type="http://schemas.openxmlformats.org/officeDocument/2006/relationships/font" Target="fonts/OpenSansMedium-regular.fntdata"/><Relationship Id="rId15" Type="http://schemas.openxmlformats.org/officeDocument/2006/relationships/slide" Target="slides/slide9.xml"/><Relationship Id="rId110" Type="http://schemas.openxmlformats.org/officeDocument/2006/relationships/font" Target="fonts/Oxygen-bold.fntdata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font" Target="fonts/Cantarell-boldItalic.fntdata"/><Relationship Id="rId18" Type="http://schemas.openxmlformats.org/officeDocument/2006/relationships/slide" Target="slides/slide12.xml"/><Relationship Id="rId113" Type="http://schemas.openxmlformats.org/officeDocument/2006/relationships/font" Target="fonts/Cantarell-italic.fntdata"/><Relationship Id="rId112" Type="http://schemas.openxmlformats.org/officeDocument/2006/relationships/font" Target="fonts/Cantarell-bold.fntdata"/><Relationship Id="rId111" Type="http://schemas.openxmlformats.org/officeDocument/2006/relationships/font" Target="fonts/Cantarell-regular.fntdata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79646aa3e9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79646aa3e9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80dc2ab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80dc2ab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80dc2ab67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80dc2ab67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480dc2ab67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480dc2ab67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480dc2ab67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480dc2ab67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480dc2ab6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480dc2ab6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80dc2ab67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480dc2ab67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480dc2ab67_0_1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480dc2ab67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480dc2ab67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480dc2ab67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480dc2ab67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480dc2ab67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480dc2ab67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480dc2ab67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80dc2ab67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80dc2ab67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480dc2ab67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480dc2ab67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480dc2ab67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480dc2ab67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480dc2ab67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480dc2ab67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3480dc2ab67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3480dc2ab67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480dc2ab67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480dc2ab67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480dc2ab6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480dc2ab6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480dc2ab67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480dc2ab67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480dc2ab67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480dc2ab67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09e8482591_1_1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109e8482591_1_1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109e8482591_1_2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109e8482591_1_2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109e8482591_1_1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109e8482591_1_1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109e8482591_1_1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109e8482591_1_1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09e8482591_1_1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09e8482591_1_1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109e8482591_1_1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109e8482591_1_1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109e8482591_1_1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0" name="Google Shape;530;g109e8482591_1_1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09e8482591_1_1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9" name="Google Shape;549;g109e8482591_1_1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109e8482591_1_1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8" name="Google Shape;568;g109e8482591_1_1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09e8482591_1_1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09e8482591_1_1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g109e8482591_1_14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8" name="Google Shape;598;g109e8482591_1_1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09e8482591_1_1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09e8482591_1_1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09e8482591_1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09e8482591_1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09e8482591_1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09e8482591_1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109e8482591_1_1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109e8482591_1_1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109e8482591_1_1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109e8482591_1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109e8482591_1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109e8482591_1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109e8482591_1_15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109e8482591_1_15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109e8482591_1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109e8482591_1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109e8482591_1_15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3" name="Google Shape;703;g109e8482591_1_15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109e8482591_1_15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109e8482591_1_15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109e8482591_1_1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109e8482591_1_1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109e8482591_1_15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109e8482591_1_15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09e8482591_1_15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109e8482591_1_15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g109e8482591_1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6" name="Google Shape;756;g109e8482591_1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109e8482591_1_15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109e8482591_1_15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109e8482591_1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109e8482591_1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79646aa3e9_0_6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79646aa3e9_0_6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79646aa3e9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79646aa3e9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g79646aa3e9_0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79646aa3e9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79646aa3e9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79646aa3e9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79646aa3e9_0_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6" name="Google Shape;886;g79646aa3e9_0_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g109e8482591_1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6" name="Google Shape;906;g109e8482591_1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g109e8482591_1_2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1" name="Google Shape;911;g109e8482591_1_2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g79646aa3e9_0_8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7" name="Google Shape;927;g79646aa3e9_0_8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79646aa3e9_0_8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79646aa3e9_0_8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79646aa3e9_0_8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79646aa3e9_0_8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79646aa3e9_0_9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79646aa3e9_0_9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79646aa3e9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79646aa3e9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79646aa3e9_0_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79646aa3e9_0_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g79646aa3e9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5" name="Google Shape;1055;g79646aa3e9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109e8482591_1_2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109e8482591_1_2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79646aa3e9_0_1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79646aa3e9_0_1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79646aa3e9_0_1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79646aa3e9_0_1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79646aa3e9_0_1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79646aa3e9_0_1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79646aa3e9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79646aa3e9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2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79646aa3e9_0_1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79646aa3e9_0_1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106bb17509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106bb17509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79646aa3e9_0_1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1" name="Google Shape;1191;g79646aa3e9_0_1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g106bb17509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9" name="Google Shape;1209;g106bb17509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79646aa3e9_0_1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79646aa3e9_0_1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g106bb17509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6" name="Google Shape;1246;g106bb17509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109e8482591_1_18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109e8482591_1_18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109e8482591_1_2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109e8482591_1_2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g109e8482591_1_20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7" name="Google Shape;1297;g109e8482591_1_20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g79646aa3e9_0_1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2" name="Google Shape;1302;g79646aa3e9_0_1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g10698e97dce_0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3" name="Google Shape;1323;g10698e97dce_0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g10698e97dce_0_3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3" name="Google Shape;1353;g10698e97dce_0_3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10698e97dce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10698e97dce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g10698e97dce_0_4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3" name="Google Shape;1413;g10698e97dce_0_4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10698e97dce_0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10698e97dce_0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g79646aa3e9_0_1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1" name="Google Shape;1461;g79646aa3e9_0_1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g10698e97dce_0_5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5" name="Google Shape;1485;g10698e97dce_0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9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0" name="Google Shape;1500;g79646aa3e9_0_1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1" name="Google Shape;1501;g79646aa3e9_0_1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09e8482591_1_2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09e8482591_1_2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79646aa3e9_0_1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79646aa3e9_0_1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g10698e97dce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2" name="Google Shape;1562;g10698e97dce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6" name="Shape 1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" name="Google Shape;1587;g10698e97dce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8" name="Google Shape;1588;g10698e97dce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79646aa3e9_0_1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79646aa3e9_0_1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9" name="Shape 1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0" name="Google Shape;1640;g79646aa3e9_0_1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1" name="Google Shape;1641;g79646aa3e9_0_1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5" name="Shape 1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6" name="Google Shape;1666;g79646aa3e9_0_1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7" name="Google Shape;1667;g79646aa3e9_0_1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79646aa3e9_0_1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79646aa3e9_0_1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g79646aa3e9_0_1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1" name="Google Shape;1721;g79646aa3e9_0_1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g109e8482591_1_1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1" name="Google Shape;1751;g109e8482591_1_1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2744013" y="756700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6" name="Google Shape;56;p14"/>
          <p:cNvSpPr/>
          <p:nvPr/>
        </p:nvSpPr>
        <p:spPr>
          <a:xfrm rot="10800000">
            <a:off x="5318350" y="32667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57" name="Google Shape;57;p14"/>
          <p:cNvSpPr txBox="1"/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 flipH="1">
            <a:off x="7595938" y="4602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2" name="Google Shape;62;p15"/>
          <p:cNvSpPr/>
          <p:nvPr/>
        </p:nvSpPr>
        <p:spPr>
          <a:xfrm flipH="1" rot="10800000">
            <a:off x="466425" y="35583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" type="body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7"/>
          <p:cNvSpPr txBox="1"/>
          <p:nvPr>
            <p:ph idx="2" type="body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4" name="Google Shape;7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1" name="Google Shape;81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0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20"/>
          <p:cNvSpPr txBox="1"/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5" name="Google Shape;8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1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" name="Google Shape;88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" name="Google Shape;89;p21"/>
          <p:cNvSpPr txBox="1"/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21"/>
          <p:cNvSpPr txBox="1"/>
          <p:nvPr>
            <p:ph idx="1" type="subTitle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91" name="Google Shape;91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2"/>
          <p:cNvSpPr txBox="1"/>
          <p:nvPr>
            <p:ph idx="1" type="body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95" name="Google Shape;9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3"/>
          <p:cNvSpPr txBox="1"/>
          <p:nvPr>
            <p:ph hasCustomPrompt="1" type="title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9" name="Google Shape;99;p23"/>
          <p:cNvSpPr txBox="1"/>
          <p:nvPr>
            <p:ph idx="1" type="body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L="4572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L="9144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L="13716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L="182880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5" name="Google Shape;105;p25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rtl="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Ties to Graphs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27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16" name="Google Shape;116;p27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" name="Google Shape;117;p27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7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19" name="Google Shape;119;p27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27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121" name="Google Shape;121;p27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" name="Google Shape;122;p27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7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4" name="Google Shape;124;p27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27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26" name="Google Shape;126;p27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" name="Google Shape;127;p27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27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29" name="Google Shape;129;p27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0" name="Google Shape;130;p27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31" name="Google Shape;131;p27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2" name="Google Shape;132;p27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" name="Google Shape;133;p27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4" name="Google Shape;134;p27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27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36" name="Google Shape;136;p27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7" name="Google Shape;137;p27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7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39" name="Google Shape;139;p27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40" name="Google Shape;140;p27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41" name="Google Shape;141;p27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2" name="Google Shape;142;p27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3" name="Google Shape;143;p27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4" name="Google Shape;144;p27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5" name="Google Shape;145;p27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6" name="Google Shape;146;p27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7" name="Google Shape;147;p27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8" name="Google Shape;148;p27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49" name="Google Shape;149;p27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0" name="Google Shape;150;p27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1" name="Google Shape;151;p27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2" name="Google Shape;152;p27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3" name="Google Shape;153;p27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4" name="Google Shape;154;p27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5" name="Google Shape;155;p27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6" name="Google Shape;156;p27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57" name="Google Shape;157;p27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" name="Google Shape;163;p28"/>
          <p:cNvGrpSpPr/>
          <p:nvPr/>
        </p:nvGrpSpPr>
        <p:grpSpPr>
          <a:xfrm>
            <a:off x="4725650" y="1479057"/>
            <a:ext cx="3820529" cy="747300"/>
            <a:chOff x="4530625" y="1206568"/>
            <a:chExt cx="3820529" cy="747300"/>
          </a:xfrm>
        </p:grpSpPr>
        <p:cxnSp>
          <p:nvCxnSpPr>
            <p:cNvPr id="164" name="Google Shape;164;p28"/>
            <p:cNvCxnSpPr/>
            <p:nvPr/>
          </p:nvCxnSpPr>
          <p:spPr>
            <a:xfrm>
              <a:off x="4530625" y="1582195"/>
              <a:ext cx="16527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5" name="Google Shape;165;p28"/>
            <p:cNvSpPr/>
            <p:nvPr/>
          </p:nvSpPr>
          <p:spPr>
            <a:xfrm>
              <a:off x="6014671" y="1481782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28"/>
            <p:cNvSpPr txBox="1"/>
            <p:nvPr/>
          </p:nvSpPr>
          <p:spPr>
            <a:xfrm>
              <a:off x="5990215" y="142376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7" name="Google Shape;167;p28"/>
            <p:cNvSpPr txBox="1"/>
            <p:nvPr/>
          </p:nvSpPr>
          <p:spPr>
            <a:xfrm>
              <a:off x="6223854" y="1206568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Individual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8" name="Google Shape;168;p28"/>
          <p:cNvGrpSpPr/>
          <p:nvPr/>
        </p:nvGrpSpPr>
        <p:grpSpPr>
          <a:xfrm>
            <a:off x="5769175" y="3491301"/>
            <a:ext cx="2777004" cy="747300"/>
            <a:chOff x="5574150" y="3083456"/>
            <a:chExt cx="2777004" cy="747300"/>
          </a:xfrm>
        </p:grpSpPr>
        <p:cxnSp>
          <p:nvCxnSpPr>
            <p:cNvPr id="169" name="Google Shape;169;p28"/>
            <p:cNvCxnSpPr/>
            <p:nvPr/>
          </p:nvCxnSpPr>
          <p:spPr>
            <a:xfrm>
              <a:off x="5574150" y="3449448"/>
              <a:ext cx="6093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" name="Google Shape;170;p28"/>
            <p:cNvSpPr/>
            <p:nvPr/>
          </p:nvSpPr>
          <p:spPr>
            <a:xfrm>
              <a:off x="6014671" y="3349032"/>
              <a:ext cx="198600" cy="198300"/>
            </a:xfrm>
            <a:prstGeom prst="ellipse">
              <a:avLst/>
            </a:prstGeom>
            <a:solidFill>
              <a:srgbClr val="9225A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8"/>
            <p:cNvSpPr txBox="1"/>
            <p:nvPr/>
          </p:nvSpPr>
          <p:spPr>
            <a:xfrm>
              <a:off x="5991690" y="329111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5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2" name="Google Shape;172;p28"/>
            <p:cNvSpPr txBox="1"/>
            <p:nvPr/>
          </p:nvSpPr>
          <p:spPr>
            <a:xfrm>
              <a:off x="6223854" y="3083456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Whole Network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3" name="Google Shape;173;p28"/>
          <p:cNvGrpSpPr/>
          <p:nvPr/>
        </p:nvGrpSpPr>
        <p:grpSpPr>
          <a:xfrm>
            <a:off x="597801" y="1980193"/>
            <a:ext cx="3468724" cy="747300"/>
            <a:chOff x="744101" y="1672393"/>
            <a:chExt cx="3468724" cy="747300"/>
          </a:xfrm>
        </p:grpSpPr>
        <p:cxnSp>
          <p:nvCxnSpPr>
            <p:cNvPr id="174" name="Google Shape;174;p28"/>
            <p:cNvCxnSpPr/>
            <p:nvPr/>
          </p:nvCxnSpPr>
          <p:spPr>
            <a:xfrm rot="10800000">
              <a:off x="2921325" y="2046050"/>
              <a:ext cx="12915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5" name="Google Shape;175;p28"/>
            <p:cNvSpPr/>
            <p:nvPr/>
          </p:nvSpPr>
          <p:spPr>
            <a:xfrm>
              <a:off x="2874851" y="1943786"/>
              <a:ext cx="198600" cy="198300"/>
            </a:xfrm>
            <a:prstGeom prst="ellipse">
              <a:avLst/>
            </a:prstGeom>
            <a:solidFill>
              <a:srgbClr val="701C7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8"/>
            <p:cNvSpPr txBox="1"/>
            <p:nvPr/>
          </p:nvSpPr>
          <p:spPr>
            <a:xfrm>
              <a:off x="2849841" y="1884747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77" name="Google Shape;177;p28"/>
            <p:cNvSpPr txBox="1"/>
            <p:nvPr/>
          </p:nvSpPr>
          <p:spPr>
            <a:xfrm>
              <a:off x="744101" y="1672393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Dyads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78" name="Google Shape;178;p28"/>
          <p:cNvGrpSpPr/>
          <p:nvPr/>
        </p:nvGrpSpPr>
        <p:grpSpPr>
          <a:xfrm>
            <a:off x="597801" y="2897769"/>
            <a:ext cx="3021694" cy="747300"/>
            <a:chOff x="744101" y="2507609"/>
            <a:chExt cx="3021694" cy="747300"/>
          </a:xfrm>
        </p:grpSpPr>
        <p:cxnSp>
          <p:nvCxnSpPr>
            <p:cNvPr id="179" name="Google Shape;179;p28"/>
            <p:cNvCxnSpPr/>
            <p:nvPr/>
          </p:nvCxnSpPr>
          <p:spPr>
            <a:xfrm rot="10800000">
              <a:off x="2915895" y="2881250"/>
              <a:ext cx="8499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0" name="Google Shape;180;p28"/>
            <p:cNvSpPr/>
            <p:nvPr/>
          </p:nvSpPr>
          <p:spPr>
            <a:xfrm>
              <a:off x="2874851" y="2780836"/>
              <a:ext cx="198600" cy="198300"/>
            </a:xfrm>
            <a:prstGeom prst="ellipse">
              <a:avLst/>
            </a:prstGeom>
            <a:solidFill>
              <a:srgbClr val="7F209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8"/>
            <p:cNvSpPr txBox="1"/>
            <p:nvPr/>
          </p:nvSpPr>
          <p:spPr>
            <a:xfrm>
              <a:off x="2849841" y="2724795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82" name="Google Shape;182;p28"/>
            <p:cNvSpPr txBox="1"/>
            <p:nvPr/>
          </p:nvSpPr>
          <p:spPr>
            <a:xfrm>
              <a:off x="744101" y="250760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Cliques, Communities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83" name="Google Shape;183;p28"/>
          <p:cNvGrpSpPr/>
          <p:nvPr/>
        </p:nvGrpSpPr>
        <p:grpSpPr>
          <a:xfrm>
            <a:off x="2811509" y="1603902"/>
            <a:ext cx="3509178" cy="3257208"/>
            <a:chOff x="3318063" y="1368287"/>
            <a:chExt cx="2408000" cy="2993482"/>
          </a:xfrm>
        </p:grpSpPr>
        <p:sp>
          <p:nvSpPr>
            <p:cNvPr id="184" name="Google Shape;184;p28"/>
            <p:cNvSpPr/>
            <p:nvPr/>
          </p:nvSpPr>
          <p:spPr>
            <a:xfrm>
              <a:off x="3595785" y="2775241"/>
              <a:ext cx="1853168" cy="9191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5" name="Google Shape;185;p28"/>
            <p:cNvSpPr/>
            <p:nvPr/>
          </p:nvSpPr>
          <p:spPr>
            <a:xfrm>
              <a:off x="3318063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6" name="Google Shape;186;p28"/>
            <p:cNvSpPr/>
            <p:nvPr/>
          </p:nvSpPr>
          <p:spPr>
            <a:xfrm flipH="1">
              <a:off x="4522196" y="3194383"/>
              <a:ext cx="1203867" cy="1167385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9225A5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7" name="Google Shape;187;p28"/>
            <p:cNvSpPr/>
            <p:nvPr/>
          </p:nvSpPr>
          <p:spPr>
            <a:xfrm>
              <a:off x="3844034" y="2401368"/>
              <a:ext cx="1356545" cy="672851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8" name="Google Shape;188;p28"/>
            <p:cNvSpPr/>
            <p:nvPr/>
          </p:nvSpPr>
          <p:spPr>
            <a:xfrm>
              <a:off x="3930892" y="2272397"/>
              <a:ext cx="1175304" cy="581421"/>
            </a:xfrm>
            <a:custGeom>
              <a:rect b="b" l="l" r="r" t="t"/>
              <a:pathLst>
                <a:path extrusionOk="0" h="16300" w="49248">
                  <a:moveTo>
                    <a:pt x="0" y="7554"/>
                  </a:moveTo>
                  <a:lnTo>
                    <a:pt x="24649" y="16300"/>
                  </a:lnTo>
                  <a:lnTo>
                    <a:pt x="49248" y="7604"/>
                  </a:lnTo>
                  <a:lnTo>
                    <a:pt x="24599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89" name="Google Shape;189;p28"/>
            <p:cNvSpPr/>
            <p:nvPr/>
          </p:nvSpPr>
          <p:spPr>
            <a:xfrm>
              <a:off x="4052837" y="2081437"/>
              <a:ext cx="931314" cy="460727"/>
            </a:xfrm>
            <a:custGeom>
              <a:rect b="b" l="l" r="r" t="t"/>
              <a:pathLst>
                <a:path extrusionOk="0" h="12970" w="39012">
                  <a:moveTo>
                    <a:pt x="0" y="5914"/>
                  </a:moveTo>
                  <a:lnTo>
                    <a:pt x="19531" y="12970"/>
                  </a:lnTo>
                  <a:lnTo>
                    <a:pt x="39012" y="5914"/>
                  </a:lnTo>
                  <a:lnTo>
                    <a:pt x="19581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0" name="Google Shape;190;p28"/>
            <p:cNvSpPr/>
            <p:nvPr/>
          </p:nvSpPr>
          <p:spPr>
            <a:xfrm>
              <a:off x="4233144" y="1787006"/>
              <a:ext cx="573183" cy="289305"/>
            </a:xfrm>
            <a:custGeom>
              <a:rect b="b" l="l" r="r" t="t"/>
              <a:pathLst>
                <a:path extrusionOk="0" h="8150" w="24053">
                  <a:moveTo>
                    <a:pt x="0" y="3827"/>
                  </a:moveTo>
                  <a:lnTo>
                    <a:pt x="11976" y="8150"/>
                  </a:lnTo>
                  <a:lnTo>
                    <a:pt x="24053" y="3827"/>
                  </a:lnTo>
                  <a:lnTo>
                    <a:pt x="12126" y="0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1" name="Google Shape;191;p28"/>
            <p:cNvSpPr/>
            <p:nvPr/>
          </p:nvSpPr>
          <p:spPr>
            <a:xfrm>
              <a:off x="3640743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2" name="Google Shape;192;p28"/>
            <p:cNvSpPr/>
            <p:nvPr/>
          </p:nvSpPr>
          <p:spPr>
            <a:xfrm>
              <a:off x="3964720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gradFill>
              <a:gsLst>
                <a:gs pos="0">
                  <a:srgbClr val="FFCA37"/>
                </a:gs>
                <a:gs pos="100000">
                  <a:srgbClr val="AD8107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3" name="Google Shape;193;p28"/>
            <p:cNvSpPr/>
            <p:nvPr/>
          </p:nvSpPr>
          <p:spPr>
            <a:xfrm flipH="1">
              <a:off x="4518736" y="2291507"/>
              <a:ext cx="555203" cy="453658"/>
            </a:xfrm>
            <a:custGeom>
              <a:rect b="b" l="l" r="r" t="t"/>
              <a:pathLst>
                <a:path extrusionOk="0" h="12771" w="23257">
                  <a:moveTo>
                    <a:pt x="3727" y="0"/>
                  </a:moveTo>
                  <a:lnTo>
                    <a:pt x="0" y="4522"/>
                  </a:lnTo>
                  <a:lnTo>
                    <a:pt x="23257" y="12771"/>
                  </a:lnTo>
                  <a:lnTo>
                    <a:pt x="23257" y="7056"/>
                  </a:lnTo>
                  <a:close/>
                </a:path>
              </a:pathLst>
            </a:custGeom>
            <a:solidFill>
              <a:srgbClr val="F4B40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4" name="Google Shape;194;p28"/>
            <p:cNvSpPr/>
            <p:nvPr/>
          </p:nvSpPr>
          <p:spPr>
            <a:xfrm>
              <a:off x="4084537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5" name="Google Shape;195;p28"/>
            <p:cNvSpPr/>
            <p:nvPr/>
          </p:nvSpPr>
          <p:spPr>
            <a:xfrm flipH="1">
              <a:off x="4518735" y="1922553"/>
              <a:ext cx="435387" cy="501365"/>
            </a:xfrm>
            <a:custGeom>
              <a:rect b="b" l="l" r="r" t="t"/>
              <a:pathLst>
                <a:path extrusionOk="0" h="14114" w="18238">
                  <a:moveTo>
                    <a:pt x="6262" y="0"/>
                  </a:moveTo>
                  <a:lnTo>
                    <a:pt x="18238" y="4324"/>
                  </a:lnTo>
                  <a:lnTo>
                    <a:pt x="18238" y="14114"/>
                  </a:lnTo>
                  <a:lnTo>
                    <a:pt x="0" y="7554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6" name="Google Shape;196;p28"/>
            <p:cNvSpPr/>
            <p:nvPr/>
          </p:nvSpPr>
          <p:spPr>
            <a:xfrm>
              <a:off x="4266040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7" name="Google Shape;197;p28"/>
            <p:cNvSpPr/>
            <p:nvPr/>
          </p:nvSpPr>
          <p:spPr>
            <a:xfrm flipH="1">
              <a:off x="4518734" y="1368287"/>
              <a:ext cx="253884" cy="593119"/>
            </a:xfrm>
            <a:custGeom>
              <a:rect b="b" l="l" r="r" t="t"/>
              <a:pathLst>
                <a:path extrusionOk="0" h="16697" w="10635">
                  <a:moveTo>
                    <a:pt x="10635" y="0"/>
                  </a:moveTo>
                  <a:lnTo>
                    <a:pt x="0" y="12722"/>
                  </a:lnTo>
                  <a:lnTo>
                    <a:pt x="10635" y="16697"/>
                  </a:lnTo>
                  <a:close/>
                </a:path>
              </a:pathLst>
            </a:custGeom>
            <a:solidFill>
              <a:srgbClr val="701C7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8" name="Google Shape;198;p28"/>
            <p:cNvSpPr/>
            <p:nvPr/>
          </p:nvSpPr>
          <p:spPr>
            <a:xfrm>
              <a:off x="3877348" y="2290728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551561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199" name="Google Shape;199;p28"/>
            <p:cNvSpPr/>
            <p:nvPr/>
          </p:nvSpPr>
          <p:spPr>
            <a:xfrm flipH="1">
              <a:off x="4518572" y="2291772"/>
              <a:ext cx="642683" cy="657851"/>
            </a:xfrm>
            <a:custGeom>
              <a:rect b="b" l="l" r="r" t="t"/>
              <a:pathLst>
                <a:path extrusionOk="0" h="46623" w="65016">
                  <a:moveTo>
                    <a:pt x="17858" y="0"/>
                  </a:moveTo>
                  <a:lnTo>
                    <a:pt x="0" y="22135"/>
                  </a:lnTo>
                  <a:lnTo>
                    <a:pt x="65016" y="46623"/>
                  </a:lnTo>
                  <a:lnTo>
                    <a:pt x="65016" y="17537"/>
                  </a:lnTo>
                  <a:close/>
                </a:path>
              </a:pathLst>
            </a:custGeom>
            <a:solidFill>
              <a:srgbClr val="761E86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  <p:sp>
          <p:nvSpPr>
            <p:cNvPr id="200" name="Google Shape;200;p28"/>
            <p:cNvSpPr/>
            <p:nvPr/>
          </p:nvSpPr>
          <p:spPr>
            <a:xfrm flipH="1">
              <a:off x="4522009" y="2708179"/>
              <a:ext cx="881371" cy="854431"/>
            </a:xfrm>
            <a:custGeom>
              <a:rect b="b" l="l" r="r" t="t"/>
              <a:pathLst>
                <a:path extrusionOk="0" h="20822" w="31954">
                  <a:moveTo>
                    <a:pt x="7355" y="0"/>
                  </a:moveTo>
                  <a:lnTo>
                    <a:pt x="31954" y="8796"/>
                  </a:lnTo>
                  <a:lnTo>
                    <a:pt x="31954" y="20822"/>
                  </a:lnTo>
                  <a:lnTo>
                    <a:pt x="0" y="8895"/>
                  </a:lnTo>
                  <a:close/>
                </a:path>
              </a:pathLst>
            </a:custGeom>
            <a:solidFill>
              <a:srgbClr val="7F2090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  <a:reflection blurRad="0" dir="5400000" dist="38100" endA="0" endPos="30000" fadeDir="5400012" kx="0" rotWithShape="0" algn="bl" stPos="0" sy="-100000" ky="0"/>
            </a:effectLst>
          </p:spPr>
        </p:sp>
      </p:grpSp>
      <p:grpSp>
        <p:nvGrpSpPr>
          <p:cNvPr id="201" name="Google Shape;201;p28"/>
          <p:cNvGrpSpPr/>
          <p:nvPr/>
        </p:nvGrpSpPr>
        <p:grpSpPr>
          <a:xfrm>
            <a:off x="5259475" y="2411864"/>
            <a:ext cx="3286704" cy="747300"/>
            <a:chOff x="5064450" y="2086419"/>
            <a:chExt cx="3286704" cy="747300"/>
          </a:xfrm>
        </p:grpSpPr>
        <p:cxnSp>
          <p:nvCxnSpPr>
            <p:cNvPr id="202" name="Google Shape;202;p28"/>
            <p:cNvCxnSpPr/>
            <p:nvPr/>
          </p:nvCxnSpPr>
          <p:spPr>
            <a:xfrm>
              <a:off x="5064450" y="2460069"/>
              <a:ext cx="1119000" cy="0"/>
            </a:xfrm>
            <a:prstGeom prst="straightConnector1">
              <a:avLst/>
            </a:prstGeom>
            <a:noFill/>
            <a:ln cap="flat" cmpd="sng" w="9525">
              <a:solidFill>
                <a:srgbClr val="BDBDBD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3" name="Google Shape;203;p28"/>
            <p:cNvSpPr/>
            <p:nvPr/>
          </p:nvSpPr>
          <p:spPr>
            <a:xfrm>
              <a:off x="6014671" y="2353882"/>
              <a:ext cx="198600" cy="198300"/>
            </a:xfrm>
            <a:prstGeom prst="ellipse">
              <a:avLst/>
            </a:prstGeom>
            <a:solidFill>
              <a:srgbClr val="761E8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8"/>
            <p:cNvSpPr txBox="1"/>
            <p:nvPr/>
          </p:nvSpPr>
          <p:spPr>
            <a:xfrm>
              <a:off x="5991690" y="2295028"/>
              <a:ext cx="247500" cy="31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8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205" name="Google Shape;205;p28"/>
            <p:cNvSpPr txBox="1"/>
            <p:nvPr/>
          </p:nvSpPr>
          <p:spPr>
            <a:xfrm>
              <a:off x="6223854" y="2086419"/>
              <a:ext cx="2127300" cy="74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Triads</a:t>
              </a:r>
              <a:endParaRPr b="1" sz="18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06" name="Google Shape;206;p2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Levels of Analysis in social networks</a:t>
            </a:r>
            <a:endParaRPr/>
          </a:p>
        </p:txBody>
      </p:sp>
      <p:sp>
        <p:nvSpPr>
          <p:cNvPr id="207" name="Google Shape;207;p28"/>
          <p:cNvSpPr/>
          <p:nvPr/>
        </p:nvSpPr>
        <p:spPr>
          <a:xfrm>
            <a:off x="1073075" y="1713500"/>
            <a:ext cx="4485000" cy="1014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Tie types and properties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13" name="Google Shape;213;p29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network </a:t>
            </a:r>
            <a:r>
              <a:rPr i="1" lang="en">
                <a:solidFill>
                  <a:srgbClr val="FF0000"/>
                </a:solidFill>
              </a:rPr>
              <a:t>any</a:t>
            </a:r>
            <a:r>
              <a:rPr lang="en"/>
              <a:t> </a:t>
            </a:r>
            <a:r>
              <a:rPr b="1" lang="en"/>
              <a:t>two</a:t>
            </a:r>
            <a:r>
              <a:rPr lang="en"/>
              <a:t> pair of nodes is called a </a:t>
            </a:r>
            <a:r>
              <a:rPr b="1" lang="en"/>
              <a:t>dyad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Dyads can either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Connected</a:t>
            </a:r>
            <a:endParaRPr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there is an edge linking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Disconnected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there is no edge linking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9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15" name="Google Shape;215;p29"/>
          <p:cNvCxnSpPr>
            <a:stCxn id="214" idx="6"/>
            <a:endCxn id="216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9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7" name="Google Shape;217;p29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8" name="Google Shape;218;p29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19" name="Google Shape;219;p29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5946980" y="4059963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26" name="Google Shape;226;p30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network </a:t>
            </a:r>
            <a:r>
              <a:rPr i="1" lang="en">
                <a:solidFill>
                  <a:srgbClr val="FF0000"/>
                </a:solidFill>
              </a:rPr>
              <a:t>any</a:t>
            </a:r>
            <a:r>
              <a:rPr lang="en"/>
              <a:t> </a:t>
            </a:r>
            <a:r>
              <a:rPr b="1" lang="en"/>
              <a:t>two</a:t>
            </a:r>
            <a:r>
              <a:rPr lang="en"/>
              <a:t> pair of nodes is called a </a:t>
            </a:r>
            <a:r>
              <a:rPr b="1" lang="en"/>
              <a:t>dyad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Dyads can either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400"/>
              <a:buChar char="○"/>
            </a:pPr>
            <a:r>
              <a:rPr lang="en">
                <a:solidFill>
                  <a:srgbClr val="0000FF"/>
                </a:solidFill>
              </a:rPr>
              <a:t>Connected</a:t>
            </a:r>
            <a:endParaRPr>
              <a:solidFill>
                <a:srgbClr val="0000FF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there is an edge linking them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Disconnected</a:t>
            </a:r>
            <a:endParaRPr>
              <a:solidFill>
                <a:srgbClr val="FF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there is no edge linking them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networks the link joining connected dyads is called a </a:t>
            </a:r>
            <a:r>
              <a:rPr b="1" lang="en"/>
              <a:t>social tie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28" name="Google Shape;228;p30"/>
          <p:cNvCxnSpPr>
            <a:stCxn id="227" idx="6"/>
            <a:endCxn id="229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9" name="Google Shape;229;p30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0" name="Google Shape;230;p30"/>
          <p:cNvSpPr/>
          <p:nvPr/>
        </p:nvSpPr>
        <p:spPr>
          <a:xfrm>
            <a:off x="6197425" y="499325"/>
            <a:ext cx="1550400" cy="51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social tie!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31" name="Google Shape;231;p30"/>
          <p:cNvCxnSpPr>
            <a:stCxn id="230" idx="2"/>
          </p:cNvCxnSpPr>
          <p:nvPr/>
        </p:nvCxnSpPr>
        <p:spPr>
          <a:xfrm>
            <a:off x="6972625" y="1017725"/>
            <a:ext cx="2400" cy="64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30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Dyad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5" name="Google Shape;235;p30"/>
          <p:cNvSpPr txBox="1"/>
          <p:nvPr/>
        </p:nvSpPr>
        <p:spPr>
          <a:xfrm>
            <a:off x="5946980" y="4059963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Dyad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41" name="Google Shape;241;p31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ties are the </a:t>
            </a:r>
            <a:r>
              <a:rPr b="1" lang="en"/>
              <a:t>fundamental units</a:t>
            </a:r>
            <a:r>
              <a:rPr lang="en"/>
              <a:t> of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the atom is to physics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400"/>
              <a:t>Or the cell is to biology</a:t>
            </a:r>
            <a:endParaRPr sz="14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b="1" lang="en"/>
              <a:t>different types</a:t>
            </a:r>
            <a:r>
              <a:rPr lang="en"/>
              <a:t> of social ties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43" name="Google Shape;243;p31"/>
          <p:cNvCxnSpPr>
            <a:stCxn id="242" idx="6"/>
            <a:endCxn id="244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" name="Google Shape;244;p31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5" name="Google Shape;245;p31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Dyad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31"/>
          <p:cNvSpPr/>
          <p:nvPr/>
        </p:nvSpPr>
        <p:spPr>
          <a:xfrm>
            <a:off x="56010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7" name="Google Shape;247;p31"/>
          <p:cNvSpPr/>
          <p:nvPr/>
        </p:nvSpPr>
        <p:spPr>
          <a:xfrm>
            <a:off x="74472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48" name="Google Shape;248;p31"/>
          <p:cNvSpPr txBox="1"/>
          <p:nvPr/>
        </p:nvSpPr>
        <p:spPr>
          <a:xfrm>
            <a:off x="5945780" y="4059963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Dyad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9" name="Google Shape;249;p31"/>
          <p:cNvSpPr/>
          <p:nvPr/>
        </p:nvSpPr>
        <p:spPr>
          <a:xfrm>
            <a:off x="6197425" y="499325"/>
            <a:ext cx="1550400" cy="51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social tie!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50" name="Google Shape;250;p31"/>
          <p:cNvCxnSpPr>
            <a:stCxn id="249" idx="2"/>
          </p:cNvCxnSpPr>
          <p:nvPr/>
        </p:nvCxnSpPr>
        <p:spPr>
          <a:xfrm>
            <a:off x="6972625" y="1017725"/>
            <a:ext cx="2400" cy="64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56" name="Google Shape;256;p32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ties are the </a:t>
            </a:r>
            <a:r>
              <a:rPr b="1" lang="en"/>
              <a:t>fundamental units</a:t>
            </a:r>
            <a:r>
              <a:rPr lang="en"/>
              <a:t> of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the atom is to physics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the cell is to biology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b="1" lang="en"/>
              <a:t>different types</a:t>
            </a:r>
            <a:r>
              <a:rPr lang="en"/>
              <a:t> of social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networks are </a:t>
            </a:r>
            <a:r>
              <a:rPr i="1" lang="en"/>
              <a:t>built up</a:t>
            </a:r>
            <a:r>
              <a:rPr lang="en"/>
              <a:t> from a </a:t>
            </a:r>
            <a:r>
              <a:rPr b="1" lang="en"/>
              <a:t>concatenation </a:t>
            </a:r>
            <a:r>
              <a:rPr lang="en"/>
              <a:t>of social ties</a:t>
            </a:r>
            <a:endParaRPr/>
          </a:p>
        </p:txBody>
      </p:sp>
      <p:sp>
        <p:nvSpPr>
          <p:cNvPr id="257" name="Google Shape;257;p32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58" name="Google Shape;258;p32"/>
          <p:cNvCxnSpPr>
            <a:stCxn id="257" idx="6"/>
            <a:endCxn id="259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32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0" name="Google Shape;260;p32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1" name="Google Shape;261;p32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62" name="Google Shape;262;p32"/>
          <p:cNvSpPr/>
          <p:nvPr/>
        </p:nvSpPr>
        <p:spPr>
          <a:xfrm>
            <a:off x="6197425" y="499325"/>
            <a:ext cx="1550400" cy="51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social tie!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63" name="Google Shape;263;p32"/>
          <p:cNvCxnSpPr>
            <a:stCxn id="262" idx="2"/>
          </p:cNvCxnSpPr>
          <p:nvPr/>
        </p:nvCxnSpPr>
        <p:spPr>
          <a:xfrm>
            <a:off x="6972625" y="1017725"/>
            <a:ext cx="2400" cy="64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4" name="Google Shape;264;p32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Dyad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32"/>
          <p:cNvSpPr txBox="1"/>
          <p:nvPr/>
        </p:nvSpPr>
        <p:spPr>
          <a:xfrm>
            <a:off x="5946980" y="4059963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Dyad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266" name="Google Shape;266;p32"/>
          <p:cNvCxnSpPr/>
          <p:nvPr/>
        </p:nvCxnSpPr>
        <p:spPr>
          <a:xfrm>
            <a:off x="6049513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32"/>
          <p:cNvCxnSpPr/>
          <p:nvPr/>
        </p:nvCxnSpPr>
        <p:spPr>
          <a:xfrm>
            <a:off x="7895718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73" name="Google Shape;273;p33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ties are the </a:t>
            </a:r>
            <a:r>
              <a:rPr b="1" lang="en"/>
              <a:t>fundamental units</a:t>
            </a:r>
            <a:r>
              <a:rPr lang="en"/>
              <a:t> of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Like the atom is to physics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Or the cell is to biology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</a:t>
            </a:r>
            <a:r>
              <a:rPr b="1" lang="en"/>
              <a:t>different types</a:t>
            </a:r>
            <a:r>
              <a:rPr lang="en"/>
              <a:t> of social 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Social networks are </a:t>
            </a:r>
            <a:r>
              <a:rPr i="1" lang="en"/>
              <a:t>built up</a:t>
            </a:r>
            <a:r>
              <a:rPr lang="en"/>
              <a:t> from a </a:t>
            </a:r>
            <a:r>
              <a:rPr b="1" lang="en"/>
              <a:t>concatenation </a:t>
            </a:r>
            <a:r>
              <a:rPr lang="en"/>
              <a:t>of social 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the absences (lack of ties) matter too!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3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75" name="Google Shape;275;p33"/>
          <p:cNvCxnSpPr>
            <a:stCxn id="274" idx="6"/>
            <a:endCxn id="276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3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7" name="Google Shape;277;p33"/>
          <p:cNvSpPr txBox="1"/>
          <p:nvPr/>
        </p:nvSpPr>
        <p:spPr>
          <a:xfrm>
            <a:off x="6180913" y="2237950"/>
            <a:ext cx="158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Dyad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56010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79" name="Google Shape;279;p33"/>
          <p:cNvSpPr/>
          <p:nvPr/>
        </p:nvSpPr>
        <p:spPr>
          <a:xfrm>
            <a:off x="74472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80" name="Google Shape;280;p33"/>
          <p:cNvSpPr txBox="1"/>
          <p:nvPr/>
        </p:nvSpPr>
        <p:spPr>
          <a:xfrm>
            <a:off x="6133728" y="4059975"/>
            <a:ext cx="15834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Dyad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1" name="Google Shape;281;p33"/>
          <p:cNvSpPr/>
          <p:nvPr/>
        </p:nvSpPr>
        <p:spPr>
          <a:xfrm>
            <a:off x="6197425" y="499325"/>
            <a:ext cx="1550400" cy="51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social tie!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82" name="Google Shape;282;p33"/>
          <p:cNvCxnSpPr>
            <a:stCxn id="281" idx="2"/>
          </p:cNvCxnSpPr>
          <p:nvPr/>
        </p:nvCxnSpPr>
        <p:spPr>
          <a:xfrm>
            <a:off x="6972625" y="1017725"/>
            <a:ext cx="2400" cy="64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83" name="Google Shape;283;p33"/>
          <p:cNvCxnSpPr>
            <a:stCxn id="274" idx="4"/>
            <a:endCxn id="278" idx="0"/>
          </p:cNvCxnSpPr>
          <p:nvPr/>
        </p:nvCxnSpPr>
        <p:spPr>
          <a:xfrm>
            <a:off x="6049513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4" name="Google Shape;284;p33"/>
          <p:cNvCxnSpPr>
            <a:stCxn id="276" idx="4"/>
            <a:endCxn id="279" idx="0"/>
          </p:cNvCxnSpPr>
          <p:nvPr/>
        </p:nvCxnSpPr>
        <p:spPr>
          <a:xfrm>
            <a:off x="7895718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Dyads in Social Networks</a:t>
            </a:r>
            <a:endParaRPr/>
          </a:p>
        </p:txBody>
      </p:sp>
      <p:sp>
        <p:nvSpPr>
          <p:cNvPr id="290" name="Google Shape;290;p34"/>
          <p:cNvSpPr txBox="1"/>
          <p:nvPr>
            <p:ph idx="1" type="body"/>
          </p:nvPr>
        </p:nvSpPr>
        <p:spPr>
          <a:xfrm>
            <a:off x="311700" y="1225225"/>
            <a:ext cx="4162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ways to classify social ties in networks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either use: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Sociological Criteria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Graph Theory Criteria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also </a:t>
            </a:r>
            <a:r>
              <a:rPr i="1" lang="en"/>
              <a:t>combine the two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Sociology + Graph theory =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Social Network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4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292" name="Google Shape;292;p34"/>
          <p:cNvCxnSpPr>
            <a:stCxn id="291" idx="6"/>
            <a:endCxn id="293" idx="2"/>
          </p:cNvCxnSpPr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" name="Google Shape;293;p34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Dyad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E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297" name="Google Shape;297;p34"/>
          <p:cNvSpPr txBox="1"/>
          <p:nvPr/>
        </p:nvSpPr>
        <p:spPr>
          <a:xfrm>
            <a:off x="5946980" y="4059963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Disconnected Dyad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8" name="Google Shape;298;p34"/>
          <p:cNvSpPr/>
          <p:nvPr/>
        </p:nvSpPr>
        <p:spPr>
          <a:xfrm>
            <a:off x="6197425" y="499325"/>
            <a:ext cx="1550400" cy="5184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social tie!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299" name="Google Shape;299;p34"/>
          <p:cNvCxnSpPr>
            <a:stCxn id="298" idx="2"/>
          </p:cNvCxnSpPr>
          <p:nvPr/>
        </p:nvCxnSpPr>
        <p:spPr>
          <a:xfrm>
            <a:off x="6972625" y="1017725"/>
            <a:ext cx="2400" cy="641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0" name="Google Shape;300;p34"/>
          <p:cNvCxnSpPr/>
          <p:nvPr/>
        </p:nvCxnSpPr>
        <p:spPr>
          <a:xfrm>
            <a:off x="6049513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1" name="Google Shape;301;p34"/>
          <p:cNvCxnSpPr/>
          <p:nvPr/>
        </p:nvCxnSpPr>
        <p:spPr>
          <a:xfrm>
            <a:off x="7895718" y="2237938"/>
            <a:ext cx="0" cy="95160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07" name="Google Shape;307;p35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Similarities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13" name="Google Shape;313;p36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People are connected when they have something in common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19" name="Google Shape;319;p37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Three Types of Similarities</a:t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6812025" y="1388475"/>
            <a:ext cx="1497000" cy="343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Location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6812025" y="2775025"/>
            <a:ext cx="1497000" cy="343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Membership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22" name="Google Shape;322;p37"/>
          <p:cNvSpPr/>
          <p:nvPr/>
        </p:nvSpPr>
        <p:spPr>
          <a:xfrm>
            <a:off x="6842150" y="4062450"/>
            <a:ext cx="1497000" cy="343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Attribute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28" name="Google Shape;328;p38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Location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in the same place at the same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called </a:t>
            </a:r>
            <a:r>
              <a:rPr b="1" lang="en"/>
              <a:t>propinquity</a:t>
            </a:r>
            <a:endParaRPr b="1"/>
          </a:p>
        </p:txBody>
      </p:sp>
      <p:sp>
        <p:nvSpPr>
          <p:cNvPr id="329" name="Google Shape;329;p38"/>
          <p:cNvSpPr/>
          <p:nvPr/>
        </p:nvSpPr>
        <p:spPr>
          <a:xfrm>
            <a:off x="6812025" y="1388475"/>
            <a:ext cx="1497000" cy="343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Location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2025" y="2775025"/>
            <a:ext cx="1497000" cy="343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Membership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42150" y="4062450"/>
            <a:ext cx="1497000" cy="343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Attribute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4571988" y="2657263"/>
            <a:ext cx="597900" cy="5790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33" name="Google Shape;333;p38"/>
          <p:cNvCxnSpPr>
            <a:stCxn id="332" idx="6"/>
            <a:endCxn id="334" idx="2"/>
          </p:cNvCxnSpPr>
          <p:nvPr/>
        </p:nvCxnSpPr>
        <p:spPr>
          <a:xfrm>
            <a:off x="5169888" y="2946763"/>
            <a:ext cx="6330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4" name="Google Shape;334;p38"/>
          <p:cNvSpPr/>
          <p:nvPr/>
        </p:nvSpPr>
        <p:spPr>
          <a:xfrm>
            <a:off x="5802789" y="2657263"/>
            <a:ext cx="597900" cy="5790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4356925" y="2046650"/>
            <a:ext cx="2241000" cy="1706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Dua Lipa Concert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9"/>
          <p:cNvSpPr/>
          <p:nvPr/>
        </p:nvSpPr>
        <p:spPr>
          <a:xfrm>
            <a:off x="4356925" y="2046650"/>
            <a:ext cx="2241000" cy="1706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Sociology Major @UCLA</a:t>
            </a:r>
            <a:endParaRPr/>
          </a:p>
        </p:txBody>
      </p:sp>
      <p:sp>
        <p:nvSpPr>
          <p:cNvPr id="341" name="Google Shape;341;p3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42" name="Google Shape;342;p39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Membership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Belonging to the same group or organization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called </a:t>
            </a:r>
            <a:r>
              <a:rPr b="1" lang="en"/>
              <a:t>co-membership</a:t>
            </a:r>
            <a:endParaRPr b="1"/>
          </a:p>
        </p:txBody>
      </p:sp>
      <p:sp>
        <p:nvSpPr>
          <p:cNvPr id="343" name="Google Shape;343;p39"/>
          <p:cNvSpPr/>
          <p:nvPr/>
        </p:nvSpPr>
        <p:spPr>
          <a:xfrm>
            <a:off x="6812025" y="1388475"/>
            <a:ext cx="1497000" cy="343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Location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4" name="Google Shape;344;p39"/>
          <p:cNvSpPr/>
          <p:nvPr/>
        </p:nvSpPr>
        <p:spPr>
          <a:xfrm>
            <a:off x="6812025" y="2775025"/>
            <a:ext cx="1497000" cy="343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Membership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5" name="Google Shape;345;p39"/>
          <p:cNvSpPr/>
          <p:nvPr/>
        </p:nvSpPr>
        <p:spPr>
          <a:xfrm>
            <a:off x="6842150" y="4062450"/>
            <a:ext cx="1497000" cy="343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Attribute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46" name="Google Shape;346;p39"/>
          <p:cNvSpPr/>
          <p:nvPr/>
        </p:nvSpPr>
        <p:spPr>
          <a:xfrm>
            <a:off x="4571988" y="2657263"/>
            <a:ext cx="597900" cy="5790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47" name="Google Shape;347;p39"/>
          <p:cNvCxnSpPr>
            <a:stCxn id="346" idx="6"/>
            <a:endCxn id="348" idx="2"/>
          </p:cNvCxnSpPr>
          <p:nvPr/>
        </p:nvCxnSpPr>
        <p:spPr>
          <a:xfrm>
            <a:off x="5169888" y="2946763"/>
            <a:ext cx="6330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8" name="Google Shape;348;p39"/>
          <p:cNvSpPr/>
          <p:nvPr/>
        </p:nvSpPr>
        <p:spPr>
          <a:xfrm>
            <a:off x="5802789" y="2657263"/>
            <a:ext cx="597900" cy="5790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0"/>
          <p:cNvSpPr/>
          <p:nvPr/>
        </p:nvSpPr>
        <p:spPr>
          <a:xfrm>
            <a:off x="4356925" y="2046650"/>
            <a:ext cx="2241000" cy="17067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Born and Raised in LA</a:t>
            </a:r>
            <a:endParaRPr/>
          </a:p>
        </p:txBody>
      </p:sp>
      <p:sp>
        <p:nvSpPr>
          <p:cNvPr id="354" name="Google Shape;354;p4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do people share a social tie?</a:t>
            </a:r>
            <a:endParaRPr/>
          </a:p>
        </p:txBody>
      </p:sp>
      <p:sp>
        <p:nvSpPr>
          <p:cNvPr id="355" name="Google Shape;355;p40"/>
          <p:cNvSpPr txBox="1"/>
          <p:nvPr>
            <p:ph idx="1" type="body"/>
          </p:nvPr>
        </p:nvSpPr>
        <p:spPr>
          <a:xfrm>
            <a:off x="311700" y="1225225"/>
            <a:ext cx="4557000" cy="3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criteria network analysts use to say people are connected in a social network: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Role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Affect and Cognition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Attribute similarity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Sharing a given sociodemographic attribute or trait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Also called </a:t>
            </a:r>
            <a:r>
              <a:rPr b="1" lang="en"/>
              <a:t>homophily</a:t>
            </a:r>
            <a:endParaRPr b="1"/>
          </a:p>
        </p:txBody>
      </p:sp>
      <p:sp>
        <p:nvSpPr>
          <p:cNvPr id="356" name="Google Shape;356;p40"/>
          <p:cNvSpPr/>
          <p:nvPr/>
        </p:nvSpPr>
        <p:spPr>
          <a:xfrm>
            <a:off x="6812025" y="1388475"/>
            <a:ext cx="1497000" cy="343500"/>
          </a:xfrm>
          <a:prstGeom prst="rect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Location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7" name="Google Shape;357;p40"/>
          <p:cNvSpPr/>
          <p:nvPr/>
        </p:nvSpPr>
        <p:spPr>
          <a:xfrm>
            <a:off x="6812025" y="2775025"/>
            <a:ext cx="1497000" cy="343500"/>
          </a:xfrm>
          <a:prstGeom prst="rect">
            <a:avLst/>
          </a:prstGeom>
          <a:solidFill>
            <a:schemeClr val="accent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Membership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8" name="Google Shape;358;p40"/>
          <p:cNvSpPr/>
          <p:nvPr/>
        </p:nvSpPr>
        <p:spPr>
          <a:xfrm>
            <a:off x="6842150" y="4062450"/>
            <a:ext cx="1497000" cy="3435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Economica"/>
                <a:ea typeface="Economica"/>
                <a:cs typeface="Economica"/>
                <a:sym typeface="Economica"/>
              </a:rPr>
              <a:t>Attribute</a:t>
            </a:r>
            <a:endParaRPr sz="1800"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359" name="Google Shape;359;p40"/>
          <p:cNvSpPr/>
          <p:nvPr/>
        </p:nvSpPr>
        <p:spPr>
          <a:xfrm>
            <a:off x="4571988" y="2657263"/>
            <a:ext cx="597900" cy="5790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60" name="Google Shape;360;p40"/>
          <p:cNvCxnSpPr>
            <a:stCxn id="359" idx="6"/>
            <a:endCxn id="361" idx="2"/>
          </p:cNvCxnSpPr>
          <p:nvPr/>
        </p:nvCxnSpPr>
        <p:spPr>
          <a:xfrm>
            <a:off x="5169888" y="2946763"/>
            <a:ext cx="6330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1" name="Google Shape;361;p40"/>
          <p:cNvSpPr/>
          <p:nvPr/>
        </p:nvSpPr>
        <p:spPr>
          <a:xfrm>
            <a:off x="5802789" y="2657263"/>
            <a:ext cx="597900" cy="579000"/>
          </a:xfrm>
          <a:prstGeom prst="ellipse">
            <a:avLst/>
          </a:prstGeom>
          <a:solidFill>
            <a:schemeClr val="accent6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Linking sociological and graph theoretic types</a:t>
            </a:r>
            <a:endParaRPr/>
          </a:p>
        </p:txBody>
      </p:sp>
      <p:sp>
        <p:nvSpPr>
          <p:cNvPr id="367" name="Google Shape;367;p41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Different sociological types have different graph theoretic properties: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r>
              <a:rPr lang="en"/>
              <a:t> (propinquity, memberships) are by necessity </a:t>
            </a:r>
            <a:r>
              <a:rPr b="1" lang="en"/>
              <a:t>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i="1" lang="en"/>
              <a:t>If you are similar to someone they are also similar to you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role</a:t>
            </a:r>
            <a:r>
              <a:rPr lang="en"/>
              <a:t> </a:t>
            </a:r>
            <a:r>
              <a:rPr b="1" lang="en"/>
              <a:t>relations</a:t>
            </a:r>
            <a:r>
              <a:rPr lang="en"/>
              <a:t> are by necessity  </a:t>
            </a:r>
            <a:r>
              <a:rPr b="1" lang="en"/>
              <a:t>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friend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brother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other </a:t>
            </a:r>
            <a:r>
              <a:rPr b="1" lang="en"/>
              <a:t>role relations</a:t>
            </a:r>
            <a:r>
              <a:rPr lang="en"/>
              <a:t> are by necessity  </a:t>
            </a:r>
            <a:r>
              <a:rPr b="1" lang="en"/>
              <a:t>antisymmetric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boss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Being somebody’s parent 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</a:t>
            </a:r>
            <a:r>
              <a:rPr b="1" lang="en"/>
              <a:t>relationships</a:t>
            </a:r>
            <a:r>
              <a:rPr lang="en"/>
              <a:t> (e.g., cognitive, affective)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text without being texted back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Interaction and exchanges are necessarily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give advice without receiving it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373" name="Google Shape;373;p42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>
                <a:solidFill>
                  <a:srgbClr val="000000"/>
                </a:solidFill>
              </a:rPr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 b="1" i="1"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2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75" name="Google Shape;375;p42"/>
          <p:cNvCxnSpPr>
            <a:stCxn id="374" idx="6"/>
            <a:endCxn id="376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6" name="Google Shape;376;p42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77" name="Google Shape;377;p42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383" name="Google Shape;383;p43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5" name="Google Shape;385;p43"/>
          <p:cNvCxnSpPr>
            <a:stCxn id="384" idx="6"/>
            <a:endCxn id="386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6" name="Google Shape;386;p4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387" name="Google Shape;387;p43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88" name="Google Shape;388;p43"/>
          <p:cNvCxnSpPr>
            <a:stCxn id="387" idx="7"/>
            <a:endCxn id="389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389" name="Google Shape;389;p43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390" name="Google Shape;390;p43"/>
          <p:cNvCxnSpPr>
            <a:stCxn id="389" idx="3"/>
            <a:endCxn id="387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391" name="Google Shape;391;p43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398" name="Google Shape;398;p44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exists,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399" name="Google Shape;399;p44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0" name="Google Shape;400;p44"/>
          <p:cNvCxnSpPr>
            <a:stCxn id="399" idx="6"/>
            <a:endCxn id="40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1" name="Google Shape;401;p44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2" name="Google Shape;402;p44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3" name="Google Shape;403;p44"/>
          <p:cNvCxnSpPr>
            <a:stCxn id="402" idx="7"/>
            <a:endCxn id="404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4" name="Google Shape;404;p44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05" name="Google Shape;405;p44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6" name="Google Shape;406;p44"/>
          <p:cNvCxnSpPr>
            <a:stCxn id="405" idx="6"/>
            <a:endCxn id="407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07" name="Google Shape;407;p44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08" name="Google Shape;408;p44"/>
          <p:cNvCxnSpPr>
            <a:stCxn id="404" idx="3"/>
            <a:endCxn id="402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409" name="Google Shape;409;p44"/>
          <p:cNvSpPr txBox="1"/>
          <p:nvPr/>
        </p:nvSpPr>
        <p:spPr>
          <a:xfrm>
            <a:off x="6155675" y="461897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0" name="Google Shape;410;p44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11" name="Google Shape;411;p44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Tie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417" name="Google Shape;417;p45"/>
          <p:cNvSpPr txBox="1"/>
          <p:nvPr>
            <p:ph idx="1" type="body"/>
          </p:nvPr>
        </p:nvSpPr>
        <p:spPr>
          <a:xfrm>
            <a:off x="483325" y="1147225"/>
            <a:ext cx="46191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 </a:t>
            </a:r>
            <a:r>
              <a:rPr lang="en"/>
              <a:t>ties can be of two kinds: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0000FF"/>
                </a:solidFill>
              </a:rPr>
              <a:t>Reciprocal</a:t>
            </a:r>
            <a:r>
              <a:rPr lang="en"/>
              <a:t>: If edges going in both directions exist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like me and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 and I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Nonreciprocal</a:t>
            </a:r>
            <a:r>
              <a:rPr lang="en">
                <a:solidFill>
                  <a:srgbClr val="FF0000"/>
                </a:solidFill>
              </a:rPr>
              <a:t>:</a:t>
            </a:r>
            <a:r>
              <a:rPr lang="en"/>
              <a:t> Edges only go in one direction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don’t like me, but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me, but I don’t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Reciprocity is only defined for asymmetric ties!</a:t>
            </a:r>
            <a:endParaRPr i="1"/>
          </a:p>
        </p:txBody>
      </p:sp>
      <p:sp>
        <p:nvSpPr>
          <p:cNvPr id="418" name="Google Shape;418;p45"/>
          <p:cNvSpPr/>
          <p:nvPr/>
        </p:nvSpPr>
        <p:spPr>
          <a:xfrm>
            <a:off x="5727883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19" name="Google Shape;419;p45"/>
          <p:cNvCxnSpPr>
            <a:stCxn id="418" idx="7"/>
            <a:endCxn id="420" idx="1"/>
          </p:cNvCxnSpPr>
          <p:nvPr/>
        </p:nvCxnSpPr>
        <p:spPr>
          <a:xfrm>
            <a:off x="6397239" y="176885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0" name="Google Shape;420;p45"/>
          <p:cNvSpPr/>
          <p:nvPr/>
        </p:nvSpPr>
        <p:spPr>
          <a:xfrm>
            <a:off x="7341784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1" name="Google Shape;421;p45"/>
          <p:cNvCxnSpPr>
            <a:stCxn id="420" idx="3"/>
            <a:endCxn id="418" idx="5"/>
          </p:cNvCxnSpPr>
          <p:nvPr/>
        </p:nvCxnSpPr>
        <p:spPr>
          <a:xfrm rot="10800000">
            <a:off x="6397327" y="230724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2" name="Google Shape;422;p45"/>
          <p:cNvSpPr txBox="1"/>
          <p:nvPr/>
        </p:nvSpPr>
        <p:spPr>
          <a:xfrm>
            <a:off x="6155525" y="2418792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Tie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3" name="Google Shape;423;p45"/>
          <p:cNvSpPr/>
          <p:nvPr/>
        </p:nvSpPr>
        <p:spPr>
          <a:xfrm>
            <a:off x="5727933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424" name="Google Shape;424;p45"/>
          <p:cNvCxnSpPr>
            <a:stCxn id="423" idx="7"/>
            <a:endCxn id="425" idx="1"/>
          </p:cNvCxnSpPr>
          <p:nvPr/>
        </p:nvCxnSpPr>
        <p:spPr>
          <a:xfrm>
            <a:off x="6397289" y="3098795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25" name="Google Shape;425;p45"/>
          <p:cNvSpPr/>
          <p:nvPr/>
        </p:nvSpPr>
        <p:spPr>
          <a:xfrm>
            <a:off x="7341834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426" name="Google Shape;426;p45"/>
          <p:cNvSpPr txBox="1"/>
          <p:nvPr/>
        </p:nvSpPr>
        <p:spPr>
          <a:xfrm>
            <a:off x="6155575" y="3748729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Tie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6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6" name="Google Shape;436;p47"/>
          <p:cNvCxnSpPr>
            <a:stCxn id="437" idx="2"/>
            <a:endCxn id="438" idx="0"/>
          </p:cNvCxnSpPr>
          <p:nvPr/>
        </p:nvCxnSpPr>
        <p:spPr>
          <a:xfrm rot="5400000">
            <a:off x="2914525" y="-458525"/>
            <a:ext cx="569100" cy="25284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37" name="Google Shape;437;p47"/>
          <p:cNvSpPr/>
          <p:nvPr/>
        </p:nvSpPr>
        <p:spPr>
          <a:xfrm>
            <a:off x="2800825" y="31525"/>
            <a:ext cx="33249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Do the edges of the graph have a value attached to them?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940225" y="1090275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39" name="Google Shape;439;p47"/>
          <p:cNvSpPr/>
          <p:nvPr/>
        </p:nvSpPr>
        <p:spPr>
          <a:xfrm>
            <a:off x="5455050" y="1090275"/>
            <a:ext cx="1989000" cy="6216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40" name="Google Shape;440;p47"/>
          <p:cNvCxnSpPr>
            <a:stCxn id="437" idx="2"/>
            <a:endCxn id="439" idx="0"/>
          </p:cNvCxnSpPr>
          <p:nvPr/>
        </p:nvCxnSpPr>
        <p:spPr>
          <a:xfrm flipH="1" rot="-5400000">
            <a:off x="5171875" y="-187475"/>
            <a:ext cx="569100" cy="19863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1" name="Google Shape;441;p47"/>
          <p:cNvSpPr txBox="1"/>
          <p:nvPr/>
        </p:nvSpPr>
        <p:spPr>
          <a:xfrm>
            <a:off x="3163450" y="605046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2" name="Google Shape;442;p47"/>
          <p:cNvSpPr txBox="1"/>
          <p:nvPr/>
        </p:nvSpPr>
        <p:spPr>
          <a:xfrm>
            <a:off x="5194994" y="605038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1167925" y="1981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444" name="Google Shape;444;p47"/>
          <p:cNvCxnSpPr>
            <a:stCxn id="438" idx="2"/>
            <a:endCxn id="443" idx="0"/>
          </p:cNvCxnSpPr>
          <p:nvPr/>
        </p:nvCxnSpPr>
        <p:spPr>
          <a:xfrm flipH="1" rot="-5400000">
            <a:off x="1800325" y="1846275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45" name="Google Shape;445;p47"/>
          <p:cNvCxnSpPr>
            <a:stCxn id="443" idx="2"/>
            <a:endCxn id="446" idx="0"/>
          </p:cNvCxnSpPr>
          <p:nvPr/>
        </p:nvCxnSpPr>
        <p:spPr>
          <a:xfrm rot="5400000">
            <a:off x="1087525" y="2306163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7"/>
          <p:cNvCxnSpPr>
            <a:stCxn id="443" idx="2"/>
            <a:endCxn id="448" idx="0"/>
          </p:cNvCxnSpPr>
          <p:nvPr/>
        </p:nvCxnSpPr>
        <p:spPr>
          <a:xfrm flipH="1" rot="-5400000">
            <a:off x="1975225" y="2430363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46" name="Google Shape;446;p47"/>
          <p:cNvSpPr/>
          <p:nvPr/>
        </p:nvSpPr>
        <p:spPr>
          <a:xfrm>
            <a:off x="33175" y="3153500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816375" y="4117725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1935325" y="3157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50" name="Google Shape;450;p47"/>
          <p:cNvCxnSpPr>
            <a:stCxn id="448" idx="2"/>
            <a:endCxn id="449" idx="0"/>
          </p:cNvCxnSpPr>
          <p:nvPr/>
        </p:nvCxnSpPr>
        <p:spPr>
          <a:xfrm rot="5400000">
            <a:off x="1968625" y="3384363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7"/>
          <p:cNvCxnSpPr>
            <a:stCxn id="448" idx="2"/>
            <a:endCxn id="452" idx="0"/>
          </p:cNvCxnSpPr>
          <p:nvPr/>
        </p:nvCxnSpPr>
        <p:spPr>
          <a:xfrm flipH="1" rot="-5400000">
            <a:off x="2296975" y="4052013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2" name="Google Shape;452;p47"/>
          <p:cNvSpPr/>
          <p:nvPr/>
        </p:nvSpPr>
        <p:spPr>
          <a:xfrm>
            <a:off x="1812475" y="4457725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53" name="Google Shape;453;p47"/>
          <p:cNvSpPr/>
          <p:nvPr/>
        </p:nvSpPr>
        <p:spPr>
          <a:xfrm>
            <a:off x="5065350" y="1986338"/>
            <a:ext cx="27684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454" name="Google Shape;454;p47"/>
          <p:cNvCxnSpPr>
            <a:stCxn id="439" idx="2"/>
            <a:endCxn id="453" idx="0"/>
          </p:cNvCxnSpPr>
          <p:nvPr/>
        </p:nvCxnSpPr>
        <p:spPr>
          <a:xfrm flipH="1" rot="-5400000">
            <a:off x="6312600" y="1848825"/>
            <a:ext cx="2745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55" name="Google Shape;455;p47"/>
          <p:cNvCxnSpPr>
            <a:stCxn id="453" idx="2"/>
            <a:endCxn id="456" idx="0"/>
          </p:cNvCxnSpPr>
          <p:nvPr/>
        </p:nvCxnSpPr>
        <p:spPr>
          <a:xfrm rot="5400000">
            <a:off x="5652750" y="2161838"/>
            <a:ext cx="482700" cy="11109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56" name="Google Shape;456;p47"/>
          <p:cNvSpPr/>
          <p:nvPr/>
        </p:nvSpPr>
        <p:spPr>
          <a:xfrm>
            <a:off x="4571988" y="2958525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57" name="Google Shape;457;p47"/>
          <p:cNvCxnSpPr>
            <a:stCxn id="456" idx="2"/>
            <a:endCxn id="458" idx="0"/>
          </p:cNvCxnSpPr>
          <p:nvPr/>
        </p:nvCxnSpPr>
        <p:spPr>
          <a:xfrm rot="5400000">
            <a:off x="4652088" y="3077325"/>
            <a:ext cx="315900" cy="10575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8" name="Google Shape;458;p47"/>
          <p:cNvSpPr/>
          <p:nvPr/>
        </p:nvSpPr>
        <p:spPr>
          <a:xfrm>
            <a:off x="3391650" y="3764063"/>
            <a:ext cx="1779300" cy="7101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59" name="Google Shape;459;p47"/>
          <p:cNvCxnSpPr>
            <a:stCxn id="453" idx="2"/>
            <a:endCxn id="460" idx="0"/>
          </p:cNvCxnSpPr>
          <p:nvPr/>
        </p:nvCxnSpPr>
        <p:spPr>
          <a:xfrm flipH="1" rot="-5400000">
            <a:off x="6671550" y="2253938"/>
            <a:ext cx="492300" cy="936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60" name="Google Shape;460;p47"/>
          <p:cNvSpPr/>
          <p:nvPr/>
        </p:nvSpPr>
        <p:spPr>
          <a:xfrm>
            <a:off x="6619075" y="2968200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61" name="Google Shape;461;p47"/>
          <p:cNvSpPr/>
          <p:nvPr/>
        </p:nvSpPr>
        <p:spPr>
          <a:xfrm>
            <a:off x="4449138" y="4117725"/>
            <a:ext cx="1779300" cy="7101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62" name="Google Shape;462;p47"/>
          <p:cNvSpPr/>
          <p:nvPr/>
        </p:nvSpPr>
        <p:spPr>
          <a:xfrm>
            <a:off x="5596425" y="4430000"/>
            <a:ext cx="1779300" cy="7101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63" name="Google Shape;463;p47"/>
          <p:cNvSpPr/>
          <p:nvPr/>
        </p:nvSpPr>
        <p:spPr>
          <a:xfrm>
            <a:off x="7364700" y="4429975"/>
            <a:ext cx="1779300" cy="7101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64" name="Google Shape;464;p47"/>
          <p:cNvCxnSpPr>
            <a:stCxn id="460" idx="2"/>
            <a:endCxn id="462" idx="0"/>
          </p:cNvCxnSpPr>
          <p:nvPr/>
        </p:nvCxnSpPr>
        <p:spPr>
          <a:xfrm rot="5400000">
            <a:off x="6449875" y="3494100"/>
            <a:ext cx="972300" cy="8997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47"/>
          <p:cNvCxnSpPr>
            <a:stCxn id="460" idx="2"/>
            <a:endCxn id="463" idx="0"/>
          </p:cNvCxnSpPr>
          <p:nvPr/>
        </p:nvCxnSpPr>
        <p:spPr>
          <a:xfrm flipH="1" rot="-5400000">
            <a:off x="7333975" y="3509700"/>
            <a:ext cx="972300" cy="8685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6" name="Google Shape;466;p47"/>
          <p:cNvSpPr txBox="1"/>
          <p:nvPr/>
        </p:nvSpPr>
        <p:spPr>
          <a:xfrm>
            <a:off x="1912525" y="3785238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67" name="Google Shape;467;p47"/>
          <p:cNvSpPr txBox="1"/>
          <p:nvPr/>
        </p:nvSpPr>
        <p:spPr>
          <a:xfrm>
            <a:off x="2490617" y="4079497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68" name="Google Shape;468;p47"/>
          <p:cNvSpPr txBox="1"/>
          <p:nvPr/>
        </p:nvSpPr>
        <p:spPr>
          <a:xfrm>
            <a:off x="6811838" y="385599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69" name="Google Shape;469;p47"/>
          <p:cNvCxnSpPr>
            <a:stCxn id="456" idx="2"/>
            <a:endCxn id="461" idx="0"/>
          </p:cNvCxnSpPr>
          <p:nvPr/>
        </p:nvCxnSpPr>
        <p:spPr>
          <a:xfrm>
            <a:off x="5338788" y="3448125"/>
            <a:ext cx="0" cy="6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7"/>
          <p:cNvSpPr txBox="1"/>
          <p:nvPr/>
        </p:nvSpPr>
        <p:spPr>
          <a:xfrm>
            <a:off x="5732900" y="2629188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1" name="Google Shape;471;p47"/>
          <p:cNvSpPr txBox="1"/>
          <p:nvPr/>
        </p:nvSpPr>
        <p:spPr>
          <a:xfrm>
            <a:off x="6734750" y="2634031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2" name="Google Shape;472;p47"/>
          <p:cNvSpPr txBox="1"/>
          <p:nvPr/>
        </p:nvSpPr>
        <p:spPr>
          <a:xfrm>
            <a:off x="1311000" y="269434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3" name="Google Shape;473;p47"/>
          <p:cNvSpPr txBox="1"/>
          <p:nvPr/>
        </p:nvSpPr>
        <p:spPr>
          <a:xfrm>
            <a:off x="5150550" y="38168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4" name="Google Shape;474;p47"/>
          <p:cNvSpPr txBox="1"/>
          <p:nvPr/>
        </p:nvSpPr>
        <p:spPr>
          <a:xfrm>
            <a:off x="2122975" y="269433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5" name="Google Shape;475;p47"/>
          <p:cNvSpPr txBox="1"/>
          <p:nvPr/>
        </p:nvSpPr>
        <p:spPr>
          <a:xfrm>
            <a:off x="7644575" y="38130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76" name="Google Shape;476;p47"/>
          <p:cNvSpPr txBox="1"/>
          <p:nvPr/>
        </p:nvSpPr>
        <p:spPr>
          <a:xfrm>
            <a:off x="4571275" y="3518210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Non-Valued Graphs in Social Networks</a:t>
            </a:r>
            <a:endParaRPr/>
          </a:p>
        </p:txBody>
      </p:sp>
      <p:sp>
        <p:nvSpPr>
          <p:cNvPr id="482" name="Google Shape;482;p48"/>
          <p:cNvSpPr txBox="1"/>
          <p:nvPr>
            <p:ph idx="1" type="body"/>
          </p:nvPr>
        </p:nvSpPr>
        <p:spPr>
          <a:xfrm>
            <a:off x="311700" y="1225225"/>
            <a:ext cx="5119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non-valued </a:t>
            </a:r>
            <a:r>
              <a:rPr lang="en"/>
              <a:t>graphs represent the </a:t>
            </a:r>
            <a:r>
              <a:rPr b="1" lang="en"/>
              <a:t>presence</a:t>
            </a:r>
            <a:r>
              <a:rPr lang="en"/>
              <a:t> or </a:t>
            </a:r>
            <a:r>
              <a:rPr b="1" lang="en"/>
              <a:t>absence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Either a relation is there or not!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only thing we know is whether there is </a:t>
            </a:r>
            <a:r>
              <a:rPr b="1" lang="en"/>
              <a:t>directionality </a:t>
            </a:r>
            <a:r>
              <a:rPr lang="en"/>
              <a:t>to the social relationship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options: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Directionality is </a:t>
            </a:r>
            <a:r>
              <a:rPr b="1" lang="en"/>
              <a:t>meaningful</a:t>
            </a:r>
            <a:r>
              <a:rPr lang="en"/>
              <a:t> to characterizing the tie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Directionality is </a:t>
            </a:r>
            <a:r>
              <a:rPr b="1" lang="en"/>
              <a:t>meaningless</a:t>
            </a:r>
            <a:endParaRPr b="1"/>
          </a:p>
        </p:txBody>
      </p:sp>
      <p:sp>
        <p:nvSpPr>
          <p:cNvPr id="483" name="Google Shape;483;p48"/>
          <p:cNvSpPr/>
          <p:nvPr/>
        </p:nvSpPr>
        <p:spPr>
          <a:xfrm>
            <a:off x="6393450" y="996696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84" name="Google Shape;484;p48"/>
          <p:cNvSpPr/>
          <p:nvPr/>
        </p:nvSpPr>
        <p:spPr>
          <a:xfrm>
            <a:off x="6621150" y="1887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485" name="Google Shape;485;p48"/>
          <p:cNvCxnSpPr>
            <a:stCxn id="483" idx="2"/>
            <a:endCxn id="484" idx="0"/>
          </p:cNvCxnSpPr>
          <p:nvPr/>
        </p:nvCxnSpPr>
        <p:spPr>
          <a:xfrm flipH="1" rot="-5400000">
            <a:off x="7253550" y="1752696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486" name="Google Shape;486;p48"/>
          <p:cNvCxnSpPr>
            <a:stCxn id="484" idx="2"/>
            <a:endCxn id="487" idx="0"/>
          </p:cNvCxnSpPr>
          <p:nvPr/>
        </p:nvCxnSpPr>
        <p:spPr>
          <a:xfrm rot="5400000">
            <a:off x="6540750" y="2212584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8" name="Google Shape;488;p48"/>
          <p:cNvCxnSpPr>
            <a:stCxn id="484" idx="2"/>
            <a:endCxn id="489" idx="0"/>
          </p:cNvCxnSpPr>
          <p:nvPr/>
        </p:nvCxnSpPr>
        <p:spPr>
          <a:xfrm flipH="1" rot="-5400000">
            <a:off x="7428450" y="2336784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487" name="Google Shape;487;p48"/>
          <p:cNvSpPr/>
          <p:nvPr/>
        </p:nvSpPr>
        <p:spPr>
          <a:xfrm>
            <a:off x="5486400" y="3059921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90" name="Google Shape;490;p48"/>
          <p:cNvSpPr/>
          <p:nvPr/>
        </p:nvSpPr>
        <p:spPr>
          <a:xfrm>
            <a:off x="6269600" y="4024146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89" name="Google Shape;489;p48"/>
          <p:cNvSpPr/>
          <p:nvPr/>
        </p:nvSpPr>
        <p:spPr>
          <a:xfrm>
            <a:off x="7388550" y="3063684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491" name="Google Shape;491;p48"/>
          <p:cNvCxnSpPr>
            <a:stCxn id="489" idx="2"/>
            <a:endCxn id="490" idx="0"/>
          </p:cNvCxnSpPr>
          <p:nvPr/>
        </p:nvCxnSpPr>
        <p:spPr>
          <a:xfrm rot="5400000">
            <a:off x="7421850" y="3290784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48"/>
          <p:cNvCxnSpPr>
            <a:stCxn id="489" idx="2"/>
            <a:endCxn id="493" idx="0"/>
          </p:cNvCxnSpPr>
          <p:nvPr/>
        </p:nvCxnSpPr>
        <p:spPr>
          <a:xfrm flipH="1" rot="-5400000">
            <a:off x="7750200" y="3958434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3" name="Google Shape;493;p48"/>
          <p:cNvSpPr/>
          <p:nvPr/>
        </p:nvSpPr>
        <p:spPr>
          <a:xfrm>
            <a:off x="7265700" y="4364146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94" name="Google Shape;494;p48"/>
          <p:cNvSpPr txBox="1"/>
          <p:nvPr/>
        </p:nvSpPr>
        <p:spPr>
          <a:xfrm>
            <a:off x="7365750" y="3691659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95" name="Google Shape;495;p48"/>
          <p:cNvSpPr txBox="1"/>
          <p:nvPr/>
        </p:nvSpPr>
        <p:spPr>
          <a:xfrm>
            <a:off x="7943842" y="3985918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96" name="Google Shape;496;p48"/>
          <p:cNvSpPr txBox="1"/>
          <p:nvPr/>
        </p:nvSpPr>
        <p:spPr>
          <a:xfrm>
            <a:off x="6764225" y="260076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497" name="Google Shape;497;p48"/>
          <p:cNvSpPr txBox="1"/>
          <p:nvPr/>
        </p:nvSpPr>
        <p:spPr>
          <a:xfrm>
            <a:off x="7576200" y="2600758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9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5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08" name="Google Shape;508;p50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50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10" name="Google Shape;510;p50"/>
          <p:cNvCxnSpPr>
            <a:stCxn id="509" idx="6"/>
            <a:endCxn id="51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50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12" name="Google Shape;512;p50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18" name="Google Shape;518;p51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0" lvl="0" marL="4572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1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0" name="Google Shape;520;p51"/>
          <p:cNvCxnSpPr>
            <a:stCxn id="519" idx="6"/>
            <a:endCxn id="521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1" name="Google Shape;521;p51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22" name="Google Shape;522;p51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3" name="Google Shape;523;p51"/>
          <p:cNvCxnSpPr>
            <a:stCxn id="522" idx="7"/>
            <a:endCxn id="524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24" name="Google Shape;524;p51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25" name="Google Shape;525;p51"/>
          <p:cNvCxnSpPr>
            <a:stCxn id="524" idx="3"/>
            <a:endCxn id="522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26" name="Google Shape;526;p51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27" name="Google Shape;527;p51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33" name="Google Shape;533;p52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534" name="Google Shape;534;p52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5" name="Google Shape;535;p52"/>
          <p:cNvCxnSpPr>
            <a:stCxn id="534" idx="6"/>
            <a:endCxn id="536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6" name="Google Shape;536;p52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37" name="Google Shape;537;p52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38" name="Google Shape;538;p52"/>
          <p:cNvCxnSpPr>
            <a:stCxn id="537" idx="7"/>
            <a:endCxn id="539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39" name="Google Shape;539;p52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40" name="Google Shape;540;p52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1" name="Google Shape;541;p52"/>
          <p:cNvCxnSpPr>
            <a:stCxn id="540" idx="6"/>
            <a:endCxn id="542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42" name="Google Shape;542;p52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43" name="Google Shape;543;p52"/>
          <p:cNvCxnSpPr>
            <a:stCxn id="539" idx="3"/>
            <a:endCxn id="537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44" name="Google Shape;544;p52"/>
          <p:cNvSpPr txBox="1"/>
          <p:nvPr/>
        </p:nvSpPr>
        <p:spPr>
          <a:xfrm>
            <a:off x="6059925" y="4656625"/>
            <a:ext cx="179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5" name="Google Shape;545;p52"/>
          <p:cNvSpPr txBox="1"/>
          <p:nvPr/>
        </p:nvSpPr>
        <p:spPr>
          <a:xfrm>
            <a:off x="6155575" y="3379600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6" name="Google Shape;546;p52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52" name="Google Shape;552;p53"/>
          <p:cNvSpPr txBox="1"/>
          <p:nvPr>
            <p:ph idx="1" type="body"/>
          </p:nvPr>
        </p:nvSpPr>
        <p:spPr>
          <a:xfrm>
            <a:off x="483325" y="1147225"/>
            <a:ext cx="35103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</a:pPr>
            <a:r>
              <a:rPr b="1" lang="en"/>
              <a:t>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is </a:t>
            </a:r>
            <a:r>
              <a:rPr b="1" lang="en"/>
              <a:t>necessarily </a:t>
            </a:r>
            <a:r>
              <a:rPr lang="en"/>
              <a:t>linked to </a:t>
            </a:r>
            <a:r>
              <a:rPr b="1" i="1" lang="en"/>
              <a:t>A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if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it is </a:t>
            </a:r>
            <a:r>
              <a:rPr b="1" lang="en"/>
              <a:t>not </a:t>
            </a:r>
            <a:r>
              <a:rPr lang="en"/>
              <a:t>a </a:t>
            </a:r>
            <a:r>
              <a:rPr b="1" lang="en"/>
              <a:t>necessity </a:t>
            </a:r>
            <a:r>
              <a:rPr lang="en"/>
              <a:t>that b is linked to </a:t>
            </a:r>
            <a:r>
              <a:rPr b="1" i="1" lang="en"/>
              <a:t>A</a:t>
            </a:r>
            <a:r>
              <a:rPr lang="en"/>
              <a:t> (but can happen)</a:t>
            </a:r>
            <a:endParaRPr/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Antisymmetric </a:t>
            </a:r>
            <a:endParaRPr b="1"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it exists then is </a:t>
            </a:r>
            <a:r>
              <a:rPr b="1" i="1" lang="en"/>
              <a:t>A</a:t>
            </a:r>
            <a:r>
              <a:rPr lang="en"/>
              <a:t> is linked to </a:t>
            </a:r>
            <a:r>
              <a:rPr b="1" i="1" lang="en"/>
              <a:t>B</a:t>
            </a:r>
            <a:r>
              <a:rPr lang="en"/>
              <a:t>, then </a:t>
            </a:r>
            <a:r>
              <a:rPr b="1" i="1" lang="en"/>
              <a:t>B</a:t>
            </a:r>
            <a:r>
              <a:rPr lang="en"/>
              <a:t> </a:t>
            </a:r>
            <a:r>
              <a:rPr b="1" lang="en"/>
              <a:t>cannot by</a:t>
            </a:r>
            <a:r>
              <a:rPr lang="en"/>
              <a:t> </a:t>
            </a:r>
            <a:r>
              <a:rPr b="1" lang="en"/>
              <a:t>necessity </a:t>
            </a:r>
            <a:r>
              <a:rPr lang="en"/>
              <a:t>be linked to </a:t>
            </a:r>
            <a:r>
              <a:rPr b="1" i="1" lang="en"/>
              <a:t>A</a:t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57279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4" name="Google Shape;554;p53"/>
          <p:cNvCxnSpPr>
            <a:stCxn id="553" idx="6"/>
            <a:endCxn id="555" idx="2"/>
          </p:cNvCxnSpPr>
          <p:nvPr/>
        </p:nvCxnSpPr>
        <p:spPr>
          <a:xfrm>
            <a:off x="6512113" y="1813288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53"/>
          <p:cNvSpPr/>
          <p:nvPr/>
        </p:nvSpPr>
        <p:spPr>
          <a:xfrm>
            <a:off x="7341813" y="1432588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6" name="Google Shape;556;p53"/>
          <p:cNvSpPr/>
          <p:nvPr/>
        </p:nvSpPr>
        <p:spPr>
          <a:xfrm>
            <a:off x="5727933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57" name="Google Shape;557;p53"/>
          <p:cNvCxnSpPr>
            <a:stCxn id="556" idx="7"/>
            <a:endCxn id="558" idx="1"/>
          </p:cNvCxnSpPr>
          <p:nvPr/>
        </p:nvCxnSpPr>
        <p:spPr>
          <a:xfrm>
            <a:off x="6397289" y="272970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58" name="Google Shape;558;p53"/>
          <p:cNvSpPr/>
          <p:nvPr/>
        </p:nvSpPr>
        <p:spPr>
          <a:xfrm>
            <a:off x="7341834" y="261820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59" name="Google Shape;559;p53"/>
          <p:cNvSpPr/>
          <p:nvPr/>
        </p:nvSpPr>
        <p:spPr>
          <a:xfrm>
            <a:off x="5727883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0" name="Google Shape;560;p53"/>
          <p:cNvCxnSpPr>
            <a:stCxn id="559" idx="6"/>
            <a:endCxn id="561" idx="2"/>
          </p:cNvCxnSpPr>
          <p:nvPr/>
        </p:nvCxnSpPr>
        <p:spPr>
          <a:xfrm>
            <a:off x="6512083" y="4238272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61" name="Google Shape;561;p53"/>
          <p:cNvSpPr/>
          <p:nvPr/>
        </p:nvSpPr>
        <p:spPr>
          <a:xfrm>
            <a:off x="7341784" y="3857572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62" name="Google Shape;562;p53"/>
          <p:cNvCxnSpPr>
            <a:stCxn id="558" idx="3"/>
            <a:endCxn id="556" idx="5"/>
          </p:cNvCxnSpPr>
          <p:nvPr/>
        </p:nvCxnSpPr>
        <p:spPr>
          <a:xfrm rot="10800000">
            <a:off x="6397377" y="326809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563" name="Google Shape;563;p53"/>
          <p:cNvSpPr txBox="1"/>
          <p:nvPr/>
        </p:nvSpPr>
        <p:spPr>
          <a:xfrm>
            <a:off x="5924325" y="4635125"/>
            <a:ext cx="20661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One-Way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4" name="Google Shape;564;p53"/>
          <p:cNvSpPr txBox="1"/>
          <p:nvPr/>
        </p:nvSpPr>
        <p:spPr>
          <a:xfrm>
            <a:off x="5900475" y="3399375"/>
            <a:ext cx="211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Two-Way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5" name="Google Shape;565;p53"/>
          <p:cNvSpPr txBox="1"/>
          <p:nvPr/>
        </p:nvSpPr>
        <p:spPr>
          <a:xfrm>
            <a:off x="6186075" y="2163625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No Directionality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71" name="Google Shape;571;p54"/>
          <p:cNvSpPr txBox="1"/>
          <p:nvPr>
            <p:ph idx="1" type="body"/>
          </p:nvPr>
        </p:nvSpPr>
        <p:spPr>
          <a:xfrm>
            <a:off x="483325" y="1147225"/>
            <a:ext cx="4619100" cy="36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Asymmetric </a:t>
            </a:r>
            <a:r>
              <a:rPr lang="en"/>
              <a:t>edges can be of two kinds: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0000FF"/>
                </a:solidFill>
              </a:rPr>
              <a:t>Reciprocal</a:t>
            </a:r>
            <a:r>
              <a:rPr lang="en"/>
              <a:t>: If edges going in both directions exist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like me and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 and I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i="1" lang="en">
                <a:solidFill>
                  <a:srgbClr val="FF0000"/>
                </a:solidFill>
              </a:rPr>
              <a:t>Nonreciprocal</a:t>
            </a:r>
            <a:r>
              <a:rPr lang="en">
                <a:solidFill>
                  <a:srgbClr val="FF0000"/>
                </a:solidFill>
              </a:rPr>
              <a:t>:</a:t>
            </a:r>
            <a:r>
              <a:rPr lang="en"/>
              <a:t> Edges only go in one direction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don’t like me, but I like you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help me, but I don’t help you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i="1" lang="en"/>
              <a:t>Reciprocity is only defined for asymmetric edges!</a:t>
            </a:r>
            <a:endParaRPr i="1"/>
          </a:p>
        </p:txBody>
      </p:sp>
      <p:sp>
        <p:nvSpPr>
          <p:cNvPr id="572" name="Google Shape;572;p54"/>
          <p:cNvSpPr/>
          <p:nvPr/>
        </p:nvSpPr>
        <p:spPr>
          <a:xfrm>
            <a:off x="5727883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3" name="Google Shape;573;p54"/>
          <p:cNvCxnSpPr>
            <a:stCxn id="572" idx="7"/>
            <a:endCxn id="574" idx="1"/>
          </p:cNvCxnSpPr>
          <p:nvPr/>
        </p:nvCxnSpPr>
        <p:spPr>
          <a:xfrm>
            <a:off x="6397239" y="1768858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4" name="Google Shape;574;p54"/>
          <p:cNvSpPr/>
          <p:nvPr/>
        </p:nvSpPr>
        <p:spPr>
          <a:xfrm>
            <a:off x="7341784" y="1657353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5" name="Google Shape;575;p54"/>
          <p:cNvCxnSpPr>
            <a:stCxn id="574" idx="3"/>
            <a:endCxn id="572" idx="5"/>
          </p:cNvCxnSpPr>
          <p:nvPr/>
        </p:nvCxnSpPr>
        <p:spPr>
          <a:xfrm rot="10800000">
            <a:off x="6397327" y="2307249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6" name="Google Shape;576;p54"/>
          <p:cNvSpPr txBox="1"/>
          <p:nvPr/>
        </p:nvSpPr>
        <p:spPr>
          <a:xfrm>
            <a:off x="6155525" y="2418792"/>
            <a:ext cx="1542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Edge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7" name="Google Shape;577;p54"/>
          <p:cNvSpPr/>
          <p:nvPr/>
        </p:nvSpPr>
        <p:spPr>
          <a:xfrm>
            <a:off x="5727933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578" name="Google Shape;578;p54"/>
          <p:cNvCxnSpPr>
            <a:stCxn id="577" idx="7"/>
            <a:endCxn id="579" idx="1"/>
          </p:cNvCxnSpPr>
          <p:nvPr/>
        </p:nvCxnSpPr>
        <p:spPr>
          <a:xfrm>
            <a:off x="6397289" y="3098795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579" name="Google Shape;579;p54"/>
          <p:cNvSpPr/>
          <p:nvPr/>
        </p:nvSpPr>
        <p:spPr>
          <a:xfrm>
            <a:off x="7341834" y="2987291"/>
            <a:ext cx="784200" cy="761400"/>
          </a:xfrm>
          <a:prstGeom prst="ellipse">
            <a:avLst/>
          </a:prstGeom>
          <a:solidFill>
            <a:schemeClr val="lt2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580" name="Google Shape;580;p54"/>
          <p:cNvSpPr txBox="1"/>
          <p:nvPr/>
        </p:nvSpPr>
        <p:spPr>
          <a:xfrm>
            <a:off x="6064175" y="3748700"/>
            <a:ext cx="1725600" cy="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2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Edge</a:t>
            </a:r>
            <a:endParaRPr sz="12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in Graphs</a:t>
            </a:r>
            <a:endParaRPr/>
          </a:p>
        </p:txBody>
      </p:sp>
      <p:sp>
        <p:nvSpPr>
          <p:cNvPr id="586" name="Google Shape;586;p55"/>
          <p:cNvSpPr/>
          <p:nvPr/>
        </p:nvSpPr>
        <p:spPr>
          <a:xfrm>
            <a:off x="5814943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0E94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Antisymmetric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87" name="Google Shape;587;p55"/>
          <p:cNvCxnSpPr>
            <a:stCxn id="588" idx="2"/>
            <a:endCxn id="589" idx="0"/>
          </p:cNvCxnSpPr>
          <p:nvPr/>
        </p:nvCxnSpPr>
        <p:spPr>
          <a:xfrm rot="5400000">
            <a:off x="3140875" y="1053800"/>
            <a:ext cx="696000" cy="21678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8" name="Google Shape;588;p55"/>
          <p:cNvSpPr/>
          <p:nvPr/>
        </p:nvSpPr>
        <p:spPr>
          <a:xfrm>
            <a:off x="3355975" y="1116500"/>
            <a:ext cx="2433600" cy="6732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FFFFF"/>
              </a:gs>
              <a:gs pos="100000">
                <a:srgbClr val="B3B3B3"/>
              </a:gs>
            </a:gsLst>
            <a:lin ang="5400012" scaled="0"/>
          </a:gradFill>
          <a:ln cap="flat" cmpd="sng" w="28575">
            <a:solidFill>
              <a:srgbClr val="CC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Oxygen"/>
                <a:ea typeface="Oxygen"/>
                <a:cs typeface="Oxygen"/>
                <a:sym typeface="Oxygen"/>
              </a:rPr>
              <a:t>Edges</a:t>
            </a:r>
            <a:endParaRPr sz="2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89" name="Google Shape;589;p55"/>
          <p:cNvSpPr/>
          <p:nvPr/>
        </p:nvSpPr>
        <p:spPr>
          <a:xfrm>
            <a:off x="1480750" y="248583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28575">
            <a:solidFill>
              <a:srgbClr val="DD7E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Symmetric</a:t>
            </a:r>
            <a:endParaRPr b="1"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0" name="Google Shape;590;p55"/>
          <p:cNvCxnSpPr>
            <a:stCxn id="588" idx="2"/>
            <a:endCxn id="586" idx="0"/>
          </p:cNvCxnSpPr>
          <p:nvPr/>
        </p:nvCxnSpPr>
        <p:spPr>
          <a:xfrm flipH="1" rot="-5400000">
            <a:off x="5307925" y="1054550"/>
            <a:ext cx="696000" cy="2166300"/>
          </a:xfrm>
          <a:prstGeom prst="bentConnector3">
            <a:avLst>
              <a:gd fmla="val 50010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1" name="Google Shape;591;p55"/>
          <p:cNvSpPr/>
          <p:nvPr/>
        </p:nvSpPr>
        <p:spPr>
          <a:xfrm>
            <a:off x="3665818" y="2485988"/>
            <a:ext cx="1848300" cy="436800"/>
          </a:xfrm>
          <a:prstGeom prst="roundRect">
            <a:avLst>
              <a:gd fmla="val 16667" name="adj"/>
            </a:avLst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2857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Oxygen"/>
                <a:ea typeface="Oxygen"/>
                <a:cs typeface="Oxygen"/>
                <a:sym typeface="Oxygen"/>
              </a:rPr>
              <a:t>Asymmetric</a:t>
            </a:r>
            <a:endParaRPr sz="18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2" name="Google Shape;592;p55"/>
          <p:cNvCxnSpPr>
            <a:stCxn id="591" idx="2"/>
            <a:endCxn id="593" idx="0"/>
          </p:cNvCxnSpPr>
          <p:nvPr/>
        </p:nvCxnSpPr>
        <p:spPr>
          <a:xfrm flipH="1" rot="-5400000">
            <a:off x="4673068" y="2839688"/>
            <a:ext cx="1033500" cy="11997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4" name="Google Shape;594;p55"/>
          <p:cNvSpPr/>
          <p:nvPr/>
        </p:nvSpPr>
        <p:spPr>
          <a:xfrm>
            <a:off x="2650008" y="3956781"/>
            <a:ext cx="1673400" cy="501900"/>
          </a:xfrm>
          <a:prstGeom prst="ellipse">
            <a:avLst/>
          </a:prstGeom>
          <a:gradFill>
            <a:gsLst>
              <a:gs pos="0">
                <a:srgbClr val="DFE9FB"/>
              </a:gs>
              <a:gs pos="100000">
                <a:srgbClr val="6E9BE7"/>
              </a:gs>
            </a:gsLst>
            <a:lin ang="5400012" scaled="0"/>
          </a:gradFill>
          <a:ln cap="flat" cmpd="sng" w="2857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593" name="Google Shape;593;p55"/>
          <p:cNvSpPr/>
          <p:nvPr/>
        </p:nvSpPr>
        <p:spPr>
          <a:xfrm>
            <a:off x="4951204" y="3956313"/>
            <a:ext cx="1676700" cy="502800"/>
          </a:xfrm>
          <a:prstGeom prst="ellipse">
            <a:avLst/>
          </a:prstGeom>
          <a:gradFill>
            <a:gsLst>
              <a:gs pos="0">
                <a:srgbClr val="DBD4EB"/>
              </a:gs>
              <a:gs pos="100000">
                <a:srgbClr val="9180BB"/>
              </a:gs>
            </a:gsLst>
            <a:lin ang="5400012" scaled="0"/>
          </a:gradFill>
          <a:ln cap="flat" cmpd="sng" w="28575">
            <a:solidFill>
              <a:srgbClr val="B4A7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Oxygen"/>
                <a:ea typeface="Oxygen"/>
                <a:cs typeface="Oxygen"/>
                <a:sym typeface="Oxygen"/>
              </a:rPr>
              <a:t>Nonreciprocal</a:t>
            </a:r>
            <a:endParaRPr b="1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595" name="Google Shape;595;p55"/>
          <p:cNvCxnSpPr>
            <a:stCxn id="591" idx="2"/>
            <a:endCxn id="594" idx="0"/>
          </p:cNvCxnSpPr>
          <p:nvPr/>
        </p:nvCxnSpPr>
        <p:spPr>
          <a:xfrm rot="5400000">
            <a:off x="3521218" y="2888138"/>
            <a:ext cx="1034100" cy="1103400"/>
          </a:xfrm>
          <a:prstGeom prst="bentConnector3">
            <a:avLst>
              <a:gd fmla="val 49995" name="adj1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Edges and Types of Non-Valued Graphs</a:t>
            </a:r>
            <a:endParaRPr/>
          </a:p>
        </p:txBody>
      </p:sp>
      <p:sp>
        <p:nvSpPr>
          <p:cNvPr id="601" name="Google Shape;601;p56"/>
          <p:cNvSpPr/>
          <p:nvPr/>
        </p:nvSpPr>
        <p:spPr>
          <a:xfrm>
            <a:off x="6077421" y="99818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2" name="Google Shape;602;p56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03" name="Google Shape;603;p56"/>
          <p:cNvCxnSpPr>
            <a:stCxn id="601" idx="2"/>
            <a:endCxn id="602" idx="0"/>
          </p:cNvCxnSpPr>
          <p:nvPr/>
        </p:nvCxnSpPr>
        <p:spPr>
          <a:xfrm flipH="1" rot="-5400000">
            <a:off x="6896421" y="1716988"/>
            <a:ext cx="256200" cy="600"/>
          </a:xfrm>
          <a:prstGeom prst="bentConnector3">
            <a:avLst>
              <a:gd fmla="val 4997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604" name="Google Shape;604;p56"/>
          <p:cNvCxnSpPr>
            <a:stCxn id="602" idx="2"/>
            <a:endCxn id="605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6" name="Google Shape;606;p56"/>
          <p:cNvCxnSpPr>
            <a:stCxn id="602" idx="2"/>
            <a:endCxn id="607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05" name="Google Shape;605;p56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8" name="Google Shape;608;p56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07" name="Google Shape;607;p56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609" name="Google Shape;609;p56"/>
          <p:cNvCxnSpPr>
            <a:stCxn id="607" idx="2"/>
            <a:endCxn id="608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56"/>
          <p:cNvCxnSpPr>
            <a:stCxn id="607" idx="2"/>
            <a:endCxn id="611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56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2" name="Google Shape;612;p56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3" name="Google Shape;613;p56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4" name="Google Shape;614;p56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5" name="Google Shape;615;p56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616" name="Google Shape;616;p56"/>
          <p:cNvSpPr/>
          <p:nvPr/>
        </p:nvSpPr>
        <p:spPr>
          <a:xfrm>
            <a:off x="6708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17" name="Google Shape;617;p56"/>
          <p:cNvCxnSpPr>
            <a:stCxn id="616" idx="6"/>
            <a:endCxn id="618" idx="2"/>
          </p:cNvCxnSpPr>
          <p:nvPr/>
        </p:nvCxnSpPr>
        <p:spPr>
          <a:xfrm>
            <a:off x="1455088" y="1819450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8" name="Google Shape;618;p56"/>
          <p:cNvSpPr/>
          <p:nvPr/>
        </p:nvSpPr>
        <p:spPr>
          <a:xfrm>
            <a:off x="2284788" y="1438750"/>
            <a:ext cx="784200" cy="761400"/>
          </a:xfrm>
          <a:prstGeom prst="ellipse">
            <a:avLst/>
          </a:prstGeom>
          <a:solidFill>
            <a:srgbClr val="9225A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19" name="Google Shape;619;p56"/>
          <p:cNvSpPr/>
          <p:nvPr/>
        </p:nvSpPr>
        <p:spPr>
          <a:xfrm>
            <a:off x="670908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0" name="Google Shape;620;p56"/>
          <p:cNvCxnSpPr>
            <a:stCxn id="619" idx="7"/>
            <a:endCxn id="621" idx="1"/>
          </p:cNvCxnSpPr>
          <p:nvPr/>
        </p:nvCxnSpPr>
        <p:spPr>
          <a:xfrm>
            <a:off x="1340264" y="2735870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1" name="Google Shape;621;p56"/>
          <p:cNvSpPr/>
          <p:nvPr/>
        </p:nvSpPr>
        <p:spPr>
          <a:xfrm>
            <a:off x="2284809" y="2624366"/>
            <a:ext cx="784200" cy="7614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22" name="Google Shape;622;p56"/>
          <p:cNvSpPr/>
          <p:nvPr/>
        </p:nvSpPr>
        <p:spPr>
          <a:xfrm>
            <a:off x="670858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3" name="Google Shape;623;p56"/>
          <p:cNvCxnSpPr>
            <a:stCxn id="622" idx="6"/>
            <a:endCxn id="624" idx="2"/>
          </p:cNvCxnSpPr>
          <p:nvPr/>
        </p:nvCxnSpPr>
        <p:spPr>
          <a:xfrm>
            <a:off x="1455058" y="4244435"/>
            <a:ext cx="8298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624" name="Google Shape;624;p56"/>
          <p:cNvSpPr/>
          <p:nvPr/>
        </p:nvSpPr>
        <p:spPr>
          <a:xfrm>
            <a:off x="2284759" y="3863735"/>
            <a:ext cx="784200" cy="761400"/>
          </a:xfrm>
          <a:prstGeom prst="ellipse">
            <a:avLst/>
          </a:prstGeom>
          <a:solidFill>
            <a:schemeClr val="accent5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lt1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solidFill>
                <a:schemeClr val="lt1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25" name="Google Shape;625;p56"/>
          <p:cNvCxnSpPr>
            <a:stCxn id="621" idx="3"/>
            <a:endCxn id="619" idx="5"/>
          </p:cNvCxnSpPr>
          <p:nvPr/>
        </p:nvCxnSpPr>
        <p:spPr>
          <a:xfrm rot="10800000">
            <a:off x="1340352" y="3274261"/>
            <a:ext cx="1059300" cy="0"/>
          </a:xfrm>
          <a:prstGeom prst="straightConnector1">
            <a:avLst/>
          </a:prstGeom>
          <a:noFill/>
          <a:ln cap="flat" cmpd="sng" w="38100">
            <a:solidFill>
              <a:srgbClr val="B7B7B7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626" name="Google Shape;626;p56"/>
          <p:cNvSpPr txBox="1"/>
          <p:nvPr/>
        </p:nvSpPr>
        <p:spPr>
          <a:xfrm>
            <a:off x="1002900" y="4662788"/>
            <a:ext cx="1794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7" name="Google Shape;627;p56"/>
          <p:cNvSpPr txBox="1"/>
          <p:nvPr/>
        </p:nvSpPr>
        <p:spPr>
          <a:xfrm>
            <a:off x="1098550" y="3385763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8" name="Google Shape;628;p56"/>
          <p:cNvSpPr txBox="1"/>
          <p:nvPr/>
        </p:nvSpPr>
        <p:spPr>
          <a:xfrm>
            <a:off x="1129050" y="2169788"/>
            <a:ext cx="15426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2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629" name="Google Shape;629;p56"/>
          <p:cNvCxnSpPr>
            <a:stCxn id="611" idx="1"/>
            <a:endCxn id="624" idx="6"/>
          </p:cNvCxnSpPr>
          <p:nvPr/>
        </p:nvCxnSpPr>
        <p:spPr>
          <a:xfrm rot="10800000">
            <a:off x="3068826" y="4244371"/>
            <a:ext cx="4134600" cy="2664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0" name="Google Shape;630;p56"/>
          <p:cNvCxnSpPr>
            <a:stCxn id="608" idx="1"/>
            <a:endCxn id="621" idx="6"/>
          </p:cNvCxnSpPr>
          <p:nvPr/>
        </p:nvCxnSpPr>
        <p:spPr>
          <a:xfrm rot="10800000">
            <a:off x="3068900" y="3005062"/>
            <a:ext cx="2216700" cy="1085100"/>
          </a:xfrm>
          <a:prstGeom prst="bentConnector3">
            <a:avLst>
              <a:gd fmla="val 49998" name="adj1"/>
            </a:avLst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1" name="Google Shape;631;p56"/>
          <p:cNvCxnSpPr>
            <a:stCxn id="605" idx="1"/>
            <a:endCxn id="618" idx="6"/>
          </p:cNvCxnSpPr>
          <p:nvPr/>
        </p:nvCxnSpPr>
        <p:spPr>
          <a:xfrm rot="10800000">
            <a:off x="3068900" y="1819438"/>
            <a:ext cx="2216700" cy="1378800"/>
          </a:xfrm>
          <a:prstGeom prst="bentConnector3">
            <a:avLst>
              <a:gd fmla="val 31831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5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Social Networks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642" name="Google Shape;642;p58"/>
          <p:cNvSpPr txBox="1"/>
          <p:nvPr>
            <p:ph idx="1" type="body"/>
          </p:nvPr>
        </p:nvSpPr>
        <p:spPr>
          <a:xfrm>
            <a:off x="311700" y="1225225"/>
            <a:ext cx="480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648" name="Google Shape;648;p59"/>
          <p:cNvSpPr txBox="1"/>
          <p:nvPr>
            <p:ph idx="1" type="body"/>
          </p:nvPr>
        </p:nvSpPr>
        <p:spPr>
          <a:xfrm>
            <a:off x="311700" y="1225225"/>
            <a:ext cx="4801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9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0" name="Google Shape;650;p59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1" name="Google Shape;651;p59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52" name="Google Shape;652;p59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6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658" name="Google Shape;658;p60"/>
          <p:cNvSpPr txBox="1"/>
          <p:nvPr>
            <p:ph idx="1" type="body"/>
          </p:nvPr>
        </p:nvSpPr>
        <p:spPr>
          <a:xfrm>
            <a:off x="311700" y="1225225"/>
            <a:ext cx="5058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60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0" name="Google Shape;660;p60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1" name="Google Shape;661;p60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62" name="Google Shape;662;p60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63" name="Google Shape;663;p60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60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6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670" name="Google Shape;670;p61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you decide if two actors are connected?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61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2" name="Google Shape;672;p61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3" name="Google Shape;673;p61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74" name="Google Shape;674;p61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75" name="Google Shape;675;p61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6" name="Google Shape;676;p61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6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682" name="Google Shape;682;p62"/>
          <p:cNvSpPr txBox="1"/>
          <p:nvPr>
            <p:ph idx="1" type="body"/>
          </p:nvPr>
        </p:nvSpPr>
        <p:spPr>
          <a:xfrm>
            <a:off x="311700" y="1225225"/>
            <a:ext cx="50097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build a </a:t>
            </a:r>
            <a:r>
              <a:rPr b="1" lang="en"/>
              <a:t>social</a:t>
            </a:r>
            <a:r>
              <a:rPr lang="en"/>
              <a:t> network?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begin with a set of actors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A, B, C, 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And you place </a:t>
            </a:r>
            <a:r>
              <a:rPr b="1" lang="en"/>
              <a:t>links</a:t>
            </a:r>
            <a:r>
              <a:rPr lang="en"/>
              <a:t> between connected pairs!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how do you decide if two actors are connected?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Social networks analysts use three criteria: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Are the actors </a:t>
            </a:r>
            <a:r>
              <a:rPr b="1" lang="en"/>
              <a:t>similar </a:t>
            </a:r>
            <a:r>
              <a:rPr lang="en"/>
              <a:t>in some respect?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 the actors </a:t>
            </a:r>
            <a:r>
              <a:rPr b="1" lang="en"/>
              <a:t>interact </a:t>
            </a:r>
            <a:r>
              <a:rPr lang="en"/>
              <a:t>in some manner?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Do the actors play complementary </a:t>
            </a:r>
            <a:r>
              <a:rPr b="1" lang="en"/>
              <a:t>roles</a:t>
            </a:r>
            <a:r>
              <a:rPr lang="en"/>
              <a:t>?</a:t>
            </a:r>
            <a:endParaRPr/>
          </a:p>
        </p:txBody>
      </p:sp>
      <p:sp>
        <p:nvSpPr>
          <p:cNvPr id="683" name="Google Shape;683;p62"/>
          <p:cNvSpPr/>
          <p:nvPr/>
        </p:nvSpPr>
        <p:spPr>
          <a:xfrm>
            <a:off x="5601013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4" name="Google Shape;684;p62"/>
          <p:cNvSpPr/>
          <p:nvPr/>
        </p:nvSpPr>
        <p:spPr>
          <a:xfrm>
            <a:off x="7447218" y="1367638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5" name="Google Shape;685;p62"/>
          <p:cNvSpPr/>
          <p:nvPr/>
        </p:nvSpPr>
        <p:spPr>
          <a:xfrm>
            <a:off x="5602213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C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686" name="Google Shape;686;p62"/>
          <p:cNvSpPr/>
          <p:nvPr/>
        </p:nvSpPr>
        <p:spPr>
          <a:xfrm>
            <a:off x="7448418" y="3189663"/>
            <a:ext cx="897000" cy="870300"/>
          </a:xfrm>
          <a:prstGeom prst="ellipse">
            <a:avLst/>
          </a:prstGeom>
          <a:solidFill>
            <a:srgbClr val="CCA677"/>
          </a:solidFill>
          <a:ln cap="flat" cmpd="sng" w="3810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latin typeface="Cantarell"/>
                <a:ea typeface="Cantarell"/>
                <a:cs typeface="Cantarell"/>
                <a:sym typeface="Cantarell"/>
              </a:rPr>
              <a:t>D</a:t>
            </a:r>
            <a:endParaRPr sz="26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687" name="Google Shape;687;p62"/>
          <p:cNvCxnSpPr/>
          <p:nvPr/>
        </p:nvCxnSpPr>
        <p:spPr>
          <a:xfrm>
            <a:off x="6498013" y="1802788"/>
            <a:ext cx="949200" cy="0"/>
          </a:xfrm>
          <a:prstGeom prst="straightConnector1">
            <a:avLst/>
          </a:prstGeom>
          <a:noFill/>
          <a:ln cap="flat" cmpd="sng" w="76200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62"/>
          <p:cNvSpPr txBox="1"/>
          <p:nvPr/>
        </p:nvSpPr>
        <p:spPr>
          <a:xfrm>
            <a:off x="5992963" y="2237938"/>
            <a:ext cx="19593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Connected </a:t>
            </a:r>
            <a:endParaRPr sz="12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</a:t>
            </a:r>
            <a:r>
              <a:rPr lang="en"/>
              <a:t>Connectivity</a:t>
            </a:r>
            <a:endParaRPr/>
          </a:p>
        </p:txBody>
      </p:sp>
      <p:sp>
        <p:nvSpPr>
          <p:cNvPr id="694" name="Google Shape;694;p63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Similarities: </a:t>
            </a:r>
            <a:r>
              <a:rPr i="1" lang="en"/>
              <a:t>Link people who have something in common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Co-location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Co-membership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Same trait, identity, or social category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Interactions: </a:t>
            </a:r>
            <a:r>
              <a:rPr i="1" lang="en">
                <a:solidFill>
                  <a:schemeClr val="dk2"/>
                </a:solidFill>
              </a:rPr>
              <a:t>Link people who behave in certain ways toward one another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Texting, calling, zooming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Helping, advising, ask out on a date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Liking, disliking, fighting, bullying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Role-relations: </a:t>
            </a:r>
            <a:r>
              <a:rPr i="1" lang="en">
                <a:solidFill>
                  <a:schemeClr val="dk2"/>
                </a:solidFill>
              </a:rPr>
              <a:t>Link people who recognize one another using a culturally recognized label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Kin ties (parent of, sibling of, cousin of, uncle of)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Informal non-kin ties (friends, neighbors, acquaintances)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Formal non-kin ties (co-workers, boss of, supervisor of)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6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Network Connectivity</a:t>
            </a:r>
            <a:endParaRPr/>
          </a:p>
        </p:txBody>
      </p:sp>
      <p:sp>
        <p:nvSpPr>
          <p:cNvPr id="700" name="Google Shape;700;p64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Similarities: </a:t>
            </a:r>
            <a:r>
              <a:rPr i="1" lang="en">
                <a:solidFill>
                  <a:schemeClr val="dk2"/>
                </a:solidFill>
              </a:rPr>
              <a:t>Link people who have something in common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Co-location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Co-membership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Same trait, identity, or social category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Interactions: </a:t>
            </a:r>
            <a:r>
              <a:rPr i="1" lang="en"/>
              <a:t>Link people who behave in certain ways toward one another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Texting, calling, zoom invite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Helping, advising, ask out on a date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Liking, disliking, fighting, bullying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Role-relations: </a:t>
            </a:r>
            <a:r>
              <a:rPr i="1" lang="en">
                <a:solidFill>
                  <a:schemeClr val="dk2"/>
                </a:solidFill>
              </a:rPr>
              <a:t>Link people who recognize one another using a culturally recognized label</a:t>
            </a:r>
            <a:endParaRPr b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Kin ties (parent of, sibling of, cousin of, uncle of)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Informal non-kin ties (friends, neighbors, acquaintances)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Formal non-kin ties (co-workers, boss of, supervisor of)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6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Social Connectivity</a:t>
            </a:r>
            <a:endParaRPr/>
          </a:p>
        </p:txBody>
      </p:sp>
      <p:sp>
        <p:nvSpPr>
          <p:cNvPr id="706" name="Google Shape;706;p65"/>
          <p:cNvSpPr txBox="1"/>
          <p:nvPr>
            <p:ph idx="1" type="body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Similarities: </a:t>
            </a:r>
            <a:r>
              <a:rPr i="1" lang="en">
                <a:solidFill>
                  <a:schemeClr val="dk2"/>
                </a:solidFill>
              </a:rPr>
              <a:t>Link people who have something in common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Co-location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Co-membership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Same trait, identity, or social category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b="1" lang="en">
                <a:solidFill>
                  <a:schemeClr val="dk2"/>
                </a:solidFill>
              </a:rPr>
              <a:t>Interactions: </a:t>
            </a:r>
            <a:r>
              <a:rPr i="1" lang="en">
                <a:solidFill>
                  <a:schemeClr val="dk2"/>
                </a:solidFill>
              </a:rPr>
              <a:t>Link people who behave in certain ways toward one another</a:t>
            </a:r>
            <a:endParaRPr i="1"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Texting, calling, zooming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Helping, advising, ask out on a date</a:t>
            </a:r>
            <a:endParaRPr>
              <a:solidFill>
                <a:schemeClr val="dk2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</a:pPr>
            <a:r>
              <a:rPr lang="en">
                <a:solidFill>
                  <a:schemeClr val="dk2"/>
                </a:solidFill>
              </a:rPr>
              <a:t>Liking, disliking, fighting, bullying</a:t>
            </a:r>
            <a:endParaRPr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Role-relations: </a:t>
            </a:r>
            <a:r>
              <a:rPr i="1" lang="en"/>
              <a:t>Link people who recognize one another using a culturally recognized label</a:t>
            </a:r>
            <a:endParaRPr i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Kin ties (parent of, sibling of, cousin of, uncle of)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Informal non-kin ties (friends, neighbors, acquaintances)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Formal non-kin ties (co-workers, boss of, supervisor of)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6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712" name="Google Shape;712;p66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Similarities</a:t>
            </a:r>
            <a:r>
              <a:rPr lang="en"/>
              <a:t> 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are in the same place at the same time as another person, then they are also in the same place at the same time with you!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are zooming with someone, then they are also zooming with you!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you go to UCLA with someone, then they also go to UCLA with you!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Interactions </a:t>
            </a:r>
            <a:r>
              <a:rPr lang="en">
                <a:solidFill>
                  <a:srgbClr val="B7B7B7"/>
                </a:solidFill>
              </a:rPr>
              <a:t>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asymmetric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like someone, but they don’t have to like you back!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send a text to someone, but they don’t have to respond!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You can follow someone on Twitter, but they don’t have to follow you back!</a:t>
            </a:r>
            <a:endParaRPr>
              <a:solidFill>
                <a:srgbClr val="B7B7B7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3" name="Google Shape;71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14" name="Google Shape;714;p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715" name="Google Shape;715;p66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16" name="Google Shape;716;p66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6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722" name="Google Shape;722;p67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Similarities</a:t>
            </a:r>
            <a:r>
              <a:rPr lang="en">
                <a:solidFill>
                  <a:srgbClr val="B7B7B7"/>
                </a:solidFill>
              </a:rPr>
              <a:t> 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in the same place at the same time as another person, then they are also in the same place at the same time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zooming with someone, then they are also zooming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go to UCLA with someone, then they also go to UCLA with you!</a:t>
            </a:r>
            <a:endParaRPr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Interactions </a:t>
            </a:r>
            <a:r>
              <a:rPr lang="en"/>
              <a:t>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like someone, but they don’t have to like you back!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send a text to someone, but they don’t have to respond!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can follow someone on Twitter, but they don’t have to follow you back!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3" name="Google Shape;723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67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26" name="Google Shape;726;p67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6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732" name="Google Shape;732;p68"/>
          <p:cNvSpPr txBox="1"/>
          <p:nvPr>
            <p:ph idx="1" type="body"/>
          </p:nvPr>
        </p:nvSpPr>
        <p:spPr>
          <a:xfrm>
            <a:off x="311700" y="1225225"/>
            <a:ext cx="7386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○"/>
            </a:pPr>
            <a:r>
              <a:rPr b="1" lang="en">
                <a:solidFill>
                  <a:srgbClr val="B7B7B7"/>
                </a:solidFill>
              </a:rPr>
              <a:t>Similarities</a:t>
            </a:r>
            <a:r>
              <a:rPr lang="en">
                <a:solidFill>
                  <a:srgbClr val="B7B7B7"/>
                </a:solidFill>
              </a:rPr>
              <a:t> are </a:t>
            </a:r>
            <a:r>
              <a:rPr i="1" lang="en">
                <a:solidFill>
                  <a:srgbClr val="B7B7B7"/>
                </a:solidFill>
              </a:rPr>
              <a:t>necessarily</a:t>
            </a:r>
            <a:r>
              <a:rPr lang="en">
                <a:solidFill>
                  <a:srgbClr val="B7B7B7"/>
                </a:solidFill>
              </a:rPr>
              <a:t> </a:t>
            </a:r>
            <a:r>
              <a:rPr b="1" lang="en">
                <a:solidFill>
                  <a:srgbClr val="B7B7B7"/>
                </a:solidFill>
              </a:rPr>
              <a:t>symmetric</a:t>
            </a:r>
            <a:endParaRPr b="1"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in the same place at the same time as another person, then they are also in the same place at the same time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are zooming with someone, then they are also zooming with you!</a:t>
            </a:r>
            <a:endParaRPr>
              <a:solidFill>
                <a:srgbClr val="B7B7B7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400"/>
              <a:buChar char="■"/>
            </a:pPr>
            <a:r>
              <a:rPr lang="en">
                <a:solidFill>
                  <a:srgbClr val="B7B7B7"/>
                </a:solidFill>
              </a:rPr>
              <a:t>If you go to UCLA with someone, then they also go to UCLA with you!</a:t>
            </a:r>
            <a:endParaRPr>
              <a:solidFill>
                <a:srgbClr val="B7B7B7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Interactions </a:t>
            </a:r>
            <a:r>
              <a:rPr lang="en"/>
              <a:t>are </a:t>
            </a:r>
            <a:r>
              <a:rPr i="1" lang="en"/>
              <a:t>necessarily</a:t>
            </a:r>
            <a:r>
              <a:rPr lang="en"/>
              <a:t> </a:t>
            </a:r>
            <a:r>
              <a:rPr b="1" lang="en"/>
              <a:t>asymmetric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This means that </a:t>
            </a:r>
            <a:r>
              <a:rPr b="1" lang="en"/>
              <a:t>interactions</a:t>
            </a:r>
            <a:r>
              <a:rPr lang="en"/>
              <a:t> can be either: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Reciprocal 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Non-Reciprocal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33" name="Google Shape;733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00" y="3422139"/>
            <a:ext cx="1144801" cy="930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8350" y="1906088"/>
            <a:ext cx="1371600" cy="672084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68"/>
          <p:cNvSpPr txBox="1"/>
          <p:nvPr/>
        </p:nvSpPr>
        <p:spPr>
          <a:xfrm>
            <a:off x="7694000" y="2643275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Similarities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6" name="Google Shape;736;p68"/>
          <p:cNvSpPr txBox="1"/>
          <p:nvPr/>
        </p:nvSpPr>
        <p:spPr>
          <a:xfrm>
            <a:off x="7694000" y="4405250"/>
            <a:ext cx="1200300" cy="29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Economica"/>
                <a:ea typeface="Economica"/>
                <a:cs typeface="Economica"/>
                <a:sym typeface="Economica"/>
              </a:rPr>
              <a:t>Interactions</a:t>
            </a:r>
            <a:endParaRPr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737" name="Google Shape;737;p68"/>
          <p:cNvSpPr/>
          <p:nvPr/>
        </p:nvSpPr>
        <p:spPr>
          <a:xfrm>
            <a:off x="5791433" y="346020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38" name="Google Shape;738;p68"/>
          <p:cNvCxnSpPr>
            <a:stCxn id="737" idx="7"/>
            <a:endCxn id="739" idx="1"/>
          </p:cNvCxnSpPr>
          <p:nvPr/>
        </p:nvCxnSpPr>
        <p:spPr>
          <a:xfrm>
            <a:off x="6204723" y="3529487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39" name="Google Shape;739;p68"/>
          <p:cNvSpPr/>
          <p:nvPr/>
        </p:nvSpPr>
        <p:spPr>
          <a:xfrm>
            <a:off x="6788557" y="346020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0" name="Google Shape;740;p68"/>
          <p:cNvCxnSpPr>
            <a:stCxn id="739" idx="3"/>
            <a:endCxn id="737" idx="5"/>
          </p:cNvCxnSpPr>
          <p:nvPr/>
        </p:nvCxnSpPr>
        <p:spPr>
          <a:xfrm rot="10800000">
            <a:off x="6204866" y="3864020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1" name="Google Shape;741;p68"/>
          <p:cNvSpPr txBox="1"/>
          <p:nvPr/>
        </p:nvSpPr>
        <p:spPr>
          <a:xfrm>
            <a:off x="6055645" y="3933354"/>
            <a:ext cx="9531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0000FF"/>
                </a:solidFill>
                <a:latin typeface="Open Sans"/>
                <a:ea typeface="Open Sans"/>
                <a:cs typeface="Open Sans"/>
                <a:sym typeface="Open Sans"/>
              </a:rPr>
              <a:t>Reciprocal Edge</a:t>
            </a:r>
            <a:endParaRPr sz="800">
              <a:solidFill>
                <a:srgbClr val="0000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2" name="Google Shape;742;p68"/>
          <p:cNvSpPr/>
          <p:nvPr/>
        </p:nvSpPr>
        <p:spPr>
          <a:xfrm>
            <a:off x="5791464" y="428661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43" name="Google Shape;743;p68"/>
          <p:cNvCxnSpPr>
            <a:stCxn id="742" idx="7"/>
            <a:endCxn id="744" idx="1"/>
          </p:cNvCxnSpPr>
          <p:nvPr/>
        </p:nvCxnSpPr>
        <p:spPr>
          <a:xfrm>
            <a:off x="6204754" y="4355897"/>
            <a:ext cx="654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44" name="Google Shape;744;p68"/>
          <p:cNvSpPr/>
          <p:nvPr/>
        </p:nvSpPr>
        <p:spPr>
          <a:xfrm>
            <a:off x="6788587" y="4286613"/>
            <a:ext cx="484200" cy="473100"/>
          </a:xfrm>
          <a:prstGeom prst="ellipse">
            <a:avLst/>
          </a:prstGeom>
          <a:solidFill>
            <a:srgbClr val="CCA677"/>
          </a:solidFill>
          <a:ln cap="flat" cmpd="sng" w="19050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100"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45" name="Google Shape;745;p68"/>
          <p:cNvSpPr txBox="1"/>
          <p:nvPr/>
        </p:nvSpPr>
        <p:spPr>
          <a:xfrm>
            <a:off x="5895449" y="4695275"/>
            <a:ext cx="1273500" cy="3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Nonreciprocal</a:t>
            </a:r>
            <a:r>
              <a:rPr lang="en" sz="800"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8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Edge</a:t>
            </a:r>
            <a:endParaRPr sz="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751" name="Google Shape;751;p69"/>
          <p:cNvSpPr txBox="1"/>
          <p:nvPr>
            <p:ph idx="1" type="body"/>
          </p:nvPr>
        </p:nvSpPr>
        <p:spPr>
          <a:xfrm>
            <a:off x="311700" y="1225225"/>
            <a:ext cx="6939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 Relations</a:t>
            </a:r>
            <a:r>
              <a:rPr lang="en"/>
              <a:t> can be either </a:t>
            </a:r>
            <a:r>
              <a:rPr b="1" lang="en"/>
              <a:t>antisymmetric</a:t>
            </a:r>
            <a:r>
              <a:rPr lang="en"/>
              <a:t> or </a:t>
            </a:r>
            <a:r>
              <a:rPr b="1" lang="en"/>
              <a:t>symmetric</a:t>
            </a:r>
            <a:r>
              <a:rPr lang="en"/>
              <a:t> but can’t be asymmetric: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Antisymmetric role relations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parent</a:t>
            </a:r>
            <a:r>
              <a:rPr lang="en"/>
              <a:t>, they can’t be your parent back!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Formal non-kin: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boss</a:t>
            </a:r>
            <a:r>
              <a:rPr lang="en"/>
              <a:t>, they can’t be your boss at the same time!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9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283113" y="2171025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1675" y="3880738"/>
            <a:ext cx="1828801" cy="10809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7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Ties in Networks</a:t>
            </a:r>
            <a:endParaRPr/>
          </a:p>
        </p:txBody>
      </p:sp>
      <p:sp>
        <p:nvSpPr>
          <p:cNvPr id="759" name="Google Shape;759;p70"/>
          <p:cNvSpPr txBox="1"/>
          <p:nvPr>
            <p:ph idx="1" type="body"/>
          </p:nvPr>
        </p:nvSpPr>
        <p:spPr>
          <a:xfrm>
            <a:off x="311700" y="1225225"/>
            <a:ext cx="70500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systematic commonalities between the ways we link people in network and the three different types of ties!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Role Relations</a:t>
            </a:r>
            <a:r>
              <a:rPr lang="en"/>
              <a:t> can be either </a:t>
            </a:r>
            <a:r>
              <a:rPr b="1" lang="en"/>
              <a:t>antisymmetric</a:t>
            </a:r>
            <a:r>
              <a:rPr lang="en"/>
              <a:t> or </a:t>
            </a:r>
            <a:r>
              <a:rPr b="1" lang="en"/>
              <a:t>symmetric</a:t>
            </a:r>
            <a:r>
              <a:rPr lang="en"/>
              <a:t> but can’t be asymmetric: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Symmetric role relations</a:t>
            </a:r>
            <a:endParaRPr b="1"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sibling</a:t>
            </a:r>
            <a:r>
              <a:rPr lang="en"/>
              <a:t>, they are also your sibling!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Informal non-kin: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neighbor</a:t>
            </a:r>
            <a:r>
              <a:rPr lang="en"/>
              <a:t>, they are also your neighbor!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i="1" lang="en"/>
              <a:t>Formal non-kin</a:t>
            </a:r>
            <a:endParaRPr i="1"/>
          </a:p>
          <a:p>
            <a:pPr indent="-317500" lvl="4" marL="22860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are someone’s </a:t>
            </a:r>
            <a:r>
              <a:rPr b="1" lang="en"/>
              <a:t>co</a:t>
            </a:r>
            <a:r>
              <a:rPr lang="en"/>
              <a:t>-</a:t>
            </a:r>
            <a:r>
              <a:rPr b="1" lang="en"/>
              <a:t>worker</a:t>
            </a:r>
            <a:r>
              <a:rPr lang="en"/>
              <a:t>, they are also your co-worker!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60" name="Google Shape;760;p70"/>
          <p:cNvPicPr preferRelativeResize="0"/>
          <p:nvPr/>
        </p:nvPicPr>
        <p:blipFill rotWithShape="1">
          <a:blip r:embed="rId3">
            <a:alphaModFix/>
          </a:blip>
          <a:srcRect b="13603" l="0" r="0" t="16098"/>
          <a:stretch/>
        </p:blipFill>
        <p:spPr>
          <a:xfrm>
            <a:off x="7488413" y="1074850"/>
            <a:ext cx="1645925" cy="115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34133" y="3719600"/>
            <a:ext cx="1554480" cy="12435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25577" y="2268675"/>
            <a:ext cx="1463039" cy="1550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7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Summary: Types of Ties, Edges, and Graphs</a:t>
            </a:r>
            <a:endParaRPr/>
          </a:p>
        </p:txBody>
      </p:sp>
      <p:sp>
        <p:nvSpPr>
          <p:cNvPr id="768" name="Google Shape;768;p71"/>
          <p:cNvSpPr/>
          <p:nvPr/>
        </p:nvSpPr>
        <p:spPr>
          <a:xfrm>
            <a:off x="6077446" y="1041638"/>
            <a:ext cx="1893600" cy="5910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69" name="Google Shape;769;p71"/>
          <p:cNvSpPr/>
          <p:nvPr/>
        </p:nvSpPr>
        <p:spPr>
          <a:xfrm>
            <a:off x="6294196" y="1845239"/>
            <a:ext cx="1460100" cy="465300"/>
          </a:xfrm>
          <a:prstGeom prst="roundRect">
            <a:avLst>
              <a:gd fmla="val 16667" name="adj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770" name="Google Shape;770;p71"/>
          <p:cNvCxnSpPr>
            <a:stCxn id="768" idx="2"/>
            <a:endCxn id="769" idx="0"/>
          </p:cNvCxnSpPr>
          <p:nvPr/>
        </p:nvCxnSpPr>
        <p:spPr>
          <a:xfrm flipH="1" rot="-5400000">
            <a:off x="6918196" y="1738688"/>
            <a:ext cx="212700" cy="600"/>
          </a:xfrm>
          <a:prstGeom prst="bentConnector3">
            <a:avLst>
              <a:gd fmla="val 49977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771" name="Google Shape;771;p71"/>
          <p:cNvCxnSpPr>
            <a:stCxn id="769" idx="2"/>
            <a:endCxn id="772" idx="0"/>
          </p:cNvCxnSpPr>
          <p:nvPr/>
        </p:nvCxnSpPr>
        <p:spPr>
          <a:xfrm rot="5400000">
            <a:off x="6282346" y="2160839"/>
            <a:ext cx="592200" cy="8916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3" name="Google Shape;773;p71"/>
          <p:cNvCxnSpPr>
            <a:stCxn id="769" idx="2"/>
            <a:endCxn id="774" idx="0"/>
          </p:cNvCxnSpPr>
          <p:nvPr/>
        </p:nvCxnSpPr>
        <p:spPr>
          <a:xfrm flipH="1" rot="-5400000">
            <a:off x="7241146" y="2093639"/>
            <a:ext cx="592200" cy="1026000"/>
          </a:xfrm>
          <a:prstGeom prst="bentConnector3">
            <a:avLst>
              <a:gd fmla="val 49999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72" name="Google Shape;772;p71"/>
          <p:cNvSpPr/>
          <p:nvPr/>
        </p:nvSpPr>
        <p:spPr>
          <a:xfrm>
            <a:off x="5285600" y="2902738"/>
            <a:ext cx="1694100" cy="5910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rgbClr val="701C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75" name="Google Shape;775;p71"/>
          <p:cNvSpPr/>
          <p:nvPr/>
        </p:nvSpPr>
        <p:spPr>
          <a:xfrm>
            <a:off x="5285600" y="3794662"/>
            <a:ext cx="1694100" cy="591000"/>
          </a:xfrm>
          <a:prstGeom prst="diamond">
            <a:avLst/>
          </a:prstGeom>
          <a:solidFill>
            <a:srgbClr val="607D8B"/>
          </a:solidFill>
          <a:ln cap="flat" cmpd="sng" w="9525">
            <a:solidFill>
              <a:srgbClr val="607D8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74" name="Google Shape;774;p71"/>
          <p:cNvSpPr/>
          <p:nvPr/>
        </p:nvSpPr>
        <p:spPr>
          <a:xfrm>
            <a:off x="7320096" y="2902726"/>
            <a:ext cx="1460100" cy="465300"/>
          </a:xfrm>
          <a:prstGeom prst="roundRect">
            <a:avLst>
              <a:gd fmla="val 16667" name="adj"/>
            </a:avLst>
          </a:prstGeom>
          <a:solidFill>
            <a:srgbClr val="CCA67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9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776" name="Google Shape;776;p71"/>
          <p:cNvCxnSpPr>
            <a:stCxn id="774" idx="2"/>
            <a:endCxn id="775" idx="0"/>
          </p:cNvCxnSpPr>
          <p:nvPr/>
        </p:nvCxnSpPr>
        <p:spPr>
          <a:xfrm rot="5400000">
            <a:off x="6878046" y="2622526"/>
            <a:ext cx="426600" cy="1917600"/>
          </a:xfrm>
          <a:prstGeom prst="bentConnector3">
            <a:avLst>
              <a:gd fmla="val 50004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7" name="Google Shape;777;p71"/>
          <p:cNvCxnSpPr>
            <a:stCxn id="774" idx="2"/>
            <a:endCxn id="778" idx="0"/>
          </p:cNvCxnSpPr>
          <p:nvPr/>
        </p:nvCxnSpPr>
        <p:spPr>
          <a:xfrm flipH="1" rot="-5400000">
            <a:off x="7626846" y="3791326"/>
            <a:ext cx="847200" cy="600"/>
          </a:xfrm>
          <a:prstGeom prst="bentConnector3">
            <a:avLst>
              <a:gd fmla="val 50003" name="adj1"/>
            </a:avLst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8" name="Google Shape;778;p71"/>
          <p:cNvSpPr/>
          <p:nvPr/>
        </p:nvSpPr>
        <p:spPr>
          <a:xfrm>
            <a:off x="7203426" y="4215271"/>
            <a:ext cx="1694100" cy="591000"/>
          </a:xfrm>
          <a:prstGeom prst="diamond">
            <a:avLst/>
          </a:prstGeom>
          <a:solidFill>
            <a:srgbClr val="57BB8A"/>
          </a:solidFill>
          <a:ln cap="flat" cmpd="sng" w="9525">
            <a:solidFill>
              <a:srgbClr val="57BB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rgbClr val="FFFFFF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79" name="Google Shape;779;p71"/>
          <p:cNvSpPr txBox="1"/>
          <p:nvPr/>
        </p:nvSpPr>
        <p:spPr>
          <a:xfrm>
            <a:off x="6803005" y="3489147"/>
            <a:ext cx="555300" cy="18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0" name="Google Shape;780;p71"/>
          <p:cNvSpPr txBox="1"/>
          <p:nvPr/>
        </p:nvSpPr>
        <p:spPr>
          <a:xfrm>
            <a:off x="7777901" y="3794650"/>
            <a:ext cx="544500" cy="18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1" name="Google Shape;781;p71"/>
          <p:cNvSpPr txBox="1"/>
          <p:nvPr/>
        </p:nvSpPr>
        <p:spPr>
          <a:xfrm>
            <a:off x="6430407" y="2523161"/>
            <a:ext cx="339300" cy="16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2" name="Google Shape;782;p71"/>
          <p:cNvSpPr txBox="1"/>
          <p:nvPr/>
        </p:nvSpPr>
        <p:spPr>
          <a:xfrm>
            <a:off x="7367507" y="2523163"/>
            <a:ext cx="339300" cy="167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783" name="Google Shape;783;p71"/>
          <p:cNvSpPr/>
          <p:nvPr/>
        </p:nvSpPr>
        <p:spPr>
          <a:xfrm>
            <a:off x="2499507" y="2075163"/>
            <a:ext cx="636600" cy="617700"/>
          </a:xfrm>
          <a:prstGeom prst="ellipse">
            <a:avLst/>
          </a:prstGeom>
          <a:solidFill>
            <a:srgbClr val="9225A5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4" name="Google Shape;784;p71"/>
          <p:cNvCxnSpPr>
            <a:stCxn id="783" idx="6"/>
            <a:endCxn id="785" idx="2"/>
          </p:cNvCxnSpPr>
          <p:nvPr/>
        </p:nvCxnSpPr>
        <p:spPr>
          <a:xfrm>
            <a:off x="3136107" y="2384013"/>
            <a:ext cx="675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5" name="Google Shape;785;p71"/>
          <p:cNvSpPr/>
          <p:nvPr/>
        </p:nvSpPr>
        <p:spPr>
          <a:xfrm>
            <a:off x="3811315" y="2075163"/>
            <a:ext cx="636600" cy="617700"/>
          </a:xfrm>
          <a:prstGeom prst="ellipse">
            <a:avLst/>
          </a:prstGeom>
          <a:solidFill>
            <a:srgbClr val="9225A5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6" name="Google Shape;786;p71"/>
          <p:cNvSpPr/>
          <p:nvPr/>
        </p:nvSpPr>
        <p:spPr>
          <a:xfrm>
            <a:off x="2499523" y="3036649"/>
            <a:ext cx="636600" cy="617700"/>
          </a:xfrm>
          <a:prstGeom prst="ellipse">
            <a:avLst/>
          </a:prstGeom>
          <a:solidFill>
            <a:srgbClr val="78909C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87" name="Google Shape;787;p71"/>
          <p:cNvCxnSpPr>
            <a:stCxn id="786" idx="7"/>
            <a:endCxn id="788" idx="1"/>
          </p:cNvCxnSpPr>
          <p:nvPr/>
        </p:nvCxnSpPr>
        <p:spPr>
          <a:xfrm>
            <a:off x="3042896" y="3127109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88" name="Google Shape;788;p71"/>
          <p:cNvSpPr/>
          <p:nvPr/>
        </p:nvSpPr>
        <p:spPr>
          <a:xfrm>
            <a:off x="3811332" y="3036649"/>
            <a:ext cx="636600" cy="617700"/>
          </a:xfrm>
          <a:prstGeom prst="ellipse">
            <a:avLst/>
          </a:prstGeom>
          <a:solidFill>
            <a:srgbClr val="78909C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sp>
        <p:nvSpPr>
          <p:cNvPr id="789" name="Google Shape;789;p71"/>
          <p:cNvSpPr/>
          <p:nvPr/>
        </p:nvSpPr>
        <p:spPr>
          <a:xfrm>
            <a:off x="2499483" y="4041726"/>
            <a:ext cx="636600" cy="617700"/>
          </a:xfrm>
          <a:prstGeom prst="ellipse">
            <a:avLst/>
          </a:prstGeom>
          <a:solidFill>
            <a:srgbClr val="57BB8A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A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0" name="Google Shape;790;p71"/>
          <p:cNvCxnSpPr>
            <a:stCxn id="789" idx="6"/>
            <a:endCxn id="791" idx="2"/>
          </p:cNvCxnSpPr>
          <p:nvPr/>
        </p:nvCxnSpPr>
        <p:spPr>
          <a:xfrm>
            <a:off x="3136083" y="4350576"/>
            <a:ext cx="6753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791" name="Google Shape;791;p71"/>
          <p:cNvSpPr/>
          <p:nvPr/>
        </p:nvSpPr>
        <p:spPr>
          <a:xfrm>
            <a:off x="3811291" y="4041726"/>
            <a:ext cx="636600" cy="617700"/>
          </a:xfrm>
          <a:prstGeom prst="ellipse">
            <a:avLst/>
          </a:prstGeom>
          <a:solidFill>
            <a:srgbClr val="57BB8A"/>
          </a:solidFill>
          <a:ln cap="flat" cmpd="sng" w="19050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Cantarell"/>
                <a:ea typeface="Cantarell"/>
                <a:cs typeface="Cantarell"/>
                <a:sym typeface="Cantarell"/>
              </a:rPr>
              <a:t>B</a:t>
            </a:r>
            <a:endParaRPr sz="2400">
              <a:solidFill>
                <a:srgbClr val="FFFFFF"/>
              </a:solidFill>
              <a:latin typeface="Cantarell"/>
              <a:ea typeface="Cantarell"/>
              <a:cs typeface="Cantarell"/>
              <a:sym typeface="Cantarell"/>
            </a:endParaRPr>
          </a:p>
        </p:txBody>
      </p:sp>
      <p:cxnSp>
        <p:nvCxnSpPr>
          <p:cNvPr id="792" name="Google Shape;792;p71"/>
          <p:cNvCxnSpPr>
            <a:stCxn id="788" idx="3"/>
            <a:endCxn id="786" idx="5"/>
          </p:cNvCxnSpPr>
          <p:nvPr/>
        </p:nvCxnSpPr>
        <p:spPr>
          <a:xfrm rot="10800000">
            <a:off x="3042959" y="3563889"/>
            <a:ext cx="861600" cy="0"/>
          </a:xfrm>
          <a:prstGeom prst="straightConnector1">
            <a:avLst/>
          </a:prstGeom>
          <a:noFill/>
          <a:ln cap="flat" cmpd="sng" w="19050">
            <a:solidFill>
              <a:srgbClr val="999999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793" name="Google Shape;793;p71"/>
          <p:cNvSpPr txBox="1"/>
          <p:nvPr/>
        </p:nvSpPr>
        <p:spPr>
          <a:xfrm>
            <a:off x="2769373" y="4689725"/>
            <a:ext cx="14586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Antisymmetric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4" name="Google Shape;794;p71"/>
          <p:cNvSpPr txBox="1"/>
          <p:nvPr/>
        </p:nvSpPr>
        <p:spPr>
          <a:xfrm>
            <a:off x="2847119" y="3654110"/>
            <a:ext cx="12543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Asymmetric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95" name="Google Shape;795;p71"/>
          <p:cNvSpPr txBox="1"/>
          <p:nvPr/>
        </p:nvSpPr>
        <p:spPr>
          <a:xfrm>
            <a:off x="2871910" y="2668004"/>
            <a:ext cx="1254300" cy="1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Symmetric Edge</a:t>
            </a:r>
            <a:endParaRPr sz="10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796" name="Google Shape;796;p71"/>
          <p:cNvCxnSpPr>
            <a:stCxn id="778" idx="1"/>
            <a:endCxn id="791" idx="6"/>
          </p:cNvCxnSpPr>
          <p:nvPr/>
        </p:nvCxnSpPr>
        <p:spPr>
          <a:xfrm rot="10800000">
            <a:off x="4447926" y="4350571"/>
            <a:ext cx="2755500" cy="160200"/>
          </a:xfrm>
          <a:prstGeom prst="bentConnector3">
            <a:avLst>
              <a:gd fmla="val 50001" name="adj1"/>
            </a:avLst>
          </a:prstGeom>
          <a:noFill/>
          <a:ln cap="flat" cmpd="sng" w="28575">
            <a:solidFill>
              <a:srgbClr val="57BB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7" name="Google Shape;797;p71"/>
          <p:cNvCxnSpPr>
            <a:stCxn id="775" idx="1"/>
            <a:endCxn id="788" idx="6"/>
          </p:cNvCxnSpPr>
          <p:nvPr/>
        </p:nvCxnSpPr>
        <p:spPr>
          <a:xfrm rot="10800000">
            <a:off x="4448000" y="3345562"/>
            <a:ext cx="837600" cy="744600"/>
          </a:xfrm>
          <a:prstGeom prst="bentConnector3">
            <a:avLst>
              <a:gd fmla="val 50004" name="adj1"/>
            </a:avLst>
          </a:prstGeom>
          <a:noFill/>
          <a:ln cap="flat" cmpd="sng" w="28575">
            <a:solidFill>
              <a:srgbClr val="607D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98" name="Google Shape;798;p71"/>
          <p:cNvCxnSpPr>
            <a:stCxn id="772" idx="1"/>
            <a:endCxn id="785" idx="6"/>
          </p:cNvCxnSpPr>
          <p:nvPr/>
        </p:nvCxnSpPr>
        <p:spPr>
          <a:xfrm rot="10800000">
            <a:off x="4448000" y="2384038"/>
            <a:ext cx="837600" cy="814200"/>
          </a:xfrm>
          <a:prstGeom prst="bentConnector3">
            <a:avLst>
              <a:gd fmla="val 50005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9" name="Google Shape;799;p71"/>
          <p:cNvSpPr/>
          <p:nvPr/>
        </p:nvSpPr>
        <p:spPr>
          <a:xfrm>
            <a:off x="529249" y="4132175"/>
            <a:ext cx="1601700" cy="436800"/>
          </a:xfrm>
          <a:prstGeom prst="roundRect">
            <a:avLst>
              <a:gd fmla="val 16667" name="adj"/>
            </a:avLst>
          </a:prstGeom>
          <a:solidFill>
            <a:srgbClr val="57BB8A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Roles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00" name="Google Shape;800;p71"/>
          <p:cNvSpPr/>
          <p:nvPr/>
        </p:nvSpPr>
        <p:spPr>
          <a:xfrm>
            <a:off x="524911" y="2164025"/>
            <a:ext cx="1601700" cy="436800"/>
          </a:xfrm>
          <a:prstGeom prst="roundRect">
            <a:avLst>
              <a:gd fmla="val 16667" name="adj"/>
            </a:avLst>
          </a:prstGeom>
          <a:solidFill>
            <a:srgbClr val="9225A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Similarities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801" name="Google Shape;801;p71"/>
          <p:cNvSpPr/>
          <p:nvPr/>
        </p:nvSpPr>
        <p:spPr>
          <a:xfrm>
            <a:off x="525005" y="3127100"/>
            <a:ext cx="1601700" cy="4368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Interactions</a:t>
            </a:r>
            <a:endParaRPr sz="17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802" name="Google Shape;802;p71"/>
          <p:cNvCxnSpPr>
            <a:stCxn id="783" idx="2"/>
            <a:endCxn id="800" idx="3"/>
          </p:cNvCxnSpPr>
          <p:nvPr/>
        </p:nvCxnSpPr>
        <p:spPr>
          <a:xfrm rot="10800000">
            <a:off x="2126607" y="2382513"/>
            <a:ext cx="372900" cy="1500"/>
          </a:xfrm>
          <a:prstGeom prst="bentConnector3">
            <a:avLst>
              <a:gd fmla="val 49999" name="adj1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3" name="Google Shape;803;p71"/>
          <p:cNvCxnSpPr>
            <a:stCxn id="786" idx="2"/>
            <a:endCxn id="801" idx="3"/>
          </p:cNvCxnSpPr>
          <p:nvPr/>
        </p:nvCxnSpPr>
        <p:spPr>
          <a:xfrm flipH="1">
            <a:off x="2126623" y="3345499"/>
            <a:ext cx="372900" cy="600"/>
          </a:xfrm>
          <a:prstGeom prst="bentConnector3">
            <a:avLst>
              <a:gd fmla="val 49989" name="adj1"/>
            </a:avLst>
          </a:prstGeom>
          <a:noFill/>
          <a:ln cap="flat" cmpd="sng" w="28575">
            <a:solidFill>
              <a:srgbClr val="607D8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4" name="Google Shape;804;p71"/>
          <p:cNvCxnSpPr>
            <a:stCxn id="789" idx="2"/>
            <a:endCxn id="799" idx="3"/>
          </p:cNvCxnSpPr>
          <p:nvPr/>
        </p:nvCxnSpPr>
        <p:spPr>
          <a:xfrm flipH="1">
            <a:off x="2131083" y="4350576"/>
            <a:ext cx="368400" cy="600"/>
          </a:xfrm>
          <a:prstGeom prst="bentConnector3">
            <a:avLst>
              <a:gd fmla="val 50018" name="adj1"/>
            </a:avLst>
          </a:prstGeom>
          <a:noFill/>
          <a:ln cap="flat" cmpd="sng" w="28575">
            <a:solidFill>
              <a:srgbClr val="57BB8A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5" name="Google Shape;805;p71"/>
          <p:cNvCxnSpPr>
            <a:stCxn id="783" idx="0"/>
            <a:endCxn id="799" idx="1"/>
          </p:cNvCxnSpPr>
          <p:nvPr/>
        </p:nvCxnSpPr>
        <p:spPr>
          <a:xfrm rot="5400000">
            <a:off x="535707" y="2068563"/>
            <a:ext cx="2275500" cy="2288700"/>
          </a:xfrm>
          <a:prstGeom prst="bentConnector4">
            <a:avLst>
              <a:gd fmla="val -10465" name="adj1"/>
              <a:gd fmla="val 110398" name="adj2"/>
            </a:avLst>
          </a:prstGeom>
          <a:noFill/>
          <a:ln cap="flat" cmpd="sng" w="28575">
            <a:solidFill>
              <a:srgbClr val="701C7F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0" name="Google Shape;810;p72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Symmetric Ties in Undirected Graphs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(Simple) Graphs</a:t>
            </a:r>
            <a:endParaRPr/>
          </a:p>
        </p:txBody>
      </p:sp>
      <p:sp>
        <p:nvSpPr>
          <p:cNvPr id="816" name="Google Shape;816;p7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</a:t>
            </a:r>
            <a:r>
              <a:rPr lang="en"/>
              <a:t> </a:t>
            </a:r>
            <a:r>
              <a:rPr b="1" lang="en"/>
              <a:t>simple graph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7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18" name="Google Shape;818;p7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19" name="Google Shape;819;p73"/>
          <p:cNvCxnSpPr>
            <a:stCxn id="817" idx="6"/>
            <a:endCxn id="818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0" name="Google Shape;820;p7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1" name="Google Shape;821;p7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22" name="Google Shape;822;p7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23" name="Google Shape;823;p73"/>
          <p:cNvCxnSpPr>
            <a:stCxn id="818" idx="7"/>
            <a:endCxn id="82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4" name="Google Shape;824;p73"/>
          <p:cNvCxnSpPr>
            <a:stCxn id="822" idx="1"/>
            <a:endCxn id="82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5" name="Google Shape;825;p73"/>
          <p:cNvCxnSpPr>
            <a:stCxn id="822" idx="3"/>
            <a:endCxn id="82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6" name="Google Shape;826;p73"/>
          <p:cNvCxnSpPr>
            <a:stCxn id="821" idx="1"/>
            <a:endCxn id="818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27" name="Google Shape;827;p73"/>
          <p:cNvCxnSpPr>
            <a:stCxn id="821" idx="0"/>
            <a:endCxn id="820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7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833" name="Google Shape;833;p7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</a:t>
            </a:r>
            <a:r>
              <a:rPr b="1" lang="en"/>
              <a:t>simple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is a simple graph if: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only one edge joining adjacent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multiedges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no self-edges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loops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lack directionality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“arrows”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don’t have any properties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Weights, signs, etc.</a:t>
            </a:r>
            <a:endParaRPr/>
          </a:p>
        </p:txBody>
      </p:sp>
      <p:sp>
        <p:nvSpPr>
          <p:cNvPr id="834" name="Google Shape;834;p7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5" name="Google Shape;835;p7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36" name="Google Shape;836;p74"/>
          <p:cNvCxnSpPr>
            <a:stCxn id="834" idx="6"/>
            <a:endCxn id="83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7" name="Google Shape;837;p7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8" name="Google Shape;838;p7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39" name="Google Shape;839;p7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40" name="Google Shape;840;p74"/>
          <p:cNvCxnSpPr>
            <a:stCxn id="835" idx="7"/>
            <a:endCxn id="83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1" name="Google Shape;841;p74"/>
          <p:cNvCxnSpPr>
            <a:stCxn id="839" idx="1"/>
            <a:endCxn id="83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2" name="Google Shape;842;p74"/>
          <p:cNvCxnSpPr>
            <a:stCxn id="839" idx="3"/>
            <a:endCxn id="83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3" name="Google Shape;843;p74"/>
          <p:cNvCxnSpPr>
            <a:stCxn id="838" idx="1"/>
            <a:endCxn id="83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44" name="Google Shape;844;p74"/>
          <p:cNvCxnSpPr>
            <a:stCxn id="838" idx="0"/>
            <a:endCxn id="83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p7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850" name="Google Shape;850;p7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a </a:t>
            </a:r>
            <a:r>
              <a:rPr b="1" lang="en"/>
              <a:t>simple graph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graph is a simple graph if: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is only one edge joining adjacent nodes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multiedges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There are no self-edges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</a:t>
            </a:r>
            <a:r>
              <a:rPr b="1" lang="en"/>
              <a:t>loops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lack directionality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“arrows”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Edges don’t have any properties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Weights, signs, etc.</a:t>
            </a:r>
            <a:endParaRPr/>
          </a:p>
        </p:txBody>
      </p:sp>
      <p:sp>
        <p:nvSpPr>
          <p:cNvPr id="851" name="Google Shape;851;p7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2" name="Google Shape;852;p7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53" name="Google Shape;853;p75"/>
          <p:cNvCxnSpPr>
            <a:stCxn id="851" idx="6"/>
            <a:endCxn id="852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4" name="Google Shape;854;p7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5" name="Google Shape;855;p7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56" name="Google Shape;856;p7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57" name="Google Shape;857;p75"/>
          <p:cNvCxnSpPr>
            <a:stCxn id="852" idx="7"/>
            <a:endCxn id="85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8" name="Google Shape;858;p75"/>
          <p:cNvCxnSpPr>
            <a:stCxn id="856" idx="1"/>
            <a:endCxn id="85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59" name="Google Shape;859;p75"/>
          <p:cNvCxnSpPr>
            <a:stCxn id="856" idx="3"/>
            <a:endCxn id="85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0" name="Google Shape;860;p75"/>
          <p:cNvCxnSpPr>
            <a:stCxn id="855" idx="1"/>
            <a:endCxn id="852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1" name="Google Shape;861;p75"/>
          <p:cNvCxnSpPr>
            <a:stCxn id="855" idx="0"/>
            <a:endCxn id="854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2" name="Google Shape;862;p75"/>
          <p:cNvSpPr/>
          <p:nvPr/>
        </p:nvSpPr>
        <p:spPr>
          <a:xfrm>
            <a:off x="4412850" y="3762225"/>
            <a:ext cx="20304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 simple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63" name="Google Shape;863;p75"/>
          <p:cNvCxnSpPr>
            <a:stCxn id="862" idx="7"/>
          </p:cNvCxnSpPr>
          <p:nvPr/>
        </p:nvCxnSpPr>
        <p:spPr>
          <a:xfrm flipH="1" rot="10800000">
            <a:off x="6145905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869" name="Google Shape;869;p7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</a:t>
            </a:r>
            <a:r>
              <a:rPr b="1" lang="en"/>
              <a:t>type of social tie</a:t>
            </a:r>
            <a:r>
              <a:rPr lang="en"/>
              <a:t> we are studying we may need to consider other types of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</a:t>
            </a:r>
            <a:r>
              <a:rPr b="1" lang="en"/>
              <a:t>symmetric ties</a:t>
            </a:r>
            <a:r>
              <a:rPr lang="en"/>
              <a:t> like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Colocation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type of simple graph called an </a:t>
            </a:r>
            <a:r>
              <a:rPr b="1" lang="en"/>
              <a:t>undirected graph </a:t>
            </a:r>
            <a:r>
              <a:rPr lang="en"/>
              <a:t>is fine</a:t>
            </a:r>
            <a:endParaRPr/>
          </a:p>
        </p:txBody>
      </p:sp>
      <p:sp>
        <p:nvSpPr>
          <p:cNvPr id="870" name="Google Shape;870;p7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1" name="Google Shape;871;p7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2" name="Google Shape;872;p76"/>
          <p:cNvCxnSpPr>
            <a:stCxn id="870" idx="6"/>
            <a:endCxn id="87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3" name="Google Shape;873;p7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4" name="Google Shape;874;p7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75" name="Google Shape;875;p7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76" name="Google Shape;876;p76"/>
          <p:cNvCxnSpPr>
            <a:stCxn id="871" idx="7"/>
            <a:endCxn id="87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7" name="Google Shape;877;p76"/>
          <p:cNvCxnSpPr>
            <a:stCxn id="875" idx="1"/>
            <a:endCxn id="87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8" name="Google Shape;878;p76"/>
          <p:cNvCxnSpPr>
            <a:stCxn id="875" idx="3"/>
            <a:endCxn id="87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9" name="Google Shape;879;p76"/>
          <p:cNvCxnSpPr>
            <a:stCxn id="874" idx="1"/>
            <a:endCxn id="87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0" name="Google Shape;880;p76"/>
          <p:cNvCxnSpPr>
            <a:stCxn id="874" idx="0"/>
            <a:endCxn id="87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1" name="Google Shape;881;p76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2" name="Google Shape;882;p76"/>
          <p:cNvSpPr/>
          <p:nvPr/>
        </p:nvSpPr>
        <p:spPr>
          <a:xfrm>
            <a:off x="4412850" y="3762225"/>
            <a:ext cx="20304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is an undirected graph!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883" name="Google Shape;883;p76"/>
          <p:cNvCxnSpPr>
            <a:stCxn id="882" idx="7"/>
          </p:cNvCxnSpPr>
          <p:nvPr/>
        </p:nvCxnSpPr>
        <p:spPr>
          <a:xfrm flipH="1" rot="10800000">
            <a:off x="6145905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7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Undirected Graphs</a:t>
            </a:r>
            <a:endParaRPr/>
          </a:p>
        </p:txBody>
      </p:sp>
      <p:sp>
        <p:nvSpPr>
          <p:cNvPr id="889" name="Google Shape;889;p7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Depending on the </a:t>
            </a:r>
            <a:r>
              <a:rPr b="1" lang="en"/>
              <a:t>type of social tie</a:t>
            </a:r>
            <a:r>
              <a:rPr lang="en"/>
              <a:t> we are studying we may need to consider other types of graphs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</a:t>
            </a:r>
            <a:r>
              <a:rPr b="1" lang="en"/>
              <a:t>symmetric ties</a:t>
            </a:r>
            <a:r>
              <a:rPr lang="en"/>
              <a:t> like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Similarities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Colocation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Co-memberships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type of simple graph called an </a:t>
            </a:r>
            <a:r>
              <a:rPr b="1" lang="en"/>
              <a:t>undirected graph </a:t>
            </a:r>
            <a:r>
              <a:rPr lang="en"/>
              <a:t>is fine</a:t>
            </a:r>
            <a:endParaRPr/>
          </a:p>
        </p:txBody>
      </p:sp>
      <p:sp>
        <p:nvSpPr>
          <p:cNvPr id="890" name="Google Shape;890;p7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1" name="Google Shape;891;p7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2" name="Google Shape;892;p77"/>
          <p:cNvCxnSpPr>
            <a:stCxn id="890" idx="6"/>
            <a:endCxn id="89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3" name="Google Shape;893;p7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4" name="Google Shape;894;p7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95" name="Google Shape;895;p7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896" name="Google Shape;896;p77"/>
          <p:cNvCxnSpPr>
            <a:stCxn id="891" idx="7"/>
            <a:endCxn id="89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77"/>
          <p:cNvCxnSpPr>
            <a:stCxn id="895" idx="1"/>
            <a:endCxn id="893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8" name="Google Shape;898;p77"/>
          <p:cNvCxnSpPr>
            <a:stCxn id="895" idx="3"/>
            <a:endCxn id="89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9" name="Google Shape;899;p77"/>
          <p:cNvCxnSpPr>
            <a:stCxn id="894" idx="1"/>
            <a:endCxn id="891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0" name="Google Shape;900;p77"/>
          <p:cNvCxnSpPr>
            <a:stCxn id="894" idx="0"/>
            <a:endCxn id="89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1" name="Google Shape;901;p77"/>
          <p:cNvCxnSpPr/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2" name="Google Shape;902;p77"/>
          <p:cNvSpPr/>
          <p:nvPr/>
        </p:nvSpPr>
        <p:spPr>
          <a:xfrm>
            <a:off x="2612050" y="3762225"/>
            <a:ext cx="38313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such ties as spending time together or being a member of the same club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03" name="Google Shape;903;p77"/>
          <p:cNvCxnSpPr>
            <a:stCxn id="902" idx="7"/>
          </p:cNvCxnSpPr>
          <p:nvPr/>
        </p:nvCxnSpPr>
        <p:spPr>
          <a:xfrm flipH="1" rot="10800000">
            <a:off x="5882269" y="3496210"/>
            <a:ext cx="580800" cy="435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Asymmetric Links in Directed Graphs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7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graphs in social network analysis</a:t>
            </a:r>
            <a:endParaRPr/>
          </a:p>
        </p:txBody>
      </p:sp>
      <p:sp>
        <p:nvSpPr>
          <p:cNvPr id="914" name="Google Shape;914;p7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7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6" name="Google Shape;916;p7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17" name="Google Shape;917;p79"/>
          <p:cNvCxnSpPr>
            <a:stCxn id="915" idx="6"/>
            <a:endCxn id="916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8" name="Google Shape;918;p7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19" name="Google Shape;919;p7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20" name="Google Shape;920;p7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21" name="Google Shape;921;p79"/>
          <p:cNvCxnSpPr>
            <a:stCxn id="916" idx="7"/>
            <a:endCxn id="91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2" name="Google Shape;922;p79"/>
          <p:cNvCxnSpPr>
            <a:stCxn id="920" idx="1"/>
            <a:endCxn id="91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3" name="Google Shape;923;p79"/>
          <p:cNvCxnSpPr>
            <a:stCxn id="920" idx="3"/>
            <a:endCxn id="91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79"/>
          <p:cNvCxnSpPr>
            <a:stCxn id="919" idx="0"/>
            <a:endCxn id="918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8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930" name="Google Shape;930;p8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8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2" name="Google Shape;932;p8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3" name="Google Shape;933;p80"/>
          <p:cNvCxnSpPr>
            <a:stCxn id="931" idx="5"/>
            <a:endCxn id="93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34" name="Google Shape;934;p8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5" name="Google Shape;935;p8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36" name="Google Shape;936;p8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37" name="Google Shape;937;p80"/>
          <p:cNvCxnSpPr>
            <a:stCxn id="932" idx="7"/>
            <a:endCxn id="93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38" name="Google Shape;938;p80"/>
          <p:cNvCxnSpPr>
            <a:stCxn id="936" idx="1"/>
            <a:endCxn id="93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39" name="Google Shape;939;p80"/>
          <p:cNvCxnSpPr>
            <a:stCxn id="936" idx="3"/>
            <a:endCxn id="93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0" name="Google Shape;940;p80"/>
          <p:cNvCxnSpPr>
            <a:stCxn id="935" idx="1"/>
            <a:endCxn id="93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1" name="Google Shape;941;p80"/>
          <p:cNvCxnSpPr>
            <a:stCxn id="935" idx="2"/>
            <a:endCxn id="93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42" name="Google Shape;942;p80"/>
          <p:cNvCxnSpPr>
            <a:stCxn id="935" idx="0"/>
            <a:endCxn id="93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3" name="Google Shape;943;p80"/>
          <p:cNvCxnSpPr>
            <a:stCxn id="935" idx="7"/>
            <a:endCxn id="93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44" name="Google Shape;944;p80"/>
          <p:cNvCxnSpPr>
            <a:stCxn id="932" idx="1"/>
            <a:endCxn id="93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8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950" name="Google Shape;950;p8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 are also called </a:t>
            </a:r>
            <a:r>
              <a:rPr b="1" lang="en"/>
              <a:t>digraphs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8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2" name="Google Shape;952;p8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3" name="Google Shape;953;p81"/>
          <p:cNvCxnSpPr>
            <a:stCxn id="951" idx="5"/>
            <a:endCxn id="95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54" name="Google Shape;954;p8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5" name="Google Shape;955;p8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56" name="Google Shape;956;p8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57" name="Google Shape;957;p81"/>
          <p:cNvCxnSpPr>
            <a:stCxn id="952" idx="7"/>
            <a:endCxn id="95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58" name="Google Shape;958;p81"/>
          <p:cNvCxnSpPr>
            <a:stCxn id="956" idx="1"/>
            <a:endCxn id="95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59" name="Google Shape;959;p81"/>
          <p:cNvCxnSpPr>
            <a:stCxn id="956" idx="3"/>
            <a:endCxn id="95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0" name="Google Shape;960;p81"/>
          <p:cNvCxnSpPr>
            <a:stCxn id="955" idx="1"/>
            <a:endCxn id="95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1" name="Google Shape;961;p81"/>
          <p:cNvCxnSpPr>
            <a:stCxn id="955" idx="2"/>
            <a:endCxn id="95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62" name="Google Shape;962;p81"/>
          <p:cNvCxnSpPr>
            <a:stCxn id="955" idx="0"/>
            <a:endCxn id="95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3" name="Google Shape;963;p81"/>
          <p:cNvCxnSpPr>
            <a:stCxn id="955" idx="7"/>
            <a:endCxn id="95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64" name="Google Shape;964;p81"/>
          <p:cNvCxnSpPr>
            <a:stCxn id="952" idx="1"/>
            <a:endCxn id="95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8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970" name="Google Shape;970;p8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Knowing someone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advice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Providing support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directed graph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 graphs are also called </a:t>
            </a:r>
            <a:r>
              <a:rPr b="1" lang="en"/>
              <a:t>digraphs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1" name="Google Shape;971;p8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2" name="Google Shape;972;p8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3" name="Google Shape;973;p82"/>
          <p:cNvCxnSpPr>
            <a:stCxn id="971" idx="5"/>
            <a:endCxn id="972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74" name="Google Shape;974;p8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5" name="Google Shape;975;p8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76" name="Google Shape;976;p8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77" name="Google Shape;977;p82"/>
          <p:cNvCxnSpPr>
            <a:stCxn id="972" idx="7"/>
            <a:endCxn id="974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78" name="Google Shape;978;p82"/>
          <p:cNvCxnSpPr>
            <a:stCxn id="976" idx="1"/>
            <a:endCxn id="974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79" name="Google Shape;979;p82"/>
          <p:cNvCxnSpPr>
            <a:stCxn id="976" idx="3"/>
            <a:endCxn id="975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0" name="Google Shape;980;p82"/>
          <p:cNvCxnSpPr>
            <a:stCxn id="975" idx="1"/>
            <a:endCxn id="974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1" name="Google Shape;981;p82"/>
          <p:cNvCxnSpPr>
            <a:stCxn id="975" idx="2"/>
            <a:endCxn id="972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982" name="Google Shape;982;p82"/>
          <p:cNvCxnSpPr>
            <a:stCxn id="975" idx="0"/>
            <a:endCxn id="972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3" name="Google Shape;983;p82"/>
          <p:cNvCxnSpPr>
            <a:stCxn id="975" idx="7"/>
            <a:endCxn id="974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984" name="Google Shape;984;p82"/>
          <p:cNvCxnSpPr>
            <a:stCxn id="972" idx="1"/>
            <a:endCxn id="971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85" name="Google Shape;985;p82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986" name="Google Shape;986;p82"/>
          <p:cNvCxnSpPr>
            <a:stCxn id="985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8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992" name="Google Shape;992;p8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8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4" name="Google Shape;994;p8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5" name="Google Shape;995;p83"/>
          <p:cNvCxnSpPr>
            <a:stCxn id="993" idx="5"/>
            <a:endCxn id="994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996" name="Google Shape;996;p8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7" name="Google Shape;997;p8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998" name="Google Shape;998;p8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999" name="Google Shape;999;p83"/>
          <p:cNvCxnSpPr>
            <a:stCxn id="994" idx="7"/>
            <a:endCxn id="996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0" name="Google Shape;1000;p83"/>
          <p:cNvCxnSpPr>
            <a:stCxn id="998" idx="1"/>
            <a:endCxn id="996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1" name="Google Shape;1001;p83"/>
          <p:cNvCxnSpPr>
            <a:stCxn id="998" idx="3"/>
            <a:endCxn id="997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2" name="Google Shape;1002;p83"/>
          <p:cNvCxnSpPr>
            <a:stCxn id="997" idx="1"/>
            <a:endCxn id="996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3" name="Google Shape;1003;p83"/>
          <p:cNvCxnSpPr>
            <a:stCxn id="997" idx="2"/>
            <a:endCxn id="994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04" name="Google Shape;1004;p83"/>
          <p:cNvCxnSpPr>
            <a:stCxn id="997" idx="0"/>
            <a:endCxn id="994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5" name="Google Shape;1005;p83"/>
          <p:cNvCxnSpPr>
            <a:stCxn id="997" idx="7"/>
            <a:endCxn id="996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06" name="Google Shape;1006;p83"/>
          <p:cNvCxnSpPr>
            <a:stCxn id="994" idx="1"/>
            <a:endCxn id="993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07" name="Google Shape;1007;p83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also represent an exchange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08" name="Google Shape;1008;p83"/>
          <p:cNvCxnSpPr>
            <a:stCxn id="1007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8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1014" name="Google Shape;1014;p8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 b="1">
              <a:solidFill>
                <a:schemeClr val="accent3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8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6" name="Google Shape;1016;p8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17" name="Google Shape;1017;p84"/>
          <p:cNvCxnSpPr>
            <a:stCxn id="1015" idx="5"/>
            <a:endCxn id="1016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18" name="Google Shape;1018;p8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19" name="Google Shape;1019;p8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20" name="Google Shape;1020;p8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21" name="Google Shape;1021;p84"/>
          <p:cNvCxnSpPr>
            <a:stCxn id="1016" idx="7"/>
            <a:endCxn id="1018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2" name="Google Shape;1022;p84"/>
          <p:cNvCxnSpPr>
            <a:stCxn id="1020" idx="1"/>
            <a:endCxn id="1018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3" name="Google Shape;1023;p84"/>
          <p:cNvCxnSpPr>
            <a:stCxn id="1020" idx="3"/>
            <a:endCxn id="1019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4" name="Google Shape;1024;p84"/>
          <p:cNvCxnSpPr>
            <a:stCxn id="1019" idx="1"/>
            <a:endCxn id="1018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5" name="Google Shape;1025;p84"/>
          <p:cNvCxnSpPr>
            <a:stCxn id="1019" idx="2"/>
            <a:endCxn id="1016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26" name="Google Shape;1026;p84"/>
          <p:cNvCxnSpPr>
            <a:stCxn id="1019" idx="0"/>
            <a:endCxn id="1016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7" name="Google Shape;1027;p84"/>
          <p:cNvCxnSpPr>
            <a:stCxn id="1019" idx="7"/>
            <a:endCxn id="1018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28" name="Google Shape;1028;p84"/>
          <p:cNvCxnSpPr>
            <a:stCxn id="1016" idx="1"/>
            <a:endCxn id="1015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29" name="Google Shape;1029;p84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30" name="Google Shape;1030;p84"/>
          <p:cNvCxnSpPr>
            <a:stCxn id="1029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8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1036" name="Google Shape;1036;p8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8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8" name="Google Shape;1038;p8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39" name="Google Shape;1039;p85"/>
          <p:cNvCxnSpPr>
            <a:stCxn id="1037" idx="5"/>
            <a:endCxn id="103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40" name="Google Shape;1040;p8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1" name="Google Shape;1041;p8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2" name="Google Shape;1042;p8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43" name="Google Shape;1043;p85"/>
          <p:cNvCxnSpPr>
            <a:stCxn id="1038" idx="7"/>
            <a:endCxn id="104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4" name="Google Shape;1044;p85"/>
          <p:cNvCxnSpPr>
            <a:stCxn id="1042" idx="1"/>
            <a:endCxn id="104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5" name="Google Shape;1045;p85"/>
          <p:cNvCxnSpPr>
            <a:stCxn id="1042" idx="3"/>
            <a:endCxn id="104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6" name="Google Shape;1046;p85"/>
          <p:cNvCxnSpPr>
            <a:stCxn id="1041" idx="1"/>
            <a:endCxn id="104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7" name="Google Shape;1047;p85"/>
          <p:cNvCxnSpPr>
            <a:stCxn id="1041" idx="2"/>
            <a:endCxn id="103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48" name="Google Shape;1048;p85"/>
          <p:cNvCxnSpPr>
            <a:stCxn id="1041" idx="0"/>
            <a:endCxn id="103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49" name="Google Shape;1049;p85"/>
          <p:cNvCxnSpPr>
            <a:stCxn id="1041" idx="7"/>
            <a:endCxn id="104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50" name="Google Shape;1050;p85"/>
          <p:cNvCxnSpPr>
            <a:stCxn id="1038" idx="1"/>
            <a:endCxn id="103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51" name="Google Shape;1051;p85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52" name="Google Shape;1052;p85"/>
          <p:cNvCxnSpPr>
            <a:stCxn id="1051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p8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Directed Graphs</a:t>
            </a:r>
            <a:endParaRPr/>
          </a:p>
        </p:txBody>
      </p:sp>
      <p:sp>
        <p:nvSpPr>
          <p:cNvPr id="1058" name="Google Shape;1058;p8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a directed graph each edge has: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6"/>
                </a:solidFill>
              </a:rPr>
              <a:t>source node</a:t>
            </a:r>
            <a:endParaRPr b="1">
              <a:solidFill>
                <a:schemeClr val="accent6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</a:t>
            </a:r>
            <a:r>
              <a:rPr b="1" lang="en">
                <a:solidFill>
                  <a:schemeClr val="accent3"/>
                </a:solidFill>
              </a:rPr>
              <a:t>destination node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BE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destination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edge EB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 is the source node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 is the destination 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8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accent3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0" name="Google Shape;1060;p8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1" name="Google Shape;1061;p86"/>
          <p:cNvCxnSpPr>
            <a:stCxn id="1059" idx="5"/>
            <a:endCxn id="1060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62" name="Google Shape;1062;p8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3" name="Google Shape;1063;p8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4" name="Google Shape;1064;p8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65" name="Google Shape;1065;p86"/>
          <p:cNvCxnSpPr>
            <a:stCxn id="1060" idx="7"/>
            <a:endCxn id="1062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6" name="Google Shape;1066;p86"/>
          <p:cNvCxnSpPr>
            <a:stCxn id="1064" idx="1"/>
            <a:endCxn id="1062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7" name="Google Shape;1067;p86"/>
          <p:cNvCxnSpPr>
            <a:stCxn id="1064" idx="3"/>
            <a:endCxn id="1063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68" name="Google Shape;1068;p86"/>
          <p:cNvCxnSpPr>
            <a:stCxn id="1063" idx="1"/>
            <a:endCxn id="1062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69" name="Google Shape;1069;p86"/>
          <p:cNvCxnSpPr>
            <a:stCxn id="1063" idx="2"/>
            <a:endCxn id="1060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70" name="Google Shape;1070;p86"/>
          <p:cNvCxnSpPr>
            <a:stCxn id="1063" idx="0"/>
            <a:endCxn id="1060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1" name="Google Shape;1071;p86"/>
          <p:cNvCxnSpPr>
            <a:stCxn id="1063" idx="7"/>
            <a:endCxn id="1062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72" name="Google Shape;1072;p86"/>
          <p:cNvCxnSpPr>
            <a:stCxn id="1060" idx="1"/>
            <a:endCxn id="1059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73" name="Google Shape;1073;p86"/>
          <p:cNvSpPr/>
          <p:nvPr/>
        </p:nvSpPr>
        <p:spPr>
          <a:xfrm>
            <a:off x="4182700" y="3762225"/>
            <a:ext cx="2260800" cy="11580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graph can represent an advice network!</a:t>
            </a:r>
            <a:endParaRPr b="1">
              <a:solidFill>
                <a:srgbClr val="FF0000"/>
              </a:solidFill>
            </a:endParaRPr>
          </a:p>
        </p:txBody>
      </p:sp>
      <p:cxnSp>
        <p:nvCxnSpPr>
          <p:cNvPr id="1074" name="Google Shape;1074;p86"/>
          <p:cNvCxnSpPr>
            <a:stCxn id="1073" idx="7"/>
          </p:cNvCxnSpPr>
          <p:nvPr/>
        </p:nvCxnSpPr>
        <p:spPr>
          <a:xfrm flipH="1" rot="10800000">
            <a:off x="6112414" y="3616510"/>
            <a:ext cx="423300" cy="31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7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</a:t>
            </a:r>
            <a:r>
              <a:rPr lang="en"/>
              <a:t> Graphs in Social Networks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8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085" name="Google Shape;1085;p88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antisymmetric?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orders to (in an army)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the parent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someone’s supervisor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tree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8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7" name="Google Shape;1087;p8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88" name="Google Shape;1088;p88"/>
          <p:cNvCxnSpPr>
            <a:stCxn id="1086" idx="6"/>
            <a:endCxn id="108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089" name="Google Shape;1089;p8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0" name="Google Shape;1090;p8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1" name="Google Shape;1091;p8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092" name="Google Shape;1092;p88"/>
          <p:cNvCxnSpPr>
            <a:stCxn id="1087" idx="7"/>
            <a:endCxn id="108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3" name="Google Shape;1093;p88"/>
          <p:cNvCxnSpPr>
            <a:stCxn id="1091" idx="1"/>
            <a:endCxn id="108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4" name="Google Shape;1094;p88"/>
          <p:cNvCxnSpPr>
            <a:stCxn id="1091" idx="3"/>
            <a:endCxn id="109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095" name="Google Shape;1095;p88"/>
          <p:cNvCxnSpPr>
            <a:stCxn id="1090" idx="0"/>
            <a:endCxn id="108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6" name="Google Shape;1096;p88"/>
          <p:cNvCxnSpPr>
            <a:stCxn id="1090" idx="1"/>
            <a:endCxn id="108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097" name="Google Shape;1097;p88"/>
          <p:cNvCxnSpPr>
            <a:stCxn id="1086" idx="6"/>
            <a:endCxn id="1089" idx="3"/>
          </p:cNvCxnSpPr>
          <p:nvPr/>
        </p:nvCxnSpPr>
        <p:spPr>
          <a:xfrm flipH="1" rot="10800000">
            <a:off x="5236275" y="2000725"/>
            <a:ext cx="1983300" cy="9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8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03" name="Google Shape;1103;p8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if the relationship we are studying is antisymmetric?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Giving orders to (in an army)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the parent of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Being someone’s supervisor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we need a graph that represents: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Unidirectionality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Nonreciprocity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is called a </a:t>
            </a:r>
            <a:r>
              <a:rPr b="1" lang="en"/>
              <a:t>tree graph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4" name="Google Shape;1104;p8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5" name="Google Shape;1105;p8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06" name="Google Shape;1106;p89"/>
          <p:cNvCxnSpPr>
            <a:stCxn id="1104" idx="6"/>
            <a:endCxn id="1105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07" name="Google Shape;1107;p8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8" name="Google Shape;1108;p8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9" name="Google Shape;1109;p8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10" name="Google Shape;1110;p89"/>
          <p:cNvCxnSpPr>
            <a:stCxn id="1105" idx="7"/>
            <a:endCxn id="1107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11" name="Google Shape;1111;p89"/>
          <p:cNvCxnSpPr>
            <a:stCxn id="1109" idx="1"/>
            <a:endCxn id="1107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12" name="Google Shape;1112;p89"/>
          <p:cNvCxnSpPr>
            <a:stCxn id="1109" idx="3"/>
            <a:endCxn id="1108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13" name="Google Shape;1113;p89"/>
          <p:cNvCxnSpPr>
            <a:stCxn id="1108" idx="0"/>
            <a:endCxn id="1107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14" name="Google Shape;1114;p89"/>
          <p:cNvCxnSpPr>
            <a:stCxn id="1108" idx="1"/>
            <a:endCxn id="1105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15" name="Google Shape;1115;p89"/>
          <p:cNvCxnSpPr>
            <a:stCxn id="1104" idx="6"/>
            <a:endCxn id="1107" idx="3"/>
          </p:cNvCxnSpPr>
          <p:nvPr/>
        </p:nvCxnSpPr>
        <p:spPr>
          <a:xfrm flipH="1" rot="10800000">
            <a:off x="5236275" y="2000725"/>
            <a:ext cx="1983300" cy="9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90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21" name="Google Shape;1121;p90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90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3" name="Google Shape;1123;p90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4" name="Google Shape;1124;p90"/>
          <p:cNvCxnSpPr>
            <a:stCxn id="1122" idx="6"/>
            <a:endCxn id="1123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25" name="Google Shape;1125;p90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6" name="Google Shape;1126;p90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27" name="Google Shape;1127;p90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28" name="Google Shape;1128;p90"/>
          <p:cNvCxnSpPr>
            <a:stCxn id="1123" idx="7"/>
            <a:endCxn id="1125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29" name="Google Shape;1129;p90"/>
          <p:cNvCxnSpPr>
            <a:stCxn id="1127" idx="1"/>
            <a:endCxn id="1125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0" name="Google Shape;1130;p90"/>
          <p:cNvCxnSpPr>
            <a:stCxn id="1127" idx="3"/>
            <a:endCxn id="1126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1" name="Google Shape;1131;p90"/>
          <p:cNvCxnSpPr>
            <a:stCxn id="1126" idx="0"/>
            <a:endCxn id="1125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2" name="Google Shape;1132;p90"/>
          <p:cNvCxnSpPr>
            <a:stCxn id="1126" idx="1"/>
            <a:endCxn id="1123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33" name="Google Shape;1133;p90"/>
          <p:cNvCxnSpPr>
            <a:stCxn id="1122" idx="6"/>
            <a:endCxn id="1125" idx="3"/>
          </p:cNvCxnSpPr>
          <p:nvPr/>
        </p:nvCxnSpPr>
        <p:spPr>
          <a:xfrm flipH="1" rot="10800000">
            <a:off x="5236275" y="2000725"/>
            <a:ext cx="1983300" cy="901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39" name="Google Shape;1139;p91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1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1" name="Google Shape;1141;p91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42" name="Google Shape;1142;p91"/>
          <p:cNvCxnSpPr>
            <a:stCxn id="1140" idx="0"/>
            <a:endCxn id="1141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43" name="Google Shape;1143;p91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4" name="Google Shape;1144;p91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5" name="Google Shape;1145;p91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46" name="Google Shape;1146;p91"/>
          <p:cNvCxnSpPr>
            <a:stCxn id="1141" idx="7"/>
            <a:endCxn id="1143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47" name="Google Shape;1147;p91"/>
          <p:cNvCxnSpPr>
            <a:stCxn id="1145" idx="1"/>
            <a:endCxn id="1143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48" name="Google Shape;1148;p91"/>
          <p:cNvCxnSpPr>
            <a:stCxn id="1145" idx="3"/>
            <a:endCxn id="1144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9" name="Google Shape;1149;p91"/>
          <p:cNvCxnSpPr>
            <a:stCxn id="1144" idx="0"/>
            <a:endCxn id="1143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50" name="Google Shape;1150;p91"/>
          <p:cNvCxnSpPr>
            <a:stCxn id="1144" idx="0"/>
            <a:endCxn id="1141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51" name="Google Shape;1151;p91"/>
          <p:cNvCxnSpPr>
            <a:stCxn id="1140" idx="0"/>
            <a:endCxn id="1143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9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57" name="Google Shape;1157;p92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92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9" name="Google Shape;1159;p92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0" name="Google Shape;1160;p92"/>
          <p:cNvCxnSpPr>
            <a:stCxn id="1158" idx="0"/>
            <a:endCxn id="1159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61" name="Google Shape;1161;p9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2" name="Google Shape;1162;p9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3" name="Google Shape;1163;p9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64" name="Google Shape;1164;p92"/>
          <p:cNvCxnSpPr>
            <a:stCxn id="1159" idx="7"/>
            <a:endCxn id="1161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5" name="Google Shape;1165;p92"/>
          <p:cNvCxnSpPr>
            <a:stCxn id="1163" idx="1"/>
            <a:endCxn id="1161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6" name="Google Shape;1166;p92"/>
          <p:cNvCxnSpPr>
            <a:stCxn id="1163" idx="3"/>
            <a:endCxn id="1162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7" name="Google Shape;1167;p92"/>
          <p:cNvCxnSpPr>
            <a:stCxn id="1162" idx="0"/>
            <a:endCxn id="1161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8" name="Google Shape;1168;p92"/>
          <p:cNvCxnSpPr>
            <a:stCxn id="1162" idx="0"/>
            <a:endCxn id="1159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69" name="Google Shape;1169;p92"/>
          <p:cNvCxnSpPr>
            <a:stCxn id="1158" idx="0"/>
            <a:endCxn id="1161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9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75" name="Google Shape;1175;p93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6" name="Google Shape;1176;p93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7" name="Google Shape;1177;p93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78" name="Google Shape;1178;p93"/>
          <p:cNvCxnSpPr>
            <a:stCxn id="1176" idx="0"/>
            <a:endCxn id="1177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79" name="Google Shape;1179;p93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0" name="Google Shape;1180;p93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1" name="Google Shape;1181;p93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82" name="Google Shape;1182;p93"/>
          <p:cNvCxnSpPr>
            <a:stCxn id="1177" idx="7"/>
            <a:endCxn id="1179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83" name="Google Shape;1183;p93"/>
          <p:cNvCxnSpPr>
            <a:stCxn id="1181" idx="1"/>
            <a:endCxn id="117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84" name="Google Shape;1184;p93"/>
          <p:cNvCxnSpPr>
            <a:stCxn id="1181" idx="3"/>
            <a:endCxn id="118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85" name="Google Shape;1185;p93"/>
          <p:cNvCxnSpPr>
            <a:stCxn id="1180" idx="0"/>
            <a:endCxn id="117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86" name="Google Shape;1186;p93"/>
          <p:cNvCxnSpPr>
            <a:stCxn id="1180" idx="0"/>
            <a:endCxn id="1177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187" name="Google Shape;1187;p93"/>
          <p:cNvCxnSpPr>
            <a:stCxn id="1176" idx="0"/>
            <a:endCxn id="1179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88" name="Google Shape;1188;p93"/>
          <p:cNvSpPr/>
          <p:nvPr/>
        </p:nvSpPr>
        <p:spPr>
          <a:xfrm>
            <a:off x="5133975" y="851525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CEO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9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194" name="Google Shape;1194;p94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94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6" name="Google Shape;1196;p94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197" name="Google Shape;1197;p94"/>
          <p:cNvCxnSpPr>
            <a:stCxn id="1195" idx="0"/>
            <a:endCxn id="1196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198" name="Google Shape;1198;p94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9" name="Google Shape;1199;p94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0" name="Google Shape;1200;p94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01" name="Google Shape;1201;p94"/>
          <p:cNvCxnSpPr>
            <a:stCxn id="1196" idx="7"/>
            <a:endCxn id="1198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2" name="Google Shape;1202;p94"/>
          <p:cNvCxnSpPr>
            <a:stCxn id="1200" idx="1"/>
            <a:endCxn id="1198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3" name="Google Shape;1203;p94"/>
          <p:cNvCxnSpPr>
            <a:stCxn id="1200" idx="3"/>
            <a:endCxn id="1199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04" name="Google Shape;1204;p94"/>
          <p:cNvCxnSpPr>
            <a:stCxn id="1199" idx="0"/>
            <a:endCxn id="1198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5" name="Google Shape;1205;p94"/>
          <p:cNvCxnSpPr>
            <a:stCxn id="1199" idx="0"/>
            <a:endCxn id="1196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06" name="Google Shape;1206;p94"/>
          <p:cNvCxnSpPr>
            <a:stCxn id="1195" idx="0"/>
            <a:endCxn id="1198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0" name="Shape 1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1" name="Google Shape;1211;p9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212" name="Google Shape;1212;p95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95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4" name="Google Shape;1214;p95"/>
          <p:cNvSpPr/>
          <p:nvPr/>
        </p:nvSpPr>
        <p:spPr>
          <a:xfrm>
            <a:off x="51927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5" name="Google Shape;1215;p95"/>
          <p:cNvCxnSpPr>
            <a:stCxn id="1213" idx="0"/>
            <a:endCxn id="1214" idx="4"/>
          </p:cNvCxnSpPr>
          <p:nvPr/>
        </p:nvCxnSpPr>
        <p:spPr>
          <a:xfrm rot="10800000">
            <a:off x="54933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16" name="Google Shape;1216;p95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7" name="Google Shape;1217;p95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8" name="Google Shape;1218;p95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19" name="Google Shape;1219;p95"/>
          <p:cNvCxnSpPr>
            <a:stCxn id="1214" idx="7"/>
            <a:endCxn id="1216" idx="4"/>
          </p:cNvCxnSpPr>
          <p:nvPr/>
        </p:nvCxnSpPr>
        <p:spPr>
          <a:xfrm flipH="1" rot="10800000">
            <a:off x="5705906" y="1619294"/>
            <a:ext cx="1117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0" name="Google Shape;1220;p95"/>
          <p:cNvCxnSpPr>
            <a:stCxn id="1218" idx="1"/>
            <a:endCxn id="1216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1" name="Google Shape;1221;p95"/>
          <p:cNvCxnSpPr>
            <a:stCxn id="1218" idx="3"/>
            <a:endCxn id="1217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22" name="Google Shape;1222;p95"/>
          <p:cNvCxnSpPr>
            <a:stCxn id="1217" idx="0"/>
            <a:endCxn id="1216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3" name="Google Shape;1223;p95"/>
          <p:cNvCxnSpPr>
            <a:stCxn id="1217" idx="0"/>
            <a:endCxn id="1214" idx="5"/>
          </p:cNvCxnSpPr>
          <p:nvPr/>
        </p:nvCxnSpPr>
        <p:spPr>
          <a:xfrm rot="10800000">
            <a:off x="5705775" y="2678750"/>
            <a:ext cx="1117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24" name="Google Shape;1224;p95"/>
          <p:cNvCxnSpPr>
            <a:stCxn id="1213" idx="0"/>
            <a:endCxn id="1216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25" name="Google Shape;1225;p95"/>
          <p:cNvSpPr/>
          <p:nvPr/>
        </p:nvSpPr>
        <p:spPr>
          <a:xfrm>
            <a:off x="5133975" y="3720925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Office Staff</a:t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231" name="Google Shape;1231;p9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96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3" name="Google Shape;1233;p96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4" name="Google Shape;1234;p96"/>
          <p:cNvCxnSpPr>
            <a:stCxn id="1232" idx="0"/>
            <a:endCxn id="1233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35" name="Google Shape;1235;p96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6" name="Google Shape;1236;p96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7" name="Google Shape;1237;p96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38" name="Google Shape;1238;p96"/>
          <p:cNvCxnSpPr>
            <a:stCxn id="1233" idx="7"/>
            <a:endCxn id="1235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39" name="Google Shape;1239;p96"/>
          <p:cNvCxnSpPr>
            <a:stCxn id="1237" idx="1"/>
            <a:endCxn id="1235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40" name="Google Shape;1240;p96"/>
          <p:cNvCxnSpPr>
            <a:stCxn id="1237" idx="3"/>
            <a:endCxn id="1236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41" name="Google Shape;1241;p96"/>
          <p:cNvCxnSpPr>
            <a:stCxn id="1236" idx="0"/>
            <a:endCxn id="1235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42" name="Google Shape;1242;p96"/>
          <p:cNvCxnSpPr>
            <a:stCxn id="1236" idx="0"/>
            <a:endCxn id="1233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43" name="Google Shape;1243;p96"/>
          <p:cNvCxnSpPr>
            <a:stCxn id="1232" idx="0"/>
            <a:endCxn id="1235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7" name="Shape 1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8" name="Google Shape;1248;p9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Graphs</a:t>
            </a:r>
            <a:endParaRPr/>
          </a:p>
        </p:txBody>
      </p:sp>
      <p:sp>
        <p:nvSpPr>
          <p:cNvPr id="1249" name="Google Shape;1249;p9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Tree graphs can always be redrawn to reveal the </a:t>
            </a:r>
            <a:r>
              <a:rPr b="1" lang="en"/>
              <a:t>hierarchy </a:t>
            </a:r>
            <a:r>
              <a:rPr lang="en"/>
              <a:t>of relations: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but do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ties are at the </a:t>
            </a:r>
            <a:r>
              <a:rPr b="1" lang="en"/>
              <a:t>top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only</a:t>
            </a:r>
            <a:r>
              <a:rPr lang="en"/>
              <a:t> </a:t>
            </a:r>
            <a:r>
              <a:rPr b="1" lang="en"/>
              <a:t>receive</a:t>
            </a:r>
            <a:r>
              <a:rPr lang="en"/>
              <a:t> but </a:t>
            </a:r>
            <a:r>
              <a:rPr b="1" lang="en"/>
              <a:t>do</a:t>
            </a:r>
            <a:r>
              <a:rPr lang="en"/>
              <a:t> </a:t>
            </a:r>
            <a:r>
              <a:rPr b="1" lang="en"/>
              <a:t>not</a:t>
            </a:r>
            <a:r>
              <a:rPr lang="en"/>
              <a:t> </a:t>
            </a:r>
            <a:r>
              <a:rPr b="1" lang="en"/>
              <a:t>send</a:t>
            </a:r>
            <a:r>
              <a:rPr lang="en"/>
              <a:t> ties are at the bottom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that </a:t>
            </a:r>
            <a:r>
              <a:rPr b="1" lang="en"/>
              <a:t>both send and receive</a:t>
            </a:r>
            <a:r>
              <a:rPr lang="en"/>
              <a:t> ties are in the </a:t>
            </a:r>
            <a:r>
              <a:rPr b="1" lang="en"/>
              <a:t>middle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0" name="Google Shape;1250;p97"/>
          <p:cNvSpPr/>
          <p:nvPr/>
        </p:nvSpPr>
        <p:spPr>
          <a:xfrm>
            <a:off x="51927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1" name="Google Shape;1251;p97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2" name="Google Shape;1252;p97"/>
          <p:cNvCxnSpPr>
            <a:stCxn id="1250" idx="0"/>
            <a:endCxn id="1251" idx="4"/>
          </p:cNvCxnSpPr>
          <p:nvPr/>
        </p:nvCxnSpPr>
        <p:spPr>
          <a:xfrm rot="10800000">
            <a:off x="5477450" y="2766650"/>
            <a:ext cx="1590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53" name="Google Shape;1253;p97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4" name="Google Shape;1254;p97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5" name="Google Shape;1255;p97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accent6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256" name="Google Shape;1256;p97"/>
          <p:cNvCxnSpPr>
            <a:stCxn id="1251" idx="7"/>
            <a:endCxn id="1253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7" name="Google Shape;1257;p97"/>
          <p:cNvCxnSpPr>
            <a:stCxn id="1255" idx="1"/>
            <a:endCxn id="1253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58" name="Google Shape;1258;p97"/>
          <p:cNvCxnSpPr>
            <a:stCxn id="1255" idx="3"/>
            <a:endCxn id="1254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59" name="Google Shape;1259;p97"/>
          <p:cNvCxnSpPr>
            <a:stCxn id="1254" idx="0"/>
            <a:endCxn id="1253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0" name="Google Shape;1260;p97"/>
          <p:cNvCxnSpPr>
            <a:stCxn id="1254" idx="0"/>
            <a:endCxn id="1251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261" name="Google Shape;1261;p97"/>
          <p:cNvCxnSpPr>
            <a:stCxn id="1250" idx="0"/>
            <a:endCxn id="1253" idx="4"/>
          </p:cNvCxnSpPr>
          <p:nvPr/>
        </p:nvCxnSpPr>
        <p:spPr>
          <a:xfrm flipH="1" rot="10800000">
            <a:off x="5493350" y="1619150"/>
            <a:ext cx="13299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262" name="Google Shape;1262;p97"/>
          <p:cNvSpPr/>
          <p:nvPr/>
        </p:nvSpPr>
        <p:spPr>
          <a:xfrm>
            <a:off x="5037850" y="2036900"/>
            <a:ext cx="3378600" cy="85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Middle Management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98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Valued Graphs in Social Networks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9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r>
              <a:rPr lang="en"/>
              <a:t>alued Graphs in Social Networks</a:t>
            </a:r>
            <a:endParaRPr/>
          </a:p>
        </p:txBody>
      </p:sp>
      <p:sp>
        <p:nvSpPr>
          <p:cNvPr id="1273" name="Google Shape;1273;p99"/>
          <p:cNvSpPr txBox="1"/>
          <p:nvPr>
            <p:ph idx="1" type="body"/>
          </p:nvPr>
        </p:nvSpPr>
        <p:spPr>
          <a:xfrm>
            <a:off x="311700" y="1225225"/>
            <a:ext cx="4164900" cy="360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social network analysis </a:t>
            </a:r>
            <a:r>
              <a:rPr b="1" lang="en"/>
              <a:t>valued </a:t>
            </a:r>
            <a:r>
              <a:rPr lang="en"/>
              <a:t>graphs represent the </a:t>
            </a:r>
            <a:r>
              <a:rPr b="1" lang="en"/>
              <a:t>intensity</a:t>
            </a:r>
            <a:r>
              <a:rPr lang="en"/>
              <a:t> or </a:t>
            </a:r>
            <a:r>
              <a:rPr b="1" lang="en"/>
              <a:t>sentiment</a:t>
            </a:r>
            <a:r>
              <a:rPr lang="en"/>
              <a:t> of social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Relations can be </a:t>
            </a:r>
            <a:r>
              <a:rPr b="1" lang="en"/>
              <a:t>more</a:t>
            </a:r>
            <a:r>
              <a:rPr lang="en"/>
              <a:t> or </a:t>
            </a:r>
            <a:r>
              <a:rPr b="1" lang="en"/>
              <a:t>less</a:t>
            </a:r>
            <a:r>
              <a:rPr lang="en"/>
              <a:t> (intense, positive, negative, frequent)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Like before relationships have </a:t>
            </a:r>
            <a:r>
              <a:rPr b="1" lang="en"/>
              <a:t>directionality</a:t>
            </a:r>
            <a:r>
              <a:rPr lang="en"/>
              <a:t>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Undirected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Directed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But they also have a </a:t>
            </a:r>
            <a:r>
              <a:rPr b="1" lang="en"/>
              <a:t>weight</a:t>
            </a:r>
            <a:r>
              <a:rPr lang="en"/>
              <a:t> or a </a:t>
            </a:r>
            <a:r>
              <a:rPr b="1" lang="en"/>
              <a:t>sign</a:t>
            </a:r>
            <a:endParaRPr b="1"/>
          </a:p>
        </p:txBody>
      </p:sp>
      <p:sp>
        <p:nvSpPr>
          <p:cNvPr id="1274" name="Google Shape;1274;p99"/>
          <p:cNvSpPr/>
          <p:nvPr/>
        </p:nvSpPr>
        <p:spPr>
          <a:xfrm>
            <a:off x="5543306" y="1090275"/>
            <a:ext cx="1896900" cy="5931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75" name="Google Shape;1275;p99"/>
          <p:cNvSpPr/>
          <p:nvPr/>
        </p:nvSpPr>
        <p:spPr>
          <a:xfrm>
            <a:off x="5171623" y="1945229"/>
            <a:ext cx="26403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276" name="Google Shape;1276;p99"/>
          <p:cNvCxnSpPr>
            <a:stCxn id="1274" idx="2"/>
            <a:endCxn id="1275" idx="0"/>
          </p:cNvCxnSpPr>
          <p:nvPr/>
        </p:nvCxnSpPr>
        <p:spPr>
          <a:xfrm flipH="1" rot="-5400000">
            <a:off x="6361106" y="1814025"/>
            <a:ext cx="2619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277" name="Google Shape;1277;p99"/>
          <p:cNvCxnSpPr>
            <a:stCxn id="1275" idx="2"/>
            <a:endCxn id="1278" idx="0"/>
          </p:cNvCxnSpPr>
          <p:nvPr/>
        </p:nvCxnSpPr>
        <p:spPr>
          <a:xfrm rot="5400000">
            <a:off x="5731873" y="2112929"/>
            <a:ext cx="460500" cy="10593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78" name="Google Shape;1278;p99"/>
          <p:cNvSpPr/>
          <p:nvPr/>
        </p:nvSpPr>
        <p:spPr>
          <a:xfrm>
            <a:off x="4701071" y="2872815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279" name="Google Shape;1279;p99"/>
          <p:cNvCxnSpPr>
            <a:stCxn id="1278" idx="2"/>
            <a:endCxn id="1280" idx="0"/>
          </p:cNvCxnSpPr>
          <p:nvPr/>
        </p:nvCxnSpPr>
        <p:spPr>
          <a:xfrm rot="5400000">
            <a:off x="4777421" y="2986365"/>
            <a:ext cx="301500" cy="10086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0" name="Google Shape;1280;p99"/>
          <p:cNvSpPr/>
          <p:nvPr/>
        </p:nvSpPr>
        <p:spPr>
          <a:xfrm>
            <a:off x="3575304" y="3641397"/>
            <a:ext cx="1697100" cy="6774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281" name="Google Shape;1281;p99"/>
          <p:cNvCxnSpPr>
            <a:stCxn id="1275" idx="2"/>
            <a:endCxn id="1282" idx="0"/>
          </p:cNvCxnSpPr>
          <p:nvPr/>
        </p:nvCxnSpPr>
        <p:spPr>
          <a:xfrm flipH="1" rot="-5400000">
            <a:off x="6703423" y="2200679"/>
            <a:ext cx="469800" cy="8931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282" name="Google Shape;1282;p99"/>
          <p:cNvSpPr/>
          <p:nvPr/>
        </p:nvSpPr>
        <p:spPr>
          <a:xfrm>
            <a:off x="6653515" y="2882046"/>
            <a:ext cx="1462800" cy="4671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83" name="Google Shape;1283;p99"/>
          <p:cNvSpPr/>
          <p:nvPr/>
        </p:nvSpPr>
        <p:spPr>
          <a:xfrm>
            <a:off x="4583900" y="3978834"/>
            <a:ext cx="1697100" cy="6774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84" name="Google Shape;1284;p99"/>
          <p:cNvSpPr/>
          <p:nvPr/>
        </p:nvSpPr>
        <p:spPr>
          <a:xfrm>
            <a:off x="5678145" y="4276783"/>
            <a:ext cx="1697100" cy="6774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85" name="Google Shape;1285;p99"/>
          <p:cNvSpPr/>
          <p:nvPr/>
        </p:nvSpPr>
        <p:spPr>
          <a:xfrm>
            <a:off x="7364667" y="4276759"/>
            <a:ext cx="1697100" cy="6774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9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286" name="Google Shape;1286;p99"/>
          <p:cNvCxnSpPr>
            <a:stCxn id="1282" idx="2"/>
            <a:endCxn id="1284" idx="0"/>
          </p:cNvCxnSpPr>
          <p:nvPr/>
        </p:nvCxnSpPr>
        <p:spPr>
          <a:xfrm rot="5400000">
            <a:off x="6491965" y="3383796"/>
            <a:ext cx="927600" cy="8583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87" name="Google Shape;1287;p99"/>
          <p:cNvCxnSpPr>
            <a:stCxn id="1282" idx="2"/>
            <a:endCxn id="1285" idx="0"/>
          </p:cNvCxnSpPr>
          <p:nvPr/>
        </p:nvCxnSpPr>
        <p:spPr>
          <a:xfrm flipH="1" rot="-5400000">
            <a:off x="7335265" y="3398796"/>
            <a:ext cx="927600" cy="8283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8" name="Google Shape;1288;p99"/>
          <p:cNvSpPr txBox="1"/>
          <p:nvPr/>
        </p:nvSpPr>
        <p:spPr>
          <a:xfrm>
            <a:off x="6837365" y="3729114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289" name="Google Shape;1289;p99"/>
          <p:cNvCxnSpPr>
            <a:stCxn id="1278" idx="2"/>
            <a:endCxn id="1283" idx="0"/>
          </p:cNvCxnSpPr>
          <p:nvPr/>
        </p:nvCxnSpPr>
        <p:spPr>
          <a:xfrm>
            <a:off x="5432471" y="3339915"/>
            <a:ext cx="0" cy="63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90" name="Google Shape;1290;p99"/>
          <p:cNvSpPr txBox="1"/>
          <p:nvPr/>
        </p:nvSpPr>
        <p:spPr>
          <a:xfrm>
            <a:off x="5808310" y="2558587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91" name="Google Shape;1291;p99"/>
          <p:cNvSpPr txBox="1"/>
          <p:nvPr/>
        </p:nvSpPr>
        <p:spPr>
          <a:xfrm>
            <a:off x="6763842" y="2563208"/>
            <a:ext cx="413400" cy="16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92" name="Google Shape;1292;p99"/>
          <p:cNvSpPr txBox="1"/>
          <p:nvPr/>
        </p:nvSpPr>
        <p:spPr>
          <a:xfrm>
            <a:off x="5252884" y="3691798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93" name="Google Shape;1293;p99"/>
          <p:cNvSpPr txBox="1"/>
          <p:nvPr/>
        </p:nvSpPr>
        <p:spPr>
          <a:xfrm>
            <a:off x="7631602" y="3688172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294" name="Google Shape;1294;p99"/>
          <p:cNvSpPr txBox="1"/>
          <p:nvPr/>
        </p:nvSpPr>
        <p:spPr>
          <a:xfrm>
            <a:off x="4700391" y="3406823"/>
            <a:ext cx="339900" cy="167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10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 in Social Networks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p10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305" name="Google Shape;1305;p101"/>
          <p:cNvSpPr txBox="1"/>
          <p:nvPr>
            <p:ph idx="1" type="body"/>
          </p:nvPr>
        </p:nvSpPr>
        <p:spPr>
          <a:xfrm>
            <a:off x="311700" y="1225225"/>
            <a:ext cx="408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6" name="Google Shape;1306;p101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07" name="Google Shape;1307;p101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8" name="Google Shape;1308;p101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09" name="Google Shape;1309;p101"/>
          <p:cNvCxnSpPr>
            <a:stCxn id="1307" idx="5"/>
            <a:endCxn id="1308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10" name="Google Shape;1310;p101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1" name="Google Shape;1311;p101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2" name="Google Shape;1312;p101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13" name="Google Shape;1313;p101"/>
          <p:cNvCxnSpPr>
            <a:stCxn id="1308" idx="7"/>
            <a:endCxn id="1310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4" name="Google Shape;1314;p101"/>
          <p:cNvCxnSpPr>
            <a:stCxn id="1312" idx="1"/>
            <a:endCxn id="1310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5" name="Google Shape;1315;p101"/>
          <p:cNvCxnSpPr>
            <a:stCxn id="1312" idx="3"/>
            <a:endCxn id="1311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6" name="Google Shape;1316;p101"/>
          <p:cNvCxnSpPr>
            <a:stCxn id="1311" idx="1"/>
            <a:endCxn id="1310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7" name="Google Shape;1317;p101"/>
          <p:cNvCxnSpPr>
            <a:stCxn id="1311" idx="2"/>
            <a:endCxn id="1308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18" name="Google Shape;1318;p101"/>
          <p:cNvCxnSpPr>
            <a:stCxn id="1311" idx="0"/>
            <a:endCxn id="1308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19" name="Google Shape;1319;p101"/>
          <p:cNvCxnSpPr>
            <a:stCxn id="1311" idx="7"/>
            <a:endCxn id="1310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20" name="Google Shape;1320;p101"/>
          <p:cNvCxnSpPr>
            <a:stCxn id="1308" idx="1"/>
            <a:endCxn id="1307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p10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326" name="Google Shape;1326;p102"/>
          <p:cNvSpPr txBox="1"/>
          <p:nvPr>
            <p:ph idx="1" type="body"/>
          </p:nvPr>
        </p:nvSpPr>
        <p:spPr>
          <a:xfrm>
            <a:off x="311700" y="1225225"/>
            <a:ext cx="47538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associated with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{E, V, </a:t>
            </a:r>
            <a:r>
              <a:rPr b="1" lang="en"/>
              <a:t>w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weights can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Decimals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percentages or proportions)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2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28" name="Google Shape;1328;p102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9" name="Google Shape;1329;p102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0" name="Google Shape;1330;p102"/>
          <p:cNvCxnSpPr>
            <a:stCxn id="1328" idx="5"/>
            <a:endCxn id="132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31" name="Google Shape;1331;p102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2" name="Google Shape;1332;p102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3" name="Google Shape;1333;p102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34" name="Google Shape;1334;p102"/>
          <p:cNvCxnSpPr>
            <a:stCxn id="1329" idx="7"/>
            <a:endCxn id="133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5" name="Google Shape;1335;p102"/>
          <p:cNvCxnSpPr>
            <a:stCxn id="1333" idx="1"/>
            <a:endCxn id="133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6" name="Google Shape;1336;p102"/>
          <p:cNvCxnSpPr>
            <a:stCxn id="1333" idx="3"/>
            <a:endCxn id="133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37" name="Google Shape;1337;p102"/>
          <p:cNvCxnSpPr>
            <a:stCxn id="1332" idx="1"/>
            <a:endCxn id="133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8" name="Google Shape;1338;p102"/>
          <p:cNvCxnSpPr>
            <a:stCxn id="1332" idx="2"/>
            <a:endCxn id="1329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39" name="Google Shape;1339;p102"/>
          <p:cNvCxnSpPr>
            <a:stCxn id="1332" idx="0"/>
            <a:endCxn id="132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0" name="Google Shape;1340;p102"/>
          <p:cNvCxnSpPr>
            <a:stCxn id="1332" idx="7"/>
            <a:endCxn id="133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41" name="Google Shape;1341;p102"/>
          <p:cNvCxnSpPr>
            <a:stCxn id="1329" idx="1"/>
            <a:endCxn id="132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42" name="Google Shape;1342;p102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3" name="Google Shape;1343;p102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4" name="Google Shape;1344;p102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5" name="Google Shape;1345;p102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6" name="Google Shape;1346;p102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7" name="Google Shape;1347;p102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8" name="Google Shape;1348;p102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49" name="Google Shape;1349;p102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50" name="Google Shape;1350;p102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p10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356" name="Google Shape;1356;p103"/>
          <p:cNvSpPr txBox="1"/>
          <p:nvPr>
            <p:ph idx="1" type="body"/>
          </p:nvPr>
        </p:nvSpPr>
        <p:spPr>
          <a:xfrm>
            <a:off x="311700" y="1225225"/>
            <a:ext cx="48762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associated with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 = {E, V, </a:t>
            </a:r>
            <a:r>
              <a:rPr b="1" lang="en"/>
              <a:t>w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Edge weights can be: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Decimals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percentages or proportions)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Integers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(e.g., counts)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Unconnected dyads have a weight of zero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7" name="Google Shape;1357;p103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58" name="Google Shape;1358;p103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59" name="Google Shape;1359;p103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0" name="Google Shape;1360;p103"/>
          <p:cNvCxnSpPr>
            <a:stCxn id="1358" idx="5"/>
            <a:endCxn id="135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61" name="Google Shape;1361;p103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2" name="Google Shape;1362;p103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63" name="Google Shape;1363;p103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64" name="Google Shape;1364;p103"/>
          <p:cNvCxnSpPr>
            <a:stCxn id="1359" idx="7"/>
            <a:endCxn id="136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5" name="Google Shape;1365;p103"/>
          <p:cNvCxnSpPr>
            <a:stCxn id="1363" idx="1"/>
            <a:endCxn id="136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6" name="Google Shape;1366;p103"/>
          <p:cNvCxnSpPr>
            <a:stCxn id="1363" idx="3"/>
            <a:endCxn id="136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67" name="Google Shape;1367;p103"/>
          <p:cNvCxnSpPr>
            <a:stCxn id="1362" idx="1"/>
            <a:endCxn id="136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8" name="Google Shape;1368;p103"/>
          <p:cNvCxnSpPr>
            <a:stCxn id="1362" idx="2"/>
            <a:endCxn id="1359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69" name="Google Shape;1369;p103"/>
          <p:cNvCxnSpPr>
            <a:stCxn id="1362" idx="0"/>
            <a:endCxn id="135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0" name="Google Shape;1370;p103"/>
          <p:cNvCxnSpPr>
            <a:stCxn id="1362" idx="7"/>
            <a:endCxn id="136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71" name="Google Shape;1371;p103"/>
          <p:cNvCxnSpPr>
            <a:stCxn id="1359" idx="1"/>
            <a:endCxn id="135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72" name="Google Shape;1372;p103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3" name="Google Shape;1373;p103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4" name="Google Shape;1374;p103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5" name="Google Shape;1375;p103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6" name="Google Shape;1376;p103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7" name="Google Shape;1377;p103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23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8" name="Google Shape;1378;p103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9" name="Google Shape;1379;p103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80" name="Google Shape;1380;p103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12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386" name="Google Shape;1386;p104"/>
          <p:cNvSpPr txBox="1"/>
          <p:nvPr>
            <p:ph idx="1" type="body"/>
          </p:nvPr>
        </p:nvSpPr>
        <p:spPr>
          <a:xfrm>
            <a:off x="311700" y="1225225"/>
            <a:ext cx="436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7" name="Google Shape;1387;p104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388" name="Google Shape;1388;p104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89" name="Google Shape;1389;p104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0" name="Google Shape;1390;p104"/>
          <p:cNvCxnSpPr>
            <a:stCxn id="1388" idx="5"/>
            <a:endCxn id="138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391" name="Google Shape;1391;p104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2" name="Google Shape;1392;p104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93" name="Google Shape;1393;p104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394" name="Google Shape;1394;p104"/>
          <p:cNvCxnSpPr>
            <a:stCxn id="1389" idx="7"/>
            <a:endCxn id="139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5" name="Google Shape;1395;p104"/>
          <p:cNvCxnSpPr>
            <a:stCxn id="1393" idx="1"/>
            <a:endCxn id="139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6" name="Google Shape;1396;p104"/>
          <p:cNvCxnSpPr>
            <a:stCxn id="1393" idx="3"/>
            <a:endCxn id="139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397" name="Google Shape;1397;p104"/>
          <p:cNvCxnSpPr>
            <a:stCxn id="1392" idx="1"/>
            <a:endCxn id="139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8" name="Google Shape;1398;p104"/>
          <p:cNvCxnSpPr>
            <a:stCxn id="1392" idx="2"/>
            <a:endCxn id="1389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399" name="Google Shape;1399;p104"/>
          <p:cNvCxnSpPr>
            <a:stCxn id="1392" idx="0"/>
            <a:endCxn id="138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0" name="Google Shape;1400;p104"/>
          <p:cNvCxnSpPr>
            <a:stCxn id="1392" idx="7"/>
            <a:endCxn id="139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01" name="Google Shape;1401;p104"/>
          <p:cNvCxnSpPr>
            <a:stCxn id="1389" idx="1"/>
            <a:endCxn id="138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02" name="Google Shape;1402;p104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3" name="Google Shape;1403;p104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4" name="Google Shape;1404;p104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5" name="Google Shape;1405;p104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6" name="Google Shape;1406;p104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7" name="Google Shape;1407;p104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8" name="Google Shape;1408;p104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9" name="Google Shape;1409;p104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0" name="Google Shape;1410;p104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0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416" name="Google Shape;1416;p105"/>
          <p:cNvSpPr txBox="1"/>
          <p:nvPr>
            <p:ph idx="1" type="body"/>
          </p:nvPr>
        </p:nvSpPr>
        <p:spPr>
          <a:xfrm>
            <a:off x="311700" y="1225225"/>
            <a:ext cx="43629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0.34 set the edge to 1.0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05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18" name="Google Shape;1418;p105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19" name="Google Shape;1419;p105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0" name="Google Shape;1420;p105"/>
          <p:cNvCxnSpPr>
            <a:stCxn id="1418" idx="5"/>
            <a:endCxn id="141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21" name="Google Shape;1421;p105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2" name="Google Shape;1422;p105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23" name="Google Shape;1423;p105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24" name="Google Shape;1424;p105"/>
          <p:cNvCxnSpPr>
            <a:stCxn id="1419" idx="7"/>
            <a:endCxn id="142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5" name="Google Shape;1425;p105"/>
          <p:cNvCxnSpPr>
            <a:stCxn id="1423" idx="1"/>
            <a:endCxn id="1421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6" name="Google Shape;1426;p105"/>
          <p:cNvCxnSpPr>
            <a:stCxn id="1423" idx="3"/>
            <a:endCxn id="142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27" name="Google Shape;1427;p105"/>
          <p:cNvCxnSpPr>
            <a:stCxn id="1422" idx="1"/>
            <a:endCxn id="1421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8" name="Google Shape;1428;p105"/>
          <p:cNvCxnSpPr>
            <a:stCxn id="1422" idx="2"/>
            <a:endCxn id="1419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29" name="Google Shape;1429;p105"/>
          <p:cNvCxnSpPr>
            <a:stCxn id="1422" idx="0"/>
            <a:endCxn id="141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0" name="Google Shape;1430;p105"/>
          <p:cNvCxnSpPr>
            <a:stCxn id="1422" idx="7"/>
            <a:endCxn id="142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31" name="Google Shape;1431;p105"/>
          <p:cNvCxnSpPr>
            <a:stCxn id="1419" idx="1"/>
            <a:endCxn id="141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32" name="Google Shape;1432;p105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3" name="Google Shape;1433;p105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4" name="Google Shape;1434;p105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5" name="Google Shape;1435;p105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6" name="Google Shape;1436;p105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7" name="Google Shape;1437;p105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8" name="Google Shape;1438;p105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9" name="Google Shape;1439;p105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0" name="Google Shape;1440;p105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5" name="Google Shape;1445;p10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446" name="Google Shape;1446;p106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 can go from a directed weighted graph to a regular directed graph by using a </a:t>
            </a:r>
            <a:r>
              <a:rPr b="1" lang="en"/>
              <a:t>cutoff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0.34 set the edge to 1.0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</a:t>
            </a:r>
            <a:r>
              <a:rPr b="1" lang="en"/>
              <a:t>binarizing </a:t>
            </a:r>
            <a:r>
              <a:rPr lang="en"/>
              <a:t>the weighted graph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106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48" name="Google Shape;1448;p106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49" name="Google Shape;1449;p106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50" name="Google Shape;1450;p106"/>
          <p:cNvCxnSpPr>
            <a:stCxn id="1448" idx="5"/>
            <a:endCxn id="1449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451" name="Google Shape;1451;p106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2" name="Google Shape;1452;p106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53" name="Google Shape;1453;p106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54" name="Google Shape;1454;p106"/>
          <p:cNvCxnSpPr>
            <a:stCxn id="1449" idx="7"/>
            <a:endCxn id="1451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455" name="Google Shape;1455;p106"/>
          <p:cNvCxnSpPr>
            <a:stCxn id="1453" idx="3"/>
            <a:endCxn id="1452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6" name="Google Shape;1456;p106"/>
          <p:cNvCxnSpPr>
            <a:stCxn id="1452" idx="0"/>
            <a:endCxn id="1449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7" name="Google Shape;1457;p106"/>
          <p:cNvCxnSpPr>
            <a:stCxn id="1452" idx="7"/>
            <a:endCxn id="1451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458" name="Google Shape;1458;p106"/>
          <p:cNvCxnSpPr>
            <a:stCxn id="1449" idx="1"/>
            <a:endCxn id="1448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0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464" name="Google Shape;1464;p107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either directed or undirected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5" name="Google Shape;1465;p107"/>
          <p:cNvSpPr txBox="1"/>
          <p:nvPr/>
        </p:nvSpPr>
        <p:spPr>
          <a:xfrm>
            <a:off x="6200025" y="4386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66" name="Google Shape;1466;p107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67" name="Google Shape;1467;p107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68" name="Google Shape;1468;p107"/>
          <p:cNvCxnSpPr>
            <a:stCxn id="1466" idx="6"/>
            <a:endCxn id="1467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9" name="Google Shape;1469;p107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0" name="Google Shape;1470;p107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71" name="Google Shape;1471;p107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72" name="Google Shape;1472;p107"/>
          <p:cNvCxnSpPr>
            <a:stCxn id="1467" idx="7"/>
            <a:endCxn id="146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3" name="Google Shape;1473;p107"/>
          <p:cNvCxnSpPr>
            <a:stCxn id="1471" idx="1"/>
            <a:endCxn id="146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4" name="Google Shape;1474;p107"/>
          <p:cNvCxnSpPr>
            <a:stCxn id="1471" idx="3"/>
            <a:endCxn id="147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5" name="Google Shape;1475;p107"/>
          <p:cNvCxnSpPr>
            <a:stCxn id="1470" idx="1"/>
            <a:endCxn id="1467" idx="5"/>
          </p:cNvCxnSpPr>
          <p:nvPr/>
        </p:nvCxnSpPr>
        <p:spPr>
          <a:xfrm rot="10800000">
            <a:off x="6489069" y="3114819"/>
            <a:ext cx="730500" cy="647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6" name="Google Shape;1476;p107"/>
          <p:cNvCxnSpPr>
            <a:stCxn id="1470" idx="0"/>
            <a:endCxn id="1469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7" name="Google Shape;1477;p107"/>
          <p:cNvSpPr txBox="1"/>
          <p:nvPr/>
        </p:nvSpPr>
        <p:spPr>
          <a:xfrm>
            <a:off x="5327925" y="26016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8" name="Google Shape;1478;p107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9" name="Google Shape;1479;p107"/>
          <p:cNvSpPr txBox="1"/>
          <p:nvPr/>
        </p:nvSpPr>
        <p:spPr>
          <a:xfrm rot="2573812">
            <a:off x="6462964" y="34036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0" name="Google Shape;1480;p107"/>
          <p:cNvSpPr txBox="1"/>
          <p:nvPr/>
        </p:nvSpPr>
        <p:spPr>
          <a:xfrm rot="-5400000">
            <a:off x="6973098" y="2707198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1" name="Google Shape;1481;p107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2" name="Google Shape;1482;p107"/>
          <p:cNvSpPr txBox="1"/>
          <p:nvPr/>
        </p:nvSpPr>
        <p:spPr>
          <a:xfrm rot="2850427">
            <a:off x="7795834" y="21192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0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488" name="Google Shape;1488;p108"/>
          <p:cNvSpPr txBox="1"/>
          <p:nvPr>
            <p:ph idx="1" type="body"/>
          </p:nvPr>
        </p:nvSpPr>
        <p:spPr>
          <a:xfrm>
            <a:off x="311700" y="1225225"/>
            <a:ext cx="4260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Weighted graphs</a:t>
            </a:r>
            <a:r>
              <a:rPr lang="en"/>
              <a:t> are a special type of graph featuring: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Numerical values linked to each edge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called the </a:t>
            </a:r>
            <a:r>
              <a:rPr b="1" lang="en"/>
              <a:t>edge weight </a:t>
            </a:r>
            <a:r>
              <a:rPr lang="en"/>
              <a:t>(w</a:t>
            </a:r>
            <a:r>
              <a:rPr baseline="-25000" lang="en"/>
              <a:t>uv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 = {E, V, w}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either directed or undirected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Binarizing </a:t>
            </a:r>
            <a:r>
              <a:rPr lang="en"/>
              <a:t>an undirected weighted graph</a:t>
            </a:r>
            <a:r>
              <a:rPr lang="en"/>
              <a:t> returns a </a:t>
            </a:r>
            <a:r>
              <a:rPr b="1" lang="en"/>
              <a:t>simple graph</a:t>
            </a:r>
            <a:endParaRPr b="1"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if </a:t>
            </a:r>
            <a:r>
              <a:rPr b="1" lang="en"/>
              <a:t>w</a:t>
            </a:r>
            <a:r>
              <a:rPr lang="en"/>
              <a:t> &gt; 0.15 set the edge to 1.0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Otherwise set </a:t>
            </a:r>
            <a:r>
              <a:rPr b="1" lang="en"/>
              <a:t>w </a:t>
            </a:r>
            <a:r>
              <a:rPr lang="en"/>
              <a:t>to zero (drop it)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9" name="Google Shape;1489;p108"/>
          <p:cNvSpPr txBox="1"/>
          <p:nvPr/>
        </p:nvSpPr>
        <p:spPr>
          <a:xfrm>
            <a:off x="6200025" y="4386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490" name="Google Shape;1490;p108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1" name="Google Shape;1491;p108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2" name="Google Shape;1492;p108"/>
          <p:cNvCxnSpPr>
            <a:stCxn id="1490" idx="6"/>
            <a:endCxn id="1491" idx="2"/>
          </p:cNvCxnSpPr>
          <p:nvPr/>
        </p:nvCxnSpPr>
        <p:spPr>
          <a:xfrm>
            <a:off x="5236275" y="2902225"/>
            <a:ext cx="7395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3" name="Google Shape;1493;p108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4" name="Google Shape;1494;p108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495" name="Google Shape;1495;p108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496" name="Google Shape;1496;p108"/>
          <p:cNvCxnSpPr>
            <a:stCxn id="1491" idx="7"/>
            <a:endCxn id="1493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7" name="Google Shape;1497;p108"/>
          <p:cNvCxnSpPr>
            <a:stCxn id="1495" idx="3"/>
            <a:endCxn id="1494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8" name="Google Shape;1498;p108"/>
          <p:cNvCxnSpPr>
            <a:stCxn id="1494" idx="0"/>
            <a:endCxn id="1493" idx="4"/>
          </p:cNvCxnSpPr>
          <p:nvPr/>
        </p:nvCxnSpPr>
        <p:spPr>
          <a:xfrm rot="10800000">
            <a:off x="7432125" y="2088675"/>
            <a:ext cx="0" cy="1585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2" name="Shape 1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3" name="Google Shape;1503;p109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graphs</a:t>
            </a:r>
            <a:endParaRPr/>
          </a:p>
        </p:txBody>
      </p:sp>
      <p:sp>
        <p:nvSpPr>
          <p:cNvPr id="1504" name="Google Shape;1504;p109"/>
          <p:cNvSpPr txBox="1"/>
          <p:nvPr>
            <p:ph idx="1" type="body"/>
          </p:nvPr>
        </p:nvSpPr>
        <p:spPr>
          <a:xfrm>
            <a:off x="311700" y="1225225"/>
            <a:ext cx="43233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Weighted graphs can be used to represent </a:t>
            </a:r>
            <a:r>
              <a:rPr b="1" lang="en"/>
              <a:t>weighted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weighted network we not only measure the presence/absence of a tie, but also the </a:t>
            </a:r>
            <a:r>
              <a:rPr b="1" lang="en"/>
              <a:t>strength</a:t>
            </a:r>
            <a:r>
              <a:rPr b="1" lang="en"/>
              <a:t> of the tie</a:t>
            </a:r>
            <a:r>
              <a:rPr lang="en"/>
              <a:t>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Proportion of time i and j spend together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texts from i to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times i retweets j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Number of times i goes to j for help or advice</a:t>
            </a:r>
            <a:endParaRPr/>
          </a:p>
        </p:txBody>
      </p:sp>
      <p:sp>
        <p:nvSpPr>
          <p:cNvPr id="1505" name="Google Shape;1505;p109"/>
          <p:cNvSpPr txBox="1"/>
          <p:nvPr/>
        </p:nvSpPr>
        <p:spPr>
          <a:xfrm>
            <a:off x="6200025" y="43345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  <p:sp>
        <p:nvSpPr>
          <p:cNvPr id="1506" name="Google Shape;1506;p109"/>
          <p:cNvSpPr/>
          <p:nvPr/>
        </p:nvSpPr>
        <p:spPr>
          <a:xfrm>
            <a:off x="4635075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07" name="Google Shape;1507;p109"/>
          <p:cNvSpPr/>
          <p:nvPr/>
        </p:nvSpPr>
        <p:spPr>
          <a:xfrm>
            <a:off x="5975850" y="260162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08" name="Google Shape;1508;p109"/>
          <p:cNvCxnSpPr>
            <a:stCxn id="1506" idx="5"/>
            <a:endCxn id="1507" idx="3"/>
          </p:cNvCxnSpPr>
          <p:nvPr/>
        </p:nvCxnSpPr>
        <p:spPr>
          <a:xfrm>
            <a:off x="5148231" y="3114781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09" name="Google Shape;1509;p109"/>
          <p:cNvSpPr/>
          <p:nvPr/>
        </p:nvSpPr>
        <p:spPr>
          <a:xfrm>
            <a:off x="7131525" y="14876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0" name="Google Shape;1510;p109"/>
          <p:cNvSpPr/>
          <p:nvPr/>
        </p:nvSpPr>
        <p:spPr>
          <a:xfrm>
            <a:off x="7131525" y="36741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11" name="Google Shape;1511;p109"/>
          <p:cNvSpPr/>
          <p:nvPr/>
        </p:nvSpPr>
        <p:spPr>
          <a:xfrm>
            <a:off x="8287200" y="2644475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12" name="Google Shape;1512;p109"/>
          <p:cNvCxnSpPr>
            <a:stCxn id="1507" idx="7"/>
            <a:endCxn id="1509" idx="3"/>
          </p:cNvCxnSpPr>
          <p:nvPr/>
        </p:nvCxnSpPr>
        <p:spPr>
          <a:xfrm flipH="1" rot="10800000">
            <a:off x="6489006" y="2000869"/>
            <a:ext cx="730500" cy="688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13" name="Google Shape;1513;p109"/>
          <p:cNvCxnSpPr>
            <a:stCxn id="1511" idx="1"/>
            <a:endCxn id="1509" idx="5"/>
          </p:cNvCxnSpPr>
          <p:nvPr/>
        </p:nvCxnSpPr>
        <p:spPr>
          <a:xfrm rot="10800000">
            <a:off x="7644744" y="2000819"/>
            <a:ext cx="730500" cy="731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4" name="Google Shape;1514;p109"/>
          <p:cNvCxnSpPr>
            <a:stCxn id="1511" idx="3"/>
            <a:endCxn id="1510" idx="7"/>
          </p:cNvCxnSpPr>
          <p:nvPr/>
        </p:nvCxnSpPr>
        <p:spPr>
          <a:xfrm flipH="1">
            <a:off x="7644744" y="3157631"/>
            <a:ext cx="730500" cy="604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5" name="Google Shape;1515;p109"/>
          <p:cNvCxnSpPr>
            <a:stCxn id="1510" idx="1"/>
            <a:endCxn id="1509" idx="3"/>
          </p:cNvCxnSpPr>
          <p:nvPr/>
        </p:nvCxnSpPr>
        <p:spPr>
          <a:xfrm rot="10800000">
            <a:off x="7219569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16" name="Google Shape;1516;p109"/>
          <p:cNvCxnSpPr>
            <a:stCxn id="1510" idx="2"/>
            <a:endCxn id="1507" idx="4"/>
          </p:cNvCxnSpPr>
          <p:nvPr/>
        </p:nvCxnSpPr>
        <p:spPr>
          <a:xfrm rot="10800000">
            <a:off x="6276525" y="32028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1517" name="Google Shape;1517;p109"/>
          <p:cNvCxnSpPr>
            <a:stCxn id="1510" idx="0"/>
            <a:endCxn id="1507" idx="6"/>
          </p:cNvCxnSpPr>
          <p:nvPr/>
        </p:nvCxnSpPr>
        <p:spPr>
          <a:xfrm rot="10800000">
            <a:off x="6577125" y="2902275"/>
            <a:ext cx="855000" cy="771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8" name="Google Shape;1518;p109"/>
          <p:cNvCxnSpPr>
            <a:stCxn id="1510" idx="7"/>
            <a:endCxn id="1509" idx="5"/>
          </p:cNvCxnSpPr>
          <p:nvPr/>
        </p:nvCxnSpPr>
        <p:spPr>
          <a:xfrm rot="10800000">
            <a:off x="7644681" y="2000619"/>
            <a:ext cx="0" cy="1761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519" name="Google Shape;1519;p109"/>
          <p:cNvCxnSpPr>
            <a:stCxn id="1507" idx="1"/>
            <a:endCxn id="1506" idx="7"/>
          </p:cNvCxnSpPr>
          <p:nvPr/>
        </p:nvCxnSpPr>
        <p:spPr>
          <a:xfrm rot="10800000">
            <a:off x="5148294" y="2689669"/>
            <a:ext cx="915600" cy="0"/>
          </a:xfrm>
          <a:prstGeom prst="straightConnector1">
            <a:avLst/>
          </a:prstGeom>
          <a:noFill/>
          <a:ln cap="flat" cmpd="sng" w="28575">
            <a:solidFill>
              <a:srgbClr val="B7B7B7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1520" name="Google Shape;1520;p109"/>
          <p:cNvSpPr txBox="1"/>
          <p:nvPr/>
        </p:nvSpPr>
        <p:spPr>
          <a:xfrm>
            <a:off x="5281200" y="23973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0.35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1" name="Google Shape;1521;p109"/>
          <p:cNvSpPr txBox="1"/>
          <p:nvPr/>
        </p:nvSpPr>
        <p:spPr>
          <a:xfrm>
            <a:off x="5327913" y="306967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0.78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2" name="Google Shape;1522;p109"/>
          <p:cNvSpPr txBox="1"/>
          <p:nvPr/>
        </p:nvSpPr>
        <p:spPr>
          <a:xfrm rot="-2700000">
            <a:off x="6462948" y="2061529"/>
            <a:ext cx="601182" cy="34874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0.63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3" name="Google Shape;1523;p109"/>
          <p:cNvSpPr txBox="1"/>
          <p:nvPr/>
        </p:nvSpPr>
        <p:spPr>
          <a:xfrm rot="2573812">
            <a:off x="6229739" y="3464553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0.14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4" name="Google Shape;1524;p109"/>
          <p:cNvSpPr txBox="1"/>
          <p:nvPr/>
        </p:nvSpPr>
        <p:spPr>
          <a:xfrm rot="2573812">
            <a:off x="6704039" y="2948690"/>
            <a:ext cx="601163" cy="34855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0.98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5" name="Google Shape;1525;p109"/>
          <p:cNvSpPr txBox="1"/>
          <p:nvPr/>
        </p:nvSpPr>
        <p:spPr>
          <a:xfrm rot="-5400000">
            <a:off x="6810373" y="2523361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0.33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6" name="Google Shape;1526;p109"/>
          <p:cNvSpPr txBox="1"/>
          <p:nvPr/>
        </p:nvSpPr>
        <p:spPr>
          <a:xfrm rot="-5400000">
            <a:off x="7452761" y="2515386"/>
            <a:ext cx="6012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0.36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7" name="Google Shape;1527;p109"/>
          <p:cNvSpPr txBox="1"/>
          <p:nvPr/>
        </p:nvSpPr>
        <p:spPr>
          <a:xfrm rot="-2451147">
            <a:off x="7853906" y="3335323"/>
            <a:ext cx="601272" cy="3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0.52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8" name="Google Shape;1528;p109"/>
          <p:cNvSpPr txBox="1"/>
          <p:nvPr/>
        </p:nvSpPr>
        <p:spPr>
          <a:xfrm rot="2850427">
            <a:off x="7893084" y="2170948"/>
            <a:ext cx="601334" cy="348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0.07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110"/>
          <p:cNvSpPr txBox="1"/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 in Social Networks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11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539" name="Google Shape;1539;p111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0" name="Google Shape;1540;p111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1" name="Google Shape;1541;p111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2" name="Google Shape;1542;p111"/>
          <p:cNvCxnSpPr>
            <a:stCxn id="1540" idx="0"/>
            <a:endCxn id="1541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43" name="Google Shape;1543;p111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4" name="Google Shape;1544;p111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45" name="Google Shape;1545;p111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46" name="Google Shape;1546;p111"/>
          <p:cNvCxnSpPr>
            <a:stCxn id="1541" idx="7"/>
            <a:endCxn id="1543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7" name="Google Shape;1547;p111"/>
          <p:cNvCxnSpPr>
            <a:stCxn id="1545" idx="1"/>
            <a:endCxn id="1543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8" name="Google Shape;1548;p111"/>
          <p:cNvCxnSpPr>
            <a:stCxn id="1545" idx="3"/>
            <a:endCxn id="1544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49" name="Google Shape;1549;p111"/>
          <p:cNvCxnSpPr>
            <a:stCxn id="1544" idx="0"/>
            <a:endCxn id="1543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0" name="Google Shape;1550;p111"/>
          <p:cNvCxnSpPr>
            <a:stCxn id="1544" idx="0"/>
            <a:endCxn id="1541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51" name="Google Shape;1551;p111"/>
          <p:cNvCxnSpPr>
            <a:stCxn id="1540" idx="0"/>
            <a:endCxn id="1543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52" name="Google Shape;1552;p111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3" name="Google Shape;1553;p111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4" name="Google Shape;1554;p111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5" name="Google Shape;1555;p111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6" name="Google Shape;1556;p111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7" name="Google Shape;1557;p111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8" name="Google Shape;1558;p111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9" name="Google Shape;1559;p111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</a:t>
            </a: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112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565" name="Google Shape;1565;p112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112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67" name="Google Shape;1567;p112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68" name="Google Shape;1568;p112"/>
          <p:cNvCxnSpPr>
            <a:stCxn id="1566" idx="0"/>
            <a:endCxn id="156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9" name="Google Shape;1569;p112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0" name="Google Shape;1570;p112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71" name="Google Shape;1571;p112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72" name="Google Shape;1572;p112"/>
          <p:cNvCxnSpPr>
            <a:stCxn id="1567" idx="7"/>
            <a:endCxn id="156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3" name="Google Shape;1573;p112"/>
          <p:cNvCxnSpPr>
            <a:stCxn id="1571" idx="1"/>
            <a:endCxn id="156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4" name="Google Shape;1574;p112"/>
          <p:cNvCxnSpPr>
            <a:stCxn id="1571" idx="3"/>
            <a:endCxn id="157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5" name="Google Shape;1575;p112"/>
          <p:cNvCxnSpPr>
            <a:stCxn id="1570" idx="0"/>
            <a:endCxn id="156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6" name="Google Shape;1576;p112"/>
          <p:cNvCxnSpPr>
            <a:stCxn id="1570" idx="0"/>
            <a:endCxn id="156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7" name="Google Shape;1577;p112"/>
          <p:cNvCxnSpPr>
            <a:stCxn id="1566" idx="0"/>
            <a:endCxn id="1569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8" name="Google Shape;1578;p112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9" name="Google Shape;1579;p112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0" name="Google Shape;1580;p112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1" name="Google Shape;1581;p112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2" name="Google Shape;1582;p112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3" name="Google Shape;1583;p112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4" name="Google Shape;1584;p112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5" name="Google Shape;1585;p112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9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113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591" name="Google Shape;1591;p113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0000FF"/>
                </a:solidFill>
              </a:rPr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>
                <a:solidFill>
                  <a:srgbClr val="FF0000"/>
                </a:solidFill>
              </a:rPr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1592" name="Google Shape;1592;p113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3" name="Google Shape;1593;p113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4" name="Google Shape;1594;p113"/>
          <p:cNvCxnSpPr>
            <a:stCxn id="1592" idx="0"/>
            <a:endCxn id="1593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5" name="Google Shape;1595;p113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6" name="Google Shape;1596;p113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597" name="Google Shape;1597;p113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598" name="Google Shape;1598;p113"/>
          <p:cNvCxnSpPr>
            <a:stCxn id="1593" idx="7"/>
            <a:endCxn id="1595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9" name="Google Shape;1599;p113"/>
          <p:cNvCxnSpPr>
            <a:stCxn id="1597" idx="1"/>
            <a:endCxn id="1595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0" name="Google Shape;1600;p113"/>
          <p:cNvCxnSpPr>
            <a:stCxn id="1597" idx="3"/>
            <a:endCxn id="1596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1" name="Google Shape;1601;p113"/>
          <p:cNvCxnSpPr>
            <a:stCxn id="1596" idx="0"/>
            <a:endCxn id="1595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2" name="Google Shape;1602;p113"/>
          <p:cNvCxnSpPr>
            <a:stCxn id="1596" idx="0"/>
            <a:endCxn id="1593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3" name="Google Shape;1603;p113"/>
          <p:cNvCxnSpPr>
            <a:stCxn id="1592" idx="0"/>
            <a:endCxn id="1595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4" name="Google Shape;1604;p113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5" name="Google Shape;1605;p113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6" name="Google Shape;1606;p113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7" name="Google Shape;1607;p113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8" name="Google Shape;1608;p113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9" name="Google Shape;1609;p113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0" name="Google Shape;1610;p113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1" name="Google Shape;1611;p113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114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617" name="Google Shape;1617;p114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</p:txBody>
      </p:sp>
      <p:sp>
        <p:nvSpPr>
          <p:cNvPr id="1618" name="Google Shape;1618;p114"/>
          <p:cNvSpPr/>
          <p:nvPr/>
        </p:nvSpPr>
        <p:spPr>
          <a:xfrm>
            <a:off x="481825" y="3597475"/>
            <a:ext cx="3950400" cy="13188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Two sets are disjoint when they don’t share any members! (Their intersection is the empty set ∅)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619" name="Google Shape;1619;p114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0" name="Google Shape;1620;p114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1" name="Google Shape;1621;p114"/>
          <p:cNvCxnSpPr>
            <a:stCxn id="1619" idx="0"/>
            <a:endCxn id="1620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22" name="Google Shape;1622;p114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3" name="Google Shape;1623;p114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24" name="Google Shape;1624;p114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25" name="Google Shape;1625;p114"/>
          <p:cNvCxnSpPr>
            <a:stCxn id="1620" idx="7"/>
            <a:endCxn id="1622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6" name="Google Shape;1626;p114"/>
          <p:cNvCxnSpPr>
            <a:stCxn id="1624" idx="1"/>
            <a:endCxn id="1622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7" name="Google Shape;1627;p114"/>
          <p:cNvCxnSpPr>
            <a:stCxn id="1624" idx="3"/>
            <a:endCxn id="1623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8" name="Google Shape;1628;p114"/>
          <p:cNvCxnSpPr>
            <a:stCxn id="1623" idx="0"/>
            <a:endCxn id="1622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9" name="Google Shape;1629;p114"/>
          <p:cNvCxnSpPr>
            <a:stCxn id="1623" idx="0"/>
            <a:endCxn id="1620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0" name="Google Shape;1630;p114"/>
          <p:cNvCxnSpPr>
            <a:stCxn id="1619" idx="0"/>
            <a:endCxn id="1622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1" name="Google Shape;1631;p114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2" name="Google Shape;1632;p114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3" name="Google Shape;1633;p114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4" name="Google Shape;1634;p114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5" name="Google Shape;1635;p114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6" name="Google Shape;1636;p114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7" name="Google Shape;1637;p114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8" name="Google Shape;1638;p114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Signed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15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644" name="Google Shape;1644;p115"/>
          <p:cNvSpPr txBox="1"/>
          <p:nvPr>
            <p:ph idx="1" type="body"/>
          </p:nvPr>
        </p:nvSpPr>
        <p:spPr>
          <a:xfrm>
            <a:off x="311700" y="1225225"/>
            <a:ext cx="45285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a special kind of (multi)graph featuring: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One edge set (V)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Two</a:t>
            </a:r>
            <a:r>
              <a:rPr lang="en"/>
              <a:t> </a:t>
            </a:r>
            <a:r>
              <a:rPr b="1" lang="en"/>
              <a:t>disjoint</a:t>
            </a:r>
            <a:r>
              <a:rPr lang="en"/>
              <a:t> sets of edges: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Positive links</a:t>
            </a:r>
            <a:r>
              <a:rPr lang="en"/>
              <a:t> (E</a:t>
            </a:r>
            <a:r>
              <a:rPr baseline="30000" lang="en"/>
              <a:t>+</a:t>
            </a:r>
            <a:r>
              <a:rPr lang="en"/>
              <a:t>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b="1" lang="en"/>
              <a:t>Negative links</a:t>
            </a:r>
            <a:r>
              <a:rPr lang="en"/>
              <a:t> (E</a:t>
            </a:r>
            <a:r>
              <a:rPr baseline="30000" lang="en"/>
              <a:t>-</a:t>
            </a:r>
            <a:r>
              <a:rPr lang="en"/>
              <a:t>)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G= {V, E</a:t>
            </a:r>
            <a:r>
              <a:rPr baseline="30000" lang="en"/>
              <a:t>+</a:t>
            </a:r>
            <a:r>
              <a:rPr lang="en"/>
              <a:t>, E</a:t>
            </a:r>
            <a:r>
              <a:rPr baseline="30000" lang="en"/>
              <a:t>-</a:t>
            </a:r>
            <a:r>
              <a:rPr lang="en"/>
              <a:t>}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Signed graphs can be either directed or undirected</a:t>
            </a:r>
            <a:endParaRPr/>
          </a:p>
        </p:txBody>
      </p:sp>
      <p:sp>
        <p:nvSpPr>
          <p:cNvPr id="1645" name="Google Shape;1645;p115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6" name="Google Shape;1646;p115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47" name="Google Shape;1647;p115"/>
          <p:cNvCxnSpPr>
            <a:stCxn id="1645" idx="0"/>
            <a:endCxn id="1646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48" name="Google Shape;1648;p115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49" name="Google Shape;1649;p115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50" name="Google Shape;1650;p115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51" name="Google Shape;1651;p115"/>
          <p:cNvCxnSpPr>
            <a:stCxn id="1646" idx="7"/>
            <a:endCxn id="1648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2" name="Google Shape;1652;p115"/>
          <p:cNvCxnSpPr>
            <a:stCxn id="1650" idx="1"/>
            <a:endCxn id="1648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3" name="Google Shape;1653;p115"/>
          <p:cNvCxnSpPr>
            <a:stCxn id="1650" idx="3"/>
            <a:endCxn id="1649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4" name="Google Shape;1654;p115"/>
          <p:cNvCxnSpPr>
            <a:stCxn id="1649" idx="0"/>
            <a:endCxn id="1648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5" name="Google Shape;1655;p115"/>
          <p:cNvCxnSpPr>
            <a:stCxn id="1649" idx="0"/>
            <a:endCxn id="1646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56" name="Google Shape;1656;p115"/>
          <p:cNvCxnSpPr>
            <a:stCxn id="1645" idx="0"/>
            <a:endCxn id="1648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7" name="Google Shape;1657;p115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8" name="Google Shape;1658;p115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9" name="Google Shape;1659;p115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0" name="Google Shape;1660;p115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1" name="Google Shape;1661;p115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2" name="Google Shape;1662;p115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3" name="Google Shape;1663;p115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64" name="Google Shape;1664;p115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116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670" name="Google Shape;1670;p116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can be used to represent </a:t>
            </a:r>
            <a:r>
              <a:rPr b="1" lang="en"/>
              <a:t>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sentiment network edges have a </a:t>
            </a:r>
            <a:r>
              <a:rPr b="1" lang="en"/>
              <a:t>bipolar</a:t>
            </a:r>
            <a:r>
              <a:rPr lang="en"/>
              <a:t> emotional or cognitive value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Likes and dislikes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Alliances/Enmities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theory of </a:t>
            </a:r>
            <a:r>
              <a:rPr b="1" lang="en"/>
              <a:t>structural balance</a:t>
            </a:r>
            <a:r>
              <a:rPr lang="en"/>
              <a:t> deals with sentiment relations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1" name="Google Shape;1671;p116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2" name="Google Shape;1672;p116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73" name="Google Shape;1673;p116"/>
          <p:cNvCxnSpPr>
            <a:stCxn id="1671" idx="0"/>
            <a:endCxn id="1672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4" name="Google Shape;1674;p116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5" name="Google Shape;1675;p116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76" name="Google Shape;1676;p116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77" name="Google Shape;1677;p116"/>
          <p:cNvCxnSpPr>
            <a:stCxn id="1672" idx="7"/>
            <a:endCxn id="1674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8" name="Google Shape;1678;p116"/>
          <p:cNvCxnSpPr>
            <a:stCxn id="1676" idx="1"/>
            <a:endCxn id="1674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9" name="Google Shape;1679;p116"/>
          <p:cNvCxnSpPr>
            <a:stCxn id="1676" idx="3"/>
            <a:endCxn id="1675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0" name="Google Shape;1680;p116"/>
          <p:cNvCxnSpPr>
            <a:stCxn id="1675" idx="0"/>
            <a:endCxn id="1674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1" name="Google Shape;1681;p116"/>
          <p:cNvCxnSpPr>
            <a:stCxn id="1675" idx="0"/>
            <a:endCxn id="1672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2" name="Google Shape;1682;p116"/>
          <p:cNvCxnSpPr>
            <a:stCxn id="1671" idx="0"/>
            <a:endCxn id="1674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83" name="Google Shape;1683;p116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4" name="Google Shape;1684;p116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5" name="Google Shape;1685;p116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6" name="Google Shape;1686;p116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7" name="Google Shape;1687;p116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8" name="Google Shape;1688;p116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89" name="Google Shape;1689;p116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0" name="Google Shape;1690;p116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4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117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696" name="Google Shape;1696;p117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Signed graphs</a:t>
            </a:r>
            <a:r>
              <a:rPr lang="en"/>
              <a:t> are can be used to represent </a:t>
            </a:r>
            <a:r>
              <a:rPr b="1" lang="en"/>
              <a:t>sentiment networks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 a sentiment network edges have a </a:t>
            </a:r>
            <a:r>
              <a:rPr b="1" lang="en"/>
              <a:t>bipolar</a:t>
            </a:r>
            <a:r>
              <a:rPr lang="en"/>
              <a:t> emotional or cognitive value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Likes and dislikes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Alliances/Enmities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network theory of </a:t>
            </a:r>
            <a:r>
              <a:rPr b="1" lang="en"/>
              <a:t>structural balance</a:t>
            </a:r>
            <a:r>
              <a:rPr lang="en"/>
              <a:t> deals with sentiment relations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Can we predict the sign of a new edge based on the sign of other edges?</a:t>
            </a:r>
            <a:endParaRPr/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7" name="Google Shape;1697;p117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698" name="Google Shape;1698;p117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699" name="Google Shape;1699;p117"/>
          <p:cNvCxnSpPr>
            <a:stCxn id="1697" idx="0"/>
            <a:endCxn id="1698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0" name="Google Shape;1700;p117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1" name="Google Shape;1701;p117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02" name="Google Shape;1702;p117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03" name="Google Shape;1703;p117"/>
          <p:cNvCxnSpPr>
            <a:stCxn id="1698" idx="7"/>
            <a:endCxn id="1700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4" name="Google Shape;1704;p117"/>
          <p:cNvCxnSpPr>
            <a:stCxn id="1702" idx="1"/>
            <a:endCxn id="1700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5" name="Google Shape;1705;p117"/>
          <p:cNvCxnSpPr>
            <a:stCxn id="1702" idx="3"/>
            <a:endCxn id="1701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6" name="Google Shape;1706;p117"/>
          <p:cNvCxnSpPr>
            <a:stCxn id="1701" idx="0"/>
            <a:endCxn id="1700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7" name="Google Shape;1707;p117"/>
          <p:cNvCxnSpPr>
            <a:stCxn id="1701" idx="0"/>
            <a:endCxn id="1698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8" name="Google Shape;1708;p117"/>
          <p:cNvCxnSpPr>
            <a:stCxn id="1697" idx="0"/>
            <a:endCxn id="1700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9" name="Google Shape;1709;p117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0" name="Google Shape;1710;p117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1" name="Google Shape;1711;p117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2" name="Google Shape;1712;p117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3" name="Google Shape;1713;p117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4" name="Google Shape;1714;p117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5" name="Google Shape;1715;p117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16" name="Google Shape;1716;p117"/>
          <p:cNvCxnSpPr>
            <a:stCxn id="1697" idx="6"/>
            <a:endCxn id="1701" idx="2"/>
          </p:cNvCxnSpPr>
          <p:nvPr/>
        </p:nvCxnSpPr>
        <p:spPr>
          <a:xfrm>
            <a:off x="5778050" y="4189850"/>
            <a:ext cx="744600" cy="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717" name="Google Shape;1717;p117"/>
          <p:cNvSpPr txBox="1"/>
          <p:nvPr/>
        </p:nvSpPr>
        <p:spPr>
          <a:xfrm>
            <a:off x="5849750" y="41898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?</a:t>
            </a:r>
            <a:endParaRPr b="1" sz="1800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8" name="Google Shape;1718;p117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18"/>
          <p:cNvSpPr txBox="1"/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Signed graphs</a:t>
            </a:r>
            <a:endParaRPr/>
          </a:p>
        </p:txBody>
      </p:sp>
      <p:sp>
        <p:nvSpPr>
          <p:cNvPr id="1724" name="Google Shape;1724;p118"/>
          <p:cNvSpPr txBox="1"/>
          <p:nvPr>
            <p:ph idx="1" type="body"/>
          </p:nvPr>
        </p:nvSpPr>
        <p:spPr>
          <a:xfrm>
            <a:off x="311700" y="1225225"/>
            <a:ext cx="4565400" cy="33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">
                <a:solidFill>
                  <a:srgbClr val="000000"/>
                </a:solidFill>
              </a:rPr>
              <a:t>Signed graphs</a:t>
            </a:r>
            <a:r>
              <a:rPr lang="en">
                <a:solidFill>
                  <a:srgbClr val="000000"/>
                </a:solidFill>
              </a:rPr>
              <a:t> are can be used to represent </a:t>
            </a:r>
            <a:r>
              <a:rPr b="1" lang="en">
                <a:solidFill>
                  <a:srgbClr val="000000"/>
                </a:solidFill>
              </a:rPr>
              <a:t>sentiment networks</a:t>
            </a:r>
            <a:endParaRPr b="1"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In a sentiment network edges have a </a:t>
            </a:r>
            <a:r>
              <a:rPr b="1" lang="en">
                <a:solidFill>
                  <a:srgbClr val="000000"/>
                </a:solidFill>
              </a:rPr>
              <a:t>bipolar</a:t>
            </a:r>
            <a:r>
              <a:rPr lang="en">
                <a:solidFill>
                  <a:srgbClr val="000000"/>
                </a:solidFill>
              </a:rPr>
              <a:t> emotional or cognitive value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Likes and dislikes</a:t>
            </a:r>
            <a:endParaRPr>
              <a:solidFill>
                <a:srgbClr val="000000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■"/>
            </a:pPr>
            <a:r>
              <a:rPr lang="en">
                <a:solidFill>
                  <a:srgbClr val="000000"/>
                </a:solidFill>
              </a:rPr>
              <a:t>Alliances/Enmities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The network theory of </a:t>
            </a:r>
            <a:r>
              <a:rPr b="1" lang="en">
                <a:solidFill>
                  <a:srgbClr val="000000"/>
                </a:solidFill>
              </a:rPr>
              <a:t>structural balance</a:t>
            </a:r>
            <a:r>
              <a:rPr lang="en">
                <a:solidFill>
                  <a:srgbClr val="000000"/>
                </a:solidFill>
              </a:rPr>
              <a:t> deals with sentiment relations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Can we predict the sign of an edge based on the sign of other edges?</a:t>
            </a:r>
            <a:endParaRPr>
              <a:solidFill>
                <a:srgbClr val="00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Char char="○"/>
            </a:pPr>
            <a:r>
              <a:rPr lang="en">
                <a:solidFill>
                  <a:srgbClr val="000000"/>
                </a:solidFill>
              </a:rPr>
              <a:t>Yes! (If people prefer balance)</a:t>
            </a:r>
            <a:endParaRPr>
              <a:solidFill>
                <a:srgbClr val="000000"/>
              </a:solidFill>
            </a:endParaRPr>
          </a:p>
          <a:p>
            <a:pPr indent="0" lvl="0" marL="13716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725" name="Google Shape;1725;p118"/>
          <p:cNvSpPr/>
          <p:nvPr/>
        </p:nvSpPr>
        <p:spPr>
          <a:xfrm>
            <a:off x="4992675" y="102625"/>
            <a:ext cx="1627200" cy="1122600"/>
          </a:xfrm>
          <a:prstGeom prst="ellipse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</a:rPr>
              <a:t>This tie should be negative!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726" name="Google Shape;1726;p118"/>
          <p:cNvSpPr/>
          <p:nvPr/>
        </p:nvSpPr>
        <p:spPr>
          <a:xfrm>
            <a:off x="5176850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B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27" name="Google Shape;1727;p118"/>
          <p:cNvSpPr/>
          <p:nvPr/>
        </p:nvSpPr>
        <p:spPr>
          <a:xfrm>
            <a:off x="517685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E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28" name="Google Shape;1728;p118"/>
          <p:cNvCxnSpPr>
            <a:stCxn id="1726" idx="0"/>
            <a:endCxn id="1727" idx="4"/>
          </p:cNvCxnSpPr>
          <p:nvPr/>
        </p:nvCxnSpPr>
        <p:spPr>
          <a:xfrm rot="10800000">
            <a:off x="5477450" y="2766650"/>
            <a:ext cx="0" cy="112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9" name="Google Shape;1729;p118"/>
          <p:cNvSpPr/>
          <p:nvPr/>
        </p:nvSpPr>
        <p:spPr>
          <a:xfrm>
            <a:off x="6522675" y="101800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C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0" name="Google Shape;1730;p118"/>
          <p:cNvSpPr/>
          <p:nvPr/>
        </p:nvSpPr>
        <p:spPr>
          <a:xfrm>
            <a:off x="6522675" y="38892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D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731" name="Google Shape;1731;p118"/>
          <p:cNvSpPr/>
          <p:nvPr/>
        </p:nvSpPr>
        <p:spPr>
          <a:xfrm>
            <a:off x="7681600" y="2165450"/>
            <a:ext cx="601200" cy="601200"/>
          </a:xfrm>
          <a:prstGeom prst="ellipse">
            <a:avLst/>
          </a:prstGeom>
          <a:solidFill>
            <a:schemeClr val="lt2"/>
          </a:solidFill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xygen"/>
                <a:ea typeface="Oxygen"/>
                <a:cs typeface="Oxygen"/>
                <a:sym typeface="Oxygen"/>
              </a:rPr>
              <a:t>A</a:t>
            </a:r>
            <a:endParaRPr sz="2500">
              <a:latin typeface="Oxygen"/>
              <a:ea typeface="Oxygen"/>
              <a:cs typeface="Oxygen"/>
              <a:sym typeface="Oxygen"/>
            </a:endParaRPr>
          </a:p>
        </p:txBody>
      </p:sp>
      <p:cxnSp>
        <p:nvCxnSpPr>
          <p:cNvPr id="1732" name="Google Shape;1732;p118"/>
          <p:cNvCxnSpPr>
            <a:stCxn id="1727" idx="7"/>
            <a:endCxn id="1729" idx="4"/>
          </p:cNvCxnSpPr>
          <p:nvPr/>
        </p:nvCxnSpPr>
        <p:spPr>
          <a:xfrm flipH="1" rot="10800000">
            <a:off x="5690006" y="1619294"/>
            <a:ext cx="11334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3" name="Google Shape;1733;p118"/>
          <p:cNvCxnSpPr>
            <a:stCxn id="1731" idx="1"/>
            <a:endCxn id="1729" idx="4"/>
          </p:cNvCxnSpPr>
          <p:nvPr/>
        </p:nvCxnSpPr>
        <p:spPr>
          <a:xfrm rot="10800000">
            <a:off x="6823144" y="1619294"/>
            <a:ext cx="946500" cy="634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4" name="Google Shape;1734;p118"/>
          <p:cNvCxnSpPr>
            <a:stCxn id="1731" idx="3"/>
            <a:endCxn id="1730" idx="0"/>
          </p:cNvCxnSpPr>
          <p:nvPr/>
        </p:nvCxnSpPr>
        <p:spPr>
          <a:xfrm flipH="1">
            <a:off x="6823144" y="2678606"/>
            <a:ext cx="9465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5" name="Google Shape;1735;p118"/>
          <p:cNvCxnSpPr>
            <a:stCxn id="1730" idx="0"/>
            <a:endCxn id="1729" idx="4"/>
          </p:cNvCxnSpPr>
          <p:nvPr/>
        </p:nvCxnSpPr>
        <p:spPr>
          <a:xfrm rot="10800000">
            <a:off x="6823275" y="1619150"/>
            <a:ext cx="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6" name="Google Shape;1736;p118"/>
          <p:cNvCxnSpPr>
            <a:stCxn id="1730" idx="0"/>
            <a:endCxn id="1727" idx="5"/>
          </p:cNvCxnSpPr>
          <p:nvPr/>
        </p:nvCxnSpPr>
        <p:spPr>
          <a:xfrm rot="10800000">
            <a:off x="5689875" y="2678750"/>
            <a:ext cx="1133400" cy="1210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37" name="Google Shape;1737;p118"/>
          <p:cNvCxnSpPr>
            <a:stCxn id="1726" idx="0"/>
            <a:endCxn id="1729" idx="4"/>
          </p:cNvCxnSpPr>
          <p:nvPr/>
        </p:nvCxnSpPr>
        <p:spPr>
          <a:xfrm flipH="1" rot="10800000">
            <a:off x="5477450" y="1619150"/>
            <a:ext cx="1345800" cy="22701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8" name="Google Shape;1738;p118"/>
          <p:cNvSpPr txBox="1"/>
          <p:nvPr/>
        </p:nvSpPr>
        <p:spPr>
          <a:xfrm>
            <a:off x="5842650" y="1656725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39" name="Google Shape;1739;p118"/>
          <p:cNvSpPr txBox="1"/>
          <p:nvPr/>
        </p:nvSpPr>
        <p:spPr>
          <a:xfrm>
            <a:off x="7202700" y="16923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0" name="Google Shape;1740;p118"/>
          <p:cNvSpPr txBox="1"/>
          <p:nvPr/>
        </p:nvSpPr>
        <p:spPr>
          <a:xfrm>
            <a:off x="5849750" y="22228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1" name="Google Shape;1741;p118"/>
          <p:cNvSpPr txBox="1"/>
          <p:nvPr/>
        </p:nvSpPr>
        <p:spPr>
          <a:xfrm>
            <a:off x="6688975" y="248340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2" name="Google Shape;1742;p118"/>
          <p:cNvSpPr txBox="1"/>
          <p:nvPr/>
        </p:nvSpPr>
        <p:spPr>
          <a:xfrm>
            <a:off x="4992675" y="3109538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3" name="Google Shape;1743;p118"/>
          <p:cNvSpPr txBox="1"/>
          <p:nvPr/>
        </p:nvSpPr>
        <p:spPr>
          <a:xfrm>
            <a:off x="6045250" y="29791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6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44" name="Google Shape;1744;p118"/>
          <p:cNvSpPr txBox="1"/>
          <p:nvPr/>
        </p:nvSpPr>
        <p:spPr>
          <a:xfrm>
            <a:off x="7361850" y="3027613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5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45" name="Google Shape;1745;p118"/>
          <p:cNvCxnSpPr>
            <a:stCxn id="1726" idx="6"/>
            <a:endCxn id="1730" idx="2"/>
          </p:cNvCxnSpPr>
          <p:nvPr/>
        </p:nvCxnSpPr>
        <p:spPr>
          <a:xfrm>
            <a:off x="5778050" y="4189850"/>
            <a:ext cx="7446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46" name="Google Shape;1746;p118"/>
          <p:cNvSpPr txBox="1"/>
          <p:nvPr/>
        </p:nvSpPr>
        <p:spPr>
          <a:xfrm>
            <a:off x="5849750" y="4189850"/>
            <a:ext cx="6012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－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747" name="Google Shape;1747;p118"/>
          <p:cNvCxnSpPr>
            <a:stCxn id="1725" idx="4"/>
            <a:endCxn id="1746" idx="0"/>
          </p:cNvCxnSpPr>
          <p:nvPr/>
        </p:nvCxnSpPr>
        <p:spPr>
          <a:xfrm>
            <a:off x="5806275" y="1225225"/>
            <a:ext cx="344100" cy="2964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8" name="Google Shape;1748;p118"/>
          <p:cNvSpPr txBox="1"/>
          <p:nvPr/>
        </p:nvSpPr>
        <p:spPr>
          <a:xfrm>
            <a:off x="5591175" y="4579225"/>
            <a:ext cx="2464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0000FF"/>
                </a:solidFill>
                <a:latin typeface="Economica"/>
                <a:ea typeface="Economica"/>
                <a:cs typeface="Economica"/>
                <a:sym typeface="Economica"/>
              </a:rPr>
              <a:t>Undirected Weighted Graph</a:t>
            </a:r>
            <a:endParaRPr b="1" sz="1800">
              <a:solidFill>
                <a:srgbClr val="0000FF"/>
              </a:solidFill>
              <a:latin typeface="Economica"/>
              <a:ea typeface="Economica"/>
              <a:cs typeface="Economica"/>
              <a:sym typeface="Economic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53" name="Google Shape;1753;p119"/>
          <p:cNvCxnSpPr>
            <a:stCxn id="1754" idx="2"/>
            <a:endCxn id="1755" idx="0"/>
          </p:cNvCxnSpPr>
          <p:nvPr/>
        </p:nvCxnSpPr>
        <p:spPr>
          <a:xfrm rot="5400000">
            <a:off x="2914525" y="-458525"/>
            <a:ext cx="569100" cy="25284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4" name="Google Shape;1754;p119"/>
          <p:cNvSpPr/>
          <p:nvPr/>
        </p:nvSpPr>
        <p:spPr>
          <a:xfrm>
            <a:off x="2800825" y="31525"/>
            <a:ext cx="33249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Do the edges of the graph have a value attached to them?</a:t>
            </a:r>
            <a:endParaRPr sz="1300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55" name="Google Shape;1755;p119"/>
          <p:cNvSpPr/>
          <p:nvPr/>
        </p:nvSpPr>
        <p:spPr>
          <a:xfrm>
            <a:off x="940225" y="1090275"/>
            <a:ext cx="1989000" cy="621600"/>
          </a:xfrm>
          <a:prstGeom prst="diamond">
            <a:avLst/>
          </a:prstGeom>
          <a:solidFill>
            <a:srgbClr val="F4B4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Non-Valued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56" name="Google Shape;1756;p119"/>
          <p:cNvSpPr/>
          <p:nvPr/>
        </p:nvSpPr>
        <p:spPr>
          <a:xfrm>
            <a:off x="5455050" y="1090275"/>
            <a:ext cx="1989000" cy="621600"/>
          </a:xfrm>
          <a:prstGeom prst="diamond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Valued Graph</a:t>
            </a:r>
            <a:endParaRPr sz="11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57" name="Google Shape;1757;p119"/>
          <p:cNvCxnSpPr>
            <a:stCxn id="1754" idx="2"/>
            <a:endCxn id="1756" idx="0"/>
          </p:cNvCxnSpPr>
          <p:nvPr/>
        </p:nvCxnSpPr>
        <p:spPr>
          <a:xfrm flipH="1" rot="-5400000">
            <a:off x="5171875" y="-187475"/>
            <a:ext cx="569100" cy="1986300"/>
          </a:xfrm>
          <a:prstGeom prst="bentConnector3">
            <a:avLst>
              <a:gd fmla="val 28651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58" name="Google Shape;1758;p119"/>
          <p:cNvSpPr txBox="1"/>
          <p:nvPr/>
        </p:nvSpPr>
        <p:spPr>
          <a:xfrm>
            <a:off x="3163450" y="605046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59" name="Google Shape;1759;p119"/>
          <p:cNvSpPr txBox="1"/>
          <p:nvPr/>
        </p:nvSpPr>
        <p:spPr>
          <a:xfrm>
            <a:off x="5194994" y="605038"/>
            <a:ext cx="401400" cy="17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60" name="Google Shape;1760;p119"/>
          <p:cNvSpPr/>
          <p:nvPr/>
        </p:nvSpPr>
        <p:spPr>
          <a:xfrm>
            <a:off x="1167925" y="1981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Do the edges have a direction?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761" name="Google Shape;1761;p119"/>
          <p:cNvCxnSpPr>
            <a:stCxn id="1755" idx="2"/>
            <a:endCxn id="1760" idx="0"/>
          </p:cNvCxnSpPr>
          <p:nvPr/>
        </p:nvCxnSpPr>
        <p:spPr>
          <a:xfrm flipH="1" rot="-5400000">
            <a:off x="1800325" y="1846275"/>
            <a:ext cx="2694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62" name="Google Shape;1762;p119"/>
          <p:cNvCxnSpPr>
            <a:stCxn id="1760" idx="2"/>
            <a:endCxn id="1763" idx="0"/>
          </p:cNvCxnSpPr>
          <p:nvPr/>
        </p:nvCxnSpPr>
        <p:spPr>
          <a:xfrm rot="5400000">
            <a:off x="1087525" y="2306163"/>
            <a:ext cx="682500" cy="1011900"/>
          </a:xfrm>
          <a:prstGeom prst="bentConnector3">
            <a:avLst>
              <a:gd fmla="val 5001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4" name="Google Shape;1764;p119"/>
          <p:cNvCxnSpPr>
            <a:stCxn id="1760" idx="2"/>
            <a:endCxn id="1765" idx="0"/>
          </p:cNvCxnSpPr>
          <p:nvPr/>
        </p:nvCxnSpPr>
        <p:spPr>
          <a:xfrm flipH="1" rot="-5400000">
            <a:off x="1975225" y="2430363"/>
            <a:ext cx="686400" cy="7674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63" name="Google Shape;1763;p119"/>
          <p:cNvSpPr/>
          <p:nvPr/>
        </p:nvSpPr>
        <p:spPr>
          <a:xfrm>
            <a:off x="33175" y="3153500"/>
            <a:ext cx="1779300" cy="621600"/>
          </a:xfrm>
          <a:prstGeom prst="diamond">
            <a:avLst/>
          </a:prstGeom>
          <a:solidFill>
            <a:srgbClr val="701C7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66" name="Google Shape;1766;p119"/>
          <p:cNvSpPr/>
          <p:nvPr/>
        </p:nvSpPr>
        <p:spPr>
          <a:xfrm>
            <a:off x="816375" y="4117725"/>
            <a:ext cx="1779300" cy="621600"/>
          </a:xfrm>
          <a:prstGeom prst="diamond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65" name="Google Shape;1765;p119"/>
          <p:cNvSpPr/>
          <p:nvPr/>
        </p:nvSpPr>
        <p:spPr>
          <a:xfrm>
            <a:off x="1935325" y="3157263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Is the direction two-way or only one-way?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67" name="Google Shape;1767;p119"/>
          <p:cNvCxnSpPr>
            <a:stCxn id="1765" idx="2"/>
            <a:endCxn id="1766" idx="0"/>
          </p:cNvCxnSpPr>
          <p:nvPr/>
        </p:nvCxnSpPr>
        <p:spPr>
          <a:xfrm rot="5400000">
            <a:off x="1968625" y="3384363"/>
            <a:ext cx="471000" cy="996000"/>
          </a:xfrm>
          <a:prstGeom prst="bentConnector3">
            <a:avLst>
              <a:gd fmla="val 4998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8" name="Google Shape;1768;p119"/>
          <p:cNvCxnSpPr>
            <a:stCxn id="1765" idx="2"/>
            <a:endCxn id="1769" idx="0"/>
          </p:cNvCxnSpPr>
          <p:nvPr/>
        </p:nvCxnSpPr>
        <p:spPr>
          <a:xfrm flipH="1" rot="-5400000">
            <a:off x="2296975" y="4052013"/>
            <a:ext cx="810900" cy="600"/>
          </a:xfrm>
          <a:prstGeom prst="bentConnector3">
            <a:avLst>
              <a:gd fmla="val 4999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9" name="Google Shape;1769;p119"/>
          <p:cNvSpPr/>
          <p:nvPr/>
        </p:nvSpPr>
        <p:spPr>
          <a:xfrm>
            <a:off x="1812475" y="4457725"/>
            <a:ext cx="1779300" cy="621600"/>
          </a:xfrm>
          <a:prstGeom prst="diamond">
            <a:avLst/>
          </a:prstGeom>
          <a:solidFill>
            <a:schemeClr val="accent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Tree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70" name="Google Shape;1770;p119"/>
          <p:cNvSpPr/>
          <p:nvPr/>
        </p:nvSpPr>
        <p:spPr>
          <a:xfrm>
            <a:off x="5065350" y="1986338"/>
            <a:ext cx="27684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Can the edge values be any number or only -1 or + 1?</a:t>
            </a:r>
            <a:endParaRPr sz="1200">
              <a:solidFill>
                <a:schemeClr val="lt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cxnSp>
        <p:nvCxnSpPr>
          <p:cNvPr id="1771" name="Google Shape;1771;p119"/>
          <p:cNvCxnSpPr>
            <a:stCxn id="1756" idx="2"/>
            <a:endCxn id="1770" idx="0"/>
          </p:cNvCxnSpPr>
          <p:nvPr/>
        </p:nvCxnSpPr>
        <p:spPr>
          <a:xfrm flipH="1" rot="-5400000">
            <a:off x="6312600" y="1848825"/>
            <a:ext cx="274500" cy="600"/>
          </a:xfrm>
          <a:prstGeom prst="bentConnector3">
            <a:avLst>
              <a:gd fmla="val 49993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772" name="Google Shape;1772;p119"/>
          <p:cNvCxnSpPr>
            <a:stCxn id="1770" idx="2"/>
            <a:endCxn id="1773" idx="0"/>
          </p:cNvCxnSpPr>
          <p:nvPr/>
        </p:nvCxnSpPr>
        <p:spPr>
          <a:xfrm rot="5400000">
            <a:off x="5652750" y="2161838"/>
            <a:ext cx="482700" cy="1110900"/>
          </a:xfrm>
          <a:prstGeom prst="bentConnector3">
            <a:avLst>
              <a:gd fmla="val 49988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3" name="Google Shape;1773;p119"/>
          <p:cNvSpPr/>
          <p:nvPr/>
        </p:nvSpPr>
        <p:spPr>
          <a:xfrm>
            <a:off x="4571988" y="2958525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74" name="Google Shape;1774;p119"/>
          <p:cNvCxnSpPr>
            <a:stCxn id="1773" idx="2"/>
            <a:endCxn id="1775" idx="0"/>
          </p:cNvCxnSpPr>
          <p:nvPr/>
        </p:nvCxnSpPr>
        <p:spPr>
          <a:xfrm rot="5400000">
            <a:off x="4652088" y="3077325"/>
            <a:ext cx="315900" cy="1057500"/>
          </a:xfrm>
          <a:prstGeom prst="bentConnector3">
            <a:avLst>
              <a:gd fmla="val 5000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5" name="Google Shape;1775;p119"/>
          <p:cNvSpPr/>
          <p:nvPr/>
        </p:nvSpPr>
        <p:spPr>
          <a:xfrm>
            <a:off x="3391650" y="3764063"/>
            <a:ext cx="1779300" cy="710100"/>
          </a:xfrm>
          <a:prstGeom prst="diamond">
            <a:avLst/>
          </a:prstGeom>
          <a:solidFill>
            <a:srgbClr val="741B4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76" name="Google Shape;1776;p119"/>
          <p:cNvCxnSpPr>
            <a:stCxn id="1770" idx="2"/>
            <a:endCxn id="1777" idx="0"/>
          </p:cNvCxnSpPr>
          <p:nvPr/>
        </p:nvCxnSpPr>
        <p:spPr>
          <a:xfrm flipH="1" rot="-5400000">
            <a:off x="6671550" y="2253938"/>
            <a:ext cx="492300" cy="936300"/>
          </a:xfrm>
          <a:prstGeom prst="bentConnector3">
            <a:avLst>
              <a:gd fmla="val 49996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777" name="Google Shape;1777;p119"/>
          <p:cNvSpPr/>
          <p:nvPr/>
        </p:nvSpPr>
        <p:spPr>
          <a:xfrm>
            <a:off x="6619075" y="2968200"/>
            <a:ext cx="1533600" cy="4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Do the edges have a direction?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78" name="Google Shape;1778;p119"/>
          <p:cNvSpPr/>
          <p:nvPr/>
        </p:nvSpPr>
        <p:spPr>
          <a:xfrm>
            <a:off x="4449138" y="4117725"/>
            <a:ext cx="1779300" cy="710100"/>
          </a:xfrm>
          <a:prstGeom prst="diamond">
            <a:avLst/>
          </a:prstGeom>
          <a:solidFill>
            <a:srgbClr val="CC412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Weighted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79" name="Google Shape;1779;p119"/>
          <p:cNvSpPr/>
          <p:nvPr/>
        </p:nvSpPr>
        <p:spPr>
          <a:xfrm>
            <a:off x="5596425" y="4430000"/>
            <a:ext cx="1779300" cy="710100"/>
          </a:xfrm>
          <a:prstGeom prst="diamond">
            <a:avLst/>
          </a:prstGeom>
          <a:solidFill>
            <a:srgbClr val="B45F0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Undirected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80" name="Google Shape;1780;p119"/>
          <p:cNvSpPr/>
          <p:nvPr/>
        </p:nvSpPr>
        <p:spPr>
          <a:xfrm>
            <a:off x="7364700" y="4429975"/>
            <a:ext cx="1779300" cy="710100"/>
          </a:xfrm>
          <a:prstGeom prst="diamond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Directed Signed Graph</a:t>
            </a:r>
            <a:endParaRPr sz="1000">
              <a:solidFill>
                <a:schemeClr val="lt1"/>
              </a:solidFill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81" name="Google Shape;1781;p119"/>
          <p:cNvCxnSpPr>
            <a:stCxn id="1777" idx="2"/>
            <a:endCxn id="1779" idx="0"/>
          </p:cNvCxnSpPr>
          <p:nvPr/>
        </p:nvCxnSpPr>
        <p:spPr>
          <a:xfrm rot="5400000">
            <a:off x="6449875" y="3494100"/>
            <a:ext cx="972300" cy="899700"/>
          </a:xfrm>
          <a:prstGeom prst="bentConnector3">
            <a:avLst>
              <a:gd fmla="val 49995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2" name="Google Shape;1782;p119"/>
          <p:cNvCxnSpPr>
            <a:stCxn id="1777" idx="2"/>
            <a:endCxn id="1780" idx="0"/>
          </p:cNvCxnSpPr>
          <p:nvPr/>
        </p:nvCxnSpPr>
        <p:spPr>
          <a:xfrm flipH="1" rot="-5400000">
            <a:off x="7333975" y="3509700"/>
            <a:ext cx="972300" cy="868500"/>
          </a:xfrm>
          <a:prstGeom prst="bentConnector3">
            <a:avLst>
              <a:gd fmla="val 49994" name="adj1"/>
            </a:avLst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3" name="Google Shape;1783;p119"/>
          <p:cNvSpPr txBox="1"/>
          <p:nvPr/>
        </p:nvSpPr>
        <p:spPr>
          <a:xfrm>
            <a:off x="1912525" y="3785238"/>
            <a:ext cx="5832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2-Way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84" name="Google Shape;1784;p119"/>
          <p:cNvSpPr txBox="1"/>
          <p:nvPr/>
        </p:nvSpPr>
        <p:spPr>
          <a:xfrm>
            <a:off x="2490617" y="4079497"/>
            <a:ext cx="423000" cy="194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1-Way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85" name="Google Shape;1785;p119"/>
          <p:cNvSpPr txBox="1"/>
          <p:nvPr/>
        </p:nvSpPr>
        <p:spPr>
          <a:xfrm>
            <a:off x="6811838" y="385599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cxnSp>
        <p:nvCxnSpPr>
          <p:cNvPr id="1786" name="Google Shape;1786;p119"/>
          <p:cNvCxnSpPr>
            <a:stCxn id="1773" idx="2"/>
            <a:endCxn id="1778" idx="0"/>
          </p:cNvCxnSpPr>
          <p:nvPr/>
        </p:nvCxnSpPr>
        <p:spPr>
          <a:xfrm>
            <a:off x="5338788" y="3448125"/>
            <a:ext cx="0" cy="669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87" name="Google Shape;1787;p119"/>
          <p:cNvSpPr txBox="1"/>
          <p:nvPr/>
        </p:nvSpPr>
        <p:spPr>
          <a:xfrm>
            <a:off x="5732900" y="2629188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Any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88" name="Google Shape;1788;p119"/>
          <p:cNvSpPr txBox="1"/>
          <p:nvPr/>
        </p:nvSpPr>
        <p:spPr>
          <a:xfrm>
            <a:off x="6734750" y="2634031"/>
            <a:ext cx="433500" cy="17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Open Sans SemiBold"/>
                <a:ea typeface="Open Sans SemiBold"/>
                <a:cs typeface="Open Sans SemiBold"/>
                <a:sym typeface="Open Sans SemiBold"/>
              </a:rPr>
              <a:t>+1/-1 </a:t>
            </a:r>
            <a:endParaRPr sz="10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89" name="Google Shape;1789;p119"/>
          <p:cNvSpPr txBox="1"/>
          <p:nvPr/>
        </p:nvSpPr>
        <p:spPr>
          <a:xfrm>
            <a:off x="1311000" y="269434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90" name="Google Shape;1790;p119"/>
          <p:cNvSpPr txBox="1"/>
          <p:nvPr/>
        </p:nvSpPr>
        <p:spPr>
          <a:xfrm>
            <a:off x="5150550" y="38168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91" name="Google Shape;1791;p119"/>
          <p:cNvSpPr txBox="1"/>
          <p:nvPr/>
        </p:nvSpPr>
        <p:spPr>
          <a:xfrm>
            <a:off x="2122975" y="269433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92" name="Google Shape;1792;p119"/>
          <p:cNvSpPr txBox="1"/>
          <p:nvPr/>
        </p:nvSpPr>
        <p:spPr>
          <a:xfrm>
            <a:off x="7644575" y="3813087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Yes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  <p:sp>
        <p:nvSpPr>
          <p:cNvPr id="1793" name="Google Shape;1793;p119"/>
          <p:cNvSpPr txBox="1"/>
          <p:nvPr/>
        </p:nvSpPr>
        <p:spPr>
          <a:xfrm>
            <a:off x="4571275" y="3518210"/>
            <a:ext cx="356400" cy="17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Open Sans SemiBold"/>
                <a:ea typeface="Open Sans SemiBold"/>
                <a:cs typeface="Open Sans SemiBold"/>
                <a:sym typeface="Open Sans SemiBold"/>
              </a:rPr>
              <a:t>No</a:t>
            </a:r>
            <a:endParaRPr sz="1100">
              <a:latin typeface="Open Sans SemiBold"/>
              <a:ea typeface="Open Sans SemiBold"/>
              <a:cs typeface="Open Sans SemiBold"/>
              <a:sym typeface="Open Sans Semi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