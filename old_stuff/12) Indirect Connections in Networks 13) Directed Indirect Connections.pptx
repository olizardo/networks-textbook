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embeddedFontLst>
    <p:embeddedFont>
      <p:font typeface="Economica"/>
      <p:regular r:id="rId61"/>
      <p:bold r:id="rId62"/>
      <p:italic r:id="rId63"/>
      <p:boldItalic r:id="rId64"/>
    </p:embeddedFont>
    <p:embeddedFont>
      <p:font typeface="Oxygen"/>
      <p:regular r:id="rId65"/>
      <p:bold r:id="rId66"/>
    </p:embeddedFont>
    <p:embeddedFont>
      <p:font typeface="Garamond"/>
      <p:regular r:id="rId67"/>
      <p:bold r:id="rId68"/>
      <p:italic r:id="rId69"/>
      <p:boldItalic r:id="rId70"/>
    </p:embeddedFont>
    <p:embeddedFont>
      <p:font typeface="Open Sans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-italic.fntdata"/><Relationship Id="rId72" Type="http://schemas.openxmlformats.org/officeDocument/2006/relationships/font" Target="fonts/OpenSans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74" Type="http://schemas.openxmlformats.org/officeDocument/2006/relationships/font" Target="fonts/OpenSans-bold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-regular.fntdata"/><Relationship Id="rId70" Type="http://schemas.openxmlformats.org/officeDocument/2006/relationships/font" Target="fonts/Garamond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Economica-bold.fntdata"/><Relationship Id="rId61" Type="http://schemas.openxmlformats.org/officeDocument/2006/relationships/font" Target="fonts/Economica-regular.fntdata"/><Relationship Id="rId20" Type="http://schemas.openxmlformats.org/officeDocument/2006/relationships/slide" Target="slides/slide14.xml"/><Relationship Id="rId64" Type="http://schemas.openxmlformats.org/officeDocument/2006/relationships/font" Target="fonts/Economica-boldItalic.fntdata"/><Relationship Id="rId63" Type="http://schemas.openxmlformats.org/officeDocument/2006/relationships/font" Target="fonts/Economica-italic.fntdata"/><Relationship Id="rId22" Type="http://schemas.openxmlformats.org/officeDocument/2006/relationships/slide" Target="slides/slide16.xml"/><Relationship Id="rId66" Type="http://schemas.openxmlformats.org/officeDocument/2006/relationships/font" Target="fonts/Oxygen-bold.fntdata"/><Relationship Id="rId21" Type="http://schemas.openxmlformats.org/officeDocument/2006/relationships/slide" Target="slides/slide15.xml"/><Relationship Id="rId65" Type="http://schemas.openxmlformats.org/officeDocument/2006/relationships/font" Target="fonts/Oxygen-regular.fntdata"/><Relationship Id="rId24" Type="http://schemas.openxmlformats.org/officeDocument/2006/relationships/slide" Target="slides/slide18.xml"/><Relationship Id="rId68" Type="http://schemas.openxmlformats.org/officeDocument/2006/relationships/font" Target="fonts/Garamond-bold.fntdata"/><Relationship Id="rId23" Type="http://schemas.openxmlformats.org/officeDocument/2006/relationships/slide" Target="slides/slide17.xml"/><Relationship Id="rId67" Type="http://schemas.openxmlformats.org/officeDocument/2006/relationships/font" Target="fonts/Garamond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Garamond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b888669c3b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b888669c3b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b888669c3b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b888669c3b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888669c3b_0_1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888669c3b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b888669c3b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b888669c3b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b888669c3b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b888669c3b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1043b1a11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1043b1a11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b888669c3b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b888669c3b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10b30de29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10b30de29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b888669c3b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b888669c3b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b888669c3b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b888669c3b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b888669c3b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b888669c3b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b888669c3b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b888669c3b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b888669c3b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b888669c3b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b888669c3b_0_1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b888669c3b_0_1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b888669c3b_0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b888669c3b_0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b888669c3b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b888669c3b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b888669c3b_0_1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b888669c3b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b888669c3b_0_1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b888669c3b_0_1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b888669c3b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b888669c3b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b888669c3b_0_1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b888669c3b_0_1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b888669c3b_0_1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b888669c3b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b888669c3b_0_1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b888669c3b_0_1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b888669c3b_0_1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b888669c3b_0_1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10b30de290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10b30de290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b888669c3b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b888669c3b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b888669c3b_0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b888669c3b_0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b888669c3b_0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b888669c3b_0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b888669c3b_0_1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b888669c3b_0_1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b888669c3b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b888669c3b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b888669c3b_0_1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b888669c3b_0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b888669c3b_0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b888669c3b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b888669c3b_0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b888669c3b_0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b888669c3b_0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b888669c3b_0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092036382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092036382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092036382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092036382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092036382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092036382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092036382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092036382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110b30de290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110b30de29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10b30de29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10b30de29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10b30de29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10b30de29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10b30de290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10b30de290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10b30de290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110b30de29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110b30de290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110b30de290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110b30de290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110b30de290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10b30de290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10b30de290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10b30de290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10b30de290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10b30de290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10b30de290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110b30de290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110b30de290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110b30de290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110b30de290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10b30de290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110b30de290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110b30de290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110b30de290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110b30de290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110b30de290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110b30de2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110b30de2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110b30de29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110b30de29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Connections in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9" name="Google Shape;119;p27"/>
          <p:cNvCxnSpPr>
            <a:stCxn id="117" idx="6"/>
            <a:endCxn id="11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2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" name="Google Shape;122;p2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3" name="Google Shape;123;p27"/>
          <p:cNvCxnSpPr>
            <a:stCxn id="118" idx="7"/>
            <a:endCxn id="12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7"/>
          <p:cNvCxnSpPr>
            <a:stCxn id="122" idx="1"/>
            <a:endCxn id="12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7"/>
          <p:cNvCxnSpPr>
            <a:stCxn id="122" idx="3"/>
            <a:endCxn id="12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27"/>
          <p:cNvCxnSpPr>
            <a:stCxn id="121" idx="1"/>
            <a:endCxn id="11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27"/>
          <p:cNvCxnSpPr>
            <a:stCxn id="121" idx="0"/>
            <a:endCxn id="12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33" name="Google Shape;133;p2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" name="Google Shape;135;p2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" name="Google Shape;136;p28"/>
          <p:cNvCxnSpPr>
            <a:stCxn id="134" idx="6"/>
            <a:endCxn id="13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" name="Google Shape;140;p28"/>
          <p:cNvCxnSpPr>
            <a:stCxn id="135" idx="7"/>
            <a:endCxn id="13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8"/>
          <p:cNvCxnSpPr>
            <a:stCxn id="139" idx="1"/>
            <a:endCxn id="13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8"/>
          <p:cNvCxnSpPr>
            <a:stCxn id="139" idx="3"/>
            <a:endCxn id="13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8"/>
          <p:cNvCxnSpPr>
            <a:stCxn id="138" idx="1"/>
            <a:endCxn id="13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8"/>
          <p:cNvCxnSpPr>
            <a:stCxn id="138" idx="0"/>
            <a:endCxn id="13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28"/>
          <p:cNvSpPr txBox="1"/>
          <p:nvPr/>
        </p:nvSpPr>
        <p:spPr>
          <a:xfrm>
            <a:off x="5460650" y="725375"/>
            <a:ext cx="15933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E and C are Adjacent Vertices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6" name="Google Shape;146;p28"/>
          <p:cNvCxnSpPr>
            <a:stCxn id="145" idx="2"/>
            <a:endCxn id="135" idx="0"/>
          </p:cNvCxnSpPr>
          <p:nvPr/>
        </p:nvCxnSpPr>
        <p:spPr>
          <a:xfrm>
            <a:off x="6257300" y="1287575"/>
            <a:ext cx="19200" cy="131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8"/>
          <p:cNvCxnSpPr>
            <a:stCxn id="145" idx="2"/>
            <a:endCxn id="137" idx="2"/>
          </p:cNvCxnSpPr>
          <p:nvPr/>
        </p:nvCxnSpPr>
        <p:spPr>
          <a:xfrm>
            <a:off x="6257300" y="1287575"/>
            <a:ext cx="874200" cy="50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and D are “connected” in the sense that they have a neighbor (E) in common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" name="Google Shape;155;p2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6" name="Google Shape;156;p29"/>
          <p:cNvCxnSpPr>
            <a:stCxn id="154" idx="6"/>
            <a:endCxn id="15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" name="Google Shape;158;p2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" name="Google Shape;159;p2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0" name="Google Shape;160;p29"/>
          <p:cNvCxnSpPr>
            <a:stCxn id="155" idx="7"/>
            <a:endCxn id="15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9"/>
          <p:cNvCxnSpPr>
            <a:stCxn id="159" idx="1"/>
            <a:endCxn id="15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9"/>
          <p:cNvCxnSpPr>
            <a:stCxn id="159" idx="3"/>
            <a:endCxn id="15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9"/>
          <p:cNvCxnSpPr>
            <a:stCxn id="158" idx="1"/>
            <a:endCxn id="15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9"/>
          <p:cNvCxnSpPr>
            <a:stCxn id="158" idx="0"/>
            <a:endCxn id="15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9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6" name="Google Shape;166;p29"/>
          <p:cNvCxnSpPr>
            <a:stCxn id="165" idx="0"/>
            <a:endCxn id="154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9"/>
          <p:cNvCxnSpPr>
            <a:stCxn id="165" idx="0"/>
            <a:endCxn id="158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and D are “connected” in the sense that they have a neighbor (E)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they are </a:t>
            </a:r>
            <a:r>
              <a:rPr i="1" lang="en"/>
              <a:t>not</a:t>
            </a:r>
            <a:r>
              <a:rPr lang="en"/>
              <a:t> </a:t>
            </a:r>
            <a:r>
              <a:rPr b="1" lang="en"/>
              <a:t>adjacent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6" name="Google Shape;176;p30"/>
          <p:cNvCxnSpPr>
            <a:stCxn id="174" idx="6"/>
            <a:endCxn id="17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3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" name="Google Shape;178;p3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" name="Google Shape;179;p3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0" name="Google Shape;180;p30"/>
          <p:cNvCxnSpPr>
            <a:stCxn id="175" idx="7"/>
            <a:endCxn id="17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30"/>
          <p:cNvCxnSpPr>
            <a:stCxn id="179" idx="1"/>
            <a:endCxn id="17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30"/>
          <p:cNvCxnSpPr>
            <a:stCxn id="179" idx="3"/>
            <a:endCxn id="17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30"/>
          <p:cNvCxnSpPr>
            <a:stCxn id="178" idx="1"/>
            <a:endCxn id="17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30"/>
          <p:cNvCxnSpPr>
            <a:stCxn id="178" idx="0"/>
            <a:endCxn id="17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30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6" name="Google Shape;186;p30"/>
          <p:cNvCxnSpPr>
            <a:stCxn id="185" idx="0"/>
            <a:endCxn id="174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30"/>
          <p:cNvCxnSpPr>
            <a:stCxn id="185" idx="0"/>
            <a:endCxn id="178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and D are “connected” in the sense that they have a neighbor (E)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they are </a:t>
            </a:r>
            <a:r>
              <a:rPr i="1" lang="en"/>
              <a:t>not</a:t>
            </a:r>
            <a:r>
              <a:rPr lang="en"/>
              <a:t> </a:t>
            </a:r>
            <a:r>
              <a:rPr b="1" lang="en"/>
              <a:t>adjacent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a type of </a:t>
            </a:r>
            <a:r>
              <a:rPr b="1" lang="en"/>
              <a:t>indirect connection </a:t>
            </a:r>
            <a:r>
              <a:rPr lang="en"/>
              <a:t>between vertices in a graph</a:t>
            </a:r>
            <a:endParaRPr/>
          </a:p>
        </p:txBody>
      </p:sp>
      <p:sp>
        <p:nvSpPr>
          <p:cNvPr id="194" name="Google Shape;194;p3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" name="Google Shape;195;p3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6" name="Google Shape;196;p31"/>
          <p:cNvCxnSpPr>
            <a:stCxn id="194" idx="6"/>
            <a:endCxn id="19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" name="Google Shape;198;p3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0" name="Google Shape;200;p31"/>
          <p:cNvCxnSpPr>
            <a:stCxn id="195" idx="7"/>
            <a:endCxn id="19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31"/>
          <p:cNvCxnSpPr>
            <a:stCxn id="199" idx="1"/>
            <a:endCxn id="19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1"/>
          <p:cNvCxnSpPr>
            <a:stCxn id="199" idx="3"/>
            <a:endCxn id="19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1"/>
          <p:cNvCxnSpPr>
            <a:stCxn id="198" idx="1"/>
            <a:endCxn id="19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1"/>
          <p:cNvCxnSpPr>
            <a:stCxn id="198" idx="0"/>
            <a:endCxn id="19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1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6" name="Google Shape;206;p31"/>
          <p:cNvCxnSpPr>
            <a:stCxn id="205" idx="0"/>
            <a:endCxn id="194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31"/>
          <p:cNvCxnSpPr>
            <a:stCxn id="205" idx="0"/>
            <a:endCxn id="198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graph theory indirect connections are defined using the concepts of: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Path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Connectivity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Reachability</a:t>
            </a:r>
            <a:endParaRPr i="1"/>
          </a:p>
        </p:txBody>
      </p:sp>
      <p:sp>
        <p:nvSpPr>
          <p:cNvPr id="214" name="Google Shape;214;p3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6" name="Google Shape;216;p32"/>
          <p:cNvCxnSpPr>
            <a:stCxn id="214" idx="6"/>
            <a:endCxn id="21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3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0" name="Google Shape;220;p32"/>
          <p:cNvCxnSpPr>
            <a:stCxn id="215" idx="7"/>
            <a:endCxn id="21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32"/>
          <p:cNvCxnSpPr>
            <a:stCxn id="219" idx="1"/>
            <a:endCxn id="21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32"/>
          <p:cNvCxnSpPr>
            <a:stCxn id="219" idx="3"/>
            <a:endCxn id="21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2"/>
          <p:cNvCxnSpPr>
            <a:stCxn id="218" idx="1"/>
            <a:endCxn id="21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32"/>
          <p:cNvCxnSpPr>
            <a:stCxn id="218" idx="0"/>
            <a:endCxn id="21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32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6" name="Google Shape;226;p32"/>
          <p:cNvCxnSpPr>
            <a:stCxn id="225" idx="0"/>
            <a:endCxn id="214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32"/>
          <p:cNvCxnSpPr>
            <a:stCxn id="225" idx="0"/>
            <a:endCxn id="218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graph theory a </a:t>
            </a:r>
            <a:r>
              <a:rPr b="1" lang="en"/>
              <a:t>path</a:t>
            </a:r>
            <a:r>
              <a:rPr lang="en"/>
              <a:t> is a sequence of alternating nodes and edges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Begins with an </a:t>
            </a:r>
            <a:r>
              <a:rPr b="1" lang="en"/>
              <a:t>origin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Ends with a </a:t>
            </a:r>
            <a:r>
              <a:rPr b="1" lang="en"/>
              <a:t>destination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Includes at least </a:t>
            </a:r>
            <a:r>
              <a:rPr b="1" lang="en"/>
              <a:t>one more node </a:t>
            </a:r>
            <a:r>
              <a:rPr lang="en"/>
              <a:t>beyond these two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</a:t>
            </a:r>
            <a:r>
              <a:rPr b="1" lang="en"/>
              <a:t>not</a:t>
            </a:r>
            <a:r>
              <a:rPr lang="en"/>
              <a:t> repeat any nodes in the sequence</a:t>
            </a:r>
            <a:endParaRPr/>
          </a:p>
        </p:txBody>
      </p:sp>
      <p:sp>
        <p:nvSpPr>
          <p:cNvPr id="239" name="Google Shape;239;p3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1" name="Google Shape;241;p34"/>
          <p:cNvCxnSpPr>
            <a:stCxn id="239" idx="6"/>
            <a:endCxn id="240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" name="Google Shape;243;p3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5" name="Google Shape;245;p34"/>
          <p:cNvCxnSpPr>
            <a:stCxn id="240" idx="7"/>
            <a:endCxn id="24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4"/>
          <p:cNvCxnSpPr>
            <a:stCxn id="244" idx="1"/>
            <a:endCxn id="24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4"/>
          <p:cNvCxnSpPr>
            <a:stCxn id="244" idx="3"/>
            <a:endCxn id="24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4"/>
          <p:cNvCxnSpPr>
            <a:stCxn id="243" idx="1"/>
            <a:endCxn id="240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4"/>
          <p:cNvCxnSpPr>
            <a:stCxn id="243" idx="0"/>
            <a:endCxn id="242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usually write the path using the edge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B―D = {BE, ED}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say that node B can </a:t>
            </a:r>
            <a:r>
              <a:rPr b="1" lang="en"/>
              <a:t>reach</a:t>
            </a:r>
            <a:r>
              <a:rPr lang="en"/>
              <a:t> node D via a path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8" name="Google Shape;258;p35"/>
          <p:cNvCxnSpPr>
            <a:stCxn id="256" idx="6"/>
            <a:endCxn id="25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2" name="Google Shape;262;p35"/>
          <p:cNvCxnSpPr>
            <a:stCxn id="257" idx="7"/>
            <a:endCxn id="25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5"/>
          <p:cNvCxnSpPr>
            <a:stCxn id="261" idx="1"/>
            <a:endCxn id="25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5"/>
          <p:cNvCxnSpPr>
            <a:stCxn id="261" idx="3"/>
            <a:endCxn id="26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5"/>
          <p:cNvCxnSpPr>
            <a:stCxn id="260" idx="1"/>
            <a:endCxn id="25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5"/>
          <p:cNvCxnSpPr>
            <a:stCxn id="260" idx="0"/>
            <a:endCxn id="25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5"/>
          <p:cNvSpPr/>
          <p:nvPr/>
        </p:nvSpPr>
        <p:spPr>
          <a:xfrm>
            <a:off x="4354300" y="3934749"/>
            <a:ext cx="2525400" cy="105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Node B can reach node D via the {BE, ED} path!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68" name="Google Shape;268;p35"/>
          <p:cNvCxnSpPr>
            <a:stCxn id="267" idx="0"/>
          </p:cNvCxnSpPr>
          <p:nvPr/>
        </p:nvCxnSpPr>
        <p:spPr>
          <a:xfrm flipH="1" rot="10800000">
            <a:off x="5617000" y="3456249"/>
            <a:ext cx="794700" cy="47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 graph</a:t>
            </a:r>
            <a:r>
              <a:rPr lang="en"/>
              <a:t> if a given path exists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B―D = {BE, ED}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the reverse path also exists!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D―B = {DE, EB}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6" name="Google Shape;276;p3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7" name="Google Shape;277;p36"/>
          <p:cNvCxnSpPr>
            <a:stCxn id="275" idx="6"/>
            <a:endCxn id="27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1" name="Google Shape;281;p36"/>
          <p:cNvCxnSpPr>
            <a:stCxn id="276" idx="7"/>
            <a:endCxn id="27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6"/>
          <p:cNvCxnSpPr>
            <a:stCxn id="280" idx="1"/>
            <a:endCxn id="27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6"/>
          <p:cNvCxnSpPr>
            <a:stCxn id="280" idx="3"/>
            <a:endCxn id="27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6"/>
          <p:cNvCxnSpPr>
            <a:stCxn id="279" idx="1"/>
            <a:endCxn id="27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6"/>
          <p:cNvCxnSpPr>
            <a:stCxn id="279" idx="0"/>
            <a:endCxn id="27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36"/>
          <p:cNvSpPr/>
          <p:nvPr/>
        </p:nvSpPr>
        <p:spPr>
          <a:xfrm>
            <a:off x="4354300" y="3934749"/>
            <a:ext cx="2525400" cy="105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Node D can also reach node B via the {DE, EB} path!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87" name="Google Shape;287;p36"/>
          <p:cNvCxnSpPr>
            <a:stCxn id="286" idx="0"/>
          </p:cNvCxnSpPr>
          <p:nvPr/>
        </p:nvCxnSpPr>
        <p:spPr>
          <a:xfrm flipH="1" rot="10800000">
            <a:off x="5617000" y="3456249"/>
            <a:ext cx="794700" cy="47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B―D = {BE, ED} path: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</a:t>
            </a:r>
            <a:r>
              <a:rPr b="1" lang="en"/>
              <a:t>origin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is the </a:t>
            </a:r>
            <a:r>
              <a:rPr b="1" lang="en"/>
              <a:t>destination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</a:t>
            </a:r>
            <a:r>
              <a:rPr b="1" lang="en"/>
              <a:t>inner node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that if the path was instead D―B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D would be the origin and B the destination!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 in undirected graphs paths have a direction!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6" name="Google Shape;296;p37"/>
          <p:cNvCxnSpPr>
            <a:stCxn id="294" idx="6"/>
            <a:endCxn id="29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3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9" name="Google Shape;299;p3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0" name="Google Shape;300;p37"/>
          <p:cNvCxnSpPr>
            <a:stCxn id="295" idx="7"/>
            <a:endCxn id="29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7"/>
          <p:cNvCxnSpPr>
            <a:stCxn id="299" idx="1"/>
            <a:endCxn id="29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7"/>
          <p:cNvCxnSpPr>
            <a:stCxn id="299" idx="3"/>
            <a:endCxn id="29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7"/>
          <p:cNvCxnSpPr>
            <a:stCxn id="298" idx="1"/>
            <a:endCxn id="29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7"/>
          <p:cNvCxnSpPr>
            <a:stCxn id="298" idx="0"/>
            <a:endCxn id="29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7"/>
          <p:cNvSpPr txBox="1"/>
          <p:nvPr/>
        </p:nvSpPr>
        <p:spPr>
          <a:xfrm>
            <a:off x="4298050" y="1368450"/>
            <a:ext cx="153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Origin node</a:t>
            </a: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6" name="Google Shape;306;p37"/>
          <p:cNvCxnSpPr>
            <a:stCxn id="305" idx="2"/>
            <a:endCxn id="294" idx="0"/>
          </p:cNvCxnSpPr>
          <p:nvPr/>
        </p:nvCxnSpPr>
        <p:spPr>
          <a:xfrm flipH="1">
            <a:off x="4935550" y="1673550"/>
            <a:ext cx="130500" cy="92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" name="Google Shape;307;p37"/>
          <p:cNvSpPr txBox="1"/>
          <p:nvPr/>
        </p:nvSpPr>
        <p:spPr>
          <a:xfrm>
            <a:off x="4103700" y="4579225"/>
            <a:ext cx="153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Destination node</a:t>
            </a: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8" name="Google Shape;308;p37"/>
          <p:cNvCxnSpPr>
            <a:stCxn id="307" idx="3"/>
            <a:endCxn id="298" idx="2"/>
          </p:cNvCxnSpPr>
          <p:nvPr/>
        </p:nvCxnSpPr>
        <p:spPr>
          <a:xfrm flipH="1" rot="10800000">
            <a:off x="5639700" y="3974875"/>
            <a:ext cx="1491900" cy="75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p37"/>
          <p:cNvSpPr txBox="1"/>
          <p:nvPr/>
        </p:nvSpPr>
        <p:spPr>
          <a:xfrm>
            <a:off x="4412925" y="3891625"/>
            <a:ext cx="1045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Inner node</a:t>
            </a: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0" name="Google Shape;310;p37"/>
          <p:cNvCxnSpPr>
            <a:stCxn id="309" idx="3"/>
            <a:endCxn id="295" idx="3"/>
          </p:cNvCxnSpPr>
          <p:nvPr/>
        </p:nvCxnSpPr>
        <p:spPr>
          <a:xfrm flipH="1" rot="10800000">
            <a:off x="5458425" y="3114775"/>
            <a:ext cx="605400" cy="92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16" name="Google Shape;316;p3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B―D = {BE, ED} path: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</a:t>
            </a:r>
            <a:r>
              <a:rPr b="1" lang="en"/>
              <a:t>origin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is the </a:t>
            </a:r>
            <a:r>
              <a:rPr b="1" lang="en"/>
              <a:t>destination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</a:t>
            </a:r>
            <a:r>
              <a:rPr b="1" lang="en"/>
              <a:t>inner node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main characteristic of a path is its </a:t>
            </a:r>
            <a:r>
              <a:rPr b="1" lang="en"/>
              <a:t>length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length of a path is the </a:t>
            </a:r>
            <a:r>
              <a:rPr i="1" lang="en"/>
              <a:t>number of edges</a:t>
            </a:r>
            <a:r>
              <a:rPr lang="en"/>
              <a:t> in it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refer to path length using the letter </a:t>
            </a:r>
            <a:r>
              <a:rPr b="1" i="1" lang="en" sz="1500">
                <a:latin typeface="Garamond"/>
                <a:ea typeface="Garamond"/>
                <a:cs typeface="Garamond"/>
                <a:sym typeface="Garamond"/>
              </a:rPr>
              <a:t>l</a:t>
            </a:r>
            <a:endParaRPr b="1" i="1" sz="1500">
              <a:latin typeface="Garamond"/>
              <a:ea typeface="Garamond"/>
              <a:cs typeface="Garamond"/>
              <a:sym typeface="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the B―D path: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i="1" lang="en" sz="1500">
                <a:latin typeface="Garamond"/>
                <a:ea typeface="Garamond"/>
                <a:cs typeface="Garamond"/>
                <a:sym typeface="Garamond"/>
              </a:rPr>
              <a:t>l</a:t>
            </a:r>
            <a:r>
              <a:rPr lang="en"/>
              <a:t> = 2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9" name="Google Shape;319;p38"/>
          <p:cNvCxnSpPr>
            <a:stCxn id="317" idx="6"/>
            <a:endCxn id="31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3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1" name="Google Shape;321;p3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2" name="Google Shape;322;p3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3" name="Google Shape;323;p38"/>
          <p:cNvCxnSpPr>
            <a:stCxn id="318" idx="7"/>
            <a:endCxn id="32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8"/>
          <p:cNvCxnSpPr>
            <a:stCxn id="322" idx="1"/>
            <a:endCxn id="32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8"/>
          <p:cNvCxnSpPr>
            <a:stCxn id="322" idx="3"/>
            <a:endCxn id="32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8"/>
          <p:cNvCxnSpPr>
            <a:stCxn id="321" idx="1"/>
            <a:endCxn id="31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8"/>
          <p:cNvCxnSpPr>
            <a:stCxn id="321" idx="0"/>
            <a:endCxn id="32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8"/>
          <p:cNvSpPr txBox="1"/>
          <p:nvPr/>
        </p:nvSpPr>
        <p:spPr>
          <a:xfrm>
            <a:off x="4677750" y="4342950"/>
            <a:ext cx="2004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 path of length two!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9" name="Google Shape;329;p38"/>
          <p:cNvCxnSpPr>
            <a:stCxn id="328" idx="0"/>
          </p:cNvCxnSpPr>
          <p:nvPr/>
        </p:nvCxnSpPr>
        <p:spPr>
          <a:xfrm flipH="1" rot="10800000">
            <a:off x="5679750" y="3374850"/>
            <a:ext cx="430200" cy="9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35" name="Google Shape;335;p3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7" name="Google Shape;337;p3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8" name="Google Shape;338;p39"/>
          <p:cNvCxnSpPr>
            <a:stCxn id="336" idx="6"/>
            <a:endCxn id="33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3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0" name="Google Shape;340;p3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1" name="Google Shape;341;p3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2" name="Google Shape;342;p39"/>
          <p:cNvCxnSpPr>
            <a:stCxn id="337" idx="7"/>
            <a:endCxn id="33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9"/>
          <p:cNvCxnSpPr>
            <a:stCxn id="341" idx="1"/>
            <a:endCxn id="33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9"/>
          <p:cNvCxnSpPr>
            <a:stCxn id="341" idx="3"/>
            <a:endCxn id="34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9"/>
          <p:cNvCxnSpPr>
            <a:stCxn id="340" idx="1"/>
            <a:endCxn id="33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9"/>
          <p:cNvCxnSpPr>
            <a:stCxn id="340" idx="0"/>
            <a:endCxn id="33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52" name="Google Shape;352;p4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5" name="Google Shape;355;p40"/>
          <p:cNvCxnSpPr>
            <a:stCxn id="353" idx="6"/>
            <a:endCxn id="354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4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7" name="Google Shape;357;p4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9" name="Google Shape;359;p40"/>
          <p:cNvCxnSpPr>
            <a:stCxn id="354" idx="7"/>
            <a:endCxn id="35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0"/>
          <p:cNvCxnSpPr>
            <a:stCxn id="358" idx="1"/>
            <a:endCxn id="35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0"/>
          <p:cNvCxnSpPr>
            <a:stCxn id="358" idx="3"/>
            <a:endCxn id="35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0"/>
          <p:cNvCxnSpPr>
            <a:stCxn id="357" idx="1"/>
            <a:endCxn id="354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0"/>
          <p:cNvCxnSpPr>
            <a:stCxn id="357" idx="0"/>
            <a:endCxn id="356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69" name="Google Shape;369;p4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1" name="Google Shape;371;p4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2" name="Google Shape;372;p41"/>
          <p:cNvCxnSpPr>
            <a:stCxn id="370" idx="6"/>
            <a:endCxn id="37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4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4" name="Google Shape;374;p4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5" name="Google Shape;375;p4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6" name="Google Shape;376;p41"/>
          <p:cNvCxnSpPr>
            <a:stCxn id="371" idx="7"/>
            <a:endCxn id="37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41"/>
          <p:cNvCxnSpPr>
            <a:stCxn id="375" idx="1"/>
            <a:endCxn id="37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41"/>
          <p:cNvCxnSpPr>
            <a:stCxn id="375" idx="3"/>
            <a:endCxn id="37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1"/>
          <p:cNvCxnSpPr>
            <a:stCxn id="374" idx="1"/>
            <a:endCxn id="37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41"/>
          <p:cNvCxnSpPr>
            <a:stCxn id="374" idx="0"/>
            <a:endCxn id="37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86" name="Google Shape;386;p4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8" name="Google Shape;388;p4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9" name="Google Shape;389;p42"/>
          <p:cNvCxnSpPr>
            <a:stCxn id="387" idx="6"/>
            <a:endCxn id="38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1" name="Google Shape;391;p4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2" name="Google Shape;392;p4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3" name="Google Shape;393;p42"/>
          <p:cNvCxnSpPr>
            <a:stCxn id="388" idx="7"/>
            <a:endCxn id="39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2"/>
          <p:cNvCxnSpPr>
            <a:stCxn id="392" idx="1"/>
            <a:endCxn id="39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2"/>
          <p:cNvCxnSpPr>
            <a:stCxn id="392" idx="3"/>
            <a:endCxn id="39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2"/>
          <p:cNvCxnSpPr>
            <a:stCxn id="391" idx="1"/>
            <a:endCxn id="38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2"/>
          <p:cNvCxnSpPr>
            <a:stCxn id="391" idx="0"/>
            <a:endCxn id="39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403" name="Google Shape;403;p4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CD, DA}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5" name="Google Shape;405;p4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6" name="Google Shape;406;p43"/>
          <p:cNvCxnSpPr>
            <a:stCxn id="404" idx="6"/>
            <a:endCxn id="40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4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8" name="Google Shape;408;p4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9" name="Google Shape;409;p4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0" name="Google Shape;410;p43"/>
          <p:cNvCxnSpPr>
            <a:stCxn id="405" idx="7"/>
            <a:endCxn id="40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43"/>
          <p:cNvCxnSpPr>
            <a:stCxn id="409" idx="1"/>
            <a:endCxn id="40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43"/>
          <p:cNvCxnSpPr>
            <a:stCxn id="409" idx="3"/>
            <a:endCxn id="40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3"/>
          <p:cNvCxnSpPr>
            <a:stCxn id="408" idx="1"/>
            <a:endCxn id="40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43"/>
          <p:cNvCxnSpPr>
            <a:stCxn id="408" idx="0"/>
            <a:endCxn id="40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420" name="Google Shape;420;p4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CD, DA}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paths are different lengths!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2" name="Google Shape;422;p4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3" name="Google Shape;423;p44"/>
          <p:cNvCxnSpPr>
            <a:stCxn id="421" idx="6"/>
            <a:endCxn id="42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4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5" name="Google Shape;425;p4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6" name="Google Shape;426;p4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7" name="Google Shape;427;p44"/>
          <p:cNvCxnSpPr>
            <a:stCxn id="422" idx="7"/>
            <a:endCxn id="42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44"/>
          <p:cNvCxnSpPr>
            <a:stCxn id="426" idx="1"/>
            <a:endCxn id="42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44"/>
          <p:cNvCxnSpPr>
            <a:stCxn id="426" idx="3"/>
            <a:endCxn id="42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44"/>
          <p:cNvCxnSpPr>
            <a:stCxn id="425" idx="1"/>
            <a:endCxn id="42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44"/>
          <p:cNvCxnSpPr>
            <a:stCxn id="425" idx="0"/>
            <a:endCxn id="424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437" name="Google Shape;437;p4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{BE, ED, DA}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{BE, EC, CA}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CD, DA}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paths are different lengths!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 </a:t>
            </a:r>
            <a:r>
              <a:rPr b="1" lang="en"/>
              <a:t>shortest path(s) </a:t>
            </a:r>
            <a:r>
              <a:rPr lang="en"/>
              <a:t>connecting B and A is: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i="1" lang="en" sz="1500">
                <a:latin typeface="Garamond"/>
                <a:ea typeface="Garamond"/>
                <a:cs typeface="Garamond"/>
                <a:sym typeface="Garamond"/>
              </a:rPr>
              <a:t>l</a:t>
            </a:r>
            <a:r>
              <a:rPr lang="en"/>
              <a:t> 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9" name="Google Shape;439;p4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0" name="Google Shape;440;p45"/>
          <p:cNvCxnSpPr>
            <a:stCxn id="438" idx="6"/>
            <a:endCxn id="43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4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2" name="Google Shape;442;p4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3" name="Google Shape;443;p4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4" name="Google Shape;444;p45"/>
          <p:cNvCxnSpPr>
            <a:stCxn id="439" idx="7"/>
            <a:endCxn id="44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5"/>
          <p:cNvCxnSpPr>
            <a:stCxn id="443" idx="1"/>
            <a:endCxn id="44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5"/>
          <p:cNvCxnSpPr>
            <a:stCxn id="443" idx="3"/>
            <a:endCxn id="44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5"/>
          <p:cNvCxnSpPr>
            <a:stCxn id="442" idx="1"/>
            <a:endCxn id="43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5"/>
          <p:cNvCxnSpPr>
            <a:stCxn id="442" idx="0"/>
            <a:endCxn id="44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</a:t>
            </a:r>
            <a:endParaRPr/>
          </a:p>
        </p:txBody>
      </p:sp>
      <p:sp>
        <p:nvSpPr>
          <p:cNvPr id="454" name="Google Shape;454;p46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path begins and ends with the same node?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cycle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6" name="Google Shape;456;p4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7" name="Google Shape;457;p46"/>
          <p:cNvCxnSpPr>
            <a:stCxn id="455" idx="6"/>
            <a:endCxn id="45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4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9" name="Google Shape;459;p4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0" name="Google Shape;460;p4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1" name="Google Shape;461;p46"/>
          <p:cNvCxnSpPr>
            <a:stCxn id="456" idx="7"/>
            <a:endCxn id="45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46"/>
          <p:cNvCxnSpPr>
            <a:stCxn id="460" idx="1"/>
            <a:endCxn id="45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46"/>
          <p:cNvCxnSpPr>
            <a:stCxn id="460" idx="3"/>
            <a:endCxn id="45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46"/>
          <p:cNvCxnSpPr>
            <a:stCxn id="459" idx="1"/>
            <a:endCxn id="45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46"/>
          <p:cNvCxnSpPr>
            <a:stCxn id="459" idx="0"/>
            <a:endCxn id="45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</a:t>
            </a:r>
            <a:endParaRPr/>
          </a:p>
        </p:txBody>
      </p:sp>
      <p:sp>
        <p:nvSpPr>
          <p:cNvPr id="471" name="Google Shape;471;p4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path begins and ends with the same node?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cycle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path {ED, DA, AC, CE} defines a cycle of length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3" name="Google Shape;473;p4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4" name="Google Shape;474;p47"/>
          <p:cNvCxnSpPr>
            <a:stCxn id="472" idx="6"/>
            <a:endCxn id="47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4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6" name="Google Shape;476;p4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7" name="Google Shape;477;p4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8" name="Google Shape;478;p47"/>
          <p:cNvCxnSpPr>
            <a:stCxn id="473" idx="7"/>
            <a:endCxn id="47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7"/>
          <p:cNvCxnSpPr>
            <a:stCxn id="477" idx="1"/>
            <a:endCxn id="47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7"/>
          <p:cNvCxnSpPr>
            <a:stCxn id="477" idx="3"/>
            <a:endCxn id="47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7"/>
          <p:cNvCxnSpPr>
            <a:stCxn id="476" idx="1"/>
            <a:endCxn id="47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7"/>
          <p:cNvCxnSpPr>
            <a:stCxn id="476" idx="0"/>
            <a:endCxn id="47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</a:t>
            </a:r>
            <a:endParaRPr/>
          </a:p>
        </p:txBody>
      </p:sp>
      <p:sp>
        <p:nvSpPr>
          <p:cNvPr id="488" name="Google Shape;488;p4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path begins and ends with the same node?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cycle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path {ED, DA, AC, CE} defines a cycle of length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path {ED, DC, CE} defines a cycle of length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smallest length a cycle can be!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0" name="Google Shape;490;p4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1" name="Google Shape;491;p48"/>
          <p:cNvCxnSpPr>
            <a:stCxn id="489" idx="6"/>
            <a:endCxn id="490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4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3" name="Google Shape;493;p4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4" name="Google Shape;494;p4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5" name="Google Shape;495;p48"/>
          <p:cNvCxnSpPr>
            <a:stCxn id="490" idx="7"/>
            <a:endCxn id="49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48"/>
          <p:cNvCxnSpPr>
            <a:stCxn id="494" idx="1"/>
            <a:endCxn id="49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48"/>
          <p:cNvCxnSpPr>
            <a:stCxn id="494" idx="3"/>
            <a:endCxn id="49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48"/>
          <p:cNvCxnSpPr>
            <a:stCxn id="493" idx="1"/>
            <a:endCxn id="490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48"/>
          <p:cNvCxnSpPr>
            <a:stCxn id="493" idx="0"/>
            <a:endCxn id="492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9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510" name="Google Shape;510;p5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2" name="Google Shape;512;p5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3" name="Google Shape;513;p50"/>
          <p:cNvCxnSpPr>
            <a:stCxn id="511" idx="5"/>
            <a:endCxn id="51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14" name="Google Shape;514;p5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5" name="Google Shape;515;p5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6" name="Google Shape;516;p5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7" name="Google Shape;517;p50"/>
          <p:cNvCxnSpPr>
            <a:stCxn id="512" idx="7"/>
            <a:endCxn id="51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8" name="Google Shape;518;p50"/>
          <p:cNvCxnSpPr>
            <a:stCxn id="516" idx="1"/>
            <a:endCxn id="51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9" name="Google Shape;519;p50"/>
          <p:cNvCxnSpPr>
            <a:stCxn id="516" idx="3"/>
            <a:endCxn id="51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0" name="Google Shape;520;p50"/>
          <p:cNvCxnSpPr>
            <a:stCxn id="515" idx="1"/>
            <a:endCxn id="51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21" name="Google Shape;521;p50"/>
          <p:cNvCxnSpPr>
            <a:stCxn id="515" idx="7"/>
            <a:endCxn id="51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2" name="Google Shape;522;p50"/>
          <p:cNvCxnSpPr>
            <a:stCxn id="512" idx="1"/>
            <a:endCxn id="51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23" name="Google Shape;523;p50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24" name="Google Shape;524;p50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530" name="Google Shape;530;p5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directed paths of length 3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{AD, DE, EB}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2" name="Google Shape;532;p5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3" name="Google Shape;533;p51"/>
          <p:cNvCxnSpPr>
            <a:stCxn id="531" idx="5"/>
            <a:endCxn id="53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34" name="Google Shape;534;p5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5" name="Google Shape;535;p5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6" name="Google Shape;536;p5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7" name="Google Shape;537;p51"/>
          <p:cNvCxnSpPr>
            <a:stCxn id="532" idx="7"/>
            <a:endCxn id="53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38" name="Google Shape;538;p51"/>
          <p:cNvCxnSpPr>
            <a:stCxn id="536" idx="1"/>
            <a:endCxn id="53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9" name="Google Shape;539;p51"/>
          <p:cNvCxnSpPr>
            <a:stCxn id="536" idx="3"/>
            <a:endCxn id="53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0" name="Google Shape;540;p51"/>
          <p:cNvCxnSpPr>
            <a:stCxn id="535" idx="1"/>
            <a:endCxn id="53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41" name="Google Shape;541;p51"/>
          <p:cNvCxnSpPr>
            <a:stCxn id="535" idx="7"/>
            <a:endCxn id="53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2" name="Google Shape;542;p51"/>
          <p:cNvCxnSpPr>
            <a:stCxn id="532" idx="1"/>
            <a:endCxn id="53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43" name="Google Shape;543;p51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44" name="Google Shape;544;p51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550" name="Google Shape;550;p5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directed paths of length 3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{AD, DE, EB}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{AC, CE, EB}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2" name="Google Shape;552;p5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3" name="Google Shape;553;p52"/>
          <p:cNvCxnSpPr>
            <a:stCxn id="551" idx="5"/>
            <a:endCxn id="55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54" name="Google Shape;554;p5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5" name="Google Shape;555;p5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6" name="Google Shape;556;p5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7" name="Google Shape;557;p52"/>
          <p:cNvCxnSpPr>
            <a:stCxn id="552" idx="7"/>
            <a:endCxn id="55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58" name="Google Shape;558;p52"/>
          <p:cNvCxnSpPr>
            <a:stCxn id="556" idx="1"/>
            <a:endCxn id="55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9" name="Google Shape;559;p52"/>
          <p:cNvCxnSpPr>
            <a:stCxn id="556" idx="3"/>
            <a:endCxn id="55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0" name="Google Shape;560;p52"/>
          <p:cNvCxnSpPr>
            <a:stCxn id="555" idx="1"/>
            <a:endCxn id="55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61" name="Google Shape;561;p52"/>
          <p:cNvCxnSpPr>
            <a:stCxn id="555" idx="7"/>
            <a:endCxn id="55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2" name="Google Shape;562;p52"/>
          <p:cNvCxnSpPr>
            <a:stCxn id="552" idx="1"/>
            <a:endCxn id="55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63" name="Google Shape;563;p52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64" name="Google Shape;564;p52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570" name="Google Shape;570;p5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also two directed paths of length 4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{AC, CD, DE, EB}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2" name="Google Shape;572;p5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3" name="Google Shape;573;p53"/>
          <p:cNvCxnSpPr>
            <a:stCxn id="571" idx="5"/>
            <a:endCxn id="57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74" name="Google Shape;574;p5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5" name="Google Shape;575;p5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6" name="Google Shape;576;p5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7" name="Google Shape;577;p53"/>
          <p:cNvCxnSpPr>
            <a:stCxn id="572" idx="7"/>
            <a:endCxn id="57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78" name="Google Shape;578;p53"/>
          <p:cNvCxnSpPr>
            <a:stCxn id="576" idx="1"/>
            <a:endCxn id="57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9" name="Google Shape;579;p53"/>
          <p:cNvCxnSpPr>
            <a:stCxn id="576" idx="3"/>
            <a:endCxn id="57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0" name="Google Shape;580;p53"/>
          <p:cNvCxnSpPr>
            <a:stCxn id="575" idx="1"/>
            <a:endCxn id="57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81" name="Google Shape;581;p53"/>
          <p:cNvCxnSpPr>
            <a:stCxn id="575" idx="7"/>
            <a:endCxn id="57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2" name="Google Shape;582;p53"/>
          <p:cNvCxnSpPr>
            <a:stCxn id="572" idx="1"/>
            <a:endCxn id="57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83" name="Google Shape;583;p53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84" name="Google Shape;584;p53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590" name="Google Shape;590;p5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also two directed paths of length 4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{AC, CD, DE, EB}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{AD, DC, CE, EB}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3" name="Google Shape;593;p54"/>
          <p:cNvCxnSpPr>
            <a:stCxn id="591" idx="5"/>
            <a:endCxn id="59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94" name="Google Shape;594;p5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5" name="Google Shape;595;p5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6" name="Google Shape;596;p5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7" name="Google Shape;597;p54"/>
          <p:cNvCxnSpPr>
            <a:stCxn id="592" idx="7"/>
            <a:endCxn id="59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98" name="Google Shape;598;p54"/>
          <p:cNvCxnSpPr>
            <a:stCxn id="596" idx="1"/>
            <a:endCxn id="59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9" name="Google Shape;599;p54"/>
          <p:cNvCxnSpPr>
            <a:stCxn id="596" idx="3"/>
            <a:endCxn id="59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0" name="Google Shape;600;p54"/>
          <p:cNvCxnSpPr>
            <a:stCxn id="595" idx="1"/>
            <a:endCxn id="59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01" name="Google Shape;601;p54"/>
          <p:cNvCxnSpPr>
            <a:stCxn id="595" idx="7"/>
            <a:endCxn id="59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2" name="Google Shape;602;p54"/>
          <p:cNvCxnSpPr>
            <a:stCxn id="592" idx="1"/>
            <a:endCxn id="59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03" name="Google Shape;603;p54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04" name="Google Shape;604;p54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610" name="Google Shape;610;p5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2" name="Google Shape;612;p5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3" name="Google Shape;613;p55"/>
          <p:cNvCxnSpPr>
            <a:stCxn id="611" idx="5"/>
            <a:endCxn id="61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14" name="Google Shape;614;p5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6" name="Google Shape;616;p5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7" name="Google Shape;617;p55"/>
          <p:cNvCxnSpPr>
            <a:stCxn id="612" idx="7"/>
            <a:endCxn id="61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8" name="Google Shape;618;p55"/>
          <p:cNvCxnSpPr>
            <a:stCxn id="616" idx="1"/>
            <a:endCxn id="61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9" name="Google Shape;619;p55"/>
          <p:cNvCxnSpPr>
            <a:stCxn id="616" idx="3"/>
            <a:endCxn id="61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0" name="Google Shape;620;p55"/>
          <p:cNvCxnSpPr>
            <a:stCxn id="615" idx="1"/>
            <a:endCxn id="61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21" name="Google Shape;621;p55"/>
          <p:cNvCxnSpPr>
            <a:stCxn id="615" idx="7"/>
            <a:endCxn id="61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2" name="Google Shape;622;p55"/>
          <p:cNvCxnSpPr>
            <a:stCxn id="612" idx="1"/>
            <a:endCxn id="61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23" name="Google Shape;623;p55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24" name="Google Shape;624;p55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5" name="Google Shape;625;p55"/>
          <p:cNvSpPr/>
          <p:nvPr/>
        </p:nvSpPr>
        <p:spPr>
          <a:xfrm>
            <a:off x="5061625" y="3344174"/>
            <a:ext cx="2525400" cy="105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0000"/>
                </a:solidFill>
              </a:rPr>
              <a:t>?</a:t>
            </a:r>
            <a:endParaRPr b="1" sz="1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631" name="Google Shape;631;p56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 that while A can </a:t>
            </a:r>
            <a:r>
              <a:rPr b="1" lang="en"/>
              <a:t>reach </a:t>
            </a:r>
            <a:r>
              <a:rPr lang="en"/>
              <a:t>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</a:t>
            </a:r>
            <a:r>
              <a:rPr b="1" lang="en"/>
              <a:t>cannot reach</a:t>
            </a:r>
            <a:r>
              <a:rPr lang="en"/>
              <a:t> A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3" name="Google Shape;633;p5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4" name="Google Shape;634;p56"/>
          <p:cNvCxnSpPr>
            <a:stCxn id="632" idx="5"/>
            <a:endCxn id="63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35" name="Google Shape;635;p5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6" name="Google Shape;636;p5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7" name="Google Shape;637;p5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8" name="Google Shape;638;p56"/>
          <p:cNvCxnSpPr>
            <a:stCxn id="633" idx="7"/>
            <a:endCxn id="63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9" name="Google Shape;639;p56"/>
          <p:cNvCxnSpPr>
            <a:stCxn id="637" idx="1"/>
            <a:endCxn id="63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0" name="Google Shape;640;p56"/>
          <p:cNvCxnSpPr>
            <a:stCxn id="637" idx="3"/>
            <a:endCxn id="63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1" name="Google Shape;641;p56"/>
          <p:cNvCxnSpPr>
            <a:stCxn id="636" idx="1"/>
            <a:endCxn id="63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42" name="Google Shape;642;p56"/>
          <p:cNvCxnSpPr>
            <a:stCxn id="636" idx="7"/>
            <a:endCxn id="63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3" name="Google Shape;643;p56"/>
          <p:cNvCxnSpPr>
            <a:stCxn id="633" idx="1"/>
            <a:endCxn id="63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44" name="Google Shape;644;p56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45" name="Google Shape;645;p56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6" name="Google Shape;646;p56"/>
          <p:cNvSpPr/>
          <p:nvPr/>
        </p:nvSpPr>
        <p:spPr>
          <a:xfrm>
            <a:off x="4354300" y="3934749"/>
            <a:ext cx="2525400" cy="105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directed graphs the reachability relation is asymmetric!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47" name="Google Shape;647;p56"/>
          <p:cNvCxnSpPr>
            <a:stCxn id="646" idx="0"/>
          </p:cNvCxnSpPr>
          <p:nvPr/>
        </p:nvCxnSpPr>
        <p:spPr>
          <a:xfrm flipH="1" rot="10800000">
            <a:off x="5617000" y="3456249"/>
            <a:ext cx="794700" cy="47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653" name="Google Shape;653;p5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 that while A can </a:t>
            </a:r>
            <a:r>
              <a:rPr b="1" lang="en"/>
              <a:t>reach </a:t>
            </a:r>
            <a:r>
              <a:rPr lang="en"/>
              <a:t>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</a:t>
            </a:r>
            <a:r>
              <a:rPr b="1" lang="en"/>
              <a:t>cannot reach</a:t>
            </a:r>
            <a:r>
              <a:rPr lang="en"/>
              <a:t>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Nonadjacent nodes may be</a:t>
            </a:r>
            <a:r>
              <a:rPr b="1" lang="en"/>
              <a:t> mutually reachable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5" name="Google Shape;655;p5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6" name="Google Shape;656;p57"/>
          <p:cNvCxnSpPr>
            <a:stCxn id="654" idx="5"/>
            <a:endCxn id="655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57" name="Google Shape;657;p5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8" name="Google Shape;658;p5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9" name="Google Shape;659;p5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0" name="Google Shape;660;p57"/>
          <p:cNvCxnSpPr>
            <a:stCxn id="655" idx="7"/>
            <a:endCxn id="65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1" name="Google Shape;661;p57"/>
          <p:cNvCxnSpPr>
            <a:stCxn id="659" idx="1"/>
            <a:endCxn id="65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2" name="Google Shape;662;p57"/>
          <p:cNvCxnSpPr>
            <a:stCxn id="659" idx="3"/>
            <a:endCxn id="65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3" name="Google Shape;663;p57"/>
          <p:cNvCxnSpPr>
            <a:stCxn id="658" idx="1"/>
            <a:endCxn id="657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4" name="Google Shape;664;p57"/>
          <p:cNvCxnSpPr>
            <a:stCxn id="658" idx="7"/>
            <a:endCxn id="657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5" name="Google Shape;665;p57"/>
          <p:cNvCxnSpPr>
            <a:stCxn id="655" idx="1"/>
            <a:endCxn id="654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6" name="Google Shape;666;p57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7" name="Google Shape;667;p57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8" name="Google Shape;668;p57"/>
          <p:cNvSpPr/>
          <p:nvPr/>
        </p:nvSpPr>
        <p:spPr>
          <a:xfrm>
            <a:off x="2918550" y="4159450"/>
            <a:ext cx="49923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 and D are mutually reachable: B can reach D (blue directed path) and D can reach B (red directed path)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69" name="Google Shape;669;p57"/>
          <p:cNvCxnSpPr>
            <a:stCxn id="668" idx="0"/>
          </p:cNvCxnSpPr>
          <p:nvPr/>
        </p:nvCxnSpPr>
        <p:spPr>
          <a:xfrm flipH="1" rot="10800000">
            <a:off x="5414700" y="357085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675" name="Google Shape;675;p5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 that while A can </a:t>
            </a:r>
            <a:r>
              <a:rPr b="1" lang="en"/>
              <a:t>reach </a:t>
            </a:r>
            <a:r>
              <a:rPr lang="en"/>
              <a:t>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</a:t>
            </a:r>
            <a:r>
              <a:rPr b="1" lang="en"/>
              <a:t>cannot reach</a:t>
            </a:r>
            <a:r>
              <a:rPr lang="en"/>
              <a:t>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Nonadjacent nodes may be</a:t>
            </a:r>
            <a:r>
              <a:rPr b="1" lang="en"/>
              <a:t> mutually reachable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7" name="Google Shape;677;p5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78" name="Google Shape;678;p58"/>
          <p:cNvCxnSpPr>
            <a:stCxn id="676" idx="5"/>
            <a:endCxn id="67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79" name="Google Shape;679;p5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0" name="Google Shape;680;p5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1" name="Google Shape;681;p5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2" name="Google Shape;682;p58"/>
          <p:cNvCxnSpPr>
            <a:stCxn id="677" idx="7"/>
            <a:endCxn id="67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3" name="Google Shape;683;p58"/>
          <p:cNvCxnSpPr>
            <a:stCxn id="681" idx="1"/>
            <a:endCxn id="67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4" name="Google Shape;684;p58"/>
          <p:cNvCxnSpPr>
            <a:stCxn id="681" idx="3"/>
            <a:endCxn id="68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5" name="Google Shape;685;p58"/>
          <p:cNvCxnSpPr>
            <a:stCxn id="680" idx="1"/>
            <a:endCxn id="679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6" name="Google Shape;686;p58"/>
          <p:cNvCxnSpPr>
            <a:stCxn id="680" idx="7"/>
            <a:endCxn id="679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7" name="Google Shape;687;p58"/>
          <p:cNvCxnSpPr>
            <a:stCxn id="677" idx="1"/>
            <a:endCxn id="67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8" name="Google Shape;688;p58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9" name="Google Shape;689;p58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90" name="Google Shape;690;p58"/>
          <p:cNvSpPr/>
          <p:nvPr/>
        </p:nvSpPr>
        <p:spPr>
          <a:xfrm>
            <a:off x="2918550" y="4159450"/>
            <a:ext cx="49923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 and B are NOT mutually reachable: A can reach B (red directed path) but B cannot reach A 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91" name="Google Shape;691;p58"/>
          <p:cNvCxnSpPr>
            <a:stCxn id="690" idx="0"/>
          </p:cNvCxnSpPr>
          <p:nvPr/>
        </p:nvCxnSpPr>
        <p:spPr>
          <a:xfrm flipH="1" rot="10800000">
            <a:off x="5414700" y="357085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Graphs</a:t>
            </a:r>
            <a:endParaRPr/>
          </a:p>
        </p:txBody>
      </p:sp>
      <p:sp>
        <p:nvSpPr>
          <p:cNvPr id="697" name="Google Shape;697;p5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be defined as directed graphs without any cycles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9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9" name="Google Shape;699;p59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0" name="Google Shape;700;p59"/>
          <p:cNvCxnSpPr>
            <a:stCxn id="698" idx="0"/>
            <a:endCxn id="699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01" name="Google Shape;701;p59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2" name="Google Shape;702;p59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3" name="Google Shape;703;p59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4" name="Google Shape;704;p59"/>
          <p:cNvCxnSpPr>
            <a:stCxn id="699" idx="7"/>
            <a:endCxn id="701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5" name="Google Shape;705;p59"/>
          <p:cNvCxnSpPr>
            <a:stCxn id="703" idx="1"/>
            <a:endCxn id="701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6" name="Google Shape;706;p59"/>
          <p:cNvCxnSpPr>
            <a:stCxn id="703" idx="3"/>
            <a:endCxn id="702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7" name="Google Shape;707;p59"/>
          <p:cNvCxnSpPr>
            <a:stCxn id="702" idx="0"/>
            <a:endCxn id="701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8" name="Google Shape;708;p59"/>
          <p:cNvCxnSpPr>
            <a:stCxn id="702" idx="0"/>
            <a:endCxn id="699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9" name="Google Shape;709;p59"/>
          <p:cNvCxnSpPr>
            <a:stCxn id="698" idx="0"/>
            <a:endCxn id="701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Graphs</a:t>
            </a:r>
            <a:endParaRPr/>
          </a:p>
        </p:txBody>
      </p:sp>
      <p:sp>
        <p:nvSpPr>
          <p:cNvPr id="715" name="Google Shape;715;p6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be defined as directed graphs without any 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That’s why they are sometimes called </a:t>
            </a:r>
            <a:r>
              <a:rPr b="1" lang="en"/>
              <a:t>directed acyclic graphs (DAGs)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60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7" name="Google Shape;717;p60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8" name="Google Shape;718;p60"/>
          <p:cNvCxnSpPr>
            <a:stCxn id="716" idx="0"/>
            <a:endCxn id="717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19" name="Google Shape;719;p60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0" name="Google Shape;720;p60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1" name="Google Shape;721;p60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22" name="Google Shape;722;p60"/>
          <p:cNvCxnSpPr>
            <a:stCxn id="717" idx="7"/>
            <a:endCxn id="719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23" name="Google Shape;723;p60"/>
          <p:cNvCxnSpPr>
            <a:stCxn id="721" idx="1"/>
            <a:endCxn id="719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24" name="Google Shape;724;p60"/>
          <p:cNvCxnSpPr>
            <a:stCxn id="721" idx="3"/>
            <a:endCxn id="720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5" name="Google Shape;725;p60"/>
          <p:cNvCxnSpPr>
            <a:stCxn id="720" idx="0"/>
            <a:endCxn id="719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26" name="Google Shape;726;p60"/>
          <p:cNvCxnSpPr>
            <a:stCxn id="720" idx="0"/>
            <a:endCxn id="717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27" name="Google Shape;727;p60"/>
          <p:cNvCxnSpPr>
            <a:stCxn id="716" idx="0"/>
            <a:endCxn id="719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Graphs</a:t>
            </a:r>
            <a:endParaRPr/>
          </a:p>
        </p:txBody>
      </p:sp>
      <p:sp>
        <p:nvSpPr>
          <p:cNvPr id="733" name="Google Shape;733;p6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be defined as directed graphs without any 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That’s why they are sometimes called </a:t>
            </a:r>
            <a:r>
              <a:rPr b="1" lang="en"/>
              <a:t>directed acyclic graphs (DAGs)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1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6" name="Google Shape;736;p61"/>
          <p:cNvCxnSpPr>
            <a:stCxn id="734" idx="0"/>
            <a:endCxn id="735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37" name="Google Shape;737;p61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0" name="Google Shape;740;p61"/>
          <p:cNvCxnSpPr>
            <a:stCxn id="735" idx="7"/>
            <a:endCxn id="737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41" name="Google Shape;741;p61"/>
          <p:cNvCxnSpPr>
            <a:stCxn id="739" idx="1"/>
            <a:endCxn id="737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42" name="Google Shape;742;p61"/>
          <p:cNvCxnSpPr>
            <a:stCxn id="739" idx="3"/>
            <a:endCxn id="738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43" name="Google Shape;743;p61"/>
          <p:cNvCxnSpPr>
            <a:stCxn id="738" idx="0"/>
            <a:endCxn id="737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44" name="Google Shape;744;p61"/>
          <p:cNvCxnSpPr>
            <a:stCxn id="738" idx="0"/>
            <a:endCxn id="735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45" name="Google Shape;745;p61"/>
          <p:cNvCxnSpPr>
            <a:stCxn id="734" idx="0"/>
            <a:endCxn id="737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46" name="Google Shape;746;p61"/>
          <p:cNvCxnSpPr>
            <a:stCxn id="738" idx="6"/>
            <a:endCxn id="737" idx="6"/>
          </p:cNvCxnSpPr>
          <p:nvPr/>
        </p:nvCxnSpPr>
        <p:spPr>
          <a:xfrm flipH="1" rot="10800000">
            <a:off x="7123875" y="1318550"/>
            <a:ext cx="600" cy="2871300"/>
          </a:xfrm>
          <a:prstGeom prst="curvedConnector3">
            <a:avLst>
              <a:gd fmla="val 250054167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7" name="Google Shape;747;p61"/>
          <p:cNvSpPr/>
          <p:nvPr/>
        </p:nvSpPr>
        <p:spPr>
          <a:xfrm>
            <a:off x="2815575" y="4125975"/>
            <a:ext cx="2309400" cy="908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DC edge creates a cycle!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Graphs</a:t>
            </a:r>
            <a:endParaRPr/>
          </a:p>
        </p:txBody>
      </p:sp>
      <p:sp>
        <p:nvSpPr>
          <p:cNvPr id="753" name="Google Shape;753;p6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be defined as directed graphs without any 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That’s why they are sometimes called </a:t>
            </a:r>
            <a:r>
              <a:rPr b="1" lang="en"/>
              <a:t>directed acyclic graphs (DAGs)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sense that there shouldn’t be cycles for antisymmetric links!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62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5" name="Google Shape;755;p62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56" name="Google Shape;756;p62"/>
          <p:cNvCxnSpPr>
            <a:stCxn id="754" idx="0"/>
            <a:endCxn id="755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57" name="Google Shape;757;p62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8" name="Google Shape;758;p62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9" name="Google Shape;759;p62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60" name="Google Shape;760;p62"/>
          <p:cNvCxnSpPr>
            <a:stCxn id="755" idx="7"/>
            <a:endCxn id="757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1" name="Google Shape;761;p62"/>
          <p:cNvCxnSpPr>
            <a:stCxn id="759" idx="1"/>
            <a:endCxn id="757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2" name="Google Shape;762;p62"/>
          <p:cNvCxnSpPr>
            <a:stCxn id="759" idx="3"/>
            <a:endCxn id="758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3" name="Google Shape;763;p62"/>
          <p:cNvCxnSpPr>
            <a:stCxn id="758" idx="0"/>
            <a:endCxn id="757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4" name="Google Shape;764;p62"/>
          <p:cNvCxnSpPr>
            <a:stCxn id="758" idx="0"/>
            <a:endCxn id="755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5" name="Google Shape;765;p62"/>
          <p:cNvCxnSpPr>
            <a:stCxn id="754" idx="0"/>
            <a:endCxn id="757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776" name="Google Shape;776;p64"/>
          <p:cNvSpPr txBox="1"/>
          <p:nvPr>
            <p:ph idx="1" type="body"/>
          </p:nvPr>
        </p:nvSpPr>
        <p:spPr>
          <a:xfrm>
            <a:off x="311700" y="1225225"/>
            <a:ext cx="4796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64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64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64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1" name="Google Shape;781;p64"/>
          <p:cNvCxnSpPr>
            <a:stCxn id="777" idx="3"/>
            <a:endCxn id="77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64"/>
          <p:cNvCxnSpPr>
            <a:stCxn id="780" idx="1"/>
            <a:endCxn id="77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64"/>
          <p:cNvCxnSpPr>
            <a:stCxn id="777" idx="4"/>
            <a:endCxn id="78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64"/>
          <p:cNvCxnSpPr>
            <a:stCxn id="777" idx="5"/>
            <a:endCxn id="77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64"/>
          <p:cNvCxnSpPr>
            <a:stCxn id="779" idx="2"/>
            <a:endCxn id="77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" name="Google Shape;786;p64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64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4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64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0" name="Google Shape;790;p64"/>
          <p:cNvCxnSpPr>
            <a:stCxn id="786" idx="3"/>
            <a:endCxn id="78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64"/>
          <p:cNvCxnSpPr>
            <a:stCxn id="789" idx="0"/>
            <a:endCxn id="78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64"/>
          <p:cNvCxnSpPr>
            <a:stCxn id="786" idx="5"/>
            <a:endCxn id="78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64"/>
          <p:cNvCxnSpPr>
            <a:stCxn id="788" idx="2"/>
            <a:endCxn id="78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64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5" name="Google Shape;795;p64"/>
          <p:cNvCxnSpPr>
            <a:stCxn id="794" idx="0"/>
            <a:endCxn id="78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64"/>
          <p:cNvCxnSpPr>
            <a:stCxn id="788" idx="3"/>
            <a:endCxn id="78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64"/>
          <p:cNvCxnSpPr>
            <a:stCxn id="788" idx="3"/>
            <a:endCxn id="79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64"/>
          <p:cNvCxnSpPr>
            <a:stCxn id="786" idx="4"/>
            <a:endCxn id="79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9" name="Google Shape;799;p64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64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64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64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3" name="Google Shape;803;p64"/>
          <p:cNvCxnSpPr>
            <a:stCxn id="799" idx="3"/>
            <a:endCxn id="80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64"/>
          <p:cNvCxnSpPr>
            <a:stCxn id="802" idx="0"/>
            <a:endCxn id="800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64"/>
          <p:cNvCxnSpPr>
            <a:stCxn id="799" idx="5"/>
            <a:endCxn id="80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64"/>
          <p:cNvCxnSpPr>
            <a:stCxn id="801" idx="2"/>
            <a:endCxn id="80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64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8" name="Google Shape;808;p64"/>
          <p:cNvCxnSpPr>
            <a:stCxn id="801" idx="3"/>
            <a:endCxn id="802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64"/>
          <p:cNvCxnSpPr>
            <a:stCxn id="807" idx="2"/>
            <a:endCxn id="80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64"/>
          <p:cNvCxnSpPr>
            <a:stCxn id="807" idx="0"/>
            <a:endCxn id="79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64"/>
          <p:cNvCxnSpPr>
            <a:stCxn id="802" idx="6"/>
            <a:endCxn id="807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64"/>
          <p:cNvCxnSpPr>
            <a:stCxn id="779" idx="5"/>
            <a:endCxn id="800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64"/>
          <p:cNvCxnSpPr>
            <a:stCxn id="779" idx="7"/>
            <a:endCxn id="789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64"/>
          <p:cNvCxnSpPr>
            <a:stCxn id="794" idx="3"/>
            <a:endCxn id="799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64"/>
          <p:cNvCxnSpPr>
            <a:stCxn id="788" idx="4"/>
            <a:endCxn id="801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64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connected graph! :)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17" name="Google Shape;817;p64"/>
          <p:cNvCxnSpPr>
            <a:stCxn id="816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823" name="Google Shape;823;p65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</a:t>
            </a:r>
            <a:r>
              <a:rPr lang="en"/>
              <a:t>exists</a:t>
            </a:r>
            <a:r>
              <a:rPr lang="en"/>
              <a:t>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</a:t>
            </a:r>
            <a:r>
              <a:rPr lang="en"/>
              <a:t>does not exist</a:t>
            </a:r>
            <a:r>
              <a:rPr lang="en"/>
              <a:t>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6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6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6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6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8" name="Google Shape;828;p65"/>
          <p:cNvCxnSpPr>
            <a:stCxn id="824" idx="3"/>
            <a:endCxn id="82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65"/>
          <p:cNvCxnSpPr>
            <a:stCxn id="827" idx="1"/>
            <a:endCxn id="82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65"/>
          <p:cNvCxnSpPr>
            <a:stCxn id="824" idx="4"/>
            <a:endCxn id="82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65"/>
          <p:cNvCxnSpPr>
            <a:stCxn id="824" idx="5"/>
            <a:endCxn id="82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65"/>
          <p:cNvCxnSpPr>
            <a:stCxn id="826" idx="2"/>
            <a:endCxn id="82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6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6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6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6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7" name="Google Shape;837;p65"/>
          <p:cNvCxnSpPr>
            <a:stCxn id="833" idx="3"/>
            <a:endCxn id="83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65"/>
          <p:cNvCxnSpPr>
            <a:stCxn id="836" idx="0"/>
            <a:endCxn id="83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65"/>
          <p:cNvCxnSpPr>
            <a:stCxn id="833" idx="5"/>
            <a:endCxn id="83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65"/>
          <p:cNvCxnSpPr>
            <a:stCxn id="835" idx="2"/>
            <a:endCxn id="83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" name="Google Shape;841;p6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2" name="Google Shape;842;p65"/>
          <p:cNvCxnSpPr>
            <a:stCxn id="841" idx="0"/>
            <a:endCxn id="83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65"/>
          <p:cNvCxnSpPr>
            <a:stCxn id="835" idx="3"/>
            <a:endCxn id="83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65"/>
          <p:cNvCxnSpPr>
            <a:stCxn id="835" idx="3"/>
            <a:endCxn id="84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65"/>
          <p:cNvCxnSpPr>
            <a:stCxn id="833" idx="4"/>
            <a:endCxn id="84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6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6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65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65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0" name="Google Shape;850;p65"/>
          <p:cNvCxnSpPr>
            <a:stCxn id="846" idx="3"/>
            <a:endCxn id="84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65"/>
          <p:cNvCxnSpPr>
            <a:stCxn id="849" idx="0"/>
            <a:endCxn id="847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65"/>
          <p:cNvCxnSpPr>
            <a:stCxn id="846" idx="5"/>
            <a:endCxn id="84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65"/>
          <p:cNvCxnSpPr>
            <a:stCxn id="848" idx="2"/>
            <a:endCxn id="84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6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5" name="Google Shape;855;p65"/>
          <p:cNvCxnSpPr>
            <a:stCxn id="848" idx="3"/>
            <a:endCxn id="849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65"/>
          <p:cNvCxnSpPr>
            <a:stCxn id="854" idx="2"/>
            <a:endCxn id="84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65"/>
          <p:cNvCxnSpPr>
            <a:stCxn id="854" idx="0"/>
            <a:endCxn id="84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65"/>
          <p:cNvCxnSpPr>
            <a:stCxn id="849" idx="6"/>
            <a:endCxn id="854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9" name="Google Shape;859;p65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disconnected :(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60" name="Google Shape;860;p65"/>
          <p:cNvCxnSpPr>
            <a:stCxn id="859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866" name="Google Shape;866;p66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that is part of a larger disconnected graph is called a </a:t>
            </a:r>
            <a:r>
              <a:rPr b="1" lang="en"/>
              <a:t>component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6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66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1" name="Google Shape;871;p66"/>
          <p:cNvCxnSpPr>
            <a:stCxn id="867" idx="3"/>
            <a:endCxn id="86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66"/>
          <p:cNvCxnSpPr>
            <a:stCxn id="870" idx="1"/>
            <a:endCxn id="86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66"/>
          <p:cNvCxnSpPr>
            <a:stCxn id="867" idx="4"/>
            <a:endCxn id="87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66"/>
          <p:cNvCxnSpPr>
            <a:stCxn id="867" idx="5"/>
            <a:endCxn id="86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66"/>
          <p:cNvCxnSpPr>
            <a:stCxn id="869" idx="2"/>
            <a:endCxn id="86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6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6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6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0" name="Google Shape;880;p66"/>
          <p:cNvCxnSpPr>
            <a:stCxn id="876" idx="3"/>
            <a:endCxn id="87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66"/>
          <p:cNvCxnSpPr>
            <a:stCxn id="879" idx="0"/>
            <a:endCxn id="87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66"/>
          <p:cNvCxnSpPr>
            <a:stCxn id="876" idx="5"/>
            <a:endCxn id="87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66"/>
          <p:cNvCxnSpPr>
            <a:stCxn id="878" idx="2"/>
            <a:endCxn id="87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6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66"/>
          <p:cNvCxnSpPr>
            <a:stCxn id="884" idx="0"/>
            <a:endCxn id="87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66"/>
          <p:cNvCxnSpPr>
            <a:stCxn id="878" idx="3"/>
            <a:endCxn id="87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66"/>
          <p:cNvCxnSpPr>
            <a:stCxn id="878" idx="3"/>
            <a:endCxn id="88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66"/>
          <p:cNvCxnSpPr>
            <a:stCxn id="876" idx="4"/>
            <a:endCxn id="88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9" name="Google Shape;889;p66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6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66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66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3" name="Google Shape;893;p66"/>
          <p:cNvCxnSpPr>
            <a:stCxn id="889" idx="3"/>
            <a:endCxn id="89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66"/>
          <p:cNvCxnSpPr>
            <a:stCxn id="892" idx="0"/>
            <a:endCxn id="890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66"/>
          <p:cNvCxnSpPr>
            <a:stCxn id="889" idx="5"/>
            <a:endCxn id="89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66"/>
          <p:cNvCxnSpPr>
            <a:stCxn id="891" idx="2"/>
            <a:endCxn id="89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6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8" name="Google Shape;898;p66"/>
          <p:cNvCxnSpPr>
            <a:stCxn id="891" idx="3"/>
            <a:endCxn id="892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66"/>
          <p:cNvCxnSpPr>
            <a:stCxn id="897" idx="2"/>
            <a:endCxn id="89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66"/>
          <p:cNvCxnSpPr>
            <a:stCxn id="897" idx="0"/>
            <a:endCxn id="88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66"/>
          <p:cNvCxnSpPr>
            <a:stCxn id="892" idx="6"/>
            <a:endCxn id="897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66"/>
          <p:cNvSpPr txBox="1"/>
          <p:nvPr/>
        </p:nvSpPr>
        <p:spPr>
          <a:xfrm>
            <a:off x="4974336" y="4306824"/>
            <a:ext cx="2225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three components!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03" name="Google Shape;903;p66"/>
          <p:cNvSpPr/>
          <p:nvPr/>
        </p:nvSpPr>
        <p:spPr>
          <a:xfrm>
            <a:off x="5177125" y="17970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6"/>
          <p:cNvSpPr/>
          <p:nvPr/>
        </p:nvSpPr>
        <p:spPr>
          <a:xfrm>
            <a:off x="6883725" y="42852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66"/>
          <p:cNvSpPr/>
          <p:nvPr/>
        </p:nvSpPr>
        <p:spPr>
          <a:xfrm>
            <a:off x="7162850" y="29922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911" name="Google Shape;911;p67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that is part of a larger disconnected 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If a graph has more than one component it is by definition disconnected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6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6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67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6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6" name="Google Shape;916;p67"/>
          <p:cNvCxnSpPr>
            <a:stCxn id="912" idx="3"/>
            <a:endCxn id="91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67"/>
          <p:cNvCxnSpPr>
            <a:stCxn id="915" idx="1"/>
            <a:endCxn id="91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67"/>
          <p:cNvCxnSpPr>
            <a:stCxn id="912" idx="4"/>
            <a:endCxn id="91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67"/>
          <p:cNvCxnSpPr>
            <a:stCxn id="912" idx="5"/>
            <a:endCxn id="91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67"/>
          <p:cNvCxnSpPr>
            <a:stCxn id="914" idx="2"/>
            <a:endCxn id="91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6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6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6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6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5" name="Google Shape;925;p67"/>
          <p:cNvCxnSpPr>
            <a:stCxn id="921" idx="3"/>
            <a:endCxn id="92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67"/>
          <p:cNvCxnSpPr>
            <a:stCxn id="924" idx="0"/>
            <a:endCxn id="92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67"/>
          <p:cNvCxnSpPr>
            <a:stCxn id="921" idx="5"/>
            <a:endCxn id="92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67"/>
          <p:cNvCxnSpPr>
            <a:stCxn id="923" idx="2"/>
            <a:endCxn id="92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9" name="Google Shape;929;p67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0" name="Google Shape;930;p67"/>
          <p:cNvCxnSpPr>
            <a:stCxn id="929" idx="0"/>
            <a:endCxn id="92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67"/>
          <p:cNvCxnSpPr>
            <a:stCxn id="923" idx="3"/>
            <a:endCxn id="92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67"/>
          <p:cNvCxnSpPr>
            <a:stCxn id="923" idx="3"/>
            <a:endCxn id="92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67"/>
          <p:cNvCxnSpPr>
            <a:stCxn id="921" idx="4"/>
            <a:endCxn id="92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6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6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67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67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8" name="Google Shape;938;p67"/>
          <p:cNvCxnSpPr>
            <a:stCxn id="934" idx="3"/>
            <a:endCxn id="93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67"/>
          <p:cNvCxnSpPr>
            <a:stCxn id="937" idx="0"/>
            <a:endCxn id="935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67"/>
          <p:cNvCxnSpPr>
            <a:stCxn id="934" idx="5"/>
            <a:endCxn id="93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67"/>
          <p:cNvCxnSpPr>
            <a:stCxn id="936" idx="2"/>
            <a:endCxn id="93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2" name="Google Shape;942;p6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3" name="Google Shape;943;p67"/>
          <p:cNvCxnSpPr>
            <a:stCxn id="936" idx="3"/>
            <a:endCxn id="937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67"/>
          <p:cNvCxnSpPr>
            <a:stCxn id="942" idx="2"/>
            <a:endCxn id="93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67"/>
          <p:cNvCxnSpPr>
            <a:stCxn id="942" idx="0"/>
            <a:endCxn id="93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6" name="Google Shape;946;p67"/>
          <p:cNvCxnSpPr>
            <a:stCxn id="937" idx="6"/>
            <a:endCxn id="942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7" name="Google Shape;947;p67"/>
          <p:cNvSpPr txBox="1"/>
          <p:nvPr/>
        </p:nvSpPr>
        <p:spPr>
          <a:xfrm>
            <a:off x="4974475" y="4306073"/>
            <a:ext cx="2225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three components!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48" name="Google Shape;948;p67"/>
          <p:cNvSpPr/>
          <p:nvPr/>
        </p:nvSpPr>
        <p:spPr>
          <a:xfrm>
            <a:off x="5177125" y="17970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7"/>
          <p:cNvSpPr/>
          <p:nvPr/>
        </p:nvSpPr>
        <p:spPr>
          <a:xfrm>
            <a:off x="6883725" y="42852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67"/>
          <p:cNvSpPr/>
          <p:nvPr/>
        </p:nvSpPr>
        <p:spPr>
          <a:xfrm>
            <a:off x="7162850" y="29922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956" name="Google Shape;956;p68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connected subgraph of a disconnected graph containing the largest number of nodes is called the </a:t>
            </a:r>
            <a:r>
              <a:rPr b="1" lang="en"/>
              <a:t>giant component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7" name="Google Shape;957;p68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958" name="Google Shape;958;p68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8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8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8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2" name="Google Shape;962;p68"/>
            <p:cNvCxnSpPr>
              <a:stCxn id="958" idx="3"/>
              <a:endCxn id="959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3" name="Google Shape;963;p68"/>
            <p:cNvCxnSpPr>
              <a:stCxn id="961" idx="1"/>
              <a:endCxn id="959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4" name="Google Shape;964;p68"/>
            <p:cNvCxnSpPr>
              <a:stCxn id="958" idx="4"/>
              <a:endCxn id="961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5" name="Google Shape;965;p68"/>
            <p:cNvCxnSpPr>
              <a:stCxn id="958" idx="5"/>
              <a:endCxn id="960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6" name="Google Shape;966;p68"/>
            <p:cNvCxnSpPr>
              <a:stCxn id="960" idx="2"/>
              <a:endCxn id="959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7" name="Google Shape;967;p68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8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8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8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71" name="Google Shape;971;p68"/>
            <p:cNvCxnSpPr>
              <a:stCxn id="967" idx="3"/>
              <a:endCxn id="968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2" name="Google Shape;972;p68"/>
            <p:cNvCxnSpPr>
              <a:stCxn id="970" idx="0"/>
              <a:endCxn id="968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68"/>
            <p:cNvCxnSpPr>
              <a:stCxn id="967" idx="5"/>
              <a:endCxn id="969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4" name="Google Shape;974;p68"/>
            <p:cNvCxnSpPr>
              <a:stCxn id="969" idx="2"/>
              <a:endCxn id="968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5" name="Google Shape;975;p68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76" name="Google Shape;976;p68"/>
            <p:cNvCxnSpPr>
              <a:stCxn id="975" idx="0"/>
              <a:endCxn id="968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" name="Google Shape;977;p68"/>
            <p:cNvCxnSpPr>
              <a:stCxn id="969" idx="3"/>
              <a:endCxn id="970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8" name="Google Shape;978;p68"/>
            <p:cNvCxnSpPr>
              <a:stCxn id="969" idx="3"/>
              <a:endCxn id="975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9" name="Google Shape;979;p68"/>
            <p:cNvCxnSpPr>
              <a:stCxn id="967" idx="4"/>
              <a:endCxn id="975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0" name="Google Shape;980;p68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8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8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84" name="Google Shape;984;p68"/>
            <p:cNvCxnSpPr>
              <a:stCxn id="980" idx="3"/>
              <a:endCxn id="981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5" name="Google Shape;985;p68"/>
            <p:cNvCxnSpPr>
              <a:stCxn id="983" idx="0"/>
              <a:endCxn id="981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6" name="Google Shape;986;p68"/>
            <p:cNvCxnSpPr>
              <a:stCxn id="980" idx="5"/>
              <a:endCxn id="982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7" name="Google Shape;987;p68"/>
            <p:cNvCxnSpPr>
              <a:stCxn id="982" idx="2"/>
              <a:endCxn id="981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8" name="Google Shape;988;p68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89" name="Google Shape;989;p68"/>
            <p:cNvCxnSpPr>
              <a:stCxn id="982" idx="3"/>
              <a:endCxn id="983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0" name="Google Shape;990;p68"/>
            <p:cNvCxnSpPr>
              <a:stCxn id="988" idx="2"/>
              <a:endCxn id="981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1" name="Google Shape;991;p68"/>
            <p:cNvCxnSpPr>
              <a:stCxn id="988" idx="0"/>
              <a:endCxn id="980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2" name="Google Shape;992;p68"/>
            <p:cNvCxnSpPr>
              <a:stCxn id="983" idx="6"/>
              <a:endCxn id="988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3" name="Google Shape;993;p68"/>
            <p:cNvCxnSpPr>
              <a:stCxn id="975" idx="3"/>
              <a:endCxn id="980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4" name="Google Shape;994;p68"/>
            <p:cNvCxnSpPr>
              <a:stCxn id="969" idx="4"/>
              <a:endCxn id="982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000" name="Google Shape;1000;p69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connected subgraph of a disconnected graph containing the largest number of nodes is called the </a:t>
            </a:r>
            <a:r>
              <a:rPr b="1" lang="en"/>
              <a:t>giant component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1" name="Google Shape;1001;p69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002" name="Google Shape;1002;p69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9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9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9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06" name="Google Shape;1006;p69"/>
            <p:cNvCxnSpPr>
              <a:stCxn id="1002" idx="3"/>
              <a:endCxn id="100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7" name="Google Shape;1007;p69"/>
            <p:cNvCxnSpPr>
              <a:stCxn id="1005" idx="1"/>
              <a:endCxn id="100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8" name="Google Shape;1008;p69"/>
            <p:cNvCxnSpPr>
              <a:stCxn id="1002" idx="4"/>
              <a:endCxn id="100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9" name="Google Shape;1009;p69"/>
            <p:cNvCxnSpPr>
              <a:stCxn id="1002" idx="5"/>
              <a:endCxn id="100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0" name="Google Shape;1010;p69"/>
            <p:cNvCxnSpPr>
              <a:stCxn id="1004" idx="2"/>
              <a:endCxn id="100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1" name="Google Shape;1011;p69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9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9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9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15" name="Google Shape;1015;p69"/>
            <p:cNvCxnSpPr>
              <a:stCxn id="1011" idx="3"/>
              <a:endCxn id="101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6" name="Google Shape;1016;p69"/>
            <p:cNvCxnSpPr>
              <a:stCxn id="1014" idx="0"/>
              <a:endCxn id="101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69"/>
            <p:cNvCxnSpPr>
              <a:stCxn id="1011" idx="5"/>
              <a:endCxn id="101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69"/>
            <p:cNvCxnSpPr>
              <a:stCxn id="1013" idx="2"/>
              <a:endCxn id="101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9" name="Google Shape;1019;p69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0" name="Google Shape;1020;p69"/>
            <p:cNvCxnSpPr>
              <a:stCxn id="1019" idx="0"/>
              <a:endCxn id="101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1" name="Google Shape;1021;p69"/>
            <p:cNvCxnSpPr>
              <a:stCxn id="1013" idx="3"/>
              <a:endCxn id="101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2" name="Google Shape;1022;p69"/>
            <p:cNvCxnSpPr>
              <a:stCxn id="1013" idx="3"/>
              <a:endCxn id="101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3" name="Google Shape;1023;p69"/>
            <p:cNvCxnSpPr>
              <a:stCxn id="1011" idx="4"/>
              <a:endCxn id="101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4" name="Google Shape;1024;p69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9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9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8" name="Google Shape;1028;p69"/>
            <p:cNvCxnSpPr>
              <a:stCxn id="1024" idx="3"/>
              <a:endCxn id="102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9" name="Google Shape;1029;p69"/>
            <p:cNvCxnSpPr>
              <a:stCxn id="1027" idx="0"/>
              <a:endCxn id="102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0" name="Google Shape;1030;p69"/>
            <p:cNvCxnSpPr>
              <a:stCxn id="1024" idx="5"/>
              <a:endCxn id="102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69"/>
            <p:cNvCxnSpPr>
              <a:stCxn id="1026" idx="2"/>
              <a:endCxn id="102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32" name="Google Shape;1032;p69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3" name="Google Shape;1033;p69"/>
            <p:cNvCxnSpPr>
              <a:stCxn id="1026" idx="3"/>
              <a:endCxn id="102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4" name="Google Shape;1034;p69"/>
            <p:cNvCxnSpPr>
              <a:stCxn id="1032" idx="2"/>
              <a:endCxn id="102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5" name="Google Shape;1035;p69"/>
            <p:cNvCxnSpPr>
              <a:stCxn id="1032" idx="0"/>
              <a:endCxn id="102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6" name="Google Shape;1036;p69"/>
            <p:cNvCxnSpPr>
              <a:stCxn id="1027" idx="6"/>
              <a:endCxn id="103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7" name="Google Shape;1037;p69"/>
            <p:cNvCxnSpPr>
              <a:stCxn id="1019" idx="3"/>
              <a:endCxn id="102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8" name="Google Shape;1038;p69"/>
            <p:cNvCxnSpPr>
              <a:stCxn id="1013" idx="4"/>
              <a:endCxn id="102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39" name="Google Shape;1039;p69"/>
          <p:cNvSpPr txBox="1"/>
          <p:nvPr/>
        </p:nvSpPr>
        <p:spPr>
          <a:xfrm>
            <a:off x="4974475" y="4306073"/>
            <a:ext cx="2225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giant component!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40" name="Google Shape;1040;p69"/>
          <p:cNvSpPr/>
          <p:nvPr/>
        </p:nvSpPr>
        <p:spPr>
          <a:xfrm>
            <a:off x="6688025" y="416750"/>
            <a:ext cx="2192100" cy="4490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046" name="Google Shape;1046;p7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7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7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7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7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1" name="Google Shape;1051;p70"/>
          <p:cNvCxnSpPr>
            <a:stCxn id="1047" idx="3"/>
            <a:endCxn id="104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70"/>
          <p:cNvCxnSpPr>
            <a:stCxn id="1050" idx="1"/>
            <a:endCxn id="104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70"/>
          <p:cNvCxnSpPr>
            <a:stCxn id="1047" idx="4"/>
            <a:endCxn id="105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70"/>
          <p:cNvCxnSpPr>
            <a:stCxn id="1047" idx="5"/>
            <a:endCxn id="104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70"/>
          <p:cNvCxnSpPr>
            <a:stCxn id="1049" idx="2"/>
            <a:endCxn id="104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6" name="Google Shape;1056;p7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7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7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7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0" name="Google Shape;1060;p70"/>
          <p:cNvCxnSpPr>
            <a:stCxn id="1056" idx="3"/>
            <a:endCxn id="105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70"/>
          <p:cNvCxnSpPr>
            <a:stCxn id="1059" idx="0"/>
            <a:endCxn id="105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70"/>
          <p:cNvCxnSpPr>
            <a:stCxn id="1056" idx="5"/>
            <a:endCxn id="105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70"/>
          <p:cNvCxnSpPr>
            <a:stCxn id="1058" idx="2"/>
            <a:endCxn id="105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4" name="Google Shape;1064;p7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5" name="Google Shape;1065;p70"/>
          <p:cNvCxnSpPr>
            <a:stCxn id="1064" idx="0"/>
            <a:endCxn id="105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6" name="Google Shape;1066;p70"/>
          <p:cNvCxnSpPr>
            <a:stCxn id="1058" idx="3"/>
            <a:endCxn id="105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70"/>
          <p:cNvCxnSpPr>
            <a:stCxn id="1058" idx="3"/>
            <a:endCxn id="106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70"/>
          <p:cNvCxnSpPr>
            <a:stCxn id="1056" idx="4"/>
            <a:endCxn id="106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9" name="Google Shape;1069;p7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7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7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70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3" name="Google Shape;1073;p70"/>
          <p:cNvCxnSpPr>
            <a:stCxn id="1069" idx="3"/>
            <a:endCxn id="107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70"/>
          <p:cNvCxnSpPr>
            <a:stCxn id="1072" idx="0"/>
            <a:endCxn id="1070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70"/>
          <p:cNvCxnSpPr>
            <a:stCxn id="1069" idx="5"/>
            <a:endCxn id="107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70"/>
          <p:cNvCxnSpPr>
            <a:stCxn id="1071" idx="2"/>
            <a:endCxn id="107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7" name="Google Shape;1077;p7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8" name="Google Shape;1078;p70"/>
          <p:cNvCxnSpPr>
            <a:stCxn id="1071" idx="3"/>
            <a:endCxn id="1072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70"/>
          <p:cNvCxnSpPr>
            <a:stCxn id="1077" idx="2"/>
            <a:endCxn id="107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70"/>
          <p:cNvCxnSpPr>
            <a:stCxn id="1077" idx="0"/>
            <a:endCxn id="106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70"/>
          <p:cNvCxnSpPr>
            <a:stCxn id="1072" idx="6"/>
            <a:endCxn id="1077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70"/>
          <p:cNvCxnSpPr>
            <a:stCxn id="1049" idx="5"/>
            <a:endCxn id="1070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70"/>
          <p:cNvCxnSpPr>
            <a:stCxn id="1049" idx="7"/>
            <a:endCxn id="1059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70"/>
          <p:cNvCxnSpPr>
            <a:stCxn id="1064" idx="3"/>
            <a:endCxn id="1069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70"/>
          <p:cNvCxnSpPr>
            <a:stCxn id="1058" idx="4"/>
            <a:endCxn id="1071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091" name="Google Shape;1091;p7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7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7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7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7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6" name="Google Shape;1096;p71"/>
          <p:cNvCxnSpPr>
            <a:stCxn id="1092" idx="3"/>
            <a:endCxn id="109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71"/>
          <p:cNvCxnSpPr>
            <a:stCxn id="1095" idx="1"/>
            <a:endCxn id="109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71"/>
          <p:cNvCxnSpPr>
            <a:stCxn id="1092" idx="4"/>
            <a:endCxn id="109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71"/>
          <p:cNvCxnSpPr>
            <a:stCxn id="1092" idx="5"/>
            <a:endCxn id="109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71"/>
          <p:cNvCxnSpPr>
            <a:stCxn id="1094" idx="2"/>
            <a:endCxn id="109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7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7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7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7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5" name="Google Shape;1105;p71"/>
          <p:cNvCxnSpPr>
            <a:stCxn id="1101" idx="3"/>
            <a:endCxn id="110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71"/>
          <p:cNvCxnSpPr>
            <a:stCxn id="1104" idx="0"/>
            <a:endCxn id="110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71"/>
          <p:cNvCxnSpPr>
            <a:stCxn id="1101" idx="5"/>
            <a:endCxn id="110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71"/>
          <p:cNvCxnSpPr>
            <a:stCxn id="1103" idx="2"/>
            <a:endCxn id="110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7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0" name="Google Shape;1110;p71"/>
          <p:cNvCxnSpPr>
            <a:stCxn id="1109" idx="0"/>
            <a:endCxn id="110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71"/>
          <p:cNvCxnSpPr>
            <a:stCxn id="1103" idx="3"/>
            <a:endCxn id="110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71"/>
          <p:cNvCxnSpPr>
            <a:stCxn id="1103" idx="3"/>
            <a:endCxn id="110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71"/>
          <p:cNvCxnSpPr>
            <a:stCxn id="1101" idx="4"/>
            <a:endCxn id="110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4" name="Google Shape;1114;p7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7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7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71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8" name="Google Shape;1118;p71"/>
          <p:cNvCxnSpPr>
            <a:stCxn id="1114" idx="3"/>
            <a:endCxn id="111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71"/>
          <p:cNvCxnSpPr>
            <a:stCxn id="1117" idx="0"/>
            <a:endCxn id="1115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71"/>
          <p:cNvCxnSpPr>
            <a:stCxn id="1114" idx="5"/>
            <a:endCxn id="111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71"/>
          <p:cNvCxnSpPr>
            <a:stCxn id="1116" idx="2"/>
            <a:endCxn id="111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2" name="Google Shape;1122;p7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3" name="Google Shape;1123;p71"/>
          <p:cNvCxnSpPr>
            <a:stCxn id="1116" idx="3"/>
            <a:endCxn id="1117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71"/>
          <p:cNvCxnSpPr>
            <a:stCxn id="1122" idx="2"/>
            <a:endCxn id="111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71"/>
          <p:cNvCxnSpPr>
            <a:stCxn id="1122" idx="0"/>
            <a:endCxn id="111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71"/>
          <p:cNvCxnSpPr>
            <a:stCxn id="1117" idx="6"/>
            <a:endCxn id="1122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71"/>
          <p:cNvCxnSpPr>
            <a:stCxn id="1109" idx="3"/>
            <a:endCxn id="111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71"/>
          <p:cNvCxnSpPr>
            <a:stCxn id="1103" idx="4"/>
            <a:endCxn id="111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9" name="Google Shape;1129;p71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135" name="Google Shape;1135;p7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6" name="Google Shape;1136;p72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137" name="Google Shape;1137;p72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72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72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72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41" name="Google Shape;1141;p72"/>
            <p:cNvCxnSpPr>
              <a:stCxn id="1137" idx="3"/>
              <a:endCxn id="113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2" name="Google Shape;1142;p72"/>
            <p:cNvCxnSpPr>
              <a:stCxn id="1140" idx="1"/>
              <a:endCxn id="113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3" name="Google Shape;1143;p72"/>
            <p:cNvCxnSpPr>
              <a:stCxn id="1137" idx="4"/>
              <a:endCxn id="114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4" name="Google Shape;1144;p72"/>
            <p:cNvCxnSpPr>
              <a:stCxn id="1137" idx="5"/>
              <a:endCxn id="113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5" name="Google Shape;1145;p72"/>
            <p:cNvCxnSpPr>
              <a:stCxn id="1139" idx="2"/>
              <a:endCxn id="113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6" name="Google Shape;1146;p72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72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72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72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50" name="Google Shape;1150;p72"/>
            <p:cNvCxnSpPr>
              <a:stCxn id="1146" idx="3"/>
              <a:endCxn id="114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1" name="Google Shape;1151;p72"/>
            <p:cNvCxnSpPr>
              <a:stCxn id="1149" idx="0"/>
              <a:endCxn id="114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72"/>
            <p:cNvCxnSpPr>
              <a:stCxn id="1146" idx="5"/>
              <a:endCxn id="114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72"/>
            <p:cNvCxnSpPr>
              <a:stCxn id="1148" idx="2"/>
              <a:endCxn id="114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4" name="Google Shape;1154;p72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55" name="Google Shape;1155;p72"/>
            <p:cNvCxnSpPr>
              <a:stCxn id="1154" idx="0"/>
              <a:endCxn id="114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6" name="Google Shape;1156;p72"/>
            <p:cNvCxnSpPr>
              <a:stCxn id="1148" idx="3"/>
              <a:endCxn id="114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7" name="Google Shape;1157;p72"/>
            <p:cNvCxnSpPr>
              <a:stCxn id="1148" idx="3"/>
              <a:endCxn id="115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72"/>
            <p:cNvCxnSpPr>
              <a:stCxn id="1146" idx="4"/>
              <a:endCxn id="115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9" name="Google Shape;1159;p72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72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72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7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3" name="Google Shape;1163;p72"/>
            <p:cNvCxnSpPr>
              <a:stCxn id="1159" idx="3"/>
              <a:endCxn id="116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72"/>
            <p:cNvCxnSpPr>
              <a:stCxn id="1162" idx="0"/>
              <a:endCxn id="116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72"/>
            <p:cNvCxnSpPr>
              <a:stCxn id="1159" idx="5"/>
              <a:endCxn id="116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6" name="Google Shape;1166;p72"/>
            <p:cNvCxnSpPr>
              <a:stCxn id="1161" idx="2"/>
              <a:endCxn id="116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7" name="Google Shape;1167;p72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8" name="Google Shape;1168;p72"/>
            <p:cNvCxnSpPr>
              <a:stCxn id="1161" idx="3"/>
              <a:endCxn id="116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9" name="Google Shape;1169;p72"/>
            <p:cNvCxnSpPr>
              <a:stCxn id="1167" idx="2"/>
              <a:endCxn id="116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0" name="Google Shape;1170;p72"/>
            <p:cNvCxnSpPr>
              <a:stCxn id="1167" idx="0"/>
              <a:endCxn id="115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1" name="Google Shape;1171;p72"/>
            <p:cNvCxnSpPr>
              <a:stCxn id="1162" idx="6"/>
              <a:endCxn id="116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2" name="Google Shape;1172;p72"/>
            <p:cNvCxnSpPr>
              <a:stCxn id="1139" idx="5"/>
              <a:endCxn id="1160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3" name="Google Shape;1173;p72"/>
            <p:cNvCxnSpPr>
              <a:stCxn id="1139" idx="7"/>
              <a:endCxn id="1149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4" name="Google Shape;1174;p72"/>
            <p:cNvCxnSpPr>
              <a:stCxn id="1154" idx="3"/>
              <a:endCxn id="115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5" name="Google Shape;1175;p72"/>
            <p:cNvCxnSpPr>
              <a:stCxn id="1148" idx="4"/>
              <a:endCxn id="116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181" name="Google Shape;1181;p73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73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73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4" name="Google Shape;1184;p73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185" name="Google Shape;1185;p73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73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73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73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9" name="Google Shape;1189;p73"/>
            <p:cNvCxnSpPr>
              <a:stCxn id="1185" idx="3"/>
              <a:endCxn id="1186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0" name="Google Shape;1190;p73"/>
            <p:cNvCxnSpPr>
              <a:stCxn id="1188" idx="1"/>
              <a:endCxn id="1186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1" name="Google Shape;1191;p73"/>
            <p:cNvCxnSpPr>
              <a:stCxn id="1185" idx="4"/>
              <a:endCxn id="1188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2" name="Google Shape;1192;p73"/>
            <p:cNvCxnSpPr>
              <a:stCxn id="1185" idx="5"/>
              <a:endCxn id="1187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73"/>
            <p:cNvCxnSpPr>
              <a:stCxn id="1187" idx="2"/>
              <a:endCxn id="1186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4" name="Google Shape;1194;p73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73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73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73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98" name="Google Shape;1198;p73"/>
            <p:cNvCxnSpPr>
              <a:stCxn id="1194" idx="3"/>
              <a:endCxn id="1195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9" name="Google Shape;1199;p73"/>
            <p:cNvCxnSpPr>
              <a:stCxn id="1197" idx="0"/>
              <a:endCxn id="1195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0" name="Google Shape;1200;p73"/>
            <p:cNvCxnSpPr>
              <a:stCxn id="1194" idx="5"/>
              <a:endCxn id="1196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1" name="Google Shape;1201;p73"/>
            <p:cNvCxnSpPr>
              <a:stCxn id="1196" idx="2"/>
              <a:endCxn id="1195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2" name="Google Shape;1202;p73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3" name="Google Shape;1203;p73"/>
            <p:cNvCxnSpPr>
              <a:stCxn id="1202" idx="0"/>
              <a:endCxn id="1195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4" name="Google Shape;1204;p73"/>
            <p:cNvCxnSpPr>
              <a:stCxn id="1196" idx="3"/>
              <a:endCxn id="1197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5" name="Google Shape;1205;p73"/>
            <p:cNvCxnSpPr>
              <a:stCxn id="1196" idx="3"/>
              <a:endCxn id="1202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6" name="Google Shape;1206;p73"/>
            <p:cNvCxnSpPr>
              <a:stCxn id="1194" idx="4"/>
              <a:endCxn id="1202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7" name="Google Shape;1207;p73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73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73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7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11" name="Google Shape;1211;p73"/>
            <p:cNvCxnSpPr>
              <a:stCxn id="1207" idx="3"/>
              <a:endCxn id="1208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2" name="Google Shape;1212;p73"/>
            <p:cNvCxnSpPr>
              <a:stCxn id="1210" idx="0"/>
              <a:endCxn id="1208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3" name="Google Shape;1213;p73"/>
            <p:cNvCxnSpPr>
              <a:stCxn id="1207" idx="5"/>
              <a:endCxn id="1209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4" name="Google Shape;1214;p73"/>
            <p:cNvCxnSpPr>
              <a:stCxn id="1209" idx="2"/>
              <a:endCxn id="1208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5" name="Google Shape;1215;p73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16" name="Google Shape;1216;p73"/>
            <p:cNvCxnSpPr>
              <a:stCxn id="1209" idx="3"/>
              <a:endCxn id="1210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7" name="Google Shape;1217;p73"/>
            <p:cNvCxnSpPr>
              <a:stCxn id="1215" idx="2"/>
              <a:endCxn id="1208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8" name="Google Shape;1218;p73"/>
            <p:cNvCxnSpPr>
              <a:stCxn id="1215" idx="0"/>
              <a:endCxn id="1207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9" name="Google Shape;1219;p73"/>
            <p:cNvCxnSpPr>
              <a:stCxn id="1210" idx="6"/>
              <a:endCxn id="1215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0" name="Google Shape;1220;p73"/>
            <p:cNvCxnSpPr>
              <a:stCxn id="1187" idx="5"/>
              <a:endCxn id="1208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1" name="Google Shape;1221;p73"/>
            <p:cNvCxnSpPr>
              <a:stCxn id="1196" idx="4"/>
              <a:endCxn id="1209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22" name="Google Shape;1222;p73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We removed some edges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23" name="Google Shape;1223;p73"/>
          <p:cNvSpPr txBox="1"/>
          <p:nvPr/>
        </p:nvSpPr>
        <p:spPr>
          <a:xfrm>
            <a:off x="4099750" y="4076700"/>
            <a:ext cx="27174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Is this graph disconnected?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229" name="Google Shape;1229;p74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edges are more important than others when it comes to graph connectivity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74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74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74"/>
          <p:cNvSpPr txBox="1"/>
          <p:nvPr/>
        </p:nvSpPr>
        <p:spPr>
          <a:xfrm>
            <a:off x="4726150" y="39821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it is!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233" name="Google Shape;1233;p74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234" name="Google Shape;1234;p74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74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74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74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8" name="Google Shape;1238;p74"/>
            <p:cNvCxnSpPr>
              <a:stCxn id="1234" idx="3"/>
              <a:endCxn id="1235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9" name="Google Shape;1239;p74"/>
            <p:cNvCxnSpPr>
              <a:stCxn id="1237" idx="1"/>
              <a:endCxn id="1235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0" name="Google Shape;1240;p74"/>
            <p:cNvCxnSpPr>
              <a:stCxn id="1234" idx="4"/>
              <a:endCxn id="1237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74"/>
            <p:cNvCxnSpPr>
              <a:stCxn id="1234" idx="5"/>
              <a:endCxn id="1236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74"/>
            <p:cNvCxnSpPr>
              <a:stCxn id="1236" idx="2"/>
              <a:endCxn id="1235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3" name="Google Shape;1243;p74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74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74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74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7" name="Google Shape;1247;p74"/>
            <p:cNvCxnSpPr>
              <a:stCxn id="1243" idx="3"/>
              <a:endCxn id="1244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8" name="Google Shape;1248;p74"/>
            <p:cNvCxnSpPr>
              <a:stCxn id="1246" idx="0"/>
              <a:endCxn id="1244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74"/>
            <p:cNvCxnSpPr>
              <a:stCxn id="1243" idx="5"/>
              <a:endCxn id="1245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74"/>
            <p:cNvCxnSpPr>
              <a:stCxn id="1245" idx="2"/>
              <a:endCxn id="1244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1" name="Google Shape;1251;p74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2" name="Google Shape;1252;p74"/>
            <p:cNvCxnSpPr>
              <a:stCxn id="1251" idx="0"/>
              <a:endCxn id="1244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3" name="Google Shape;1253;p74"/>
            <p:cNvCxnSpPr>
              <a:stCxn id="1245" idx="3"/>
              <a:endCxn id="1246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4" name="Google Shape;1254;p74"/>
            <p:cNvCxnSpPr>
              <a:stCxn id="1245" idx="3"/>
              <a:endCxn id="1251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74"/>
            <p:cNvCxnSpPr>
              <a:stCxn id="1243" idx="4"/>
              <a:endCxn id="1251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6" name="Google Shape;1256;p74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74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74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7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60" name="Google Shape;1260;p74"/>
            <p:cNvCxnSpPr>
              <a:stCxn id="1256" idx="3"/>
              <a:endCxn id="1257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1" name="Google Shape;1261;p74"/>
            <p:cNvCxnSpPr>
              <a:stCxn id="1259" idx="0"/>
              <a:endCxn id="1257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2" name="Google Shape;1262;p74"/>
            <p:cNvCxnSpPr>
              <a:stCxn id="1256" idx="5"/>
              <a:endCxn id="1258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3" name="Google Shape;1263;p74"/>
            <p:cNvCxnSpPr>
              <a:stCxn id="1258" idx="2"/>
              <a:endCxn id="1257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4" name="Google Shape;1264;p74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65" name="Google Shape;1265;p74"/>
            <p:cNvCxnSpPr>
              <a:stCxn id="1258" idx="3"/>
              <a:endCxn id="1259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6" name="Google Shape;1266;p74"/>
            <p:cNvCxnSpPr>
              <a:stCxn id="1264" idx="2"/>
              <a:endCxn id="1257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7" name="Google Shape;1267;p74"/>
            <p:cNvCxnSpPr>
              <a:stCxn id="1264" idx="0"/>
              <a:endCxn id="1256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8" name="Google Shape;1268;p74"/>
            <p:cNvCxnSpPr>
              <a:stCxn id="1259" idx="6"/>
              <a:endCxn id="1264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9" name="Google Shape;1269;p74"/>
            <p:cNvCxnSpPr>
              <a:stCxn id="1236" idx="5"/>
              <a:endCxn id="1257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275" name="Google Shape;1275;p75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</a:t>
            </a:r>
            <a:r>
              <a:rPr b="1" lang="en"/>
              <a:t>one edge</a:t>
            </a:r>
            <a:r>
              <a:rPr lang="en"/>
              <a:t> leads to disconnection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6" name="Google Shape;1276;p75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277" name="Google Shape;1277;p75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75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75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75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1" name="Google Shape;1281;p75"/>
            <p:cNvCxnSpPr>
              <a:stCxn id="1277" idx="3"/>
              <a:endCxn id="127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2" name="Google Shape;1282;p75"/>
            <p:cNvCxnSpPr>
              <a:stCxn id="1280" idx="1"/>
              <a:endCxn id="127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3" name="Google Shape;1283;p75"/>
            <p:cNvCxnSpPr>
              <a:stCxn id="1277" idx="4"/>
              <a:endCxn id="128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4" name="Google Shape;1284;p75"/>
            <p:cNvCxnSpPr>
              <a:stCxn id="1277" idx="5"/>
              <a:endCxn id="127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75"/>
            <p:cNvCxnSpPr>
              <a:stCxn id="1279" idx="2"/>
              <a:endCxn id="127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6" name="Google Shape;1286;p75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75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75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75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0" name="Google Shape;1290;p75"/>
            <p:cNvCxnSpPr>
              <a:stCxn id="1286" idx="3"/>
              <a:endCxn id="128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1" name="Google Shape;1291;p75"/>
            <p:cNvCxnSpPr>
              <a:stCxn id="1289" idx="0"/>
              <a:endCxn id="128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2" name="Google Shape;1292;p75"/>
            <p:cNvCxnSpPr>
              <a:stCxn id="1286" idx="5"/>
              <a:endCxn id="128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3" name="Google Shape;1293;p75"/>
            <p:cNvCxnSpPr>
              <a:stCxn id="1288" idx="2"/>
              <a:endCxn id="128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4" name="Google Shape;1294;p75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5" name="Google Shape;1295;p75"/>
            <p:cNvCxnSpPr>
              <a:stCxn id="1294" idx="0"/>
              <a:endCxn id="128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6" name="Google Shape;1296;p75"/>
            <p:cNvCxnSpPr>
              <a:stCxn id="1288" idx="3"/>
              <a:endCxn id="128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7" name="Google Shape;1297;p75"/>
            <p:cNvCxnSpPr>
              <a:stCxn id="1288" idx="3"/>
              <a:endCxn id="129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8" name="Google Shape;1298;p75"/>
            <p:cNvCxnSpPr>
              <a:stCxn id="1286" idx="4"/>
              <a:endCxn id="129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9" name="Google Shape;1299;p75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75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75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7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03" name="Google Shape;1303;p75"/>
            <p:cNvCxnSpPr>
              <a:stCxn id="1299" idx="3"/>
              <a:endCxn id="130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4" name="Google Shape;1304;p75"/>
            <p:cNvCxnSpPr>
              <a:stCxn id="1302" idx="0"/>
              <a:endCxn id="130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5" name="Google Shape;1305;p75"/>
            <p:cNvCxnSpPr>
              <a:stCxn id="1299" idx="5"/>
              <a:endCxn id="130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6" name="Google Shape;1306;p75"/>
            <p:cNvCxnSpPr>
              <a:stCxn id="1301" idx="2"/>
              <a:endCxn id="130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7" name="Google Shape;1307;p75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08" name="Google Shape;1308;p75"/>
            <p:cNvCxnSpPr>
              <a:stCxn id="1301" idx="3"/>
              <a:endCxn id="130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9" name="Google Shape;1309;p75"/>
            <p:cNvCxnSpPr>
              <a:stCxn id="1307" idx="2"/>
              <a:endCxn id="130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0" name="Google Shape;1310;p75"/>
            <p:cNvCxnSpPr>
              <a:stCxn id="1307" idx="0"/>
              <a:endCxn id="129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1" name="Google Shape;1311;p75"/>
            <p:cNvCxnSpPr>
              <a:stCxn id="1302" idx="6"/>
              <a:endCxn id="130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2" name="Google Shape;1312;p75"/>
            <p:cNvCxnSpPr>
              <a:stCxn id="1279" idx="7"/>
              <a:endCxn id="1289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3" name="Google Shape;1313;p75"/>
            <p:cNvCxnSpPr>
              <a:stCxn id="1294" idx="3"/>
              <a:endCxn id="129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4" name="Google Shape;1314;p75"/>
            <p:cNvCxnSpPr>
              <a:stCxn id="1288" idx="4"/>
              <a:endCxn id="130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320" name="Google Shape;1320;p76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</a:t>
            </a:r>
            <a:r>
              <a:rPr b="1" lang="en"/>
              <a:t>one edge</a:t>
            </a:r>
            <a:r>
              <a:rPr lang="en"/>
              <a:t> leads to disconnection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Edges with the property of being able to disconnect the graph upon removal are called </a:t>
            </a:r>
            <a:r>
              <a:rPr b="1" lang="en"/>
              <a:t>bridges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1" name="Google Shape;1321;p76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322" name="Google Shape;1322;p76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76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76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76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6" name="Google Shape;1326;p76"/>
            <p:cNvCxnSpPr>
              <a:stCxn id="1322" idx="3"/>
              <a:endCxn id="132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7" name="Google Shape;1327;p76"/>
            <p:cNvCxnSpPr>
              <a:stCxn id="1325" idx="1"/>
              <a:endCxn id="132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8" name="Google Shape;1328;p76"/>
            <p:cNvCxnSpPr>
              <a:stCxn id="1322" idx="4"/>
              <a:endCxn id="132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9" name="Google Shape;1329;p76"/>
            <p:cNvCxnSpPr>
              <a:stCxn id="1322" idx="5"/>
              <a:endCxn id="132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0" name="Google Shape;1330;p76"/>
            <p:cNvCxnSpPr>
              <a:stCxn id="1324" idx="2"/>
              <a:endCxn id="132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1" name="Google Shape;1331;p76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76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76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76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5" name="Google Shape;1335;p76"/>
            <p:cNvCxnSpPr>
              <a:stCxn id="1331" idx="3"/>
              <a:endCxn id="133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6" name="Google Shape;1336;p76"/>
            <p:cNvCxnSpPr>
              <a:stCxn id="1334" idx="0"/>
              <a:endCxn id="133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7" name="Google Shape;1337;p76"/>
            <p:cNvCxnSpPr>
              <a:stCxn id="1331" idx="5"/>
              <a:endCxn id="133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8" name="Google Shape;1338;p76"/>
            <p:cNvCxnSpPr>
              <a:stCxn id="1333" idx="2"/>
              <a:endCxn id="133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9" name="Google Shape;1339;p76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40" name="Google Shape;1340;p76"/>
            <p:cNvCxnSpPr>
              <a:stCxn id="1339" idx="0"/>
              <a:endCxn id="133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1" name="Google Shape;1341;p76"/>
            <p:cNvCxnSpPr>
              <a:stCxn id="1333" idx="3"/>
              <a:endCxn id="133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" name="Google Shape;1342;p76"/>
            <p:cNvCxnSpPr>
              <a:stCxn id="1333" idx="3"/>
              <a:endCxn id="133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3" name="Google Shape;1343;p76"/>
            <p:cNvCxnSpPr>
              <a:stCxn id="1331" idx="4"/>
              <a:endCxn id="133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4" name="Google Shape;1344;p76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76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76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7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48" name="Google Shape;1348;p76"/>
            <p:cNvCxnSpPr>
              <a:stCxn id="1344" idx="3"/>
              <a:endCxn id="134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9" name="Google Shape;1349;p76"/>
            <p:cNvCxnSpPr>
              <a:stCxn id="1347" idx="0"/>
              <a:endCxn id="134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0" name="Google Shape;1350;p76"/>
            <p:cNvCxnSpPr>
              <a:stCxn id="1344" idx="5"/>
              <a:endCxn id="134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1" name="Google Shape;1351;p76"/>
            <p:cNvCxnSpPr>
              <a:stCxn id="1346" idx="2"/>
              <a:endCxn id="134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2" name="Google Shape;1352;p76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53" name="Google Shape;1353;p76"/>
            <p:cNvCxnSpPr>
              <a:stCxn id="1346" idx="3"/>
              <a:endCxn id="134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4" name="Google Shape;1354;p76"/>
            <p:cNvCxnSpPr>
              <a:stCxn id="1352" idx="2"/>
              <a:endCxn id="134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5" name="Google Shape;1355;p76"/>
            <p:cNvCxnSpPr>
              <a:stCxn id="1352" idx="0"/>
              <a:endCxn id="134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6" name="Google Shape;1356;p76"/>
            <p:cNvCxnSpPr>
              <a:stCxn id="1347" idx="6"/>
              <a:endCxn id="135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7" name="Google Shape;1357;p76"/>
            <p:cNvCxnSpPr>
              <a:stCxn id="1324" idx="7"/>
              <a:endCxn id="1334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8" name="Google Shape;1358;p76"/>
            <p:cNvCxnSpPr>
              <a:stCxn id="1339" idx="3"/>
              <a:endCxn id="134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9" name="Google Shape;1359;p76"/>
            <p:cNvCxnSpPr>
              <a:stCxn id="1333" idx="4"/>
              <a:endCxn id="134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365" name="Google Shape;1365;p77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one edge leads to disconnection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Edges with the property of being able to disconnect the graph upon removal are called </a:t>
            </a:r>
            <a:r>
              <a:rPr b="1" lang="en"/>
              <a:t>bridges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77"/>
          <p:cNvSpPr txBox="1"/>
          <p:nvPr/>
        </p:nvSpPr>
        <p:spPr>
          <a:xfrm>
            <a:off x="4626000" y="939800"/>
            <a:ext cx="161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bridge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367" name="Google Shape;1367;p77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368" name="Google Shape;1368;p77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77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77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77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72" name="Google Shape;1372;p77"/>
            <p:cNvCxnSpPr>
              <a:stCxn id="1368" idx="3"/>
              <a:endCxn id="1369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3" name="Google Shape;1373;p77"/>
            <p:cNvCxnSpPr>
              <a:stCxn id="1371" idx="1"/>
              <a:endCxn id="1369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4" name="Google Shape;1374;p77"/>
            <p:cNvCxnSpPr>
              <a:stCxn id="1368" idx="4"/>
              <a:endCxn id="1371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5" name="Google Shape;1375;p77"/>
            <p:cNvCxnSpPr>
              <a:stCxn id="1368" idx="5"/>
              <a:endCxn id="1370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6" name="Google Shape;1376;p77"/>
            <p:cNvCxnSpPr>
              <a:stCxn id="1370" idx="2"/>
              <a:endCxn id="1369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7" name="Google Shape;1377;p77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77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77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77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81" name="Google Shape;1381;p77"/>
            <p:cNvCxnSpPr>
              <a:stCxn id="1377" idx="3"/>
              <a:endCxn id="1378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2" name="Google Shape;1382;p77"/>
            <p:cNvCxnSpPr>
              <a:stCxn id="1380" idx="0"/>
              <a:endCxn id="1378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3" name="Google Shape;1383;p77"/>
            <p:cNvCxnSpPr>
              <a:stCxn id="1377" idx="5"/>
              <a:endCxn id="1379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4" name="Google Shape;1384;p77"/>
            <p:cNvCxnSpPr>
              <a:stCxn id="1379" idx="2"/>
              <a:endCxn id="1378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5" name="Google Shape;1385;p77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86" name="Google Shape;1386;p77"/>
            <p:cNvCxnSpPr>
              <a:stCxn id="1385" idx="0"/>
              <a:endCxn id="1378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7" name="Google Shape;1387;p77"/>
            <p:cNvCxnSpPr>
              <a:stCxn id="1379" idx="3"/>
              <a:endCxn id="1380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8" name="Google Shape;1388;p77"/>
            <p:cNvCxnSpPr>
              <a:stCxn id="1379" idx="3"/>
              <a:endCxn id="1385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9" name="Google Shape;1389;p77"/>
            <p:cNvCxnSpPr>
              <a:stCxn id="1377" idx="4"/>
              <a:endCxn id="1385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0" name="Google Shape;1390;p77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77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77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7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4" name="Google Shape;1394;p77"/>
            <p:cNvCxnSpPr>
              <a:stCxn id="1390" idx="3"/>
              <a:endCxn id="1391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5" name="Google Shape;1395;p77"/>
            <p:cNvCxnSpPr>
              <a:stCxn id="1393" idx="0"/>
              <a:endCxn id="1391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6" name="Google Shape;1396;p77"/>
            <p:cNvCxnSpPr>
              <a:stCxn id="1390" idx="5"/>
              <a:endCxn id="1392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7" name="Google Shape;1397;p77"/>
            <p:cNvCxnSpPr>
              <a:stCxn id="1392" idx="2"/>
              <a:endCxn id="1391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8" name="Google Shape;1398;p77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9" name="Google Shape;1399;p77"/>
            <p:cNvCxnSpPr>
              <a:stCxn id="1392" idx="3"/>
              <a:endCxn id="1393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77"/>
            <p:cNvCxnSpPr>
              <a:stCxn id="1398" idx="2"/>
              <a:endCxn id="1391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1" name="Google Shape;1401;p77"/>
            <p:cNvCxnSpPr>
              <a:stCxn id="1398" idx="0"/>
              <a:endCxn id="1390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2" name="Google Shape;1402;p77"/>
            <p:cNvCxnSpPr>
              <a:stCxn id="1393" idx="6"/>
              <a:endCxn id="1398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3" name="Google Shape;1403;p77"/>
            <p:cNvCxnSpPr>
              <a:stCxn id="1370" idx="7"/>
              <a:endCxn id="1380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77"/>
            <p:cNvCxnSpPr>
              <a:stCxn id="1385" idx="3"/>
              <a:endCxn id="1390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77"/>
            <p:cNvCxnSpPr>
              <a:stCxn id="1379" idx="4"/>
              <a:endCxn id="1392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06" name="Google Shape;1406;p77"/>
          <p:cNvCxnSpPr>
            <a:stCxn id="1366" idx="2"/>
          </p:cNvCxnSpPr>
          <p:nvPr/>
        </p:nvCxnSpPr>
        <p:spPr>
          <a:xfrm>
            <a:off x="5434950" y="1379600"/>
            <a:ext cx="1384500" cy="456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Connected and Disconnected Subgraphs</a:t>
            </a:r>
            <a:endParaRPr/>
          </a:p>
        </p:txBody>
      </p:sp>
      <p:sp>
        <p:nvSpPr>
          <p:cNvPr id="1412" name="Google Shape;1412;p78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78"/>
          <p:cNvSpPr txBox="1"/>
          <p:nvPr/>
        </p:nvSpPr>
        <p:spPr>
          <a:xfrm>
            <a:off x="4156075" y="36488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connected :)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14" name="Google Shape;1414;p7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7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78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7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8" name="Google Shape;1418;p78"/>
          <p:cNvCxnSpPr>
            <a:stCxn id="1414" idx="3"/>
            <a:endCxn id="141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9" name="Google Shape;1419;p78"/>
          <p:cNvCxnSpPr>
            <a:stCxn id="1417" idx="1"/>
            <a:endCxn id="141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0" name="Google Shape;1420;p78"/>
          <p:cNvCxnSpPr>
            <a:stCxn id="1414" idx="4"/>
            <a:endCxn id="141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78"/>
          <p:cNvCxnSpPr>
            <a:stCxn id="1414" idx="5"/>
            <a:endCxn id="141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78"/>
          <p:cNvCxnSpPr>
            <a:stCxn id="1416" idx="2"/>
            <a:endCxn id="141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3" name="Google Shape;1423;p7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7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7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7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7" name="Google Shape;1427;p78"/>
          <p:cNvCxnSpPr>
            <a:stCxn id="1423" idx="3"/>
            <a:endCxn id="142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8" name="Google Shape;1428;p78"/>
          <p:cNvCxnSpPr>
            <a:stCxn id="1426" idx="0"/>
            <a:endCxn id="142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9" name="Google Shape;1429;p78"/>
          <p:cNvCxnSpPr>
            <a:stCxn id="1423" idx="5"/>
            <a:endCxn id="142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0" name="Google Shape;1430;p78"/>
          <p:cNvCxnSpPr>
            <a:stCxn id="1425" idx="2"/>
            <a:endCxn id="142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1" name="Google Shape;1431;p7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2" name="Google Shape;1432;p78"/>
          <p:cNvCxnSpPr>
            <a:stCxn id="1431" idx="0"/>
            <a:endCxn id="142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3" name="Google Shape;1433;p78"/>
          <p:cNvCxnSpPr>
            <a:stCxn id="1425" idx="3"/>
            <a:endCxn id="142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78"/>
          <p:cNvCxnSpPr>
            <a:stCxn id="1425" idx="3"/>
            <a:endCxn id="143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78"/>
          <p:cNvCxnSpPr>
            <a:stCxn id="1423" idx="4"/>
            <a:endCxn id="143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6" name="Google Shape;1436;p78"/>
          <p:cNvCxnSpPr>
            <a:stCxn id="1416" idx="7"/>
            <a:endCxn id="142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78"/>
          <p:cNvCxnSpPr>
            <a:stCxn id="1417" idx="7"/>
            <a:endCxn id="141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78"/>
          <p:cNvCxnSpPr>
            <a:stCxn id="1426" idx="6"/>
            <a:endCxn id="143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78"/>
          <p:cNvCxnSpPr>
            <a:stCxn id="1423" idx="4"/>
            <a:endCxn id="142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0" name="Google Shape;1440;p7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7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2" name="Google Shape;1442;p78"/>
          <p:cNvCxnSpPr>
            <a:stCxn id="1440" idx="3"/>
            <a:endCxn id="144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3" name="Google Shape;1443;p7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4" name="Google Shape;1444;p78"/>
          <p:cNvCxnSpPr>
            <a:stCxn id="1443" idx="2"/>
            <a:endCxn id="144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78"/>
          <p:cNvCxnSpPr>
            <a:stCxn id="1443" idx="0"/>
            <a:endCxn id="144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78"/>
          <p:cNvCxnSpPr>
            <a:endCxn id="144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Connected and Disconnected Subgraphs</a:t>
            </a:r>
            <a:endParaRPr/>
          </a:p>
        </p:txBody>
      </p:sp>
      <p:sp>
        <p:nvSpPr>
          <p:cNvPr id="1452" name="Google Shape;1452;p79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disconnected </a:t>
            </a:r>
            <a:r>
              <a:rPr lang="en"/>
              <a:t>if there are nodes that </a:t>
            </a:r>
            <a:r>
              <a:rPr b="1" lang="en"/>
              <a:t>cannot </a:t>
            </a:r>
            <a:r>
              <a:rPr lang="en"/>
              <a:t>reach other nodes via a path of any length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79"/>
          <p:cNvSpPr txBox="1"/>
          <p:nvPr/>
        </p:nvSpPr>
        <p:spPr>
          <a:xfrm>
            <a:off x="4915275" y="3648863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disconnected :(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4" name="Google Shape;1454;p7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7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79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7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8" name="Google Shape;1458;p79"/>
          <p:cNvCxnSpPr>
            <a:stCxn id="1454" idx="3"/>
            <a:endCxn id="145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79"/>
          <p:cNvCxnSpPr>
            <a:stCxn id="1457" idx="1"/>
            <a:endCxn id="145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79"/>
          <p:cNvCxnSpPr>
            <a:stCxn id="1454" idx="4"/>
            <a:endCxn id="145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1" name="Google Shape;1461;p79"/>
          <p:cNvCxnSpPr>
            <a:stCxn id="1454" idx="5"/>
            <a:endCxn id="145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2" name="Google Shape;1462;p79"/>
          <p:cNvCxnSpPr>
            <a:stCxn id="1456" idx="2"/>
            <a:endCxn id="145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3" name="Google Shape;1463;p7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7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7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7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7" name="Google Shape;1467;p79"/>
          <p:cNvCxnSpPr>
            <a:stCxn id="1463" idx="3"/>
            <a:endCxn id="146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8" name="Google Shape;1468;p79"/>
          <p:cNvCxnSpPr>
            <a:stCxn id="1466" idx="0"/>
            <a:endCxn id="146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9" name="Google Shape;1469;p79"/>
          <p:cNvCxnSpPr>
            <a:stCxn id="1463" idx="5"/>
            <a:endCxn id="146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0" name="Google Shape;1470;p79"/>
          <p:cNvCxnSpPr>
            <a:stCxn id="1465" idx="2"/>
            <a:endCxn id="146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1" name="Google Shape;1471;p7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2" name="Google Shape;1472;p79"/>
          <p:cNvCxnSpPr>
            <a:stCxn id="1471" idx="0"/>
            <a:endCxn id="146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79"/>
          <p:cNvCxnSpPr>
            <a:stCxn id="1465" idx="3"/>
            <a:endCxn id="146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79"/>
          <p:cNvCxnSpPr>
            <a:stCxn id="1465" idx="3"/>
            <a:endCxn id="147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79"/>
          <p:cNvCxnSpPr>
            <a:stCxn id="1463" idx="4"/>
            <a:endCxn id="147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79"/>
          <p:cNvCxnSpPr>
            <a:stCxn id="1456" idx="7"/>
            <a:endCxn id="146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79"/>
          <p:cNvCxnSpPr>
            <a:stCxn id="1457" idx="7"/>
            <a:endCxn id="145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79"/>
          <p:cNvCxnSpPr>
            <a:stCxn id="1466" idx="6"/>
            <a:endCxn id="147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79"/>
          <p:cNvCxnSpPr>
            <a:stCxn id="1463" idx="4"/>
            <a:endCxn id="146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0" name="Google Shape;1480;p7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7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2" name="Google Shape;1482;p79"/>
          <p:cNvCxnSpPr>
            <a:stCxn id="1480" idx="3"/>
            <a:endCxn id="148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7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4" name="Google Shape;1484;p79"/>
          <p:cNvCxnSpPr>
            <a:stCxn id="1483" idx="2"/>
            <a:endCxn id="148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5" name="Google Shape;1485;p79"/>
          <p:cNvCxnSpPr>
            <a:stCxn id="1483" idx="0"/>
            <a:endCxn id="148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6" name="Google Shape;1486;p79"/>
          <p:cNvCxnSpPr>
            <a:endCxn id="148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