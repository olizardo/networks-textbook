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Economica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305878-C804-43BA-AFF6-C61206B7F20B}">
  <a:tblStyle styleId="{23305878-C804-43BA-AFF6-C61206B7F2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Economica-bold.fntdata"/><Relationship Id="rId10" Type="http://schemas.openxmlformats.org/officeDocument/2006/relationships/slide" Target="slides/slide5.xml"/><Relationship Id="rId32" Type="http://schemas.openxmlformats.org/officeDocument/2006/relationships/font" Target="fonts/Economica-regular.fntdata"/><Relationship Id="rId13" Type="http://schemas.openxmlformats.org/officeDocument/2006/relationships/slide" Target="slides/slide8.xml"/><Relationship Id="rId35" Type="http://schemas.openxmlformats.org/officeDocument/2006/relationships/font" Target="fonts/Economica-boldItalic.fntdata"/><Relationship Id="rId12" Type="http://schemas.openxmlformats.org/officeDocument/2006/relationships/slide" Target="slides/slide7.xml"/><Relationship Id="rId34" Type="http://schemas.openxmlformats.org/officeDocument/2006/relationships/font" Target="fonts/Economica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bold.fntdata"/><Relationship Id="rId14" Type="http://schemas.openxmlformats.org/officeDocument/2006/relationships/slide" Target="slides/slide9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66f4a52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066f4a52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61d367a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061d367a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61d367a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61d367a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61d367af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61d367af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da3d001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da3d001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4da3d001e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4da3d001e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66f4a52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66f4a52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066f4a522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066f4a522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66f4a522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66f4a522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066f4a522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066f4a522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061d367af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061d367af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061d367af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061d367af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066f4a52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066f4a52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066f4a522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066f4a52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066f4a522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066f4a522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066f4a522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066f4a522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066f4a522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066f4a522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066f4a522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066f4a522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066f4a522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066f4a522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066f4a522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066f4a522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066f4a522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066f4a522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066f4a52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066f4a52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066f4a522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066f4a522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066f4a522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066f4a522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066f4a52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066f4a52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Peter_Blau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1225225"/>
            <a:ext cx="6576600" cy="29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composition</a:t>
            </a:r>
            <a:r>
              <a:rPr lang="en"/>
              <a:t> of your ego network is likely </a:t>
            </a:r>
            <a:r>
              <a:rPr b="1" lang="en"/>
              <a:t>biased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How</a:t>
            </a:r>
            <a:r>
              <a:rPr lang="en"/>
              <a:t> are your ego networks biased?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kinds of people are </a:t>
            </a:r>
            <a:r>
              <a:rPr b="1" lang="en"/>
              <a:t>over-represented </a:t>
            </a:r>
            <a:r>
              <a:rPr lang="en"/>
              <a:t>in your ego-network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kinds of people are </a:t>
            </a:r>
            <a:r>
              <a:rPr b="1" lang="en"/>
              <a:t>under-represented</a:t>
            </a:r>
            <a:r>
              <a:rPr lang="en"/>
              <a:t> in your ego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people who are </a:t>
            </a:r>
            <a:r>
              <a:rPr b="1" lang="en">
                <a:solidFill>
                  <a:srgbClr val="0000FF"/>
                </a:solidFill>
              </a:rPr>
              <a:t>over-represented</a:t>
            </a:r>
            <a:r>
              <a:rPr lang="en"/>
              <a:t> are more likely to be </a:t>
            </a:r>
            <a:r>
              <a:rPr b="1" lang="en">
                <a:solidFill>
                  <a:srgbClr val="0000FF"/>
                </a:solidFill>
              </a:rPr>
              <a:t>similar</a:t>
            </a:r>
            <a:r>
              <a:rPr lang="en"/>
              <a:t> to you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people who are </a:t>
            </a:r>
            <a:r>
              <a:rPr b="1" lang="en">
                <a:solidFill>
                  <a:srgbClr val="FF0000"/>
                </a:solidFill>
              </a:rPr>
              <a:t>under-represented</a:t>
            </a:r>
            <a:r>
              <a:rPr lang="en"/>
              <a:t> are more likely to be </a:t>
            </a:r>
            <a:r>
              <a:rPr b="1" lang="en">
                <a:solidFill>
                  <a:srgbClr val="FF0000"/>
                </a:solidFill>
              </a:rPr>
              <a:t>dissimilar</a:t>
            </a:r>
            <a:r>
              <a:rPr lang="en"/>
              <a:t> to you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last two things are the basis of </a:t>
            </a:r>
            <a:r>
              <a:rPr b="1" lang="en"/>
              <a:t>homophily*</a:t>
            </a:r>
            <a:endParaRPr b="1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311700" y="4431325"/>
            <a:ext cx="6576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*</a:t>
            </a:r>
            <a:r>
              <a:rPr lang="en" sz="105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McPherson, M., Smith-Lovin, L., &amp; Cook, J. M. (2001). Birds of a feather: Homophily in social networks. </a:t>
            </a:r>
            <a:r>
              <a:rPr i="1" lang="en" sz="105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Annual Review of Sociology</a:t>
            </a:r>
            <a:r>
              <a:rPr lang="en" sz="105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, 27(1), 415-444.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225225"/>
            <a:ext cx="657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i="1" lang="en"/>
              <a:t>what</a:t>
            </a:r>
            <a:r>
              <a:rPr lang="en"/>
              <a:t> </a:t>
            </a:r>
            <a:r>
              <a:rPr i="1" lang="en"/>
              <a:t>ways</a:t>
            </a:r>
            <a:r>
              <a:rPr lang="en"/>
              <a:t> are your networks biased toward homophily?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According to pretty much any social distinction we can think of*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Race/Ethnicity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Occupation/Income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what Peter Blau called “</a:t>
            </a:r>
            <a:r>
              <a:rPr b="1" lang="en"/>
              <a:t>dimensions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association</a:t>
            </a:r>
            <a:r>
              <a:rPr lang="en"/>
              <a:t>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of these are “</a:t>
            </a:r>
            <a:r>
              <a:rPr b="1" lang="en"/>
              <a:t>categorical</a:t>
            </a:r>
            <a:r>
              <a:rPr lang="en"/>
              <a:t>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 race , gender or occupation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are “</a:t>
            </a:r>
            <a:r>
              <a:rPr b="1" lang="en"/>
              <a:t>continuous</a:t>
            </a:r>
            <a:r>
              <a:rPr lang="en"/>
              <a:t>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 age, education or income</a:t>
            </a:r>
            <a:endParaRPr/>
          </a:p>
          <a:p>
            <a:pPr indent="0" lvl="0" marL="18288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25225"/>
            <a:ext cx="54612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Why</a:t>
            </a:r>
            <a:r>
              <a:rPr lang="en"/>
              <a:t> are your ego networks biased toward homophily?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</a:t>
            </a:r>
            <a:r>
              <a:rPr b="1" lang="en"/>
              <a:t>obvious</a:t>
            </a:r>
            <a:r>
              <a:rPr lang="en"/>
              <a:t> source of bias is what has been called* </a:t>
            </a:r>
            <a:r>
              <a:rPr b="1" lang="en"/>
              <a:t>choice homophily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 like to hang out with people who are similar to you (regardless)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</a:t>
            </a:r>
            <a:r>
              <a:rPr b="1" lang="en"/>
              <a:t>non-obvious</a:t>
            </a:r>
            <a:r>
              <a:rPr lang="en"/>
              <a:t> source of bias is what has been called* </a:t>
            </a:r>
            <a:r>
              <a:rPr b="1" lang="en"/>
              <a:t>induced homophily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The social context (nation, state, organization) where you reside determines the people who are available for you to hang out with</a:t>
            </a:r>
            <a:endParaRPr i="1"/>
          </a:p>
          <a:p>
            <a:pPr indent="0" lvl="0" marL="18288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PeterBlau.jpg"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311700" y="4431325"/>
            <a:ext cx="607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*McPherson, J. M., &amp; Smith-Lovin, L. (1987). Homophily in voluntary organizations: Status distance and the composition of face-to-face groups.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American Sociological Review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, 370-379.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6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101" name="Google Shape;101;p16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26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31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6938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793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" name="Google Shape;107;p16"/>
            <p:cNvCxnSpPr>
              <a:stCxn id="102" idx="1"/>
              <a:endCxn id="103" idx="2"/>
            </p:cNvCxnSpPr>
            <p:nvPr/>
          </p:nvCxnSpPr>
          <p:spPr>
            <a:xfrm rot="10800000">
              <a:off x="44396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" name="Google Shape;108;p16"/>
            <p:cNvCxnSpPr>
              <a:stCxn id="102" idx="0"/>
              <a:endCxn id="105" idx="2"/>
            </p:cNvCxnSpPr>
            <p:nvPr/>
          </p:nvCxnSpPr>
          <p:spPr>
            <a:xfrm rot="10800000">
              <a:off x="865330" y="3908625"/>
              <a:ext cx="232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" name="Google Shape;109;p16"/>
            <p:cNvCxnSpPr>
              <a:stCxn id="102" idx="0"/>
              <a:endCxn id="104" idx="2"/>
            </p:cNvCxnSpPr>
            <p:nvPr/>
          </p:nvCxnSpPr>
          <p:spPr>
            <a:xfrm flipH="1" rot="10800000">
              <a:off x="1098130" y="3908625"/>
              <a:ext cx="2034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16"/>
            <p:cNvCxnSpPr>
              <a:stCxn id="106" idx="2"/>
              <a:endCxn id="102" idx="3"/>
            </p:cNvCxnSpPr>
            <p:nvPr/>
          </p:nvCxnSpPr>
          <p:spPr>
            <a:xfrm flipH="1">
              <a:off x="124177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" name="Google Shape;111;p16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112" name="Google Shape;112;p16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" name="Google Shape;113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6" name="Google Shape;116;p16"/>
            <p:cNvCxnSpPr>
              <a:stCxn id="113" idx="1"/>
              <a:endCxn id="114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16"/>
            <p:cNvCxnSpPr>
              <a:stCxn id="113" idx="0"/>
              <a:endCxn id="118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16"/>
            <p:cNvCxnSpPr>
              <a:stCxn id="113" idx="0"/>
              <a:endCxn id="120" idx="2"/>
            </p:cNvCxnSpPr>
            <p:nvPr/>
          </p:nvCxnSpPr>
          <p:spPr>
            <a:xfrm flipH="1" rot="10800000">
              <a:off x="3407580" y="3908625"/>
              <a:ext cx="184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16"/>
            <p:cNvCxnSpPr>
              <a:stCxn id="115" idx="2"/>
              <a:endCxn id="113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18" name="Google Shape;118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8724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p16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Biased</a:t>
            </a:r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131" name="Google Shape;131;p16"/>
          <p:cNvCxnSpPr>
            <a:stCxn id="130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6"/>
          <p:cNvCxnSpPr>
            <a:stCxn id="130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138" name="Google Shape;13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139" name="Google Shape;13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238075" y="2824400"/>
            <a:ext cx="2060700" cy="1899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34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238" y="32067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96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17"/>
          <p:cNvCxnSpPr>
            <a:stCxn id="163" idx="1"/>
          </p:cNvCxnSpPr>
          <p:nvPr/>
        </p:nvCxnSpPr>
        <p:spPr>
          <a:xfrm rot="10800000">
            <a:off x="614200" y="3781025"/>
            <a:ext cx="4959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7"/>
          <p:cNvCxnSpPr>
            <a:stCxn id="163" idx="0"/>
            <a:endCxn id="160" idx="2"/>
          </p:cNvCxnSpPr>
          <p:nvPr/>
        </p:nvCxnSpPr>
        <p:spPr>
          <a:xfrm rot="10800000">
            <a:off x="1035625" y="3780987"/>
            <a:ext cx="2328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7"/>
          <p:cNvCxnSpPr>
            <a:stCxn id="163" idx="0"/>
            <a:endCxn id="159" idx="2"/>
          </p:cNvCxnSpPr>
          <p:nvPr/>
        </p:nvCxnSpPr>
        <p:spPr>
          <a:xfrm flipH="1" rot="10800000">
            <a:off x="1268425" y="3780987"/>
            <a:ext cx="2034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7"/>
          <p:cNvCxnSpPr>
            <a:stCxn id="161" idx="2"/>
            <a:endCxn id="163" idx="3"/>
          </p:cNvCxnSpPr>
          <p:nvPr/>
        </p:nvCxnSpPr>
        <p:spPr>
          <a:xfrm flipH="1">
            <a:off x="1426775" y="3781000"/>
            <a:ext cx="4812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" name="Google Shape;16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100" y="4014087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7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168" name="Google Shape;168;p17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9" name="Google Shape;169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0" name="Google Shape;170;p17"/>
            <p:cNvCxnSpPr>
              <a:stCxn id="171" idx="1"/>
              <a:endCxn id="172" idx="2"/>
            </p:cNvCxnSpPr>
            <p:nvPr/>
          </p:nvCxnSpPr>
          <p:spPr>
            <a:xfrm rot="10800000">
              <a:off x="2776300" y="3908725"/>
              <a:ext cx="4878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17"/>
            <p:cNvCxnSpPr>
              <a:stCxn id="171" idx="0"/>
              <a:endCxn id="174" idx="2"/>
            </p:cNvCxnSpPr>
            <p:nvPr/>
          </p:nvCxnSpPr>
          <p:spPr>
            <a:xfrm rot="10800000">
              <a:off x="3193888" y="3908725"/>
              <a:ext cx="2649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17"/>
            <p:cNvCxnSpPr>
              <a:stCxn id="171" idx="0"/>
              <a:endCxn id="176" idx="2"/>
            </p:cNvCxnSpPr>
            <p:nvPr/>
          </p:nvCxnSpPr>
          <p:spPr>
            <a:xfrm flipH="1" rot="10800000">
              <a:off x="3407475" y="3908725"/>
              <a:ext cx="204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17"/>
            <p:cNvCxnSpPr>
              <a:stCxn id="169" idx="2"/>
              <a:endCxn id="171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8" name="Google Shape;178;p17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Biased</a:t>
            </a:r>
            <a:endParaRPr/>
          </a:p>
        </p:txBody>
      </p:sp>
      <p:pic>
        <p:nvPicPr>
          <p:cNvPr id="176" name="Google Shape;17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675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08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150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61" y="3206725"/>
            <a:ext cx="287138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181" name="Google Shape;181;p17"/>
          <p:cNvCxnSpPr>
            <a:stCxn id="180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17"/>
          <p:cNvCxnSpPr>
            <a:stCxn id="180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3" name="Google Shape;1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775" y="4014074"/>
            <a:ext cx="316650" cy="57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189" name="Google Shape;189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190" name="Google Shape;1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192" name="Google Shape;19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8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203" name="Google Shape;203;p18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4" name="Google Shape;204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26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31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6938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793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9" name="Google Shape;209;p18"/>
            <p:cNvCxnSpPr>
              <a:stCxn id="204" idx="1"/>
              <a:endCxn id="205" idx="2"/>
            </p:cNvCxnSpPr>
            <p:nvPr/>
          </p:nvCxnSpPr>
          <p:spPr>
            <a:xfrm rot="10800000">
              <a:off x="44396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18"/>
            <p:cNvCxnSpPr>
              <a:stCxn id="204" idx="0"/>
              <a:endCxn id="207" idx="2"/>
            </p:cNvCxnSpPr>
            <p:nvPr/>
          </p:nvCxnSpPr>
          <p:spPr>
            <a:xfrm rot="10800000">
              <a:off x="865330" y="3908625"/>
              <a:ext cx="232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18"/>
            <p:cNvCxnSpPr>
              <a:stCxn id="204" idx="0"/>
              <a:endCxn id="206" idx="2"/>
            </p:cNvCxnSpPr>
            <p:nvPr/>
          </p:nvCxnSpPr>
          <p:spPr>
            <a:xfrm flipH="1" rot="10800000">
              <a:off x="1098130" y="3908625"/>
              <a:ext cx="2034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18"/>
            <p:cNvCxnSpPr>
              <a:stCxn id="208" idx="2"/>
              <a:endCxn id="204" idx="3"/>
            </p:cNvCxnSpPr>
            <p:nvPr/>
          </p:nvCxnSpPr>
          <p:spPr>
            <a:xfrm flipH="1">
              <a:off x="124177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3" name="Google Shape;213;p18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214" name="Google Shape;214;p18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5" name="Google Shape;215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8" name="Google Shape;218;p18"/>
            <p:cNvCxnSpPr>
              <a:stCxn id="215" idx="1"/>
              <a:endCxn id="216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8"/>
            <p:cNvCxnSpPr>
              <a:stCxn id="215" idx="0"/>
              <a:endCxn id="220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8"/>
            <p:cNvCxnSpPr>
              <a:stCxn id="215" idx="0"/>
              <a:endCxn id="222" idx="2"/>
            </p:cNvCxnSpPr>
            <p:nvPr/>
          </p:nvCxnSpPr>
          <p:spPr>
            <a:xfrm flipH="1" rot="10800000">
              <a:off x="3407580" y="3908625"/>
              <a:ext cx="184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8"/>
            <p:cNvCxnSpPr>
              <a:stCxn id="217" idx="2"/>
              <a:endCxn id="215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20" name="Google Shape;22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8724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" name="Google Shape;224;p18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Biased</a:t>
            </a:r>
            <a:endParaRPr/>
          </a:p>
        </p:txBody>
      </p:sp>
      <p:pic>
        <p:nvPicPr>
          <p:cNvPr id="226" name="Google Shape;22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233" name="Google Shape;233;p18"/>
          <p:cNvCxnSpPr>
            <a:stCxn id="232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18"/>
          <p:cNvCxnSpPr>
            <a:stCxn id="232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240" name="Google Shape;24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241" name="Google Shape;2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243" name="Google Shape;24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9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</a:t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238075" y="2824400"/>
            <a:ext cx="2060700" cy="1899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34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238" y="32067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96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19"/>
          <p:cNvCxnSpPr>
            <a:stCxn id="265" idx="1"/>
          </p:cNvCxnSpPr>
          <p:nvPr/>
        </p:nvCxnSpPr>
        <p:spPr>
          <a:xfrm rot="10800000">
            <a:off x="614200" y="3781025"/>
            <a:ext cx="4959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19"/>
          <p:cNvCxnSpPr>
            <a:stCxn id="265" idx="0"/>
            <a:endCxn id="262" idx="2"/>
          </p:cNvCxnSpPr>
          <p:nvPr/>
        </p:nvCxnSpPr>
        <p:spPr>
          <a:xfrm rot="10800000">
            <a:off x="1035625" y="3780987"/>
            <a:ext cx="2328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19"/>
          <p:cNvCxnSpPr>
            <a:stCxn id="265" idx="0"/>
            <a:endCxn id="261" idx="2"/>
          </p:cNvCxnSpPr>
          <p:nvPr/>
        </p:nvCxnSpPr>
        <p:spPr>
          <a:xfrm flipH="1" rot="10800000">
            <a:off x="1268425" y="3780987"/>
            <a:ext cx="2034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19"/>
          <p:cNvCxnSpPr>
            <a:stCxn id="263" idx="2"/>
            <a:endCxn id="265" idx="3"/>
          </p:cNvCxnSpPr>
          <p:nvPr/>
        </p:nvCxnSpPr>
        <p:spPr>
          <a:xfrm flipH="1">
            <a:off x="1426775" y="3781000"/>
            <a:ext cx="4812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5" name="Google Shape;26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100" y="4014087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19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270" name="Google Shape;270;p19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1" name="Google Shape;271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2" name="Google Shape;272;p19"/>
            <p:cNvCxnSpPr>
              <a:stCxn id="273" idx="1"/>
              <a:endCxn id="274" idx="2"/>
            </p:cNvCxnSpPr>
            <p:nvPr/>
          </p:nvCxnSpPr>
          <p:spPr>
            <a:xfrm rot="10800000">
              <a:off x="2776300" y="3908725"/>
              <a:ext cx="4878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9"/>
            <p:cNvCxnSpPr>
              <a:stCxn id="273" idx="0"/>
              <a:endCxn id="276" idx="2"/>
            </p:cNvCxnSpPr>
            <p:nvPr/>
          </p:nvCxnSpPr>
          <p:spPr>
            <a:xfrm rot="10800000">
              <a:off x="3193888" y="3908725"/>
              <a:ext cx="2649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9"/>
            <p:cNvCxnSpPr>
              <a:stCxn id="273" idx="0"/>
              <a:endCxn id="278" idx="2"/>
            </p:cNvCxnSpPr>
            <p:nvPr/>
          </p:nvCxnSpPr>
          <p:spPr>
            <a:xfrm flipH="1" rot="10800000">
              <a:off x="3407475" y="3908725"/>
              <a:ext cx="204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9"/>
            <p:cNvCxnSpPr>
              <a:stCxn id="271" idx="2"/>
              <a:endCxn id="273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0" name="Google Shape;280;p19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Biased</a:t>
            </a:r>
            <a:endParaRPr/>
          </a:p>
        </p:txBody>
      </p:sp>
      <p:pic>
        <p:nvPicPr>
          <p:cNvPr id="278" name="Google Shape;27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675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08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150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61" y="3206725"/>
            <a:ext cx="287138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283" name="Google Shape;283;p19"/>
          <p:cNvCxnSpPr>
            <a:stCxn id="282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19"/>
          <p:cNvCxnSpPr>
            <a:stCxn id="282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5" name="Google Shape;28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775" y="4014074"/>
            <a:ext cx="316650" cy="57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291" name="Google Shape;291;p20"/>
          <p:cNvSpPr txBox="1"/>
          <p:nvPr>
            <p:ph idx="1" type="body"/>
          </p:nvPr>
        </p:nvSpPr>
        <p:spPr>
          <a:xfrm>
            <a:off x="311700" y="1225225"/>
            <a:ext cx="54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If a categorical dimension divides the population into two or more groups: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Rule 1</a:t>
            </a:r>
            <a:r>
              <a:rPr lang="en"/>
              <a:t>: Members of </a:t>
            </a:r>
            <a:r>
              <a:rPr b="1" lang="en"/>
              <a:t>numerically smaller groups</a:t>
            </a:r>
            <a:r>
              <a:rPr lang="en"/>
              <a:t> will be more likely to have relations with </a:t>
            </a:r>
            <a:r>
              <a:rPr b="1" lang="en"/>
              <a:t>outgroup members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Rule 2</a:t>
            </a:r>
            <a:r>
              <a:rPr lang="en"/>
              <a:t>: Members of </a:t>
            </a:r>
            <a:r>
              <a:rPr b="1" lang="en"/>
              <a:t>numerically larger groups</a:t>
            </a:r>
            <a:r>
              <a:rPr lang="en"/>
              <a:t> will be more likely to have relations with </a:t>
            </a:r>
            <a:r>
              <a:rPr b="1" lang="en"/>
              <a:t>ingroup members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called </a:t>
            </a:r>
            <a:r>
              <a:rPr b="1" lang="en"/>
              <a:t>group size effects 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FT_15.06.12.Interracial.png" id="292" name="Google Shape;292;p20"/>
          <p:cNvPicPr preferRelativeResize="0"/>
          <p:nvPr/>
        </p:nvPicPr>
        <p:blipFill rotWithShape="1">
          <a:blip r:embed="rId3">
            <a:alphaModFix/>
          </a:blip>
          <a:srcRect b="38169" l="-3713" r="0" t="2764"/>
          <a:stretch/>
        </p:blipFill>
        <p:spPr>
          <a:xfrm>
            <a:off x="5955300" y="1147225"/>
            <a:ext cx="2877000" cy="20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2025" y="3174299"/>
            <a:ext cx="3183550" cy="17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299" name="Google Shape;299;p21"/>
          <p:cNvSpPr txBox="1"/>
          <p:nvPr>
            <p:ph idx="1" type="body"/>
          </p:nvPr>
        </p:nvSpPr>
        <p:spPr>
          <a:xfrm>
            <a:off x="311700" y="1225225"/>
            <a:ext cx="556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observation: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Often social relations are organized around “circles,” or “common activities”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“foci” may themselves be a primary driver of which relations show up in people’s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“focus”?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“ a social, psychological, legal, or physical entity around which joint activities are organized (e.g., workplaces, voluntary organizations, hangouts, families, etc.” (Feld 1981: 1016)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00" name="Google Shape;300;p21"/>
          <p:cNvPicPr preferRelativeResize="0"/>
          <p:nvPr/>
        </p:nvPicPr>
        <p:blipFill rotWithShape="1">
          <a:blip r:embed="rId3">
            <a:alphaModFix/>
          </a:blip>
          <a:srcRect b="8042" l="25470" r="25922" t="70152"/>
          <a:stretch/>
        </p:blipFill>
        <p:spPr>
          <a:xfrm>
            <a:off x="5878500" y="1379163"/>
            <a:ext cx="3069726" cy="238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306" name="Google Shape;306;p22"/>
          <p:cNvSpPr txBox="1"/>
          <p:nvPr>
            <p:ph idx="1" type="body"/>
          </p:nvPr>
        </p:nvSpPr>
        <p:spPr>
          <a:xfrm>
            <a:off x="311700" y="1225225"/>
            <a:ext cx="55668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suggests two new mechanisms for where ties come from: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07" name="Google Shape;3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647" y="1624963"/>
            <a:ext cx="2953650" cy="255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22"/>
          <p:cNvGrpSpPr/>
          <p:nvPr/>
        </p:nvGrpSpPr>
        <p:grpSpPr>
          <a:xfrm>
            <a:off x="1027590" y="2056524"/>
            <a:ext cx="4135005" cy="2753453"/>
            <a:chOff x="457300" y="1874050"/>
            <a:chExt cx="4519625" cy="3013850"/>
          </a:xfrm>
        </p:grpSpPr>
        <p:pic>
          <p:nvPicPr>
            <p:cNvPr id="309" name="Google Shape;309;p22"/>
            <p:cNvPicPr preferRelativeResize="0"/>
            <p:nvPr/>
          </p:nvPicPr>
          <p:blipFill rotWithShape="1">
            <a:blip r:embed="rId4">
              <a:alphaModFix/>
            </a:blip>
            <a:srcRect b="78822" l="19131" r="24569" t="10521"/>
            <a:stretch/>
          </p:blipFill>
          <p:spPr>
            <a:xfrm>
              <a:off x="457300" y="1874050"/>
              <a:ext cx="4199400" cy="1157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22"/>
            <p:cNvSpPr txBox="1"/>
            <p:nvPr/>
          </p:nvSpPr>
          <p:spPr>
            <a:xfrm>
              <a:off x="777525" y="2968850"/>
              <a:ext cx="33726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circle to relation</a:t>
              </a:r>
              <a:endParaRPr/>
            </a:p>
          </p:txBody>
        </p:sp>
        <p:pic>
          <p:nvPicPr>
            <p:cNvPr id="311" name="Google Shape;311;p22"/>
            <p:cNvPicPr preferRelativeResize="0"/>
            <p:nvPr/>
          </p:nvPicPr>
          <p:blipFill rotWithShape="1">
            <a:blip r:embed="rId4">
              <a:alphaModFix/>
            </a:blip>
            <a:srcRect b="11530" l="26337" r="24518" t="79547"/>
            <a:stretch/>
          </p:blipFill>
          <p:spPr>
            <a:xfrm>
              <a:off x="549000" y="3378050"/>
              <a:ext cx="4164150" cy="110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22"/>
            <p:cNvSpPr txBox="1"/>
            <p:nvPr/>
          </p:nvSpPr>
          <p:spPr>
            <a:xfrm>
              <a:off x="777525" y="4478700"/>
              <a:ext cx="41994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common activity to relation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318" name="Google Shape;318;p23"/>
          <p:cNvSpPr txBox="1"/>
          <p:nvPr>
            <p:ph idx="1" type="body"/>
          </p:nvPr>
        </p:nvSpPr>
        <p:spPr>
          <a:xfrm>
            <a:off x="311700" y="1225225"/>
            <a:ext cx="5567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vary around several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Levels of “constraint”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Time and energy that they require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may emerge from pre-existing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form clubs, participate in common activities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Individuals generally belong to multiple intersecting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“Cross-cutting” circles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at the ego-network level may be the result of constraining overlapping foci</a:t>
            </a:r>
            <a:endParaRPr/>
          </a:p>
        </p:txBody>
      </p:sp>
      <p:pic>
        <p:nvPicPr>
          <p:cNvPr id="319" name="Google Shape;3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647" y="1624963"/>
            <a:ext cx="2953650" cy="25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grpSp>
        <p:nvGrpSpPr>
          <p:cNvPr id="326" name="Google Shape;326;p24"/>
          <p:cNvGrpSpPr/>
          <p:nvPr/>
        </p:nvGrpSpPr>
        <p:grpSpPr>
          <a:xfrm>
            <a:off x="497488" y="1147225"/>
            <a:ext cx="1689600" cy="1507500"/>
            <a:chOff x="124738" y="1082275"/>
            <a:chExt cx="1689600" cy="1507500"/>
          </a:xfrm>
        </p:grpSpPr>
        <p:sp>
          <p:nvSpPr>
            <p:cNvPr id="327" name="Google Shape;327;p24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328" name="Google Shape;328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5974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2711" y="145077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1" name="Google Shape;331;p24"/>
          <p:cNvGrpSpPr/>
          <p:nvPr/>
        </p:nvGrpSpPr>
        <p:grpSpPr>
          <a:xfrm>
            <a:off x="2371225" y="1147213"/>
            <a:ext cx="1689600" cy="1507500"/>
            <a:chOff x="1981925" y="1127113"/>
            <a:chExt cx="1689600" cy="1507500"/>
          </a:xfrm>
        </p:grpSpPr>
        <p:sp>
          <p:nvSpPr>
            <p:cNvPr id="332" name="Google Shape;332;p24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333" name="Google Shape;33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83174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79911" y="15157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6" name="Google Shape;336;p24"/>
          <p:cNvGrpSpPr/>
          <p:nvPr/>
        </p:nvGrpSpPr>
        <p:grpSpPr>
          <a:xfrm>
            <a:off x="4377663" y="1077075"/>
            <a:ext cx="1689600" cy="1507500"/>
            <a:chOff x="4020563" y="1127100"/>
            <a:chExt cx="1689600" cy="1507500"/>
          </a:xfrm>
        </p:grpSpPr>
        <p:sp>
          <p:nvSpPr>
            <p:cNvPr id="337" name="Google Shape;337;p24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338" name="Google Shape;338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1811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18549" y="15937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1" name="Google Shape;341;p24"/>
          <p:cNvGrpSpPr/>
          <p:nvPr/>
        </p:nvGrpSpPr>
        <p:grpSpPr>
          <a:xfrm>
            <a:off x="2899675" y="3125038"/>
            <a:ext cx="632700" cy="914700"/>
            <a:chOff x="2899675" y="3125038"/>
            <a:chExt cx="632700" cy="914700"/>
          </a:xfrm>
        </p:grpSpPr>
        <p:sp>
          <p:nvSpPr>
            <p:cNvPr id="342" name="Google Shape;342;p24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343" name="Google Shape;3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4" name="Google Shape;3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711" y="3419637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461" y="4353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199" y="3419637"/>
            <a:ext cx="287138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24"/>
          <p:cNvCxnSpPr>
            <a:stCxn id="342" idx="0"/>
            <a:endCxn id="327" idx="5"/>
          </p:cNvCxnSpPr>
          <p:nvPr/>
        </p:nvCxnSpPr>
        <p:spPr>
          <a:xfrm rot="10800000">
            <a:off x="1939525" y="2433838"/>
            <a:ext cx="12765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4"/>
          <p:cNvCxnSpPr>
            <a:stCxn id="342" idx="0"/>
            <a:endCxn id="332" idx="4"/>
          </p:cNvCxnSpPr>
          <p:nvPr/>
        </p:nvCxnSpPr>
        <p:spPr>
          <a:xfrm rot="10800000">
            <a:off x="3216025" y="2654638"/>
            <a:ext cx="0" cy="4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4"/>
          <p:cNvCxnSpPr>
            <a:stCxn id="342" idx="0"/>
            <a:endCxn id="337" idx="3"/>
          </p:cNvCxnSpPr>
          <p:nvPr/>
        </p:nvCxnSpPr>
        <p:spPr>
          <a:xfrm flipH="1" rot="10800000">
            <a:off x="3216025" y="2363938"/>
            <a:ext cx="1409100" cy="7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4"/>
          <p:cNvCxnSpPr>
            <a:stCxn id="342" idx="1"/>
            <a:endCxn id="344" idx="3"/>
          </p:cNvCxnSpPr>
          <p:nvPr/>
        </p:nvCxnSpPr>
        <p:spPr>
          <a:xfrm flipH="1">
            <a:off x="2120875" y="3582388"/>
            <a:ext cx="778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4"/>
          <p:cNvCxnSpPr>
            <a:stCxn id="342" idx="2"/>
            <a:endCxn id="345" idx="0"/>
          </p:cNvCxnSpPr>
          <p:nvPr/>
        </p:nvCxnSpPr>
        <p:spPr>
          <a:xfrm>
            <a:off x="3216025" y="4039738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4"/>
          <p:cNvCxnSpPr>
            <a:stCxn id="342" idx="3"/>
            <a:endCxn id="346" idx="1"/>
          </p:cNvCxnSpPr>
          <p:nvPr/>
        </p:nvCxnSpPr>
        <p:spPr>
          <a:xfrm>
            <a:off x="3532375" y="3582388"/>
            <a:ext cx="778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24"/>
          <p:cNvSpPr txBox="1"/>
          <p:nvPr/>
        </p:nvSpPr>
        <p:spPr>
          <a:xfrm>
            <a:off x="562000" y="456165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Unbiased!</a:t>
            </a:r>
            <a:endParaRPr/>
          </a:p>
        </p:txBody>
      </p:sp>
      <p:pic>
        <p:nvPicPr>
          <p:cNvPr id="354" name="Google Shape;3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grpSp>
        <p:nvGrpSpPr>
          <p:cNvPr id="360" name="Google Shape;360;p25"/>
          <p:cNvGrpSpPr/>
          <p:nvPr/>
        </p:nvGrpSpPr>
        <p:grpSpPr>
          <a:xfrm>
            <a:off x="497488" y="1147225"/>
            <a:ext cx="1689600" cy="1507500"/>
            <a:chOff x="124738" y="1082275"/>
            <a:chExt cx="1689600" cy="1507500"/>
          </a:xfrm>
        </p:grpSpPr>
        <p:sp>
          <p:nvSpPr>
            <p:cNvPr id="361" name="Google Shape;361;p25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362" name="Google Shape;362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3" name="Google Shape;363;p25"/>
          <p:cNvGrpSpPr/>
          <p:nvPr/>
        </p:nvGrpSpPr>
        <p:grpSpPr>
          <a:xfrm>
            <a:off x="2371225" y="1147213"/>
            <a:ext cx="1689600" cy="1507500"/>
            <a:chOff x="1981925" y="1127113"/>
            <a:chExt cx="1689600" cy="1507500"/>
          </a:xfrm>
        </p:grpSpPr>
        <p:sp>
          <p:nvSpPr>
            <p:cNvPr id="364" name="Google Shape;364;p25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365" name="Google Shape;365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6" name="Google Shape;366;p25"/>
          <p:cNvGrpSpPr/>
          <p:nvPr/>
        </p:nvGrpSpPr>
        <p:grpSpPr>
          <a:xfrm>
            <a:off x="4377663" y="1077075"/>
            <a:ext cx="1689600" cy="1507500"/>
            <a:chOff x="4020563" y="1127100"/>
            <a:chExt cx="1689600" cy="1507500"/>
          </a:xfrm>
        </p:grpSpPr>
        <p:sp>
          <p:nvSpPr>
            <p:cNvPr id="367" name="Google Shape;367;p25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368" name="Google Shape;368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9" name="Google Shape;369;p25"/>
          <p:cNvGrpSpPr/>
          <p:nvPr/>
        </p:nvGrpSpPr>
        <p:grpSpPr>
          <a:xfrm>
            <a:off x="2899675" y="3125038"/>
            <a:ext cx="632700" cy="914700"/>
            <a:chOff x="2899675" y="3125038"/>
            <a:chExt cx="632700" cy="914700"/>
          </a:xfrm>
        </p:grpSpPr>
        <p:sp>
          <p:nvSpPr>
            <p:cNvPr id="370" name="Google Shape;370;p25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371" name="Google Shape;37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2" name="Google Shape;3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461" y="4353312"/>
            <a:ext cx="287138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p25"/>
          <p:cNvCxnSpPr>
            <a:stCxn id="370" idx="0"/>
            <a:endCxn id="361" idx="5"/>
          </p:cNvCxnSpPr>
          <p:nvPr/>
        </p:nvCxnSpPr>
        <p:spPr>
          <a:xfrm rot="10800000">
            <a:off x="1939525" y="2433838"/>
            <a:ext cx="12765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5"/>
          <p:cNvCxnSpPr>
            <a:stCxn id="370" idx="0"/>
            <a:endCxn id="364" idx="4"/>
          </p:cNvCxnSpPr>
          <p:nvPr/>
        </p:nvCxnSpPr>
        <p:spPr>
          <a:xfrm rot="10800000">
            <a:off x="3216025" y="2654638"/>
            <a:ext cx="0" cy="4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25"/>
          <p:cNvCxnSpPr>
            <a:stCxn id="370" idx="0"/>
            <a:endCxn id="367" idx="3"/>
          </p:cNvCxnSpPr>
          <p:nvPr/>
        </p:nvCxnSpPr>
        <p:spPr>
          <a:xfrm flipH="1" rot="10800000">
            <a:off x="3216025" y="2363938"/>
            <a:ext cx="1409100" cy="7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25"/>
          <p:cNvCxnSpPr>
            <a:stCxn id="370" idx="1"/>
            <a:endCxn id="377" idx="3"/>
          </p:cNvCxnSpPr>
          <p:nvPr/>
        </p:nvCxnSpPr>
        <p:spPr>
          <a:xfrm flipH="1">
            <a:off x="2123575" y="3582388"/>
            <a:ext cx="776100" cy="1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5"/>
          <p:cNvCxnSpPr>
            <a:stCxn id="370" idx="2"/>
            <a:endCxn id="372" idx="0"/>
          </p:cNvCxnSpPr>
          <p:nvPr/>
        </p:nvCxnSpPr>
        <p:spPr>
          <a:xfrm>
            <a:off x="3216025" y="4039738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25"/>
          <p:cNvCxnSpPr>
            <a:stCxn id="370" idx="3"/>
            <a:endCxn id="380" idx="1"/>
          </p:cNvCxnSpPr>
          <p:nvPr/>
        </p:nvCxnSpPr>
        <p:spPr>
          <a:xfrm>
            <a:off x="3532375" y="3582388"/>
            <a:ext cx="776100" cy="1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7" name="Google Shape;37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6925" y="34388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8475" y="34388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3975" y="15040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075" y="15040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9950" y="15437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7700" y="1543699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138" y="1543699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900" y="1543712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5"/>
          <p:cNvSpPr txBox="1"/>
          <p:nvPr/>
        </p:nvSpPr>
        <p:spPr>
          <a:xfrm>
            <a:off x="562000" y="456165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Unbiased!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pic>
        <p:nvPicPr>
          <p:cNvPr id="389" name="Google Shape;38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395" name="Google Shape;395;p26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pic>
        <p:nvPicPr>
          <p:cNvPr id="396" name="Google Shape;3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6"/>
          <p:cNvSpPr txBox="1"/>
          <p:nvPr>
            <p:ph idx="1" type="body"/>
          </p:nvPr>
        </p:nvSpPr>
        <p:spPr>
          <a:xfrm>
            <a:off x="311700" y="1225225"/>
            <a:ext cx="604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typical settings </a:t>
            </a:r>
            <a:r>
              <a:rPr lang="en"/>
              <a:t>within which you interact as reference for bias: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Feld Rule</a:t>
            </a:r>
            <a:r>
              <a:rPr lang="en"/>
              <a:t>: If the settings within which you interact are biased towards a particular categorical or </a:t>
            </a:r>
            <a:r>
              <a:rPr lang="en"/>
              <a:t>continuous</a:t>
            </a:r>
            <a:r>
              <a:rPr lang="en"/>
              <a:t> dimension of association your ego-network will reflect that bias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Feld referred to these settings as </a:t>
            </a:r>
            <a:r>
              <a:rPr b="1" lang="en"/>
              <a:t>social foci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Therefore, this is the called the </a:t>
            </a:r>
            <a:r>
              <a:rPr b="1" lang="en"/>
              <a:t>focus effect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Foci</a:t>
            </a:r>
            <a:r>
              <a:rPr b="1" i="1" lang="en"/>
              <a:t> </a:t>
            </a:r>
            <a:r>
              <a:rPr i="1" lang="en"/>
              <a:t>make homophily happen via segregation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Conversely,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Desegregated foci reduce homophily </a:t>
            </a:r>
            <a:endParaRPr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403" name="Google Shape;40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id="404" name="Google Shape;4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4" name="Google Shape;414;p27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415" name="Google Shape;415;p27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6" name="Google Shape;416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7" name="Google Shape;417;p27"/>
            <p:cNvCxnSpPr>
              <a:stCxn id="416" idx="0"/>
              <a:endCxn id="418" idx="2"/>
            </p:cNvCxnSpPr>
            <p:nvPr/>
          </p:nvCxnSpPr>
          <p:spPr>
            <a:xfrm rot="10800000">
              <a:off x="813430" y="3837525"/>
              <a:ext cx="284700" cy="31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27"/>
            <p:cNvCxnSpPr>
              <a:stCxn id="416" idx="0"/>
              <a:endCxn id="420" idx="2"/>
            </p:cNvCxnSpPr>
            <p:nvPr/>
          </p:nvCxnSpPr>
          <p:spPr>
            <a:xfrm flipH="1" rot="10800000">
              <a:off x="1098130" y="3837525"/>
              <a:ext cx="228900" cy="31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1" name="Google Shape;421;p27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422" name="Google Shape;422;p27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3" name="Google Shape;423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26" name="Google Shape;426;p27"/>
            <p:cNvCxnSpPr>
              <a:stCxn id="423" idx="1"/>
              <a:endCxn id="424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27"/>
            <p:cNvCxnSpPr>
              <a:stCxn id="423" idx="0"/>
              <a:endCxn id="428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27"/>
            <p:cNvCxnSpPr>
              <a:stCxn id="423" idx="0"/>
              <a:endCxn id="430" idx="2"/>
            </p:cNvCxnSpPr>
            <p:nvPr/>
          </p:nvCxnSpPr>
          <p:spPr>
            <a:xfrm flipH="1" rot="10800000">
              <a:off x="3407580" y="3908625"/>
              <a:ext cx="183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27"/>
            <p:cNvCxnSpPr>
              <a:stCxn id="425" idx="2"/>
              <a:endCxn id="423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428" name="Google Shape;428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2" name="Google Shape;432;p27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b</a:t>
            </a:r>
            <a:r>
              <a:rPr lang="en"/>
              <a:t>iased</a:t>
            </a:r>
            <a:endParaRPr/>
          </a:p>
        </p:txBody>
      </p:sp>
      <p:sp>
        <p:nvSpPr>
          <p:cNvPr id="433" name="Google Shape;433;p27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</a:t>
            </a:r>
            <a:r>
              <a:rPr lang="en"/>
              <a:t>Biased</a:t>
            </a:r>
            <a:endParaRPr/>
          </a:p>
        </p:txBody>
      </p:sp>
      <p:pic>
        <p:nvPicPr>
          <p:cNvPr id="434" name="Google Shape;43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441" name="Google Shape;441;p27"/>
          <p:cNvCxnSpPr>
            <a:stCxn id="440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27"/>
          <p:cNvCxnSpPr>
            <a:stCxn id="440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18" name="Google Shape;41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161" y="313547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686" y="313547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63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7"/>
          <p:cNvSpPr txBox="1"/>
          <p:nvPr/>
        </p:nvSpPr>
        <p:spPr>
          <a:xfrm>
            <a:off x="1592350" y="4044875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</a:t>
            </a:r>
            <a:endParaRPr/>
          </a:p>
        </p:txBody>
      </p:sp>
      <p:sp>
        <p:nvSpPr>
          <p:cNvPr id="444" name="Google Shape;444;p27"/>
          <p:cNvSpPr txBox="1"/>
          <p:nvPr/>
        </p:nvSpPr>
        <p:spPr>
          <a:xfrm>
            <a:off x="3157950" y="4044875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</a:t>
            </a:r>
            <a:endParaRPr/>
          </a:p>
        </p:txBody>
      </p:sp>
      <p:pic>
        <p:nvPicPr>
          <p:cNvPr id="445" name="Google Shape;445;p27"/>
          <p:cNvPicPr preferRelativeResize="0"/>
          <p:nvPr/>
        </p:nvPicPr>
        <p:blipFill rotWithShape="1">
          <a:blip r:embed="rId5">
            <a:alphaModFix/>
          </a:blip>
          <a:srcRect b="0" l="44537" r="0" t="0"/>
          <a:stretch/>
        </p:blipFill>
        <p:spPr>
          <a:xfrm>
            <a:off x="6342675" y="1222950"/>
            <a:ext cx="2489625" cy="29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7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 Marsden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452" name="Google Shape;452;p28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tell why?</a:t>
            </a:r>
            <a:endParaRPr/>
          </a:p>
        </p:txBody>
      </p:sp>
      <p:pic>
        <p:nvPicPr>
          <p:cNvPr id="453" name="Google Shape;453;p28"/>
          <p:cNvPicPr preferRelativeResize="0"/>
          <p:nvPr/>
        </p:nvPicPr>
        <p:blipFill rotWithShape="1">
          <a:blip r:embed="rId3">
            <a:alphaModFix/>
          </a:blip>
          <a:srcRect b="0" l="44537" r="0" t="0"/>
          <a:stretch/>
        </p:blipFill>
        <p:spPr>
          <a:xfrm>
            <a:off x="6342675" y="1222950"/>
            <a:ext cx="2489625" cy="29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8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 Marsden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460" name="Google Shape;460;p29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guess why?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466" name="Google Shape;466;p30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tell why?</a:t>
            </a:r>
            <a:endParaRPr/>
          </a:p>
        </p:txBody>
      </p:sp>
      <p:sp>
        <p:nvSpPr>
          <p:cNvPr id="467" name="Google Shape;467;p30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68" name="Google Shape;468;p30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69" name="Google Shape;469;p30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0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0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0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0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0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6" name="Google Shape;476;p30"/>
          <p:cNvCxnSpPr>
            <a:stCxn id="468" idx="6"/>
            <a:endCxn id="472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0"/>
          <p:cNvCxnSpPr>
            <a:stCxn id="468" idx="6"/>
            <a:endCxn id="475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0"/>
          <p:cNvCxnSpPr>
            <a:stCxn id="467" idx="6"/>
            <a:endCxn id="469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0"/>
          <p:cNvCxnSpPr>
            <a:stCxn id="467" idx="6"/>
            <a:endCxn id="470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0"/>
          <p:cNvCxnSpPr>
            <a:stCxn id="467" idx="6"/>
            <a:endCxn id="471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0"/>
          <p:cNvCxnSpPr>
            <a:stCxn id="467" idx="6"/>
            <a:endCxn id="472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30"/>
          <p:cNvCxnSpPr>
            <a:stCxn id="467" idx="6"/>
            <a:endCxn id="475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30"/>
          <p:cNvCxnSpPr>
            <a:stCxn id="468" idx="6"/>
            <a:endCxn id="474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0"/>
          <p:cNvCxnSpPr>
            <a:stCxn id="468" idx="6"/>
            <a:endCxn id="470" idx="2"/>
          </p:cNvCxnSpPr>
          <p:nvPr/>
        </p:nvCxnSpPr>
        <p:spPr>
          <a:xfrm flipH="1" rot="10800000">
            <a:off x="7309600" y="1816475"/>
            <a:ext cx="681900" cy="1823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490" name="Google Shape;490;p31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91" name="Google Shape;491;p31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92" name="Google Shape;492;p31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1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1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1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1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1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1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9" name="Google Shape;499;p31"/>
          <p:cNvCxnSpPr>
            <a:stCxn id="491" idx="6"/>
            <a:endCxn id="495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1"/>
          <p:cNvCxnSpPr>
            <a:stCxn id="491" idx="6"/>
            <a:endCxn id="498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1"/>
          <p:cNvCxnSpPr>
            <a:stCxn id="490" idx="6"/>
            <a:endCxn id="492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1"/>
          <p:cNvCxnSpPr>
            <a:stCxn id="490" idx="6"/>
            <a:endCxn id="493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1"/>
          <p:cNvCxnSpPr>
            <a:stCxn id="490" idx="6"/>
            <a:endCxn id="494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1"/>
          <p:cNvCxnSpPr>
            <a:stCxn id="490" idx="6"/>
            <a:endCxn id="495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1"/>
          <p:cNvCxnSpPr>
            <a:stCxn id="490" idx="6"/>
            <a:endCxn id="498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1"/>
          <p:cNvCxnSpPr>
            <a:stCxn id="491" idx="6"/>
            <a:endCxn id="497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1"/>
          <p:cNvCxnSpPr>
            <a:stCxn id="491" idx="6"/>
            <a:endCxn id="493" idx="2"/>
          </p:cNvCxnSpPr>
          <p:nvPr/>
        </p:nvCxnSpPr>
        <p:spPr>
          <a:xfrm flipH="1" rot="10800000">
            <a:off x="7309600" y="1816475"/>
            <a:ext cx="681900" cy="1823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Screenshot 2017-10-12 at 08.42.45.png" id="508" name="Google Shape;508;p31"/>
          <p:cNvPicPr preferRelativeResize="0"/>
          <p:nvPr/>
        </p:nvPicPr>
        <p:blipFill rotWithShape="1">
          <a:blip r:embed="rId3">
            <a:alphaModFix/>
          </a:blip>
          <a:srcRect b="5666" l="22272" r="24023" t="25407"/>
          <a:stretch/>
        </p:blipFill>
        <p:spPr>
          <a:xfrm>
            <a:off x="949025" y="1103825"/>
            <a:ext cx="5082326" cy="36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514" name="Google Shape;514;p32"/>
          <p:cNvSpPr txBox="1"/>
          <p:nvPr>
            <p:ph idx="1" type="body"/>
          </p:nvPr>
        </p:nvSpPr>
        <p:spPr>
          <a:xfrm>
            <a:off x="311700" y="1225225"/>
            <a:ext cx="460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Example: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U.S. there are systematic correlations between religion and race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Choosing contacts based on race leads to biases in the representation of people of certain religions at the micro-structural level (And vice-versa)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Accordingly: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Can’t conclude that people prefer same (race/religion) contacts from micro-level observations of homogeneity!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0040817_1.gif" id="515" name="Google Shape;5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573" y="1587425"/>
            <a:ext cx="3856725" cy="26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521" name="Google Shape;521;p33"/>
          <p:cNvSpPr txBox="1"/>
          <p:nvPr>
            <p:ph idx="1" type="body"/>
          </p:nvPr>
        </p:nvSpPr>
        <p:spPr>
          <a:xfrm>
            <a:off x="311700" y="1225225"/>
            <a:ext cx="526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applies to any </a:t>
            </a:r>
            <a:r>
              <a:rPr b="1" lang="en"/>
              <a:t>correlation</a:t>
            </a:r>
            <a:r>
              <a:rPr lang="en"/>
              <a:t> between dimensions of association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race associational preference may lead to higher/lower representation of people different social classes at the micro-structural level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negative correlations it goes the other way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diversity at the micro-level that we would expect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Age and education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US_Race_Household_Income.png" id="522" name="Google Shape;5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550" y="1649027"/>
            <a:ext cx="3250749" cy="25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ego networks organized?</a:t>
            </a:r>
            <a:endParaRPr/>
          </a:p>
        </p:txBody>
      </p:sp>
      <p:sp>
        <p:nvSpPr>
          <p:cNvPr id="528" name="Google Shape;528;p34"/>
          <p:cNvSpPr txBox="1"/>
          <p:nvPr>
            <p:ph idx="1" type="body"/>
          </p:nvPr>
        </p:nvSpPr>
        <p:spPr>
          <a:xfrm>
            <a:off x="311700" y="1225225"/>
            <a:ext cx="555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Anthropologist Robin Dunbar: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Ego-networks are organized by layers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“Closer” more intimate layers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“Farther” less intimate 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Closer layers are smaller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Farther layers are larger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relationships entails different “maintenance costs”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Costs determine the number of persons in each layer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Support clique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Sympathy group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Affinity group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Active Network </a:t>
            </a:r>
            <a:endParaRPr b="1"/>
          </a:p>
        </p:txBody>
      </p:sp>
      <p:pic>
        <p:nvPicPr>
          <p:cNvPr id="529" name="Google Shape;529;p34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863800" y="1482336"/>
            <a:ext cx="2968350" cy="28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ego networks organized?</a:t>
            </a:r>
            <a:endParaRPr/>
          </a:p>
        </p:txBody>
      </p:sp>
      <p:sp>
        <p:nvSpPr>
          <p:cNvPr id="535" name="Google Shape;535;p35"/>
          <p:cNvSpPr txBox="1"/>
          <p:nvPr>
            <p:ph idx="1" type="body"/>
          </p:nvPr>
        </p:nvSpPr>
        <p:spPr>
          <a:xfrm>
            <a:off x="311700" y="1225225"/>
            <a:ext cx="555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Anthropologist Robin Dunbar: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Support clique (~ 4 - 5)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Your most intimate “best” friends and kin you can rely on them for crises and emergencies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Sympathy group (~12 - 15)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Good friends that can provide some services and that you contact often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Affinity group (~ 45 - 50)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More casual, “hang out” friends and extended relatives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Active Network (~120 - 150)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Total number people you contact or see at least once a year, </a:t>
            </a:r>
            <a:r>
              <a:rPr i="1" lang="en"/>
              <a:t>acquaintances</a:t>
            </a:r>
            <a:r>
              <a:rPr i="1" lang="en"/>
              <a:t> </a:t>
            </a:r>
            <a:endParaRPr i="1"/>
          </a:p>
        </p:txBody>
      </p:sp>
      <p:pic>
        <p:nvPicPr>
          <p:cNvPr id="536" name="Google Shape;536;p35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863800" y="1482336"/>
            <a:ext cx="2968350" cy="283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7" name="Google Shape;537;p35"/>
          <p:cNvCxnSpPr/>
          <p:nvPr/>
        </p:nvCxnSpPr>
        <p:spPr>
          <a:xfrm>
            <a:off x="5160075" y="2225250"/>
            <a:ext cx="1946400" cy="687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35"/>
          <p:cNvCxnSpPr/>
          <p:nvPr/>
        </p:nvCxnSpPr>
        <p:spPr>
          <a:xfrm>
            <a:off x="3611225" y="3003825"/>
            <a:ext cx="3371100" cy="149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35"/>
          <p:cNvCxnSpPr/>
          <p:nvPr/>
        </p:nvCxnSpPr>
        <p:spPr>
          <a:xfrm flipH="1" rot="10800000">
            <a:off x="2567600" y="3517275"/>
            <a:ext cx="4348500" cy="174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35"/>
          <p:cNvCxnSpPr/>
          <p:nvPr/>
        </p:nvCxnSpPr>
        <p:spPr>
          <a:xfrm flipH="1" rot="10800000">
            <a:off x="4008775" y="3873450"/>
            <a:ext cx="2799600" cy="63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ego networks organized?</a:t>
            </a:r>
            <a:endParaRPr/>
          </a:p>
        </p:txBody>
      </p:sp>
      <p:sp>
        <p:nvSpPr>
          <p:cNvPr id="546" name="Google Shape;546;p36"/>
          <p:cNvSpPr txBox="1"/>
          <p:nvPr>
            <p:ph idx="1" type="body"/>
          </p:nvPr>
        </p:nvSpPr>
        <p:spPr>
          <a:xfrm>
            <a:off x="311700" y="1225225"/>
            <a:ext cx="527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Anthropologist Robin Dunbar: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Support clique (~ 4 - 5)</a:t>
            </a:r>
            <a:endParaRPr b="1"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Your most intimate “best” friends and kin you can rely on them for crises and emergencies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Sympathy group (~12 - 15)</a:t>
            </a:r>
            <a:endParaRPr b="1"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Good friends that can provide some services and that you contact often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Affinity group (~ 45 - 50)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i="1" lang="en">
                <a:solidFill>
                  <a:srgbClr val="B7B7B7"/>
                </a:solidFill>
              </a:rPr>
              <a:t>More casual, “hang out” friends and extended relatives</a:t>
            </a:r>
            <a:endParaRPr i="1">
              <a:solidFill>
                <a:srgbClr val="B7B7B7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Active Network (~120 - 150)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i="1" lang="en">
                <a:solidFill>
                  <a:srgbClr val="B7B7B7"/>
                </a:solidFill>
              </a:rPr>
              <a:t>Total number people you contact or see at least once a year, </a:t>
            </a:r>
            <a:r>
              <a:rPr i="1" lang="en">
                <a:solidFill>
                  <a:srgbClr val="B7B7B7"/>
                </a:solidFill>
              </a:rPr>
              <a:t>acquaintances</a:t>
            </a:r>
            <a:endParaRPr>
              <a:solidFill>
                <a:srgbClr val="B7B7B7"/>
              </a:solidFill>
            </a:endParaRPr>
          </a:p>
        </p:txBody>
      </p:sp>
      <p:graphicFrame>
        <p:nvGraphicFramePr>
          <p:cNvPr id="547" name="Google Shape;547;p36"/>
          <p:cNvGraphicFramePr/>
          <p:nvPr/>
        </p:nvGraphicFramePr>
        <p:xfrm>
          <a:off x="5693450" y="1225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{23305878-C804-43BA-AFF6-C61206B7F20B}</a:tableStyleId>
              </a:tblPr>
              <a:tblGrid>
                <a:gridCol w="1523875"/>
                <a:gridCol w="1523875"/>
              </a:tblGrid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Sarah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Cass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Shannon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Pete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Joseph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Madeleine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Marissa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Kelly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Allison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Katherine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Elizabeth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Ethan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Jessica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Claire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Steve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Allison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Alexandra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Caroline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0000"/>
                          </a:solidFill>
                        </a:rPr>
                        <a:t>Average</a:t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0000"/>
                          </a:solidFill>
                        </a:rPr>
                        <a:t>12</a:t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ego networks organized?</a:t>
            </a:r>
            <a:endParaRPr/>
          </a:p>
        </p:txBody>
      </p:sp>
      <p:sp>
        <p:nvSpPr>
          <p:cNvPr id="553" name="Google Shape;553;p37"/>
          <p:cNvSpPr txBox="1"/>
          <p:nvPr>
            <p:ph idx="1" type="body"/>
          </p:nvPr>
        </p:nvSpPr>
        <p:spPr>
          <a:xfrm>
            <a:off x="311700" y="1225225"/>
            <a:ext cx="527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Anthropologist Robin Dunbar: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Support clique (~ 4 - 5)</a:t>
            </a:r>
            <a:endParaRPr b="1"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Your most intimate “best” friends and kin you can rely on them for crises and emergencies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Sympathy group (~12 - 15)</a:t>
            </a:r>
            <a:endParaRPr b="1"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Good friends that can provide some services and that you contact often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Affinity group (~ 45 - 50)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i="1" lang="en">
                <a:solidFill>
                  <a:srgbClr val="B7B7B7"/>
                </a:solidFill>
              </a:rPr>
              <a:t>More casual, “hang out” friends and extended relatives</a:t>
            </a:r>
            <a:endParaRPr i="1">
              <a:solidFill>
                <a:srgbClr val="B7B7B7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Active Network (~120 - 150)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i="1" lang="en">
                <a:solidFill>
                  <a:srgbClr val="B7B7B7"/>
                </a:solidFill>
              </a:rPr>
              <a:t>Total number people you contact or see at least once a year, </a:t>
            </a:r>
            <a:r>
              <a:rPr i="1" lang="en">
                <a:solidFill>
                  <a:srgbClr val="B7B7B7"/>
                </a:solidFill>
              </a:rPr>
              <a:t>acquaintances</a:t>
            </a:r>
            <a:endParaRPr>
              <a:solidFill>
                <a:srgbClr val="B7B7B7"/>
              </a:solidFill>
            </a:endParaRPr>
          </a:p>
        </p:txBody>
      </p:sp>
      <p:graphicFrame>
        <p:nvGraphicFramePr>
          <p:cNvPr id="554" name="Google Shape;554;p37"/>
          <p:cNvGraphicFramePr/>
          <p:nvPr/>
        </p:nvGraphicFramePr>
        <p:xfrm>
          <a:off x="5693450" y="1225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{23305878-C804-43BA-AFF6-C61206B7F20B}</a:tableStyleId>
              </a:tblPr>
              <a:tblGrid>
                <a:gridCol w="1523875"/>
                <a:gridCol w="1523875"/>
              </a:tblGrid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Sarah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Cass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Shannon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Pete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15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Joseph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Madeleine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Marissa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13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Kelly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Allison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11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Katherine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Elizabeth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Ethan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Jessica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Claire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14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Steve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Allison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10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Alexandra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Caroline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18</a:t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0000"/>
                          </a:solidFill>
                        </a:rPr>
                        <a:t>Average</a:t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0000"/>
                          </a:solidFill>
                        </a:rPr>
                        <a:t>12</a:t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55" name="Google Shape;555;p37"/>
          <p:cNvCxnSpPr/>
          <p:nvPr/>
        </p:nvCxnSpPr>
        <p:spPr>
          <a:xfrm>
            <a:off x="3660925" y="2548275"/>
            <a:ext cx="4895100" cy="197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561" name="Google Shape;561;p38"/>
          <p:cNvSpPr txBox="1"/>
          <p:nvPr>
            <p:ph idx="1" type="body"/>
          </p:nvPr>
        </p:nvSpPr>
        <p:spPr>
          <a:xfrm>
            <a:off x="311700" y="1225225"/>
            <a:ext cx="54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Implications of the group size effect: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Ingroup dominated networks of majority group members not necessarily a sign of choice homophily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Could just be induced homophily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FT_15.06.12.Interracial.png" id="562" name="Google Shape;562;p38"/>
          <p:cNvPicPr preferRelativeResize="0"/>
          <p:nvPr/>
        </p:nvPicPr>
        <p:blipFill rotWithShape="1">
          <a:blip r:embed="rId3">
            <a:alphaModFix/>
          </a:blip>
          <a:srcRect b="38169" l="-3713" r="0" t="2764"/>
          <a:stretch/>
        </p:blipFill>
        <p:spPr>
          <a:xfrm>
            <a:off x="5955300" y="1147225"/>
            <a:ext cx="2877000" cy="20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2025" y="3174299"/>
            <a:ext cx="3183550" cy="17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