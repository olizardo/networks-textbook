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Economica"/>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David Ha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Economica-regular.fntdata"/><Relationship Id="rId43" Type="http://schemas.openxmlformats.org/officeDocument/2006/relationships/slide" Target="slides/slide38.xml"/><Relationship Id="rId46" Type="http://schemas.openxmlformats.org/officeDocument/2006/relationships/font" Target="fonts/Economica-italic.fntdata"/><Relationship Id="rId45" Type="http://schemas.openxmlformats.org/officeDocument/2006/relationships/font" Target="fonts/Economica-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regular.fntdata"/><Relationship Id="rId47" Type="http://schemas.openxmlformats.org/officeDocument/2006/relationships/font" Target="fonts/Economica-boldItalic.fntdata"/><Relationship Id="rId49"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19-09-16T18:02:33.648">
    <p:pos x="196" y="771"/>
    <p:text>still string data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5fcf7abd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5fcf7abd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5fcf7abd1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5fcf7abd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5fcf7abd1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5fcf7abd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5fcf7abd1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5fcf7abd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5fcf7abd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fcf7abd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5fcf7abd1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5fcf7abd1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5fcf7abd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5fcf7abd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5fcf7abd1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fcf7abd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5fcf7abd1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5fcf7abd1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32a7d94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32a7d94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32a7d942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232a7d942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32a7d942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232a7d942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32a7d94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232a7d94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32a7d942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32a7d942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232a7d94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232a7d94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5fcf7abd1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5fcf7abd1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232a7d94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232a7d942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232a7d942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232a7d942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6354a5e1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6354a5e1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6354a5e17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6354a5e17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6354a5e17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354a5e17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5fcf7abd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5fcf7abd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5fcf7abd1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5fcf7abd1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5fcf7abd1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5fcf7abd1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232a7d9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232a7d9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5fcf7abd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5fcf7abd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5fcf7abd1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5fcf7abd1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232a7d9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232a7d9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5fcf7abd1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5fcf7abd1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232a7d94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232a7d94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32a7d9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232a7d9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232a7d94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232a7d94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232a7d942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232a7d942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232a7d94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232a7d94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5fcf7abd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5fcf7abd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5fcf7abd1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5fcf7abd1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5fcf7abd1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5fcf7abd1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omments" Target="../comments/commen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Measuring Networks at the Individual Level</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(personal) networks</a:t>
            </a:r>
            <a:endParaRPr/>
          </a:p>
        </p:txBody>
      </p:sp>
      <p:sp>
        <p:nvSpPr>
          <p:cNvPr id="69" name="Google Shape;69;p14"/>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Sometimes the best way to figure out who a person is connected to is to ask them!</a:t>
            </a:r>
            <a:endParaRPr/>
          </a:p>
          <a:p>
            <a:pPr indent="-317500" lvl="1" marL="914400" rtl="0" algn="l">
              <a:spcBef>
                <a:spcPts val="0"/>
              </a:spcBef>
              <a:spcAft>
                <a:spcPts val="0"/>
              </a:spcAft>
              <a:buSzPts val="1400"/>
              <a:buChar char="○"/>
            </a:pPr>
            <a:r>
              <a:rPr lang="en"/>
              <a:t>This yields personal (ego) networks</a:t>
            </a:r>
            <a:endParaRPr/>
          </a:p>
          <a:p>
            <a:pPr indent="-317500" lvl="1" marL="914400" rtl="0" algn="l">
              <a:spcBef>
                <a:spcPts val="0"/>
              </a:spcBef>
              <a:spcAft>
                <a:spcPts val="0"/>
              </a:spcAft>
              <a:buSzPts val="1400"/>
              <a:buChar char="○"/>
            </a:pPr>
            <a:r>
              <a:rPr lang="en"/>
              <a:t>Information on:</a:t>
            </a:r>
            <a:endParaRPr/>
          </a:p>
          <a:p>
            <a:pPr indent="-317500" lvl="2" marL="1371600" rtl="0" algn="l">
              <a:spcBef>
                <a:spcPts val="0"/>
              </a:spcBef>
              <a:spcAft>
                <a:spcPts val="0"/>
              </a:spcAft>
              <a:buSzPts val="1400"/>
              <a:buChar char="■"/>
            </a:pPr>
            <a:r>
              <a:rPr b="1" lang="en"/>
              <a:t>Ego</a:t>
            </a:r>
            <a:r>
              <a:rPr lang="en"/>
              <a:t> (the individuals)</a:t>
            </a:r>
            <a:endParaRPr/>
          </a:p>
          <a:p>
            <a:pPr indent="-317500" lvl="2" marL="1371600" rtl="0" algn="l">
              <a:spcBef>
                <a:spcPts val="0"/>
              </a:spcBef>
              <a:spcAft>
                <a:spcPts val="0"/>
              </a:spcAft>
              <a:buSzPts val="1400"/>
              <a:buChar char="■"/>
            </a:pPr>
            <a:r>
              <a:rPr lang="en"/>
              <a:t>Role, exchange, interaction </a:t>
            </a:r>
            <a:r>
              <a:rPr b="1" lang="en"/>
              <a:t>relations</a:t>
            </a:r>
            <a:r>
              <a:rPr lang="en"/>
              <a:t> between </a:t>
            </a:r>
            <a:r>
              <a:rPr b="1" lang="en"/>
              <a:t>ego</a:t>
            </a:r>
            <a:r>
              <a:rPr lang="en"/>
              <a:t> and a set of </a:t>
            </a:r>
            <a:r>
              <a:rPr b="1" lang="en"/>
              <a:t>alters</a:t>
            </a:r>
            <a:endParaRPr b="1"/>
          </a:p>
          <a:p>
            <a:pPr indent="-317500" lvl="2" marL="1371600" rtl="0" algn="l">
              <a:spcBef>
                <a:spcPts val="0"/>
              </a:spcBef>
              <a:spcAft>
                <a:spcPts val="0"/>
              </a:spcAft>
              <a:buSzPts val="1400"/>
              <a:buChar char="■"/>
            </a:pPr>
            <a:r>
              <a:rPr b="1" lang="en"/>
              <a:t>Relations among the alters</a:t>
            </a:r>
            <a:r>
              <a:rPr lang="en"/>
              <a:t> from the point of view of ego</a:t>
            </a:r>
            <a:endParaRPr/>
          </a:p>
          <a:p>
            <a:pPr indent="-317500" lvl="2" marL="1371600" rtl="0" algn="l">
              <a:spcBef>
                <a:spcPts val="0"/>
              </a:spcBef>
              <a:spcAft>
                <a:spcPts val="0"/>
              </a:spcAft>
              <a:buSzPts val="1400"/>
              <a:buChar char="■"/>
            </a:pPr>
            <a:r>
              <a:rPr lang="en"/>
              <a:t>Properties of each </a:t>
            </a:r>
            <a:r>
              <a:rPr b="1" lang="en"/>
              <a:t>relation</a:t>
            </a:r>
            <a:r>
              <a:rPr lang="en"/>
              <a:t> from the point of view of ego</a:t>
            </a:r>
            <a:endParaRPr/>
          </a:p>
        </p:txBody>
      </p:sp>
      <p:pic>
        <p:nvPicPr>
          <p:cNvPr id="70" name="Google Shape;70;p14"/>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Types of ties in ego networks</a:t>
            </a:r>
            <a:endParaRPr/>
          </a:p>
        </p:txBody>
      </p:sp>
      <p:sp>
        <p:nvSpPr>
          <p:cNvPr id="76" name="Google Shape;76;p15"/>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 relations (states)</a:t>
            </a:r>
            <a:endParaRPr/>
          </a:p>
          <a:p>
            <a:pPr indent="-317500" lvl="1" marL="914400" rtl="0" algn="l">
              <a:spcBef>
                <a:spcPts val="0"/>
              </a:spcBef>
              <a:spcAft>
                <a:spcPts val="0"/>
              </a:spcAft>
              <a:buSzPts val="1400"/>
              <a:buChar char="○"/>
            </a:pPr>
            <a:r>
              <a:rPr lang="en"/>
              <a:t>Friends, kin, business partners</a:t>
            </a:r>
            <a:endParaRPr/>
          </a:p>
          <a:p>
            <a:pPr indent="-342900" lvl="0" marL="457200" rtl="0" algn="l">
              <a:spcBef>
                <a:spcPts val="0"/>
              </a:spcBef>
              <a:spcAft>
                <a:spcPts val="0"/>
              </a:spcAft>
              <a:buSzPts val="1800"/>
              <a:buChar char="●"/>
            </a:pPr>
            <a:r>
              <a:rPr lang="en"/>
              <a:t>Interpersonal sentiments and cognitions</a:t>
            </a:r>
            <a:endParaRPr/>
          </a:p>
          <a:p>
            <a:pPr indent="-317500" lvl="1" marL="914400" rtl="0" algn="l">
              <a:spcBef>
                <a:spcPts val="0"/>
              </a:spcBef>
              <a:spcAft>
                <a:spcPts val="0"/>
              </a:spcAft>
              <a:buSzPts val="1400"/>
              <a:buChar char="○"/>
            </a:pPr>
            <a:r>
              <a:rPr lang="en"/>
              <a:t>Liking, trusting, acquaintanceship</a:t>
            </a:r>
            <a:endParaRPr/>
          </a:p>
          <a:p>
            <a:pPr indent="-342900" lvl="0" marL="457200" rtl="0" algn="l">
              <a:spcBef>
                <a:spcPts val="0"/>
              </a:spcBef>
              <a:spcAft>
                <a:spcPts val="0"/>
              </a:spcAft>
              <a:buSzPts val="1800"/>
              <a:buChar char="●"/>
            </a:pPr>
            <a:r>
              <a:rPr lang="en"/>
              <a:t>Behavioral Social Interactions</a:t>
            </a:r>
            <a:endParaRPr/>
          </a:p>
          <a:p>
            <a:pPr indent="-317500" lvl="1" marL="914400" rtl="0" algn="l">
              <a:spcBef>
                <a:spcPts val="0"/>
              </a:spcBef>
              <a:spcAft>
                <a:spcPts val="0"/>
              </a:spcAft>
              <a:buSzPts val="1400"/>
              <a:buChar char="○"/>
            </a:pPr>
            <a:r>
              <a:rPr lang="en"/>
              <a:t>Calling, texting, citing, supporting, resource exchange</a:t>
            </a:r>
            <a:endParaRPr/>
          </a:p>
          <a:p>
            <a:pPr indent="0" lvl="0" marL="0" marR="0" rtl="0" algn="l">
              <a:lnSpc>
                <a:spcPct val="115000"/>
              </a:lnSpc>
              <a:spcBef>
                <a:spcPts val="1600"/>
              </a:spcBef>
              <a:spcAft>
                <a:spcPts val="1600"/>
              </a:spcAft>
              <a:buNone/>
            </a:pPr>
            <a:r>
              <a:t/>
            </a:r>
            <a:endParaRPr/>
          </a:p>
        </p:txBody>
      </p:sp>
      <p:pic>
        <p:nvPicPr>
          <p:cNvPr id="77" name="Google Shape;77;p15"/>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ego networks: Four steps</a:t>
            </a:r>
            <a:endParaRPr/>
          </a:p>
        </p:txBody>
      </p:sp>
      <p:sp>
        <p:nvSpPr>
          <p:cNvPr id="83" name="Google Shape;83;p16"/>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a:t>
            </a:r>
            <a:endParaRPr/>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 </a:t>
            </a:r>
            <a:r>
              <a:rPr lang="en"/>
              <a:t>and</a:t>
            </a:r>
            <a:r>
              <a:rPr lang="en"/>
              <a:t> tie-level characteristics you are inter</a:t>
            </a:r>
            <a:r>
              <a:rPr lang="en"/>
              <a:t>est</a:t>
            </a:r>
            <a:r>
              <a:rPr lang="en"/>
              <a: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pic>
        <p:nvPicPr>
          <p:cNvPr id="84" name="Google Shape;84;p16"/>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90" name="Google Shape;90;p17"/>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lang="en"/>
              <a:t>Neighbors, friends, kin, co-authors</a:t>
            </a:r>
            <a:endParaRPr/>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lang="en"/>
              <a:t>Frequency, duration of contact</a:t>
            </a:r>
            <a:endParaRPr/>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lang="en"/>
              <a:t>Significant, close, enemies</a:t>
            </a:r>
            <a:endParaRPr/>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lang="en"/>
              <a:t>Information, favors, support, resources</a:t>
            </a:r>
            <a:endParaRPr/>
          </a:p>
          <a:p>
            <a:pPr indent="0" lvl="0" marL="0" rtl="0" algn="ctr">
              <a:spcBef>
                <a:spcPts val="1600"/>
              </a:spcBef>
              <a:spcAft>
                <a:spcPts val="1600"/>
              </a:spcAft>
              <a:buNone/>
            </a:pPr>
            <a:r>
              <a:rPr lang="en"/>
              <a:t>Different approaches can produce ego-networks with different structural characteristics!</a:t>
            </a:r>
            <a:endParaRPr/>
          </a:p>
        </p:txBody>
      </p:sp>
      <p:pic>
        <p:nvPicPr>
          <p:cNvPr id="91" name="Google Shape;91;p17"/>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97" name="Google Shape;97;p18"/>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98" name="Google Shape;98;p18"/>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i="1" lang="en"/>
              <a:t>“list the names of up to [X] [</a:t>
            </a:r>
            <a:r>
              <a:rPr i="1" lang="en">
                <a:solidFill>
                  <a:srgbClr val="FF0000"/>
                </a:solidFill>
              </a:rPr>
              <a:t>friends, co-workers, co-authors, pub-mates</a:t>
            </a:r>
            <a:r>
              <a:rPr i="1" lang="en"/>
              <a:t>, etc.]”</a:t>
            </a:r>
            <a:endParaRPr i="1"/>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i="1" lang="en"/>
              <a:t>“list the names of up to [X] of the people you most </a:t>
            </a:r>
            <a:r>
              <a:rPr i="1" lang="en">
                <a:solidFill>
                  <a:srgbClr val="FF0000"/>
                </a:solidFill>
              </a:rPr>
              <a:t>frequently interact </a:t>
            </a:r>
            <a:r>
              <a:rPr i="1" lang="en"/>
              <a:t>with</a:t>
            </a:r>
            <a:endParaRPr i="1"/>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i="1" lang="en"/>
              <a:t>“list the names of up to [X] of the people you [</a:t>
            </a:r>
            <a:r>
              <a:rPr i="1" lang="en">
                <a:solidFill>
                  <a:srgbClr val="FF0000"/>
                </a:solidFill>
              </a:rPr>
              <a:t>feel</a:t>
            </a:r>
            <a:r>
              <a:rPr i="1" lang="en"/>
              <a:t> </a:t>
            </a:r>
            <a:r>
              <a:rPr i="1" lang="en">
                <a:solidFill>
                  <a:srgbClr val="FF0000"/>
                </a:solidFill>
              </a:rPr>
              <a:t>closest to, trust most, etc.</a:t>
            </a:r>
            <a:r>
              <a:rPr i="1" lang="en"/>
              <a:t>]”</a:t>
            </a:r>
            <a:endParaRPr i="1"/>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i="1" lang="en"/>
              <a:t>“list the names of up to [X] of the people you would go to for [</a:t>
            </a:r>
            <a:r>
              <a:rPr i="1" lang="en">
                <a:solidFill>
                  <a:srgbClr val="FF0000"/>
                </a:solidFill>
              </a:rPr>
              <a:t>advice, financial support, etc</a:t>
            </a:r>
            <a:r>
              <a:rPr i="1" lang="en"/>
              <a:t>.]</a:t>
            </a:r>
            <a:endParaRPr i="1"/>
          </a:p>
          <a:p>
            <a:pPr indent="0" lvl="0" marL="45720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104" name="Google Shape;104;p19"/>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105" name="Google Shape;105;p19"/>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Famous examples:</a:t>
            </a:r>
            <a:endParaRPr/>
          </a:p>
          <a:p>
            <a:pPr indent="-317500" lvl="1" marL="914400" rtl="0" algn="l">
              <a:spcBef>
                <a:spcPts val="0"/>
              </a:spcBef>
              <a:spcAft>
                <a:spcPts val="0"/>
              </a:spcAft>
              <a:buSzPts val="1400"/>
              <a:buChar char="○"/>
            </a:pPr>
            <a:r>
              <a:rPr lang="en"/>
              <a:t>Wellman’s (1979) </a:t>
            </a:r>
            <a:r>
              <a:rPr i="1" lang="en"/>
              <a:t>East York Study</a:t>
            </a:r>
            <a:r>
              <a:rPr lang="en"/>
              <a:t>:</a:t>
            </a:r>
            <a:endParaRPr/>
          </a:p>
          <a:p>
            <a:pPr indent="-317500" lvl="2" marL="1371600" rtl="0" algn="l">
              <a:spcBef>
                <a:spcPts val="0"/>
              </a:spcBef>
              <a:spcAft>
                <a:spcPts val="0"/>
              </a:spcAft>
              <a:buSzPts val="1400"/>
              <a:buChar char="■"/>
            </a:pPr>
            <a:r>
              <a:rPr lang="en"/>
              <a:t>“N</a:t>
            </a:r>
            <a:r>
              <a:rPr lang="en"/>
              <a:t>ame the six persons outside your home that you feel closest to.”</a:t>
            </a:r>
            <a:endParaRPr/>
          </a:p>
          <a:p>
            <a:pPr indent="-317500" lvl="1" marL="914400" rtl="0" algn="l">
              <a:spcBef>
                <a:spcPts val="0"/>
              </a:spcBef>
              <a:spcAft>
                <a:spcPts val="0"/>
              </a:spcAft>
              <a:buSzPts val="1400"/>
              <a:buChar char="○"/>
            </a:pPr>
            <a:r>
              <a:rPr lang="en"/>
              <a:t>Fischer’s (1982) </a:t>
            </a:r>
            <a:r>
              <a:rPr i="1" lang="en"/>
              <a:t>Northern California Communities Study</a:t>
            </a:r>
            <a:r>
              <a:rPr lang="en"/>
              <a:t>:</a:t>
            </a:r>
            <a:endParaRPr/>
          </a:p>
          <a:p>
            <a:pPr indent="-317500" lvl="2" marL="1371600" rtl="0" algn="l">
              <a:spcBef>
                <a:spcPts val="0"/>
              </a:spcBef>
              <a:spcAft>
                <a:spcPts val="0"/>
              </a:spcAft>
              <a:buSzPts val="1400"/>
              <a:buChar char="■"/>
            </a:pPr>
            <a:r>
              <a:rPr lang="en"/>
              <a:t>“Name all persons who would provide any of eight types of aid”</a:t>
            </a:r>
            <a:endParaRPr/>
          </a:p>
          <a:p>
            <a:pPr indent="-317500" lvl="1" marL="914400" rtl="0" algn="l">
              <a:spcBef>
                <a:spcPts val="0"/>
              </a:spcBef>
              <a:spcAft>
                <a:spcPts val="0"/>
              </a:spcAft>
              <a:buSzPts val="1400"/>
              <a:buChar char="○"/>
            </a:pPr>
            <a:r>
              <a:rPr lang="en"/>
              <a:t>Marsden’s (1987) </a:t>
            </a:r>
            <a:r>
              <a:rPr i="1" lang="en"/>
              <a:t>General Social Survey</a:t>
            </a:r>
            <a:r>
              <a:rPr lang="en"/>
              <a:t>:</a:t>
            </a:r>
            <a:endParaRPr/>
          </a:p>
          <a:p>
            <a:pPr indent="-317500" lvl="2" marL="1371600" rtl="0" algn="l">
              <a:spcBef>
                <a:spcPts val="0"/>
              </a:spcBef>
              <a:spcAft>
                <a:spcPts val="0"/>
              </a:spcAft>
              <a:buSzPts val="1400"/>
              <a:buChar char="■"/>
            </a:pPr>
            <a:r>
              <a:rPr lang="en"/>
              <a:t>“Named all persons with whom you have discussed matters important to you”</a:t>
            </a:r>
            <a:endParaRPr/>
          </a:p>
          <a:p>
            <a:pPr indent="0" lvl="0" marL="45720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11" name="Google Shape;111;p2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Role-Relation Approach</a:t>
            </a:r>
            <a:endParaRPr/>
          </a:p>
          <a:p>
            <a:pPr indent="-317500" lvl="1" marL="914400" rtl="0" algn="l">
              <a:spcBef>
                <a:spcPts val="0"/>
              </a:spcBef>
              <a:spcAft>
                <a:spcPts val="0"/>
              </a:spcAft>
              <a:buSzPts val="1400"/>
              <a:buChar char="○"/>
            </a:pPr>
            <a:r>
              <a:rPr lang="en"/>
              <a:t>Problem: low reliability, cultural specificity issues, cross-respondent heterogeneity in label interpretation (what is a “friend”?)</a:t>
            </a:r>
            <a:endParaRPr/>
          </a:p>
          <a:p>
            <a:pPr indent="-342900" lvl="0" marL="457200" rtl="0" algn="l">
              <a:spcBef>
                <a:spcPts val="0"/>
              </a:spcBef>
              <a:spcAft>
                <a:spcPts val="0"/>
              </a:spcAft>
              <a:buSzPts val="1800"/>
              <a:buChar char="●"/>
            </a:pPr>
            <a:r>
              <a:rPr lang="en"/>
              <a:t>Interaction Approach</a:t>
            </a:r>
            <a:endParaRPr/>
          </a:p>
          <a:p>
            <a:pPr indent="-317500" lvl="1" marL="914400" rtl="0" algn="l">
              <a:spcBef>
                <a:spcPts val="0"/>
              </a:spcBef>
              <a:spcAft>
                <a:spcPts val="0"/>
              </a:spcAft>
              <a:buSzPts val="1400"/>
              <a:buChar char="○"/>
            </a:pPr>
            <a:r>
              <a:rPr lang="en"/>
              <a:t>Less validity issues than role-relations, but frequency does not equal importance/closeness (needs to be combined with other approaches)</a:t>
            </a:r>
            <a:endParaRPr/>
          </a:p>
          <a:p>
            <a:pPr indent="-342900" lvl="0" marL="457200" rtl="0" algn="l">
              <a:spcBef>
                <a:spcPts val="0"/>
              </a:spcBef>
              <a:spcAft>
                <a:spcPts val="0"/>
              </a:spcAft>
              <a:buSzPts val="1800"/>
              <a:buChar char="●"/>
            </a:pPr>
            <a:r>
              <a:rPr lang="en"/>
              <a:t>Affective Approach</a:t>
            </a:r>
            <a:endParaRPr/>
          </a:p>
          <a:p>
            <a:pPr indent="-317500" lvl="1" marL="914400" rtl="0" algn="l">
              <a:spcBef>
                <a:spcPts val="0"/>
              </a:spcBef>
              <a:spcAft>
                <a:spcPts val="0"/>
              </a:spcAft>
              <a:buSzPts val="1400"/>
              <a:buChar char="○"/>
            </a:pPr>
            <a:r>
              <a:rPr lang="en"/>
              <a:t>Same reliability issues as role-relation items but useful for eliciting strong or subjectively significant ties; elicits smaller networks</a:t>
            </a:r>
            <a:endParaRPr/>
          </a:p>
          <a:p>
            <a:pPr indent="-342900" lvl="0" marL="457200" rtl="0" algn="l">
              <a:spcBef>
                <a:spcPts val="0"/>
              </a:spcBef>
              <a:spcAft>
                <a:spcPts val="0"/>
              </a:spcAft>
              <a:buSzPts val="1800"/>
              <a:buChar char="●"/>
            </a:pPr>
            <a:r>
              <a:rPr lang="en"/>
              <a:t>Exchange Approach</a:t>
            </a:r>
            <a:endParaRPr/>
          </a:p>
          <a:p>
            <a:pPr indent="-317500" lvl="1" marL="914400" rtl="0" algn="l">
              <a:spcBef>
                <a:spcPts val="0"/>
              </a:spcBef>
              <a:spcAft>
                <a:spcPts val="0"/>
              </a:spcAft>
              <a:buSzPts val="1400"/>
              <a:buChar char="○"/>
            </a:pPr>
            <a:r>
              <a:rPr lang="en"/>
              <a:t>Less reliability problems, useful for social capital studies, but not appropriate for all purposes; can capture weak ties and larger number of alters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17" name="Google Shape;117;p21"/>
          <p:cNvSpPr txBox="1"/>
          <p:nvPr>
            <p:ph idx="1" type="body"/>
          </p:nvPr>
        </p:nvSpPr>
        <p:spPr>
          <a:xfrm>
            <a:off x="311700" y="1225225"/>
            <a:ext cx="38649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What’s the best approach?</a:t>
            </a:r>
            <a:endParaRPr/>
          </a:p>
          <a:p>
            <a:pPr indent="-317500" lvl="1" marL="914400" rtl="0" algn="l">
              <a:spcBef>
                <a:spcPts val="0"/>
              </a:spcBef>
              <a:spcAft>
                <a:spcPts val="0"/>
              </a:spcAft>
              <a:buSzPts val="1400"/>
              <a:buChar char="○"/>
            </a:pPr>
            <a:r>
              <a:rPr lang="en"/>
              <a:t>Kitts (2014) recommends a “most-neutral” criterion (e.g. interaction frequency) for eliciting names</a:t>
            </a:r>
            <a:endParaRPr/>
          </a:p>
          <a:p>
            <a:pPr indent="-317500" lvl="2" marL="1371600" rtl="0" algn="l">
              <a:spcBef>
                <a:spcPts val="0"/>
              </a:spcBef>
              <a:spcAft>
                <a:spcPts val="0"/>
              </a:spcAft>
              <a:buSzPts val="1400"/>
              <a:buChar char="■"/>
            </a:pPr>
            <a:r>
              <a:rPr lang="en"/>
              <a:t>Then use name interpreters to get at roles, exchanges, sentiments and so on</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i="1" lang="en"/>
              <a:t>NetSense Study</a:t>
            </a:r>
            <a:endParaRPr i="1"/>
          </a:p>
          <a:p>
            <a:pPr indent="-317500" lvl="1" marL="914400" rtl="0" algn="l">
              <a:spcBef>
                <a:spcPts val="0"/>
              </a:spcBef>
              <a:spcAft>
                <a:spcPts val="0"/>
              </a:spcAft>
              <a:buSzPts val="1400"/>
              <a:buChar char="○"/>
            </a:pPr>
            <a:r>
              <a:rPr i="1" lang="en"/>
              <a:t>NetHealth Study</a:t>
            </a:r>
            <a:endParaRPr i="1"/>
          </a:p>
        </p:txBody>
      </p:sp>
      <p:pic>
        <p:nvPicPr>
          <p:cNvPr id="118" name="Google Shape;118;p21"/>
          <p:cNvPicPr preferRelativeResize="0"/>
          <p:nvPr/>
        </p:nvPicPr>
        <p:blipFill>
          <a:blip r:embed="rId3">
            <a:alphaModFix/>
          </a:blip>
          <a:stretch>
            <a:fillRect/>
          </a:stretch>
        </p:blipFill>
        <p:spPr>
          <a:xfrm>
            <a:off x="4576800" y="1147225"/>
            <a:ext cx="4255509" cy="3691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24" name="Google Shape;124;p22"/>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b="1" lang="en"/>
              <a:t>Relationship to the organization</a:t>
            </a:r>
            <a:endParaRPr b="1"/>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25" name="Google Shape;125;p22"/>
          <p:cNvPicPr preferRelativeResize="0"/>
          <p:nvPr/>
        </p:nvPicPr>
        <p:blipFill>
          <a:blip r:embed="rId3">
            <a:alphaModFix/>
          </a:blip>
          <a:stretch>
            <a:fillRect/>
          </a:stretch>
        </p:blipFill>
        <p:spPr>
          <a:xfrm>
            <a:off x="4950000" y="1182588"/>
            <a:ext cx="3889199" cy="34392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1" name="Google Shape;131;p23"/>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b="1" lang="en"/>
              <a:t>Sex/</a:t>
            </a:r>
            <a:r>
              <a:rPr b="1" lang="en"/>
              <a:t>Gender</a:t>
            </a:r>
            <a:endParaRPr b="1"/>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2" name="Google Shape;132;p23"/>
          <p:cNvPicPr preferRelativeResize="0"/>
          <p:nvPr/>
        </p:nvPicPr>
        <p:blipFill>
          <a:blip r:embed="rId3">
            <a:alphaModFix/>
          </a:blip>
          <a:stretch>
            <a:fillRect/>
          </a:stretch>
        </p:blipFill>
        <p:spPr>
          <a:xfrm>
            <a:off x="5102400" y="1299625"/>
            <a:ext cx="3889200" cy="334341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8" name="Google Shape;138;p24"/>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b="1" lang="en"/>
              <a:t>Race</a:t>
            </a:r>
            <a:endParaRPr b="1"/>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9" name="Google Shape;139;p24"/>
          <p:cNvPicPr preferRelativeResize="0"/>
          <p:nvPr/>
        </p:nvPicPr>
        <p:blipFill>
          <a:blip r:embed="rId3">
            <a:alphaModFix/>
          </a:blip>
          <a:stretch>
            <a:fillRect/>
          </a:stretch>
        </p:blipFill>
        <p:spPr>
          <a:xfrm>
            <a:off x="5102400" y="1299625"/>
            <a:ext cx="3889202" cy="331816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45" name="Google Shape;145;p25"/>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b="1" lang="en"/>
              <a:t>Religion</a:t>
            </a:r>
            <a:endParaRPr b="1"/>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46" name="Google Shape;146;p25"/>
          <p:cNvPicPr preferRelativeResize="0"/>
          <p:nvPr/>
        </p:nvPicPr>
        <p:blipFill>
          <a:blip r:embed="rId3">
            <a:alphaModFix/>
          </a:blip>
          <a:stretch>
            <a:fillRect/>
          </a:stretch>
        </p:blipFill>
        <p:spPr>
          <a:xfrm>
            <a:off x="5102400" y="1299625"/>
            <a:ext cx="3889200" cy="29533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2" name="Google Shape;152;p26"/>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Loving, exciting, significant,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53" name="Google Shape;153;p26"/>
          <p:cNvPicPr preferRelativeResize="0"/>
          <p:nvPr/>
        </p:nvPicPr>
        <p:blipFill>
          <a:blip r:embed="rId3">
            <a:alphaModFix/>
          </a:blip>
          <a:stretch>
            <a:fillRect/>
          </a:stretch>
        </p:blipFill>
        <p:spPr>
          <a:xfrm>
            <a:off x="4950000" y="1165975"/>
            <a:ext cx="3889199" cy="3472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9" name="Google Shape;159;p27"/>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60" name="Google Shape;160;p27"/>
          <p:cNvPicPr preferRelativeResize="0"/>
          <p:nvPr/>
        </p:nvPicPr>
        <p:blipFill>
          <a:blip r:embed="rId3">
            <a:alphaModFix/>
          </a:blip>
          <a:stretch>
            <a:fillRect/>
          </a:stretch>
        </p:blipFill>
        <p:spPr>
          <a:xfrm>
            <a:off x="5102400" y="1299625"/>
            <a:ext cx="3889199" cy="305233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66" name="Google Shape;166;p28"/>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67" name="Google Shape;167;p28"/>
          <p:cNvPicPr preferRelativeResize="0"/>
          <p:nvPr/>
        </p:nvPicPr>
        <p:blipFill>
          <a:blip r:embed="rId3">
            <a:alphaModFix/>
          </a:blip>
          <a:stretch>
            <a:fillRect/>
          </a:stretch>
        </p:blipFill>
        <p:spPr>
          <a:xfrm>
            <a:off x="4950000" y="1056488"/>
            <a:ext cx="3709660" cy="3691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73" name="Google Shape;173;p29"/>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Relationship age or duration</a:t>
            </a:r>
            <a:endParaRPr b="1"/>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74" name="Google Shape;174;p29"/>
          <p:cNvPicPr preferRelativeResize="0"/>
          <p:nvPr/>
        </p:nvPicPr>
        <p:blipFill>
          <a:blip r:embed="rId3">
            <a:alphaModFix/>
          </a:blip>
          <a:stretch>
            <a:fillRect/>
          </a:stretch>
        </p:blipFill>
        <p:spPr>
          <a:xfrm>
            <a:off x="5073600" y="1299625"/>
            <a:ext cx="3918001" cy="303453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80" name="Google Shape;180;p30"/>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b="1" lang="en"/>
              <a:t>Subjective similarity</a:t>
            </a:r>
            <a:endParaRPr b="1"/>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81" name="Google Shape;181;p30"/>
          <p:cNvPicPr preferRelativeResize="0"/>
          <p:nvPr/>
        </p:nvPicPr>
        <p:blipFill>
          <a:blip r:embed="rId3">
            <a:alphaModFix/>
          </a:blip>
          <a:stretch>
            <a:fillRect/>
          </a:stretch>
        </p:blipFill>
        <p:spPr>
          <a:xfrm>
            <a:off x="4921200" y="1525163"/>
            <a:ext cx="3918001" cy="20931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87" name="Google Shape;187;p31"/>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b="1" lang="en"/>
              <a:t>Similarities/Matching in Activities</a:t>
            </a:r>
            <a:endParaRPr b="1"/>
          </a:p>
          <a:p>
            <a:pPr indent="-317500" lvl="2" marL="1371600" rtl="0" algn="l">
              <a:spcBef>
                <a:spcPts val="0"/>
              </a:spcBef>
              <a:spcAft>
                <a:spcPts val="0"/>
              </a:spcAft>
              <a:buSzPts val="1400"/>
              <a:buChar char="■"/>
            </a:pPr>
            <a:r>
              <a:rPr lang="en"/>
              <a:t>Does alter like to do similar things to what ego likes to do?</a:t>
            </a:r>
            <a:endParaRPr/>
          </a:p>
          <a:p>
            <a:pPr indent="0" lvl="0" marL="457200" marR="0" rtl="0" algn="l">
              <a:lnSpc>
                <a:spcPct val="115000"/>
              </a:lnSpc>
              <a:spcBef>
                <a:spcPts val="1600"/>
              </a:spcBef>
              <a:spcAft>
                <a:spcPts val="1600"/>
              </a:spcAft>
              <a:buNone/>
            </a:pPr>
            <a:r>
              <a:t/>
            </a:r>
            <a:endParaRPr/>
          </a:p>
        </p:txBody>
      </p:sp>
      <p:pic>
        <p:nvPicPr>
          <p:cNvPr id="188" name="Google Shape;188;p31"/>
          <p:cNvPicPr preferRelativeResize="0"/>
          <p:nvPr/>
        </p:nvPicPr>
        <p:blipFill>
          <a:blip r:embed="rId3">
            <a:alphaModFix/>
          </a:blip>
          <a:stretch>
            <a:fillRect/>
          </a:stretch>
        </p:blipFill>
        <p:spPr>
          <a:xfrm>
            <a:off x="5073600" y="1299625"/>
            <a:ext cx="3918000" cy="303284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NetHealth Ego Network Data</a:t>
            </a:r>
            <a:endParaRPr/>
          </a:p>
        </p:txBody>
      </p:sp>
      <p:sp>
        <p:nvSpPr>
          <p:cNvPr id="194" name="Google Shape;194;p3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L</a:t>
            </a:r>
            <a:r>
              <a:rPr lang="en"/>
              <a:t>ong file</a:t>
            </a:r>
            <a:r>
              <a:rPr lang="en"/>
              <a:t> -- </a:t>
            </a:r>
            <a:r>
              <a:rPr i="1" lang="en"/>
              <a:t>NetHealthNetworkSurveyDataFlat</a:t>
            </a:r>
            <a:endParaRPr i="1"/>
          </a:p>
          <a:p>
            <a:pPr indent="-317500" lvl="1" marL="914400" rtl="0" algn="l">
              <a:spcBef>
                <a:spcPts val="0"/>
              </a:spcBef>
              <a:spcAft>
                <a:spcPts val="0"/>
              </a:spcAft>
              <a:buSzPts val="1400"/>
              <a:buChar char="○"/>
            </a:pPr>
            <a:r>
              <a:rPr lang="en"/>
              <a:t>records are {egoid, alterid, wave} </a:t>
            </a:r>
            <a:endParaRPr/>
          </a:p>
          <a:p>
            <a:pPr indent="-317500" lvl="1" marL="914400" rtl="0" algn="l">
              <a:spcBef>
                <a:spcPts val="0"/>
              </a:spcBef>
              <a:spcAft>
                <a:spcPts val="0"/>
              </a:spcAft>
              <a:buSzPts val="1400"/>
              <a:buChar char="○"/>
            </a:pPr>
            <a:r>
              <a:rPr lang="en"/>
              <a:t>Egoid is person who completed the survey</a:t>
            </a:r>
            <a:endParaRPr/>
          </a:p>
          <a:p>
            <a:pPr indent="-317500" lvl="1" marL="914400" rtl="0" algn="l">
              <a:spcBef>
                <a:spcPts val="0"/>
              </a:spcBef>
              <a:spcAft>
                <a:spcPts val="0"/>
              </a:spcAft>
              <a:buSzPts val="1400"/>
              <a:buChar char="○"/>
            </a:pPr>
            <a:r>
              <a:rPr lang="en"/>
              <a:t>8 waves</a:t>
            </a:r>
            <a:endParaRPr/>
          </a:p>
          <a:p>
            <a:pPr indent="-342900" lvl="0" marL="457200" rtl="0" algn="l">
              <a:spcBef>
                <a:spcPts val="0"/>
              </a:spcBef>
              <a:spcAft>
                <a:spcPts val="0"/>
              </a:spcAft>
              <a:buSzPts val="1800"/>
              <a:buChar char="●"/>
            </a:pPr>
            <a:r>
              <a:rPr lang="en"/>
              <a:t>Name generator -- interaction</a:t>
            </a:r>
            <a:endParaRPr/>
          </a:p>
          <a:p>
            <a:pPr indent="-317500" lvl="1" marL="914400" rtl="0" algn="l">
              <a:spcBef>
                <a:spcPts val="0"/>
              </a:spcBef>
              <a:spcAft>
                <a:spcPts val="0"/>
              </a:spcAft>
              <a:buSzPts val="1400"/>
              <a:buChar char="○"/>
            </a:pPr>
            <a:r>
              <a:rPr lang="en"/>
              <a:t>Up to 20</a:t>
            </a:r>
            <a:endParaRPr/>
          </a:p>
          <a:p>
            <a:pPr indent="-317500" lvl="1" marL="914400" rtl="0" algn="l">
              <a:spcBef>
                <a:spcPts val="0"/>
              </a:spcBef>
              <a:spcAft>
                <a:spcPts val="0"/>
              </a:spcAft>
              <a:buSzPts val="1400"/>
              <a:buChar char="○"/>
            </a:pPr>
            <a:r>
              <a:rPr lang="en"/>
              <a:t>Wave 3 began feeding back Wave N-1 names after subject lists people</a:t>
            </a:r>
            <a:endParaRPr/>
          </a:p>
          <a:p>
            <a:pPr indent="-317500" lvl="1" marL="914400" rtl="0" algn="l">
              <a:spcBef>
                <a:spcPts val="0"/>
              </a:spcBef>
              <a:spcAft>
                <a:spcPts val="0"/>
              </a:spcAft>
              <a:buSzPts val="1400"/>
              <a:buChar char="○"/>
            </a:pPr>
            <a:r>
              <a:rPr lang="en"/>
              <a:t>Asks for phone number and email for matching purposes</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NetHealth Ego Network Data</a:t>
            </a:r>
            <a:endParaRPr/>
          </a:p>
        </p:txBody>
      </p:sp>
      <p:sp>
        <p:nvSpPr>
          <p:cNvPr id="200" name="Google Shape;200;p3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Alter traits measured (via name </a:t>
            </a:r>
            <a:r>
              <a:rPr lang="en"/>
              <a:t>interpreters</a:t>
            </a:r>
            <a:r>
              <a:rPr lang="en"/>
              <a:t>) </a:t>
            </a:r>
            <a:endParaRPr/>
          </a:p>
          <a:p>
            <a:pPr indent="-317500" lvl="1" marL="914400" rtl="0" algn="l">
              <a:spcBef>
                <a:spcPts val="0"/>
              </a:spcBef>
              <a:spcAft>
                <a:spcPts val="0"/>
              </a:spcAft>
              <a:buSzPts val="1400"/>
              <a:buChar char="○"/>
            </a:pPr>
            <a:r>
              <a:rPr lang="en"/>
              <a:t>Demographic: Sex, race, age, education, religion</a:t>
            </a:r>
            <a:endParaRPr/>
          </a:p>
          <a:p>
            <a:pPr indent="-317500" lvl="1" marL="914400" rtl="0" algn="l">
              <a:spcBef>
                <a:spcPts val="0"/>
              </a:spcBef>
              <a:spcAft>
                <a:spcPts val="0"/>
              </a:spcAft>
              <a:buSzPts val="1400"/>
              <a:buChar char="○"/>
            </a:pPr>
            <a:r>
              <a:rPr lang="en"/>
              <a:t>Other traits: Health, happiness, activity, sleep, relation to ND, </a:t>
            </a:r>
            <a:endParaRPr/>
          </a:p>
          <a:p>
            <a:pPr indent="-317500" lvl="1" marL="914400" rtl="0" algn="l">
              <a:spcBef>
                <a:spcPts val="0"/>
              </a:spcBef>
              <a:spcAft>
                <a:spcPts val="0"/>
              </a:spcAft>
              <a:buSzPts val="1400"/>
              <a:buChar char="○"/>
            </a:pPr>
            <a:r>
              <a:rPr lang="en"/>
              <a:t>Relational traits:  same dorm, roomate, duration, relation types (family, friend, etc.), frequency</a:t>
            </a:r>
            <a:endParaRPr/>
          </a:p>
          <a:p>
            <a:pPr indent="-317500" lvl="1" marL="914400" rtl="0" algn="l">
              <a:spcBef>
                <a:spcPts val="0"/>
              </a:spcBef>
              <a:spcAft>
                <a:spcPts val="0"/>
              </a:spcAft>
              <a:buSzPts val="1400"/>
              <a:buChar char="○"/>
            </a:pPr>
            <a:r>
              <a:rPr lang="en"/>
              <a:t>Affinity:  closeness, (listing) position, trust</a:t>
            </a:r>
            <a:endParaRPr/>
          </a:p>
          <a:p>
            <a:pPr indent="-317500" lvl="1" marL="914400" rtl="0" algn="l">
              <a:spcBef>
                <a:spcPts val="0"/>
              </a:spcBef>
              <a:spcAft>
                <a:spcPts val="0"/>
              </a:spcAft>
              <a:buSzPts val="1400"/>
              <a:buChar char="○"/>
            </a:pPr>
            <a:r>
              <a:rPr lang="en"/>
              <a:t>Support: financial, comfort, social, advice</a:t>
            </a:r>
            <a:endParaRPr/>
          </a:p>
          <a:p>
            <a:pPr indent="-317500" lvl="1" marL="914400" rtl="0" algn="l">
              <a:spcBef>
                <a:spcPts val="0"/>
              </a:spcBef>
              <a:spcAft>
                <a:spcPts val="0"/>
              </a:spcAft>
              <a:buSzPts val="1400"/>
              <a:buChar char="○"/>
            </a:pPr>
            <a:r>
              <a:rPr lang="en"/>
              <a:t>Homophily</a:t>
            </a:r>
            <a:r>
              <a:rPr lang="en"/>
              <a:t>:  subject measure/rating, similarity on 5 activities</a:t>
            </a:r>
            <a:endParaRPr/>
          </a:p>
          <a:p>
            <a:pPr indent="-342900" lvl="0" marL="457200" rtl="0" algn="l">
              <a:spcBef>
                <a:spcPts val="0"/>
              </a:spcBef>
              <a:spcAft>
                <a:spcPts val="0"/>
              </a:spcAft>
              <a:buSzPts val="1800"/>
              <a:buChar char="●"/>
            </a:pPr>
            <a:r>
              <a:rPr lang="en"/>
              <a:t>Connections among alters - clustering</a:t>
            </a:r>
            <a:endParaRPr/>
          </a:p>
          <a:p>
            <a:pPr indent="-317500" lvl="1" marL="914400" rtl="0" algn="l">
              <a:spcBef>
                <a:spcPts val="0"/>
              </a:spcBef>
              <a:spcAft>
                <a:spcPts val="0"/>
              </a:spcAft>
              <a:buSzPts val="1400"/>
              <a:buChar char="○"/>
            </a:pPr>
            <a:r>
              <a:rPr lang="en"/>
              <a:t> Another edge list:  {alterid1, alterid2, egoid, wave} ;  egoid is individual who reports existence alterid1-alterid2 tie at wave N.  </a:t>
            </a:r>
            <a:endParaRPr/>
          </a:p>
          <a:p>
            <a:pPr indent="-317500" lvl="1" marL="914400" rtl="0" algn="l">
              <a:spcBef>
                <a:spcPts val="0"/>
              </a:spcBef>
              <a:spcAft>
                <a:spcPts val="0"/>
              </a:spcAft>
              <a:buSzPts val="1400"/>
              <a:buChar char="○"/>
            </a:pPr>
            <a:r>
              <a:rPr lang="en"/>
              <a:t>1.5 ego network</a:t>
            </a:r>
            <a:endParaRPr/>
          </a:p>
          <a:p>
            <a:pPr indent="-304800" lvl="2" marL="1371600" rtl="0" algn="l">
              <a:spcBef>
                <a:spcPts val="0"/>
              </a:spcBef>
              <a:spcAft>
                <a:spcPts val="0"/>
              </a:spcAft>
              <a:buSzPts val="1200"/>
              <a:buChar char="■"/>
            </a:pPr>
            <a:r>
              <a:rPr lang="en" sz="1200"/>
              <a:t>note - not all of each alters alters. Only alters who are either ego, or one of ego’s alters</a:t>
            </a:r>
            <a:endParaRPr sz="1200"/>
          </a:p>
          <a:p>
            <a:pPr indent="0" lvl="0" marL="45720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NetHealth Data - Research</a:t>
            </a:r>
            <a:endParaRPr/>
          </a:p>
        </p:txBody>
      </p:sp>
      <p:sp>
        <p:nvSpPr>
          <p:cNvPr id="206" name="Google Shape;206;p3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Expands number of alters we have information on:</a:t>
            </a:r>
            <a:endParaRPr/>
          </a:p>
          <a:p>
            <a:pPr indent="-317500" lvl="1" marL="914400" rtl="0" algn="l">
              <a:spcBef>
                <a:spcPts val="0"/>
              </a:spcBef>
              <a:spcAft>
                <a:spcPts val="0"/>
              </a:spcAft>
              <a:buSzPts val="1400"/>
              <a:buChar char="○"/>
            </a:pPr>
            <a:r>
              <a:rPr lang="en"/>
              <a:t>In-study</a:t>
            </a:r>
            <a:endParaRPr/>
          </a:p>
          <a:p>
            <a:pPr indent="-317500" lvl="1" marL="914400" rtl="0" algn="l">
              <a:spcBef>
                <a:spcPts val="0"/>
              </a:spcBef>
              <a:spcAft>
                <a:spcPts val="0"/>
              </a:spcAft>
              <a:buSzPts val="1400"/>
              <a:buChar char="○"/>
            </a:pPr>
            <a:r>
              <a:rPr lang="en"/>
              <a:t>Named Alters</a:t>
            </a:r>
            <a:endParaRPr/>
          </a:p>
          <a:p>
            <a:pPr indent="-342900" lvl="0" marL="457200" rtl="0" algn="l">
              <a:spcBef>
                <a:spcPts val="0"/>
              </a:spcBef>
              <a:spcAft>
                <a:spcPts val="0"/>
              </a:spcAft>
              <a:buSzPts val="1800"/>
              <a:buChar char="●"/>
            </a:pPr>
            <a:r>
              <a:rPr lang="en"/>
              <a:t>Network size for various types of relations:  family, preND, post-ND friends</a:t>
            </a:r>
            <a:endParaRPr/>
          </a:p>
          <a:p>
            <a:pPr indent="-342900" lvl="0" marL="457200" rtl="0" algn="l">
              <a:spcBef>
                <a:spcPts val="0"/>
              </a:spcBef>
              <a:spcAft>
                <a:spcPts val="0"/>
              </a:spcAft>
              <a:buSzPts val="1800"/>
              <a:buChar char="●"/>
            </a:pPr>
            <a:r>
              <a:rPr lang="en"/>
              <a:t>Compare measures of tie strength</a:t>
            </a:r>
            <a:endParaRPr/>
          </a:p>
          <a:p>
            <a:pPr indent="-342900" lvl="0" marL="457200" rtl="0" algn="l">
              <a:spcBef>
                <a:spcPts val="0"/>
              </a:spcBef>
              <a:spcAft>
                <a:spcPts val="0"/>
              </a:spcAft>
              <a:buSzPts val="1800"/>
              <a:buChar char="●"/>
            </a:pPr>
            <a:r>
              <a:rPr lang="en"/>
              <a:t>Correspondence between “perceived” network and “actual” network.</a:t>
            </a:r>
            <a:endParaRPr/>
          </a:p>
          <a:p>
            <a:pPr indent="-342900" lvl="0" marL="457200" rtl="0" algn="l">
              <a:spcBef>
                <a:spcPts val="0"/>
              </a:spcBef>
              <a:spcAft>
                <a:spcPts val="0"/>
              </a:spcAft>
              <a:buSzPts val="1800"/>
              <a:buChar char="●"/>
            </a:pPr>
            <a:r>
              <a:rPr lang="en"/>
              <a:t>Variation over time and between persons in ego network traits.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 metrics</a:t>
            </a:r>
            <a:endParaRPr/>
          </a:p>
        </p:txBody>
      </p:sp>
      <p:sp>
        <p:nvSpPr>
          <p:cNvPr id="212" name="Google Shape;212;p35"/>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Number of elicited contacts</a:t>
            </a:r>
            <a:r>
              <a:rPr lang="en"/>
              <a:t> 	</a:t>
            </a:r>
            <a:endParaRPr/>
          </a:p>
          <a:p>
            <a:pPr indent="-317500" lvl="1" marL="914400" rtl="0" algn="l">
              <a:spcBef>
                <a:spcPts val="0"/>
              </a:spcBef>
              <a:spcAft>
                <a:spcPts val="0"/>
              </a:spcAft>
              <a:buSzPts val="1400"/>
              <a:buChar char="○"/>
            </a:pPr>
            <a:r>
              <a:rPr lang="en"/>
              <a:t>Ego-Network Degree</a:t>
            </a:r>
            <a:endParaRPr/>
          </a:p>
          <a:p>
            <a:pPr indent="-342900" lvl="0" marL="457200" rtl="0" algn="l">
              <a:spcBef>
                <a:spcPts val="0"/>
              </a:spcBef>
              <a:spcAft>
                <a:spcPts val="0"/>
              </a:spcAft>
              <a:buSzPts val="1800"/>
              <a:buChar char="●"/>
            </a:pPr>
            <a:r>
              <a:rPr lang="en"/>
              <a:t>Contact diversity </a:t>
            </a:r>
            <a:endParaRPr/>
          </a:p>
          <a:p>
            <a:pPr indent="-317500" lvl="1" marL="914400" rtl="0" algn="l">
              <a:spcBef>
                <a:spcPts val="0"/>
              </a:spcBef>
              <a:spcAft>
                <a:spcPts val="0"/>
              </a:spcAft>
              <a:buSzPts val="1400"/>
              <a:buChar char="○"/>
            </a:pPr>
            <a:r>
              <a:rPr lang="en"/>
              <a:t>e.g. Std dev/entropy of alter age, race, etc.</a:t>
            </a:r>
            <a:endParaRPr/>
          </a:p>
          <a:p>
            <a:pPr indent="-317500" lvl="0" marL="457200" marR="0" rtl="0" algn="l">
              <a:lnSpc>
                <a:spcPct val="115000"/>
              </a:lnSpc>
              <a:spcBef>
                <a:spcPts val="0"/>
              </a:spcBef>
              <a:spcAft>
                <a:spcPts val="0"/>
              </a:spcAft>
              <a:buClr>
                <a:schemeClr val="dk1"/>
              </a:buClr>
              <a:buSzPts val="1400"/>
              <a:buFont typeface="Open Sans"/>
              <a:buChar char="●"/>
            </a:pPr>
            <a:r>
              <a:rPr lang="en"/>
              <a:t>Role relation composition </a:t>
            </a:r>
            <a:endParaRPr/>
          </a:p>
          <a:p>
            <a:pPr indent="-317500" lvl="1" marL="914400" rtl="0" algn="l">
              <a:spcBef>
                <a:spcPts val="0"/>
              </a:spcBef>
              <a:spcAft>
                <a:spcPts val="0"/>
              </a:spcAft>
              <a:buSzPts val="1400"/>
              <a:buChar char="○"/>
            </a:pPr>
            <a:r>
              <a:rPr lang="en"/>
              <a:t>e.g. Prop. Kin</a:t>
            </a:r>
            <a:endParaRPr/>
          </a:p>
          <a:p>
            <a:pPr indent="-342900" lvl="0" marL="457200" rtl="0" algn="l">
              <a:spcBef>
                <a:spcPts val="0"/>
              </a:spcBef>
              <a:spcAft>
                <a:spcPts val="0"/>
              </a:spcAft>
              <a:buSzPts val="1800"/>
              <a:buChar char="●"/>
            </a:pPr>
            <a:r>
              <a:rPr lang="en"/>
              <a:t>Homophily  </a:t>
            </a:r>
            <a:endParaRPr/>
          </a:p>
          <a:p>
            <a:pPr indent="-317500" lvl="1" marL="914400" rtl="0" algn="l">
              <a:spcBef>
                <a:spcPts val="0"/>
              </a:spcBef>
              <a:spcAft>
                <a:spcPts val="0"/>
              </a:spcAft>
              <a:buSzPts val="1400"/>
              <a:buChar char="○"/>
            </a:pPr>
            <a:r>
              <a:rPr lang="en"/>
              <a:t>E.g. prop. Same Gender</a:t>
            </a:r>
            <a:endParaRPr/>
          </a:p>
          <a:p>
            <a:pPr indent="-342900" lvl="0" marL="457200" rtl="0" algn="l">
              <a:spcBef>
                <a:spcPts val="0"/>
              </a:spcBef>
              <a:spcAft>
                <a:spcPts val="0"/>
              </a:spcAft>
              <a:buSzPts val="1800"/>
              <a:buChar char="●"/>
            </a:pPr>
            <a:r>
              <a:rPr lang="en"/>
              <a:t>Clustering  </a:t>
            </a:r>
            <a:endParaRPr/>
          </a:p>
          <a:p>
            <a:pPr indent="-317500" lvl="1" marL="914400" rtl="0" algn="l">
              <a:spcBef>
                <a:spcPts val="0"/>
              </a:spcBef>
              <a:spcAft>
                <a:spcPts val="0"/>
              </a:spcAft>
              <a:buSzPts val="1400"/>
              <a:buChar char="○"/>
            </a:pPr>
            <a:r>
              <a:rPr lang="en"/>
              <a:t>Alter subgraph density</a:t>
            </a:r>
            <a:endParaRPr/>
          </a:p>
          <a:p>
            <a:pPr indent="-342900" lvl="0" marL="457200" rtl="0" algn="l">
              <a:spcBef>
                <a:spcPts val="0"/>
              </a:spcBef>
              <a:spcAft>
                <a:spcPts val="0"/>
              </a:spcAft>
              <a:buSzPts val="1800"/>
              <a:buChar char="●"/>
            </a:pPr>
            <a:r>
              <a:rPr lang="en"/>
              <a:t>Tie strength</a:t>
            </a:r>
            <a:endParaRPr/>
          </a:p>
          <a:p>
            <a:pPr indent="-317500" lvl="1" marL="914400" rtl="0" algn="l">
              <a:spcBef>
                <a:spcPts val="0"/>
              </a:spcBef>
              <a:spcAft>
                <a:spcPts val="0"/>
              </a:spcAft>
              <a:buSzPts val="1400"/>
              <a:buChar char="○"/>
            </a:pPr>
            <a:r>
              <a:rPr lang="en"/>
              <a:t>e.g. average tie strength</a:t>
            </a:r>
            <a:endParaRPr/>
          </a:p>
        </p:txBody>
      </p:sp>
      <p:pic>
        <p:nvPicPr>
          <p:cNvPr id="213" name="Google Shape;213;p35"/>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 types</a:t>
            </a:r>
            <a:endParaRPr/>
          </a:p>
        </p:txBody>
      </p:sp>
      <p:sp>
        <p:nvSpPr>
          <p:cNvPr id="219" name="Google Shape;219;p36"/>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Number of elicited contacts 	</a:t>
            </a:r>
            <a:endParaRPr/>
          </a:p>
          <a:p>
            <a:pPr indent="-317500" lvl="1" marL="914400" rtl="0" algn="l">
              <a:spcBef>
                <a:spcPts val="0"/>
              </a:spcBef>
              <a:spcAft>
                <a:spcPts val="0"/>
              </a:spcAft>
              <a:buSzPts val="1400"/>
              <a:buChar char="○"/>
            </a:pPr>
            <a:r>
              <a:rPr lang="en"/>
              <a:t>Large vs. small</a:t>
            </a:r>
            <a:endParaRPr/>
          </a:p>
          <a:p>
            <a:pPr indent="-342900" lvl="0" marL="457200" rtl="0" algn="l">
              <a:spcBef>
                <a:spcPts val="0"/>
              </a:spcBef>
              <a:spcAft>
                <a:spcPts val="0"/>
              </a:spcAft>
              <a:buSzPts val="1800"/>
              <a:buChar char="●"/>
            </a:pPr>
            <a:r>
              <a:rPr lang="en"/>
              <a:t>Contact diversity </a:t>
            </a:r>
            <a:endParaRPr/>
          </a:p>
          <a:p>
            <a:pPr indent="-317500" lvl="1" marL="914400" rtl="0" algn="l">
              <a:spcBef>
                <a:spcPts val="0"/>
              </a:spcBef>
              <a:spcAft>
                <a:spcPts val="0"/>
              </a:spcAft>
              <a:buSzPts val="1400"/>
              <a:buChar char="○"/>
            </a:pPr>
            <a:r>
              <a:rPr lang="en"/>
              <a:t>Diverse vs. homogeneous</a:t>
            </a:r>
            <a:endParaRPr/>
          </a:p>
          <a:p>
            <a:pPr indent="-342900" lvl="0" marL="457200" rtl="0" algn="l">
              <a:spcBef>
                <a:spcPts val="0"/>
              </a:spcBef>
              <a:spcAft>
                <a:spcPts val="0"/>
              </a:spcAft>
              <a:buSzPts val="1800"/>
              <a:buChar char="●"/>
            </a:pPr>
            <a:r>
              <a:rPr lang="en"/>
              <a:t>Role relation composition </a:t>
            </a:r>
            <a:endParaRPr/>
          </a:p>
          <a:p>
            <a:pPr indent="-317500" lvl="1" marL="914400" rtl="0" algn="l">
              <a:spcBef>
                <a:spcPts val="0"/>
              </a:spcBef>
              <a:spcAft>
                <a:spcPts val="0"/>
              </a:spcAft>
              <a:buSzPts val="1400"/>
              <a:buChar char="○"/>
            </a:pPr>
            <a:r>
              <a:rPr lang="en"/>
              <a:t>Kin-heavy vs. friend-heavy</a:t>
            </a:r>
            <a:endParaRPr/>
          </a:p>
          <a:p>
            <a:pPr indent="-342900" lvl="0" marL="457200" rtl="0" algn="l">
              <a:spcBef>
                <a:spcPts val="0"/>
              </a:spcBef>
              <a:spcAft>
                <a:spcPts val="0"/>
              </a:spcAft>
              <a:buSzPts val="1800"/>
              <a:buChar char="●"/>
            </a:pPr>
            <a:r>
              <a:rPr lang="en"/>
              <a:t>Homophily</a:t>
            </a:r>
            <a:endParaRPr/>
          </a:p>
          <a:p>
            <a:pPr indent="-317500" lvl="1" marL="914400" rtl="0" algn="l">
              <a:spcBef>
                <a:spcPts val="0"/>
              </a:spcBef>
              <a:spcAft>
                <a:spcPts val="0"/>
              </a:spcAft>
              <a:buSzPts val="1400"/>
              <a:buChar char="○"/>
            </a:pPr>
            <a:r>
              <a:rPr lang="en"/>
              <a:t>Homophilous vs. heterophilous</a:t>
            </a:r>
            <a:endParaRPr/>
          </a:p>
          <a:p>
            <a:pPr indent="-342900" lvl="0" marL="457200" rtl="0" algn="l">
              <a:spcBef>
                <a:spcPts val="0"/>
              </a:spcBef>
              <a:spcAft>
                <a:spcPts val="0"/>
              </a:spcAft>
              <a:buSzPts val="1800"/>
              <a:buChar char="●"/>
            </a:pPr>
            <a:r>
              <a:rPr lang="en"/>
              <a:t>Clustering  </a:t>
            </a:r>
            <a:endParaRPr/>
          </a:p>
          <a:p>
            <a:pPr indent="-317500" lvl="1" marL="914400" rtl="0" algn="l">
              <a:spcBef>
                <a:spcPts val="0"/>
              </a:spcBef>
              <a:spcAft>
                <a:spcPts val="0"/>
              </a:spcAft>
              <a:buSzPts val="1400"/>
              <a:buChar char="○"/>
            </a:pPr>
            <a:r>
              <a:rPr lang="en"/>
              <a:t>“Clustered” vs. “open” </a:t>
            </a:r>
            <a:endParaRPr/>
          </a:p>
          <a:p>
            <a:pPr indent="-342900" lvl="0" marL="457200" rtl="0" algn="l">
              <a:spcBef>
                <a:spcPts val="0"/>
              </a:spcBef>
              <a:spcAft>
                <a:spcPts val="0"/>
              </a:spcAft>
              <a:buSzPts val="1800"/>
              <a:buChar char="●"/>
            </a:pPr>
            <a:r>
              <a:rPr lang="en"/>
              <a:t>Tie Strength</a:t>
            </a:r>
            <a:endParaRPr/>
          </a:p>
          <a:p>
            <a:pPr indent="-317500" lvl="1" marL="914400" rtl="0" algn="l">
              <a:spcBef>
                <a:spcPts val="0"/>
              </a:spcBef>
              <a:spcAft>
                <a:spcPts val="0"/>
              </a:spcAft>
              <a:buSzPts val="1400"/>
              <a:buChar char="○"/>
            </a:pPr>
            <a:r>
              <a:rPr lang="en"/>
              <a:t>Strong tie vs. weak tie heavy</a:t>
            </a:r>
            <a:endParaRPr/>
          </a:p>
          <a:p>
            <a:pPr indent="0" lvl="0" marL="914400" rtl="0" algn="l">
              <a:spcBef>
                <a:spcPts val="1600"/>
              </a:spcBef>
              <a:spcAft>
                <a:spcPts val="1600"/>
              </a:spcAft>
              <a:buNone/>
            </a:pPr>
            <a:r>
              <a:t/>
            </a:r>
            <a:endParaRPr/>
          </a:p>
        </p:txBody>
      </p:sp>
      <p:pic>
        <p:nvPicPr>
          <p:cNvPr id="220" name="Google Shape;220;p36"/>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26" name="Google Shape;226;p3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 you know anyone who is a/an….”</a:t>
            </a:r>
            <a:endParaRPr/>
          </a:p>
          <a:p>
            <a:pPr indent="-317500" lvl="1" marL="914400" rtl="0" algn="l">
              <a:spcBef>
                <a:spcPts val="0"/>
              </a:spcBef>
              <a:spcAft>
                <a:spcPts val="0"/>
              </a:spcAft>
              <a:buSzPts val="1400"/>
              <a:buChar char="○"/>
            </a:pPr>
            <a:r>
              <a:rPr i="1" lang="en"/>
              <a:t>Lawyer</a:t>
            </a:r>
            <a:endParaRPr i="1"/>
          </a:p>
          <a:p>
            <a:pPr indent="-317500" lvl="1" marL="914400" rtl="0" algn="l">
              <a:spcBef>
                <a:spcPts val="0"/>
              </a:spcBef>
              <a:spcAft>
                <a:spcPts val="0"/>
              </a:spcAft>
              <a:buSzPts val="1400"/>
              <a:buChar char="○"/>
            </a:pPr>
            <a:r>
              <a:rPr i="1" lang="en"/>
              <a:t>Doctor</a:t>
            </a:r>
            <a:endParaRPr i="1"/>
          </a:p>
          <a:p>
            <a:pPr indent="-317500" lvl="1" marL="914400" rtl="0" algn="l">
              <a:spcBef>
                <a:spcPts val="0"/>
              </a:spcBef>
              <a:spcAft>
                <a:spcPts val="0"/>
              </a:spcAft>
              <a:buSzPts val="1400"/>
              <a:buChar char="○"/>
            </a:pPr>
            <a:r>
              <a:rPr i="1" lang="en"/>
              <a:t>Mechanic</a:t>
            </a:r>
            <a:endParaRPr i="1"/>
          </a:p>
          <a:p>
            <a:pPr indent="-317500" lvl="1" marL="914400" rtl="0" algn="l">
              <a:spcBef>
                <a:spcPts val="0"/>
              </a:spcBef>
              <a:spcAft>
                <a:spcPts val="0"/>
              </a:spcAft>
              <a:buSzPts val="1400"/>
              <a:buChar char="○"/>
            </a:pPr>
            <a:r>
              <a:rPr i="1" lang="en"/>
              <a:t>Teacher</a:t>
            </a:r>
            <a:endParaRPr i="1"/>
          </a:p>
          <a:p>
            <a:pPr indent="-317500" lvl="1" marL="914400" rtl="0" algn="l">
              <a:spcBef>
                <a:spcPts val="0"/>
              </a:spcBef>
              <a:spcAft>
                <a:spcPts val="0"/>
              </a:spcAft>
              <a:buSzPts val="1400"/>
              <a:buChar char="○"/>
            </a:pPr>
            <a:r>
              <a:rPr i="1" lang="en"/>
              <a:t>Secretary</a:t>
            </a:r>
            <a:endParaRPr i="1"/>
          </a:p>
          <a:p>
            <a:pPr indent="-317500" lvl="1" marL="914400" rtl="0" algn="l">
              <a:spcBef>
                <a:spcPts val="0"/>
              </a:spcBef>
              <a:spcAft>
                <a:spcPts val="0"/>
              </a:spcAft>
              <a:buSzPts val="1400"/>
              <a:buChar char="○"/>
            </a:pPr>
            <a:r>
              <a:rPr i="1" lang="en"/>
              <a:t>Haridresser</a:t>
            </a:r>
            <a:endParaRPr i="1"/>
          </a:p>
          <a:p>
            <a:pPr indent="-317500" lvl="1" marL="914400" rtl="0" algn="l">
              <a:spcBef>
                <a:spcPts val="0"/>
              </a:spcBef>
              <a:spcAft>
                <a:spcPts val="0"/>
              </a:spcAft>
              <a:buSzPts val="1400"/>
              <a:buChar char="○"/>
            </a:pPr>
            <a:r>
              <a:rPr i="1" lang="en"/>
              <a:t>Cook</a:t>
            </a:r>
            <a:endParaRPr i="1"/>
          </a:p>
          <a:p>
            <a:pPr indent="-317500" lvl="1" marL="914400" rtl="0" algn="l">
              <a:spcBef>
                <a:spcPts val="0"/>
              </a:spcBef>
              <a:spcAft>
                <a:spcPts val="0"/>
              </a:spcAft>
              <a:buSzPts val="1400"/>
              <a:buChar char="○"/>
            </a:pPr>
            <a:r>
              <a:rPr i="1" lang="en"/>
              <a:t>Farmer</a:t>
            </a:r>
            <a:endParaRPr i="1"/>
          </a:p>
          <a:p>
            <a:pPr indent="-317500" lvl="1" marL="914400" rtl="0" algn="l">
              <a:spcBef>
                <a:spcPts val="0"/>
              </a:spcBef>
              <a:spcAft>
                <a:spcPts val="0"/>
              </a:spcAft>
              <a:buSzPts val="1400"/>
              <a:buChar char="○"/>
            </a:pPr>
            <a:r>
              <a:rPr i="1" lang="en"/>
              <a:t>Mailman</a:t>
            </a:r>
            <a:endParaRPr i="1"/>
          </a:p>
          <a:p>
            <a:pPr indent="-317500" lvl="1" marL="914400" rtl="0" algn="l">
              <a:spcBef>
                <a:spcPts val="0"/>
              </a:spcBef>
              <a:spcAft>
                <a:spcPts val="0"/>
              </a:spcAft>
              <a:buSzPts val="1400"/>
              <a:buChar char="○"/>
            </a:pPr>
            <a:r>
              <a:rPr i="1" lang="en"/>
              <a:t>Policeman</a:t>
            </a:r>
            <a:endParaRPr i="1"/>
          </a:p>
          <a:p>
            <a:pPr indent="-317500" lvl="1" marL="914400" rtl="0" algn="l">
              <a:spcBef>
                <a:spcPts val="0"/>
              </a:spcBef>
              <a:spcAft>
                <a:spcPts val="0"/>
              </a:spcAft>
              <a:buSzPts val="1400"/>
              <a:buChar char="○"/>
            </a:pPr>
            <a:r>
              <a:rPr i="1" lang="en"/>
              <a:t>[...] And whatever other occupations you can imagine</a:t>
            </a:r>
            <a:endParaRPr i="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pic>
        <p:nvPicPr>
          <p:cNvPr id="232" name="Google Shape;232;p38"/>
          <p:cNvPicPr preferRelativeResize="0"/>
          <p:nvPr/>
        </p:nvPicPr>
        <p:blipFill>
          <a:blip r:embed="rId3">
            <a:alphaModFix/>
          </a:blip>
          <a:stretch>
            <a:fillRect/>
          </a:stretch>
        </p:blipFill>
        <p:spPr>
          <a:xfrm>
            <a:off x="152400" y="1299625"/>
            <a:ext cx="8839199" cy="334682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38" name="Google Shape;238;p3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High criterion and face validity </a:t>
            </a:r>
            <a:endParaRPr/>
          </a:p>
          <a:p>
            <a:pPr indent="-317500" lvl="1" marL="914400" rtl="0" algn="l">
              <a:spcBef>
                <a:spcPts val="0"/>
              </a:spcBef>
              <a:spcAft>
                <a:spcPts val="0"/>
              </a:spcAft>
              <a:buSzPts val="1400"/>
              <a:buChar char="○"/>
            </a:pPr>
            <a:r>
              <a:rPr lang="en"/>
              <a:t>Quick and dirty (not lengthy)</a:t>
            </a:r>
            <a:endParaRPr/>
          </a:p>
          <a:p>
            <a:pPr indent="-317500" lvl="1" marL="914400" rtl="0" algn="l">
              <a:spcBef>
                <a:spcPts val="0"/>
              </a:spcBef>
              <a:spcAft>
                <a:spcPts val="0"/>
              </a:spcAft>
              <a:buSzPts val="1400"/>
              <a:buChar char="○"/>
            </a:pPr>
            <a:r>
              <a:rPr lang="en"/>
              <a:t>Occupational labels are easily understood by informants</a:t>
            </a:r>
            <a:endParaRPr/>
          </a:p>
          <a:p>
            <a:pPr indent="-317500" lvl="1" marL="914400" rtl="0" algn="l">
              <a:spcBef>
                <a:spcPts val="0"/>
              </a:spcBef>
              <a:spcAft>
                <a:spcPts val="0"/>
              </a:spcAft>
              <a:buSzPts val="1400"/>
              <a:buChar char="○"/>
            </a:pPr>
            <a:r>
              <a:rPr lang="en"/>
              <a:t>Easily standardized (occupational census codes)</a:t>
            </a:r>
            <a:endParaRPr/>
          </a:p>
          <a:p>
            <a:pPr indent="-317500" lvl="1" marL="914400" rtl="0" algn="l">
              <a:spcBef>
                <a:spcPts val="0"/>
              </a:spcBef>
              <a:spcAft>
                <a:spcPts val="0"/>
              </a:spcAft>
              <a:buSzPts val="1400"/>
              <a:buChar char="○"/>
            </a:pPr>
            <a:r>
              <a:rPr lang="en"/>
              <a:t>Captures lots of information with minimal strain</a:t>
            </a:r>
            <a:endParaRPr/>
          </a:p>
          <a:p>
            <a:pPr indent="-317500" lvl="1" marL="914400" rtl="0" algn="l">
              <a:spcBef>
                <a:spcPts val="0"/>
              </a:spcBef>
              <a:spcAft>
                <a:spcPts val="0"/>
              </a:spcAft>
              <a:buSzPts val="1400"/>
              <a:buChar char="○"/>
            </a:pPr>
            <a:r>
              <a:rPr lang="en"/>
              <a:t>Ideal for studies of social capital and access to resources </a:t>
            </a:r>
            <a:endParaRPr/>
          </a:p>
          <a:p>
            <a:pPr indent="-317500" lvl="1" marL="914400" rtl="0" algn="l">
              <a:spcBef>
                <a:spcPts val="0"/>
              </a:spcBef>
              <a:spcAft>
                <a:spcPts val="0"/>
              </a:spcAft>
              <a:buSzPts val="1400"/>
              <a:buChar char="○"/>
            </a:pPr>
            <a:r>
              <a:rPr lang="en"/>
              <a:t>Good measure of an individual's relational position in the occupational structure</a:t>
            </a:r>
            <a:endParaRPr/>
          </a:p>
          <a:p>
            <a:pPr indent="-317500" lvl="1" marL="914400" rtl="0" algn="l">
              <a:spcBef>
                <a:spcPts val="0"/>
              </a:spcBef>
              <a:spcAft>
                <a:spcPts val="0"/>
              </a:spcAft>
              <a:buSzPts val="1400"/>
              <a:buChar char="○"/>
            </a:pPr>
            <a:r>
              <a:rPr lang="en"/>
              <a:t>Can be followed by a “position interpreter” to collect data on tie linking ego to position</a:t>
            </a:r>
            <a:endParaRPr/>
          </a:p>
          <a:p>
            <a:pPr indent="-317500" lvl="1" marL="914400" rtl="0" algn="l">
              <a:spcBef>
                <a:spcPts val="0"/>
              </a:spcBef>
              <a:spcAft>
                <a:spcPts val="0"/>
              </a:spcAft>
              <a:buSzPts val="1400"/>
              <a:buChar char="○"/>
            </a:pPr>
            <a:r>
              <a:rPr lang="en"/>
              <a:t>Can be augmented by linking to objective information about each social position (e.g. average income, education, occupational prestige, etc.)</a:t>
            </a:r>
            <a:endParaRPr/>
          </a:p>
          <a:p>
            <a:pPr indent="-317500" lvl="1" marL="914400" rtl="0" algn="l">
              <a:spcBef>
                <a:spcPts val="0"/>
              </a:spcBef>
              <a:spcAft>
                <a:spcPts val="0"/>
              </a:spcAft>
              <a:buSzPts val="1400"/>
              <a:buChar char="○"/>
            </a:pPr>
            <a:r>
              <a:rPr lang="en"/>
              <a:t>Simple, intuitive metrics (e.g. number of positions accessed, prestige range, top rank, etc.)</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44" name="Google Shape;244;p4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“Do you know anyone who…”</a:t>
            </a:r>
            <a:endParaRPr/>
          </a:p>
          <a:p>
            <a:pPr indent="-317500" lvl="1" marL="914400" rtl="0" algn="l">
              <a:spcBef>
                <a:spcPts val="0"/>
              </a:spcBef>
              <a:spcAft>
                <a:spcPts val="0"/>
              </a:spcAft>
              <a:buSzPts val="1400"/>
              <a:buChar char="○"/>
            </a:pPr>
            <a:r>
              <a:rPr i="1" lang="en"/>
              <a:t>Can repair a car, bike, etc. </a:t>
            </a:r>
            <a:endParaRPr i="1"/>
          </a:p>
          <a:p>
            <a:pPr indent="-317500" lvl="1" marL="914400" rtl="0" algn="l">
              <a:spcBef>
                <a:spcPts val="0"/>
              </a:spcBef>
              <a:spcAft>
                <a:spcPts val="0"/>
              </a:spcAft>
              <a:buSzPts val="1400"/>
              <a:buChar char="○"/>
            </a:pPr>
            <a:r>
              <a:rPr i="1" lang="en"/>
              <a:t>Is handy repairing household equipment </a:t>
            </a:r>
            <a:endParaRPr i="1"/>
          </a:p>
          <a:p>
            <a:pPr indent="-317500" lvl="1" marL="914400" rtl="0" algn="l">
              <a:spcBef>
                <a:spcPts val="0"/>
              </a:spcBef>
              <a:spcAft>
                <a:spcPts val="0"/>
              </a:spcAft>
              <a:buSzPts val="1400"/>
              <a:buChar char="○"/>
            </a:pPr>
            <a:r>
              <a:rPr i="1" lang="en"/>
              <a:t>Can speak and write a foreign language </a:t>
            </a:r>
            <a:endParaRPr i="1"/>
          </a:p>
          <a:p>
            <a:pPr indent="-317500" lvl="1" marL="914400" rtl="0" algn="l">
              <a:spcBef>
                <a:spcPts val="0"/>
              </a:spcBef>
              <a:spcAft>
                <a:spcPts val="0"/>
              </a:spcAft>
              <a:buSzPts val="1400"/>
              <a:buChar char="○"/>
            </a:pPr>
            <a:r>
              <a:rPr i="1" lang="en"/>
              <a:t>Can work with a personal computer </a:t>
            </a:r>
            <a:endParaRPr i="1"/>
          </a:p>
          <a:p>
            <a:pPr indent="-317500" lvl="1" marL="914400" rtl="0" algn="l">
              <a:spcBef>
                <a:spcPts val="0"/>
              </a:spcBef>
              <a:spcAft>
                <a:spcPts val="0"/>
              </a:spcAft>
              <a:buSzPts val="1400"/>
              <a:buChar char="○"/>
            </a:pPr>
            <a:r>
              <a:rPr i="1" lang="en"/>
              <a:t>Has good contacts with a newspaper, radio or TV station</a:t>
            </a:r>
            <a:endParaRPr i="1"/>
          </a:p>
          <a:p>
            <a:pPr indent="-317500" lvl="1" marL="914400" rtl="0" algn="l">
              <a:spcBef>
                <a:spcPts val="0"/>
              </a:spcBef>
              <a:spcAft>
                <a:spcPts val="0"/>
              </a:spcAft>
              <a:buSzPts val="1400"/>
              <a:buChar char="○"/>
            </a:pPr>
            <a:r>
              <a:rPr i="1" lang="en"/>
              <a:t>Has knowledge about financial matters (taxes, subsidies)</a:t>
            </a:r>
            <a:endParaRPr i="1"/>
          </a:p>
          <a:p>
            <a:pPr indent="-317500" lvl="1" marL="914400" rtl="0" algn="l">
              <a:spcBef>
                <a:spcPts val="0"/>
              </a:spcBef>
              <a:spcAft>
                <a:spcPts val="0"/>
              </a:spcAft>
              <a:buSzPts val="1400"/>
              <a:buChar char="○"/>
            </a:pPr>
            <a:r>
              <a:rPr i="1" lang="en"/>
              <a:t>Can give advice concerning a conflict at work</a:t>
            </a:r>
            <a:endParaRPr i="1"/>
          </a:p>
          <a:p>
            <a:pPr indent="-317500" lvl="1" marL="914400" rtl="0" algn="l">
              <a:spcBef>
                <a:spcPts val="0"/>
              </a:spcBef>
              <a:spcAft>
                <a:spcPts val="0"/>
              </a:spcAft>
              <a:buSzPts val="1400"/>
              <a:buChar char="○"/>
            </a:pPr>
            <a:r>
              <a:rPr i="1" lang="en"/>
              <a:t>Can help when moving house (packing, lifting)</a:t>
            </a:r>
            <a:endParaRPr i="1"/>
          </a:p>
          <a:p>
            <a:pPr indent="-317500" lvl="1" marL="914400" rtl="0" algn="l">
              <a:spcBef>
                <a:spcPts val="0"/>
              </a:spcBef>
              <a:spcAft>
                <a:spcPts val="0"/>
              </a:spcAft>
              <a:buSzPts val="1400"/>
              <a:buChar char="○"/>
            </a:pPr>
            <a:r>
              <a:rPr i="1" lang="en"/>
              <a:t>Can help with small jobs around the house (carpentering, painting)</a:t>
            </a:r>
            <a:endParaRPr i="1"/>
          </a:p>
          <a:p>
            <a:pPr indent="-317500" lvl="1" marL="914400" rtl="0" algn="l">
              <a:spcBef>
                <a:spcPts val="0"/>
              </a:spcBef>
              <a:spcAft>
                <a:spcPts val="0"/>
              </a:spcAft>
              <a:buSzPts val="1400"/>
              <a:buChar char="○"/>
            </a:pPr>
            <a:r>
              <a:rPr i="1" lang="en"/>
              <a:t>[...] And whatever else you can imagine</a:t>
            </a:r>
            <a:endParaRPr i="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pic>
        <p:nvPicPr>
          <p:cNvPr id="250" name="Google Shape;250;p41"/>
          <p:cNvPicPr preferRelativeResize="0"/>
          <p:nvPr/>
        </p:nvPicPr>
        <p:blipFill>
          <a:blip r:embed="rId3">
            <a:alphaModFix/>
          </a:blip>
          <a:stretch>
            <a:fillRect/>
          </a:stretch>
        </p:blipFill>
        <p:spPr>
          <a:xfrm>
            <a:off x="1216413" y="1147225"/>
            <a:ext cx="6711179" cy="36914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56" name="Google Shape;256;p4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Combine the pragmatic virtues of the position generator with the specificity and breadth of coverage of the name generator.</a:t>
            </a:r>
            <a:endParaRPr/>
          </a:p>
          <a:p>
            <a:pPr indent="-317500" lvl="1" marL="914400" rtl="0" algn="l">
              <a:spcBef>
                <a:spcPts val="0"/>
              </a:spcBef>
              <a:spcAft>
                <a:spcPts val="0"/>
              </a:spcAft>
              <a:buSzPts val="1400"/>
              <a:buChar char="○"/>
            </a:pPr>
            <a:r>
              <a:rPr lang="en"/>
              <a:t>Can capture multiple dimensions of social support and connectivity at once</a:t>
            </a:r>
            <a:endParaRPr/>
          </a:p>
          <a:p>
            <a:pPr indent="-317500" lvl="1" marL="914400" rtl="0" algn="l">
              <a:spcBef>
                <a:spcPts val="0"/>
              </a:spcBef>
              <a:spcAft>
                <a:spcPts val="0"/>
              </a:spcAft>
              <a:buSzPts val="1400"/>
              <a:buChar char="○"/>
            </a:pPr>
            <a:r>
              <a:rPr lang="en"/>
              <a:t>Provides a way to potentially “standardize” measures of social capital in a population</a:t>
            </a:r>
            <a:endParaRPr/>
          </a:p>
          <a:p>
            <a:pPr indent="-317500" lvl="1" marL="914400" rtl="0" algn="l">
              <a:spcBef>
                <a:spcPts val="0"/>
              </a:spcBef>
              <a:spcAft>
                <a:spcPts val="0"/>
              </a:spcAft>
              <a:buSzPts val="1400"/>
              <a:buChar char="○"/>
            </a:pPr>
            <a:r>
              <a:rPr lang="en"/>
              <a:t>Covers several domains of life</a:t>
            </a:r>
            <a:endParaRPr/>
          </a:p>
          <a:p>
            <a:pPr indent="-317500" lvl="1" marL="914400" rtl="0" algn="l">
              <a:spcBef>
                <a:spcPts val="0"/>
              </a:spcBef>
              <a:spcAft>
                <a:spcPts val="0"/>
              </a:spcAft>
              <a:buSzPts val="1400"/>
              <a:buChar char="○"/>
            </a:pPr>
            <a:r>
              <a:rPr lang="en"/>
              <a:t>Simple, intuitive metrics (e.g. number of resources accessed, popularity of certain resources, range of resources, etc.)</a:t>
            </a:r>
            <a:endParaRPr/>
          </a:p>
          <a:p>
            <a:pPr indent="-317500" lvl="1" marL="914400" rtl="0" algn="l">
              <a:spcBef>
                <a:spcPts val="0"/>
              </a:spcBef>
              <a:spcAft>
                <a:spcPts val="0"/>
              </a:spcAft>
              <a:buSzPts val="1400"/>
              <a:buChar char="○"/>
            </a:pPr>
            <a:r>
              <a:rPr lang="en"/>
              <a:t>Capable of empirically linking resources to role-relations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62" name="Google Shape;262;p43"/>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may be interested in the ways individuals </a:t>
            </a:r>
            <a:r>
              <a:rPr b="1" lang="en"/>
              <a:t>perceive </a:t>
            </a:r>
            <a:r>
              <a:rPr lang="en"/>
              <a:t>their position in a social network</a:t>
            </a:r>
            <a:endParaRPr/>
          </a:p>
          <a:p>
            <a:pPr indent="-317500" lvl="1" marL="914400" rtl="0" algn="l">
              <a:spcBef>
                <a:spcPts val="0"/>
              </a:spcBef>
              <a:spcAft>
                <a:spcPts val="0"/>
              </a:spcAft>
              <a:buSzPts val="1400"/>
              <a:buChar char="○"/>
            </a:pPr>
            <a:r>
              <a:rPr b="1" lang="en"/>
              <a:t>Visual network scales</a:t>
            </a:r>
            <a:r>
              <a:rPr lang="en"/>
              <a:t> have been proposed as a viable method for this purpose</a:t>
            </a:r>
            <a:endParaRPr/>
          </a:p>
          <a:p>
            <a:pPr indent="-317500" lvl="1" marL="914400" rtl="0" algn="l">
              <a:spcBef>
                <a:spcPts val="0"/>
              </a:spcBef>
              <a:spcAft>
                <a:spcPts val="0"/>
              </a:spcAft>
              <a:buSzPts val="1400"/>
              <a:buChar char="○"/>
            </a:pPr>
            <a:r>
              <a:rPr lang="en"/>
              <a:t>The idea is to:</a:t>
            </a:r>
            <a:endParaRPr/>
          </a:p>
          <a:p>
            <a:pPr indent="-317500" lvl="2" marL="1371600" rtl="0" algn="l">
              <a:spcBef>
                <a:spcPts val="0"/>
              </a:spcBef>
              <a:spcAft>
                <a:spcPts val="0"/>
              </a:spcAft>
              <a:buSzPts val="1400"/>
              <a:buChar char="■"/>
            </a:pPr>
            <a:r>
              <a:rPr lang="en"/>
              <a:t>Present people with </a:t>
            </a:r>
            <a:r>
              <a:rPr b="1" lang="en"/>
              <a:t>idealized pictures</a:t>
            </a:r>
            <a:r>
              <a:rPr lang="en"/>
              <a:t> of certain network scenarios</a:t>
            </a:r>
            <a:endParaRPr/>
          </a:p>
          <a:p>
            <a:pPr indent="-317500" lvl="2" marL="1371600" rtl="0" algn="l">
              <a:spcBef>
                <a:spcPts val="0"/>
              </a:spcBef>
              <a:spcAft>
                <a:spcPts val="0"/>
              </a:spcAft>
              <a:buSzPts val="1400"/>
              <a:buChar char="■"/>
            </a:pPr>
            <a:r>
              <a:rPr lang="en"/>
              <a:t>Ask them to rate </a:t>
            </a:r>
            <a:r>
              <a:rPr b="1" lang="en"/>
              <a:t>how closely</a:t>
            </a:r>
            <a:r>
              <a:rPr lang="en"/>
              <a:t> their network resembles this scenario</a:t>
            </a:r>
            <a:endParaRPr/>
          </a:p>
        </p:txBody>
      </p:sp>
      <p:pic>
        <p:nvPicPr>
          <p:cNvPr id="263" name="Google Shape;263;p43"/>
          <p:cNvPicPr preferRelativeResize="0"/>
          <p:nvPr/>
        </p:nvPicPr>
        <p:blipFill>
          <a:blip r:embed="rId3">
            <a:alphaModFix/>
          </a:blip>
          <a:stretch>
            <a:fillRect/>
          </a:stretch>
        </p:blipFill>
        <p:spPr>
          <a:xfrm>
            <a:off x="4776900" y="1752100"/>
            <a:ext cx="4062300" cy="23002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69" name="Google Shape;269;p44"/>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live in </a:t>
            </a:r>
            <a:r>
              <a:rPr b="1" lang="en"/>
              <a:t>open</a:t>
            </a:r>
            <a:r>
              <a:rPr lang="en"/>
              <a:t> versus </a:t>
            </a:r>
            <a:r>
              <a:rPr b="1" lang="en"/>
              <a:t>clustered</a:t>
            </a:r>
            <a:r>
              <a:rPr lang="en"/>
              <a:t> worlds:</a:t>
            </a:r>
            <a:endParaRPr/>
          </a:p>
          <a:p>
            <a:pPr indent="-317500" lvl="1" marL="914400" marR="0" rtl="0" algn="l">
              <a:lnSpc>
                <a:spcPct val="115000"/>
              </a:lnSpc>
              <a:spcBef>
                <a:spcPts val="0"/>
              </a:spcBef>
              <a:spcAft>
                <a:spcPts val="0"/>
              </a:spcAft>
              <a:buSzPts val="1400"/>
              <a:buChar char="○"/>
            </a:pPr>
            <a:r>
              <a:rPr i="1" lang="en"/>
              <a:t>This question focuses on your perceptions of the degree of interconnectedness among your close friends at Notre Dame. In your opinion, which of the network diagrams below best approximates the degree of interconnectedness in your personal network of close friendships? Please make your selection by choosing one of the pictures.</a:t>
            </a:r>
            <a:endParaRPr i="1"/>
          </a:p>
        </p:txBody>
      </p:sp>
      <p:pic>
        <p:nvPicPr>
          <p:cNvPr id="270" name="Google Shape;270;p44"/>
          <p:cNvPicPr preferRelativeResize="0"/>
          <p:nvPr/>
        </p:nvPicPr>
        <p:blipFill>
          <a:blip r:embed="rId3">
            <a:alphaModFix/>
          </a:blip>
          <a:stretch>
            <a:fillRect/>
          </a:stretch>
        </p:blipFill>
        <p:spPr>
          <a:xfrm>
            <a:off x="4776900" y="1721063"/>
            <a:ext cx="4062301" cy="236233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76" name="Google Shape;276;p45"/>
          <p:cNvSpPr txBox="1"/>
          <p:nvPr>
            <p:ph idx="1" type="body"/>
          </p:nvPr>
        </p:nvSpPr>
        <p:spPr>
          <a:xfrm>
            <a:off x="311700" y="1225225"/>
            <a:ext cx="515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are </a:t>
            </a:r>
            <a:r>
              <a:rPr b="1" lang="en"/>
              <a:t>bridges</a:t>
            </a:r>
            <a:r>
              <a:rPr b="1" lang="en"/>
              <a:t> </a:t>
            </a:r>
            <a:r>
              <a:rPr lang="en"/>
              <a:t>between different groups:</a:t>
            </a:r>
            <a:endParaRPr/>
          </a:p>
          <a:p>
            <a:pPr indent="-317500" lvl="1" marL="914400" marR="0" rtl="0" algn="l">
              <a:lnSpc>
                <a:spcPct val="115000"/>
              </a:lnSpc>
              <a:spcBef>
                <a:spcPts val="0"/>
              </a:spcBef>
              <a:spcAft>
                <a:spcPts val="0"/>
              </a:spcAft>
              <a:buSzPts val="1400"/>
              <a:buChar char="○"/>
            </a:pPr>
            <a:r>
              <a:rPr i="1" lang="en"/>
              <a:t> In the diagram below, there are two groups of people. The large circle that connects the two groups/cliques can be thought of as a bridge. Using the scale below, please rate the extent to which you think you occupy a bridging position in your personal network of close friendships at Notre Dame  i.e., the extent to which, like the "you circle," you are close friends with groups that otherwise lack close friendship relations with each other.</a:t>
            </a:r>
            <a:endParaRPr i="1"/>
          </a:p>
        </p:txBody>
      </p:sp>
      <p:pic>
        <p:nvPicPr>
          <p:cNvPr id="277" name="Google Shape;277;p45"/>
          <p:cNvPicPr preferRelativeResize="0"/>
          <p:nvPr/>
        </p:nvPicPr>
        <p:blipFill>
          <a:blip r:embed="rId3">
            <a:alphaModFix/>
          </a:blip>
          <a:stretch>
            <a:fillRect/>
          </a:stretch>
        </p:blipFill>
        <p:spPr>
          <a:xfrm>
            <a:off x="5462400" y="1430927"/>
            <a:ext cx="3439875" cy="2942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83" name="Google Shape;283;p46"/>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r>
              <a:rPr lang="en"/>
              <a:t>:</a:t>
            </a:r>
            <a:endParaRPr/>
          </a:p>
          <a:p>
            <a:pPr indent="-317500" lvl="1" marL="914400" marR="0" rtl="0" algn="l">
              <a:lnSpc>
                <a:spcPct val="115000"/>
              </a:lnSpc>
              <a:spcBef>
                <a:spcPts val="0"/>
              </a:spcBef>
              <a:spcAft>
                <a:spcPts val="0"/>
              </a:spcAft>
              <a:buSzPts val="1400"/>
              <a:buChar char="○"/>
            </a:pPr>
            <a:r>
              <a:rPr i="1" lang="en"/>
              <a:t>This question focuses on your perceptions of the CHANGE in the number of bridging positions you occupy among your close friends at Notre Dame. In the diagram below, there are two groups/cliques of people. The large circle that connects the two groups/cliques can be thought of as a bridge.</a:t>
            </a:r>
            <a:endParaRPr i="1"/>
          </a:p>
        </p:txBody>
      </p:sp>
      <p:pic>
        <p:nvPicPr>
          <p:cNvPr id="284" name="Google Shape;284;p46"/>
          <p:cNvPicPr preferRelativeResize="0"/>
          <p:nvPr/>
        </p:nvPicPr>
        <p:blipFill>
          <a:blip r:embed="rId3">
            <a:alphaModFix/>
          </a:blip>
          <a:stretch>
            <a:fillRect/>
          </a:stretch>
        </p:blipFill>
        <p:spPr>
          <a:xfrm>
            <a:off x="4553700" y="1651475"/>
            <a:ext cx="4285500" cy="250150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90" name="Google Shape;290;p47"/>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endParaRPr/>
          </a:p>
          <a:p>
            <a:pPr indent="-317500" lvl="1" marL="914400" marR="0" rtl="0" algn="l">
              <a:lnSpc>
                <a:spcPct val="115000"/>
              </a:lnSpc>
              <a:spcBef>
                <a:spcPts val="0"/>
              </a:spcBef>
              <a:spcAft>
                <a:spcPts val="0"/>
              </a:spcAft>
              <a:buSzPts val="1400"/>
              <a:buChar char="○"/>
            </a:pPr>
            <a:r>
              <a:rPr i="1" lang="en"/>
              <a:t>The network diagram on the left represents a person on the periphery of the network. This person has close friends who themselves are not connected to many others. The network diagram on the right represents a person in the center of the network. This person has close friends who themselves are connected to many others.</a:t>
            </a:r>
            <a:endParaRPr i="1"/>
          </a:p>
        </p:txBody>
      </p:sp>
      <p:pic>
        <p:nvPicPr>
          <p:cNvPr id="291" name="Google Shape;291;p47"/>
          <p:cNvPicPr preferRelativeResize="0"/>
          <p:nvPr/>
        </p:nvPicPr>
        <p:blipFill>
          <a:blip r:embed="rId3">
            <a:alphaModFix/>
          </a:blip>
          <a:stretch>
            <a:fillRect/>
          </a:stretch>
        </p:blipFill>
        <p:spPr>
          <a:xfrm>
            <a:off x="4553700" y="1758450"/>
            <a:ext cx="4285499" cy="228755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 Measuring Tie Strength</a:t>
            </a:r>
            <a:endParaRPr/>
          </a:p>
        </p:txBody>
      </p:sp>
      <p:sp>
        <p:nvSpPr>
          <p:cNvPr id="297" name="Google Shape;297;p4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Most important tie-level measure for ego-networks is tie-strength:</a:t>
            </a:r>
            <a:endParaRPr/>
          </a:p>
          <a:p>
            <a:pPr indent="-317500" lvl="1" marL="914400" rtl="0" algn="l">
              <a:spcBef>
                <a:spcPts val="0"/>
              </a:spcBef>
              <a:spcAft>
                <a:spcPts val="0"/>
              </a:spcAft>
              <a:buSzPts val="1400"/>
              <a:buChar char="○"/>
            </a:pPr>
            <a:r>
              <a:rPr lang="en"/>
              <a:t>“The strength of a tie is a (probably linear) combination of the </a:t>
            </a:r>
            <a:r>
              <a:rPr b="1" lang="en"/>
              <a:t>amount of time</a:t>
            </a:r>
            <a:r>
              <a:rPr lang="en"/>
              <a:t>, the </a:t>
            </a:r>
            <a:r>
              <a:rPr b="1" lang="en"/>
              <a:t>emotional intensity</a:t>
            </a:r>
            <a:r>
              <a:rPr lang="en"/>
              <a:t>, the </a:t>
            </a:r>
            <a:r>
              <a:rPr b="1" lang="en"/>
              <a:t>intimacy</a:t>
            </a:r>
            <a:r>
              <a:rPr lang="en"/>
              <a:t> (mutual confiding), and the </a:t>
            </a:r>
            <a:r>
              <a:rPr b="1" lang="en"/>
              <a:t>reciprocal services </a:t>
            </a:r>
            <a:r>
              <a:rPr lang="en"/>
              <a:t>which characterize the tie” (Granovetter 1973, p. 1361).</a:t>
            </a:r>
            <a:endParaRPr/>
          </a:p>
          <a:p>
            <a:pPr indent="-317500" lvl="2" marL="1371600" rtl="0" algn="l">
              <a:spcBef>
                <a:spcPts val="0"/>
              </a:spcBef>
              <a:spcAft>
                <a:spcPts val="0"/>
              </a:spcAft>
              <a:buSzPts val="1400"/>
              <a:buChar char="■"/>
            </a:pPr>
            <a:r>
              <a:rPr lang="en"/>
              <a:t>Strong ties combine frequency, exchanges, and positive sentiments</a:t>
            </a:r>
            <a:endParaRPr/>
          </a:p>
          <a:p>
            <a:pPr indent="-342900" lvl="0" marL="457200" rtl="0" algn="l">
              <a:spcBef>
                <a:spcPts val="0"/>
              </a:spcBef>
              <a:spcAft>
                <a:spcPts val="0"/>
              </a:spcAft>
              <a:buSzPts val="1800"/>
              <a:buChar char="●"/>
            </a:pPr>
            <a:r>
              <a:rPr lang="en"/>
              <a:t>Note that most name-generators condition on or truncate the variance of strength in elicited ties</a:t>
            </a:r>
            <a:endParaRPr/>
          </a:p>
          <a:p>
            <a:pPr indent="-317500" lvl="1" marL="914400" rtl="0" algn="l">
              <a:spcBef>
                <a:spcPts val="0"/>
              </a:spcBef>
              <a:spcAft>
                <a:spcPts val="0"/>
              </a:spcAft>
              <a:buSzPts val="1400"/>
              <a:buChar char="○"/>
            </a:pPr>
            <a:r>
              <a:rPr lang="en"/>
              <a:t>Name generators are likely to elicit strong ties but not “weak ties”</a:t>
            </a:r>
            <a:endParaRPr/>
          </a:p>
          <a:p>
            <a:pPr indent="-317500" lvl="2" marL="1371600" rtl="0" algn="l">
              <a:spcBef>
                <a:spcPts val="0"/>
              </a:spcBef>
              <a:spcAft>
                <a:spcPts val="0"/>
              </a:spcAft>
              <a:buSzPts val="1400"/>
              <a:buChar char="■"/>
            </a:pPr>
            <a:r>
              <a:rPr lang="en"/>
              <a:t>You may get the most variance by conditioning on frequency and then creating additive scales combining emotional intensity, intimacy, and exchange support indicators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“social capital” in ego-networks</a:t>
            </a:r>
            <a:endParaRPr/>
          </a:p>
        </p:txBody>
      </p:sp>
      <p:pic>
        <p:nvPicPr>
          <p:cNvPr id="303" name="Google Shape;303;p49"/>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304" name="Google Shape;304;p49"/>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Often we are interested in eliciting ego-networks to get a sense of how “well-connected” the person is</a:t>
            </a:r>
            <a:endParaRPr/>
          </a:p>
          <a:p>
            <a:pPr indent="-317500" lvl="1" marL="914400" rtl="0" algn="l">
              <a:spcBef>
                <a:spcPts val="0"/>
              </a:spcBef>
              <a:spcAft>
                <a:spcPts val="0"/>
              </a:spcAft>
              <a:buSzPts val="1400"/>
              <a:buChar char="○"/>
            </a:pPr>
            <a:r>
              <a:rPr lang="en"/>
              <a:t>One criterion for being well-connected is the extent to which a person can </a:t>
            </a:r>
            <a:r>
              <a:rPr i="1" lang="en"/>
              <a:t>potentially draw on resources embedded in relations</a:t>
            </a:r>
            <a:endParaRPr i="1"/>
          </a:p>
          <a:p>
            <a:pPr indent="-317500" lvl="2" marL="1371600" rtl="0" algn="l">
              <a:spcBef>
                <a:spcPts val="0"/>
              </a:spcBef>
              <a:spcAft>
                <a:spcPts val="0"/>
              </a:spcAft>
              <a:buSzPts val="1400"/>
              <a:buChar char="■"/>
            </a:pPr>
            <a:r>
              <a:rPr lang="en"/>
              <a:t>This is called “</a:t>
            </a:r>
            <a:r>
              <a:rPr b="1" lang="en"/>
              <a:t>social capital</a:t>
            </a:r>
            <a:r>
              <a:rPr lang="en"/>
              <a:t>”</a:t>
            </a:r>
            <a:endParaRPr/>
          </a:p>
          <a:p>
            <a:pPr indent="-317500" lvl="2" marL="1371600" rtl="0" algn="l">
              <a:spcBef>
                <a:spcPts val="0"/>
              </a:spcBef>
              <a:spcAft>
                <a:spcPts val="0"/>
              </a:spcAft>
              <a:buSzPts val="1400"/>
              <a:buChar char="■"/>
            </a:pPr>
            <a:r>
              <a:rPr lang="en"/>
              <a:t>Natural outgrowth of the exchange approach</a:t>
            </a:r>
            <a:endParaRPr/>
          </a:p>
          <a:p>
            <a:pPr indent="-317500" lvl="1" marL="914400" rtl="0" algn="l">
              <a:spcBef>
                <a:spcPts val="0"/>
              </a:spcBef>
              <a:spcAft>
                <a:spcPts val="0"/>
              </a:spcAft>
              <a:buSzPts val="1400"/>
              <a:buChar char="○"/>
            </a:pPr>
            <a:r>
              <a:rPr lang="en"/>
              <a:t>Invites a different measurement perspective</a:t>
            </a:r>
            <a:endParaRPr/>
          </a:p>
          <a:p>
            <a:pPr indent="0" lvl="0" marL="457200" rtl="0" algn="l">
              <a:spcBef>
                <a:spcPts val="1600"/>
              </a:spcBef>
              <a:spcAft>
                <a:spcPts val="16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networks: Some propositions (Marsden 1987)</a:t>
            </a:r>
            <a:endParaRPr/>
          </a:p>
        </p:txBody>
      </p:sp>
      <p:sp>
        <p:nvSpPr>
          <p:cNvPr id="310" name="Google Shape;310;p50"/>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 larger the ego network:</a:t>
            </a:r>
            <a:endParaRPr/>
          </a:p>
          <a:p>
            <a:pPr indent="-317500" lvl="1" marL="914400" marR="0" rtl="0" algn="l">
              <a:lnSpc>
                <a:spcPct val="115000"/>
              </a:lnSpc>
              <a:spcBef>
                <a:spcPts val="0"/>
              </a:spcBef>
              <a:spcAft>
                <a:spcPts val="0"/>
              </a:spcAft>
              <a:buSzPts val="1400"/>
              <a:buChar char="○"/>
            </a:pPr>
            <a:r>
              <a:rPr lang="en"/>
              <a:t>The more diverse, less homophilous, more open</a:t>
            </a:r>
            <a:endParaRPr/>
          </a:p>
          <a:p>
            <a:pPr indent="-342900" lvl="0" marL="457200" marR="0" rtl="0" algn="l">
              <a:lnSpc>
                <a:spcPct val="115000"/>
              </a:lnSpc>
              <a:spcBef>
                <a:spcPts val="0"/>
              </a:spcBef>
              <a:spcAft>
                <a:spcPts val="0"/>
              </a:spcAft>
              <a:buSzPts val="1800"/>
              <a:buChar char="●"/>
            </a:pPr>
            <a:r>
              <a:rPr lang="en"/>
              <a:t>Smaller ego networks:</a:t>
            </a:r>
            <a:endParaRPr/>
          </a:p>
          <a:p>
            <a:pPr indent="-317500" lvl="1" marL="914400" marR="0" rtl="0" algn="l">
              <a:lnSpc>
                <a:spcPct val="115000"/>
              </a:lnSpc>
              <a:spcBef>
                <a:spcPts val="0"/>
              </a:spcBef>
              <a:spcAft>
                <a:spcPts val="0"/>
              </a:spcAft>
              <a:buSzPts val="1400"/>
              <a:buChar char="○"/>
            </a:pPr>
            <a:r>
              <a:rPr lang="en"/>
              <a:t>Tend to be more clustered , less diverse</a:t>
            </a:r>
            <a:endParaRPr/>
          </a:p>
          <a:p>
            <a:pPr indent="-342900" lvl="0" marL="457200" marR="0" rtl="0" algn="l">
              <a:lnSpc>
                <a:spcPct val="115000"/>
              </a:lnSpc>
              <a:spcBef>
                <a:spcPts val="0"/>
              </a:spcBef>
              <a:spcAft>
                <a:spcPts val="0"/>
              </a:spcAft>
              <a:buSzPts val="1800"/>
              <a:buChar char="●"/>
            </a:pPr>
            <a:r>
              <a:rPr lang="en"/>
              <a:t>The more diversity</a:t>
            </a:r>
            <a:endParaRPr/>
          </a:p>
          <a:p>
            <a:pPr indent="-317500" lvl="1" marL="914400" marR="0" rtl="0" algn="l">
              <a:lnSpc>
                <a:spcPct val="115000"/>
              </a:lnSpc>
              <a:spcBef>
                <a:spcPts val="0"/>
              </a:spcBef>
              <a:spcAft>
                <a:spcPts val="0"/>
              </a:spcAft>
              <a:buSzPts val="1400"/>
              <a:buChar char="○"/>
            </a:pPr>
            <a:r>
              <a:rPr lang="en"/>
              <a:t>Less homophily</a:t>
            </a:r>
            <a:endParaRPr/>
          </a:p>
          <a:p>
            <a:pPr indent="-342900" lvl="0" marL="457200" marR="0" rtl="0" algn="l">
              <a:lnSpc>
                <a:spcPct val="115000"/>
              </a:lnSpc>
              <a:spcBef>
                <a:spcPts val="0"/>
              </a:spcBef>
              <a:spcAft>
                <a:spcPts val="0"/>
              </a:spcAft>
              <a:buSzPts val="1800"/>
              <a:buChar char="●"/>
            </a:pPr>
            <a:r>
              <a:rPr lang="en"/>
              <a:t>The higher average tie strength</a:t>
            </a:r>
            <a:endParaRPr/>
          </a:p>
          <a:p>
            <a:pPr indent="-317500" lvl="1" marL="914400" marR="0" rtl="0" algn="l">
              <a:lnSpc>
                <a:spcPct val="115000"/>
              </a:lnSpc>
              <a:spcBef>
                <a:spcPts val="0"/>
              </a:spcBef>
              <a:spcAft>
                <a:spcPts val="0"/>
              </a:spcAft>
              <a:buSzPts val="1400"/>
              <a:buChar char="○"/>
            </a:pPr>
            <a:r>
              <a:rPr lang="en"/>
              <a:t>The more clustering, less diversity </a:t>
            </a:r>
            <a:endParaRPr/>
          </a:p>
          <a:p>
            <a:pPr indent="-342900" lvl="0" marL="457200" marR="0" rtl="0" algn="l">
              <a:lnSpc>
                <a:spcPct val="115000"/>
              </a:lnSpc>
              <a:spcBef>
                <a:spcPts val="0"/>
              </a:spcBef>
              <a:spcAft>
                <a:spcPts val="0"/>
              </a:spcAft>
              <a:buSzPts val="1800"/>
              <a:buChar char="●"/>
            </a:pPr>
            <a:r>
              <a:rPr lang="en"/>
              <a:t>The more proportion kin</a:t>
            </a:r>
            <a:endParaRPr/>
          </a:p>
          <a:p>
            <a:pPr indent="-317500" lvl="1" marL="914400" marR="0" rtl="0" algn="l">
              <a:lnSpc>
                <a:spcPct val="115000"/>
              </a:lnSpc>
              <a:spcBef>
                <a:spcPts val="0"/>
              </a:spcBef>
              <a:spcAft>
                <a:spcPts val="0"/>
              </a:spcAft>
              <a:buSzPts val="1400"/>
              <a:buChar char="○"/>
            </a:pPr>
            <a:r>
              <a:rPr lang="en"/>
              <a:t>The more homophily, less diversity, more clustering  </a:t>
            </a:r>
            <a:endParaRPr/>
          </a:p>
        </p:txBody>
      </p:sp>
      <p:pic>
        <p:nvPicPr>
          <p:cNvPr id="311" name="Google Shape;311;p50"/>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