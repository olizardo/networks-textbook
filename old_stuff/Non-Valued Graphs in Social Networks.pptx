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Economica"/>
      <p:regular r:id="rId42"/>
      <p:bold r:id="rId43"/>
      <p:italic r:id="rId44"/>
      <p:boldItalic r:id="rId45"/>
    </p:embeddedFont>
    <p:embeddedFont>
      <p:font typeface="Oxygen"/>
      <p:regular r:id="rId46"/>
      <p:bold r:id="rId47"/>
    </p:embeddedFont>
    <p:embeddedFont>
      <p:font typeface="Cantarell"/>
      <p:regular r:id="rId48"/>
      <p:bold r:id="rId49"/>
      <p:italic r:id="rId50"/>
      <p:boldItalic r:id="rId51"/>
    </p:embeddedFont>
    <p:embeddedFont>
      <p:font typeface="Open Sans SemiBold"/>
      <p:regular r:id="rId52"/>
      <p:bold r:id="rId53"/>
      <p:italic r:id="rId54"/>
      <p:boldItalic r:id="rId55"/>
    </p:embeddedFont>
    <p:embeddedFont>
      <p:font typeface="Open Sans Medium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Economica-regular.fntdata"/><Relationship Id="rId41" Type="http://schemas.openxmlformats.org/officeDocument/2006/relationships/slide" Target="slides/slide36.xml"/><Relationship Id="rId44" Type="http://schemas.openxmlformats.org/officeDocument/2006/relationships/font" Target="fonts/Economica-italic.fntdata"/><Relationship Id="rId43" Type="http://schemas.openxmlformats.org/officeDocument/2006/relationships/font" Target="fonts/Economica-bold.fntdata"/><Relationship Id="rId46" Type="http://schemas.openxmlformats.org/officeDocument/2006/relationships/font" Target="fonts/Oxygen-regular.fntdata"/><Relationship Id="rId45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antarell-regular.fntdata"/><Relationship Id="rId47" Type="http://schemas.openxmlformats.org/officeDocument/2006/relationships/font" Target="fonts/Oxygen-bold.fntdata"/><Relationship Id="rId49" Type="http://schemas.openxmlformats.org/officeDocument/2006/relationships/font" Target="fonts/Cantarel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antarell-boldItalic.fntdata"/><Relationship Id="rId50" Type="http://schemas.openxmlformats.org/officeDocument/2006/relationships/font" Target="fonts/Cantarell-italic.fntdata"/><Relationship Id="rId53" Type="http://schemas.openxmlformats.org/officeDocument/2006/relationships/font" Target="fonts/OpenSansSemiBold-bold.fntdata"/><Relationship Id="rId52" Type="http://schemas.openxmlformats.org/officeDocument/2006/relationships/font" Target="fonts/OpenSans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SemiBold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SemiBold-italic.fntdata"/><Relationship Id="rId13" Type="http://schemas.openxmlformats.org/officeDocument/2006/relationships/slide" Target="slides/slide8.xml"/><Relationship Id="rId57" Type="http://schemas.openxmlformats.org/officeDocument/2006/relationships/font" Target="fonts/OpenSansMedium-bold.fntdata"/><Relationship Id="rId12" Type="http://schemas.openxmlformats.org/officeDocument/2006/relationships/slide" Target="slides/slide7.xml"/><Relationship Id="rId56" Type="http://schemas.openxmlformats.org/officeDocument/2006/relationships/font" Target="fonts/OpenSansMedium-regular.fntdata"/><Relationship Id="rId15" Type="http://schemas.openxmlformats.org/officeDocument/2006/relationships/slide" Target="slides/slide10.xml"/><Relationship Id="rId59" Type="http://schemas.openxmlformats.org/officeDocument/2006/relationships/font" Target="fonts/OpenSansMedium-boldItalic.fntdata"/><Relationship Id="rId14" Type="http://schemas.openxmlformats.org/officeDocument/2006/relationships/slide" Target="slides/slide9.xml"/><Relationship Id="rId58" Type="http://schemas.openxmlformats.org/officeDocument/2006/relationships/font" Target="fonts/OpenSans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9e8482591_1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9e8482591_1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9e8482591_1_2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9e8482591_1_2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9e8482591_1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9e8482591_1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156bb050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b156bb050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156bb050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156bb05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156bb050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b156bb050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156bb050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156bb050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9e8482591_1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9e8482591_1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9e8482591_1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09e8482591_1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09e8482591_1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09e8482591_1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9e8482591_1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9e8482591_1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09e8482591_1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09e8482591_1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9e8482591_1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9e8482591_1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9e8482591_1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9e8482591_1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b156bb050b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b156bb050b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09e8482591_1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09e8482591_1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156bb050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156bb050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b156bb050b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b156bb050b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b156bb050b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b156bb050b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09e8482591_1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09e8482591_1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09e8482591_1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09e8482591_1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09e8482591_1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09e8482591_1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9e8482591_1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9e8482591_1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09e8482591_1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09e8482591_1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9e8482591_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9e8482591_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09e8482591_1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09e8482591_1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09e8482591_1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09e8482591_1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09e8482591_1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09e8482591_1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9e8482591_1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9e8482591_1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9e8482591_1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9e8482591_1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09e8482591_1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09e8482591_1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09e8482591_1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09e8482591_1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b156bb050b_1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b156bb050b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09e8482591_1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09e8482591_1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9e8482591_1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9e8482591_1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79646aa3e9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79646aa3e9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>
            <a:stCxn id="71" idx="2"/>
            <a:endCxn id="72" idx="0"/>
          </p:cNvCxnSpPr>
          <p:nvPr/>
        </p:nvCxnSpPr>
        <p:spPr>
          <a:xfrm rot="5400000">
            <a:off x="2914525" y="-458525"/>
            <a:ext cx="569100" cy="25284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" name="Google Shape;71;p15"/>
          <p:cNvSpPr/>
          <p:nvPr/>
        </p:nvSpPr>
        <p:spPr>
          <a:xfrm>
            <a:off x="2800825" y="31525"/>
            <a:ext cx="33249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Do the edges of the graph have a value attached to them?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940225" y="1090275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455050" y="1090275"/>
            <a:ext cx="1989000" cy="6216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74" name="Google Shape;74;p15"/>
          <p:cNvCxnSpPr>
            <a:stCxn id="71" idx="2"/>
            <a:endCxn id="73" idx="0"/>
          </p:cNvCxnSpPr>
          <p:nvPr/>
        </p:nvCxnSpPr>
        <p:spPr>
          <a:xfrm flipH="1" rot="-5400000">
            <a:off x="5171875" y="-187475"/>
            <a:ext cx="569100" cy="19863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" name="Google Shape;75;p15"/>
          <p:cNvSpPr txBox="1"/>
          <p:nvPr/>
        </p:nvSpPr>
        <p:spPr>
          <a:xfrm>
            <a:off x="3163450" y="605046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194994" y="605038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167925" y="1981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78" name="Google Shape;78;p15"/>
          <p:cNvCxnSpPr>
            <a:stCxn id="72" idx="2"/>
            <a:endCxn id="77" idx="0"/>
          </p:cNvCxnSpPr>
          <p:nvPr/>
        </p:nvCxnSpPr>
        <p:spPr>
          <a:xfrm flipH="1" rot="-5400000">
            <a:off x="1800325" y="1846275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" name="Google Shape;79;p15"/>
          <p:cNvCxnSpPr>
            <a:stCxn id="77" idx="2"/>
            <a:endCxn id="80" idx="0"/>
          </p:cNvCxnSpPr>
          <p:nvPr/>
        </p:nvCxnSpPr>
        <p:spPr>
          <a:xfrm rot="5400000">
            <a:off x="1087525" y="2306163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>
            <a:stCxn id="77" idx="2"/>
            <a:endCxn id="82" idx="0"/>
          </p:cNvCxnSpPr>
          <p:nvPr/>
        </p:nvCxnSpPr>
        <p:spPr>
          <a:xfrm flipH="1" rot="-5400000">
            <a:off x="1975225" y="2430363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" name="Google Shape;80;p15"/>
          <p:cNvSpPr/>
          <p:nvPr/>
        </p:nvSpPr>
        <p:spPr>
          <a:xfrm>
            <a:off x="33175" y="3153500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816375" y="4117725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935325" y="3157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84" name="Google Shape;84;p15"/>
          <p:cNvCxnSpPr>
            <a:stCxn id="82" idx="2"/>
            <a:endCxn id="83" idx="0"/>
          </p:cNvCxnSpPr>
          <p:nvPr/>
        </p:nvCxnSpPr>
        <p:spPr>
          <a:xfrm rot="5400000">
            <a:off x="1968625" y="3384363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>
            <a:stCxn id="82" idx="2"/>
            <a:endCxn id="86" idx="0"/>
          </p:cNvCxnSpPr>
          <p:nvPr/>
        </p:nvCxnSpPr>
        <p:spPr>
          <a:xfrm flipH="1" rot="-5400000">
            <a:off x="2296975" y="4052013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5"/>
          <p:cNvSpPr/>
          <p:nvPr/>
        </p:nvSpPr>
        <p:spPr>
          <a:xfrm>
            <a:off x="1812475" y="4457725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065350" y="1986338"/>
            <a:ext cx="27684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88" name="Google Shape;88;p15"/>
          <p:cNvCxnSpPr>
            <a:stCxn id="73" idx="2"/>
            <a:endCxn id="87" idx="0"/>
          </p:cNvCxnSpPr>
          <p:nvPr/>
        </p:nvCxnSpPr>
        <p:spPr>
          <a:xfrm flipH="1" rot="-5400000">
            <a:off x="6312600" y="1848825"/>
            <a:ext cx="2745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" name="Google Shape;89;p15"/>
          <p:cNvCxnSpPr>
            <a:stCxn id="87" idx="2"/>
            <a:endCxn id="90" idx="0"/>
          </p:cNvCxnSpPr>
          <p:nvPr/>
        </p:nvCxnSpPr>
        <p:spPr>
          <a:xfrm rot="5400000">
            <a:off x="5652750" y="2161838"/>
            <a:ext cx="482700" cy="11109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" name="Google Shape;90;p15"/>
          <p:cNvSpPr/>
          <p:nvPr/>
        </p:nvSpPr>
        <p:spPr>
          <a:xfrm>
            <a:off x="4571988" y="2958525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91" name="Google Shape;91;p15"/>
          <p:cNvCxnSpPr>
            <a:stCxn id="90" idx="2"/>
            <a:endCxn id="92" idx="0"/>
          </p:cNvCxnSpPr>
          <p:nvPr/>
        </p:nvCxnSpPr>
        <p:spPr>
          <a:xfrm rot="5400000">
            <a:off x="4652088" y="3077325"/>
            <a:ext cx="315900" cy="10575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5"/>
          <p:cNvSpPr/>
          <p:nvPr/>
        </p:nvSpPr>
        <p:spPr>
          <a:xfrm>
            <a:off x="3391650" y="3764063"/>
            <a:ext cx="1779300" cy="7101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93" name="Google Shape;93;p15"/>
          <p:cNvCxnSpPr>
            <a:stCxn id="87" idx="2"/>
            <a:endCxn id="94" idx="0"/>
          </p:cNvCxnSpPr>
          <p:nvPr/>
        </p:nvCxnSpPr>
        <p:spPr>
          <a:xfrm flipH="1" rot="-5400000">
            <a:off x="6671550" y="2253938"/>
            <a:ext cx="492300" cy="936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4" name="Google Shape;94;p15"/>
          <p:cNvSpPr/>
          <p:nvPr/>
        </p:nvSpPr>
        <p:spPr>
          <a:xfrm>
            <a:off x="6619075" y="2968200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449138" y="4117725"/>
            <a:ext cx="1779300" cy="7101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596425" y="4430000"/>
            <a:ext cx="1779300" cy="7101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364700" y="4429975"/>
            <a:ext cx="1779300" cy="7101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98" name="Google Shape;98;p15"/>
          <p:cNvCxnSpPr>
            <a:stCxn id="94" idx="2"/>
            <a:endCxn id="96" idx="0"/>
          </p:cNvCxnSpPr>
          <p:nvPr/>
        </p:nvCxnSpPr>
        <p:spPr>
          <a:xfrm rot="5400000">
            <a:off x="6449875" y="3494100"/>
            <a:ext cx="972300" cy="8997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>
            <a:stCxn id="94" idx="2"/>
            <a:endCxn id="97" idx="0"/>
          </p:cNvCxnSpPr>
          <p:nvPr/>
        </p:nvCxnSpPr>
        <p:spPr>
          <a:xfrm flipH="1" rot="-5400000">
            <a:off x="7333975" y="3509700"/>
            <a:ext cx="972300" cy="8685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5"/>
          <p:cNvSpPr txBox="1"/>
          <p:nvPr/>
        </p:nvSpPr>
        <p:spPr>
          <a:xfrm>
            <a:off x="1912525" y="3785238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2490617" y="4079497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811838" y="385599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03" name="Google Shape;103;p15"/>
          <p:cNvCxnSpPr>
            <a:stCxn id="90" idx="2"/>
            <a:endCxn id="95" idx="0"/>
          </p:cNvCxnSpPr>
          <p:nvPr/>
        </p:nvCxnSpPr>
        <p:spPr>
          <a:xfrm>
            <a:off x="5338788" y="3448125"/>
            <a:ext cx="0" cy="6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5"/>
          <p:cNvSpPr txBox="1"/>
          <p:nvPr/>
        </p:nvSpPr>
        <p:spPr>
          <a:xfrm>
            <a:off x="5732900" y="2629188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734750" y="2634031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311000" y="269434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150550" y="38168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122975" y="269433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644575" y="38130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4571275" y="3518210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7" name="Google Shape;117;p16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19" name="Google Shape;119;p16"/>
          <p:cNvCxnSpPr>
            <a:stCxn id="117" idx="2"/>
            <a:endCxn id="118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16"/>
          <p:cNvCxnSpPr>
            <a:stCxn id="118" idx="2"/>
            <a:endCxn id="121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>
            <a:stCxn id="118" idx="2"/>
            <a:endCxn id="123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1" name="Google Shape;121;p16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25" name="Google Shape;125;p16"/>
          <p:cNvCxnSpPr>
            <a:stCxn id="123" idx="2"/>
            <a:endCxn id="124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>
            <a:stCxn id="123" idx="2"/>
            <a:endCxn id="127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6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a relation is there or not!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" name="Google Shape;138;p17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40" name="Google Shape;140;p17"/>
          <p:cNvCxnSpPr>
            <a:stCxn id="138" idx="2"/>
            <a:endCxn id="139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17"/>
          <p:cNvCxnSpPr>
            <a:stCxn id="139" idx="2"/>
            <a:endCxn id="142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7"/>
          <p:cNvCxnSpPr>
            <a:stCxn id="139" idx="2"/>
            <a:endCxn id="144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" name="Google Shape;142;p17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46" name="Google Shape;146;p17"/>
          <p:cNvCxnSpPr>
            <a:stCxn id="144" idx="2"/>
            <a:endCxn id="145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7"/>
          <p:cNvCxnSpPr>
            <a:stCxn id="144" idx="2"/>
            <a:endCxn id="148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7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a relation is there or not!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thing we know is whether there is </a:t>
            </a:r>
            <a:r>
              <a:rPr b="1" lang="en"/>
              <a:t>directionality </a:t>
            </a:r>
            <a:r>
              <a:rPr lang="en"/>
              <a:t>to the social relationship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options: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9" name="Google Shape;159;p18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61" name="Google Shape;161;p18"/>
          <p:cNvCxnSpPr>
            <a:stCxn id="159" idx="2"/>
            <a:endCxn id="160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18"/>
          <p:cNvCxnSpPr>
            <a:stCxn id="160" idx="2"/>
            <a:endCxn id="163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8"/>
          <p:cNvCxnSpPr>
            <a:stCxn id="160" idx="2"/>
            <a:endCxn id="165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" name="Google Shape;163;p18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67" name="Google Shape;167;p18"/>
          <p:cNvCxnSpPr>
            <a:stCxn id="165" idx="2"/>
            <a:endCxn id="166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8"/>
          <p:cNvCxnSpPr>
            <a:stCxn id="165" idx="2"/>
            <a:endCxn id="169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8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a relation is there or not!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thing we know is whether there is </a:t>
            </a:r>
            <a:r>
              <a:rPr b="1" lang="en"/>
              <a:t>directionality </a:t>
            </a:r>
            <a:r>
              <a:rPr lang="en"/>
              <a:t>to the social relationship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options: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Directionality is </a:t>
            </a:r>
            <a:r>
              <a:rPr b="1" lang="en"/>
              <a:t>meaningful</a:t>
            </a:r>
            <a:r>
              <a:rPr lang="en"/>
              <a:t> to characterizing the tie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80" name="Google Shape;180;p19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82" name="Google Shape;182;p19"/>
          <p:cNvCxnSpPr>
            <a:stCxn id="180" idx="2"/>
            <a:endCxn id="181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9"/>
          <p:cNvCxnSpPr>
            <a:stCxn id="181" idx="2"/>
            <a:endCxn id="184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9"/>
          <p:cNvCxnSpPr>
            <a:stCxn id="181" idx="2"/>
            <a:endCxn id="186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4" name="Google Shape;184;p19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88" name="Google Shape;188;p19"/>
          <p:cNvCxnSpPr>
            <a:stCxn id="186" idx="2"/>
            <a:endCxn id="187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9"/>
          <p:cNvCxnSpPr>
            <a:stCxn id="186" idx="2"/>
            <a:endCxn id="190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9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a relation is there or not!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thing we know is whether there is </a:t>
            </a:r>
            <a:r>
              <a:rPr b="1" lang="en"/>
              <a:t>directionality </a:t>
            </a:r>
            <a:r>
              <a:rPr lang="en"/>
              <a:t>to the social relationship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options: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Directionality is </a:t>
            </a:r>
            <a:r>
              <a:rPr b="1" lang="en"/>
              <a:t>meaningful</a:t>
            </a:r>
            <a:r>
              <a:rPr lang="en"/>
              <a:t> to characterizing the tie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Directionality is </a:t>
            </a:r>
            <a:r>
              <a:rPr b="1" lang="en"/>
              <a:t>meaningless</a:t>
            </a:r>
            <a:endParaRPr b="1"/>
          </a:p>
        </p:txBody>
      </p:sp>
      <p:sp>
        <p:nvSpPr>
          <p:cNvPr id="201" name="Google Shape;201;p20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203" name="Google Shape;203;p20"/>
          <p:cNvCxnSpPr>
            <a:stCxn id="201" idx="2"/>
            <a:endCxn id="202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0"/>
          <p:cNvCxnSpPr>
            <a:stCxn id="202" idx="2"/>
            <a:endCxn id="205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0"/>
          <p:cNvCxnSpPr>
            <a:stCxn id="202" idx="2"/>
            <a:endCxn id="207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" name="Google Shape;205;p20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209" name="Google Shape;209;p20"/>
          <p:cNvCxnSpPr>
            <a:stCxn id="207" idx="2"/>
            <a:endCxn id="208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>
            <a:stCxn id="207" idx="2"/>
            <a:endCxn id="211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0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" name="Google Shape;228;p22"/>
          <p:cNvCxnSpPr>
            <a:stCxn id="227" idx="6"/>
            <a:endCxn id="229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2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</a:t>
            </a:r>
            <a:r>
              <a:rPr lang="en"/>
              <a:t>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necessary </a:t>
            </a:r>
            <a:r>
              <a:rPr lang="en"/>
              <a:t>that </a:t>
            </a:r>
            <a:r>
              <a:rPr b="1" i="1" lang="en"/>
              <a:t>B </a:t>
            </a:r>
            <a:r>
              <a:rPr lang="en"/>
              <a:t>is linked to </a:t>
            </a:r>
            <a:r>
              <a:rPr b="1" i="1" lang="en"/>
              <a:t>A</a:t>
            </a:r>
            <a:r>
              <a:rPr lang="en"/>
              <a:t> </a:t>
            </a:r>
            <a:r>
              <a:rPr lang="en"/>
              <a:t>(</a:t>
            </a:r>
            <a:r>
              <a:rPr lang="en"/>
              <a:t>but can happen)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" name="Google Shape;238;p23"/>
          <p:cNvCxnSpPr>
            <a:stCxn id="237" idx="6"/>
            <a:endCxn id="239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" name="Google Shape;241;p23"/>
          <p:cNvCxnSpPr>
            <a:stCxn id="240" idx="7"/>
            <a:endCxn id="242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" name="Google Shape;242;p23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23"/>
          <p:cNvCxnSpPr>
            <a:stCxn id="242" idx="3"/>
            <a:endCxn id="240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44" name="Google Shape;244;p23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necessary </a:t>
            </a:r>
            <a:r>
              <a:rPr lang="en"/>
              <a:t>that </a:t>
            </a:r>
            <a:r>
              <a:rPr b="1" i="1" lang="en"/>
              <a:t>B </a:t>
            </a:r>
            <a:r>
              <a:rPr lang="en"/>
              <a:t>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3" name="Google Shape;253;p24"/>
          <p:cNvCxnSpPr>
            <a:stCxn id="252" idx="6"/>
            <a:endCxn id="254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4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6" name="Google Shape;256;p24"/>
          <p:cNvCxnSpPr>
            <a:stCxn id="255" idx="7"/>
            <a:endCxn id="257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7" name="Google Shape;257;p24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9" name="Google Shape;259;p24"/>
          <p:cNvCxnSpPr>
            <a:stCxn id="258" idx="6"/>
            <a:endCxn id="260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" name="Google Shape;260;p24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1" name="Google Shape;261;p24"/>
          <p:cNvCxnSpPr>
            <a:stCxn id="257" idx="3"/>
            <a:endCxn id="255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62" name="Google Shape;262;p24"/>
          <p:cNvSpPr txBox="1"/>
          <p:nvPr/>
        </p:nvSpPr>
        <p:spPr>
          <a:xfrm>
            <a:off x="6059925" y="4656625"/>
            <a:ext cx="179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270" name="Google Shape;270;p25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necessary </a:t>
            </a:r>
            <a:r>
              <a:rPr lang="en"/>
              <a:t>that </a:t>
            </a:r>
            <a:r>
              <a:rPr b="1" i="1" lang="en"/>
              <a:t>B </a:t>
            </a:r>
            <a:r>
              <a:rPr lang="en"/>
              <a:t>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" name="Google Shape;272;p25"/>
          <p:cNvCxnSpPr>
            <a:stCxn id="271" idx="6"/>
            <a:endCxn id="273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5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5" name="Google Shape;275;p25"/>
          <p:cNvCxnSpPr>
            <a:stCxn id="274" idx="7"/>
            <a:endCxn id="276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6" name="Google Shape;276;p25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8" name="Google Shape;278;p25"/>
          <p:cNvCxnSpPr>
            <a:stCxn id="277" idx="6"/>
            <a:endCxn id="279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9" name="Google Shape;279;p25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25"/>
          <p:cNvCxnSpPr>
            <a:stCxn id="276" idx="3"/>
            <a:endCxn id="274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81" name="Google Shape;281;p25"/>
          <p:cNvSpPr txBox="1"/>
          <p:nvPr/>
        </p:nvSpPr>
        <p:spPr>
          <a:xfrm>
            <a:off x="5924325" y="4635125"/>
            <a:ext cx="206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One-Way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5900475" y="3399375"/>
            <a:ext cx="211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Two-Way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No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289" name="Google Shape;289;p26"/>
          <p:cNvSpPr txBox="1"/>
          <p:nvPr>
            <p:ph idx="1" type="body"/>
          </p:nvPr>
        </p:nvSpPr>
        <p:spPr>
          <a:xfrm>
            <a:off x="483325" y="1147225"/>
            <a:ext cx="46191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 </a:t>
            </a:r>
            <a:r>
              <a:rPr lang="en"/>
              <a:t>edges can be of two kinds: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0000FF"/>
                </a:solidFill>
              </a:rPr>
              <a:t>Reciprocal</a:t>
            </a:r>
            <a:r>
              <a:rPr lang="en"/>
              <a:t>: If edges going in both directions exist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like me and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 and I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Nonreciprocal</a:t>
            </a:r>
            <a:r>
              <a:rPr lang="en">
                <a:solidFill>
                  <a:srgbClr val="FF0000"/>
                </a:solidFill>
              </a:rPr>
              <a:t>:</a:t>
            </a:r>
            <a:r>
              <a:rPr lang="en"/>
              <a:t> Edges only go in one direction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don’t like me, but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me, but I don’t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Reciprocity is only defined for asymmetric edges!</a:t>
            </a:r>
            <a:endParaRPr i="1"/>
          </a:p>
        </p:txBody>
      </p:sp>
      <p:sp>
        <p:nvSpPr>
          <p:cNvPr id="290" name="Google Shape;290;p26"/>
          <p:cNvSpPr/>
          <p:nvPr/>
        </p:nvSpPr>
        <p:spPr>
          <a:xfrm>
            <a:off x="5727883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1" name="Google Shape;291;p26"/>
          <p:cNvCxnSpPr>
            <a:stCxn id="290" idx="7"/>
            <a:endCxn id="292" idx="1"/>
          </p:cNvCxnSpPr>
          <p:nvPr/>
        </p:nvCxnSpPr>
        <p:spPr>
          <a:xfrm>
            <a:off x="6397239" y="176885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2" name="Google Shape;292;p26"/>
          <p:cNvSpPr/>
          <p:nvPr/>
        </p:nvSpPr>
        <p:spPr>
          <a:xfrm>
            <a:off x="7341784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3" name="Google Shape;293;p26"/>
          <p:cNvCxnSpPr>
            <a:stCxn id="292" idx="3"/>
            <a:endCxn id="290" idx="5"/>
          </p:cNvCxnSpPr>
          <p:nvPr/>
        </p:nvCxnSpPr>
        <p:spPr>
          <a:xfrm rot="10800000">
            <a:off x="6397327" y="230724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" name="Google Shape;294;p26"/>
          <p:cNvSpPr txBox="1"/>
          <p:nvPr/>
        </p:nvSpPr>
        <p:spPr>
          <a:xfrm>
            <a:off x="6155525" y="2418792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Edge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727933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6" name="Google Shape;296;p26"/>
          <p:cNvCxnSpPr>
            <a:stCxn id="295" idx="7"/>
            <a:endCxn id="297" idx="1"/>
          </p:cNvCxnSpPr>
          <p:nvPr/>
        </p:nvCxnSpPr>
        <p:spPr>
          <a:xfrm>
            <a:off x="6397289" y="3098795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7" name="Google Shape;297;p26"/>
          <p:cNvSpPr/>
          <p:nvPr/>
        </p:nvSpPr>
        <p:spPr>
          <a:xfrm>
            <a:off x="7341834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6064175" y="3748700"/>
            <a:ext cx="1725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Edge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5814943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Antisymmetric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5" name="Google Shape;305;p27"/>
          <p:cNvCxnSpPr>
            <a:stCxn id="306" idx="2"/>
            <a:endCxn id="307" idx="0"/>
          </p:cNvCxnSpPr>
          <p:nvPr/>
        </p:nvCxnSpPr>
        <p:spPr>
          <a:xfrm rot="5400000">
            <a:off x="3140875" y="1053800"/>
            <a:ext cx="696000" cy="21678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7"/>
          <p:cNvSpPr/>
          <p:nvPr/>
        </p:nvSpPr>
        <p:spPr>
          <a:xfrm>
            <a:off x="3355975" y="1116500"/>
            <a:ext cx="2433600" cy="673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xygen"/>
                <a:ea typeface="Oxygen"/>
                <a:cs typeface="Oxygen"/>
                <a:sym typeface="Oxygen"/>
              </a:rPr>
              <a:t>Edges</a:t>
            </a:r>
            <a:endParaRPr sz="2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1480750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Symmetric</a:t>
            </a:r>
            <a:endParaRPr b="1"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8" name="Google Shape;308;p27"/>
          <p:cNvCxnSpPr>
            <a:stCxn id="306" idx="2"/>
            <a:endCxn id="304" idx="0"/>
          </p:cNvCxnSpPr>
          <p:nvPr/>
        </p:nvCxnSpPr>
        <p:spPr>
          <a:xfrm flipH="1" rot="-5400000">
            <a:off x="5307925" y="1054550"/>
            <a:ext cx="696000" cy="21663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7"/>
          <p:cNvSpPr/>
          <p:nvPr/>
        </p:nvSpPr>
        <p:spPr>
          <a:xfrm>
            <a:off x="3665818" y="24859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" name="Google Shape;310;p27"/>
          <p:cNvCxnSpPr>
            <a:stCxn id="309" idx="2"/>
            <a:endCxn id="311" idx="0"/>
          </p:cNvCxnSpPr>
          <p:nvPr/>
        </p:nvCxnSpPr>
        <p:spPr>
          <a:xfrm flipH="1" rot="-5400000">
            <a:off x="4673068" y="2839688"/>
            <a:ext cx="1033500" cy="11997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7"/>
          <p:cNvSpPr/>
          <p:nvPr/>
        </p:nvSpPr>
        <p:spPr>
          <a:xfrm>
            <a:off x="2650008" y="3956781"/>
            <a:ext cx="1673400" cy="5019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4951204" y="3956313"/>
            <a:ext cx="1676700" cy="50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Nonreciprocal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3" name="Google Shape;313;p27"/>
          <p:cNvCxnSpPr>
            <a:stCxn id="309" idx="2"/>
            <a:endCxn id="312" idx="0"/>
          </p:cNvCxnSpPr>
          <p:nvPr/>
        </p:nvCxnSpPr>
        <p:spPr>
          <a:xfrm rot="5400000">
            <a:off x="3521218" y="2888138"/>
            <a:ext cx="1034100" cy="11034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21" name="Google Shape;321;p28"/>
          <p:cNvCxnSpPr>
            <a:stCxn id="319" idx="2"/>
            <a:endCxn id="320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2" name="Google Shape;322;p28"/>
          <p:cNvCxnSpPr>
            <a:stCxn id="320" idx="2"/>
            <a:endCxn id="323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8"/>
          <p:cNvCxnSpPr>
            <a:stCxn id="320" idx="2"/>
            <a:endCxn id="325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3" name="Google Shape;323;p28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27" name="Google Shape;327;p28"/>
          <p:cNvCxnSpPr>
            <a:stCxn id="325" idx="2"/>
            <a:endCxn id="326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8"/>
          <p:cNvCxnSpPr>
            <a:stCxn id="325" idx="2"/>
            <a:endCxn id="329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8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41" name="Google Shape;341;p29"/>
          <p:cNvCxnSpPr>
            <a:stCxn id="339" idx="2"/>
            <a:endCxn id="340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2" name="Google Shape;342;p29"/>
          <p:cNvCxnSpPr>
            <a:stCxn id="340" idx="2"/>
            <a:endCxn id="343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9"/>
          <p:cNvCxnSpPr>
            <a:stCxn id="340" idx="2"/>
            <a:endCxn id="345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3" name="Google Shape;343;p29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47" name="Google Shape;347;p29"/>
          <p:cNvCxnSpPr>
            <a:stCxn id="345" idx="2"/>
            <a:endCxn id="346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9"/>
          <p:cNvCxnSpPr>
            <a:stCxn id="345" idx="2"/>
            <a:endCxn id="349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9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6708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5" name="Google Shape;355;p29"/>
          <p:cNvCxnSpPr>
            <a:stCxn id="354" idx="6"/>
            <a:endCxn id="356" idx="2"/>
          </p:cNvCxnSpPr>
          <p:nvPr/>
        </p:nvCxnSpPr>
        <p:spPr>
          <a:xfrm>
            <a:off x="1455088" y="1819450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29"/>
          <p:cNvSpPr/>
          <p:nvPr/>
        </p:nvSpPr>
        <p:spPr>
          <a:xfrm>
            <a:off x="22847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1129050" y="2169788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8" name="Google Shape;358;p29"/>
          <p:cNvCxnSpPr>
            <a:stCxn id="343" idx="1"/>
            <a:endCxn id="356" idx="6"/>
          </p:cNvCxnSpPr>
          <p:nvPr/>
        </p:nvCxnSpPr>
        <p:spPr>
          <a:xfrm rot="10800000">
            <a:off x="3068900" y="1819438"/>
            <a:ext cx="2216700" cy="1378800"/>
          </a:xfrm>
          <a:prstGeom prst="bentConnector3">
            <a:avLst>
              <a:gd fmla="val 31831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66" name="Google Shape;366;p30"/>
          <p:cNvCxnSpPr>
            <a:stCxn id="364" idx="2"/>
            <a:endCxn id="365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7" name="Google Shape;367;p30"/>
          <p:cNvCxnSpPr>
            <a:stCxn id="365" idx="2"/>
            <a:endCxn id="368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0"/>
          <p:cNvCxnSpPr>
            <a:stCxn id="365" idx="2"/>
            <a:endCxn id="370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8" name="Google Shape;368;p30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72" name="Google Shape;372;p30"/>
          <p:cNvCxnSpPr>
            <a:stCxn id="370" idx="2"/>
            <a:endCxn id="371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0"/>
          <p:cNvCxnSpPr>
            <a:stCxn id="370" idx="2"/>
            <a:endCxn id="374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0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6" name="Google Shape;376;p30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8" name="Google Shape;378;p30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6708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0" name="Google Shape;380;p30"/>
          <p:cNvCxnSpPr>
            <a:stCxn id="379" idx="6"/>
            <a:endCxn id="381" idx="2"/>
          </p:cNvCxnSpPr>
          <p:nvPr/>
        </p:nvCxnSpPr>
        <p:spPr>
          <a:xfrm>
            <a:off x="1455088" y="1819450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0"/>
          <p:cNvSpPr/>
          <p:nvPr/>
        </p:nvSpPr>
        <p:spPr>
          <a:xfrm>
            <a:off x="22847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670908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3" name="Google Shape;383;p30"/>
          <p:cNvCxnSpPr>
            <a:stCxn id="382" idx="7"/>
            <a:endCxn id="384" idx="1"/>
          </p:cNvCxnSpPr>
          <p:nvPr/>
        </p:nvCxnSpPr>
        <p:spPr>
          <a:xfrm>
            <a:off x="1340264" y="2735870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4" name="Google Shape;384;p30"/>
          <p:cNvSpPr/>
          <p:nvPr/>
        </p:nvSpPr>
        <p:spPr>
          <a:xfrm>
            <a:off x="2284809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5" name="Google Shape;385;p30"/>
          <p:cNvCxnSpPr>
            <a:stCxn id="384" idx="3"/>
            <a:endCxn id="382" idx="5"/>
          </p:cNvCxnSpPr>
          <p:nvPr/>
        </p:nvCxnSpPr>
        <p:spPr>
          <a:xfrm rot="10800000">
            <a:off x="1340352" y="3274261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86" name="Google Shape;386;p30"/>
          <p:cNvSpPr txBox="1"/>
          <p:nvPr/>
        </p:nvSpPr>
        <p:spPr>
          <a:xfrm>
            <a:off x="1098550" y="3385763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>
            <a:off x="1129050" y="2169788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8" name="Google Shape;388;p30"/>
          <p:cNvCxnSpPr>
            <a:stCxn id="371" idx="1"/>
            <a:endCxn id="384" idx="6"/>
          </p:cNvCxnSpPr>
          <p:nvPr/>
        </p:nvCxnSpPr>
        <p:spPr>
          <a:xfrm rot="10800000">
            <a:off x="3068900" y="3005062"/>
            <a:ext cx="2216700" cy="1085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0"/>
          <p:cNvCxnSpPr>
            <a:stCxn id="368" idx="1"/>
            <a:endCxn id="381" idx="6"/>
          </p:cNvCxnSpPr>
          <p:nvPr/>
        </p:nvCxnSpPr>
        <p:spPr>
          <a:xfrm rot="10800000">
            <a:off x="3068900" y="1819438"/>
            <a:ext cx="2216700" cy="1378800"/>
          </a:xfrm>
          <a:prstGeom prst="bentConnector3">
            <a:avLst>
              <a:gd fmla="val 31831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397" name="Google Shape;397;p31"/>
          <p:cNvCxnSpPr>
            <a:stCxn id="395" idx="2"/>
            <a:endCxn id="396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8" name="Google Shape;398;p31"/>
          <p:cNvCxnSpPr>
            <a:stCxn id="396" idx="2"/>
            <a:endCxn id="399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1"/>
          <p:cNvCxnSpPr>
            <a:stCxn id="396" idx="2"/>
            <a:endCxn id="401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9" name="Google Shape;399;p31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03" name="Google Shape;403;p31"/>
          <p:cNvCxnSpPr>
            <a:stCxn id="401" idx="2"/>
            <a:endCxn id="402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1"/>
          <p:cNvCxnSpPr>
            <a:stCxn id="401" idx="2"/>
            <a:endCxn id="405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1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6708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1" name="Google Shape;411;p31"/>
          <p:cNvCxnSpPr>
            <a:stCxn id="410" idx="6"/>
            <a:endCxn id="412" idx="2"/>
          </p:cNvCxnSpPr>
          <p:nvPr/>
        </p:nvCxnSpPr>
        <p:spPr>
          <a:xfrm>
            <a:off x="1455088" y="1819450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31"/>
          <p:cNvSpPr/>
          <p:nvPr/>
        </p:nvSpPr>
        <p:spPr>
          <a:xfrm>
            <a:off x="22847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670908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4" name="Google Shape;414;p31"/>
          <p:cNvCxnSpPr>
            <a:stCxn id="413" idx="7"/>
            <a:endCxn id="415" idx="1"/>
          </p:cNvCxnSpPr>
          <p:nvPr/>
        </p:nvCxnSpPr>
        <p:spPr>
          <a:xfrm>
            <a:off x="1340264" y="2735870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5" name="Google Shape;415;p31"/>
          <p:cNvSpPr/>
          <p:nvPr/>
        </p:nvSpPr>
        <p:spPr>
          <a:xfrm>
            <a:off x="2284809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670858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7" name="Google Shape;417;p31"/>
          <p:cNvCxnSpPr>
            <a:stCxn id="416" idx="6"/>
            <a:endCxn id="418" idx="2"/>
          </p:cNvCxnSpPr>
          <p:nvPr/>
        </p:nvCxnSpPr>
        <p:spPr>
          <a:xfrm>
            <a:off x="1455058" y="4244435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8" name="Google Shape;418;p31"/>
          <p:cNvSpPr/>
          <p:nvPr/>
        </p:nvSpPr>
        <p:spPr>
          <a:xfrm>
            <a:off x="2284759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9" name="Google Shape;419;p31"/>
          <p:cNvCxnSpPr>
            <a:stCxn id="415" idx="3"/>
            <a:endCxn id="413" idx="5"/>
          </p:cNvCxnSpPr>
          <p:nvPr/>
        </p:nvCxnSpPr>
        <p:spPr>
          <a:xfrm rot="10800000">
            <a:off x="1340352" y="3274261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0" name="Google Shape;420;p31"/>
          <p:cNvSpPr txBox="1"/>
          <p:nvPr/>
        </p:nvSpPr>
        <p:spPr>
          <a:xfrm>
            <a:off x="1002900" y="4662788"/>
            <a:ext cx="179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31"/>
          <p:cNvSpPr txBox="1"/>
          <p:nvPr/>
        </p:nvSpPr>
        <p:spPr>
          <a:xfrm>
            <a:off x="1098550" y="3385763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1129050" y="2169788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3" name="Google Shape;423;p31"/>
          <p:cNvCxnSpPr>
            <a:stCxn id="405" idx="1"/>
            <a:endCxn id="418" idx="6"/>
          </p:cNvCxnSpPr>
          <p:nvPr/>
        </p:nvCxnSpPr>
        <p:spPr>
          <a:xfrm rot="10800000">
            <a:off x="3068826" y="4244371"/>
            <a:ext cx="4134600" cy="2664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1"/>
          <p:cNvCxnSpPr>
            <a:stCxn id="402" idx="1"/>
            <a:endCxn id="415" idx="6"/>
          </p:cNvCxnSpPr>
          <p:nvPr/>
        </p:nvCxnSpPr>
        <p:spPr>
          <a:xfrm rot="10800000">
            <a:off x="3068900" y="3005062"/>
            <a:ext cx="2216700" cy="1085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1"/>
          <p:cNvCxnSpPr>
            <a:stCxn id="399" idx="1"/>
            <a:endCxn id="412" idx="6"/>
          </p:cNvCxnSpPr>
          <p:nvPr/>
        </p:nvCxnSpPr>
        <p:spPr>
          <a:xfrm rot="10800000">
            <a:off x="3068900" y="1819438"/>
            <a:ext cx="2216700" cy="1378800"/>
          </a:xfrm>
          <a:prstGeom prst="bentConnector3">
            <a:avLst>
              <a:gd fmla="val 31831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33" name="Google Shape;433;p32"/>
          <p:cNvCxnSpPr>
            <a:stCxn id="431" idx="2"/>
            <a:endCxn id="432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4" name="Google Shape;434;p32"/>
          <p:cNvCxnSpPr>
            <a:stCxn id="432" idx="2"/>
            <a:endCxn id="435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2"/>
          <p:cNvCxnSpPr>
            <a:stCxn id="432" idx="2"/>
            <a:endCxn id="437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5" name="Google Shape;435;p32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39" name="Google Shape;439;p32"/>
          <p:cNvCxnSpPr>
            <a:stCxn id="437" idx="2"/>
            <a:endCxn id="438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2"/>
          <p:cNvCxnSpPr>
            <a:stCxn id="437" idx="2"/>
            <a:endCxn id="441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32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6708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7" name="Google Shape;447;p32"/>
          <p:cNvCxnSpPr>
            <a:stCxn id="446" idx="6"/>
            <a:endCxn id="448" idx="2"/>
          </p:cNvCxnSpPr>
          <p:nvPr/>
        </p:nvCxnSpPr>
        <p:spPr>
          <a:xfrm>
            <a:off x="1455088" y="1819450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32"/>
          <p:cNvSpPr/>
          <p:nvPr/>
        </p:nvSpPr>
        <p:spPr>
          <a:xfrm>
            <a:off x="22847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670908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0" name="Google Shape;450;p32"/>
          <p:cNvCxnSpPr>
            <a:stCxn id="449" idx="7"/>
            <a:endCxn id="451" idx="1"/>
          </p:cNvCxnSpPr>
          <p:nvPr/>
        </p:nvCxnSpPr>
        <p:spPr>
          <a:xfrm>
            <a:off x="1340264" y="2735870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1" name="Google Shape;451;p32"/>
          <p:cNvSpPr/>
          <p:nvPr/>
        </p:nvSpPr>
        <p:spPr>
          <a:xfrm>
            <a:off x="2284809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670858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3" name="Google Shape;453;p32"/>
          <p:cNvCxnSpPr>
            <a:stCxn id="452" idx="6"/>
            <a:endCxn id="454" idx="2"/>
          </p:cNvCxnSpPr>
          <p:nvPr/>
        </p:nvCxnSpPr>
        <p:spPr>
          <a:xfrm>
            <a:off x="1455058" y="4244435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4" name="Google Shape;454;p32"/>
          <p:cNvSpPr/>
          <p:nvPr/>
        </p:nvSpPr>
        <p:spPr>
          <a:xfrm>
            <a:off x="2284759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5" name="Google Shape;455;p32"/>
          <p:cNvCxnSpPr>
            <a:stCxn id="451" idx="3"/>
            <a:endCxn id="449" idx="5"/>
          </p:cNvCxnSpPr>
          <p:nvPr/>
        </p:nvCxnSpPr>
        <p:spPr>
          <a:xfrm rot="10800000">
            <a:off x="1340352" y="3274261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56" name="Google Shape;456;p32"/>
          <p:cNvSpPr txBox="1"/>
          <p:nvPr/>
        </p:nvSpPr>
        <p:spPr>
          <a:xfrm>
            <a:off x="1002900" y="4662788"/>
            <a:ext cx="179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1098550" y="3385763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1129050" y="2169788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59" name="Google Shape;459;p32"/>
          <p:cNvCxnSpPr>
            <a:stCxn id="441" idx="1"/>
            <a:endCxn id="454" idx="6"/>
          </p:cNvCxnSpPr>
          <p:nvPr/>
        </p:nvCxnSpPr>
        <p:spPr>
          <a:xfrm rot="10800000">
            <a:off x="3068826" y="4244371"/>
            <a:ext cx="4134600" cy="2664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2"/>
          <p:cNvCxnSpPr>
            <a:stCxn id="438" idx="1"/>
            <a:endCxn id="451" idx="6"/>
          </p:cNvCxnSpPr>
          <p:nvPr/>
        </p:nvCxnSpPr>
        <p:spPr>
          <a:xfrm rot="10800000">
            <a:off x="3068900" y="3005062"/>
            <a:ext cx="2216700" cy="1085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2"/>
          <p:cNvCxnSpPr>
            <a:stCxn id="435" idx="1"/>
            <a:endCxn id="448" idx="6"/>
          </p:cNvCxnSpPr>
          <p:nvPr/>
        </p:nvCxnSpPr>
        <p:spPr>
          <a:xfrm rot="10800000">
            <a:off x="3068900" y="1819438"/>
            <a:ext cx="2216700" cy="1378800"/>
          </a:xfrm>
          <a:prstGeom prst="bentConnector3">
            <a:avLst>
              <a:gd fmla="val 31831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472" name="Google Shape;472;p34"/>
          <p:cNvSpPr txBox="1"/>
          <p:nvPr>
            <p:ph idx="1" type="body"/>
          </p:nvPr>
        </p:nvSpPr>
        <p:spPr>
          <a:xfrm>
            <a:off x="311700" y="1225225"/>
            <a:ext cx="480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478" name="Google Shape;478;p35"/>
          <p:cNvSpPr txBox="1"/>
          <p:nvPr>
            <p:ph idx="1" type="body"/>
          </p:nvPr>
        </p:nvSpPr>
        <p:spPr>
          <a:xfrm>
            <a:off x="311700" y="1225225"/>
            <a:ext cx="480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5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488" name="Google Shape;488;p36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0" name="Google Shape;490;p36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3" name="Google Shape;493;p36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6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you decide if two actors are connected?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5" name="Google Shape;505;p37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37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512" name="Google Shape;512;p38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you decide if two actors are connected?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networks analysts use three criteria: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the actors </a:t>
            </a:r>
            <a:r>
              <a:rPr b="1" lang="en"/>
              <a:t>similar </a:t>
            </a:r>
            <a:r>
              <a:rPr lang="en"/>
              <a:t>in some respect?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 the actors </a:t>
            </a:r>
            <a:r>
              <a:rPr b="1" lang="en"/>
              <a:t>interact </a:t>
            </a:r>
            <a:r>
              <a:rPr lang="en"/>
              <a:t>in some manner?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 the actors play complementary </a:t>
            </a:r>
            <a:r>
              <a:rPr b="1" lang="en"/>
              <a:t>roles</a:t>
            </a:r>
            <a:r>
              <a:rPr lang="en"/>
              <a:t>?</a:t>
            </a:r>
            <a:endParaRPr/>
          </a:p>
        </p:txBody>
      </p:sp>
      <p:sp>
        <p:nvSpPr>
          <p:cNvPr id="513" name="Google Shape;513;p38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7" name="Google Shape;517;p38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38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</a:t>
            </a:r>
            <a:r>
              <a:rPr lang="en"/>
              <a:t>Connectivity</a:t>
            </a:r>
            <a:endParaRPr/>
          </a:p>
        </p:txBody>
      </p:sp>
      <p:sp>
        <p:nvSpPr>
          <p:cNvPr id="524" name="Google Shape;524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Similarities: </a:t>
            </a:r>
            <a:r>
              <a:rPr i="1" lang="en"/>
              <a:t>Link people who have something in common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Co-location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Co-membership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trait, identity, or social category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Interactions: </a:t>
            </a:r>
            <a:r>
              <a:rPr i="1" lang="en">
                <a:solidFill>
                  <a:schemeClr val="dk2"/>
                </a:solidFill>
              </a:rPr>
              <a:t>Link people who behave in certain ways toward one another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Texting, calling, zooming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Helping, advising, ask out on a date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Liking, disliking, fighting, bullying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Role-relations: </a:t>
            </a:r>
            <a:r>
              <a:rPr i="1" lang="en">
                <a:solidFill>
                  <a:schemeClr val="dk2"/>
                </a:solidFill>
              </a:rPr>
              <a:t>Link people who recognize one another using a culturally recognized label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Kin ties (parent of, sibling of, cousin of, uncle of)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Informal non-kin ties (friends, neighbors, acquaintances)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Formal non-kin ties (co-workers, boss of, supervisor of)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530" name="Google Shape;530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Similarities: </a:t>
            </a:r>
            <a:r>
              <a:rPr i="1" lang="en">
                <a:solidFill>
                  <a:schemeClr val="dk2"/>
                </a:solidFill>
              </a:rPr>
              <a:t>Link people who have something in common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Co-location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Co-membership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Same trait, identity, or social category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Interactions: </a:t>
            </a:r>
            <a:r>
              <a:rPr i="1" lang="en"/>
              <a:t>Link people who behave in certain ways toward one another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Texting, calling, zoom invite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Helping, advising, ask out on a 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disliking, fighting, bullying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Role-relations: </a:t>
            </a:r>
            <a:r>
              <a:rPr i="1" lang="en">
                <a:solidFill>
                  <a:schemeClr val="dk2"/>
                </a:solidFill>
              </a:rPr>
              <a:t>Link people who recognize one another using a culturally recognized label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Kin ties (parent of, sibling of, cousin of, uncle of)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Informal non-kin ties (friends, neighbors, acquaintances)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Formal non-kin ties (co-workers, boss of, supervisor of)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Connectivity</a:t>
            </a:r>
            <a:endParaRPr/>
          </a:p>
        </p:txBody>
      </p:sp>
      <p:sp>
        <p:nvSpPr>
          <p:cNvPr id="536" name="Google Shape;536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Similarities: </a:t>
            </a:r>
            <a:r>
              <a:rPr i="1" lang="en">
                <a:solidFill>
                  <a:schemeClr val="dk2"/>
                </a:solidFill>
              </a:rPr>
              <a:t>Link people who have something in common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Co-location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Co-membership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Same trait, identity, or social category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Interactions: </a:t>
            </a:r>
            <a:r>
              <a:rPr i="1" lang="en">
                <a:solidFill>
                  <a:schemeClr val="dk2"/>
                </a:solidFill>
              </a:rPr>
              <a:t>Link people who behave in certain ways toward one another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Texting, calling, zooming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Helping, advising, ask out on a date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Liking, disliking, fighting, bullying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Role-relations: </a:t>
            </a:r>
            <a:r>
              <a:rPr i="1" lang="en"/>
              <a:t>Link people who recognize one another using a culturally recognized label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ties (parent of, sibling of, cousin of, uncle of)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Informal non-kin ties (friends, neighbors, acquaintances)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Formal non-kin ties (co-workers, boss of, supervisor of)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42" name="Google Shape;542;p42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r>
              <a:rPr lang="en"/>
              <a:t> 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are in the same place at the same time as another person, then they are also in the same place at the same time with you!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are zooming with someone, then they are also zooming with you!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go to UCLA with someone, then they also go to UCLA with you!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Interactions </a:t>
            </a:r>
            <a:r>
              <a:rPr lang="en">
                <a:solidFill>
                  <a:srgbClr val="B7B7B7"/>
                </a:solidFill>
              </a:rPr>
              <a:t>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asymmetric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like someone, but they don’t have to like you back!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send a text to someone, but they don’t have to respond!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follow someone on Twitter, but they don’t have to follow you back!</a:t>
            </a:r>
            <a:endParaRPr>
              <a:solidFill>
                <a:srgbClr val="B7B7B7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2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52" name="Google Shape;552;p43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Similarities</a:t>
            </a:r>
            <a:r>
              <a:rPr lang="en">
                <a:solidFill>
                  <a:srgbClr val="B7B7B7"/>
                </a:solidFill>
              </a:rPr>
              <a:t> 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in the same place at the same time as another person, then they are also in the same place at the same time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zooming with someone, then they are also zooming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go to UCLA with someone, then they also go to UCLA with you!</a:t>
            </a:r>
            <a:endParaRPr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Interactions </a:t>
            </a:r>
            <a:r>
              <a:rPr lang="en"/>
              <a:t>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like someone, but they don’t have to like you back!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send a text to someone, but they don’t have to respond!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follow someone on Twitter, but they don’t have to follow you back!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3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6" name="Google Shape;556;p43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62" name="Google Shape;562;p44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Similarities</a:t>
            </a:r>
            <a:r>
              <a:rPr lang="en">
                <a:solidFill>
                  <a:srgbClr val="B7B7B7"/>
                </a:solidFill>
              </a:rPr>
              <a:t> 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in the same place at the same time as another person, then they are also in the same place at the same time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zooming with someone, then they are also zooming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go to UCLA with someone, then they also go to UCLA with you!</a:t>
            </a:r>
            <a:endParaRPr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Interactions </a:t>
            </a:r>
            <a:r>
              <a:rPr lang="en"/>
              <a:t>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</a:t>
            </a:r>
            <a:r>
              <a:rPr b="1" lang="en"/>
              <a:t>interactions</a:t>
            </a:r>
            <a:r>
              <a:rPr lang="en"/>
              <a:t> can be either: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Reciprocal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Non-Reciprocal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3" name="Google Shape;5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4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66" name="Google Shape;566;p44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5791433" y="346020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8" name="Google Shape;568;p44"/>
          <p:cNvCxnSpPr>
            <a:stCxn id="567" idx="7"/>
            <a:endCxn id="569" idx="1"/>
          </p:cNvCxnSpPr>
          <p:nvPr/>
        </p:nvCxnSpPr>
        <p:spPr>
          <a:xfrm>
            <a:off x="6204723" y="3529487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9" name="Google Shape;569;p44"/>
          <p:cNvSpPr/>
          <p:nvPr/>
        </p:nvSpPr>
        <p:spPr>
          <a:xfrm>
            <a:off x="6788557" y="346020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0" name="Google Shape;570;p44"/>
          <p:cNvCxnSpPr>
            <a:stCxn id="569" idx="3"/>
            <a:endCxn id="567" idx="5"/>
          </p:cNvCxnSpPr>
          <p:nvPr/>
        </p:nvCxnSpPr>
        <p:spPr>
          <a:xfrm rot="10800000">
            <a:off x="6204866" y="3864020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1" name="Google Shape;571;p44"/>
          <p:cNvSpPr txBox="1"/>
          <p:nvPr/>
        </p:nvSpPr>
        <p:spPr>
          <a:xfrm>
            <a:off x="6055645" y="3933354"/>
            <a:ext cx="9531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Edge</a:t>
            </a:r>
            <a:endParaRPr sz="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5791464" y="428661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3" name="Google Shape;573;p44"/>
          <p:cNvCxnSpPr>
            <a:stCxn id="572" idx="7"/>
            <a:endCxn id="574" idx="1"/>
          </p:cNvCxnSpPr>
          <p:nvPr/>
        </p:nvCxnSpPr>
        <p:spPr>
          <a:xfrm>
            <a:off x="6204754" y="4355897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4" name="Google Shape;574;p44"/>
          <p:cNvSpPr/>
          <p:nvPr/>
        </p:nvSpPr>
        <p:spPr>
          <a:xfrm>
            <a:off x="6788587" y="428661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5" name="Google Shape;575;p44"/>
          <p:cNvSpPr txBox="1"/>
          <p:nvPr/>
        </p:nvSpPr>
        <p:spPr>
          <a:xfrm>
            <a:off x="5895449" y="4695275"/>
            <a:ext cx="1273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lang="en" sz="8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Edge</a:t>
            </a:r>
            <a:endParaRPr sz="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81" name="Google Shape;581;p45"/>
          <p:cNvSpPr txBox="1"/>
          <p:nvPr>
            <p:ph idx="1" type="body"/>
          </p:nvPr>
        </p:nvSpPr>
        <p:spPr>
          <a:xfrm>
            <a:off x="311700" y="1225225"/>
            <a:ext cx="693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 Relations</a:t>
            </a:r>
            <a:r>
              <a:rPr lang="en"/>
              <a:t> can be either </a:t>
            </a:r>
            <a:r>
              <a:rPr b="1" lang="en"/>
              <a:t>antisymmetric</a:t>
            </a:r>
            <a:r>
              <a:rPr lang="en"/>
              <a:t> or </a:t>
            </a:r>
            <a:r>
              <a:rPr b="1" lang="en"/>
              <a:t>symmetric</a:t>
            </a:r>
            <a:r>
              <a:rPr lang="en"/>
              <a:t> but can’t be asymmetric: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45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283113" y="2171025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1675" y="3880738"/>
            <a:ext cx="1828801" cy="108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89" name="Google Shape;589;p46"/>
          <p:cNvSpPr txBox="1"/>
          <p:nvPr>
            <p:ph idx="1" type="body"/>
          </p:nvPr>
        </p:nvSpPr>
        <p:spPr>
          <a:xfrm>
            <a:off x="311700" y="1225225"/>
            <a:ext cx="693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 Relations</a:t>
            </a:r>
            <a:r>
              <a:rPr lang="en"/>
              <a:t> can be either </a:t>
            </a:r>
            <a:r>
              <a:rPr b="1" lang="en"/>
              <a:t>antisymmetric</a:t>
            </a:r>
            <a:r>
              <a:rPr lang="en"/>
              <a:t> or </a:t>
            </a:r>
            <a:r>
              <a:rPr b="1" lang="en"/>
              <a:t>symmetric</a:t>
            </a:r>
            <a:r>
              <a:rPr lang="en"/>
              <a:t> but can’t be asymmetric: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Antisymmetric role relations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parent</a:t>
            </a:r>
            <a:r>
              <a:rPr lang="en"/>
              <a:t>, they can’t be your parent back!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Formal non-kin: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boss</a:t>
            </a:r>
            <a:r>
              <a:rPr lang="en"/>
              <a:t>, they can’t be your boss at the same time!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6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283113" y="2171025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1675" y="3880738"/>
            <a:ext cx="1828801" cy="108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597" name="Google Shape;597;p47"/>
          <p:cNvSpPr txBox="1"/>
          <p:nvPr>
            <p:ph idx="1" type="body"/>
          </p:nvPr>
        </p:nvSpPr>
        <p:spPr>
          <a:xfrm>
            <a:off x="311700" y="1225225"/>
            <a:ext cx="705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 Relations</a:t>
            </a:r>
            <a:r>
              <a:rPr lang="en"/>
              <a:t> can be either </a:t>
            </a:r>
            <a:r>
              <a:rPr b="1" lang="en"/>
              <a:t>antisymmetric</a:t>
            </a:r>
            <a:r>
              <a:rPr lang="en"/>
              <a:t> or </a:t>
            </a:r>
            <a:r>
              <a:rPr b="1" lang="en"/>
              <a:t>symmetric</a:t>
            </a:r>
            <a:r>
              <a:rPr lang="en"/>
              <a:t> but can’t be asymmetric: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Symmetric role relations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sibling</a:t>
            </a:r>
            <a:r>
              <a:rPr lang="en"/>
              <a:t>, they are also your sibling!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Informal non-kin: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neighbor</a:t>
            </a:r>
            <a:r>
              <a:rPr lang="en"/>
              <a:t>, they are also your neighbor!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Formal non-kin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co</a:t>
            </a:r>
            <a:r>
              <a:rPr lang="en"/>
              <a:t>-</a:t>
            </a:r>
            <a:r>
              <a:rPr b="1" lang="en"/>
              <a:t>worker</a:t>
            </a:r>
            <a:r>
              <a:rPr lang="en"/>
              <a:t>, they are also your co-worker!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47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488413" y="1074850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133" y="3719600"/>
            <a:ext cx="1554480" cy="124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577" y="2268675"/>
            <a:ext cx="1463039" cy="155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Types of Ties, Edges, and Graphs</a:t>
            </a:r>
            <a:endParaRPr/>
          </a:p>
        </p:txBody>
      </p:sp>
      <p:sp>
        <p:nvSpPr>
          <p:cNvPr id="606" name="Google Shape;606;p48"/>
          <p:cNvSpPr/>
          <p:nvPr/>
        </p:nvSpPr>
        <p:spPr>
          <a:xfrm>
            <a:off x="6077446" y="104163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7" name="Google Shape;607;p48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08" name="Google Shape;608;p48"/>
          <p:cNvCxnSpPr>
            <a:stCxn id="606" idx="2"/>
            <a:endCxn id="607" idx="0"/>
          </p:cNvCxnSpPr>
          <p:nvPr/>
        </p:nvCxnSpPr>
        <p:spPr>
          <a:xfrm flipH="1" rot="-5400000">
            <a:off x="6918196" y="1738688"/>
            <a:ext cx="212700" cy="600"/>
          </a:xfrm>
          <a:prstGeom prst="bentConnector3">
            <a:avLst>
              <a:gd fmla="val 49977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9" name="Google Shape;609;p48"/>
          <p:cNvCxnSpPr>
            <a:stCxn id="607" idx="2"/>
            <a:endCxn id="610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8"/>
          <p:cNvCxnSpPr>
            <a:stCxn id="607" idx="2"/>
            <a:endCxn id="612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0" name="Google Shape;610;p48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3" name="Google Shape;613;p48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rgbClr val="607D8B"/>
          </a:solidFill>
          <a:ln cap="flat" cmpd="sng" w="9525">
            <a:solidFill>
              <a:srgbClr val="607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2" name="Google Shape;612;p48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14" name="Google Shape;614;p48"/>
          <p:cNvCxnSpPr>
            <a:stCxn id="612" idx="2"/>
            <a:endCxn id="613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8"/>
          <p:cNvCxnSpPr>
            <a:stCxn id="612" idx="2"/>
            <a:endCxn id="616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48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rgbClr val="57BB8A"/>
          </a:solidFill>
          <a:ln cap="flat" cmpd="sng" w="9525">
            <a:solidFill>
              <a:srgbClr val="57B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7" name="Google Shape;617;p48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8" name="Google Shape;618;p48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9" name="Google Shape;619;p48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20" name="Google Shape;620;p48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21" name="Google Shape;621;p48"/>
          <p:cNvSpPr/>
          <p:nvPr/>
        </p:nvSpPr>
        <p:spPr>
          <a:xfrm>
            <a:off x="2499507" y="2075163"/>
            <a:ext cx="636600" cy="617700"/>
          </a:xfrm>
          <a:prstGeom prst="ellipse">
            <a:avLst/>
          </a:prstGeom>
          <a:solidFill>
            <a:srgbClr val="9225A5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2" name="Google Shape;622;p48"/>
          <p:cNvCxnSpPr>
            <a:stCxn id="621" idx="6"/>
            <a:endCxn id="623" idx="2"/>
          </p:cNvCxnSpPr>
          <p:nvPr/>
        </p:nvCxnSpPr>
        <p:spPr>
          <a:xfrm>
            <a:off x="3136107" y="2384013"/>
            <a:ext cx="675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48"/>
          <p:cNvSpPr/>
          <p:nvPr/>
        </p:nvSpPr>
        <p:spPr>
          <a:xfrm>
            <a:off x="3811315" y="2075163"/>
            <a:ext cx="636600" cy="617700"/>
          </a:xfrm>
          <a:prstGeom prst="ellipse">
            <a:avLst/>
          </a:prstGeom>
          <a:solidFill>
            <a:srgbClr val="9225A5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4" name="Google Shape;624;p48"/>
          <p:cNvSpPr/>
          <p:nvPr/>
        </p:nvSpPr>
        <p:spPr>
          <a:xfrm>
            <a:off x="2499523" y="3036649"/>
            <a:ext cx="636600" cy="617700"/>
          </a:xfrm>
          <a:prstGeom prst="ellipse">
            <a:avLst/>
          </a:prstGeom>
          <a:solidFill>
            <a:srgbClr val="78909C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5" name="Google Shape;625;p48"/>
          <p:cNvCxnSpPr>
            <a:stCxn id="624" idx="7"/>
            <a:endCxn id="626" idx="1"/>
          </p:cNvCxnSpPr>
          <p:nvPr/>
        </p:nvCxnSpPr>
        <p:spPr>
          <a:xfrm>
            <a:off x="3042896" y="3127109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6" name="Google Shape;626;p48"/>
          <p:cNvSpPr/>
          <p:nvPr/>
        </p:nvSpPr>
        <p:spPr>
          <a:xfrm>
            <a:off x="3811332" y="3036649"/>
            <a:ext cx="636600" cy="617700"/>
          </a:xfrm>
          <a:prstGeom prst="ellipse">
            <a:avLst/>
          </a:prstGeom>
          <a:solidFill>
            <a:srgbClr val="78909C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7" name="Google Shape;627;p48"/>
          <p:cNvSpPr/>
          <p:nvPr/>
        </p:nvSpPr>
        <p:spPr>
          <a:xfrm>
            <a:off x="2499483" y="4041726"/>
            <a:ext cx="636600" cy="617700"/>
          </a:xfrm>
          <a:prstGeom prst="ellipse">
            <a:avLst/>
          </a:prstGeom>
          <a:solidFill>
            <a:srgbClr val="57BB8A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8" name="Google Shape;628;p48"/>
          <p:cNvCxnSpPr>
            <a:stCxn id="627" idx="6"/>
            <a:endCxn id="629" idx="2"/>
          </p:cNvCxnSpPr>
          <p:nvPr/>
        </p:nvCxnSpPr>
        <p:spPr>
          <a:xfrm>
            <a:off x="3136083" y="4350576"/>
            <a:ext cx="675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9" name="Google Shape;629;p48"/>
          <p:cNvSpPr/>
          <p:nvPr/>
        </p:nvSpPr>
        <p:spPr>
          <a:xfrm>
            <a:off x="3811291" y="4041726"/>
            <a:ext cx="636600" cy="617700"/>
          </a:xfrm>
          <a:prstGeom prst="ellipse">
            <a:avLst/>
          </a:prstGeom>
          <a:solidFill>
            <a:srgbClr val="57BB8A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0" name="Google Shape;630;p48"/>
          <p:cNvCxnSpPr>
            <a:stCxn id="626" idx="3"/>
            <a:endCxn id="624" idx="5"/>
          </p:cNvCxnSpPr>
          <p:nvPr/>
        </p:nvCxnSpPr>
        <p:spPr>
          <a:xfrm rot="10800000">
            <a:off x="3042959" y="3563889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31" name="Google Shape;631;p48"/>
          <p:cNvSpPr txBox="1"/>
          <p:nvPr/>
        </p:nvSpPr>
        <p:spPr>
          <a:xfrm>
            <a:off x="2769373" y="4689725"/>
            <a:ext cx="14586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2" name="Google Shape;632;p48"/>
          <p:cNvSpPr txBox="1"/>
          <p:nvPr/>
        </p:nvSpPr>
        <p:spPr>
          <a:xfrm>
            <a:off x="2847119" y="3654110"/>
            <a:ext cx="12543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p48"/>
          <p:cNvSpPr txBox="1"/>
          <p:nvPr/>
        </p:nvSpPr>
        <p:spPr>
          <a:xfrm>
            <a:off x="2871910" y="2668004"/>
            <a:ext cx="12543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34" name="Google Shape;634;p48"/>
          <p:cNvCxnSpPr>
            <a:stCxn id="616" idx="1"/>
            <a:endCxn id="629" idx="6"/>
          </p:cNvCxnSpPr>
          <p:nvPr/>
        </p:nvCxnSpPr>
        <p:spPr>
          <a:xfrm rot="10800000">
            <a:off x="4447926" y="4350571"/>
            <a:ext cx="2755500" cy="1602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rgbClr val="57BB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8"/>
          <p:cNvCxnSpPr>
            <a:stCxn id="613" idx="1"/>
            <a:endCxn id="626" idx="6"/>
          </p:cNvCxnSpPr>
          <p:nvPr/>
        </p:nvCxnSpPr>
        <p:spPr>
          <a:xfrm rot="10800000">
            <a:off x="4448000" y="3345562"/>
            <a:ext cx="837600" cy="7446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rgbClr val="607D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8"/>
          <p:cNvCxnSpPr>
            <a:stCxn id="610" idx="1"/>
            <a:endCxn id="623" idx="6"/>
          </p:cNvCxnSpPr>
          <p:nvPr/>
        </p:nvCxnSpPr>
        <p:spPr>
          <a:xfrm rot="10800000">
            <a:off x="4448000" y="2384038"/>
            <a:ext cx="837600" cy="8142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48"/>
          <p:cNvSpPr/>
          <p:nvPr/>
        </p:nvSpPr>
        <p:spPr>
          <a:xfrm>
            <a:off x="529249" y="4132175"/>
            <a:ext cx="1601700" cy="436800"/>
          </a:xfrm>
          <a:prstGeom prst="roundRect">
            <a:avLst>
              <a:gd fmla="val 16667" name="adj"/>
            </a:avLst>
          </a:prstGeom>
          <a:solidFill>
            <a:srgbClr val="57BB8A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Roles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524911" y="2164025"/>
            <a:ext cx="1601700" cy="436800"/>
          </a:xfrm>
          <a:prstGeom prst="roundRect">
            <a:avLst>
              <a:gd fmla="val 16667" name="adj"/>
            </a:avLst>
          </a:prstGeom>
          <a:solidFill>
            <a:srgbClr val="9225A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Similarities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639" name="Google Shape;639;p48"/>
          <p:cNvSpPr/>
          <p:nvPr/>
        </p:nvSpPr>
        <p:spPr>
          <a:xfrm>
            <a:off x="525005" y="3127100"/>
            <a:ext cx="1601700" cy="436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Interactions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640" name="Google Shape;640;p48"/>
          <p:cNvCxnSpPr>
            <a:stCxn id="621" idx="2"/>
            <a:endCxn id="638" idx="3"/>
          </p:cNvCxnSpPr>
          <p:nvPr/>
        </p:nvCxnSpPr>
        <p:spPr>
          <a:xfrm rot="10800000">
            <a:off x="2126607" y="2382513"/>
            <a:ext cx="372900" cy="1500"/>
          </a:xfrm>
          <a:prstGeom prst="bentConnector3">
            <a:avLst>
              <a:gd fmla="val 49999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8"/>
          <p:cNvCxnSpPr>
            <a:stCxn id="624" idx="2"/>
            <a:endCxn id="639" idx="3"/>
          </p:cNvCxnSpPr>
          <p:nvPr/>
        </p:nvCxnSpPr>
        <p:spPr>
          <a:xfrm flipH="1">
            <a:off x="2126623" y="3345499"/>
            <a:ext cx="372900" cy="6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rgbClr val="607D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8"/>
          <p:cNvCxnSpPr>
            <a:stCxn id="627" idx="2"/>
            <a:endCxn id="637" idx="3"/>
          </p:cNvCxnSpPr>
          <p:nvPr/>
        </p:nvCxnSpPr>
        <p:spPr>
          <a:xfrm flipH="1">
            <a:off x="2131083" y="4350576"/>
            <a:ext cx="368400" cy="600"/>
          </a:xfrm>
          <a:prstGeom prst="bentConnector3">
            <a:avLst>
              <a:gd fmla="val 50018" name="adj1"/>
            </a:avLst>
          </a:prstGeom>
          <a:noFill/>
          <a:ln cap="flat" cmpd="sng" w="28575">
            <a:solidFill>
              <a:srgbClr val="57BB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8"/>
          <p:cNvCxnSpPr>
            <a:stCxn id="621" idx="0"/>
            <a:endCxn id="637" idx="1"/>
          </p:cNvCxnSpPr>
          <p:nvPr/>
        </p:nvCxnSpPr>
        <p:spPr>
          <a:xfrm rot="5400000">
            <a:off x="535707" y="2068563"/>
            <a:ext cx="2275500" cy="2288700"/>
          </a:xfrm>
          <a:prstGeom prst="bentConnector4">
            <a:avLst>
              <a:gd fmla="val -10465" name="adj1"/>
              <a:gd fmla="val 110398" name="adj2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649" name="Google Shape;649;p4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</a:t>
            </a:r>
            <a:r>
              <a:rPr b="1" lang="en"/>
              <a:t>simple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is a simple graph if: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only one edge joining adjacent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multiedges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no self-edges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loops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lack directionality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“arrows”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don’t have any properties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Weights, signs, etc.</a:t>
            </a:r>
            <a:endParaRPr/>
          </a:p>
        </p:txBody>
      </p:sp>
      <p:sp>
        <p:nvSpPr>
          <p:cNvPr id="650" name="Google Shape;650;p4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2" name="Google Shape;652;p49"/>
          <p:cNvCxnSpPr>
            <a:stCxn id="650" idx="6"/>
            <a:endCxn id="65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4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4" name="Google Shape;654;p4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6" name="Google Shape;656;p49"/>
          <p:cNvCxnSpPr>
            <a:stCxn id="651" idx="7"/>
            <a:endCxn id="65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49"/>
          <p:cNvCxnSpPr>
            <a:stCxn id="655" idx="1"/>
            <a:endCxn id="65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9"/>
          <p:cNvCxnSpPr>
            <a:stCxn id="655" idx="3"/>
            <a:endCxn id="65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9"/>
          <p:cNvCxnSpPr>
            <a:stCxn id="654" idx="1"/>
            <a:endCxn id="65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49"/>
          <p:cNvCxnSpPr>
            <a:stCxn id="654" idx="0"/>
            <a:endCxn id="65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