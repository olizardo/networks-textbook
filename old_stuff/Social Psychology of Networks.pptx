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y="5143500" cx="9144000"/>
  <p:notesSz cx="6858000" cy="9144000"/>
  <p:embeddedFontLst>
    <p:embeddedFont>
      <p:font typeface="Oxygen"/>
      <p:regular r:id="rId96"/>
      <p:bold r:id="rId97"/>
    </p:embeddedFont>
    <p:embeddedFont>
      <p:font typeface="Economica"/>
      <p:regular r:id="rId98"/>
      <p:bold r:id="rId99"/>
      <p:italic r:id="rId100"/>
      <p:boldItalic r:id="rId101"/>
    </p:embeddedFont>
    <p:embeddedFont>
      <p:font typeface="Habibi"/>
      <p:regular r:id="rId102"/>
    </p:embeddedFont>
    <p:embeddedFont>
      <p:font typeface="Open Sans"/>
      <p:regular r:id="rId103"/>
      <p:bold r:id="rId104"/>
      <p:italic r:id="rId105"/>
      <p:boldItalic r:id="rId10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FC0190-ACDD-4F64-8C99-2CAF3F455833}">
  <a:tblStyle styleId="{29FC0190-ACDD-4F64-8C99-2CAF3F4558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6" Type="http://schemas.openxmlformats.org/officeDocument/2006/relationships/font" Target="fonts/OpenSans-boldItalic.fntdata"/><Relationship Id="rId105" Type="http://schemas.openxmlformats.org/officeDocument/2006/relationships/font" Target="fonts/OpenSans-italic.fntdata"/><Relationship Id="rId104" Type="http://schemas.openxmlformats.org/officeDocument/2006/relationships/font" Target="fonts/OpenSans-bold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OpenSans-regular.fntdata"/><Relationship Id="rId102" Type="http://schemas.openxmlformats.org/officeDocument/2006/relationships/font" Target="fonts/Habibi-regular.fntdata"/><Relationship Id="rId101" Type="http://schemas.openxmlformats.org/officeDocument/2006/relationships/font" Target="fonts/Economica-boldItalic.fntdata"/><Relationship Id="rId100" Type="http://schemas.openxmlformats.org/officeDocument/2006/relationships/font" Target="fonts/Economica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font" Target="fonts/Oxygen-bold.fntdata"/><Relationship Id="rId96" Type="http://schemas.openxmlformats.org/officeDocument/2006/relationships/font" Target="fonts/Oxygen-regular.fntdata"/><Relationship Id="rId11" Type="http://schemas.openxmlformats.org/officeDocument/2006/relationships/slide" Target="slides/slide5.xml"/><Relationship Id="rId99" Type="http://schemas.openxmlformats.org/officeDocument/2006/relationships/font" Target="fonts/Economica-bold.fntdata"/><Relationship Id="rId10" Type="http://schemas.openxmlformats.org/officeDocument/2006/relationships/slide" Target="slides/slide4.xml"/><Relationship Id="rId98" Type="http://schemas.openxmlformats.org/officeDocument/2006/relationships/font" Target="fonts/Economica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c84ded3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c84ded3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c84ded3f2_0_2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c84ded3f2_0_2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c84ded3f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c84ded3f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c84ded3f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c84ded3f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c84ded3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c84ded3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c84ded3f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c84ded3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c84ded3f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c84ded3f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c84ded3f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c84ded3f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c84ded3f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c84ded3f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c84ded3f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c84ded3f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c84ded3f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c84ded3f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c84ded3f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c84ded3f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c84ded3f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c84ded3f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c84ded3f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c84ded3f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c84ded3f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c84ded3f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c84ded3f2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c84ded3f2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c84ded3f2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9c84ded3f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c84ded3f2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9c84ded3f2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c84ded3f2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9c84ded3f2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9c84ded3f2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9c84ded3f2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9c84ded3f2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9c84ded3f2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9c84ded3f2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9c84ded3f2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9c84ded3f2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9c84ded3f2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9c84ded3f2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9c84ded3f2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9c84ded3f2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9c84ded3f2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9c84ded3f2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39c84ded3f2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9c84ded3f2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39c84ded3f2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9c84ded3f2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9c84ded3f2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9c84ded3f2_0_9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9c84ded3f2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9c84ded3f2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9c84ded3f2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9c84ded3f2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9c84ded3f2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9c84ded3f2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9c84ded3f2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9c84ded3f2_0_1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9c84ded3f2_0_1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9c84ded3f2_0_1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39c84ded3f2_0_1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9c84ded3f2_0_1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9c84ded3f2_0_1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9c84ded3f2_0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9c84ded3f2_0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39c84ded3f2_0_1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39c84ded3f2_0_1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39c84ded3f2_0_2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39c84ded3f2_0_2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9c84ded3f2_0_2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39c84ded3f2_0_2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9c84ded3f2_0_2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39c84ded3f2_0_2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39c84ded3f2_0_1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39c84ded3f2_0_1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9c84ded3f2_0_148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9c84ded3f2_0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39c84ded3f2_0_148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39c84ded3f2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39c84ded3f2_0_151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39c84ded3f2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39c84ded3f2_0_153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39c84ded3f2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9c84ded3f2_0_15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9c84ded3f2_0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39c84ded3f2_0_158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39c84ded3f2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39c84ded3f2_0_160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39c84ded3f2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39c84ded3f2_0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39c84ded3f2_0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39c84ded3f2_0_164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39c84ded3f2_0_1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39c84ded3f2_0_164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39c84ded3f2_0_1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39c84ded3f2_0_168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39c84ded3f2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39c84ded3f2_0_168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39c84ded3f2_0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39c84ded3f2_0_169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39c84ded3f2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39c84ded3f2_0_170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39c84ded3f2_0_1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39c84ded3f2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39c84ded3f2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39c84ded3f2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39c84ded3f2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8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39c84ded3f2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39c84ded3f2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39c84ded3f2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39c84ded3f2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9c84ded3f2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39c84ded3f2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9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39c84ded3f2_0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39c84ded3f2_0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39c84ded3f2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39c84ded3f2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39c84ded3f2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39c84ded3f2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g39c84ded3f2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5" name="Google Shape;1835;g39c84ded3f2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39c84ded3f2_0_1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39c84ded3f2_0_1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39c84ded3f2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39c84ded3f2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39c84ded3f2_0_1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39c84ded3f2_0_1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g39c84ded3f2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39c84ded3f2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39c84ded3f2_0_1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39c84ded3f2_0_1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g39c84ded3f2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1" name="Google Shape;1881;g39c84ded3f2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39c84ded3f2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39c84ded3f2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9c84ded3f2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39c84ded3f2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9c84ded3f2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39c84ded3f2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39c84ded3f2_0_1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39c84ded3f2_0_1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9c84ded3f2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9c84ded3f2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39c84ded3f2_0_1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39c84ded3f2_0_1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39c84ded3f2_0_1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39c84ded3f2_0_1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39c84ded3f2_0_1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39c84ded3f2_0_1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g39c84ded3f2_0_1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0" name="Google Shape;1950;g39c84ded3f2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39c84ded3f2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39c84ded3f2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g39c84ded3f2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g39c84ded3f2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g39c84ded3f2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2" name="Google Shape;1972;g39c84ded3f2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39c84ded3f2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39c84ded3f2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39c84ded3f2_0_1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39c84ded3f2_0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g39c84ded3f2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9" name="Google Shape;2019;g39c84ded3f2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39c84ded3f2_0_1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39c84ded3f2_0_1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9c84ded3f2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39c84ded3f2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9c84ded3f2_0_1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39c84ded3f2_0_1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39c84ded3f2_0_1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39c84ded3f2_0_1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2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2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Psychology of Networks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(The micro underneath the macro)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Balance Theory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225225"/>
            <a:ext cx="8520600" cy="12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(1) A person (P)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“look” at the triad from this person’s point of 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(2) An object (O) towards which the focal person has some kind of sentiment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sentiment can be positive or negative</a:t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(3) A third party (Q) towards which both the person and the other also have some kind of sentiment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" name="Google Shape;99;p19"/>
          <p:cNvCxnSpPr>
            <a:stCxn id="96" idx="6"/>
            <a:endCxn id="97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" name="Google Shape;100;p19"/>
          <p:cNvCxnSpPr>
            <a:stCxn id="97" idx="0"/>
            <a:endCxn id="98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" name="Google Shape;101;p19"/>
          <p:cNvCxnSpPr>
            <a:stCxn id="96" idx="6"/>
            <a:endCxn id="98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1" name="Google Shape;111;p20"/>
          <p:cNvCxnSpPr>
            <a:stCxn id="108" idx="6"/>
            <a:endCxn id="109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" name="Google Shape;112;p20"/>
          <p:cNvCxnSpPr>
            <a:stCxn id="109" idx="0"/>
            <a:endCxn id="110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" name="Google Shape;113;p20"/>
          <p:cNvCxnSpPr>
            <a:stCxn id="108" idx="6"/>
            <a:endCxn id="110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4" name="Google Shape;114;p20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reads: 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Person (P) likes other (O)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Other (O) likes the third party (Q)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rabicPeriod"/>
            </a:pPr>
            <a:r>
              <a:rPr b="1" lang="en">
                <a:solidFill>
                  <a:srgbClr val="FF0000"/>
                </a:solidFill>
              </a:rPr>
              <a:t>But person (P) dislikes the third party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4" name="Google Shape;124;p21"/>
          <p:cNvCxnSpPr>
            <a:stCxn id="121" idx="6"/>
            <a:endCxn id="122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" name="Google Shape;125;p21"/>
          <p:cNvCxnSpPr>
            <a:stCxn id="122" idx="0"/>
            <a:endCxn id="123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" name="Google Shape;126;p21"/>
          <p:cNvCxnSpPr>
            <a:stCxn id="121" idx="6"/>
            <a:endCxn id="123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7" name="Google Shape;127;p21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Example: You (P) have a friend (O) whom you like and they like another classmate (Q) who you dislike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Sounds dicey!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7" name="Google Shape;137;p22"/>
          <p:cNvCxnSpPr>
            <a:stCxn id="134" idx="6"/>
            <a:endCxn id="135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" name="Google Shape;138;p22"/>
          <p:cNvCxnSpPr>
            <a:stCxn id="135" idx="0"/>
            <a:endCxn id="136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22"/>
          <p:cNvCxnSpPr>
            <a:stCxn id="134" idx="6"/>
            <a:endCxn id="136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" name="Google Shape;140;p22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have a friend (O) who you like and they like another classmate (Q) whom you also like.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Everything’s fine!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(4) A set of </a:t>
            </a:r>
            <a:r>
              <a:rPr b="1" lang="en"/>
              <a:t>directed signed edges</a:t>
            </a:r>
            <a:r>
              <a:rPr lang="en"/>
              <a:t> that indicate </a:t>
            </a:r>
            <a:r>
              <a:rPr b="1" lang="en"/>
              <a:t>positive</a:t>
            </a:r>
            <a:r>
              <a:rPr lang="en"/>
              <a:t> (</a:t>
            </a:r>
            <a:r>
              <a:rPr i="1" lang="en"/>
              <a:t>solid</a:t>
            </a:r>
            <a:r>
              <a:rPr lang="en"/>
              <a:t>) or </a:t>
            </a:r>
            <a:r>
              <a:rPr b="1" lang="en"/>
              <a:t>negative</a:t>
            </a:r>
            <a:r>
              <a:rPr lang="en"/>
              <a:t> (</a:t>
            </a:r>
            <a:r>
              <a:rPr i="1" lang="en"/>
              <a:t>dashed</a:t>
            </a:r>
            <a:r>
              <a:rPr lang="en"/>
              <a:t>) sentiments that P and O have toward the third party Q and P towards 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0" name="Google Shape;150;p23"/>
          <p:cNvCxnSpPr>
            <a:stCxn id="147" idx="6"/>
            <a:endCxn id="148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1" name="Google Shape;151;p23"/>
          <p:cNvCxnSpPr>
            <a:stCxn id="148" idx="0"/>
            <a:endCxn id="149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" name="Google Shape;152;p23"/>
          <p:cNvCxnSpPr>
            <a:stCxn id="147" idx="6"/>
            <a:endCxn id="149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3" name="Google Shape;153;p23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have an enemy (O) who likes another classmate (Q) who you dislike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Seems fine?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225225"/>
            <a:ext cx="85206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Balance theory</a:t>
            </a:r>
            <a:r>
              <a:rPr lang="en"/>
              <a:t> is a social psychological theory designed to explain expected triadic configurations in sentiment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Sentiment networks are built from </a:t>
            </a:r>
            <a:r>
              <a:rPr b="1" lang="en"/>
              <a:t>valenced</a:t>
            </a:r>
            <a:r>
              <a:rPr lang="en"/>
              <a:t> ties (e.g., positive or negative)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four building blocks in 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 does not have to be a real person!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It could be </a:t>
            </a:r>
            <a:r>
              <a:rPr b="1" lang="en"/>
              <a:t>any</a:t>
            </a:r>
            <a:r>
              <a:rPr lang="en"/>
              <a:t> </a:t>
            </a:r>
            <a:r>
              <a:rPr b="1" lang="en"/>
              <a:t>object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1628450" y="35870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3715450" y="44060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3715450" y="306482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3" name="Google Shape;163;p24"/>
          <p:cNvCxnSpPr>
            <a:stCxn id="160" idx="6"/>
            <a:endCxn id="161" idx="2"/>
          </p:cNvCxnSpPr>
          <p:nvPr/>
        </p:nvCxnSpPr>
        <p:spPr>
          <a:xfrm>
            <a:off x="2229650" y="3887625"/>
            <a:ext cx="1485900" cy="8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4" name="Google Shape;164;p24"/>
          <p:cNvCxnSpPr>
            <a:stCxn id="161" idx="0"/>
            <a:endCxn id="162" idx="4"/>
          </p:cNvCxnSpPr>
          <p:nvPr/>
        </p:nvCxnSpPr>
        <p:spPr>
          <a:xfrm rot="10800000">
            <a:off x="4016050" y="3665925"/>
            <a:ext cx="0" cy="74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65" name="Google Shape;165;p24"/>
          <p:cNvCxnSpPr>
            <a:stCxn id="160" idx="6"/>
            <a:endCxn id="162" idx="2"/>
          </p:cNvCxnSpPr>
          <p:nvPr/>
        </p:nvCxnSpPr>
        <p:spPr>
          <a:xfrm flipH="1" rot="10800000">
            <a:off x="2229650" y="3365325"/>
            <a:ext cx="1485900" cy="52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" name="Google Shape;166;p24"/>
          <p:cNvSpPr/>
          <p:nvPr/>
        </p:nvSpPr>
        <p:spPr>
          <a:xfrm>
            <a:off x="4361875" y="3116175"/>
            <a:ext cx="4659000" cy="1839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In this example, you (P) love Marvel movies (Q) but your long time partner O (who you like duh!) hates them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Trouble in paradise!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5786638" y="381608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6851372" y="423251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6851372" y="355057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2" name="Google Shape;182;p26"/>
          <p:cNvCxnSpPr>
            <a:stCxn id="179" idx="6"/>
            <a:endCxn id="180" idx="2"/>
          </p:cNvCxnSpPr>
          <p:nvPr/>
        </p:nvCxnSpPr>
        <p:spPr>
          <a:xfrm>
            <a:off x="6093538" y="396893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26"/>
          <p:cNvCxnSpPr>
            <a:stCxn id="180" idx="0"/>
            <a:endCxn id="181" idx="4"/>
          </p:cNvCxnSpPr>
          <p:nvPr/>
        </p:nvCxnSpPr>
        <p:spPr>
          <a:xfrm rot="10800000">
            <a:off x="7004822" y="385631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26"/>
          <p:cNvCxnSpPr>
            <a:stCxn id="179" idx="6"/>
            <a:endCxn id="181" idx="2"/>
          </p:cNvCxnSpPr>
          <p:nvPr/>
        </p:nvCxnSpPr>
        <p:spPr>
          <a:xfrm flipH="1" rot="10800000">
            <a:off x="6093538" y="370343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85" name="Google Shape;185;p26"/>
          <p:cNvSpPr/>
          <p:nvPr/>
        </p:nvSpPr>
        <p:spPr>
          <a:xfrm>
            <a:off x="7460663" y="381610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8525397" y="423252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8525397" y="355058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8" name="Google Shape;188;p26"/>
          <p:cNvCxnSpPr>
            <a:stCxn id="185" idx="6"/>
            <a:endCxn id="186" idx="2"/>
          </p:cNvCxnSpPr>
          <p:nvPr/>
        </p:nvCxnSpPr>
        <p:spPr>
          <a:xfrm>
            <a:off x="7767563" y="396895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9" name="Google Shape;189;p26"/>
          <p:cNvCxnSpPr>
            <a:stCxn id="186" idx="0"/>
            <a:endCxn id="187" idx="4"/>
          </p:cNvCxnSpPr>
          <p:nvPr/>
        </p:nvCxnSpPr>
        <p:spPr>
          <a:xfrm rot="10800000">
            <a:off x="8678847" y="385632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26"/>
          <p:cNvCxnSpPr>
            <a:stCxn id="185" idx="6"/>
            <a:endCxn id="187" idx="2"/>
          </p:cNvCxnSpPr>
          <p:nvPr/>
        </p:nvCxnSpPr>
        <p:spPr>
          <a:xfrm flipH="1" rot="10800000">
            <a:off x="7767563" y="370345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" name="Google Shape;191;p26"/>
          <p:cNvSpPr txBox="1"/>
          <p:nvPr/>
        </p:nvSpPr>
        <p:spPr>
          <a:xfrm>
            <a:off x="6412950" y="4644825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2766950" y="2316000"/>
            <a:ext cx="27897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Everything’s fine here!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93" name="Google Shape;193;p26"/>
          <p:cNvCxnSpPr>
            <a:stCxn id="192" idx="4"/>
          </p:cNvCxnSpPr>
          <p:nvPr/>
        </p:nvCxnSpPr>
        <p:spPr>
          <a:xfrm>
            <a:off x="4161800" y="3147300"/>
            <a:ext cx="1482900" cy="746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6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7" name="Google Shape;197;p26"/>
          <p:cNvCxnSpPr>
            <a:stCxn id="194" idx="6"/>
            <a:endCxn id="195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6"/>
          <p:cNvCxnSpPr>
            <a:stCxn id="195" idx="0"/>
            <a:endCxn id="196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26"/>
          <p:cNvCxnSpPr>
            <a:stCxn id="194" idx="6"/>
            <a:endCxn id="196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" name="Google Shape;200;p26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" name="Google Shape;202;p26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3" name="Google Shape;203;p26"/>
          <p:cNvCxnSpPr>
            <a:stCxn id="200" idx="6"/>
            <a:endCxn id="201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" name="Google Shape;204;p26"/>
          <p:cNvCxnSpPr>
            <a:stCxn id="201" idx="0"/>
            <a:endCxn id="202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5" name="Google Shape;205;p26"/>
          <p:cNvCxnSpPr>
            <a:stCxn id="200" idx="6"/>
            <a:endCxn id="202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eight (8) configurations featuring one-way directed links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Other (O)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(P) to Third Party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 (O) to Third Party (Q)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7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5" name="Google Shape;215;p27"/>
          <p:cNvCxnSpPr>
            <a:stCxn id="212" idx="6"/>
            <a:endCxn id="213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6" name="Google Shape;216;p27"/>
          <p:cNvCxnSpPr>
            <a:stCxn id="213" idx="0"/>
            <a:endCxn id="214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" name="Google Shape;217;p27"/>
          <p:cNvCxnSpPr>
            <a:stCxn id="212" idx="6"/>
            <a:endCxn id="214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18" name="Google Shape;218;p27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1" name="Google Shape;221;p27"/>
          <p:cNvCxnSpPr>
            <a:stCxn id="218" idx="6"/>
            <a:endCxn id="219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" name="Google Shape;222;p27"/>
          <p:cNvCxnSpPr>
            <a:stCxn id="219" idx="0"/>
            <a:endCxn id="220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3" name="Google Shape;223;p27"/>
          <p:cNvCxnSpPr>
            <a:stCxn id="218" idx="6"/>
            <a:endCxn id="220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4" name="Google Shape;224;p27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7" name="Google Shape;227;p27"/>
          <p:cNvCxnSpPr>
            <a:stCxn id="224" idx="6"/>
            <a:endCxn id="225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28" name="Google Shape;228;p27"/>
          <p:cNvCxnSpPr>
            <a:stCxn id="225" idx="0"/>
            <a:endCxn id="226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" name="Google Shape;229;p27"/>
          <p:cNvCxnSpPr>
            <a:stCxn id="224" idx="6"/>
            <a:endCxn id="226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0" name="Google Shape;230;p27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3" name="Google Shape;233;p27"/>
          <p:cNvCxnSpPr>
            <a:stCxn id="230" idx="6"/>
            <a:endCxn id="231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34" name="Google Shape;234;p27"/>
          <p:cNvCxnSpPr>
            <a:stCxn id="231" idx="0"/>
            <a:endCxn id="232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35" name="Google Shape;235;p27"/>
          <p:cNvCxnSpPr>
            <a:stCxn id="230" idx="6"/>
            <a:endCxn id="232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36" name="Google Shape;236;p27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0" name="Google Shape;240;p27"/>
          <p:cNvCxnSpPr>
            <a:stCxn id="237" idx="6"/>
            <a:endCxn id="238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" name="Google Shape;241;p27"/>
          <p:cNvCxnSpPr>
            <a:stCxn id="238" idx="0"/>
            <a:endCxn id="239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" name="Google Shape;242;p27"/>
          <p:cNvCxnSpPr>
            <a:stCxn id="237" idx="6"/>
            <a:endCxn id="239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3" name="Google Shape;243;p27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6" name="Google Shape;246;p27"/>
          <p:cNvCxnSpPr>
            <a:stCxn id="243" idx="6"/>
            <a:endCxn id="244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" name="Google Shape;247;p27"/>
          <p:cNvCxnSpPr>
            <a:stCxn id="244" idx="0"/>
            <a:endCxn id="245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48" name="Google Shape;248;p27"/>
          <p:cNvCxnSpPr>
            <a:stCxn id="243" idx="6"/>
            <a:endCxn id="245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49" name="Google Shape;249;p27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2" name="Google Shape;252;p27"/>
          <p:cNvCxnSpPr>
            <a:stCxn id="249" idx="6"/>
            <a:endCxn id="250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3" name="Google Shape;253;p27"/>
          <p:cNvCxnSpPr>
            <a:stCxn id="250" idx="0"/>
            <a:endCxn id="251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" name="Google Shape;254;p27"/>
          <p:cNvCxnSpPr>
            <a:stCxn id="249" idx="6"/>
            <a:endCxn id="251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55" name="Google Shape;255;p27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8" name="Google Shape;258;p27"/>
          <p:cNvCxnSpPr>
            <a:stCxn id="255" idx="6"/>
            <a:endCxn id="256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9" name="Google Shape;259;p27"/>
          <p:cNvCxnSpPr>
            <a:stCxn id="256" idx="0"/>
            <a:endCxn id="257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60" name="Google Shape;260;p27"/>
          <p:cNvCxnSpPr>
            <a:stCxn id="255" idx="6"/>
            <a:endCxn id="257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1" name="Google Shape;261;p27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3742225" y="1877600"/>
            <a:ext cx="24999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Trouble in paradise!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3" name="Google Shape;263;p27"/>
          <p:cNvCxnSpPr>
            <a:stCxn id="262" idx="4"/>
          </p:cNvCxnSpPr>
          <p:nvPr/>
        </p:nvCxnSpPr>
        <p:spPr>
          <a:xfrm flipH="1">
            <a:off x="3564175" y="2708900"/>
            <a:ext cx="1428000" cy="745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269" name="Google Shape;269;p28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to generate balance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3" name="Google Shape;273;p28"/>
          <p:cNvCxnSpPr>
            <a:stCxn id="270" idx="6"/>
            <a:endCxn id="271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" name="Google Shape;274;p28"/>
          <p:cNvCxnSpPr>
            <a:stCxn id="271" idx="0"/>
            <a:endCxn id="272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" name="Google Shape;275;p28"/>
          <p:cNvCxnSpPr>
            <a:stCxn id="270" idx="6"/>
            <a:endCxn id="272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76" name="Google Shape;276;p28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9" name="Google Shape;279;p28"/>
          <p:cNvCxnSpPr>
            <a:stCxn id="276" idx="6"/>
            <a:endCxn id="277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0" name="Google Shape;280;p28"/>
          <p:cNvCxnSpPr>
            <a:stCxn id="277" idx="0"/>
            <a:endCxn id="278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81" name="Google Shape;281;p28"/>
          <p:cNvCxnSpPr>
            <a:stCxn id="276" idx="6"/>
            <a:endCxn id="278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2" name="Google Shape;282;p28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85" name="Google Shape;285;p28"/>
          <p:cNvCxnSpPr>
            <a:stCxn id="282" idx="6"/>
            <a:endCxn id="283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86" name="Google Shape;286;p28"/>
          <p:cNvCxnSpPr>
            <a:stCxn id="283" idx="0"/>
            <a:endCxn id="284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" name="Google Shape;287;p28"/>
          <p:cNvCxnSpPr>
            <a:stCxn id="282" idx="6"/>
            <a:endCxn id="284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8" name="Google Shape;288;p28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1" name="Google Shape;291;p28"/>
          <p:cNvCxnSpPr>
            <a:stCxn id="288" idx="6"/>
            <a:endCxn id="289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92" name="Google Shape;292;p28"/>
          <p:cNvCxnSpPr>
            <a:stCxn id="289" idx="0"/>
            <a:endCxn id="290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93" name="Google Shape;293;p28"/>
          <p:cNvCxnSpPr>
            <a:stCxn id="288" idx="6"/>
            <a:endCxn id="290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94" name="Google Shape;294;p28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8" name="Google Shape;298;p28"/>
          <p:cNvCxnSpPr>
            <a:stCxn id="295" idx="6"/>
            <a:endCxn id="296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9" name="Google Shape;299;p28"/>
          <p:cNvCxnSpPr>
            <a:stCxn id="296" idx="0"/>
            <a:endCxn id="297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" name="Google Shape;300;p28"/>
          <p:cNvCxnSpPr>
            <a:stCxn id="295" idx="6"/>
            <a:endCxn id="297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1" name="Google Shape;301;p28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04" name="Google Shape;304;p28"/>
          <p:cNvCxnSpPr>
            <a:stCxn id="301" idx="6"/>
            <a:endCxn id="302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5" name="Google Shape;305;p28"/>
          <p:cNvCxnSpPr>
            <a:stCxn id="302" idx="0"/>
            <a:endCxn id="303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06" name="Google Shape;306;p28"/>
          <p:cNvCxnSpPr>
            <a:stCxn id="301" idx="6"/>
            <a:endCxn id="303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07" name="Google Shape;307;p28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0" name="Google Shape;310;p28"/>
          <p:cNvCxnSpPr>
            <a:stCxn id="307" idx="6"/>
            <a:endCxn id="308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1" name="Google Shape;311;p28"/>
          <p:cNvCxnSpPr>
            <a:stCxn id="308" idx="0"/>
            <a:endCxn id="309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2" name="Google Shape;312;p28"/>
          <p:cNvCxnSpPr>
            <a:stCxn id="307" idx="6"/>
            <a:endCxn id="309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13" name="Google Shape;313;p28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" name="Google Shape;316;p28"/>
          <p:cNvCxnSpPr>
            <a:stCxn id="313" idx="6"/>
            <a:endCxn id="314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7" name="Google Shape;317;p28"/>
          <p:cNvCxnSpPr>
            <a:stCxn id="314" idx="0"/>
            <a:endCxn id="315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8" name="Google Shape;318;p28"/>
          <p:cNvCxnSpPr>
            <a:stCxn id="313" idx="6"/>
            <a:endCxn id="315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9" name="Google Shape;319;p28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326" name="Google Shape;326;p29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to generate balance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9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0" name="Google Shape;330;p29"/>
          <p:cNvCxnSpPr>
            <a:stCxn id="327" idx="6"/>
            <a:endCxn id="328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1" name="Google Shape;331;p29"/>
          <p:cNvCxnSpPr>
            <a:stCxn id="328" idx="0"/>
            <a:endCxn id="329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2" name="Google Shape;332;p29"/>
          <p:cNvCxnSpPr>
            <a:stCxn id="327" idx="6"/>
            <a:endCxn id="329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33" name="Google Shape;333;p29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36" name="Google Shape;336;p29"/>
          <p:cNvCxnSpPr>
            <a:stCxn id="333" idx="6"/>
            <a:endCxn id="334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7" name="Google Shape;337;p29"/>
          <p:cNvCxnSpPr>
            <a:stCxn id="334" idx="0"/>
            <a:endCxn id="335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38" name="Google Shape;338;p29"/>
          <p:cNvCxnSpPr>
            <a:stCxn id="333" idx="6"/>
            <a:endCxn id="335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9" name="Google Shape;339;p29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2" name="Google Shape;342;p29"/>
          <p:cNvCxnSpPr>
            <a:stCxn id="339" idx="6"/>
            <a:endCxn id="340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3" name="Google Shape;343;p29"/>
          <p:cNvCxnSpPr>
            <a:stCxn id="340" idx="0"/>
            <a:endCxn id="341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4" name="Google Shape;344;p29"/>
          <p:cNvCxnSpPr>
            <a:stCxn id="339" idx="6"/>
            <a:endCxn id="341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5" name="Google Shape;345;p29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48" name="Google Shape;348;p29"/>
          <p:cNvCxnSpPr>
            <a:stCxn id="345" idx="6"/>
            <a:endCxn id="346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9" name="Google Shape;349;p29"/>
          <p:cNvCxnSpPr>
            <a:stCxn id="346" idx="0"/>
            <a:endCxn id="347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50" name="Google Shape;350;p29"/>
          <p:cNvCxnSpPr>
            <a:stCxn id="345" idx="6"/>
            <a:endCxn id="347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51" name="Google Shape;351;p29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55" name="Google Shape;355;p29"/>
          <p:cNvCxnSpPr>
            <a:stCxn id="352" idx="6"/>
            <a:endCxn id="353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6" name="Google Shape;356;p29"/>
          <p:cNvCxnSpPr>
            <a:stCxn id="353" idx="0"/>
            <a:endCxn id="354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7" name="Google Shape;357;p29"/>
          <p:cNvCxnSpPr>
            <a:stCxn id="352" idx="6"/>
            <a:endCxn id="354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8" name="Google Shape;358;p29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1" name="Google Shape;361;p29"/>
          <p:cNvCxnSpPr>
            <a:stCxn id="358" idx="6"/>
            <a:endCxn id="359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2" name="Google Shape;362;p29"/>
          <p:cNvCxnSpPr>
            <a:stCxn id="359" idx="0"/>
            <a:endCxn id="360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3" name="Google Shape;363;p29"/>
          <p:cNvCxnSpPr>
            <a:stCxn id="358" idx="6"/>
            <a:endCxn id="360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64" name="Google Shape;364;p29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67" name="Google Shape;367;p29"/>
          <p:cNvCxnSpPr>
            <a:stCxn id="364" idx="6"/>
            <a:endCxn id="365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68" name="Google Shape;368;p29"/>
          <p:cNvCxnSpPr>
            <a:stCxn id="365" idx="0"/>
            <a:endCxn id="366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9" name="Google Shape;369;p29"/>
          <p:cNvCxnSpPr>
            <a:stCxn id="364" idx="6"/>
            <a:endCxn id="366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70" name="Google Shape;370;p29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73" name="Google Shape;373;p29"/>
          <p:cNvCxnSpPr>
            <a:stCxn id="370" idx="6"/>
            <a:endCxn id="371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74" name="Google Shape;374;p29"/>
          <p:cNvCxnSpPr>
            <a:stCxn id="371" idx="0"/>
            <a:endCxn id="372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75" name="Google Shape;375;p29"/>
          <p:cNvCxnSpPr>
            <a:stCxn id="370" idx="6"/>
            <a:endCxn id="372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76" name="Google Shape;376;p29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9"/>
          <p:cNvSpPr/>
          <p:nvPr/>
        </p:nvSpPr>
        <p:spPr>
          <a:xfrm>
            <a:off x="1991475" y="2410375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9"/>
          <p:cNvSpPr/>
          <p:nvPr/>
        </p:nvSpPr>
        <p:spPr>
          <a:xfrm>
            <a:off x="7341125" y="2399750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385" name="Google Shape;385;p30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to generate balance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7" name="Google Shape;387;p30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89" name="Google Shape;389;p30"/>
          <p:cNvCxnSpPr>
            <a:stCxn id="386" idx="6"/>
            <a:endCxn id="387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0" name="Google Shape;390;p30"/>
          <p:cNvCxnSpPr>
            <a:stCxn id="387" idx="0"/>
            <a:endCxn id="388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1" name="Google Shape;391;p30"/>
          <p:cNvCxnSpPr>
            <a:stCxn id="386" idx="6"/>
            <a:endCxn id="388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92" name="Google Shape;392;p30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5" name="Google Shape;395;p30"/>
          <p:cNvCxnSpPr>
            <a:stCxn id="392" idx="6"/>
            <a:endCxn id="393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6" name="Google Shape;396;p30"/>
          <p:cNvCxnSpPr>
            <a:stCxn id="393" idx="0"/>
            <a:endCxn id="394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97" name="Google Shape;397;p30"/>
          <p:cNvCxnSpPr>
            <a:stCxn id="392" idx="6"/>
            <a:endCxn id="394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8" name="Google Shape;398;p30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9" name="Google Shape;399;p30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0" name="Google Shape;400;p30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1" name="Google Shape;401;p30"/>
          <p:cNvCxnSpPr>
            <a:stCxn id="398" idx="6"/>
            <a:endCxn id="399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02" name="Google Shape;402;p30"/>
          <p:cNvCxnSpPr>
            <a:stCxn id="399" idx="0"/>
            <a:endCxn id="400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3" name="Google Shape;403;p30"/>
          <p:cNvCxnSpPr>
            <a:stCxn id="398" idx="6"/>
            <a:endCxn id="400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4" name="Google Shape;404;p30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" name="Google Shape;407;p30"/>
          <p:cNvCxnSpPr>
            <a:stCxn id="404" idx="6"/>
            <a:endCxn id="405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08" name="Google Shape;408;p30"/>
          <p:cNvCxnSpPr>
            <a:stCxn id="405" idx="0"/>
            <a:endCxn id="406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09" name="Google Shape;409;p30"/>
          <p:cNvCxnSpPr>
            <a:stCxn id="404" idx="6"/>
            <a:endCxn id="406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10" name="Google Shape;410;p30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4" name="Google Shape;414;p30"/>
          <p:cNvCxnSpPr>
            <a:stCxn id="411" idx="6"/>
            <a:endCxn id="412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5" name="Google Shape;415;p30"/>
          <p:cNvCxnSpPr>
            <a:stCxn id="412" idx="0"/>
            <a:endCxn id="413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6" name="Google Shape;416;p30"/>
          <p:cNvCxnSpPr>
            <a:stCxn id="411" idx="6"/>
            <a:endCxn id="413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7" name="Google Shape;417;p30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0" name="Google Shape;420;p30"/>
          <p:cNvCxnSpPr>
            <a:stCxn id="417" idx="6"/>
            <a:endCxn id="418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1" name="Google Shape;421;p30"/>
          <p:cNvCxnSpPr>
            <a:stCxn id="418" idx="0"/>
            <a:endCxn id="419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2" name="Google Shape;422;p30"/>
          <p:cNvCxnSpPr>
            <a:stCxn id="417" idx="6"/>
            <a:endCxn id="419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23" name="Google Shape;423;p30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4" name="Google Shape;424;p30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" name="Google Shape;426;p30"/>
          <p:cNvCxnSpPr>
            <a:stCxn id="423" idx="6"/>
            <a:endCxn id="424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27" name="Google Shape;427;p30"/>
          <p:cNvCxnSpPr>
            <a:stCxn id="424" idx="0"/>
            <a:endCxn id="425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8" name="Google Shape;428;p30"/>
          <p:cNvCxnSpPr>
            <a:stCxn id="423" idx="6"/>
            <a:endCxn id="425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29" name="Google Shape;429;p30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0" name="Google Shape;430;p30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2" name="Google Shape;432;p30"/>
          <p:cNvCxnSpPr>
            <a:stCxn id="429" idx="6"/>
            <a:endCxn id="430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3" name="Google Shape;433;p30"/>
          <p:cNvCxnSpPr>
            <a:stCxn id="430" idx="0"/>
            <a:endCxn id="431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34" name="Google Shape;434;p30"/>
          <p:cNvCxnSpPr>
            <a:stCxn id="429" idx="6"/>
            <a:endCxn id="431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5" name="Google Shape;435;p30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0"/>
          <p:cNvSpPr/>
          <p:nvPr/>
        </p:nvSpPr>
        <p:spPr>
          <a:xfrm>
            <a:off x="192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0"/>
          <p:cNvSpPr/>
          <p:nvPr/>
        </p:nvSpPr>
        <p:spPr>
          <a:xfrm>
            <a:off x="5722263" y="2414025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to generate balance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1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6" name="Google Shape;446;p31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8" name="Google Shape;448;p31"/>
          <p:cNvCxnSpPr>
            <a:stCxn id="445" idx="6"/>
            <a:endCxn id="446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9" name="Google Shape;449;p31"/>
          <p:cNvCxnSpPr>
            <a:stCxn id="446" idx="0"/>
            <a:endCxn id="447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0" name="Google Shape;450;p31"/>
          <p:cNvCxnSpPr>
            <a:stCxn id="445" idx="6"/>
            <a:endCxn id="447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51" name="Google Shape;451;p31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2" name="Google Shape;452;p31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4" name="Google Shape;454;p31"/>
          <p:cNvCxnSpPr>
            <a:stCxn id="451" idx="6"/>
            <a:endCxn id="452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5" name="Google Shape;455;p31"/>
          <p:cNvCxnSpPr>
            <a:stCxn id="452" idx="0"/>
            <a:endCxn id="453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56" name="Google Shape;456;p31"/>
          <p:cNvCxnSpPr>
            <a:stCxn id="451" idx="6"/>
            <a:endCxn id="453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7" name="Google Shape;457;p31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8" name="Google Shape;458;p31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9" name="Google Shape;459;p31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0" name="Google Shape;460;p31"/>
          <p:cNvCxnSpPr>
            <a:stCxn id="457" idx="6"/>
            <a:endCxn id="458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61" name="Google Shape;461;p31"/>
          <p:cNvCxnSpPr>
            <a:stCxn id="458" idx="0"/>
            <a:endCxn id="459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2" name="Google Shape;462;p31"/>
          <p:cNvCxnSpPr>
            <a:stCxn id="457" idx="6"/>
            <a:endCxn id="459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3" name="Google Shape;463;p31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4" name="Google Shape;464;p31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65" name="Google Shape;465;p31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6" name="Google Shape;466;p31"/>
          <p:cNvCxnSpPr>
            <a:stCxn id="463" idx="6"/>
            <a:endCxn id="464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67" name="Google Shape;467;p31"/>
          <p:cNvCxnSpPr>
            <a:stCxn id="464" idx="0"/>
            <a:endCxn id="465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68" name="Google Shape;468;p31"/>
          <p:cNvCxnSpPr>
            <a:stCxn id="463" idx="6"/>
            <a:endCxn id="465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69" name="Google Shape;469;p31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3" name="Google Shape;473;p31"/>
          <p:cNvCxnSpPr>
            <a:stCxn id="470" idx="6"/>
            <a:endCxn id="471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4" name="Google Shape;474;p31"/>
          <p:cNvCxnSpPr>
            <a:stCxn id="471" idx="0"/>
            <a:endCxn id="472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75" name="Google Shape;475;p31"/>
          <p:cNvCxnSpPr>
            <a:stCxn id="470" idx="6"/>
            <a:endCxn id="472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6" name="Google Shape;476;p31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7" name="Google Shape;477;p31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8" name="Google Shape;478;p31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9" name="Google Shape;479;p31"/>
          <p:cNvCxnSpPr>
            <a:stCxn id="476" idx="6"/>
            <a:endCxn id="477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0" name="Google Shape;480;p31"/>
          <p:cNvCxnSpPr>
            <a:stCxn id="477" idx="0"/>
            <a:endCxn id="478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1" name="Google Shape;481;p31"/>
          <p:cNvCxnSpPr>
            <a:stCxn id="476" idx="6"/>
            <a:endCxn id="478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82" name="Google Shape;482;p31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4" name="Google Shape;484;p31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5" name="Google Shape;485;p31"/>
          <p:cNvCxnSpPr>
            <a:stCxn id="482" idx="6"/>
            <a:endCxn id="483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6" name="Google Shape;486;p31"/>
          <p:cNvCxnSpPr>
            <a:stCxn id="483" idx="0"/>
            <a:endCxn id="484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7" name="Google Shape;487;p31"/>
          <p:cNvCxnSpPr>
            <a:stCxn id="482" idx="6"/>
            <a:endCxn id="484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88" name="Google Shape;488;p31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9" name="Google Shape;489;p31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1" name="Google Shape;491;p31"/>
          <p:cNvCxnSpPr>
            <a:stCxn id="488" idx="6"/>
            <a:endCxn id="489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92" name="Google Shape;492;p31"/>
          <p:cNvCxnSpPr>
            <a:stCxn id="489" idx="0"/>
            <a:endCxn id="490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93" name="Google Shape;493;p31"/>
          <p:cNvCxnSpPr>
            <a:stCxn id="488" idx="6"/>
            <a:endCxn id="490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94" name="Google Shape;494;p31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1"/>
          <p:cNvSpPr/>
          <p:nvPr/>
        </p:nvSpPr>
        <p:spPr>
          <a:xfrm>
            <a:off x="192175" y="349300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1"/>
          <p:cNvSpPr/>
          <p:nvPr/>
        </p:nvSpPr>
        <p:spPr>
          <a:xfrm>
            <a:off x="5722263" y="3507296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theory</a:t>
            </a:r>
            <a:endParaRPr/>
          </a:p>
        </p:txBody>
      </p:sp>
      <p:sp>
        <p:nvSpPr>
          <p:cNvPr id="503" name="Google Shape;503;p32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idea is that unbalanced configurations will tend to transition to balanced configurations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configurations produce </a:t>
            </a:r>
            <a:r>
              <a:rPr b="1" lang="en"/>
              <a:t>tension</a:t>
            </a:r>
            <a:r>
              <a:rPr lang="en"/>
              <a:t> in P leading them to </a:t>
            </a:r>
            <a:r>
              <a:rPr b="1" lang="en"/>
              <a:t>change </a:t>
            </a:r>
            <a:r>
              <a:rPr lang="en"/>
              <a:t>their sentiments toward O or Q to generate balance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2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7" name="Google Shape;507;p32"/>
          <p:cNvCxnSpPr>
            <a:stCxn id="504" idx="6"/>
            <a:endCxn id="505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8" name="Google Shape;508;p32"/>
          <p:cNvCxnSpPr>
            <a:stCxn id="505" idx="0"/>
            <a:endCxn id="506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9" name="Google Shape;509;p32"/>
          <p:cNvCxnSpPr>
            <a:stCxn id="504" idx="6"/>
            <a:endCxn id="506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10" name="Google Shape;510;p32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3" name="Google Shape;513;p32"/>
          <p:cNvCxnSpPr>
            <a:stCxn id="510" idx="6"/>
            <a:endCxn id="511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14" name="Google Shape;514;p32"/>
          <p:cNvCxnSpPr>
            <a:stCxn id="511" idx="0"/>
            <a:endCxn id="512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15" name="Google Shape;515;p32"/>
          <p:cNvCxnSpPr>
            <a:stCxn id="510" idx="6"/>
            <a:endCxn id="512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16" name="Google Shape;516;p32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9" name="Google Shape;519;p32"/>
          <p:cNvCxnSpPr>
            <a:stCxn id="516" idx="6"/>
            <a:endCxn id="517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0" name="Google Shape;520;p32"/>
          <p:cNvCxnSpPr>
            <a:stCxn id="517" idx="0"/>
            <a:endCxn id="518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1" name="Google Shape;521;p32"/>
          <p:cNvCxnSpPr>
            <a:stCxn id="516" idx="6"/>
            <a:endCxn id="518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2" name="Google Shape;522;p32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5" name="Google Shape;525;p32"/>
          <p:cNvCxnSpPr>
            <a:stCxn id="522" idx="6"/>
            <a:endCxn id="523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6" name="Google Shape;526;p32"/>
          <p:cNvCxnSpPr>
            <a:stCxn id="523" idx="0"/>
            <a:endCxn id="524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27" name="Google Shape;527;p32"/>
          <p:cNvCxnSpPr>
            <a:stCxn id="522" idx="6"/>
            <a:endCxn id="524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28" name="Google Shape;528;p32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2" name="Google Shape;532;p32"/>
          <p:cNvCxnSpPr>
            <a:stCxn id="529" idx="6"/>
            <a:endCxn id="530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3" name="Google Shape;533;p32"/>
          <p:cNvCxnSpPr>
            <a:stCxn id="530" idx="0"/>
            <a:endCxn id="531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4" name="Google Shape;534;p32"/>
          <p:cNvCxnSpPr>
            <a:stCxn id="529" idx="6"/>
            <a:endCxn id="531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5" name="Google Shape;535;p32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6" name="Google Shape;536;p32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7" name="Google Shape;537;p32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8" name="Google Shape;538;p32"/>
          <p:cNvCxnSpPr>
            <a:stCxn id="535" idx="6"/>
            <a:endCxn id="536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9" name="Google Shape;539;p32"/>
          <p:cNvCxnSpPr>
            <a:stCxn id="536" idx="0"/>
            <a:endCxn id="537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40" name="Google Shape;540;p32"/>
          <p:cNvCxnSpPr>
            <a:stCxn id="535" idx="6"/>
            <a:endCxn id="537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41" name="Google Shape;541;p32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2" name="Google Shape;542;p32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3" name="Google Shape;543;p32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4" name="Google Shape;544;p32"/>
          <p:cNvCxnSpPr>
            <a:stCxn id="541" idx="6"/>
            <a:endCxn id="542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45" name="Google Shape;545;p32"/>
          <p:cNvCxnSpPr>
            <a:stCxn id="542" idx="0"/>
            <a:endCxn id="543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6" name="Google Shape;546;p32"/>
          <p:cNvCxnSpPr>
            <a:stCxn id="541" idx="6"/>
            <a:endCxn id="543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47" name="Google Shape;547;p32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8" name="Google Shape;548;p32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9" name="Google Shape;549;p32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50" name="Google Shape;550;p32"/>
          <p:cNvCxnSpPr>
            <a:stCxn id="547" idx="6"/>
            <a:endCxn id="548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51" name="Google Shape;551;p32"/>
          <p:cNvCxnSpPr>
            <a:stCxn id="548" idx="0"/>
            <a:endCxn id="549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52" name="Google Shape;552;p32"/>
          <p:cNvCxnSpPr>
            <a:stCxn id="547" idx="6"/>
            <a:endCxn id="549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3" name="Google Shape;553;p32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4" name="Google Shape;554;p32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2"/>
          <p:cNvSpPr/>
          <p:nvPr/>
        </p:nvSpPr>
        <p:spPr>
          <a:xfrm>
            <a:off x="1991475" y="350363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2"/>
          <p:cNvSpPr/>
          <p:nvPr/>
        </p:nvSpPr>
        <p:spPr>
          <a:xfrm>
            <a:off x="7341125" y="349300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562" name="Google Shape;562;p33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the rules of sign multiplication from basic algebra?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+1 = +1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 -1 =  -1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-1  *  -1 = +1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3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4" name="Google Shape;564;p33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6" name="Google Shape;566;p33"/>
          <p:cNvCxnSpPr>
            <a:stCxn id="563" idx="6"/>
            <a:endCxn id="564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7" name="Google Shape;567;p33"/>
          <p:cNvCxnSpPr>
            <a:stCxn id="564" idx="0"/>
            <a:endCxn id="565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68" name="Google Shape;568;p33"/>
          <p:cNvCxnSpPr>
            <a:stCxn id="563" idx="6"/>
            <a:endCxn id="565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69" name="Google Shape;569;p33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1" name="Google Shape;571;p33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2" name="Google Shape;572;p33"/>
          <p:cNvCxnSpPr>
            <a:stCxn id="569" idx="6"/>
            <a:endCxn id="570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3" name="Google Shape;573;p33"/>
          <p:cNvCxnSpPr>
            <a:stCxn id="570" idx="0"/>
            <a:endCxn id="571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4" name="Google Shape;574;p33"/>
          <p:cNvCxnSpPr>
            <a:stCxn id="569" idx="6"/>
            <a:endCxn id="571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5" name="Google Shape;575;p33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6" name="Google Shape;576;p33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7" name="Google Shape;577;p33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8" name="Google Shape;578;p33"/>
          <p:cNvCxnSpPr>
            <a:stCxn id="575" idx="6"/>
            <a:endCxn id="576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9" name="Google Shape;579;p33"/>
          <p:cNvCxnSpPr>
            <a:stCxn id="576" idx="0"/>
            <a:endCxn id="577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0" name="Google Shape;580;p33"/>
          <p:cNvCxnSpPr>
            <a:stCxn id="575" idx="6"/>
            <a:endCxn id="577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1" name="Google Shape;581;p33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2" name="Google Shape;582;p33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4" name="Google Shape;584;p33"/>
          <p:cNvCxnSpPr>
            <a:stCxn id="581" idx="6"/>
            <a:endCxn id="582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85" name="Google Shape;585;p33"/>
          <p:cNvCxnSpPr>
            <a:stCxn id="582" idx="0"/>
            <a:endCxn id="583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86" name="Google Shape;586;p33"/>
          <p:cNvCxnSpPr>
            <a:stCxn id="581" idx="6"/>
            <a:endCxn id="583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87" name="Google Shape;587;p33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8" name="Google Shape;588;p33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9" name="Google Shape;589;p33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0" name="Google Shape;590;p33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1" name="Google Shape;591;p33"/>
          <p:cNvCxnSpPr>
            <a:stCxn id="588" idx="6"/>
            <a:endCxn id="589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2" name="Google Shape;592;p33"/>
          <p:cNvCxnSpPr>
            <a:stCxn id="589" idx="0"/>
            <a:endCxn id="590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3" name="Google Shape;593;p33"/>
          <p:cNvCxnSpPr>
            <a:stCxn id="588" idx="6"/>
            <a:endCxn id="590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4" name="Google Shape;594;p33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5" name="Google Shape;595;p33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6" name="Google Shape;596;p33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7" name="Google Shape;597;p33"/>
          <p:cNvCxnSpPr>
            <a:stCxn id="594" idx="6"/>
            <a:endCxn id="595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8" name="Google Shape;598;p33"/>
          <p:cNvCxnSpPr>
            <a:stCxn id="595" idx="0"/>
            <a:endCxn id="596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99" name="Google Shape;599;p33"/>
          <p:cNvCxnSpPr>
            <a:stCxn id="594" idx="6"/>
            <a:endCxn id="596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00" name="Google Shape;600;p33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1" name="Google Shape;601;p33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2" name="Google Shape;602;p33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3" name="Google Shape;603;p33"/>
          <p:cNvCxnSpPr>
            <a:stCxn id="600" idx="6"/>
            <a:endCxn id="601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04" name="Google Shape;604;p33"/>
          <p:cNvCxnSpPr>
            <a:stCxn id="601" idx="0"/>
            <a:endCxn id="602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5" name="Google Shape;605;p33"/>
          <p:cNvCxnSpPr>
            <a:stCxn id="600" idx="6"/>
            <a:endCxn id="602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06" name="Google Shape;606;p33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7" name="Google Shape;607;p33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8" name="Google Shape;608;p33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9" name="Google Shape;609;p33"/>
          <p:cNvCxnSpPr>
            <a:stCxn id="606" idx="6"/>
            <a:endCxn id="607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0" name="Google Shape;610;p33"/>
          <p:cNvCxnSpPr>
            <a:stCxn id="607" idx="0"/>
            <a:endCxn id="608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1" name="Google Shape;611;p33"/>
          <p:cNvCxnSpPr>
            <a:stCxn id="606" idx="6"/>
            <a:endCxn id="608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2" name="Google Shape;612;p33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13" name="Google Shape;613;p33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619" name="Google Shape;619;p34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the rules of sign multiplication from basic algebra?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+1 = +1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  *  -1 =  -1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-1  *  -1 = +1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4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1" name="Google Shape;621;p34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2" name="Google Shape;622;p34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3" name="Google Shape;623;p34"/>
          <p:cNvCxnSpPr>
            <a:stCxn id="620" idx="6"/>
            <a:endCxn id="621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4" name="Google Shape;624;p34"/>
          <p:cNvCxnSpPr>
            <a:stCxn id="621" idx="0"/>
            <a:endCxn id="622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5" name="Google Shape;625;p34"/>
          <p:cNvCxnSpPr>
            <a:stCxn id="620" idx="6"/>
            <a:endCxn id="622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26" name="Google Shape;626;p34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8" name="Google Shape;628;p34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9" name="Google Shape;629;p34"/>
          <p:cNvCxnSpPr>
            <a:stCxn id="626" idx="6"/>
            <a:endCxn id="627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0" name="Google Shape;630;p34"/>
          <p:cNvCxnSpPr>
            <a:stCxn id="627" idx="0"/>
            <a:endCxn id="628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1" name="Google Shape;631;p34"/>
          <p:cNvCxnSpPr>
            <a:stCxn id="626" idx="6"/>
            <a:endCxn id="628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2" name="Google Shape;632;p34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4" name="Google Shape;634;p34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5" name="Google Shape;635;p34"/>
          <p:cNvCxnSpPr>
            <a:stCxn id="632" idx="6"/>
            <a:endCxn id="633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6" name="Google Shape;636;p34"/>
          <p:cNvCxnSpPr>
            <a:stCxn id="633" idx="0"/>
            <a:endCxn id="634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7" name="Google Shape;637;p34"/>
          <p:cNvCxnSpPr>
            <a:stCxn id="632" idx="6"/>
            <a:endCxn id="634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8" name="Google Shape;638;p34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0" name="Google Shape;640;p34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1" name="Google Shape;641;p34"/>
          <p:cNvCxnSpPr>
            <a:stCxn id="638" idx="6"/>
            <a:endCxn id="639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2" name="Google Shape;642;p34"/>
          <p:cNvCxnSpPr>
            <a:stCxn id="639" idx="0"/>
            <a:endCxn id="640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3" name="Google Shape;643;p34"/>
          <p:cNvCxnSpPr>
            <a:stCxn id="638" idx="6"/>
            <a:endCxn id="640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44" name="Google Shape;644;p34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45" name="Google Shape;645;p34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7" name="Google Shape;647;p34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8" name="Google Shape;648;p34"/>
          <p:cNvCxnSpPr>
            <a:stCxn id="645" idx="6"/>
            <a:endCxn id="646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9" name="Google Shape;649;p34"/>
          <p:cNvCxnSpPr>
            <a:stCxn id="646" idx="0"/>
            <a:endCxn id="647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0" name="Google Shape;650;p34"/>
          <p:cNvCxnSpPr>
            <a:stCxn id="645" idx="6"/>
            <a:endCxn id="647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1" name="Google Shape;651;p34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2" name="Google Shape;652;p34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3" name="Google Shape;653;p34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4" name="Google Shape;654;p34"/>
          <p:cNvCxnSpPr>
            <a:stCxn id="651" idx="6"/>
            <a:endCxn id="652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34"/>
          <p:cNvCxnSpPr>
            <a:stCxn id="652" idx="0"/>
            <a:endCxn id="653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6" name="Google Shape;656;p34"/>
          <p:cNvCxnSpPr>
            <a:stCxn id="651" idx="6"/>
            <a:endCxn id="653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57" name="Google Shape;657;p34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8" name="Google Shape;658;p34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9" name="Google Shape;659;p34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0" name="Google Shape;660;p34"/>
          <p:cNvCxnSpPr>
            <a:stCxn id="657" idx="6"/>
            <a:endCxn id="658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1" name="Google Shape;661;p34"/>
          <p:cNvCxnSpPr>
            <a:stCxn id="658" idx="0"/>
            <a:endCxn id="659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34"/>
          <p:cNvCxnSpPr>
            <a:stCxn id="657" idx="6"/>
            <a:endCxn id="659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63" name="Google Shape;663;p34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4" name="Google Shape;664;p34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5" name="Google Shape;665;p34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6" name="Google Shape;666;p34"/>
          <p:cNvCxnSpPr>
            <a:stCxn id="663" idx="6"/>
            <a:endCxn id="664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7" name="Google Shape;667;p34"/>
          <p:cNvCxnSpPr>
            <a:stCxn id="664" idx="0"/>
            <a:endCxn id="665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8" name="Google Shape;668;p34"/>
          <p:cNvCxnSpPr>
            <a:stCxn id="663" idx="6"/>
            <a:endCxn id="665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9" name="Google Shape;669;p34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70" name="Google Shape;670;p34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4"/>
          <p:cNvSpPr/>
          <p:nvPr/>
        </p:nvSpPr>
        <p:spPr>
          <a:xfrm>
            <a:off x="3563675" y="1718788"/>
            <a:ext cx="24999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They apply to balance theory!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677" name="Google Shape;677;p35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Try it!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5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0" name="Google Shape;680;p35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1" name="Google Shape;681;p35"/>
          <p:cNvCxnSpPr>
            <a:stCxn id="678" idx="6"/>
            <a:endCxn id="679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2" name="Google Shape;682;p35"/>
          <p:cNvCxnSpPr>
            <a:stCxn id="679" idx="0"/>
            <a:endCxn id="680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3" name="Google Shape;683;p35"/>
          <p:cNvCxnSpPr>
            <a:stCxn id="678" idx="6"/>
            <a:endCxn id="680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84" name="Google Shape;684;p35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7" name="Google Shape;687;p35"/>
          <p:cNvCxnSpPr>
            <a:stCxn id="684" idx="6"/>
            <a:endCxn id="685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8" name="Google Shape;688;p35"/>
          <p:cNvCxnSpPr>
            <a:stCxn id="685" idx="0"/>
            <a:endCxn id="686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89" name="Google Shape;689;p35"/>
          <p:cNvCxnSpPr>
            <a:stCxn id="684" idx="6"/>
            <a:endCxn id="686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0" name="Google Shape;690;p35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1" name="Google Shape;691;p35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2" name="Google Shape;692;p35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3" name="Google Shape;693;p35"/>
          <p:cNvCxnSpPr>
            <a:stCxn id="690" idx="6"/>
            <a:endCxn id="691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4" name="Google Shape;694;p35"/>
          <p:cNvCxnSpPr>
            <a:stCxn id="691" idx="0"/>
            <a:endCxn id="692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95" name="Google Shape;695;p35"/>
          <p:cNvCxnSpPr>
            <a:stCxn id="690" idx="6"/>
            <a:endCxn id="692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96" name="Google Shape;696;p35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7" name="Google Shape;697;p35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8" name="Google Shape;698;p35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9" name="Google Shape;699;p35"/>
          <p:cNvCxnSpPr>
            <a:stCxn id="696" idx="6"/>
            <a:endCxn id="697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0" name="Google Shape;700;p35"/>
          <p:cNvCxnSpPr>
            <a:stCxn id="697" idx="0"/>
            <a:endCxn id="698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01" name="Google Shape;701;p35"/>
          <p:cNvCxnSpPr>
            <a:stCxn id="696" idx="6"/>
            <a:endCxn id="698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02" name="Google Shape;702;p35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03" name="Google Shape;703;p35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6" name="Google Shape;706;p35"/>
          <p:cNvCxnSpPr>
            <a:stCxn id="703" idx="6"/>
            <a:endCxn id="704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7" name="Google Shape;707;p35"/>
          <p:cNvCxnSpPr>
            <a:stCxn id="704" idx="0"/>
            <a:endCxn id="705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8" name="Google Shape;708;p35"/>
          <p:cNvCxnSpPr>
            <a:stCxn id="703" idx="6"/>
            <a:endCxn id="705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9" name="Google Shape;709;p35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0" name="Google Shape;710;p35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2" name="Google Shape;712;p35"/>
          <p:cNvCxnSpPr>
            <a:stCxn id="709" idx="6"/>
            <a:endCxn id="710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3" name="Google Shape;713;p35"/>
          <p:cNvCxnSpPr>
            <a:stCxn id="710" idx="0"/>
            <a:endCxn id="711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4" name="Google Shape;714;p35"/>
          <p:cNvCxnSpPr>
            <a:stCxn id="709" idx="6"/>
            <a:endCxn id="711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15" name="Google Shape;715;p35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6" name="Google Shape;716;p35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8" name="Google Shape;718;p35"/>
          <p:cNvCxnSpPr>
            <a:stCxn id="715" idx="6"/>
            <a:endCxn id="716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9" name="Google Shape;719;p35"/>
          <p:cNvCxnSpPr>
            <a:stCxn id="716" idx="0"/>
            <a:endCxn id="717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0" name="Google Shape;720;p35"/>
          <p:cNvCxnSpPr>
            <a:stCxn id="715" idx="6"/>
            <a:endCxn id="717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21" name="Google Shape;721;p35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3" name="Google Shape;723;p35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4" name="Google Shape;724;p35"/>
          <p:cNvCxnSpPr>
            <a:stCxn id="721" idx="6"/>
            <a:endCxn id="722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25" name="Google Shape;725;p35"/>
          <p:cNvCxnSpPr>
            <a:stCxn id="722" idx="0"/>
            <a:endCxn id="723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26" name="Google Shape;726;p35"/>
          <p:cNvCxnSpPr>
            <a:stCxn id="721" idx="6"/>
            <a:endCxn id="723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27" name="Google Shape;727;p35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734" name="Google Shape;734;p36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-1</a:t>
            </a:r>
            <a:r>
              <a:rPr baseline="-25000" lang="en"/>
              <a:t>POQ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6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6" name="Google Shape;736;p36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7" name="Google Shape;737;p36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8" name="Google Shape;738;p36"/>
          <p:cNvCxnSpPr>
            <a:stCxn id="735" idx="6"/>
            <a:endCxn id="736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9" name="Google Shape;739;p36"/>
          <p:cNvCxnSpPr>
            <a:stCxn id="736" idx="0"/>
            <a:endCxn id="737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0" name="Google Shape;740;p36"/>
          <p:cNvCxnSpPr>
            <a:stCxn id="735" idx="6"/>
            <a:endCxn id="737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41" name="Google Shape;741;p36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2" name="Google Shape;742;p36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3" name="Google Shape;743;p36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4" name="Google Shape;744;p36"/>
          <p:cNvCxnSpPr>
            <a:stCxn id="741" idx="6"/>
            <a:endCxn id="742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5" name="Google Shape;745;p36"/>
          <p:cNvCxnSpPr>
            <a:stCxn id="742" idx="0"/>
            <a:endCxn id="743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46" name="Google Shape;746;p36"/>
          <p:cNvCxnSpPr>
            <a:stCxn id="741" idx="6"/>
            <a:endCxn id="743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7" name="Google Shape;747;p36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0" name="Google Shape;750;p36"/>
          <p:cNvCxnSpPr>
            <a:stCxn id="747" idx="6"/>
            <a:endCxn id="748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1" name="Google Shape;751;p36"/>
          <p:cNvCxnSpPr>
            <a:stCxn id="748" idx="0"/>
            <a:endCxn id="749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52" name="Google Shape;752;p36"/>
          <p:cNvCxnSpPr>
            <a:stCxn id="747" idx="6"/>
            <a:endCxn id="749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3" name="Google Shape;753;p36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4" name="Google Shape;754;p36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6" name="Google Shape;756;p36"/>
          <p:cNvCxnSpPr>
            <a:stCxn id="753" idx="6"/>
            <a:endCxn id="754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7" name="Google Shape;757;p36"/>
          <p:cNvCxnSpPr>
            <a:stCxn id="754" idx="0"/>
            <a:endCxn id="755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58" name="Google Shape;758;p36"/>
          <p:cNvCxnSpPr>
            <a:stCxn id="753" idx="6"/>
            <a:endCxn id="755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59" name="Google Shape;759;p36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60" name="Google Shape;760;p36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1" name="Google Shape;761;p36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2" name="Google Shape;762;p36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3" name="Google Shape;763;p36"/>
          <p:cNvCxnSpPr>
            <a:stCxn id="760" idx="6"/>
            <a:endCxn id="761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4" name="Google Shape;764;p36"/>
          <p:cNvCxnSpPr>
            <a:stCxn id="761" idx="0"/>
            <a:endCxn id="762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5" name="Google Shape;765;p36"/>
          <p:cNvCxnSpPr>
            <a:stCxn id="760" idx="6"/>
            <a:endCxn id="762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66" name="Google Shape;766;p36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9" name="Google Shape;769;p36"/>
          <p:cNvCxnSpPr>
            <a:stCxn id="766" idx="6"/>
            <a:endCxn id="767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0" name="Google Shape;770;p36"/>
          <p:cNvCxnSpPr>
            <a:stCxn id="767" idx="0"/>
            <a:endCxn id="768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71" name="Google Shape;771;p36"/>
          <p:cNvCxnSpPr>
            <a:stCxn id="766" idx="6"/>
            <a:endCxn id="768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72" name="Google Shape;772;p36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3" name="Google Shape;773;p36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4" name="Google Shape;774;p36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75" name="Google Shape;775;p36"/>
          <p:cNvCxnSpPr>
            <a:stCxn id="772" idx="6"/>
            <a:endCxn id="773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76" name="Google Shape;776;p36"/>
          <p:cNvCxnSpPr>
            <a:stCxn id="773" idx="0"/>
            <a:endCxn id="774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7" name="Google Shape;777;p36"/>
          <p:cNvCxnSpPr>
            <a:stCxn id="772" idx="6"/>
            <a:endCxn id="774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78" name="Google Shape;778;p36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9" name="Google Shape;779;p36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0" name="Google Shape;780;p36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1" name="Google Shape;781;p36"/>
          <p:cNvCxnSpPr>
            <a:stCxn id="778" idx="6"/>
            <a:endCxn id="779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2" name="Google Shape;782;p36"/>
          <p:cNvCxnSpPr>
            <a:stCxn id="779" idx="0"/>
            <a:endCxn id="780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3" name="Google Shape;783;p36"/>
          <p:cNvCxnSpPr>
            <a:stCxn id="778" idx="6"/>
            <a:endCxn id="780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4" name="Google Shape;784;p36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5" name="Google Shape;785;p36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6"/>
          <p:cNvSpPr/>
          <p:nvPr/>
        </p:nvSpPr>
        <p:spPr>
          <a:xfrm>
            <a:off x="192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792" name="Google Shape;792;p37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Turns out that if you multiply the signs of the edges of each of the </a:t>
            </a:r>
            <a:r>
              <a:rPr b="1" lang="en"/>
              <a:t>unbalanced</a:t>
            </a:r>
            <a:r>
              <a:rPr lang="en"/>
              <a:t> triads you get a </a:t>
            </a:r>
            <a:r>
              <a:rPr b="1" lang="en"/>
              <a:t>negative</a:t>
            </a:r>
            <a:r>
              <a:rPr lang="en"/>
              <a:t> number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-1</a:t>
            </a:r>
            <a:r>
              <a:rPr baseline="-25000" lang="en"/>
              <a:t>POQ</a:t>
            </a:r>
            <a:endParaRPr baseline="-25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7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4" name="Google Shape;794;p37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5" name="Google Shape;795;p37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96" name="Google Shape;796;p37"/>
          <p:cNvCxnSpPr>
            <a:stCxn id="793" idx="6"/>
            <a:endCxn id="794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7" name="Google Shape;797;p37"/>
          <p:cNvCxnSpPr>
            <a:stCxn id="794" idx="0"/>
            <a:endCxn id="795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8" name="Google Shape;798;p37"/>
          <p:cNvCxnSpPr>
            <a:stCxn id="793" idx="6"/>
            <a:endCxn id="795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99" name="Google Shape;799;p37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0" name="Google Shape;800;p37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1" name="Google Shape;801;p37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02" name="Google Shape;802;p37"/>
          <p:cNvCxnSpPr>
            <a:stCxn id="799" idx="6"/>
            <a:endCxn id="800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3" name="Google Shape;803;p37"/>
          <p:cNvCxnSpPr>
            <a:stCxn id="800" idx="0"/>
            <a:endCxn id="801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04" name="Google Shape;804;p37"/>
          <p:cNvCxnSpPr>
            <a:stCxn id="799" idx="6"/>
            <a:endCxn id="801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5" name="Google Shape;805;p37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6" name="Google Shape;806;p37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07" name="Google Shape;807;p37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08" name="Google Shape;808;p37"/>
          <p:cNvCxnSpPr>
            <a:stCxn id="805" idx="6"/>
            <a:endCxn id="806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09" name="Google Shape;809;p37"/>
          <p:cNvCxnSpPr>
            <a:stCxn id="806" idx="0"/>
            <a:endCxn id="807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0" name="Google Shape;810;p37"/>
          <p:cNvCxnSpPr>
            <a:stCxn id="805" idx="6"/>
            <a:endCxn id="807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1" name="Google Shape;811;p37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2" name="Google Shape;812;p37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3" name="Google Shape;813;p37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14" name="Google Shape;814;p37"/>
          <p:cNvCxnSpPr>
            <a:stCxn id="811" idx="6"/>
            <a:endCxn id="812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15" name="Google Shape;815;p37"/>
          <p:cNvCxnSpPr>
            <a:stCxn id="812" idx="0"/>
            <a:endCxn id="813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16" name="Google Shape;816;p37"/>
          <p:cNvCxnSpPr>
            <a:stCxn id="811" idx="6"/>
            <a:endCxn id="813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17" name="Google Shape;817;p37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18" name="Google Shape;818;p37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9" name="Google Shape;819;p37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0" name="Google Shape;820;p37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1" name="Google Shape;821;p37"/>
          <p:cNvCxnSpPr>
            <a:stCxn id="818" idx="6"/>
            <a:endCxn id="819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2" name="Google Shape;822;p37"/>
          <p:cNvCxnSpPr>
            <a:stCxn id="819" idx="0"/>
            <a:endCxn id="820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3" name="Google Shape;823;p37"/>
          <p:cNvCxnSpPr>
            <a:stCxn id="818" idx="6"/>
            <a:endCxn id="820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4" name="Google Shape;824;p37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5" name="Google Shape;825;p37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6" name="Google Shape;826;p37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7" name="Google Shape;827;p37"/>
          <p:cNvCxnSpPr>
            <a:stCxn id="824" idx="6"/>
            <a:endCxn id="825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28" name="Google Shape;828;p37"/>
          <p:cNvCxnSpPr>
            <a:stCxn id="825" idx="0"/>
            <a:endCxn id="826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29" name="Google Shape;829;p37"/>
          <p:cNvCxnSpPr>
            <a:stCxn id="824" idx="6"/>
            <a:endCxn id="826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30" name="Google Shape;830;p37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1" name="Google Shape;831;p37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2" name="Google Shape;832;p37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33" name="Google Shape;833;p37"/>
          <p:cNvCxnSpPr>
            <a:stCxn id="830" idx="6"/>
            <a:endCxn id="831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34" name="Google Shape;834;p37"/>
          <p:cNvCxnSpPr>
            <a:stCxn id="831" idx="0"/>
            <a:endCxn id="832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5" name="Google Shape;835;p37"/>
          <p:cNvCxnSpPr>
            <a:stCxn id="830" idx="6"/>
            <a:endCxn id="832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36" name="Google Shape;836;p37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7" name="Google Shape;837;p37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8" name="Google Shape;838;p37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39" name="Google Shape;839;p37"/>
          <p:cNvCxnSpPr>
            <a:stCxn id="836" idx="6"/>
            <a:endCxn id="837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40" name="Google Shape;840;p37"/>
          <p:cNvCxnSpPr>
            <a:stCxn id="837" idx="0"/>
            <a:endCxn id="838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41" name="Google Shape;841;p37"/>
          <p:cNvCxnSpPr>
            <a:stCxn id="836" idx="6"/>
            <a:endCxn id="838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2" name="Google Shape;842;p37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43" name="Google Shape;843;p37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7"/>
          <p:cNvSpPr/>
          <p:nvPr/>
        </p:nvSpPr>
        <p:spPr>
          <a:xfrm>
            <a:off x="1920175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850" name="Google Shape;850;p38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Conversely, if you multiply the sign of the edges of the </a:t>
            </a:r>
            <a:r>
              <a:rPr b="1" lang="en"/>
              <a:t>balanced</a:t>
            </a:r>
            <a:r>
              <a:rPr lang="en"/>
              <a:t> triads you get a </a:t>
            </a:r>
            <a:r>
              <a:rPr b="1" lang="en"/>
              <a:t>positive</a:t>
            </a:r>
            <a:r>
              <a:rPr lang="en"/>
              <a:t> number: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8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2" name="Google Shape;852;p38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3" name="Google Shape;853;p38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54" name="Google Shape;854;p38"/>
          <p:cNvCxnSpPr>
            <a:stCxn id="851" idx="6"/>
            <a:endCxn id="852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5" name="Google Shape;855;p38"/>
          <p:cNvCxnSpPr>
            <a:stCxn id="852" idx="0"/>
            <a:endCxn id="853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6" name="Google Shape;856;p38"/>
          <p:cNvCxnSpPr>
            <a:stCxn id="851" idx="6"/>
            <a:endCxn id="853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57" name="Google Shape;857;p38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8" name="Google Shape;858;p38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9" name="Google Shape;859;p38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60" name="Google Shape;860;p38"/>
          <p:cNvCxnSpPr>
            <a:stCxn id="857" idx="6"/>
            <a:endCxn id="858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1" name="Google Shape;861;p38"/>
          <p:cNvCxnSpPr>
            <a:stCxn id="858" idx="0"/>
            <a:endCxn id="859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62" name="Google Shape;862;p38"/>
          <p:cNvCxnSpPr>
            <a:stCxn id="857" idx="6"/>
            <a:endCxn id="859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3" name="Google Shape;863;p38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4" name="Google Shape;864;p38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5" name="Google Shape;865;p38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66" name="Google Shape;866;p38"/>
          <p:cNvCxnSpPr>
            <a:stCxn id="863" idx="6"/>
            <a:endCxn id="864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67" name="Google Shape;867;p38"/>
          <p:cNvCxnSpPr>
            <a:stCxn id="864" idx="0"/>
            <a:endCxn id="865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68" name="Google Shape;868;p38"/>
          <p:cNvCxnSpPr>
            <a:stCxn id="863" idx="6"/>
            <a:endCxn id="865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69" name="Google Shape;869;p38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0" name="Google Shape;870;p38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1" name="Google Shape;871;p38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2" name="Google Shape;872;p38"/>
          <p:cNvCxnSpPr>
            <a:stCxn id="869" idx="6"/>
            <a:endCxn id="870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73" name="Google Shape;873;p38"/>
          <p:cNvCxnSpPr>
            <a:stCxn id="870" idx="0"/>
            <a:endCxn id="871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74" name="Google Shape;874;p38"/>
          <p:cNvCxnSpPr>
            <a:stCxn id="869" idx="6"/>
            <a:endCxn id="871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75" name="Google Shape;875;p38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76" name="Google Shape;876;p38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8" name="Google Shape;878;p38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9" name="Google Shape;879;p38"/>
          <p:cNvCxnSpPr>
            <a:stCxn id="876" idx="6"/>
            <a:endCxn id="877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0" name="Google Shape;880;p38"/>
          <p:cNvCxnSpPr>
            <a:stCxn id="877" idx="0"/>
            <a:endCxn id="878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1" name="Google Shape;881;p38"/>
          <p:cNvCxnSpPr>
            <a:stCxn id="876" idx="6"/>
            <a:endCxn id="878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82" name="Google Shape;882;p38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3" name="Google Shape;883;p38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4" name="Google Shape;884;p38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85" name="Google Shape;885;p38"/>
          <p:cNvCxnSpPr>
            <a:stCxn id="882" idx="6"/>
            <a:endCxn id="883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86" name="Google Shape;886;p38"/>
          <p:cNvCxnSpPr>
            <a:stCxn id="883" idx="0"/>
            <a:endCxn id="884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87" name="Google Shape;887;p38"/>
          <p:cNvCxnSpPr>
            <a:stCxn id="882" idx="6"/>
            <a:endCxn id="884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88" name="Google Shape;888;p38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9" name="Google Shape;889;p38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0" name="Google Shape;890;p38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1" name="Google Shape;891;p38"/>
          <p:cNvCxnSpPr>
            <a:stCxn id="888" idx="6"/>
            <a:endCxn id="889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92" name="Google Shape;892;p38"/>
          <p:cNvCxnSpPr>
            <a:stCxn id="889" idx="0"/>
            <a:endCxn id="890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93" name="Google Shape;893;p38"/>
          <p:cNvCxnSpPr>
            <a:stCxn id="888" idx="6"/>
            <a:endCxn id="890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894" name="Google Shape;894;p38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5" name="Google Shape;895;p38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6" name="Google Shape;896;p38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7" name="Google Shape;897;p38"/>
          <p:cNvCxnSpPr>
            <a:stCxn id="894" idx="6"/>
            <a:endCxn id="895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98" name="Google Shape;898;p38"/>
          <p:cNvCxnSpPr>
            <a:stCxn id="895" idx="0"/>
            <a:endCxn id="896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899" name="Google Shape;899;p38"/>
          <p:cNvCxnSpPr>
            <a:stCxn id="894" idx="6"/>
            <a:endCxn id="896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00" name="Google Shape;900;p38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8"/>
          <p:cNvSpPr/>
          <p:nvPr/>
        </p:nvSpPr>
        <p:spPr>
          <a:xfrm>
            <a:off x="5722263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908" name="Google Shape;908;p39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Conversely, if you multiply the sign of the edges of the </a:t>
            </a:r>
            <a:r>
              <a:rPr b="1" lang="en"/>
              <a:t>balanced</a:t>
            </a:r>
            <a:r>
              <a:rPr lang="en"/>
              <a:t> triads you get a </a:t>
            </a:r>
            <a:r>
              <a:rPr b="1" lang="en"/>
              <a:t>positive</a:t>
            </a:r>
            <a:r>
              <a:rPr lang="en"/>
              <a:t> number: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9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0" name="Google Shape;910;p39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1" name="Google Shape;911;p39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12" name="Google Shape;912;p39"/>
          <p:cNvCxnSpPr>
            <a:stCxn id="909" idx="6"/>
            <a:endCxn id="910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39"/>
          <p:cNvCxnSpPr>
            <a:stCxn id="910" idx="0"/>
            <a:endCxn id="911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4" name="Google Shape;914;p39"/>
          <p:cNvCxnSpPr>
            <a:stCxn id="909" idx="6"/>
            <a:endCxn id="911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15" name="Google Shape;915;p39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7" name="Google Shape;917;p39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18" name="Google Shape;918;p39"/>
          <p:cNvCxnSpPr>
            <a:stCxn id="915" idx="6"/>
            <a:endCxn id="916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9" name="Google Shape;919;p39"/>
          <p:cNvCxnSpPr>
            <a:stCxn id="916" idx="0"/>
            <a:endCxn id="917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20" name="Google Shape;920;p39"/>
          <p:cNvCxnSpPr>
            <a:stCxn id="915" idx="6"/>
            <a:endCxn id="917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1" name="Google Shape;921;p39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2" name="Google Shape;922;p39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3" name="Google Shape;923;p39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4" name="Google Shape;924;p39"/>
          <p:cNvCxnSpPr>
            <a:stCxn id="921" idx="6"/>
            <a:endCxn id="922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25" name="Google Shape;925;p39"/>
          <p:cNvCxnSpPr>
            <a:stCxn id="922" idx="0"/>
            <a:endCxn id="923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26" name="Google Shape;926;p39"/>
          <p:cNvCxnSpPr>
            <a:stCxn id="921" idx="6"/>
            <a:endCxn id="923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27" name="Google Shape;927;p39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8" name="Google Shape;928;p39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9" name="Google Shape;929;p39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0" name="Google Shape;930;p39"/>
          <p:cNvCxnSpPr>
            <a:stCxn id="927" idx="6"/>
            <a:endCxn id="928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31" name="Google Shape;931;p39"/>
          <p:cNvCxnSpPr>
            <a:stCxn id="928" idx="0"/>
            <a:endCxn id="929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39"/>
          <p:cNvCxnSpPr>
            <a:stCxn id="927" idx="6"/>
            <a:endCxn id="929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33" name="Google Shape;933;p39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34" name="Google Shape;934;p39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5" name="Google Shape;935;p39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6" name="Google Shape;936;p39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7" name="Google Shape;937;p39"/>
          <p:cNvCxnSpPr>
            <a:stCxn id="934" idx="6"/>
            <a:endCxn id="935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8" name="Google Shape;938;p39"/>
          <p:cNvCxnSpPr>
            <a:stCxn id="935" idx="0"/>
            <a:endCxn id="936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9" name="Google Shape;939;p39"/>
          <p:cNvCxnSpPr>
            <a:stCxn id="934" idx="6"/>
            <a:endCxn id="936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40" name="Google Shape;940;p39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1" name="Google Shape;941;p39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2" name="Google Shape;942;p39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3" name="Google Shape;943;p39"/>
          <p:cNvCxnSpPr>
            <a:stCxn id="940" idx="6"/>
            <a:endCxn id="941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4" name="Google Shape;944;p39"/>
          <p:cNvCxnSpPr>
            <a:stCxn id="941" idx="0"/>
            <a:endCxn id="942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45" name="Google Shape;945;p39"/>
          <p:cNvCxnSpPr>
            <a:stCxn id="940" idx="6"/>
            <a:endCxn id="942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46" name="Google Shape;946;p39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7" name="Google Shape;947;p39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8" name="Google Shape;948;p39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49" name="Google Shape;949;p39"/>
          <p:cNvCxnSpPr>
            <a:stCxn id="946" idx="6"/>
            <a:endCxn id="947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50" name="Google Shape;950;p39"/>
          <p:cNvCxnSpPr>
            <a:stCxn id="947" idx="0"/>
            <a:endCxn id="948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1" name="Google Shape;951;p39"/>
          <p:cNvCxnSpPr>
            <a:stCxn id="946" idx="6"/>
            <a:endCxn id="948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52" name="Google Shape;952;p39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3" name="Google Shape;953;p39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4" name="Google Shape;954;p39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5" name="Google Shape;955;p39"/>
          <p:cNvCxnSpPr>
            <a:stCxn id="952" idx="6"/>
            <a:endCxn id="953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56" name="Google Shape;956;p39"/>
          <p:cNvCxnSpPr>
            <a:stCxn id="953" idx="0"/>
            <a:endCxn id="954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57" name="Google Shape;957;p39"/>
          <p:cNvCxnSpPr>
            <a:stCxn id="952" idx="6"/>
            <a:endCxn id="954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8" name="Google Shape;958;p39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59" name="Google Shape;959;p39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39"/>
          <p:cNvSpPr/>
          <p:nvPr/>
        </p:nvSpPr>
        <p:spPr>
          <a:xfrm>
            <a:off x="7379575" y="24140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966" name="Google Shape;966;p40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 friend of a friend is a friend”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0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8" name="Google Shape;968;p40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9" name="Google Shape;969;p40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70" name="Google Shape;970;p40"/>
          <p:cNvCxnSpPr>
            <a:stCxn id="967" idx="6"/>
            <a:endCxn id="968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1" name="Google Shape;971;p40"/>
          <p:cNvCxnSpPr>
            <a:stCxn id="968" idx="0"/>
            <a:endCxn id="969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2" name="Google Shape;972;p40"/>
          <p:cNvCxnSpPr>
            <a:stCxn id="967" idx="6"/>
            <a:endCxn id="969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73" name="Google Shape;973;p40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4" name="Google Shape;974;p40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5" name="Google Shape;975;p40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76" name="Google Shape;976;p40"/>
          <p:cNvCxnSpPr>
            <a:stCxn id="973" idx="6"/>
            <a:endCxn id="974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7" name="Google Shape;977;p40"/>
          <p:cNvCxnSpPr>
            <a:stCxn id="974" idx="0"/>
            <a:endCxn id="975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78" name="Google Shape;978;p40"/>
          <p:cNvCxnSpPr>
            <a:stCxn id="973" idx="6"/>
            <a:endCxn id="975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9" name="Google Shape;979;p40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0" name="Google Shape;980;p40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1" name="Google Shape;981;p40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2" name="Google Shape;982;p40"/>
          <p:cNvCxnSpPr>
            <a:stCxn id="979" idx="6"/>
            <a:endCxn id="980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83" name="Google Shape;983;p40"/>
          <p:cNvCxnSpPr>
            <a:stCxn id="980" idx="0"/>
            <a:endCxn id="981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4" name="Google Shape;984;p40"/>
          <p:cNvCxnSpPr>
            <a:stCxn id="979" idx="6"/>
            <a:endCxn id="981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85" name="Google Shape;985;p40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6" name="Google Shape;986;p40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7" name="Google Shape;987;p40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88" name="Google Shape;988;p40"/>
          <p:cNvCxnSpPr>
            <a:stCxn id="985" idx="6"/>
            <a:endCxn id="986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89" name="Google Shape;989;p40"/>
          <p:cNvCxnSpPr>
            <a:stCxn id="986" idx="0"/>
            <a:endCxn id="987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990" name="Google Shape;990;p40"/>
          <p:cNvCxnSpPr>
            <a:stCxn id="985" idx="6"/>
            <a:endCxn id="987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991" name="Google Shape;991;p40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92" name="Google Shape;992;p40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3" name="Google Shape;993;p40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4" name="Google Shape;994;p40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5" name="Google Shape;995;p40"/>
          <p:cNvCxnSpPr>
            <a:stCxn id="992" idx="6"/>
            <a:endCxn id="993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6" name="Google Shape;996;p40"/>
          <p:cNvCxnSpPr>
            <a:stCxn id="993" idx="0"/>
            <a:endCxn id="994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7" name="Google Shape;997;p40"/>
          <p:cNvCxnSpPr>
            <a:stCxn id="992" idx="6"/>
            <a:endCxn id="994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8" name="Google Shape;998;p40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9" name="Google Shape;999;p40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0" name="Google Shape;1000;p40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01" name="Google Shape;1001;p40"/>
          <p:cNvCxnSpPr>
            <a:stCxn id="998" idx="6"/>
            <a:endCxn id="999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2" name="Google Shape;1002;p40"/>
          <p:cNvCxnSpPr>
            <a:stCxn id="999" idx="0"/>
            <a:endCxn id="1000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3" name="Google Shape;1003;p40"/>
          <p:cNvCxnSpPr>
            <a:stCxn id="998" idx="6"/>
            <a:endCxn id="1000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04" name="Google Shape;1004;p40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5" name="Google Shape;1005;p40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6" name="Google Shape;1006;p40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07" name="Google Shape;1007;p40"/>
          <p:cNvCxnSpPr>
            <a:stCxn id="1004" idx="6"/>
            <a:endCxn id="1005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08" name="Google Shape;1008;p40"/>
          <p:cNvCxnSpPr>
            <a:stCxn id="1005" idx="0"/>
            <a:endCxn id="1006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9" name="Google Shape;1009;p40"/>
          <p:cNvCxnSpPr>
            <a:stCxn id="1004" idx="6"/>
            <a:endCxn id="1006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10" name="Google Shape;1010;p40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1" name="Google Shape;1011;p40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2" name="Google Shape;1012;p40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13" name="Google Shape;1013;p40"/>
          <p:cNvCxnSpPr>
            <a:stCxn id="1010" idx="6"/>
            <a:endCxn id="1011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14" name="Google Shape;1014;p40"/>
          <p:cNvCxnSpPr>
            <a:stCxn id="1011" idx="0"/>
            <a:endCxn id="1012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15" name="Google Shape;1015;p40"/>
          <p:cNvCxnSpPr>
            <a:stCxn id="1010" idx="6"/>
            <a:endCxn id="1012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6" name="Google Shape;1016;p40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17" name="Google Shape;1017;p40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40"/>
          <p:cNvSpPr/>
          <p:nvPr/>
        </p:nvSpPr>
        <p:spPr>
          <a:xfrm>
            <a:off x="5722263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024" name="Google Shape;1024;p41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 friend of an enemy is an enemy”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+1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41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6" name="Google Shape;1026;p41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7" name="Google Shape;1027;p41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28" name="Google Shape;1028;p41"/>
          <p:cNvCxnSpPr>
            <a:stCxn id="1025" idx="6"/>
            <a:endCxn id="1026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9" name="Google Shape;1029;p41"/>
          <p:cNvCxnSpPr>
            <a:stCxn id="1026" idx="0"/>
            <a:endCxn id="1027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0" name="Google Shape;1030;p41"/>
          <p:cNvCxnSpPr>
            <a:stCxn id="1025" idx="6"/>
            <a:endCxn id="1027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31" name="Google Shape;1031;p41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2" name="Google Shape;1032;p41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3" name="Google Shape;1033;p41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34" name="Google Shape;1034;p41"/>
          <p:cNvCxnSpPr>
            <a:stCxn id="1031" idx="6"/>
            <a:endCxn id="1032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35" name="Google Shape;1035;p41"/>
          <p:cNvCxnSpPr>
            <a:stCxn id="1032" idx="0"/>
            <a:endCxn id="1033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36" name="Google Shape;1036;p41"/>
          <p:cNvCxnSpPr>
            <a:stCxn id="1031" idx="6"/>
            <a:endCxn id="1033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7" name="Google Shape;1037;p41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8" name="Google Shape;1038;p41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9" name="Google Shape;1039;p41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40" name="Google Shape;1040;p41"/>
          <p:cNvCxnSpPr>
            <a:stCxn id="1037" idx="6"/>
            <a:endCxn id="1038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41" name="Google Shape;1041;p41"/>
          <p:cNvCxnSpPr>
            <a:stCxn id="1038" idx="0"/>
            <a:endCxn id="1039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2" name="Google Shape;1042;p41"/>
          <p:cNvCxnSpPr>
            <a:stCxn id="1037" idx="6"/>
            <a:endCxn id="1039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43" name="Google Shape;1043;p41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4" name="Google Shape;1044;p41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5" name="Google Shape;1045;p41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46" name="Google Shape;1046;p41"/>
          <p:cNvCxnSpPr>
            <a:stCxn id="1043" idx="6"/>
            <a:endCxn id="1044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47" name="Google Shape;1047;p41"/>
          <p:cNvCxnSpPr>
            <a:stCxn id="1044" idx="0"/>
            <a:endCxn id="1045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48" name="Google Shape;1048;p41"/>
          <p:cNvCxnSpPr>
            <a:stCxn id="1043" idx="6"/>
            <a:endCxn id="1045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49" name="Google Shape;1049;p41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50" name="Google Shape;1050;p41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1" name="Google Shape;1051;p41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2" name="Google Shape;1052;p41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3" name="Google Shape;1053;p41"/>
          <p:cNvCxnSpPr>
            <a:stCxn id="1050" idx="6"/>
            <a:endCxn id="1051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4" name="Google Shape;1054;p41"/>
          <p:cNvCxnSpPr>
            <a:stCxn id="1051" idx="0"/>
            <a:endCxn id="1052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5" name="Google Shape;1055;p41"/>
          <p:cNvCxnSpPr>
            <a:stCxn id="1050" idx="6"/>
            <a:endCxn id="1052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56" name="Google Shape;1056;p41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7" name="Google Shape;1057;p41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8" name="Google Shape;1058;p41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59" name="Google Shape;1059;p41"/>
          <p:cNvCxnSpPr>
            <a:stCxn id="1056" idx="6"/>
            <a:endCxn id="1057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0" name="Google Shape;1060;p41"/>
          <p:cNvCxnSpPr>
            <a:stCxn id="1057" idx="0"/>
            <a:endCxn id="1058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61" name="Google Shape;1061;p41"/>
          <p:cNvCxnSpPr>
            <a:stCxn id="1056" idx="6"/>
            <a:endCxn id="1058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62" name="Google Shape;1062;p41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3" name="Google Shape;1063;p41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4" name="Google Shape;1064;p41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5" name="Google Shape;1065;p41"/>
          <p:cNvCxnSpPr>
            <a:stCxn id="1062" idx="6"/>
            <a:endCxn id="1063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66" name="Google Shape;1066;p41"/>
          <p:cNvCxnSpPr>
            <a:stCxn id="1063" idx="0"/>
            <a:endCxn id="1064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7" name="Google Shape;1067;p41"/>
          <p:cNvCxnSpPr>
            <a:stCxn id="1062" idx="6"/>
            <a:endCxn id="1064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68" name="Google Shape;1068;p41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9" name="Google Shape;1069;p41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0" name="Google Shape;1070;p41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71" name="Google Shape;1071;p41"/>
          <p:cNvCxnSpPr>
            <a:stCxn id="1068" idx="6"/>
            <a:endCxn id="1069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72" name="Google Shape;1072;p41"/>
          <p:cNvCxnSpPr>
            <a:stCxn id="1069" idx="0"/>
            <a:endCxn id="1070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73" name="Google Shape;1073;p41"/>
          <p:cNvCxnSpPr>
            <a:stCxn id="1068" idx="6"/>
            <a:endCxn id="1070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4" name="Google Shape;1074;p41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75" name="Google Shape;1075;p41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1"/>
          <p:cNvSpPr/>
          <p:nvPr/>
        </p:nvSpPr>
        <p:spPr>
          <a:xfrm>
            <a:off x="5628450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082" name="Google Shape;1082;p42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 enemy of a friend is an enemy”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+1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-1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42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4" name="Google Shape;1084;p42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5" name="Google Shape;1085;p42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86" name="Google Shape;1086;p42"/>
          <p:cNvCxnSpPr>
            <a:stCxn id="1083" idx="6"/>
            <a:endCxn id="1084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7" name="Google Shape;1087;p42"/>
          <p:cNvCxnSpPr>
            <a:stCxn id="1084" idx="0"/>
            <a:endCxn id="1085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88" name="Google Shape;1088;p42"/>
          <p:cNvCxnSpPr>
            <a:stCxn id="1083" idx="6"/>
            <a:endCxn id="1085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89" name="Google Shape;1089;p42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0" name="Google Shape;1090;p42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1" name="Google Shape;1091;p42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92" name="Google Shape;1092;p42"/>
          <p:cNvCxnSpPr>
            <a:stCxn id="1089" idx="6"/>
            <a:endCxn id="1090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3" name="Google Shape;1093;p42"/>
          <p:cNvCxnSpPr>
            <a:stCxn id="1090" idx="0"/>
            <a:endCxn id="1091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4" name="Google Shape;1094;p42"/>
          <p:cNvCxnSpPr>
            <a:stCxn id="1089" idx="6"/>
            <a:endCxn id="1091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5" name="Google Shape;1095;p42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6" name="Google Shape;1096;p42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7" name="Google Shape;1097;p42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98" name="Google Shape;1098;p42"/>
          <p:cNvCxnSpPr>
            <a:stCxn id="1095" idx="6"/>
            <a:endCxn id="1096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099" name="Google Shape;1099;p42"/>
          <p:cNvCxnSpPr>
            <a:stCxn id="1096" idx="0"/>
            <a:endCxn id="1097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0" name="Google Shape;1100;p42"/>
          <p:cNvCxnSpPr>
            <a:stCxn id="1095" idx="6"/>
            <a:endCxn id="1097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1" name="Google Shape;1101;p42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2" name="Google Shape;1102;p42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3" name="Google Shape;1103;p42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04" name="Google Shape;1104;p42"/>
          <p:cNvCxnSpPr>
            <a:stCxn id="1101" idx="6"/>
            <a:endCxn id="1102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05" name="Google Shape;1105;p42"/>
          <p:cNvCxnSpPr>
            <a:stCxn id="1102" idx="0"/>
            <a:endCxn id="1103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06" name="Google Shape;1106;p42"/>
          <p:cNvCxnSpPr>
            <a:stCxn id="1101" idx="6"/>
            <a:endCxn id="1103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07" name="Google Shape;1107;p42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08" name="Google Shape;1108;p42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9" name="Google Shape;1109;p42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0" name="Google Shape;1110;p42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11" name="Google Shape;1111;p42"/>
          <p:cNvCxnSpPr>
            <a:stCxn id="1108" idx="6"/>
            <a:endCxn id="1109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2" name="Google Shape;1112;p42"/>
          <p:cNvCxnSpPr>
            <a:stCxn id="1109" idx="0"/>
            <a:endCxn id="1110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3" name="Google Shape;1113;p42"/>
          <p:cNvCxnSpPr>
            <a:stCxn id="1108" idx="6"/>
            <a:endCxn id="1110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14" name="Google Shape;1114;p42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5" name="Google Shape;1115;p42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6" name="Google Shape;1116;p42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17" name="Google Shape;1117;p42"/>
          <p:cNvCxnSpPr>
            <a:stCxn id="1114" idx="6"/>
            <a:endCxn id="1115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8" name="Google Shape;1118;p42"/>
          <p:cNvCxnSpPr>
            <a:stCxn id="1115" idx="0"/>
            <a:endCxn id="1116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19" name="Google Shape;1119;p42"/>
          <p:cNvCxnSpPr>
            <a:stCxn id="1114" idx="6"/>
            <a:endCxn id="1116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20" name="Google Shape;1120;p42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1" name="Google Shape;1121;p42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2" name="Google Shape;1122;p42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3" name="Google Shape;1123;p42"/>
          <p:cNvCxnSpPr>
            <a:stCxn id="1120" idx="6"/>
            <a:endCxn id="1121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2"/>
          <p:cNvCxnSpPr>
            <a:stCxn id="1121" idx="0"/>
            <a:endCxn id="1122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5" name="Google Shape;1125;p42"/>
          <p:cNvCxnSpPr>
            <a:stCxn id="1120" idx="6"/>
            <a:endCxn id="1122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26" name="Google Shape;1126;p42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7" name="Google Shape;1127;p42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8" name="Google Shape;1128;p42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9" name="Google Shape;1129;p42"/>
          <p:cNvCxnSpPr>
            <a:stCxn id="1126" idx="6"/>
            <a:endCxn id="1127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30" name="Google Shape;1130;p42"/>
          <p:cNvCxnSpPr>
            <a:stCxn id="1127" idx="0"/>
            <a:endCxn id="1128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31" name="Google Shape;1131;p42"/>
          <p:cNvCxnSpPr>
            <a:stCxn id="1126" idx="6"/>
            <a:endCxn id="1128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2" name="Google Shape;1132;p42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33" name="Google Shape;1133;p42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42"/>
          <p:cNvSpPr/>
          <p:nvPr/>
        </p:nvSpPr>
        <p:spPr>
          <a:xfrm>
            <a:off x="7386450" y="2399738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Mathematics of Balance Theory</a:t>
            </a:r>
            <a:endParaRPr/>
          </a:p>
        </p:txBody>
      </p:sp>
      <p:sp>
        <p:nvSpPr>
          <p:cNvPr id="1140" name="Google Shape;1140;p43"/>
          <p:cNvSpPr txBox="1"/>
          <p:nvPr>
            <p:ph idx="1" type="body"/>
          </p:nvPr>
        </p:nvSpPr>
        <p:spPr>
          <a:xfrm>
            <a:off x="311700" y="1225225"/>
            <a:ext cx="85206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link between mathematics and the logic of social relations!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“An enemy of an enemy is a friend”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-1</a:t>
            </a:r>
            <a:r>
              <a:rPr baseline="-25000" lang="en"/>
              <a:t>PO </a:t>
            </a:r>
            <a:r>
              <a:rPr lang="en"/>
              <a:t>* -1</a:t>
            </a:r>
            <a:r>
              <a:rPr baseline="-25000" lang="en"/>
              <a:t>OQ</a:t>
            </a:r>
            <a:r>
              <a:rPr lang="en"/>
              <a:t> * +1</a:t>
            </a:r>
            <a:r>
              <a:rPr baseline="-25000" lang="en"/>
              <a:t>PQ</a:t>
            </a:r>
            <a:r>
              <a:rPr lang="en"/>
              <a:t> =  +1</a:t>
            </a:r>
            <a:r>
              <a:rPr baseline="-25000" lang="en"/>
              <a:t>POQ</a:t>
            </a:r>
            <a:endParaRPr baseline="-250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3"/>
          <p:cNvSpPr/>
          <p:nvPr/>
        </p:nvSpPr>
        <p:spPr>
          <a:xfrm>
            <a:off x="311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2" name="Google Shape;1142;p43"/>
          <p:cNvSpPr/>
          <p:nvPr/>
        </p:nvSpPr>
        <p:spPr>
          <a:xfrm>
            <a:off x="1376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3" name="Google Shape;1143;p43"/>
          <p:cNvSpPr/>
          <p:nvPr/>
        </p:nvSpPr>
        <p:spPr>
          <a:xfrm>
            <a:off x="1376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44" name="Google Shape;1144;p43"/>
          <p:cNvCxnSpPr>
            <a:stCxn id="1141" idx="6"/>
            <a:endCxn id="1142" idx="2"/>
          </p:cNvCxnSpPr>
          <p:nvPr/>
        </p:nvCxnSpPr>
        <p:spPr>
          <a:xfrm>
            <a:off x="618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5" name="Google Shape;1145;p43"/>
          <p:cNvCxnSpPr>
            <a:stCxn id="1142" idx="0"/>
            <a:endCxn id="1143" idx="4"/>
          </p:cNvCxnSpPr>
          <p:nvPr/>
        </p:nvCxnSpPr>
        <p:spPr>
          <a:xfrm rot="10800000">
            <a:off x="1529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6" name="Google Shape;1146;p43"/>
          <p:cNvCxnSpPr>
            <a:stCxn id="1141" idx="6"/>
            <a:endCxn id="1143" idx="2"/>
          </p:cNvCxnSpPr>
          <p:nvPr/>
        </p:nvCxnSpPr>
        <p:spPr>
          <a:xfrm flipH="1" rot="10800000">
            <a:off x="618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47" name="Google Shape;1147;p43"/>
          <p:cNvSpPr/>
          <p:nvPr/>
        </p:nvSpPr>
        <p:spPr>
          <a:xfrm>
            <a:off x="1985725" y="272432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8" name="Google Shape;1148;p43"/>
          <p:cNvSpPr/>
          <p:nvPr/>
        </p:nvSpPr>
        <p:spPr>
          <a:xfrm>
            <a:off x="3050459" y="314074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9" name="Google Shape;1149;p43"/>
          <p:cNvSpPr/>
          <p:nvPr/>
        </p:nvSpPr>
        <p:spPr>
          <a:xfrm>
            <a:off x="3050459" y="245881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50" name="Google Shape;1150;p43"/>
          <p:cNvCxnSpPr>
            <a:stCxn id="1147" idx="6"/>
            <a:endCxn id="1148" idx="2"/>
          </p:cNvCxnSpPr>
          <p:nvPr/>
        </p:nvCxnSpPr>
        <p:spPr>
          <a:xfrm>
            <a:off x="2292625" y="287717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1" name="Google Shape;1151;p43"/>
          <p:cNvCxnSpPr>
            <a:stCxn id="1148" idx="0"/>
            <a:endCxn id="1149" idx="4"/>
          </p:cNvCxnSpPr>
          <p:nvPr/>
        </p:nvCxnSpPr>
        <p:spPr>
          <a:xfrm rot="10800000">
            <a:off x="3203909" y="276454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52" name="Google Shape;1152;p43"/>
          <p:cNvCxnSpPr>
            <a:stCxn id="1147" idx="6"/>
            <a:endCxn id="1149" idx="2"/>
          </p:cNvCxnSpPr>
          <p:nvPr/>
        </p:nvCxnSpPr>
        <p:spPr>
          <a:xfrm flipH="1" rot="10800000">
            <a:off x="2292625" y="261167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3" name="Google Shape;1153;p43"/>
          <p:cNvSpPr/>
          <p:nvPr/>
        </p:nvSpPr>
        <p:spPr>
          <a:xfrm>
            <a:off x="311688" y="3818551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4" name="Google Shape;1154;p43"/>
          <p:cNvSpPr/>
          <p:nvPr/>
        </p:nvSpPr>
        <p:spPr>
          <a:xfrm>
            <a:off x="1376422" y="4234973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5" name="Google Shape;1155;p43"/>
          <p:cNvSpPr/>
          <p:nvPr/>
        </p:nvSpPr>
        <p:spPr>
          <a:xfrm>
            <a:off x="1376422" y="3553038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56" name="Google Shape;1156;p43"/>
          <p:cNvCxnSpPr>
            <a:stCxn id="1153" idx="6"/>
            <a:endCxn id="1154" idx="2"/>
          </p:cNvCxnSpPr>
          <p:nvPr/>
        </p:nvCxnSpPr>
        <p:spPr>
          <a:xfrm>
            <a:off x="618588" y="3971401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57" name="Google Shape;1157;p43"/>
          <p:cNvCxnSpPr>
            <a:stCxn id="1154" idx="0"/>
            <a:endCxn id="1155" idx="4"/>
          </p:cNvCxnSpPr>
          <p:nvPr/>
        </p:nvCxnSpPr>
        <p:spPr>
          <a:xfrm rot="10800000">
            <a:off x="1529872" y="3858773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8" name="Google Shape;1158;p43"/>
          <p:cNvCxnSpPr>
            <a:stCxn id="1153" idx="6"/>
            <a:endCxn id="1155" idx="2"/>
          </p:cNvCxnSpPr>
          <p:nvPr/>
        </p:nvCxnSpPr>
        <p:spPr>
          <a:xfrm flipH="1" rot="10800000">
            <a:off x="618588" y="3705901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9" name="Google Shape;1159;p43"/>
          <p:cNvSpPr/>
          <p:nvPr/>
        </p:nvSpPr>
        <p:spPr>
          <a:xfrm>
            <a:off x="1985713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0" name="Google Shape;1160;p43"/>
          <p:cNvSpPr/>
          <p:nvPr/>
        </p:nvSpPr>
        <p:spPr>
          <a:xfrm>
            <a:off x="3050447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1" name="Google Shape;1161;p43"/>
          <p:cNvSpPr/>
          <p:nvPr/>
        </p:nvSpPr>
        <p:spPr>
          <a:xfrm>
            <a:off x="3050447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2" name="Google Shape;1162;p43"/>
          <p:cNvCxnSpPr>
            <a:stCxn id="1159" idx="6"/>
            <a:endCxn id="1160" idx="2"/>
          </p:cNvCxnSpPr>
          <p:nvPr/>
        </p:nvCxnSpPr>
        <p:spPr>
          <a:xfrm>
            <a:off x="2292613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63" name="Google Shape;1163;p43"/>
          <p:cNvCxnSpPr>
            <a:stCxn id="1160" idx="0"/>
            <a:endCxn id="1161" idx="4"/>
          </p:cNvCxnSpPr>
          <p:nvPr/>
        </p:nvCxnSpPr>
        <p:spPr>
          <a:xfrm rot="10800000">
            <a:off x="3203897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64" name="Google Shape;1164;p43"/>
          <p:cNvCxnSpPr>
            <a:stCxn id="1159" idx="6"/>
            <a:endCxn id="1161" idx="2"/>
          </p:cNvCxnSpPr>
          <p:nvPr/>
        </p:nvCxnSpPr>
        <p:spPr>
          <a:xfrm flipH="1" rot="10800000">
            <a:off x="2292613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65" name="Google Shape;1165;p43"/>
          <p:cNvSpPr txBox="1"/>
          <p:nvPr/>
        </p:nvSpPr>
        <p:spPr>
          <a:xfrm>
            <a:off x="938000" y="4647288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Unbalanced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66" name="Google Shape;1166;p43"/>
          <p:cNvSpPr/>
          <p:nvPr/>
        </p:nvSpPr>
        <p:spPr>
          <a:xfrm>
            <a:off x="5786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7" name="Google Shape;1167;p43"/>
          <p:cNvSpPr/>
          <p:nvPr/>
        </p:nvSpPr>
        <p:spPr>
          <a:xfrm>
            <a:off x="6851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8" name="Google Shape;1168;p43"/>
          <p:cNvSpPr/>
          <p:nvPr/>
        </p:nvSpPr>
        <p:spPr>
          <a:xfrm>
            <a:off x="6851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9" name="Google Shape;1169;p43"/>
          <p:cNvCxnSpPr>
            <a:stCxn id="1166" idx="6"/>
            <a:endCxn id="1167" idx="2"/>
          </p:cNvCxnSpPr>
          <p:nvPr/>
        </p:nvCxnSpPr>
        <p:spPr>
          <a:xfrm>
            <a:off x="6093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0" name="Google Shape;1170;p43"/>
          <p:cNvCxnSpPr>
            <a:stCxn id="1167" idx="0"/>
            <a:endCxn id="1168" idx="4"/>
          </p:cNvCxnSpPr>
          <p:nvPr/>
        </p:nvCxnSpPr>
        <p:spPr>
          <a:xfrm rot="10800000">
            <a:off x="7004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1" name="Google Shape;1171;p43"/>
          <p:cNvCxnSpPr>
            <a:stCxn id="1166" idx="6"/>
            <a:endCxn id="1168" idx="2"/>
          </p:cNvCxnSpPr>
          <p:nvPr/>
        </p:nvCxnSpPr>
        <p:spPr>
          <a:xfrm flipH="1" rot="10800000">
            <a:off x="6093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72" name="Google Shape;1172;p43"/>
          <p:cNvSpPr/>
          <p:nvPr/>
        </p:nvSpPr>
        <p:spPr>
          <a:xfrm>
            <a:off x="7460675" y="2724338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3" name="Google Shape;1173;p43"/>
          <p:cNvSpPr/>
          <p:nvPr/>
        </p:nvSpPr>
        <p:spPr>
          <a:xfrm>
            <a:off x="8525409" y="3140760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4" name="Google Shape;1174;p43"/>
          <p:cNvSpPr/>
          <p:nvPr/>
        </p:nvSpPr>
        <p:spPr>
          <a:xfrm>
            <a:off x="8525409" y="2458825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75" name="Google Shape;1175;p43"/>
          <p:cNvCxnSpPr>
            <a:stCxn id="1172" idx="6"/>
            <a:endCxn id="1173" idx="2"/>
          </p:cNvCxnSpPr>
          <p:nvPr/>
        </p:nvCxnSpPr>
        <p:spPr>
          <a:xfrm>
            <a:off x="7767575" y="2877188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6" name="Google Shape;1176;p43"/>
          <p:cNvCxnSpPr>
            <a:stCxn id="1173" idx="0"/>
            <a:endCxn id="1174" idx="4"/>
          </p:cNvCxnSpPr>
          <p:nvPr/>
        </p:nvCxnSpPr>
        <p:spPr>
          <a:xfrm rot="10800000">
            <a:off x="8678859" y="2764560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77" name="Google Shape;1177;p43"/>
          <p:cNvCxnSpPr>
            <a:stCxn id="1172" idx="6"/>
            <a:endCxn id="1174" idx="2"/>
          </p:cNvCxnSpPr>
          <p:nvPr/>
        </p:nvCxnSpPr>
        <p:spPr>
          <a:xfrm flipH="1" rot="10800000">
            <a:off x="7767575" y="2611688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78" name="Google Shape;1178;p43"/>
          <p:cNvSpPr/>
          <p:nvPr/>
        </p:nvSpPr>
        <p:spPr>
          <a:xfrm>
            <a:off x="5786638" y="3818563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9" name="Google Shape;1179;p43"/>
          <p:cNvSpPr/>
          <p:nvPr/>
        </p:nvSpPr>
        <p:spPr>
          <a:xfrm>
            <a:off x="6851372" y="4234985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0" name="Google Shape;1180;p43"/>
          <p:cNvSpPr/>
          <p:nvPr/>
        </p:nvSpPr>
        <p:spPr>
          <a:xfrm>
            <a:off x="6851372" y="3553050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81" name="Google Shape;1181;p43"/>
          <p:cNvCxnSpPr>
            <a:stCxn id="1178" idx="6"/>
            <a:endCxn id="1179" idx="2"/>
          </p:cNvCxnSpPr>
          <p:nvPr/>
        </p:nvCxnSpPr>
        <p:spPr>
          <a:xfrm>
            <a:off x="6093538" y="3971413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82" name="Google Shape;1182;p43"/>
          <p:cNvCxnSpPr>
            <a:stCxn id="1179" idx="0"/>
            <a:endCxn id="1180" idx="4"/>
          </p:cNvCxnSpPr>
          <p:nvPr/>
        </p:nvCxnSpPr>
        <p:spPr>
          <a:xfrm rot="10800000">
            <a:off x="7004822" y="3858785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3" name="Google Shape;1183;p43"/>
          <p:cNvCxnSpPr>
            <a:stCxn id="1178" idx="6"/>
            <a:endCxn id="1180" idx="2"/>
          </p:cNvCxnSpPr>
          <p:nvPr/>
        </p:nvCxnSpPr>
        <p:spPr>
          <a:xfrm flipH="1" rot="10800000">
            <a:off x="6093538" y="3705913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84" name="Google Shape;1184;p43"/>
          <p:cNvSpPr/>
          <p:nvPr/>
        </p:nvSpPr>
        <p:spPr>
          <a:xfrm>
            <a:off x="7460663" y="3818576"/>
            <a:ext cx="306900" cy="30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P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5" name="Google Shape;1185;p43"/>
          <p:cNvSpPr/>
          <p:nvPr/>
        </p:nvSpPr>
        <p:spPr>
          <a:xfrm>
            <a:off x="8525397" y="4234998"/>
            <a:ext cx="306900" cy="3057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O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6" name="Google Shape;1186;p43"/>
          <p:cNvSpPr/>
          <p:nvPr/>
        </p:nvSpPr>
        <p:spPr>
          <a:xfrm>
            <a:off x="8525397" y="3553063"/>
            <a:ext cx="306900" cy="305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Q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87" name="Google Shape;1187;p43"/>
          <p:cNvCxnSpPr>
            <a:stCxn id="1184" idx="6"/>
            <a:endCxn id="1185" idx="2"/>
          </p:cNvCxnSpPr>
          <p:nvPr/>
        </p:nvCxnSpPr>
        <p:spPr>
          <a:xfrm>
            <a:off x="7767563" y="3971426"/>
            <a:ext cx="757800" cy="4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88" name="Google Shape;1188;p43"/>
          <p:cNvCxnSpPr>
            <a:stCxn id="1185" idx="0"/>
            <a:endCxn id="1186" idx="4"/>
          </p:cNvCxnSpPr>
          <p:nvPr/>
        </p:nvCxnSpPr>
        <p:spPr>
          <a:xfrm rot="10800000">
            <a:off x="8678847" y="3858798"/>
            <a:ext cx="0" cy="37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89" name="Google Shape;1189;p43"/>
          <p:cNvCxnSpPr>
            <a:stCxn id="1184" idx="6"/>
            <a:endCxn id="1186" idx="2"/>
          </p:cNvCxnSpPr>
          <p:nvPr/>
        </p:nvCxnSpPr>
        <p:spPr>
          <a:xfrm flipH="1" rot="10800000">
            <a:off x="7767563" y="3705926"/>
            <a:ext cx="7578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0" name="Google Shape;1190;p43"/>
          <p:cNvSpPr txBox="1"/>
          <p:nvPr/>
        </p:nvSpPr>
        <p:spPr>
          <a:xfrm>
            <a:off x="6412950" y="4647300"/>
            <a:ext cx="22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Economica"/>
                <a:ea typeface="Economica"/>
                <a:cs typeface="Economica"/>
                <a:sym typeface="Economica"/>
              </a:rPr>
              <a:t>Balanced Configurations</a:t>
            </a:r>
            <a:endParaRPr sz="17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91" name="Google Shape;1191;p43"/>
          <p:cNvSpPr/>
          <p:nvPr/>
        </p:nvSpPr>
        <p:spPr>
          <a:xfrm>
            <a:off x="3921150" y="3121650"/>
            <a:ext cx="1366500" cy="10026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43"/>
          <p:cNvSpPr/>
          <p:nvPr/>
        </p:nvSpPr>
        <p:spPr>
          <a:xfrm>
            <a:off x="7400200" y="3524463"/>
            <a:ext cx="1610700" cy="1105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Cross-Pressure</a:t>
            </a:r>
            <a:endParaRPr/>
          </a:p>
        </p:txBody>
      </p:sp>
      <p:sp>
        <p:nvSpPr>
          <p:cNvPr id="1198" name="Google Shape;1198;p44"/>
          <p:cNvSpPr txBox="1"/>
          <p:nvPr>
            <p:ph idx="1" type="body"/>
          </p:nvPr>
        </p:nvSpPr>
        <p:spPr>
          <a:xfrm>
            <a:off x="311700" y="1225225"/>
            <a:ext cx="4260300" cy="35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we have multiple social relations we are sometimes caught between worlds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</a:t>
            </a:r>
            <a:r>
              <a:rPr b="1" lang="en"/>
              <a:t>cross-pressure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Having two friends with different attitudes towards the same object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 predicts that P will have an </a:t>
            </a:r>
            <a:r>
              <a:rPr b="1" lang="en"/>
              <a:t>ambivalent </a:t>
            </a:r>
            <a:r>
              <a:rPr lang="en"/>
              <a:t>attitude toward Q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44"/>
          <p:cNvSpPr/>
          <p:nvPr/>
        </p:nvSpPr>
        <p:spPr>
          <a:xfrm>
            <a:off x="4903100" y="3380449"/>
            <a:ext cx="818100" cy="8163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P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0" name="Google Shape;1200;p44"/>
          <p:cNvSpPr/>
          <p:nvPr/>
        </p:nvSpPr>
        <p:spPr>
          <a:xfrm>
            <a:off x="7742699" y="3380449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O1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1" name="Google Shape;1201;p44"/>
          <p:cNvSpPr/>
          <p:nvPr/>
        </p:nvSpPr>
        <p:spPr>
          <a:xfrm>
            <a:off x="7742699" y="1559325"/>
            <a:ext cx="818100" cy="8163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Q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02" name="Google Shape;1202;p44"/>
          <p:cNvCxnSpPr>
            <a:stCxn id="1199" idx="6"/>
            <a:endCxn id="1200" idx="2"/>
          </p:cNvCxnSpPr>
          <p:nvPr/>
        </p:nvCxnSpPr>
        <p:spPr>
          <a:xfrm>
            <a:off x="5721200" y="3788599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3" name="Google Shape;1203;p44"/>
          <p:cNvCxnSpPr>
            <a:stCxn id="1200" idx="0"/>
            <a:endCxn id="1201" idx="4"/>
          </p:cNvCxnSpPr>
          <p:nvPr/>
        </p:nvCxnSpPr>
        <p:spPr>
          <a:xfrm rot="10800000">
            <a:off x="8151749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4" name="Google Shape;1204;p44"/>
          <p:cNvCxnSpPr>
            <a:stCxn id="1199" idx="7"/>
            <a:endCxn id="1201" idx="2"/>
          </p:cNvCxnSpPr>
          <p:nvPr/>
        </p:nvCxnSpPr>
        <p:spPr>
          <a:xfrm flipH="1" rot="10800000">
            <a:off x="5601392" y="1967594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205" name="Google Shape;1205;p44"/>
          <p:cNvSpPr/>
          <p:nvPr/>
        </p:nvSpPr>
        <p:spPr>
          <a:xfrm>
            <a:off x="4903100" y="1559325"/>
            <a:ext cx="818100" cy="8163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O2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06" name="Google Shape;1206;p44"/>
          <p:cNvCxnSpPr>
            <a:stCxn id="1199" idx="0"/>
            <a:endCxn id="1205" idx="4"/>
          </p:cNvCxnSpPr>
          <p:nvPr/>
        </p:nvCxnSpPr>
        <p:spPr>
          <a:xfrm rot="10800000">
            <a:off x="5312150" y="2375749"/>
            <a:ext cx="0" cy="100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7" name="Google Shape;1207;p44"/>
          <p:cNvCxnSpPr>
            <a:stCxn id="1205" idx="6"/>
            <a:endCxn id="1201" idx="2"/>
          </p:cNvCxnSpPr>
          <p:nvPr/>
        </p:nvCxnSpPr>
        <p:spPr>
          <a:xfrm>
            <a:off x="5721200" y="1967475"/>
            <a:ext cx="202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208" name="Google Shape;1208;p44"/>
          <p:cNvCxnSpPr>
            <a:stCxn id="1199" idx="6"/>
            <a:endCxn id="1201" idx="3"/>
          </p:cNvCxnSpPr>
          <p:nvPr/>
        </p:nvCxnSpPr>
        <p:spPr>
          <a:xfrm flipH="1" rot="10800000">
            <a:off x="5721200" y="2256199"/>
            <a:ext cx="2141400" cy="153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45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215" name="Google Shape;1215;p45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6" name="Google Shape;1216;p45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17" name="Google Shape;1217;p45"/>
          <p:cNvCxnSpPr>
            <a:stCxn id="1215" idx="6"/>
            <a:endCxn id="1216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45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19" name="Google Shape;1219;p45"/>
          <p:cNvCxnSpPr>
            <a:stCxn id="1218" idx="2"/>
            <a:endCxn id="1216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0" name="Google Shape;1220;p45"/>
          <p:cNvSpPr/>
          <p:nvPr/>
        </p:nvSpPr>
        <p:spPr>
          <a:xfrm>
            <a:off x="8042008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21" name="Google Shape;1221;p45"/>
          <p:cNvCxnSpPr>
            <a:stCxn id="1220" idx="2"/>
            <a:endCxn id="1218" idx="2"/>
          </p:cNvCxnSpPr>
          <p:nvPr/>
        </p:nvCxnSpPr>
        <p:spPr>
          <a:xfrm rot="10800000">
            <a:off x="8042008" y="2208624"/>
            <a:ext cx="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2" name="Google Shape;1222;p45"/>
          <p:cNvCxnSpPr>
            <a:stCxn id="1215" idx="6"/>
            <a:endCxn id="1220" idx="2"/>
          </p:cNvCxnSpPr>
          <p:nvPr/>
        </p:nvCxnSpPr>
        <p:spPr>
          <a:xfrm>
            <a:off x="5373300" y="2208534"/>
            <a:ext cx="26688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3" name="Google Shape;1223;p45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4" name="Google Shape;1224;p45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25" name="Google Shape;1225;p45"/>
          <p:cNvCxnSpPr>
            <a:stCxn id="1215" idx="6"/>
            <a:endCxn id="1224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6" name="Google Shape;1226;p45"/>
          <p:cNvCxnSpPr>
            <a:stCxn id="1224" idx="6"/>
            <a:endCxn id="1223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45"/>
          <p:cNvCxnSpPr>
            <a:stCxn id="1223" idx="6"/>
            <a:endCxn id="1220" idx="2"/>
          </p:cNvCxnSpPr>
          <p:nvPr/>
        </p:nvCxnSpPr>
        <p:spPr>
          <a:xfrm flipH="1" rot="10800000">
            <a:off x="7014408" y="3698046"/>
            <a:ext cx="10275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45"/>
          <p:cNvCxnSpPr>
            <a:stCxn id="1224" idx="6"/>
            <a:endCxn id="1216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45"/>
          <p:cNvCxnSpPr>
            <a:stCxn id="1220" idx="2"/>
            <a:endCxn id="1216" idx="6"/>
          </p:cNvCxnSpPr>
          <p:nvPr/>
        </p:nvCxnSpPr>
        <p:spPr>
          <a:xfrm rot="10800000">
            <a:off x="7014508" y="1597224"/>
            <a:ext cx="10275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45"/>
          <p:cNvCxnSpPr>
            <a:stCxn id="1224" idx="6"/>
            <a:endCxn id="1220" idx="2"/>
          </p:cNvCxnSpPr>
          <p:nvPr/>
        </p:nvCxnSpPr>
        <p:spPr>
          <a:xfrm flipH="1" rot="10800000">
            <a:off x="5373308" y="3698221"/>
            <a:ext cx="26688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45"/>
          <p:cNvCxnSpPr>
            <a:stCxn id="1215" idx="6"/>
            <a:endCxn id="1218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45"/>
          <p:cNvCxnSpPr>
            <a:stCxn id="1223" idx="6"/>
            <a:endCxn id="1218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45"/>
          <p:cNvCxnSpPr>
            <a:stCxn id="1215" idx="6"/>
            <a:endCxn id="1223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45"/>
          <p:cNvCxnSpPr>
            <a:stCxn id="1223" idx="0"/>
            <a:endCxn id="1216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45"/>
          <p:cNvCxnSpPr>
            <a:stCxn id="1224" idx="6"/>
            <a:endCxn id="1218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36" name="Google Shape;1236;p45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7" name="Google Shape;1237;p45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8" name="Google Shape;1238;p45"/>
          <p:cNvCxnSpPr>
            <a:stCxn id="1236" idx="6"/>
            <a:endCxn id="1237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45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40" name="Google Shape;1240;p45"/>
          <p:cNvCxnSpPr>
            <a:stCxn id="1236" idx="4"/>
            <a:endCxn id="1239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45"/>
          <p:cNvCxnSpPr>
            <a:stCxn id="1239" idx="6"/>
            <a:endCxn id="1237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2" name="Google Shape;1242;p45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3" name="Google Shape;1243;p45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44" name="Google Shape;1244;p45"/>
          <p:cNvCxnSpPr>
            <a:stCxn id="1242" idx="6"/>
            <a:endCxn id="1243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45" name="Google Shape;1245;p45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46" name="Google Shape;1246;p45"/>
          <p:cNvCxnSpPr>
            <a:stCxn id="1242" idx="4"/>
            <a:endCxn id="1245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45"/>
          <p:cNvCxnSpPr>
            <a:stCxn id="1245" idx="6"/>
            <a:endCxn id="1243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48" name="Google Shape;1248;p45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9" name="Google Shape;1249;p45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0" name="Google Shape;1250;p45"/>
          <p:cNvCxnSpPr>
            <a:stCxn id="1248" idx="6"/>
            <a:endCxn id="1249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45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2" name="Google Shape;1252;p45"/>
          <p:cNvCxnSpPr>
            <a:stCxn id="1248" idx="4"/>
            <a:endCxn id="1251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45"/>
          <p:cNvCxnSpPr>
            <a:stCxn id="1251" idx="6"/>
            <a:endCxn id="1249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54" name="Google Shape;1254;p45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5" name="Google Shape;1255;p45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6" name="Google Shape;1256;p45"/>
          <p:cNvCxnSpPr>
            <a:stCxn id="1254" idx="6"/>
            <a:endCxn id="1255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57" name="Google Shape;1257;p45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8" name="Google Shape;1258;p45"/>
          <p:cNvCxnSpPr>
            <a:stCxn id="1254" idx="4"/>
            <a:endCxn id="1257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45"/>
          <p:cNvCxnSpPr>
            <a:stCxn id="1257" idx="6"/>
            <a:endCxn id="1255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60" name="Google Shape;1260;p45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61" name="Google Shape;1261;p45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62" name="Google Shape;1262;p45"/>
          <p:cNvSpPr txBox="1"/>
          <p:nvPr/>
        </p:nvSpPr>
        <p:spPr>
          <a:xfrm>
            <a:off x="3840200" y="4651700"/>
            <a:ext cx="4137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Cartwright and Harary (1956: 284, Fig. 4)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46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269" name="Google Shape;1269;p46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0" name="Google Shape;1270;p46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71" name="Google Shape;1271;p46"/>
          <p:cNvCxnSpPr>
            <a:stCxn id="1269" idx="6"/>
            <a:endCxn id="127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2" name="Google Shape;1272;p46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73" name="Google Shape;1273;p46"/>
          <p:cNvCxnSpPr>
            <a:stCxn id="1272" idx="2"/>
            <a:endCxn id="127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74" name="Google Shape;1274;p46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75" name="Google Shape;1275;p46"/>
          <p:cNvCxnSpPr>
            <a:stCxn id="1274" idx="2"/>
            <a:endCxn id="1272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46"/>
          <p:cNvCxnSpPr>
            <a:stCxn id="1269" idx="6"/>
            <a:endCxn id="1274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77" name="Google Shape;1277;p46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8" name="Google Shape;1278;p46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79" name="Google Shape;1279;p46"/>
          <p:cNvCxnSpPr>
            <a:stCxn id="1269" idx="6"/>
            <a:endCxn id="1278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46"/>
          <p:cNvCxnSpPr>
            <a:stCxn id="1278" idx="6"/>
            <a:endCxn id="1277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46"/>
          <p:cNvCxnSpPr>
            <a:stCxn id="1277" idx="6"/>
            <a:endCxn id="1274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46"/>
          <p:cNvCxnSpPr>
            <a:stCxn id="1278" idx="6"/>
            <a:endCxn id="1270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46"/>
          <p:cNvCxnSpPr>
            <a:stCxn id="1274" idx="2"/>
            <a:endCxn id="1270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46"/>
          <p:cNvCxnSpPr>
            <a:stCxn id="1278" idx="6"/>
            <a:endCxn id="1274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46"/>
          <p:cNvCxnSpPr>
            <a:stCxn id="1269" idx="6"/>
            <a:endCxn id="127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46"/>
          <p:cNvCxnSpPr>
            <a:stCxn id="1277" idx="6"/>
            <a:endCxn id="127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46"/>
          <p:cNvCxnSpPr>
            <a:stCxn id="1269" idx="6"/>
            <a:endCxn id="1277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46"/>
          <p:cNvCxnSpPr>
            <a:stCxn id="1277" idx="0"/>
            <a:endCxn id="1270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46"/>
          <p:cNvCxnSpPr>
            <a:stCxn id="1278" idx="6"/>
            <a:endCxn id="127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90" name="Google Shape;1290;p46"/>
          <p:cNvSpPr/>
          <p:nvPr/>
        </p:nvSpPr>
        <p:spPr>
          <a:xfrm>
            <a:off x="3648288" y="4271225"/>
            <a:ext cx="2398800" cy="645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Only these triads exist in a balanced graph!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1" name="Google Shape;1291;p46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2" name="Google Shape;1292;p46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93" name="Google Shape;1293;p46"/>
          <p:cNvCxnSpPr>
            <a:stCxn id="1291" idx="6"/>
            <a:endCxn id="1292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46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95" name="Google Shape;1295;p46"/>
          <p:cNvCxnSpPr>
            <a:stCxn id="1291" idx="4"/>
            <a:endCxn id="1294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46"/>
          <p:cNvCxnSpPr>
            <a:stCxn id="1294" idx="6"/>
            <a:endCxn id="1292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7" name="Google Shape;1297;p46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8" name="Google Shape;1298;p46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99" name="Google Shape;1299;p46"/>
          <p:cNvCxnSpPr>
            <a:stCxn id="1297" idx="6"/>
            <a:endCxn id="1298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0" name="Google Shape;1300;p46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1" name="Google Shape;1301;p46"/>
          <p:cNvCxnSpPr>
            <a:stCxn id="1297" idx="4"/>
            <a:endCxn id="1300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46"/>
          <p:cNvCxnSpPr>
            <a:stCxn id="1300" idx="6"/>
            <a:endCxn id="1298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3" name="Google Shape;1303;p46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4" name="Google Shape;1304;p46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5" name="Google Shape;1305;p46"/>
          <p:cNvCxnSpPr>
            <a:stCxn id="1303" idx="6"/>
            <a:endCxn id="1304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46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7" name="Google Shape;1307;p46"/>
          <p:cNvCxnSpPr>
            <a:stCxn id="1303" idx="4"/>
            <a:endCxn id="1306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p46"/>
          <p:cNvCxnSpPr>
            <a:stCxn id="1306" idx="6"/>
            <a:endCxn id="1304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9" name="Google Shape;1309;p46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0" name="Google Shape;1310;p46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11" name="Google Shape;1311;p46"/>
          <p:cNvCxnSpPr>
            <a:stCxn id="1309" idx="6"/>
            <a:endCxn id="1310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12" name="Google Shape;1312;p46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13" name="Google Shape;1313;p46"/>
          <p:cNvCxnSpPr>
            <a:stCxn id="1309" idx="4"/>
            <a:endCxn id="1312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14" name="Google Shape;1314;p46"/>
          <p:cNvCxnSpPr>
            <a:stCxn id="1312" idx="6"/>
            <a:endCxn id="1310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15" name="Google Shape;1315;p46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6" name="Google Shape;1316;p46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17" name="Google Shape;1317;p46"/>
          <p:cNvSpPr/>
          <p:nvPr/>
        </p:nvSpPr>
        <p:spPr>
          <a:xfrm>
            <a:off x="933925" y="2752225"/>
            <a:ext cx="2856900" cy="1014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8" name="Google Shape;1318;p46"/>
          <p:cNvCxnSpPr>
            <a:stCxn id="1290" idx="1"/>
            <a:endCxn id="1315" idx="2"/>
          </p:cNvCxnSpPr>
          <p:nvPr/>
        </p:nvCxnSpPr>
        <p:spPr>
          <a:xfrm rot="10800000">
            <a:off x="2265884" y="3766583"/>
            <a:ext cx="1733700" cy="5991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7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325" name="Google Shape;1325;p47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6" name="Google Shape;1326;p47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27" name="Google Shape;1327;p47"/>
          <p:cNvCxnSpPr>
            <a:stCxn id="1325" idx="6"/>
            <a:endCxn id="1326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47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29" name="Google Shape;1329;p47"/>
          <p:cNvCxnSpPr>
            <a:stCxn id="1328" idx="2"/>
            <a:endCxn id="1326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30" name="Google Shape;1330;p47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31" name="Google Shape;1331;p47"/>
          <p:cNvCxnSpPr>
            <a:stCxn id="1330" idx="2"/>
            <a:endCxn id="1328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47"/>
          <p:cNvCxnSpPr>
            <a:stCxn id="1325" idx="6"/>
            <a:endCxn id="1330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33" name="Google Shape;1333;p47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4" name="Google Shape;1334;p47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35" name="Google Shape;1335;p47"/>
          <p:cNvCxnSpPr>
            <a:stCxn id="1325" idx="6"/>
            <a:endCxn id="1334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47"/>
          <p:cNvCxnSpPr>
            <a:stCxn id="1334" idx="6"/>
            <a:endCxn id="1333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47"/>
          <p:cNvCxnSpPr>
            <a:stCxn id="1333" idx="6"/>
            <a:endCxn id="1330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47"/>
          <p:cNvCxnSpPr>
            <a:stCxn id="1334" idx="6"/>
            <a:endCxn id="1326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47"/>
          <p:cNvCxnSpPr>
            <a:stCxn id="1330" idx="2"/>
            <a:endCxn id="1326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47"/>
          <p:cNvCxnSpPr>
            <a:stCxn id="1334" idx="6"/>
            <a:endCxn id="1330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47"/>
          <p:cNvCxnSpPr>
            <a:stCxn id="1325" idx="6"/>
            <a:endCxn id="1328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2" name="Google Shape;1342;p47"/>
          <p:cNvCxnSpPr>
            <a:stCxn id="1333" idx="6"/>
            <a:endCxn id="1328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3" name="Google Shape;1343;p47"/>
          <p:cNvCxnSpPr>
            <a:stCxn id="1325" idx="6"/>
            <a:endCxn id="1333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47"/>
          <p:cNvCxnSpPr>
            <a:stCxn id="1333" idx="0"/>
            <a:endCxn id="1326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5" name="Google Shape;1345;p47"/>
          <p:cNvCxnSpPr>
            <a:stCxn id="1334" idx="6"/>
            <a:endCxn id="1328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46" name="Google Shape;1346;p47"/>
          <p:cNvSpPr/>
          <p:nvPr/>
        </p:nvSpPr>
        <p:spPr>
          <a:xfrm>
            <a:off x="3648300" y="4100925"/>
            <a:ext cx="27618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balanced if it has either zero or two negative links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7" name="Google Shape;1347;p47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8" name="Google Shape;1348;p47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49" name="Google Shape;1349;p47"/>
          <p:cNvCxnSpPr>
            <a:stCxn id="1347" idx="6"/>
            <a:endCxn id="1348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0" name="Google Shape;1350;p47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51" name="Google Shape;1351;p47"/>
          <p:cNvCxnSpPr>
            <a:stCxn id="1347" idx="4"/>
            <a:endCxn id="1350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2" name="Google Shape;1352;p47"/>
          <p:cNvCxnSpPr>
            <a:stCxn id="1350" idx="6"/>
            <a:endCxn id="1348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3" name="Google Shape;1353;p47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4" name="Google Shape;1354;p47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55" name="Google Shape;1355;p47"/>
          <p:cNvCxnSpPr>
            <a:stCxn id="1353" idx="6"/>
            <a:endCxn id="1354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56" name="Google Shape;1356;p47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57" name="Google Shape;1357;p47"/>
          <p:cNvCxnSpPr>
            <a:stCxn id="1353" idx="4"/>
            <a:endCxn id="1356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47"/>
          <p:cNvCxnSpPr>
            <a:stCxn id="1356" idx="6"/>
            <a:endCxn id="1354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59" name="Google Shape;1359;p47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0" name="Google Shape;1360;p47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1" name="Google Shape;1361;p47"/>
          <p:cNvCxnSpPr>
            <a:stCxn id="1359" idx="6"/>
            <a:endCxn id="1360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47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3" name="Google Shape;1363;p47"/>
          <p:cNvCxnSpPr>
            <a:stCxn id="1359" idx="4"/>
            <a:endCxn id="1362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47"/>
          <p:cNvCxnSpPr>
            <a:stCxn id="1362" idx="6"/>
            <a:endCxn id="1360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5" name="Google Shape;1365;p47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6" name="Google Shape;1366;p47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7" name="Google Shape;1367;p47"/>
          <p:cNvCxnSpPr>
            <a:stCxn id="1365" idx="6"/>
            <a:endCxn id="1366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68" name="Google Shape;1368;p47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9" name="Google Shape;1369;p47"/>
          <p:cNvCxnSpPr>
            <a:stCxn id="1365" idx="4"/>
            <a:endCxn id="1368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47"/>
          <p:cNvCxnSpPr>
            <a:stCxn id="1368" idx="6"/>
            <a:endCxn id="1366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71" name="Google Shape;1371;p47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72" name="Google Shape;1372;p47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48"/>
          <p:cNvSpPr txBox="1"/>
          <p:nvPr>
            <p:ph idx="1" type="body"/>
          </p:nvPr>
        </p:nvSpPr>
        <p:spPr>
          <a:xfrm>
            <a:off x="311700" y="1225225"/>
            <a:ext cx="4448100" cy="15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whole signed graph </a:t>
            </a:r>
            <a:r>
              <a:rPr b="1" lang="en"/>
              <a:t>only</a:t>
            </a:r>
            <a:r>
              <a:rPr lang="en"/>
              <a:t> contains </a:t>
            </a:r>
            <a:r>
              <a:rPr b="1" lang="en"/>
              <a:t>balanced</a:t>
            </a:r>
            <a:r>
              <a:rPr lang="en"/>
              <a:t> triads then the graph is also balanced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can be a whole network property!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379" name="Google Shape;1379;p48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0" name="Google Shape;1380;p48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1" name="Google Shape;1381;p48"/>
          <p:cNvCxnSpPr>
            <a:stCxn id="1379" idx="6"/>
            <a:endCxn id="1380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48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3" name="Google Shape;1383;p48"/>
          <p:cNvCxnSpPr>
            <a:stCxn id="1382" idx="2"/>
            <a:endCxn id="1380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84" name="Google Shape;1384;p48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5" name="Google Shape;1385;p48"/>
          <p:cNvCxnSpPr>
            <a:stCxn id="1384" idx="2"/>
            <a:endCxn id="1382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48"/>
          <p:cNvCxnSpPr>
            <a:stCxn id="1379" idx="6"/>
            <a:endCxn id="1384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87" name="Google Shape;1387;p48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8" name="Google Shape;1388;p48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89" name="Google Shape;1389;p48"/>
          <p:cNvCxnSpPr>
            <a:stCxn id="1379" idx="6"/>
            <a:endCxn id="1388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0" name="Google Shape;1390;p48"/>
          <p:cNvCxnSpPr>
            <a:stCxn id="1388" idx="6"/>
            <a:endCxn id="1387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48"/>
          <p:cNvCxnSpPr>
            <a:stCxn id="1387" idx="6"/>
            <a:endCxn id="1384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48"/>
          <p:cNvCxnSpPr>
            <a:stCxn id="1388" idx="6"/>
            <a:endCxn id="1380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3" name="Google Shape;1393;p48"/>
          <p:cNvCxnSpPr>
            <a:stCxn id="1384" idx="2"/>
            <a:endCxn id="1380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48"/>
          <p:cNvCxnSpPr>
            <a:stCxn id="1388" idx="6"/>
            <a:endCxn id="1384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5" name="Google Shape;1395;p48"/>
          <p:cNvCxnSpPr>
            <a:stCxn id="1379" idx="6"/>
            <a:endCxn id="1382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6" name="Google Shape;1396;p48"/>
          <p:cNvCxnSpPr>
            <a:stCxn id="1387" idx="6"/>
            <a:endCxn id="1382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7" name="Google Shape;1397;p48"/>
          <p:cNvCxnSpPr>
            <a:stCxn id="1379" idx="6"/>
            <a:endCxn id="1387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8" name="Google Shape;1398;p48"/>
          <p:cNvCxnSpPr>
            <a:stCxn id="1387" idx="0"/>
            <a:endCxn id="1380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48"/>
          <p:cNvCxnSpPr>
            <a:stCxn id="1388" idx="6"/>
            <a:endCxn id="1382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00" name="Google Shape;1400;p48"/>
          <p:cNvSpPr/>
          <p:nvPr/>
        </p:nvSpPr>
        <p:spPr>
          <a:xfrm>
            <a:off x="3648300" y="4100925"/>
            <a:ext cx="3232500" cy="815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Trick: A triad is unbalanced if the number of negative links is odd (one or three)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1" name="Google Shape;1401;p48"/>
          <p:cNvSpPr/>
          <p:nvPr/>
        </p:nvSpPr>
        <p:spPr>
          <a:xfrm>
            <a:off x="1320625" y="275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2" name="Google Shape;1402;p48"/>
          <p:cNvSpPr/>
          <p:nvPr/>
        </p:nvSpPr>
        <p:spPr>
          <a:xfrm>
            <a:off x="1958416" y="305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3" name="Google Shape;1403;p48"/>
          <p:cNvCxnSpPr>
            <a:stCxn id="1401" idx="6"/>
            <a:endCxn id="1402" idx="2"/>
          </p:cNvCxnSpPr>
          <p:nvPr/>
        </p:nvCxnSpPr>
        <p:spPr>
          <a:xfrm>
            <a:off x="1559125" y="287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4" name="Google Shape;1404;p48"/>
          <p:cNvSpPr/>
          <p:nvPr/>
        </p:nvSpPr>
        <p:spPr>
          <a:xfrm>
            <a:off x="1320628" y="334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5" name="Google Shape;1405;p48"/>
          <p:cNvCxnSpPr>
            <a:stCxn id="1401" idx="4"/>
            <a:endCxn id="1404" idx="0"/>
          </p:cNvCxnSpPr>
          <p:nvPr/>
        </p:nvCxnSpPr>
        <p:spPr>
          <a:xfrm>
            <a:off x="1439875" y="299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48"/>
          <p:cNvCxnSpPr>
            <a:stCxn id="1404" idx="6"/>
            <a:endCxn id="1402" idx="2"/>
          </p:cNvCxnSpPr>
          <p:nvPr/>
        </p:nvCxnSpPr>
        <p:spPr>
          <a:xfrm flipH="1" rot="10800000">
            <a:off x="1559128" y="317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7" name="Google Shape;1407;p48"/>
          <p:cNvSpPr/>
          <p:nvPr/>
        </p:nvSpPr>
        <p:spPr>
          <a:xfrm>
            <a:off x="2730334" y="275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8" name="Google Shape;1408;p48"/>
          <p:cNvSpPr/>
          <p:nvPr/>
        </p:nvSpPr>
        <p:spPr>
          <a:xfrm>
            <a:off x="3368125" y="304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09" name="Google Shape;1409;p48"/>
          <p:cNvCxnSpPr>
            <a:stCxn id="1407" idx="6"/>
            <a:endCxn id="1408" idx="2"/>
          </p:cNvCxnSpPr>
          <p:nvPr/>
        </p:nvCxnSpPr>
        <p:spPr>
          <a:xfrm>
            <a:off x="2968834" y="287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10" name="Google Shape;1410;p48"/>
          <p:cNvSpPr/>
          <p:nvPr/>
        </p:nvSpPr>
        <p:spPr>
          <a:xfrm>
            <a:off x="2730337" y="334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11" name="Google Shape;1411;p48"/>
          <p:cNvCxnSpPr>
            <a:stCxn id="1407" idx="4"/>
            <a:endCxn id="1410" idx="0"/>
          </p:cNvCxnSpPr>
          <p:nvPr/>
        </p:nvCxnSpPr>
        <p:spPr>
          <a:xfrm>
            <a:off x="2849584" y="298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48"/>
          <p:cNvCxnSpPr>
            <a:stCxn id="1410" idx="6"/>
            <a:endCxn id="1408" idx="2"/>
          </p:cNvCxnSpPr>
          <p:nvPr/>
        </p:nvCxnSpPr>
        <p:spPr>
          <a:xfrm flipH="1" rot="10800000">
            <a:off x="2968837" y="316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13" name="Google Shape;1413;p48"/>
          <p:cNvSpPr/>
          <p:nvPr/>
        </p:nvSpPr>
        <p:spPr>
          <a:xfrm>
            <a:off x="1371575" y="3947023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4" name="Google Shape;1414;p48"/>
          <p:cNvSpPr/>
          <p:nvPr/>
        </p:nvSpPr>
        <p:spPr>
          <a:xfrm>
            <a:off x="2009366" y="4243354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15" name="Google Shape;1415;p48"/>
          <p:cNvCxnSpPr>
            <a:stCxn id="1413" idx="6"/>
            <a:endCxn id="1414" idx="2"/>
          </p:cNvCxnSpPr>
          <p:nvPr/>
        </p:nvCxnSpPr>
        <p:spPr>
          <a:xfrm>
            <a:off x="1610075" y="4065523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6" name="Google Shape;1416;p48"/>
          <p:cNvSpPr/>
          <p:nvPr/>
        </p:nvSpPr>
        <p:spPr>
          <a:xfrm>
            <a:off x="1371578" y="4539629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17" name="Google Shape;1417;p48"/>
          <p:cNvCxnSpPr>
            <a:stCxn id="1413" idx="4"/>
            <a:endCxn id="1416" idx="0"/>
          </p:cNvCxnSpPr>
          <p:nvPr/>
        </p:nvCxnSpPr>
        <p:spPr>
          <a:xfrm>
            <a:off x="1490825" y="4184023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48"/>
          <p:cNvCxnSpPr>
            <a:stCxn id="1416" idx="6"/>
            <a:endCxn id="1414" idx="2"/>
          </p:cNvCxnSpPr>
          <p:nvPr/>
        </p:nvCxnSpPr>
        <p:spPr>
          <a:xfrm flipH="1" rot="10800000">
            <a:off x="1610078" y="4361729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19" name="Google Shape;1419;p48"/>
          <p:cNvSpPr/>
          <p:nvPr/>
        </p:nvSpPr>
        <p:spPr>
          <a:xfrm>
            <a:off x="2781284" y="3942231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0" name="Google Shape;1420;p48"/>
          <p:cNvSpPr/>
          <p:nvPr/>
        </p:nvSpPr>
        <p:spPr>
          <a:xfrm>
            <a:off x="3419075" y="4238562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1" name="Google Shape;1421;p48"/>
          <p:cNvCxnSpPr>
            <a:stCxn id="1419" idx="6"/>
            <a:endCxn id="1420" idx="2"/>
          </p:cNvCxnSpPr>
          <p:nvPr/>
        </p:nvCxnSpPr>
        <p:spPr>
          <a:xfrm>
            <a:off x="3019784" y="4060731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2" name="Google Shape;1422;p48"/>
          <p:cNvSpPr/>
          <p:nvPr/>
        </p:nvSpPr>
        <p:spPr>
          <a:xfrm>
            <a:off x="2781287" y="4534837"/>
            <a:ext cx="238500" cy="237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3" name="Google Shape;1423;p48"/>
          <p:cNvCxnSpPr>
            <a:stCxn id="1419" idx="4"/>
            <a:endCxn id="1422" idx="0"/>
          </p:cNvCxnSpPr>
          <p:nvPr/>
        </p:nvCxnSpPr>
        <p:spPr>
          <a:xfrm>
            <a:off x="2900534" y="4179231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48"/>
          <p:cNvCxnSpPr>
            <a:stCxn id="1422" idx="6"/>
            <a:endCxn id="1420" idx="2"/>
          </p:cNvCxnSpPr>
          <p:nvPr/>
        </p:nvCxnSpPr>
        <p:spPr>
          <a:xfrm flipH="1" rot="10800000">
            <a:off x="3019787" y="4356937"/>
            <a:ext cx="399300" cy="29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5" name="Google Shape;1425;p48"/>
          <p:cNvSpPr txBox="1"/>
          <p:nvPr/>
        </p:nvSpPr>
        <p:spPr>
          <a:xfrm>
            <a:off x="1439875" y="3529688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26" name="Google Shape;1426;p48"/>
          <p:cNvSpPr txBox="1"/>
          <p:nvPr/>
        </p:nvSpPr>
        <p:spPr>
          <a:xfrm>
            <a:off x="1485350" y="4776875"/>
            <a:ext cx="1652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Unbalanced Triads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432" name="Google Shape;1432;p49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3" name="Google Shape;1433;p49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34" name="Google Shape;1434;p49"/>
          <p:cNvCxnSpPr>
            <a:stCxn id="1432" idx="6"/>
            <a:endCxn id="1433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5" name="Google Shape;1435;p49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36" name="Google Shape;1436;p49"/>
          <p:cNvCxnSpPr>
            <a:stCxn id="1435" idx="2"/>
            <a:endCxn id="1433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37" name="Google Shape;1437;p49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38" name="Google Shape;1438;p49"/>
          <p:cNvCxnSpPr>
            <a:stCxn id="1437" idx="2"/>
            <a:endCxn id="1435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9" name="Google Shape;1439;p49"/>
          <p:cNvCxnSpPr>
            <a:stCxn id="1432" idx="6"/>
            <a:endCxn id="1437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40" name="Google Shape;1440;p49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1" name="Google Shape;1441;p49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42" name="Google Shape;1442;p49"/>
          <p:cNvCxnSpPr>
            <a:stCxn id="1432" idx="6"/>
            <a:endCxn id="1441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49"/>
          <p:cNvCxnSpPr>
            <a:stCxn id="1441" idx="6"/>
            <a:endCxn id="1440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49"/>
          <p:cNvCxnSpPr>
            <a:stCxn id="1440" idx="6"/>
            <a:endCxn id="1437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49"/>
          <p:cNvCxnSpPr>
            <a:stCxn id="1441" idx="6"/>
            <a:endCxn id="1433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49"/>
          <p:cNvCxnSpPr>
            <a:stCxn id="1437" idx="2"/>
            <a:endCxn id="1433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49"/>
          <p:cNvCxnSpPr>
            <a:stCxn id="1441" idx="6"/>
            <a:endCxn id="1437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49"/>
          <p:cNvCxnSpPr>
            <a:stCxn id="1432" idx="6"/>
            <a:endCxn id="1435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49"/>
          <p:cNvCxnSpPr>
            <a:stCxn id="1440" idx="6"/>
            <a:endCxn id="1435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0" name="Google Shape;1450;p49"/>
          <p:cNvCxnSpPr>
            <a:stCxn id="1432" idx="6"/>
            <a:endCxn id="1440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49"/>
          <p:cNvCxnSpPr>
            <a:stCxn id="1440" idx="0"/>
            <a:endCxn id="1433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49"/>
          <p:cNvCxnSpPr>
            <a:stCxn id="1441" idx="6"/>
            <a:endCxn id="1435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53" name="Google Shape;1453;p49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you spot the two groups in this graph?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459" name="Google Shape;1459;p50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got it!</a:t>
            </a:r>
            <a:endParaRPr/>
          </a:p>
        </p:txBody>
      </p:sp>
      <p:sp>
        <p:nvSpPr>
          <p:cNvPr id="1460" name="Google Shape;1460;p50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1" name="Google Shape;1461;p50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62" name="Google Shape;1462;p50"/>
          <p:cNvCxnSpPr>
            <a:stCxn id="1460" idx="6"/>
            <a:endCxn id="1461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50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64" name="Google Shape;1464;p50"/>
          <p:cNvCxnSpPr>
            <a:stCxn id="1463" idx="2"/>
            <a:endCxn id="1461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65" name="Google Shape;1465;p50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66" name="Google Shape;1466;p50"/>
          <p:cNvCxnSpPr>
            <a:stCxn id="1465" idx="2"/>
            <a:endCxn id="1463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50"/>
          <p:cNvCxnSpPr>
            <a:stCxn id="1460" idx="6"/>
            <a:endCxn id="1465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68" name="Google Shape;1468;p50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9" name="Google Shape;1469;p50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0" name="Google Shape;1470;p50"/>
          <p:cNvCxnSpPr>
            <a:stCxn id="1460" idx="6"/>
            <a:endCxn id="1469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1" name="Google Shape;1471;p50"/>
          <p:cNvCxnSpPr>
            <a:stCxn id="1469" idx="6"/>
            <a:endCxn id="1468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50"/>
          <p:cNvCxnSpPr>
            <a:stCxn id="1468" idx="6"/>
            <a:endCxn id="1465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50"/>
          <p:cNvCxnSpPr>
            <a:stCxn id="1469" idx="6"/>
            <a:endCxn id="1461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50"/>
          <p:cNvCxnSpPr>
            <a:stCxn id="1465" idx="2"/>
            <a:endCxn id="1461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50"/>
          <p:cNvCxnSpPr>
            <a:stCxn id="1469" idx="6"/>
            <a:endCxn id="1465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50"/>
          <p:cNvCxnSpPr>
            <a:stCxn id="1460" idx="6"/>
            <a:endCxn id="1463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50"/>
          <p:cNvCxnSpPr>
            <a:stCxn id="1468" idx="6"/>
            <a:endCxn id="1463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50"/>
          <p:cNvCxnSpPr>
            <a:stCxn id="1460" idx="6"/>
            <a:endCxn id="1468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50"/>
          <p:cNvCxnSpPr>
            <a:stCxn id="1468" idx="0"/>
            <a:endCxn id="1461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80" name="Google Shape;1480;p50"/>
          <p:cNvCxnSpPr>
            <a:stCxn id="1469" idx="6"/>
            <a:endCxn id="1463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486" name="Google Shape;1486;p51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is not necessarily good!</a:t>
            </a:r>
            <a:endParaRPr/>
          </a:p>
        </p:txBody>
      </p:sp>
      <p:sp>
        <p:nvSpPr>
          <p:cNvPr id="1487" name="Google Shape;1487;p51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8" name="Google Shape;1488;p51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89" name="Google Shape;1489;p51"/>
          <p:cNvCxnSpPr>
            <a:stCxn id="1487" idx="6"/>
            <a:endCxn id="1488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51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1" name="Google Shape;1491;p51"/>
          <p:cNvCxnSpPr>
            <a:stCxn id="1490" idx="2"/>
            <a:endCxn id="1488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92" name="Google Shape;1492;p51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3" name="Google Shape;1493;p51"/>
          <p:cNvCxnSpPr>
            <a:stCxn id="1492" idx="2"/>
            <a:endCxn id="1490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51"/>
          <p:cNvCxnSpPr>
            <a:stCxn id="1487" idx="6"/>
            <a:endCxn id="1492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95" name="Google Shape;1495;p51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6" name="Google Shape;1496;p51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7" name="Google Shape;1497;p51"/>
          <p:cNvCxnSpPr>
            <a:stCxn id="1487" idx="6"/>
            <a:endCxn id="1496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51"/>
          <p:cNvCxnSpPr>
            <a:stCxn id="1496" idx="6"/>
            <a:endCxn id="1495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51"/>
          <p:cNvCxnSpPr>
            <a:stCxn id="1495" idx="6"/>
            <a:endCxn id="1492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51"/>
          <p:cNvCxnSpPr>
            <a:stCxn id="1496" idx="6"/>
            <a:endCxn id="1488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51"/>
          <p:cNvCxnSpPr>
            <a:stCxn id="1492" idx="2"/>
            <a:endCxn id="1488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51"/>
          <p:cNvCxnSpPr>
            <a:stCxn id="1496" idx="6"/>
            <a:endCxn id="1492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51"/>
          <p:cNvCxnSpPr>
            <a:stCxn id="1487" idx="6"/>
            <a:endCxn id="1490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51"/>
          <p:cNvCxnSpPr>
            <a:stCxn id="1495" idx="6"/>
            <a:endCxn id="1490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51"/>
          <p:cNvCxnSpPr>
            <a:stCxn id="1487" idx="6"/>
            <a:endCxn id="1495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51"/>
          <p:cNvCxnSpPr>
            <a:stCxn id="1495" idx="0"/>
            <a:endCxn id="1488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7" name="Google Shape;1507;p51"/>
          <p:cNvCxnSpPr>
            <a:stCxn id="1496" idx="6"/>
            <a:endCxn id="1490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508" name="Google Shape;150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9" name="Google Shape;150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triadic balance to structural balance</a:t>
            </a:r>
            <a:endParaRPr/>
          </a:p>
        </p:txBody>
      </p:sp>
      <p:sp>
        <p:nvSpPr>
          <p:cNvPr id="1515" name="Google Shape;1515;p52"/>
          <p:cNvSpPr txBox="1"/>
          <p:nvPr>
            <p:ph idx="1" type="body"/>
          </p:nvPr>
        </p:nvSpPr>
        <p:spPr>
          <a:xfrm>
            <a:off x="311700" y="1225225"/>
            <a:ext cx="44481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fundamental theorem of structural balance</a:t>
            </a:r>
            <a:r>
              <a:rPr lang="en"/>
              <a:t> was discovered by the mathematicians Dorwin Cartwright and Frank Harary in 1956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states that when a graph is balanced it can be split into </a:t>
            </a: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groups</a:t>
            </a:r>
            <a:r>
              <a:rPr lang="en"/>
              <a:t> such that there are only </a:t>
            </a:r>
            <a:r>
              <a:rPr b="1" lang="en">
                <a:solidFill>
                  <a:srgbClr val="0000FF"/>
                </a:solidFill>
              </a:rPr>
              <a:t>positive</a:t>
            </a:r>
            <a:r>
              <a:rPr lang="en"/>
              <a:t> links </a:t>
            </a:r>
            <a:r>
              <a:rPr b="1" i="1" lang="en">
                <a:solidFill>
                  <a:srgbClr val="0000FF"/>
                </a:solidFill>
              </a:rPr>
              <a:t>within</a:t>
            </a:r>
            <a:r>
              <a:rPr lang="en"/>
              <a:t> groups and only </a:t>
            </a:r>
            <a:r>
              <a:rPr b="1" lang="en">
                <a:solidFill>
                  <a:srgbClr val="FF0000"/>
                </a:solidFill>
              </a:rPr>
              <a:t>negative</a:t>
            </a:r>
            <a:r>
              <a:rPr lang="en"/>
              <a:t> links </a:t>
            </a:r>
            <a:r>
              <a:rPr b="1" i="1" lang="en">
                <a:solidFill>
                  <a:srgbClr val="FF0000"/>
                </a:solidFill>
              </a:rPr>
              <a:t>between</a:t>
            </a:r>
            <a:r>
              <a:rPr i="1" lang="en"/>
              <a:t> </a:t>
            </a:r>
            <a:r>
              <a:rPr lang="en"/>
              <a:t>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balance is equivalent to perfect </a:t>
            </a:r>
            <a:r>
              <a:rPr b="1" lang="en"/>
              <a:t>group polarization</a:t>
            </a:r>
            <a:endParaRPr b="1"/>
          </a:p>
        </p:txBody>
      </p:sp>
      <p:sp>
        <p:nvSpPr>
          <p:cNvPr id="1516" name="Google Shape;1516;p52"/>
          <p:cNvSpPr/>
          <p:nvPr/>
        </p:nvSpPr>
        <p:spPr>
          <a:xfrm>
            <a:off x="4759800" y="1902834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A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7" name="Google Shape;1517;p52"/>
          <p:cNvSpPr/>
          <p:nvPr/>
        </p:nvSpPr>
        <p:spPr>
          <a:xfrm>
            <a:off x="6400883" y="1291650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B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8" name="Google Shape;1518;p52"/>
          <p:cNvCxnSpPr>
            <a:stCxn id="1516" idx="6"/>
            <a:endCxn id="1517" idx="2"/>
          </p:cNvCxnSpPr>
          <p:nvPr/>
        </p:nvCxnSpPr>
        <p:spPr>
          <a:xfrm flipH="1" rot="10800000">
            <a:off x="5373300" y="1597434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9" name="Google Shape;1519;p52"/>
          <p:cNvSpPr/>
          <p:nvPr/>
        </p:nvSpPr>
        <p:spPr>
          <a:xfrm>
            <a:off x="8041958" y="1902821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C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20" name="Google Shape;1520;p52"/>
          <p:cNvCxnSpPr>
            <a:stCxn id="1519" idx="2"/>
            <a:endCxn id="1517" idx="6"/>
          </p:cNvCxnSpPr>
          <p:nvPr/>
        </p:nvCxnSpPr>
        <p:spPr>
          <a:xfrm rot="10800000">
            <a:off x="7014458" y="1597421"/>
            <a:ext cx="1027500" cy="61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21" name="Google Shape;1521;p52"/>
          <p:cNvSpPr/>
          <p:nvPr/>
        </p:nvSpPr>
        <p:spPr>
          <a:xfrm>
            <a:off x="8037576" y="3392424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D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22" name="Google Shape;1522;p52"/>
          <p:cNvCxnSpPr>
            <a:stCxn id="1521" idx="2"/>
            <a:endCxn id="1519" idx="2"/>
          </p:cNvCxnSpPr>
          <p:nvPr/>
        </p:nvCxnSpPr>
        <p:spPr>
          <a:xfrm flipH="1" rot="10800000">
            <a:off x="8037576" y="2208624"/>
            <a:ext cx="4500" cy="1489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3" name="Google Shape;1523;p52"/>
          <p:cNvCxnSpPr>
            <a:stCxn id="1516" idx="6"/>
            <a:endCxn id="1521" idx="2"/>
          </p:cNvCxnSpPr>
          <p:nvPr/>
        </p:nvCxnSpPr>
        <p:spPr>
          <a:xfrm>
            <a:off x="5373300" y="2208534"/>
            <a:ext cx="2664300" cy="1489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24" name="Google Shape;1524;p52"/>
          <p:cNvSpPr/>
          <p:nvPr/>
        </p:nvSpPr>
        <p:spPr>
          <a:xfrm>
            <a:off x="6400908" y="3965646"/>
            <a:ext cx="613500" cy="611400"/>
          </a:xfrm>
          <a:prstGeom prst="ellipse">
            <a:avLst/>
          </a:prstGeom>
          <a:solidFill>
            <a:srgbClr val="BF9000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E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5" name="Google Shape;1525;p52"/>
          <p:cNvSpPr/>
          <p:nvPr/>
        </p:nvSpPr>
        <p:spPr>
          <a:xfrm>
            <a:off x="4759808" y="3429721"/>
            <a:ext cx="613500" cy="611400"/>
          </a:xfrm>
          <a:prstGeom prst="ellipse">
            <a:avLst/>
          </a:prstGeom>
          <a:solidFill>
            <a:srgbClr val="4A86E8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xygen"/>
                <a:ea typeface="Oxygen"/>
                <a:cs typeface="Oxygen"/>
                <a:sym typeface="Oxygen"/>
              </a:rPr>
              <a:t>F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26" name="Google Shape;1526;p52"/>
          <p:cNvCxnSpPr>
            <a:stCxn id="1516" idx="6"/>
            <a:endCxn id="1525" idx="6"/>
          </p:cNvCxnSpPr>
          <p:nvPr/>
        </p:nvCxnSpPr>
        <p:spPr>
          <a:xfrm>
            <a:off x="5373300" y="2208534"/>
            <a:ext cx="0" cy="15270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52"/>
          <p:cNvCxnSpPr>
            <a:stCxn id="1525" idx="6"/>
            <a:endCxn id="1524" idx="2"/>
          </p:cNvCxnSpPr>
          <p:nvPr/>
        </p:nvCxnSpPr>
        <p:spPr>
          <a:xfrm>
            <a:off x="5373308" y="3735421"/>
            <a:ext cx="10275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28" name="Google Shape;1528;p52"/>
          <p:cNvCxnSpPr>
            <a:stCxn id="1524" idx="6"/>
            <a:endCxn id="1521" idx="2"/>
          </p:cNvCxnSpPr>
          <p:nvPr/>
        </p:nvCxnSpPr>
        <p:spPr>
          <a:xfrm flipH="1" rot="10800000">
            <a:off x="7014408" y="3698046"/>
            <a:ext cx="1023300" cy="573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9" name="Google Shape;1529;p52"/>
          <p:cNvCxnSpPr>
            <a:stCxn id="1525" idx="6"/>
            <a:endCxn id="1517" idx="2"/>
          </p:cNvCxnSpPr>
          <p:nvPr/>
        </p:nvCxnSpPr>
        <p:spPr>
          <a:xfrm flipH="1" rot="10800000">
            <a:off x="5373308" y="1597321"/>
            <a:ext cx="1027500" cy="21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0" name="Google Shape;1530;p52"/>
          <p:cNvCxnSpPr>
            <a:stCxn id="1521" idx="2"/>
            <a:endCxn id="1517" idx="6"/>
          </p:cNvCxnSpPr>
          <p:nvPr/>
        </p:nvCxnSpPr>
        <p:spPr>
          <a:xfrm rot="10800000">
            <a:off x="7014276" y="1597224"/>
            <a:ext cx="1023300" cy="210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1" name="Google Shape;1531;p52"/>
          <p:cNvCxnSpPr>
            <a:stCxn id="1525" idx="6"/>
            <a:endCxn id="1521" idx="2"/>
          </p:cNvCxnSpPr>
          <p:nvPr/>
        </p:nvCxnSpPr>
        <p:spPr>
          <a:xfrm flipH="1" rot="10800000">
            <a:off x="5373308" y="3698221"/>
            <a:ext cx="2664300" cy="37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2" name="Google Shape;1532;p52"/>
          <p:cNvCxnSpPr>
            <a:stCxn id="1516" idx="6"/>
            <a:endCxn id="1519" idx="2"/>
          </p:cNvCxnSpPr>
          <p:nvPr/>
        </p:nvCxnSpPr>
        <p:spPr>
          <a:xfrm>
            <a:off x="5373300" y="2208534"/>
            <a:ext cx="26688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52"/>
          <p:cNvCxnSpPr>
            <a:stCxn id="1524" idx="6"/>
            <a:endCxn id="1519" idx="2"/>
          </p:cNvCxnSpPr>
          <p:nvPr/>
        </p:nvCxnSpPr>
        <p:spPr>
          <a:xfrm flipH="1" rot="10800000">
            <a:off x="7014408" y="2208546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4" name="Google Shape;1534;p52"/>
          <p:cNvCxnSpPr>
            <a:stCxn id="1516" idx="6"/>
            <a:endCxn id="1524" idx="2"/>
          </p:cNvCxnSpPr>
          <p:nvPr/>
        </p:nvCxnSpPr>
        <p:spPr>
          <a:xfrm>
            <a:off x="5373300" y="2208534"/>
            <a:ext cx="1027500" cy="2062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5" name="Google Shape;1535;p52"/>
          <p:cNvCxnSpPr>
            <a:stCxn id="1524" idx="0"/>
            <a:endCxn id="1517" idx="4"/>
          </p:cNvCxnSpPr>
          <p:nvPr/>
        </p:nvCxnSpPr>
        <p:spPr>
          <a:xfrm rot="10800000">
            <a:off x="6707658" y="1903146"/>
            <a:ext cx="0" cy="2062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36" name="Google Shape;1536;p52"/>
          <p:cNvCxnSpPr>
            <a:stCxn id="1525" idx="6"/>
            <a:endCxn id="1519" idx="2"/>
          </p:cNvCxnSpPr>
          <p:nvPr/>
        </p:nvCxnSpPr>
        <p:spPr>
          <a:xfrm flipH="1" rot="10800000">
            <a:off x="5373308" y="2208421"/>
            <a:ext cx="2668800" cy="152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537" name="Google Shape;153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75" y="1068475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5316" y="4003825"/>
            <a:ext cx="731519" cy="650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of Network Diffusion</a:t>
            </a:r>
            <a:endParaRPr/>
          </a:p>
        </p:txBody>
      </p:sp>
      <p:sp>
        <p:nvSpPr>
          <p:cNvPr id="1544" name="Google Shape;1544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of diffusion</a:t>
            </a:r>
            <a:endParaRPr/>
          </a:p>
        </p:txBody>
      </p:sp>
      <p:sp>
        <p:nvSpPr>
          <p:cNvPr id="1550" name="Google Shape;1550;p54"/>
          <p:cNvSpPr txBox="1"/>
          <p:nvPr>
            <p:ph idx="1" type="body"/>
          </p:nvPr>
        </p:nvSpPr>
        <p:spPr>
          <a:xfrm>
            <a:off x="311700" y="1225217"/>
            <a:ext cx="8520600" cy="26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types of social network models of diffusion: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Direct Cohesion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connectivity</a:t>
            </a:r>
            <a:r>
              <a:rPr lang="en"/>
              <a:t> of adopters to their sources via network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Two-Step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the </a:t>
            </a:r>
            <a:r>
              <a:rPr b="1" lang="en"/>
              <a:t>social distance </a:t>
            </a:r>
            <a:r>
              <a:rPr lang="en"/>
              <a:t>between adopters and influential sources as well as characteristics of </a:t>
            </a:r>
            <a:r>
              <a:rPr b="1" lang="en"/>
              <a:t>influentials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Threshold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</a:t>
            </a:r>
            <a:r>
              <a:rPr b="1" lang="en"/>
              <a:t>susceptibility</a:t>
            </a:r>
            <a:r>
              <a:rPr lang="en"/>
              <a:t> of adopters to the behavior of multiple sources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Positional Equivalence Models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Focus on </a:t>
            </a:r>
            <a:r>
              <a:rPr b="1" lang="en"/>
              <a:t>indirect influence </a:t>
            </a:r>
            <a:r>
              <a:rPr lang="en"/>
              <a:t>and comparison between sources and structurally similar adopters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51" name="Google Shape;1551;p54"/>
          <p:cNvPicPr preferRelativeResize="0"/>
          <p:nvPr/>
        </p:nvPicPr>
        <p:blipFill rotWithShape="1">
          <a:blip r:embed="rId3">
            <a:alphaModFix/>
          </a:blip>
          <a:srcRect b="49729" l="22912" r="6131" t="8892"/>
          <a:stretch/>
        </p:blipFill>
        <p:spPr>
          <a:xfrm>
            <a:off x="2560325" y="4127782"/>
            <a:ext cx="4023360" cy="915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sp>
        <p:nvSpPr>
          <p:cNvPr id="1557" name="Google Shape;1557;p55"/>
          <p:cNvSpPr txBox="1"/>
          <p:nvPr>
            <p:ph idx="1" type="body"/>
          </p:nvPr>
        </p:nvSpPr>
        <p:spPr>
          <a:xfrm>
            <a:off x="311700" y="1225215"/>
            <a:ext cx="8520600" cy="22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model of diffusion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“travel” via social network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innovations </a:t>
            </a:r>
            <a:r>
              <a:rPr b="1" lang="en"/>
              <a:t>spread</a:t>
            </a:r>
            <a:r>
              <a:rPr lang="en"/>
              <a:t>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</a:t>
            </a:r>
            <a:r>
              <a:rPr b="1" lang="en"/>
              <a:t>patterns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connectivity</a:t>
            </a:r>
            <a:r>
              <a:rPr lang="en"/>
              <a:t> help (or hinder)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or adoption via the </a:t>
            </a:r>
            <a:r>
              <a:rPr b="1" lang="en"/>
              <a:t>similarity heuristic</a:t>
            </a:r>
            <a:r>
              <a:rPr lang="en"/>
              <a:t> is the main mechanism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55"/>
          <p:cNvSpPr/>
          <p:nvPr/>
        </p:nvSpPr>
        <p:spPr>
          <a:xfrm>
            <a:off x="1811550" y="385424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9" name="Google Shape;1559;p55"/>
          <p:cNvSpPr/>
          <p:nvPr/>
        </p:nvSpPr>
        <p:spPr>
          <a:xfrm>
            <a:off x="3178448" y="347849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0" name="Google Shape;1560;p55"/>
          <p:cNvCxnSpPr>
            <a:stCxn id="1558" idx="7"/>
            <a:endCxn id="1559" idx="1"/>
          </p:cNvCxnSpPr>
          <p:nvPr/>
        </p:nvCxnSpPr>
        <p:spPr>
          <a:xfrm rot="-5400000">
            <a:off x="2624653" y="3386822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1" name="Google Shape;1561;p55"/>
          <p:cNvCxnSpPr>
            <a:stCxn id="1559" idx="3"/>
            <a:endCxn id="1562" idx="1"/>
          </p:cNvCxnSpPr>
          <p:nvPr/>
        </p:nvCxnSpPr>
        <p:spPr>
          <a:xfrm>
            <a:off x="3997148" y="3612898"/>
            <a:ext cx="780000" cy="327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3" name="Google Shape;1563;p55"/>
          <p:cNvSpPr/>
          <p:nvPr/>
        </p:nvSpPr>
        <p:spPr>
          <a:xfrm>
            <a:off x="3134350" y="40151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4" name="Google Shape;1564;p55"/>
          <p:cNvCxnSpPr>
            <a:stCxn id="1558" idx="6"/>
            <a:endCxn id="1563" idx="1"/>
          </p:cNvCxnSpPr>
          <p:nvPr/>
        </p:nvCxnSpPr>
        <p:spPr>
          <a:xfrm>
            <a:off x="2499150" y="4149148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65" name="Google Shape;1565;p55"/>
          <p:cNvCxnSpPr>
            <a:stCxn id="1563" idx="3"/>
            <a:endCxn id="1562" idx="2"/>
          </p:cNvCxnSpPr>
          <p:nvPr/>
        </p:nvCxnSpPr>
        <p:spPr>
          <a:xfrm flipH="1" rot="10800000">
            <a:off x="4041250" y="4148667"/>
            <a:ext cx="635100" cy="9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62" name="Google Shape;1562;p55"/>
          <p:cNvSpPr/>
          <p:nvPr/>
        </p:nvSpPr>
        <p:spPr>
          <a:xfrm>
            <a:off x="4676450" y="38537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66" name="Google Shape;1566;p55"/>
          <p:cNvSpPr/>
          <p:nvPr/>
        </p:nvSpPr>
        <p:spPr>
          <a:xfrm>
            <a:off x="6644850" y="38527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67" name="Google Shape;1567;p55"/>
          <p:cNvSpPr/>
          <p:nvPr/>
        </p:nvSpPr>
        <p:spPr>
          <a:xfrm>
            <a:off x="5634350" y="444285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68" name="Google Shape;1568;p55"/>
          <p:cNvSpPr/>
          <p:nvPr/>
        </p:nvSpPr>
        <p:spPr>
          <a:xfrm>
            <a:off x="5634050" y="32647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569" name="Google Shape;1569;p55"/>
          <p:cNvCxnSpPr>
            <a:stCxn id="1567" idx="2"/>
            <a:endCxn id="1562" idx="4"/>
          </p:cNvCxnSpPr>
          <p:nvPr/>
        </p:nvCxnSpPr>
        <p:spPr>
          <a:xfrm rot="10800000">
            <a:off x="5020250" y="4443458"/>
            <a:ext cx="614100" cy="294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0" name="Google Shape;1570;p55"/>
          <p:cNvCxnSpPr>
            <a:stCxn id="1562" idx="0"/>
            <a:endCxn id="1568" idx="2"/>
          </p:cNvCxnSpPr>
          <p:nvPr/>
        </p:nvCxnSpPr>
        <p:spPr>
          <a:xfrm rot="-5400000">
            <a:off x="5180000" y="33997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1" name="Google Shape;1571;p55"/>
          <p:cNvCxnSpPr>
            <a:stCxn id="1566" idx="4"/>
            <a:endCxn id="1567" idx="6"/>
          </p:cNvCxnSpPr>
          <p:nvPr/>
        </p:nvCxnSpPr>
        <p:spPr>
          <a:xfrm rot="5400000">
            <a:off x="6507750" y="4256863"/>
            <a:ext cx="295200" cy="666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2" name="Google Shape;1572;p55"/>
          <p:cNvCxnSpPr>
            <a:stCxn id="1566" idx="0"/>
            <a:endCxn id="1568" idx="6"/>
          </p:cNvCxnSpPr>
          <p:nvPr/>
        </p:nvCxnSpPr>
        <p:spPr>
          <a:xfrm flipH="1" rot="5400000">
            <a:off x="6508650" y="33727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55"/>
          <p:cNvSpPr/>
          <p:nvPr/>
        </p:nvSpPr>
        <p:spPr>
          <a:xfrm>
            <a:off x="5524400" y="40141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74" name="Google Shape;1574;p55"/>
          <p:cNvCxnSpPr>
            <a:stCxn id="1573" idx="0"/>
            <a:endCxn id="1568" idx="4"/>
          </p:cNvCxnSpPr>
          <p:nvPr/>
        </p:nvCxnSpPr>
        <p:spPr>
          <a:xfrm rot="-5400000">
            <a:off x="5898350" y="3934055"/>
            <a:ext cx="159600" cy="600"/>
          </a:xfrm>
          <a:prstGeom prst="curvedConnector3">
            <a:avLst>
              <a:gd fmla="val 5001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55"/>
          <p:cNvCxnSpPr>
            <a:stCxn id="1566" idx="2"/>
            <a:endCxn id="1573" idx="3"/>
          </p:cNvCxnSpPr>
          <p:nvPr/>
        </p:nvCxnSpPr>
        <p:spPr>
          <a:xfrm flipH="1">
            <a:off x="6431250" y="41476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6" name="Google Shape;1576;p55"/>
          <p:cNvCxnSpPr>
            <a:stCxn id="1562" idx="6"/>
            <a:endCxn id="1573" idx="1"/>
          </p:cNvCxnSpPr>
          <p:nvPr/>
        </p:nvCxnSpPr>
        <p:spPr>
          <a:xfrm>
            <a:off x="5364050" y="41486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7" name="Google Shape;1577;p55"/>
          <p:cNvCxnSpPr>
            <a:stCxn id="1573" idx="2"/>
            <a:endCxn id="1567" idx="0"/>
          </p:cNvCxnSpPr>
          <p:nvPr/>
        </p:nvCxnSpPr>
        <p:spPr>
          <a:xfrm flipH="1" rot="-5400000">
            <a:off x="5898200" y="4362605"/>
            <a:ext cx="159900" cy="6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sp>
        <p:nvSpPr>
          <p:cNvPr id="1583" name="Google Shape;1583;p56"/>
          <p:cNvSpPr txBox="1"/>
          <p:nvPr>
            <p:ph idx="1" type="body"/>
          </p:nvPr>
        </p:nvSpPr>
        <p:spPr>
          <a:xfrm>
            <a:off x="311700" y="1225215"/>
            <a:ext cx="8520600" cy="22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model of diffusion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“travel” via social network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innovations </a:t>
            </a:r>
            <a:r>
              <a:rPr b="1" lang="en"/>
              <a:t>spread</a:t>
            </a:r>
            <a:r>
              <a:rPr lang="en"/>
              <a:t>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</a:t>
            </a:r>
            <a:r>
              <a:rPr b="1" lang="en"/>
              <a:t>patterns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connectivity</a:t>
            </a:r>
            <a:r>
              <a:rPr lang="en"/>
              <a:t> help (or hinder)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or adoption via the </a:t>
            </a:r>
            <a:r>
              <a:rPr b="1" lang="en"/>
              <a:t>similarity heuristic</a:t>
            </a:r>
            <a:r>
              <a:rPr lang="en"/>
              <a:t> is the main mechanism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Similarity heuristic: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adopt the innovations that people like me adopt (homophily)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mechanism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56"/>
          <p:cNvSpPr/>
          <p:nvPr/>
        </p:nvSpPr>
        <p:spPr>
          <a:xfrm>
            <a:off x="1811550" y="385424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85" name="Google Shape;1585;p56"/>
          <p:cNvSpPr/>
          <p:nvPr/>
        </p:nvSpPr>
        <p:spPr>
          <a:xfrm>
            <a:off x="3178448" y="347849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86" name="Google Shape;1586;p56"/>
          <p:cNvCxnSpPr>
            <a:stCxn id="1584" idx="7"/>
            <a:endCxn id="1585" idx="1"/>
          </p:cNvCxnSpPr>
          <p:nvPr/>
        </p:nvCxnSpPr>
        <p:spPr>
          <a:xfrm rot="-5400000">
            <a:off x="2624653" y="3386822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7" name="Google Shape;1587;p56"/>
          <p:cNvCxnSpPr>
            <a:stCxn id="1585" idx="3"/>
            <a:endCxn id="1588" idx="1"/>
          </p:cNvCxnSpPr>
          <p:nvPr/>
        </p:nvCxnSpPr>
        <p:spPr>
          <a:xfrm>
            <a:off x="3997148" y="3612898"/>
            <a:ext cx="780000" cy="327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9" name="Google Shape;1589;p56"/>
          <p:cNvSpPr/>
          <p:nvPr/>
        </p:nvSpPr>
        <p:spPr>
          <a:xfrm>
            <a:off x="3134350" y="40151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90" name="Google Shape;1590;p56"/>
          <p:cNvCxnSpPr>
            <a:stCxn id="1584" idx="6"/>
            <a:endCxn id="1589" idx="1"/>
          </p:cNvCxnSpPr>
          <p:nvPr/>
        </p:nvCxnSpPr>
        <p:spPr>
          <a:xfrm>
            <a:off x="2499150" y="4149148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56"/>
          <p:cNvCxnSpPr>
            <a:stCxn id="1589" idx="3"/>
            <a:endCxn id="1588" idx="2"/>
          </p:cNvCxnSpPr>
          <p:nvPr/>
        </p:nvCxnSpPr>
        <p:spPr>
          <a:xfrm flipH="1" rot="10800000">
            <a:off x="4041250" y="4148667"/>
            <a:ext cx="635100" cy="9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88" name="Google Shape;1588;p56"/>
          <p:cNvSpPr/>
          <p:nvPr/>
        </p:nvSpPr>
        <p:spPr>
          <a:xfrm>
            <a:off x="4676450" y="38537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92" name="Google Shape;1592;p56"/>
          <p:cNvSpPr/>
          <p:nvPr/>
        </p:nvSpPr>
        <p:spPr>
          <a:xfrm>
            <a:off x="6644850" y="38527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93" name="Google Shape;1593;p56"/>
          <p:cNvSpPr/>
          <p:nvPr/>
        </p:nvSpPr>
        <p:spPr>
          <a:xfrm>
            <a:off x="5634350" y="444285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594" name="Google Shape;1594;p56"/>
          <p:cNvSpPr/>
          <p:nvPr/>
        </p:nvSpPr>
        <p:spPr>
          <a:xfrm>
            <a:off x="5634050" y="32647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595" name="Google Shape;1595;p56"/>
          <p:cNvCxnSpPr>
            <a:stCxn id="1593" idx="2"/>
            <a:endCxn id="1588" idx="4"/>
          </p:cNvCxnSpPr>
          <p:nvPr/>
        </p:nvCxnSpPr>
        <p:spPr>
          <a:xfrm rot="10800000">
            <a:off x="5020250" y="4443458"/>
            <a:ext cx="614100" cy="294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56"/>
          <p:cNvCxnSpPr>
            <a:stCxn id="1588" idx="0"/>
            <a:endCxn id="1594" idx="2"/>
          </p:cNvCxnSpPr>
          <p:nvPr/>
        </p:nvCxnSpPr>
        <p:spPr>
          <a:xfrm rot="-5400000">
            <a:off x="5180000" y="33997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7" name="Google Shape;1597;p56"/>
          <p:cNvCxnSpPr>
            <a:stCxn id="1592" idx="4"/>
            <a:endCxn id="1593" idx="6"/>
          </p:cNvCxnSpPr>
          <p:nvPr/>
        </p:nvCxnSpPr>
        <p:spPr>
          <a:xfrm rot="5400000">
            <a:off x="6507750" y="4256863"/>
            <a:ext cx="295200" cy="666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56"/>
          <p:cNvCxnSpPr>
            <a:stCxn id="1592" idx="0"/>
            <a:endCxn id="1594" idx="6"/>
          </p:cNvCxnSpPr>
          <p:nvPr/>
        </p:nvCxnSpPr>
        <p:spPr>
          <a:xfrm flipH="1" rot="5400000">
            <a:off x="6508650" y="33727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9" name="Google Shape;1599;p56"/>
          <p:cNvSpPr/>
          <p:nvPr/>
        </p:nvSpPr>
        <p:spPr>
          <a:xfrm>
            <a:off x="5524400" y="40141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00" name="Google Shape;1600;p56"/>
          <p:cNvCxnSpPr>
            <a:stCxn id="1599" idx="0"/>
            <a:endCxn id="1594" idx="4"/>
          </p:cNvCxnSpPr>
          <p:nvPr/>
        </p:nvCxnSpPr>
        <p:spPr>
          <a:xfrm rot="-5400000">
            <a:off x="5898350" y="3934055"/>
            <a:ext cx="159600" cy="600"/>
          </a:xfrm>
          <a:prstGeom prst="curvedConnector3">
            <a:avLst>
              <a:gd fmla="val 5001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56"/>
          <p:cNvCxnSpPr>
            <a:stCxn id="1592" idx="2"/>
            <a:endCxn id="1599" idx="3"/>
          </p:cNvCxnSpPr>
          <p:nvPr/>
        </p:nvCxnSpPr>
        <p:spPr>
          <a:xfrm flipH="1">
            <a:off x="6431250" y="41476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56"/>
          <p:cNvCxnSpPr>
            <a:stCxn id="1588" idx="6"/>
            <a:endCxn id="1599" idx="1"/>
          </p:cNvCxnSpPr>
          <p:nvPr/>
        </p:nvCxnSpPr>
        <p:spPr>
          <a:xfrm>
            <a:off x="5364050" y="41486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56"/>
          <p:cNvCxnSpPr>
            <a:stCxn id="1599" idx="2"/>
            <a:endCxn id="1593" idx="0"/>
          </p:cNvCxnSpPr>
          <p:nvPr/>
        </p:nvCxnSpPr>
        <p:spPr>
          <a:xfrm flipH="1" rot="-5400000">
            <a:off x="5898200" y="4362605"/>
            <a:ext cx="159900" cy="6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via Cohesion</a:t>
            </a:r>
            <a:endParaRPr/>
          </a:p>
        </p:txBody>
      </p:sp>
      <p:sp>
        <p:nvSpPr>
          <p:cNvPr id="1609" name="Google Shape;1609;p57"/>
          <p:cNvSpPr txBox="1"/>
          <p:nvPr>
            <p:ph idx="1" type="body"/>
          </p:nvPr>
        </p:nvSpPr>
        <p:spPr>
          <a:xfrm>
            <a:off x="311700" y="1225215"/>
            <a:ext cx="8520600" cy="20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Simplest model of diffusion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“travel” via social network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innovations </a:t>
            </a:r>
            <a:r>
              <a:rPr b="1" lang="en"/>
              <a:t>spread</a:t>
            </a:r>
            <a:r>
              <a:rPr lang="en"/>
              <a:t> within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Focuses on how </a:t>
            </a:r>
            <a:r>
              <a:rPr b="1" lang="en"/>
              <a:t>patterns</a:t>
            </a:r>
            <a:r>
              <a:rPr lang="en"/>
              <a:t> </a:t>
            </a:r>
            <a:r>
              <a:rPr b="1" lang="en"/>
              <a:t>of</a:t>
            </a:r>
            <a:r>
              <a:rPr lang="en"/>
              <a:t> </a:t>
            </a:r>
            <a:r>
              <a:rPr b="1" lang="en"/>
              <a:t>connectivity</a:t>
            </a:r>
            <a:r>
              <a:rPr lang="en"/>
              <a:t> help (or hinder)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Imitation or adoption via the </a:t>
            </a:r>
            <a:r>
              <a:rPr b="1" lang="en"/>
              <a:t>similarity heuristic</a:t>
            </a:r>
            <a:r>
              <a:rPr lang="en"/>
              <a:t> is the main mechanism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diffuse like a “virus” (sometimes literally)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mechanism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Sharing a meme on social media (“going viral”)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57"/>
          <p:cNvSpPr/>
          <p:nvPr/>
        </p:nvSpPr>
        <p:spPr>
          <a:xfrm>
            <a:off x="1811550" y="385424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1" name="Google Shape;1611;p57"/>
          <p:cNvSpPr/>
          <p:nvPr/>
        </p:nvSpPr>
        <p:spPr>
          <a:xfrm>
            <a:off x="3178448" y="347849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12" name="Google Shape;1612;p57"/>
          <p:cNvCxnSpPr>
            <a:stCxn id="1610" idx="7"/>
            <a:endCxn id="1611" idx="1"/>
          </p:cNvCxnSpPr>
          <p:nvPr/>
        </p:nvCxnSpPr>
        <p:spPr>
          <a:xfrm rot="-5400000">
            <a:off x="2624653" y="3386822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3" name="Google Shape;1613;p57"/>
          <p:cNvCxnSpPr>
            <a:stCxn id="1611" idx="3"/>
            <a:endCxn id="1614" idx="1"/>
          </p:cNvCxnSpPr>
          <p:nvPr/>
        </p:nvCxnSpPr>
        <p:spPr>
          <a:xfrm>
            <a:off x="3997148" y="3612898"/>
            <a:ext cx="780000" cy="327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5" name="Google Shape;1615;p57"/>
          <p:cNvSpPr/>
          <p:nvPr/>
        </p:nvSpPr>
        <p:spPr>
          <a:xfrm>
            <a:off x="3134350" y="40151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Contagion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16" name="Google Shape;1616;p57"/>
          <p:cNvCxnSpPr>
            <a:stCxn id="1610" idx="6"/>
            <a:endCxn id="1615" idx="1"/>
          </p:cNvCxnSpPr>
          <p:nvPr/>
        </p:nvCxnSpPr>
        <p:spPr>
          <a:xfrm>
            <a:off x="2499150" y="4149148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57"/>
          <p:cNvCxnSpPr>
            <a:stCxn id="1615" idx="3"/>
            <a:endCxn id="1614" idx="2"/>
          </p:cNvCxnSpPr>
          <p:nvPr/>
        </p:nvCxnSpPr>
        <p:spPr>
          <a:xfrm flipH="1" rot="10800000">
            <a:off x="4041250" y="4148667"/>
            <a:ext cx="635100" cy="9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14" name="Google Shape;1614;p57"/>
          <p:cNvSpPr/>
          <p:nvPr/>
        </p:nvSpPr>
        <p:spPr>
          <a:xfrm>
            <a:off x="4676450" y="38537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18" name="Google Shape;1618;p57"/>
          <p:cNvSpPr/>
          <p:nvPr/>
        </p:nvSpPr>
        <p:spPr>
          <a:xfrm>
            <a:off x="6644850" y="38527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19" name="Google Shape;1619;p57"/>
          <p:cNvSpPr/>
          <p:nvPr/>
        </p:nvSpPr>
        <p:spPr>
          <a:xfrm>
            <a:off x="5634350" y="444285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20" name="Google Shape;1620;p57"/>
          <p:cNvSpPr/>
          <p:nvPr/>
        </p:nvSpPr>
        <p:spPr>
          <a:xfrm>
            <a:off x="5634050" y="32647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621" name="Google Shape;1621;p57"/>
          <p:cNvCxnSpPr>
            <a:stCxn id="1619" idx="2"/>
            <a:endCxn id="1614" idx="4"/>
          </p:cNvCxnSpPr>
          <p:nvPr/>
        </p:nvCxnSpPr>
        <p:spPr>
          <a:xfrm rot="10800000">
            <a:off x="5020250" y="4443458"/>
            <a:ext cx="614100" cy="2943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57"/>
          <p:cNvCxnSpPr>
            <a:stCxn id="1614" idx="0"/>
            <a:endCxn id="1620" idx="2"/>
          </p:cNvCxnSpPr>
          <p:nvPr/>
        </p:nvCxnSpPr>
        <p:spPr>
          <a:xfrm rot="-5400000">
            <a:off x="5180000" y="33997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3" name="Google Shape;1623;p57"/>
          <p:cNvCxnSpPr>
            <a:stCxn id="1618" idx="4"/>
            <a:endCxn id="1619" idx="6"/>
          </p:cNvCxnSpPr>
          <p:nvPr/>
        </p:nvCxnSpPr>
        <p:spPr>
          <a:xfrm rot="5400000">
            <a:off x="6507750" y="4256863"/>
            <a:ext cx="295200" cy="666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4" name="Google Shape;1624;p57"/>
          <p:cNvCxnSpPr>
            <a:stCxn id="1618" idx="0"/>
            <a:endCxn id="1620" idx="6"/>
          </p:cNvCxnSpPr>
          <p:nvPr/>
        </p:nvCxnSpPr>
        <p:spPr>
          <a:xfrm flipH="1" rot="5400000">
            <a:off x="6508650" y="33727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5" name="Google Shape;1625;p57"/>
          <p:cNvSpPr/>
          <p:nvPr/>
        </p:nvSpPr>
        <p:spPr>
          <a:xfrm>
            <a:off x="5524400" y="40141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Contagion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26" name="Google Shape;1626;p57"/>
          <p:cNvCxnSpPr>
            <a:stCxn id="1625" idx="0"/>
            <a:endCxn id="1620" idx="4"/>
          </p:cNvCxnSpPr>
          <p:nvPr/>
        </p:nvCxnSpPr>
        <p:spPr>
          <a:xfrm rot="-5400000">
            <a:off x="5898350" y="3934055"/>
            <a:ext cx="159600" cy="600"/>
          </a:xfrm>
          <a:prstGeom prst="curvedConnector3">
            <a:avLst>
              <a:gd fmla="val 50016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57"/>
          <p:cNvCxnSpPr>
            <a:stCxn id="1618" idx="2"/>
            <a:endCxn id="1625" idx="3"/>
          </p:cNvCxnSpPr>
          <p:nvPr/>
        </p:nvCxnSpPr>
        <p:spPr>
          <a:xfrm flipH="1">
            <a:off x="6431250" y="41476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57"/>
          <p:cNvCxnSpPr>
            <a:stCxn id="1614" idx="6"/>
            <a:endCxn id="1625" idx="1"/>
          </p:cNvCxnSpPr>
          <p:nvPr/>
        </p:nvCxnSpPr>
        <p:spPr>
          <a:xfrm>
            <a:off x="5364050" y="41486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57"/>
          <p:cNvCxnSpPr>
            <a:stCxn id="1625" idx="2"/>
            <a:endCxn id="1619" idx="0"/>
          </p:cNvCxnSpPr>
          <p:nvPr/>
        </p:nvCxnSpPr>
        <p:spPr>
          <a:xfrm flipH="1" rot="-5400000">
            <a:off x="5898200" y="4362605"/>
            <a:ext cx="159900" cy="600"/>
          </a:xfrm>
          <a:prstGeom prst="curved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step models of diffusion</a:t>
            </a:r>
            <a:endParaRPr/>
          </a:p>
        </p:txBody>
      </p:sp>
      <p:sp>
        <p:nvSpPr>
          <p:cNvPr id="1635" name="Google Shape;1635;p58"/>
          <p:cNvSpPr txBox="1"/>
          <p:nvPr>
            <p:ph idx="1" type="body"/>
          </p:nvPr>
        </p:nvSpPr>
        <p:spPr>
          <a:xfrm>
            <a:off x="311700" y="1225218"/>
            <a:ext cx="85206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claim: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Innovations diffuse via </a:t>
            </a:r>
            <a:r>
              <a:rPr b="1" lang="en"/>
              <a:t>opinion leaders </a:t>
            </a:r>
            <a:r>
              <a:rPr lang="en"/>
              <a:t>(“influencers”)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Potential sources look up to opinion leaders to see what innovations they should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are opinion leaders?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“[</a:t>
            </a:r>
            <a:r>
              <a:rPr i="1" lang="en"/>
              <a:t>P]eople who influence the opinions, attitudes, beliefs, motivations, and behaviors of others</a:t>
            </a:r>
            <a:r>
              <a:rPr lang="en"/>
              <a:t>” (Valente and Pumpuang 2007: 881)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Opinion leaders are “early” or first adopters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why this is called “two-step” diffusion</a:t>
            </a:r>
            <a:endParaRPr/>
          </a:p>
        </p:txBody>
      </p:sp>
      <p:sp>
        <p:nvSpPr>
          <p:cNvPr id="1636" name="Google Shape;1636;p58"/>
          <p:cNvSpPr/>
          <p:nvPr/>
        </p:nvSpPr>
        <p:spPr>
          <a:xfrm>
            <a:off x="4228200" y="3895395"/>
            <a:ext cx="687600" cy="58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Opinion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Leader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37" name="Google Shape;1637;p58"/>
          <p:cNvSpPr/>
          <p:nvPr/>
        </p:nvSpPr>
        <p:spPr>
          <a:xfrm>
            <a:off x="7093100" y="389593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38" name="Google Shape;1638;p58"/>
          <p:cNvSpPr/>
          <p:nvPr/>
        </p:nvSpPr>
        <p:spPr>
          <a:xfrm>
            <a:off x="5595098" y="3519645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39" name="Google Shape;1639;p58"/>
          <p:cNvCxnSpPr>
            <a:stCxn id="1636" idx="7"/>
            <a:endCxn id="1638" idx="1"/>
          </p:cNvCxnSpPr>
          <p:nvPr/>
        </p:nvCxnSpPr>
        <p:spPr>
          <a:xfrm rot="-5400000">
            <a:off x="5041303" y="3427969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58"/>
          <p:cNvCxnSpPr>
            <a:stCxn id="1638" idx="3"/>
            <a:endCxn id="1637" idx="1"/>
          </p:cNvCxnSpPr>
          <p:nvPr/>
        </p:nvCxnSpPr>
        <p:spPr>
          <a:xfrm>
            <a:off x="6413798" y="3654045"/>
            <a:ext cx="780000" cy="328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1" name="Google Shape;1641;p58"/>
          <p:cNvSpPr/>
          <p:nvPr/>
        </p:nvSpPr>
        <p:spPr>
          <a:xfrm>
            <a:off x="5551000" y="405631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Influence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42" name="Google Shape;1642;p58"/>
          <p:cNvCxnSpPr>
            <a:stCxn id="1636" idx="6"/>
            <a:endCxn id="1641" idx="1"/>
          </p:cNvCxnSpPr>
          <p:nvPr/>
        </p:nvCxnSpPr>
        <p:spPr>
          <a:xfrm>
            <a:off x="4915800" y="419029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43" name="Google Shape;1643;p58"/>
          <p:cNvCxnSpPr>
            <a:stCxn id="1641" idx="3"/>
            <a:endCxn id="1637" idx="2"/>
          </p:cNvCxnSpPr>
          <p:nvPr/>
        </p:nvCxnSpPr>
        <p:spPr>
          <a:xfrm>
            <a:off x="6457900" y="419071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44" name="Google Shape;1644;p58"/>
          <p:cNvSpPr/>
          <p:nvPr/>
        </p:nvSpPr>
        <p:spPr>
          <a:xfrm>
            <a:off x="1363300" y="3895665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Original 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45" name="Google Shape;1645;p58"/>
          <p:cNvSpPr/>
          <p:nvPr/>
        </p:nvSpPr>
        <p:spPr>
          <a:xfrm>
            <a:off x="2730198" y="3519634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46" name="Google Shape;1646;p58"/>
          <p:cNvCxnSpPr>
            <a:stCxn id="1644" idx="7"/>
            <a:endCxn id="1645" idx="1"/>
          </p:cNvCxnSpPr>
          <p:nvPr/>
        </p:nvCxnSpPr>
        <p:spPr>
          <a:xfrm rot="-5400000">
            <a:off x="2176253" y="3428089"/>
            <a:ext cx="3279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7" name="Google Shape;1647;p58"/>
          <p:cNvCxnSpPr>
            <a:stCxn id="1645" idx="3"/>
            <a:endCxn id="1636" idx="1"/>
          </p:cNvCxnSpPr>
          <p:nvPr/>
        </p:nvCxnSpPr>
        <p:spPr>
          <a:xfrm>
            <a:off x="3548898" y="3654034"/>
            <a:ext cx="780000" cy="32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8" name="Google Shape;1648;p58"/>
          <p:cNvSpPr/>
          <p:nvPr/>
        </p:nvSpPr>
        <p:spPr>
          <a:xfrm>
            <a:off x="2686100" y="405577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Access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49" name="Google Shape;1649;p58"/>
          <p:cNvCxnSpPr>
            <a:stCxn id="1644" idx="6"/>
            <a:endCxn id="1648" idx="1"/>
          </p:cNvCxnSpPr>
          <p:nvPr/>
        </p:nvCxnSpPr>
        <p:spPr>
          <a:xfrm>
            <a:off x="2050900" y="419056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58"/>
          <p:cNvCxnSpPr>
            <a:stCxn id="1648" idx="3"/>
            <a:endCxn id="1636" idx="2"/>
          </p:cNvCxnSpPr>
          <p:nvPr/>
        </p:nvCxnSpPr>
        <p:spPr>
          <a:xfrm>
            <a:off x="3593000" y="419017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step models of diffusion</a:t>
            </a:r>
            <a:endParaRPr/>
          </a:p>
        </p:txBody>
      </p:sp>
      <p:sp>
        <p:nvSpPr>
          <p:cNvPr id="1656" name="Google Shape;1656;p59"/>
          <p:cNvSpPr txBox="1"/>
          <p:nvPr>
            <p:ph idx="1" type="body"/>
          </p:nvPr>
        </p:nvSpPr>
        <p:spPr>
          <a:xfrm>
            <a:off x="311700" y="1225218"/>
            <a:ext cx="85206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Characteristics of opinion leaders: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who are visible (e.g., celebrities, instagram influencers)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who occupy powerful positions (e.g., politicians, captains of industry)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who are well connected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centrality (Popular people)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Eigenvector centrality (People who can influence popular people)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Betweenness centrality (People who can intermediate between groups)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59"/>
          <p:cNvSpPr/>
          <p:nvPr/>
        </p:nvSpPr>
        <p:spPr>
          <a:xfrm>
            <a:off x="4228200" y="3895395"/>
            <a:ext cx="687600" cy="58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Opinion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Leader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58" name="Google Shape;1658;p59"/>
          <p:cNvSpPr/>
          <p:nvPr/>
        </p:nvSpPr>
        <p:spPr>
          <a:xfrm>
            <a:off x="7093100" y="389593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59" name="Google Shape;1659;p59"/>
          <p:cNvSpPr/>
          <p:nvPr/>
        </p:nvSpPr>
        <p:spPr>
          <a:xfrm>
            <a:off x="5595098" y="3519645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60" name="Google Shape;1660;p59"/>
          <p:cNvCxnSpPr>
            <a:stCxn id="1657" idx="7"/>
            <a:endCxn id="1659" idx="1"/>
          </p:cNvCxnSpPr>
          <p:nvPr/>
        </p:nvCxnSpPr>
        <p:spPr>
          <a:xfrm rot="-5400000">
            <a:off x="5041303" y="3427969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59"/>
          <p:cNvCxnSpPr>
            <a:stCxn id="1659" idx="3"/>
            <a:endCxn id="1658" idx="1"/>
          </p:cNvCxnSpPr>
          <p:nvPr/>
        </p:nvCxnSpPr>
        <p:spPr>
          <a:xfrm>
            <a:off x="6413798" y="3654045"/>
            <a:ext cx="780000" cy="3282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2" name="Google Shape;1662;p59"/>
          <p:cNvSpPr/>
          <p:nvPr/>
        </p:nvSpPr>
        <p:spPr>
          <a:xfrm>
            <a:off x="5551000" y="405631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Influence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63" name="Google Shape;1663;p59"/>
          <p:cNvCxnSpPr>
            <a:stCxn id="1657" idx="6"/>
            <a:endCxn id="1662" idx="1"/>
          </p:cNvCxnSpPr>
          <p:nvPr/>
        </p:nvCxnSpPr>
        <p:spPr>
          <a:xfrm>
            <a:off x="4915800" y="419029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59"/>
          <p:cNvCxnSpPr>
            <a:stCxn id="1662" idx="3"/>
            <a:endCxn id="1658" idx="2"/>
          </p:cNvCxnSpPr>
          <p:nvPr/>
        </p:nvCxnSpPr>
        <p:spPr>
          <a:xfrm>
            <a:off x="6457900" y="419071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65" name="Google Shape;1665;p59"/>
          <p:cNvSpPr/>
          <p:nvPr/>
        </p:nvSpPr>
        <p:spPr>
          <a:xfrm>
            <a:off x="1363300" y="3895665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Original 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66" name="Google Shape;1666;p59"/>
          <p:cNvSpPr/>
          <p:nvPr/>
        </p:nvSpPr>
        <p:spPr>
          <a:xfrm>
            <a:off x="2730198" y="3519634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67" name="Google Shape;1667;p59"/>
          <p:cNvCxnSpPr>
            <a:stCxn id="1665" idx="7"/>
            <a:endCxn id="1666" idx="1"/>
          </p:cNvCxnSpPr>
          <p:nvPr/>
        </p:nvCxnSpPr>
        <p:spPr>
          <a:xfrm rot="-5400000">
            <a:off x="2176253" y="3428089"/>
            <a:ext cx="3279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59"/>
          <p:cNvCxnSpPr>
            <a:stCxn id="1666" idx="3"/>
            <a:endCxn id="1657" idx="1"/>
          </p:cNvCxnSpPr>
          <p:nvPr/>
        </p:nvCxnSpPr>
        <p:spPr>
          <a:xfrm>
            <a:off x="3548898" y="3654034"/>
            <a:ext cx="780000" cy="32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9" name="Google Shape;1669;p59"/>
          <p:cNvSpPr/>
          <p:nvPr/>
        </p:nvSpPr>
        <p:spPr>
          <a:xfrm>
            <a:off x="2686100" y="405577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Access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70" name="Google Shape;1670;p59"/>
          <p:cNvCxnSpPr>
            <a:stCxn id="1665" idx="6"/>
            <a:endCxn id="1669" idx="1"/>
          </p:cNvCxnSpPr>
          <p:nvPr/>
        </p:nvCxnSpPr>
        <p:spPr>
          <a:xfrm>
            <a:off x="2050900" y="419056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71" name="Google Shape;1671;p59"/>
          <p:cNvCxnSpPr>
            <a:stCxn id="1669" idx="3"/>
            <a:endCxn id="1657" idx="2"/>
          </p:cNvCxnSpPr>
          <p:nvPr/>
        </p:nvCxnSpPr>
        <p:spPr>
          <a:xfrm>
            <a:off x="3593000" y="4190175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step models of diffusion</a:t>
            </a:r>
            <a:endParaRPr/>
          </a:p>
        </p:txBody>
      </p:sp>
      <p:sp>
        <p:nvSpPr>
          <p:cNvPr id="1677" name="Google Shape;1677;p60"/>
          <p:cNvSpPr txBox="1"/>
          <p:nvPr>
            <p:ph idx="1" type="body"/>
          </p:nvPr>
        </p:nvSpPr>
        <p:spPr>
          <a:xfrm>
            <a:off x="311700" y="1225215"/>
            <a:ext cx="8520600" cy="11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We can combine the two-step and cohesion models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Innovations begin at a source and are transferred to opinion leaders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Opinion leaders then transfer the information to adopters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Innovation spreads via cohesion among adopters in the second step</a:t>
            </a:r>
            <a:endParaRPr/>
          </a:p>
        </p:txBody>
      </p:sp>
      <p:sp>
        <p:nvSpPr>
          <p:cNvPr id="1678" name="Google Shape;1678;p60"/>
          <p:cNvSpPr/>
          <p:nvPr/>
        </p:nvSpPr>
        <p:spPr>
          <a:xfrm>
            <a:off x="3254700" y="3710653"/>
            <a:ext cx="687600" cy="589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Opinion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Leader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79" name="Google Shape;1679;p60"/>
          <p:cNvSpPr/>
          <p:nvPr/>
        </p:nvSpPr>
        <p:spPr>
          <a:xfrm>
            <a:off x="6098200" y="3712475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80" name="Google Shape;1680;p60"/>
          <p:cNvSpPr/>
          <p:nvPr/>
        </p:nvSpPr>
        <p:spPr>
          <a:xfrm>
            <a:off x="4621598" y="3334903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81" name="Google Shape;1681;p60"/>
          <p:cNvCxnSpPr>
            <a:stCxn id="1678" idx="7"/>
            <a:endCxn id="1680" idx="1"/>
          </p:cNvCxnSpPr>
          <p:nvPr/>
        </p:nvCxnSpPr>
        <p:spPr>
          <a:xfrm rot="-5400000">
            <a:off x="4067803" y="3243227"/>
            <a:ext cx="3276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60"/>
          <p:cNvCxnSpPr>
            <a:stCxn id="1680" idx="3"/>
            <a:endCxn id="1679" idx="1"/>
          </p:cNvCxnSpPr>
          <p:nvPr/>
        </p:nvCxnSpPr>
        <p:spPr>
          <a:xfrm>
            <a:off x="5440298" y="3469303"/>
            <a:ext cx="758700" cy="3294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3" name="Google Shape;1683;p60"/>
          <p:cNvSpPr/>
          <p:nvPr/>
        </p:nvSpPr>
        <p:spPr>
          <a:xfrm>
            <a:off x="4577500" y="3871572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Influence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84" name="Google Shape;1684;p60"/>
          <p:cNvCxnSpPr>
            <a:stCxn id="1678" idx="6"/>
            <a:endCxn id="1683" idx="1"/>
          </p:cNvCxnSpPr>
          <p:nvPr/>
        </p:nvCxnSpPr>
        <p:spPr>
          <a:xfrm>
            <a:off x="3942300" y="4005553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85" name="Google Shape;1685;p60"/>
          <p:cNvCxnSpPr>
            <a:stCxn id="1683" idx="3"/>
            <a:endCxn id="1679" idx="2"/>
          </p:cNvCxnSpPr>
          <p:nvPr/>
        </p:nvCxnSpPr>
        <p:spPr>
          <a:xfrm>
            <a:off x="5484400" y="4005972"/>
            <a:ext cx="613800" cy="1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86" name="Google Shape;1686;p60"/>
          <p:cNvSpPr/>
          <p:nvPr/>
        </p:nvSpPr>
        <p:spPr>
          <a:xfrm>
            <a:off x="389800" y="3710923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Original 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87" name="Google Shape;1687;p60"/>
          <p:cNvSpPr/>
          <p:nvPr/>
        </p:nvSpPr>
        <p:spPr>
          <a:xfrm>
            <a:off x="1756698" y="3334891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88" name="Google Shape;1688;p60"/>
          <p:cNvCxnSpPr>
            <a:stCxn id="1686" idx="7"/>
            <a:endCxn id="1687" idx="1"/>
          </p:cNvCxnSpPr>
          <p:nvPr/>
        </p:nvCxnSpPr>
        <p:spPr>
          <a:xfrm rot="-5400000">
            <a:off x="1202753" y="3243347"/>
            <a:ext cx="327900" cy="7800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60"/>
          <p:cNvCxnSpPr>
            <a:stCxn id="1687" idx="3"/>
            <a:endCxn id="1678" idx="1"/>
          </p:cNvCxnSpPr>
          <p:nvPr/>
        </p:nvCxnSpPr>
        <p:spPr>
          <a:xfrm>
            <a:off x="2575398" y="3469291"/>
            <a:ext cx="780000" cy="3276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0" name="Google Shape;1690;p60"/>
          <p:cNvSpPr/>
          <p:nvPr/>
        </p:nvSpPr>
        <p:spPr>
          <a:xfrm>
            <a:off x="1712600" y="3871032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Access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91" name="Google Shape;1691;p60"/>
          <p:cNvCxnSpPr>
            <a:stCxn id="1686" idx="6"/>
            <a:endCxn id="1690" idx="1"/>
          </p:cNvCxnSpPr>
          <p:nvPr/>
        </p:nvCxnSpPr>
        <p:spPr>
          <a:xfrm>
            <a:off x="1077400" y="4005823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92" name="Google Shape;1692;p60"/>
          <p:cNvCxnSpPr>
            <a:stCxn id="1690" idx="3"/>
            <a:endCxn id="1678" idx="2"/>
          </p:cNvCxnSpPr>
          <p:nvPr/>
        </p:nvCxnSpPr>
        <p:spPr>
          <a:xfrm>
            <a:off x="2619500" y="4005432"/>
            <a:ext cx="635100" cy="600"/>
          </a:xfrm>
          <a:prstGeom prst="curved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93" name="Google Shape;1693;p60"/>
          <p:cNvSpPr/>
          <p:nvPr/>
        </p:nvSpPr>
        <p:spPr>
          <a:xfrm>
            <a:off x="8066600" y="371146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94" name="Google Shape;1694;p60"/>
          <p:cNvSpPr/>
          <p:nvPr/>
        </p:nvSpPr>
        <p:spPr>
          <a:xfrm>
            <a:off x="7055800" y="430033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695" name="Google Shape;1695;p60"/>
          <p:cNvSpPr/>
          <p:nvPr/>
        </p:nvSpPr>
        <p:spPr>
          <a:xfrm>
            <a:off x="7055800" y="3123403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696" name="Google Shape;1696;p60"/>
          <p:cNvCxnSpPr>
            <a:stCxn id="1694" idx="2"/>
            <a:endCxn id="1679" idx="4"/>
          </p:cNvCxnSpPr>
          <p:nvPr/>
        </p:nvCxnSpPr>
        <p:spPr>
          <a:xfrm rot="10800000">
            <a:off x="6442000" y="4302133"/>
            <a:ext cx="613800" cy="293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7" name="Google Shape;1697;p60"/>
          <p:cNvCxnSpPr>
            <a:stCxn id="1679" idx="0"/>
            <a:endCxn id="1695" idx="2"/>
          </p:cNvCxnSpPr>
          <p:nvPr/>
        </p:nvCxnSpPr>
        <p:spPr>
          <a:xfrm rot="-5400000">
            <a:off x="6601750" y="3258425"/>
            <a:ext cx="294300" cy="6138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8" name="Google Shape;1698;p60"/>
          <p:cNvCxnSpPr>
            <a:stCxn id="1693" idx="4"/>
            <a:endCxn id="1694" idx="6"/>
          </p:cNvCxnSpPr>
          <p:nvPr/>
        </p:nvCxnSpPr>
        <p:spPr>
          <a:xfrm rot="5400000">
            <a:off x="7929950" y="4114813"/>
            <a:ext cx="2940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60"/>
          <p:cNvCxnSpPr>
            <a:stCxn id="1693" idx="0"/>
            <a:endCxn id="1695" idx="6"/>
          </p:cNvCxnSpPr>
          <p:nvPr/>
        </p:nvCxnSpPr>
        <p:spPr>
          <a:xfrm flipH="1" rot="5400000">
            <a:off x="7930400" y="3231463"/>
            <a:ext cx="293100" cy="666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0" name="Google Shape;1700;p60"/>
          <p:cNvSpPr txBox="1"/>
          <p:nvPr/>
        </p:nvSpPr>
        <p:spPr>
          <a:xfrm>
            <a:off x="1923650" y="2508470"/>
            <a:ext cx="484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1" name="Google Shape;1701;p60"/>
          <p:cNvSpPr txBox="1"/>
          <p:nvPr/>
        </p:nvSpPr>
        <p:spPr>
          <a:xfrm>
            <a:off x="4788550" y="2508433"/>
            <a:ext cx="484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2" name="Google Shape;1702;p60"/>
          <p:cNvSpPr txBox="1"/>
          <p:nvPr/>
        </p:nvSpPr>
        <p:spPr>
          <a:xfrm>
            <a:off x="7157200" y="2508458"/>
            <a:ext cx="4848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2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3" name="Google Shape;1703;p60"/>
          <p:cNvSpPr/>
          <p:nvPr/>
        </p:nvSpPr>
        <p:spPr>
          <a:xfrm>
            <a:off x="6946150" y="3872855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Imitation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04" name="Google Shape;1704;p60"/>
          <p:cNvCxnSpPr>
            <a:stCxn id="1703" idx="2"/>
            <a:endCxn id="1703" idx="2"/>
          </p:cNvCxnSpPr>
          <p:nvPr/>
        </p:nvCxnSpPr>
        <p:spPr>
          <a:xfrm flipH="1" rot="-5400000">
            <a:off x="7399600" y="4141655"/>
            <a:ext cx="600" cy="6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60"/>
          <p:cNvCxnSpPr>
            <a:stCxn id="1703" idx="0"/>
            <a:endCxn id="1695" idx="4"/>
          </p:cNvCxnSpPr>
          <p:nvPr/>
        </p:nvCxnSpPr>
        <p:spPr>
          <a:xfrm rot="-5400000">
            <a:off x="7320100" y="3792755"/>
            <a:ext cx="159600" cy="600"/>
          </a:xfrm>
          <a:prstGeom prst="curvedConnector3">
            <a:avLst>
              <a:gd fmla="val 49979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60"/>
          <p:cNvCxnSpPr>
            <a:stCxn id="1693" idx="2"/>
            <a:endCxn id="1703" idx="3"/>
          </p:cNvCxnSpPr>
          <p:nvPr/>
        </p:nvCxnSpPr>
        <p:spPr>
          <a:xfrm flipH="1">
            <a:off x="7853000" y="4006363"/>
            <a:ext cx="213600" cy="900"/>
          </a:xfrm>
          <a:prstGeom prst="curvedConnector3">
            <a:avLst>
              <a:gd fmla="val 4998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60"/>
          <p:cNvCxnSpPr>
            <a:stCxn id="1679" idx="6"/>
            <a:endCxn id="1703" idx="1"/>
          </p:cNvCxnSpPr>
          <p:nvPr/>
        </p:nvCxnSpPr>
        <p:spPr>
          <a:xfrm>
            <a:off x="6785800" y="4007375"/>
            <a:ext cx="160500" cy="600"/>
          </a:xfrm>
          <a:prstGeom prst="curvedConnector3">
            <a:avLst>
              <a:gd fmla="val 49953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2" name="Google Shape;171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3200"/>
            <a:ext cx="8839198" cy="419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62"/>
          <p:cNvSpPr txBox="1"/>
          <p:nvPr>
            <p:ph type="title"/>
          </p:nvPr>
        </p:nvSpPr>
        <p:spPr>
          <a:xfrm>
            <a:off x="311700" y="284332"/>
            <a:ext cx="85206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equivalence model</a:t>
            </a:r>
            <a:endParaRPr/>
          </a:p>
        </p:txBody>
      </p:sp>
      <p:sp>
        <p:nvSpPr>
          <p:cNvPr id="1718" name="Google Shape;1718;p62"/>
          <p:cNvSpPr txBox="1"/>
          <p:nvPr>
            <p:ph idx="1" type="body"/>
          </p:nvPr>
        </p:nvSpPr>
        <p:spPr>
          <a:xfrm>
            <a:off x="311700" y="1102703"/>
            <a:ext cx="8520600" cy="30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Cohesion-based network models presume that diffusion only happens between </a:t>
            </a:r>
            <a:r>
              <a:rPr b="1" lang="en"/>
              <a:t>connected</a:t>
            </a:r>
            <a:r>
              <a:rPr lang="en"/>
              <a:t> actors (direct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 diffusion mechanism can sometimes operate among </a:t>
            </a:r>
            <a:r>
              <a:rPr b="1" lang="en"/>
              <a:t>disconnected </a:t>
            </a:r>
            <a:r>
              <a:rPr lang="en"/>
              <a:t>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diffusion via </a:t>
            </a:r>
            <a:r>
              <a:rPr b="1" lang="en"/>
              <a:t>positional equivalence </a:t>
            </a:r>
            <a:r>
              <a:rPr lang="en"/>
              <a:t>(indirect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Flashback: Positionally equivalent actors don’t have to be necessarily connected to one another!</a:t>
            </a:r>
            <a:endParaRPr/>
          </a:p>
        </p:txBody>
      </p:sp>
      <p:pic>
        <p:nvPicPr>
          <p:cNvPr id="1719" name="Google Shape;171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449" y="2854956"/>
            <a:ext cx="4913191" cy="1931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63"/>
          <p:cNvSpPr txBox="1"/>
          <p:nvPr>
            <p:ph idx="1" type="body"/>
          </p:nvPr>
        </p:nvSpPr>
        <p:spPr>
          <a:xfrm>
            <a:off x="311700" y="1225221"/>
            <a:ext cx="8520600" cy="15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Cohesion-based network models presume that diffusion only happens between </a:t>
            </a:r>
            <a:r>
              <a:rPr b="1" lang="en"/>
              <a:t>connected</a:t>
            </a:r>
            <a:r>
              <a:rPr lang="en"/>
              <a:t> actors (direct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the diffusion mechanism can sometimes operate among </a:t>
            </a:r>
            <a:r>
              <a:rPr b="1" lang="en"/>
              <a:t>disconnected </a:t>
            </a:r>
            <a:r>
              <a:rPr lang="en"/>
              <a:t>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diffusion via </a:t>
            </a:r>
            <a:r>
              <a:rPr b="1" lang="en"/>
              <a:t>positional equivalence </a:t>
            </a:r>
            <a:r>
              <a:rPr lang="en"/>
              <a:t>(indirect influence)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Mechanism: Comparison to similarly positioned others</a:t>
            </a:r>
            <a:endParaRPr/>
          </a:p>
        </p:txBody>
      </p:sp>
      <p:sp>
        <p:nvSpPr>
          <p:cNvPr id="1725" name="Google Shape;1725;p63"/>
          <p:cNvSpPr txBox="1"/>
          <p:nvPr>
            <p:ph type="title"/>
          </p:nvPr>
        </p:nvSpPr>
        <p:spPr>
          <a:xfrm>
            <a:off x="311700" y="284332"/>
            <a:ext cx="85206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equivalence model</a:t>
            </a:r>
            <a:endParaRPr/>
          </a:p>
        </p:txBody>
      </p:sp>
      <p:sp>
        <p:nvSpPr>
          <p:cNvPr id="1726" name="Google Shape;1726;p63"/>
          <p:cNvSpPr/>
          <p:nvPr/>
        </p:nvSpPr>
        <p:spPr>
          <a:xfrm>
            <a:off x="2061300" y="3260588"/>
            <a:ext cx="687600" cy="589800"/>
          </a:xfrm>
          <a:prstGeom prst="ellipse">
            <a:avLst/>
          </a:prstGeom>
          <a:solidFill>
            <a:srgbClr val="E69138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Source</a:t>
            </a:r>
            <a:endParaRPr b="1">
              <a:solidFill>
                <a:srgbClr val="FFFF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27" name="Google Shape;1727;p63"/>
          <p:cNvSpPr/>
          <p:nvPr/>
        </p:nvSpPr>
        <p:spPr>
          <a:xfrm>
            <a:off x="5331100" y="406536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728" name="Google Shape;1728;p63"/>
          <p:cNvSpPr/>
          <p:nvPr/>
        </p:nvSpPr>
        <p:spPr>
          <a:xfrm>
            <a:off x="4136048" y="2844338"/>
            <a:ext cx="818700" cy="2688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Innovation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29" name="Google Shape;1729;p63"/>
          <p:cNvCxnSpPr>
            <a:stCxn id="1726" idx="7"/>
            <a:endCxn id="1728" idx="1"/>
          </p:cNvCxnSpPr>
          <p:nvPr/>
        </p:nvCxnSpPr>
        <p:spPr>
          <a:xfrm rot="-5400000">
            <a:off x="3208003" y="2419062"/>
            <a:ext cx="368100" cy="14877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63"/>
          <p:cNvCxnSpPr>
            <a:stCxn id="1728" idx="3"/>
            <a:endCxn id="1731" idx="1"/>
          </p:cNvCxnSpPr>
          <p:nvPr/>
        </p:nvCxnSpPr>
        <p:spPr>
          <a:xfrm>
            <a:off x="4954748" y="2978738"/>
            <a:ext cx="1487700" cy="368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2" name="Google Shape;1732;p63"/>
          <p:cNvSpPr/>
          <p:nvPr/>
        </p:nvSpPr>
        <p:spPr>
          <a:xfrm>
            <a:off x="4091950" y="3420967"/>
            <a:ext cx="906900" cy="26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Comparison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33" name="Google Shape;1733;p63"/>
          <p:cNvCxnSpPr>
            <a:stCxn id="1726" idx="6"/>
            <a:endCxn id="1732" idx="1"/>
          </p:cNvCxnSpPr>
          <p:nvPr/>
        </p:nvCxnSpPr>
        <p:spPr>
          <a:xfrm>
            <a:off x="2748900" y="3555488"/>
            <a:ext cx="1343100" cy="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63"/>
          <p:cNvCxnSpPr>
            <a:stCxn id="1732" idx="3"/>
            <a:endCxn id="1731" idx="2"/>
          </p:cNvCxnSpPr>
          <p:nvPr/>
        </p:nvCxnSpPr>
        <p:spPr>
          <a:xfrm>
            <a:off x="4998850" y="3555367"/>
            <a:ext cx="1343100" cy="6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5" name="Google Shape;1735;p63"/>
          <p:cNvSpPr/>
          <p:nvPr/>
        </p:nvSpPr>
        <p:spPr>
          <a:xfrm>
            <a:off x="7352700" y="398439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736" name="Google Shape;1736;p63"/>
          <p:cNvSpPr/>
          <p:nvPr/>
        </p:nvSpPr>
        <p:spPr>
          <a:xfrm>
            <a:off x="6341900" y="443751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731" name="Google Shape;1731;p63"/>
          <p:cNvSpPr/>
          <p:nvPr/>
        </p:nvSpPr>
        <p:spPr>
          <a:xfrm>
            <a:off x="6341900" y="3260588"/>
            <a:ext cx="687600" cy="5898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Adopter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737" name="Google Shape;1737;p63"/>
          <p:cNvCxnSpPr/>
          <p:nvPr/>
        </p:nvCxnSpPr>
        <p:spPr>
          <a:xfrm flipH="1" rot="-5400000">
            <a:off x="6685700" y="4278960"/>
            <a:ext cx="6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8" name="Google Shape;1738;p63"/>
          <p:cNvCxnSpPr>
            <a:stCxn id="1736" idx="0"/>
            <a:endCxn id="1731" idx="4"/>
          </p:cNvCxnSpPr>
          <p:nvPr/>
        </p:nvCxnSpPr>
        <p:spPr>
          <a:xfrm rot="-5400000">
            <a:off x="6392450" y="4143668"/>
            <a:ext cx="5871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9" name="Google Shape;1739;p63"/>
          <p:cNvSpPr/>
          <p:nvPr/>
        </p:nvSpPr>
        <p:spPr>
          <a:xfrm>
            <a:off x="1103700" y="398439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740" name="Google Shape;1740;p63"/>
          <p:cNvSpPr/>
          <p:nvPr/>
        </p:nvSpPr>
        <p:spPr>
          <a:xfrm>
            <a:off x="3072100" y="4065368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741" name="Google Shape;1741;p63"/>
          <p:cNvSpPr/>
          <p:nvPr/>
        </p:nvSpPr>
        <p:spPr>
          <a:xfrm>
            <a:off x="2087900" y="4426380"/>
            <a:ext cx="687600" cy="5898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rPr>
              <a:t>Alter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742" name="Google Shape;1742;p63"/>
          <p:cNvCxnSpPr/>
          <p:nvPr/>
        </p:nvCxnSpPr>
        <p:spPr>
          <a:xfrm flipH="1" rot="-5400000">
            <a:off x="2405100" y="4426380"/>
            <a:ext cx="600" cy="6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3" name="Google Shape;1743;p63"/>
          <p:cNvCxnSpPr>
            <a:stCxn id="1726" idx="4"/>
            <a:endCxn id="1741" idx="0"/>
          </p:cNvCxnSpPr>
          <p:nvPr/>
        </p:nvCxnSpPr>
        <p:spPr>
          <a:xfrm flipH="1" rot="-5400000">
            <a:off x="2130450" y="4125038"/>
            <a:ext cx="576000" cy="26700"/>
          </a:xfrm>
          <a:prstGeom prst="curvedConnector3">
            <a:avLst>
              <a:gd fmla="val 4999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4" name="Google Shape;1744;p63"/>
          <p:cNvCxnSpPr>
            <a:stCxn id="1726" idx="3"/>
            <a:endCxn id="1739" idx="7"/>
          </p:cNvCxnSpPr>
          <p:nvPr/>
        </p:nvCxnSpPr>
        <p:spPr>
          <a:xfrm flipH="1">
            <a:off x="1690697" y="3764013"/>
            <a:ext cx="471300" cy="30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63"/>
          <p:cNvCxnSpPr>
            <a:stCxn id="1731" idx="3"/>
            <a:endCxn id="1727" idx="7"/>
          </p:cNvCxnSpPr>
          <p:nvPr/>
        </p:nvCxnSpPr>
        <p:spPr>
          <a:xfrm flipH="1">
            <a:off x="5917897" y="3764013"/>
            <a:ext cx="524700" cy="38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63"/>
          <p:cNvCxnSpPr>
            <a:stCxn id="1726" idx="5"/>
            <a:endCxn id="1740" idx="1"/>
          </p:cNvCxnSpPr>
          <p:nvPr/>
        </p:nvCxnSpPr>
        <p:spPr>
          <a:xfrm>
            <a:off x="2648203" y="3764013"/>
            <a:ext cx="524700" cy="38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63"/>
          <p:cNvCxnSpPr>
            <a:stCxn id="1731" idx="5"/>
            <a:endCxn id="1735" idx="1"/>
          </p:cNvCxnSpPr>
          <p:nvPr/>
        </p:nvCxnSpPr>
        <p:spPr>
          <a:xfrm>
            <a:off x="6928803" y="3764013"/>
            <a:ext cx="524700" cy="306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1753" name="Google Shape;1753;p64"/>
          <p:cNvSpPr txBox="1"/>
          <p:nvPr>
            <p:ph idx="1" type="body"/>
          </p:nvPr>
        </p:nvSpPr>
        <p:spPr>
          <a:xfrm>
            <a:off x="311700" y="1225215"/>
            <a:ext cx="8187600" cy="24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Innovations that entail risk, ostracism, potential loss of resources, may elicit higher thresholds from all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require exposure to multiple sources to adopt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difference between </a:t>
            </a:r>
            <a:r>
              <a:rPr b="1" lang="en"/>
              <a:t>simplex </a:t>
            </a:r>
            <a:r>
              <a:rPr lang="en"/>
              <a:t>and </a:t>
            </a:r>
            <a:r>
              <a:rPr b="1" lang="en"/>
              <a:t>complex </a:t>
            </a:r>
            <a:r>
              <a:rPr lang="en"/>
              <a:t>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Certain innovations only diffuse via complex contagion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4" name="Google Shape;175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1760" name="Google Shape;1760;p65"/>
          <p:cNvSpPr txBox="1"/>
          <p:nvPr>
            <p:ph idx="1" type="body"/>
          </p:nvPr>
        </p:nvSpPr>
        <p:spPr>
          <a:xfrm>
            <a:off x="311700" y="1225215"/>
            <a:ext cx="8187600" cy="13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simplex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Information, gossip, disease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Candidates for complex 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risk social movement participation, religious conversion, migration,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1" name="Google Shape;176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1767" name="Google Shape;1767;p66"/>
          <p:cNvSpPr txBox="1"/>
          <p:nvPr>
            <p:ph idx="1" type="body"/>
          </p:nvPr>
        </p:nvSpPr>
        <p:spPr>
          <a:xfrm>
            <a:off x="311700" y="1225214"/>
            <a:ext cx="85206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Weakness of long ties argument </a:t>
            </a:r>
            <a:r>
              <a:rPr lang="en"/>
              <a:t>(Centola and Macy 2007):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(weak) ties help to spread things in networks faster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for things that spread via simplex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</a:t>
            </a:r>
            <a:r>
              <a:rPr b="1" lang="en"/>
              <a:t>worse</a:t>
            </a:r>
            <a:r>
              <a:rPr lang="en"/>
              <a:t> at spreading things that </a:t>
            </a:r>
            <a:r>
              <a:rPr b="1" lang="en"/>
              <a:t>require complex contagion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You are usually connected to one network bridge and access the tie infrequently</a:t>
            </a:r>
            <a:endParaRPr i="1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68" name="Google Shape;176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Complex versus simplex contagion</a:t>
            </a:r>
            <a:endParaRPr/>
          </a:p>
        </p:txBody>
      </p:sp>
      <p:sp>
        <p:nvSpPr>
          <p:cNvPr id="1774" name="Google Shape;1774;p67"/>
          <p:cNvSpPr txBox="1"/>
          <p:nvPr>
            <p:ph idx="1" type="body"/>
          </p:nvPr>
        </p:nvSpPr>
        <p:spPr>
          <a:xfrm>
            <a:off x="311700" y="1225214"/>
            <a:ext cx="85206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Information, gossip, disease: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spread faster in a network via weak ties (bridges)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Strength of Weak Ties (Granovetter 1973)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High-risk social movement participation, religious conversion, migration: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spread faster via cliques and strong ties 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5" name="Google Shape;177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4238" y="2839320"/>
            <a:ext cx="5233972" cy="2124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6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psychology of social networks</a:t>
            </a:r>
            <a:endParaRPr/>
          </a:p>
        </p:txBody>
      </p:sp>
      <p:sp>
        <p:nvSpPr>
          <p:cNvPr id="1781" name="Google Shape;1781;p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Cognition and social networks</a:t>
            </a:r>
            <a:endParaRPr/>
          </a:p>
        </p:txBody>
      </p:sp>
      <p:sp>
        <p:nvSpPr>
          <p:cNvPr id="1787" name="Google Shape;178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Cognitive aspects of networks central to classical approaches such as </a:t>
            </a:r>
            <a:r>
              <a:rPr b="1" lang="en"/>
              <a:t>balance theory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recent work has rediscovered the cognitive psychological dimension of social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contemporary cognitive-psychological approaches: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Freeman’s theory of </a:t>
            </a:r>
            <a:r>
              <a:rPr b="1" lang="en"/>
              <a:t>schema-based network recall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Krackhardt’s theory of </a:t>
            </a:r>
            <a:r>
              <a:rPr b="1" lang="en"/>
              <a:t>Cognitive Social Structures (CSS)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Research linking </a:t>
            </a:r>
            <a:r>
              <a:rPr b="1" lang="en"/>
              <a:t>Personality</a:t>
            </a:r>
            <a:r>
              <a:rPr lang="en"/>
              <a:t> and </a:t>
            </a:r>
            <a:r>
              <a:rPr b="1" lang="en"/>
              <a:t>Social Network Outcomes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Remembering Social Structures</a:t>
            </a:r>
            <a:endParaRPr/>
          </a:p>
        </p:txBody>
      </p:sp>
      <p:sp>
        <p:nvSpPr>
          <p:cNvPr id="1793" name="Google Shape;1793;p70"/>
          <p:cNvSpPr txBox="1"/>
          <p:nvPr>
            <p:ph idx="1" type="body"/>
          </p:nvPr>
        </p:nvSpPr>
        <p:spPr>
          <a:xfrm>
            <a:off x="311700" y="1225225"/>
            <a:ext cx="481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kinds of networks are easy for people to remember?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store network information in a cognitive template called a </a:t>
            </a:r>
            <a:r>
              <a:rPr b="1" lang="en"/>
              <a:t>schema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4" name="Google Shape;17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600" y="1616275"/>
            <a:ext cx="3715500" cy="257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Remembering Social Structures</a:t>
            </a:r>
            <a:endParaRPr/>
          </a:p>
        </p:txBody>
      </p:sp>
      <p:sp>
        <p:nvSpPr>
          <p:cNvPr id="1800" name="Google Shape;1800;p71"/>
          <p:cNvSpPr txBox="1"/>
          <p:nvPr>
            <p:ph idx="1" type="body"/>
          </p:nvPr>
        </p:nvSpPr>
        <p:spPr>
          <a:xfrm>
            <a:off x="311700" y="1225225"/>
            <a:ext cx="481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kinds of networks are easy for people to remember?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store network information in a cognitive template called a </a:t>
            </a:r>
            <a:r>
              <a:rPr b="1" lang="en"/>
              <a:t>schema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schemas?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[C]ognitive structures consisting of a fuzzy set of interrelated associations that influence individuals’ perceptions of the world around them” (Brands 2013: S88)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1" name="Google Shape;180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600" y="1616275"/>
            <a:ext cx="3715500" cy="257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Remembering Social Structures</a:t>
            </a:r>
            <a:endParaRPr/>
          </a:p>
        </p:txBody>
      </p:sp>
      <p:sp>
        <p:nvSpPr>
          <p:cNvPr id="1807" name="Google Shape;1807;p72"/>
          <p:cNvSpPr txBox="1"/>
          <p:nvPr>
            <p:ph idx="1" type="body"/>
          </p:nvPr>
        </p:nvSpPr>
        <p:spPr>
          <a:xfrm>
            <a:off x="311700" y="1225225"/>
            <a:ext cx="481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kinds of networks are easy for people to remember?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store network information in a cognitive template called a </a:t>
            </a:r>
            <a:r>
              <a:rPr b="1" lang="en"/>
              <a:t>schema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Schemas influence memory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</a:t>
            </a:r>
            <a:r>
              <a:rPr b="1" lang="en"/>
              <a:t>remember</a:t>
            </a:r>
            <a:r>
              <a:rPr lang="en"/>
              <a:t> information </a:t>
            </a:r>
            <a:r>
              <a:rPr b="1" lang="en"/>
              <a:t>consistent </a:t>
            </a:r>
            <a:r>
              <a:rPr lang="en"/>
              <a:t>with stored schemas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</a:t>
            </a:r>
            <a:r>
              <a:rPr b="1" lang="en"/>
              <a:t>forget</a:t>
            </a:r>
            <a:r>
              <a:rPr lang="en"/>
              <a:t> information </a:t>
            </a:r>
            <a:r>
              <a:rPr b="1" lang="en"/>
              <a:t>inconsistent</a:t>
            </a:r>
            <a:r>
              <a:rPr lang="en"/>
              <a:t> with stored schemas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</a:t>
            </a:r>
            <a:r>
              <a:rPr b="1" lang="en"/>
              <a:t>change</a:t>
            </a:r>
            <a:r>
              <a:rPr lang="en"/>
              <a:t> schema </a:t>
            </a:r>
            <a:r>
              <a:rPr b="1" lang="en"/>
              <a:t>inconsistent</a:t>
            </a:r>
            <a:r>
              <a:rPr lang="en"/>
              <a:t> information into schema </a:t>
            </a:r>
            <a:r>
              <a:rPr b="1" lang="en"/>
              <a:t>consistent</a:t>
            </a:r>
            <a:r>
              <a:rPr lang="en"/>
              <a:t> forms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8" name="Google Shape;180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600" y="1616275"/>
            <a:ext cx="3715500" cy="257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Remembering Social Structures</a:t>
            </a:r>
            <a:endParaRPr/>
          </a:p>
        </p:txBody>
      </p:sp>
      <p:sp>
        <p:nvSpPr>
          <p:cNvPr id="1814" name="Google Shape;1814;p73"/>
          <p:cNvSpPr txBox="1"/>
          <p:nvPr>
            <p:ph idx="1" type="body"/>
          </p:nvPr>
        </p:nvSpPr>
        <p:spPr>
          <a:xfrm>
            <a:off x="311700" y="1225225"/>
            <a:ext cx="4950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kinds of networks are easy to remember?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Networks with </a:t>
            </a:r>
            <a:r>
              <a:rPr b="1" lang="en"/>
              <a:t>hierarchical</a:t>
            </a:r>
            <a:r>
              <a:rPr lang="en"/>
              <a:t> structure are easier to remember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Networks with </a:t>
            </a:r>
            <a:r>
              <a:rPr b="1" lang="en"/>
              <a:t>reciprocity</a:t>
            </a:r>
            <a:r>
              <a:rPr lang="en"/>
              <a:t> (if the relationship is friendship) are easier to remember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Networks with </a:t>
            </a:r>
            <a:r>
              <a:rPr b="1" lang="en"/>
              <a:t>transitivity</a:t>
            </a:r>
            <a:r>
              <a:rPr lang="en"/>
              <a:t> are easier to remember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Networks clustered into </a:t>
            </a:r>
            <a:r>
              <a:rPr b="1" lang="en"/>
              <a:t>subgroups</a:t>
            </a:r>
            <a:r>
              <a:rPr lang="en"/>
              <a:t> are easier to remember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Networks featuring </a:t>
            </a:r>
            <a:r>
              <a:rPr b="1" lang="en"/>
              <a:t>balance</a:t>
            </a:r>
            <a:r>
              <a:rPr lang="en"/>
              <a:t> are easier to remember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5" name="Google Shape;181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600" y="1616275"/>
            <a:ext cx="3715500" cy="257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993" y="1757150"/>
            <a:ext cx="7315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Schema-based network recall</a:t>
            </a:r>
            <a:endParaRPr/>
          </a:p>
        </p:txBody>
      </p:sp>
      <p:sp>
        <p:nvSpPr>
          <p:cNvPr id="1822" name="Google Shape;1822;p74"/>
          <p:cNvSpPr txBox="1"/>
          <p:nvPr>
            <p:ph idx="1" type="body"/>
          </p:nvPr>
        </p:nvSpPr>
        <p:spPr>
          <a:xfrm>
            <a:off x="311700" y="1225225"/>
            <a:ext cx="45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balance schema: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of friends are friends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 of enemies are enemies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find it easier to remember social structures respecting the balance schema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recall signed networks as obeying the balance schema even if the original network violates the rules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impose “balance” to valenced social structures in their heads</a:t>
            </a:r>
            <a:endParaRPr/>
          </a:p>
        </p:txBody>
      </p:sp>
      <p:pic>
        <p:nvPicPr>
          <p:cNvPr id="1823" name="Google Shape;182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600" y="1616275"/>
            <a:ext cx="3715500" cy="257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4" name="Google Shape;182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993" y="1757150"/>
            <a:ext cx="7315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Schema-based network recall</a:t>
            </a:r>
            <a:endParaRPr/>
          </a:p>
        </p:txBody>
      </p:sp>
      <p:sp>
        <p:nvSpPr>
          <p:cNvPr id="1830" name="Google Shape;1830;p75"/>
          <p:cNvSpPr txBox="1"/>
          <p:nvPr>
            <p:ph idx="1" type="body"/>
          </p:nvPr>
        </p:nvSpPr>
        <p:spPr>
          <a:xfrm>
            <a:off x="311700" y="1225225"/>
            <a:ext cx="498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transitivity schema: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has a tie with b and a has a tie with c, b should have a tie with 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find it easier to remember social structures respecting the transitivity shema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Especially if these are hierarchical or dominance structures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recall networks as obeying the transitivity schema even if the original network violates the rules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has a lot of “open” triads)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1" name="Google Shape;183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600" y="1616275"/>
            <a:ext cx="3715500" cy="257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993" y="1757150"/>
            <a:ext cx="7315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Schema-based network recall</a:t>
            </a:r>
            <a:endParaRPr/>
          </a:p>
        </p:txBody>
      </p:sp>
      <p:sp>
        <p:nvSpPr>
          <p:cNvPr id="1838" name="Google Shape;1838;p76"/>
          <p:cNvSpPr txBox="1"/>
          <p:nvPr>
            <p:ph idx="1" type="body"/>
          </p:nvPr>
        </p:nvSpPr>
        <p:spPr>
          <a:xfrm>
            <a:off x="311700" y="1225225"/>
            <a:ext cx="498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reciprocity schema: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likes b then b should like 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find it easier to remember social structures respecting the reciprocity shema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Especially if the network is a friendship or positive sentiments network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schema for friendship and liking is “reciprocal”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recall networks as obeying the reciprocity schema even if the original network violates the rules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has a lot of non-reciprocal dyads)</a:t>
            </a:r>
            <a:endParaRPr/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9" name="Google Shape;18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600" y="1616275"/>
            <a:ext cx="3715500" cy="257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3993" y="1757150"/>
            <a:ext cx="731518" cy="73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sp>
        <p:nvSpPr>
          <p:cNvPr id="1846" name="Google Shape;1846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cognitive social structures?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is the network of connections between people (including yourself but also between others) as each person </a:t>
            </a:r>
            <a:r>
              <a:rPr b="1" lang="en"/>
              <a:t>perceives</a:t>
            </a:r>
            <a:r>
              <a:rPr lang="en"/>
              <a:t> it to be rather than as it “</a:t>
            </a:r>
            <a:r>
              <a:rPr b="1" lang="en"/>
              <a:t>really</a:t>
            </a:r>
            <a:r>
              <a:rPr lang="en"/>
              <a:t>”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go from asking: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i="1" lang="en">
                <a:solidFill>
                  <a:srgbClr val="FF0000"/>
                </a:solidFill>
              </a:rPr>
              <a:t>Is person i connected to person j?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asking: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i="1" lang="en">
                <a:solidFill>
                  <a:srgbClr val="FF0000"/>
                </a:solidFill>
              </a:rPr>
              <a:t>Does person k think that person i is connected to person j?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This means that in a network of size N: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Each relationship in the network exists N times as recorded inside the head of each the people in the network!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We go from a dyadic conception of relations (</a:t>
            </a:r>
            <a:r>
              <a:rPr b="1" lang="en">
                <a:solidFill>
                  <a:srgbClr val="000000"/>
                </a:solidFill>
              </a:rPr>
              <a:t>R</a:t>
            </a:r>
            <a:r>
              <a:rPr b="1" baseline="-25000" lang="en">
                <a:solidFill>
                  <a:srgbClr val="000000"/>
                </a:solidFill>
              </a:rPr>
              <a:t>ij</a:t>
            </a:r>
            <a:r>
              <a:rPr lang="en">
                <a:solidFill>
                  <a:srgbClr val="000000"/>
                </a:solidFill>
              </a:rPr>
              <a:t>) to a triadic one: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b="1" lang="en">
                <a:solidFill>
                  <a:srgbClr val="000000"/>
                </a:solidFill>
              </a:rPr>
              <a:t>R</a:t>
            </a:r>
            <a:r>
              <a:rPr b="1" baseline="-25000" lang="en">
                <a:solidFill>
                  <a:srgbClr val="000000"/>
                </a:solidFill>
              </a:rPr>
              <a:t>ijk</a:t>
            </a:r>
            <a:r>
              <a:rPr lang="en">
                <a:solidFill>
                  <a:srgbClr val="000000"/>
                </a:solidFill>
              </a:rPr>
              <a:t> (person is connected to person j according to person k)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 (CSS)</a:t>
            </a:r>
            <a:endParaRPr/>
          </a:p>
        </p:txBody>
      </p:sp>
      <p:sp>
        <p:nvSpPr>
          <p:cNvPr id="1852" name="Google Shape;1852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CSS provides new ways of measuring social ties between two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Makes the standard approach (e.g., mutual nomination) a special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CSS modifies standard theories of networks as social capital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Adds a perceptual component: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Connections can help but only if you see them!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CSS focuses on three main questions: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there a link between people’s network position (e.g., centrality) and the way the perceive the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 there a link between how people perceive the network they are in and how successful they are?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there patterned similarities and differences between the way different people perceive the network?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 (CSS)</a:t>
            </a:r>
            <a:endParaRPr/>
          </a:p>
        </p:txBody>
      </p:sp>
      <p:sp>
        <p:nvSpPr>
          <p:cNvPr id="1858" name="Google Shape;1858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CSS Roster Method</a:t>
            </a:r>
            <a:endParaRPr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○"/>
            </a:pPr>
            <a:r>
              <a:rPr lang="en"/>
              <a:t>Each person (i) is asked not just about their relations to other persons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also about their </a:t>
            </a:r>
            <a:r>
              <a:rPr b="1" lang="en"/>
              <a:t>perception</a:t>
            </a:r>
            <a:r>
              <a:rPr lang="en"/>
              <a:t> of the existence of relations between each other pair of people in the system: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tie between j and k as perceived by i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</a:t>
            </a:r>
            <a:r>
              <a:rPr b="1" baseline="-25000" lang="en"/>
              <a:t>ijk</a:t>
            </a:r>
            <a:r>
              <a:rPr b="1" lang="en"/>
              <a:t> </a:t>
            </a:r>
            <a:r>
              <a:rPr lang="en"/>
              <a:t>= 1 if person i thinks that there is a link of type </a:t>
            </a:r>
            <a:r>
              <a:rPr b="1" lang="en"/>
              <a:t>R </a:t>
            </a:r>
            <a:r>
              <a:rPr lang="en"/>
              <a:t>between j and k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</a:t>
            </a:r>
            <a:r>
              <a:rPr b="1" baseline="-25000" lang="en"/>
              <a:t>ijk</a:t>
            </a:r>
            <a:r>
              <a:rPr b="1" lang="en"/>
              <a:t> </a:t>
            </a:r>
            <a:r>
              <a:rPr lang="en"/>
              <a:t>= 0 otherwise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yields </a:t>
            </a:r>
            <a:r>
              <a:rPr b="1" lang="en"/>
              <a:t>N</a:t>
            </a:r>
            <a:r>
              <a:rPr lang="en"/>
              <a:t> x </a:t>
            </a:r>
            <a:r>
              <a:rPr b="1" lang="en"/>
              <a:t>R</a:t>
            </a:r>
            <a:r>
              <a:rPr lang="en"/>
              <a:t> adjacency matrices of perceived relations between all people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One for each informant and each type of relation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if we are studying 20 people and ask them about two relations (e.g., friendship, advice) we end up with: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20 X 2 = 40 adjacency matrices!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pic>
        <p:nvPicPr>
          <p:cNvPr id="1864" name="Google Shape;186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300" y="652125"/>
            <a:ext cx="3657600" cy="41623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5" name="Google Shape;1865;p80"/>
          <p:cNvGrpSpPr/>
          <p:nvPr/>
        </p:nvGrpSpPr>
        <p:grpSpPr>
          <a:xfrm>
            <a:off x="311700" y="1352175"/>
            <a:ext cx="4067400" cy="3281570"/>
            <a:chOff x="311700" y="1352175"/>
            <a:chExt cx="4067400" cy="3281570"/>
          </a:xfrm>
        </p:grpSpPr>
        <p:pic>
          <p:nvPicPr>
            <p:cNvPr id="1866" name="Google Shape;1866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1352175"/>
              <a:ext cx="4067400" cy="3281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7" name="Google Shape;1867;p80"/>
            <p:cNvSpPr txBox="1"/>
            <p:nvPr/>
          </p:nvSpPr>
          <p:spPr>
            <a:xfrm>
              <a:off x="432750" y="1511875"/>
              <a:ext cx="389700" cy="35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grpSp>
        <p:nvGrpSpPr>
          <p:cNvPr id="1873" name="Google Shape;1873;p81"/>
          <p:cNvGrpSpPr/>
          <p:nvPr/>
        </p:nvGrpSpPr>
        <p:grpSpPr>
          <a:xfrm>
            <a:off x="311700" y="1352175"/>
            <a:ext cx="4067400" cy="3281570"/>
            <a:chOff x="311700" y="1352175"/>
            <a:chExt cx="4067400" cy="3281570"/>
          </a:xfrm>
        </p:grpSpPr>
        <p:pic>
          <p:nvPicPr>
            <p:cNvPr id="1874" name="Google Shape;1874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352175"/>
              <a:ext cx="4067400" cy="3281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5" name="Google Shape;1875;p81"/>
            <p:cNvSpPr txBox="1"/>
            <p:nvPr/>
          </p:nvSpPr>
          <p:spPr>
            <a:xfrm>
              <a:off x="432750" y="1511875"/>
              <a:ext cx="389700" cy="35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76" name="Google Shape;1876;p81"/>
          <p:cNvGrpSpPr/>
          <p:nvPr/>
        </p:nvGrpSpPr>
        <p:grpSpPr>
          <a:xfrm>
            <a:off x="5032650" y="1281200"/>
            <a:ext cx="3657600" cy="3423514"/>
            <a:chOff x="5032650" y="1281200"/>
            <a:chExt cx="3657600" cy="3423514"/>
          </a:xfrm>
        </p:grpSpPr>
        <p:pic>
          <p:nvPicPr>
            <p:cNvPr id="1877" name="Google Shape;1877;p8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32650" y="1281200"/>
              <a:ext cx="3657600" cy="34235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8" name="Google Shape;1878;p81"/>
            <p:cNvSpPr txBox="1"/>
            <p:nvPr/>
          </p:nvSpPr>
          <p:spPr>
            <a:xfrm>
              <a:off x="5032650" y="1342997"/>
              <a:ext cx="389100" cy="357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 (CSS)</a:t>
            </a:r>
            <a:endParaRPr/>
          </a:p>
        </p:txBody>
      </p:sp>
      <p:sp>
        <p:nvSpPr>
          <p:cNvPr id="1884" name="Google Shape;1884;p82"/>
          <p:cNvSpPr txBox="1"/>
          <p:nvPr>
            <p:ph idx="1" type="body"/>
          </p:nvPr>
        </p:nvSpPr>
        <p:spPr>
          <a:xfrm>
            <a:off x="45720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ways of using the information contained in these matrices: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Slices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Locally aggregated structures 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Consensus structures</a:t>
            </a:r>
            <a:endParaRPr i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Slices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network as perceived by a given individual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k</a:t>
            </a:r>
            <a:r>
              <a:rPr baseline="30000" lang="en"/>
              <a:t>th</a:t>
            </a:r>
            <a:r>
              <a:rPr lang="en"/>
              <a:t> adjacency matrix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885" name="Google Shape;1885;p82"/>
          <p:cNvGrpSpPr/>
          <p:nvPr/>
        </p:nvGrpSpPr>
        <p:grpSpPr>
          <a:xfrm>
            <a:off x="311700" y="1352175"/>
            <a:ext cx="4067400" cy="3281570"/>
            <a:chOff x="311700" y="1352175"/>
            <a:chExt cx="4067400" cy="3281570"/>
          </a:xfrm>
        </p:grpSpPr>
        <p:pic>
          <p:nvPicPr>
            <p:cNvPr id="1886" name="Google Shape;1886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352175"/>
              <a:ext cx="4067400" cy="3281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82"/>
            <p:cNvSpPr txBox="1"/>
            <p:nvPr/>
          </p:nvSpPr>
          <p:spPr>
            <a:xfrm>
              <a:off x="432750" y="1511875"/>
              <a:ext cx="389700" cy="35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 (CSS)</a:t>
            </a:r>
            <a:endParaRPr/>
          </a:p>
        </p:txBody>
      </p:sp>
      <p:sp>
        <p:nvSpPr>
          <p:cNvPr id="1893" name="Google Shape;1893;p83"/>
          <p:cNvSpPr txBox="1"/>
          <p:nvPr>
            <p:ph idx="1" type="body"/>
          </p:nvPr>
        </p:nvSpPr>
        <p:spPr>
          <a:xfrm>
            <a:off x="45720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ways of using the information contained in these matrices: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Slices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Locally aggregated structures 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Consensus structures</a:t>
            </a:r>
            <a:endParaRPr i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</a:t>
            </a:r>
            <a:r>
              <a:rPr lang="en"/>
              <a:t>ocally </a:t>
            </a:r>
            <a:r>
              <a:rPr b="1" lang="en"/>
              <a:t>A</a:t>
            </a:r>
            <a:r>
              <a:rPr lang="en"/>
              <a:t>ggregated </a:t>
            </a:r>
            <a:r>
              <a:rPr b="1" lang="en"/>
              <a:t>S</a:t>
            </a:r>
            <a:r>
              <a:rPr lang="en"/>
              <a:t>tructure: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and j have a tie only if the </a:t>
            </a:r>
            <a:r>
              <a:rPr b="1" lang="en"/>
              <a:t>both agree</a:t>
            </a:r>
            <a:r>
              <a:rPr lang="en"/>
              <a:t> that there is a tie from i to 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tie exists only if both parties agree it does!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894" name="Google Shape;1894;p83"/>
          <p:cNvGrpSpPr/>
          <p:nvPr/>
        </p:nvGrpSpPr>
        <p:grpSpPr>
          <a:xfrm>
            <a:off x="311700" y="1352175"/>
            <a:ext cx="4067400" cy="3281570"/>
            <a:chOff x="311700" y="1352175"/>
            <a:chExt cx="4067400" cy="3281570"/>
          </a:xfrm>
        </p:grpSpPr>
        <p:pic>
          <p:nvPicPr>
            <p:cNvPr id="1895" name="Google Shape;1895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352175"/>
              <a:ext cx="4067400" cy="3281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6" name="Google Shape;1896;p83"/>
            <p:cNvSpPr txBox="1"/>
            <p:nvPr/>
          </p:nvSpPr>
          <p:spPr>
            <a:xfrm>
              <a:off x="432750" y="1511875"/>
              <a:ext cx="389700" cy="35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 (CSS)</a:t>
            </a:r>
            <a:endParaRPr/>
          </a:p>
        </p:txBody>
      </p:sp>
      <p:sp>
        <p:nvSpPr>
          <p:cNvPr id="1902" name="Google Shape;1902;p84"/>
          <p:cNvSpPr txBox="1"/>
          <p:nvPr>
            <p:ph idx="1" type="body"/>
          </p:nvPr>
        </p:nvSpPr>
        <p:spPr>
          <a:xfrm>
            <a:off x="45720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ways of using the information contained in these matrices: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Slices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Locally aggregated structures 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Consensus structures</a:t>
            </a:r>
            <a:endParaRPr i="1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Consensus Structure: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 and j have a tie only if </a:t>
            </a:r>
            <a:r>
              <a:rPr b="1" lang="en"/>
              <a:t>some proportion </a:t>
            </a:r>
            <a:r>
              <a:rPr lang="en"/>
              <a:t>of people (e.g., &gt; 50%) agree that there is a tie from i to 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tie exists if the majority agrees it does!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903" name="Google Shape;1903;p84"/>
          <p:cNvGrpSpPr/>
          <p:nvPr/>
        </p:nvGrpSpPr>
        <p:grpSpPr>
          <a:xfrm>
            <a:off x="311700" y="1352175"/>
            <a:ext cx="4067400" cy="3281570"/>
            <a:chOff x="311700" y="1352175"/>
            <a:chExt cx="4067400" cy="3281570"/>
          </a:xfrm>
        </p:grpSpPr>
        <p:pic>
          <p:nvPicPr>
            <p:cNvPr id="1904" name="Google Shape;1904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352175"/>
              <a:ext cx="4067400" cy="3281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5" name="Google Shape;1905;p84"/>
            <p:cNvSpPr txBox="1"/>
            <p:nvPr/>
          </p:nvSpPr>
          <p:spPr>
            <a:xfrm>
              <a:off x="432750" y="1511875"/>
              <a:ext cx="389700" cy="35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 (CSS)</a:t>
            </a:r>
            <a:endParaRPr/>
          </a:p>
        </p:txBody>
      </p:sp>
      <p:sp>
        <p:nvSpPr>
          <p:cNvPr id="1911" name="Google Shape;1911;p85"/>
          <p:cNvSpPr txBox="1"/>
          <p:nvPr>
            <p:ph idx="1" type="body"/>
          </p:nvPr>
        </p:nvSpPr>
        <p:spPr>
          <a:xfrm>
            <a:off x="45720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Cognitive Accuracy: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Correlation</a:t>
            </a:r>
            <a:r>
              <a:rPr lang="en"/>
              <a:t> between the network as perceived by k and either a locally aggregated or a consensus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+1 = Person has perfect representation of the network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-1 = Person’s representation is the opposite of reality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0 = No correlation between person perception and the network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912" name="Google Shape;1912;p85"/>
          <p:cNvGrpSpPr/>
          <p:nvPr/>
        </p:nvGrpSpPr>
        <p:grpSpPr>
          <a:xfrm>
            <a:off x="311700" y="1352175"/>
            <a:ext cx="4067400" cy="3281570"/>
            <a:chOff x="311700" y="1352175"/>
            <a:chExt cx="4067400" cy="3281570"/>
          </a:xfrm>
        </p:grpSpPr>
        <p:pic>
          <p:nvPicPr>
            <p:cNvPr id="1913" name="Google Shape;1913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352175"/>
              <a:ext cx="4067400" cy="3281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4" name="Google Shape;1914;p85"/>
            <p:cNvSpPr txBox="1"/>
            <p:nvPr/>
          </p:nvSpPr>
          <p:spPr>
            <a:xfrm>
              <a:off x="432750" y="1511875"/>
              <a:ext cx="389700" cy="35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 (CSS)</a:t>
            </a:r>
            <a:endParaRPr/>
          </a:p>
        </p:txBody>
      </p:sp>
      <p:sp>
        <p:nvSpPr>
          <p:cNvPr id="1920" name="Google Shape;1920;p86"/>
          <p:cNvSpPr txBox="1"/>
          <p:nvPr>
            <p:ph idx="1" type="body"/>
          </p:nvPr>
        </p:nvSpPr>
        <p:spPr>
          <a:xfrm>
            <a:off x="45720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Dyadic Cognitive Accuracy: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Correlation between the network as perceived by k and the part of either a locally aggregated or a consensus structure featuring ties involving a particular node 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Tells us how good you are at perceiving ties originating from a given person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1921" name="Google Shape;1921;p86"/>
          <p:cNvGrpSpPr/>
          <p:nvPr/>
        </p:nvGrpSpPr>
        <p:grpSpPr>
          <a:xfrm>
            <a:off x="311700" y="1352175"/>
            <a:ext cx="4067400" cy="3281570"/>
            <a:chOff x="311700" y="1352175"/>
            <a:chExt cx="4067400" cy="3281570"/>
          </a:xfrm>
        </p:grpSpPr>
        <p:pic>
          <p:nvPicPr>
            <p:cNvPr id="1922" name="Google Shape;1922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352175"/>
              <a:ext cx="4067400" cy="32815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3" name="Google Shape;1923;p86"/>
            <p:cNvSpPr txBox="1"/>
            <p:nvPr/>
          </p:nvSpPr>
          <p:spPr>
            <a:xfrm>
              <a:off x="432750" y="1511875"/>
              <a:ext cx="389700" cy="358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sp>
        <p:nvSpPr>
          <p:cNvPr id="1929" name="Google Shape;1929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has the most “veridical” view of the social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Key questions: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 people in</a:t>
            </a:r>
            <a:r>
              <a:rPr b="1" lang="en"/>
              <a:t> powerful positions</a:t>
            </a:r>
            <a:r>
              <a:rPr lang="en"/>
              <a:t> more or less likely to have accurate representations of the social structure?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 people in certain </a:t>
            </a:r>
            <a:r>
              <a:rPr b="1" lang="en"/>
              <a:t>network positions </a:t>
            </a:r>
            <a:r>
              <a:rPr lang="en"/>
              <a:t>(e.g., central) more likely to have accurate representations of the social structure?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Does this depend on the type of network?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friendship, advice, etc.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 people with certain </a:t>
            </a:r>
            <a:r>
              <a:rPr b="1" lang="en"/>
              <a:t>personality characteristics </a:t>
            </a:r>
            <a:r>
              <a:rPr lang="en"/>
              <a:t>more likely to have an accurate representation of the social structure?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sp>
        <p:nvSpPr>
          <p:cNvPr id="1935" name="Google Shape;1935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Are people in</a:t>
            </a:r>
            <a:r>
              <a:rPr b="1" lang="en"/>
              <a:t> powerful positions</a:t>
            </a:r>
            <a:r>
              <a:rPr lang="en"/>
              <a:t> more or less likely to have accurate representations of the social structure?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Surprisingly, no!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Organizational rank and formal position in organizations tends to have either no correlation or even be negatively correlated with accuracy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 do you think this is?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Those in formal power are removed from the everyday informal interactions of others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However, when managers do have accurate representations of the social networks of their subordinates they are rated as better and more effective</a:t>
            </a:r>
            <a:endParaRPr i="1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sp>
        <p:nvSpPr>
          <p:cNvPr id="1941" name="Google Shape;1941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people in certain </a:t>
            </a:r>
            <a:r>
              <a:rPr b="1" lang="en"/>
              <a:t>network positions</a:t>
            </a:r>
            <a:r>
              <a:rPr lang="en"/>
              <a:t> (e.g., central) more likely to have accurate representations of the social structure?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yes!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Centrality,</a:t>
            </a:r>
            <a:r>
              <a:rPr b="1" lang="en"/>
              <a:t> in particular in-degree centrality,</a:t>
            </a:r>
            <a:r>
              <a:rPr lang="en"/>
              <a:t> has been shown to be positively correlated with accuracy in the informal advice and friendship networks in organizations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Predictors of dyadic accuracy: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 people are more accurate at reporting ties originating from other central people!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are more accurate in reporting ties originating from people you are “close to” (in the graph theoretic sense)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sp>
        <p:nvSpPr>
          <p:cNvPr id="1947" name="Google Shape;1947;p9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people in certain </a:t>
            </a:r>
            <a:r>
              <a:rPr b="1" lang="en"/>
              <a:t>network positions</a:t>
            </a:r>
            <a:r>
              <a:rPr lang="en"/>
              <a:t> (e.g., central) more likely to have accurate representations of the social structure?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general, yes!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Centrality,</a:t>
            </a:r>
            <a:r>
              <a:rPr b="1" lang="en"/>
              <a:t> in particular in-degree centrality,</a:t>
            </a:r>
            <a:r>
              <a:rPr lang="en"/>
              <a:t> has been shown to be positively correlated with accuracy in the informal advice and friendship networks in organizations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Consequences of accuracy: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accuracy principle: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People who have more accurate network perceptions are perceived as more powerful and influential than people who have inaccurate perceptions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 Social Structures</a:t>
            </a:r>
            <a:endParaRPr/>
          </a:p>
        </p:txBody>
      </p:sp>
      <p:sp>
        <p:nvSpPr>
          <p:cNvPr id="1953" name="Google Shape;1953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has the most “veridical” view of the social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Sources of accuracy: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The centrality principle: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More central people have a more accurate view of the social structure in terms of reporting “correctly” who is tied to whom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Correct = agrees with the respective alters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The clique principle:</a:t>
            </a:r>
            <a:r>
              <a:rPr lang="en"/>
              <a:t>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People who are members of well connected cliques are more likely to have accurate perceptions of the social network than isolated or peripheral people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The role principle: 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People with similar positions in the social network (e.g., structurally equivalent) will have similar perceptions of the overall network structure</a:t>
            </a:r>
            <a:endParaRPr i="1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1959" name="Google Shape;1959;p92"/>
          <p:cNvSpPr txBox="1"/>
          <p:nvPr>
            <p:ph idx="1" type="body"/>
          </p:nvPr>
        </p:nvSpPr>
        <p:spPr>
          <a:xfrm>
            <a:off x="311700" y="1225225"/>
            <a:ext cx="508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five (aka five factor model)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well-established personality inventory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Extraversion</a:t>
            </a:r>
            <a:r>
              <a:rPr lang="en"/>
              <a:t>/</a:t>
            </a:r>
            <a:r>
              <a:rPr i="1" lang="en"/>
              <a:t>Introversion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Gets a high from 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Openness</a:t>
            </a:r>
            <a:r>
              <a:rPr lang="en"/>
              <a:t>/</a:t>
            </a:r>
            <a:r>
              <a:rPr i="1" lang="en"/>
              <a:t>Cautiousness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 experiencing new things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Neuroticism</a:t>
            </a:r>
            <a:r>
              <a:rPr lang="en"/>
              <a:t>/</a:t>
            </a:r>
            <a:r>
              <a:rPr i="1" lang="en"/>
              <a:t>Stability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Experiences negative emotions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Agreeableness</a:t>
            </a:r>
            <a:r>
              <a:rPr lang="en"/>
              <a:t>/</a:t>
            </a:r>
            <a:r>
              <a:rPr i="1" lang="en"/>
              <a:t>Detachment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Niceness, resolves conflicts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Conscientiousness</a:t>
            </a:r>
            <a:r>
              <a:rPr lang="en"/>
              <a:t>/</a:t>
            </a:r>
            <a:r>
              <a:rPr i="1" lang="en"/>
              <a:t>Carefreeness</a:t>
            </a:r>
            <a:endParaRPr i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Organization, reliability</a:t>
            </a:r>
            <a:endParaRPr/>
          </a:p>
        </p:txBody>
      </p:sp>
      <p:pic>
        <p:nvPicPr>
          <p:cNvPr id="1960" name="Google Shape;196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300" y="1225225"/>
            <a:ext cx="3572397" cy="3691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1966" name="Google Shape;1966;p93"/>
          <p:cNvSpPr txBox="1"/>
          <p:nvPr>
            <p:ph idx="1" type="body"/>
          </p:nvPr>
        </p:nvSpPr>
        <p:spPr>
          <a:xfrm>
            <a:off x="311700" y="1225225"/>
            <a:ext cx="508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five (aka five factor model)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well-established personality inventory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Extraversion</a:t>
            </a:r>
            <a:r>
              <a:rPr lang="en"/>
              <a:t>/Introversion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Gets a high from 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Openness</a:t>
            </a:r>
            <a:r>
              <a:rPr lang="en"/>
              <a:t>/Cautiousness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Likes experiencing new things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Neuroticism</a:t>
            </a:r>
            <a:r>
              <a:rPr lang="en"/>
              <a:t>/Stability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Experiences negative emotions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Agreeableness</a:t>
            </a:r>
            <a:r>
              <a:rPr lang="en"/>
              <a:t>/Detachment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Niceness, resolves conflicts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Conscientiousness</a:t>
            </a:r>
            <a:r>
              <a:rPr lang="en"/>
              <a:t>/Carefreeness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Organization, reliability</a:t>
            </a:r>
            <a:endParaRPr/>
          </a:p>
        </p:txBody>
      </p:sp>
      <p:pic>
        <p:nvPicPr>
          <p:cNvPr id="1967" name="Google Shape;196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300" y="1225225"/>
            <a:ext cx="3572397" cy="36914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8" name="Google Shape;1968;p93"/>
          <p:cNvSpPr txBox="1"/>
          <p:nvPr/>
        </p:nvSpPr>
        <p:spPr>
          <a:xfrm>
            <a:off x="214550" y="4473275"/>
            <a:ext cx="4208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Factors are bipolar (both ends are actual traits) not unidimensional!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69" name="Google Shape;1969;p93"/>
          <p:cNvSpPr txBox="1"/>
          <p:nvPr/>
        </p:nvSpPr>
        <p:spPr>
          <a:xfrm>
            <a:off x="6199300" y="167975"/>
            <a:ext cx="2774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Neither end is necessarily “good” or “bad”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1975" name="Google Shape;1975;p94"/>
          <p:cNvSpPr txBox="1"/>
          <p:nvPr>
            <p:ph idx="1" type="body"/>
          </p:nvPr>
        </p:nvSpPr>
        <p:spPr>
          <a:xfrm>
            <a:off x="311700" y="1225225"/>
            <a:ext cx="5089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five (aka five factor model)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well-established personality inventory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Extraversion/</a:t>
            </a:r>
            <a:r>
              <a:rPr b="1" lang="en"/>
              <a:t>Introversion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Prefers self-reflection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Openness/</a:t>
            </a:r>
            <a:r>
              <a:rPr b="1" lang="en"/>
              <a:t>Cautiousness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Likes consistency and predictability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Neuroticism/</a:t>
            </a:r>
            <a:r>
              <a:rPr b="1" lang="en"/>
              <a:t>Stability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 more emotionally “balanced”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Agreeableness/</a:t>
            </a:r>
            <a:r>
              <a:rPr b="1" lang="en"/>
              <a:t>Detachment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Distant/Emotionally neutral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Conscientiousness/</a:t>
            </a:r>
            <a:r>
              <a:rPr b="1" lang="en"/>
              <a:t>Carefreeness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Spontaneous/disorganized</a:t>
            </a:r>
            <a:endParaRPr/>
          </a:p>
        </p:txBody>
      </p:sp>
      <p:pic>
        <p:nvPicPr>
          <p:cNvPr id="1976" name="Google Shape;197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300" y="1225225"/>
            <a:ext cx="3572397" cy="3691477"/>
          </a:xfrm>
          <a:prstGeom prst="rect">
            <a:avLst/>
          </a:prstGeom>
          <a:noFill/>
          <a:ln>
            <a:noFill/>
          </a:ln>
        </p:spPr>
      </p:pic>
      <p:sp>
        <p:nvSpPr>
          <p:cNvPr id="1977" name="Google Shape;1977;p94"/>
          <p:cNvSpPr txBox="1"/>
          <p:nvPr/>
        </p:nvSpPr>
        <p:spPr>
          <a:xfrm>
            <a:off x="214550" y="4473275"/>
            <a:ext cx="4208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Factors are bipolar (both ends are actual traits) not unidimensional!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78" name="Google Shape;1978;p94"/>
          <p:cNvSpPr txBox="1"/>
          <p:nvPr/>
        </p:nvSpPr>
        <p:spPr>
          <a:xfrm>
            <a:off x="6199300" y="167975"/>
            <a:ext cx="2774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Economica"/>
                <a:ea typeface="Economica"/>
                <a:cs typeface="Economica"/>
                <a:sym typeface="Economica"/>
              </a:rPr>
              <a:t>Neither end is necessarily “good” or “bad”</a:t>
            </a:r>
            <a:endParaRPr b="1">
              <a:solidFill>
                <a:srgbClr val="FF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1984" name="Google Shape;1984;p95"/>
          <p:cNvSpPr txBox="1"/>
          <p:nvPr>
            <p:ph idx="1" type="body"/>
          </p:nvPr>
        </p:nvSpPr>
        <p:spPr>
          <a:xfrm>
            <a:off x="311700" y="1225225"/>
            <a:ext cx="476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People high in trait extraversion: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larger networks at all layers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part of strong tie triads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likely to introduce friends of friends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new contacts at a faster rate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higher indegree and outdegree centrality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high in trait neuroticism: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smaller ego-networks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part of weak tie triads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less like to introduce friends of friends</a:t>
            </a:r>
            <a:endParaRPr/>
          </a:p>
        </p:txBody>
      </p:sp>
      <p:graphicFrame>
        <p:nvGraphicFramePr>
          <p:cNvPr id="1985" name="Google Shape;1985;p95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{29FC0190-ACDD-4F64-8C99-2CAF3F455833}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1986" name="Google Shape;1986;p95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1987" name="Google Shape;1987;p95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8" name="Google Shape;1988;p95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Tie Strength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1989" name="Google Shape;1989;p95"/>
          <p:cNvSpPr/>
          <p:nvPr/>
        </p:nvSpPr>
        <p:spPr>
          <a:xfrm>
            <a:off x="5006625" y="976225"/>
            <a:ext cx="3972900" cy="38520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95"/>
          <p:cNvSpPr/>
          <p:nvPr/>
        </p:nvSpPr>
        <p:spPr>
          <a:xfrm>
            <a:off x="6585534" y="2586779"/>
            <a:ext cx="815100" cy="4749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1991" name="Google Shape;1991;p95"/>
          <p:cNvSpPr/>
          <p:nvPr/>
        </p:nvSpPr>
        <p:spPr>
          <a:xfrm>
            <a:off x="5561025" y="2081125"/>
            <a:ext cx="2864100" cy="2747100"/>
          </a:xfrm>
          <a:prstGeom prst="ellipse">
            <a:avLst/>
          </a:prstGeom>
          <a:solidFill>
            <a:srgbClr val="DD7E6B"/>
          </a:solidFill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95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3" name="Google Shape;1993;p95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1994" name="Google Shape;1994;p95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95" name="Google Shape;1995;p95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96" name="Google Shape;1996;p95"/>
          <p:cNvSpPr txBox="1"/>
          <p:nvPr/>
        </p:nvSpPr>
        <p:spPr>
          <a:xfrm>
            <a:off x="6159375" y="2438425"/>
            <a:ext cx="1667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Affinity Group (45-50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97" name="Google Shape;1997;p95"/>
          <p:cNvSpPr txBox="1"/>
          <p:nvPr/>
        </p:nvSpPr>
        <p:spPr>
          <a:xfrm>
            <a:off x="6088125" y="1480521"/>
            <a:ext cx="1809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  <a:latin typeface="Economica"/>
                <a:ea typeface="Economica"/>
                <a:cs typeface="Economica"/>
                <a:sym typeface="Economica"/>
              </a:rPr>
              <a:t>Active Network(120-150)</a:t>
            </a:r>
            <a:endParaRPr b="1">
              <a:solidFill>
                <a:srgbClr val="FFFF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2003" name="Google Shape;2003;p96"/>
          <p:cNvSpPr txBox="1"/>
          <p:nvPr>
            <p:ph idx="1" type="body"/>
          </p:nvPr>
        </p:nvSpPr>
        <p:spPr>
          <a:xfrm>
            <a:off x="311700" y="1225225"/>
            <a:ext cx="476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People high in trait extraversion: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larger networks at all layers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part of strong tie triads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likely to introduce friends of friends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new contacts at a faster rate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higher indegree and outdegree centrality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high in trait agreeableness: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higher indegree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new contacts at a faster rate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04" name="Google Shape;2004;p96"/>
          <p:cNvGraphicFramePr/>
          <p:nvPr/>
        </p:nvGraphicFramePr>
        <p:xfrm>
          <a:off x="4029625" y="453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{29FC0190-ACDD-4F64-8C99-2CAF3F455833}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21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pSp>
        <p:nvGrpSpPr>
          <p:cNvPr id="2005" name="Google Shape;2005;p96"/>
          <p:cNvGrpSpPr/>
          <p:nvPr/>
        </p:nvGrpSpPr>
        <p:grpSpPr>
          <a:xfrm>
            <a:off x="4029563" y="4828220"/>
            <a:ext cx="1531500" cy="212499"/>
            <a:chOff x="3947725" y="4311925"/>
            <a:chExt cx="1531500" cy="240275"/>
          </a:xfrm>
        </p:grpSpPr>
        <p:cxnSp>
          <p:nvCxnSpPr>
            <p:cNvPr id="2006" name="Google Shape;2006;p96"/>
            <p:cNvCxnSpPr/>
            <p:nvPr/>
          </p:nvCxnSpPr>
          <p:spPr>
            <a:xfrm>
              <a:off x="3950875" y="4311925"/>
              <a:ext cx="15252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07" name="Google Shape;2007;p96"/>
            <p:cNvSpPr txBox="1"/>
            <p:nvPr/>
          </p:nvSpPr>
          <p:spPr>
            <a:xfrm>
              <a:off x="3947725" y="4338900"/>
              <a:ext cx="1531500" cy="2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Economica"/>
                  <a:ea typeface="Economica"/>
                  <a:cs typeface="Economica"/>
                  <a:sym typeface="Economica"/>
                </a:rPr>
                <a:t>Tie Strength</a:t>
              </a:r>
              <a:endParaRPr b="1"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008" name="Google Shape;2008;p96"/>
          <p:cNvSpPr/>
          <p:nvPr/>
        </p:nvSpPr>
        <p:spPr>
          <a:xfrm>
            <a:off x="5006625" y="976225"/>
            <a:ext cx="3972900" cy="38520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96"/>
          <p:cNvSpPr/>
          <p:nvPr/>
        </p:nvSpPr>
        <p:spPr>
          <a:xfrm>
            <a:off x="6585534" y="2586779"/>
            <a:ext cx="815100" cy="474900"/>
          </a:xfrm>
          <a:prstGeom prst="ellipse">
            <a:avLst/>
          </a:prstGeom>
          <a:solidFill>
            <a:srgbClr val="E6B8AF"/>
          </a:solidFill>
          <a:ln cap="flat" cmpd="sng" w="19050">
            <a:solidFill>
              <a:srgbClr val="E6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Habibi"/>
                <a:ea typeface="Habibi"/>
                <a:cs typeface="Habibi"/>
                <a:sym typeface="Habibi"/>
              </a:rPr>
              <a:t>Ego</a:t>
            </a:r>
            <a:endParaRPr b="1" sz="1800">
              <a:solidFill>
                <a:srgbClr val="FFFFFF"/>
              </a:solidFill>
              <a:latin typeface="Habibi"/>
              <a:ea typeface="Habibi"/>
              <a:cs typeface="Habibi"/>
              <a:sym typeface="Habibi"/>
            </a:endParaRPr>
          </a:p>
        </p:txBody>
      </p:sp>
      <p:sp>
        <p:nvSpPr>
          <p:cNvPr id="2010" name="Google Shape;2010;p96"/>
          <p:cNvSpPr/>
          <p:nvPr/>
        </p:nvSpPr>
        <p:spPr>
          <a:xfrm>
            <a:off x="5561025" y="2081125"/>
            <a:ext cx="2864100" cy="2747100"/>
          </a:xfrm>
          <a:prstGeom prst="ellipse">
            <a:avLst/>
          </a:prstGeom>
          <a:solidFill>
            <a:srgbClr val="DD7E6B"/>
          </a:solidFill>
          <a:ln cap="flat" cmpd="sng" w="19050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96"/>
          <p:cNvSpPr/>
          <p:nvPr/>
        </p:nvSpPr>
        <p:spPr>
          <a:xfrm>
            <a:off x="6059775" y="3111625"/>
            <a:ext cx="1866600" cy="1716600"/>
          </a:xfrm>
          <a:prstGeom prst="ellipse">
            <a:avLst/>
          </a:prstGeom>
          <a:solidFill>
            <a:srgbClr val="CC4125"/>
          </a:solidFill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96"/>
          <p:cNvSpPr/>
          <p:nvPr/>
        </p:nvSpPr>
        <p:spPr>
          <a:xfrm>
            <a:off x="6547425" y="3996925"/>
            <a:ext cx="891300" cy="831300"/>
          </a:xfrm>
          <a:prstGeom prst="ellipse">
            <a:avLst/>
          </a:prstGeom>
          <a:solidFill>
            <a:srgbClr val="A61C00"/>
          </a:solidFill>
          <a:ln cap="flat" cmpd="sng" w="1905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1C232"/>
                </a:solidFill>
              </a:rPr>
              <a:t>Ego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2013" name="Google Shape;2013;p96"/>
          <p:cNvSpPr txBox="1"/>
          <p:nvPr/>
        </p:nvSpPr>
        <p:spPr>
          <a:xfrm>
            <a:off x="6230475" y="3996925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Support Clique (4-5)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14" name="Google Shape;2014;p96"/>
          <p:cNvSpPr txBox="1"/>
          <p:nvPr/>
        </p:nvSpPr>
        <p:spPr>
          <a:xfrm>
            <a:off x="6230475" y="3395639"/>
            <a:ext cx="15252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Sympathy Group (12-15)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15" name="Google Shape;2015;p96"/>
          <p:cNvSpPr txBox="1"/>
          <p:nvPr/>
        </p:nvSpPr>
        <p:spPr>
          <a:xfrm>
            <a:off x="6159375" y="2438425"/>
            <a:ext cx="16674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D966"/>
                </a:solidFill>
                <a:latin typeface="Economica"/>
                <a:ea typeface="Economica"/>
                <a:cs typeface="Economica"/>
                <a:sym typeface="Economica"/>
              </a:rPr>
              <a:t>Affinity Group (45-50</a:t>
            </a:r>
            <a:endParaRPr b="1">
              <a:solidFill>
                <a:srgbClr val="FFD966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16" name="Google Shape;2016;p96"/>
          <p:cNvSpPr txBox="1"/>
          <p:nvPr/>
        </p:nvSpPr>
        <p:spPr>
          <a:xfrm>
            <a:off x="6088125" y="1480521"/>
            <a:ext cx="18099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  <a:latin typeface="Economica"/>
                <a:ea typeface="Economica"/>
                <a:cs typeface="Economica"/>
                <a:sym typeface="Economica"/>
              </a:rPr>
              <a:t>Active Network(120-150)</a:t>
            </a:r>
            <a:endParaRPr b="1">
              <a:solidFill>
                <a:srgbClr val="FFFF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2022" name="Google Shape;2022;p97"/>
          <p:cNvSpPr txBox="1"/>
          <p:nvPr>
            <p:ph idx="1" type="body"/>
          </p:nvPr>
        </p:nvSpPr>
        <p:spPr>
          <a:xfrm>
            <a:off x="311700" y="1225225"/>
            <a:ext cx="566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 monitoring: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Are you a “social chameleon” who changes depending on who you are interacting with and the social context or are you the same person regardless?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“[I]ndividuals high in self-monitoring...regulate their expressive self-presentation for the sake of desired public appearance</a:t>
            </a:r>
            <a:r>
              <a:rPr i="1" lang="en"/>
              <a:t>…[they are] highly responsive to cues of social and interpersonally-appropriate performances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(Snyder and Gangestad, 1986, p. 128)</a:t>
            </a:r>
            <a:endParaRPr/>
          </a:p>
        </p:txBody>
      </p:sp>
      <p:pic>
        <p:nvPicPr>
          <p:cNvPr id="2023" name="Google Shape;202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400" y="2130675"/>
            <a:ext cx="2857800" cy="1890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2029" name="Google Shape;2029;p98"/>
          <p:cNvSpPr txBox="1"/>
          <p:nvPr>
            <p:ph idx="1" type="body"/>
          </p:nvPr>
        </p:nvSpPr>
        <p:spPr>
          <a:xfrm>
            <a:off x="311700" y="1225225"/>
            <a:ext cx="566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 monitoring: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Are you a “social chameleon” who changes depending on who you are interacting with and the social context or are you the same person regardless?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Individuals low in self-monitoring...lack...the motivation to...reflect [on] their own enduring and momentary inner states, including their attitudes, traits and beliefs” </a:t>
            </a:r>
            <a:r>
              <a:rPr i="1" lang="en"/>
              <a:t>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(Snyder and Gangestad, 1986, p. 128)</a:t>
            </a:r>
            <a:endParaRPr/>
          </a:p>
        </p:txBody>
      </p:sp>
      <p:pic>
        <p:nvPicPr>
          <p:cNvPr id="2030" name="Google Shape;203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400" y="2130675"/>
            <a:ext cx="2857800" cy="1890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2036" name="Google Shape;2036;p99"/>
          <p:cNvSpPr txBox="1"/>
          <p:nvPr>
            <p:ph idx="1" type="body"/>
          </p:nvPr>
        </p:nvSpPr>
        <p:spPr>
          <a:xfrm>
            <a:off x="311700" y="1225225"/>
            <a:ext cx="566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 monitoring: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Are you a “social chameleon” who changes depending on who you are interacting with and the social context or are you the same person regardless?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Self-monitoring is a type of social skill: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of humor in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Appropriate pace in conversation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Less likely to do “self-talk”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likely to do “other talk”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Likely to collaborate and compromise</a:t>
            </a:r>
            <a:endParaRPr/>
          </a:p>
        </p:txBody>
      </p:sp>
      <p:pic>
        <p:nvPicPr>
          <p:cNvPr id="2037" name="Google Shape;203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400" y="1956775"/>
            <a:ext cx="2857800" cy="1890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and social networks</a:t>
            </a:r>
            <a:endParaRPr/>
          </a:p>
        </p:txBody>
      </p:sp>
      <p:sp>
        <p:nvSpPr>
          <p:cNvPr id="2043" name="Google Shape;2043;p100"/>
          <p:cNvSpPr txBox="1"/>
          <p:nvPr>
            <p:ph idx="1" type="body"/>
          </p:nvPr>
        </p:nvSpPr>
        <p:spPr>
          <a:xfrm>
            <a:off x="311700" y="1225225"/>
            <a:ext cx="566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 monitoring: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Are you a “social chameleon” who changes depending on who you are interacting with and the social context or are you the same person regardless?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Self-monitors: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higher indegree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both sentiment (e.g., friendship) and exchange (e.g., advice)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likely to bridge structural holes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Betweenness centrality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But only in sentiment networks</a:t>
            </a:r>
            <a:endParaRPr/>
          </a:p>
        </p:txBody>
      </p:sp>
      <p:pic>
        <p:nvPicPr>
          <p:cNvPr id="2044" name="Google Shape;204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400" y="1956775"/>
            <a:ext cx="2857800" cy="1890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0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