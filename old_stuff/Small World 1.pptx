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9144000"/>
  <p:notesSz cx="6858000" cy="9144000"/>
  <p:embeddedFontLst>
    <p:embeddedFont>
      <p:font typeface="Josefin Slab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JosefinSlab-bold.fntdata"/><Relationship Id="rId14" Type="http://schemas.openxmlformats.org/officeDocument/2006/relationships/slide" Target="slides/slide10.xml"/><Relationship Id="rId36" Type="http://schemas.openxmlformats.org/officeDocument/2006/relationships/font" Target="fonts/JosefinSlab-regular.fntdata"/><Relationship Id="rId17" Type="http://schemas.openxmlformats.org/officeDocument/2006/relationships/slide" Target="slides/slide13.xml"/><Relationship Id="rId39" Type="http://schemas.openxmlformats.org/officeDocument/2006/relationships/font" Target="fonts/JosefinSlab-boldItalic.fntdata"/><Relationship Id="rId16" Type="http://schemas.openxmlformats.org/officeDocument/2006/relationships/slide" Target="slides/slide12.xml"/><Relationship Id="rId38" Type="http://schemas.openxmlformats.org/officeDocument/2006/relationships/font" Target="fonts/JosefinSlab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b852fed2_0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b852fed2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b852fed2_0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b852fed2_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a716699_0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a716699_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9a716699_0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9a716699_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9a716699_0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9a716699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9a716699_0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9a716699_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9a665550_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9a665550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9a665550_0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9a665550_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b852fed2_0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b852fed2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9a665550_0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9a665550_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9a716699_0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9a716699_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9a665550_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9a665550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9a665550_0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9a665550_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9a665550_0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9a665550_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degree * N divided by 2 is number of edges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  Poisson distribution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Lattices:  constant Z, clustering = 3/4, large world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9a665550_0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9a665550_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9a665550_0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9a665550_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b852fed2_0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b852fed2_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9a665550_0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9a665550_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9a665550_0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9a665550_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9a665550_0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9a665550_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9a665550_0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9a665550_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9a665550_0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9a665550_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9a665550_0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9a665550_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Peaks in 1940s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drops until 1970s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rises into 1980s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drops again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constant PL ratio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constant CC actual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decreasing CC random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9a665550_0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9a665550_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9a716699_0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9a716699_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9a716699_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9a716699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9a716699_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9a716699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9a716699_0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9a716699_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9a716699_0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9a716699_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b8383fd2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b8383fd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Two strangers meet; what are the odds that they would have an acquaintance in common?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How about being two (3, 4, 5, .... k) steps away from one another? (Pool and Kochen 1978)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Infinitesimally small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if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connections formed at random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Especially given the order of the underlying (world) graph</a:t>
            </a:r>
            <a:endParaRPr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Not that small in real world networks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Why?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Does it characterize other (non-social) networks?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How does the SW property arise?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small world phenomenon</a:t>
            </a:r>
            <a:endParaRPr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given (large-scale) network is a "small world" if: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alphaLcPeriod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The order of the graph (</a:t>
            </a:r>
            <a:r>
              <a:rPr b="1" i="1" lang="en">
                <a:latin typeface="Josefin Slab"/>
                <a:ea typeface="Josefin Slab"/>
                <a:cs typeface="Josefin Slab"/>
                <a:sym typeface="Josefin Slab"/>
              </a:rPr>
              <a:t>N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) is large 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alphaLcPeriod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The graph is sparse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(any node is on average connected to only a relatively small number of other nodes k)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romanLcPeriod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k ~ 10</a:t>
            </a:r>
            <a:r>
              <a:rPr baseline="30000" lang="en">
                <a:latin typeface="Josefin Slab"/>
                <a:ea typeface="Josefin Slab"/>
                <a:cs typeface="Josefin Slab"/>
                <a:sym typeface="Josefin Slab"/>
              </a:rPr>
              <a:t>2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human social networks (Pool and Kochen 1978)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alphaLcPeriod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Graph is decentralized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(max degree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much smaller than the order of the graph N)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AutoNum type="alphaLcPeriod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The network exhibits clustering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(friends of friends tend to be friends)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World - Milgram's 1968 Experiment</a:t>
            </a:r>
            <a:endParaRPr/>
          </a:p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521900" y="1551675"/>
            <a:ext cx="4282800" cy="50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Target  (Boston stockbroker)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296 participants ("starting persons")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196 from Nebraska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100 Stockbrokers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96 Random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100 from Boston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217 forwarded packet so get to target person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453 Intermediaries enlisted by the participants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9" name="Google Shape;4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250" y="1775572"/>
            <a:ext cx="3496454" cy="4805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World - Milgram's 1968 Experiment</a:t>
            </a:r>
            <a:endParaRPr/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521900" y="1551675"/>
            <a:ext cx="7961100" cy="10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64 completed chains (29%)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Mean path length: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5.2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6" name="Google Shape;5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112" y="2578850"/>
            <a:ext cx="4593775" cy="404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World - Milgram's 1968 Experiment</a:t>
            </a:r>
            <a:endParaRPr/>
          </a:p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521900" y="1551675"/>
            <a:ext cx="79611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232 incomplete chains (71%)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Mean path length of incomplete chains: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5.2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63" name="Google Shape;6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4884" y="2635599"/>
            <a:ext cx="5654233" cy="388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World - Milgram's 1968 Experiment</a:t>
            </a:r>
            <a:endParaRPr/>
          </a:p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521900" y="1551675"/>
            <a:ext cx="4441500" cy="50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Out of the 64 completed chains 26 people made the final link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16 (25%) reached the target via a single neighbor: "Mr. G."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Another accounted for 10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Another for 5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top three account for 48% of completions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pSp>
        <p:nvGrpSpPr>
          <p:cNvPr id="70" name="Google Shape;70;p13"/>
          <p:cNvGrpSpPr/>
          <p:nvPr/>
        </p:nvGrpSpPr>
        <p:grpSpPr>
          <a:xfrm>
            <a:off x="4963250" y="1775572"/>
            <a:ext cx="3496454" cy="4805152"/>
            <a:chOff x="4963250" y="1775572"/>
            <a:chExt cx="3496454" cy="4805152"/>
          </a:xfrm>
        </p:grpSpPr>
        <p:pic>
          <p:nvPicPr>
            <p:cNvPr id="71" name="Google Shape;71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3250" y="1775572"/>
              <a:ext cx="3496454" cy="48051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3"/>
            <p:cNvSpPr/>
            <p:nvPr/>
          </p:nvSpPr>
          <p:spPr>
            <a:xfrm>
              <a:off x="6578075" y="2405550"/>
              <a:ext cx="843900" cy="8616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6511800" y="3458925"/>
              <a:ext cx="843900" cy="8616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6511800" y="4206150"/>
              <a:ext cx="843900" cy="861600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World - Milgram's 1968 Experiment</a:t>
            </a:r>
            <a:endParaRPr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521900" y="1551675"/>
            <a:ext cx="4081500" cy="50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86% of starting persons sent the letter to friends and acquaintances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14% send it to relatives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There was age, gender and SES homophily in the choice of intermediary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250" y="1775572"/>
            <a:ext cx="3496454" cy="4805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Watts and Strogatz Model</a:t>
            </a:r>
            <a:endParaRPr/>
          </a:p>
        </p:txBody>
      </p: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7200" y="1600200"/>
            <a:ext cx="8064000" cy="23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p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 - randomness parameter (proportion of links that are allowed to be non-local)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i="1" lang="en" sz="2400">
                <a:latin typeface="Josefin Slab"/>
                <a:ea typeface="Josefin Slab"/>
                <a:cs typeface="Josefin Slab"/>
                <a:sym typeface="Josefin Slab"/>
              </a:rPr>
              <a:t>G</a:t>
            </a: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 = (N, E)  N vertices, E edges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L(p) = Average path length between two vertices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C(p) = Average vertice clustering coefficient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438" y="3781163"/>
            <a:ext cx="595312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Watts and Strogatz Model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319200" y="1604800"/>
            <a:ext cx="8286600" cy="35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p = 0  (regular lattice)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L ~ n/2k &gt;&gt; 1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 ~ 3/4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highly clustered, large world, L grows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linearly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with n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438" y="3781163"/>
            <a:ext cx="595312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Watts and Strogatz Model</a:t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9200" y="1604800"/>
            <a:ext cx="8286600" cy="35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p = 1 (random graph)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L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random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~ ln(n)/ln(k)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random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~ k/n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low clustering, small worlds, L grows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logarithmically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with 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438" y="3781163"/>
            <a:ext cx="5953125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Watts and Strogatz Model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457200" y="1600200"/>
            <a:ext cx="8195100" cy="12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600"/>
              </a:spcBef>
              <a:spcAft>
                <a:spcPts val="0"/>
              </a:spcAft>
              <a:buSzPts val="2800"/>
              <a:buFont typeface="Josefin Slab"/>
              <a:buChar char="●"/>
            </a:pPr>
            <a:r>
              <a:rPr lang="en" sz="2800">
                <a:latin typeface="Josefin Slab"/>
                <a:ea typeface="Josefin Slab"/>
                <a:cs typeface="Josefin Slab"/>
                <a:sym typeface="Josefin Slab"/>
              </a:rPr>
              <a:t>Tradeoff:  Clustering and short path length (small world).  But?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527" y="2572975"/>
            <a:ext cx="6117874" cy="4037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Watts and Strogatz Model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457200" y="1600200"/>
            <a:ext cx="8195100" cy="12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Josefin Slab"/>
              <a:buChar char="●"/>
            </a:pPr>
            <a:r>
              <a:rPr lang="en" sz="28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Range of p where L(p)  is small world like AND C(p) is high (like in real social networks)</a:t>
            </a:r>
            <a:endParaRPr sz="2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527" y="2572975"/>
            <a:ext cx="6117874" cy="4037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Shortcuts</a:t>
            </a:r>
            <a:endParaRPr/>
          </a:p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457200" y="1600200"/>
            <a:ext cx="8112900" cy="21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Random rewiring --&gt; shortcuts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high nonlinear effect on L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only a linear effect on C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Only need a small fraction of short cuts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Implications for diffusion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63" y="4023300"/>
            <a:ext cx="9102812" cy="236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 of the small world phenomenon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Diffusion (percolation) and search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Network structure and diffusion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Global Network Properties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Average Path Length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Clustering Coefficient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Generative Processes (Mechanisms)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Clustering Mechanism (triadic balance)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Random rewiring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Newman :  Models of Small World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Terms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  vertices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z   average vertex degree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1/2Nz -  edges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 = (N, 1/2Nz)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Random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Small world effect,  Z</a:t>
            </a:r>
            <a:r>
              <a:rPr baseline="30000" lang="en">
                <a:latin typeface="Josefin Slab"/>
                <a:ea typeface="Josefin Slab"/>
                <a:cs typeface="Josefin Slab"/>
                <a:sym typeface="Josefin Slab"/>
              </a:rPr>
              <a:t>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= 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how far out to you have to go to reach everyone?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Diameter = D =  log N/log z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Small World -- logarithmic increase in D with size of network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 = z/N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z  --  Poisson distribution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Newman :  Models of Small World</a:t>
            </a:r>
            <a:endParaRPr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457200" y="1600200"/>
            <a:ext cx="8219100" cy="17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Real Social Networks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Small World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Clustering 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Power-law degree distribution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675" y="3358500"/>
            <a:ext cx="672465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Growth Models</a:t>
            </a:r>
            <a:endParaRPr/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Alpha Model (Watts 1999)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People introduce pairs of friends to one another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Transitivity and triadic closure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Clustering and communities (isolated islands)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Preferential Attachment (Barabasi &amp; Albert 1999)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Rich get richer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Add edges based on vertex degree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Rate at which degree increases is proportional to present degree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Power laws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Creates small world via hubs</a:t>
            </a:r>
            <a:endParaRPr b="1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Growth Models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457200" y="1600200"/>
            <a:ext cx="3767100" cy="48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Watts - Strogatz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random rewiring of lattices - bridges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long range connections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Vertex Connectors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Local information and the small world phenomenon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5684" y="1868944"/>
            <a:ext cx="4605866" cy="3800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Spiro:  Small World Defined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Clustering and small world	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SW connectivity allows creative material to circulate to other clusters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Short cuts between clusters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Small world network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Short average path length </a:t>
            </a:r>
            <a:br>
              <a:rPr lang="en">
                <a:latin typeface="Josefin Slab"/>
                <a:ea typeface="Josefin Slab"/>
                <a:cs typeface="Josefin Slab"/>
                <a:sym typeface="Josefin Slab"/>
              </a:rPr>
            </a:b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(PL ratio = PL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actual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/Pl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random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--&gt; 1)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High clustering  (CC ratio = CC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actual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/CC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random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&gt; 1)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Q = CC ratio/PL ratio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Larger Q the more small world the network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Uzzi &amp; Shapiro:  Bipartite Network	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457200" y="1600200"/>
            <a:ext cx="8229600" cy="28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Teams and Members: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Within teams - clustering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Clustering over and above within-team clustering  (between team clustering)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CC ratio &gt; 1:  between team clustering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Much greater than 1, repeated pairing (B-C link)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68" name="Google Shape;1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5100" y="4254300"/>
            <a:ext cx="5517550" cy="235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SW Mechanisms	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40675" y="1600200"/>
            <a:ext cx="3037800" cy="47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Structural: 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Links between clusters --&gt; diffusion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Relational: 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Links between clusters made up of repeated ties and third-party ties --&gt; cohesion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525" y="2063313"/>
            <a:ext cx="5476875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World Structure:  Third-Party and Repeated Ties</a:t>
            </a:r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903" y="1680706"/>
            <a:ext cx="6838194" cy="4877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Hypothesis	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457200" y="1600200"/>
            <a:ext cx="81729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Success = f(convention, innovation)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Clustering --&gt;  Convention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Between-cluster connections --&gt; diffusion of innovation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But weak ties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Between-cluster w/ pairing --&gt; risk taking and adoption of innovation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Inverted U-shape relation between Q and success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5297" y="230725"/>
            <a:ext cx="4533406" cy="639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6238" y="288300"/>
            <a:ext cx="3931526" cy="628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7350" y="318750"/>
            <a:ext cx="4083800" cy="622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success of a show</a:t>
            </a:r>
            <a:endParaRPr/>
          </a:p>
        </p:txBody>
      </p:sp>
      <p:pic>
        <p:nvPicPr>
          <p:cNvPr id="208" name="Google Shape;20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247" y="1738709"/>
            <a:ext cx="5289506" cy="4688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Artistic success of a show</a:t>
            </a:r>
            <a:endParaRPr/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781" y="1608262"/>
            <a:ext cx="5300438" cy="4765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success of a season</a:t>
            </a:r>
            <a:endParaRPr/>
          </a:p>
        </p:txBody>
      </p:sp>
      <p:pic>
        <p:nvPicPr>
          <p:cNvPr id="220" name="Google Shape;2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2737" y="1724780"/>
            <a:ext cx="5298527" cy="4856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Artistic success of a season</a:t>
            </a:r>
            <a:endParaRPr/>
          </a:p>
        </p:txBody>
      </p:sp>
      <p:pic>
        <p:nvPicPr>
          <p:cNvPr id="226" name="Google Shape;22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1200" y="1583698"/>
            <a:ext cx="5441599" cy="5124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	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457200" y="1600200"/>
            <a:ext cx="39555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Randomness and innovation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CC random increased faster than CC actual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random connections among artists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choices of collaborators depended less on past collaborations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descr="27466_A.JPG" id="233" name="Google Shape;23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075" y="2080289"/>
            <a:ext cx="3557375" cy="400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