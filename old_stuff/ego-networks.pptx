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EB Garamond"/>
      <p:regular r:id="rId35"/>
      <p:bold r:id="rId36"/>
      <p:italic r:id="rId37"/>
      <p:boldItalic r:id="rId38"/>
    </p:embeddedFont>
    <p:embeddedFont>
      <p:font typeface="Junge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EBGaramond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EBGaramond-italic.fntdata"/><Relationship Id="rId14" Type="http://schemas.openxmlformats.org/officeDocument/2006/relationships/slide" Target="slides/slide10.xml"/><Relationship Id="rId36" Type="http://schemas.openxmlformats.org/officeDocument/2006/relationships/font" Target="fonts/EBGaramond-bold.fntdata"/><Relationship Id="rId17" Type="http://schemas.openxmlformats.org/officeDocument/2006/relationships/slide" Target="slides/slide13.xml"/><Relationship Id="rId39" Type="http://schemas.openxmlformats.org/officeDocument/2006/relationships/font" Target="fonts/Junge-regular.fntdata"/><Relationship Id="rId16" Type="http://schemas.openxmlformats.org/officeDocument/2006/relationships/slide" Target="slides/slide12.xml"/><Relationship Id="rId38" Type="http://schemas.openxmlformats.org/officeDocument/2006/relationships/font" Target="fonts/EBGaramond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7" name="Google Shape;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38" name="Google Shape;38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b589456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" name="Google Shape;47;g2b5894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48" name="Google Shape;48;g2b589456_0_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8945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5" name="Google Shape;55;g2b5894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56" name="Google Shape;56;g2b589456_0_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b589456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b5894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589456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5894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00c7c1c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00c7c1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00c7c1c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00c7c1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00c7c1c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00c7c1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00c7c1c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00c7c1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00c7c1c_1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00c7c1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00c806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00c8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00c8062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00c80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78ac792_0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78ac792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78ac792_0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78ac792_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78ac792_0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78ac792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78ac792_0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78ac792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78ac792_0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78ac792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78ac792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78ac79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78ac792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78ac79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2" name="Google Shape;1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does struct equiv lead to cohesion as triangle closes</a:t>
            </a:r>
            <a:endParaRPr/>
          </a:p>
        </p:txBody>
      </p:sp>
      <p:sp>
        <p:nvSpPr>
          <p:cNvPr id="173" name="Google Shape;173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78ac792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78ac79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78ac792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78ac79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1" name="Google Shape;1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Ties within clusters tend to be strong  (why?)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Some ties within clusters are weak (indirect transitive closing ties)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But some ties of a node within a cluster are weak and to a node in another cluster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If that tie was strong, then closure, i.e. ego would have ties (maybe weak) to the bridges alters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c5738727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c573872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a34eb21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9a34eb21_0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a34eb2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9a34eb2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Fully connected (balanced) triads are more likely to appear in friendship networks than expected by chance.  Cycles tend to be ra</a:t>
            </a:r>
            <a:r>
              <a:rPr lang="en-US" sz="1800"/>
              <a:t>r</a:t>
            </a:r>
            <a:r>
              <a:rPr b="0" i="0" lang="en-US" sz="1800" u="none" cap="none" strike="noStrike"/>
              <a:t>er.</a:t>
            </a:r>
            <a:endParaRPr/>
          </a:p>
        </p:txBody>
      </p:sp>
      <p:sp>
        <p:nvSpPr>
          <p:cNvPr id="232" name="Google Shape;232;p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flipH="1" rot="10800000">
            <a:off x="0" y="3093535"/>
            <a:ext cx="8458200" cy="71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093357"/>
            <a:ext cx="7772400" cy="7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205977"/>
            <a:ext cx="8686800" cy="11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205977"/>
            <a:ext cx="8686800" cy="11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57200" y="1200150"/>
            <a:ext cx="46230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A focal ego (j) with </a:t>
            </a:r>
            <a:r>
              <a:rPr i="1" lang="en-US" sz="2200">
                <a:latin typeface="Junge"/>
                <a:ea typeface="Junge"/>
                <a:cs typeface="Junge"/>
                <a:sym typeface="Junge"/>
              </a:rPr>
              <a:t>k 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neighbors (alters, contacts)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Properties of personal networks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Size 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(ego-network degree, "range")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Diversity 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(e.g. Std. Dev. of Age, education, etc.)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Composition 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(Prop. Kin)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Homophily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 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Clustering</a:t>
            </a:r>
            <a:endParaRPr b="1" sz="1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Second 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(or </a:t>
            </a:r>
            <a:r>
              <a:rPr i="1" lang="en-US" sz="1600">
                <a:latin typeface="Junge"/>
                <a:ea typeface="Junge"/>
                <a:cs typeface="Junge"/>
                <a:sym typeface="Junge"/>
              </a:rPr>
              <a:t>n</a:t>
            </a:r>
            <a:r>
              <a:rPr baseline="30000" i="1" lang="en-US" sz="1600">
                <a:latin typeface="Junge"/>
                <a:ea typeface="Junge"/>
                <a:cs typeface="Junge"/>
                <a:sym typeface="Junge"/>
              </a:rPr>
              <a:t>th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) </a:t>
            </a:r>
            <a:r>
              <a:rPr b="1" lang="en-US" sz="1600">
                <a:latin typeface="Junge"/>
                <a:ea typeface="Junge"/>
                <a:cs typeface="Junge"/>
                <a:sym typeface="Junge"/>
              </a:rPr>
              <a:t>order quantities </a:t>
            </a:r>
            <a:r>
              <a:rPr lang="en-US" sz="1600">
                <a:latin typeface="Junge"/>
                <a:ea typeface="Junge"/>
                <a:cs typeface="Junge"/>
                <a:sym typeface="Junge"/>
              </a:rPr>
              <a:t>(e.g. average nearest neighbor degree, clustering, etc.)</a:t>
            </a:r>
            <a:endParaRPr b="0" i="0" sz="16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41" name="Google Shape;4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951" y="1451024"/>
            <a:ext cx="3190300" cy="27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/>
          <p:nvPr/>
        </p:nvSpPr>
        <p:spPr>
          <a:xfrm>
            <a:off x="6745225" y="2876288"/>
            <a:ext cx="262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EB Garamond"/>
                <a:ea typeface="EB Garamond"/>
                <a:cs typeface="EB Garamond"/>
                <a:sym typeface="EB Garamond"/>
              </a:rPr>
              <a:t>j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3" name="Google Shape;43;p9"/>
          <p:cNvSpPr txBox="1"/>
          <p:nvPr/>
        </p:nvSpPr>
        <p:spPr>
          <a:xfrm>
            <a:off x="6276200" y="4313781"/>
            <a:ext cx="955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EB Garamond"/>
                <a:ea typeface="EB Garamond"/>
                <a:cs typeface="EB Garamond"/>
                <a:sym typeface="EB Garamond"/>
              </a:rPr>
              <a:t>d = 7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Ego (personal)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Ego (personal) networks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unge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Correlates of Diversity (personal network level)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Size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N. of weak ties (e.g. acquaintances)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redundancy/density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Proportion Kin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Node-level properties (personality, socio-demographic characteristics)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4896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Ego (personal) networks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unge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Correlates of Diversity (Node level)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Age (Life course stage)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Family status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Gender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Race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Urban status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Occupation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Socio-economic status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Education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[...]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4896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Eliciting Personal Networks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591369"/>
            <a:ext cx="4160700" cy="29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Kinds of relations in ego-networks (from Fischer (1982: 35)):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Cultural Label for Relation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(Mother, Daughter, Neighbor, Co-worker, Acquaintance)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Subjective Closeness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(Close, distant, emotional, exciting)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Type of content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exchanged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(Material, Emotional, Advice, information, sexual favors)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511" y="1707888"/>
            <a:ext cx="2823216" cy="275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generators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457200" y="1460494"/>
            <a:ext cx="44370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Primary methodological tool in survey based research.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Almost infinite variety: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"Important matters" (GSS 1985, 2004)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Go to for personal/professional advice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"Have over for dinner" (Laumann 1966)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Ask for favor/borrow money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"Feel close to"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etc., etc., etc. 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0308" y="1460502"/>
            <a:ext cx="2801292" cy="3645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 Typology of Personal Relations</a:t>
            </a:r>
            <a:r>
              <a:rPr baseline="30000" lang="en-US" sz="3600"/>
              <a:t>1</a:t>
            </a:r>
            <a:endParaRPr baseline="30000" sz="3600"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57200" y="1460494"/>
            <a:ext cx="45264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Role-Relation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Neighbors, Friends, Kin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Interaction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Frequency/Duration of Contact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Affective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Significant/Close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Exchange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Information, favors, resources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[1] Marin, A., &amp; Hampton, K. N. (2007). Simplifying the Personal Network Name Generator Alternatives to Traditional Multiple and Single Name Generators.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Field Methods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,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19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(2), 163-193.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550" y="1501135"/>
            <a:ext cx="2391150" cy="3383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Methodological Issues</a:t>
            </a:r>
            <a:endParaRPr baseline="30000" sz="3600"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Role-Relation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Problem: low reliability, cultural specificity issues, cross-respondent heterogeneity in label interpretation (what is a "friend"?)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Interaction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Frequency </a:t>
            </a: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does not equal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 importance/closeness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Affective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Same reliability issues as role-relation items but useful for eliciting strong or subjectively significant  ties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Exchange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Less reliability problems, useful for social capital studies, but not appropriate for all purposes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interpreters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Follow up questions designed to elicit information on named alters.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Socio-demographic characteristics of alter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Gender, Age, Race, Years of Education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Role-relations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Subjective feelings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Loving, exciting, significant (Zablocki)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Exchanges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Relationship "context" (focus, see Feld 1982)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Meet at church, work, voluntary association, etc.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Alter's relationship with the rest of ego's neighbors</a:t>
            </a:r>
            <a:endParaRPr b="1"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Does alter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 know alter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?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Are they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close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or just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acquaintances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?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interpreters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cautionary tale: </a:t>
            </a:r>
            <a:r>
              <a:rPr b="1" lang="en-US" sz="2000"/>
              <a:t>Respondent fatigue</a:t>
            </a:r>
            <a:r>
              <a:rPr lang="en-US" sz="2000"/>
              <a:t> as a result of long name interpreter follow-ups.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Did Americans become increasingly isolated (no one to "discuss important matters with") between 1985 and 2004? (McPherson, Smith-Lovin and Brashears 2006)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US" sz="2000"/>
              <a:t>No</a:t>
            </a:r>
            <a:r>
              <a:rPr lang="en-US" sz="2000"/>
              <a:t>. Likely the artifactual result of respondent fatigue (Fischer 2009)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399" y="1460494"/>
            <a:ext cx="2251631" cy="346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Generators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200150"/>
            <a:ext cx="53289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Simple, easily understood item.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"Do you know/are close to anybody who is a/an"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i="1" lang="en-US" sz="2000"/>
              <a:t>Doctor, Lawyer, Teacher, Truck Driver, etc.</a:t>
            </a:r>
            <a:endParaRPr i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rather under-utilized method.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 can then calculate features of the respondent's "position ego-network" using exogenous information on the occupational label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600"/>
              <a:t>Average occupational prestige, SEI score, etc.</a:t>
            </a:r>
            <a:endParaRPr sz="16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600"/>
              <a:t>Standard deviation (social diversity of contacts)</a:t>
            </a:r>
            <a:endParaRPr sz="16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600"/>
              <a:t>"Gendered versions" (how many men/women do you know who are a/an" (Erickson 2004)</a:t>
            </a:r>
            <a:endParaRPr sz="1600"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000" y="1945131"/>
            <a:ext cx="2328764" cy="183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Generators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Advantages: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High criterion and face validity (e.g. Lin 1999)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Quick and dirty (not lengthy)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Occupational labels are easily understood by informants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Easily standardized (occupational census codes)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Captures lots of information with minimal strain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Ideal for studies of social capital and access to resources (Lin and Dumin 1986)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Good measure of an individual's relational position in the occupational structure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1800"/>
              <a:t>However, not a panacea; only useful for a restricted range of analytical purposes (e.g. social capital research)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Generators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-US" sz="2400"/>
              <a:t>"Resource Generators" (Van Der Gaag and Snijders 2005, </a:t>
            </a:r>
            <a:r>
              <a:rPr i="1" lang="en-US" sz="2400"/>
              <a:t>Social Networks</a:t>
            </a:r>
            <a:r>
              <a:rPr lang="en-US" sz="2400"/>
              <a:t>) combine the pragmatic virtues of the position generator with the specificity and breadth of coverage of the name generator.</a:t>
            </a:r>
            <a:endParaRPr sz="2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400"/>
              <a:t>"Do you know anyone who..."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repair a car, bike, etc. 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Is handy repairing household equipment 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speak and write a foreign language 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work with a personal computer 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Has good contacts with a newspaper, radio or TV station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Has knowledge about financial matters (taxes, subsidies)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give advice concerning a conflict at work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help when moving house (packing, lifting)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Can help with small jobs around the house (carpenting, painting)</a:t>
            </a:r>
            <a:endParaRPr sz="1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1800"/>
              <a:t>[...] </a:t>
            </a:r>
            <a:r>
              <a:rPr i="1" lang="en-US" sz="1800"/>
              <a:t>And whatever else you can imagine</a:t>
            </a:r>
            <a:endParaRPr i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Sociological Findings - Marsden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200"/>
              <a:t>Core networks tend to be dense (have high clustering)</a:t>
            </a:r>
            <a:endParaRPr sz="1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/>
              <a:t>Core networks are more homogenous on age, education, race, sex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800"/>
              <a:t>There is age and education heterogeneity</a:t>
            </a:r>
            <a:endParaRPr sz="28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</a:rPr>
              <a:t>Age, Education, Sex, Race and Place Correlates of network size, density and heterogeneity (Tables 3 &amp; 4)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Burt – Discussion Groups</a:t>
            </a:r>
            <a:endParaRPr b="0">
              <a:solidFill>
                <a:srgbClr val="FF0000"/>
              </a:solidFill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 more diverse network is one in which ties with alters vary in their content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Form and Content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Three dimensions:  Frequency, Closeness, and Kin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Burt Discussion Groups</a:t>
            </a:r>
            <a:endParaRPr b="0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925" y="1672151"/>
            <a:ext cx="4574125" cy="33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Burt Findings</a:t>
            </a:r>
            <a:endParaRPr b="0">
              <a:solidFill>
                <a:srgbClr val="FF0000"/>
              </a:solidFill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he predominant character of core discussion groups is that they connect people to alters that a person sees more often, are close to,  and are kin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Distinction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etween different types of alters increases with status and declines with age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 status people have kin, but they also have nonkin they see frequen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tly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(co-workers) AND close people beyond family and co-workers.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Younger people have kin, but also non-kin that they see frequently and close people who are not kin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middle aged people keep kin (but now children), less daily contact with others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Granovetter: Strength of Weak Ties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Getting a better job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Job Search &amp; Information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How do people find out about jobs?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Measure whether job is better and type of contact used to find a job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Type of contact:  family/friend vs. acquaintance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Finding:  Odds of getting better job increases when a person hears about the job through an acquaintance (weak tie)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Explanation:  weak ties are to non-redundant alters who are more likely to know about jobs than ego’s strong ties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Granovetter Assumptions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Acquaintance = Weak Tie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Weak Tie = Non-redundant tie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250" y="2414700"/>
            <a:ext cx="2628900" cy="2511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Granovetter Assumptions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Weak ties are more likely to be “bridges”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375" y="1993657"/>
            <a:ext cx="3960061" cy="323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Burt – Structural Holes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High degree with high density → less diverse network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Dense networks are redundant, i.e. not diverse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Structural Hole:  Separation (lack of direct or indirect ties) between nonredundant contact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Network benefits of each alter additive (no overlap)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Tie between ego and non-redundant alter is a bridge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Redundancy</a:t>
            </a:r>
            <a:endParaRPr b="0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25" y="1524821"/>
            <a:ext cx="458152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Efficiency &amp; Effectiveness</a:t>
            </a:r>
            <a:r>
              <a:rPr b="0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Efficiency:  Maximize the number of non-redundant alters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Effectiveness:  Draw your alters from different social worlds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Weak Ties &amp; Structural Holes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Hypothesis:  The ties with non-redundant alters that form a structural hole tend to be weak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Structural Holes &amp; Weak Ties</a:t>
            </a:r>
            <a:endParaRPr b="0" i="0" sz="4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5075" y="1453525"/>
            <a:ext cx="413385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Effective Size (ES) and Clustering Coefficient (CC)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Consider the subgraph consisting only of the alters of an ego, along with the edges connecting them (i.e. remove ego from graph). 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N = number of alters, i.e. degree of ego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M = number of edges among the N alters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Av. Degree = 2M/N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CC = density = 2M/(N(N-1))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ES = N - (2M/N) =  N - CC(N-1) = N - Av. D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Efficiency = ES/N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Reach efficiency = </a:t>
            </a:r>
            <a:br>
              <a:rPr lang="en-US" sz="3000"/>
            </a:br>
            <a:r>
              <a:rPr lang="en-US" sz="3000"/>
              <a:t>Size 2nd order Neigh./Sum(Degree of Alters)</a:t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750" y="1723856"/>
            <a:ext cx="2327310" cy="212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94275" y="1533002"/>
            <a:ext cx="44796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N = 8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M = 4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Av D = (2*4)/8 = 1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CC = 2*4/8*7 = .143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8 - (2*4)/8 = 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8 -.143(7) = 7</a:t>
            </a:r>
            <a:endParaRPr/>
          </a:p>
          <a:p>
            <a:pPr indent="0" lvl="0" marL="1206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8 -1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Efficiency = 7/8 = .875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Reach eff = 8/(8*1) = .5</a:t>
            </a:r>
            <a:endParaRPr/>
          </a:p>
        </p:txBody>
      </p:sp>
      <p:sp>
        <p:nvSpPr>
          <p:cNvPr id="208" name="Google Shape;208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Effective Size (ES) and Clustering Coefficient (CC) - Example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94275" y="1533002"/>
            <a:ext cx="44796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N = 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M = 6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Av D = 2*6/7 =  1.7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CC = (2*6)/(7*6) = .286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 (2*6)/7 = 5.285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7 -.286(6) = 5.284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7 - 1.7 = 5.3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Reach eff = </a:t>
            </a:r>
            <a:r>
              <a:rPr lang="en-US" sz="2400"/>
              <a:t>7/(3+5+2+1+1+3+4)= .368</a:t>
            </a:r>
            <a:endParaRPr/>
          </a:p>
        </p:txBody>
      </p:sp>
      <p:sp>
        <p:nvSpPr>
          <p:cNvPr id="214" name="Google Shape;214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Effective Size (ES) and Clustering Coefficient (CC) - Example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489631"/>
            <a:ext cx="2907506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94275" y="1533002"/>
            <a:ext cx="46161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N = 3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M = 2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CC = 2*2/3*2 = .667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3 - (2*2)/3 = 1.667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3 -.667(2) = 1.667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Efficiency =1.667/3 = .556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Reach eff = </a:t>
            </a:r>
            <a:r>
              <a:rPr lang="en-US" sz="2400"/>
              <a:t>6/(3+4+3)= .6</a:t>
            </a:r>
            <a:endParaRPr/>
          </a:p>
        </p:txBody>
      </p:sp>
      <p:sp>
        <p:nvSpPr>
          <p:cNvPr id="221" name="Google Shape;221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Effective Size (ES) and Clustering Coefficient (CC) - Peruzzi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375" y="1294171"/>
            <a:ext cx="3100252" cy="255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Issues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Intermediation (Bridges)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Core/Periphery Network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Alters with different edge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Network Motifs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989409"/>
            <a:ext cx="4835127" cy="3621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