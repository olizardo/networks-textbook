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9144000"/>
  <p:notesSz cx="6858000" cy="9144000"/>
  <p:embeddedFontLst>
    <p:embeddedFont>
      <p:font typeface="Josefin Slab"/>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JosefinSlab-bold.fntdata"/><Relationship Id="rId10" Type="http://schemas.openxmlformats.org/officeDocument/2006/relationships/slide" Target="slides/slide6.xml"/><Relationship Id="rId32" Type="http://schemas.openxmlformats.org/officeDocument/2006/relationships/font" Target="fonts/JosefinSlab-regular.fntdata"/><Relationship Id="rId13" Type="http://schemas.openxmlformats.org/officeDocument/2006/relationships/slide" Target="slides/slide9.xml"/><Relationship Id="rId35" Type="http://schemas.openxmlformats.org/officeDocument/2006/relationships/font" Target="fonts/JosefinSlab-boldItalic.fntdata"/><Relationship Id="rId12" Type="http://schemas.openxmlformats.org/officeDocument/2006/relationships/slide" Target="slides/slide8.xml"/><Relationship Id="rId34" Type="http://schemas.openxmlformats.org/officeDocument/2006/relationships/font" Target="fonts/JosefinSlab-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
        <p:nvSpPr>
          <p:cNvPr id="33" name="Google Shape;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ac19fef6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gac19fef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ac19fef6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 name="Google Shape;47;gac19fef6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ac19fef6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ac19fef6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ac19fef6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ac19fef6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c19fef6_2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c19fef6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c19fef6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c19fef6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c19fef6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c19fef6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ac19fef6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ac19fef6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ac19fef6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ac19fef6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ac19fef6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ac19fef6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ac19fef6_2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ac19fef6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ac19fef6_2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ac19fef6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ac19fef6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ac19fef6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ac19fef6_2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ac19fef6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ac19fef6_2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ac19fef6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ac19fef6_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ac19fef6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ac19fef6_2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ac19fef6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ac19fef6_2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ac19fef6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ac19fef6_2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ac19fef6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ac19fef6_2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ac19fef6_2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ac19fef6_2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ac19fef6_2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ac19fef6_2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ac19fef6_2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ac19fef6_2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ac19fef6_2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ac19fef6_2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ac19fef6_2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ac19fef6_2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ac19fef6_2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ac19fef6_2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ac19fef6_2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57200" y="751680"/>
            <a:ext cx="8229600" cy="4012500"/>
          </a:xfrm>
          <a:prstGeom prst="rect">
            <a:avLst/>
          </a:prstGeom>
          <a:noFill/>
          <a:ln>
            <a:noFill/>
          </a:ln>
        </p:spPr>
        <p:txBody>
          <a:bodyPr anchorCtr="0" anchor="t" bIns="91425" lIns="91425" spcFirstLastPara="1" rIns="91425" wrap="square" tIns="91425">
            <a:noAutofit/>
          </a:bodyPr>
          <a:lstStyle>
            <a:lvl1pPr lvl="0"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1pPr>
            <a:lvl2pPr lvl="1"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2pPr>
            <a:lvl3pPr lvl="2"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3pPr>
            <a:lvl4pPr lvl="3"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4pPr>
            <a:lvl5pPr lvl="4"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5pPr>
            <a:lvl6pPr lvl="5"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6pPr>
            <a:lvl7pPr lvl="6"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7pPr>
            <a:lvl8pPr lvl="7"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8pPr>
            <a:lvl9pPr lvl="8"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9pPr>
          </a:lstStyle>
          <a:p/>
        </p:txBody>
      </p:sp>
      <p:sp>
        <p:nvSpPr>
          <p:cNvPr id="11" name="Google Shape;11;p2"/>
          <p:cNvSpPr txBox="1"/>
          <p:nvPr>
            <p:ph idx="1" type="subTitle"/>
          </p:nvPr>
        </p:nvSpPr>
        <p:spPr>
          <a:xfrm>
            <a:off x="457200" y="4955190"/>
            <a:ext cx="8229600" cy="1643400"/>
          </a:xfrm>
          <a:prstGeom prst="rect">
            <a:avLst/>
          </a:prstGeom>
          <a:noFill/>
          <a:ln>
            <a:noFill/>
          </a:ln>
        </p:spPr>
        <p:txBody>
          <a:bodyPr anchorCtr="0" anchor="t" bIns="91425" lIns="91425" spcFirstLastPara="1" rIns="91425" wrap="square" tIns="91425">
            <a:noAutofit/>
          </a:bodyPr>
          <a:lstStyle>
            <a:lvl1pPr lvl="0"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1pPr>
            <a:lvl2pPr lvl="1"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2pPr>
            <a:lvl3pPr lvl="2"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3pPr>
            <a:lvl4pPr lvl="3"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4pPr>
            <a:lvl5pPr lvl="4"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5pPr>
            <a:lvl6pPr lvl="5"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6pPr>
            <a:lvl7pPr lvl="6"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7pPr>
            <a:lvl8pPr lvl="7"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8pPr>
            <a:lvl9pPr lvl="8"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9pPr>
          </a:lstStyle>
          <a:p/>
        </p:txBody>
      </p:sp>
      <p:cxnSp>
        <p:nvCxnSpPr>
          <p:cNvPr id="12" name="Google Shape;12;p2"/>
          <p:cNvCxnSpPr/>
          <p:nvPr/>
        </p:nvCxnSpPr>
        <p:spPr>
          <a:xfrm>
            <a:off x="457200" y="548640"/>
            <a:ext cx="8229600" cy="0"/>
          </a:xfrm>
          <a:prstGeom prst="straightConnector1">
            <a:avLst/>
          </a:prstGeom>
          <a:noFill/>
          <a:ln cap="flat" cmpd="sng" w="57150">
            <a:solidFill>
              <a:schemeClr val="accent1"/>
            </a:solidFill>
            <a:prstDash val="solid"/>
            <a:round/>
            <a:headEnd len="sm" w="sm" type="none"/>
            <a:tailEnd len="sm" w="sm" type="none"/>
          </a:ln>
        </p:spPr>
      </p:cxnSp>
      <p:cxnSp>
        <p:nvCxnSpPr>
          <p:cNvPr id="13" name="Google Shape;13;p2"/>
          <p:cNvCxnSpPr/>
          <p:nvPr/>
        </p:nvCxnSpPr>
        <p:spPr>
          <a:xfrm>
            <a:off x="457200" y="4844510"/>
            <a:ext cx="8229600" cy="0"/>
          </a:xfrm>
          <a:prstGeom prst="straightConnector1">
            <a:avLst/>
          </a:prstGeom>
          <a:noFill/>
          <a:ln cap="flat" cmpd="sng" w="571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rgbClr val="DA0002"/>
                </a:solidFill>
              </a:defRPr>
            </a:lvl1pPr>
            <a:lvl2pPr lvl="1" rtl="0">
              <a:spcBef>
                <a:spcPts val="0"/>
              </a:spcBef>
              <a:spcAft>
                <a:spcPts val="0"/>
              </a:spcAft>
              <a:buSzPts val="3600"/>
              <a:buNone/>
              <a:defRPr>
                <a:solidFill>
                  <a:srgbClr val="DA0002"/>
                </a:solidFill>
              </a:defRPr>
            </a:lvl2pPr>
            <a:lvl3pPr lvl="2" rtl="0">
              <a:spcBef>
                <a:spcPts val="0"/>
              </a:spcBef>
              <a:spcAft>
                <a:spcPts val="0"/>
              </a:spcAft>
              <a:buSzPts val="3600"/>
              <a:buNone/>
              <a:defRPr>
                <a:solidFill>
                  <a:srgbClr val="DA0002"/>
                </a:solidFill>
              </a:defRPr>
            </a:lvl3pPr>
            <a:lvl4pPr lvl="3" rtl="0">
              <a:spcBef>
                <a:spcPts val="0"/>
              </a:spcBef>
              <a:spcAft>
                <a:spcPts val="0"/>
              </a:spcAft>
              <a:buSzPts val="3600"/>
              <a:buNone/>
              <a:defRPr>
                <a:solidFill>
                  <a:srgbClr val="DA0002"/>
                </a:solidFill>
              </a:defRPr>
            </a:lvl4pPr>
            <a:lvl5pPr lvl="4" rtl="0">
              <a:spcBef>
                <a:spcPts val="0"/>
              </a:spcBef>
              <a:spcAft>
                <a:spcPts val="0"/>
              </a:spcAft>
              <a:buSzPts val="3600"/>
              <a:buNone/>
              <a:defRPr>
                <a:solidFill>
                  <a:srgbClr val="DA0002"/>
                </a:solidFill>
              </a:defRPr>
            </a:lvl5pPr>
            <a:lvl6pPr lvl="5" rtl="0">
              <a:spcBef>
                <a:spcPts val="0"/>
              </a:spcBef>
              <a:spcAft>
                <a:spcPts val="0"/>
              </a:spcAft>
              <a:buSzPts val="3600"/>
              <a:buNone/>
              <a:defRPr>
                <a:solidFill>
                  <a:srgbClr val="DA0002"/>
                </a:solidFill>
              </a:defRPr>
            </a:lvl6pPr>
            <a:lvl7pPr lvl="6" rtl="0">
              <a:spcBef>
                <a:spcPts val="0"/>
              </a:spcBef>
              <a:spcAft>
                <a:spcPts val="0"/>
              </a:spcAft>
              <a:buSzPts val="3600"/>
              <a:buNone/>
              <a:defRPr>
                <a:solidFill>
                  <a:srgbClr val="DA0002"/>
                </a:solidFill>
              </a:defRPr>
            </a:lvl7pPr>
            <a:lvl8pPr lvl="7" rtl="0">
              <a:spcBef>
                <a:spcPts val="0"/>
              </a:spcBef>
              <a:spcAft>
                <a:spcPts val="0"/>
              </a:spcAft>
              <a:buSzPts val="3600"/>
              <a:buNone/>
              <a:defRPr>
                <a:solidFill>
                  <a:srgbClr val="DA0002"/>
                </a:solidFill>
              </a:defRPr>
            </a:lvl8pPr>
            <a:lvl9pPr lvl="8" rtl="0">
              <a:spcBef>
                <a:spcPts val="0"/>
              </a:spcBef>
              <a:spcAft>
                <a:spcPts val="0"/>
              </a:spcAft>
              <a:buSzPts val="3600"/>
              <a:buNone/>
              <a:defRPr>
                <a:solidFill>
                  <a:srgbClr val="DA0002"/>
                </a:solidFill>
              </a:defRPr>
            </a:lvl9pPr>
          </a:lstStyle>
          <a:p/>
        </p:txBody>
      </p:sp>
      <p:sp>
        <p:nvSpPr>
          <p:cNvPr id="16" name="Google Shape;16;p3"/>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cxnSp>
        <p:nvCxnSpPr>
          <p:cNvPr id="17" name="Google Shape;17;p3"/>
          <p:cNvCxnSpPr/>
          <p:nvPr/>
        </p:nvCxnSpPr>
        <p:spPr>
          <a:xfrm>
            <a:off x="457200" y="1524000"/>
            <a:ext cx="8229600" cy="0"/>
          </a:xfrm>
          <a:prstGeom prst="straightConnector1">
            <a:avLst/>
          </a:prstGeom>
          <a:noFill/>
          <a:ln cap="flat" cmpd="sng" w="50800">
            <a:solidFill>
              <a:srgbClr val="DA0002"/>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4"/>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rgbClr val="DA0002"/>
                </a:solidFill>
              </a:defRPr>
            </a:lvl1pPr>
            <a:lvl2pPr lvl="1" rtl="0">
              <a:spcBef>
                <a:spcPts val="0"/>
              </a:spcBef>
              <a:spcAft>
                <a:spcPts val="0"/>
              </a:spcAft>
              <a:buSzPts val="3600"/>
              <a:buNone/>
              <a:defRPr>
                <a:solidFill>
                  <a:srgbClr val="DA0002"/>
                </a:solidFill>
              </a:defRPr>
            </a:lvl2pPr>
            <a:lvl3pPr lvl="2" rtl="0">
              <a:spcBef>
                <a:spcPts val="0"/>
              </a:spcBef>
              <a:spcAft>
                <a:spcPts val="0"/>
              </a:spcAft>
              <a:buSzPts val="3600"/>
              <a:buNone/>
              <a:defRPr>
                <a:solidFill>
                  <a:srgbClr val="DA0002"/>
                </a:solidFill>
              </a:defRPr>
            </a:lvl3pPr>
            <a:lvl4pPr lvl="3" rtl="0">
              <a:spcBef>
                <a:spcPts val="0"/>
              </a:spcBef>
              <a:spcAft>
                <a:spcPts val="0"/>
              </a:spcAft>
              <a:buSzPts val="3600"/>
              <a:buNone/>
              <a:defRPr>
                <a:solidFill>
                  <a:srgbClr val="DA0002"/>
                </a:solidFill>
              </a:defRPr>
            </a:lvl4pPr>
            <a:lvl5pPr lvl="4" rtl="0">
              <a:spcBef>
                <a:spcPts val="0"/>
              </a:spcBef>
              <a:spcAft>
                <a:spcPts val="0"/>
              </a:spcAft>
              <a:buSzPts val="3600"/>
              <a:buNone/>
              <a:defRPr>
                <a:solidFill>
                  <a:srgbClr val="DA0002"/>
                </a:solidFill>
              </a:defRPr>
            </a:lvl5pPr>
            <a:lvl6pPr lvl="5" rtl="0">
              <a:spcBef>
                <a:spcPts val="0"/>
              </a:spcBef>
              <a:spcAft>
                <a:spcPts val="0"/>
              </a:spcAft>
              <a:buSzPts val="3600"/>
              <a:buNone/>
              <a:defRPr>
                <a:solidFill>
                  <a:srgbClr val="DA0002"/>
                </a:solidFill>
              </a:defRPr>
            </a:lvl6pPr>
            <a:lvl7pPr lvl="6" rtl="0">
              <a:spcBef>
                <a:spcPts val="0"/>
              </a:spcBef>
              <a:spcAft>
                <a:spcPts val="0"/>
              </a:spcAft>
              <a:buSzPts val="3600"/>
              <a:buNone/>
              <a:defRPr>
                <a:solidFill>
                  <a:srgbClr val="DA0002"/>
                </a:solidFill>
              </a:defRPr>
            </a:lvl7pPr>
            <a:lvl8pPr lvl="7" rtl="0">
              <a:spcBef>
                <a:spcPts val="0"/>
              </a:spcBef>
              <a:spcAft>
                <a:spcPts val="0"/>
              </a:spcAft>
              <a:buSzPts val="3600"/>
              <a:buNone/>
              <a:defRPr>
                <a:solidFill>
                  <a:srgbClr val="DA0002"/>
                </a:solidFill>
              </a:defRPr>
            </a:lvl8pPr>
            <a:lvl9pPr lvl="8" rtl="0">
              <a:spcBef>
                <a:spcPts val="0"/>
              </a:spcBef>
              <a:spcAft>
                <a:spcPts val="0"/>
              </a:spcAft>
              <a:buSzPts val="3600"/>
              <a:buNone/>
              <a:defRPr>
                <a:solidFill>
                  <a:srgbClr val="DA0002"/>
                </a:solidFill>
              </a:defRPr>
            </a:lvl9pPr>
          </a:lstStyle>
          <a:p/>
        </p:txBody>
      </p:sp>
      <p:sp>
        <p:nvSpPr>
          <p:cNvPr id="20" name="Google Shape;20;p4"/>
          <p:cNvSpPr txBox="1"/>
          <p:nvPr>
            <p:ph idx="1" type="body"/>
          </p:nvPr>
        </p:nvSpPr>
        <p:spPr>
          <a:xfrm>
            <a:off x="457200"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21" name="Google Shape;21;p4"/>
          <p:cNvSpPr txBox="1"/>
          <p:nvPr>
            <p:ph idx="2" type="body"/>
          </p:nvPr>
        </p:nvSpPr>
        <p:spPr>
          <a:xfrm>
            <a:off x="4692274"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cxnSp>
        <p:nvCxnSpPr>
          <p:cNvPr id="22" name="Google Shape;22;p4"/>
          <p:cNvCxnSpPr/>
          <p:nvPr/>
        </p:nvCxnSpPr>
        <p:spPr>
          <a:xfrm>
            <a:off x="457200" y="1524000"/>
            <a:ext cx="8229600" cy="0"/>
          </a:xfrm>
          <a:prstGeom prst="straightConnector1">
            <a:avLst/>
          </a:prstGeom>
          <a:noFill/>
          <a:ln cap="flat" cmpd="sng" w="50800">
            <a:solidFill>
              <a:srgbClr val="DA000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chemeClr val="accent1"/>
                </a:solidFill>
              </a:defRPr>
            </a:lvl1pPr>
            <a:lvl2pPr lvl="1" rtl="0">
              <a:spcBef>
                <a:spcPts val="0"/>
              </a:spcBef>
              <a:spcAft>
                <a:spcPts val="0"/>
              </a:spcAft>
              <a:buSzPts val="3600"/>
              <a:buNone/>
              <a:defRPr>
                <a:solidFill>
                  <a:schemeClr val="accent1"/>
                </a:solidFill>
              </a:defRPr>
            </a:lvl2pPr>
            <a:lvl3pPr lvl="2" rtl="0">
              <a:spcBef>
                <a:spcPts val="0"/>
              </a:spcBef>
              <a:spcAft>
                <a:spcPts val="0"/>
              </a:spcAft>
              <a:buSzPts val="3600"/>
              <a:buNone/>
              <a:defRPr>
                <a:solidFill>
                  <a:schemeClr val="accent1"/>
                </a:solidFill>
              </a:defRPr>
            </a:lvl3pPr>
            <a:lvl4pPr lvl="3" rtl="0">
              <a:spcBef>
                <a:spcPts val="0"/>
              </a:spcBef>
              <a:spcAft>
                <a:spcPts val="0"/>
              </a:spcAft>
              <a:buSzPts val="3600"/>
              <a:buNone/>
              <a:defRPr>
                <a:solidFill>
                  <a:schemeClr val="accent1"/>
                </a:solidFill>
              </a:defRPr>
            </a:lvl4pPr>
            <a:lvl5pPr lvl="4" rtl="0">
              <a:spcBef>
                <a:spcPts val="0"/>
              </a:spcBef>
              <a:spcAft>
                <a:spcPts val="0"/>
              </a:spcAft>
              <a:buSzPts val="3600"/>
              <a:buNone/>
              <a:defRPr>
                <a:solidFill>
                  <a:schemeClr val="accent1"/>
                </a:solidFill>
              </a:defRPr>
            </a:lvl5pPr>
            <a:lvl6pPr lvl="5" rtl="0">
              <a:spcBef>
                <a:spcPts val="0"/>
              </a:spcBef>
              <a:spcAft>
                <a:spcPts val="0"/>
              </a:spcAft>
              <a:buSzPts val="3600"/>
              <a:buNone/>
              <a:defRPr>
                <a:solidFill>
                  <a:schemeClr val="accent1"/>
                </a:solidFill>
              </a:defRPr>
            </a:lvl6pPr>
            <a:lvl7pPr lvl="6" rtl="0">
              <a:spcBef>
                <a:spcPts val="0"/>
              </a:spcBef>
              <a:spcAft>
                <a:spcPts val="0"/>
              </a:spcAft>
              <a:buSzPts val="3600"/>
              <a:buNone/>
              <a:defRPr>
                <a:solidFill>
                  <a:schemeClr val="accent1"/>
                </a:solidFill>
              </a:defRPr>
            </a:lvl7pPr>
            <a:lvl8pPr lvl="7" rtl="0">
              <a:spcBef>
                <a:spcPts val="0"/>
              </a:spcBef>
              <a:spcAft>
                <a:spcPts val="0"/>
              </a:spcAft>
              <a:buSzPts val="3600"/>
              <a:buNone/>
              <a:defRPr>
                <a:solidFill>
                  <a:schemeClr val="accent1"/>
                </a:solidFill>
              </a:defRPr>
            </a:lvl8pPr>
            <a:lvl9pPr lvl="8" rtl="0">
              <a:spcBef>
                <a:spcPts val="0"/>
              </a:spcBef>
              <a:spcAft>
                <a:spcPts val="0"/>
              </a:spcAft>
              <a:buSzPts val="3600"/>
              <a:buNone/>
              <a:defRPr>
                <a:solidFill>
                  <a:schemeClr val="accent1"/>
                </a:solidFill>
              </a:defRPr>
            </a:lvl9pPr>
          </a:lstStyle>
          <a:p/>
        </p:txBody>
      </p:sp>
      <p:cxnSp>
        <p:nvCxnSpPr>
          <p:cNvPr id="25" name="Google Shape;25;p5"/>
          <p:cNvCxnSpPr/>
          <p:nvPr/>
        </p:nvCxnSpPr>
        <p:spPr>
          <a:xfrm>
            <a:off x="457200" y="1524000"/>
            <a:ext cx="8229600" cy="0"/>
          </a:xfrm>
          <a:prstGeom prst="straightConnector1">
            <a:avLst/>
          </a:prstGeom>
          <a:noFill/>
          <a:ln cap="flat" cmpd="sng" w="5080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 name="Shape 26"/>
        <p:cNvGrpSpPr/>
        <p:nvPr/>
      </p:nvGrpSpPr>
      <p:grpSpPr>
        <a:xfrm>
          <a:off x="0" y="0"/>
          <a:ext cx="0" cy="0"/>
          <a:chOff x="0" y="0"/>
          <a:chExt cx="0" cy="0"/>
        </a:xfrm>
      </p:grpSpPr>
      <p:sp>
        <p:nvSpPr>
          <p:cNvPr id="27" name="Google Shape;27;p6"/>
          <p:cNvSpPr txBox="1"/>
          <p:nvPr>
            <p:ph idx="1" type="body"/>
          </p:nvPr>
        </p:nvSpPr>
        <p:spPr>
          <a:xfrm>
            <a:off x="457200" y="5875079"/>
            <a:ext cx="8229600" cy="6927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cxnSp>
        <p:nvCxnSpPr>
          <p:cNvPr id="28" name="Google Shape;28;p6"/>
          <p:cNvCxnSpPr/>
          <p:nvPr/>
        </p:nvCxnSpPr>
        <p:spPr>
          <a:xfrm>
            <a:off x="457200" y="5757014"/>
            <a:ext cx="8229600" cy="0"/>
          </a:xfrm>
          <a:prstGeom prst="straightConnector1">
            <a:avLst/>
          </a:prstGeom>
          <a:noFill/>
          <a:ln cap="flat" cmpd="sng" w="50800">
            <a:solidFill>
              <a:schemeClr val="lt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cxnSp>
        <p:nvCxnSpPr>
          <p:cNvPr id="30" name="Google Shape;30;p7"/>
          <p:cNvCxnSpPr/>
          <p:nvPr/>
        </p:nvCxnSpPr>
        <p:spPr>
          <a:xfrm>
            <a:off x="457200" y="150852"/>
            <a:ext cx="8229600" cy="0"/>
          </a:xfrm>
          <a:prstGeom prst="straightConnector1">
            <a:avLst/>
          </a:prstGeom>
          <a:noFill/>
          <a:ln cap="flat" cmpd="sng" w="50800">
            <a:solidFill>
              <a:schemeClr val="lt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1pPr>
            <a:lvl2pPr lvl="1"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2pPr>
            <a:lvl3pPr lvl="2"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3pPr>
            <a:lvl4pPr lvl="3"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4pPr>
            <a:lvl5pPr lvl="4"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5pPr>
            <a:lvl6pPr lvl="5"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6pPr>
            <a:lvl7pPr lvl="6"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7pPr>
            <a:lvl8pPr lvl="7"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8pPr>
            <a:lvl9pPr lvl="8"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9pPr>
          </a:lstStyle>
          <a:p/>
        </p:txBody>
      </p:sp>
      <p:sp>
        <p:nvSpPr>
          <p:cNvPr id="7" name="Google Shape;7;p1"/>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8" name="Google Shape;8;p1"/>
          <p:cNvCxnSpPr/>
          <p:nvPr/>
        </p:nvCxnSpPr>
        <p:spPr>
          <a:xfrm>
            <a:off x="457200" y="6697680"/>
            <a:ext cx="8229600" cy="0"/>
          </a:xfrm>
          <a:prstGeom prst="straightConnector1">
            <a:avLst/>
          </a:prstGeom>
          <a:noFill/>
          <a:ln cap="flat" cmpd="sng" w="50800">
            <a:solidFill>
              <a:schemeClr val="l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8"/>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pipes, flows and influence model</a:t>
            </a:r>
            <a:endParaRPr/>
          </a:p>
        </p:txBody>
      </p:sp>
      <p:sp>
        <p:nvSpPr>
          <p:cNvPr id="36" name="Google Shape;36;p8"/>
          <p:cNvSpPr txBox="1"/>
          <p:nvPr>
            <p:ph idx="1" type="body"/>
          </p:nvPr>
        </p:nvSpPr>
        <p:spPr>
          <a:xfrm>
            <a:off x="457200" y="1600200"/>
            <a:ext cx="46158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Static model of network ties </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"Network position” </a:t>
            </a:r>
            <a:r>
              <a:rPr b="1" lang="en">
                <a:latin typeface="Josefin Slab"/>
                <a:ea typeface="Josefin Slab"/>
                <a:cs typeface="Josefin Slab"/>
                <a:sym typeface="Josefin Slab"/>
              </a:rPr>
              <a:t>causes</a:t>
            </a:r>
            <a:r>
              <a:rPr lang="en">
                <a:latin typeface="Josefin Slab"/>
                <a:ea typeface="Josefin Slab"/>
                <a:cs typeface="Josefin Slab"/>
                <a:sym typeface="Josefin Slab"/>
              </a:rPr>
              <a:t> social behaviors</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Network ties are relatively stable “pipes” through which things – objects, information or behavioral influence – flow (Borgatti 2005)</a:t>
            </a:r>
            <a:endParaRPr>
              <a:latin typeface="Josefin Slab"/>
              <a:ea typeface="Josefin Slab"/>
              <a:cs typeface="Josefin Slab"/>
              <a:sym typeface="Josefin Slab"/>
            </a:endParaRPr>
          </a:p>
        </p:txBody>
      </p:sp>
      <p:pic>
        <p:nvPicPr>
          <p:cNvPr id="37" name="Google Shape;37;p8"/>
          <p:cNvPicPr preferRelativeResize="0"/>
          <p:nvPr/>
        </p:nvPicPr>
        <p:blipFill>
          <a:blip r:embed="rId3">
            <a:alphaModFix/>
          </a:blip>
          <a:stretch>
            <a:fillRect/>
          </a:stretch>
        </p:blipFill>
        <p:spPr>
          <a:xfrm>
            <a:off x="5220549" y="2348163"/>
            <a:ext cx="3810000" cy="2943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9"/>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pipes, flows and influence model</a:t>
            </a:r>
            <a:endParaRPr/>
          </a:p>
        </p:txBody>
      </p:sp>
      <p:sp>
        <p:nvSpPr>
          <p:cNvPr id="43" name="Google Shape;43;p9"/>
          <p:cNvSpPr txBox="1"/>
          <p:nvPr>
            <p:ph idx="1" type="body"/>
          </p:nvPr>
        </p:nvSpPr>
        <p:spPr>
          <a:xfrm>
            <a:off x="457200" y="1600200"/>
            <a:ext cx="51597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Network ties operate as </a:t>
            </a:r>
            <a:r>
              <a:rPr b="1" lang="en">
                <a:latin typeface="Josefin Slab"/>
                <a:ea typeface="Josefin Slab"/>
                <a:cs typeface="Josefin Slab"/>
                <a:sym typeface="Josefin Slab"/>
              </a:rPr>
              <a:t>causes</a:t>
            </a:r>
            <a:endParaRPr b="1">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Mechanisms producing similarity:</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b="1" lang="en">
                <a:latin typeface="Josefin Slab"/>
                <a:ea typeface="Josefin Slab"/>
                <a:cs typeface="Josefin Slab"/>
                <a:sym typeface="Josefin Slab"/>
              </a:rPr>
              <a:t>Lateral influence</a:t>
            </a:r>
            <a:r>
              <a:rPr lang="en">
                <a:latin typeface="Josefin Slab"/>
                <a:ea typeface="Josefin Slab"/>
                <a:cs typeface="Josefin Slab"/>
                <a:sym typeface="Josefin Slab"/>
              </a:rPr>
              <a:t> via role-modeling of socio-demographically proximate alters (Mark 2003)</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b="1" lang="en">
                <a:latin typeface="Josefin Slab"/>
                <a:ea typeface="Josefin Slab"/>
                <a:cs typeface="Josefin Slab"/>
                <a:sym typeface="Josefin Slab"/>
              </a:rPr>
              <a:t>Hierarchical influence </a:t>
            </a:r>
            <a:r>
              <a:rPr lang="en">
                <a:latin typeface="Josefin Slab"/>
                <a:ea typeface="Josefin Slab"/>
                <a:cs typeface="Josefin Slab"/>
                <a:sym typeface="Josefin Slab"/>
              </a:rPr>
              <a:t>via the adoption of the behaviors of high status individuals (Friedkin 2006)</a:t>
            </a:r>
            <a:endParaRPr>
              <a:latin typeface="Josefin Slab"/>
              <a:ea typeface="Josefin Slab"/>
              <a:cs typeface="Josefin Slab"/>
              <a:sym typeface="Josefin Slab"/>
            </a:endParaRPr>
          </a:p>
        </p:txBody>
      </p:sp>
      <p:pic>
        <p:nvPicPr>
          <p:cNvPr id="44" name="Google Shape;44;p9"/>
          <p:cNvPicPr preferRelativeResize="0"/>
          <p:nvPr/>
        </p:nvPicPr>
        <p:blipFill>
          <a:blip r:embed="rId3">
            <a:alphaModFix/>
          </a:blip>
          <a:stretch>
            <a:fillRect/>
          </a:stretch>
        </p:blipFill>
        <p:spPr>
          <a:xfrm>
            <a:off x="5428245" y="2863457"/>
            <a:ext cx="3258555" cy="24411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0"/>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From static flows to dynamic evolution and self-selection</a:t>
            </a:r>
            <a:endParaRPr/>
          </a:p>
        </p:txBody>
      </p:sp>
      <p:sp>
        <p:nvSpPr>
          <p:cNvPr id="50" name="Google Shape;50;p10"/>
          <p:cNvSpPr txBox="1"/>
          <p:nvPr>
            <p:ph idx="1" type="body"/>
          </p:nvPr>
        </p:nvSpPr>
        <p:spPr>
          <a:xfrm>
            <a:off x="457200" y="1600200"/>
            <a:ext cx="3994500" cy="49677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Font typeface="Josefin Slab"/>
              <a:buChar char="●"/>
            </a:pPr>
            <a:r>
              <a:rPr lang="en" sz="2400">
                <a:latin typeface="Josefin Slab"/>
                <a:ea typeface="Josefin Slab"/>
                <a:cs typeface="Josefin Slab"/>
                <a:sym typeface="Josefin Slab"/>
              </a:rPr>
              <a:t>Recent research and theory on the dynamics of dyadic relationships reveals a different picture</a:t>
            </a:r>
            <a:endParaRPr sz="2400">
              <a:latin typeface="Josefin Slab"/>
              <a:ea typeface="Josefin Slab"/>
              <a:cs typeface="Josefin Slab"/>
              <a:sym typeface="Josefin Slab"/>
            </a:endParaRPr>
          </a:p>
          <a:p>
            <a:pPr indent="-381000" lvl="0" marL="457200" rtl="0" algn="l">
              <a:spcBef>
                <a:spcPts val="0"/>
              </a:spcBef>
              <a:spcAft>
                <a:spcPts val="0"/>
              </a:spcAft>
              <a:buSzPts val="2400"/>
              <a:buFont typeface="Josefin Slab"/>
              <a:buChar char="●"/>
            </a:pPr>
            <a:r>
              <a:rPr lang="en" sz="2400">
                <a:latin typeface="Josefin Slab"/>
                <a:ea typeface="Josefin Slab"/>
                <a:cs typeface="Josefin Slab"/>
                <a:sym typeface="Josefin Slab"/>
              </a:rPr>
              <a:t>Rather than being relatively static pipes, network ties are </a:t>
            </a:r>
            <a:r>
              <a:rPr b="1" lang="en" sz="2400">
                <a:latin typeface="Josefin Slab"/>
                <a:ea typeface="Josefin Slab"/>
                <a:cs typeface="Josefin Slab"/>
                <a:sym typeface="Josefin Slab"/>
              </a:rPr>
              <a:t>formed, dissolved and re-negotiated</a:t>
            </a:r>
            <a:r>
              <a:rPr lang="en" sz="2400">
                <a:latin typeface="Josefin Slab"/>
                <a:ea typeface="Josefin Slab"/>
                <a:cs typeface="Josefin Slab"/>
                <a:sym typeface="Josefin Slab"/>
              </a:rPr>
              <a:t> in relatively narrow time-windows (Burt, 2000; Burt, 2002; Raeder et al 2011) </a:t>
            </a:r>
            <a:endParaRPr sz="2400">
              <a:latin typeface="Josefin Slab"/>
              <a:ea typeface="Josefin Slab"/>
              <a:cs typeface="Josefin Slab"/>
              <a:sym typeface="Josefin Slab"/>
            </a:endParaRPr>
          </a:p>
        </p:txBody>
      </p:sp>
      <p:pic>
        <p:nvPicPr>
          <p:cNvPr id="51" name="Google Shape;51;p10"/>
          <p:cNvPicPr preferRelativeResize="0"/>
          <p:nvPr/>
        </p:nvPicPr>
        <p:blipFill>
          <a:blip r:embed="rId3">
            <a:alphaModFix/>
          </a:blip>
          <a:stretch>
            <a:fillRect/>
          </a:stretch>
        </p:blipFill>
        <p:spPr>
          <a:xfrm>
            <a:off x="4784524" y="2655300"/>
            <a:ext cx="3810000" cy="2857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1"/>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From static flows to dynamic evolution and self-selection</a:t>
            </a:r>
            <a:endParaRPr/>
          </a:p>
        </p:txBody>
      </p:sp>
      <p:sp>
        <p:nvSpPr>
          <p:cNvPr id="57" name="Google Shape;57;p11"/>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latin typeface="Josefin Slab"/>
                <a:ea typeface="Josefin Slab"/>
                <a:cs typeface="Josefin Slab"/>
                <a:sym typeface="Josefin Slab"/>
              </a:rPr>
              <a:t>Neither </a:t>
            </a:r>
            <a:r>
              <a:rPr b="1" lang="en">
                <a:latin typeface="Josefin Slab"/>
                <a:ea typeface="Josefin Slab"/>
                <a:cs typeface="Josefin Slab"/>
                <a:sym typeface="Josefin Slab"/>
              </a:rPr>
              <a:t>flow</a:t>
            </a:r>
            <a:r>
              <a:rPr lang="en">
                <a:latin typeface="Josefin Slab"/>
                <a:ea typeface="Josefin Slab"/>
                <a:cs typeface="Josefin Slab"/>
                <a:sym typeface="Josefin Slab"/>
              </a:rPr>
              <a:t> nor </a:t>
            </a:r>
            <a:r>
              <a:rPr b="1" lang="en">
                <a:latin typeface="Josefin Slab"/>
                <a:ea typeface="Josefin Slab"/>
                <a:cs typeface="Josefin Slab"/>
                <a:sym typeface="Josefin Slab"/>
              </a:rPr>
              <a:t>positional</a:t>
            </a:r>
            <a:r>
              <a:rPr lang="en">
                <a:latin typeface="Josefin Slab"/>
                <a:ea typeface="Josefin Slab"/>
                <a:cs typeface="Josefin Slab"/>
                <a:sym typeface="Josefin Slab"/>
              </a:rPr>
              <a:t> processes can be conceptualized independently from these fine-grained temporal </a:t>
            </a:r>
            <a:r>
              <a:rPr b="1" lang="en">
                <a:latin typeface="Josefin Slab"/>
                <a:ea typeface="Josefin Slab"/>
                <a:cs typeface="Josefin Slab"/>
                <a:sym typeface="Josefin Slab"/>
              </a:rPr>
              <a:t>dynamics</a:t>
            </a:r>
            <a:r>
              <a:rPr lang="en">
                <a:latin typeface="Josefin Slab"/>
                <a:ea typeface="Josefin Slab"/>
                <a:cs typeface="Josefin Slab"/>
                <a:sym typeface="Josefin Slab"/>
              </a:rPr>
              <a:t> (Moody 2002; Gibson 2005).  </a:t>
            </a:r>
            <a:endParaRPr>
              <a:latin typeface="Josefin Slab"/>
              <a:ea typeface="Josefin Slab"/>
              <a:cs typeface="Josefin Slab"/>
              <a:sym typeface="Josefin Slab"/>
            </a:endParaRPr>
          </a:p>
          <a:p>
            <a:pPr indent="-419100" lvl="0" marL="457200" rtl="0" algn="l">
              <a:spcBef>
                <a:spcPts val="0"/>
              </a:spcBef>
              <a:spcAft>
                <a:spcPts val="0"/>
              </a:spcAft>
              <a:buSzPts val="3000"/>
              <a:buChar char="●"/>
            </a:pPr>
            <a:r>
              <a:rPr lang="en">
                <a:latin typeface="Josefin Slab"/>
                <a:ea typeface="Josefin Slab"/>
                <a:cs typeface="Josefin Slab"/>
                <a:sym typeface="Josefin Slab"/>
              </a:rPr>
              <a:t>If social relations are constantly </a:t>
            </a:r>
            <a:r>
              <a:rPr b="1" lang="en">
                <a:latin typeface="Josefin Slab"/>
                <a:ea typeface="Josefin Slab"/>
                <a:cs typeface="Josefin Slab"/>
                <a:sym typeface="Josefin Slab"/>
              </a:rPr>
              <a:t>evolving</a:t>
            </a:r>
            <a:r>
              <a:rPr lang="en">
                <a:latin typeface="Josefin Slab"/>
                <a:ea typeface="Josefin Slab"/>
                <a:cs typeface="Josefin Slab"/>
                <a:sym typeface="Josefin Slab"/>
              </a:rPr>
              <a:t>, they cannot always be </a:t>
            </a:r>
            <a:r>
              <a:rPr b="1" lang="en">
                <a:latin typeface="Josefin Slab"/>
                <a:ea typeface="Josefin Slab"/>
                <a:cs typeface="Josefin Slab"/>
                <a:sym typeface="Josefin Slab"/>
              </a:rPr>
              <a:t>causes</a:t>
            </a:r>
            <a:r>
              <a:rPr lang="en">
                <a:latin typeface="Josefin Slab"/>
                <a:ea typeface="Josefin Slab"/>
                <a:cs typeface="Josefin Slab"/>
                <a:sym typeface="Josefin Slab"/>
              </a:rPr>
              <a:t>, since they in all probability are changing at a </a:t>
            </a:r>
            <a:r>
              <a:rPr b="1" lang="en">
                <a:latin typeface="Josefin Slab"/>
                <a:ea typeface="Josefin Slab"/>
                <a:cs typeface="Josefin Slab"/>
                <a:sym typeface="Josefin Slab"/>
              </a:rPr>
              <a:t>faster</a:t>
            </a:r>
            <a:r>
              <a:rPr lang="en">
                <a:latin typeface="Josefin Slab"/>
                <a:ea typeface="Josefin Slab"/>
                <a:cs typeface="Josefin Slab"/>
                <a:sym typeface="Josefin Slab"/>
              </a:rPr>
              <a:t> </a:t>
            </a:r>
            <a:r>
              <a:rPr b="1" lang="en">
                <a:latin typeface="Josefin Slab"/>
                <a:ea typeface="Josefin Slab"/>
                <a:cs typeface="Josefin Slab"/>
                <a:sym typeface="Josefin Slab"/>
              </a:rPr>
              <a:t>rate</a:t>
            </a:r>
            <a:r>
              <a:rPr lang="en">
                <a:latin typeface="Josefin Slab"/>
                <a:ea typeface="Josefin Slab"/>
                <a:cs typeface="Josefin Slab"/>
                <a:sym typeface="Josefin Slab"/>
              </a:rPr>
              <a:t> than the majority of the behavioral </a:t>
            </a:r>
            <a:r>
              <a:rPr b="1" lang="en">
                <a:latin typeface="Josefin Slab"/>
                <a:ea typeface="Josefin Slab"/>
                <a:cs typeface="Josefin Slab"/>
                <a:sym typeface="Josefin Slab"/>
              </a:rPr>
              <a:t>outcomes</a:t>
            </a:r>
            <a:r>
              <a:rPr lang="en">
                <a:latin typeface="Josefin Slab"/>
                <a:ea typeface="Josefin Slab"/>
                <a:cs typeface="Josefin Slab"/>
                <a:sym typeface="Josefin Slab"/>
              </a:rPr>
              <a:t> that they are putatively causing (Lizardo 2006; Lizardo and Vaisey 2010; Vaisey and Miles 2013).</a:t>
            </a:r>
            <a:endParaRPr>
              <a:latin typeface="Josefin Slab"/>
              <a:ea typeface="Josefin Slab"/>
              <a:cs typeface="Josefin Slab"/>
              <a:sym typeface="Josefin Slab"/>
            </a:endParaRPr>
          </a:p>
          <a:p>
            <a:pPr indent="0" lvl="0" marL="0" rtl="0" algn="l">
              <a:spcBef>
                <a:spcPts val="6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From static flows to dynamic evolution and self-selection</a:t>
            </a:r>
            <a:endParaRPr/>
          </a:p>
        </p:txBody>
      </p:sp>
      <p:sp>
        <p:nvSpPr>
          <p:cNvPr id="63" name="Google Shape;63;p12"/>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Most of the time, it is </a:t>
            </a:r>
            <a:r>
              <a:rPr b="1" lang="en">
                <a:latin typeface="Josefin Slab"/>
                <a:ea typeface="Josefin Slab"/>
                <a:cs typeface="Josefin Slab"/>
                <a:sym typeface="Josefin Slab"/>
              </a:rPr>
              <a:t>persons</a:t>
            </a:r>
            <a:r>
              <a:rPr lang="en">
                <a:latin typeface="Josefin Slab"/>
                <a:ea typeface="Josefin Slab"/>
                <a:cs typeface="Josefin Slab"/>
                <a:sym typeface="Josefin Slab"/>
              </a:rPr>
              <a:t> (within environmental and structural constraints) that are doing things to network relations (e.g. enacting them, neglecting them, choosing to keep them or dissolving them)</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Processes of </a:t>
            </a:r>
            <a:r>
              <a:rPr b="1" lang="en">
                <a:latin typeface="Josefin Slab"/>
                <a:ea typeface="Josefin Slab"/>
                <a:cs typeface="Josefin Slab"/>
                <a:sym typeface="Josefin Slab"/>
              </a:rPr>
              <a:t>agency</a:t>
            </a:r>
            <a:r>
              <a:rPr lang="en">
                <a:latin typeface="Josefin Slab"/>
                <a:ea typeface="Josefin Slab"/>
                <a:cs typeface="Josefin Slab"/>
                <a:sym typeface="Josefin Slab"/>
              </a:rPr>
              <a:t>, (self) </a:t>
            </a:r>
            <a:r>
              <a:rPr b="1" lang="en">
                <a:latin typeface="Josefin Slab"/>
                <a:ea typeface="Josefin Slab"/>
                <a:cs typeface="Josefin Slab"/>
                <a:sym typeface="Josefin Slab"/>
              </a:rPr>
              <a:t>selection</a:t>
            </a:r>
            <a:r>
              <a:rPr lang="en">
                <a:latin typeface="Josefin Slab"/>
                <a:ea typeface="Josefin Slab"/>
                <a:cs typeface="Josefin Slab"/>
                <a:sym typeface="Josefin Slab"/>
              </a:rPr>
              <a:t> and </a:t>
            </a:r>
            <a:r>
              <a:rPr b="1" lang="en">
                <a:latin typeface="Josefin Slab"/>
                <a:ea typeface="Josefin Slab"/>
                <a:cs typeface="Josefin Slab"/>
                <a:sym typeface="Josefin Slab"/>
              </a:rPr>
              <a:t>dynamic</a:t>
            </a:r>
            <a:r>
              <a:rPr lang="en">
                <a:latin typeface="Josefin Slab"/>
                <a:ea typeface="Josefin Slab"/>
                <a:cs typeface="Josefin Slab"/>
                <a:sym typeface="Josefin Slab"/>
              </a:rPr>
              <a:t> </a:t>
            </a:r>
            <a:r>
              <a:rPr b="1" lang="en">
                <a:latin typeface="Josefin Slab"/>
                <a:ea typeface="Josefin Slab"/>
                <a:cs typeface="Josefin Slab"/>
                <a:sym typeface="Josefin Slab"/>
              </a:rPr>
              <a:t>change</a:t>
            </a:r>
            <a:r>
              <a:rPr lang="en">
                <a:latin typeface="Josefin Slab"/>
                <a:ea typeface="Josefin Slab"/>
                <a:cs typeface="Josefin Slab"/>
                <a:sym typeface="Josefin Slab"/>
              </a:rPr>
              <a:t> that were under-theorized in the flows and pipes model are now being considered in a new light and their implications have been more explicitly articulated</a:t>
            </a:r>
            <a:endParaRPr>
              <a:latin typeface="Josefin Slab"/>
              <a:ea typeface="Josefin Slab"/>
              <a:cs typeface="Josefin Slab"/>
              <a:sym typeface="Josefin Slab"/>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From static flows to dynamic evolution and self-selection</a:t>
            </a:r>
            <a:endParaRPr/>
          </a:p>
        </p:txBody>
      </p:sp>
      <p:sp>
        <p:nvSpPr>
          <p:cNvPr id="69" name="Google Shape;69;p13"/>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This emphasis has brought back a concern with classical questions regarding:</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The origins and short-term fate of personal relationships (e.g. Lazarsfeld and Merton 1954; DiMaggio 1993) </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The factors that account for their persistence through time  (Burt, 2000; Burt, 2002; Raeder, Lizardo, Hachen, &amp; Chawla, 2011)  .  </a:t>
            </a:r>
            <a:endParaRPr>
              <a:latin typeface="Josefin Slab"/>
              <a:ea typeface="Josefin Slab"/>
              <a:cs typeface="Josefin Slab"/>
              <a:sym typeface="Josefin Slab"/>
            </a:endParaRPr>
          </a:p>
          <a:p>
            <a:pPr indent="-381000" lvl="2" marL="1371600" rtl="0" algn="l">
              <a:spcBef>
                <a:spcPts val="0"/>
              </a:spcBef>
              <a:spcAft>
                <a:spcPts val="0"/>
              </a:spcAft>
              <a:buSzPts val="2400"/>
              <a:buFont typeface="Josefin Slab"/>
              <a:buChar char="■"/>
            </a:pPr>
            <a:r>
              <a:rPr lang="en">
                <a:latin typeface="Josefin Slab"/>
                <a:ea typeface="Josefin Slab"/>
                <a:cs typeface="Josefin Slab"/>
                <a:sym typeface="Josefin Slab"/>
              </a:rPr>
              <a:t>Network ties may result in the strengthening or weakening of behavioral propensities</a:t>
            </a:r>
            <a:endParaRPr>
              <a:latin typeface="Josefin Slab"/>
              <a:ea typeface="Josefin Slab"/>
              <a:cs typeface="Josefin Slab"/>
              <a:sym typeface="Josefin Slab"/>
            </a:endParaRPr>
          </a:p>
          <a:p>
            <a:pPr indent="-381000" lvl="2" marL="1371600" rtl="0" algn="l">
              <a:spcBef>
                <a:spcPts val="0"/>
              </a:spcBef>
              <a:spcAft>
                <a:spcPts val="0"/>
              </a:spcAft>
              <a:buSzPts val="2400"/>
              <a:buFont typeface="Josefin Slab"/>
              <a:buChar char="■"/>
            </a:pPr>
            <a:r>
              <a:rPr lang="en">
                <a:latin typeface="Josefin Slab"/>
                <a:ea typeface="Josefin Slab"/>
                <a:cs typeface="Josefin Slab"/>
                <a:sym typeface="Josefin Slab"/>
              </a:rPr>
              <a:t>The emergence of certain behavioral propensities may be responsible for the strengthening and weakening of network ties</a:t>
            </a:r>
            <a:endParaRPr>
              <a:latin typeface="Josefin Slab"/>
              <a:ea typeface="Josefin Slab"/>
              <a:cs typeface="Josefin Slab"/>
              <a:sym typeface="Josefin Slab"/>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effects on network structure</a:t>
            </a:r>
            <a:endParaRPr/>
          </a:p>
        </p:txBody>
      </p:sp>
      <p:sp>
        <p:nvSpPr>
          <p:cNvPr id="75" name="Google Shape;75;p14"/>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Individuals who report being in </a:t>
            </a:r>
            <a:r>
              <a:rPr b="1" lang="en">
                <a:latin typeface="Josefin Slab"/>
                <a:ea typeface="Josefin Slab"/>
                <a:cs typeface="Josefin Slab"/>
                <a:sym typeface="Josefin Slab"/>
              </a:rPr>
              <a:t>poor health</a:t>
            </a:r>
            <a:r>
              <a:rPr lang="en">
                <a:latin typeface="Josefin Slab"/>
                <a:ea typeface="Josefin Slab"/>
                <a:cs typeface="Josefin Slab"/>
                <a:sym typeface="Josefin Slab"/>
              </a:rPr>
              <a:t> tend to have </a:t>
            </a:r>
            <a:r>
              <a:rPr b="1" lang="en">
                <a:latin typeface="Josefin Slab"/>
                <a:ea typeface="Josefin Slab"/>
                <a:cs typeface="Josefin Slab"/>
                <a:sym typeface="Josefin Slab"/>
              </a:rPr>
              <a:t>smaller</a:t>
            </a:r>
            <a:r>
              <a:rPr lang="en">
                <a:latin typeface="Josefin Slab"/>
                <a:ea typeface="Josefin Slab"/>
                <a:cs typeface="Josefin Slab"/>
                <a:sym typeface="Josefin Slab"/>
              </a:rPr>
              <a:t> networks, occupy </a:t>
            </a:r>
            <a:r>
              <a:rPr b="1" lang="en">
                <a:latin typeface="Josefin Slab"/>
                <a:ea typeface="Josefin Slab"/>
                <a:cs typeface="Josefin Slab"/>
                <a:sym typeface="Josefin Slab"/>
              </a:rPr>
              <a:t>less</a:t>
            </a:r>
            <a:r>
              <a:rPr lang="en">
                <a:latin typeface="Josefin Slab"/>
                <a:ea typeface="Josefin Slab"/>
                <a:cs typeface="Josefin Slab"/>
                <a:sym typeface="Josefin Slab"/>
              </a:rPr>
              <a:t> </a:t>
            </a:r>
            <a:r>
              <a:rPr b="1" lang="en">
                <a:latin typeface="Josefin Slab"/>
                <a:ea typeface="Josefin Slab"/>
                <a:cs typeface="Josefin Slab"/>
                <a:sym typeface="Josefin Slab"/>
              </a:rPr>
              <a:t>central</a:t>
            </a:r>
            <a:r>
              <a:rPr lang="en">
                <a:latin typeface="Josefin Slab"/>
                <a:ea typeface="Josefin Slab"/>
                <a:cs typeface="Josefin Slab"/>
                <a:sym typeface="Josefin Slab"/>
              </a:rPr>
              <a:t> positions in comparison to their </a:t>
            </a:r>
            <a:r>
              <a:rPr b="1" lang="en">
                <a:latin typeface="Josefin Slab"/>
                <a:ea typeface="Josefin Slab"/>
                <a:cs typeface="Josefin Slab"/>
                <a:sym typeface="Josefin Slab"/>
              </a:rPr>
              <a:t>healthy</a:t>
            </a:r>
            <a:r>
              <a:rPr lang="en">
                <a:latin typeface="Josefin Slab"/>
                <a:ea typeface="Josefin Slab"/>
                <a:cs typeface="Josefin Slab"/>
                <a:sym typeface="Josefin Slab"/>
              </a:rPr>
              <a:t> peers (Haas et al 2010, Cornwell 2009)</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b="1" lang="en">
                <a:latin typeface="Josefin Slab"/>
                <a:ea typeface="Josefin Slab"/>
                <a:cs typeface="Josefin Slab"/>
                <a:sym typeface="Josefin Slab"/>
              </a:rPr>
              <a:t>Depressed</a:t>
            </a:r>
            <a:r>
              <a:rPr lang="en">
                <a:latin typeface="Josefin Slab"/>
                <a:ea typeface="Josefin Slab"/>
                <a:cs typeface="Josefin Slab"/>
                <a:sym typeface="Josefin Slab"/>
              </a:rPr>
              <a:t> individuals occupy more </a:t>
            </a:r>
            <a:r>
              <a:rPr b="1" lang="en">
                <a:latin typeface="Josefin Slab"/>
                <a:ea typeface="Josefin Slab"/>
                <a:cs typeface="Josefin Slab"/>
                <a:sym typeface="Josefin Slab"/>
              </a:rPr>
              <a:t>peripheral</a:t>
            </a:r>
            <a:r>
              <a:rPr lang="en">
                <a:latin typeface="Josefin Slab"/>
                <a:ea typeface="Josefin Slab"/>
                <a:cs typeface="Josefin Slab"/>
                <a:sym typeface="Josefin Slab"/>
              </a:rPr>
              <a:t> positions because they withdraw from social contact, and thus end up befriending </a:t>
            </a:r>
            <a:r>
              <a:rPr b="1" lang="en">
                <a:latin typeface="Josefin Slab"/>
                <a:ea typeface="Josefin Slab"/>
                <a:cs typeface="Josefin Slab"/>
                <a:sym typeface="Josefin Slab"/>
              </a:rPr>
              <a:t>similarly</a:t>
            </a:r>
            <a:r>
              <a:rPr lang="en">
                <a:latin typeface="Josefin Slab"/>
                <a:ea typeface="Josefin Slab"/>
                <a:cs typeface="Josefin Slab"/>
                <a:sym typeface="Josefin Slab"/>
              </a:rPr>
              <a:t> </a:t>
            </a:r>
            <a:r>
              <a:rPr b="1" lang="en">
                <a:latin typeface="Josefin Slab"/>
                <a:ea typeface="Josefin Slab"/>
                <a:cs typeface="Josefin Slab"/>
                <a:sym typeface="Josefin Slab"/>
              </a:rPr>
              <a:t>peripheral</a:t>
            </a:r>
            <a:r>
              <a:rPr lang="en">
                <a:latin typeface="Josefin Slab"/>
                <a:ea typeface="Josefin Slab"/>
                <a:cs typeface="Josefin Slab"/>
                <a:sym typeface="Josefin Slab"/>
              </a:rPr>
              <a:t> persons who are also more likely to be </a:t>
            </a:r>
            <a:r>
              <a:rPr b="1" lang="en">
                <a:latin typeface="Josefin Slab"/>
                <a:ea typeface="Josefin Slab"/>
                <a:cs typeface="Josefin Slab"/>
                <a:sym typeface="Josefin Slab"/>
              </a:rPr>
              <a:t>depressed</a:t>
            </a:r>
            <a:r>
              <a:rPr lang="en">
                <a:latin typeface="Josefin Slab"/>
                <a:ea typeface="Josefin Slab"/>
                <a:cs typeface="Josefin Slab"/>
                <a:sym typeface="Josefin Slab"/>
              </a:rPr>
              <a:t> persons (Schaefer et al 2011)</a:t>
            </a:r>
            <a:endParaRPr>
              <a:latin typeface="Josefin Slab"/>
              <a:ea typeface="Josefin Slab"/>
              <a:cs typeface="Josefin Slab"/>
              <a:sym typeface="Josefin Slab"/>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effects on network structure</a:t>
            </a:r>
            <a:endParaRPr/>
          </a:p>
        </p:txBody>
      </p:sp>
      <p:sp>
        <p:nvSpPr>
          <p:cNvPr id="81" name="Google Shape;81;p15"/>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00050" lvl="0" marL="457200" rtl="0" algn="l">
              <a:spcBef>
                <a:spcPts val="600"/>
              </a:spcBef>
              <a:spcAft>
                <a:spcPts val="0"/>
              </a:spcAft>
              <a:buSzPts val="2700"/>
              <a:buFont typeface="Josefin Slab"/>
              <a:buChar char="●"/>
            </a:pPr>
            <a:r>
              <a:rPr b="1" lang="en" sz="2700">
                <a:latin typeface="Josefin Slab"/>
                <a:ea typeface="Josefin Slab"/>
                <a:cs typeface="Josefin Slab"/>
                <a:sym typeface="Josefin Slab"/>
              </a:rPr>
              <a:t>High self monitors</a:t>
            </a:r>
            <a:r>
              <a:rPr lang="en" sz="2700">
                <a:latin typeface="Josefin Slab"/>
                <a:ea typeface="Josefin Slab"/>
                <a:cs typeface="Josefin Slab"/>
                <a:sym typeface="Josefin Slab"/>
              </a:rPr>
              <a:t> (persons who consciously strategize as to how they present themselves to others) are more likely to occupy </a:t>
            </a:r>
            <a:r>
              <a:rPr b="1" lang="en" sz="2700">
                <a:latin typeface="Josefin Slab"/>
                <a:ea typeface="Josefin Slab"/>
                <a:cs typeface="Josefin Slab"/>
                <a:sym typeface="Josefin Slab"/>
              </a:rPr>
              <a:t>central</a:t>
            </a:r>
            <a:r>
              <a:rPr lang="en" sz="2700">
                <a:latin typeface="Josefin Slab"/>
                <a:ea typeface="Josefin Slab"/>
                <a:cs typeface="Josefin Slab"/>
                <a:sym typeface="Josefin Slab"/>
              </a:rPr>
              <a:t> positions in networks (Mehra, Kilduff and Brass 2001)</a:t>
            </a:r>
            <a:endParaRPr sz="2700">
              <a:latin typeface="Josefin Slab"/>
              <a:ea typeface="Josefin Slab"/>
              <a:cs typeface="Josefin Slab"/>
              <a:sym typeface="Josefin Slab"/>
            </a:endParaRPr>
          </a:p>
          <a:p>
            <a:pPr indent="-400050" lvl="0" marL="457200" rtl="0" algn="l">
              <a:spcBef>
                <a:spcPts val="0"/>
              </a:spcBef>
              <a:spcAft>
                <a:spcPts val="0"/>
              </a:spcAft>
              <a:buSzPts val="2700"/>
              <a:buFont typeface="Josefin Slab"/>
              <a:buChar char="●"/>
            </a:pPr>
            <a:r>
              <a:rPr lang="en" sz="2700">
                <a:latin typeface="Josefin Slab"/>
                <a:ea typeface="Josefin Slab"/>
                <a:cs typeface="Josefin Slab"/>
                <a:sym typeface="Josefin Slab"/>
              </a:rPr>
              <a:t>Persons who have (</a:t>
            </a:r>
            <a:r>
              <a:rPr b="1" lang="en" sz="2700">
                <a:latin typeface="Josefin Slab"/>
                <a:ea typeface="Josefin Slab"/>
                <a:cs typeface="Josefin Slab"/>
                <a:sym typeface="Josefin Slab"/>
              </a:rPr>
              <a:t>implicit</a:t>
            </a:r>
            <a:r>
              <a:rPr lang="en" sz="2700">
                <a:latin typeface="Josefin Slab"/>
                <a:ea typeface="Josefin Slab"/>
                <a:cs typeface="Josefin Slab"/>
                <a:sym typeface="Josefin Slab"/>
              </a:rPr>
              <a:t>) self-understandings as </a:t>
            </a:r>
            <a:r>
              <a:rPr b="1" lang="en" sz="2700">
                <a:latin typeface="Josefin Slab"/>
                <a:ea typeface="Josefin Slab"/>
                <a:cs typeface="Josefin Slab"/>
                <a:sym typeface="Josefin Slab"/>
              </a:rPr>
              <a:t>collaborative</a:t>
            </a:r>
            <a:r>
              <a:rPr lang="en" sz="2700">
                <a:latin typeface="Josefin Slab"/>
                <a:ea typeface="Josefin Slab"/>
                <a:cs typeface="Josefin Slab"/>
                <a:sym typeface="Josefin Slab"/>
              </a:rPr>
              <a:t> are more likely to form ties </a:t>
            </a:r>
            <a:r>
              <a:rPr b="1" lang="en" sz="2700">
                <a:latin typeface="Josefin Slab"/>
                <a:ea typeface="Josefin Slab"/>
                <a:cs typeface="Josefin Slab"/>
                <a:sym typeface="Josefin Slab"/>
              </a:rPr>
              <a:t>across</a:t>
            </a:r>
            <a:r>
              <a:rPr lang="en" sz="2700">
                <a:latin typeface="Josefin Slab"/>
                <a:ea typeface="Josefin Slab"/>
                <a:cs typeface="Josefin Slab"/>
                <a:sym typeface="Josefin Slab"/>
              </a:rPr>
              <a:t> organizational </a:t>
            </a:r>
            <a:r>
              <a:rPr b="1" lang="en" sz="2700">
                <a:latin typeface="Josefin Slab"/>
                <a:ea typeface="Josefin Slab"/>
                <a:cs typeface="Josefin Slab"/>
                <a:sym typeface="Josefin Slab"/>
              </a:rPr>
              <a:t>divisions</a:t>
            </a:r>
            <a:r>
              <a:rPr lang="en" sz="2700">
                <a:latin typeface="Josefin Slab"/>
                <a:ea typeface="Josefin Slab"/>
                <a:cs typeface="Josefin Slab"/>
                <a:sym typeface="Josefin Slab"/>
              </a:rPr>
              <a:t> (Srivastava and Banaji 2011)</a:t>
            </a:r>
            <a:endParaRPr sz="2700">
              <a:latin typeface="Josefin Slab"/>
              <a:ea typeface="Josefin Slab"/>
              <a:cs typeface="Josefin Slab"/>
              <a:sym typeface="Josefin Slab"/>
            </a:endParaRPr>
          </a:p>
          <a:p>
            <a:pPr indent="-400050" lvl="0" marL="457200" rtl="0" algn="l">
              <a:spcBef>
                <a:spcPts val="0"/>
              </a:spcBef>
              <a:spcAft>
                <a:spcPts val="0"/>
              </a:spcAft>
              <a:buSzPts val="2700"/>
              <a:buFont typeface="Josefin Slab"/>
              <a:buChar char="●"/>
            </a:pPr>
            <a:r>
              <a:rPr lang="en" sz="2700">
                <a:latin typeface="Josefin Slab"/>
                <a:ea typeface="Josefin Slab"/>
                <a:cs typeface="Josefin Slab"/>
                <a:sym typeface="Josefin Slab"/>
              </a:rPr>
              <a:t>High self-monitors tend to attract more </a:t>
            </a:r>
            <a:r>
              <a:rPr b="1" lang="en" sz="2700">
                <a:latin typeface="Josefin Slab"/>
                <a:ea typeface="Josefin Slab"/>
                <a:cs typeface="Josefin Slab"/>
                <a:sym typeface="Josefin Slab"/>
              </a:rPr>
              <a:t>new</a:t>
            </a:r>
            <a:r>
              <a:rPr lang="en" sz="2700">
                <a:latin typeface="Josefin Slab"/>
                <a:ea typeface="Josefin Slab"/>
                <a:cs typeface="Josefin Slab"/>
                <a:sym typeface="Josefin Slab"/>
              </a:rPr>
              <a:t> friends, bridge </a:t>
            </a:r>
            <a:r>
              <a:rPr b="1" lang="en" sz="2700">
                <a:latin typeface="Josefin Slab"/>
                <a:ea typeface="Josefin Slab"/>
                <a:cs typeface="Josefin Slab"/>
                <a:sym typeface="Josefin Slab"/>
              </a:rPr>
              <a:t>structural</a:t>
            </a:r>
            <a:r>
              <a:rPr lang="en" sz="2700">
                <a:latin typeface="Josefin Slab"/>
                <a:ea typeface="Josefin Slab"/>
                <a:cs typeface="Josefin Slab"/>
                <a:sym typeface="Josefin Slab"/>
              </a:rPr>
              <a:t> </a:t>
            </a:r>
            <a:r>
              <a:rPr b="1" lang="en" sz="2700">
                <a:latin typeface="Josefin Slab"/>
                <a:ea typeface="Josefin Slab"/>
                <a:cs typeface="Josefin Slab"/>
                <a:sym typeface="Josefin Slab"/>
              </a:rPr>
              <a:t>holes</a:t>
            </a:r>
            <a:r>
              <a:rPr lang="en" sz="2700">
                <a:latin typeface="Josefin Slab"/>
                <a:ea typeface="Josefin Slab"/>
                <a:cs typeface="Josefin Slab"/>
                <a:sym typeface="Josefin Slab"/>
              </a:rPr>
              <a:t>, and "</a:t>
            </a:r>
            <a:r>
              <a:rPr b="1" lang="en" sz="2700">
                <a:latin typeface="Josefin Slab"/>
                <a:ea typeface="Josefin Slab"/>
                <a:cs typeface="Josefin Slab"/>
                <a:sym typeface="Josefin Slab"/>
              </a:rPr>
              <a:t>churn</a:t>
            </a:r>
            <a:r>
              <a:rPr lang="en" sz="2700">
                <a:latin typeface="Josefin Slab"/>
                <a:ea typeface="Josefin Slab"/>
                <a:cs typeface="Josefin Slab"/>
                <a:sym typeface="Josefin Slab"/>
              </a:rPr>
              <a:t>" through more </a:t>
            </a:r>
            <a:r>
              <a:rPr b="1" lang="en" sz="2700">
                <a:latin typeface="Josefin Slab"/>
                <a:ea typeface="Josefin Slab"/>
                <a:cs typeface="Josefin Slab"/>
                <a:sym typeface="Josefin Slab"/>
              </a:rPr>
              <a:t>ties</a:t>
            </a:r>
            <a:r>
              <a:rPr lang="en" sz="2700">
                <a:latin typeface="Josefin Slab"/>
                <a:ea typeface="Josefin Slab"/>
                <a:cs typeface="Josefin Slab"/>
                <a:sym typeface="Josefin Slab"/>
              </a:rPr>
              <a:t> than low self monitors (Sasovova et al 2010)</a:t>
            </a:r>
            <a:endParaRPr sz="2700">
              <a:latin typeface="Josefin Slab"/>
              <a:ea typeface="Josefin Slab"/>
              <a:cs typeface="Josefin Slab"/>
              <a:sym typeface="Josefin Slab"/>
            </a:endParaRPr>
          </a:p>
          <a:p>
            <a:pPr indent="0" lvl="0" marL="0" rtl="0" algn="l">
              <a:spcBef>
                <a:spcPts val="600"/>
              </a:spcBef>
              <a:spcAft>
                <a:spcPts val="0"/>
              </a:spcAft>
              <a:buNone/>
            </a:pPr>
            <a:r>
              <a:t/>
            </a:r>
            <a:endParaRPr sz="2700">
              <a:latin typeface="Josefin Slab"/>
              <a:ea typeface="Josefin Slab"/>
              <a:cs typeface="Josefin Slab"/>
              <a:sym typeface="Josefin Slab"/>
            </a:endParaRPr>
          </a:p>
          <a:p>
            <a:pPr indent="0" lvl="0" marL="0" rtl="0" algn="l">
              <a:spcBef>
                <a:spcPts val="600"/>
              </a:spcBef>
              <a:spcAft>
                <a:spcPts val="0"/>
              </a:spcAft>
              <a:buNone/>
            </a:pPr>
            <a:r>
              <a:t/>
            </a:r>
            <a:endParaRPr>
              <a:latin typeface="Josefin Slab"/>
              <a:ea typeface="Josefin Slab"/>
              <a:cs typeface="Josefin Slab"/>
              <a:sym typeface="Josefin Slab"/>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Adjudicating between competing processes and mechanisms</a:t>
            </a:r>
            <a:endParaRPr/>
          </a:p>
        </p:txBody>
      </p:sp>
      <p:sp>
        <p:nvSpPr>
          <p:cNvPr id="87" name="Google Shape;87;p16"/>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00050" lvl="0" marL="457200" rtl="0" algn="l">
              <a:spcBef>
                <a:spcPts val="600"/>
              </a:spcBef>
              <a:spcAft>
                <a:spcPts val="0"/>
              </a:spcAft>
              <a:buSzPts val="2700"/>
              <a:buFont typeface="Josefin Slab"/>
              <a:buChar char="●"/>
            </a:pPr>
            <a:r>
              <a:rPr lang="en" sz="2700">
                <a:latin typeface="Josefin Slab"/>
                <a:ea typeface="Josefin Slab"/>
                <a:cs typeface="Josefin Slab"/>
                <a:sym typeface="Josefin Slab"/>
              </a:rPr>
              <a:t>Persons tend to associate with persons who share similar behaviors, practices and tastes as themselves</a:t>
            </a:r>
            <a:endParaRPr sz="2700">
              <a:latin typeface="Josefin Slab"/>
              <a:ea typeface="Josefin Slab"/>
              <a:cs typeface="Josefin Slab"/>
              <a:sym typeface="Josefin Slab"/>
            </a:endParaRPr>
          </a:p>
          <a:p>
            <a:pPr indent="-400050" lvl="1" marL="914400" rtl="0" algn="l">
              <a:spcBef>
                <a:spcPts val="0"/>
              </a:spcBef>
              <a:spcAft>
                <a:spcPts val="0"/>
              </a:spcAft>
              <a:buSzPts val="2700"/>
              <a:buFont typeface="Josefin Slab"/>
              <a:buChar char="○"/>
            </a:pPr>
            <a:r>
              <a:rPr lang="en">
                <a:latin typeface="Josefin Slab"/>
                <a:ea typeface="Josefin Slab"/>
                <a:cs typeface="Josefin Slab"/>
                <a:sym typeface="Josefin Slab"/>
              </a:rPr>
              <a:t>Socio-demographic "homophily" (McPherson et al 2001) has been proposed as a possible mechanism for this type of "behavioral homophily"</a:t>
            </a:r>
            <a:endParaRPr>
              <a:latin typeface="Josefin Slab"/>
              <a:ea typeface="Josefin Slab"/>
              <a:cs typeface="Josefin Slab"/>
              <a:sym typeface="Josefin Slab"/>
            </a:endParaRPr>
          </a:p>
          <a:p>
            <a:pPr indent="-400050" lvl="1" marL="914400" rtl="0" algn="l">
              <a:spcBef>
                <a:spcPts val="0"/>
              </a:spcBef>
              <a:spcAft>
                <a:spcPts val="0"/>
              </a:spcAft>
              <a:buSzPts val="2700"/>
              <a:buFont typeface="Josefin Slab"/>
              <a:buChar char="○"/>
            </a:pPr>
            <a:r>
              <a:rPr lang="en">
                <a:latin typeface="Josefin Slab"/>
                <a:ea typeface="Josefin Slab"/>
                <a:cs typeface="Josefin Slab"/>
                <a:sym typeface="Josefin Slab"/>
              </a:rPr>
              <a:t>Preferences for matching on social characteristics leads to adoption of behaviors and preferences</a:t>
            </a:r>
            <a:endParaRPr>
              <a:latin typeface="Josefin Slab"/>
              <a:ea typeface="Josefin Slab"/>
              <a:cs typeface="Josefin Slab"/>
              <a:sym typeface="Josefin Slab"/>
            </a:endParaRPr>
          </a:p>
          <a:p>
            <a:pPr indent="-400050" lvl="0" marL="457200" rtl="0" algn="l">
              <a:spcBef>
                <a:spcPts val="0"/>
              </a:spcBef>
              <a:spcAft>
                <a:spcPts val="0"/>
              </a:spcAft>
              <a:buSzPts val="2700"/>
              <a:buFont typeface="Josefin Slab"/>
              <a:buChar char="●"/>
            </a:pPr>
            <a:r>
              <a:rPr lang="en" sz="2700">
                <a:latin typeface="Josefin Slab"/>
                <a:ea typeface="Josefin Slab"/>
                <a:cs typeface="Josefin Slab"/>
                <a:sym typeface="Josefin Slab"/>
              </a:rPr>
              <a:t>This has inspired a (small cottage industry) of research on the general process of "social contagion" (Christakis and Fowler 2010)</a:t>
            </a:r>
            <a:endParaRPr sz="2700">
              <a:latin typeface="Josefin Slab"/>
              <a:ea typeface="Josefin Slab"/>
              <a:cs typeface="Josefin Slab"/>
              <a:sym typeface="Josefin Slab"/>
            </a:endParaRPr>
          </a:p>
          <a:p>
            <a:pPr indent="-400050" lvl="1" marL="914400" rtl="0" algn="l">
              <a:spcBef>
                <a:spcPts val="0"/>
              </a:spcBef>
              <a:spcAft>
                <a:spcPts val="0"/>
              </a:spcAft>
              <a:buSzPts val="2700"/>
              <a:buFont typeface="Josefin Slab"/>
              <a:buChar char="○"/>
            </a:pPr>
            <a:r>
              <a:rPr lang="en">
                <a:latin typeface="Josefin Slab"/>
                <a:ea typeface="Josefin Slab"/>
                <a:cs typeface="Josefin Slab"/>
                <a:sym typeface="Josefin Slab"/>
              </a:rPr>
              <a:t>This research primarily departs from the pipes, flows, and influence model</a:t>
            </a:r>
            <a:endParaRPr>
              <a:latin typeface="Josefin Slab"/>
              <a:ea typeface="Josefin Slab"/>
              <a:cs typeface="Josefin Slab"/>
              <a:sym typeface="Josefin Slab"/>
            </a:endParaRPr>
          </a:p>
          <a:p>
            <a:pPr indent="0" lvl="0" marL="0" rtl="0" algn="l">
              <a:spcBef>
                <a:spcPts val="600"/>
              </a:spcBef>
              <a:spcAft>
                <a:spcPts val="0"/>
              </a:spcAft>
              <a:buClr>
                <a:srgbClr val="000000"/>
              </a:buClr>
              <a:buSzPts val="1100"/>
              <a:buFont typeface="Arial"/>
              <a:buNone/>
            </a:pPr>
            <a:r>
              <a:t/>
            </a:r>
            <a:endParaRPr sz="2700">
              <a:latin typeface="Josefin Slab"/>
              <a:ea typeface="Josefin Slab"/>
              <a:cs typeface="Josefin Slab"/>
              <a:sym typeface="Josefin Slab"/>
            </a:endParaRPr>
          </a:p>
          <a:p>
            <a:pPr indent="0" lvl="0" marL="0" rtl="0" algn="l">
              <a:spcBef>
                <a:spcPts val="600"/>
              </a:spcBef>
              <a:spcAft>
                <a:spcPts val="0"/>
              </a:spcAft>
              <a:buNone/>
            </a:pPr>
            <a:r>
              <a:t/>
            </a:r>
            <a:endParaRPr>
              <a:latin typeface="Josefin Slab"/>
              <a:ea typeface="Josefin Slab"/>
              <a:cs typeface="Josefin Slab"/>
              <a:sym typeface="Josefin Slab"/>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Adjudicating between competing processes and mechanisms</a:t>
            </a:r>
            <a:endParaRPr/>
          </a:p>
        </p:txBody>
      </p:sp>
      <p:sp>
        <p:nvSpPr>
          <p:cNvPr id="93" name="Google Shape;93;p17"/>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The mechanisms that produce the behavioral homophily phenomenon however, continue to be the subject of intense dispute </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"Social contagion theory” (Christakis and Fowler 2010) proposes that this occurs primarily via an influence/imitation process (Friedkin 2006; McFarland &amp; Pals 2005)</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In spite of the intuitive appeal of the social contagion hypothesis we also know that a host of alternative mechanisms may also produce the same effect.</a:t>
            </a:r>
            <a:endParaRPr>
              <a:latin typeface="Josefin Slab"/>
              <a:ea typeface="Josefin Slab"/>
              <a:cs typeface="Josefin Slab"/>
              <a:sym typeface="Josefin Slab"/>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Adjudicating between competing processes and mechanisms</a:t>
            </a:r>
            <a:endParaRPr/>
          </a:p>
        </p:txBody>
      </p:sp>
      <p:sp>
        <p:nvSpPr>
          <p:cNvPr id="99" name="Google Shape;99;p18"/>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57200" lvl="0" marL="457200" rtl="0" algn="l">
              <a:spcBef>
                <a:spcPts val="480"/>
              </a:spcBef>
              <a:spcAft>
                <a:spcPts val="0"/>
              </a:spcAft>
              <a:buSzPts val="3600"/>
              <a:buFont typeface="Arial"/>
              <a:buChar char="●"/>
            </a:pPr>
            <a:r>
              <a:rPr lang="en" sz="3600">
                <a:latin typeface="Josefin Slab"/>
                <a:ea typeface="Josefin Slab"/>
                <a:cs typeface="Josefin Slab"/>
                <a:sym typeface="Josefin Slab"/>
              </a:rPr>
              <a:t>Alternative mechanisms include:</a:t>
            </a:r>
            <a:endParaRPr sz="3600">
              <a:latin typeface="Josefin Slab"/>
              <a:ea typeface="Josefin Slab"/>
              <a:cs typeface="Josefin Slab"/>
              <a:sym typeface="Josefin Slab"/>
            </a:endParaRPr>
          </a:p>
          <a:p>
            <a:pPr indent="-457200" lvl="1" marL="914400" rtl="0" algn="l">
              <a:spcBef>
                <a:spcPts val="0"/>
              </a:spcBef>
              <a:spcAft>
                <a:spcPts val="0"/>
              </a:spcAft>
              <a:buSzPts val="3600"/>
              <a:buFont typeface="Arial"/>
              <a:buChar char="○"/>
            </a:pPr>
            <a:r>
              <a:rPr lang="en" sz="3000">
                <a:latin typeface="Josefin Slab"/>
                <a:ea typeface="Josefin Slab"/>
                <a:cs typeface="Josefin Slab"/>
                <a:sym typeface="Josefin Slab"/>
              </a:rPr>
              <a:t>Self-selection into relationships that exhibit behavioral matching </a:t>
            </a:r>
            <a:r>
              <a:rPr b="1" lang="en" sz="3000">
                <a:latin typeface="Josefin Slab"/>
                <a:ea typeface="Josefin Slab"/>
                <a:cs typeface="Josefin Slab"/>
                <a:sym typeface="Josefin Slab"/>
              </a:rPr>
              <a:t>prior</a:t>
            </a:r>
            <a:r>
              <a:rPr lang="en" sz="3000">
                <a:latin typeface="Josefin Slab"/>
                <a:ea typeface="Josefin Slab"/>
                <a:cs typeface="Josefin Slab"/>
                <a:sym typeface="Josefin Slab"/>
              </a:rPr>
              <a:t> to interaction</a:t>
            </a:r>
            <a:endParaRPr sz="3000">
              <a:latin typeface="Josefin Slab"/>
              <a:ea typeface="Josefin Slab"/>
              <a:cs typeface="Josefin Slab"/>
              <a:sym typeface="Josefin Slab"/>
            </a:endParaRPr>
          </a:p>
          <a:p>
            <a:pPr indent="-457200" lvl="1" marL="914400" rtl="0" algn="l">
              <a:spcBef>
                <a:spcPts val="0"/>
              </a:spcBef>
              <a:spcAft>
                <a:spcPts val="0"/>
              </a:spcAft>
              <a:buSzPts val="3600"/>
              <a:buFont typeface="Arial"/>
              <a:buChar char="○"/>
            </a:pPr>
            <a:r>
              <a:rPr b="1" lang="en" sz="3000">
                <a:latin typeface="Josefin Slab"/>
                <a:ea typeface="Josefin Slab"/>
                <a:cs typeface="Josefin Slab"/>
                <a:sym typeface="Josefin Slab"/>
              </a:rPr>
              <a:t>Matching</a:t>
            </a:r>
            <a:r>
              <a:rPr lang="en" sz="3000">
                <a:latin typeface="Josefin Slab"/>
                <a:ea typeface="Josefin Slab"/>
                <a:cs typeface="Josefin Slab"/>
                <a:sym typeface="Josefin Slab"/>
              </a:rPr>
              <a:t> via </a:t>
            </a:r>
            <a:r>
              <a:rPr b="1" lang="en" sz="3000">
                <a:latin typeface="Josefin Slab"/>
                <a:ea typeface="Josefin Slab"/>
                <a:cs typeface="Josefin Slab"/>
                <a:sym typeface="Josefin Slab"/>
              </a:rPr>
              <a:t>correlated</a:t>
            </a:r>
            <a:r>
              <a:rPr lang="en" sz="3000">
                <a:latin typeface="Josefin Slab"/>
                <a:ea typeface="Josefin Slab"/>
                <a:cs typeface="Josefin Slab"/>
                <a:sym typeface="Josefin Slab"/>
              </a:rPr>
              <a:t> but substantively unrelated behaviors</a:t>
            </a:r>
            <a:endParaRPr sz="3000">
              <a:latin typeface="Josefin Slab"/>
              <a:ea typeface="Josefin Slab"/>
              <a:cs typeface="Josefin Slab"/>
              <a:sym typeface="Josefin Slab"/>
            </a:endParaRPr>
          </a:p>
          <a:p>
            <a:pPr indent="-457200" lvl="1" marL="914400" rtl="0" algn="l">
              <a:spcBef>
                <a:spcPts val="0"/>
              </a:spcBef>
              <a:spcAft>
                <a:spcPts val="0"/>
              </a:spcAft>
              <a:buSzPts val="3600"/>
              <a:buFont typeface="Arial"/>
              <a:buChar char="○"/>
            </a:pPr>
            <a:r>
              <a:rPr b="1" lang="en" sz="3000">
                <a:latin typeface="Josefin Slab"/>
                <a:ea typeface="Josefin Slab"/>
                <a:cs typeface="Josefin Slab"/>
                <a:sym typeface="Josefin Slab"/>
              </a:rPr>
              <a:t>Joint</a:t>
            </a:r>
            <a:r>
              <a:rPr lang="en" sz="3000">
                <a:latin typeface="Josefin Slab"/>
                <a:ea typeface="Josefin Slab"/>
                <a:cs typeface="Josefin Slab"/>
                <a:sym typeface="Josefin Slab"/>
              </a:rPr>
              <a:t> </a:t>
            </a:r>
            <a:r>
              <a:rPr b="1" lang="en" sz="3000">
                <a:latin typeface="Josefin Slab"/>
                <a:ea typeface="Josefin Slab"/>
                <a:cs typeface="Josefin Slab"/>
                <a:sym typeface="Josefin Slab"/>
              </a:rPr>
              <a:t>exposure</a:t>
            </a:r>
            <a:r>
              <a:rPr lang="en" sz="3000">
                <a:latin typeface="Josefin Slab"/>
                <a:ea typeface="Josefin Slab"/>
                <a:cs typeface="Josefin Slab"/>
                <a:sym typeface="Josefin Slab"/>
              </a:rPr>
              <a:t> to concurrent exogenous factors</a:t>
            </a:r>
            <a:endParaRPr sz="3000">
              <a:latin typeface="Josefin Slab"/>
              <a:ea typeface="Josefin Slab"/>
              <a:cs typeface="Josefin Slab"/>
              <a:sym typeface="Josefin Slab"/>
            </a:endParaRPr>
          </a:p>
          <a:p>
            <a:pPr indent="-457200" lvl="1" marL="914400" rtl="0" algn="l">
              <a:spcBef>
                <a:spcPts val="0"/>
              </a:spcBef>
              <a:spcAft>
                <a:spcPts val="0"/>
              </a:spcAft>
              <a:buSzPts val="3600"/>
              <a:buFont typeface="Arial"/>
              <a:buChar char="○"/>
            </a:pPr>
            <a:r>
              <a:rPr lang="en" sz="3000">
                <a:latin typeface="Josefin Slab"/>
                <a:ea typeface="Josefin Slab"/>
                <a:cs typeface="Josefin Slab"/>
                <a:sym typeface="Josefin Slab"/>
              </a:rPr>
              <a:t>Differential </a:t>
            </a:r>
            <a:r>
              <a:rPr b="1" lang="en" sz="3000">
                <a:latin typeface="Josefin Slab"/>
                <a:ea typeface="Josefin Slab"/>
                <a:cs typeface="Josefin Slab"/>
                <a:sym typeface="Josefin Slab"/>
              </a:rPr>
              <a:t>dynamic</a:t>
            </a:r>
            <a:r>
              <a:rPr lang="en" sz="3000">
                <a:latin typeface="Josefin Slab"/>
                <a:ea typeface="Josefin Slab"/>
                <a:cs typeface="Josefin Slab"/>
                <a:sym typeface="Josefin Slab"/>
              </a:rPr>
              <a:t> </a:t>
            </a:r>
            <a:r>
              <a:rPr b="1" lang="en" sz="3000">
                <a:latin typeface="Josefin Slab"/>
                <a:ea typeface="Josefin Slab"/>
                <a:cs typeface="Josefin Slab"/>
                <a:sym typeface="Josefin Slab"/>
              </a:rPr>
              <a:t>viability</a:t>
            </a:r>
            <a:r>
              <a:rPr lang="en" sz="3000">
                <a:latin typeface="Josefin Slab"/>
                <a:ea typeface="Josefin Slab"/>
                <a:cs typeface="Josefin Slab"/>
                <a:sym typeface="Josefin Slab"/>
              </a:rPr>
              <a:t> of relationships that fail to exhibit matching (Noel and Nyhan 2011)</a:t>
            </a:r>
            <a:endParaRPr sz="3000">
              <a:latin typeface="Josefin Slab"/>
              <a:ea typeface="Josefin Slab"/>
              <a:cs typeface="Josefin Slab"/>
              <a:sym typeface="Josefin Slab"/>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influence or imitation</a:t>
            </a:r>
            <a:endParaRPr/>
          </a:p>
        </p:txBody>
      </p:sp>
      <p:sp>
        <p:nvSpPr>
          <p:cNvPr id="105" name="Google Shape;105;p19"/>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Accounts for the fact that the  distribution  of  behaviors   across  persons  in  sociodemographic  space  is “lumpy” and clustered in proximal regions of this space.   </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The  model  explains  this clustering  by  suggesting  that  the  dynamics  of  the  acquisition  and  transmission  of  tastes  and practices is best envisioned as a “local bandwagon” process of network-based imitation, influence and dyadic role-modeling  </a:t>
            </a:r>
            <a:endParaRPr>
              <a:latin typeface="Josefin Slab"/>
              <a:ea typeface="Josefin Slab"/>
              <a:cs typeface="Josefin Slab"/>
              <a:sym typeface="Josefin Slab"/>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influence or imitation</a:t>
            </a:r>
            <a:endParaRPr/>
          </a:p>
        </p:txBody>
      </p:sp>
      <p:sp>
        <p:nvSpPr>
          <p:cNvPr id="111" name="Google Shape;111;p20"/>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This role-modeling may be dyadic or it may depend on the </a:t>
            </a:r>
            <a:r>
              <a:rPr b="1" lang="en">
                <a:latin typeface="Josefin Slab"/>
                <a:ea typeface="Josefin Slab"/>
                <a:cs typeface="Josefin Slab"/>
                <a:sym typeface="Josefin Slab"/>
              </a:rPr>
              <a:t>number</a:t>
            </a:r>
            <a:r>
              <a:rPr lang="en">
                <a:latin typeface="Josefin Slab"/>
                <a:ea typeface="Josefin Slab"/>
                <a:cs typeface="Josefin Slab"/>
                <a:sym typeface="Josefin Slab"/>
              </a:rPr>
              <a:t> of persons in the individual’s relational environment that engage in the practice.  </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The latter, what are often called “threshold” models, are popular in network-based diffusion studies (Granovetter and Soong 1988) also referred to as "complex contagion" models Centola and Macy 2005)  </a:t>
            </a:r>
            <a:endParaRPr>
              <a:latin typeface="Josefin Slab"/>
              <a:ea typeface="Josefin Slab"/>
              <a:cs typeface="Josefin Slab"/>
              <a:sym typeface="Josefin Slab"/>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influence or imitation</a:t>
            </a:r>
            <a:endParaRPr/>
          </a:p>
        </p:txBody>
      </p:sp>
      <p:sp>
        <p:nvSpPr>
          <p:cNvPr id="117" name="Google Shape;117;p21"/>
          <p:cNvSpPr txBox="1"/>
          <p:nvPr>
            <p:ph idx="1" type="body"/>
          </p:nvPr>
        </p:nvSpPr>
        <p:spPr>
          <a:xfrm>
            <a:off x="457200" y="1600200"/>
            <a:ext cx="51303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The basic assumption here is that people are highly susceptible to the influence of their current contacts</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Behavioral propensities are seen not a</a:t>
            </a:r>
            <a:r>
              <a:rPr b="1" lang="en">
                <a:latin typeface="Josefin Slab"/>
                <a:ea typeface="Josefin Slab"/>
                <a:cs typeface="Josefin Slab"/>
                <a:sym typeface="Josefin Slab"/>
              </a:rPr>
              <a:t>s enduring aspects</a:t>
            </a:r>
            <a:r>
              <a:rPr lang="en">
                <a:latin typeface="Josefin Slab"/>
                <a:ea typeface="Josefin Slab"/>
                <a:cs typeface="Josefin Slab"/>
                <a:sym typeface="Josefin Slab"/>
              </a:rPr>
              <a:t> of the person but as </a:t>
            </a:r>
            <a:r>
              <a:rPr b="1" lang="en">
                <a:latin typeface="Josefin Slab"/>
                <a:ea typeface="Josefin Slab"/>
                <a:cs typeface="Josefin Slab"/>
                <a:sym typeface="Josefin Slab"/>
              </a:rPr>
              <a:t>malleable</a:t>
            </a:r>
            <a:r>
              <a:rPr lang="en">
                <a:latin typeface="Josefin Slab"/>
                <a:ea typeface="Josefin Slab"/>
                <a:cs typeface="Josefin Slab"/>
                <a:sym typeface="Josefin Slab"/>
              </a:rPr>
              <a:t> personal attributes liable to change when network  ties change.</a:t>
            </a:r>
            <a:endParaRPr>
              <a:latin typeface="Josefin Slab"/>
              <a:ea typeface="Josefin Slab"/>
              <a:cs typeface="Josefin Slab"/>
              <a:sym typeface="Josefin Slab"/>
            </a:endParaRPr>
          </a:p>
        </p:txBody>
      </p:sp>
      <p:pic>
        <p:nvPicPr>
          <p:cNvPr id="118" name="Google Shape;118;p21"/>
          <p:cNvPicPr preferRelativeResize="0"/>
          <p:nvPr/>
        </p:nvPicPr>
        <p:blipFill>
          <a:blip r:embed="rId3">
            <a:alphaModFix/>
          </a:blip>
          <a:stretch>
            <a:fillRect/>
          </a:stretch>
        </p:blipFill>
        <p:spPr>
          <a:xfrm>
            <a:off x="5587500" y="2241292"/>
            <a:ext cx="3025359" cy="237541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influence or imitation</a:t>
            </a:r>
            <a:endParaRPr/>
          </a:p>
        </p:txBody>
      </p:sp>
      <p:sp>
        <p:nvSpPr>
          <p:cNvPr id="124" name="Google Shape;124;p22"/>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According to this model, behavioral change must come </a:t>
            </a:r>
            <a:r>
              <a:rPr b="1" lang="en">
                <a:latin typeface="Josefin Slab"/>
                <a:ea typeface="Josefin Slab"/>
                <a:cs typeface="Josefin Slab"/>
                <a:sym typeface="Josefin Slab"/>
              </a:rPr>
              <a:t>after</a:t>
            </a:r>
            <a:r>
              <a:rPr lang="en">
                <a:latin typeface="Josefin Slab"/>
                <a:ea typeface="Josefin Slab"/>
                <a:cs typeface="Josefin Slab"/>
                <a:sym typeface="Josefin Slab"/>
              </a:rPr>
              <a:t> interaction: </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Individuals first form relationships and only later do their behavioral outcomes become similar through influence/mimicking processes. </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This model implies a relative asymmetry in the “speed” of the temporal dynamics of relational and behavioral change: </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Relational dynamics must be relatively </a:t>
            </a:r>
            <a:r>
              <a:rPr b="1" lang="en">
                <a:latin typeface="Josefin Slab"/>
                <a:ea typeface="Josefin Slab"/>
                <a:cs typeface="Josefin Slab"/>
                <a:sym typeface="Josefin Slab"/>
              </a:rPr>
              <a:t>stable</a:t>
            </a:r>
            <a:r>
              <a:rPr lang="en">
                <a:latin typeface="Josefin Slab"/>
                <a:ea typeface="Josefin Slab"/>
                <a:cs typeface="Josefin Slab"/>
                <a:sym typeface="Josefin Slab"/>
              </a:rPr>
              <a:t> in comparison to </a:t>
            </a:r>
            <a:r>
              <a:rPr b="1" lang="en">
                <a:latin typeface="Josefin Slab"/>
                <a:ea typeface="Josefin Slab"/>
                <a:cs typeface="Josefin Slab"/>
                <a:sym typeface="Josefin Slab"/>
              </a:rPr>
              <a:t>behavioral</a:t>
            </a:r>
            <a:r>
              <a:rPr lang="en">
                <a:latin typeface="Josefin Slab"/>
                <a:ea typeface="Josefin Slab"/>
                <a:cs typeface="Josefin Slab"/>
                <a:sym typeface="Josefin Slab"/>
              </a:rPr>
              <a:t> dynamics, otherwise social relationships could not be a “cause” of behavioral change</a:t>
            </a:r>
            <a:endParaRPr>
              <a:latin typeface="Josefin Slab"/>
              <a:ea typeface="Josefin Slab"/>
              <a:cs typeface="Josefin Slab"/>
              <a:sym typeface="Josefin Slab"/>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influence or imitation</a:t>
            </a:r>
            <a:endParaRPr/>
          </a:p>
        </p:txBody>
      </p:sp>
      <p:sp>
        <p:nvSpPr>
          <p:cNvPr id="130" name="Google Shape;130;p23"/>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The assumption that network structure is relatively stable in relation to behavioral patterns is rarely directly tested in social contagion studies </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Validly assessing the strength of the contagion mechanism can only be ascertained with dynamic data</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Preferably data that contains comprehensive (i.e. not artificially censored by the data collection mechanism) on the individual’s relational environment</a:t>
            </a:r>
            <a:endParaRPr>
              <a:latin typeface="Josefin Slab"/>
              <a:ea typeface="Josefin Slab"/>
              <a:cs typeface="Josefin Slab"/>
              <a:sym typeface="Josefin Slab"/>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preference and self-selection</a:t>
            </a:r>
            <a:endParaRPr/>
          </a:p>
        </p:txBody>
      </p:sp>
      <p:sp>
        <p:nvSpPr>
          <p:cNvPr id="136" name="Google Shape;136;p24"/>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Persons may already display substantial behavioral similarity prior to the formation of the relevant relationships </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This “choice homophily” model postulates that behavioral and other personal attributes serve as a s</a:t>
            </a:r>
            <a:r>
              <a:rPr b="1" lang="en">
                <a:latin typeface="Josefin Slab"/>
                <a:ea typeface="Josefin Slab"/>
                <a:cs typeface="Josefin Slab"/>
                <a:sym typeface="Josefin Slab"/>
              </a:rPr>
              <a:t>elf-selection mechanism </a:t>
            </a:r>
            <a:r>
              <a:rPr lang="en">
                <a:latin typeface="Josefin Slab"/>
                <a:ea typeface="Josefin Slab"/>
                <a:cs typeface="Josefin Slab"/>
                <a:sym typeface="Josefin Slab"/>
              </a:rPr>
              <a:t>in tie formation. </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According to this model, interaction comes </a:t>
            </a:r>
            <a:r>
              <a:rPr b="1" lang="en">
                <a:latin typeface="Josefin Slab"/>
                <a:ea typeface="Josefin Slab"/>
                <a:cs typeface="Josefin Slab"/>
                <a:sym typeface="Josefin Slab"/>
              </a:rPr>
              <a:t>after the fact</a:t>
            </a:r>
            <a:r>
              <a:rPr lang="en">
                <a:latin typeface="Josefin Slab"/>
                <a:ea typeface="Josefin Slab"/>
                <a:cs typeface="Josefin Slab"/>
                <a:sym typeface="Josefin Slab"/>
              </a:rPr>
              <a:t> of behavioral matching: individuals </a:t>
            </a:r>
            <a:r>
              <a:rPr b="1" lang="en">
                <a:latin typeface="Josefin Slab"/>
                <a:ea typeface="Josefin Slab"/>
                <a:cs typeface="Josefin Slab"/>
                <a:sym typeface="Josefin Slab"/>
              </a:rPr>
              <a:t>first</a:t>
            </a:r>
            <a:r>
              <a:rPr lang="en">
                <a:latin typeface="Josefin Slab"/>
                <a:ea typeface="Josefin Slab"/>
                <a:cs typeface="Josefin Slab"/>
                <a:sym typeface="Josefin Slab"/>
              </a:rPr>
              <a:t> develop durable (e.g. habitual) behavioral dispositions and only later select friends based on their similarity on the relevant behavioral attributes</a:t>
            </a:r>
            <a:endParaRPr>
              <a:latin typeface="Josefin Slab"/>
              <a:ea typeface="Josefin Slab"/>
              <a:cs typeface="Josefin Slab"/>
              <a:sym typeface="Josefin Slab"/>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preference and self-selection</a:t>
            </a:r>
            <a:endParaRPr/>
          </a:p>
        </p:txBody>
      </p:sp>
      <p:sp>
        <p:nvSpPr>
          <p:cNvPr id="142" name="Google Shape;142;p25"/>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Here the assumption is that individual behavioral predispositions are durable and exhibit “slower” dynamics than more volatile social relations (Bidart and Lavenu 2005; Vaisey and Lizardo 2006)</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If behaviors change at a slower rate than personal relationships, matching occurs via non-random tie formation processes</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Individuals are more likely to select as their friends those who exhibit the same behavioral dispositions as they do</a:t>
            </a:r>
            <a:endParaRPr>
              <a:latin typeface="Josefin Slab"/>
              <a:ea typeface="Josefin Slab"/>
              <a:cs typeface="Josefin Slab"/>
              <a:sym typeface="Josefin Slab"/>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selective avoidance or withdrawal</a:t>
            </a:r>
            <a:endParaRPr/>
          </a:p>
        </p:txBody>
      </p:sp>
      <p:sp>
        <p:nvSpPr>
          <p:cNvPr id="148" name="Google Shape;148;p26"/>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Contagion and selection theories presuppose that network-behavior matching occurs via processes either completely or partially under the actor’s control. </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Recent research provides evidence for the operation of an alternative set of mechanisms capable of producing behavioral homophily </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These mechanisms may operate independently of influence and biased-choice processes</a:t>
            </a:r>
            <a:endParaRPr>
              <a:latin typeface="Josefin Slab"/>
              <a:ea typeface="Josefin Slab"/>
              <a:cs typeface="Josefin Slab"/>
              <a:sym typeface="Josefin Slab"/>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selective avoidance or withdrawal</a:t>
            </a:r>
            <a:endParaRPr/>
          </a:p>
        </p:txBody>
      </p:sp>
      <p:sp>
        <p:nvSpPr>
          <p:cNvPr id="154" name="Google Shape;154;p27"/>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According to this model  behavioral homophily emerges via the evolution of sociable interaction in the network</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This happens if the behavioral trait in question:</a:t>
            </a:r>
            <a:endParaRPr>
              <a:latin typeface="Josefin Slab"/>
              <a:ea typeface="Josefin Slab"/>
              <a:cs typeface="Josefin Slab"/>
              <a:sym typeface="Josefin Slab"/>
            </a:endParaRPr>
          </a:p>
          <a:p>
            <a:pPr indent="-419100" lvl="2" marL="1371600" rtl="0" algn="l">
              <a:spcBef>
                <a:spcPts val="0"/>
              </a:spcBef>
              <a:spcAft>
                <a:spcPts val="0"/>
              </a:spcAft>
              <a:buSzPts val="3000"/>
              <a:buFont typeface="Arial"/>
              <a:buChar char="■"/>
            </a:pPr>
            <a:r>
              <a:rPr lang="en" sz="2000">
                <a:latin typeface="Josefin Slab"/>
                <a:ea typeface="Josefin Slab"/>
                <a:cs typeface="Josefin Slab"/>
                <a:sym typeface="Josefin Slab"/>
              </a:rPr>
              <a:t>Is correlated with sociability(from ego’s perspective) </a:t>
            </a:r>
            <a:endParaRPr sz="2000">
              <a:latin typeface="Josefin Slab"/>
              <a:ea typeface="Josefin Slab"/>
              <a:cs typeface="Josefin Slab"/>
              <a:sym typeface="Josefin Slab"/>
            </a:endParaRPr>
          </a:p>
          <a:p>
            <a:pPr indent="-419100" lvl="2" marL="1371600" rtl="0" algn="l">
              <a:spcBef>
                <a:spcPts val="0"/>
              </a:spcBef>
              <a:spcAft>
                <a:spcPts val="0"/>
              </a:spcAft>
              <a:buSzPts val="3000"/>
              <a:buFont typeface="Arial"/>
              <a:buChar char="■"/>
            </a:pPr>
            <a:r>
              <a:rPr lang="en" sz="2000">
                <a:latin typeface="Josefin Slab"/>
                <a:ea typeface="Josefin Slab"/>
                <a:cs typeface="Josefin Slab"/>
                <a:sym typeface="Josefin Slab"/>
              </a:rPr>
              <a:t>Is correlated with social desirability (from alter’s perspective)</a:t>
            </a:r>
            <a:endParaRPr sz="2000">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This leaves persons with no other partners to connect to other than those who share the behavioral trait</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But there is no active selection based on the trait </a:t>
            </a:r>
            <a:endParaRPr>
              <a:latin typeface="Josefin Slab"/>
              <a:ea typeface="Josefin Slab"/>
              <a:cs typeface="Josefin Slab"/>
              <a:sym typeface="Josefin Slab"/>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selective avoidance or withdrawal</a:t>
            </a:r>
            <a:endParaRPr/>
          </a:p>
        </p:txBody>
      </p:sp>
      <p:sp>
        <p:nvSpPr>
          <p:cNvPr id="160" name="Google Shape;160;p28"/>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According to this model  behavioral homophily emerges via the evolution of sociable interaction in the network</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This happens if the behavioral trait in question:</a:t>
            </a:r>
            <a:endParaRPr>
              <a:latin typeface="Josefin Slab"/>
              <a:ea typeface="Josefin Slab"/>
              <a:cs typeface="Josefin Slab"/>
              <a:sym typeface="Josefin Slab"/>
            </a:endParaRPr>
          </a:p>
          <a:p>
            <a:pPr indent="-419100" lvl="2" marL="1371600" rtl="0" algn="l">
              <a:spcBef>
                <a:spcPts val="0"/>
              </a:spcBef>
              <a:spcAft>
                <a:spcPts val="0"/>
              </a:spcAft>
              <a:buSzPts val="3000"/>
              <a:buFont typeface="Arial"/>
              <a:buChar char="■"/>
            </a:pPr>
            <a:r>
              <a:rPr lang="en" sz="2000">
                <a:latin typeface="Josefin Slab"/>
                <a:ea typeface="Josefin Slab"/>
                <a:cs typeface="Josefin Slab"/>
                <a:sym typeface="Josefin Slab"/>
              </a:rPr>
              <a:t>Is correlated with sociability(from ego’s perspective) </a:t>
            </a:r>
            <a:endParaRPr sz="2000">
              <a:latin typeface="Josefin Slab"/>
              <a:ea typeface="Josefin Slab"/>
              <a:cs typeface="Josefin Slab"/>
              <a:sym typeface="Josefin Slab"/>
            </a:endParaRPr>
          </a:p>
          <a:p>
            <a:pPr indent="-419100" lvl="2" marL="1371600" rtl="0" algn="l">
              <a:spcBef>
                <a:spcPts val="0"/>
              </a:spcBef>
              <a:spcAft>
                <a:spcPts val="0"/>
              </a:spcAft>
              <a:buSzPts val="3000"/>
              <a:buFont typeface="Arial"/>
              <a:buChar char="■"/>
            </a:pPr>
            <a:r>
              <a:rPr lang="en" sz="2000">
                <a:latin typeface="Josefin Slab"/>
                <a:ea typeface="Josefin Slab"/>
                <a:cs typeface="Josefin Slab"/>
                <a:sym typeface="Josefin Slab"/>
              </a:rPr>
              <a:t>Is correlated with social desirability (from alter’s perspective)</a:t>
            </a:r>
            <a:endParaRPr sz="2000">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This leaves persons with no other partners to connect to other than those who share the behavioral trait</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But there is no active selection based on the trait </a:t>
            </a:r>
            <a:endParaRPr>
              <a:latin typeface="Josefin Slab"/>
              <a:ea typeface="Josefin Slab"/>
              <a:cs typeface="Josefin Slab"/>
              <a:sym typeface="Josefin Slab"/>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dyadic evolution processes</a:t>
            </a:r>
            <a:endParaRPr/>
          </a:p>
        </p:txBody>
      </p:sp>
      <p:sp>
        <p:nvSpPr>
          <p:cNvPr id="166" name="Google Shape;166;p29"/>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Social networks are dynamic, self-organizing structures</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Research has begun to focus on understanding the “life-span” of dyadic ties and their evolutionary dynamic (Kilduff et al 2006)</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These network evolution processes are partially governed by mechanisms that are inherent to the social tie itself</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They are thus analytically and empirically independent from the actor-based mechanisms discussed so far </a:t>
            </a:r>
            <a:endParaRPr>
              <a:latin typeface="Josefin Slab"/>
              <a:ea typeface="Josefin Slab"/>
              <a:cs typeface="Josefin Slab"/>
              <a:sym typeface="Josefin Slab"/>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dyadic evolution processes</a:t>
            </a:r>
            <a:endParaRPr/>
          </a:p>
        </p:txBody>
      </p:sp>
      <p:sp>
        <p:nvSpPr>
          <p:cNvPr id="172" name="Google Shape;172;p30"/>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From this perspective, high probabilities of tie dissolution after formation are the result of strong selective pressures that operate early in the relationship building process.   </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Persons learn whether or not they are similar to someone they have met, and/or they experience imbalance in the relationship (non-reciprocity), leading them to stop interacting with the other person </a:t>
            </a:r>
            <a:endParaRPr>
              <a:latin typeface="Josefin Slab"/>
              <a:ea typeface="Josefin Slab"/>
              <a:cs typeface="Josefin Slab"/>
              <a:sym typeface="Josefin Slab"/>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dyadic evolution processes</a:t>
            </a:r>
            <a:endParaRPr/>
          </a:p>
        </p:txBody>
      </p:sp>
      <p:sp>
        <p:nvSpPr>
          <p:cNvPr id="178" name="Google Shape;178;p31"/>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This is consistent with recent work that shows that so-called “assortative mixing” may be as much a result of:</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The selective dissolution of social ties characterized by behavioral mismatch (presuming initial random mixing) than the active choice of similar partners to form a relationship (Noel and Nyhan 2011)  </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According to this endogenous evolutionary model, persons do not (initially) “choose” their partners based on behavioral commonality, possibly because they lack relevant information on the behavioral propensities of acquaintances prior to interacting with them</a:t>
            </a:r>
            <a:endParaRPr>
              <a:latin typeface="Josefin Slab"/>
              <a:ea typeface="Josefin Slab"/>
              <a:cs typeface="Josefin Slab"/>
              <a:sym typeface="Josefin Slab"/>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dyadic evolution processes</a:t>
            </a:r>
            <a:endParaRPr/>
          </a:p>
        </p:txBody>
      </p:sp>
      <p:sp>
        <p:nvSpPr>
          <p:cNvPr id="184" name="Google Shape;184;p32"/>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Instead behavioral matching emerges in a population as:</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Mismatched ties are selectively removed (due to their higher mortality hazard)</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Matched ties are selectively retained (due to their slower decay propensities). </a:t>
            </a:r>
            <a:endParaRPr>
              <a:latin typeface="Josefin Slab"/>
              <a:ea typeface="Josefin Slab"/>
              <a:cs typeface="Josefin Slab"/>
              <a:sym typeface="Josefin Slab"/>
            </a:endParaRPr>
          </a:p>
          <a:p>
            <a:pPr indent="-419100" lvl="0" marL="457200" rtl="0" algn="l">
              <a:spcBef>
                <a:spcPts val="0"/>
              </a:spcBef>
              <a:spcAft>
                <a:spcPts val="0"/>
              </a:spcAft>
              <a:buSzPts val="3000"/>
              <a:buFont typeface="Arial"/>
              <a:buChar char="●"/>
            </a:pPr>
            <a:r>
              <a:rPr lang="en">
                <a:latin typeface="Josefin Slab"/>
                <a:ea typeface="Josefin Slab"/>
                <a:cs typeface="Josefin Slab"/>
                <a:sym typeface="Josefin Slab"/>
              </a:rPr>
              <a:t>Ignoring these fine-grained dynamics, we can end up with data in which social ties endogenously self-select into the observation set (Noel and Nyhan 2011)</a:t>
            </a:r>
            <a:endParaRPr>
              <a:latin typeface="Josefin Slab"/>
              <a:ea typeface="Josefin Slab"/>
              <a:cs typeface="Josefin Slab"/>
              <a:sym typeface="Josefin Slab"/>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shared interaction contexts</a:t>
            </a:r>
            <a:endParaRPr/>
          </a:p>
        </p:txBody>
      </p:sp>
      <p:sp>
        <p:nvSpPr>
          <p:cNvPr id="190" name="Google Shape;190;p33"/>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Ego and alter may share an overarching social  context making them similar on some traits and more likely to form a social tie.   </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Often  referred  to  as  a "common social focus" in network theory (Feld, 1981) and as the problem of confounding contextual effects in econometrics  (Cohen-Cole &amp; Fletcher, 2008a)</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When this mechanism operates, observed network-behavior correlations could be spurious, the result of a common cause (context) that affects </a:t>
            </a:r>
            <a:r>
              <a:rPr b="1" lang="en">
                <a:latin typeface="Josefin Slab"/>
                <a:ea typeface="Josefin Slab"/>
                <a:cs typeface="Josefin Slab"/>
                <a:sym typeface="Josefin Slab"/>
              </a:rPr>
              <a:t>both</a:t>
            </a:r>
            <a:r>
              <a:rPr lang="en">
                <a:latin typeface="Josefin Slab"/>
                <a:ea typeface="Josefin Slab"/>
                <a:cs typeface="Josefin Slab"/>
                <a:sym typeface="Josefin Slab"/>
              </a:rPr>
              <a:t> the probability of forming a tie and of having a behavioral trait</a:t>
            </a:r>
            <a:endParaRPr>
              <a:latin typeface="Josefin Slab"/>
              <a:ea typeface="Josefin Slab"/>
              <a:cs typeface="Josefin Slab"/>
              <a:sym typeface="Josefin Slab"/>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4"/>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Behavioral homophily via shared interaction contexts</a:t>
            </a:r>
            <a:endParaRPr/>
          </a:p>
        </p:txBody>
      </p:sp>
      <p:sp>
        <p:nvSpPr>
          <p:cNvPr id="196" name="Google Shape;196;p34"/>
          <p:cNvSpPr txBox="1"/>
          <p:nvPr>
            <p:ph idx="1" type="body"/>
          </p:nvPr>
        </p:nvSpPr>
        <p:spPr>
          <a:xfrm>
            <a:off x="457200" y="1600200"/>
            <a:ext cx="8246100" cy="3336900"/>
          </a:xfrm>
          <a:prstGeom prst="rect">
            <a:avLst/>
          </a:prstGeom>
        </p:spPr>
        <p:txBody>
          <a:bodyPr anchorCtr="0" anchor="t" bIns="91425" lIns="91425" spcFirstLastPara="1" rIns="91425" wrap="square" tIns="91425">
            <a:noAutofit/>
          </a:bodyPr>
          <a:lstStyle/>
          <a:p>
            <a:pPr indent="-419100" lvl="0" marL="457200" rtl="0" algn="l">
              <a:spcBef>
                <a:spcPts val="480"/>
              </a:spcBef>
              <a:spcAft>
                <a:spcPts val="0"/>
              </a:spcAft>
              <a:buSzPts val="3000"/>
              <a:buFont typeface="Arial"/>
              <a:buChar char="●"/>
            </a:pPr>
            <a:r>
              <a:rPr lang="en">
                <a:latin typeface="Josefin Slab"/>
                <a:ea typeface="Josefin Slab"/>
                <a:cs typeface="Josefin Slab"/>
                <a:sym typeface="Josefin Slab"/>
              </a:rPr>
              <a:t>Controlling for confounding contextual factors requires either:</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Studying a population for whom the context is fixed and in which the choice of context  is shared by all </a:t>
            </a:r>
            <a:endParaRPr>
              <a:latin typeface="Josefin Slab"/>
              <a:ea typeface="Josefin Slab"/>
              <a:cs typeface="Josefin Slab"/>
              <a:sym typeface="Josefin Slab"/>
            </a:endParaRPr>
          </a:p>
          <a:p>
            <a:pPr indent="-419100" lvl="1" marL="914400" rtl="0" algn="l">
              <a:spcBef>
                <a:spcPts val="0"/>
              </a:spcBef>
              <a:spcAft>
                <a:spcPts val="0"/>
              </a:spcAft>
              <a:buSzPts val="3000"/>
              <a:buFont typeface="Arial"/>
              <a:buChar char="○"/>
            </a:pPr>
            <a:r>
              <a:rPr lang="en">
                <a:latin typeface="Josefin Slab"/>
                <a:ea typeface="Josefin Slab"/>
                <a:cs typeface="Josefin Slab"/>
                <a:sym typeface="Josefin Slab"/>
              </a:rPr>
              <a:t>Measuring affiliations (e.g., club membership, classes taken) and statistically adjusting for shared interaction contexts when modeling both tie formation, decay, and social influence</a:t>
            </a:r>
            <a:endParaRPr>
              <a:latin typeface="Josefin Slab"/>
              <a:ea typeface="Josefin Slab"/>
              <a:cs typeface="Josefin Slab"/>
              <a:sym typeface="Josefin Slab"/>
            </a:endParaRPr>
          </a:p>
        </p:txBody>
      </p:sp>
      <p:pic>
        <p:nvPicPr>
          <p:cNvPr id="197" name="Google Shape;197;p34"/>
          <p:cNvPicPr preferRelativeResize="0"/>
          <p:nvPr/>
        </p:nvPicPr>
        <p:blipFill>
          <a:blip r:embed="rId3">
            <a:alphaModFix/>
          </a:blip>
          <a:stretch>
            <a:fillRect/>
          </a:stretch>
        </p:blipFill>
        <p:spPr>
          <a:xfrm>
            <a:off x="4676325" y="4866700"/>
            <a:ext cx="2773375" cy="1819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Custom 218">
      <a:dk1>
        <a:srgbClr val="000000"/>
      </a:dk1>
      <a:lt1>
        <a:srgbClr val="FFFFFF"/>
      </a:lt1>
      <a:dk2>
        <a:srgbClr val="5B595A"/>
      </a:dk2>
      <a:lt2>
        <a:srgbClr val="CFD4D4"/>
      </a:lt2>
      <a:accent1>
        <a:srgbClr val="CC0202"/>
      </a:accent1>
      <a:accent2>
        <a:srgbClr val="228AFF"/>
      </a:accent2>
      <a:accent3>
        <a:srgbClr val="FBC82F"/>
      </a:accent3>
      <a:accent4>
        <a:srgbClr val="253E91"/>
      </a:accent4>
      <a:accent5>
        <a:srgbClr val="F68D0C"/>
      </a:accent5>
      <a:accent6>
        <a:srgbClr val="257E12"/>
      </a:accent6>
      <a:hlink>
        <a:srgbClr val="144C72"/>
      </a:hlink>
      <a:folHlink>
        <a:srgbClr val="8C9D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