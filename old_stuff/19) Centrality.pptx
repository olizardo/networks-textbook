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y="5143500" cx="9144000"/>
  <p:notesSz cx="6858000" cy="9144000"/>
  <p:embeddedFontLst>
    <p:embeddedFont>
      <p:font typeface="Economica"/>
      <p:regular r:id="rId81"/>
      <p:bold r:id="rId82"/>
      <p:italic r:id="rId83"/>
      <p:boldItalic r:id="rId84"/>
    </p:embeddedFont>
    <p:embeddedFont>
      <p:font typeface="Roboto"/>
      <p:regular r:id="rId85"/>
      <p:bold r:id="rId86"/>
      <p:italic r:id="rId87"/>
      <p:boldItalic r:id="rId88"/>
    </p:embeddedFont>
    <p:embeddedFont>
      <p:font typeface="Oxygen"/>
      <p:regular r:id="rId89"/>
      <p:bold r:id="rId90"/>
    </p:embeddedFont>
    <p:embeddedFont>
      <p:font typeface="Open Sans"/>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A34EA7-D14D-4E9C-8ABE-802B72326A17}">
  <a:tblStyle styleId="{8FA34EA7-D14D-4E9C-8ABE-802B72326A1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37DEEDC-AE2E-4B14-ACF6-3FA4F663FCE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Economica-boldItalic.fntdata"/><Relationship Id="rId83" Type="http://schemas.openxmlformats.org/officeDocument/2006/relationships/font" Target="fonts/Economica-italic.fntdata"/><Relationship Id="rId42" Type="http://schemas.openxmlformats.org/officeDocument/2006/relationships/slide" Target="slides/slide35.xml"/><Relationship Id="rId86" Type="http://schemas.openxmlformats.org/officeDocument/2006/relationships/font" Target="fonts/Roboto-bold.fntdata"/><Relationship Id="rId41" Type="http://schemas.openxmlformats.org/officeDocument/2006/relationships/slide" Target="slides/slide34.xml"/><Relationship Id="rId85" Type="http://schemas.openxmlformats.org/officeDocument/2006/relationships/font" Target="fonts/Roboto-regular.fntdata"/><Relationship Id="rId44" Type="http://schemas.openxmlformats.org/officeDocument/2006/relationships/slide" Target="slides/slide37.xml"/><Relationship Id="rId88" Type="http://schemas.openxmlformats.org/officeDocument/2006/relationships/font" Target="fonts/Roboto-boldItalic.fntdata"/><Relationship Id="rId43" Type="http://schemas.openxmlformats.org/officeDocument/2006/relationships/slide" Target="slides/slide36.xml"/><Relationship Id="rId87" Type="http://schemas.openxmlformats.org/officeDocument/2006/relationships/font" Target="fonts/Roboto-italic.fntdata"/><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font" Target="fonts/Oxygen-regular.fntdata"/><Relationship Id="rId80" Type="http://schemas.openxmlformats.org/officeDocument/2006/relationships/slide" Target="slides/slide73.xml"/><Relationship Id="rId82" Type="http://schemas.openxmlformats.org/officeDocument/2006/relationships/font" Target="fonts/Economica-bold.fntdata"/><Relationship Id="rId81" Type="http://schemas.openxmlformats.org/officeDocument/2006/relationships/font" Target="fonts/Economic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94" Type="http://schemas.openxmlformats.org/officeDocument/2006/relationships/font" Target="fonts/OpenSans-boldItalic.fntdata"/><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1" Type="http://schemas.openxmlformats.org/officeDocument/2006/relationships/font" Target="fonts/OpenSans-regular.fntdata"/><Relationship Id="rId90" Type="http://schemas.openxmlformats.org/officeDocument/2006/relationships/font" Target="fonts/Oxygen-bold.fntdata"/><Relationship Id="rId93" Type="http://schemas.openxmlformats.org/officeDocument/2006/relationships/font" Target="fonts/OpenSans-italic.fntdata"/><Relationship Id="rId92" Type="http://schemas.openxmlformats.org/officeDocument/2006/relationships/font" Target="fonts/OpenSans-bold.fnt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ac7000a63_0_1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ac7000a63_0_1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bac7000a63_0_1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bac7000a63_0_1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bac7000a63_0_2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bac7000a63_0_2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bac7000a63_0_2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bac7000a63_0_2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bac7000a63_0_2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bac7000a63_0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bac7000a63_0_2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bac7000a63_0_2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1440cdf3d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1440cdf3d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1440cdf3da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1440cdf3da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1440cdf3d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1440cdf3d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ac7000a63_0_2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ac7000a63_0_2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bac7000a63_0_2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bac7000a63_0_2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bac7000a63_0_2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bac7000a63_0_2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bac7000a63_0_2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bac7000a63_0_2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bac7000a63_0_2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bac7000a63_0_2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bac7000a63_0_2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bac7000a63_0_2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bac7000a63_0_2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bac7000a63_0_2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bac7000a63_0_2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bac7000a63_0_2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bac7000a63_0_2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bac7000a63_0_2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bac7000a63_0_2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bac7000a63_0_2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bac7000a63_0_2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bac7000a63_0_2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bac7000a63_0_2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bac7000a63_0_2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bac7000a63_0_2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bac7000a63_0_2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bac7000a63_0_2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bac7000a63_0_2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bac7000a63_0_2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bac7000a63_0_2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bac7000a63_0_2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bac7000a63_0_2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bac7000a63_0_2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bac7000a63_0_2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bac7000a63_0_2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bac7000a63_0_2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bac7000a63_0_2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bac7000a63_0_2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bac7000a63_0_2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bac7000a63_0_2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bac7000a63_0_2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bac7000a63_0_2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bac7000a63_0_2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bac7000a63_0_2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bac7000a63_0_2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bac7000a63_0_2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bac7000a63_0_2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bac7000a63_0_2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bac7000a63_0_2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bac7000a63_0_2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11440cdf3da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11440cdf3da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11440cdf3da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11440cdf3da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11440cdf3da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11440cdf3da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bac7000a63_0_2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bac7000a63_0_2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11440cdf4ea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11440cdf4ea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11440cdf3da_1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6" name="Google Shape;1366;g11440cdf3da_1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11440cdf3da_1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11440cdf3da_1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11440cdf4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11440cdf4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11440cdf4e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11440cdf4e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1145313d7f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1145313d7f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bac7000a63_0_2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gbac7000a63_0_2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bac7000a63_0_2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gbac7000a63_0_2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gbac7000a63_0_3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1" name="Google Shape;1661;gbac7000a63_0_3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bac7000a63_0_3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7" name="Google Shape;1717;gbac7000a63_0_3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gbac7000a63_0_3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3" name="Google Shape;1773;gbac7000a63_0_3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7" name="Shape 1827"/>
        <p:cNvGrpSpPr/>
        <p:nvPr/>
      </p:nvGrpSpPr>
      <p:grpSpPr>
        <a:xfrm>
          <a:off x="0" y="0"/>
          <a:ext cx="0" cy="0"/>
          <a:chOff x="0" y="0"/>
          <a:chExt cx="0" cy="0"/>
        </a:xfrm>
      </p:grpSpPr>
      <p:sp>
        <p:nvSpPr>
          <p:cNvPr id="1828" name="Google Shape;1828;gbac7000a63_0_3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9" name="Google Shape;1829;gbac7000a63_0_3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gbac7000a63_0_3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5" name="Google Shape;1885;gbac7000a63_0_3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9" name="Shape 1939"/>
        <p:cNvGrpSpPr/>
        <p:nvPr/>
      </p:nvGrpSpPr>
      <p:grpSpPr>
        <a:xfrm>
          <a:off x="0" y="0"/>
          <a:ext cx="0" cy="0"/>
          <a:chOff x="0" y="0"/>
          <a:chExt cx="0" cy="0"/>
        </a:xfrm>
      </p:grpSpPr>
      <p:sp>
        <p:nvSpPr>
          <p:cNvPr id="1940" name="Google Shape;1940;gbac7000a63_0_3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1" name="Google Shape;1941;gbac7000a63_0_3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gbac7000a63_0_3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7" name="Google Shape;1997;gbac7000a63_0_3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g1145313d7f8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4" name="Google Shape;2054;g1145313d7f8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gbac7000a63_0_3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1" name="Google Shape;2111;gbac7000a63_0_3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2" name="Shape 2132"/>
        <p:cNvGrpSpPr/>
        <p:nvPr/>
      </p:nvGrpSpPr>
      <p:grpSpPr>
        <a:xfrm>
          <a:off x="0" y="0"/>
          <a:ext cx="0" cy="0"/>
          <a:chOff x="0" y="0"/>
          <a:chExt cx="0" cy="0"/>
        </a:xfrm>
      </p:grpSpPr>
      <p:sp>
        <p:nvSpPr>
          <p:cNvPr id="2133" name="Google Shape;2133;gbac7000a63_0_3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4" name="Google Shape;2134;gbac7000a63_0_3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bac7000a63_0_3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bac7000a63_0_3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gbac7000a63_0_3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0" name="Google Shape;2180;gbac7000a63_0_3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1" name="Shape 2201"/>
        <p:cNvGrpSpPr/>
        <p:nvPr/>
      </p:nvGrpSpPr>
      <p:grpSpPr>
        <a:xfrm>
          <a:off x="0" y="0"/>
          <a:ext cx="0" cy="0"/>
          <a:chOff x="0" y="0"/>
          <a:chExt cx="0" cy="0"/>
        </a:xfrm>
      </p:grpSpPr>
      <p:sp>
        <p:nvSpPr>
          <p:cNvPr id="2202" name="Google Shape;2202;gbac7000a63_0_3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3" name="Google Shape;2203;gbac7000a63_0_3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7" name="Shape 2257"/>
        <p:cNvGrpSpPr/>
        <p:nvPr/>
      </p:nvGrpSpPr>
      <p:grpSpPr>
        <a:xfrm>
          <a:off x="0" y="0"/>
          <a:ext cx="0" cy="0"/>
          <a:chOff x="0" y="0"/>
          <a:chExt cx="0" cy="0"/>
        </a:xfrm>
      </p:grpSpPr>
      <p:sp>
        <p:nvSpPr>
          <p:cNvPr id="2258" name="Google Shape;2258;gbac7000a63_0_3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9" name="Google Shape;2259;gbac7000a63_0_3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gbac7000a63_0_3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6" name="Google Shape;2316;gbac7000a63_0_3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gbac7000a63_0_3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7" name="Google Shape;2377;gbac7000a63_0_3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2" name="Shape 2432"/>
        <p:cNvGrpSpPr/>
        <p:nvPr/>
      </p:nvGrpSpPr>
      <p:grpSpPr>
        <a:xfrm>
          <a:off x="0" y="0"/>
          <a:ext cx="0" cy="0"/>
          <a:chOff x="0" y="0"/>
          <a:chExt cx="0" cy="0"/>
        </a:xfrm>
      </p:grpSpPr>
      <p:sp>
        <p:nvSpPr>
          <p:cNvPr id="2433" name="Google Shape;2433;gbac7000a63_0_3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4" name="Google Shape;2434;gbac7000a63_0_3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9" name="Shape 2489"/>
        <p:cNvGrpSpPr/>
        <p:nvPr/>
      </p:nvGrpSpPr>
      <p:grpSpPr>
        <a:xfrm>
          <a:off x="0" y="0"/>
          <a:ext cx="0" cy="0"/>
          <a:chOff x="0" y="0"/>
          <a:chExt cx="0" cy="0"/>
        </a:xfrm>
      </p:grpSpPr>
      <p:sp>
        <p:nvSpPr>
          <p:cNvPr id="2490" name="Google Shape;2490;gbac7000a63_0_3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1" name="Google Shape;2491;gbac7000a63_0_3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6" name="Shape 2546"/>
        <p:cNvGrpSpPr/>
        <p:nvPr/>
      </p:nvGrpSpPr>
      <p:grpSpPr>
        <a:xfrm>
          <a:off x="0" y="0"/>
          <a:ext cx="0" cy="0"/>
          <a:chOff x="0" y="0"/>
          <a:chExt cx="0" cy="0"/>
        </a:xfrm>
      </p:grpSpPr>
      <p:sp>
        <p:nvSpPr>
          <p:cNvPr id="2547" name="Google Shape;2547;g1145313d7f8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8" name="Google Shape;2548;g1145313d7f8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gbac7000a63_0_3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5" name="Google Shape;2605;gbac7000a63_0_3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9" name="Shape 2609"/>
        <p:cNvGrpSpPr/>
        <p:nvPr/>
      </p:nvGrpSpPr>
      <p:grpSpPr>
        <a:xfrm>
          <a:off x="0" y="0"/>
          <a:ext cx="0" cy="0"/>
          <a:chOff x="0" y="0"/>
          <a:chExt cx="0" cy="0"/>
        </a:xfrm>
      </p:grpSpPr>
      <p:sp>
        <p:nvSpPr>
          <p:cNvPr id="2610" name="Google Shape;2610;g1145313d7f8_2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1" name="Google Shape;2611;g1145313d7f8_2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g11440cdf4ea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6" name="Google Shape;2616;g11440cdf4ea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g11440cdf4ea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1" name="Google Shape;2651;g11440cdf4ea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4" name="Shape 2684"/>
        <p:cNvGrpSpPr/>
        <p:nvPr/>
      </p:nvGrpSpPr>
      <p:grpSpPr>
        <a:xfrm>
          <a:off x="0" y="0"/>
          <a:ext cx="0" cy="0"/>
          <a:chOff x="0" y="0"/>
          <a:chExt cx="0" cy="0"/>
        </a:xfrm>
      </p:grpSpPr>
      <p:sp>
        <p:nvSpPr>
          <p:cNvPr id="2685" name="Google Shape;2685;g11440cdf4ea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6" name="Google Shape;2686;g11440cdf4ea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1" name="Shape 2721"/>
        <p:cNvGrpSpPr/>
        <p:nvPr/>
      </p:nvGrpSpPr>
      <p:grpSpPr>
        <a:xfrm>
          <a:off x="0" y="0"/>
          <a:ext cx="0" cy="0"/>
          <a:chOff x="0" y="0"/>
          <a:chExt cx="0" cy="0"/>
        </a:xfrm>
      </p:grpSpPr>
      <p:sp>
        <p:nvSpPr>
          <p:cNvPr id="2722" name="Google Shape;2722;g11440cdf4ea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3" name="Google Shape;2723;g11440cdf4ea_1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8" name="Shape 2758"/>
        <p:cNvGrpSpPr/>
        <p:nvPr/>
      </p:nvGrpSpPr>
      <p:grpSpPr>
        <a:xfrm>
          <a:off x="0" y="0"/>
          <a:ext cx="0" cy="0"/>
          <a:chOff x="0" y="0"/>
          <a:chExt cx="0" cy="0"/>
        </a:xfrm>
      </p:grpSpPr>
      <p:sp>
        <p:nvSpPr>
          <p:cNvPr id="2759" name="Google Shape;2759;g11440cdf4ea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0" name="Google Shape;2760;g11440cdf4ea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2" name="Shape 2792"/>
        <p:cNvGrpSpPr/>
        <p:nvPr/>
      </p:nvGrpSpPr>
      <p:grpSpPr>
        <a:xfrm>
          <a:off x="0" y="0"/>
          <a:ext cx="0" cy="0"/>
          <a:chOff x="0" y="0"/>
          <a:chExt cx="0" cy="0"/>
        </a:xfrm>
      </p:grpSpPr>
      <p:sp>
        <p:nvSpPr>
          <p:cNvPr id="2793" name="Google Shape;2793;g11440cdf4e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4" name="Google Shape;2794;g11440cdf4e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rtl="0"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rtl="0"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rtl="0"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rtl="0"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rtl="0"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rtl="0"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rtl="0"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rtl="0"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4200"/>
              <a:buNone/>
              <a:defRPr>
                <a:solidFill>
                  <a:schemeClr val="lt2"/>
                </a:solidFill>
              </a:defRPr>
            </a:lvl1pPr>
            <a:lvl2pPr lvl="1" rtl="0" algn="ctr">
              <a:spcBef>
                <a:spcPts val="0"/>
              </a:spcBef>
              <a:spcAft>
                <a:spcPts val="0"/>
              </a:spcAft>
              <a:buClr>
                <a:schemeClr val="lt2"/>
              </a:buClr>
              <a:buSzPts val="4200"/>
              <a:buNone/>
              <a:defRPr>
                <a:solidFill>
                  <a:schemeClr val="lt2"/>
                </a:solidFill>
              </a:defRPr>
            </a:lvl2pPr>
            <a:lvl3pPr lvl="2" rtl="0" algn="ctr">
              <a:spcBef>
                <a:spcPts val="0"/>
              </a:spcBef>
              <a:spcAft>
                <a:spcPts val="0"/>
              </a:spcAft>
              <a:buClr>
                <a:schemeClr val="lt2"/>
              </a:buClr>
              <a:buSzPts val="4200"/>
              <a:buNone/>
              <a:defRPr>
                <a:solidFill>
                  <a:schemeClr val="lt2"/>
                </a:solidFill>
              </a:defRPr>
            </a:lvl3pPr>
            <a:lvl4pPr lvl="3" rtl="0" algn="ctr">
              <a:spcBef>
                <a:spcPts val="0"/>
              </a:spcBef>
              <a:spcAft>
                <a:spcPts val="0"/>
              </a:spcAft>
              <a:buClr>
                <a:schemeClr val="lt2"/>
              </a:buClr>
              <a:buSzPts val="4200"/>
              <a:buNone/>
              <a:defRPr>
                <a:solidFill>
                  <a:schemeClr val="lt2"/>
                </a:solidFill>
              </a:defRPr>
            </a:lvl4pPr>
            <a:lvl5pPr lvl="4" rtl="0" algn="ctr">
              <a:spcBef>
                <a:spcPts val="0"/>
              </a:spcBef>
              <a:spcAft>
                <a:spcPts val="0"/>
              </a:spcAft>
              <a:buClr>
                <a:schemeClr val="lt2"/>
              </a:buClr>
              <a:buSzPts val="4200"/>
              <a:buNone/>
              <a:defRPr>
                <a:solidFill>
                  <a:schemeClr val="lt2"/>
                </a:solidFill>
              </a:defRPr>
            </a:lvl5pPr>
            <a:lvl6pPr lvl="5" rtl="0" algn="ctr">
              <a:spcBef>
                <a:spcPts val="0"/>
              </a:spcBef>
              <a:spcAft>
                <a:spcPts val="0"/>
              </a:spcAft>
              <a:buClr>
                <a:schemeClr val="lt2"/>
              </a:buClr>
              <a:buSzPts val="4200"/>
              <a:buNone/>
              <a:defRPr>
                <a:solidFill>
                  <a:schemeClr val="lt2"/>
                </a:solidFill>
              </a:defRPr>
            </a:lvl6pPr>
            <a:lvl7pPr lvl="6" rtl="0" algn="ctr">
              <a:spcBef>
                <a:spcPts val="0"/>
              </a:spcBef>
              <a:spcAft>
                <a:spcPts val="0"/>
              </a:spcAft>
              <a:buClr>
                <a:schemeClr val="lt2"/>
              </a:buClr>
              <a:buSzPts val="4200"/>
              <a:buNone/>
              <a:defRPr>
                <a:solidFill>
                  <a:schemeClr val="lt2"/>
                </a:solidFill>
              </a:defRPr>
            </a:lvl7pPr>
            <a:lvl8pPr lvl="7" rtl="0" algn="ctr">
              <a:spcBef>
                <a:spcPts val="0"/>
              </a:spcBef>
              <a:spcAft>
                <a:spcPts val="0"/>
              </a:spcAft>
              <a:buClr>
                <a:schemeClr val="lt2"/>
              </a:buClr>
              <a:buSzPts val="4200"/>
              <a:buNone/>
              <a:defRPr>
                <a:solidFill>
                  <a:schemeClr val="lt2"/>
                </a:solidFill>
              </a:defRPr>
            </a:lvl8pPr>
            <a:lvl9pPr lvl="8" rtl="0"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rtl="0"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rtl="0"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rtl="0"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rtl="0"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rtl="0"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rtl="0"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rtl="0"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rtl="0"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16000"/>
              <a:buNone/>
              <a:defRPr sz="16000">
                <a:solidFill>
                  <a:schemeClr val="lt2"/>
                </a:solidFill>
              </a:defRPr>
            </a:lvl1pPr>
            <a:lvl2pPr lvl="1" rtl="0" algn="ctr">
              <a:spcBef>
                <a:spcPts val="0"/>
              </a:spcBef>
              <a:spcAft>
                <a:spcPts val="0"/>
              </a:spcAft>
              <a:buClr>
                <a:schemeClr val="lt2"/>
              </a:buClr>
              <a:buSzPts val="16000"/>
              <a:buNone/>
              <a:defRPr sz="16000">
                <a:solidFill>
                  <a:schemeClr val="lt2"/>
                </a:solidFill>
              </a:defRPr>
            </a:lvl2pPr>
            <a:lvl3pPr lvl="2" rtl="0" algn="ctr">
              <a:spcBef>
                <a:spcPts val="0"/>
              </a:spcBef>
              <a:spcAft>
                <a:spcPts val="0"/>
              </a:spcAft>
              <a:buClr>
                <a:schemeClr val="lt2"/>
              </a:buClr>
              <a:buSzPts val="16000"/>
              <a:buNone/>
              <a:defRPr sz="16000">
                <a:solidFill>
                  <a:schemeClr val="lt2"/>
                </a:solidFill>
              </a:defRPr>
            </a:lvl3pPr>
            <a:lvl4pPr lvl="3" rtl="0" algn="ctr">
              <a:spcBef>
                <a:spcPts val="0"/>
              </a:spcBef>
              <a:spcAft>
                <a:spcPts val="0"/>
              </a:spcAft>
              <a:buClr>
                <a:schemeClr val="lt2"/>
              </a:buClr>
              <a:buSzPts val="16000"/>
              <a:buNone/>
              <a:defRPr sz="16000">
                <a:solidFill>
                  <a:schemeClr val="lt2"/>
                </a:solidFill>
              </a:defRPr>
            </a:lvl4pPr>
            <a:lvl5pPr lvl="4" rtl="0" algn="ctr">
              <a:spcBef>
                <a:spcPts val="0"/>
              </a:spcBef>
              <a:spcAft>
                <a:spcPts val="0"/>
              </a:spcAft>
              <a:buClr>
                <a:schemeClr val="lt2"/>
              </a:buClr>
              <a:buSzPts val="16000"/>
              <a:buNone/>
              <a:defRPr sz="16000">
                <a:solidFill>
                  <a:schemeClr val="lt2"/>
                </a:solidFill>
              </a:defRPr>
            </a:lvl5pPr>
            <a:lvl6pPr lvl="5" rtl="0" algn="ctr">
              <a:spcBef>
                <a:spcPts val="0"/>
              </a:spcBef>
              <a:spcAft>
                <a:spcPts val="0"/>
              </a:spcAft>
              <a:buClr>
                <a:schemeClr val="lt2"/>
              </a:buClr>
              <a:buSzPts val="16000"/>
              <a:buNone/>
              <a:defRPr sz="16000">
                <a:solidFill>
                  <a:schemeClr val="lt2"/>
                </a:solidFill>
              </a:defRPr>
            </a:lvl6pPr>
            <a:lvl7pPr lvl="6" rtl="0" algn="ctr">
              <a:spcBef>
                <a:spcPts val="0"/>
              </a:spcBef>
              <a:spcAft>
                <a:spcPts val="0"/>
              </a:spcAft>
              <a:buClr>
                <a:schemeClr val="lt2"/>
              </a:buClr>
              <a:buSzPts val="16000"/>
              <a:buNone/>
              <a:defRPr sz="16000">
                <a:solidFill>
                  <a:schemeClr val="lt2"/>
                </a:solidFill>
              </a:defRPr>
            </a:lvl7pPr>
            <a:lvl8pPr lvl="7" rtl="0" algn="ctr">
              <a:spcBef>
                <a:spcPts val="0"/>
              </a:spcBef>
              <a:spcAft>
                <a:spcPts val="0"/>
              </a:spcAft>
              <a:buClr>
                <a:schemeClr val="lt2"/>
              </a:buClr>
              <a:buSzPts val="16000"/>
              <a:buNone/>
              <a:defRPr sz="16000">
                <a:solidFill>
                  <a:schemeClr val="lt2"/>
                </a:solidFill>
              </a:defRPr>
            </a:lvl8pPr>
            <a:lvl9pPr lvl="8" rtl="0"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103" name="Shape 103"/>
        <p:cNvGrpSpPr/>
        <p:nvPr/>
      </p:nvGrpSpPr>
      <p:grpSpPr>
        <a:xfrm>
          <a:off x="0" y="0"/>
          <a:ext cx="0" cy="0"/>
          <a:chOff x="0" y="0"/>
          <a:chExt cx="0" cy="0"/>
        </a:xfrm>
      </p:grpSpPr>
      <p:sp>
        <p:nvSpPr>
          <p:cNvPr id="104" name="Google Shape;104;p25"/>
          <p:cNvSpPr txBox="1"/>
          <p:nvPr>
            <p:ph type="title"/>
          </p:nvPr>
        </p:nvSpPr>
        <p:spPr>
          <a:xfrm>
            <a:off x="457200" y="205978"/>
            <a:ext cx="8229600" cy="857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4200"/>
              <a:buNone/>
              <a:defRPr sz="4400">
                <a:solidFill>
                  <a:schemeClr val="dk1"/>
                </a:solidFill>
                <a:latin typeface="Calibri"/>
                <a:ea typeface="Calibri"/>
                <a:cs typeface="Calibri"/>
                <a:sym typeface="Calibri"/>
              </a:defRPr>
            </a:lvl1pPr>
            <a:lvl2pPr lvl="1" rtl="0" algn="ctr">
              <a:spcBef>
                <a:spcPts val="0"/>
              </a:spcBef>
              <a:spcAft>
                <a:spcPts val="0"/>
              </a:spcAft>
              <a:buSzPts val="4200"/>
              <a:buNone/>
              <a:defRPr sz="4400">
                <a:solidFill>
                  <a:schemeClr val="dk1"/>
                </a:solidFill>
                <a:latin typeface="Calibri"/>
                <a:ea typeface="Calibri"/>
                <a:cs typeface="Calibri"/>
                <a:sym typeface="Calibri"/>
              </a:defRPr>
            </a:lvl2pPr>
            <a:lvl3pPr lvl="2" rtl="0" algn="ctr">
              <a:spcBef>
                <a:spcPts val="0"/>
              </a:spcBef>
              <a:spcAft>
                <a:spcPts val="0"/>
              </a:spcAft>
              <a:buSzPts val="4200"/>
              <a:buNone/>
              <a:defRPr sz="4400">
                <a:solidFill>
                  <a:schemeClr val="dk1"/>
                </a:solidFill>
                <a:latin typeface="Calibri"/>
                <a:ea typeface="Calibri"/>
                <a:cs typeface="Calibri"/>
                <a:sym typeface="Calibri"/>
              </a:defRPr>
            </a:lvl3pPr>
            <a:lvl4pPr lvl="3" rtl="0" algn="ctr">
              <a:spcBef>
                <a:spcPts val="0"/>
              </a:spcBef>
              <a:spcAft>
                <a:spcPts val="0"/>
              </a:spcAft>
              <a:buSzPts val="4200"/>
              <a:buNone/>
              <a:defRPr sz="4400">
                <a:solidFill>
                  <a:schemeClr val="dk1"/>
                </a:solidFill>
                <a:latin typeface="Calibri"/>
                <a:ea typeface="Calibri"/>
                <a:cs typeface="Calibri"/>
                <a:sym typeface="Calibri"/>
              </a:defRPr>
            </a:lvl4pPr>
            <a:lvl5pPr lvl="4" rtl="0" algn="ctr">
              <a:spcBef>
                <a:spcPts val="0"/>
              </a:spcBef>
              <a:spcAft>
                <a:spcPts val="0"/>
              </a:spcAft>
              <a:buSzPts val="4200"/>
              <a:buNone/>
              <a:defRPr sz="4400">
                <a:solidFill>
                  <a:schemeClr val="dk1"/>
                </a:solidFill>
                <a:latin typeface="Calibri"/>
                <a:ea typeface="Calibri"/>
                <a:cs typeface="Calibri"/>
                <a:sym typeface="Calibri"/>
              </a:defRPr>
            </a:lvl5pPr>
            <a:lvl6pPr lvl="5" marL="457200" rtl="0" algn="ctr">
              <a:spcBef>
                <a:spcPts val="0"/>
              </a:spcBef>
              <a:spcAft>
                <a:spcPts val="0"/>
              </a:spcAft>
              <a:buSzPts val="4200"/>
              <a:buNone/>
              <a:defRPr sz="4400">
                <a:solidFill>
                  <a:schemeClr val="dk1"/>
                </a:solidFill>
                <a:latin typeface="Calibri"/>
                <a:ea typeface="Calibri"/>
                <a:cs typeface="Calibri"/>
                <a:sym typeface="Calibri"/>
              </a:defRPr>
            </a:lvl6pPr>
            <a:lvl7pPr lvl="6" marL="914400" rtl="0" algn="ctr">
              <a:spcBef>
                <a:spcPts val="0"/>
              </a:spcBef>
              <a:spcAft>
                <a:spcPts val="0"/>
              </a:spcAft>
              <a:buSzPts val="4200"/>
              <a:buNone/>
              <a:defRPr sz="4400">
                <a:solidFill>
                  <a:schemeClr val="dk1"/>
                </a:solidFill>
                <a:latin typeface="Calibri"/>
                <a:ea typeface="Calibri"/>
                <a:cs typeface="Calibri"/>
                <a:sym typeface="Calibri"/>
              </a:defRPr>
            </a:lvl7pPr>
            <a:lvl8pPr lvl="7" marL="1371600" rtl="0" algn="ctr">
              <a:spcBef>
                <a:spcPts val="0"/>
              </a:spcBef>
              <a:spcAft>
                <a:spcPts val="0"/>
              </a:spcAft>
              <a:buSzPts val="4200"/>
              <a:buNone/>
              <a:defRPr sz="4400">
                <a:solidFill>
                  <a:schemeClr val="dk1"/>
                </a:solidFill>
                <a:latin typeface="Calibri"/>
                <a:ea typeface="Calibri"/>
                <a:cs typeface="Calibri"/>
                <a:sym typeface="Calibri"/>
              </a:defRPr>
            </a:lvl8pPr>
            <a:lvl9pPr lvl="8" marL="1828800" rtl="0" algn="ctr">
              <a:spcBef>
                <a:spcPts val="0"/>
              </a:spcBef>
              <a:spcAft>
                <a:spcPts val="0"/>
              </a:spcAft>
              <a:buSzPts val="4200"/>
              <a:buNone/>
              <a:defRPr sz="4400">
                <a:solidFill>
                  <a:schemeClr val="dk1"/>
                </a:solidFill>
                <a:latin typeface="Calibri"/>
                <a:ea typeface="Calibri"/>
                <a:cs typeface="Calibri"/>
                <a:sym typeface="Calibri"/>
              </a:defRPr>
            </a:lvl9pPr>
          </a:lstStyle>
          <a:p/>
        </p:txBody>
      </p:sp>
      <p:sp>
        <p:nvSpPr>
          <p:cNvPr id="105" name="Google Shape;105;p25"/>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342900" lvl="0" marL="457200" rtl="0" algn="l">
              <a:spcBef>
                <a:spcPts val="640"/>
              </a:spcBef>
              <a:spcAft>
                <a:spcPts val="0"/>
              </a:spcAft>
              <a:buClr>
                <a:schemeClr val="dk1"/>
              </a:buClr>
              <a:buSzPts val="1800"/>
              <a:buFont typeface="Calibri"/>
              <a:buChar char="●"/>
              <a:defRPr sz="3200">
                <a:solidFill>
                  <a:schemeClr val="dk1"/>
                </a:solidFill>
                <a:latin typeface="Calibri"/>
                <a:ea typeface="Calibri"/>
                <a:cs typeface="Calibri"/>
                <a:sym typeface="Calibri"/>
              </a:defRPr>
            </a:lvl1pPr>
            <a:lvl2pPr indent="-317500" lvl="1" marL="914400" rtl="0" algn="l">
              <a:spcBef>
                <a:spcPts val="560"/>
              </a:spcBef>
              <a:spcAft>
                <a:spcPts val="0"/>
              </a:spcAft>
              <a:buClr>
                <a:schemeClr val="dk1"/>
              </a:buClr>
              <a:buSzPts val="1400"/>
              <a:buFont typeface="Calibri"/>
              <a:buChar char="●"/>
              <a:defRPr sz="2800">
                <a:solidFill>
                  <a:schemeClr val="dk1"/>
                </a:solidFill>
                <a:latin typeface="Calibri"/>
                <a:ea typeface="Calibri"/>
                <a:cs typeface="Calibri"/>
                <a:sym typeface="Calibri"/>
              </a:defRPr>
            </a:lvl2pPr>
            <a:lvl3pPr indent="-317500" lvl="2" marL="1371600" rtl="0" algn="l">
              <a:spcBef>
                <a:spcPts val="480"/>
              </a:spcBef>
              <a:spcAft>
                <a:spcPts val="0"/>
              </a:spcAft>
              <a:buClr>
                <a:schemeClr val="dk1"/>
              </a:buClr>
              <a:buSzPts val="1400"/>
              <a:buFont typeface="Calibri"/>
              <a:buChar char="●"/>
              <a:defRPr sz="2400">
                <a:solidFill>
                  <a:schemeClr val="dk1"/>
                </a:solidFill>
                <a:latin typeface="Calibri"/>
                <a:ea typeface="Calibri"/>
                <a:cs typeface="Calibri"/>
                <a:sym typeface="Calibri"/>
              </a:defRPr>
            </a:lvl3pPr>
            <a:lvl4pPr indent="-317500" lvl="3" marL="18288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4pPr>
            <a:lvl5pPr indent="-317500" lvl="4" marL="22860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5pPr>
            <a:lvl6pPr indent="-317500" lvl="5" marL="27432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6pPr>
            <a:lvl7pPr indent="-317500" lvl="6" marL="32004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7pPr>
            <a:lvl8pPr indent="-317500" lvl="7" marL="36576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8pPr>
            <a:lvl9pPr indent="-317500" lvl="8" marL="4114800" rtl="0" algn="l">
              <a:spcBef>
                <a:spcPts val="1600"/>
              </a:spcBef>
              <a:spcAft>
                <a:spcPts val="1600"/>
              </a:spcAft>
              <a:buClr>
                <a:schemeClr val="dk1"/>
              </a:buClr>
              <a:buSzPts val="1400"/>
              <a:buFont typeface="Calibri"/>
              <a:buChar char="●"/>
              <a:defRPr sz="2000">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Economica"/>
                <a:ea typeface="Economica"/>
                <a:cs typeface="Economica"/>
                <a:sym typeface="Economica"/>
              </a:defRPr>
            </a:lvl1pPr>
            <a:lvl2pPr lvl="1" rtl="0" algn="r">
              <a:buNone/>
              <a:defRPr sz="1000">
                <a:solidFill>
                  <a:schemeClr val="dk1"/>
                </a:solidFill>
                <a:latin typeface="Economica"/>
                <a:ea typeface="Economica"/>
                <a:cs typeface="Economica"/>
                <a:sym typeface="Economica"/>
              </a:defRPr>
            </a:lvl2pPr>
            <a:lvl3pPr lvl="2" rtl="0" algn="r">
              <a:buNone/>
              <a:defRPr sz="1000">
                <a:solidFill>
                  <a:schemeClr val="dk1"/>
                </a:solidFill>
                <a:latin typeface="Economica"/>
                <a:ea typeface="Economica"/>
                <a:cs typeface="Economica"/>
                <a:sym typeface="Economica"/>
              </a:defRPr>
            </a:lvl3pPr>
            <a:lvl4pPr lvl="3" rtl="0" algn="r">
              <a:buNone/>
              <a:defRPr sz="1000">
                <a:solidFill>
                  <a:schemeClr val="dk1"/>
                </a:solidFill>
                <a:latin typeface="Economica"/>
                <a:ea typeface="Economica"/>
                <a:cs typeface="Economica"/>
                <a:sym typeface="Economica"/>
              </a:defRPr>
            </a:lvl4pPr>
            <a:lvl5pPr lvl="4" rtl="0" algn="r">
              <a:buNone/>
              <a:defRPr sz="1000">
                <a:solidFill>
                  <a:schemeClr val="dk1"/>
                </a:solidFill>
                <a:latin typeface="Economica"/>
                <a:ea typeface="Economica"/>
                <a:cs typeface="Economica"/>
                <a:sym typeface="Economica"/>
              </a:defRPr>
            </a:lvl5pPr>
            <a:lvl6pPr lvl="5" rtl="0" algn="r">
              <a:buNone/>
              <a:defRPr sz="1000">
                <a:solidFill>
                  <a:schemeClr val="dk1"/>
                </a:solidFill>
                <a:latin typeface="Economica"/>
                <a:ea typeface="Economica"/>
                <a:cs typeface="Economica"/>
                <a:sym typeface="Economica"/>
              </a:defRPr>
            </a:lvl6pPr>
            <a:lvl7pPr lvl="6" rtl="0" algn="r">
              <a:buNone/>
              <a:defRPr sz="1000">
                <a:solidFill>
                  <a:schemeClr val="dk1"/>
                </a:solidFill>
                <a:latin typeface="Economica"/>
                <a:ea typeface="Economica"/>
                <a:cs typeface="Economica"/>
                <a:sym typeface="Economica"/>
              </a:defRPr>
            </a:lvl7pPr>
            <a:lvl8pPr lvl="7" rtl="0" algn="r">
              <a:buNone/>
              <a:defRPr sz="1000">
                <a:solidFill>
                  <a:schemeClr val="dk1"/>
                </a:solidFill>
                <a:latin typeface="Economica"/>
                <a:ea typeface="Economica"/>
                <a:cs typeface="Economica"/>
                <a:sym typeface="Economica"/>
              </a:defRPr>
            </a:lvl8pPr>
            <a:lvl9pPr lvl="8" rtl="0"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10.png"/><Relationship Id="rId5" Type="http://schemas.openxmlformats.org/officeDocument/2006/relationships/image" Target="../media/image6.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6.gif"/><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6.gif"/><Relationship Id="rId5"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1.jpg"/><Relationship Id="rId5" Type="http://schemas.openxmlformats.org/officeDocument/2006/relationships/image" Target="../media/image2.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1.jpg"/><Relationship Id="rId5" Type="http://schemas.openxmlformats.org/officeDocument/2006/relationships/image" Target="../media/image2.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jpg"/><Relationship Id="rId5" Type="http://schemas.openxmlformats.org/officeDocument/2006/relationships/image" Target="../media/image2.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4.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 Id="rId3" Type="http://schemas.openxmlformats.org/officeDocument/2006/relationships/image" Target="../media/image4.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4.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4.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3.gi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3.gi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8.png"/><Relationship Id="rId4" Type="http://schemas.openxmlformats.org/officeDocument/2006/relationships/image" Target="../media/image12.gif"/><Relationship Id="rId5" Type="http://schemas.openxmlformats.org/officeDocument/2006/relationships/image" Target="../media/image3.gi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8.png"/><Relationship Id="rId4" Type="http://schemas.openxmlformats.org/officeDocument/2006/relationships/image" Target="../media/image12.gif"/><Relationship Id="rId5" Type="http://schemas.openxmlformats.org/officeDocument/2006/relationships/image" Target="../media/image7.gi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image" Target="../media/image11.png"/><Relationship Id="rId4" Type="http://schemas.openxmlformats.org/officeDocument/2006/relationships/image" Target="../media/image7.gi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7.gif"/><Relationship Id="rId4" Type="http://schemas.openxmlformats.org/officeDocument/2006/relationships/image" Target="../media/image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09" name="Shape 109"/>
        <p:cNvGrpSpPr/>
        <p:nvPr/>
      </p:nvGrpSpPr>
      <p:grpSpPr>
        <a:xfrm>
          <a:off x="0" y="0"/>
          <a:ext cx="0" cy="0"/>
          <a:chOff x="0" y="0"/>
          <a:chExt cx="0" cy="0"/>
        </a:xfrm>
      </p:grpSpPr>
      <p:sp>
        <p:nvSpPr>
          <p:cNvPr id="110" name="Google Shape;110;p26"/>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Centrality in Networks</a:t>
            </a:r>
            <a:endParaRPr/>
          </a:p>
        </p:txBody>
      </p:sp>
      <p:sp>
        <p:nvSpPr>
          <p:cNvPr id="111" name="Google Shape;111;p26"/>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grpSp>
        <p:nvGrpSpPr>
          <p:cNvPr id="116" name="Google Shape;116;p27"/>
          <p:cNvGrpSpPr/>
          <p:nvPr/>
        </p:nvGrpSpPr>
        <p:grpSpPr>
          <a:xfrm>
            <a:off x="4725650" y="1479057"/>
            <a:ext cx="3820529" cy="747300"/>
            <a:chOff x="4530625" y="1206568"/>
            <a:chExt cx="3820529" cy="747300"/>
          </a:xfrm>
        </p:grpSpPr>
        <p:cxnSp>
          <p:nvCxnSpPr>
            <p:cNvPr id="117" name="Google Shape;117;p27"/>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118" name="Google Shape;118;p27"/>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7"/>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120" name="Google Shape;120;p27"/>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121" name="Google Shape;121;p27"/>
          <p:cNvGrpSpPr/>
          <p:nvPr/>
        </p:nvGrpSpPr>
        <p:grpSpPr>
          <a:xfrm>
            <a:off x="5259475" y="2411864"/>
            <a:ext cx="3286704" cy="747300"/>
            <a:chOff x="5064450" y="2086419"/>
            <a:chExt cx="3286704" cy="747300"/>
          </a:xfrm>
        </p:grpSpPr>
        <p:cxnSp>
          <p:nvCxnSpPr>
            <p:cNvPr id="122" name="Google Shape;122;p27"/>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123" name="Google Shape;123;p27"/>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7"/>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125" name="Google Shape;125;p27"/>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grpSp>
        <p:nvGrpSpPr>
          <p:cNvPr id="126" name="Google Shape;126;p27"/>
          <p:cNvGrpSpPr/>
          <p:nvPr/>
        </p:nvGrpSpPr>
        <p:grpSpPr>
          <a:xfrm>
            <a:off x="5769175" y="3491301"/>
            <a:ext cx="2777004" cy="747300"/>
            <a:chOff x="5574150" y="3083456"/>
            <a:chExt cx="2777004" cy="747300"/>
          </a:xfrm>
        </p:grpSpPr>
        <p:cxnSp>
          <p:nvCxnSpPr>
            <p:cNvPr id="127" name="Google Shape;127;p27"/>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128" name="Google Shape;128;p27"/>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7"/>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130" name="Google Shape;130;p27"/>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131" name="Google Shape;131;p27"/>
          <p:cNvGrpSpPr/>
          <p:nvPr/>
        </p:nvGrpSpPr>
        <p:grpSpPr>
          <a:xfrm>
            <a:off x="597801" y="1980193"/>
            <a:ext cx="3468724" cy="747300"/>
            <a:chOff x="744101" y="1672393"/>
            <a:chExt cx="3468724" cy="747300"/>
          </a:xfrm>
        </p:grpSpPr>
        <p:cxnSp>
          <p:nvCxnSpPr>
            <p:cNvPr id="132" name="Google Shape;132;p27"/>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133" name="Google Shape;133;p27"/>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7"/>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35" name="Google Shape;135;p27"/>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136" name="Google Shape;136;p27"/>
          <p:cNvGrpSpPr/>
          <p:nvPr/>
        </p:nvGrpSpPr>
        <p:grpSpPr>
          <a:xfrm>
            <a:off x="597801" y="2897769"/>
            <a:ext cx="3021694" cy="747300"/>
            <a:chOff x="744101" y="2507609"/>
            <a:chExt cx="3021694" cy="747300"/>
          </a:xfrm>
        </p:grpSpPr>
        <p:cxnSp>
          <p:nvCxnSpPr>
            <p:cNvPr id="137" name="Google Shape;137;p27"/>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138" name="Google Shape;138;p27"/>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7"/>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140" name="Google Shape;140;p27"/>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141" name="Google Shape;141;p27"/>
          <p:cNvGrpSpPr/>
          <p:nvPr/>
        </p:nvGrpSpPr>
        <p:grpSpPr>
          <a:xfrm>
            <a:off x="2811509" y="1603902"/>
            <a:ext cx="3509178" cy="3257208"/>
            <a:chOff x="3318063" y="1368287"/>
            <a:chExt cx="2408000" cy="2993482"/>
          </a:xfrm>
        </p:grpSpPr>
        <p:sp>
          <p:nvSpPr>
            <p:cNvPr id="142" name="Google Shape;142;p27"/>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3" name="Google Shape;143;p27"/>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4" name="Google Shape;144;p27"/>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5" name="Google Shape;145;p27"/>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6" name="Google Shape;146;p27"/>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7" name="Google Shape;147;p27"/>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8" name="Google Shape;148;p27"/>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9" name="Google Shape;149;p27"/>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0" name="Google Shape;150;p27"/>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1" name="Google Shape;151;p27"/>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2" name="Google Shape;152;p27"/>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3" name="Google Shape;153;p27"/>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4" name="Google Shape;154;p27"/>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5" name="Google Shape;155;p27"/>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6" name="Google Shape;156;p27"/>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7" name="Google Shape;157;p27"/>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8" name="Google Shape;158;p27"/>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sp>
        <p:nvSpPr>
          <p:cNvPr id="159" name="Google Shape;159;p27"/>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160" name="Google Shape;160;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28"/>
          <p:cNvGrpSpPr/>
          <p:nvPr/>
        </p:nvGrpSpPr>
        <p:grpSpPr>
          <a:xfrm>
            <a:off x="4725650" y="1479057"/>
            <a:ext cx="3820529" cy="747300"/>
            <a:chOff x="4530625" y="1206568"/>
            <a:chExt cx="3820529" cy="747300"/>
          </a:xfrm>
        </p:grpSpPr>
        <p:cxnSp>
          <p:nvCxnSpPr>
            <p:cNvPr id="166" name="Google Shape;166;p28"/>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167" name="Google Shape;167;p28"/>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8"/>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169" name="Google Shape;169;p28"/>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170" name="Google Shape;170;p28"/>
          <p:cNvGrpSpPr/>
          <p:nvPr/>
        </p:nvGrpSpPr>
        <p:grpSpPr>
          <a:xfrm>
            <a:off x="5769175" y="3491301"/>
            <a:ext cx="2777004" cy="747300"/>
            <a:chOff x="5574150" y="3083456"/>
            <a:chExt cx="2777004" cy="747300"/>
          </a:xfrm>
        </p:grpSpPr>
        <p:cxnSp>
          <p:nvCxnSpPr>
            <p:cNvPr id="171" name="Google Shape;171;p28"/>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172" name="Google Shape;172;p28"/>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8"/>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174" name="Google Shape;174;p28"/>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175" name="Google Shape;175;p28"/>
          <p:cNvGrpSpPr/>
          <p:nvPr/>
        </p:nvGrpSpPr>
        <p:grpSpPr>
          <a:xfrm>
            <a:off x="597801" y="1980193"/>
            <a:ext cx="3468724" cy="747300"/>
            <a:chOff x="744101" y="1672393"/>
            <a:chExt cx="3468724" cy="747300"/>
          </a:xfrm>
        </p:grpSpPr>
        <p:cxnSp>
          <p:nvCxnSpPr>
            <p:cNvPr id="176" name="Google Shape;176;p28"/>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177" name="Google Shape;177;p28"/>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79" name="Google Shape;179;p28"/>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180" name="Google Shape;180;p28"/>
          <p:cNvGrpSpPr/>
          <p:nvPr/>
        </p:nvGrpSpPr>
        <p:grpSpPr>
          <a:xfrm>
            <a:off x="597801" y="2897769"/>
            <a:ext cx="3021694" cy="747300"/>
            <a:chOff x="744101" y="2507609"/>
            <a:chExt cx="3021694" cy="747300"/>
          </a:xfrm>
        </p:grpSpPr>
        <p:cxnSp>
          <p:nvCxnSpPr>
            <p:cNvPr id="181" name="Google Shape;181;p28"/>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182" name="Google Shape;182;p28"/>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184" name="Google Shape;184;p28"/>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185" name="Google Shape;185;p28"/>
          <p:cNvGrpSpPr/>
          <p:nvPr/>
        </p:nvGrpSpPr>
        <p:grpSpPr>
          <a:xfrm>
            <a:off x="2811509" y="1603902"/>
            <a:ext cx="3509178" cy="3257208"/>
            <a:chOff x="3318063" y="1368287"/>
            <a:chExt cx="2408000" cy="2993482"/>
          </a:xfrm>
        </p:grpSpPr>
        <p:sp>
          <p:nvSpPr>
            <p:cNvPr id="186" name="Google Shape;186;p28"/>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7" name="Google Shape;187;p28"/>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8" name="Google Shape;188;p28"/>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9" name="Google Shape;189;p28"/>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0" name="Google Shape;190;p28"/>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1" name="Google Shape;191;p28"/>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2" name="Google Shape;192;p28"/>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3" name="Google Shape;193;p28"/>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4" name="Google Shape;194;p28"/>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5" name="Google Shape;195;p28"/>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6" name="Google Shape;196;p28"/>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7" name="Google Shape;197;p28"/>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8" name="Google Shape;198;p28"/>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9" name="Google Shape;199;p28"/>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0" name="Google Shape;200;p28"/>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1" name="Google Shape;201;p28"/>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2" name="Google Shape;202;p28"/>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203" name="Google Shape;203;p28"/>
          <p:cNvGrpSpPr/>
          <p:nvPr/>
        </p:nvGrpSpPr>
        <p:grpSpPr>
          <a:xfrm>
            <a:off x="5259475" y="2411864"/>
            <a:ext cx="3286704" cy="747300"/>
            <a:chOff x="5064450" y="2086419"/>
            <a:chExt cx="3286704" cy="747300"/>
          </a:xfrm>
        </p:grpSpPr>
        <p:cxnSp>
          <p:nvCxnSpPr>
            <p:cNvPr id="204" name="Google Shape;204;p28"/>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205" name="Google Shape;205;p28"/>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207" name="Google Shape;207;p28"/>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208" name="Google Shape;208;p28"/>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209" name="Google Shape;209;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
        <p:nvSpPr>
          <p:cNvPr id="210" name="Google Shape;210;p28"/>
          <p:cNvSpPr/>
          <p:nvPr/>
        </p:nvSpPr>
        <p:spPr>
          <a:xfrm>
            <a:off x="3707750" y="1206325"/>
            <a:ext cx="4485000" cy="10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Centrality</a:t>
            </a:r>
            <a:endParaRPr b="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216" name="Google Shape;216;p29"/>
          <p:cNvSpPr txBox="1"/>
          <p:nvPr>
            <p:ph idx="1" type="body"/>
          </p:nvPr>
        </p:nvSpPr>
        <p:spPr>
          <a:xfrm>
            <a:off x="311700" y="1225225"/>
            <a:ext cx="5092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measure of the </a:t>
            </a:r>
            <a:r>
              <a:rPr b="1" lang="en"/>
              <a:t>importance</a:t>
            </a:r>
            <a:r>
              <a:rPr lang="en"/>
              <a:t> or </a:t>
            </a:r>
            <a:r>
              <a:rPr b="1" lang="en"/>
              <a:t>strategic location</a:t>
            </a:r>
            <a:r>
              <a:rPr lang="en"/>
              <a:t> of a node in the network:</a:t>
            </a:r>
            <a:endParaRPr/>
          </a:p>
          <a:p>
            <a:pPr indent="-317500" lvl="1" marL="914400" rtl="0" algn="l">
              <a:spcBef>
                <a:spcPts val="0"/>
              </a:spcBef>
              <a:spcAft>
                <a:spcPts val="0"/>
              </a:spcAft>
              <a:buSzPts val="1400"/>
              <a:buChar char="○"/>
            </a:pPr>
            <a:r>
              <a:rPr b="1" lang="en"/>
              <a:t>Autonomy</a:t>
            </a:r>
            <a:endParaRPr b="1"/>
          </a:p>
          <a:p>
            <a:pPr indent="-317500" lvl="1" marL="914400" rtl="0" algn="l">
              <a:spcBef>
                <a:spcPts val="0"/>
              </a:spcBef>
              <a:spcAft>
                <a:spcPts val="0"/>
              </a:spcAft>
              <a:buSzPts val="1400"/>
              <a:buChar char="○"/>
            </a:pPr>
            <a:r>
              <a:rPr b="1" lang="en"/>
              <a:t>Control</a:t>
            </a:r>
            <a:endParaRPr b="1"/>
          </a:p>
          <a:p>
            <a:pPr indent="-317500" lvl="1" marL="914400" rtl="0" algn="l">
              <a:spcBef>
                <a:spcPts val="0"/>
              </a:spcBef>
              <a:spcAft>
                <a:spcPts val="0"/>
              </a:spcAft>
              <a:buClr>
                <a:srgbClr val="FF0000"/>
              </a:buClr>
              <a:buSzPts val="1400"/>
              <a:buChar char="○"/>
            </a:pPr>
            <a:r>
              <a:rPr b="1" lang="en">
                <a:solidFill>
                  <a:srgbClr val="FF0000"/>
                </a:solidFill>
              </a:rPr>
              <a:t>Risk</a:t>
            </a:r>
            <a:endParaRPr b="1">
              <a:solidFill>
                <a:srgbClr val="FF0000"/>
              </a:solidFill>
            </a:endParaRPr>
          </a:p>
          <a:p>
            <a:pPr indent="-317500" lvl="1" marL="914400" rtl="0" algn="l">
              <a:spcBef>
                <a:spcPts val="0"/>
              </a:spcBef>
              <a:spcAft>
                <a:spcPts val="0"/>
              </a:spcAft>
              <a:buClr>
                <a:srgbClr val="FF0000"/>
              </a:buClr>
              <a:buSzPts val="1400"/>
              <a:buChar char="○"/>
            </a:pPr>
            <a:r>
              <a:rPr b="1" lang="en">
                <a:solidFill>
                  <a:srgbClr val="FF0000"/>
                </a:solidFill>
              </a:rPr>
              <a:t>Exposure</a:t>
            </a:r>
            <a:endParaRPr b="1">
              <a:solidFill>
                <a:srgbClr val="FF0000"/>
              </a:solidFill>
            </a:endParaRPr>
          </a:p>
          <a:p>
            <a:pPr indent="-317500" lvl="1" marL="914400" rtl="0" algn="l">
              <a:spcBef>
                <a:spcPts val="0"/>
              </a:spcBef>
              <a:spcAft>
                <a:spcPts val="0"/>
              </a:spcAft>
              <a:buSzPts val="1400"/>
              <a:buChar char="○"/>
            </a:pPr>
            <a:r>
              <a:rPr b="1" lang="en"/>
              <a:t>Influence</a:t>
            </a:r>
            <a:endParaRPr b="1"/>
          </a:p>
          <a:p>
            <a:pPr indent="-317500" lvl="1" marL="914400" rtl="0" algn="l">
              <a:spcBef>
                <a:spcPts val="0"/>
              </a:spcBef>
              <a:spcAft>
                <a:spcPts val="0"/>
              </a:spcAft>
              <a:buSzPts val="1400"/>
              <a:buChar char="○"/>
            </a:pPr>
            <a:r>
              <a:rPr b="1" lang="en"/>
              <a:t>Belongingness</a:t>
            </a:r>
            <a:endParaRPr b="1"/>
          </a:p>
          <a:p>
            <a:pPr indent="-317500" lvl="1" marL="914400" rtl="0" algn="l">
              <a:spcBef>
                <a:spcPts val="0"/>
              </a:spcBef>
              <a:spcAft>
                <a:spcPts val="0"/>
              </a:spcAft>
              <a:buSzPts val="1400"/>
              <a:buChar char="○"/>
            </a:pPr>
            <a:r>
              <a:rPr b="1" lang="en"/>
              <a:t>Brokerage</a:t>
            </a:r>
            <a:endParaRPr b="1"/>
          </a:p>
          <a:p>
            <a:pPr indent="-317500" lvl="1" marL="914400" rtl="0" algn="l">
              <a:spcBef>
                <a:spcPts val="0"/>
              </a:spcBef>
              <a:spcAft>
                <a:spcPts val="0"/>
              </a:spcAft>
              <a:buSzPts val="1400"/>
              <a:buChar char="○"/>
            </a:pPr>
            <a:r>
              <a:rPr b="1" lang="en"/>
              <a:t>Independence</a:t>
            </a:r>
            <a:endParaRPr b="1"/>
          </a:p>
          <a:p>
            <a:pPr indent="-317500" lvl="1" marL="914400" rtl="0" algn="l">
              <a:spcBef>
                <a:spcPts val="0"/>
              </a:spcBef>
              <a:spcAft>
                <a:spcPts val="0"/>
              </a:spcAft>
              <a:buSzPts val="1400"/>
              <a:buChar char="○"/>
            </a:pPr>
            <a:r>
              <a:rPr b="1" lang="en"/>
              <a:t>Power</a:t>
            </a:r>
            <a:endParaRPr/>
          </a:p>
        </p:txBody>
      </p:sp>
      <p:sp>
        <p:nvSpPr>
          <p:cNvPr id="217" name="Google Shape;217;p29"/>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18" name="Google Shape;218;p29"/>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19" name="Google Shape;219;p29"/>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20" name="Google Shape;220;p29"/>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21" name="Google Shape;221;p29"/>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22" name="Google Shape;222;p29"/>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23" name="Google Shape;223;p29"/>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24" name="Google Shape;224;p29"/>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25" name="Google Shape;225;p29"/>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26" name="Google Shape;226;p29"/>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27" name="Google Shape;227;p29"/>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28" name="Google Shape;228;p29"/>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29" name="Google Shape;229;p29"/>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30" name="Google Shape;230;p29"/>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31" name="Google Shape;231;p29"/>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32" name="Google Shape;232;p29"/>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33" name="Google Shape;233;p29"/>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34" name="Google Shape;234;p29"/>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35" name="Google Shape;235;p29"/>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36" name="Google Shape;236;p29"/>
          <p:cNvCxnSpPr>
            <a:stCxn id="235" idx="2"/>
            <a:endCxn id="234"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237" name="Google Shape;237;p29"/>
          <p:cNvCxnSpPr>
            <a:stCxn id="233" idx="0"/>
            <a:endCxn id="234"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238" name="Google Shape;238;p29"/>
          <p:cNvCxnSpPr>
            <a:stCxn id="232" idx="2"/>
            <a:endCxn id="233"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239" name="Google Shape;239;p29"/>
          <p:cNvCxnSpPr>
            <a:stCxn id="232" idx="2"/>
            <a:endCxn id="228"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240" name="Google Shape;240;p29"/>
          <p:cNvCxnSpPr>
            <a:stCxn id="232" idx="2"/>
            <a:endCxn id="231"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241" name="Google Shape;241;p29"/>
          <p:cNvCxnSpPr>
            <a:stCxn id="231" idx="2"/>
            <a:endCxn id="228"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242" name="Google Shape;242;p29"/>
          <p:cNvCxnSpPr>
            <a:stCxn id="231" idx="1"/>
            <a:endCxn id="227"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243" name="Google Shape;243;p29"/>
          <p:cNvCxnSpPr>
            <a:stCxn id="230" idx="0"/>
            <a:endCxn id="228"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244" name="Google Shape;244;p29"/>
          <p:cNvCxnSpPr>
            <a:stCxn id="229" idx="7"/>
            <a:endCxn id="228"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245" name="Google Shape;245;p29"/>
          <p:cNvCxnSpPr>
            <a:stCxn id="230" idx="1"/>
            <a:endCxn id="229"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246" name="Google Shape;246;p29"/>
          <p:cNvCxnSpPr>
            <a:stCxn id="228" idx="2"/>
            <a:endCxn id="226"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247" name="Google Shape;247;p29"/>
          <p:cNvCxnSpPr>
            <a:stCxn id="229" idx="0"/>
            <a:endCxn id="226"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248" name="Google Shape;248;p29"/>
          <p:cNvCxnSpPr>
            <a:stCxn id="228" idx="0"/>
            <a:endCxn id="227"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249" name="Google Shape;249;p29"/>
          <p:cNvCxnSpPr>
            <a:stCxn id="226" idx="7"/>
            <a:endCxn id="227"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250" name="Google Shape;250;p29"/>
          <p:cNvCxnSpPr>
            <a:stCxn id="226" idx="2"/>
            <a:endCxn id="224"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251" name="Google Shape;251;p29"/>
          <p:cNvCxnSpPr>
            <a:stCxn id="225" idx="0"/>
            <a:endCxn id="224"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252" name="Google Shape;252;p29"/>
          <p:cNvCxnSpPr>
            <a:stCxn id="224" idx="3"/>
            <a:endCxn id="223"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253" name="Google Shape;253;p29"/>
          <p:cNvCxnSpPr>
            <a:stCxn id="222" idx="5"/>
            <a:endCxn id="223"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254" name="Google Shape;254;p29"/>
          <p:cNvCxnSpPr>
            <a:stCxn id="219" idx="4"/>
            <a:endCxn id="222"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255" name="Google Shape;255;p29"/>
          <p:cNvCxnSpPr>
            <a:stCxn id="224" idx="1"/>
            <a:endCxn id="219"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256" name="Google Shape;256;p29"/>
          <p:cNvCxnSpPr>
            <a:stCxn id="222" idx="2"/>
            <a:endCxn id="221"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257" name="Google Shape;257;p29"/>
          <p:cNvCxnSpPr>
            <a:stCxn id="222" idx="0"/>
            <a:endCxn id="220"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258" name="Google Shape;258;p29"/>
          <p:cNvCxnSpPr>
            <a:stCxn id="220" idx="3"/>
            <a:endCxn id="221"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259" name="Google Shape;259;p29"/>
          <p:cNvCxnSpPr>
            <a:stCxn id="217" idx="4"/>
            <a:endCxn id="221"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260" name="Google Shape;260;p29"/>
          <p:cNvCxnSpPr>
            <a:stCxn id="218" idx="2"/>
            <a:endCxn id="217"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261" name="Google Shape;261;p29"/>
          <p:cNvCxnSpPr>
            <a:stCxn id="218" idx="3"/>
            <a:endCxn id="220"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262" name="Google Shape;262;p29"/>
          <p:cNvCxnSpPr>
            <a:stCxn id="219" idx="2"/>
            <a:endCxn id="217"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263" name="Google Shape;263;p29"/>
          <p:cNvCxnSpPr>
            <a:stCxn id="219" idx="1"/>
            <a:endCxn id="218"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264" name="Google Shape;264;p29"/>
          <p:cNvCxnSpPr>
            <a:stCxn id="219" idx="2"/>
            <a:endCxn id="220"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265" name="Google Shape;265;p29"/>
          <p:cNvCxnSpPr>
            <a:stCxn id="220" idx="1"/>
            <a:endCxn id="217"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266" name="Google Shape;266;p29"/>
          <p:cNvCxnSpPr>
            <a:stCxn id="228" idx="6"/>
            <a:endCxn id="233"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272" name="Google Shape;272;p30"/>
          <p:cNvSpPr txBox="1"/>
          <p:nvPr>
            <p:ph idx="1" type="body"/>
          </p:nvPr>
        </p:nvSpPr>
        <p:spPr>
          <a:xfrm>
            <a:off x="311700" y="1225225"/>
            <a:ext cx="43392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0" lvl="0" marL="0" rtl="0" algn="l">
              <a:spcBef>
                <a:spcPts val="0"/>
              </a:spcBef>
              <a:spcAft>
                <a:spcPts val="0"/>
              </a:spcAft>
              <a:buNone/>
            </a:pPr>
            <a:r>
              <a:t/>
            </a:r>
            <a:endParaRPr b="1"/>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273" name="Google Shape;273;p30"/>
          <p:cNvSpPr/>
          <p:nvPr/>
        </p:nvSpPr>
        <p:spPr>
          <a:xfrm>
            <a:off x="5132563" y="3273168"/>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74" name="Google Shape;274;p30"/>
          <p:cNvSpPr/>
          <p:nvPr/>
        </p:nvSpPr>
        <p:spPr>
          <a:xfrm>
            <a:off x="5636471" y="2372937"/>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75" name="Google Shape;275;p30"/>
          <p:cNvSpPr/>
          <p:nvPr/>
        </p:nvSpPr>
        <p:spPr>
          <a:xfrm>
            <a:off x="6219982" y="3273168"/>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76" name="Google Shape;276;p30"/>
          <p:cNvSpPr/>
          <p:nvPr/>
        </p:nvSpPr>
        <p:spPr>
          <a:xfrm>
            <a:off x="5636471" y="4177031"/>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77" name="Google Shape;277;p30"/>
          <p:cNvSpPr/>
          <p:nvPr/>
        </p:nvSpPr>
        <p:spPr>
          <a:xfrm>
            <a:off x="6915557" y="4278138"/>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78" name="Google Shape;278;p30"/>
          <p:cNvSpPr/>
          <p:nvPr/>
        </p:nvSpPr>
        <p:spPr>
          <a:xfrm>
            <a:off x="7435894" y="3397444"/>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79" name="Google Shape;279;p30"/>
          <p:cNvSpPr/>
          <p:nvPr/>
        </p:nvSpPr>
        <p:spPr>
          <a:xfrm>
            <a:off x="8285946" y="2633692"/>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80" name="Google Shape;280;p30"/>
          <p:cNvSpPr/>
          <p:nvPr/>
        </p:nvSpPr>
        <p:spPr>
          <a:xfrm>
            <a:off x="7167511" y="2482777"/>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81" name="Google Shape;281;p30"/>
          <p:cNvSpPr/>
          <p:nvPr/>
        </p:nvSpPr>
        <p:spPr>
          <a:xfrm>
            <a:off x="7252964" y="1568109"/>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82" name="Google Shape;282;p30"/>
          <p:cNvSpPr/>
          <p:nvPr/>
        </p:nvSpPr>
        <p:spPr>
          <a:xfrm>
            <a:off x="8285946" y="1225225"/>
            <a:ext cx="504300" cy="502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83" name="Google Shape;283;p30"/>
          <p:cNvCxnSpPr>
            <a:stCxn id="282" idx="2"/>
            <a:endCxn id="281" idx="7"/>
          </p:cNvCxnSpPr>
          <p:nvPr/>
        </p:nvCxnSpPr>
        <p:spPr>
          <a:xfrm flipH="1">
            <a:off x="7683546" y="1476325"/>
            <a:ext cx="602400" cy="165300"/>
          </a:xfrm>
          <a:prstGeom prst="straightConnector1">
            <a:avLst/>
          </a:prstGeom>
          <a:noFill/>
          <a:ln cap="flat" cmpd="sng" w="28575">
            <a:solidFill>
              <a:schemeClr val="dk2"/>
            </a:solidFill>
            <a:prstDash val="solid"/>
            <a:round/>
            <a:headEnd len="med" w="med" type="none"/>
            <a:tailEnd len="med" w="med" type="none"/>
          </a:ln>
        </p:spPr>
      </p:cxnSp>
      <p:cxnSp>
        <p:nvCxnSpPr>
          <p:cNvPr id="284" name="Google Shape;284;p30"/>
          <p:cNvCxnSpPr>
            <a:stCxn id="280" idx="0"/>
            <a:endCxn id="281" idx="4"/>
          </p:cNvCxnSpPr>
          <p:nvPr/>
        </p:nvCxnSpPr>
        <p:spPr>
          <a:xfrm flipH="1" rot="10800000">
            <a:off x="7419661" y="2070277"/>
            <a:ext cx="85500" cy="412500"/>
          </a:xfrm>
          <a:prstGeom prst="straightConnector1">
            <a:avLst/>
          </a:prstGeom>
          <a:noFill/>
          <a:ln cap="flat" cmpd="sng" w="28575">
            <a:solidFill>
              <a:schemeClr val="dk2"/>
            </a:solidFill>
            <a:prstDash val="solid"/>
            <a:round/>
            <a:headEnd len="med" w="med" type="none"/>
            <a:tailEnd len="med" w="med" type="none"/>
          </a:ln>
        </p:spPr>
      </p:cxnSp>
      <p:cxnSp>
        <p:nvCxnSpPr>
          <p:cNvPr id="285" name="Google Shape;285;p30"/>
          <p:cNvCxnSpPr>
            <a:stCxn id="279" idx="2"/>
            <a:endCxn id="280" idx="6"/>
          </p:cNvCxnSpPr>
          <p:nvPr/>
        </p:nvCxnSpPr>
        <p:spPr>
          <a:xfrm rot="10800000">
            <a:off x="7671846" y="2733892"/>
            <a:ext cx="614100" cy="150900"/>
          </a:xfrm>
          <a:prstGeom prst="straightConnector1">
            <a:avLst/>
          </a:prstGeom>
          <a:noFill/>
          <a:ln cap="flat" cmpd="sng" w="28575">
            <a:solidFill>
              <a:schemeClr val="dk2"/>
            </a:solidFill>
            <a:prstDash val="solid"/>
            <a:round/>
            <a:headEnd len="med" w="med" type="none"/>
            <a:tailEnd len="med" w="med" type="none"/>
          </a:ln>
        </p:spPr>
      </p:cxnSp>
      <p:cxnSp>
        <p:nvCxnSpPr>
          <p:cNvPr id="286" name="Google Shape;286;p30"/>
          <p:cNvCxnSpPr>
            <a:stCxn id="279" idx="2"/>
            <a:endCxn id="275" idx="6"/>
          </p:cNvCxnSpPr>
          <p:nvPr/>
        </p:nvCxnSpPr>
        <p:spPr>
          <a:xfrm flipH="1">
            <a:off x="6724146" y="2884792"/>
            <a:ext cx="1561800" cy="639600"/>
          </a:xfrm>
          <a:prstGeom prst="straightConnector1">
            <a:avLst/>
          </a:prstGeom>
          <a:noFill/>
          <a:ln cap="flat" cmpd="sng" w="28575">
            <a:solidFill>
              <a:schemeClr val="dk2"/>
            </a:solidFill>
            <a:prstDash val="solid"/>
            <a:round/>
            <a:headEnd len="med" w="med" type="none"/>
            <a:tailEnd len="med" w="med" type="none"/>
          </a:ln>
        </p:spPr>
      </p:cxnSp>
      <p:cxnSp>
        <p:nvCxnSpPr>
          <p:cNvPr id="287" name="Google Shape;287;p30"/>
          <p:cNvCxnSpPr>
            <a:stCxn id="279" idx="2"/>
            <a:endCxn id="278" idx="7"/>
          </p:cNvCxnSpPr>
          <p:nvPr/>
        </p:nvCxnSpPr>
        <p:spPr>
          <a:xfrm flipH="1">
            <a:off x="7866246" y="2884792"/>
            <a:ext cx="419700" cy="586200"/>
          </a:xfrm>
          <a:prstGeom prst="straightConnector1">
            <a:avLst/>
          </a:prstGeom>
          <a:noFill/>
          <a:ln cap="flat" cmpd="sng" w="28575">
            <a:solidFill>
              <a:schemeClr val="dk2"/>
            </a:solidFill>
            <a:prstDash val="solid"/>
            <a:round/>
            <a:headEnd len="med" w="med" type="none"/>
            <a:tailEnd len="med" w="med" type="none"/>
          </a:ln>
        </p:spPr>
      </p:cxnSp>
      <p:cxnSp>
        <p:nvCxnSpPr>
          <p:cNvPr id="288" name="Google Shape;288;p30"/>
          <p:cNvCxnSpPr>
            <a:stCxn id="278" idx="2"/>
            <a:endCxn id="275" idx="6"/>
          </p:cNvCxnSpPr>
          <p:nvPr/>
        </p:nvCxnSpPr>
        <p:spPr>
          <a:xfrm rot="10800000">
            <a:off x="6724294" y="3524344"/>
            <a:ext cx="711600" cy="124200"/>
          </a:xfrm>
          <a:prstGeom prst="straightConnector1">
            <a:avLst/>
          </a:prstGeom>
          <a:noFill/>
          <a:ln cap="flat" cmpd="sng" w="28575">
            <a:solidFill>
              <a:schemeClr val="dk2"/>
            </a:solidFill>
            <a:prstDash val="solid"/>
            <a:round/>
            <a:headEnd len="med" w="med" type="none"/>
            <a:tailEnd len="med" w="med" type="none"/>
          </a:ln>
        </p:spPr>
      </p:cxnSp>
      <p:cxnSp>
        <p:nvCxnSpPr>
          <p:cNvPr id="289" name="Google Shape;289;p30"/>
          <p:cNvCxnSpPr>
            <a:stCxn id="278" idx="1"/>
            <a:endCxn id="274" idx="5"/>
          </p:cNvCxnSpPr>
          <p:nvPr/>
        </p:nvCxnSpPr>
        <p:spPr>
          <a:xfrm rot="10800000">
            <a:off x="6067047" y="2801690"/>
            <a:ext cx="1442700" cy="669300"/>
          </a:xfrm>
          <a:prstGeom prst="straightConnector1">
            <a:avLst/>
          </a:prstGeom>
          <a:noFill/>
          <a:ln cap="flat" cmpd="sng" w="28575">
            <a:solidFill>
              <a:schemeClr val="dk2"/>
            </a:solidFill>
            <a:prstDash val="solid"/>
            <a:round/>
            <a:headEnd len="med" w="med" type="none"/>
            <a:tailEnd len="med" w="med" type="none"/>
          </a:ln>
        </p:spPr>
      </p:cxnSp>
      <p:cxnSp>
        <p:nvCxnSpPr>
          <p:cNvPr id="290" name="Google Shape;290;p30"/>
          <p:cNvCxnSpPr>
            <a:stCxn id="277" idx="0"/>
            <a:endCxn id="275" idx="4"/>
          </p:cNvCxnSpPr>
          <p:nvPr/>
        </p:nvCxnSpPr>
        <p:spPr>
          <a:xfrm rot="10800000">
            <a:off x="6472007" y="3775338"/>
            <a:ext cx="695700" cy="502800"/>
          </a:xfrm>
          <a:prstGeom prst="straightConnector1">
            <a:avLst/>
          </a:prstGeom>
          <a:noFill/>
          <a:ln cap="flat" cmpd="sng" w="28575">
            <a:solidFill>
              <a:schemeClr val="dk2"/>
            </a:solidFill>
            <a:prstDash val="solid"/>
            <a:round/>
            <a:headEnd len="med" w="med" type="none"/>
            <a:tailEnd len="med" w="med" type="none"/>
          </a:ln>
        </p:spPr>
      </p:cxnSp>
      <p:cxnSp>
        <p:nvCxnSpPr>
          <p:cNvPr id="291" name="Google Shape;291;p30"/>
          <p:cNvCxnSpPr>
            <a:stCxn id="276" idx="7"/>
            <a:endCxn id="275" idx="4"/>
          </p:cNvCxnSpPr>
          <p:nvPr/>
        </p:nvCxnSpPr>
        <p:spPr>
          <a:xfrm flipH="1" rot="10800000">
            <a:off x="6066918" y="3775377"/>
            <a:ext cx="405300" cy="475200"/>
          </a:xfrm>
          <a:prstGeom prst="straightConnector1">
            <a:avLst/>
          </a:prstGeom>
          <a:noFill/>
          <a:ln cap="flat" cmpd="sng" w="28575">
            <a:solidFill>
              <a:schemeClr val="dk2"/>
            </a:solidFill>
            <a:prstDash val="solid"/>
            <a:round/>
            <a:headEnd len="med" w="med" type="none"/>
            <a:tailEnd len="med" w="med" type="none"/>
          </a:ln>
        </p:spPr>
      </p:cxnSp>
      <p:cxnSp>
        <p:nvCxnSpPr>
          <p:cNvPr id="292" name="Google Shape;292;p30"/>
          <p:cNvCxnSpPr>
            <a:stCxn id="277" idx="1"/>
            <a:endCxn id="276" idx="6"/>
          </p:cNvCxnSpPr>
          <p:nvPr/>
        </p:nvCxnSpPr>
        <p:spPr>
          <a:xfrm flipH="1">
            <a:off x="6140710" y="4351684"/>
            <a:ext cx="848700" cy="76500"/>
          </a:xfrm>
          <a:prstGeom prst="straightConnector1">
            <a:avLst/>
          </a:prstGeom>
          <a:noFill/>
          <a:ln cap="flat" cmpd="sng" w="28575">
            <a:solidFill>
              <a:schemeClr val="dk2"/>
            </a:solidFill>
            <a:prstDash val="solid"/>
            <a:round/>
            <a:headEnd len="med" w="med" type="none"/>
            <a:tailEnd len="med" w="med" type="none"/>
          </a:ln>
        </p:spPr>
      </p:cxnSp>
      <p:cxnSp>
        <p:nvCxnSpPr>
          <p:cNvPr id="293" name="Google Shape;293;p30"/>
          <p:cNvCxnSpPr>
            <a:stCxn id="275" idx="2"/>
            <a:endCxn id="273" idx="6"/>
          </p:cNvCxnSpPr>
          <p:nvPr/>
        </p:nvCxnSpPr>
        <p:spPr>
          <a:xfrm rot="10800000">
            <a:off x="5636782" y="3524268"/>
            <a:ext cx="583200" cy="0"/>
          </a:xfrm>
          <a:prstGeom prst="straightConnector1">
            <a:avLst/>
          </a:prstGeom>
          <a:noFill/>
          <a:ln cap="flat" cmpd="sng" w="28575">
            <a:solidFill>
              <a:schemeClr val="dk2"/>
            </a:solidFill>
            <a:prstDash val="solid"/>
            <a:round/>
            <a:headEnd len="med" w="med" type="none"/>
            <a:tailEnd len="med" w="med" type="none"/>
          </a:ln>
        </p:spPr>
      </p:cxnSp>
      <p:cxnSp>
        <p:nvCxnSpPr>
          <p:cNvPr id="294" name="Google Shape;294;p30"/>
          <p:cNvCxnSpPr>
            <a:stCxn id="276" idx="0"/>
            <a:endCxn id="273" idx="5"/>
          </p:cNvCxnSpPr>
          <p:nvPr/>
        </p:nvCxnSpPr>
        <p:spPr>
          <a:xfrm rot="10800000">
            <a:off x="5563121" y="3701831"/>
            <a:ext cx="325500" cy="475200"/>
          </a:xfrm>
          <a:prstGeom prst="straightConnector1">
            <a:avLst/>
          </a:prstGeom>
          <a:noFill/>
          <a:ln cap="flat" cmpd="sng" w="28575">
            <a:solidFill>
              <a:schemeClr val="dk2"/>
            </a:solidFill>
            <a:prstDash val="solid"/>
            <a:round/>
            <a:headEnd len="med" w="med" type="none"/>
            <a:tailEnd len="med" w="med" type="none"/>
          </a:ln>
        </p:spPr>
      </p:cxnSp>
      <p:cxnSp>
        <p:nvCxnSpPr>
          <p:cNvPr id="295" name="Google Shape;295;p30"/>
          <p:cNvCxnSpPr>
            <a:stCxn id="275" idx="0"/>
            <a:endCxn id="274" idx="5"/>
          </p:cNvCxnSpPr>
          <p:nvPr/>
        </p:nvCxnSpPr>
        <p:spPr>
          <a:xfrm rot="10800000">
            <a:off x="6066832" y="2801568"/>
            <a:ext cx="405300" cy="471600"/>
          </a:xfrm>
          <a:prstGeom prst="straightConnector1">
            <a:avLst/>
          </a:prstGeom>
          <a:noFill/>
          <a:ln cap="flat" cmpd="sng" w="28575">
            <a:solidFill>
              <a:schemeClr val="dk2"/>
            </a:solidFill>
            <a:prstDash val="solid"/>
            <a:round/>
            <a:headEnd len="med" w="med" type="none"/>
            <a:tailEnd len="med" w="med" type="none"/>
          </a:ln>
        </p:spPr>
      </p:cxnSp>
      <p:cxnSp>
        <p:nvCxnSpPr>
          <p:cNvPr id="296" name="Google Shape;296;p30"/>
          <p:cNvCxnSpPr>
            <a:stCxn id="273" idx="7"/>
            <a:endCxn id="274" idx="4"/>
          </p:cNvCxnSpPr>
          <p:nvPr/>
        </p:nvCxnSpPr>
        <p:spPr>
          <a:xfrm flipH="1" rot="10800000">
            <a:off x="5563010" y="2875113"/>
            <a:ext cx="325500" cy="471600"/>
          </a:xfrm>
          <a:prstGeom prst="straightConnector1">
            <a:avLst/>
          </a:prstGeom>
          <a:noFill/>
          <a:ln cap="flat" cmpd="sng" w="28575">
            <a:solidFill>
              <a:schemeClr val="dk2"/>
            </a:solidFill>
            <a:prstDash val="solid"/>
            <a:round/>
            <a:headEnd len="med" w="med" type="none"/>
            <a:tailEnd len="med" w="med" type="none"/>
          </a:ln>
        </p:spPr>
      </p:cxnSp>
      <p:cxnSp>
        <p:nvCxnSpPr>
          <p:cNvPr id="297" name="Google Shape;297;p30"/>
          <p:cNvCxnSpPr>
            <a:stCxn id="275" idx="6"/>
            <a:endCxn id="280" idx="3"/>
          </p:cNvCxnSpPr>
          <p:nvPr/>
        </p:nvCxnSpPr>
        <p:spPr>
          <a:xfrm flipH="1" rot="10800000">
            <a:off x="6724282" y="2911368"/>
            <a:ext cx="517200" cy="612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03" name="Google Shape;303;p31"/>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0" lvl="0" marL="13716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04" name="Google Shape;304;p31"/>
          <p:cNvSpPr/>
          <p:nvPr/>
        </p:nvSpPr>
        <p:spPr>
          <a:xfrm>
            <a:off x="5218373" y="1855878"/>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05" name="Google Shape;305;p31"/>
          <p:cNvSpPr/>
          <p:nvPr/>
        </p:nvSpPr>
        <p:spPr>
          <a:xfrm>
            <a:off x="6785547" y="1425962"/>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06" name="Google Shape;306;p31"/>
          <p:cNvSpPr/>
          <p:nvPr/>
        </p:nvSpPr>
        <p:spPr>
          <a:xfrm>
            <a:off x="7591458" y="2154794"/>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07" name="Google Shape;307;p31"/>
          <p:cNvSpPr/>
          <p:nvPr/>
        </p:nvSpPr>
        <p:spPr>
          <a:xfrm>
            <a:off x="6164321" y="2563734"/>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08" name="Google Shape;308;p31"/>
          <p:cNvSpPr/>
          <p:nvPr/>
        </p:nvSpPr>
        <p:spPr>
          <a:xfrm>
            <a:off x="5174838" y="3202421"/>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09" name="Google Shape;309;p31"/>
          <p:cNvSpPr/>
          <p:nvPr/>
        </p:nvSpPr>
        <p:spPr>
          <a:xfrm>
            <a:off x="6591296" y="3345885"/>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10" name="Google Shape;310;p31"/>
          <p:cNvSpPr/>
          <p:nvPr/>
        </p:nvSpPr>
        <p:spPr>
          <a:xfrm>
            <a:off x="7072340" y="4203310"/>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11" name="Google Shape;311;p31"/>
          <p:cNvSpPr/>
          <p:nvPr/>
        </p:nvSpPr>
        <p:spPr>
          <a:xfrm>
            <a:off x="8110531" y="3138746"/>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12" name="Google Shape;312;p31"/>
          <p:cNvSpPr/>
          <p:nvPr/>
        </p:nvSpPr>
        <p:spPr>
          <a:xfrm>
            <a:off x="8351098" y="4203310"/>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13" name="Google Shape;313;p31"/>
          <p:cNvCxnSpPr>
            <a:stCxn id="312" idx="0"/>
            <a:endCxn id="311" idx="4"/>
          </p:cNvCxnSpPr>
          <p:nvPr/>
        </p:nvCxnSpPr>
        <p:spPr>
          <a:xfrm rot="10800000">
            <a:off x="8351098" y="3617410"/>
            <a:ext cx="240600" cy="585900"/>
          </a:xfrm>
          <a:prstGeom prst="straightConnector1">
            <a:avLst/>
          </a:prstGeom>
          <a:noFill/>
          <a:ln cap="flat" cmpd="sng" w="28575">
            <a:solidFill>
              <a:schemeClr val="dk2"/>
            </a:solidFill>
            <a:prstDash val="solid"/>
            <a:round/>
            <a:headEnd len="med" w="med" type="none"/>
            <a:tailEnd len="med" w="med" type="none"/>
          </a:ln>
        </p:spPr>
      </p:cxnSp>
      <p:cxnSp>
        <p:nvCxnSpPr>
          <p:cNvPr id="314" name="Google Shape;314;p31"/>
          <p:cNvCxnSpPr>
            <a:stCxn id="311" idx="3"/>
            <a:endCxn id="310"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15" name="Google Shape;315;p31"/>
          <p:cNvCxnSpPr>
            <a:stCxn id="309" idx="5"/>
            <a:endCxn id="310" idx="0"/>
          </p:cNvCxnSpPr>
          <p:nvPr/>
        </p:nvCxnSpPr>
        <p:spPr>
          <a:xfrm>
            <a:off x="7002026" y="3754567"/>
            <a:ext cx="310800" cy="448800"/>
          </a:xfrm>
          <a:prstGeom prst="straightConnector1">
            <a:avLst/>
          </a:prstGeom>
          <a:noFill/>
          <a:ln cap="flat" cmpd="sng" w="28575">
            <a:solidFill>
              <a:schemeClr val="dk2"/>
            </a:solidFill>
            <a:prstDash val="solid"/>
            <a:round/>
            <a:headEnd len="med" w="med" type="none"/>
            <a:tailEnd len="med" w="med" type="none"/>
          </a:ln>
        </p:spPr>
      </p:cxnSp>
      <p:cxnSp>
        <p:nvCxnSpPr>
          <p:cNvPr id="316" name="Google Shape;316;p31"/>
          <p:cNvCxnSpPr>
            <a:stCxn id="306" idx="4"/>
            <a:endCxn id="309"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317" name="Google Shape;317;p31"/>
          <p:cNvCxnSpPr>
            <a:stCxn id="311" idx="1"/>
            <a:endCxn id="306" idx="4"/>
          </p:cNvCxnSpPr>
          <p:nvPr/>
        </p:nvCxnSpPr>
        <p:spPr>
          <a:xfrm rot="10800000">
            <a:off x="7832101" y="2633465"/>
            <a:ext cx="348900" cy="575400"/>
          </a:xfrm>
          <a:prstGeom prst="straightConnector1">
            <a:avLst/>
          </a:prstGeom>
          <a:noFill/>
          <a:ln cap="flat" cmpd="sng" w="28575">
            <a:solidFill>
              <a:schemeClr val="dk2"/>
            </a:solidFill>
            <a:prstDash val="solid"/>
            <a:round/>
            <a:headEnd len="med" w="med" type="none"/>
            <a:tailEnd len="med" w="med" type="none"/>
          </a:ln>
        </p:spPr>
      </p:cxnSp>
      <p:cxnSp>
        <p:nvCxnSpPr>
          <p:cNvPr id="318" name="Google Shape;318;p31"/>
          <p:cNvCxnSpPr>
            <a:stCxn id="309" idx="2"/>
            <a:endCxn id="308"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19" name="Google Shape;319;p31"/>
          <p:cNvCxnSpPr>
            <a:stCxn id="309" idx="0"/>
            <a:endCxn id="307"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20" name="Google Shape;320;p31"/>
          <p:cNvCxnSpPr>
            <a:stCxn id="307" idx="3"/>
            <a:endCxn id="308"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21" name="Google Shape;321;p31"/>
          <p:cNvCxnSpPr>
            <a:stCxn id="304" idx="4"/>
            <a:endCxn id="308"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22" name="Google Shape;322;p31"/>
          <p:cNvCxnSpPr>
            <a:stCxn id="305" idx="2"/>
            <a:endCxn id="304"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23" name="Google Shape;323;p31"/>
          <p:cNvCxnSpPr>
            <a:stCxn id="305" idx="3"/>
            <a:endCxn id="307"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24" name="Google Shape;324;p31"/>
          <p:cNvCxnSpPr>
            <a:stCxn id="306" idx="2"/>
            <a:endCxn id="304"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25" name="Google Shape;325;p31"/>
          <p:cNvCxnSpPr>
            <a:stCxn id="306" idx="1"/>
            <a:endCxn id="305"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26" name="Google Shape;326;p31"/>
          <p:cNvCxnSpPr>
            <a:stCxn id="306" idx="2"/>
            <a:endCxn id="307"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27" name="Google Shape;327;p31"/>
          <p:cNvCxnSpPr>
            <a:stCxn id="307" idx="1"/>
            <a:endCxn id="304"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33" name="Google Shape;333;p32"/>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0" lvl="0" marL="13716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34" name="Google Shape;334;p32"/>
          <p:cNvSpPr/>
          <p:nvPr/>
        </p:nvSpPr>
        <p:spPr>
          <a:xfrm>
            <a:off x="5218373" y="1855878"/>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35" name="Google Shape;335;p32"/>
          <p:cNvSpPr/>
          <p:nvPr/>
        </p:nvSpPr>
        <p:spPr>
          <a:xfrm>
            <a:off x="6785547" y="1425962"/>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36" name="Google Shape;336;p32"/>
          <p:cNvSpPr/>
          <p:nvPr/>
        </p:nvSpPr>
        <p:spPr>
          <a:xfrm>
            <a:off x="7591458" y="2154794"/>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37" name="Google Shape;337;p32"/>
          <p:cNvSpPr/>
          <p:nvPr/>
        </p:nvSpPr>
        <p:spPr>
          <a:xfrm>
            <a:off x="6164321" y="2563734"/>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38" name="Google Shape;338;p32"/>
          <p:cNvSpPr/>
          <p:nvPr/>
        </p:nvSpPr>
        <p:spPr>
          <a:xfrm>
            <a:off x="5174838" y="3202421"/>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39" name="Google Shape;339;p32"/>
          <p:cNvSpPr/>
          <p:nvPr/>
        </p:nvSpPr>
        <p:spPr>
          <a:xfrm>
            <a:off x="6591296" y="3345885"/>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40" name="Google Shape;340;p32"/>
          <p:cNvSpPr/>
          <p:nvPr/>
        </p:nvSpPr>
        <p:spPr>
          <a:xfrm>
            <a:off x="7072340" y="4203310"/>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41" name="Google Shape;341;p32"/>
          <p:cNvSpPr/>
          <p:nvPr/>
        </p:nvSpPr>
        <p:spPr>
          <a:xfrm>
            <a:off x="8110531" y="3138746"/>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42" name="Google Shape;342;p32"/>
          <p:cNvSpPr/>
          <p:nvPr/>
        </p:nvSpPr>
        <p:spPr>
          <a:xfrm>
            <a:off x="8351098" y="4203310"/>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43" name="Google Shape;343;p32"/>
          <p:cNvCxnSpPr>
            <a:stCxn id="342" idx="0"/>
            <a:endCxn id="341" idx="4"/>
          </p:cNvCxnSpPr>
          <p:nvPr/>
        </p:nvCxnSpPr>
        <p:spPr>
          <a:xfrm rot="10800000">
            <a:off x="8351098" y="3617410"/>
            <a:ext cx="240600" cy="585900"/>
          </a:xfrm>
          <a:prstGeom prst="straightConnector1">
            <a:avLst/>
          </a:prstGeom>
          <a:noFill/>
          <a:ln cap="flat" cmpd="sng" w="28575">
            <a:solidFill>
              <a:srgbClr val="FF0000"/>
            </a:solidFill>
            <a:prstDash val="solid"/>
            <a:round/>
            <a:headEnd len="med" w="med" type="none"/>
            <a:tailEnd len="med" w="med" type="none"/>
          </a:ln>
        </p:spPr>
      </p:cxnSp>
      <p:cxnSp>
        <p:nvCxnSpPr>
          <p:cNvPr id="344" name="Google Shape;344;p32"/>
          <p:cNvCxnSpPr>
            <a:stCxn id="341" idx="3"/>
            <a:endCxn id="340"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45" name="Google Shape;345;p32"/>
          <p:cNvCxnSpPr>
            <a:stCxn id="339" idx="5"/>
            <a:endCxn id="340" idx="0"/>
          </p:cNvCxnSpPr>
          <p:nvPr/>
        </p:nvCxnSpPr>
        <p:spPr>
          <a:xfrm>
            <a:off x="7002026" y="3754567"/>
            <a:ext cx="310800" cy="448800"/>
          </a:xfrm>
          <a:prstGeom prst="straightConnector1">
            <a:avLst/>
          </a:prstGeom>
          <a:noFill/>
          <a:ln cap="flat" cmpd="sng" w="28575">
            <a:solidFill>
              <a:srgbClr val="FF0000"/>
            </a:solidFill>
            <a:prstDash val="solid"/>
            <a:round/>
            <a:headEnd len="med" w="med" type="none"/>
            <a:tailEnd len="med" w="med" type="none"/>
          </a:ln>
        </p:spPr>
      </p:cxnSp>
      <p:cxnSp>
        <p:nvCxnSpPr>
          <p:cNvPr id="346" name="Google Shape;346;p32"/>
          <p:cNvCxnSpPr>
            <a:stCxn id="336" idx="4"/>
            <a:endCxn id="339"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347" name="Google Shape;347;p32"/>
          <p:cNvCxnSpPr>
            <a:stCxn id="341" idx="1"/>
            <a:endCxn id="336" idx="4"/>
          </p:cNvCxnSpPr>
          <p:nvPr/>
        </p:nvCxnSpPr>
        <p:spPr>
          <a:xfrm rot="10800000">
            <a:off x="7832101" y="2633465"/>
            <a:ext cx="348900" cy="575400"/>
          </a:xfrm>
          <a:prstGeom prst="straightConnector1">
            <a:avLst/>
          </a:prstGeom>
          <a:noFill/>
          <a:ln cap="flat" cmpd="sng" w="28575">
            <a:solidFill>
              <a:srgbClr val="FF0000"/>
            </a:solidFill>
            <a:prstDash val="solid"/>
            <a:round/>
            <a:headEnd len="med" w="med" type="none"/>
            <a:tailEnd len="med" w="med" type="none"/>
          </a:ln>
        </p:spPr>
      </p:cxnSp>
      <p:cxnSp>
        <p:nvCxnSpPr>
          <p:cNvPr id="348" name="Google Shape;348;p32"/>
          <p:cNvCxnSpPr>
            <a:stCxn id="339" idx="2"/>
            <a:endCxn id="338"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49" name="Google Shape;349;p32"/>
          <p:cNvCxnSpPr>
            <a:stCxn id="339" idx="0"/>
            <a:endCxn id="337"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50" name="Google Shape;350;p32"/>
          <p:cNvCxnSpPr>
            <a:stCxn id="337" idx="3"/>
            <a:endCxn id="338"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51" name="Google Shape;351;p32"/>
          <p:cNvCxnSpPr>
            <a:stCxn id="334" idx="4"/>
            <a:endCxn id="338"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52" name="Google Shape;352;p32"/>
          <p:cNvCxnSpPr>
            <a:stCxn id="335" idx="2"/>
            <a:endCxn id="334"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53" name="Google Shape;353;p32"/>
          <p:cNvCxnSpPr>
            <a:stCxn id="335" idx="3"/>
            <a:endCxn id="337"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54" name="Google Shape;354;p32"/>
          <p:cNvCxnSpPr>
            <a:stCxn id="336" idx="2"/>
            <a:endCxn id="334"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55" name="Google Shape;355;p32"/>
          <p:cNvCxnSpPr>
            <a:stCxn id="336" idx="1"/>
            <a:endCxn id="335"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56" name="Google Shape;356;p32"/>
          <p:cNvCxnSpPr>
            <a:stCxn id="336" idx="2"/>
            <a:endCxn id="337"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57" name="Google Shape;357;p32"/>
          <p:cNvCxnSpPr>
            <a:stCxn id="337" idx="1"/>
            <a:endCxn id="334"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63" name="Google Shape;363;p33"/>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a:t>
            </a:r>
            <a:r>
              <a:rPr lang="en"/>
              <a:t>of their</a:t>
            </a:r>
            <a:r>
              <a:rPr lang="en"/>
              <a:t> </a:t>
            </a:r>
            <a:r>
              <a:rPr b="1" lang="en"/>
              <a:t>inner nodes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64" name="Google Shape;364;p33"/>
          <p:cNvSpPr/>
          <p:nvPr/>
        </p:nvSpPr>
        <p:spPr>
          <a:xfrm>
            <a:off x="5218373" y="1855878"/>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65" name="Google Shape;365;p33"/>
          <p:cNvSpPr/>
          <p:nvPr/>
        </p:nvSpPr>
        <p:spPr>
          <a:xfrm>
            <a:off x="6785547" y="1425962"/>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66" name="Google Shape;366;p33"/>
          <p:cNvSpPr/>
          <p:nvPr/>
        </p:nvSpPr>
        <p:spPr>
          <a:xfrm>
            <a:off x="7591458" y="2154794"/>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67" name="Google Shape;367;p33"/>
          <p:cNvSpPr/>
          <p:nvPr/>
        </p:nvSpPr>
        <p:spPr>
          <a:xfrm>
            <a:off x="6164321" y="2563734"/>
            <a:ext cx="481200" cy="4788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68" name="Google Shape;368;p33"/>
          <p:cNvSpPr/>
          <p:nvPr/>
        </p:nvSpPr>
        <p:spPr>
          <a:xfrm>
            <a:off x="5174838" y="3202421"/>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69" name="Google Shape;369;p33"/>
          <p:cNvSpPr/>
          <p:nvPr/>
        </p:nvSpPr>
        <p:spPr>
          <a:xfrm>
            <a:off x="6591296" y="3345885"/>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70" name="Google Shape;370;p33"/>
          <p:cNvSpPr/>
          <p:nvPr/>
        </p:nvSpPr>
        <p:spPr>
          <a:xfrm>
            <a:off x="7072340" y="4203310"/>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71" name="Google Shape;371;p33"/>
          <p:cNvSpPr/>
          <p:nvPr/>
        </p:nvSpPr>
        <p:spPr>
          <a:xfrm>
            <a:off x="8110531" y="3138746"/>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72" name="Google Shape;372;p33"/>
          <p:cNvSpPr/>
          <p:nvPr/>
        </p:nvSpPr>
        <p:spPr>
          <a:xfrm>
            <a:off x="8351098" y="4203310"/>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73" name="Google Shape;373;p33"/>
          <p:cNvCxnSpPr>
            <a:stCxn id="372" idx="0"/>
            <a:endCxn id="371" idx="4"/>
          </p:cNvCxnSpPr>
          <p:nvPr/>
        </p:nvCxnSpPr>
        <p:spPr>
          <a:xfrm rot="10800000">
            <a:off x="8351098" y="3617410"/>
            <a:ext cx="240600" cy="585900"/>
          </a:xfrm>
          <a:prstGeom prst="straightConnector1">
            <a:avLst/>
          </a:prstGeom>
          <a:noFill/>
          <a:ln cap="flat" cmpd="sng" w="28575">
            <a:solidFill>
              <a:srgbClr val="FF0000"/>
            </a:solidFill>
            <a:prstDash val="solid"/>
            <a:round/>
            <a:headEnd len="med" w="med" type="none"/>
            <a:tailEnd len="med" w="med" type="none"/>
          </a:ln>
        </p:spPr>
      </p:cxnSp>
      <p:cxnSp>
        <p:nvCxnSpPr>
          <p:cNvPr id="374" name="Google Shape;374;p33"/>
          <p:cNvCxnSpPr>
            <a:stCxn id="371" idx="3"/>
            <a:endCxn id="370"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75" name="Google Shape;375;p33"/>
          <p:cNvCxnSpPr>
            <a:stCxn id="369" idx="5"/>
            <a:endCxn id="370" idx="0"/>
          </p:cNvCxnSpPr>
          <p:nvPr/>
        </p:nvCxnSpPr>
        <p:spPr>
          <a:xfrm>
            <a:off x="7002026" y="3754567"/>
            <a:ext cx="310800" cy="448800"/>
          </a:xfrm>
          <a:prstGeom prst="straightConnector1">
            <a:avLst/>
          </a:prstGeom>
          <a:noFill/>
          <a:ln cap="flat" cmpd="sng" w="28575">
            <a:solidFill>
              <a:srgbClr val="FF0000"/>
            </a:solidFill>
            <a:prstDash val="solid"/>
            <a:round/>
            <a:headEnd len="med" w="med" type="none"/>
            <a:tailEnd len="med" w="med" type="none"/>
          </a:ln>
        </p:spPr>
      </p:cxnSp>
      <p:cxnSp>
        <p:nvCxnSpPr>
          <p:cNvPr id="376" name="Google Shape;376;p33"/>
          <p:cNvCxnSpPr>
            <a:stCxn id="366" idx="4"/>
            <a:endCxn id="369" idx="7"/>
          </p:cNvCxnSpPr>
          <p:nvPr/>
        </p:nvCxnSpPr>
        <p:spPr>
          <a:xfrm flipH="1">
            <a:off x="7001958" y="2633594"/>
            <a:ext cx="830100" cy="782400"/>
          </a:xfrm>
          <a:prstGeom prst="straightConnector1">
            <a:avLst/>
          </a:prstGeom>
          <a:noFill/>
          <a:ln cap="flat" cmpd="sng" w="28575">
            <a:solidFill>
              <a:srgbClr val="FF0000"/>
            </a:solidFill>
            <a:prstDash val="solid"/>
            <a:round/>
            <a:headEnd len="med" w="med" type="none"/>
            <a:tailEnd len="med" w="med" type="none"/>
          </a:ln>
        </p:spPr>
      </p:cxnSp>
      <p:cxnSp>
        <p:nvCxnSpPr>
          <p:cNvPr id="377" name="Google Shape;377;p33"/>
          <p:cNvCxnSpPr>
            <a:stCxn id="371" idx="1"/>
            <a:endCxn id="366" idx="4"/>
          </p:cNvCxnSpPr>
          <p:nvPr/>
        </p:nvCxnSpPr>
        <p:spPr>
          <a:xfrm rot="10800000">
            <a:off x="7832101" y="2633465"/>
            <a:ext cx="348900" cy="575400"/>
          </a:xfrm>
          <a:prstGeom prst="straightConnector1">
            <a:avLst/>
          </a:prstGeom>
          <a:noFill/>
          <a:ln cap="flat" cmpd="sng" w="28575">
            <a:solidFill>
              <a:srgbClr val="FF0000"/>
            </a:solidFill>
            <a:prstDash val="solid"/>
            <a:round/>
            <a:headEnd len="med" w="med" type="none"/>
            <a:tailEnd len="med" w="med" type="none"/>
          </a:ln>
        </p:spPr>
      </p:cxnSp>
      <p:cxnSp>
        <p:nvCxnSpPr>
          <p:cNvPr id="378" name="Google Shape;378;p33"/>
          <p:cNvCxnSpPr>
            <a:stCxn id="369" idx="2"/>
            <a:endCxn id="368"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79" name="Google Shape;379;p33"/>
          <p:cNvCxnSpPr>
            <a:stCxn id="369" idx="0"/>
            <a:endCxn id="367"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80" name="Google Shape;380;p33"/>
          <p:cNvCxnSpPr>
            <a:stCxn id="367" idx="3"/>
            <a:endCxn id="368"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81" name="Google Shape;381;p33"/>
          <p:cNvCxnSpPr>
            <a:stCxn id="364" idx="4"/>
            <a:endCxn id="368"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82" name="Google Shape;382;p33"/>
          <p:cNvCxnSpPr>
            <a:stCxn id="365" idx="2"/>
            <a:endCxn id="364"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83" name="Google Shape;383;p33"/>
          <p:cNvCxnSpPr>
            <a:stCxn id="365" idx="3"/>
            <a:endCxn id="367"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84" name="Google Shape;384;p33"/>
          <p:cNvCxnSpPr>
            <a:stCxn id="366" idx="2"/>
            <a:endCxn id="364"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85" name="Google Shape;385;p33"/>
          <p:cNvCxnSpPr>
            <a:stCxn id="366" idx="1"/>
            <a:endCxn id="365"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86" name="Google Shape;386;p33"/>
          <p:cNvCxnSpPr>
            <a:stCxn id="366" idx="2"/>
            <a:endCxn id="367"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87" name="Google Shape;387;p33"/>
          <p:cNvCxnSpPr>
            <a:stCxn id="367" idx="1"/>
            <a:endCxn id="364"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93" name="Google Shape;393;p34"/>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of their </a:t>
            </a:r>
            <a:r>
              <a:rPr b="1" lang="en"/>
              <a:t>inner nodes</a:t>
            </a:r>
            <a:endParaRPr b="1"/>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94" name="Google Shape;394;p34"/>
          <p:cNvSpPr txBox="1"/>
          <p:nvPr/>
        </p:nvSpPr>
        <p:spPr>
          <a:xfrm>
            <a:off x="4509550" y="1225225"/>
            <a:ext cx="4343400" cy="95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Open Sans"/>
              <a:buChar char="●"/>
            </a:pPr>
            <a:r>
              <a:rPr lang="en" sz="1800">
                <a:solidFill>
                  <a:schemeClr val="dk1"/>
                </a:solidFill>
                <a:latin typeface="Open Sans"/>
                <a:ea typeface="Open Sans"/>
                <a:cs typeface="Open Sans"/>
                <a:sym typeface="Open Sans"/>
              </a:rPr>
              <a:t>The</a:t>
            </a:r>
            <a:r>
              <a:rPr b="1" lang="en" sz="1800">
                <a:solidFill>
                  <a:schemeClr val="dk1"/>
                </a:solidFill>
                <a:latin typeface="Open Sans"/>
                <a:ea typeface="Open Sans"/>
                <a:cs typeface="Open Sans"/>
                <a:sym typeface="Open Sans"/>
              </a:rPr>
              <a:t> more/more</a:t>
            </a:r>
            <a:r>
              <a:rPr lang="en" sz="1800">
                <a:solidFill>
                  <a:schemeClr val="dk1"/>
                </a:solidFill>
                <a:latin typeface="Open Sans"/>
                <a:ea typeface="Open Sans"/>
                <a:cs typeface="Open Sans"/>
                <a:sym typeface="Open Sans"/>
              </a:rPr>
              <a:t> principle:</a:t>
            </a:r>
            <a:endParaRPr sz="1800">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The more a node has of these things the more central it is!</a:t>
            </a:r>
            <a:endParaRPr/>
          </a:p>
        </p:txBody>
      </p:sp>
      <p:sp>
        <p:nvSpPr>
          <p:cNvPr id="395" name="Google Shape;395;p34"/>
          <p:cNvSpPr/>
          <p:nvPr/>
        </p:nvSpPr>
        <p:spPr>
          <a:xfrm>
            <a:off x="5136651" y="3259239"/>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96" name="Google Shape;396;p34"/>
          <p:cNvSpPr/>
          <p:nvPr/>
        </p:nvSpPr>
        <p:spPr>
          <a:xfrm>
            <a:off x="5640558" y="2360176"/>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97" name="Google Shape;397;p34"/>
          <p:cNvSpPr/>
          <p:nvPr/>
        </p:nvSpPr>
        <p:spPr>
          <a:xfrm>
            <a:off x="6224069" y="3259239"/>
            <a:ext cx="504300" cy="5016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98" name="Google Shape;398;p34"/>
          <p:cNvSpPr/>
          <p:nvPr/>
        </p:nvSpPr>
        <p:spPr>
          <a:xfrm>
            <a:off x="5640558" y="4161931"/>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99" name="Google Shape;399;p34"/>
          <p:cNvSpPr/>
          <p:nvPr/>
        </p:nvSpPr>
        <p:spPr>
          <a:xfrm>
            <a:off x="6919645" y="4262907"/>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00" name="Google Shape;400;p34"/>
          <p:cNvSpPr/>
          <p:nvPr/>
        </p:nvSpPr>
        <p:spPr>
          <a:xfrm>
            <a:off x="7439981" y="3383355"/>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01" name="Google Shape;401;p34"/>
          <p:cNvSpPr/>
          <p:nvPr/>
        </p:nvSpPr>
        <p:spPr>
          <a:xfrm>
            <a:off x="8290033" y="262059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02" name="Google Shape;402;p34"/>
          <p:cNvSpPr/>
          <p:nvPr/>
        </p:nvSpPr>
        <p:spPr>
          <a:xfrm>
            <a:off x="7171599" y="246987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cxnSp>
        <p:nvCxnSpPr>
          <p:cNvPr id="403" name="Google Shape;403;p34"/>
          <p:cNvCxnSpPr>
            <a:stCxn id="401" idx="2"/>
            <a:endCxn id="402" idx="6"/>
          </p:cNvCxnSpPr>
          <p:nvPr/>
        </p:nvCxnSpPr>
        <p:spPr>
          <a:xfrm rot="10800000">
            <a:off x="7675933" y="2720793"/>
            <a:ext cx="614100" cy="150600"/>
          </a:xfrm>
          <a:prstGeom prst="straightConnector1">
            <a:avLst/>
          </a:prstGeom>
          <a:noFill/>
          <a:ln cap="flat" cmpd="sng" w="28575">
            <a:solidFill>
              <a:schemeClr val="dk2"/>
            </a:solidFill>
            <a:prstDash val="solid"/>
            <a:round/>
            <a:headEnd len="med" w="med" type="none"/>
            <a:tailEnd len="med" w="med" type="none"/>
          </a:ln>
        </p:spPr>
      </p:cxnSp>
      <p:cxnSp>
        <p:nvCxnSpPr>
          <p:cNvPr id="404" name="Google Shape;404;p34"/>
          <p:cNvCxnSpPr>
            <a:stCxn id="401" idx="2"/>
            <a:endCxn id="397" idx="6"/>
          </p:cNvCxnSpPr>
          <p:nvPr/>
        </p:nvCxnSpPr>
        <p:spPr>
          <a:xfrm flipH="1">
            <a:off x="6728233" y="2871393"/>
            <a:ext cx="1561800" cy="638700"/>
          </a:xfrm>
          <a:prstGeom prst="straightConnector1">
            <a:avLst/>
          </a:prstGeom>
          <a:noFill/>
          <a:ln cap="flat" cmpd="sng" w="28575">
            <a:solidFill>
              <a:schemeClr val="dk2"/>
            </a:solidFill>
            <a:prstDash val="solid"/>
            <a:round/>
            <a:headEnd len="med" w="med" type="none"/>
            <a:tailEnd len="med" w="med" type="none"/>
          </a:ln>
        </p:spPr>
      </p:cxnSp>
      <p:cxnSp>
        <p:nvCxnSpPr>
          <p:cNvPr id="405" name="Google Shape;405;p34"/>
          <p:cNvCxnSpPr>
            <a:stCxn id="401" idx="2"/>
            <a:endCxn id="400" idx="7"/>
          </p:cNvCxnSpPr>
          <p:nvPr/>
        </p:nvCxnSpPr>
        <p:spPr>
          <a:xfrm flipH="1">
            <a:off x="7870333" y="2871393"/>
            <a:ext cx="419700" cy="585300"/>
          </a:xfrm>
          <a:prstGeom prst="straightConnector1">
            <a:avLst/>
          </a:prstGeom>
          <a:noFill/>
          <a:ln cap="flat" cmpd="sng" w="28575">
            <a:solidFill>
              <a:schemeClr val="dk2"/>
            </a:solidFill>
            <a:prstDash val="solid"/>
            <a:round/>
            <a:headEnd len="med" w="med" type="none"/>
            <a:tailEnd len="med" w="med" type="none"/>
          </a:ln>
        </p:spPr>
      </p:cxnSp>
      <p:cxnSp>
        <p:nvCxnSpPr>
          <p:cNvPr id="406" name="Google Shape;406;p34"/>
          <p:cNvCxnSpPr>
            <a:stCxn id="400" idx="2"/>
            <a:endCxn id="397" idx="6"/>
          </p:cNvCxnSpPr>
          <p:nvPr/>
        </p:nvCxnSpPr>
        <p:spPr>
          <a:xfrm rot="10800000">
            <a:off x="6728381" y="3509955"/>
            <a:ext cx="711600" cy="124200"/>
          </a:xfrm>
          <a:prstGeom prst="straightConnector1">
            <a:avLst/>
          </a:prstGeom>
          <a:noFill/>
          <a:ln cap="flat" cmpd="sng" w="28575">
            <a:solidFill>
              <a:schemeClr val="dk2"/>
            </a:solidFill>
            <a:prstDash val="solid"/>
            <a:round/>
            <a:headEnd len="med" w="med" type="none"/>
            <a:tailEnd len="med" w="med" type="none"/>
          </a:ln>
        </p:spPr>
      </p:cxnSp>
      <p:cxnSp>
        <p:nvCxnSpPr>
          <p:cNvPr id="407" name="Google Shape;407;p34"/>
          <p:cNvCxnSpPr>
            <a:stCxn id="400" idx="1"/>
            <a:endCxn id="396" idx="5"/>
          </p:cNvCxnSpPr>
          <p:nvPr/>
        </p:nvCxnSpPr>
        <p:spPr>
          <a:xfrm rot="10800000">
            <a:off x="6071134" y="2788412"/>
            <a:ext cx="1442700" cy="668400"/>
          </a:xfrm>
          <a:prstGeom prst="straightConnector1">
            <a:avLst/>
          </a:prstGeom>
          <a:noFill/>
          <a:ln cap="flat" cmpd="sng" w="28575">
            <a:solidFill>
              <a:schemeClr val="dk2"/>
            </a:solidFill>
            <a:prstDash val="solid"/>
            <a:round/>
            <a:headEnd len="med" w="med" type="none"/>
            <a:tailEnd len="med" w="med" type="none"/>
          </a:ln>
        </p:spPr>
      </p:cxnSp>
      <p:cxnSp>
        <p:nvCxnSpPr>
          <p:cNvPr id="408" name="Google Shape;408;p34"/>
          <p:cNvCxnSpPr>
            <a:stCxn id="399" idx="0"/>
            <a:endCxn id="397" idx="4"/>
          </p:cNvCxnSpPr>
          <p:nvPr/>
        </p:nvCxnSpPr>
        <p:spPr>
          <a:xfrm rot="10800000">
            <a:off x="6476095" y="3760707"/>
            <a:ext cx="695700" cy="502200"/>
          </a:xfrm>
          <a:prstGeom prst="straightConnector1">
            <a:avLst/>
          </a:prstGeom>
          <a:noFill/>
          <a:ln cap="flat" cmpd="sng" w="28575">
            <a:solidFill>
              <a:schemeClr val="dk2"/>
            </a:solidFill>
            <a:prstDash val="solid"/>
            <a:round/>
            <a:headEnd len="med" w="med" type="none"/>
            <a:tailEnd len="med" w="med" type="none"/>
          </a:ln>
        </p:spPr>
      </p:cxnSp>
      <p:cxnSp>
        <p:nvCxnSpPr>
          <p:cNvPr id="409" name="Google Shape;409;p34"/>
          <p:cNvCxnSpPr>
            <a:stCxn id="398" idx="7"/>
            <a:endCxn id="397" idx="4"/>
          </p:cNvCxnSpPr>
          <p:nvPr/>
        </p:nvCxnSpPr>
        <p:spPr>
          <a:xfrm flipH="1" rot="10800000">
            <a:off x="6071005" y="3760788"/>
            <a:ext cx="405300" cy="474600"/>
          </a:xfrm>
          <a:prstGeom prst="straightConnector1">
            <a:avLst/>
          </a:prstGeom>
          <a:noFill/>
          <a:ln cap="flat" cmpd="sng" w="28575">
            <a:solidFill>
              <a:schemeClr val="dk2"/>
            </a:solidFill>
            <a:prstDash val="solid"/>
            <a:round/>
            <a:headEnd len="med" w="med" type="none"/>
            <a:tailEnd len="med" w="med" type="none"/>
          </a:ln>
        </p:spPr>
      </p:cxnSp>
      <p:cxnSp>
        <p:nvCxnSpPr>
          <p:cNvPr id="410" name="Google Shape;410;p34"/>
          <p:cNvCxnSpPr>
            <a:stCxn id="399" idx="1"/>
            <a:endCxn id="398" idx="6"/>
          </p:cNvCxnSpPr>
          <p:nvPr/>
        </p:nvCxnSpPr>
        <p:spPr>
          <a:xfrm flipH="1">
            <a:off x="6144798" y="4336364"/>
            <a:ext cx="848700" cy="76500"/>
          </a:xfrm>
          <a:prstGeom prst="straightConnector1">
            <a:avLst/>
          </a:prstGeom>
          <a:noFill/>
          <a:ln cap="flat" cmpd="sng" w="28575">
            <a:solidFill>
              <a:schemeClr val="dk2"/>
            </a:solidFill>
            <a:prstDash val="solid"/>
            <a:round/>
            <a:headEnd len="med" w="med" type="none"/>
            <a:tailEnd len="med" w="med" type="none"/>
          </a:ln>
        </p:spPr>
      </p:cxnSp>
      <p:cxnSp>
        <p:nvCxnSpPr>
          <p:cNvPr id="411" name="Google Shape;411;p34"/>
          <p:cNvCxnSpPr>
            <a:stCxn id="397" idx="2"/>
            <a:endCxn id="395" idx="6"/>
          </p:cNvCxnSpPr>
          <p:nvPr/>
        </p:nvCxnSpPr>
        <p:spPr>
          <a:xfrm rot="10800000">
            <a:off x="5640869" y="3510039"/>
            <a:ext cx="583200" cy="0"/>
          </a:xfrm>
          <a:prstGeom prst="straightConnector1">
            <a:avLst/>
          </a:prstGeom>
          <a:noFill/>
          <a:ln cap="flat" cmpd="sng" w="28575">
            <a:solidFill>
              <a:schemeClr val="dk2"/>
            </a:solidFill>
            <a:prstDash val="solid"/>
            <a:round/>
            <a:headEnd len="med" w="med" type="none"/>
            <a:tailEnd len="med" w="med" type="none"/>
          </a:ln>
        </p:spPr>
      </p:cxnSp>
      <p:cxnSp>
        <p:nvCxnSpPr>
          <p:cNvPr id="412" name="Google Shape;412;p34"/>
          <p:cNvCxnSpPr>
            <a:stCxn id="398" idx="0"/>
            <a:endCxn id="395" idx="5"/>
          </p:cNvCxnSpPr>
          <p:nvPr/>
        </p:nvCxnSpPr>
        <p:spPr>
          <a:xfrm rot="10800000">
            <a:off x="5567208" y="3687331"/>
            <a:ext cx="325500" cy="474600"/>
          </a:xfrm>
          <a:prstGeom prst="straightConnector1">
            <a:avLst/>
          </a:prstGeom>
          <a:noFill/>
          <a:ln cap="flat" cmpd="sng" w="28575">
            <a:solidFill>
              <a:schemeClr val="dk2"/>
            </a:solidFill>
            <a:prstDash val="solid"/>
            <a:round/>
            <a:headEnd len="med" w="med" type="none"/>
            <a:tailEnd len="med" w="med" type="none"/>
          </a:ln>
        </p:spPr>
      </p:cxnSp>
      <p:cxnSp>
        <p:nvCxnSpPr>
          <p:cNvPr id="413" name="Google Shape;413;p34"/>
          <p:cNvCxnSpPr>
            <a:stCxn id="397" idx="0"/>
            <a:endCxn id="396" idx="5"/>
          </p:cNvCxnSpPr>
          <p:nvPr/>
        </p:nvCxnSpPr>
        <p:spPr>
          <a:xfrm rot="10800000">
            <a:off x="6070919" y="2788239"/>
            <a:ext cx="405300" cy="471000"/>
          </a:xfrm>
          <a:prstGeom prst="straightConnector1">
            <a:avLst/>
          </a:prstGeom>
          <a:noFill/>
          <a:ln cap="flat" cmpd="sng" w="28575">
            <a:solidFill>
              <a:schemeClr val="dk2"/>
            </a:solidFill>
            <a:prstDash val="solid"/>
            <a:round/>
            <a:headEnd len="med" w="med" type="none"/>
            <a:tailEnd len="med" w="med" type="none"/>
          </a:ln>
        </p:spPr>
      </p:cxnSp>
      <p:cxnSp>
        <p:nvCxnSpPr>
          <p:cNvPr id="414" name="Google Shape;414;p34"/>
          <p:cNvCxnSpPr>
            <a:stCxn id="395" idx="7"/>
            <a:endCxn id="396" idx="4"/>
          </p:cNvCxnSpPr>
          <p:nvPr/>
        </p:nvCxnSpPr>
        <p:spPr>
          <a:xfrm flipH="1" rot="10800000">
            <a:off x="5567098" y="2861697"/>
            <a:ext cx="325500" cy="471000"/>
          </a:xfrm>
          <a:prstGeom prst="straightConnector1">
            <a:avLst/>
          </a:prstGeom>
          <a:noFill/>
          <a:ln cap="flat" cmpd="sng" w="28575">
            <a:solidFill>
              <a:schemeClr val="dk2"/>
            </a:solidFill>
            <a:prstDash val="solid"/>
            <a:round/>
            <a:headEnd len="med" w="med" type="none"/>
            <a:tailEnd len="med" w="med" type="none"/>
          </a:ln>
        </p:spPr>
      </p:cxnSp>
      <p:cxnSp>
        <p:nvCxnSpPr>
          <p:cNvPr id="415" name="Google Shape;415;p34"/>
          <p:cNvCxnSpPr>
            <a:stCxn id="397" idx="6"/>
            <a:endCxn id="402" idx="3"/>
          </p:cNvCxnSpPr>
          <p:nvPr/>
        </p:nvCxnSpPr>
        <p:spPr>
          <a:xfrm flipH="1" rot="10800000">
            <a:off x="6728369" y="2898039"/>
            <a:ext cx="517200" cy="61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421" name="Google Shape;421;p35"/>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a:t>
            </a:r>
            <a:r>
              <a:rPr lang="en"/>
              <a:t>of their</a:t>
            </a:r>
            <a:r>
              <a:rPr lang="en"/>
              <a:t> </a:t>
            </a:r>
            <a:r>
              <a:rPr b="1" lang="en"/>
              <a:t>inner nodes</a:t>
            </a:r>
            <a:endParaRPr b="1"/>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422" name="Google Shape;422;p35"/>
          <p:cNvSpPr txBox="1"/>
          <p:nvPr/>
        </p:nvSpPr>
        <p:spPr>
          <a:xfrm>
            <a:off x="4509550" y="1225225"/>
            <a:ext cx="4343400" cy="95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Open Sans"/>
              <a:buChar char="●"/>
            </a:pPr>
            <a:r>
              <a:rPr lang="en" sz="1800">
                <a:solidFill>
                  <a:schemeClr val="dk1"/>
                </a:solidFill>
                <a:latin typeface="Open Sans"/>
                <a:ea typeface="Open Sans"/>
                <a:cs typeface="Open Sans"/>
                <a:sym typeface="Open Sans"/>
              </a:rPr>
              <a:t>Result is a </a:t>
            </a:r>
            <a:r>
              <a:rPr b="1" lang="en" sz="1800">
                <a:solidFill>
                  <a:schemeClr val="dk1"/>
                </a:solidFill>
                <a:latin typeface="Open Sans"/>
                <a:ea typeface="Open Sans"/>
                <a:cs typeface="Open Sans"/>
                <a:sym typeface="Open Sans"/>
              </a:rPr>
              <a:t>ranking</a:t>
            </a:r>
            <a:r>
              <a:rPr lang="en" sz="1800">
                <a:solidFill>
                  <a:schemeClr val="dk1"/>
                </a:solidFill>
                <a:latin typeface="Open Sans"/>
                <a:ea typeface="Open Sans"/>
                <a:cs typeface="Open Sans"/>
                <a:sym typeface="Open Sans"/>
              </a:rPr>
              <a:t> of all nodes</a:t>
            </a:r>
            <a:endParaRPr sz="1800">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From most central (top) to least central (bottom)</a:t>
            </a:r>
            <a:endParaRPr sz="1800">
              <a:solidFill>
                <a:schemeClr val="dk1"/>
              </a:solidFill>
              <a:latin typeface="Open Sans"/>
              <a:ea typeface="Open Sans"/>
              <a:cs typeface="Open Sans"/>
              <a:sym typeface="Open Sans"/>
            </a:endParaRPr>
          </a:p>
        </p:txBody>
      </p:sp>
      <p:sp>
        <p:nvSpPr>
          <p:cNvPr id="423" name="Google Shape;423;p35"/>
          <p:cNvSpPr/>
          <p:nvPr/>
        </p:nvSpPr>
        <p:spPr>
          <a:xfrm>
            <a:off x="5136651" y="3259239"/>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24" name="Google Shape;424;p35"/>
          <p:cNvSpPr/>
          <p:nvPr/>
        </p:nvSpPr>
        <p:spPr>
          <a:xfrm>
            <a:off x="5640558" y="2360176"/>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25" name="Google Shape;425;p35"/>
          <p:cNvSpPr/>
          <p:nvPr/>
        </p:nvSpPr>
        <p:spPr>
          <a:xfrm>
            <a:off x="6224069" y="3259239"/>
            <a:ext cx="504300" cy="5016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26" name="Google Shape;426;p35"/>
          <p:cNvSpPr/>
          <p:nvPr/>
        </p:nvSpPr>
        <p:spPr>
          <a:xfrm>
            <a:off x="5640558" y="4161931"/>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27" name="Google Shape;427;p35"/>
          <p:cNvSpPr/>
          <p:nvPr/>
        </p:nvSpPr>
        <p:spPr>
          <a:xfrm>
            <a:off x="6919645" y="4262907"/>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28" name="Google Shape;428;p35"/>
          <p:cNvSpPr/>
          <p:nvPr/>
        </p:nvSpPr>
        <p:spPr>
          <a:xfrm>
            <a:off x="7439981" y="3383355"/>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29" name="Google Shape;429;p35"/>
          <p:cNvSpPr/>
          <p:nvPr/>
        </p:nvSpPr>
        <p:spPr>
          <a:xfrm>
            <a:off x="8290033" y="262059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30" name="Google Shape;430;p35"/>
          <p:cNvSpPr/>
          <p:nvPr/>
        </p:nvSpPr>
        <p:spPr>
          <a:xfrm>
            <a:off x="7171599" y="246987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cxnSp>
        <p:nvCxnSpPr>
          <p:cNvPr id="431" name="Google Shape;431;p35"/>
          <p:cNvCxnSpPr>
            <a:stCxn id="429" idx="2"/>
            <a:endCxn id="430" idx="6"/>
          </p:cNvCxnSpPr>
          <p:nvPr/>
        </p:nvCxnSpPr>
        <p:spPr>
          <a:xfrm rot="10800000">
            <a:off x="7675933" y="2720793"/>
            <a:ext cx="614100" cy="150600"/>
          </a:xfrm>
          <a:prstGeom prst="straightConnector1">
            <a:avLst/>
          </a:prstGeom>
          <a:noFill/>
          <a:ln cap="flat" cmpd="sng" w="28575">
            <a:solidFill>
              <a:schemeClr val="dk2"/>
            </a:solidFill>
            <a:prstDash val="solid"/>
            <a:round/>
            <a:headEnd len="med" w="med" type="none"/>
            <a:tailEnd len="med" w="med" type="none"/>
          </a:ln>
        </p:spPr>
      </p:cxnSp>
      <p:cxnSp>
        <p:nvCxnSpPr>
          <p:cNvPr id="432" name="Google Shape;432;p35"/>
          <p:cNvCxnSpPr>
            <a:stCxn id="429" idx="2"/>
            <a:endCxn id="425" idx="6"/>
          </p:cNvCxnSpPr>
          <p:nvPr/>
        </p:nvCxnSpPr>
        <p:spPr>
          <a:xfrm flipH="1">
            <a:off x="6728233" y="2871393"/>
            <a:ext cx="1561800" cy="638700"/>
          </a:xfrm>
          <a:prstGeom prst="straightConnector1">
            <a:avLst/>
          </a:prstGeom>
          <a:noFill/>
          <a:ln cap="flat" cmpd="sng" w="28575">
            <a:solidFill>
              <a:schemeClr val="dk2"/>
            </a:solidFill>
            <a:prstDash val="solid"/>
            <a:round/>
            <a:headEnd len="med" w="med" type="none"/>
            <a:tailEnd len="med" w="med" type="none"/>
          </a:ln>
        </p:spPr>
      </p:cxnSp>
      <p:cxnSp>
        <p:nvCxnSpPr>
          <p:cNvPr id="433" name="Google Shape;433;p35"/>
          <p:cNvCxnSpPr>
            <a:stCxn id="429" idx="2"/>
            <a:endCxn id="428" idx="7"/>
          </p:cNvCxnSpPr>
          <p:nvPr/>
        </p:nvCxnSpPr>
        <p:spPr>
          <a:xfrm flipH="1">
            <a:off x="7870333" y="2871393"/>
            <a:ext cx="419700" cy="585300"/>
          </a:xfrm>
          <a:prstGeom prst="straightConnector1">
            <a:avLst/>
          </a:prstGeom>
          <a:noFill/>
          <a:ln cap="flat" cmpd="sng" w="28575">
            <a:solidFill>
              <a:schemeClr val="dk2"/>
            </a:solidFill>
            <a:prstDash val="solid"/>
            <a:round/>
            <a:headEnd len="med" w="med" type="none"/>
            <a:tailEnd len="med" w="med" type="none"/>
          </a:ln>
        </p:spPr>
      </p:cxnSp>
      <p:cxnSp>
        <p:nvCxnSpPr>
          <p:cNvPr id="434" name="Google Shape;434;p35"/>
          <p:cNvCxnSpPr>
            <a:stCxn id="428" idx="2"/>
            <a:endCxn id="425" idx="6"/>
          </p:cNvCxnSpPr>
          <p:nvPr/>
        </p:nvCxnSpPr>
        <p:spPr>
          <a:xfrm rot="10800000">
            <a:off x="6728381" y="3509955"/>
            <a:ext cx="711600" cy="124200"/>
          </a:xfrm>
          <a:prstGeom prst="straightConnector1">
            <a:avLst/>
          </a:prstGeom>
          <a:noFill/>
          <a:ln cap="flat" cmpd="sng" w="28575">
            <a:solidFill>
              <a:schemeClr val="dk2"/>
            </a:solidFill>
            <a:prstDash val="solid"/>
            <a:round/>
            <a:headEnd len="med" w="med" type="none"/>
            <a:tailEnd len="med" w="med" type="none"/>
          </a:ln>
        </p:spPr>
      </p:cxnSp>
      <p:cxnSp>
        <p:nvCxnSpPr>
          <p:cNvPr id="435" name="Google Shape;435;p35"/>
          <p:cNvCxnSpPr>
            <a:stCxn id="428" idx="1"/>
            <a:endCxn id="424" idx="5"/>
          </p:cNvCxnSpPr>
          <p:nvPr/>
        </p:nvCxnSpPr>
        <p:spPr>
          <a:xfrm rot="10800000">
            <a:off x="6071134" y="2788412"/>
            <a:ext cx="1442700" cy="668400"/>
          </a:xfrm>
          <a:prstGeom prst="straightConnector1">
            <a:avLst/>
          </a:prstGeom>
          <a:noFill/>
          <a:ln cap="flat" cmpd="sng" w="28575">
            <a:solidFill>
              <a:schemeClr val="dk2"/>
            </a:solidFill>
            <a:prstDash val="solid"/>
            <a:round/>
            <a:headEnd len="med" w="med" type="none"/>
            <a:tailEnd len="med" w="med" type="none"/>
          </a:ln>
        </p:spPr>
      </p:cxnSp>
      <p:cxnSp>
        <p:nvCxnSpPr>
          <p:cNvPr id="436" name="Google Shape;436;p35"/>
          <p:cNvCxnSpPr>
            <a:stCxn id="427" idx="0"/>
            <a:endCxn id="425" idx="4"/>
          </p:cNvCxnSpPr>
          <p:nvPr/>
        </p:nvCxnSpPr>
        <p:spPr>
          <a:xfrm rot="10800000">
            <a:off x="6476095" y="3760707"/>
            <a:ext cx="695700" cy="502200"/>
          </a:xfrm>
          <a:prstGeom prst="straightConnector1">
            <a:avLst/>
          </a:prstGeom>
          <a:noFill/>
          <a:ln cap="flat" cmpd="sng" w="28575">
            <a:solidFill>
              <a:schemeClr val="dk2"/>
            </a:solidFill>
            <a:prstDash val="solid"/>
            <a:round/>
            <a:headEnd len="med" w="med" type="none"/>
            <a:tailEnd len="med" w="med" type="none"/>
          </a:ln>
        </p:spPr>
      </p:cxnSp>
      <p:cxnSp>
        <p:nvCxnSpPr>
          <p:cNvPr id="437" name="Google Shape;437;p35"/>
          <p:cNvCxnSpPr>
            <a:stCxn id="426" idx="7"/>
            <a:endCxn id="425" idx="4"/>
          </p:cNvCxnSpPr>
          <p:nvPr/>
        </p:nvCxnSpPr>
        <p:spPr>
          <a:xfrm flipH="1" rot="10800000">
            <a:off x="6071005" y="3760788"/>
            <a:ext cx="405300" cy="474600"/>
          </a:xfrm>
          <a:prstGeom prst="straightConnector1">
            <a:avLst/>
          </a:prstGeom>
          <a:noFill/>
          <a:ln cap="flat" cmpd="sng" w="28575">
            <a:solidFill>
              <a:schemeClr val="dk2"/>
            </a:solidFill>
            <a:prstDash val="solid"/>
            <a:round/>
            <a:headEnd len="med" w="med" type="none"/>
            <a:tailEnd len="med" w="med" type="none"/>
          </a:ln>
        </p:spPr>
      </p:cxnSp>
      <p:cxnSp>
        <p:nvCxnSpPr>
          <p:cNvPr id="438" name="Google Shape;438;p35"/>
          <p:cNvCxnSpPr>
            <a:stCxn id="427" idx="1"/>
            <a:endCxn id="426" idx="6"/>
          </p:cNvCxnSpPr>
          <p:nvPr/>
        </p:nvCxnSpPr>
        <p:spPr>
          <a:xfrm flipH="1">
            <a:off x="6144798" y="4336364"/>
            <a:ext cx="848700" cy="76500"/>
          </a:xfrm>
          <a:prstGeom prst="straightConnector1">
            <a:avLst/>
          </a:prstGeom>
          <a:noFill/>
          <a:ln cap="flat" cmpd="sng" w="28575">
            <a:solidFill>
              <a:schemeClr val="dk2"/>
            </a:solidFill>
            <a:prstDash val="solid"/>
            <a:round/>
            <a:headEnd len="med" w="med" type="none"/>
            <a:tailEnd len="med" w="med" type="none"/>
          </a:ln>
        </p:spPr>
      </p:cxnSp>
      <p:cxnSp>
        <p:nvCxnSpPr>
          <p:cNvPr id="439" name="Google Shape;439;p35"/>
          <p:cNvCxnSpPr>
            <a:stCxn id="425" idx="2"/>
            <a:endCxn id="423" idx="6"/>
          </p:cNvCxnSpPr>
          <p:nvPr/>
        </p:nvCxnSpPr>
        <p:spPr>
          <a:xfrm rot="10800000">
            <a:off x="5640869" y="3510039"/>
            <a:ext cx="583200" cy="0"/>
          </a:xfrm>
          <a:prstGeom prst="straightConnector1">
            <a:avLst/>
          </a:prstGeom>
          <a:noFill/>
          <a:ln cap="flat" cmpd="sng" w="28575">
            <a:solidFill>
              <a:schemeClr val="dk2"/>
            </a:solidFill>
            <a:prstDash val="solid"/>
            <a:round/>
            <a:headEnd len="med" w="med" type="none"/>
            <a:tailEnd len="med" w="med" type="none"/>
          </a:ln>
        </p:spPr>
      </p:cxnSp>
      <p:cxnSp>
        <p:nvCxnSpPr>
          <p:cNvPr id="440" name="Google Shape;440;p35"/>
          <p:cNvCxnSpPr>
            <a:stCxn id="426" idx="0"/>
            <a:endCxn id="423" idx="5"/>
          </p:cNvCxnSpPr>
          <p:nvPr/>
        </p:nvCxnSpPr>
        <p:spPr>
          <a:xfrm rot="10800000">
            <a:off x="5567208" y="3687331"/>
            <a:ext cx="325500" cy="474600"/>
          </a:xfrm>
          <a:prstGeom prst="straightConnector1">
            <a:avLst/>
          </a:prstGeom>
          <a:noFill/>
          <a:ln cap="flat" cmpd="sng" w="28575">
            <a:solidFill>
              <a:schemeClr val="dk2"/>
            </a:solidFill>
            <a:prstDash val="solid"/>
            <a:round/>
            <a:headEnd len="med" w="med" type="none"/>
            <a:tailEnd len="med" w="med" type="none"/>
          </a:ln>
        </p:spPr>
      </p:cxnSp>
      <p:cxnSp>
        <p:nvCxnSpPr>
          <p:cNvPr id="441" name="Google Shape;441;p35"/>
          <p:cNvCxnSpPr>
            <a:stCxn id="425" idx="0"/>
            <a:endCxn id="424" idx="5"/>
          </p:cNvCxnSpPr>
          <p:nvPr/>
        </p:nvCxnSpPr>
        <p:spPr>
          <a:xfrm rot="10800000">
            <a:off x="6070919" y="2788239"/>
            <a:ext cx="405300" cy="471000"/>
          </a:xfrm>
          <a:prstGeom prst="straightConnector1">
            <a:avLst/>
          </a:prstGeom>
          <a:noFill/>
          <a:ln cap="flat" cmpd="sng" w="28575">
            <a:solidFill>
              <a:schemeClr val="dk2"/>
            </a:solidFill>
            <a:prstDash val="solid"/>
            <a:round/>
            <a:headEnd len="med" w="med" type="none"/>
            <a:tailEnd len="med" w="med" type="none"/>
          </a:ln>
        </p:spPr>
      </p:cxnSp>
      <p:cxnSp>
        <p:nvCxnSpPr>
          <p:cNvPr id="442" name="Google Shape;442;p35"/>
          <p:cNvCxnSpPr>
            <a:stCxn id="423" idx="7"/>
            <a:endCxn id="424" idx="4"/>
          </p:cNvCxnSpPr>
          <p:nvPr/>
        </p:nvCxnSpPr>
        <p:spPr>
          <a:xfrm flipH="1" rot="10800000">
            <a:off x="5567098" y="2861697"/>
            <a:ext cx="325500" cy="471000"/>
          </a:xfrm>
          <a:prstGeom prst="straightConnector1">
            <a:avLst/>
          </a:prstGeom>
          <a:noFill/>
          <a:ln cap="flat" cmpd="sng" w="28575">
            <a:solidFill>
              <a:schemeClr val="dk2"/>
            </a:solidFill>
            <a:prstDash val="solid"/>
            <a:round/>
            <a:headEnd len="med" w="med" type="none"/>
            <a:tailEnd len="med" w="med" type="none"/>
          </a:ln>
        </p:spPr>
      </p:cxnSp>
      <p:cxnSp>
        <p:nvCxnSpPr>
          <p:cNvPr id="443" name="Google Shape;443;p35"/>
          <p:cNvCxnSpPr>
            <a:stCxn id="425" idx="6"/>
            <a:endCxn id="430" idx="3"/>
          </p:cNvCxnSpPr>
          <p:nvPr/>
        </p:nvCxnSpPr>
        <p:spPr>
          <a:xfrm flipH="1" rot="10800000">
            <a:off x="6728369" y="2898039"/>
            <a:ext cx="517200" cy="61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44" name="Google Shape;444;p35"/>
          <p:cNvGraphicFramePr/>
          <p:nvPr/>
        </p:nvGraphicFramePr>
        <p:xfrm>
          <a:off x="4619063" y="1687188"/>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rPr lang="en"/>
                        <a:t>j</a:t>
                      </a:r>
                      <a:endParaRPr/>
                    </a:p>
                  </a:txBody>
                  <a:tcPr marT="91425" marB="91425" marR="91425" marL="91425" anchor="ctr"/>
                </a:tc>
              </a:tr>
              <a:tr h="307125">
                <a:tc>
                  <a:txBody>
                    <a:bodyPr/>
                    <a:lstStyle/>
                    <a:p>
                      <a:pPr indent="0" lvl="0" marL="0" rtl="0" algn="ctr">
                        <a:spcBef>
                          <a:spcPts val="0"/>
                        </a:spcBef>
                        <a:spcAft>
                          <a:spcPts val="0"/>
                        </a:spcAft>
                        <a:buNone/>
                      </a:pPr>
                      <a:r>
                        <a:rPr lang="en"/>
                        <a:t>k</a:t>
                      </a:r>
                      <a:endParaRPr/>
                    </a:p>
                  </a:txBody>
                  <a:tcPr marT="91425" marB="91425" marR="91425" marL="91425" anchor="ctr"/>
                </a:tc>
              </a:tr>
              <a:tr h="307125">
                <a:tc>
                  <a:txBody>
                    <a:bodyPr/>
                    <a:lstStyle/>
                    <a:p>
                      <a:pPr indent="0" lvl="0" marL="0" rtl="0" algn="ctr">
                        <a:spcBef>
                          <a:spcPts val="0"/>
                        </a:spcBef>
                        <a:spcAft>
                          <a:spcPts val="0"/>
                        </a:spcAft>
                        <a:buNone/>
                      </a:pPr>
                      <a:r>
                        <a:rPr lang="en"/>
                        <a:t>m</a:t>
                      </a:r>
                      <a:endParaRPr/>
                    </a:p>
                  </a:txBody>
                  <a:tcPr marT="91425" marB="91425" marR="91425" marL="91425" anchor="ctr"/>
                </a:tc>
              </a:tr>
              <a:tr h="307125">
                <a:tc>
                  <a:txBody>
                    <a:bodyPr/>
                    <a:lstStyle/>
                    <a:p>
                      <a:pPr indent="0" lvl="0" marL="0" rtl="0" algn="ctr">
                        <a:spcBef>
                          <a:spcPts val="0"/>
                        </a:spcBef>
                        <a:spcAft>
                          <a:spcPts val="0"/>
                        </a:spcAft>
                        <a:buNone/>
                      </a:pPr>
                      <a:r>
                        <a:rPr lang="en"/>
                        <a:t>p</a:t>
                      </a:r>
                      <a:endParaRPr/>
                    </a:p>
                  </a:txBody>
                  <a:tcPr marT="91425" marB="91425" marR="91425" marL="91425" anchor="ctr"/>
                </a:tc>
              </a:tr>
              <a:tr h="307125">
                <a:tc>
                  <a:txBody>
                    <a:bodyPr/>
                    <a:lstStyle/>
                    <a:p>
                      <a:pPr indent="0" lvl="0" marL="0" rtl="0" algn="ctr">
                        <a:spcBef>
                          <a:spcPts val="0"/>
                        </a:spcBef>
                        <a:spcAft>
                          <a:spcPts val="0"/>
                        </a:spcAft>
                        <a:buNone/>
                      </a:pPr>
                      <a:r>
                        <a:rPr lang="en"/>
                        <a:t>i</a:t>
                      </a:r>
                      <a:endParaRPr/>
                    </a:p>
                  </a:txBody>
                  <a:tcPr marT="91425" marB="91425" marR="91425" marL="91425" anchor="ctr"/>
                </a:tc>
              </a:tr>
              <a:tr h="307125">
                <a:tc>
                  <a:txBody>
                    <a:bodyPr/>
                    <a:lstStyle/>
                    <a:p>
                      <a:pPr indent="0" lvl="0" marL="0" rtl="0" algn="ctr">
                        <a:spcBef>
                          <a:spcPts val="0"/>
                        </a:spcBef>
                        <a:spcAft>
                          <a:spcPts val="0"/>
                        </a:spcAft>
                        <a:buNone/>
                      </a:pPr>
                      <a:r>
                        <a:rPr lang="en"/>
                        <a:t>n</a:t>
                      </a:r>
                      <a:endParaRPr/>
                    </a:p>
                  </a:txBody>
                  <a:tcPr marT="91425" marB="91425" marR="91425" marL="91425" anchor="ctr"/>
                </a:tc>
              </a:tr>
              <a:tr h="307125">
                <a:tc>
                  <a:txBody>
                    <a:bodyPr/>
                    <a:lstStyle/>
                    <a:p>
                      <a:pPr indent="0" lvl="0" marL="0" rtl="0" algn="ctr">
                        <a:spcBef>
                          <a:spcPts val="0"/>
                        </a:spcBef>
                        <a:spcAft>
                          <a:spcPts val="0"/>
                        </a:spcAft>
                        <a:buNone/>
                      </a:pPr>
                      <a:r>
                        <a:rPr lang="en"/>
                        <a:t>o</a:t>
                      </a:r>
                      <a:endParaRPr/>
                    </a:p>
                  </a:txBody>
                  <a:tcPr marT="91425" marB="91425" marR="91425" marL="91425" anchor="ctr"/>
                </a:tc>
              </a:tr>
              <a:tr h="307125">
                <a:tc>
                  <a:txBody>
                    <a:bodyPr/>
                    <a:lstStyle/>
                    <a:p>
                      <a:pPr indent="0" lvl="0" marL="0" rtl="0" algn="ctr">
                        <a:spcBef>
                          <a:spcPts val="0"/>
                        </a:spcBef>
                        <a:spcAft>
                          <a:spcPts val="0"/>
                        </a:spcAft>
                        <a:buNone/>
                      </a:pPr>
                      <a:r>
                        <a:rPr lang="en"/>
                        <a:t>l</a:t>
                      </a:r>
                      <a:endParaRPr/>
                    </a:p>
                  </a:txBody>
                  <a:tcPr marT="91425" marB="91425" marR="91425" marL="91425"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Degree C</a:t>
            </a:r>
            <a:r>
              <a:rPr baseline="-25000" lang="en"/>
              <a:t>d</a:t>
            </a:r>
            <a:r>
              <a:rPr lang="en"/>
              <a:t>(v</a:t>
            </a:r>
            <a:r>
              <a:rPr baseline="-25000" lang="en"/>
              <a:t>i</a:t>
            </a:r>
            <a:r>
              <a:rPr lang="en"/>
              <a:t>)</a:t>
            </a:r>
            <a:endParaRPr/>
          </a:p>
        </p:txBody>
      </p:sp>
      <p:sp>
        <p:nvSpPr>
          <p:cNvPr id="450" name="Google Shape;450;p36"/>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Simplest (local) centrality measure to compute</a:t>
            </a:r>
            <a:endParaRPr/>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lang="en"/>
              <a:t>Number of </a:t>
            </a:r>
            <a:r>
              <a:rPr b="1" lang="en"/>
              <a:t>edges</a:t>
            </a:r>
            <a:r>
              <a:rPr lang="en"/>
              <a:t> </a:t>
            </a:r>
            <a:r>
              <a:rPr b="1" lang="en"/>
              <a:t>incident</a:t>
            </a:r>
            <a:r>
              <a:rPr lang="en"/>
              <a:t> to a node</a:t>
            </a:r>
            <a:endParaRPr/>
          </a:p>
          <a:p>
            <a:pPr indent="-317500" lvl="1" marL="914400" rtl="0" algn="l">
              <a:spcBef>
                <a:spcPts val="0"/>
              </a:spcBef>
              <a:spcAft>
                <a:spcPts val="0"/>
              </a:spcAft>
              <a:buSzPts val="1400"/>
              <a:buChar char="○"/>
            </a:pPr>
            <a:r>
              <a:rPr b="1" lang="en"/>
              <a:t>Cardinality of the set of neighbors </a:t>
            </a:r>
            <a:r>
              <a:rPr lang="en"/>
              <a:t>of a node</a:t>
            </a:r>
            <a:endParaRPr/>
          </a:p>
          <a:p>
            <a:pPr indent="-342900" lvl="0" marL="457200" rtl="0" algn="l">
              <a:spcBef>
                <a:spcPts val="0"/>
              </a:spcBef>
              <a:spcAft>
                <a:spcPts val="0"/>
              </a:spcAft>
              <a:buSzPts val="1800"/>
              <a:buChar char="●"/>
            </a:pPr>
            <a:r>
              <a:rPr lang="en"/>
              <a:t>In </a:t>
            </a:r>
            <a:r>
              <a:rPr b="1" lang="en"/>
              <a:t>undirected</a:t>
            </a:r>
            <a:r>
              <a:rPr lang="en"/>
              <a:t> graphs:</a:t>
            </a:r>
            <a:endParaRPr/>
          </a:p>
          <a:p>
            <a:pPr indent="-317500" lvl="1" marL="914400" rtl="0" algn="l">
              <a:spcBef>
                <a:spcPts val="0"/>
              </a:spcBef>
              <a:spcAft>
                <a:spcPts val="0"/>
              </a:spcAft>
              <a:buSzPts val="1400"/>
              <a:buChar char="○"/>
            </a:pPr>
            <a:r>
              <a:rPr lang="en"/>
              <a:t>Given by </a:t>
            </a:r>
            <a:r>
              <a:rPr b="1" lang="en"/>
              <a:t>either</a:t>
            </a:r>
            <a:r>
              <a:rPr lang="en"/>
              <a:t> </a:t>
            </a:r>
            <a:r>
              <a:rPr b="1" lang="en"/>
              <a:t>row</a:t>
            </a:r>
            <a:r>
              <a:rPr lang="en"/>
              <a:t> </a:t>
            </a:r>
            <a:r>
              <a:rPr b="1" lang="en"/>
              <a:t>or</a:t>
            </a:r>
            <a:r>
              <a:rPr lang="en"/>
              <a:t> </a:t>
            </a:r>
            <a:r>
              <a:rPr b="1" lang="en"/>
              <a:t>column</a:t>
            </a:r>
            <a:r>
              <a:rPr lang="en"/>
              <a:t> </a:t>
            </a:r>
            <a:r>
              <a:rPr b="1" lang="en"/>
              <a:t>sum</a:t>
            </a:r>
            <a:r>
              <a:rPr lang="en"/>
              <a:t> vector of corresponding </a:t>
            </a:r>
            <a:r>
              <a:rPr b="1" lang="en"/>
              <a:t>adjacency matrix</a:t>
            </a:r>
            <a:endParaRPr/>
          </a:p>
        </p:txBody>
      </p:sp>
      <p:pic>
        <p:nvPicPr>
          <p:cNvPr id="451" name="Google Shape;451;p36"/>
          <p:cNvPicPr preferRelativeResize="0"/>
          <p:nvPr/>
        </p:nvPicPr>
        <p:blipFill rotWithShape="1">
          <a:blip r:embed="rId3">
            <a:alphaModFix/>
          </a:blip>
          <a:srcRect b="53299" l="1982" r="51491" t="30025"/>
          <a:stretch/>
        </p:blipFill>
        <p:spPr>
          <a:xfrm>
            <a:off x="5385112" y="315928"/>
            <a:ext cx="3490675" cy="955201"/>
          </a:xfrm>
          <a:prstGeom prst="rect">
            <a:avLst/>
          </a:prstGeom>
          <a:noFill/>
          <a:ln>
            <a:noFill/>
          </a:ln>
        </p:spPr>
      </p:pic>
      <p:sp>
        <p:nvSpPr>
          <p:cNvPr id="452" name="Google Shape;452;p36"/>
          <p:cNvSpPr txBox="1"/>
          <p:nvPr/>
        </p:nvSpPr>
        <p:spPr>
          <a:xfrm>
            <a:off x="5846875" y="1271113"/>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graphicFrame>
        <p:nvGraphicFramePr>
          <p:cNvPr id="453" name="Google Shape;453;p36"/>
          <p:cNvGraphicFramePr/>
          <p:nvPr/>
        </p:nvGraphicFramePr>
        <p:xfrm>
          <a:off x="5930413" y="1492105"/>
          <a:ext cx="3000000" cy="3000000"/>
        </p:xfrm>
        <a:graphic>
          <a:graphicData uri="http://schemas.openxmlformats.org/drawingml/2006/table">
            <a:tbl>
              <a:tblPr>
                <a:noFill/>
                <a:tableStyleId>{8FA34EA7-D14D-4E9C-8ABE-802B72326A17}</a:tableStyleId>
              </a:tblPr>
              <a:tblGrid>
                <a:gridCol w="382850"/>
                <a:gridCol w="382850"/>
                <a:gridCol w="382850"/>
                <a:gridCol w="382850"/>
                <a:gridCol w="382850"/>
                <a:gridCol w="382850"/>
              </a:tblGrid>
              <a:tr h="3371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371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371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371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454" name="Google Shape;454;p36"/>
          <p:cNvGraphicFramePr/>
          <p:nvPr/>
        </p:nvGraphicFramePr>
        <p:xfrm>
          <a:off x="6313263" y="3970338"/>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graphicFrame>
        <p:nvGraphicFramePr>
          <p:cNvPr id="455" name="Google Shape;455;p36"/>
          <p:cNvGraphicFramePr/>
          <p:nvPr/>
        </p:nvGraphicFramePr>
        <p:xfrm>
          <a:off x="8311063" y="1884488"/>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a:t>
            </a:r>
            <a:r>
              <a:rPr lang="en"/>
              <a:t>(v</a:t>
            </a:r>
            <a:r>
              <a:rPr baseline="-25000" lang="en"/>
              <a:t>i</a:t>
            </a:r>
            <a:r>
              <a:rPr lang="en"/>
              <a:t>)</a:t>
            </a:r>
            <a:endParaRPr/>
          </a:p>
        </p:txBody>
      </p:sp>
      <p:sp>
        <p:nvSpPr>
          <p:cNvPr id="461" name="Google Shape;461;p37"/>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Simplest (local) centrality measure to compute</a:t>
            </a:r>
            <a:endParaRPr/>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lang="en"/>
              <a:t>Number of </a:t>
            </a:r>
            <a:r>
              <a:rPr b="1" lang="en"/>
              <a:t>edges</a:t>
            </a:r>
            <a:r>
              <a:rPr lang="en"/>
              <a:t> </a:t>
            </a:r>
            <a:r>
              <a:rPr b="1" lang="en"/>
              <a:t>incident</a:t>
            </a:r>
            <a:r>
              <a:rPr lang="en"/>
              <a:t> to a node</a:t>
            </a:r>
            <a:endParaRPr/>
          </a:p>
          <a:p>
            <a:pPr indent="-317500" lvl="1" marL="914400" rtl="0" algn="l">
              <a:spcBef>
                <a:spcPts val="0"/>
              </a:spcBef>
              <a:spcAft>
                <a:spcPts val="0"/>
              </a:spcAft>
              <a:buSzPts val="1400"/>
              <a:buChar char="○"/>
            </a:pPr>
            <a:r>
              <a:rPr b="1" lang="en"/>
              <a:t>Cardinality of the set of neighbors </a:t>
            </a:r>
            <a:r>
              <a:rPr lang="en"/>
              <a:t>of a node</a:t>
            </a:r>
            <a:endParaRPr/>
          </a:p>
          <a:p>
            <a:pPr indent="-342900" lvl="0" marL="457200" rtl="0" algn="l">
              <a:spcBef>
                <a:spcPts val="0"/>
              </a:spcBef>
              <a:spcAft>
                <a:spcPts val="0"/>
              </a:spcAft>
              <a:buSzPts val="1800"/>
              <a:buChar char="●"/>
            </a:pPr>
            <a:r>
              <a:rPr lang="en"/>
              <a:t>In </a:t>
            </a:r>
            <a:r>
              <a:rPr b="1" lang="en"/>
              <a:t>undirected</a:t>
            </a:r>
            <a:r>
              <a:rPr lang="en"/>
              <a:t> graphs:</a:t>
            </a:r>
            <a:endParaRPr/>
          </a:p>
          <a:p>
            <a:pPr indent="-317500" lvl="1" marL="914400" rtl="0" algn="l">
              <a:spcBef>
                <a:spcPts val="0"/>
              </a:spcBef>
              <a:spcAft>
                <a:spcPts val="0"/>
              </a:spcAft>
              <a:buSzPts val="1400"/>
              <a:buChar char="○"/>
            </a:pPr>
            <a:r>
              <a:rPr lang="en"/>
              <a:t>Given by </a:t>
            </a:r>
            <a:r>
              <a:rPr b="1" lang="en"/>
              <a:t>either</a:t>
            </a:r>
            <a:r>
              <a:rPr lang="en"/>
              <a:t> </a:t>
            </a:r>
            <a:r>
              <a:rPr b="1" lang="en"/>
              <a:t>row</a:t>
            </a:r>
            <a:r>
              <a:rPr lang="en"/>
              <a:t> </a:t>
            </a:r>
            <a:r>
              <a:rPr b="1" lang="en"/>
              <a:t>or</a:t>
            </a:r>
            <a:r>
              <a:rPr lang="en"/>
              <a:t> </a:t>
            </a:r>
            <a:r>
              <a:rPr b="1" lang="en"/>
              <a:t>column</a:t>
            </a:r>
            <a:r>
              <a:rPr lang="en"/>
              <a:t> </a:t>
            </a:r>
            <a:r>
              <a:rPr b="1" lang="en"/>
              <a:t>sum</a:t>
            </a:r>
            <a:r>
              <a:rPr lang="en"/>
              <a:t> vector of corresponding </a:t>
            </a:r>
            <a:r>
              <a:rPr b="1" lang="en"/>
              <a:t>adjacency matrix</a:t>
            </a:r>
            <a:endParaRPr/>
          </a:p>
        </p:txBody>
      </p:sp>
      <p:pic>
        <p:nvPicPr>
          <p:cNvPr id="462" name="Google Shape;462;p37"/>
          <p:cNvPicPr preferRelativeResize="0"/>
          <p:nvPr/>
        </p:nvPicPr>
        <p:blipFill rotWithShape="1">
          <a:blip r:embed="rId3">
            <a:alphaModFix/>
          </a:blip>
          <a:srcRect b="53299" l="1982" r="51491" t="30025"/>
          <a:stretch/>
        </p:blipFill>
        <p:spPr>
          <a:xfrm>
            <a:off x="5385112" y="315928"/>
            <a:ext cx="3490675" cy="955201"/>
          </a:xfrm>
          <a:prstGeom prst="rect">
            <a:avLst/>
          </a:prstGeom>
          <a:noFill/>
          <a:ln>
            <a:noFill/>
          </a:ln>
        </p:spPr>
      </p:pic>
      <p:sp>
        <p:nvSpPr>
          <p:cNvPr id="463" name="Google Shape;463;p37"/>
          <p:cNvSpPr txBox="1"/>
          <p:nvPr/>
        </p:nvSpPr>
        <p:spPr>
          <a:xfrm>
            <a:off x="5846875" y="1271113"/>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graphicFrame>
        <p:nvGraphicFramePr>
          <p:cNvPr id="464" name="Google Shape;464;p37"/>
          <p:cNvGraphicFramePr/>
          <p:nvPr/>
        </p:nvGraphicFramePr>
        <p:xfrm>
          <a:off x="5930413" y="1492105"/>
          <a:ext cx="3000000" cy="3000000"/>
        </p:xfrm>
        <a:graphic>
          <a:graphicData uri="http://schemas.openxmlformats.org/drawingml/2006/table">
            <a:tbl>
              <a:tblPr>
                <a:noFill/>
                <a:tableStyleId>{8FA34EA7-D14D-4E9C-8ABE-802B72326A17}</a:tableStyleId>
              </a:tblPr>
              <a:tblGrid>
                <a:gridCol w="382850"/>
                <a:gridCol w="382850"/>
                <a:gridCol w="382850"/>
                <a:gridCol w="382850"/>
                <a:gridCol w="382850"/>
                <a:gridCol w="382850"/>
              </a:tblGrid>
              <a:tr h="3371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371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371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371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465" name="Google Shape;465;p37"/>
          <p:cNvGraphicFramePr/>
          <p:nvPr/>
        </p:nvGraphicFramePr>
        <p:xfrm>
          <a:off x="6313263" y="3970338"/>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graphicFrame>
        <p:nvGraphicFramePr>
          <p:cNvPr id="466" name="Google Shape;466;p37"/>
          <p:cNvGraphicFramePr/>
          <p:nvPr/>
        </p:nvGraphicFramePr>
        <p:xfrm>
          <a:off x="8311063" y="1884488"/>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lang="en"/>
                        <a:t>3</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a:t>
            </a:r>
            <a:r>
              <a:rPr lang="en"/>
              <a:t>(v</a:t>
            </a:r>
            <a:r>
              <a:rPr baseline="-25000" lang="en"/>
              <a:t>i</a:t>
            </a:r>
            <a:r>
              <a:rPr lang="en"/>
              <a:t>): Undirected</a:t>
            </a:r>
            <a:endParaRPr/>
          </a:p>
        </p:txBody>
      </p:sp>
      <p:sp>
        <p:nvSpPr>
          <p:cNvPr id="472" name="Google Shape;472;p38"/>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Simplest (local) centrality measure to compute</a:t>
            </a:r>
            <a:endParaRPr/>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lang="en"/>
              <a:t>Number of </a:t>
            </a:r>
            <a:r>
              <a:rPr b="1" lang="en"/>
              <a:t>edges</a:t>
            </a:r>
            <a:r>
              <a:rPr lang="en"/>
              <a:t> </a:t>
            </a:r>
            <a:r>
              <a:rPr b="1" lang="en"/>
              <a:t>incident</a:t>
            </a:r>
            <a:r>
              <a:rPr lang="en"/>
              <a:t> to a node</a:t>
            </a:r>
            <a:endParaRPr/>
          </a:p>
          <a:p>
            <a:pPr indent="-317500" lvl="1" marL="914400" rtl="0" algn="l">
              <a:spcBef>
                <a:spcPts val="0"/>
              </a:spcBef>
              <a:spcAft>
                <a:spcPts val="0"/>
              </a:spcAft>
              <a:buSzPts val="1400"/>
              <a:buChar char="○"/>
            </a:pPr>
            <a:r>
              <a:rPr b="1" lang="en"/>
              <a:t>Cardinality of the set of neighbors </a:t>
            </a:r>
            <a:r>
              <a:rPr lang="en"/>
              <a:t>of a node</a:t>
            </a:r>
            <a:endParaRPr/>
          </a:p>
          <a:p>
            <a:pPr indent="-342900" lvl="0" marL="457200" rtl="0" algn="l">
              <a:spcBef>
                <a:spcPts val="0"/>
              </a:spcBef>
              <a:spcAft>
                <a:spcPts val="0"/>
              </a:spcAft>
              <a:buSzPts val="1800"/>
              <a:buChar char="●"/>
            </a:pPr>
            <a:r>
              <a:rPr lang="en"/>
              <a:t>In </a:t>
            </a:r>
            <a:r>
              <a:rPr b="1" lang="en"/>
              <a:t>undirected</a:t>
            </a:r>
            <a:r>
              <a:rPr lang="en"/>
              <a:t> graphs:</a:t>
            </a:r>
            <a:endParaRPr/>
          </a:p>
          <a:p>
            <a:pPr indent="-317500" lvl="1" marL="914400" rtl="0" algn="l">
              <a:spcBef>
                <a:spcPts val="0"/>
              </a:spcBef>
              <a:spcAft>
                <a:spcPts val="0"/>
              </a:spcAft>
              <a:buSzPts val="1400"/>
              <a:buChar char="○"/>
            </a:pPr>
            <a:r>
              <a:rPr lang="en"/>
              <a:t>Given by </a:t>
            </a:r>
            <a:r>
              <a:rPr b="1" lang="en"/>
              <a:t>either</a:t>
            </a:r>
            <a:r>
              <a:rPr lang="en"/>
              <a:t> </a:t>
            </a:r>
            <a:r>
              <a:rPr b="1" lang="en"/>
              <a:t>row</a:t>
            </a:r>
            <a:r>
              <a:rPr lang="en"/>
              <a:t> </a:t>
            </a:r>
            <a:r>
              <a:rPr b="1" lang="en"/>
              <a:t>or</a:t>
            </a:r>
            <a:r>
              <a:rPr lang="en"/>
              <a:t> </a:t>
            </a:r>
            <a:r>
              <a:rPr b="1" lang="en"/>
              <a:t>column</a:t>
            </a:r>
            <a:r>
              <a:rPr lang="en"/>
              <a:t> </a:t>
            </a:r>
            <a:r>
              <a:rPr b="1" lang="en"/>
              <a:t>sum</a:t>
            </a:r>
            <a:r>
              <a:rPr lang="en"/>
              <a:t> vector of corresponding </a:t>
            </a:r>
            <a:r>
              <a:rPr b="1" lang="en"/>
              <a:t>adjacency matrix</a:t>
            </a:r>
            <a:endParaRPr/>
          </a:p>
        </p:txBody>
      </p:sp>
      <p:pic>
        <p:nvPicPr>
          <p:cNvPr id="473" name="Google Shape;473;p38"/>
          <p:cNvPicPr preferRelativeResize="0"/>
          <p:nvPr/>
        </p:nvPicPr>
        <p:blipFill rotWithShape="1">
          <a:blip r:embed="rId3">
            <a:alphaModFix/>
          </a:blip>
          <a:srcRect b="53299" l="1982" r="51491" t="30025"/>
          <a:stretch/>
        </p:blipFill>
        <p:spPr>
          <a:xfrm>
            <a:off x="5385112" y="315928"/>
            <a:ext cx="3490675" cy="955201"/>
          </a:xfrm>
          <a:prstGeom prst="rect">
            <a:avLst/>
          </a:prstGeom>
          <a:noFill/>
          <a:ln>
            <a:noFill/>
          </a:ln>
        </p:spPr>
      </p:pic>
      <p:sp>
        <p:nvSpPr>
          <p:cNvPr id="474" name="Google Shape;474;p38"/>
          <p:cNvSpPr txBox="1"/>
          <p:nvPr/>
        </p:nvSpPr>
        <p:spPr>
          <a:xfrm>
            <a:off x="5846875" y="1271113"/>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graphicFrame>
        <p:nvGraphicFramePr>
          <p:cNvPr id="475" name="Google Shape;475;p38"/>
          <p:cNvGraphicFramePr/>
          <p:nvPr/>
        </p:nvGraphicFramePr>
        <p:xfrm>
          <a:off x="5930413" y="1492105"/>
          <a:ext cx="3000000" cy="3000000"/>
        </p:xfrm>
        <a:graphic>
          <a:graphicData uri="http://schemas.openxmlformats.org/drawingml/2006/table">
            <a:tbl>
              <a:tblPr>
                <a:noFill/>
                <a:tableStyleId>{8FA34EA7-D14D-4E9C-8ABE-802B72326A17}</a:tableStyleId>
              </a:tblPr>
              <a:tblGrid>
                <a:gridCol w="382850"/>
                <a:gridCol w="382850"/>
                <a:gridCol w="382850"/>
                <a:gridCol w="382850"/>
                <a:gridCol w="382850"/>
                <a:gridCol w="382850"/>
              </a:tblGrid>
              <a:tr h="3371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371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371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371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476" name="Google Shape;476;p38"/>
          <p:cNvGraphicFramePr/>
          <p:nvPr/>
        </p:nvGraphicFramePr>
        <p:xfrm>
          <a:off x="6313263" y="3970338"/>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3</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graphicFrame>
        <p:nvGraphicFramePr>
          <p:cNvPr id="477" name="Google Shape;477;p38"/>
          <p:cNvGraphicFramePr/>
          <p:nvPr/>
        </p:nvGraphicFramePr>
        <p:xfrm>
          <a:off x="8311063" y="1884488"/>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lang="en"/>
                        <a:t>3</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a:t>
            </a:r>
            <a:r>
              <a:rPr lang="en"/>
              <a:t>(v</a:t>
            </a:r>
            <a:r>
              <a:rPr baseline="-25000" lang="en"/>
              <a:t>i</a:t>
            </a:r>
            <a:r>
              <a:rPr lang="en"/>
              <a:t>): Undirected</a:t>
            </a:r>
            <a:endParaRPr/>
          </a:p>
        </p:txBody>
      </p:sp>
      <p:sp>
        <p:nvSpPr>
          <p:cNvPr id="483" name="Google Shape;483;p39"/>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Simplest (local) centrality measure to compute</a:t>
            </a:r>
            <a:endParaRPr/>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lang="en"/>
              <a:t>Number of </a:t>
            </a:r>
            <a:r>
              <a:rPr b="1" lang="en"/>
              <a:t>edges</a:t>
            </a:r>
            <a:r>
              <a:rPr lang="en"/>
              <a:t> </a:t>
            </a:r>
            <a:r>
              <a:rPr b="1" lang="en"/>
              <a:t>incident</a:t>
            </a:r>
            <a:r>
              <a:rPr lang="en"/>
              <a:t> to a node</a:t>
            </a:r>
            <a:endParaRPr/>
          </a:p>
          <a:p>
            <a:pPr indent="-317500" lvl="1" marL="914400" rtl="0" algn="l">
              <a:spcBef>
                <a:spcPts val="0"/>
              </a:spcBef>
              <a:spcAft>
                <a:spcPts val="0"/>
              </a:spcAft>
              <a:buSzPts val="1400"/>
              <a:buChar char="○"/>
            </a:pPr>
            <a:r>
              <a:rPr b="1" lang="en"/>
              <a:t>Cardinality of the set of neighbors </a:t>
            </a:r>
            <a:r>
              <a:rPr lang="en"/>
              <a:t>of a node</a:t>
            </a:r>
            <a:endParaRPr/>
          </a:p>
          <a:p>
            <a:pPr indent="-342900" lvl="0" marL="457200" rtl="0" algn="l">
              <a:spcBef>
                <a:spcPts val="0"/>
              </a:spcBef>
              <a:spcAft>
                <a:spcPts val="0"/>
              </a:spcAft>
              <a:buSzPts val="1800"/>
              <a:buChar char="●"/>
            </a:pPr>
            <a:r>
              <a:rPr lang="en"/>
              <a:t>In </a:t>
            </a:r>
            <a:r>
              <a:rPr b="1" lang="en"/>
              <a:t>undirected</a:t>
            </a:r>
            <a:r>
              <a:rPr lang="en"/>
              <a:t> graphs:</a:t>
            </a:r>
            <a:endParaRPr/>
          </a:p>
          <a:p>
            <a:pPr indent="-317500" lvl="1" marL="914400" rtl="0" algn="l">
              <a:spcBef>
                <a:spcPts val="0"/>
              </a:spcBef>
              <a:spcAft>
                <a:spcPts val="0"/>
              </a:spcAft>
              <a:buSzPts val="1400"/>
              <a:buChar char="○"/>
            </a:pPr>
            <a:r>
              <a:rPr lang="en"/>
              <a:t>Given by </a:t>
            </a:r>
            <a:r>
              <a:rPr b="1" lang="en"/>
              <a:t>either</a:t>
            </a:r>
            <a:r>
              <a:rPr lang="en"/>
              <a:t> </a:t>
            </a:r>
            <a:r>
              <a:rPr b="1" lang="en"/>
              <a:t>row</a:t>
            </a:r>
            <a:r>
              <a:rPr lang="en"/>
              <a:t> </a:t>
            </a:r>
            <a:r>
              <a:rPr b="1" lang="en"/>
              <a:t>or</a:t>
            </a:r>
            <a:r>
              <a:rPr lang="en"/>
              <a:t> </a:t>
            </a:r>
            <a:r>
              <a:rPr b="1" lang="en"/>
              <a:t>column</a:t>
            </a:r>
            <a:r>
              <a:rPr lang="en"/>
              <a:t> </a:t>
            </a:r>
            <a:r>
              <a:rPr b="1" lang="en"/>
              <a:t>sum</a:t>
            </a:r>
            <a:r>
              <a:rPr lang="en"/>
              <a:t> vector of corresponding </a:t>
            </a:r>
            <a:r>
              <a:rPr b="1" lang="en"/>
              <a:t>adjacency matrix</a:t>
            </a:r>
            <a:endParaRPr/>
          </a:p>
        </p:txBody>
      </p:sp>
      <p:pic>
        <p:nvPicPr>
          <p:cNvPr id="484" name="Google Shape;484;p39"/>
          <p:cNvPicPr preferRelativeResize="0"/>
          <p:nvPr/>
        </p:nvPicPr>
        <p:blipFill rotWithShape="1">
          <a:blip r:embed="rId3">
            <a:alphaModFix/>
          </a:blip>
          <a:srcRect b="53299" l="1982" r="51491" t="30025"/>
          <a:stretch/>
        </p:blipFill>
        <p:spPr>
          <a:xfrm>
            <a:off x="5385112" y="315928"/>
            <a:ext cx="3490675" cy="955201"/>
          </a:xfrm>
          <a:prstGeom prst="rect">
            <a:avLst/>
          </a:prstGeom>
          <a:noFill/>
          <a:ln>
            <a:noFill/>
          </a:ln>
        </p:spPr>
      </p:pic>
      <p:sp>
        <p:nvSpPr>
          <p:cNvPr id="485" name="Google Shape;485;p39"/>
          <p:cNvSpPr txBox="1"/>
          <p:nvPr/>
        </p:nvSpPr>
        <p:spPr>
          <a:xfrm>
            <a:off x="5846875" y="1271113"/>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graphicFrame>
        <p:nvGraphicFramePr>
          <p:cNvPr id="486" name="Google Shape;486;p39"/>
          <p:cNvGraphicFramePr/>
          <p:nvPr/>
        </p:nvGraphicFramePr>
        <p:xfrm>
          <a:off x="5930413" y="1492105"/>
          <a:ext cx="3000000" cy="3000000"/>
        </p:xfrm>
        <a:graphic>
          <a:graphicData uri="http://schemas.openxmlformats.org/drawingml/2006/table">
            <a:tbl>
              <a:tblPr>
                <a:noFill/>
                <a:tableStyleId>{8FA34EA7-D14D-4E9C-8ABE-802B72326A17}</a:tableStyleId>
              </a:tblPr>
              <a:tblGrid>
                <a:gridCol w="382850"/>
                <a:gridCol w="382850"/>
                <a:gridCol w="382850"/>
                <a:gridCol w="382850"/>
                <a:gridCol w="382850"/>
                <a:gridCol w="382850"/>
              </a:tblGrid>
              <a:tr h="3371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371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371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371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487" name="Google Shape;487;p39"/>
          <p:cNvGraphicFramePr/>
          <p:nvPr/>
        </p:nvGraphicFramePr>
        <p:xfrm>
          <a:off x="6313263" y="3970338"/>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3</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graphicFrame>
        <p:nvGraphicFramePr>
          <p:cNvPr id="488" name="Google Shape;488;p39"/>
          <p:cNvGraphicFramePr/>
          <p:nvPr/>
        </p:nvGraphicFramePr>
        <p:xfrm>
          <a:off x="8311063" y="1884488"/>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b="1" lang="en">
                          <a:solidFill>
                            <a:srgbClr val="FF0000"/>
                          </a:solidFill>
                        </a:rPr>
                        <a:t>3</a:t>
                      </a:r>
                      <a:endParaRPr b="1">
                        <a:solidFill>
                          <a:srgbClr val="FF0000"/>
                        </a:solidFill>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sp>
        <p:nvSpPr>
          <p:cNvPr id="489" name="Google Shape;489;p39"/>
          <p:cNvSpPr/>
          <p:nvPr/>
        </p:nvSpPr>
        <p:spPr>
          <a:xfrm>
            <a:off x="6240675" y="2627288"/>
            <a:ext cx="2037600" cy="4764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9"/>
          <p:cNvSpPr/>
          <p:nvPr/>
        </p:nvSpPr>
        <p:spPr>
          <a:xfrm>
            <a:off x="6696125" y="811225"/>
            <a:ext cx="544200" cy="4140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a:t>
            </a:r>
            <a:r>
              <a:rPr lang="en"/>
              <a:t>(v</a:t>
            </a:r>
            <a:r>
              <a:rPr baseline="-25000" lang="en"/>
              <a:t>i</a:t>
            </a:r>
            <a:r>
              <a:rPr lang="en"/>
              <a:t>): Undirected</a:t>
            </a:r>
            <a:endParaRPr/>
          </a:p>
        </p:txBody>
      </p:sp>
      <p:sp>
        <p:nvSpPr>
          <p:cNvPr id="496" name="Google Shape;496;p40"/>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Simplest (local) centrality measure to compute</a:t>
            </a:r>
            <a:endParaRPr/>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lang="en"/>
              <a:t>Number of </a:t>
            </a:r>
            <a:r>
              <a:rPr b="1" lang="en"/>
              <a:t>edges</a:t>
            </a:r>
            <a:r>
              <a:rPr lang="en"/>
              <a:t> </a:t>
            </a:r>
            <a:r>
              <a:rPr b="1" lang="en"/>
              <a:t>incident</a:t>
            </a:r>
            <a:r>
              <a:rPr lang="en"/>
              <a:t> to a node</a:t>
            </a:r>
            <a:endParaRPr/>
          </a:p>
          <a:p>
            <a:pPr indent="-317500" lvl="1" marL="914400" rtl="0" algn="l">
              <a:spcBef>
                <a:spcPts val="0"/>
              </a:spcBef>
              <a:spcAft>
                <a:spcPts val="0"/>
              </a:spcAft>
              <a:buSzPts val="1400"/>
              <a:buChar char="○"/>
            </a:pPr>
            <a:r>
              <a:rPr b="1" lang="en"/>
              <a:t>Cardinality of the set of neighbors </a:t>
            </a:r>
            <a:r>
              <a:rPr lang="en"/>
              <a:t>of a node</a:t>
            </a:r>
            <a:endParaRPr/>
          </a:p>
          <a:p>
            <a:pPr indent="-342900" lvl="0" marL="457200" rtl="0" algn="l">
              <a:spcBef>
                <a:spcPts val="0"/>
              </a:spcBef>
              <a:spcAft>
                <a:spcPts val="0"/>
              </a:spcAft>
              <a:buSzPts val="1800"/>
              <a:buChar char="●"/>
            </a:pPr>
            <a:r>
              <a:rPr lang="en"/>
              <a:t>In </a:t>
            </a:r>
            <a:r>
              <a:rPr b="1" lang="en"/>
              <a:t>undirected</a:t>
            </a:r>
            <a:r>
              <a:rPr lang="en"/>
              <a:t> graphs:</a:t>
            </a:r>
            <a:endParaRPr/>
          </a:p>
          <a:p>
            <a:pPr indent="-317500" lvl="1" marL="914400" rtl="0" algn="l">
              <a:spcBef>
                <a:spcPts val="0"/>
              </a:spcBef>
              <a:spcAft>
                <a:spcPts val="0"/>
              </a:spcAft>
              <a:buSzPts val="1400"/>
              <a:buChar char="○"/>
            </a:pPr>
            <a:r>
              <a:rPr lang="en"/>
              <a:t>Given by </a:t>
            </a:r>
            <a:r>
              <a:rPr b="1" lang="en"/>
              <a:t>either</a:t>
            </a:r>
            <a:r>
              <a:rPr lang="en"/>
              <a:t> </a:t>
            </a:r>
            <a:r>
              <a:rPr b="1" lang="en"/>
              <a:t>row</a:t>
            </a:r>
            <a:r>
              <a:rPr lang="en"/>
              <a:t> </a:t>
            </a:r>
            <a:r>
              <a:rPr b="1" lang="en"/>
              <a:t>or</a:t>
            </a:r>
            <a:r>
              <a:rPr lang="en"/>
              <a:t> </a:t>
            </a:r>
            <a:r>
              <a:rPr b="1" lang="en"/>
              <a:t>column</a:t>
            </a:r>
            <a:r>
              <a:rPr lang="en"/>
              <a:t> </a:t>
            </a:r>
            <a:r>
              <a:rPr b="1" lang="en"/>
              <a:t>sum</a:t>
            </a:r>
            <a:r>
              <a:rPr lang="en"/>
              <a:t> vector of corresponding </a:t>
            </a:r>
            <a:r>
              <a:rPr b="1" lang="en"/>
              <a:t>adjacency matrix</a:t>
            </a:r>
            <a:endParaRPr/>
          </a:p>
        </p:txBody>
      </p:sp>
      <p:pic>
        <p:nvPicPr>
          <p:cNvPr id="497" name="Google Shape;497;p40"/>
          <p:cNvPicPr preferRelativeResize="0"/>
          <p:nvPr/>
        </p:nvPicPr>
        <p:blipFill rotWithShape="1">
          <a:blip r:embed="rId3">
            <a:alphaModFix/>
          </a:blip>
          <a:srcRect b="53299" l="1982" r="51491" t="30025"/>
          <a:stretch/>
        </p:blipFill>
        <p:spPr>
          <a:xfrm>
            <a:off x="5385112" y="315928"/>
            <a:ext cx="3490675" cy="955201"/>
          </a:xfrm>
          <a:prstGeom prst="rect">
            <a:avLst/>
          </a:prstGeom>
          <a:noFill/>
          <a:ln>
            <a:noFill/>
          </a:ln>
        </p:spPr>
      </p:pic>
      <p:sp>
        <p:nvSpPr>
          <p:cNvPr id="498" name="Google Shape;498;p40"/>
          <p:cNvSpPr txBox="1"/>
          <p:nvPr/>
        </p:nvSpPr>
        <p:spPr>
          <a:xfrm>
            <a:off x="5846875" y="1271113"/>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graphicFrame>
        <p:nvGraphicFramePr>
          <p:cNvPr id="499" name="Google Shape;499;p40"/>
          <p:cNvGraphicFramePr/>
          <p:nvPr/>
        </p:nvGraphicFramePr>
        <p:xfrm>
          <a:off x="5930413" y="1492105"/>
          <a:ext cx="3000000" cy="3000000"/>
        </p:xfrm>
        <a:graphic>
          <a:graphicData uri="http://schemas.openxmlformats.org/drawingml/2006/table">
            <a:tbl>
              <a:tblPr>
                <a:noFill/>
                <a:tableStyleId>{8FA34EA7-D14D-4E9C-8ABE-802B72326A17}</a:tableStyleId>
              </a:tblPr>
              <a:tblGrid>
                <a:gridCol w="382850"/>
                <a:gridCol w="382850"/>
                <a:gridCol w="382850"/>
                <a:gridCol w="382850"/>
                <a:gridCol w="382850"/>
                <a:gridCol w="382850"/>
              </a:tblGrid>
              <a:tr h="3371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371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371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371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37125">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500" name="Google Shape;500;p40"/>
          <p:cNvGraphicFramePr/>
          <p:nvPr/>
        </p:nvGraphicFramePr>
        <p:xfrm>
          <a:off x="6313263" y="3970338"/>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b="1" lang="en">
                          <a:solidFill>
                            <a:srgbClr val="FF0000"/>
                          </a:solidFill>
                        </a:rPr>
                        <a:t>3</a:t>
                      </a:r>
                      <a:endParaRPr b="1">
                        <a:solidFill>
                          <a:srgbClr val="FF0000"/>
                        </a:solidFill>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graphicFrame>
        <p:nvGraphicFramePr>
          <p:cNvPr id="501" name="Google Shape;501;p40"/>
          <p:cNvGraphicFramePr/>
          <p:nvPr/>
        </p:nvGraphicFramePr>
        <p:xfrm>
          <a:off x="8311063" y="1884488"/>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lang="en"/>
                        <a:t>3</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sp>
        <p:nvSpPr>
          <p:cNvPr id="502" name="Google Shape;502;p40"/>
          <p:cNvSpPr/>
          <p:nvPr/>
        </p:nvSpPr>
        <p:spPr>
          <a:xfrm>
            <a:off x="6696125" y="811225"/>
            <a:ext cx="544200" cy="4140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0"/>
          <p:cNvSpPr/>
          <p:nvPr/>
        </p:nvSpPr>
        <p:spPr>
          <a:xfrm>
            <a:off x="6979286" y="1853303"/>
            <a:ext cx="560400" cy="20244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Node neighborhoods in directed graphs</a:t>
            </a:r>
            <a:endParaRPr/>
          </a:p>
        </p:txBody>
      </p:sp>
      <p:sp>
        <p:nvSpPr>
          <p:cNvPr id="509" name="Google Shape;509;p41"/>
          <p:cNvSpPr txBox="1"/>
          <p:nvPr>
            <p:ph idx="1" type="body"/>
          </p:nvPr>
        </p:nvSpPr>
        <p:spPr>
          <a:xfrm>
            <a:off x="311700" y="1225225"/>
            <a:ext cx="4323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undirected graphs</a:t>
            </a:r>
            <a:r>
              <a:rPr lang="en"/>
              <a:t> nodes have a </a:t>
            </a:r>
            <a:r>
              <a:rPr b="1" lang="en"/>
              <a:t>single</a:t>
            </a:r>
            <a:r>
              <a:rPr lang="en"/>
              <a:t> set of neighbors</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510" name="Google Shape;510;p41"/>
          <p:cNvSpPr/>
          <p:nvPr/>
        </p:nvSpPr>
        <p:spPr>
          <a:xfrm>
            <a:off x="4635075" y="2601625"/>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B</a:t>
            </a:r>
            <a:endParaRPr sz="2500">
              <a:latin typeface="Oxygen"/>
              <a:ea typeface="Oxygen"/>
              <a:cs typeface="Oxygen"/>
              <a:sym typeface="Oxygen"/>
            </a:endParaRPr>
          </a:p>
        </p:txBody>
      </p:sp>
      <p:sp>
        <p:nvSpPr>
          <p:cNvPr id="511" name="Google Shape;511;p41"/>
          <p:cNvSpPr/>
          <p:nvPr/>
        </p:nvSpPr>
        <p:spPr>
          <a:xfrm>
            <a:off x="5975850" y="2601625"/>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E</a:t>
            </a:r>
            <a:endParaRPr sz="2500">
              <a:latin typeface="Oxygen"/>
              <a:ea typeface="Oxygen"/>
              <a:cs typeface="Oxygen"/>
              <a:sym typeface="Oxygen"/>
            </a:endParaRPr>
          </a:p>
        </p:txBody>
      </p:sp>
      <p:cxnSp>
        <p:nvCxnSpPr>
          <p:cNvPr id="512" name="Google Shape;512;p41"/>
          <p:cNvCxnSpPr>
            <a:stCxn id="510" idx="6"/>
            <a:endCxn id="511" idx="2"/>
          </p:cNvCxnSpPr>
          <p:nvPr/>
        </p:nvCxnSpPr>
        <p:spPr>
          <a:xfrm>
            <a:off x="5236275" y="2902225"/>
            <a:ext cx="739500" cy="0"/>
          </a:xfrm>
          <a:prstGeom prst="straightConnector1">
            <a:avLst/>
          </a:prstGeom>
          <a:noFill/>
          <a:ln cap="flat" cmpd="sng" w="28575">
            <a:solidFill>
              <a:srgbClr val="B7B7B7"/>
            </a:solidFill>
            <a:prstDash val="solid"/>
            <a:round/>
            <a:headEnd len="med" w="med" type="none"/>
            <a:tailEnd len="med" w="med" type="none"/>
          </a:ln>
        </p:spPr>
      </p:cxnSp>
      <p:sp>
        <p:nvSpPr>
          <p:cNvPr id="513" name="Google Shape;513;p41"/>
          <p:cNvSpPr/>
          <p:nvPr/>
        </p:nvSpPr>
        <p:spPr>
          <a:xfrm>
            <a:off x="7131525" y="1487600"/>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C</a:t>
            </a:r>
            <a:endParaRPr sz="2500">
              <a:latin typeface="Oxygen"/>
              <a:ea typeface="Oxygen"/>
              <a:cs typeface="Oxygen"/>
              <a:sym typeface="Oxygen"/>
            </a:endParaRPr>
          </a:p>
        </p:txBody>
      </p:sp>
      <p:sp>
        <p:nvSpPr>
          <p:cNvPr id="514" name="Google Shape;514;p41"/>
          <p:cNvSpPr/>
          <p:nvPr/>
        </p:nvSpPr>
        <p:spPr>
          <a:xfrm>
            <a:off x="7131525" y="3674175"/>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D</a:t>
            </a:r>
            <a:endParaRPr sz="2500">
              <a:latin typeface="Oxygen"/>
              <a:ea typeface="Oxygen"/>
              <a:cs typeface="Oxygen"/>
              <a:sym typeface="Oxygen"/>
            </a:endParaRPr>
          </a:p>
        </p:txBody>
      </p:sp>
      <p:sp>
        <p:nvSpPr>
          <p:cNvPr id="515" name="Google Shape;515;p41"/>
          <p:cNvSpPr/>
          <p:nvPr/>
        </p:nvSpPr>
        <p:spPr>
          <a:xfrm>
            <a:off x="8287200" y="2644475"/>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A</a:t>
            </a:r>
            <a:endParaRPr sz="2500">
              <a:latin typeface="Oxygen"/>
              <a:ea typeface="Oxygen"/>
              <a:cs typeface="Oxygen"/>
              <a:sym typeface="Oxygen"/>
            </a:endParaRPr>
          </a:p>
        </p:txBody>
      </p:sp>
      <p:cxnSp>
        <p:nvCxnSpPr>
          <p:cNvPr id="516" name="Google Shape;516;p41"/>
          <p:cNvCxnSpPr>
            <a:stCxn id="511" idx="7"/>
            <a:endCxn id="513" idx="3"/>
          </p:cNvCxnSpPr>
          <p:nvPr/>
        </p:nvCxnSpPr>
        <p:spPr>
          <a:xfrm flipH="1" rot="10800000">
            <a:off x="6489006" y="2000869"/>
            <a:ext cx="730500" cy="688800"/>
          </a:xfrm>
          <a:prstGeom prst="straightConnector1">
            <a:avLst/>
          </a:prstGeom>
          <a:noFill/>
          <a:ln cap="flat" cmpd="sng" w="28575">
            <a:solidFill>
              <a:srgbClr val="B7B7B7"/>
            </a:solidFill>
            <a:prstDash val="solid"/>
            <a:round/>
            <a:headEnd len="med" w="med" type="none"/>
            <a:tailEnd len="med" w="med" type="none"/>
          </a:ln>
        </p:spPr>
      </p:cxnSp>
      <p:cxnSp>
        <p:nvCxnSpPr>
          <p:cNvPr id="517" name="Google Shape;517;p41"/>
          <p:cNvCxnSpPr>
            <a:stCxn id="515" idx="1"/>
            <a:endCxn id="513" idx="5"/>
          </p:cNvCxnSpPr>
          <p:nvPr/>
        </p:nvCxnSpPr>
        <p:spPr>
          <a:xfrm rot="10800000">
            <a:off x="7644744" y="2000819"/>
            <a:ext cx="730500" cy="731700"/>
          </a:xfrm>
          <a:prstGeom prst="straightConnector1">
            <a:avLst/>
          </a:prstGeom>
          <a:noFill/>
          <a:ln cap="flat" cmpd="sng" w="28575">
            <a:solidFill>
              <a:srgbClr val="B7B7B7"/>
            </a:solidFill>
            <a:prstDash val="solid"/>
            <a:round/>
            <a:headEnd len="med" w="med" type="none"/>
            <a:tailEnd len="med" w="med" type="none"/>
          </a:ln>
        </p:spPr>
      </p:cxnSp>
      <p:cxnSp>
        <p:nvCxnSpPr>
          <p:cNvPr id="518" name="Google Shape;518;p41"/>
          <p:cNvCxnSpPr>
            <a:stCxn id="515" idx="3"/>
            <a:endCxn id="514" idx="7"/>
          </p:cNvCxnSpPr>
          <p:nvPr/>
        </p:nvCxnSpPr>
        <p:spPr>
          <a:xfrm flipH="1">
            <a:off x="7644744" y="3157631"/>
            <a:ext cx="730500" cy="604500"/>
          </a:xfrm>
          <a:prstGeom prst="straightConnector1">
            <a:avLst/>
          </a:prstGeom>
          <a:noFill/>
          <a:ln cap="flat" cmpd="sng" w="28575">
            <a:solidFill>
              <a:srgbClr val="B7B7B7"/>
            </a:solidFill>
            <a:prstDash val="solid"/>
            <a:round/>
            <a:headEnd len="med" w="med" type="none"/>
            <a:tailEnd len="med" w="med" type="none"/>
          </a:ln>
        </p:spPr>
      </p:cxnSp>
      <p:cxnSp>
        <p:nvCxnSpPr>
          <p:cNvPr id="519" name="Google Shape;519;p41"/>
          <p:cNvCxnSpPr>
            <a:stCxn id="514" idx="1"/>
            <a:endCxn id="511" idx="5"/>
          </p:cNvCxnSpPr>
          <p:nvPr/>
        </p:nvCxnSpPr>
        <p:spPr>
          <a:xfrm rot="10800000">
            <a:off x="6489069" y="3114819"/>
            <a:ext cx="730500" cy="647400"/>
          </a:xfrm>
          <a:prstGeom prst="straightConnector1">
            <a:avLst/>
          </a:prstGeom>
          <a:noFill/>
          <a:ln cap="flat" cmpd="sng" w="28575">
            <a:solidFill>
              <a:srgbClr val="B7B7B7"/>
            </a:solidFill>
            <a:prstDash val="solid"/>
            <a:round/>
            <a:headEnd len="med" w="med" type="none"/>
            <a:tailEnd len="med" w="med" type="none"/>
          </a:ln>
        </p:spPr>
      </p:cxnSp>
      <p:cxnSp>
        <p:nvCxnSpPr>
          <p:cNvPr id="520" name="Google Shape;520;p41"/>
          <p:cNvCxnSpPr>
            <a:stCxn id="514" idx="0"/>
            <a:endCxn id="513" idx="4"/>
          </p:cNvCxnSpPr>
          <p:nvPr/>
        </p:nvCxnSpPr>
        <p:spPr>
          <a:xfrm rot="10800000">
            <a:off x="7432125" y="2088675"/>
            <a:ext cx="0" cy="1585500"/>
          </a:xfrm>
          <a:prstGeom prst="straightConnector1">
            <a:avLst/>
          </a:prstGeom>
          <a:noFill/>
          <a:ln cap="flat" cmpd="sng" w="28575">
            <a:solidFill>
              <a:srgbClr val="B7B7B7"/>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Node neighborhoods in directed graphs</a:t>
            </a:r>
            <a:endParaRPr/>
          </a:p>
        </p:txBody>
      </p:sp>
      <p:sp>
        <p:nvSpPr>
          <p:cNvPr id="526" name="Google Shape;526;p42"/>
          <p:cNvSpPr txBox="1"/>
          <p:nvPr>
            <p:ph idx="1" type="body"/>
          </p:nvPr>
        </p:nvSpPr>
        <p:spPr>
          <a:xfrm>
            <a:off x="311700" y="1225225"/>
            <a:ext cx="4323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undirected graphs</a:t>
            </a:r>
            <a:r>
              <a:rPr lang="en"/>
              <a:t> nodes have a </a:t>
            </a:r>
            <a:r>
              <a:rPr b="1" lang="en"/>
              <a:t>single</a:t>
            </a:r>
            <a:r>
              <a:rPr lang="en"/>
              <a:t> set of neighbors</a:t>
            </a:r>
            <a:endParaRPr/>
          </a:p>
          <a:p>
            <a:pPr indent="-317500" lvl="1" marL="914400" rtl="0" algn="l">
              <a:spcBef>
                <a:spcPts val="0"/>
              </a:spcBef>
              <a:spcAft>
                <a:spcPts val="0"/>
              </a:spcAft>
              <a:buSzPts val="1400"/>
              <a:buChar char="○"/>
            </a:pPr>
            <a:r>
              <a:rPr lang="en"/>
              <a:t>N(E) = {B, C, D}</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527" name="Google Shape;527;p42"/>
          <p:cNvSpPr/>
          <p:nvPr/>
        </p:nvSpPr>
        <p:spPr>
          <a:xfrm>
            <a:off x="4635075" y="2601625"/>
            <a:ext cx="601200" cy="6012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B</a:t>
            </a:r>
            <a:endParaRPr sz="2500">
              <a:latin typeface="Oxygen"/>
              <a:ea typeface="Oxygen"/>
              <a:cs typeface="Oxygen"/>
              <a:sym typeface="Oxygen"/>
            </a:endParaRPr>
          </a:p>
        </p:txBody>
      </p:sp>
      <p:sp>
        <p:nvSpPr>
          <p:cNvPr id="528" name="Google Shape;528;p42"/>
          <p:cNvSpPr/>
          <p:nvPr/>
        </p:nvSpPr>
        <p:spPr>
          <a:xfrm>
            <a:off x="5975850" y="2601625"/>
            <a:ext cx="601200" cy="6012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E</a:t>
            </a:r>
            <a:endParaRPr sz="2500">
              <a:latin typeface="Oxygen"/>
              <a:ea typeface="Oxygen"/>
              <a:cs typeface="Oxygen"/>
              <a:sym typeface="Oxygen"/>
            </a:endParaRPr>
          </a:p>
        </p:txBody>
      </p:sp>
      <p:cxnSp>
        <p:nvCxnSpPr>
          <p:cNvPr id="529" name="Google Shape;529;p42"/>
          <p:cNvCxnSpPr>
            <a:stCxn id="527" idx="6"/>
            <a:endCxn id="528" idx="2"/>
          </p:cNvCxnSpPr>
          <p:nvPr/>
        </p:nvCxnSpPr>
        <p:spPr>
          <a:xfrm>
            <a:off x="5236275" y="2902225"/>
            <a:ext cx="739500" cy="0"/>
          </a:xfrm>
          <a:prstGeom prst="straightConnector1">
            <a:avLst/>
          </a:prstGeom>
          <a:noFill/>
          <a:ln cap="flat" cmpd="sng" w="28575">
            <a:solidFill>
              <a:srgbClr val="B7B7B7"/>
            </a:solidFill>
            <a:prstDash val="solid"/>
            <a:round/>
            <a:headEnd len="med" w="med" type="none"/>
            <a:tailEnd len="med" w="med" type="none"/>
          </a:ln>
        </p:spPr>
      </p:cxnSp>
      <p:sp>
        <p:nvSpPr>
          <p:cNvPr id="530" name="Google Shape;530;p42"/>
          <p:cNvSpPr/>
          <p:nvPr/>
        </p:nvSpPr>
        <p:spPr>
          <a:xfrm>
            <a:off x="7131525" y="1487600"/>
            <a:ext cx="601200" cy="6012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C</a:t>
            </a:r>
            <a:endParaRPr sz="2500">
              <a:latin typeface="Oxygen"/>
              <a:ea typeface="Oxygen"/>
              <a:cs typeface="Oxygen"/>
              <a:sym typeface="Oxygen"/>
            </a:endParaRPr>
          </a:p>
        </p:txBody>
      </p:sp>
      <p:sp>
        <p:nvSpPr>
          <p:cNvPr id="531" name="Google Shape;531;p42"/>
          <p:cNvSpPr/>
          <p:nvPr/>
        </p:nvSpPr>
        <p:spPr>
          <a:xfrm>
            <a:off x="7131525" y="3674175"/>
            <a:ext cx="601200" cy="6012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D</a:t>
            </a:r>
            <a:endParaRPr sz="2500">
              <a:latin typeface="Oxygen"/>
              <a:ea typeface="Oxygen"/>
              <a:cs typeface="Oxygen"/>
              <a:sym typeface="Oxygen"/>
            </a:endParaRPr>
          </a:p>
        </p:txBody>
      </p:sp>
      <p:sp>
        <p:nvSpPr>
          <p:cNvPr id="532" name="Google Shape;532;p42"/>
          <p:cNvSpPr/>
          <p:nvPr/>
        </p:nvSpPr>
        <p:spPr>
          <a:xfrm>
            <a:off x="8287200" y="2644475"/>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A</a:t>
            </a:r>
            <a:endParaRPr sz="2500">
              <a:latin typeface="Oxygen"/>
              <a:ea typeface="Oxygen"/>
              <a:cs typeface="Oxygen"/>
              <a:sym typeface="Oxygen"/>
            </a:endParaRPr>
          </a:p>
        </p:txBody>
      </p:sp>
      <p:cxnSp>
        <p:nvCxnSpPr>
          <p:cNvPr id="533" name="Google Shape;533;p42"/>
          <p:cNvCxnSpPr>
            <a:stCxn id="528" idx="7"/>
            <a:endCxn id="530" idx="3"/>
          </p:cNvCxnSpPr>
          <p:nvPr/>
        </p:nvCxnSpPr>
        <p:spPr>
          <a:xfrm flipH="1" rot="10800000">
            <a:off x="6489006" y="2000869"/>
            <a:ext cx="730500" cy="688800"/>
          </a:xfrm>
          <a:prstGeom prst="straightConnector1">
            <a:avLst/>
          </a:prstGeom>
          <a:noFill/>
          <a:ln cap="flat" cmpd="sng" w="28575">
            <a:solidFill>
              <a:srgbClr val="B7B7B7"/>
            </a:solidFill>
            <a:prstDash val="solid"/>
            <a:round/>
            <a:headEnd len="med" w="med" type="none"/>
            <a:tailEnd len="med" w="med" type="none"/>
          </a:ln>
        </p:spPr>
      </p:cxnSp>
      <p:cxnSp>
        <p:nvCxnSpPr>
          <p:cNvPr id="534" name="Google Shape;534;p42"/>
          <p:cNvCxnSpPr>
            <a:stCxn id="532" idx="1"/>
            <a:endCxn id="530" idx="5"/>
          </p:cNvCxnSpPr>
          <p:nvPr/>
        </p:nvCxnSpPr>
        <p:spPr>
          <a:xfrm rot="10800000">
            <a:off x="7644744" y="2000819"/>
            <a:ext cx="730500" cy="731700"/>
          </a:xfrm>
          <a:prstGeom prst="straightConnector1">
            <a:avLst/>
          </a:prstGeom>
          <a:noFill/>
          <a:ln cap="flat" cmpd="sng" w="28575">
            <a:solidFill>
              <a:srgbClr val="B7B7B7"/>
            </a:solidFill>
            <a:prstDash val="solid"/>
            <a:round/>
            <a:headEnd len="med" w="med" type="none"/>
            <a:tailEnd len="med" w="med" type="none"/>
          </a:ln>
        </p:spPr>
      </p:cxnSp>
      <p:cxnSp>
        <p:nvCxnSpPr>
          <p:cNvPr id="535" name="Google Shape;535;p42"/>
          <p:cNvCxnSpPr>
            <a:stCxn id="532" idx="3"/>
            <a:endCxn id="531" idx="7"/>
          </p:cNvCxnSpPr>
          <p:nvPr/>
        </p:nvCxnSpPr>
        <p:spPr>
          <a:xfrm flipH="1">
            <a:off x="7644744" y="3157631"/>
            <a:ext cx="730500" cy="604500"/>
          </a:xfrm>
          <a:prstGeom prst="straightConnector1">
            <a:avLst/>
          </a:prstGeom>
          <a:noFill/>
          <a:ln cap="flat" cmpd="sng" w="28575">
            <a:solidFill>
              <a:srgbClr val="B7B7B7"/>
            </a:solidFill>
            <a:prstDash val="solid"/>
            <a:round/>
            <a:headEnd len="med" w="med" type="none"/>
            <a:tailEnd len="med" w="med" type="none"/>
          </a:ln>
        </p:spPr>
      </p:cxnSp>
      <p:cxnSp>
        <p:nvCxnSpPr>
          <p:cNvPr id="536" name="Google Shape;536;p42"/>
          <p:cNvCxnSpPr>
            <a:stCxn id="531" idx="1"/>
            <a:endCxn id="528" idx="5"/>
          </p:cNvCxnSpPr>
          <p:nvPr/>
        </p:nvCxnSpPr>
        <p:spPr>
          <a:xfrm rot="10800000">
            <a:off x="6489069" y="3114819"/>
            <a:ext cx="730500" cy="647400"/>
          </a:xfrm>
          <a:prstGeom prst="straightConnector1">
            <a:avLst/>
          </a:prstGeom>
          <a:noFill/>
          <a:ln cap="flat" cmpd="sng" w="28575">
            <a:solidFill>
              <a:srgbClr val="B7B7B7"/>
            </a:solidFill>
            <a:prstDash val="solid"/>
            <a:round/>
            <a:headEnd len="med" w="med" type="none"/>
            <a:tailEnd len="med" w="med" type="none"/>
          </a:ln>
        </p:spPr>
      </p:cxnSp>
      <p:cxnSp>
        <p:nvCxnSpPr>
          <p:cNvPr id="537" name="Google Shape;537;p42"/>
          <p:cNvCxnSpPr>
            <a:stCxn id="531" idx="0"/>
            <a:endCxn id="530" idx="4"/>
          </p:cNvCxnSpPr>
          <p:nvPr/>
        </p:nvCxnSpPr>
        <p:spPr>
          <a:xfrm rot="10800000">
            <a:off x="7432125" y="2088675"/>
            <a:ext cx="0" cy="1585500"/>
          </a:xfrm>
          <a:prstGeom prst="straightConnector1">
            <a:avLst/>
          </a:prstGeom>
          <a:noFill/>
          <a:ln cap="flat" cmpd="sng" w="28575">
            <a:solidFill>
              <a:srgbClr val="B7B7B7"/>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Node neighborhoods in directed graphs</a:t>
            </a:r>
            <a:endParaRPr/>
          </a:p>
        </p:txBody>
      </p:sp>
      <p:sp>
        <p:nvSpPr>
          <p:cNvPr id="543" name="Google Shape;543;p43"/>
          <p:cNvSpPr txBox="1"/>
          <p:nvPr>
            <p:ph idx="1" type="body"/>
          </p:nvPr>
        </p:nvSpPr>
        <p:spPr>
          <a:xfrm>
            <a:off x="311700" y="1225225"/>
            <a:ext cx="4323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 graphs</a:t>
            </a:r>
            <a:r>
              <a:rPr lang="en"/>
              <a:t> nodes have </a:t>
            </a:r>
            <a:r>
              <a:rPr b="1" lang="en"/>
              <a:t>two</a:t>
            </a:r>
            <a:r>
              <a:rPr lang="en"/>
              <a:t> separate set of neighbors:</a:t>
            </a:r>
            <a:endParaRPr/>
          </a:p>
          <a:p>
            <a:pPr indent="-317500" lvl="1" marL="914400" rtl="0" algn="l">
              <a:spcBef>
                <a:spcPts val="0"/>
              </a:spcBef>
              <a:spcAft>
                <a:spcPts val="0"/>
              </a:spcAft>
              <a:buSzPts val="1400"/>
              <a:buChar char="○"/>
            </a:pPr>
            <a:r>
              <a:rPr b="1" lang="en"/>
              <a:t>Out-neighbors</a:t>
            </a:r>
            <a:endParaRPr b="1"/>
          </a:p>
          <a:p>
            <a:pPr indent="-317500" lvl="1" marL="914400" rtl="0" algn="l">
              <a:spcBef>
                <a:spcPts val="0"/>
              </a:spcBef>
              <a:spcAft>
                <a:spcPts val="0"/>
              </a:spcAft>
              <a:buSzPts val="1400"/>
              <a:buChar char="○"/>
            </a:pPr>
            <a:r>
              <a:rPr b="1" lang="en"/>
              <a:t>In-neighbors</a:t>
            </a:r>
            <a:endParaRPr b="1"/>
          </a:p>
          <a:p>
            <a:pPr indent="0" lvl="0" marL="914400" rtl="0" algn="l">
              <a:spcBef>
                <a:spcPts val="0"/>
              </a:spcBef>
              <a:spcAft>
                <a:spcPts val="0"/>
              </a:spcAft>
              <a:buNone/>
            </a:pPr>
            <a:r>
              <a:t/>
            </a:r>
            <a:endParaRPr/>
          </a:p>
        </p:txBody>
      </p:sp>
      <p:sp>
        <p:nvSpPr>
          <p:cNvPr id="544" name="Google Shape;544;p43"/>
          <p:cNvSpPr/>
          <p:nvPr/>
        </p:nvSpPr>
        <p:spPr>
          <a:xfrm>
            <a:off x="4635075" y="2601625"/>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B</a:t>
            </a:r>
            <a:endParaRPr sz="2500">
              <a:latin typeface="Oxygen"/>
              <a:ea typeface="Oxygen"/>
              <a:cs typeface="Oxygen"/>
              <a:sym typeface="Oxygen"/>
            </a:endParaRPr>
          </a:p>
        </p:txBody>
      </p:sp>
      <p:sp>
        <p:nvSpPr>
          <p:cNvPr id="545" name="Google Shape;545;p43"/>
          <p:cNvSpPr/>
          <p:nvPr/>
        </p:nvSpPr>
        <p:spPr>
          <a:xfrm>
            <a:off x="5975850" y="2601625"/>
            <a:ext cx="601200" cy="601200"/>
          </a:xfrm>
          <a:prstGeom prst="ellipse">
            <a:avLst/>
          </a:prstGeom>
          <a:solidFill>
            <a:schemeClr val="lt2"/>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E</a:t>
            </a:r>
            <a:endParaRPr sz="2500">
              <a:latin typeface="Oxygen"/>
              <a:ea typeface="Oxygen"/>
              <a:cs typeface="Oxygen"/>
              <a:sym typeface="Oxygen"/>
            </a:endParaRPr>
          </a:p>
        </p:txBody>
      </p:sp>
      <p:cxnSp>
        <p:nvCxnSpPr>
          <p:cNvPr id="546" name="Google Shape;546;p43"/>
          <p:cNvCxnSpPr>
            <a:stCxn id="544" idx="5"/>
            <a:endCxn id="545" idx="3"/>
          </p:cNvCxnSpPr>
          <p:nvPr/>
        </p:nvCxnSpPr>
        <p:spPr>
          <a:xfrm>
            <a:off x="5148231" y="3114781"/>
            <a:ext cx="915600" cy="0"/>
          </a:xfrm>
          <a:prstGeom prst="straightConnector1">
            <a:avLst/>
          </a:prstGeom>
          <a:noFill/>
          <a:ln cap="flat" cmpd="sng" w="28575">
            <a:solidFill>
              <a:srgbClr val="B7B7B7"/>
            </a:solidFill>
            <a:prstDash val="solid"/>
            <a:round/>
            <a:headEnd len="med" w="med" type="stealth"/>
            <a:tailEnd len="med" w="med" type="none"/>
          </a:ln>
        </p:spPr>
      </p:cxnSp>
      <p:sp>
        <p:nvSpPr>
          <p:cNvPr id="547" name="Google Shape;547;p43"/>
          <p:cNvSpPr/>
          <p:nvPr/>
        </p:nvSpPr>
        <p:spPr>
          <a:xfrm>
            <a:off x="7131525" y="1487600"/>
            <a:ext cx="601200" cy="601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C</a:t>
            </a:r>
            <a:endParaRPr sz="2500">
              <a:latin typeface="Oxygen"/>
              <a:ea typeface="Oxygen"/>
              <a:cs typeface="Oxygen"/>
              <a:sym typeface="Oxygen"/>
            </a:endParaRPr>
          </a:p>
        </p:txBody>
      </p:sp>
      <p:sp>
        <p:nvSpPr>
          <p:cNvPr id="548" name="Google Shape;548;p43"/>
          <p:cNvSpPr/>
          <p:nvPr/>
        </p:nvSpPr>
        <p:spPr>
          <a:xfrm>
            <a:off x="7131525" y="3674175"/>
            <a:ext cx="601200" cy="601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D</a:t>
            </a:r>
            <a:endParaRPr sz="2500">
              <a:latin typeface="Oxygen"/>
              <a:ea typeface="Oxygen"/>
              <a:cs typeface="Oxygen"/>
              <a:sym typeface="Oxygen"/>
            </a:endParaRPr>
          </a:p>
        </p:txBody>
      </p:sp>
      <p:sp>
        <p:nvSpPr>
          <p:cNvPr id="549" name="Google Shape;549;p43"/>
          <p:cNvSpPr/>
          <p:nvPr/>
        </p:nvSpPr>
        <p:spPr>
          <a:xfrm>
            <a:off x="8287200" y="2644475"/>
            <a:ext cx="601200" cy="601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A</a:t>
            </a:r>
            <a:endParaRPr sz="2500">
              <a:latin typeface="Oxygen"/>
              <a:ea typeface="Oxygen"/>
              <a:cs typeface="Oxygen"/>
              <a:sym typeface="Oxygen"/>
            </a:endParaRPr>
          </a:p>
        </p:txBody>
      </p:sp>
      <p:cxnSp>
        <p:nvCxnSpPr>
          <p:cNvPr id="550" name="Google Shape;550;p43"/>
          <p:cNvCxnSpPr>
            <a:stCxn id="545" idx="7"/>
            <a:endCxn id="547" idx="3"/>
          </p:cNvCxnSpPr>
          <p:nvPr/>
        </p:nvCxnSpPr>
        <p:spPr>
          <a:xfrm flipH="1" rot="10800000">
            <a:off x="6489006" y="2000869"/>
            <a:ext cx="730500" cy="688800"/>
          </a:xfrm>
          <a:prstGeom prst="straightConnector1">
            <a:avLst/>
          </a:prstGeom>
          <a:noFill/>
          <a:ln cap="flat" cmpd="sng" w="28575">
            <a:solidFill>
              <a:srgbClr val="B7B7B7"/>
            </a:solidFill>
            <a:prstDash val="solid"/>
            <a:round/>
            <a:headEnd len="med" w="med" type="stealth"/>
            <a:tailEnd len="med" w="med" type="none"/>
          </a:ln>
        </p:spPr>
      </p:cxnSp>
      <p:cxnSp>
        <p:nvCxnSpPr>
          <p:cNvPr id="551" name="Google Shape;551;p43"/>
          <p:cNvCxnSpPr>
            <a:stCxn id="549" idx="1"/>
            <a:endCxn id="547" idx="5"/>
          </p:cNvCxnSpPr>
          <p:nvPr/>
        </p:nvCxnSpPr>
        <p:spPr>
          <a:xfrm rot="10800000">
            <a:off x="7644744" y="2000819"/>
            <a:ext cx="730500" cy="731700"/>
          </a:xfrm>
          <a:prstGeom prst="straightConnector1">
            <a:avLst/>
          </a:prstGeom>
          <a:noFill/>
          <a:ln cap="flat" cmpd="sng" w="28575">
            <a:solidFill>
              <a:schemeClr val="dk2"/>
            </a:solidFill>
            <a:prstDash val="solid"/>
            <a:round/>
            <a:headEnd len="med" w="med" type="none"/>
            <a:tailEnd len="med" w="med" type="stealth"/>
          </a:ln>
        </p:spPr>
      </p:cxnSp>
      <p:cxnSp>
        <p:nvCxnSpPr>
          <p:cNvPr id="552" name="Google Shape;552;p43"/>
          <p:cNvCxnSpPr>
            <a:stCxn id="549" idx="3"/>
            <a:endCxn id="548" idx="7"/>
          </p:cNvCxnSpPr>
          <p:nvPr/>
        </p:nvCxnSpPr>
        <p:spPr>
          <a:xfrm flipH="1">
            <a:off x="7644744" y="3157631"/>
            <a:ext cx="730500" cy="604500"/>
          </a:xfrm>
          <a:prstGeom prst="straightConnector1">
            <a:avLst/>
          </a:prstGeom>
          <a:noFill/>
          <a:ln cap="flat" cmpd="sng" w="28575">
            <a:solidFill>
              <a:schemeClr val="dk2"/>
            </a:solidFill>
            <a:prstDash val="solid"/>
            <a:round/>
            <a:headEnd len="med" w="med" type="none"/>
            <a:tailEnd len="med" w="med" type="stealth"/>
          </a:ln>
        </p:spPr>
      </p:cxnSp>
      <p:cxnSp>
        <p:nvCxnSpPr>
          <p:cNvPr id="553" name="Google Shape;553;p43"/>
          <p:cNvCxnSpPr>
            <a:stCxn id="548" idx="1"/>
            <a:endCxn id="547" idx="3"/>
          </p:cNvCxnSpPr>
          <p:nvPr/>
        </p:nvCxnSpPr>
        <p:spPr>
          <a:xfrm rot="10800000">
            <a:off x="7219569" y="2000619"/>
            <a:ext cx="0" cy="1761600"/>
          </a:xfrm>
          <a:prstGeom prst="straightConnector1">
            <a:avLst/>
          </a:prstGeom>
          <a:noFill/>
          <a:ln cap="flat" cmpd="sng" w="28575">
            <a:solidFill>
              <a:schemeClr val="dk2"/>
            </a:solidFill>
            <a:prstDash val="solid"/>
            <a:round/>
            <a:headEnd len="med" w="med" type="stealth"/>
            <a:tailEnd len="med" w="med" type="none"/>
          </a:ln>
        </p:spPr>
      </p:cxnSp>
      <p:cxnSp>
        <p:nvCxnSpPr>
          <p:cNvPr id="554" name="Google Shape;554;p43"/>
          <p:cNvCxnSpPr>
            <a:stCxn id="548" idx="7"/>
            <a:endCxn id="547" idx="5"/>
          </p:cNvCxnSpPr>
          <p:nvPr/>
        </p:nvCxnSpPr>
        <p:spPr>
          <a:xfrm rot="10800000">
            <a:off x="7644681" y="2000619"/>
            <a:ext cx="0" cy="1761600"/>
          </a:xfrm>
          <a:prstGeom prst="straightConnector1">
            <a:avLst/>
          </a:prstGeom>
          <a:noFill/>
          <a:ln cap="flat" cmpd="sng" w="28575">
            <a:solidFill>
              <a:schemeClr val="dk2"/>
            </a:solidFill>
            <a:prstDash val="solid"/>
            <a:round/>
            <a:headEnd len="med" w="med" type="none"/>
            <a:tailEnd len="med" w="med" type="stealth"/>
          </a:ln>
        </p:spPr>
      </p:cxnSp>
      <p:cxnSp>
        <p:nvCxnSpPr>
          <p:cNvPr id="555" name="Google Shape;555;p43"/>
          <p:cNvCxnSpPr>
            <a:stCxn id="545" idx="1"/>
            <a:endCxn id="544" idx="7"/>
          </p:cNvCxnSpPr>
          <p:nvPr/>
        </p:nvCxnSpPr>
        <p:spPr>
          <a:xfrm rot="10800000">
            <a:off x="5148294" y="2689669"/>
            <a:ext cx="915600" cy="0"/>
          </a:xfrm>
          <a:prstGeom prst="straightConnector1">
            <a:avLst/>
          </a:prstGeom>
          <a:noFill/>
          <a:ln cap="flat" cmpd="sng" w="28575">
            <a:solidFill>
              <a:srgbClr val="B7B7B7"/>
            </a:solidFill>
            <a:prstDash val="solid"/>
            <a:round/>
            <a:headEnd len="med" w="med" type="stealth"/>
            <a:tailEnd len="med" w="med" type="none"/>
          </a:ln>
        </p:spPr>
      </p:cxnSp>
      <p:cxnSp>
        <p:nvCxnSpPr>
          <p:cNvPr id="556" name="Google Shape;556;p43"/>
          <p:cNvCxnSpPr/>
          <p:nvPr/>
        </p:nvCxnSpPr>
        <p:spPr>
          <a:xfrm rot="10800000">
            <a:off x="6276525" y="3202875"/>
            <a:ext cx="855000" cy="771900"/>
          </a:xfrm>
          <a:prstGeom prst="straightConnector1">
            <a:avLst/>
          </a:prstGeom>
          <a:noFill/>
          <a:ln cap="flat" cmpd="sng" w="28575">
            <a:solidFill>
              <a:schemeClr val="dk2"/>
            </a:solidFill>
            <a:prstDash val="solid"/>
            <a:round/>
            <a:headEnd len="med" w="med" type="stealth"/>
            <a:tailEnd len="med" w="med" type="none"/>
          </a:ln>
        </p:spPr>
      </p:cxnSp>
      <p:cxnSp>
        <p:nvCxnSpPr>
          <p:cNvPr id="557" name="Google Shape;557;p43"/>
          <p:cNvCxnSpPr/>
          <p:nvPr/>
        </p:nvCxnSpPr>
        <p:spPr>
          <a:xfrm rot="10800000">
            <a:off x="6577125" y="2902275"/>
            <a:ext cx="855000" cy="77190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Node neighborhoods in directed graphs</a:t>
            </a:r>
            <a:endParaRPr/>
          </a:p>
        </p:txBody>
      </p:sp>
      <p:sp>
        <p:nvSpPr>
          <p:cNvPr id="563" name="Google Shape;563;p44"/>
          <p:cNvSpPr txBox="1"/>
          <p:nvPr>
            <p:ph idx="1" type="body"/>
          </p:nvPr>
        </p:nvSpPr>
        <p:spPr>
          <a:xfrm>
            <a:off x="311700" y="1225225"/>
            <a:ext cx="4323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 graphs</a:t>
            </a:r>
            <a:r>
              <a:rPr lang="en"/>
              <a:t> nodes have </a:t>
            </a:r>
            <a:r>
              <a:rPr b="1" lang="en"/>
              <a:t>two</a:t>
            </a:r>
            <a:r>
              <a:rPr lang="en"/>
              <a:t> separate set of neighbors:</a:t>
            </a:r>
            <a:endParaRPr/>
          </a:p>
          <a:p>
            <a:pPr indent="-317500" lvl="1" marL="914400" rtl="0" algn="l">
              <a:spcBef>
                <a:spcPts val="0"/>
              </a:spcBef>
              <a:spcAft>
                <a:spcPts val="0"/>
              </a:spcAft>
              <a:buSzPts val="1400"/>
              <a:buChar char="○"/>
            </a:pPr>
            <a:r>
              <a:rPr b="1" lang="en"/>
              <a:t>Out-neighbors</a:t>
            </a:r>
            <a:endParaRPr b="1"/>
          </a:p>
          <a:p>
            <a:pPr indent="-317500" lvl="1" marL="914400" rtl="0" algn="l">
              <a:spcBef>
                <a:spcPts val="0"/>
              </a:spcBef>
              <a:spcAft>
                <a:spcPts val="0"/>
              </a:spcAft>
              <a:buSzPts val="1400"/>
              <a:buChar char="○"/>
            </a:pPr>
            <a:r>
              <a:rPr b="1" lang="en"/>
              <a:t>In-neighbors</a:t>
            </a:r>
            <a:endParaRPr b="1"/>
          </a:p>
          <a:p>
            <a:pPr indent="-342900" lvl="0" marL="457200" rtl="0" algn="l">
              <a:spcBef>
                <a:spcPts val="0"/>
              </a:spcBef>
              <a:spcAft>
                <a:spcPts val="0"/>
              </a:spcAft>
              <a:buSzPts val="1800"/>
              <a:buChar char="●"/>
            </a:pPr>
            <a:r>
              <a:rPr lang="en"/>
              <a:t>Out-neighbors of E:</a:t>
            </a:r>
            <a:endParaRPr/>
          </a:p>
          <a:p>
            <a:pPr indent="-317500" lvl="1" marL="914400" rtl="0" algn="l">
              <a:spcBef>
                <a:spcPts val="0"/>
              </a:spcBef>
              <a:spcAft>
                <a:spcPts val="0"/>
              </a:spcAft>
              <a:buSzPts val="1400"/>
              <a:buChar char="○"/>
            </a:pPr>
            <a:r>
              <a:rPr lang="en"/>
              <a:t>Set of nodes incident to arcs that have </a:t>
            </a:r>
            <a:r>
              <a:rPr b="1" lang="en"/>
              <a:t>E as the source node</a:t>
            </a:r>
            <a:endParaRPr b="1"/>
          </a:p>
          <a:p>
            <a:pPr indent="-317500" lvl="2" marL="1371600" rtl="0" algn="l">
              <a:spcBef>
                <a:spcPts val="0"/>
              </a:spcBef>
              <a:spcAft>
                <a:spcPts val="0"/>
              </a:spcAft>
              <a:buSzPts val="1400"/>
              <a:buChar char="■"/>
            </a:pPr>
            <a:r>
              <a:rPr lang="en"/>
              <a:t>N</a:t>
            </a:r>
            <a:r>
              <a:rPr baseline="-25000" lang="en"/>
              <a:t>out</a:t>
            </a:r>
            <a:r>
              <a:rPr lang="en"/>
              <a:t>(E) = {B, D}</a:t>
            </a:r>
            <a:endParaRPr/>
          </a:p>
        </p:txBody>
      </p:sp>
      <p:sp>
        <p:nvSpPr>
          <p:cNvPr id="564" name="Google Shape;564;p44"/>
          <p:cNvSpPr/>
          <p:nvPr/>
        </p:nvSpPr>
        <p:spPr>
          <a:xfrm>
            <a:off x="4635075" y="2601625"/>
            <a:ext cx="601200" cy="6012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B</a:t>
            </a:r>
            <a:endParaRPr sz="2500">
              <a:latin typeface="Oxygen"/>
              <a:ea typeface="Oxygen"/>
              <a:cs typeface="Oxygen"/>
              <a:sym typeface="Oxygen"/>
            </a:endParaRPr>
          </a:p>
        </p:txBody>
      </p:sp>
      <p:sp>
        <p:nvSpPr>
          <p:cNvPr id="565" name="Google Shape;565;p44"/>
          <p:cNvSpPr/>
          <p:nvPr/>
        </p:nvSpPr>
        <p:spPr>
          <a:xfrm>
            <a:off x="5975850" y="2601625"/>
            <a:ext cx="601200" cy="6012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E</a:t>
            </a:r>
            <a:endParaRPr sz="2500">
              <a:latin typeface="Oxygen"/>
              <a:ea typeface="Oxygen"/>
              <a:cs typeface="Oxygen"/>
              <a:sym typeface="Oxygen"/>
            </a:endParaRPr>
          </a:p>
        </p:txBody>
      </p:sp>
      <p:cxnSp>
        <p:nvCxnSpPr>
          <p:cNvPr id="566" name="Google Shape;566;p44"/>
          <p:cNvCxnSpPr>
            <a:stCxn id="564" idx="5"/>
            <a:endCxn id="565" idx="3"/>
          </p:cNvCxnSpPr>
          <p:nvPr/>
        </p:nvCxnSpPr>
        <p:spPr>
          <a:xfrm>
            <a:off x="5148231" y="3114781"/>
            <a:ext cx="915600" cy="0"/>
          </a:xfrm>
          <a:prstGeom prst="straightConnector1">
            <a:avLst/>
          </a:prstGeom>
          <a:noFill/>
          <a:ln cap="flat" cmpd="sng" w="38100">
            <a:solidFill>
              <a:srgbClr val="FF0000"/>
            </a:solidFill>
            <a:prstDash val="solid"/>
            <a:round/>
            <a:headEnd len="med" w="med" type="stealth"/>
            <a:tailEnd len="med" w="med" type="none"/>
          </a:ln>
        </p:spPr>
      </p:cxnSp>
      <p:sp>
        <p:nvSpPr>
          <p:cNvPr id="567" name="Google Shape;567;p44"/>
          <p:cNvSpPr/>
          <p:nvPr/>
        </p:nvSpPr>
        <p:spPr>
          <a:xfrm>
            <a:off x="7131525" y="1487600"/>
            <a:ext cx="601200" cy="601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C</a:t>
            </a:r>
            <a:endParaRPr sz="2500">
              <a:latin typeface="Oxygen"/>
              <a:ea typeface="Oxygen"/>
              <a:cs typeface="Oxygen"/>
              <a:sym typeface="Oxygen"/>
            </a:endParaRPr>
          </a:p>
        </p:txBody>
      </p:sp>
      <p:sp>
        <p:nvSpPr>
          <p:cNvPr id="568" name="Google Shape;568;p44"/>
          <p:cNvSpPr/>
          <p:nvPr/>
        </p:nvSpPr>
        <p:spPr>
          <a:xfrm>
            <a:off x="7131525" y="3674175"/>
            <a:ext cx="601200" cy="601200"/>
          </a:xfrm>
          <a:prstGeom prst="ellipse">
            <a:avLst/>
          </a:prstGeom>
          <a:solidFill>
            <a:schemeClr val="accent5"/>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D</a:t>
            </a:r>
            <a:endParaRPr sz="2500">
              <a:latin typeface="Oxygen"/>
              <a:ea typeface="Oxygen"/>
              <a:cs typeface="Oxygen"/>
              <a:sym typeface="Oxygen"/>
            </a:endParaRPr>
          </a:p>
        </p:txBody>
      </p:sp>
      <p:sp>
        <p:nvSpPr>
          <p:cNvPr id="569" name="Google Shape;569;p44"/>
          <p:cNvSpPr/>
          <p:nvPr/>
        </p:nvSpPr>
        <p:spPr>
          <a:xfrm>
            <a:off x="8287200" y="2644475"/>
            <a:ext cx="601200" cy="601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A</a:t>
            </a:r>
            <a:endParaRPr sz="2500">
              <a:latin typeface="Oxygen"/>
              <a:ea typeface="Oxygen"/>
              <a:cs typeface="Oxygen"/>
              <a:sym typeface="Oxygen"/>
            </a:endParaRPr>
          </a:p>
        </p:txBody>
      </p:sp>
      <p:cxnSp>
        <p:nvCxnSpPr>
          <p:cNvPr id="570" name="Google Shape;570;p44"/>
          <p:cNvCxnSpPr>
            <a:stCxn id="565" idx="7"/>
            <a:endCxn id="567" idx="3"/>
          </p:cNvCxnSpPr>
          <p:nvPr/>
        </p:nvCxnSpPr>
        <p:spPr>
          <a:xfrm flipH="1" rot="10800000">
            <a:off x="6489006" y="2000869"/>
            <a:ext cx="730500" cy="688800"/>
          </a:xfrm>
          <a:prstGeom prst="straightConnector1">
            <a:avLst/>
          </a:prstGeom>
          <a:noFill/>
          <a:ln cap="flat" cmpd="sng" w="28575">
            <a:solidFill>
              <a:srgbClr val="B7B7B7"/>
            </a:solidFill>
            <a:prstDash val="solid"/>
            <a:round/>
            <a:headEnd len="med" w="med" type="stealth"/>
            <a:tailEnd len="med" w="med" type="none"/>
          </a:ln>
        </p:spPr>
      </p:cxnSp>
      <p:cxnSp>
        <p:nvCxnSpPr>
          <p:cNvPr id="571" name="Google Shape;571;p44"/>
          <p:cNvCxnSpPr>
            <a:stCxn id="569" idx="1"/>
            <a:endCxn id="567" idx="5"/>
          </p:cNvCxnSpPr>
          <p:nvPr/>
        </p:nvCxnSpPr>
        <p:spPr>
          <a:xfrm rot="10800000">
            <a:off x="7644744" y="2000819"/>
            <a:ext cx="730500" cy="731700"/>
          </a:xfrm>
          <a:prstGeom prst="straightConnector1">
            <a:avLst/>
          </a:prstGeom>
          <a:noFill/>
          <a:ln cap="flat" cmpd="sng" w="28575">
            <a:solidFill>
              <a:schemeClr val="dk2"/>
            </a:solidFill>
            <a:prstDash val="solid"/>
            <a:round/>
            <a:headEnd len="med" w="med" type="none"/>
            <a:tailEnd len="med" w="med" type="stealth"/>
          </a:ln>
        </p:spPr>
      </p:cxnSp>
      <p:cxnSp>
        <p:nvCxnSpPr>
          <p:cNvPr id="572" name="Google Shape;572;p44"/>
          <p:cNvCxnSpPr>
            <a:stCxn id="569" idx="3"/>
            <a:endCxn id="568" idx="7"/>
          </p:cNvCxnSpPr>
          <p:nvPr/>
        </p:nvCxnSpPr>
        <p:spPr>
          <a:xfrm flipH="1">
            <a:off x="7644744" y="3157631"/>
            <a:ext cx="730500" cy="604500"/>
          </a:xfrm>
          <a:prstGeom prst="straightConnector1">
            <a:avLst/>
          </a:prstGeom>
          <a:noFill/>
          <a:ln cap="flat" cmpd="sng" w="28575">
            <a:solidFill>
              <a:schemeClr val="dk2"/>
            </a:solidFill>
            <a:prstDash val="solid"/>
            <a:round/>
            <a:headEnd len="med" w="med" type="none"/>
            <a:tailEnd len="med" w="med" type="stealth"/>
          </a:ln>
        </p:spPr>
      </p:cxnSp>
      <p:cxnSp>
        <p:nvCxnSpPr>
          <p:cNvPr id="573" name="Google Shape;573;p44"/>
          <p:cNvCxnSpPr>
            <a:stCxn id="568" idx="1"/>
            <a:endCxn id="567" idx="3"/>
          </p:cNvCxnSpPr>
          <p:nvPr/>
        </p:nvCxnSpPr>
        <p:spPr>
          <a:xfrm rot="10800000">
            <a:off x="7219569" y="2000619"/>
            <a:ext cx="0" cy="1761600"/>
          </a:xfrm>
          <a:prstGeom prst="straightConnector1">
            <a:avLst/>
          </a:prstGeom>
          <a:noFill/>
          <a:ln cap="flat" cmpd="sng" w="28575">
            <a:solidFill>
              <a:schemeClr val="dk2"/>
            </a:solidFill>
            <a:prstDash val="solid"/>
            <a:round/>
            <a:headEnd len="med" w="med" type="stealth"/>
            <a:tailEnd len="med" w="med" type="none"/>
          </a:ln>
        </p:spPr>
      </p:cxnSp>
      <p:cxnSp>
        <p:nvCxnSpPr>
          <p:cNvPr id="574" name="Google Shape;574;p44"/>
          <p:cNvCxnSpPr>
            <a:stCxn id="568" idx="7"/>
            <a:endCxn id="567" idx="5"/>
          </p:cNvCxnSpPr>
          <p:nvPr/>
        </p:nvCxnSpPr>
        <p:spPr>
          <a:xfrm rot="10800000">
            <a:off x="7644681" y="2000619"/>
            <a:ext cx="0" cy="1761600"/>
          </a:xfrm>
          <a:prstGeom prst="straightConnector1">
            <a:avLst/>
          </a:prstGeom>
          <a:noFill/>
          <a:ln cap="flat" cmpd="sng" w="28575">
            <a:solidFill>
              <a:schemeClr val="dk2"/>
            </a:solidFill>
            <a:prstDash val="solid"/>
            <a:round/>
            <a:headEnd len="med" w="med" type="none"/>
            <a:tailEnd len="med" w="med" type="stealth"/>
          </a:ln>
        </p:spPr>
      </p:cxnSp>
      <p:cxnSp>
        <p:nvCxnSpPr>
          <p:cNvPr id="575" name="Google Shape;575;p44"/>
          <p:cNvCxnSpPr>
            <a:stCxn id="565" idx="1"/>
            <a:endCxn id="564" idx="7"/>
          </p:cNvCxnSpPr>
          <p:nvPr/>
        </p:nvCxnSpPr>
        <p:spPr>
          <a:xfrm rot="10800000">
            <a:off x="5148294" y="2689669"/>
            <a:ext cx="915600" cy="0"/>
          </a:xfrm>
          <a:prstGeom prst="straightConnector1">
            <a:avLst/>
          </a:prstGeom>
          <a:noFill/>
          <a:ln cap="flat" cmpd="sng" w="28575">
            <a:solidFill>
              <a:srgbClr val="B7B7B7"/>
            </a:solidFill>
            <a:prstDash val="solid"/>
            <a:round/>
            <a:headEnd len="med" w="med" type="stealth"/>
            <a:tailEnd len="med" w="med" type="none"/>
          </a:ln>
        </p:spPr>
      </p:cxnSp>
      <p:cxnSp>
        <p:nvCxnSpPr>
          <p:cNvPr id="576" name="Google Shape;576;p44"/>
          <p:cNvCxnSpPr/>
          <p:nvPr/>
        </p:nvCxnSpPr>
        <p:spPr>
          <a:xfrm rot="10800000">
            <a:off x="6276525" y="3202875"/>
            <a:ext cx="855000" cy="771900"/>
          </a:xfrm>
          <a:prstGeom prst="straightConnector1">
            <a:avLst/>
          </a:prstGeom>
          <a:noFill/>
          <a:ln cap="flat" cmpd="sng" w="38100">
            <a:solidFill>
              <a:srgbClr val="FF0000"/>
            </a:solidFill>
            <a:prstDash val="solid"/>
            <a:round/>
            <a:headEnd len="med" w="med" type="stealth"/>
            <a:tailEnd len="med" w="med" type="none"/>
          </a:ln>
        </p:spPr>
      </p:cxnSp>
      <p:cxnSp>
        <p:nvCxnSpPr>
          <p:cNvPr id="577" name="Google Shape;577;p44"/>
          <p:cNvCxnSpPr/>
          <p:nvPr/>
        </p:nvCxnSpPr>
        <p:spPr>
          <a:xfrm rot="10800000">
            <a:off x="6577125" y="2902275"/>
            <a:ext cx="855000" cy="77190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Node neighborhoods in directed graphs</a:t>
            </a:r>
            <a:endParaRPr/>
          </a:p>
        </p:txBody>
      </p:sp>
      <p:sp>
        <p:nvSpPr>
          <p:cNvPr id="583" name="Google Shape;583;p45"/>
          <p:cNvSpPr txBox="1"/>
          <p:nvPr>
            <p:ph idx="1" type="body"/>
          </p:nvPr>
        </p:nvSpPr>
        <p:spPr>
          <a:xfrm>
            <a:off x="311700" y="1225225"/>
            <a:ext cx="4323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 graphs</a:t>
            </a:r>
            <a:r>
              <a:rPr lang="en"/>
              <a:t> nodes have </a:t>
            </a:r>
            <a:r>
              <a:rPr b="1" lang="en"/>
              <a:t>two</a:t>
            </a:r>
            <a:r>
              <a:rPr lang="en"/>
              <a:t> separate set of neighbors:</a:t>
            </a:r>
            <a:endParaRPr/>
          </a:p>
          <a:p>
            <a:pPr indent="-317500" lvl="1" marL="914400" rtl="0" algn="l">
              <a:spcBef>
                <a:spcPts val="0"/>
              </a:spcBef>
              <a:spcAft>
                <a:spcPts val="0"/>
              </a:spcAft>
              <a:buSzPts val="1400"/>
              <a:buChar char="○"/>
            </a:pPr>
            <a:r>
              <a:rPr b="1" lang="en"/>
              <a:t>Out-neighbors</a:t>
            </a:r>
            <a:endParaRPr b="1"/>
          </a:p>
          <a:p>
            <a:pPr indent="-317500" lvl="1" marL="914400" rtl="0" algn="l">
              <a:spcBef>
                <a:spcPts val="0"/>
              </a:spcBef>
              <a:spcAft>
                <a:spcPts val="0"/>
              </a:spcAft>
              <a:buSzPts val="1400"/>
              <a:buChar char="○"/>
            </a:pPr>
            <a:r>
              <a:rPr b="1" lang="en"/>
              <a:t>In-neighbors</a:t>
            </a:r>
            <a:endParaRPr b="1"/>
          </a:p>
          <a:p>
            <a:pPr indent="-342900" lvl="0" marL="457200" rtl="0" algn="l">
              <a:spcBef>
                <a:spcPts val="0"/>
              </a:spcBef>
              <a:spcAft>
                <a:spcPts val="0"/>
              </a:spcAft>
              <a:buSzPts val="1800"/>
              <a:buChar char="●"/>
            </a:pPr>
            <a:r>
              <a:rPr lang="en"/>
              <a:t>Out-neighbors of E:</a:t>
            </a:r>
            <a:endParaRPr/>
          </a:p>
          <a:p>
            <a:pPr indent="-317500" lvl="1" marL="914400" rtl="0" algn="l">
              <a:spcBef>
                <a:spcPts val="0"/>
              </a:spcBef>
              <a:spcAft>
                <a:spcPts val="0"/>
              </a:spcAft>
              <a:buSzPts val="1400"/>
              <a:buChar char="○"/>
            </a:pPr>
            <a:r>
              <a:rPr lang="en"/>
              <a:t>Set of nodes incident to arcs that have </a:t>
            </a:r>
            <a:r>
              <a:rPr b="1" lang="en"/>
              <a:t>E as the source node</a:t>
            </a:r>
            <a:endParaRPr b="1"/>
          </a:p>
          <a:p>
            <a:pPr indent="-317500" lvl="2" marL="1371600" rtl="0" algn="l">
              <a:spcBef>
                <a:spcPts val="0"/>
              </a:spcBef>
              <a:spcAft>
                <a:spcPts val="0"/>
              </a:spcAft>
              <a:buSzPts val="1400"/>
              <a:buChar char="■"/>
            </a:pPr>
            <a:r>
              <a:rPr lang="en"/>
              <a:t>N</a:t>
            </a:r>
            <a:r>
              <a:rPr baseline="-25000" lang="en"/>
              <a:t>out</a:t>
            </a:r>
            <a:r>
              <a:rPr lang="en"/>
              <a:t>(E) = {B, D}</a:t>
            </a:r>
            <a:endParaRPr/>
          </a:p>
          <a:p>
            <a:pPr indent="-342900" lvl="0" marL="457200" rtl="0" algn="l">
              <a:spcBef>
                <a:spcPts val="0"/>
              </a:spcBef>
              <a:spcAft>
                <a:spcPts val="0"/>
              </a:spcAft>
              <a:buSzPts val="1800"/>
              <a:buChar char="●"/>
            </a:pPr>
            <a:r>
              <a:rPr lang="en"/>
              <a:t>In-neighbors of E:</a:t>
            </a:r>
            <a:endParaRPr/>
          </a:p>
          <a:p>
            <a:pPr indent="-317500" lvl="1" marL="914400" rtl="0" algn="l">
              <a:spcBef>
                <a:spcPts val="0"/>
              </a:spcBef>
              <a:spcAft>
                <a:spcPts val="0"/>
              </a:spcAft>
              <a:buSzPts val="1400"/>
              <a:buChar char="○"/>
            </a:pPr>
            <a:r>
              <a:rPr lang="en"/>
              <a:t>Set of nodes incident to arcs that have </a:t>
            </a:r>
            <a:r>
              <a:rPr b="1" lang="en"/>
              <a:t>E as the destination node</a:t>
            </a:r>
            <a:endParaRPr b="1"/>
          </a:p>
          <a:p>
            <a:pPr indent="-317500" lvl="2" marL="1371600" rtl="0" algn="l">
              <a:spcBef>
                <a:spcPts val="0"/>
              </a:spcBef>
              <a:spcAft>
                <a:spcPts val="0"/>
              </a:spcAft>
              <a:buSzPts val="1400"/>
              <a:buChar char="■"/>
            </a:pPr>
            <a:r>
              <a:rPr lang="en"/>
              <a:t>N</a:t>
            </a:r>
            <a:r>
              <a:rPr baseline="-25000" lang="en"/>
              <a:t>In</a:t>
            </a:r>
            <a:r>
              <a:rPr lang="en"/>
              <a:t>(E) = {B, D, C}</a:t>
            </a:r>
            <a:endParaRPr/>
          </a:p>
        </p:txBody>
      </p:sp>
      <p:sp>
        <p:nvSpPr>
          <p:cNvPr id="584" name="Google Shape;584;p45"/>
          <p:cNvSpPr/>
          <p:nvPr/>
        </p:nvSpPr>
        <p:spPr>
          <a:xfrm>
            <a:off x="4635075" y="2601625"/>
            <a:ext cx="601200" cy="6012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B</a:t>
            </a:r>
            <a:endParaRPr sz="2500">
              <a:latin typeface="Oxygen"/>
              <a:ea typeface="Oxygen"/>
              <a:cs typeface="Oxygen"/>
              <a:sym typeface="Oxygen"/>
            </a:endParaRPr>
          </a:p>
        </p:txBody>
      </p:sp>
      <p:sp>
        <p:nvSpPr>
          <p:cNvPr id="585" name="Google Shape;585;p45"/>
          <p:cNvSpPr/>
          <p:nvPr/>
        </p:nvSpPr>
        <p:spPr>
          <a:xfrm>
            <a:off x="5975850" y="2601625"/>
            <a:ext cx="601200" cy="6012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E</a:t>
            </a:r>
            <a:endParaRPr sz="2500">
              <a:latin typeface="Oxygen"/>
              <a:ea typeface="Oxygen"/>
              <a:cs typeface="Oxygen"/>
              <a:sym typeface="Oxygen"/>
            </a:endParaRPr>
          </a:p>
        </p:txBody>
      </p:sp>
      <p:cxnSp>
        <p:nvCxnSpPr>
          <p:cNvPr id="586" name="Google Shape;586;p45"/>
          <p:cNvCxnSpPr>
            <a:stCxn id="584" idx="5"/>
            <a:endCxn id="585" idx="3"/>
          </p:cNvCxnSpPr>
          <p:nvPr/>
        </p:nvCxnSpPr>
        <p:spPr>
          <a:xfrm>
            <a:off x="5148231" y="3114781"/>
            <a:ext cx="915600" cy="0"/>
          </a:xfrm>
          <a:prstGeom prst="straightConnector1">
            <a:avLst/>
          </a:prstGeom>
          <a:noFill/>
          <a:ln cap="flat" cmpd="sng" w="28575">
            <a:solidFill>
              <a:srgbClr val="B7B7B7"/>
            </a:solidFill>
            <a:prstDash val="solid"/>
            <a:round/>
            <a:headEnd len="med" w="med" type="stealth"/>
            <a:tailEnd len="med" w="med" type="none"/>
          </a:ln>
        </p:spPr>
      </p:cxnSp>
      <p:sp>
        <p:nvSpPr>
          <p:cNvPr id="587" name="Google Shape;587;p45"/>
          <p:cNvSpPr/>
          <p:nvPr/>
        </p:nvSpPr>
        <p:spPr>
          <a:xfrm>
            <a:off x="7131525" y="1487600"/>
            <a:ext cx="601200" cy="601200"/>
          </a:xfrm>
          <a:prstGeom prst="ellipse">
            <a:avLst/>
          </a:prstGeom>
          <a:solidFill>
            <a:schemeClr val="accent5"/>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C</a:t>
            </a:r>
            <a:endParaRPr sz="2500">
              <a:latin typeface="Oxygen"/>
              <a:ea typeface="Oxygen"/>
              <a:cs typeface="Oxygen"/>
              <a:sym typeface="Oxygen"/>
            </a:endParaRPr>
          </a:p>
        </p:txBody>
      </p:sp>
      <p:sp>
        <p:nvSpPr>
          <p:cNvPr id="588" name="Google Shape;588;p45"/>
          <p:cNvSpPr/>
          <p:nvPr/>
        </p:nvSpPr>
        <p:spPr>
          <a:xfrm>
            <a:off x="7131525" y="3674175"/>
            <a:ext cx="601200" cy="601200"/>
          </a:xfrm>
          <a:prstGeom prst="ellipse">
            <a:avLst/>
          </a:prstGeom>
          <a:solidFill>
            <a:schemeClr val="accent5"/>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D</a:t>
            </a:r>
            <a:endParaRPr sz="2500">
              <a:latin typeface="Oxygen"/>
              <a:ea typeface="Oxygen"/>
              <a:cs typeface="Oxygen"/>
              <a:sym typeface="Oxygen"/>
            </a:endParaRPr>
          </a:p>
        </p:txBody>
      </p:sp>
      <p:sp>
        <p:nvSpPr>
          <p:cNvPr id="589" name="Google Shape;589;p45"/>
          <p:cNvSpPr/>
          <p:nvPr/>
        </p:nvSpPr>
        <p:spPr>
          <a:xfrm>
            <a:off x="8287200" y="2644475"/>
            <a:ext cx="601200" cy="601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500">
                <a:latin typeface="Oxygen"/>
                <a:ea typeface="Oxygen"/>
                <a:cs typeface="Oxygen"/>
                <a:sym typeface="Oxygen"/>
              </a:rPr>
              <a:t>A</a:t>
            </a:r>
            <a:endParaRPr sz="2500">
              <a:latin typeface="Oxygen"/>
              <a:ea typeface="Oxygen"/>
              <a:cs typeface="Oxygen"/>
              <a:sym typeface="Oxygen"/>
            </a:endParaRPr>
          </a:p>
        </p:txBody>
      </p:sp>
      <p:cxnSp>
        <p:nvCxnSpPr>
          <p:cNvPr id="590" name="Google Shape;590;p45"/>
          <p:cNvCxnSpPr>
            <a:stCxn id="585" idx="7"/>
            <a:endCxn id="587" idx="3"/>
          </p:cNvCxnSpPr>
          <p:nvPr/>
        </p:nvCxnSpPr>
        <p:spPr>
          <a:xfrm flipH="1" rot="10800000">
            <a:off x="6489006" y="2000869"/>
            <a:ext cx="730500" cy="688800"/>
          </a:xfrm>
          <a:prstGeom prst="straightConnector1">
            <a:avLst/>
          </a:prstGeom>
          <a:noFill/>
          <a:ln cap="flat" cmpd="sng" w="38100">
            <a:solidFill>
              <a:srgbClr val="FF0000"/>
            </a:solidFill>
            <a:prstDash val="solid"/>
            <a:round/>
            <a:headEnd len="med" w="med" type="stealth"/>
            <a:tailEnd len="med" w="med" type="none"/>
          </a:ln>
        </p:spPr>
      </p:cxnSp>
      <p:cxnSp>
        <p:nvCxnSpPr>
          <p:cNvPr id="591" name="Google Shape;591;p45"/>
          <p:cNvCxnSpPr>
            <a:stCxn id="589" idx="1"/>
            <a:endCxn id="587" idx="5"/>
          </p:cNvCxnSpPr>
          <p:nvPr/>
        </p:nvCxnSpPr>
        <p:spPr>
          <a:xfrm rot="10800000">
            <a:off x="7644744" y="2000819"/>
            <a:ext cx="730500" cy="731700"/>
          </a:xfrm>
          <a:prstGeom prst="straightConnector1">
            <a:avLst/>
          </a:prstGeom>
          <a:noFill/>
          <a:ln cap="flat" cmpd="sng" w="28575">
            <a:solidFill>
              <a:schemeClr val="dk2"/>
            </a:solidFill>
            <a:prstDash val="solid"/>
            <a:round/>
            <a:headEnd len="med" w="med" type="none"/>
            <a:tailEnd len="med" w="med" type="stealth"/>
          </a:ln>
        </p:spPr>
      </p:cxnSp>
      <p:cxnSp>
        <p:nvCxnSpPr>
          <p:cNvPr id="592" name="Google Shape;592;p45"/>
          <p:cNvCxnSpPr>
            <a:stCxn id="589" idx="3"/>
            <a:endCxn id="588" idx="7"/>
          </p:cNvCxnSpPr>
          <p:nvPr/>
        </p:nvCxnSpPr>
        <p:spPr>
          <a:xfrm flipH="1">
            <a:off x="7644744" y="3157631"/>
            <a:ext cx="730500" cy="604500"/>
          </a:xfrm>
          <a:prstGeom prst="straightConnector1">
            <a:avLst/>
          </a:prstGeom>
          <a:noFill/>
          <a:ln cap="flat" cmpd="sng" w="28575">
            <a:solidFill>
              <a:schemeClr val="dk2"/>
            </a:solidFill>
            <a:prstDash val="solid"/>
            <a:round/>
            <a:headEnd len="med" w="med" type="none"/>
            <a:tailEnd len="med" w="med" type="stealth"/>
          </a:ln>
        </p:spPr>
      </p:cxnSp>
      <p:cxnSp>
        <p:nvCxnSpPr>
          <p:cNvPr id="593" name="Google Shape;593;p45"/>
          <p:cNvCxnSpPr>
            <a:stCxn id="588" idx="1"/>
            <a:endCxn id="587" idx="3"/>
          </p:cNvCxnSpPr>
          <p:nvPr/>
        </p:nvCxnSpPr>
        <p:spPr>
          <a:xfrm rot="10800000">
            <a:off x="7219569" y="2000619"/>
            <a:ext cx="0" cy="1761600"/>
          </a:xfrm>
          <a:prstGeom prst="straightConnector1">
            <a:avLst/>
          </a:prstGeom>
          <a:noFill/>
          <a:ln cap="flat" cmpd="sng" w="28575">
            <a:solidFill>
              <a:schemeClr val="dk2"/>
            </a:solidFill>
            <a:prstDash val="solid"/>
            <a:round/>
            <a:headEnd len="med" w="med" type="stealth"/>
            <a:tailEnd len="med" w="med" type="none"/>
          </a:ln>
        </p:spPr>
      </p:cxnSp>
      <p:cxnSp>
        <p:nvCxnSpPr>
          <p:cNvPr id="594" name="Google Shape;594;p45"/>
          <p:cNvCxnSpPr>
            <a:stCxn id="588" idx="7"/>
            <a:endCxn id="587" idx="5"/>
          </p:cNvCxnSpPr>
          <p:nvPr/>
        </p:nvCxnSpPr>
        <p:spPr>
          <a:xfrm rot="10800000">
            <a:off x="7644681" y="2000619"/>
            <a:ext cx="0" cy="1761600"/>
          </a:xfrm>
          <a:prstGeom prst="straightConnector1">
            <a:avLst/>
          </a:prstGeom>
          <a:noFill/>
          <a:ln cap="flat" cmpd="sng" w="28575">
            <a:solidFill>
              <a:schemeClr val="dk2"/>
            </a:solidFill>
            <a:prstDash val="solid"/>
            <a:round/>
            <a:headEnd len="med" w="med" type="none"/>
            <a:tailEnd len="med" w="med" type="stealth"/>
          </a:ln>
        </p:spPr>
      </p:cxnSp>
      <p:cxnSp>
        <p:nvCxnSpPr>
          <p:cNvPr id="595" name="Google Shape;595;p45"/>
          <p:cNvCxnSpPr>
            <a:stCxn id="585" idx="1"/>
            <a:endCxn id="584" idx="7"/>
          </p:cNvCxnSpPr>
          <p:nvPr/>
        </p:nvCxnSpPr>
        <p:spPr>
          <a:xfrm rot="10800000">
            <a:off x="5148294" y="2689669"/>
            <a:ext cx="915600" cy="0"/>
          </a:xfrm>
          <a:prstGeom prst="straightConnector1">
            <a:avLst/>
          </a:prstGeom>
          <a:noFill/>
          <a:ln cap="flat" cmpd="sng" w="38100">
            <a:solidFill>
              <a:srgbClr val="FF0000"/>
            </a:solidFill>
            <a:prstDash val="solid"/>
            <a:round/>
            <a:headEnd len="med" w="med" type="stealth"/>
            <a:tailEnd len="med" w="med" type="none"/>
          </a:ln>
        </p:spPr>
      </p:cxnSp>
      <p:cxnSp>
        <p:nvCxnSpPr>
          <p:cNvPr id="596" name="Google Shape;596;p45"/>
          <p:cNvCxnSpPr/>
          <p:nvPr/>
        </p:nvCxnSpPr>
        <p:spPr>
          <a:xfrm rot="10800000">
            <a:off x="6276525" y="3202875"/>
            <a:ext cx="855000" cy="771900"/>
          </a:xfrm>
          <a:prstGeom prst="straightConnector1">
            <a:avLst/>
          </a:prstGeom>
          <a:noFill/>
          <a:ln cap="flat" cmpd="sng" w="28575">
            <a:solidFill>
              <a:schemeClr val="dk2"/>
            </a:solidFill>
            <a:prstDash val="solid"/>
            <a:round/>
            <a:headEnd len="med" w="med" type="stealth"/>
            <a:tailEnd len="med" w="med" type="none"/>
          </a:ln>
        </p:spPr>
      </p:cxnSp>
      <p:cxnSp>
        <p:nvCxnSpPr>
          <p:cNvPr id="597" name="Google Shape;597;p45"/>
          <p:cNvCxnSpPr/>
          <p:nvPr/>
        </p:nvCxnSpPr>
        <p:spPr>
          <a:xfrm rot="10800000">
            <a:off x="6577125" y="2902275"/>
            <a:ext cx="855000" cy="771900"/>
          </a:xfrm>
          <a:prstGeom prst="straightConnector1">
            <a:avLst/>
          </a:prstGeom>
          <a:noFill/>
          <a:ln cap="flat" cmpd="sng" w="38100">
            <a:solidFill>
              <a:srgbClr val="FF0000"/>
            </a:solidFill>
            <a:prstDash val="solid"/>
            <a:round/>
            <a:headEnd len="med" w="med" type="none"/>
            <a:tailEnd len="med" w="med" type="stealth"/>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sp>
        <p:nvSpPr>
          <p:cNvPr id="603" name="Google Shape;603;p46"/>
          <p:cNvSpPr txBox="1"/>
          <p:nvPr>
            <p:ph idx="1" type="body"/>
          </p:nvPr>
        </p:nvSpPr>
        <p:spPr>
          <a:xfrm>
            <a:off x="311700" y="1225225"/>
            <a:ext cx="556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604" name="Google Shape;604;p46"/>
          <p:cNvGraphicFramePr/>
          <p:nvPr/>
        </p:nvGraphicFramePr>
        <p:xfrm>
          <a:off x="5875000" y="1713067"/>
          <a:ext cx="3000000" cy="3000000"/>
        </p:xfrm>
        <a:graphic>
          <a:graphicData uri="http://schemas.openxmlformats.org/drawingml/2006/table">
            <a:tbl>
              <a:tblPr>
                <a:noFill/>
                <a:tableStyleId>{8FA34EA7-D14D-4E9C-8ABE-802B72326A17}</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pic>
        <p:nvPicPr>
          <p:cNvPr id="605" name="Google Shape;605;p46"/>
          <p:cNvPicPr preferRelativeResize="0"/>
          <p:nvPr/>
        </p:nvPicPr>
        <p:blipFill rotWithShape="1">
          <a:blip r:embed="rId3">
            <a:alphaModFix/>
          </a:blip>
          <a:srcRect b="54218" l="50926" r="2550" t="22708"/>
          <a:stretch/>
        </p:blipFill>
        <p:spPr>
          <a:xfrm>
            <a:off x="5584662" y="36473"/>
            <a:ext cx="3490675" cy="1321700"/>
          </a:xfrm>
          <a:prstGeom prst="rect">
            <a:avLst/>
          </a:prstGeom>
          <a:noFill/>
          <a:ln>
            <a:noFill/>
          </a:ln>
        </p:spPr>
      </p:pic>
      <p:sp>
        <p:nvSpPr>
          <p:cNvPr id="606" name="Google Shape;606;p46"/>
          <p:cNvSpPr txBox="1"/>
          <p:nvPr/>
        </p:nvSpPr>
        <p:spPr>
          <a:xfrm>
            <a:off x="6102663" y="13581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sp>
        <p:nvSpPr>
          <p:cNvPr id="607" name="Google Shape;607;p46"/>
          <p:cNvSpPr/>
          <p:nvPr/>
        </p:nvSpPr>
        <p:spPr>
          <a:xfrm>
            <a:off x="6887500" y="881775"/>
            <a:ext cx="544200" cy="4140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8" name="Google Shape;608;p46"/>
          <p:cNvPicPr preferRelativeResize="0"/>
          <p:nvPr/>
        </p:nvPicPr>
        <p:blipFill>
          <a:blip r:embed="rId4">
            <a:alphaModFix/>
          </a:blip>
          <a:stretch>
            <a:fillRect/>
          </a:stretch>
        </p:blipFill>
        <p:spPr>
          <a:xfrm>
            <a:off x="3593050" y="4351625"/>
            <a:ext cx="1957900" cy="666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sp>
        <p:nvSpPr>
          <p:cNvPr id="614" name="Google Shape;614;p47"/>
          <p:cNvSpPr txBox="1"/>
          <p:nvPr>
            <p:ph idx="1" type="body"/>
          </p:nvPr>
        </p:nvSpPr>
        <p:spPr>
          <a:xfrm>
            <a:off x="311700" y="1225225"/>
            <a:ext cx="556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342900" lvl="0" marL="457200" rtl="0" algn="l">
              <a:spcBef>
                <a:spcPts val="0"/>
              </a:spcBef>
              <a:spcAft>
                <a:spcPts val="0"/>
              </a:spcAft>
              <a:buSzPts val="1800"/>
              <a:buChar char="●"/>
            </a:pPr>
            <a:r>
              <a:rPr b="1" lang="en"/>
              <a:t>Outdegree</a:t>
            </a:r>
            <a:r>
              <a:rPr lang="en"/>
              <a:t> calculated by summing the </a:t>
            </a:r>
            <a:r>
              <a:rPr b="1" lang="en"/>
              <a:t>rows</a:t>
            </a:r>
            <a:r>
              <a:rPr lang="en"/>
              <a:t> of the </a:t>
            </a:r>
            <a:r>
              <a:rPr b="1" lang="en"/>
              <a:t>asymmetric</a:t>
            </a:r>
            <a:r>
              <a:rPr lang="en"/>
              <a:t> </a:t>
            </a:r>
            <a:r>
              <a:rPr b="1" lang="en"/>
              <a:t>adjacency matrix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15" name="Google Shape;615;p47"/>
          <p:cNvPicPr preferRelativeResize="0"/>
          <p:nvPr/>
        </p:nvPicPr>
        <p:blipFill>
          <a:blip r:embed="rId3">
            <a:alphaModFix/>
          </a:blip>
          <a:stretch>
            <a:fillRect/>
          </a:stretch>
        </p:blipFill>
        <p:spPr>
          <a:xfrm>
            <a:off x="3593050" y="4351625"/>
            <a:ext cx="1957900" cy="666350"/>
          </a:xfrm>
          <a:prstGeom prst="rect">
            <a:avLst/>
          </a:prstGeom>
          <a:noFill/>
          <a:ln>
            <a:noFill/>
          </a:ln>
        </p:spPr>
      </p:pic>
      <p:graphicFrame>
        <p:nvGraphicFramePr>
          <p:cNvPr id="616" name="Google Shape;616;p47"/>
          <p:cNvGraphicFramePr/>
          <p:nvPr/>
        </p:nvGraphicFramePr>
        <p:xfrm>
          <a:off x="5875000" y="1713067"/>
          <a:ext cx="3000000" cy="3000000"/>
        </p:xfrm>
        <a:graphic>
          <a:graphicData uri="http://schemas.openxmlformats.org/drawingml/2006/table">
            <a:tbl>
              <a:tblPr>
                <a:noFill/>
                <a:tableStyleId>{8FA34EA7-D14D-4E9C-8ABE-802B72326A17}</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617" name="Google Shape;617;p47"/>
          <p:cNvGraphicFramePr/>
          <p:nvPr/>
        </p:nvGraphicFramePr>
        <p:xfrm>
          <a:off x="8373113" y="2105463"/>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r h="307125">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pic>
        <p:nvPicPr>
          <p:cNvPr id="618" name="Google Shape;618;p47"/>
          <p:cNvPicPr preferRelativeResize="0"/>
          <p:nvPr/>
        </p:nvPicPr>
        <p:blipFill rotWithShape="1">
          <a:blip r:embed="rId4">
            <a:alphaModFix/>
          </a:blip>
          <a:srcRect b="54218" l="50926" r="2550" t="22708"/>
          <a:stretch/>
        </p:blipFill>
        <p:spPr>
          <a:xfrm>
            <a:off x="5584662" y="36473"/>
            <a:ext cx="3490675" cy="1321700"/>
          </a:xfrm>
          <a:prstGeom prst="rect">
            <a:avLst/>
          </a:prstGeom>
          <a:noFill/>
          <a:ln>
            <a:noFill/>
          </a:ln>
        </p:spPr>
      </p:pic>
      <p:sp>
        <p:nvSpPr>
          <p:cNvPr id="619" name="Google Shape;619;p47"/>
          <p:cNvSpPr txBox="1"/>
          <p:nvPr/>
        </p:nvSpPr>
        <p:spPr>
          <a:xfrm>
            <a:off x="6102663" y="13581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pic>
        <p:nvPicPr>
          <p:cNvPr descr="\textrm{Outdegree} = \sum_j^N A_{ij}}" id="620" name="Google Shape;620;p47"/>
          <p:cNvPicPr preferRelativeResize="0"/>
          <p:nvPr/>
        </p:nvPicPr>
        <p:blipFill>
          <a:blip r:embed="rId5">
            <a:alphaModFix/>
          </a:blip>
          <a:stretch>
            <a:fillRect/>
          </a:stretch>
        </p:blipFill>
        <p:spPr>
          <a:xfrm>
            <a:off x="4046200" y="2105475"/>
            <a:ext cx="1828800" cy="71721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sp>
        <p:nvSpPr>
          <p:cNvPr id="626" name="Google Shape;626;p48"/>
          <p:cNvSpPr txBox="1"/>
          <p:nvPr>
            <p:ph idx="1" type="body"/>
          </p:nvPr>
        </p:nvSpPr>
        <p:spPr>
          <a:xfrm>
            <a:off x="311700" y="1225225"/>
            <a:ext cx="556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342900" lvl="0" marL="457200" rtl="0" algn="l">
              <a:spcBef>
                <a:spcPts val="0"/>
              </a:spcBef>
              <a:spcAft>
                <a:spcPts val="0"/>
              </a:spcAft>
              <a:buSzPts val="1800"/>
              <a:buChar char="●"/>
            </a:pPr>
            <a:r>
              <a:rPr b="1" lang="en"/>
              <a:t>Outdegree</a:t>
            </a:r>
            <a:r>
              <a:rPr lang="en"/>
              <a:t> calculated by summing the </a:t>
            </a:r>
            <a:r>
              <a:rPr b="1" lang="en"/>
              <a:t>rows</a:t>
            </a:r>
            <a:r>
              <a:rPr lang="en"/>
              <a:t> of the </a:t>
            </a:r>
            <a:r>
              <a:rPr b="1" lang="en"/>
              <a:t>asymmetric</a:t>
            </a:r>
            <a:r>
              <a:rPr lang="en"/>
              <a:t> </a:t>
            </a:r>
            <a:r>
              <a:rPr b="1" lang="en"/>
              <a:t>adjacency matrix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27" name="Google Shape;627;p48"/>
          <p:cNvPicPr preferRelativeResize="0"/>
          <p:nvPr/>
        </p:nvPicPr>
        <p:blipFill>
          <a:blip r:embed="rId3">
            <a:alphaModFix/>
          </a:blip>
          <a:stretch>
            <a:fillRect/>
          </a:stretch>
        </p:blipFill>
        <p:spPr>
          <a:xfrm>
            <a:off x="3593050" y="4351625"/>
            <a:ext cx="1957900" cy="666350"/>
          </a:xfrm>
          <a:prstGeom prst="rect">
            <a:avLst/>
          </a:prstGeom>
          <a:noFill/>
          <a:ln>
            <a:noFill/>
          </a:ln>
        </p:spPr>
      </p:pic>
      <p:graphicFrame>
        <p:nvGraphicFramePr>
          <p:cNvPr id="628" name="Google Shape;628;p48"/>
          <p:cNvGraphicFramePr/>
          <p:nvPr/>
        </p:nvGraphicFramePr>
        <p:xfrm>
          <a:off x="5875000" y="1713067"/>
          <a:ext cx="3000000" cy="3000000"/>
        </p:xfrm>
        <a:graphic>
          <a:graphicData uri="http://schemas.openxmlformats.org/drawingml/2006/table">
            <a:tbl>
              <a:tblPr>
                <a:noFill/>
                <a:tableStyleId>{8FA34EA7-D14D-4E9C-8ABE-802B72326A17}</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pic>
        <p:nvPicPr>
          <p:cNvPr descr="\textrm{Outdegree} = \sum_j^N A_{ij}}" id="629" name="Google Shape;629;p48"/>
          <p:cNvPicPr preferRelativeResize="0"/>
          <p:nvPr/>
        </p:nvPicPr>
        <p:blipFill>
          <a:blip r:embed="rId4">
            <a:alphaModFix/>
          </a:blip>
          <a:stretch>
            <a:fillRect/>
          </a:stretch>
        </p:blipFill>
        <p:spPr>
          <a:xfrm>
            <a:off x="4046200" y="2105475"/>
            <a:ext cx="1828800" cy="717217"/>
          </a:xfrm>
          <a:prstGeom prst="rect">
            <a:avLst/>
          </a:prstGeom>
          <a:noFill/>
          <a:ln>
            <a:noFill/>
          </a:ln>
        </p:spPr>
      </p:pic>
      <p:graphicFrame>
        <p:nvGraphicFramePr>
          <p:cNvPr id="630" name="Google Shape;630;p48"/>
          <p:cNvGraphicFramePr/>
          <p:nvPr/>
        </p:nvGraphicFramePr>
        <p:xfrm>
          <a:off x="8373113" y="2105463"/>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lang="en"/>
                        <a:t>3</a:t>
                      </a:r>
                      <a:endParaRPr/>
                    </a:p>
                  </a:txBody>
                  <a:tcPr marT="91425" marB="91425" marR="91425" marL="91425" anchor="ctr"/>
                </a:tc>
              </a:tr>
              <a:tr h="307125">
                <a:tc>
                  <a:txBody>
                    <a:bodyPr/>
                    <a:lstStyle/>
                    <a:p>
                      <a:pPr indent="0" lvl="0" marL="0" rtl="0" algn="ctr">
                        <a:spcBef>
                          <a:spcPts val="0"/>
                        </a:spcBef>
                        <a:spcAft>
                          <a:spcPts val="0"/>
                        </a:spcAft>
                        <a:buNone/>
                      </a:pPr>
                      <a:r>
                        <a:rPr lang="en"/>
                        <a:t>0</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pic>
        <p:nvPicPr>
          <p:cNvPr id="631" name="Google Shape;631;p48"/>
          <p:cNvPicPr preferRelativeResize="0"/>
          <p:nvPr/>
        </p:nvPicPr>
        <p:blipFill rotWithShape="1">
          <a:blip r:embed="rId5">
            <a:alphaModFix/>
          </a:blip>
          <a:srcRect b="54218" l="50926" r="2550" t="22708"/>
          <a:stretch/>
        </p:blipFill>
        <p:spPr>
          <a:xfrm>
            <a:off x="5584662" y="36473"/>
            <a:ext cx="3490675" cy="1321700"/>
          </a:xfrm>
          <a:prstGeom prst="rect">
            <a:avLst/>
          </a:prstGeom>
          <a:noFill/>
          <a:ln>
            <a:noFill/>
          </a:ln>
        </p:spPr>
      </p:pic>
      <p:sp>
        <p:nvSpPr>
          <p:cNvPr id="632" name="Google Shape;632;p48"/>
          <p:cNvSpPr txBox="1"/>
          <p:nvPr/>
        </p:nvSpPr>
        <p:spPr>
          <a:xfrm>
            <a:off x="6102663" y="13581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sp>
        <p:nvSpPr>
          <p:cNvPr id="638" name="Google Shape;638;p49"/>
          <p:cNvSpPr txBox="1"/>
          <p:nvPr>
            <p:ph idx="1" type="body"/>
          </p:nvPr>
        </p:nvSpPr>
        <p:spPr>
          <a:xfrm>
            <a:off x="311700" y="1225225"/>
            <a:ext cx="556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342900" lvl="0" marL="457200" rtl="0" algn="l">
              <a:spcBef>
                <a:spcPts val="0"/>
              </a:spcBef>
              <a:spcAft>
                <a:spcPts val="0"/>
              </a:spcAft>
              <a:buSzPts val="1800"/>
              <a:buChar char="●"/>
            </a:pPr>
            <a:r>
              <a:rPr b="1" lang="en"/>
              <a:t>Outdegree</a:t>
            </a:r>
            <a:r>
              <a:rPr lang="en"/>
              <a:t> calculated by summing the </a:t>
            </a:r>
            <a:r>
              <a:rPr b="1" lang="en"/>
              <a:t>rows</a:t>
            </a:r>
            <a:r>
              <a:rPr lang="en"/>
              <a:t> of the </a:t>
            </a:r>
            <a:r>
              <a:rPr b="1" lang="en"/>
              <a:t>asymmetric</a:t>
            </a:r>
            <a:r>
              <a:rPr lang="en"/>
              <a:t> </a:t>
            </a:r>
            <a:r>
              <a:rPr b="1" lang="en"/>
              <a:t>adjacency matrix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39" name="Google Shape;639;p49"/>
          <p:cNvPicPr preferRelativeResize="0"/>
          <p:nvPr/>
        </p:nvPicPr>
        <p:blipFill>
          <a:blip r:embed="rId3">
            <a:alphaModFix/>
          </a:blip>
          <a:stretch>
            <a:fillRect/>
          </a:stretch>
        </p:blipFill>
        <p:spPr>
          <a:xfrm>
            <a:off x="3593050" y="4351625"/>
            <a:ext cx="1957900" cy="666350"/>
          </a:xfrm>
          <a:prstGeom prst="rect">
            <a:avLst/>
          </a:prstGeom>
          <a:noFill/>
          <a:ln>
            <a:noFill/>
          </a:ln>
        </p:spPr>
      </p:pic>
      <p:graphicFrame>
        <p:nvGraphicFramePr>
          <p:cNvPr id="640" name="Google Shape;640;p49"/>
          <p:cNvGraphicFramePr/>
          <p:nvPr/>
        </p:nvGraphicFramePr>
        <p:xfrm>
          <a:off x="5875000" y="1713067"/>
          <a:ext cx="3000000" cy="3000000"/>
        </p:xfrm>
        <a:graphic>
          <a:graphicData uri="http://schemas.openxmlformats.org/drawingml/2006/table">
            <a:tbl>
              <a:tblPr>
                <a:noFill/>
                <a:tableStyleId>{8FA34EA7-D14D-4E9C-8ABE-802B72326A17}</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pic>
        <p:nvPicPr>
          <p:cNvPr descr="\textrm{Outdegree} = \sum_j^N A_{ij}}" id="641" name="Google Shape;641;p49"/>
          <p:cNvPicPr preferRelativeResize="0"/>
          <p:nvPr/>
        </p:nvPicPr>
        <p:blipFill>
          <a:blip r:embed="rId4">
            <a:alphaModFix/>
          </a:blip>
          <a:stretch>
            <a:fillRect/>
          </a:stretch>
        </p:blipFill>
        <p:spPr>
          <a:xfrm>
            <a:off x="4046200" y="2105475"/>
            <a:ext cx="1828800" cy="717217"/>
          </a:xfrm>
          <a:prstGeom prst="rect">
            <a:avLst/>
          </a:prstGeom>
          <a:noFill/>
          <a:ln>
            <a:noFill/>
          </a:ln>
        </p:spPr>
      </p:pic>
      <p:sp>
        <p:nvSpPr>
          <p:cNvPr id="642" name="Google Shape;642;p49"/>
          <p:cNvSpPr/>
          <p:nvPr/>
        </p:nvSpPr>
        <p:spPr>
          <a:xfrm>
            <a:off x="6273438" y="2855888"/>
            <a:ext cx="2037600" cy="4764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43" name="Google Shape;643;p49"/>
          <p:cNvGraphicFramePr/>
          <p:nvPr/>
        </p:nvGraphicFramePr>
        <p:xfrm>
          <a:off x="8373113" y="2105463"/>
          <a:ext cx="3000000" cy="3000000"/>
        </p:xfrm>
        <a:graphic>
          <a:graphicData uri="http://schemas.openxmlformats.org/drawingml/2006/table">
            <a:tbl>
              <a:tblPr>
                <a:noFill/>
                <a:tableStyleId>{8FA34EA7-D14D-4E9C-8ABE-802B72326A17}</a:tableStyleId>
              </a:tblPr>
              <a:tblGrid>
                <a:gridCol w="421425"/>
              </a:tblGrid>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lang="en"/>
                        <a:t>1</a:t>
                      </a:r>
                      <a:endParaRPr/>
                    </a:p>
                  </a:txBody>
                  <a:tcPr marT="91425" marB="91425" marR="91425" marL="91425" anchor="ctr"/>
                </a:tc>
              </a:tr>
              <a:tr h="307125">
                <a:tc>
                  <a:txBody>
                    <a:bodyPr/>
                    <a:lstStyle/>
                    <a:p>
                      <a:pPr indent="0" lvl="0" marL="0" rtl="0" algn="ctr">
                        <a:spcBef>
                          <a:spcPts val="0"/>
                        </a:spcBef>
                        <a:spcAft>
                          <a:spcPts val="0"/>
                        </a:spcAft>
                        <a:buNone/>
                      </a:pPr>
                      <a:r>
                        <a:rPr b="1" lang="en">
                          <a:solidFill>
                            <a:srgbClr val="FF0000"/>
                          </a:solidFill>
                        </a:rPr>
                        <a:t>3</a:t>
                      </a:r>
                      <a:endParaRPr b="1">
                        <a:solidFill>
                          <a:srgbClr val="FF0000"/>
                        </a:solidFill>
                      </a:endParaRPr>
                    </a:p>
                  </a:txBody>
                  <a:tcPr marT="91425" marB="91425" marR="91425" marL="91425" anchor="ctr"/>
                </a:tc>
              </a:tr>
              <a:tr h="307125">
                <a:tc>
                  <a:txBody>
                    <a:bodyPr/>
                    <a:lstStyle/>
                    <a:p>
                      <a:pPr indent="0" lvl="0" marL="0" rtl="0" algn="ctr">
                        <a:spcBef>
                          <a:spcPts val="0"/>
                        </a:spcBef>
                        <a:spcAft>
                          <a:spcPts val="0"/>
                        </a:spcAft>
                        <a:buNone/>
                      </a:pPr>
                      <a:r>
                        <a:rPr lang="en"/>
                        <a:t>0</a:t>
                      </a:r>
                      <a:endParaRPr/>
                    </a:p>
                  </a:txBody>
                  <a:tcPr marT="91425" marB="91425" marR="91425" marL="91425" anchor="ctr"/>
                </a:tc>
              </a:tr>
              <a:tr h="307125">
                <a:tc>
                  <a:txBody>
                    <a:bodyPr/>
                    <a:lstStyle/>
                    <a:p>
                      <a:pPr indent="0" lvl="0" marL="0" rtl="0" algn="ctr">
                        <a:spcBef>
                          <a:spcPts val="0"/>
                        </a:spcBef>
                        <a:spcAft>
                          <a:spcPts val="0"/>
                        </a:spcAft>
                        <a:buNone/>
                      </a:pPr>
                      <a:r>
                        <a:rPr lang="en"/>
                        <a:t>2</a:t>
                      </a:r>
                      <a:endParaRPr/>
                    </a:p>
                  </a:txBody>
                  <a:tcPr marT="91425" marB="91425" marR="91425" marL="91425" anchor="ctr"/>
                </a:tc>
              </a:tr>
            </a:tbl>
          </a:graphicData>
        </a:graphic>
      </p:graphicFrame>
      <p:pic>
        <p:nvPicPr>
          <p:cNvPr id="644" name="Google Shape;644;p49"/>
          <p:cNvPicPr preferRelativeResize="0"/>
          <p:nvPr/>
        </p:nvPicPr>
        <p:blipFill rotWithShape="1">
          <a:blip r:embed="rId5">
            <a:alphaModFix/>
          </a:blip>
          <a:srcRect b="54218" l="50926" r="2550" t="22708"/>
          <a:stretch/>
        </p:blipFill>
        <p:spPr>
          <a:xfrm>
            <a:off x="5584662" y="36473"/>
            <a:ext cx="3490675" cy="1321700"/>
          </a:xfrm>
          <a:prstGeom prst="rect">
            <a:avLst/>
          </a:prstGeom>
          <a:noFill/>
          <a:ln>
            <a:noFill/>
          </a:ln>
        </p:spPr>
      </p:pic>
      <p:sp>
        <p:nvSpPr>
          <p:cNvPr id="645" name="Google Shape;645;p49"/>
          <p:cNvSpPr txBox="1"/>
          <p:nvPr/>
        </p:nvSpPr>
        <p:spPr>
          <a:xfrm>
            <a:off x="6102663" y="13581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sp>
        <p:nvSpPr>
          <p:cNvPr id="646" name="Google Shape;646;p49"/>
          <p:cNvSpPr/>
          <p:nvPr/>
        </p:nvSpPr>
        <p:spPr>
          <a:xfrm>
            <a:off x="6887500" y="881775"/>
            <a:ext cx="544200" cy="4140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652" name="Google Shape;652;p50"/>
          <p:cNvGraphicFramePr/>
          <p:nvPr/>
        </p:nvGraphicFramePr>
        <p:xfrm>
          <a:off x="5875000" y="1713067"/>
          <a:ext cx="3000000" cy="3000000"/>
        </p:xfrm>
        <a:graphic>
          <a:graphicData uri="http://schemas.openxmlformats.org/drawingml/2006/table">
            <a:tbl>
              <a:tblPr>
                <a:noFill/>
                <a:tableStyleId>{8FA34EA7-D14D-4E9C-8ABE-802B72326A17}</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653" name="Google Shape;653;p50"/>
          <p:cNvGraphicFramePr/>
          <p:nvPr/>
        </p:nvGraphicFramePr>
        <p:xfrm>
          <a:off x="6273413" y="4129863"/>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pic>
        <p:nvPicPr>
          <p:cNvPr id="654" name="Google Shape;654;p50"/>
          <p:cNvPicPr preferRelativeResize="0"/>
          <p:nvPr/>
        </p:nvPicPr>
        <p:blipFill rotWithShape="1">
          <a:blip r:embed="rId3">
            <a:alphaModFix/>
          </a:blip>
          <a:srcRect b="54218" l="50926" r="2550" t="22708"/>
          <a:stretch/>
        </p:blipFill>
        <p:spPr>
          <a:xfrm>
            <a:off x="5584662" y="36473"/>
            <a:ext cx="3490675" cy="1321700"/>
          </a:xfrm>
          <a:prstGeom prst="rect">
            <a:avLst/>
          </a:prstGeom>
          <a:noFill/>
          <a:ln>
            <a:noFill/>
          </a:ln>
        </p:spPr>
      </p:pic>
      <p:sp>
        <p:nvSpPr>
          <p:cNvPr id="655" name="Google Shape;655;p50"/>
          <p:cNvSpPr txBox="1"/>
          <p:nvPr/>
        </p:nvSpPr>
        <p:spPr>
          <a:xfrm>
            <a:off x="6102663" y="13581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sp>
        <p:nvSpPr>
          <p:cNvPr id="656" name="Google Shape;656;p50"/>
          <p:cNvSpPr txBox="1"/>
          <p:nvPr>
            <p:ph idx="1" type="body"/>
          </p:nvPr>
        </p:nvSpPr>
        <p:spPr>
          <a:xfrm>
            <a:off x="311700" y="1225225"/>
            <a:ext cx="556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342900" lvl="0" marL="457200" rtl="0" algn="l">
              <a:spcBef>
                <a:spcPts val="0"/>
              </a:spcBef>
              <a:spcAft>
                <a:spcPts val="0"/>
              </a:spcAft>
              <a:buSzPts val="1800"/>
              <a:buChar char="●"/>
            </a:pPr>
            <a:r>
              <a:rPr b="1" lang="en"/>
              <a:t>Indegree</a:t>
            </a:r>
            <a:r>
              <a:rPr lang="en"/>
              <a:t> calculated by summing the </a:t>
            </a:r>
            <a:r>
              <a:rPr b="1" lang="en"/>
              <a:t>columns</a:t>
            </a:r>
            <a:r>
              <a:rPr lang="en"/>
              <a:t> of the </a:t>
            </a:r>
            <a:r>
              <a:rPr b="1" lang="en"/>
              <a:t>asymmetric</a:t>
            </a:r>
            <a:r>
              <a:rPr lang="en"/>
              <a:t> </a:t>
            </a:r>
            <a:r>
              <a:rPr b="1" lang="en"/>
              <a:t>adjacency matrix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57" name="Google Shape;657;p50"/>
          <p:cNvPicPr preferRelativeResize="0"/>
          <p:nvPr/>
        </p:nvPicPr>
        <p:blipFill>
          <a:blip r:embed="rId4">
            <a:alphaModFix/>
          </a:blip>
          <a:stretch>
            <a:fillRect/>
          </a:stretch>
        </p:blipFill>
        <p:spPr>
          <a:xfrm>
            <a:off x="3593050" y="4351625"/>
            <a:ext cx="1957900" cy="666350"/>
          </a:xfrm>
          <a:prstGeom prst="rect">
            <a:avLst/>
          </a:prstGeom>
          <a:noFill/>
          <a:ln>
            <a:noFill/>
          </a:ln>
        </p:spPr>
      </p:pic>
      <p:pic>
        <p:nvPicPr>
          <p:cNvPr descr="\textnormal{Indegree} = \sum_i^N A_{ij}" id="658" name="Google Shape;658;p50"/>
          <p:cNvPicPr preferRelativeResize="0"/>
          <p:nvPr/>
        </p:nvPicPr>
        <p:blipFill>
          <a:blip r:embed="rId5">
            <a:alphaModFix/>
          </a:blip>
          <a:stretch>
            <a:fillRect/>
          </a:stretch>
        </p:blipFill>
        <p:spPr>
          <a:xfrm>
            <a:off x="4046200" y="2105475"/>
            <a:ext cx="1828801" cy="74722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664" name="Google Shape;664;p51"/>
          <p:cNvGraphicFramePr/>
          <p:nvPr/>
        </p:nvGraphicFramePr>
        <p:xfrm>
          <a:off x="5875000" y="1713067"/>
          <a:ext cx="3000000" cy="3000000"/>
        </p:xfrm>
        <a:graphic>
          <a:graphicData uri="http://schemas.openxmlformats.org/drawingml/2006/table">
            <a:tbl>
              <a:tblPr>
                <a:noFill/>
                <a:tableStyleId>{8FA34EA7-D14D-4E9C-8ABE-802B72326A17}</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aphicFrame>
        <p:nvGraphicFramePr>
          <p:cNvPr id="665" name="Google Shape;665;p51"/>
          <p:cNvGraphicFramePr/>
          <p:nvPr/>
        </p:nvGraphicFramePr>
        <p:xfrm>
          <a:off x="6273413" y="4129863"/>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bl>
          </a:graphicData>
        </a:graphic>
      </p:graphicFrame>
      <p:pic>
        <p:nvPicPr>
          <p:cNvPr id="666" name="Google Shape;666;p51"/>
          <p:cNvPicPr preferRelativeResize="0"/>
          <p:nvPr/>
        </p:nvPicPr>
        <p:blipFill rotWithShape="1">
          <a:blip r:embed="rId3">
            <a:alphaModFix/>
          </a:blip>
          <a:srcRect b="54218" l="50926" r="2550" t="22708"/>
          <a:stretch/>
        </p:blipFill>
        <p:spPr>
          <a:xfrm>
            <a:off x="5584662" y="36473"/>
            <a:ext cx="3490675" cy="1321700"/>
          </a:xfrm>
          <a:prstGeom prst="rect">
            <a:avLst/>
          </a:prstGeom>
          <a:noFill/>
          <a:ln>
            <a:noFill/>
          </a:ln>
        </p:spPr>
      </p:pic>
      <p:sp>
        <p:nvSpPr>
          <p:cNvPr id="667" name="Google Shape;667;p51"/>
          <p:cNvSpPr txBox="1"/>
          <p:nvPr/>
        </p:nvSpPr>
        <p:spPr>
          <a:xfrm>
            <a:off x="6102663" y="13581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sp>
        <p:nvSpPr>
          <p:cNvPr id="668" name="Google Shape;668;p51"/>
          <p:cNvSpPr txBox="1"/>
          <p:nvPr>
            <p:ph idx="1" type="body"/>
          </p:nvPr>
        </p:nvSpPr>
        <p:spPr>
          <a:xfrm>
            <a:off x="311700" y="1225225"/>
            <a:ext cx="556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342900" lvl="0" marL="457200" rtl="0" algn="l">
              <a:spcBef>
                <a:spcPts val="0"/>
              </a:spcBef>
              <a:spcAft>
                <a:spcPts val="0"/>
              </a:spcAft>
              <a:buSzPts val="1800"/>
              <a:buChar char="●"/>
            </a:pPr>
            <a:r>
              <a:rPr b="1" lang="en"/>
              <a:t>Indegree</a:t>
            </a:r>
            <a:r>
              <a:rPr lang="en"/>
              <a:t> calculated by summing the </a:t>
            </a:r>
            <a:r>
              <a:rPr b="1" lang="en"/>
              <a:t>columns</a:t>
            </a:r>
            <a:r>
              <a:rPr lang="en"/>
              <a:t> of the </a:t>
            </a:r>
            <a:r>
              <a:rPr b="1" lang="en"/>
              <a:t>asymmetric</a:t>
            </a:r>
            <a:r>
              <a:rPr lang="en"/>
              <a:t> </a:t>
            </a:r>
            <a:r>
              <a:rPr b="1" lang="en"/>
              <a:t>adjacency matrix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69" name="Google Shape;669;p51"/>
          <p:cNvPicPr preferRelativeResize="0"/>
          <p:nvPr/>
        </p:nvPicPr>
        <p:blipFill>
          <a:blip r:embed="rId4">
            <a:alphaModFix/>
          </a:blip>
          <a:stretch>
            <a:fillRect/>
          </a:stretch>
        </p:blipFill>
        <p:spPr>
          <a:xfrm>
            <a:off x="3593050" y="4351625"/>
            <a:ext cx="1957900" cy="666350"/>
          </a:xfrm>
          <a:prstGeom prst="rect">
            <a:avLst/>
          </a:prstGeom>
          <a:noFill/>
          <a:ln>
            <a:noFill/>
          </a:ln>
        </p:spPr>
      </p:pic>
      <p:pic>
        <p:nvPicPr>
          <p:cNvPr descr="\textnormal{Indegree} = \sum_i^N A_{ij}" id="670" name="Google Shape;670;p51"/>
          <p:cNvPicPr preferRelativeResize="0"/>
          <p:nvPr/>
        </p:nvPicPr>
        <p:blipFill>
          <a:blip r:embed="rId5">
            <a:alphaModFix/>
          </a:blip>
          <a:stretch>
            <a:fillRect/>
          </a:stretch>
        </p:blipFill>
        <p:spPr>
          <a:xfrm>
            <a:off x="4046200" y="2105475"/>
            <a:ext cx="1828801" cy="74722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a:t>
            </a:r>
            <a:endParaRPr/>
          </a:p>
        </p:txBody>
      </p:sp>
      <p:graphicFrame>
        <p:nvGraphicFramePr>
          <p:cNvPr id="676" name="Google Shape;676;p52"/>
          <p:cNvGraphicFramePr/>
          <p:nvPr/>
        </p:nvGraphicFramePr>
        <p:xfrm>
          <a:off x="5875000" y="1713067"/>
          <a:ext cx="3000000" cy="3000000"/>
        </p:xfrm>
        <a:graphic>
          <a:graphicData uri="http://schemas.openxmlformats.org/drawingml/2006/table">
            <a:tbl>
              <a:tblPr>
                <a:noFill/>
                <a:tableStyleId>{8FA34EA7-D14D-4E9C-8ABE-802B72326A17}</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sp>
        <p:nvSpPr>
          <p:cNvPr id="677" name="Google Shape;677;p52"/>
          <p:cNvSpPr/>
          <p:nvPr/>
        </p:nvSpPr>
        <p:spPr>
          <a:xfrm>
            <a:off x="6605011" y="2043078"/>
            <a:ext cx="560400" cy="20244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78" name="Google Shape;678;p52"/>
          <p:cNvGraphicFramePr/>
          <p:nvPr/>
        </p:nvGraphicFramePr>
        <p:xfrm>
          <a:off x="6273413" y="4129863"/>
          <a:ext cx="3000000" cy="3000000"/>
        </p:xfrm>
        <a:graphic>
          <a:graphicData uri="http://schemas.openxmlformats.org/drawingml/2006/table">
            <a:tbl>
              <a:tblPr>
                <a:noFill/>
                <a:tableStyleId>{8FA34EA7-D14D-4E9C-8ABE-802B72326A17}</a:tableStyleId>
              </a:tblPr>
              <a:tblGrid>
                <a:gridCol w="407525"/>
                <a:gridCol w="407525"/>
                <a:gridCol w="407525"/>
                <a:gridCol w="407525"/>
                <a:gridCol w="407525"/>
              </a:tblGrid>
              <a:tr h="396200">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bl>
          </a:graphicData>
        </a:graphic>
      </p:graphicFrame>
      <p:pic>
        <p:nvPicPr>
          <p:cNvPr id="679" name="Google Shape;679;p52"/>
          <p:cNvPicPr preferRelativeResize="0"/>
          <p:nvPr/>
        </p:nvPicPr>
        <p:blipFill rotWithShape="1">
          <a:blip r:embed="rId3">
            <a:alphaModFix/>
          </a:blip>
          <a:srcRect b="54218" l="50926" r="2550" t="22708"/>
          <a:stretch/>
        </p:blipFill>
        <p:spPr>
          <a:xfrm>
            <a:off x="5584662" y="36473"/>
            <a:ext cx="3490675" cy="1321700"/>
          </a:xfrm>
          <a:prstGeom prst="rect">
            <a:avLst/>
          </a:prstGeom>
          <a:noFill/>
          <a:ln>
            <a:noFill/>
          </a:ln>
        </p:spPr>
      </p:pic>
      <p:sp>
        <p:nvSpPr>
          <p:cNvPr id="680" name="Google Shape;680;p52"/>
          <p:cNvSpPr txBox="1"/>
          <p:nvPr/>
        </p:nvSpPr>
        <p:spPr>
          <a:xfrm>
            <a:off x="6102663" y="13581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sp>
        <p:nvSpPr>
          <p:cNvPr id="681" name="Google Shape;681;p52"/>
          <p:cNvSpPr/>
          <p:nvPr/>
        </p:nvSpPr>
        <p:spPr>
          <a:xfrm>
            <a:off x="6360750" y="398400"/>
            <a:ext cx="544200" cy="3963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2"/>
          <p:cNvSpPr txBox="1"/>
          <p:nvPr>
            <p:ph idx="1" type="body"/>
          </p:nvPr>
        </p:nvSpPr>
        <p:spPr>
          <a:xfrm>
            <a:off x="311700" y="1225225"/>
            <a:ext cx="556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342900" lvl="0" marL="457200" rtl="0" algn="l">
              <a:spcBef>
                <a:spcPts val="0"/>
              </a:spcBef>
              <a:spcAft>
                <a:spcPts val="0"/>
              </a:spcAft>
              <a:buSzPts val="1800"/>
              <a:buChar char="●"/>
            </a:pPr>
            <a:r>
              <a:rPr b="1" lang="en"/>
              <a:t>Indegree</a:t>
            </a:r>
            <a:r>
              <a:rPr lang="en"/>
              <a:t> calculated by summing the </a:t>
            </a:r>
            <a:r>
              <a:rPr b="1" lang="en"/>
              <a:t>columns</a:t>
            </a:r>
            <a:r>
              <a:rPr lang="en"/>
              <a:t> of the </a:t>
            </a:r>
            <a:r>
              <a:rPr b="1" lang="en"/>
              <a:t>asymmetric</a:t>
            </a:r>
            <a:r>
              <a:rPr lang="en"/>
              <a:t> </a:t>
            </a:r>
            <a:r>
              <a:rPr b="1" lang="en"/>
              <a:t>adjacency matrix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683" name="Google Shape;683;p52"/>
          <p:cNvPicPr preferRelativeResize="0"/>
          <p:nvPr/>
        </p:nvPicPr>
        <p:blipFill>
          <a:blip r:embed="rId4">
            <a:alphaModFix/>
          </a:blip>
          <a:stretch>
            <a:fillRect/>
          </a:stretch>
        </p:blipFill>
        <p:spPr>
          <a:xfrm>
            <a:off x="3593050" y="4351625"/>
            <a:ext cx="1957900" cy="666350"/>
          </a:xfrm>
          <a:prstGeom prst="rect">
            <a:avLst/>
          </a:prstGeom>
          <a:noFill/>
          <a:ln>
            <a:noFill/>
          </a:ln>
        </p:spPr>
      </p:pic>
      <p:pic>
        <p:nvPicPr>
          <p:cNvPr descr="\textnormal{Indegree} = \sum_i^N A_{ij}" id="684" name="Google Shape;684;p52"/>
          <p:cNvPicPr preferRelativeResize="0"/>
          <p:nvPr/>
        </p:nvPicPr>
        <p:blipFill>
          <a:blip r:embed="rId5">
            <a:alphaModFix/>
          </a:blip>
          <a:stretch>
            <a:fillRect/>
          </a:stretch>
        </p:blipFill>
        <p:spPr>
          <a:xfrm>
            <a:off x="4046200" y="2105475"/>
            <a:ext cx="1828801" cy="74722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a:t>
            </a:r>
            <a:endParaRPr/>
          </a:p>
        </p:txBody>
      </p:sp>
      <p:sp>
        <p:nvSpPr>
          <p:cNvPr id="690" name="Google Shape;690;p5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691" name="Google Shape;691;p5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692" name="Google Shape;692;p5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693" name="Google Shape;693;p5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694" name="Google Shape;694;p5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695" name="Google Shape;695;p5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696" name="Google Shape;696;p5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697" name="Google Shape;697;p53"/>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698" name="Google Shape;698;p5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699" name="Google Shape;699;p53"/>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700" name="Google Shape;700;p5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701" name="Google Shape;701;p5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702" name="Google Shape;702;p5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703" name="Google Shape;703;p5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704" name="Google Shape;704;p5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705" name="Google Shape;705;p5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706" name="Google Shape;706;p5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707" name="Google Shape;707;p5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708" name="Google Shape;708;p5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709" name="Google Shape;709;p53"/>
          <p:cNvCxnSpPr>
            <a:stCxn id="708" idx="2"/>
            <a:endCxn id="70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710" name="Google Shape;710;p53"/>
          <p:cNvCxnSpPr>
            <a:stCxn id="706" idx="0"/>
            <a:endCxn id="70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711" name="Google Shape;711;p53"/>
          <p:cNvCxnSpPr>
            <a:stCxn id="705" idx="2"/>
            <a:endCxn id="70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712" name="Google Shape;712;p53"/>
          <p:cNvCxnSpPr>
            <a:stCxn id="705" idx="2"/>
            <a:endCxn id="70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713" name="Google Shape;713;p53"/>
          <p:cNvCxnSpPr>
            <a:stCxn id="705" idx="2"/>
            <a:endCxn id="70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714" name="Google Shape;714;p53"/>
          <p:cNvCxnSpPr>
            <a:stCxn id="704" idx="2"/>
            <a:endCxn id="701"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715" name="Google Shape;715;p53"/>
          <p:cNvCxnSpPr>
            <a:stCxn id="704" idx="1"/>
            <a:endCxn id="70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716" name="Google Shape;716;p53"/>
          <p:cNvCxnSpPr>
            <a:stCxn id="703" idx="0"/>
            <a:endCxn id="70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717" name="Google Shape;717;p53"/>
          <p:cNvCxnSpPr>
            <a:stCxn id="702" idx="7"/>
            <a:endCxn id="70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718" name="Google Shape;718;p53"/>
          <p:cNvCxnSpPr>
            <a:stCxn id="703" idx="1"/>
            <a:endCxn id="70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719" name="Google Shape;719;p53"/>
          <p:cNvCxnSpPr>
            <a:stCxn id="701" idx="2"/>
            <a:endCxn id="699"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720" name="Google Shape;720;p53"/>
          <p:cNvCxnSpPr>
            <a:stCxn id="702" idx="0"/>
            <a:endCxn id="69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721" name="Google Shape;721;p53"/>
          <p:cNvCxnSpPr>
            <a:stCxn id="701" idx="0"/>
            <a:endCxn id="70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722" name="Google Shape;722;p53"/>
          <p:cNvCxnSpPr>
            <a:stCxn id="699" idx="7"/>
            <a:endCxn id="700"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723" name="Google Shape;723;p53"/>
          <p:cNvCxnSpPr>
            <a:stCxn id="699" idx="2"/>
            <a:endCxn id="697"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724" name="Google Shape;724;p53"/>
          <p:cNvCxnSpPr>
            <a:stCxn id="698" idx="0"/>
            <a:endCxn id="697"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725" name="Google Shape;725;p53"/>
          <p:cNvCxnSpPr>
            <a:stCxn id="697" idx="3"/>
            <a:endCxn id="696"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726" name="Google Shape;726;p53"/>
          <p:cNvCxnSpPr>
            <a:stCxn id="695" idx="5"/>
            <a:endCxn id="69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727" name="Google Shape;727;p53"/>
          <p:cNvCxnSpPr>
            <a:stCxn id="692" idx="4"/>
            <a:endCxn id="69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728" name="Google Shape;728;p53"/>
          <p:cNvCxnSpPr>
            <a:stCxn id="697" idx="1"/>
            <a:endCxn id="692"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729" name="Google Shape;729;p53"/>
          <p:cNvCxnSpPr>
            <a:stCxn id="695" idx="2"/>
            <a:endCxn id="69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730" name="Google Shape;730;p53"/>
          <p:cNvCxnSpPr>
            <a:stCxn id="695" idx="0"/>
            <a:endCxn id="69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731" name="Google Shape;731;p53"/>
          <p:cNvCxnSpPr>
            <a:stCxn id="693" idx="3"/>
            <a:endCxn id="69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732" name="Google Shape;732;p53"/>
          <p:cNvCxnSpPr>
            <a:stCxn id="690" idx="4"/>
            <a:endCxn id="69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733" name="Google Shape;733;p53"/>
          <p:cNvCxnSpPr>
            <a:stCxn id="691" idx="2"/>
            <a:endCxn id="69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734" name="Google Shape;734;p53"/>
          <p:cNvCxnSpPr>
            <a:stCxn id="691" idx="3"/>
            <a:endCxn id="69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735" name="Google Shape;735;p53"/>
          <p:cNvCxnSpPr>
            <a:stCxn id="692" idx="2"/>
            <a:endCxn id="69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736" name="Google Shape;736;p53"/>
          <p:cNvCxnSpPr>
            <a:stCxn id="692" idx="1"/>
            <a:endCxn id="69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737" name="Google Shape;737;p53"/>
          <p:cNvCxnSpPr>
            <a:stCxn id="692" idx="2"/>
            <a:endCxn id="69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738" name="Google Shape;738;p53"/>
          <p:cNvCxnSpPr>
            <a:stCxn id="693" idx="1"/>
            <a:endCxn id="69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739" name="Google Shape;739;p53"/>
          <p:cNvCxnSpPr>
            <a:stCxn id="701" idx="6"/>
            <a:endCxn id="70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5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745" name="Google Shape;745;p5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746" name="Google Shape;746;p54"/>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747" name="Google Shape;747;p5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748" name="Google Shape;748;p5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749" name="Google Shape;749;p5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750" name="Google Shape;750;p5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751" name="Google Shape;751;p54"/>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752" name="Google Shape;752;p54"/>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753" name="Google Shape;753;p54"/>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754" name="Google Shape;754;p5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755" name="Google Shape;755;p54"/>
          <p:cNvSpPr/>
          <p:nvPr/>
        </p:nvSpPr>
        <p:spPr>
          <a:xfrm>
            <a:off x="60894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756" name="Google Shape;756;p5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757" name="Google Shape;757;p5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758" name="Google Shape;758;p54"/>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759" name="Google Shape;759;p5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760" name="Google Shape;760;p5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761" name="Google Shape;761;p5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762" name="Google Shape;762;p5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763" name="Google Shape;763;p54"/>
          <p:cNvCxnSpPr>
            <a:stCxn id="762" idx="2"/>
            <a:endCxn id="76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764" name="Google Shape;764;p54"/>
          <p:cNvCxnSpPr>
            <a:stCxn id="760" idx="0"/>
            <a:endCxn id="76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765" name="Google Shape;765;p54"/>
          <p:cNvCxnSpPr>
            <a:stCxn id="759" idx="2"/>
            <a:endCxn id="76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766" name="Google Shape;766;p54"/>
          <p:cNvCxnSpPr>
            <a:stCxn id="759" idx="2"/>
            <a:endCxn id="75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767" name="Google Shape;767;p54"/>
          <p:cNvCxnSpPr>
            <a:stCxn id="759" idx="2"/>
            <a:endCxn id="75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768" name="Google Shape;768;p54"/>
          <p:cNvCxnSpPr>
            <a:stCxn id="758" idx="2"/>
            <a:endCxn id="75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769" name="Google Shape;769;p54"/>
          <p:cNvCxnSpPr>
            <a:stCxn id="758" idx="1"/>
            <a:endCxn id="75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770" name="Google Shape;770;p54"/>
          <p:cNvCxnSpPr>
            <a:stCxn id="757" idx="0"/>
            <a:endCxn id="75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771" name="Google Shape;771;p54"/>
          <p:cNvCxnSpPr>
            <a:stCxn id="756" idx="7"/>
            <a:endCxn id="75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772" name="Google Shape;772;p54"/>
          <p:cNvCxnSpPr>
            <a:stCxn id="757" idx="1"/>
            <a:endCxn id="75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773" name="Google Shape;773;p54"/>
          <p:cNvCxnSpPr>
            <a:stCxn id="755" idx="2"/>
            <a:endCxn id="75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774" name="Google Shape;774;p54"/>
          <p:cNvCxnSpPr>
            <a:stCxn id="756" idx="0"/>
            <a:endCxn id="75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775" name="Google Shape;775;p54"/>
          <p:cNvCxnSpPr>
            <a:stCxn id="755" idx="0"/>
            <a:endCxn id="75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776" name="Google Shape;776;p54"/>
          <p:cNvCxnSpPr>
            <a:stCxn id="753" idx="7"/>
            <a:endCxn id="75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777" name="Google Shape;777;p54"/>
          <p:cNvCxnSpPr>
            <a:stCxn id="753" idx="2"/>
            <a:endCxn id="75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778" name="Google Shape;778;p54"/>
          <p:cNvCxnSpPr>
            <a:stCxn id="752" idx="0"/>
            <a:endCxn id="75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779" name="Google Shape;779;p54"/>
          <p:cNvCxnSpPr>
            <a:stCxn id="751" idx="3"/>
            <a:endCxn id="75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780" name="Google Shape;780;p54"/>
          <p:cNvCxnSpPr>
            <a:stCxn id="749" idx="5"/>
            <a:endCxn id="75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781" name="Google Shape;781;p54"/>
          <p:cNvCxnSpPr>
            <a:stCxn id="746" idx="4"/>
            <a:endCxn id="74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782" name="Google Shape;782;p54"/>
          <p:cNvCxnSpPr>
            <a:stCxn id="751" idx="1"/>
            <a:endCxn id="74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783" name="Google Shape;783;p54"/>
          <p:cNvCxnSpPr>
            <a:stCxn id="749" idx="2"/>
            <a:endCxn id="74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784" name="Google Shape;784;p54"/>
          <p:cNvCxnSpPr>
            <a:stCxn id="749" idx="0"/>
            <a:endCxn id="74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785" name="Google Shape;785;p54"/>
          <p:cNvCxnSpPr>
            <a:stCxn id="747" idx="3"/>
            <a:endCxn id="74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786" name="Google Shape;786;p54"/>
          <p:cNvCxnSpPr>
            <a:stCxn id="744" idx="4"/>
            <a:endCxn id="74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787" name="Google Shape;787;p54"/>
          <p:cNvCxnSpPr>
            <a:stCxn id="745" idx="2"/>
            <a:endCxn id="74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788" name="Google Shape;788;p54"/>
          <p:cNvCxnSpPr>
            <a:stCxn id="745" idx="3"/>
            <a:endCxn id="74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789" name="Google Shape;789;p54"/>
          <p:cNvCxnSpPr>
            <a:stCxn id="746" idx="2"/>
            <a:endCxn id="74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790" name="Google Shape;790;p54"/>
          <p:cNvCxnSpPr>
            <a:stCxn id="746" idx="1"/>
            <a:endCxn id="74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791" name="Google Shape;791;p54"/>
          <p:cNvCxnSpPr>
            <a:stCxn id="746" idx="2"/>
            <a:endCxn id="74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792" name="Google Shape;792;p54"/>
          <p:cNvCxnSpPr>
            <a:stCxn id="747" idx="1"/>
            <a:endCxn id="74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793" name="Google Shape;793;p54"/>
          <p:cNvCxnSpPr>
            <a:stCxn id="755" idx="6"/>
            <a:endCxn id="76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794" name="Google Shape;794;p54"/>
          <p:cNvSpPr/>
          <p:nvPr/>
        </p:nvSpPr>
        <p:spPr>
          <a:xfrm>
            <a:off x="4217650" y="100127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this node has the largest degree centrality!</a:t>
            </a:r>
            <a:endParaRPr b="1">
              <a:solidFill>
                <a:srgbClr val="FF0000"/>
              </a:solidFill>
            </a:endParaRPr>
          </a:p>
        </p:txBody>
      </p:sp>
      <p:cxnSp>
        <p:nvCxnSpPr>
          <p:cNvPr id="795" name="Google Shape;795;p54"/>
          <p:cNvCxnSpPr>
            <a:stCxn id="794" idx="4"/>
            <a:endCxn id="755" idx="0"/>
          </p:cNvCxnSpPr>
          <p:nvPr/>
        </p:nvCxnSpPr>
        <p:spPr>
          <a:xfrm>
            <a:off x="5776450" y="1832575"/>
            <a:ext cx="583200" cy="1513500"/>
          </a:xfrm>
          <a:prstGeom prst="straightConnector1">
            <a:avLst/>
          </a:prstGeom>
          <a:noFill/>
          <a:ln cap="flat" cmpd="sng" w="19050">
            <a:solidFill>
              <a:srgbClr val="FF0000"/>
            </a:solidFill>
            <a:prstDash val="solid"/>
            <a:round/>
            <a:headEnd len="med" w="med" type="none"/>
            <a:tailEnd len="med" w="med" type="triangle"/>
          </a:ln>
        </p:spPr>
      </p:cxnSp>
      <p:graphicFrame>
        <p:nvGraphicFramePr>
          <p:cNvPr id="796" name="Google Shape;796;p54"/>
          <p:cNvGraphicFramePr/>
          <p:nvPr/>
        </p:nvGraphicFramePr>
        <p:xfrm>
          <a:off x="892975" y="96100"/>
          <a:ext cx="3000000" cy="3000000"/>
        </p:xfrm>
        <a:graphic>
          <a:graphicData uri="http://schemas.openxmlformats.org/drawingml/2006/table">
            <a:tbl>
              <a:tblPr>
                <a:noFill/>
                <a:tableStyleId>{8FA34EA7-D14D-4E9C-8ABE-802B72326A17}</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t>a</a:t>
                      </a:r>
                      <a:endParaRPr/>
                    </a:p>
                  </a:txBody>
                  <a:tcPr marT="91425" marB="91425" marR="91425" marL="91425"/>
                </a:tc>
                <a:tc>
                  <a:txBody>
                    <a:bodyPr/>
                    <a:lstStyle/>
                    <a:p>
                      <a:pPr indent="0" lvl="0" marL="0" rtl="0" algn="ctr">
                        <a:spcBef>
                          <a:spcPts val="0"/>
                        </a:spcBef>
                        <a:spcAft>
                          <a:spcPts val="0"/>
                        </a:spcAft>
                        <a:buNone/>
                      </a:pPr>
                      <a:r>
                        <a:rPr lang="en"/>
                        <a:t>b</a:t>
                      </a:r>
                      <a:endParaRPr/>
                    </a:p>
                  </a:txBody>
                  <a:tcPr marT="91425" marB="91425" marR="91425" marL="91425"/>
                </a:tc>
                <a:tc>
                  <a:txBody>
                    <a:bodyPr/>
                    <a:lstStyle/>
                    <a:p>
                      <a:pPr indent="0" lvl="0" marL="0" rtl="0" algn="ctr">
                        <a:spcBef>
                          <a:spcPts val="0"/>
                        </a:spcBef>
                        <a:spcAft>
                          <a:spcPts val="0"/>
                        </a:spcAft>
                        <a:buNone/>
                      </a:pPr>
                      <a:r>
                        <a:rPr lang="en"/>
                        <a:t>c</a:t>
                      </a:r>
                      <a:endParaRPr/>
                    </a:p>
                  </a:txBody>
                  <a:tcPr marT="91425" marB="91425" marR="91425" marL="91425"/>
                </a:tc>
                <a:tc>
                  <a:txBody>
                    <a:bodyPr/>
                    <a:lstStyle/>
                    <a:p>
                      <a:pPr indent="0" lvl="0" marL="0" rtl="0" algn="ctr">
                        <a:spcBef>
                          <a:spcPts val="0"/>
                        </a:spcBef>
                        <a:spcAft>
                          <a:spcPts val="0"/>
                        </a:spcAft>
                        <a:buNone/>
                      </a:pPr>
                      <a:r>
                        <a:rPr lang="en"/>
                        <a:t>d</a:t>
                      </a:r>
                      <a:endParaRPr/>
                    </a:p>
                  </a:txBody>
                  <a:tcPr marT="91425" marB="91425" marR="91425" marL="91425"/>
                </a:tc>
                <a:tc>
                  <a:txBody>
                    <a:bodyPr/>
                    <a:lstStyle/>
                    <a:p>
                      <a:pPr indent="0" lvl="0" marL="0" rtl="0" algn="ctr">
                        <a:spcBef>
                          <a:spcPts val="0"/>
                        </a:spcBef>
                        <a:spcAft>
                          <a:spcPts val="0"/>
                        </a:spcAft>
                        <a:buNone/>
                      </a:pPr>
                      <a:r>
                        <a:rPr lang="en"/>
                        <a:t>e</a:t>
                      </a:r>
                      <a:endParaRPr/>
                    </a:p>
                  </a:txBody>
                  <a:tcPr marT="91425" marB="91425" marR="91425" marL="91425"/>
                </a:tc>
                <a:tc>
                  <a:txBody>
                    <a:bodyPr/>
                    <a:lstStyle/>
                    <a:p>
                      <a:pPr indent="0" lvl="0" marL="0" rtl="0" algn="ctr">
                        <a:spcBef>
                          <a:spcPts val="0"/>
                        </a:spcBef>
                        <a:spcAft>
                          <a:spcPts val="0"/>
                        </a:spcAft>
                        <a:buNone/>
                      </a:pPr>
                      <a:r>
                        <a:rPr lang="en"/>
                        <a:t>f</a:t>
                      </a:r>
                      <a:endParaRPr/>
                    </a:p>
                  </a:txBody>
                  <a:tcPr marT="91425" marB="91425" marR="91425" marL="91425"/>
                </a:tc>
                <a:tc>
                  <a:txBody>
                    <a:bodyPr/>
                    <a:lstStyle/>
                    <a:p>
                      <a:pPr indent="0" lvl="0" marL="0" rtl="0" algn="ctr">
                        <a:spcBef>
                          <a:spcPts val="0"/>
                        </a:spcBef>
                        <a:spcAft>
                          <a:spcPts val="0"/>
                        </a:spcAft>
                        <a:buNone/>
                      </a:pPr>
                      <a:r>
                        <a:rPr lang="en"/>
                        <a:t>g</a:t>
                      </a:r>
                      <a:endParaRPr/>
                    </a:p>
                  </a:txBody>
                  <a:tcPr marT="91425" marB="91425" marR="91425" marL="91425"/>
                </a:tc>
                <a:tc>
                  <a:txBody>
                    <a:bodyPr/>
                    <a:lstStyle/>
                    <a:p>
                      <a:pPr indent="0" lvl="0" marL="0" rtl="0" algn="ctr">
                        <a:spcBef>
                          <a:spcPts val="0"/>
                        </a:spcBef>
                        <a:spcAft>
                          <a:spcPts val="0"/>
                        </a:spcAft>
                        <a:buNone/>
                      </a:pPr>
                      <a:r>
                        <a:rPr lang="en"/>
                        <a:t>h</a:t>
                      </a:r>
                      <a:endParaRPr/>
                    </a:p>
                  </a:txBody>
                  <a:tcPr marT="91425" marB="91425" marR="91425" marL="91425"/>
                </a:tc>
                <a:tc>
                  <a:txBody>
                    <a:bodyPr/>
                    <a:lstStyle/>
                    <a:p>
                      <a:pPr indent="0" lvl="0" marL="0" rtl="0" algn="ctr">
                        <a:spcBef>
                          <a:spcPts val="0"/>
                        </a:spcBef>
                        <a:spcAft>
                          <a:spcPts val="0"/>
                        </a:spcAft>
                        <a:buNone/>
                      </a:pPr>
                      <a:r>
                        <a:rPr lang="en"/>
                        <a:t>i</a:t>
                      </a:r>
                      <a:endParaRPr/>
                    </a:p>
                  </a:txBody>
                  <a:tcPr marT="91425" marB="91425" marR="91425" marL="91425"/>
                </a:tc>
                <a:tc>
                  <a:txBody>
                    <a:bodyPr/>
                    <a:lstStyle/>
                    <a:p>
                      <a:pPr indent="0" lvl="0" marL="0" rtl="0" algn="ctr">
                        <a:spcBef>
                          <a:spcPts val="0"/>
                        </a:spcBef>
                        <a:spcAft>
                          <a:spcPts val="0"/>
                        </a:spcAft>
                        <a:buNone/>
                      </a:pPr>
                      <a:r>
                        <a:rPr b="1" lang="en"/>
                        <a:t>j</a:t>
                      </a:r>
                      <a:endParaRPr b="1"/>
                    </a:p>
                  </a:txBody>
                  <a:tcPr marT="91425" marB="91425" marR="91425" marL="91425">
                    <a:solidFill>
                      <a:schemeClr val="accent5"/>
                    </a:solidFill>
                  </a:tcPr>
                </a:tc>
                <a:tc>
                  <a:txBody>
                    <a:bodyPr/>
                    <a:lstStyle/>
                    <a:p>
                      <a:pPr indent="0" lvl="0" marL="0" rtl="0" algn="ctr">
                        <a:spcBef>
                          <a:spcPts val="0"/>
                        </a:spcBef>
                        <a:spcAft>
                          <a:spcPts val="0"/>
                        </a:spcAft>
                        <a:buNone/>
                      </a:pPr>
                      <a:r>
                        <a:rPr lang="en"/>
                        <a:t>k</a:t>
                      </a:r>
                      <a:endParaRPr/>
                    </a:p>
                  </a:txBody>
                  <a:tcPr marT="91425" marB="91425" marR="91425" marL="91425"/>
                </a:tc>
                <a:tc>
                  <a:txBody>
                    <a:bodyPr/>
                    <a:lstStyle/>
                    <a:p>
                      <a:pPr indent="0" lvl="0" marL="0" rtl="0" algn="ctr">
                        <a:spcBef>
                          <a:spcPts val="0"/>
                        </a:spcBef>
                        <a:spcAft>
                          <a:spcPts val="0"/>
                        </a:spcAft>
                        <a:buNone/>
                      </a:pPr>
                      <a:r>
                        <a:rPr lang="en"/>
                        <a:t>l</a:t>
                      </a:r>
                      <a:endParaRPr/>
                    </a:p>
                  </a:txBody>
                  <a:tcPr marT="91425" marB="91425" marR="91425" marL="91425"/>
                </a:tc>
                <a:tc>
                  <a:txBody>
                    <a:bodyPr/>
                    <a:lstStyle/>
                    <a:p>
                      <a:pPr indent="0" lvl="0" marL="0" rtl="0" algn="ctr">
                        <a:spcBef>
                          <a:spcPts val="0"/>
                        </a:spcBef>
                        <a:spcAft>
                          <a:spcPts val="0"/>
                        </a:spcAft>
                        <a:buNone/>
                      </a:pPr>
                      <a:r>
                        <a:rPr lang="en"/>
                        <a:t>m</a:t>
                      </a:r>
                      <a:endParaRPr/>
                    </a:p>
                  </a:txBody>
                  <a:tcPr marT="91425" marB="91425" marR="91425" marL="91425"/>
                </a:tc>
                <a:tc>
                  <a:txBody>
                    <a:bodyPr/>
                    <a:lstStyle/>
                    <a:p>
                      <a:pPr indent="0" lvl="0" marL="0" rtl="0" algn="ctr">
                        <a:spcBef>
                          <a:spcPts val="0"/>
                        </a:spcBef>
                        <a:spcAft>
                          <a:spcPts val="0"/>
                        </a:spcAft>
                        <a:buNone/>
                      </a:pPr>
                      <a:r>
                        <a:rPr lang="en"/>
                        <a:t>n</a:t>
                      </a:r>
                      <a:endParaRPr/>
                    </a:p>
                  </a:txBody>
                  <a:tcPr marT="91425" marB="91425" marR="91425" marL="91425"/>
                </a:tc>
                <a:tc>
                  <a:txBody>
                    <a:bodyPr/>
                    <a:lstStyle/>
                    <a:p>
                      <a:pPr indent="0" lvl="0" marL="0" rtl="0" algn="ctr">
                        <a:spcBef>
                          <a:spcPts val="0"/>
                        </a:spcBef>
                        <a:spcAft>
                          <a:spcPts val="0"/>
                        </a:spcAft>
                        <a:buNone/>
                      </a:pPr>
                      <a:r>
                        <a:rPr lang="en"/>
                        <a:t>o</a:t>
                      </a:r>
                      <a:endParaRPr/>
                    </a:p>
                  </a:txBody>
                  <a:tcPr marT="91425" marB="91425" marR="91425" marL="91425"/>
                </a:tc>
                <a:tc>
                  <a:txBody>
                    <a:bodyPr/>
                    <a:lstStyle/>
                    <a:p>
                      <a:pPr indent="0" lvl="0" marL="0" rtl="0" algn="ctr">
                        <a:spcBef>
                          <a:spcPts val="0"/>
                        </a:spcBef>
                        <a:spcAft>
                          <a:spcPts val="0"/>
                        </a:spcAft>
                        <a:buNone/>
                      </a:pPr>
                      <a:r>
                        <a:rPr lang="en"/>
                        <a:t>p</a:t>
                      </a:r>
                      <a:endParaRPr/>
                    </a:p>
                  </a:txBody>
                  <a:tcPr marT="91425" marB="91425" marR="91425" marL="91425"/>
                </a:tc>
                <a:tc>
                  <a:txBody>
                    <a:bodyPr/>
                    <a:lstStyle/>
                    <a:p>
                      <a:pPr indent="0" lvl="0" marL="0" rtl="0" algn="ctr">
                        <a:spcBef>
                          <a:spcPts val="0"/>
                        </a:spcBef>
                        <a:spcAft>
                          <a:spcPts val="0"/>
                        </a:spcAft>
                        <a:buNone/>
                      </a:pPr>
                      <a:r>
                        <a:rPr lang="en"/>
                        <a:t>q</a:t>
                      </a:r>
                      <a:endParaRPr/>
                    </a:p>
                  </a:txBody>
                  <a:tcPr marT="91425" marB="91425" marR="91425" marL="91425"/>
                </a:tc>
                <a:tc>
                  <a:txBody>
                    <a:bodyPr/>
                    <a:lstStyle/>
                    <a:p>
                      <a:pPr indent="0" lvl="0" marL="0" rtl="0" algn="ctr">
                        <a:spcBef>
                          <a:spcPts val="0"/>
                        </a:spcBef>
                        <a:spcAft>
                          <a:spcPts val="0"/>
                        </a:spcAft>
                        <a:buNone/>
                      </a:pPr>
                      <a:r>
                        <a:rPr lang="en"/>
                        <a:t>r</a:t>
                      </a:r>
                      <a:endParaRPr/>
                    </a:p>
                  </a:txBody>
                  <a:tcPr marT="91425" marB="91425" marR="91425" marL="91425"/>
                </a:tc>
                <a:tc>
                  <a:txBody>
                    <a:bodyPr/>
                    <a:lstStyle/>
                    <a:p>
                      <a:pPr indent="0" lvl="0" marL="0" rtl="0" algn="ctr">
                        <a:spcBef>
                          <a:spcPts val="0"/>
                        </a:spcBef>
                        <a:spcAft>
                          <a:spcPts val="0"/>
                        </a:spcAft>
                        <a:buNone/>
                      </a:pPr>
                      <a:r>
                        <a:rPr lang="en"/>
                        <a:t>s</a:t>
                      </a:r>
                      <a:endParaRPr/>
                    </a:p>
                  </a:txBody>
                  <a:tcPr marT="91425" marB="91425" marR="91425" marL="91425"/>
                </a:tc>
              </a:tr>
              <a:tr h="381000">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b="1" lang="en"/>
                        <a:t>7</a:t>
                      </a:r>
                      <a:endParaRPr b="1"/>
                    </a:p>
                  </a:txBody>
                  <a:tcPr marT="91425" marB="91425" marR="91425" marL="91425">
                    <a:solidFill>
                      <a:schemeClr val="accent5"/>
                    </a:solidFill>
                  </a:tcPr>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0" name="Shape 800"/>
        <p:cNvGrpSpPr/>
        <p:nvPr/>
      </p:nvGrpSpPr>
      <p:grpSpPr>
        <a:xfrm>
          <a:off x="0" y="0"/>
          <a:ext cx="0" cy="0"/>
          <a:chOff x="0" y="0"/>
          <a:chExt cx="0" cy="0"/>
        </a:xfrm>
      </p:grpSpPr>
      <p:sp>
        <p:nvSpPr>
          <p:cNvPr id="801" name="Google Shape;801;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a:t>
            </a:r>
            <a:endParaRPr/>
          </a:p>
        </p:txBody>
      </p:sp>
      <p:sp>
        <p:nvSpPr>
          <p:cNvPr id="802" name="Google Shape;802;p5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803" name="Google Shape;803;p5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804" name="Google Shape;804;p5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805" name="Google Shape;805;p5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806" name="Google Shape;806;p5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807" name="Google Shape;807;p5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808" name="Google Shape;808;p5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809" name="Google Shape;809;p55"/>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810" name="Google Shape;810;p5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811" name="Google Shape;811;p55"/>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812" name="Google Shape;812;p5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813" name="Google Shape;813;p55"/>
          <p:cNvSpPr/>
          <p:nvPr/>
        </p:nvSpPr>
        <p:spPr>
          <a:xfrm>
            <a:off x="60894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814" name="Google Shape;814;p5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815" name="Google Shape;815;p5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816" name="Google Shape;816;p5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817" name="Google Shape;817;p5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818" name="Google Shape;818;p5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819" name="Google Shape;819;p5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820" name="Google Shape;820;p5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821" name="Google Shape;821;p55"/>
          <p:cNvCxnSpPr>
            <a:stCxn id="820" idx="2"/>
            <a:endCxn id="819"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822" name="Google Shape;822;p55"/>
          <p:cNvCxnSpPr>
            <a:stCxn id="818" idx="0"/>
            <a:endCxn id="819"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823" name="Google Shape;823;p55"/>
          <p:cNvCxnSpPr>
            <a:stCxn id="817" idx="2"/>
            <a:endCxn id="818"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824" name="Google Shape;824;p55"/>
          <p:cNvCxnSpPr>
            <a:stCxn id="817" idx="2"/>
            <a:endCxn id="813" idx="6"/>
          </p:cNvCxnSpPr>
          <p:nvPr/>
        </p:nvCxnSpPr>
        <p:spPr>
          <a:xfrm flipH="1">
            <a:off x="6630088" y="2929075"/>
            <a:ext cx="1675800" cy="686700"/>
          </a:xfrm>
          <a:prstGeom prst="straightConnector1">
            <a:avLst/>
          </a:prstGeom>
          <a:noFill/>
          <a:ln cap="flat" cmpd="sng" w="38100">
            <a:solidFill>
              <a:srgbClr val="FF0000"/>
            </a:solidFill>
            <a:prstDash val="solid"/>
            <a:round/>
            <a:headEnd len="med" w="med" type="none"/>
            <a:tailEnd len="med" w="med" type="none"/>
          </a:ln>
        </p:spPr>
      </p:cxnSp>
      <p:cxnSp>
        <p:nvCxnSpPr>
          <p:cNvPr id="825" name="Google Shape;825;p55"/>
          <p:cNvCxnSpPr>
            <a:stCxn id="817" idx="2"/>
            <a:endCxn id="816"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826" name="Google Shape;826;p55"/>
          <p:cNvCxnSpPr>
            <a:stCxn id="816" idx="2"/>
            <a:endCxn id="813" idx="6"/>
          </p:cNvCxnSpPr>
          <p:nvPr/>
        </p:nvCxnSpPr>
        <p:spPr>
          <a:xfrm rot="10800000">
            <a:off x="6630138" y="3615550"/>
            <a:ext cx="763800" cy="133500"/>
          </a:xfrm>
          <a:prstGeom prst="straightConnector1">
            <a:avLst/>
          </a:prstGeom>
          <a:noFill/>
          <a:ln cap="flat" cmpd="sng" w="38100">
            <a:solidFill>
              <a:srgbClr val="FF0000"/>
            </a:solidFill>
            <a:prstDash val="solid"/>
            <a:round/>
            <a:headEnd len="med" w="med" type="none"/>
            <a:tailEnd len="med" w="med" type="none"/>
          </a:ln>
        </p:spPr>
      </p:cxnSp>
      <p:cxnSp>
        <p:nvCxnSpPr>
          <p:cNvPr id="827" name="Google Shape;827;p55"/>
          <p:cNvCxnSpPr>
            <a:stCxn id="816" idx="1"/>
            <a:endCxn id="812"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828" name="Google Shape;828;p55"/>
          <p:cNvCxnSpPr>
            <a:stCxn id="815" idx="0"/>
            <a:endCxn id="813" idx="4"/>
          </p:cNvCxnSpPr>
          <p:nvPr/>
        </p:nvCxnSpPr>
        <p:spPr>
          <a:xfrm rot="10800000">
            <a:off x="6359913" y="3885475"/>
            <a:ext cx="746100" cy="539400"/>
          </a:xfrm>
          <a:prstGeom prst="straightConnector1">
            <a:avLst/>
          </a:prstGeom>
          <a:noFill/>
          <a:ln cap="flat" cmpd="sng" w="38100">
            <a:solidFill>
              <a:srgbClr val="FF0000"/>
            </a:solidFill>
            <a:prstDash val="solid"/>
            <a:round/>
            <a:headEnd len="med" w="med" type="none"/>
            <a:tailEnd len="med" w="med" type="none"/>
          </a:ln>
        </p:spPr>
      </p:cxnSp>
      <p:cxnSp>
        <p:nvCxnSpPr>
          <p:cNvPr id="829" name="Google Shape;829;p55"/>
          <p:cNvCxnSpPr>
            <a:stCxn id="814" idx="7"/>
            <a:endCxn id="813" idx="4"/>
          </p:cNvCxnSpPr>
          <p:nvPr/>
        </p:nvCxnSpPr>
        <p:spPr>
          <a:xfrm flipH="1" rot="10800000">
            <a:off x="5924918" y="3885318"/>
            <a:ext cx="435000" cy="510000"/>
          </a:xfrm>
          <a:prstGeom prst="straightConnector1">
            <a:avLst/>
          </a:prstGeom>
          <a:noFill/>
          <a:ln cap="flat" cmpd="sng" w="38100">
            <a:solidFill>
              <a:srgbClr val="FF0000"/>
            </a:solidFill>
            <a:prstDash val="solid"/>
            <a:round/>
            <a:headEnd len="med" w="med" type="none"/>
            <a:tailEnd len="med" w="med" type="none"/>
          </a:ln>
        </p:spPr>
      </p:cxnSp>
      <p:cxnSp>
        <p:nvCxnSpPr>
          <p:cNvPr id="830" name="Google Shape;830;p55"/>
          <p:cNvCxnSpPr>
            <a:stCxn id="815" idx="1"/>
            <a:endCxn id="814"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831" name="Google Shape;831;p55"/>
          <p:cNvCxnSpPr>
            <a:stCxn id="813" idx="2"/>
            <a:endCxn id="811"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832" name="Google Shape;832;p55"/>
          <p:cNvCxnSpPr>
            <a:stCxn id="814" idx="0"/>
            <a:endCxn id="811"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833" name="Google Shape;833;p55"/>
          <p:cNvCxnSpPr>
            <a:stCxn id="813" idx="0"/>
            <a:endCxn id="812" idx="5"/>
          </p:cNvCxnSpPr>
          <p:nvPr/>
        </p:nvCxnSpPr>
        <p:spPr>
          <a:xfrm rot="10800000">
            <a:off x="5924788" y="2839825"/>
            <a:ext cx="435000" cy="506100"/>
          </a:xfrm>
          <a:prstGeom prst="straightConnector1">
            <a:avLst/>
          </a:prstGeom>
          <a:noFill/>
          <a:ln cap="flat" cmpd="sng" w="38100">
            <a:solidFill>
              <a:srgbClr val="FF0000"/>
            </a:solidFill>
            <a:prstDash val="solid"/>
            <a:round/>
            <a:headEnd len="med" w="med" type="none"/>
            <a:tailEnd len="med" w="med" type="none"/>
          </a:ln>
        </p:spPr>
      </p:cxnSp>
      <p:cxnSp>
        <p:nvCxnSpPr>
          <p:cNvPr id="834" name="Google Shape;834;p55"/>
          <p:cNvCxnSpPr>
            <a:stCxn id="811" idx="7"/>
            <a:endCxn id="812"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835" name="Google Shape;835;p55"/>
          <p:cNvCxnSpPr>
            <a:stCxn id="811" idx="2"/>
            <a:endCxn id="809"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836" name="Google Shape;836;p55"/>
          <p:cNvCxnSpPr>
            <a:stCxn id="810" idx="0"/>
            <a:endCxn id="809"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837" name="Google Shape;837;p55"/>
          <p:cNvCxnSpPr>
            <a:stCxn id="809" idx="3"/>
            <a:endCxn id="808"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838" name="Google Shape;838;p55"/>
          <p:cNvCxnSpPr>
            <a:stCxn id="807" idx="5"/>
            <a:endCxn id="808"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839" name="Google Shape;839;p55"/>
          <p:cNvCxnSpPr>
            <a:stCxn id="804" idx="4"/>
            <a:endCxn id="807"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840" name="Google Shape;840;p55"/>
          <p:cNvCxnSpPr>
            <a:stCxn id="809" idx="1"/>
            <a:endCxn id="804"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841" name="Google Shape;841;p55"/>
          <p:cNvCxnSpPr>
            <a:stCxn id="807" idx="2"/>
            <a:endCxn id="806"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842" name="Google Shape;842;p55"/>
          <p:cNvCxnSpPr>
            <a:stCxn id="807" idx="0"/>
            <a:endCxn id="805"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843" name="Google Shape;843;p55"/>
          <p:cNvCxnSpPr>
            <a:stCxn id="805" idx="3"/>
            <a:endCxn id="806"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844" name="Google Shape;844;p55"/>
          <p:cNvCxnSpPr>
            <a:stCxn id="802" idx="4"/>
            <a:endCxn id="806"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845" name="Google Shape;845;p55"/>
          <p:cNvCxnSpPr>
            <a:stCxn id="803" idx="2"/>
            <a:endCxn id="802"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846" name="Google Shape;846;p55"/>
          <p:cNvCxnSpPr>
            <a:stCxn id="803" idx="3"/>
            <a:endCxn id="805"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847" name="Google Shape;847;p55"/>
          <p:cNvCxnSpPr>
            <a:stCxn id="804" idx="2"/>
            <a:endCxn id="802"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848" name="Google Shape;848;p55"/>
          <p:cNvCxnSpPr>
            <a:stCxn id="804" idx="1"/>
            <a:endCxn id="803"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849" name="Google Shape;849;p55"/>
          <p:cNvCxnSpPr>
            <a:stCxn id="804" idx="2"/>
            <a:endCxn id="805"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850" name="Google Shape;850;p55"/>
          <p:cNvCxnSpPr>
            <a:stCxn id="805" idx="1"/>
            <a:endCxn id="802"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851" name="Google Shape;851;p55"/>
          <p:cNvCxnSpPr>
            <a:stCxn id="813" idx="6"/>
            <a:endCxn id="818" idx="3"/>
          </p:cNvCxnSpPr>
          <p:nvPr/>
        </p:nvCxnSpPr>
        <p:spPr>
          <a:xfrm flipH="1" rot="10800000">
            <a:off x="6630088" y="2957725"/>
            <a:ext cx="555000" cy="657900"/>
          </a:xfrm>
          <a:prstGeom prst="straightConnector1">
            <a:avLst/>
          </a:prstGeom>
          <a:noFill/>
          <a:ln cap="flat" cmpd="sng" w="38100">
            <a:solidFill>
              <a:srgbClr val="FF0000"/>
            </a:solidFill>
            <a:prstDash val="solid"/>
            <a:round/>
            <a:headEnd len="med" w="med" type="none"/>
            <a:tailEnd len="med" w="med" type="none"/>
          </a:ln>
        </p:spPr>
      </p:cxnSp>
      <p:sp>
        <p:nvSpPr>
          <p:cNvPr id="852" name="Google Shape;852;p55"/>
          <p:cNvSpPr txBox="1"/>
          <p:nvPr/>
        </p:nvSpPr>
        <p:spPr>
          <a:xfrm>
            <a:off x="7578950" y="4250775"/>
            <a:ext cx="12522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Economica"/>
                <a:ea typeface="Economica"/>
                <a:cs typeface="Economica"/>
                <a:sym typeface="Economica"/>
              </a:rPr>
              <a:t>C</a:t>
            </a:r>
            <a:r>
              <a:rPr baseline="-25000" lang="en" sz="2500">
                <a:latin typeface="Economica"/>
                <a:ea typeface="Economica"/>
                <a:cs typeface="Economica"/>
                <a:sym typeface="Economica"/>
              </a:rPr>
              <a:t>Deg</a:t>
            </a:r>
            <a:r>
              <a:rPr lang="en" sz="2500">
                <a:latin typeface="Economica"/>
                <a:ea typeface="Economica"/>
                <a:cs typeface="Economica"/>
                <a:sym typeface="Economica"/>
              </a:rPr>
              <a:t>(j) = 7</a:t>
            </a:r>
            <a:endParaRPr sz="2500">
              <a:latin typeface="Economica"/>
              <a:ea typeface="Economica"/>
              <a:cs typeface="Economica"/>
              <a:sym typeface="Economic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858" name="Google Shape;858;p5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859" name="Google Shape;859;p5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860" name="Google Shape;860;p5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861" name="Google Shape;861;p56"/>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862" name="Google Shape;862;p5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863" name="Google Shape;863;p5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864" name="Google Shape;864;p5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865" name="Google Shape;865;p56"/>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866" name="Google Shape;866;p56"/>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867" name="Google Shape;867;p56"/>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868" name="Google Shape;868;p56"/>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869" name="Google Shape;869;p56"/>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870" name="Google Shape;870;p56"/>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871" name="Google Shape;871;p56"/>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872" name="Google Shape;872;p56"/>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873" name="Google Shape;873;p56"/>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874" name="Google Shape;874;p56"/>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875" name="Google Shape;875;p56"/>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876" name="Google Shape;876;p56"/>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877" name="Google Shape;877;p56"/>
          <p:cNvCxnSpPr>
            <a:stCxn id="876" idx="2"/>
            <a:endCxn id="87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878" name="Google Shape;878;p56"/>
          <p:cNvCxnSpPr>
            <a:stCxn id="874" idx="0"/>
            <a:endCxn id="87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879" name="Google Shape;879;p56"/>
          <p:cNvCxnSpPr>
            <a:stCxn id="873" idx="2"/>
            <a:endCxn id="87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880" name="Google Shape;880;p56"/>
          <p:cNvCxnSpPr>
            <a:stCxn id="873" idx="2"/>
            <a:endCxn id="86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881" name="Google Shape;881;p56"/>
          <p:cNvCxnSpPr>
            <a:stCxn id="873" idx="2"/>
            <a:endCxn id="87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882" name="Google Shape;882;p56"/>
          <p:cNvCxnSpPr>
            <a:stCxn id="872" idx="2"/>
            <a:endCxn id="869"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883" name="Google Shape;883;p56"/>
          <p:cNvCxnSpPr>
            <a:stCxn id="872" idx="1"/>
            <a:endCxn id="86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884" name="Google Shape;884;p56"/>
          <p:cNvCxnSpPr>
            <a:stCxn id="871" idx="0"/>
            <a:endCxn id="86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885" name="Google Shape;885;p56"/>
          <p:cNvCxnSpPr>
            <a:stCxn id="870" idx="7"/>
            <a:endCxn id="86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886" name="Google Shape;886;p56"/>
          <p:cNvCxnSpPr>
            <a:stCxn id="871" idx="1"/>
            <a:endCxn id="87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887" name="Google Shape;887;p56"/>
          <p:cNvCxnSpPr>
            <a:stCxn id="869" idx="2"/>
            <a:endCxn id="867"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888" name="Google Shape;888;p56"/>
          <p:cNvCxnSpPr>
            <a:stCxn id="870" idx="0"/>
            <a:endCxn id="86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889" name="Google Shape;889;p56"/>
          <p:cNvCxnSpPr>
            <a:stCxn id="869" idx="0"/>
            <a:endCxn id="86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890" name="Google Shape;890;p56"/>
          <p:cNvCxnSpPr>
            <a:stCxn id="867" idx="7"/>
            <a:endCxn id="868"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891" name="Google Shape;891;p56"/>
          <p:cNvCxnSpPr>
            <a:stCxn id="867" idx="2"/>
            <a:endCxn id="865"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892" name="Google Shape;892;p56"/>
          <p:cNvCxnSpPr>
            <a:stCxn id="866" idx="0"/>
            <a:endCxn id="865"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893" name="Google Shape;893;p56"/>
          <p:cNvCxnSpPr>
            <a:stCxn id="865" idx="3"/>
            <a:endCxn id="864"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894" name="Google Shape;894;p56"/>
          <p:cNvCxnSpPr>
            <a:stCxn id="863" idx="5"/>
            <a:endCxn id="864"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895" name="Google Shape;895;p56"/>
          <p:cNvCxnSpPr>
            <a:stCxn id="860" idx="4"/>
            <a:endCxn id="86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896" name="Google Shape;896;p56"/>
          <p:cNvCxnSpPr>
            <a:stCxn id="865" idx="1"/>
            <a:endCxn id="860"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897" name="Google Shape;897;p56"/>
          <p:cNvCxnSpPr>
            <a:stCxn id="863" idx="2"/>
            <a:endCxn id="862"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898" name="Google Shape;898;p56"/>
          <p:cNvCxnSpPr>
            <a:stCxn id="863" idx="0"/>
            <a:endCxn id="86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899" name="Google Shape;899;p56"/>
          <p:cNvCxnSpPr>
            <a:stCxn id="861" idx="3"/>
            <a:endCxn id="86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900" name="Google Shape;900;p56"/>
          <p:cNvCxnSpPr>
            <a:stCxn id="858" idx="4"/>
            <a:endCxn id="86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901" name="Google Shape;901;p56"/>
          <p:cNvCxnSpPr>
            <a:stCxn id="859" idx="2"/>
            <a:endCxn id="85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902" name="Google Shape;902;p56"/>
          <p:cNvCxnSpPr>
            <a:stCxn id="859" idx="3"/>
            <a:endCxn id="86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903" name="Google Shape;903;p56"/>
          <p:cNvCxnSpPr>
            <a:stCxn id="860" idx="2"/>
            <a:endCxn id="858"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904" name="Google Shape;904;p56"/>
          <p:cNvCxnSpPr>
            <a:stCxn id="860" idx="1"/>
            <a:endCxn id="85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905" name="Google Shape;905;p56"/>
          <p:cNvCxnSpPr>
            <a:stCxn id="860" idx="2"/>
            <a:endCxn id="86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906" name="Google Shape;906;p56"/>
          <p:cNvCxnSpPr>
            <a:stCxn id="861" idx="1"/>
            <a:endCxn id="85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907" name="Google Shape;907;p56"/>
          <p:cNvCxnSpPr>
            <a:stCxn id="869" idx="6"/>
            <a:endCxn id="87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913" name="Google Shape;913;p57"/>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914" name="Google Shape;914;p57"/>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915" name="Google Shape;915;p57"/>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916" name="Google Shape;916;p57"/>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917" name="Google Shape;917;p57"/>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918" name="Google Shape;918;p57"/>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919" name="Google Shape;919;p57"/>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920" name="Google Shape;920;p57"/>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921" name="Google Shape;921;p57"/>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922" name="Google Shape;922;p57"/>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923" name="Google Shape;923;p57"/>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924" name="Google Shape;924;p57"/>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925" name="Google Shape;925;p57"/>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926" name="Google Shape;926;p57"/>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927" name="Google Shape;927;p57"/>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928" name="Google Shape;928;p57"/>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929" name="Google Shape;929;p57"/>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930" name="Google Shape;930;p57"/>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931" name="Google Shape;931;p57"/>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932" name="Google Shape;932;p57"/>
          <p:cNvCxnSpPr>
            <a:stCxn id="931" idx="2"/>
            <a:endCxn id="93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933" name="Google Shape;933;p57"/>
          <p:cNvCxnSpPr>
            <a:stCxn id="929" idx="0"/>
            <a:endCxn id="93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934" name="Google Shape;934;p57"/>
          <p:cNvCxnSpPr>
            <a:stCxn id="928" idx="2"/>
            <a:endCxn id="92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935" name="Google Shape;935;p57"/>
          <p:cNvCxnSpPr>
            <a:stCxn id="928" idx="2"/>
            <a:endCxn id="92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936" name="Google Shape;936;p57"/>
          <p:cNvCxnSpPr>
            <a:stCxn id="928" idx="2"/>
            <a:endCxn id="92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937" name="Google Shape;937;p57"/>
          <p:cNvCxnSpPr>
            <a:stCxn id="927" idx="2"/>
            <a:endCxn id="92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938" name="Google Shape;938;p57"/>
          <p:cNvCxnSpPr>
            <a:stCxn id="927" idx="1"/>
            <a:endCxn id="92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939" name="Google Shape;939;p57"/>
          <p:cNvCxnSpPr>
            <a:stCxn id="926" idx="0"/>
            <a:endCxn id="92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940" name="Google Shape;940;p57"/>
          <p:cNvCxnSpPr>
            <a:stCxn id="925" idx="7"/>
            <a:endCxn id="92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941" name="Google Shape;941;p57"/>
          <p:cNvCxnSpPr>
            <a:stCxn id="926" idx="1"/>
            <a:endCxn id="92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942" name="Google Shape;942;p57"/>
          <p:cNvCxnSpPr>
            <a:stCxn id="924" idx="2"/>
            <a:endCxn id="922"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943" name="Google Shape;943;p57"/>
          <p:cNvCxnSpPr>
            <a:stCxn id="925" idx="0"/>
            <a:endCxn id="92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944" name="Google Shape;944;p57"/>
          <p:cNvCxnSpPr>
            <a:stCxn id="924" idx="0"/>
            <a:endCxn id="92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945" name="Google Shape;945;p57"/>
          <p:cNvCxnSpPr>
            <a:stCxn id="922" idx="7"/>
            <a:endCxn id="923"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946" name="Google Shape;946;p57"/>
          <p:cNvCxnSpPr>
            <a:stCxn id="922" idx="2"/>
            <a:endCxn id="920"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947" name="Google Shape;947;p57"/>
          <p:cNvCxnSpPr>
            <a:stCxn id="921" idx="0"/>
            <a:endCxn id="92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948" name="Google Shape;948;p57"/>
          <p:cNvCxnSpPr>
            <a:stCxn id="920" idx="3"/>
            <a:endCxn id="919"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949" name="Google Shape;949;p57"/>
          <p:cNvCxnSpPr>
            <a:stCxn id="918" idx="5"/>
            <a:endCxn id="91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950" name="Google Shape;950;p57"/>
          <p:cNvCxnSpPr>
            <a:stCxn id="915" idx="4"/>
            <a:endCxn id="91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951" name="Google Shape;951;p57"/>
          <p:cNvCxnSpPr>
            <a:stCxn id="920" idx="1"/>
            <a:endCxn id="915"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952" name="Google Shape;952;p57"/>
          <p:cNvCxnSpPr>
            <a:stCxn id="918" idx="2"/>
            <a:endCxn id="91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953" name="Google Shape;953;p57"/>
          <p:cNvCxnSpPr>
            <a:stCxn id="918" idx="0"/>
            <a:endCxn id="91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954" name="Google Shape;954;p57"/>
          <p:cNvCxnSpPr>
            <a:stCxn id="916" idx="3"/>
            <a:endCxn id="91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955" name="Google Shape;955;p57"/>
          <p:cNvCxnSpPr>
            <a:stCxn id="913" idx="4"/>
            <a:endCxn id="91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956" name="Google Shape;956;p57"/>
          <p:cNvCxnSpPr>
            <a:stCxn id="914" idx="2"/>
            <a:endCxn id="91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957" name="Google Shape;957;p57"/>
          <p:cNvCxnSpPr>
            <a:stCxn id="914" idx="3"/>
            <a:endCxn id="91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958" name="Google Shape;958;p57"/>
          <p:cNvCxnSpPr>
            <a:stCxn id="915" idx="2"/>
            <a:endCxn id="913"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959" name="Google Shape;959;p57"/>
          <p:cNvCxnSpPr>
            <a:stCxn id="915" idx="1"/>
            <a:endCxn id="91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960" name="Google Shape;960;p57"/>
          <p:cNvCxnSpPr>
            <a:stCxn id="915" idx="2"/>
            <a:endCxn id="91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961" name="Google Shape;961;p57"/>
          <p:cNvCxnSpPr>
            <a:stCxn id="916" idx="1"/>
            <a:endCxn id="91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962" name="Google Shape;962;p57"/>
          <p:cNvCxnSpPr>
            <a:stCxn id="924" idx="6"/>
            <a:endCxn id="92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963" name="Google Shape;963;p57"/>
          <p:cNvSpPr txBox="1"/>
          <p:nvPr/>
        </p:nvSpPr>
        <p:spPr>
          <a:xfrm>
            <a:off x="3405450" y="1246250"/>
            <a:ext cx="3050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 node that can </a:t>
            </a:r>
            <a:r>
              <a:rPr b="1" lang="en">
                <a:latin typeface="Open Sans"/>
                <a:ea typeface="Open Sans"/>
                <a:cs typeface="Open Sans"/>
                <a:sym typeface="Open Sans"/>
              </a:rPr>
              <a:t>reach</a:t>
            </a:r>
            <a:r>
              <a:rPr lang="en">
                <a:latin typeface="Open Sans"/>
                <a:ea typeface="Open Sans"/>
                <a:cs typeface="Open Sans"/>
                <a:sym typeface="Open Sans"/>
              </a:rPr>
              <a:t> all the other nodes in the graph </a:t>
            </a:r>
            <a:r>
              <a:rPr b="1" lang="en">
                <a:latin typeface="Open Sans"/>
                <a:ea typeface="Open Sans"/>
                <a:cs typeface="Open Sans"/>
                <a:sym typeface="Open Sans"/>
              </a:rPr>
              <a:t>via the</a:t>
            </a:r>
            <a:r>
              <a:rPr lang="en">
                <a:latin typeface="Open Sans"/>
                <a:ea typeface="Open Sans"/>
                <a:cs typeface="Open Sans"/>
                <a:sym typeface="Open Sans"/>
              </a:rPr>
              <a:t> </a:t>
            </a:r>
            <a:r>
              <a:rPr b="1" lang="en">
                <a:latin typeface="Open Sans"/>
                <a:ea typeface="Open Sans"/>
                <a:cs typeface="Open Sans"/>
                <a:sym typeface="Open Sans"/>
              </a:rPr>
              <a:t>shortest paths</a:t>
            </a:r>
            <a:r>
              <a:rPr lang="en">
                <a:latin typeface="Open Sans"/>
                <a:ea typeface="Open Sans"/>
                <a:cs typeface="Open Sans"/>
                <a:sym typeface="Open Sans"/>
              </a:rPr>
              <a:t> (on average) has the </a:t>
            </a:r>
            <a:r>
              <a:rPr b="1" lang="en">
                <a:latin typeface="Open Sans"/>
                <a:ea typeface="Open Sans"/>
                <a:cs typeface="Open Sans"/>
                <a:sym typeface="Open Sans"/>
              </a:rPr>
              <a:t>largest</a:t>
            </a:r>
            <a:r>
              <a:rPr lang="en">
                <a:latin typeface="Open Sans"/>
                <a:ea typeface="Open Sans"/>
                <a:cs typeface="Open Sans"/>
                <a:sym typeface="Open Sans"/>
              </a:rPr>
              <a:t> closeness centrality!</a:t>
            </a:r>
            <a:endParaRPr>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969" name="Google Shape;969;p5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970" name="Google Shape;970;p5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971" name="Google Shape;971;p5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972" name="Google Shape;972;p58"/>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973" name="Google Shape;973;p58"/>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974" name="Google Shape;974;p5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975" name="Google Shape;975;p5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976" name="Google Shape;976;p58"/>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977" name="Google Shape;977;p5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978" name="Google Shape;978;p58"/>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979" name="Google Shape;979;p58"/>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980" name="Google Shape;980;p58"/>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981" name="Google Shape;981;p58"/>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982" name="Google Shape;982;p58"/>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983" name="Google Shape;983;p58"/>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984" name="Google Shape;984;p58"/>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985" name="Google Shape;985;p58"/>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986" name="Google Shape;986;p58"/>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987" name="Google Shape;987;p58"/>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988" name="Google Shape;988;p58"/>
          <p:cNvCxnSpPr>
            <a:stCxn id="987" idx="2"/>
            <a:endCxn id="98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989" name="Google Shape;989;p58"/>
          <p:cNvCxnSpPr>
            <a:stCxn id="985" idx="0"/>
            <a:endCxn id="98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990" name="Google Shape;990;p58"/>
          <p:cNvCxnSpPr>
            <a:stCxn id="984" idx="2"/>
            <a:endCxn id="98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991" name="Google Shape;991;p58"/>
          <p:cNvCxnSpPr>
            <a:stCxn id="984" idx="2"/>
            <a:endCxn id="98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992" name="Google Shape;992;p58"/>
          <p:cNvCxnSpPr>
            <a:stCxn id="984" idx="2"/>
            <a:endCxn id="98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993" name="Google Shape;993;p58"/>
          <p:cNvCxnSpPr>
            <a:stCxn id="983" idx="2"/>
            <a:endCxn id="980"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994" name="Google Shape;994;p58"/>
          <p:cNvCxnSpPr>
            <a:stCxn id="983" idx="1"/>
            <a:endCxn id="97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995" name="Google Shape;995;p58"/>
          <p:cNvCxnSpPr>
            <a:stCxn id="982" idx="0"/>
            <a:endCxn id="98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996" name="Google Shape;996;p58"/>
          <p:cNvCxnSpPr>
            <a:stCxn id="981" idx="7"/>
            <a:endCxn id="98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997" name="Google Shape;997;p58"/>
          <p:cNvCxnSpPr>
            <a:stCxn id="982" idx="1"/>
            <a:endCxn id="98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998" name="Google Shape;998;p58"/>
          <p:cNvCxnSpPr>
            <a:stCxn id="980" idx="2"/>
            <a:endCxn id="978"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999" name="Google Shape;999;p58"/>
          <p:cNvCxnSpPr>
            <a:stCxn id="981" idx="0"/>
            <a:endCxn id="97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000" name="Google Shape;1000;p58"/>
          <p:cNvCxnSpPr>
            <a:stCxn id="980" idx="0"/>
            <a:endCxn id="97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001" name="Google Shape;1001;p58"/>
          <p:cNvCxnSpPr>
            <a:stCxn id="978" idx="7"/>
            <a:endCxn id="979"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002" name="Google Shape;1002;p58"/>
          <p:cNvCxnSpPr>
            <a:stCxn id="978" idx="2"/>
            <a:endCxn id="976"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003" name="Google Shape;1003;p58"/>
          <p:cNvCxnSpPr>
            <a:stCxn id="977" idx="0"/>
            <a:endCxn id="976"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004" name="Google Shape;1004;p58"/>
          <p:cNvCxnSpPr>
            <a:stCxn id="976" idx="3"/>
            <a:endCxn id="975"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005" name="Google Shape;1005;p58"/>
          <p:cNvCxnSpPr>
            <a:stCxn id="974" idx="5"/>
            <a:endCxn id="97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006" name="Google Shape;1006;p58"/>
          <p:cNvCxnSpPr>
            <a:stCxn id="971" idx="4"/>
            <a:endCxn id="97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007" name="Google Shape;1007;p58"/>
          <p:cNvCxnSpPr>
            <a:stCxn id="976" idx="1"/>
            <a:endCxn id="971"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008" name="Google Shape;1008;p58"/>
          <p:cNvCxnSpPr>
            <a:stCxn id="974" idx="2"/>
            <a:endCxn id="97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009" name="Google Shape;1009;p58"/>
          <p:cNvCxnSpPr>
            <a:stCxn id="974" idx="0"/>
            <a:endCxn id="97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010" name="Google Shape;1010;p58"/>
          <p:cNvCxnSpPr>
            <a:stCxn id="972" idx="3"/>
            <a:endCxn id="97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011" name="Google Shape;1011;p58"/>
          <p:cNvCxnSpPr>
            <a:stCxn id="969" idx="4"/>
            <a:endCxn id="97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012" name="Google Shape;1012;p58"/>
          <p:cNvCxnSpPr>
            <a:stCxn id="970" idx="2"/>
            <a:endCxn id="96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013" name="Google Shape;1013;p58"/>
          <p:cNvCxnSpPr>
            <a:stCxn id="970" idx="3"/>
            <a:endCxn id="97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014" name="Google Shape;1014;p58"/>
          <p:cNvCxnSpPr>
            <a:stCxn id="971" idx="2"/>
            <a:endCxn id="96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015" name="Google Shape;1015;p58"/>
          <p:cNvCxnSpPr>
            <a:stCxn id="971" idx="1"/>
            <a:endCxn id="97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016" name="Google Shape;1016;p58"/>
          <p:cNvCxnSpPr>
            <a:stCxn id="971" idx="2"/>
            <a:endCxn id="97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017" name="Google Shape;1017;p58"/>
          <p:cNvCxnSpPr>
            <a:stCxn id="972" idx="1"/>
            <a:endCxn id="96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018" name="Google Shape;1018;p58"/>
          <p:cNvCxnSpPr>
            <a:stCxn id="980" idx="6"/>
            <a:endCxn id="98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019" name="Google Shape;1019;p58"/>
          <p:cNvSpPr/>
          <p:nvPr/>
        </p:nvSpPr>
        <p:spPr>
          <a:xfrm>
            <a:off x="2807325" y="119612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a:t>
            </a:r>
            <a:r>
              <a:rPr b="1" lang="en">
                <a:solidFill>
                  <a:srgbClr val="FF0000"/>
                </a:solidFill>
              </a:rPr>
              <a:t>graph,</a:t>
            </a:r>
            <a:r>
              <a:rPr b="1" lang="en">
                <a:solidFill>
                  <a:srgbClr val="FF0000"/>
                </a:solidFill>
              </a:rPr>
              <a:t> this node has the largest closeness centrality!</a:t>
            </a:r>
            <a:endParaRPr b="1">
              <a:solidFill>
                <a:srgbClr val="FF0000"/>
              </a:solidFill>
            </a:endParaRPr>
          </a:p>
        </p:txBody>
      </p:sp>
      <p:cxnSp>
        <p:nvCxnSpPr>
          <p:cNvPr id="1020" name="Google Shape;1020;p58"/>
          <p:cNvCxnSpPr>
            <a:stCxn id="1019" idx="4"/>
            <a:endCxn id="978" idx="0"/>
          </p:cNvCxnSpPr>
          <p:nvPr/>
        </p:nvCxnSpPr>
        <p:spPr>
          <a:xfrm>
            <a:off x="4366125" y="2027425"/>
            <a:ext cx="827100" cy="1318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026" name="Google Shape;1026;p59"/>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027" name="Google Shape;1027;p5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028" name="Google Shape;1028;p5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029" name="Google Shape;1029;p59"/>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030" name="Google Shape;1030;p59"/>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031" name="Google Shape;1031;p5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032" name="Google Shape;1032;p5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033" name="Google Shape;1033;p5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034" name="Google Shape;1034;p5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035" name="Google Shape;1035;p59"/>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036" name="Google Shape;1036;p5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037" name="Google Shape;1037;p59"/>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038" name="Google Shape;1038;p5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039" name="Google Shape;1039;p5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040" name="Google Shape;1040;p5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041" name="Google Shape;1041;p5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042" name="Google Shape;1042;p5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043" name="Google Shape;1043;p5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044" name="Google Shape;1044;p5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045" name="Google Shape;1045;p59"/>
          <p:cNvCxnSpPr>
            <a:stCxn id="1044" idx="2"/>
            <a:endCxn id="104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046" name="Google Shape;1046;p59"/>
          <p:cNvCxnSpPr>
            <a:stCxn id="1042" idx="0"/>
            <a:endCxn id="104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047" name="Google Shape;1047;p59"/>
          <p:cNvCxnSpPr>
            <a:stCxn id="1041" idx="2"/>
            <a:endCxn id="104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048" name="Google Shape;1048;p59"/>
          <p:cNvCxnSpPr>
            <a:stCxn id="1041" idx="2"/>
            <a:endCxn id="1037"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049" name="Google Shape;1049;p59"/>
          <p:cNvCxnSpPr>
            <a:stCxn id="1041" idx="2"/>
            <a:endCxn id="104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050" name="Google Shape;1050;p59"/>
          <p:cNvCxnSpPr>
            <a:stCxn id="1040" idx="2"/>
            <a:endCxn id="1037"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051" name="Google Shape;1051;p59"/>
          <p:cNvCxnSpPr>
            <a:stCxn id="1040" idx="1"/>
            <a:endCxn id="103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052" name="Google Shape;1052;p59"/>
          <p:cNvCxnSpPr>
            <a:stCxn id="1039" idx="0"/>
            <a:endCxn id="1037"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053" name="Google Shape;1053;p59"/>
          <p:cNvCxnSpPr>
            <a:stCxn id="1038" idx="7"/>
            <a:endCxn id="1037"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054" name="Google Shape;1054;p59"/>
          <p:cNvCxnSpPr>
            <a:stCxn id="1039" idx="1"/>
            <a:endCxn id="103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055" name="Google Shape;1055;p59"/>
          <p:cNvCxnSpPr>
            <a:stCxn id="1037" idx="2"/>
            <a:endCxn id="1035"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056" name="Google Shape;1056;p59"/>
          <p:cNvCxnSpPr>
            <a:stCxn id="1038" idx="0"/>
            <a:endCxn id="103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057" name="Google Shape;1057;p59"/>
          <p:cNvCxnSpPr>
            <a:stCxn id="1037" idx="0"/>
            <a:endCxn id="1036"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058" name="Google Shape;1058;p59"/>
          <p:cNvCxnSpPr>
            <a:stCxn id="1035" idx="7"/>
            <a:endCxn id="1036"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059" name="Google Shape;1059;p59"/>
          <p:cNvCxnSpPr>
            <a:stCxn id="1035" idx="2"/>
            <a:endCxn id="1033"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060" name="Google Shape;1060;p59"/>
          <p:cNvCxnSpPr>
            <a:stCxn id="1034" idx="0"/>
            <a:endCxn id="1033"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061" name="Google Shape;1061;p59"/>
          <p:cNvCxnSpPr>
            <a:stCxn id="1033" idx="3"/>
            <a:endCxn id="1032"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1062" name="Google Shape;1062;p59"/>
          <p:cNvCxnSpPr>
            <a:stCxn id="1031" idx="5"/>
            <a:endCxn id="1032" idx="0"/>
          </p:cNvCxnSpPr>
          <p:nvPr/>
        </p:nvCxnSpPr>
        <p:spPr>
          <a:xfrm>
            <a:off x="2350768" y="4039619"/>
            <a:ext cx="349500" cy="505200"/>
          </a:xfrm>
          <a:prstGeom prst="straightConnector1">
            <a:avLst/>
          </a:prstGeom>
          <a:noFill/>
          <a:ln cap="flat" cmpd="sng" w="38100">
            <a:solidFill>
              <a:srgbClr val="FF0000"/>
            </a:solidFill>
            <a:prstDash val="solid"/>
            <a:round/>
            <a:headEnd len="med" w="med" type="none"/>
            <a:tailEnd len="med" w="med" type="none"/>
          </a:ln>
        </p:spPr>
      </p:cxnSp>
      <p:cxnSp>
        <p:nvCxnSpPr>
          <p:cNvPr id="1063" name="Google Shape;1063;p59"/>
          <p:cNvCxnSpPr>
            <a:stCxn id="1028" idx="4"/>
            <a:endCxn id="103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064" name="Google Shape;1064;p59"/>
          <p:cNvCxnSpPr>
            <a:stCxn id="1033" idx="1"/>
            <a:endCxn id="1028"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065" name="Google Shape;1065;p59"/>
          <p:cNvCxnSpPr>
            <a:stCxn id="1031" idx="2"/>
            <a:endCxn id="1030" idx="6"/>
          </p:cNvCxnSpPr>
          <p:nvPr/>
        </p:nvCxnSpPr>
        <p:spPr>
          <a:xfrm rot="10800000">
            <a:off x="838138" y="3687213"/>
            <a:ext cx="1051200" cy="161700"/>
          </a:xfrm>
          <a:prstGeom prst="straightConnector1">
            <a:avLst/>
          </a:prstGeom>
          <a:noFill/>
          <a:ln cap="flat" cmpd="sng" w="38100">
            <a:solidFill>
              <a:srgbClr val="FF0000"/>
            </a:solidFill>
            <a:prstDash val="solid"/>
            <a:round/>
            <a:headEnd len="med" w="med" type="none"/>
            <a:tailEnd len="med" w="med" type="none"/>
          </a:ln>
        </p:spPr>
      </p:cxnSp>
      <p:cxnSp>
        <p:nvCxnSpPr>
          <p:cNvPr id="1066" name="Google Shape;1066;p59"/>
          <p:cNvCxnSpPr>
            <a:stCxn id="1031" idx="0"/>
            <a:endCxn id="102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067" name="Google Shape;1067;p59"/>
          <p:cNvCxnSpPr>
            <a:stCxn id="1029" idx="3"/>
            <a:endCxn id="103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068" name="Google Shape;1068;p59"/>
          <p:cNvCxnSpPr>
            <a:stCxn id="1026" idx="4"/>
            <a:endCxn id="103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069" name="Google Shape;1069;p59"/>
          <p:cNvCxnSpPr>
            <a:stCxn id="1027" idx="2"/>
            <a:endCxn id="102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070" name="Google Shape;1070;p59"/>
          <p:cNvCxnSpPr>
            <a:stCxn id="1027" idx="3"/>
            <a:endCxn id="102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071" name="Google Shape;1071;p59"/>
          <p:cNvCxnSpPr>
            <a:stCxn id="1028" idx="2"/>
            <a:endCxn id="102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072" name="Google Shape;1072;p59"/>
          <p:cNvCxnSpPr>
            <a:stCxn id="1028" idx="1"/>
            <a:endCxn id="102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073" name="Google Shape;1073;p59"/>
          <p:cNvCxnSpPr>
            <a:stCxn id="1028" idx="2"/>
            <a:endCxn id="102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074" name="Google Shape;1074;p59"/>
          <p:cNvCxnSpPr>
            <a:stCxn id="1029" idx="1"/>
            <a:endCxn id="102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075" name="Google Shape;1075;p59"/>
          <p:cNvCxnSpPr>
            <a:stCxn id="1037" idx="6"/>
            <a:endCxn id="1042"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076" name="Google Shape;1076;p59"/>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a:t>
            </a:r>
            <a:r>
              <a:rPr lang="en">
                <a:latin typeface="Economica"/>
                <a:ea typeface="Economica"/>
                <a:cs typeface="Economica"/>
                <a:sym typeface="Economica"/>
              </a:rPr>
              <a:t>i--</a:t>
            </a:r>
            <a:r>
              <a:rPr lang="en">
                <a:latin typeface="Economica"/>
                <a:ea typeface="Economica"/>
                <a:cs typeface="Economica"/>
                <a:sym typeface="Economica"/>
              </a:rPr>
              <a:t>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b)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c)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i) =</a:t>
            </a:r>
            <a:endParaRPr>
              <a:latin typeface="Economica"/>
              <a:ea typeface="Economica"/>
              <a:cs typeface="Economica"/>
              <a:sym typeface="Economica"/>
            </a:endParaRPr>
          </a:p>
        </p:txBody>
      </p:sp>
      <p:sp>
        <p:nvSpPr>
          <p:cNvPr id="1077" name="Google Shape;1077;p59"/>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083" name="Google Shape;1083;p60"/>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084" name="Google Shape;1084;p6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085" name="Google Shape;1085;p6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086" name="Google Shape;1086;p60"/>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087" name="Google Shape;1087;p6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088" name="Google Shape;1088;p6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089" name="Google Shape;1089;p60"/>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090" name="Google Shape;1090;p6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091" name="Google Shape;1091;p6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092" name="Google Shape;1092;p60"/>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093" name="Google Shape;1093;p6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094" name="Google Shape;1094;p60"/>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095" name="Google Shape;1095;p6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096" name="Google Shape;1096;p6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097" name="Google Shape;1097;p6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098" name="Google Shape;1098;p6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099" name="Google Shape;1099;p6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100" name="Google Shape;1100;p6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101" name="Google Shape;1101;p60"/>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102" name="Google Shape;1102;p60"/>
          <p:cNvCxnSpPr>
            <a:stCxn id="1101" idx="2"/>
            <a:endCxn id="110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103" name="Google Shape;1103;p60"/>
          <p:cNvCxnSpPr>
            <a:stCxn id="1099" idx="0"/>
            <a:endCxn id="110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104" name="Google Shape;1104;p60"/>
          <p:cNvCxnSpPr>
            <a:stCxn id="1098" idx="2"/>
            <a:endCxn id="109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105" name="Google Shape;1105;p60"/>
          <p:cNvCxnSpPr>
            <a:stCxn id="1098" idx="2"/>
            <a:endCxn id="109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106" name="Google Shape;1106;p60"/>
          <p:cNvCxnSpPr>
            <a:stCxn id="1098" idx="2"/>
            <a:endCxn id="109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107" name="Google Shape;1107;p60"/>
          <p:cNvCxnSpPr>
            <a:stCxn id="1097" idx="2"/>
            <a:endCxn id="109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108" name="Google Shape;1108;p60"/>
          <p:cNvCxnSpPr>
            <a:stCxn id="1097" idx="1"/>
            <a:endCxn id="109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109" name="Google Shape;1109;p60"/>
          <p:cNvCxnSpPr>
            <a:stCxn id="1096" idx="0"/>
            <a:endCxn id="109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110" name="Google Shape;1110;p60"/>
          <p:cNvCxnSpPr>
            <a:stCxn id="1095" idx="7"/>
            <a:endCxn id="109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111" name="Google Shape;1111;p60"/>
          <p:cNvCxnSpPr>
            <a:stCxn id="1096" idx="1"/>
            <a:endCxn id="109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112" name="Google Shape;1112;p60"/>
          <p:cNvCxnSpPr>
            <a:stCxn id="1094" idx="2"/>
            <a:endCxn id="1092"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113" name="Google Shape;1113;p60"/>
          <p:cNvCxnSpPr>
            <a:stCxn id="1095" idx="0"/>
            <a:endCxn id="109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114" name="Google Shape;1114;p60"/>
          <p:cNvCxnSpPr>
            <a:stCxn id="1094" idx="0"/>
            <a:endCxn id="109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115" name="Google Shape;1115;p60"/>
          <p:cNvCxnSpPr>
            <a:stCxn id="1092" idx="7"/>
            <a:endCxn id="1093"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116" name="Google Shape;1116;p60"/>
          <p:cNvCxnSpPr>
            <a:stCxn id="1092" idx="2"/>
            <a:endCxn id="1090"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117" name="Google Shape;1117;p60"/>
          <p:cNvCxnSpPr>
            <a:stCxn id="1091" idx="0"/>
            <a:endCxn id="109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118" name="Google Shape;1118;p60"/>
          <p:cNvCxnSpPr>
            <a:stCxn id="1090" idx="3"/>
            <a:endCxn id="1089" idx="7"/>
          </p:cNvCxnSpPr>
          <p:nvPr/>
        </p:nvCxnSpPr>
        <p:spPr>
          <a:xfrm flipH="1">
            <a:off x="2891332" y="3806332"/>
            <a:ext cx="784500" cy="817500"/>
          </a:xfrm>
          <a:prstGeom prst="straightConnector1">
            <a:avLst/>
          </a:prstGeom>
          <a:noFill/>
          <a:ln cap="flat" cmpd="sng" w="38100">
            <a:solidFill>
              <a:srgbClr val="BDBDBD"/>
            </a:solidFill>
            <a:prstDash val="solid"/>
            <a:round/>
            <a:headEnd len="med" w="med" type="none"/>
            <a:tailEnd len="med" w="med" type="none"/>
          </a:ln>
        </p:spPr>
      </p:cxnSp>
      <p:cxnSp>
        <p:nvCxnSpPr>
          <p:cNvPr id="1119" name="Google Shape;1119;p60"/>
          <p:cNvCxnSpPr>
            <a:stCxn id="1088" idx="5"/>
            <a:endCxn id="1089"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120" name="Google Shape;1120;p60"/>
          <p:cNvCxnSpPr>
            <a:stCxn id="1085" idx="4"/>
            <a:endCxn id="108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121" name="Google Shape;1121;p60"/>
          <p:cNvCxnSpPr>
            <a:stCxn id="1090" idx="1"/>
            <a:endCxn id="1085" idx="4"/>
          </p:cNvCxnSpPr>
          <p:nvPr/>
        </p:nvCxnSpPr>
        <p:spPr>
          <a:xfrm rot="10800000">
            <a:off x="3283732" y="2777218"/>
            <a:ext cx="392100" cy="647700"/>
          </a:xfrm>
          <a:prstGeom prst="straightConnector1">
            <a:avLst/>
          </a:prstGeom>
          <a:noFill/>
          <a:ln cap="flat" cmpd="sng" w="28575">
            <a:solidFill>
              <a:srgbClr val="FF0000"/>
            </a:solidFill>
            <a:prstDash val="solid"/>
            <a:round/>
            <a:headEnd len="med" w="med" type="none"/>
            <a:tailEnd len="med" w="med" type="none"/>
          </a:ln>
        </p:spPr>
      </p:cxnSp>
      <p:cxnSp>
        <p:nvCxnSpPr>
          <p:cNvPr id="1122" name="Google Shape;1122;p60"/>
          <p:cNvCxnSpPr>
            <a:stCxn id="1088" idx="2"/>
            <a:endCxn id="1087"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123" name="Google Shape;1123;p60"/>
          <p:cNvCxnSpPr>
            <a:stCxn id="1088" idx="0"/>
            <a:endCxn id="108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124" name="Google Shape;1124;p60"/>
          <p:cNvCxnSpPr>
            <a:stCxn id="1086" idx="3"/>
            <a:endCxn id="108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125" name="Google Shape;1125;p60"/>
          <p:cNvCxnSpPr>
            <a:stCxn id="1083" idx="4"/>
            <a:endCxn id="108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126" name="Google Shape;1126;p60"/>
          <p:cNvCxnSpPr>
            <a:stCxn id="1084" idx="2"/>
            <a:endCxn id="108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127" name="Google Shape;1127;p60"/>
          <p:cNvCxnSpPr>
            <a:stCxn id="1084" idx="3"/>
            <a:endCxn id="108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128" name="Google Shape;1128;p60"/>
          <p:cNvCxnSpPr>
            <a:stCxn id="1085" idx="2"/>
            <a:endCxn id="1083" idx="6"/>
          </p:cNvCxnSpPr>
          <p:nvPr/>
        </p:nvCxnSpPr>
        <p:spPr>
          <a:xfrm rot="10800000">
            <a:off x="886925" y="2170863"/>
            <a:ext cx="2126400" cy="336600"/>
          </a:xfrm>
          <a:prstGeom prst="straightConnector1">
            <a:avLst/>
          </a:prstGeom>
          <a:noFill/>
          <a:ln cap="flat" cmpd="sng" w="28575">
            <a:solidFill>
              <a:srgbClr val="FF0000"/>
            </a:solidFill>
            <a:prstDash val="solid"/>
            <a:round/>
            <a:headEnd len="med" w="med" type="none"/>
            <a:tailEnd len="med" w="med" type="none"/>
          </a:ln>
        </p:spPr>
      </p:cxnSp>
      <p:cxnSp>
        <p:nvCxnSpPr>
          <p:cNvPr id="1129" name="Google Shape;1129;p60"/>
          <p:cNvCxnSpPr>
            <a:stCxn id="1085" idx="1"/>
            <a:endCxn id="108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130" name="Google Shape;1130;p60"/>
          <p:cNvCxnSpPr>
            <a:stCxn id="1085" idx="2"/>
            <a:endCxn id="108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131" name="Google Shape;1131;p60"/>
          <p:cNvCxnSpPr>
            <a:stCxn id="1086" idx="1"/>
            <a:endCxn id="108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132" name="Google Shape;1132;p60"/>
          <p:cNvCxnSpPr>
            <a:stCxn id="1094" idx="6"/>
            <a:endCxn id="109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133" name="Google Shape;1133;p60"/>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a:t>
            </a:r>
            <a:endParaRPr>
              <a:latin typeface="Economica"/>
              <a:ea typeface="Economica"/>
              <a:cs typeface="Economica"/>
              <a:sym typeface="Economica"/>
            </a:endParaRPr>
          </a:p>
        </p:txBody>
      </p:sp>
      <p:sp>
        <p:nvSpPr>
          <p:cNvPr id="1134" name="Google Shape;1134;p60"/>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Centrality Beyond Degree: Closeness (C</a:t>
            </a:r>
            <a:r>
              <a:rPr baseline="-25000" lang="en" sz="4100"/>
              <a:t>Clos</a:t>
            </a:r>
            <a:r>
              <a:rPr lang="en" sz="4100"/>
              <a:t>)</a:t>
            </a:r>
            <a:endParaRPr sz="4100"/>
          </a:p>
        </p:txBody>
      </p:sp>
      <p:sp>
        <p:nvSpPr>
          <p:cNvPr id="1140" name="Google Shape;1140;p61"/>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141" name="Google Shape;1141;p61"/>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142" name="Google Shape;1142;p61"/>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143" name="Google Shape;1143;p61"/>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144" name="Google Shape;1144;p61"/>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145" name="Google Shape;1145;p61"/>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146" name="Google Shape;1146;p61"/>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147" name="Google Shape;1147;p61"/>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148" name="Google Shape;1148;p61"/>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149" name="Google Shape;1149;p61"/>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150" name="Google Shape;1150;p61"/>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151" name="Google Shape;1151;p61"/>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152" name="Google Shape;1152;p61"/>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153" name="Google Shape;1153;p61"/>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154" name="Google Shape;1154;p61"/>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155" name="Google Shape;1155;p61"/>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156" name="Google Shape;1156;p61"/>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157" name="Google Shape;1157;p61"/>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158" name="Google Shape;1158;p61"/>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159" name="Google Shape;1159;p61"/>
          <p:cNvCxnSpPr>
            <a:stCxn id="1158" idx="2"/>
            <a:endCxn id="115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160" name="Google Shape;1160;p61"/>
          <p:cNvCxnSpPr>
            <a:stCxn id="1156" idx="0"/>
            <a:endCxn id="115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161" name="Google Shape;1161;p61"/>
          <p:cNvCxnSpPr>
            <a:stCxn id="1155" idx="2"/>
            <a:endCxn id="115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162" name="Google Shape;1162;p61"/>
          <p:cNvCxnSpPr>
            <a:stCxn id="1155" idx="2"/>
            <a:endCxn id="115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163" name="Google Shape;1163;p61"/>
          <p:cNvCxnSpPr>
            <a:stCxn id="1155" idx="2"/>
            <a:endCxn id="115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164" name="Google Shape;1164;p61"/>
          <p:cNvCxnSpPr>
            <a:stCxn id="1154" idx="2"/>
            <a:endCxn id="1151"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165" name="Google Shape;1165;p61"/>
          <p:cNvCxnSpPr>
            <a:stCxn id="1154" idx="1"/>
            <a:endCxn id="115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166" name="Google Shape;1166;p61"/>
          <p:cNvCxnSpPr>
            <a:stCxn id="1153" idx="0"/>
            <a:endCxn id="115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167" name="Google Shape;1167;p61"/>
          <p:cNvCxnSpPr>
            <a:stCxn id="1152" idx="7"/>
            <a:endCxn id="115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168" name="Google Shape;1168;p61"/>
          <p:cNvCxnSpPr>
            <a:stCxn id="1153" idx="1"/>
            <a:endCxn id="115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169" name="Google Shape;1169;p61"/>
          <p:cNvCxnSpPr>
            <a:stCxn id="1151" idx="2"/>
            <a:endCxn id="1149"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170" name="Google Shape;1170;p61"/>
          <p:cNvCxnSpPr>
            <a:stCxn id="1152" idx="0"/>
            <a:endCxn id="114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171" name="Google Shape;1171;p61"/>
          <p:cNvCxnSpPr>
            <a:stCxn id="1151" idx="0"/>
            <a:endCxn id="115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172" name="Google Shape;1172;p61"/>
          <p:cNvCxnSpPr>
            <a:stCxn id="1149" idx="7"/>
            <a:endCxn id="1150"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173" name="Google Shape;1173;p61"/>
          <p:cNvCxnSpPr>
            <a:stCxn id="1149" idx="2"/>
            <a:endCxn id="1147"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174" name="Google Shape;1174;p61"/>
          <p:cNvCxnSpPr>
            <a:stCxn id="1148" idx="0"/>
            <a:endCxn id="1147"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175" name="Google Shape;1175;p61"/>
          <p:cNvCxnSpPr>
            <a:stCxn id="1147" idx="3"/>
            <a:endCxn id="1146"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1176" name="Google Shape;1176;p61"/>
          <p:cNvCxnSpPr>
            <a:stCxn id="1145" idx="5"/>
            <a:endCxn id="1146"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177" name="Google Shape;1177;p61"/>
          <p:cNvCxnSpPr>
            <a:stCxn id="1142" idx="4"/>
            <a:endCxn id="114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178" name="Google Shape;1178;p61"/>
          <p:cNvCxnSpPr>
            <a:stCxn id="1147" idx="1"/>
            <a:endCxn id="1142"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179" name="Google Shape;1179;p61"/>
          <p:cNvCxnSpPr>
            <a:stCxn id="1145" idx="2"/>
            <a:endCxn id="1144"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180" name="Google Shape;1180;p61"/>
          <p:cNvCxnSpPr>
            <a:stCxn id="1145" idx="0"/>
            <a:endCxn id="114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181" name="Google Shape;1181;p61"/>
          <p:cNvCxnSpPr>
            <a:stCxn id="1143" idx="3"/>
            <a:endCxn id="114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182" name="Google Shape;1182;p61"/>
          <p:cNvCxnSpPr>
            <a:stCxn id="1140" idx="4"/>
            <a:endCxn id="114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183" name="Google Shape;1183;p61"/>
          <p:cNvCxnSpPr>
            <a:stCxn id="1141" idx="2"/>
            <a:endCxn id="114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184" name="Google Shape;1184;p61"/>
          <p:cNvCxnSpPr>
            <a:stCxn id="1141" idx="3"/>
            <a:endCxn id="114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185" name="Google Shape;1185;p61"/>
          <p:cNvCxnSpPr>
            <a:stCxn id="1142" idx="2"/>
            <a:endCxn id="114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186" name="Google Shape;1186;p61"/>
          <p:cNvCxnSpPr>
            <a:stCxn id="1142" idx="1"/>
            <a:endCxn id="114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187" name="Google Shape;1187;p61"/>
          <p:cNvCxnSpPr>
            <a:stCxn id="1142" idx="2"/>
            <a:endCxn id="114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188" name="Google Shape;1188;p61"/>
          <p:cNvCxnSpPr>
            <a:stCxn id="1143" idx="1"/>
            <a:endCxn id="114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189" name="Google Shape;1189;p61"/>
          <p:cNvCxnSpPr>
            <a:stCxn id="1151" idx="6"/>
            <a:endCxn id="115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190" name="Google Shape;1190;p61"/>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a:t>
            </a:r>
            <a:endParaRPr>
              <a:latin typeface="Economica"/>
              <a:ea typeface="Economica"/>
              <a:cs typeface="Economica"/>
              <a:sym typeface="Economica"/>
            </a:endParaRPr>
          </a:p>
        </p:txBody>
      </p:sp>
      <p:sp>
        <p:nvSpPr>
          <p:cNvPr id="1191" name="Google Shape;1191;p61"/>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197" name="Google Shape;1197;p62"/>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198" name="Google Shape;1198;p62"/>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199" name="Google Shape;1199;p62"/>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200" name="Google Shape;1200;p62"/>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201" name="Google Shape;1201;p62"/>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202" name="Google Shape;1202;p62"/>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203" name="Google Shape;1203;p62"/>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204" name="Google Shape;1204;p62"/>
          <p:cNvSpPr/>
          <p:nvPr/>
        </p:nvSpPr>
        <p:spPr>
          <a:xfrm>
            <a:off x="3596663"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205" name="Google Shape;1205;p62"/>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206" name="Google Shape;1206;p62"/>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207" name="Google Shape;1207;p62"/>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208" name="Google Shape;1208;p62"/>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209" name="Google Shape;1209;p62"/>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210" name="Google Shape;1210;p62"/>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211" name="Google Shape;1211;p62"/>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212" name="Google Shape;1212;p62"/>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213" name="Google Shape;1213;p62"/>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214" name="Google Shape;1214;p62"/>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215" name="Google Shape;1215;p62"/>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216" name="Google Shape;1216;p62"/>
          <p:cNvCxnSpPr>
            <a:stCxn id="1215" idx="2"/>
            <a:endCxn id="121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217" name="Google Shape;1217;p62"/>
          <p:cNvCxnSpPr>
            <a:stCxn id="1213" idx="0"/>
            <a:endCxn id="121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218" name="Google Shape;1218;p62"/>
          <p:cNvCxnSpPr>
            <a:stCxn id="1212" idx="2"/>
            <a:endCxn id="121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219" name="Google Shape;1219;p62"/>
          <p:cNvCxnSpPr>
            <a:stCxn id="1212" idx="2"/>
            <a:endCxn id="120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220" name="Google Shape;1220;p62"/>
          <p:cNvCxnSpPr>
            <a:stCxn id="1212" idx="2"/>
            <a:endCxn id="121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221" name="Google Shape;1221;p62"/>
          <p:cNvCxnSpPr>
            <a:stCxn id="1211" idx="2"/>
            <a:endCxn id="120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222" name="Google Shape;1222;p62"/>
          <p:cNvCxnSpPr>
            <a:stCxn id="1211" idx="1"/>
            <a:endCxn id="120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223" name="Google Shape;1223;p62"/>
          <p:cNvCxnSpPr>
            <a:stCxn id="1210" idx="0"/>
            <a:endCxn id="120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224" name="Google Shape;1224;p62"/>
          <p:cNvCxnSpPr>
            <a:stCxn id="1209" idx="7"/>
            <a:endCxn id="120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225" name="Google Shape;1225;p62"/>
          <p:cNvCxnSpPr>
            <a:stCxn id="1210" idx="1"/>
            <a:endCxn id="120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226" name="Google Shape;1226;p62"/>
          <p:cNvCxnSpPr>
            <a:stCxn id="1208" idx="2"/>
            <a:endCxn id="120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227" name="Google Shape;1227;p62"/>
          <p:cNvCxnSpPr>
            <a:stCxn id="1209" idx="0"/>
            <a:endCxn id="120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228" name="Google Shape;1228;p62"/>
          <p:cNvCxnSpPr>
            <a:stCxn id="1208" idx="0"/>
            <a:endCxn id="120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229" name="Google Shape;1229;p62"/>
          <p:cNvCxnSpPr>
            <a:stCxn id="1206" idx="7"/>
            <a:endCxn id="1207"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230" name="Google Shape;1230;p62"/>
          <p:cNvCxnSpPr>
            <a:stCxn id="1206" idx="2"/>
            <a:endCxn id="1204" idx="6"/>
          </p:cNvCxnSpPr>
          <p:nvPr/>
        </p:nvCxnSpPr>
        <p:spPr>
          <a:xfrm rot="10800000">
            <a:off x="4137188" y="3615625"/>
            <a:ext cx="785700" cy="0"/>
          </a:xfrm>
          <a:prstGeom prst="straightConnector1">
            <a:avLst/>
          </a:prstGeom>
          <a:noFill/>
          <a:ln cap="flat" cmpd="sng" w="38100">
            <a:solidFill>
              <a:schemeClr val="dk2"/>
            </a:solidFill>
            <a:prstDash val="solid"/>
            <a:round/>
            <a:headEnd len="med" w="med" type="none"/>
            <a:tailEnd len="med" w="med" type="none"/>
          </a:ln>
        </p:spPr>
      </p:cxnSp>
      <p:cxnSp>
        <p:nvCxnSpPr>
          <p:cNvPr id="1231" name="Google Shape;1231;p62"/>
          <p:cNvCxnSpPr>
            <a:stCxn id="1205" idx="0"/>
            <a:endCxn id="120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232" name="Google Shape;1232;p62"/>
          <p:cNvCxnSpPr>
            <a:stCxn id="1204" idx="3"/>
            <a:endCxn id="1203" idx="7"/>
          </p:cNvCxnSpPr>
          <p:nvPr/>
        </p:nvCxnSpPr>
        <p:spPr>
          <a:xfrm flipH="1">
            <a:off x="2891332" y="3806332"/>
            <a:ext cx="784500" cy="817500"/>
          </a:xfrm>
          <a:prstGeom prst="straightConnector1">
            <a:avLst/>
          </a:prstGeom>
          <a:noFill/>
          <a:ln cap="flat" cmpd="sng" w="38100">
            <a:solidFill>
              <a:schemeClr val="dk2"/>
            </a:solidFill>
            <a:prstDash val="solid"/>
            <a:round/>
            <a:headEnd len="med" w="med" type="none"/>
            <a:tailEnd len="med" w="med" type="none"/>
          </a:ln>
        </p:spPr>
      </p:cxnSp>
      <p:cxnSp>
        <p:nvCxnSpPr>
          <p:cNvPr id="1233" name="Google Shape;1233;p62"/>
          <p:cNvCxnSpPr>
            <a:stCxn id="1202" idx="5"/>
            <a:endCxn id="1203"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234" name="Google Shape;1234;p62"/>
          <p:cNvCxnSpPr>
            <a:stCxn id="1199" idx="4"/>
            <a:endCxn id="120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235" name="Google Shape;1235;p62"/>
          <p:cNvCxnSpPr>
            <a:stCxn id="1204" idx="1"/>
            <a:endCxn id="119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236" name="Google Shape;1236;p62"/>
          <p:cNvCxnSpPr>
            <a:stCxn id="1202" idx="2"/>
            <a:endCxn id="1201"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237" name="Google Shape;1237;p62"/>
          <p:cNvCxnSpPr>
            <a:stCxn id="1202" idx="0"/>
            <a:endCxn id="120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238" name="Google Shape;1238;p62"/>
          <p:cNvCxnSpPr>
            <a:stCxn id="1200" idx="3"/>
            <a:endCxn id="120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239" name="Google Shape;1239;p62"/>
          <p:cNvCxnSpPr>
            <a:stCxn id="1197" idx="4"/>
            <a:endCxn id="120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240" name="Google Shape;1240;p62"/>
          <p:cNvCxnSpPr>
            <a:stCxn id="1198" idx="2"/>
            <a:endCxn id="119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241" name="Google Shape;1241;p62"/>
          <p:cNvCxnSpPr>
            <a:stCxn id="1198" idx="3"/>
            <a:endCxn id="120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242" name="Google Shape;1242;p62"/>
          <p:cNvCxnSpPr>
            <a:stCxn id="1199" idx="2"/>
            <a:endCxn id="119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243" name="Google Shape;1243;p62"/>
          <p:cNvCxnSpPr>
            <a:stCxn id="1199" idx="1"/>
            <a:endCxn id="119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244" name="Google Shape;1244;p62"/>
          <p:cNvCxnSpPr>
            <a:stCxn id="1199" idx="2"/>
            <a:endCxn id="120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245" name="Google Shape;1245;p62"/>
          <p:cNvCxnSpPr>
            <a:stCxn id="1200" idx="1"/>
            <a:endCxn id="119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246" name="Google Shape;1246;p62"/>
          <p:cNvCxnSpPr>
            <a:stCxn id="1208" idx="6"/>
            <a:endCxn id="121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247" name="Google Shape;1247;p62"/>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 0</a:t>
            </a:r>
            <a:endParaRPr>
              <a:latin typeface="Economica"/>
              <a:ea typeface="Economica"/>
              <a:cs typeface="Economica"/>
              <a:sym typeface="Economica"/>
            </a:endParaRPr>
          </a:p>
        </p:txBody>
      </p:sp>
      <p:sp>
        <p:nvSpPr>
          <p:cNvPr id="1248" name="Google Shape;1248;p62"/>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 4</a:t>
            </a:r>
            <a:endParaRPr>
              <a:solidFill>
                <a:schemeClr val="dk1"/>
              </a:solidFill>
              <a:latin typeface="Economica"/>
              <a:ea typeface="Economica"/>
              <a:cs typeface="Economica"/>
              <a:sym typeface="Economic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254" name="Google Shape;1254;p6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255" name="Google Shape;1255;p6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256" name="Google Shape;1256;p6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257" name="Google Shape;1257;p6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258" name="Google Shape;1258;p6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259" name="Google Shape;1259;p6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260" name="Google Shape;1260;p6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261" name="Google Shape;1261;p63"/>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262" name="Google Shape;1262;p6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263" name="Google Shape;1263;p63"/>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264" name="Google Shape;1264;p6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265" name="Google Shape;1265;p6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266" name="Google Shape;1266;p6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267" name="Google Shape;1267;p6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268" name="Google Shape;1268;p6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269" name="Google Shape;1269;p6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270" name="Google Shape;1270;p6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271" name="Google Shape;1271;p6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272" name="Google Shape;1272;p6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273" name="Google Shape;1273;p63"/>
          <p:cNvCxnSpPr>
            <a:stCxn id="1272" idx="2"/>
            <a:endCxn id="127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274" name="Google Shape;1274;p63"/>
          <p:cNvCxnSpPr>
            <a:stCxn id="1270" idx="0"/>
            <a:endCxn id="127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275" name="Google Shape;1275;p63"/>
          <p:cNvCxnSpPr>
            <a:stCxn id="1269" idx="2"/>
            <a:endCxn id="127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276" name="Google Shape;1276;p63"/>
          <p:cNvCxnSpPr>
            <a:stCxn id="1269" idx="2"/>
            <a:endCxn id="126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277" name="Google Shape;1277;p63"/>
          <p:cNvCxnSpPr>
            <a:stCxn id="1269" idx="2"/>
            <a:endCxn id="126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278" name="Google Shape;1278;p63"/>
          <p:cNvCxnSpPr>
            <a:stCxn id="1268" idx="2"/>
            <a:endCxn id="126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279" name="Google Shape;1279;p63"/>
          <p:cNvCxnSpPr>
            <a:stCxn id="1268" idx="1"/>
            <a:endCxn id="126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280" name="Google Shape;1280;p63"/>
          <p:cNvCxnSpPr>
            <a:stCxn id="1267" idx="0"/>
            <a:endCxn id="126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281" name="Google Shape;1281;p63"/>
          <p:cNvCxnSpPr>
            <a:stCxn id="1266" idx="7"/>
            <a:endCxn id="126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282" name="Google Shape;1282;p63"/>
          <p:cNvCxnSpPr>
            <a:stCxn id="1267" idx="1"/>
            <a:endCxn id="126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283" name="Google Shape;1283;p63"/>
          <p:cNvCxnSpPr>
            <a:stCxn id="1265" idx="2"/>
            <a:endCxn id="126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284" name="Google Shape;1284;p63"/>
          <p:cNvCxnSpPr>
            <a:stCxn id="1266" idx="0"/>
            <a:endCxn id="126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285" name="Google Shape;1285;p63"/>
          <p:cNvCxnSpPr>
            <a:stCxn id="1265" idx="0"/>
            <a:endCxn id="126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286" name="Google Shape;1286;p63"/>
          <p:cNvCxnSpPr>
            <a:stCxn id="1263" idx="7"/>
            <a:endCxn id="126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287" name="Google Shape;1287;p63"/>
          <p:cNvCxnSpPr>
            <a:stCxn id="1263" idx="2"/>
            <a:endCxn id="126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288" name="Google Shape;1288;p63"/>
          <p:cNvCxnSpPr>
            <a:stCxn id="1262" idx="0"/>
            <a:endCxn id="126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289" name="Google Shape;1289;p63"/>
          <p:cNvCxnSpPr>
            <a:stCxn id="1261" idx="3"/>
            <a:endCxn id="126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290" name="Google Shape;1290;p63"/>
          <p:cNvCxnSpPr>
            <a:stCxn id="1259" idx="5"/>
            <a:endCxn id="126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291" name="Google Shape;1291;p63"/>
          <p:cNvCxnSpPr>
            <a:stCxn id="1256" idx="4"/>
            <a:endCxn id="125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292" name="Google Shape;1292;p63"/>
          <p:cNvCxnSpPr>
            <a:stCxn id="1261" idx="1"/>
            <a:endCxn id="125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293" name="Google Shape;1293;p63"/>
          <p:cNvCxnSpPr>
            <a:stCxn id="1259" idx="2"/>
            <a:endCxn id="125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294" name="Google Shape;1294;p63"/>
          <p:cNvCxnSpPr>
            <a:stCxn id="1259" idx="0"/>
            <a:endCxn id="125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295" name="Google Shape;1295;p63"/>
          <p:cNvCxnSpPr>
            <a:stCxn id="1257" idx="3"/>
            <a:endCxn id="125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296" name="Google Shape;1296;p63"/>
          <p:cNvCxnSpPr>
            <a:stCxn id="1254" idx="4"/>
            <a:endCxn id="125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297" name="Google Shape;1297;p63"/>
          <p:cNvCxnSpPr>
            <a:stCxn id="1255" idx="2"/>
            <a:endCxn id="125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298" name="Google Shape;1298;p63"/>
          <p:cNvCxnSpPr>
            <a:stCxn id="1255" idx="3"/>
            <a:endCxn id="125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299" name="Google Shape;1299;p63"/>
          <p:cNvCxnSpPr>
            <a:stCxn id="1256" idx="2"/>
            <a:endCxn id="125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300" name="Google Shape;1300;p63"/>
          <p:cNvCxnSpPr>
            <a:stCxn id="1256" idx="1"/>
            <a:endCxn id="125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301" name="Google Shape;1301;p63"/>
          <p:cNvCxnSpPr>
            <a:stCxn id="1256" idx="2"/>
            <a:endCxn id="125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302" name="Google Shape;1302;p63"/>
          <p:cNvCxnSpPr>
            <a:stCxn id="1257" idx="1"/>
            <a:endCxn id="125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303" name="Google Shape;1303;p63"/>
          <p:cNvCxnSpPr>
            <a:stCxn id="1265" idx="6"/>
            <a:endCxn id="127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pic>
        <p:nvPicPr>
          <p:cNvPr descr="C_{clos}(i) = N \frac{1}{\sum_j d_{ij}}" id="1304" name="Google Shape;1304;p63"/>
          <p:cNvPicPr preferRelativeResize="0"/>
          <p:nvPr/>
        </p:nvPicPr>
        <p:blipFill>
          <a:blip r:embed="rId3">
            <a:alphaModFix/>
          </a:blip>
          <a:stretch>
            <a:fillRect/>
          </a:stretch>
        </p:blipFill>
        <p:spPr>
          <a:xfrm>
            <a:off x="209475" y="1127075"/>
            <a:ext cx="1828801" cy="559496"/>
          </a:xfrm>
          <a:prstGeom prst="rect">
            <a:avLst/>
          </a:prstGeom>
          <a:noFill/>
          <a:ln>
            <a:noFill/>
          </a:ln>
        </p:spPr>
      </p:pic>
      <p:sp>
        <p:nvSpPr>
          <p:cNvPr id="1305" name="Google Shape;1305;p63"/>
          <p:cNvSpPr txBox="1"/>
          <p:nvPr/>
        </p:nvSpPr>
        <p:spPr>
          <a:xfrm>
            <a:off x="2569000" y="1127075"/>
            <a:ext cx="53913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 X 1/(4 + 3 + 2 + 3 + 3 + 3 + 2 + 1+ 1 + 2 + 2 + 2+ 1 + 2 + 1 + 3 + 2 + 4)</a:t>
            </a:r>
            <a:endParaRPr sz="1600">
              <a:latin typeface="Economica"/>
              <a:ea typeface="Economica"/>
              <a:cs typeface="Economica"/>
              <a:sym typeface="Economic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6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311" name="Google Shape;1311;p6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312" name="Google Shape;1312;p6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313" name="Google Shape;1313;p64"/>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314" name="Google Shape;1314;p6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315" name="Google Shape;1315;p6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316" name="Google Shape;1316;p6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317" name="Google Shape;1317;p6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318" name="Google Shape;1318;p64"/>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319" name="Google Shape;1319;p64"/>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320" name="Google Shape;1320;p64"/>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321" name="Google Shape;1321;p6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322" name="Google Shape;1322;p64"/>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323" name="Google Shape;1323;p6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324" name="Google Shape;1324;p6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325" name="Google Shape;1325;p64"/>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326" name="Google Shape;1326;p6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327" name="Google Shape;1327;p6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328" name="Google Shape;1328;p6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329" name="Google Shape;1329;p6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330" name="Google Shape;1330;p64"/>
          <p:cNvCxnSpPr>
            <a:stCxn id="1329" idx="2"/>
            <a:endCxn id="1328"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331" name="Google Shape;1331;p64"/>
          <p:cNvCxnSpPr>
            <a:stCxn id="1327" idx="0"/>
            <a:endCxn id="1328"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332" name="Google Shape;1332;p64"/>
          <p:cNvCxnSpPr>
            <a:stCxn id="1326" idx="2"/>
            <a:endCxn id="1327"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333" name="Google Shape;1333;p64"/>
          <p:cNvCxnSpPr>
            <a:stCxn id="1326" idx="2"/>
            <a:endCxn id="1322"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334" name="Google Shape;1334;p64"/>
          <p:cNvCxnSpPr>
            <a:stCxn id="1326" idx="2"/>
            <a:endCxn id="1325"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335" name="Google Shape;1335;p64"/>
          <p:cNvCxnSpPr>
            <a:stCxn id="1325" idx="2"/>
            <a:endCxn id="1322"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336" name="Google Shape;1336;p64"/>
          <p:cNvCxnSpPr>
            <a:stCxn id="1325" idx="1"/>
            <a:endCxn id="1321"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337" name="Google Shape;1337;p64"/>
          <p:cNvCxnSpPr>
            <a:stCxn id="1324" idx="0"/>
            <a:endCxn id="1322"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338" name="Google Shape;1338;p64"/>
          <p:cNvCxnSpPr>
            <a:stCxn id="1323" idx="7"/>
            <a:endCxn id="1322"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339" name="Google Shape;1339;p64"/>
          <p:cNvCxnSpPr>
            <a:stCxn id="1324" idx="1"/>
            <a:endCxn id="1323"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340" name="Google Shape;1340;p64"/>
          <p:cNvCxnSpPr>
            <a:stCxn id="1322" idx="2"/>
            <a:endCxn id="1320"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341" name="Google Shape;1341;p64"/>
          <p:cNvCxnSpPr>
            <a:stCxn id="1323" idx="0"/>
            <a:endCxn id="1320"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342" name="Google Shape;1342;p64"/>
          <p:cNvCxnSpPr>
            <a:stCxn id="1322" idx="0"/>
            <a:endCxn id="1321"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343" name="Google Shape;1343;p64"/>
          <p:cNvCxnSpPr>
            <a:stCxn id="1320" idx="7"/>
            <a:endCxn id="1321"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344" name="Google Shape;1344;p64"/>
          <p:cNvCxnSpPr>
            <a:stCxn id="1320" idx="2"/>
            <a:endCxn id="1318"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345" name="Google Shape;1345;p64"/>
          <p:cNvCxnSpPr>
            <a:stCxn id="1319" idx="0"/>
            <a:endCxn id="1318"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346" name="Google Shape;1346;p64"/>
          <p:cNvCxnSpPr>
            <a:stCxn id="1318" idx="3"/>
            <a:endCxn id="1317"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347" name="Google Shape;1347;p64"/>
          <p:cNvCxnSpPr>
            <a:stCxn id="1316" idx="5"/>
            <a:endCxn id="1317"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348" name="Google Shape;1348;p64"/>
          <p:cNvCxnSpPr>
            <a:stCxn id="1313" idx="4"/>
            <a:endCxn id="1316"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349" name="Google Shape;1349;p64"/>
          <p:cNvCxnSpPr>
            <a:stCxn id="1318" idx="1"/>
            <a:endCxn id="1313"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350" name="Google Shape;1350;p64"/>
          <p:cNvCxnSpPr>
            <a:stCxn id="1316" idx="2"/>
            <a:endCxn id="1315"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351" name="Google Shape;1351;p64"/>
          <p:cNvCxnSpPr>
            <a:stCxn id="1316" idx="0"/>
            <a:endCxn id="1314"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352" name="Google Shape;1352;p64"/>
          <p:cNvCxnSpPr>
            <a:stCxn id="1314" idx="3"/>
            <a:endCxn id="1315"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353" name="Google Shape;1353;p64"/>
          <p:cNvCxnSpPr>
            <a:stCxn id="1311" idx="4"/>
            <a:endCxn id="131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354" name="Google Shape;1354;p64"/>
          <p:cNvCxnSpPr>
            <a:stCxn id="1312" idx="2"/>
            <a:endCxn id="1311"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355" name="Google Shape;1355;p64"/>
          <p:cNvCxnSpPr>
            <a:stCxn id="1312" idx="3"/>
            <a:endCxn id="1314"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356" name="Google Shape;1356;p64"/>
          <p:cNvCxnSpPr>
            <a:stCxn id="1313" idx="2"/>
            <a:endCxn id="1311"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357" name="Google Shape;1357;p64"/>
          <p:cNvCxnSpPr>
            <a:stCxn id="1313" idx="1"/>
            <a:endCxn id="1312"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358" name="Google Shape;1358;p64"/>
          <p:cNvCxnSpPr>
            <a:stCxn id="1313" idx="2"/>
            <a:endCxn id="1314"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359" name="Google Shape;1359;p64"/>
          <p:cNvCxnSpPr>
            <a:stCxn id="1314" idx="1"/>
            <a:endCxn id="1311"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360" name="Google Shape;1360;p64"/>
          <p:cNvCxnSpPr>
            <a:stCxn id="1322" idx="6"/>
            <a:endCxn id="1327"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pic>
        <p:nvPicPr>
          <p:cNvPr descr="C_{clos}(i) = N \frac{1}{\sum_j d_{ij}}" id="1361" name="Google Shape;1361;p64"/>
          <p:cNvPicPr preferRelativeResize="0"/>
          <p:nvPr/>
        </p:nvPicPr>
        <p:blipFill>
          <a:blip r:embed="rId3">
            <a:alphaModFix/>
          </a:blip>
          <a:stretch>
            <a:fillRect/>
          </a:stretch>
        </p:blipFill>
        <p:spPr>
          <a:xfrm>
            <a:off x="209475" y="1127075"/>
            <a:ext cx="1828801" cy="559496"/>
          </a:xfrm>
          <a:prstGeom prst="rect">
            <a:avLst/>
          </a:prstGeom>
          <a:noFill/>
          <a:ln>
            <a:noFill/>
          </a:ln>
        </p:spPr>
      </p:pic>
      <p:sp>
        <p:nvSpPr>
          <p:cNvPr id="1362" name="Google Shape;1362;p64"/>
          <p:cNvSpPr txBox="1"/>
          <p:nvPr/>
        </p:nvSpPr>
        <p:spPr>
          <a:xfrm>
            <a:off x="3738275" y="1555425"/>
            <a:ext cx="18288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 X 1/41</a:t>
            </a:r>
            <a:endParaRPr sz="1600">
              <a:latin typeface="Economica"/>
              <a:ea typeface="Economica"/>
              <a:cs typeface="Economica"/>
              <a:sym typeface="Economica"/>
            </a:endParaRPr>
          </a:p>
        </p:txBody>
      </p:sp>
      <p:sp>
        <p:nvSpPr>
          <p:cNvPr id="1363" name="Google Shape;1363;p64"/>
          <p:cNvSpPr txBox="1"/>
          <p:nvPr/>
        </p:nvSpPr>
        <p:spPr>
          <a:xfrm>
            <a:off x="2569000" y="1127075"/>
            <a:ext cx="53913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 X 1/(4 + 3 + 2 + 3 + 3 + 3 + 2 + 1+ 1 + 2 + 2 + 2+ 1 + 2 + 1 + 3 + 2 + 4)</a:t>
            </a:r>
            <a:endParaRPr sz="1600">
              <a:latin typeface="Economica"/>
              <a:ea typeface="Economica"/>
              <a:cs typeface="Economica"/>
              <a:sym typeface="Economic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369" name="Google Shape;1369;p6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370" name="Google Shape;1370;p6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371" name="Google Shape;1371;p6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372" name="Google Shape;1372;p6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373" name="Google Shape;1373;p6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374" name="Google Shape;1374;p6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375" name="Google Shape;1375;p6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376" name="Google Shape;1376;p65"/>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377" name="Google Shape;1377;p6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378" name="Google Shape;1378;p65"/>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379" name="Google Shape;1379;p6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380" name="Google Shape;1380;p65"/>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381" name="Google Shape;1381;p6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382" name="Google Shape;1382;p6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383" name="Google Shape;1383;p6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384" name="Google Shape;1384;p6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385" name="Google Shape;1385;p6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386" name="Google Shape;1386;p6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387" name="Google Shape;1387;p6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388" name="Google Shape;1388;p65"/>
          <p:cNvCxnSpPr>
            <a:stCxn id="1387" idx="2"/>
            <a:endCxn id="138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389" name="Google Shape;1389;p65"/>
          <p:cNvCxnSpPr>
            <a:stCxn id="1385" idx="0"/>
            <a:endCxn id="138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390" name="Google Shape;1390;p65"/>
          <p:cNvCxnSpPr>
            <a:stCxn id="1384" idx="2"/>
            <a:endCxn id="138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391" name="Google Shape;1391;p65"/>
          <p:cNvCxnSpPr>
            <a:stCxn id="1384" idx="2"/>
            <a:endCxn id="138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392" name="Google Shape;1392;p65"/>
          <p:cNvCxnSpPr>
            <a:stCxn id="1384" idx="2"/>
            <a:endCxn id="138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393" name="Google Shape;1393;p65"/>
          <p:cNvCxnSpPr>
            <a:stCxn id="1383" idx="2"/>
            <a:endCxn id="1380"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394" name="Google Shape;1394;p65"/>
          <p:cNvCxnSpPr>
            <a:stCxn id="1383" idx="1"/>
            <a:endCxn id="137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395" name="Google Shape;1395;p65"/>
          <p:cNvCxnSpPr>
            <a:stCxn id="1382" idx="0"/>
            <a:endCxn id="138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396" name="Google Shape;1396;p65"/>
          <p:cNvCxnSpPr>
            <a:stCxn id="1381" idx="7"/>
            <a:endCxn id="138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397" name="Google Shape;1397;p65"/>
          <p:cNvCxnSpPr>
            <a:stCxn id="1382" idx="1"/>
            <a:endCxn id="138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398" name="Google Shape;1398;p65"/>
          <p:cNvCxnSpPr>
            <a:stCxn id="1380" idx="2"/>
            <a:endCxn id="1378"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399" name="Google Shape;1399;p65"/>
          <p:cNvCxnSpPr>
            <a:stCxn id="1381" idx="0"/>
            <a:endCxn id="137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400" name="Google Shape;1400;p65"/>
          <p:cNvCxnSpPr>
            <a:stCxn id="1380" idx="0"/>
            <a:endCxn id="137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401" name="Google Shape;1401;p65"/>
          <p:cNvCxnSpPr>
            <a:stCxn id="1378" idx="7"/>
            <a:endCxn id="1379"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402" name="Google Shape;1402;p65"/>
          <p:cNvCxnSpPr>
            <a:stCxn id="1378" idx="2"/>
            <a:endCxn id="1376"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403" name="Google Shape;1403;p65"/>
          <p:cNvCxnSpPr>
            <a:stCxn id="1377" idx="0"/>
            <a:endCxn id="1376"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404" name="Google Shape;1404;p65"/>
          <p:cNvCxnSpPr>
            <a:stCxn id="1376" idx="3"/>
            <a:endCxn id="1375"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405" name="Google Shape;1405;p65"/>
          <p:cNvCxnSpPr>
            <a:stCxn id="1374" idx="5"/>
            <a:endCxn id="137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406" name="Google Shape;1406;p65"/>
          <p:cNvCxnSpPr>
            <a:stCxn id="1371" idx="4"/>
            <a:endCxn id="137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407" name="Google Shape;1407;p65"/>
          <p:cNvCxnSpPr>
            <a:stCxn id="1376" idx="1"/>
            <a:endCxn id="1371"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408" name="Google Shape;1408;p65"/>
          <p:cNvCxnSpPr>
            <a:stCxn id="1374" idx="2"/>
            <a:endCxn id="137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409" name="Google Shape;1409;p65"/>
          <p:cNvCxnSpPr>
            <a:stCxn id="1374" idx="0"/>
            <a:endCxn id="137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410" name="Google Shape;1410;p65"/>
          <p:cNvCxnSpPr>
            <a:stCxn id="1372" idx="3"/>
            <a:endCxn id="137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411" name="Google Shape;1411;p65"/>
          <p:cNvCxnSpPr>
            <a:stCxn id="1369" idx="4"/>
            <a:endCxn id="137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412" name="Google Shape;1412;p65"/>
          <p:cNvCxnSpPr>
            <a:stCxn id="1370" idx="2"/>
            <a:endCxn id="136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413" name="Google Shape;1413;p65"/>
          <p:cNvCxnSpPr>
            <a:stCxn id="1370" idx="3"/>
            <a:endCxn id="137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414" name="Google Shape;1414;p65"/>
          <p:cNvCxnSpPr>
            <a:stCxn id="1371" idx="2"/>
            <a:endCxn id="136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415" name="Google Shape;1415;p65"/>
          <p:cNvCxnSpPr>
            <a:stCxn id="1371" idx="1"/>
            <a:endCxn id="137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416" name="Google Shape;1416;p65"/>
          <p:cNvCxnSpPr>
            <a:stCxn id="1371" idx="2"/>
            <a:endCxn id="137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417" name="Google Shape;1417;p65"/>
          <p:cNvCxnSpPr>
            <a:stCxn id="1372" idx="1"/>
            <a:endCxn id="136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418" name="Google Shape;1418;p65"/>
          <p:cNvCxnSpPr>
            <a:stCxn id="1380" idx="6"/>
            <a:endCxn id="138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pic>
        <p:nvPicPr>
          <p:cNvPr descr="C_{clos}(i) = N \frac{1}{\sum_j d_{ij}}" id="1419" name="Google Shape;1419;p65"/>
          <p:cNvPicPr preferRelativeResize="0"/>
          <p:nvPr/>
        </p:nvPicPr>
        <p:blipFill>
          <a:blip r:embed="rId3">
            <a:alphaModFix/>
          </a:blip>
          <a:stretch>
            <a:fillRect/>
          </a:stretch>
        </p:blipFill>
        <p:spPr>
          <a:xfrm>
            <a:off x="209475" y="1127075"/>
            <a:ext cx="1828801" cy="559496"/>
          </a:xfrm>
          <a:prstGeom prst="rect">
            <a:avLst/>
          </a:prstGeom>
          <a:noFill/>
          <a:ln>
            <a:noFill/>
          </a:ln>
        </p:spPr>
      </p:pic>
      <p:sp>
        <p:nvSpPr>
          <p:cNvPr id="1420" name="Google Shape;1420;p65"/>
          <p:cNvSpPr txBox="1"/>
          <p:nvPr/>
        </p:nvSpPr>
        <p:spPr>
          <a:xfrm>
            <a:off x="3738275" y="1555425"/>
            <a:ext cx="18288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 X 1/41</a:t>
            </a:r>
            <a:endParaRPr sz="1600">
              <a:latin typeface="Economica"/>
              <a:ea typeface="Economica"/>
              <a:cs typeface="Economica"/>
              <a:sym typeface="Economica"/>
            </a:endParaRPr>
          </a:p>
        </p:txBody>
      </p:sp>
      <p:sp>
        <p:nvSpPr>
          <p:cNvPr id="1421" name="Google Shape;1421;p65"/>
          <p:cNvSpPr txBox="1"/>
          <p:nvPr/>
        </p:nvSpPr>
        <p:spPr>
          <a:xfrm>
            <a:off x="2569000" y="1127075"/>
            <a:ext cx="53913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 X 1/(4 + 3 + 2 + 3 + 3 + 3 + 2 + 1+ 1 + 2 + 2 + 2+ 1 + 2 + 1 + 3 + 2 + 4)</a:t>
            </a:r>
            <a:endParaRPr sz="1600">
              <a:latin typeface="Economica"/>
              <a:ea typeface="Economica"/>
              <a:cs typeface="Economica"/>
              <a:sym typeface="Economica"/>
            </a:endParaRPr>
          </a:p>
        </p:txBody>
      </p:sp>
      <p:sp>
        <p:nvSpPr>
          <p:cNvPr id="1422" name="Google Shape;1422;p65"/>
          <p:cNvSpPr txBox="1"/>
          <p:nvPr/>
        </p:nvSpPr>
        <p:spPr>
          <a:xfrm>
            <a:off x="3738275" y="2022950"/>
            <a:ext cx="21264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 X 0.024 = 0.46</a:t>
            </a:r>
            <a:endParaRPr sz="1600">
              <a:latin typeface="Economica"/>
              <a:ea typeface="Economica"/>
              <a:cs typeface="Economica"/>
              <a:sym typeface="Economic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graphicFrame>
        <p:nvGraphicFramePr>
          <p:cNvPr id="1427" name="Google Shape;1427;p66"/>
          <p:cNvGraphicFramePr/>
          <p:nvPr/>
        </p:nvGraphicFramePr>
        <p:xfrm>
          <a:off x="1024600" y="285745"/>
          <a:ext cx="3000000" cy="3000000"/>
        </p:xfrm>
        <a:graphic>
          <a:graphicData uri="http://schemas.openxmlformats.org/drawingml/2006/table">
            <a:tbl>
              <a:tblPr>
                <a:noFill/>
                <a:tableStyleId>{B37DEEDC-AE2E-4B14-ACF6-3FA4F663FCEB}</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graphicFrame>
        <p:nvGraphicFramePr>
          <p:cNvPr id="1432" name="Google Shape;1432;p67"/>
          <p:cNvGraphicFramePr/>
          <p:nvPr/>
        </p:nvGraphicFramePr>
        <p:xfrm>
          <a:off x="1177000" y="438145"/>
          <a:ext cx="3000000" cy="3000000"/>
        </p:xfrm>
        <a:graphic>
          <a:graphicData uri="http://schemas.openxmlformats.org/drawingml/2006/table">
            <a:tbl>
              <a:tblPr>
                <a:noFill/>
                <a:tableStyleId>{B37DEEDC-AE2E-4B14-ACF6-3FA4F663FCEB}</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l">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bl>
          </a:graphicData>
        </a:graphic>
      </p:graphicFrame>
      <p:sp>
        <p:nvSpPr>
          <p:cNvPr id="1433" name="Google Shape;1433;p67"/>
          <p:cNvSpPr/>
          <p:nvPr/>
        </p:nvSpPr>
        <p:spPr>
          <a:xfrm>
            <a:off x="337100" y="99200"/>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this node has the smallest closeness centrality!</a:t>
            </a:r>
            <a:endParaRPr b="1">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6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439" name="Google Shape;1439;p6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440" name="Google Shape;1440;p6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441" name="Google Shape;1441;p6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442" name="Google Shape;1442;p68"/>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443" name="Google Shape;1443;p68"/>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444" name="Google Shape;1444;p6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445" name="Google Shape;1445;p6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446" name="Google Shape;1446;p68"/>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447" name="Google Shape;1447;p6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448" name="Google Shape;1448;p68"/>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449" name="Google Shape;1449;p68"/>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450" name="Google Shape;1450;p68"/>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451" name="Google Shape;1451;p68"/>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452" name="Google Shape;1452;p68"/>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453" name="Google Shape;1453;p68"/>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454" name="Google Shape;1454;p68"/>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455" name="Google Shape;1455;p68"/>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456" name="Google Shape;1456;p68"/>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457" name="Google Shape;1457;p68"/>
          <p:cNvSpPr/>
          <p:nvPr/>
        </p:nvSpPr>
        <p:spPr>
          <a:xfrm>
            <a:off x="8305888" y="11472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458" name="Google Shape;1458;p68"/>
          <p:cNvCxnSpPr>
            <a:stCxn id="1457" idx="2"/>
            <a:endCxn id="145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459" name="Google Shape;1459;p68"/>
          <p:cNvCxnSpPr>
            <a:stCxn id="1455" idx="0"/>
            <a:endCxn id="145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460" name="Google Shape;1460;p68"/>
          <p:cNvCxnSpPr>
            <a:stCxn id="1454" idx="2"/>
            <a:endCxn id="145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461" name="Google Shape;1461;p68"/>
          <p:cNvCxnSpPr>
            <a:stCxn id="1454" idx="2"/>
            <a:endCxn id="145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462" name="Google Shape;1462;p68"/>
          <p:cNvCxnSpPr>
            <a:stCxn id="1454" idx="2"/>
            <a:endCxn id="145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463" name="Google Shape;1463;p68"/>
          <p:cNvCxnSpPr>
            <a:stCxn id="1453" idx="2"/>
            <a:endCxn id="1450"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464" name="Google Shape;1464;p68"/>
          <p:cNvCxnSpPr>
            <a:stCxn id="1453" idx="1"/>
            <a:endCxn id="144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465" name="Google Shape;1465;p68"/>
          <p:cNvCxnSpPr>
            <a:stCxn id="1452" idx="0"/>
            <a:endCxn id="145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466" name="Google Shape;1466;p68"/>
          <p:cNvCxnSpPr>
            <a:stCxn id="1451" idx="7"/>
            <a:endCxn id="145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467" name="Google Shape;1467;p68"/>
          <p:cNvCxnSpPr>
            <a:stCxn id="1452" idx="1"/>
            <a:endCxn id="145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468" name="Google Shape;1468;p68"/>
          <p:cNvCxnSpPr>
            <a:stCxn id="1450" idx="2"/>
            <a:endCxn id="1448"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469" name="Google Shape;1469;p68"/>
          <p:cNvCxnSpPr>
            <a:stCxn id="1451" idx="0"/>
            <a:endCxn id="144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470" name="Google Shape;1470;p68"/>
          <p:cNvCxnSpPr>
            <a:stCxn id="1450" idx="0"/>
            <a:endCxn id="144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471" name="Google Shape;1471;p68"/>
          <p:cNvCxnSpPr>
            <a:stCxn id="1448" idx="7"/>
            <a:endCxn id="1449"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472" name="Google Shape;1472;p68"/>
          <p:cNvCxnSpPr>
            <a:stCxn id="1448" idx="2"/>
            <a:endCxn id="1446"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473" name="Google Shape;1473;p68"/>
          <p:cNvCxnSpPr>
            <a:stCxn id="1447" idx="0"/>
            <a:endCxn id="1446"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474" name="Google Shape;1474;p68"/>
          <p:cNvCxnSpPr>
            <a:stCxn id="1446" idx="3"/>
            <a:endCxn id="1445"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475" name="Google Shape;1475;p68"/>
          <p:cNvCxnSpPr>
            <a:stCxn id="1444" idx="5"/>
            <a:endCxn id="144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476" name="Google Shape;1476;p68"/>
          <p:cNvCxnSpPr>
            <a:stCxn id="1441" idx="4"/>
            <a:endCxn id="144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477" name="Google Shape;1477;p68"/>
          <p:cNvCxnSpPr>
            <a:stCxn id="1446" idx="1"/>
            <a:endCxn id="1441"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478" name="Google Shape;1478;p68"/>
          <p:cNvCxnSpPr>
            <a:stCxn id="1444" idx="2"/>
            <a:endCxn id="144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479" name="Google Shape;1479;p68"/>
          <p:cNvCxnSpPr>
            <a:stCxn id="1444" idx="0"/>
            <a:endCxn id="144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480" name="Google Shape;1480;p68"/>
          <p:cNvCxnSpPr>
            <a:stCxn id="1442" idx="3"/>
            <a:endCxn id="144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481" name="Google Shape;1481;p68"/>
          <p:cNvCxnSpPr>
            <a:stCxn id="1439" idx="4"/>
            <a:endCxn id="144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482" name="Google Shape;1482;p68"/>
          <p:cNvCxnSpPr>
            <a:stCxn id="1440" idx="2"/>
            <a:endCxn id="143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483" name="Google Shape;1483;p68"/>
          <p:cNvCxnSpPr>
            <a:stCxn id="1440" idx="3"/>
            <a:endCxn id="144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484" name="Google Shape;1484;p68"/>
          <p:cNvCxnSpPr>
            <a:stCxn id="1441" idx="2"/>
            <a:endCxn id="143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485" name="Google Shape;1485;p68"/>
          <p:cNvCxnSpPr>
            <a:stCxn id="1441" idx="1"/>
            <a:endCxn id="144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486" name="Google Shape;1486;p68"/>
          <p:cNvCxnSpPr>
            <a:stCxn id="1441" idx="2"/>
            <a:endCxn id="144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487" name="Google Shape;1487;p68"/>
          <p:cNvCxnSpPr>
            <a:stCxn id="1442" idx="1"/>
            <a:endCxn id="143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488" name="Google Shape;1488;p68"/>
          <p:cNvCxnSpPr>
            <a:stCxn id="1450" idx="6"/>
            <a:endCxn id="145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489" name="Google Shape;1489;p68"/>
          <p:cNvSpPr/>
          <p:nvPr/>
        </p:nvSpPr>
        <p:spPr>
          <a:xfrm>
            <a:off x="3776375" y="1033950"/>
            <a:ext cx="1725600" cy="200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s is far away from most other nodes!</a:t>
            </a:r>
            <a:endParaRPr b="1">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69"/>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495" name="Google Shape;1495;p6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496" name="Google Shape;1496;p6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497" name="Google Shape;1497;p69"/>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498" name="Google Shape;1498;p69"/>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499" name="Google Shape;1499;p6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500" name="Google Shape;1500;p6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501" name="Google Shape;1501;p6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502" name="Google Shape;1502;p6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503" name="Google Shape;1503;p69"/>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504" name="Google Shape;1504;p6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505" name="Google Shape;1505;p69"/>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506" name="Google Shape;1506;p6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507" name="Google Shape;1507;p6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508" name="Google Shape;1508;p6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509" name="Google Shape;1509;p6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510" name="Google Shape;1510;p6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511" name="Google Shape;1511;p6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512" name="Google Shape;1512;p6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513" name="Google Shape;1513;p69"/>
          <p:cNvCxnSpPr>
            <a:stCxn id="1512" idx="2"/>
            <a:endCxn id="151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514" name="Google Shape;1514;p69"/>
          <p:cNvCxnSpPr>
            <a:stCxn id="1510" idx="0"/>
            <a:endCxn id="151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515" name="Google Shape;1515;p69"/>
          <p:cNvCxnSpPr>
            <a:stCxn id="1509" idx="2"/>
            <a:endCxn id="151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516" name="Google Shape;1516;p69"/>
          <p:cNvCxnSpPr>
            <a:stCxn id="1509" idx="2"/>
            <a:endCxn id="150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517" name="Google Shape;1517;p69"/>
          <p:cNvCxnSpPr>
            <a:stCxn id="1509" idx="2"/>
            <a:endCxn id="150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518" name="Google Shape;1518;p69"/>
          <p:cNvCxnSpPr>
            <a:stCxn id="1508" idx="2"/>
            <a:endCxn id="150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519" name="Google Shape;1519;p69"/>
          <p:cNvCxnSpPr>
            <a:stCxn id="1508" idx="1"/>
            <a:endCxn id="150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520" name="Google Shape;1520;p69"/>
          <p:cNvCxnSpPr>
            <a:stCxn id="1507" idx="0"/>
            <a:endCxn id="150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521" name="Google Shape;1521;p69"/>
          <p:cNvCxnSpPr>
            <a:stCxn id="1506" idx="7"/>
            <a:endCxn id="150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522" name="Google Shape;1522;p69"/>
          <p:cNvCxnSpPr>
            <a:stCxn id="1507" idx="1"/>
            <a:endCxn id="150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523" name="Google Shape;1523;p69"/>
          <p:cNvCxnSpPr>
            <a:stCxn id="1505" idx="2"/>
            <a:endCxn id="150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524" name="Google Shape;1524;p69"/>
          <p:cNvCxnSpPr>
            <a:stCxn id="1506" idx="0"/>
            <a:endCxn id="150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525" name="Google Shape;1525;p69"/>
          <p:cNvCxnSpPr>
            <a:stCxn id="1505" idx="0"/>
            <a:endCxn id="150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526" name="Google Shape;1526;p69"/>
          <p:cNvCxnSpPr>
            <a:stCxn id="1503" idx="7"/>
            <a:endCxn id="150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527" name="Google Shape;1527;p69"/>
          <p:cNvCxnSpPr>
            <a:stCxn id="1503" idx="2"/>
            <a:endCxn id="150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528" name="Google Shape;1528;p69"/>
          <p:cNvCxnSpPr>
            <a:stCxn id="1502" idx="0"/>
            <a:endCxn id="150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529" name="Google Shape;1529;p69"/>
          <p:cNvCxnSpPr>
            <a:stCxn id="1501" idx="3"/>
            <a:endCxn id="150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530" name="Google Shape;1530;p69"/>
          <p:cNvCxnSpPr>
            <a:stCxn id="1499" idx="5"/>
            <a:endCxn id="150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531" name="Google Shape;1531;p69"/>
          <p:cNvCxnSpPr>
            <a:stCxn id="1496" idx="4"/>
            <a:endCxn id="149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532" name="Google Shape;1532;p69"/>
          <p:cNvCxnSpPr>
            <a:stCxn id="1501" idx="1"/>
            <a:endCxn id="149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533" name="Google Shape;1533;p69"/>
          <p:cNvCxnSpPr>
            <a:stCxn id="1499" idx="2"/>
            <a:endCxn id="149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534" name="Google Shape;1534;p69"/>
          <p:cNvCxnSpPr>
            <a:stCxn id="1499" idx="0"/>
            <a:endCxn id="149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535" name="Google Shape;1535;p69"/>
          <p:cNvCxnSpPr>
            <a:stCxn id="1497" idx="3"/>
            <a:endCxn id="149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536" name="Google Shape;1536;p69"/>
          <p:cNvCxnSpPr>
            <a:stCxn id="1494" idx="4"/>
            <a:endCxn id="149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537" name="Google Shape;1537;p69"/>
          <p:cNvCxnSpPr>
            <a:stCxn id="1495" idx="2"/>
            <a:endCxn id="149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538" name="Google Shape;1538;p69"/>
          <p:cNvCxnSpPr>
            <a:stCxn id="1495" idx="3"/>
            <a:endCxn id="149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539" name="Google Shape;1539;p69"/>
          <p:cNvCxnSpPr>
            <a:stCxn id="1496" idx="2"/>
            <a:endCxn id="149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540" name="Google Shape;1540;p69"/>
          <p:cNvCxnSpPr>
            <a:stCxn id="1496" idx="1"/>
            <a:endCxn id="149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541" name="Google Shape;1541;p69"/>
          <p:cNvCxnSpPr>
            <a:stCxn id="1496" idx="2"/>
            <a:endCxn id="149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542" name="Google Shape;1542;p69"/>
          <p:cNvCxnSpPr>
            <a:stCxn id="1497" idx="1"/>
            <a:endCxn id="149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543" name="Google Shape;1543;p69"/>
          <p:cNvCxnSpPr>
            <a:stCxn id="1505" idx="6"/>
            <a:endCxn id="151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graphicFrame>
        <p:nvGraphicFramePr>
          <p:cNvPr id="1544" name="Google Shape;1544;p69"/>
          <p:cNvGraphicFramePr/>
          <p:nvPr/>
        </p:nvGraphicFramePr>
        <p:xfrm>
          <a:off x="633450" y="236375"/>
          <a:ext cx="3000000" cy="3000000"/>
        </p:xfrm>
        <a:graphic>
          <a:graphicData uri="http://schemas.openxmlformats.org/drawingml/2006/table">
            <a:tbl>
              <a:tblPr>
                <a:noFill/>
                <a:tableStyleId>{B37DEEDC-AE2E-4B14-ACF6-3FA4F663FCEB}</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a</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b</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c</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d</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e</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f</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g</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h</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i</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j</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k</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l</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m</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n</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o</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p</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q</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r</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s</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0.39</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0.45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0.46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0.43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0.34</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 = N \frac{1}{\sum_j d_{ij}}" id="1545" name="Google Shape;1545;p69"/>
          <p:cNvPicPr preferRelativeResize="0"/>
          <p:nvPr/>
        </p:nvPicPr>
        <p:blipFill>
          <a:blip r:embed="rId3">
            <a:alphaModFix/>
          </a:blip>
          <a:stretch>
            <a:fillRect/>
          </a:stretch>
        </p:blipFill>
        <p:spPr>
          <a:xfrm>
            <a:off x="3615650" y="1137175"/>
            <a:ext cx="1828801" cy="55949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551" name="Google Shape;1551;p70"/>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552" name="Google Shape;1552;p7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553" name="Google Shape;1553;p7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554" name="Google Shape;1554;p70"/>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555" name="Google Shape;1555;p7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556" name="Google Shape;1556;p7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557" name="Google Shape;1557;p70"/>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558" name="Google Shape;1558;p7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559" name="Google Shape;1559;p7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560" name="Google Shape;1560;p70"/>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561" name="Google Shape;1561;p7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562" name="Google Shape;1562;p70"/>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563" name="Google Shape;1563;p7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564" name="Google Shape;1564;p7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565" name="Google Shape;1565;p7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566" name="Google Shape;1566;p7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567" name="Google Shape;1567;p7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568" name="Google Shape;1568;p7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569" name="Google Shape;1569;p70"/>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570" name="Google Shape;1570;p70"/>
          <p:cNvCxnSpPr>
            <a:stCxn id="1569" idx="2"/>
            <a:endCxn id="1568"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571" name="Google Shape;1571;p70"/>
          <p:cNvCxnSpPr>
            <a:stCxn id="1567" idx="0"/>
            <a:endCxn id="1568"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572" name="Google Shape;1572;p70"/>
          <p:cNvCxnSpPr>
            <a:stCxn id="1566" idx="2"/>
            <a:endCxn id="1567"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573" name="Google Shape;1573;p70"/>
          <p:cNvCxnSpPr>
            <a:stCxn id="1566" idx="2"/>
            <a:endCxn id="1562"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574" name="Google Shape;1574;p70"/>
          <p:cNvCxnSpPr>
            <a:stCxn id="1566" idx="2"/>
            <a:endCxn id="1565"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575" name="Google Shape;1575;p70"/>
          <p:cNvCxnSpPr>
            <a:stCxn id="1565" idx="2"/>
            <a:endCxn id="1562"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576" name="Google Shape;1576;p70"/>
          <p:cNvCxnSpPr>
            <a:stCxn id="1565" idx="1"/>
            <a:endCxn id="1561"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577" name="Google Shape;1577;p70"/>
          <p:cNvCxnSpPr>
            <a:stCxn id="1564" idx="0"/>
            <a:endCxn id="1562"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578" name="Google Shape;1578;p70"/>
          <p:cNvCxnSpPr>
            <a:stCxn id="1563" idx="7"/>
            <a:endCxn id="1562"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579" name="Google Shape;1579;p70"/>
          <p:cNvCxnSpPr>
            <a:stCxn id="1564" idx="1"/>
            <a:endCxn id="1563"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580" name="Google Shape;1580;p70"/>
          <p:cNvCxnSpPr>
            <a:stCxn id="1562" idx="2"/>
            <a:endCxn id="1560"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581" name="Google Shape;1581;p70"/>
          <p:cNvCxnSpPr>
            <a:stCxn id="1563" idx="0"/>
            <a:endCxn id="1560"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582" name="Google Shape;1582;p70"/>
          <p:cNvCxnSpPr>
            <a:stCxn id="1562" idx="0"/>
            <a:endCxn id="1561"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583" name="Google Shape;1583;p70"/>
          <p:cNvCxnSpPr>
            <a:stCxn id="1560" idx="7"/>
            <a:endCxn id="1561"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584" name="Google Shape;1584;p70"/>
          <p:cNvCxnSpPr>
            <a:stCxn id="1560" idx="2"/>
            <a:endCxn id="1558"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585" name="Google Shape;1585;p70"/>
          <p:cNvCxnSpPr>
            <a:stCxn id="1559" idx="0"/>
            <a:endCxn id="1558"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586" name="Google Shape;1586;p70"/>
          <p:cNvCxnSpPr>
            <a:stCxn id="1558" idx="3"/>
            <a:endCxn id="1557"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587" name="Google Shape;1587;p70"/>
          <p:cNvCxnSpPr>
            <a:stCxn id="1556" idx="5"/>
            <a:endCxn id="1557"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588" name="Google Shape;1588;p70"/>
          <p:cNvCxnSpPr>
            <a:stCxn id="1553" idx="4"/>
            <a:endCxn id="1556"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589" name="Google Shape;1589;p70"/>
          <p:cNvCxnSpPr>
            <a:stCxn id="1558" idx="1"/>
            <a:endCxn id="1553"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590" name="Google Shape;1590;p70"/>
          <p:cNvCxnSpPr>
            <a:stCxn id="1556" idx="2"/>
            <a:endCxn id="1555"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591" name="Google Shape;1591;p70"/>
          <p:cNvCxnSpPr>
            <a:stCxn id="1556" idx="0"/>
            <a:endCxn id="1554"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592" name="Google Shape;1592;p70"/>
          <p:cNvCxnSpPr>
            <a:stCxn id="1554" idx="3"/>
            <a:endCxn id="1555"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593" name="Google Shape;1593;p70"/>
          <p:cNvCxnSpPr>
            <a:stCxn id="1551" idx="4"/>
            <a:endCxn id="155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594" name="Google Shape;1594;p70"/>
          <p:cNvCxnSpPr>
            <a:stCxn id="1552" idx="2"/>
            <a:endCxn id="1551"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595" name="Google Shape;1595;p70"/>
          <p:cNvCxnSpPr>
            <a:stCxn id="1552" idx="3"/>
            <a:endCxn id="1554"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596" name="Google Shape;1596;p70"/>
          <p:cNvCxnSpPr>
            <a:stCxn id="1553" idx="2"/>
            <a:endCxn id="1551"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597" name="Google Shape;1597;p70"/>
          <p:cNvCxnSpPr>
            <a:stCxn id="1553" idx="1"/>
            <a:endCxn id="1552"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598" name="Google Shape;1598;p70"/>
          <p:cNvCxnSpPr>
            <a:stCxn id="1553" idx="2"/>
            <a:endCxn id="1554"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599" name="Google Shape;1599;p70"/>
          <p:cNvCxnSpPr>
            <a:stCxn id="1554" idx="1"/>
            <a:endCxn id="1551"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600" name="Google Shape;1600;p70"/>
          <p:cNvCxnSpPr>
            <a:stCxn id="1562" idx="6"/>
            <a:endCxn id="1567"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601" name="Google Shape;1601;p70"/>
          <p:cNvSpPr txBox="1"/>
          <p:nvPr/>
        </p:nvSpPr>
        <p:spPr>
          <a:xfrm>
            <a:off x="2891325" y="1178425"/>
            <a:ext cx="4214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 node that is in the </a:t>
            </a:r>
            <a:r>
              <a:rPr b="1" lang="en">
                <a:latin typeface="Open Sans"/>
                <a:ea typeface="Open Sans"/>
                <a:cs typeface="Open Sans"/>
                <a:sym typeface="Open Sans"/>
              </a:rPr>
              <a:t>middle</a:t>
            </a:r>
            <a:r>
              <a:rPr lang="en">
                <a:latin typeface="Open Sans"/>
                <a:ea typeface="Open Sans"/>
                <a:cs typeface="Open Sans"/>
                <a:sym typeface="Open Sans"/>
              </a:rPr>
              <a:t> of the largest number of </a:t>
            </a:r>
            <a:r>
              <a:rPr b="1" lang="en">
                <a:latin typeface="Open Sans"/>
                <a:ea typeface="Open Sans"/>
                <a:cs typeface="Open Sans"/>
                <a:sym typeface="Open Sans"/>
              </a:rPr>
              <a:t>shortest paths</a:t>
            </a:r>
            <a:r>
              <a:rPr lang="en">
                <a:latin typeface="Open Sans"/>
                <a:ea typeface="Open Sans"/>
                <a:cs typeface="Open Sans"/>
                <a:sym typeface="Open Sans"/>
              </a:rPr>
              <a:t> indirectly connecting the </a:t>
            </a:r>
            <a:r>
              <a:rPr b="1" lang="en">
                <a:latin typeface="Open Sans"/>
                <a:ea typeface="Open Sans"/>
                <a:cs typeface="Open Sans"/>
                <a:sym typeface="Open Sans"/>
              </a:rPr>
              <a:t>other pairs of nodes</a:t>
            </a:r>
            <a:r>
              <a:rPr lang="en">
                <a:latin typeface="Open Sans"/>
                <a:ea typeface="Open Sans"/>
                <a:cs typeface="Open Sans"/>
                <a:sym typeface="Open Sans"/>
              </a:rPr>
              <a:t> in the graph has the largest </a:t>
            </a:r>
            <a:r>
              <a:rPr b="1" lang="en">
                <a:latin typeface="Open Sans"/>
                <a:ea typeface="Open Sans"/>
                <a:cs typeface="Open Sans"/>
                <a:sym typeface="Open Sans"/>
              </a:rPr>
              <a:t>betweenness centrality</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sp>
        <p:nvSpPr>
          <p:cNvPr id="1606" name="Google Shape;1606;p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607" name="Google Shape;1607;p71"/>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608" name="Google Shape;1608;p71"/>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609" name="Google Shape;1609;p71"/>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610" name="Google Shape;1610;p71"/>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611" name="Google Shape;1611;p71"/>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612" name="Google Shape;1612;p71"/>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613" name="Google Shape;1613;p71"/>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614" name="Google Shape;1614;p71"/>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615" name="Google Shape;1615;p71"/>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616" name="Google Shape;1616;p71"/>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617" name="Google Shape;1617;p71"/>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618" name="Google Shape;1618;p71"/>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619" name="Google Shape;1619;p71"/>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620" name="Google Shape;1620;p71"/>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621" name="Google Shape;1621;p71"/>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622" name="Google Shape;1622;p71"/>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623" name="Google Shape;1623;p71"/>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624" name="Google Shape;1624;p71"/>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625" name="Google Shape;1625;p71"/>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626" name="Google Shape;1626;p71"/>
          <p:cNvCxnSpPr>
            <a:stCxn id="1625" idx="2"/>
            <a:endCxn id="162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627" name="Google Shape;1627;p71"/>
          <p:cNvCxnSpPr>
            <a:stCxn id="1623" idx="0"/>
            <a:endCxn id="162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628" name="Google Shape;1628;p71"/>
          <p:cNvCxnSpPr>
            <a:stCxn id="1622" idx="2"/>
            <a:endCxn id="162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629" name="Google Shape;1629;p71"/>
          <p:cNvCxnSpPr>
            <a:stCxn id="1622" idx="2"/>
            <a:endCxn id="161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630" name="Google Shape;1630;p71"/>
          <p:cNvCxnSpPr>
            <a:stCxn id="1622" idx="2"/>
            <a:endCxn id="162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631" name="Google Shape;1631;p71"/>
          <p:cNvCxnSpPr>
            <a:stCxn id="1621" idx="2"/>
            <a:endCxn id="161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632" name="Google Shape;1632;p71"/>
          <p:cNvCxnSpPr>
            <a:stCxn id="1621" idx="1"/>
            <a:endCxn id="161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633" name="Google Shape;1633;p71"/>
          <p:cNvCxnSpPr>
            <a:stCxn id="1620" idx="0"/>
            <a:endCxn id="161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634" name="Google Shape;1634;p71"/>
          <p:cNvCxnSpPr>
            <a:stCxn id="1619" idx="7"/>
            <a:endCxn id="161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635" name="Google Shape;1635;p71"/>
          <p:cNvCxnSpPr>
            <a:stCxn id="1620" idx="1"/>
            <a:endCxn id="161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636" name="Google Shape;1636;p71"/>
          <p:cNvCxnSpPr>
            <a:stCxn id="1618" idx="2"/>
            <a:endCxn id="161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637" name="Google Shape;1637;p71"/>
          <p:cNvCxnSpPr>
            <a:stCxn id="1619" idx="0"/>
            <a:endCxn id="161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638" name="Google Shape;1638;p71"/>
          <p:cNvCxnSpPr>
            <a:stCxn id="1618" idx="0"/>
            <a:endCxn id="161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639" name="Google Shape;1639;p71"/>
          <p:cNvCxnSpPr>
            <a:stCxn id="1616" idx="7"/>
            <a:endCxn id="161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640" name="Google Shape;1640;p71"/>
          <p:cNvCxnSpPr>
            <a:stCxn id="1616" idx="2"/>
            <a:endCxn id="1614"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641" name="Google Shape;1641;p71"/>
          <p:cNvCxnSpPr>
            <a:stCxn id="1615" idx="0"/>
            <a:endCxn id="161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642" name="Google Shape;1642;p71"/>
          <p:cNvCxnSpPr>
            <a:stCxn id="1614" idx="3"/>
            <a:endCxn id="161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643" name="Google Shape;1643;p71"/>
          <p:cNvCxnSpPr>
            <a:stCxn id="1612" idx="5"/>
            <a:endCxn id="161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644" name="Google Shape;1644;p71"/>
          <p:cNvCxnSpPr>
            <a:stCxn id="1609" idx="4"/>
            <a:endCxn id="161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645" name="Google Shape;1645;p71"/>
          <p:cNvCxnSpPr>
            <a:stCxn id="1614" idx="1"/>
            <a:endCxn id="160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646" name="Google Shape;1646;p71"/>
          <p:cNvCxnSpPr>
            <a:stCxn id="1612" idx="2"/>
            <a:endCxn id="161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647" name="Google Shape;1647;p71"/>
          <p:cNvCxnSpPr>
            <a:stCxn id="1612" idx="0"/>
            <a:endCxn id="161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648" name="Google Shape;1648;p71"/>
          <p:cNvCxnSpPr>
            <a:stCxn id="1610" idx="3"/>
            <a:endCxn id="161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649" name="Google Shape;1649;p71"/>
          <p:cNvCxnSpPr>
            <a:stCxn id="1607" idx="4"/>
            <a:endCxn id="161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650" name="Google Shape;1650;p71"/>
          <p:cNvCxnSpPr>
            <a:stCxn id="1608" idx="2"/>
            <a:endCxn id="160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651" name="Google Shape;1651;p71"/>
          <p:cNvCxnSpPr>
            <a:stCxn id="1608" idx="3"/>
            <a:endCxn id="161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652" name="Google Shape;1652;p71"/>
          <p:cNvCxnSpPr>
            <a:stCxn id="1609" idx="2"/>
            <a:endCxn id="160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653" name="Google Shape;1653;p71"/>
          <p:cNvCxnSpPr>
            <a:stCxn id="1609" idx="1"/>
            <a:endCxn id="160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654" name="Google Shape;1654;p71"/>
          <p:cNvCxnSpPr>
            <a:stCxn id="1609" idx="2"/>
            <a:endCxn id="161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655" name="Google Shape;1655;p71"/>
          <p:cNvCxnSpPr>
            <a:stCxn id="1610" idx="1"/>
            <a:endCxn id="160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656" name="Google Shape;1656;p71"/>
          <p:cNvCxnSpPr>
            <a:stCxn id="1618" idx="6"/>
            <a:endCxn id="162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657" name="Google Shape;1657;p71"/>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a:t>
            </a:r>
            <a:r>
              <a:rPr b="1" lang="en">
                <a:solidFill>
                  <a:srgbClr val="FF0000"/>
                </a:solidFill>
              </a:rPr>
              <a:t>graph,</a:t>
            </a:r>
            <a:r>
              <a:rPr b="1" lang="en">
                <a:solidFill>
                  <a:srgbClr val="FF0000"/>
                </a:solidFill>
              </a:rPr>
              <a:t> this node has the largest betweenness centrality!</a:t>
            </a:r>
            <a:endParaRPr b="1">
              <a:solidFill>
                <a:srgbClr val="FF0000"/>
              </a:solidFill>
            </a:endParaRPr>
          </a:p>
        </p:txBody>
      </p:sp>
      <p:cxnSp>
        <p:nvCxnSpPr>
          <p:cNvPr id="1658" name="Google Shape;1658;p71"/>
          <p:cNvCxnSpPr>
            <a:stCxn id="1657" idx="4"/>
            <a:endCxn id="1614" idx="0"/>
          </p:cNvCxnSpPr>
          <p:nvPr/>
        </p:nvCxnSpPr>
        <p:spPr>
          <a:xfrm flipH="1">
            <a:off x="3867075" y="2027425"/>
            <a:ext cx="641400" cy="1318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2" name="Shape 1662"/>
        <p:cNvGrpSpPr/>
        <p:nvPr/>
      </p:nvGrpSpPr>
      <p:grpSpPr>
        <a:xfrm>
          <a:off x="0" y="0"/>
          <a:ext cx="0" cy="0"/>
          <a:chOff x="0" y="0"/>
          <a:chExt cx="0" cy="0"/>
        </a:xfrm>
      </p:grpSpPr>
      <p:sp>
        <p:nvSpPr>
          <p:cNvPr id="1663" name="Google Shape;1663;p7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664" name="Google Shape;1664;p7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665" name="Google Shape;1665;p7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666" name="Google Shape;1666;p72"/>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667" name="Google Shape;1667;p7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668" name="Google Shape;1668;p7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669" name="Google Shape;1669;p7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670" name="Google Shape;1670;p7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671" name="Google Shape;1671;p72"/>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672" name="Google Shape;1672;p7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673" name="Google Shape;1673;p72"/>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674" name="Google Shape;1674;p7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675" name="Google Shape;1675;p72"/>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676" name="Google Shape;1676;p7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677" name="Google Shape;1677;p7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678" name="Google Shape;1678;p7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679" name="Google Shape;1679;p7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680" name="Google Shape;1680;p7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681" name="Google Shape;1681;p7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682" name="Google Shape;1682;p7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683" name="Google Shape;1683;p72"/>
          <p:cNvCxnSpPr>
            <a:stCxn id="1682" idx="2"/>
            <a:endCxn id="168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684" name="Google Shape;1684;p72"/>
          <p:cNvCxnSpPr>
            <a:stCxn id="1680" idx="0"/>
            <a:endCxn id="168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685" name="Google Shape;1685;p72"/>
          <p:cNvCxnSpPr>
            <a:stCxn id="1679" idx="2"/>
            <a:endCxn id="168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686" name="Google Shape;1686;p72"/>
          <p:cNvCxnSpPr>
            <a:stCxn id="1679" idx="2"/>
            <a:endCxn id="167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687" name="Google Shape;1687;p72"/>
          <p:cNvCxnSpPr>
            <a:stCxn id="1679" idx="2"/>
            <a:endCxn id="167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688" name="Google Shape;1688;p72"/>
          <p:cNvCxnSpPr>
            <a:stCxn id="1678" idx="2"/>
            <a:endCxn id="167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689" name="Google Shape;1689;p72"/>
          <p:cNvCxnSpPr>
            <a:stCxn id="1678" idx="1"/>
            <a:endCxn id="167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690" name="Google Shape;1690;p72"/>
          <p:cNvCxnSpPr>
            <a:stCxn id="1677" idx="0"/>
            <a:endCxn id="167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691" name="Google Shape;1691;p72"/>
          <p:cNvCxnSpPr>
            <a:stCxn id="1676" idx="7"/>
            <a:endCxn id="167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692" name="Google Shape;1692;p72"/>
          <p:cNvCxnSpPr>
            <a:stCxn id="1677" idx="1"/>
            <a:endCxn id="167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693" name="Google Shape;1693;p72"/>
          <p:cNvCxnSpPr>
            <a:stCxn id="1675" idx="2"/>
            <a:endCxn id="167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694" name="Google Shape;1694;p72"/>
          <p:cNvCxnSpPr>
            <a:stCxn id="1676" idx="0"/>
            <a:endCxn id="167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695" name="Google Shape;1695;p72"/>
          <p:cNvCxnSpPr>
            <a:stCxn id="1675" idx="0"/>
            <a:endCxn id="167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696" name="Google Shape;1696;p72"/>
          <p:cNvCxnSpPr>
            <a:stCxn id="1673" idx="7"/>
            <a:endCxn id="167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697" name="Google Shape;1697;p72"/>
          <p:cNvCxnSpPr>
            <a:stCxn id="1673" idx="2"/>
            <a:endCxn id="1671"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698" name="Google Shape;1698;p72"/>
          <p:cNvCxnSpPr>
            <a:stCxn id="1672" idx="0"/>
            <a:endCxn id="167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699" name="Google Shape;1699;p72"/>
          <p:cNvCxnSpPr>
            <a:stCxn id="1671" idx="3"/>
            <a:endCxn id="167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700" name="Google Shape;1700;p72"/>
          <p:cNvCxnSpPr>
            <a:stCxn id="1669" idx="5"/>
            <a:endCxn id="167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701" name="Google Shape;1701;p72"/>
          <p:cNvCxnSpPr>
            <a:stCxn id="1666" idx="4"/>
            <a:endCxn id="166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702" name="Google Shape;1702;p72"/>
          <p:cNvCxnSpPr>
            <a:stCxn id="1671" idx="1"/>
            <a:endCxn id="1666"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1703" name="Google Shape;1703;p72"/>
          <p:cNvCxnSpPr>
            <a:stCxn id="1669" idx="2"/>
            <a:endCxn id="166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704" name="Google Shape;1704;p72"/>
          <p:cNvCxnSpPr>
            <a:stCxn id="1669" idx="0"/>
            <a:endCxn id="166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705" name="Google Shape;1705;p72"/>
          <p:cNvCxnSpPr>
            <a:stCxn id="1667" idx="3"/>
            <a:endCxn id="166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706" name="Google Shape;1706;p72"/>
          <p:cNvCxnSpPr>
            <a:stCxn id="1664" idx="4"/>
            <a:endCxn id="166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707" name="Google Shape;1707;p72"/>
          <p:cNvCxnSpPr>
            <a:stCxn id="1665" idx="2"/>
            <a:endCxn id="166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708" name="Google Shape;1708;p72"/>
          <p:cNvCxnSpPr>
            <a:stCxn id="1665" idx="3"/>
            <a:endCxn id="166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709" name="Google Shape;1709;p72"/>
          <p:cNvCxnSpPr>
            <a:stCxn id="1666" idx="2"/>
            <a:endCxn id="166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710" name="Google Shape;1710;p72"/>
          <p:cNvCxnSpPr>
            <a:stCxn id="1666" idx="1"/>
            <a:endCxn id="166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711" name="Google Shape;1711;p72"/>
          <p:cNvCxnSpPr>
            <a:stCxn id="1666" idx="2"/>
            <a:endCxn id="166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712" name="Google Shape;1712;p72"/>
          <p:cNvCxnSpPr>
            <a:stCxn id="1667" idx="1"/>
            <a:endCxn id="166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713" name="Google Shape;1713;p72"/>
          <p:cNvCxnSpPr>
            <a:stCxn id="1675" idx="6"/>
            <a:endCxn id="168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714" name="Google Shape;1714;p72"/>
          <p:cNvSpPr txBox="1"/>
          <p:nvPr/>
        </p:nvSpPr>
        <p:spPr>
          <a:xfrm>
            <a:off x="2891325" y="1178425"/>
            <a:ext cx="370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g</a:t>
            </a:r>
            <a:r>
              <a:rPr lang="en">
                <a:latin typeface="Open Sans"/>
                <a:ea typeface="Open Sans"/>
                <a:cs typeface="Open Sans"/>
                <a:sym typeface="Open Sans"/>
              </a:rPr>
              <a:t> and </a:t>
            </a:r>
            <a:r>
              <a:rPr b="1" lang="en">
                <a:latin typeface="Open Sans"/>
                <a:ea typeface="Open Sans"/>
                <a:cs typeface="Open Sans"/>
                <a:sym typeface="Open Sans"/>
              </a:rPr>
              <a:t>i</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8" name="Shape 1718"/>
        <p:cNvGrpSpPr/>
        <p:nvPr/>
      </p:nvGrpSpPr>
      <p:grpSpPr>
        <a:xfrm>
          <a:off x="0" y="0"/>
          <a:ext cx="0" cy="0"/>
          <a:chOff x="0" y="0"/>
          <a:chExt cx="0" cy="0"/>
        </a:xfrm>
      </p:grpSpPr>
      <p:sp>
        <p:nvSpPr>
          <p:cNvPr id="1719" name="Google Shape;1719;p7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720" name="Google Shape;1720;p7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721" name="Google Shape;1721;p7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722" name="Google Shape;1722;p7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723" name="Google Shape;1723;p7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724" name="Google Shape;1724;p7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725" name="Google Shape;1725;p7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726" name="Google Shape;1726;p73"/>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727" name="Google Shape;1727;p73"/>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728" name="Google Shape;1728;p7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729" name="Google Shape;1729;p73"/>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730" name="Google Shape;1730;p73"/>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731" name="Google Shape;1731;p7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732" name="Google Shape;1732;p7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733" name="Google Shape;1733;p7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734" name="Google Shape;1734;p7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735" name="Google Shape;1735;p7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736" name="Google Shape;1736;p7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737" name="Google Shape;1737;p7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738" name="Google Shape;1738;p7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739" name="Google Shape;1739;p73"/>
          <p:cNvCxnSpPr>
            <a:stCxn id="1738" idx="2"/>
            <a:endCxn id="173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740" name="Google Shape;1740;p73"/>
          <p:cNvCxnSpPr>
            <a:stCxn id="1736" idx="0"/>
            <a:endCxn id="173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741" name="Google Shape;1741;p73"/>
          <p:cNvCxnSpPr>
            <a:stCxn id="1735" idx="2"/>
            <a:endCxn id="173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742" name="Google Shape;1742;p73"/>
          <p:cNvCxnSpPr>
            <a:stCxn id="1735" idx="2"/>
            <a:endCxn id="173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743" name="Google Shape;1743;p73"/>
          <p:cNvCxnSpPr>
            <a:stCxn id="1735" idx="2"/>
            <a:endCxn id="173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744" name="Google Shape;1744;p73"/>
          <p:cNvCxnSpPr>
            <a:stCxn id="1734" idx="2"/>
            <a:endCxn id="1731"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745" name="Google Shape;1745;p73"/>
          <p:cNvCxnSpPr>
            <a:stCxn id="1734" idx="1"/>
            <a:endCxn id="173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746" name="Google Shape;1746;p73"/>
          <p:cNvCxnSpPr>
            <a:stCxn id="1733" idx="0"/>
            <a:endCxn id="173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747" name="Google Shape;1747;p73"/>
          <p:cNvCxnSpPr>
            <a:stCxn id="1732" idx="7"/>
            <a:endCxn id="173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748" name="Google Shape;1748;p73"/>
          <p:cNvCxnSpPr>
            <a:stCxn id="1733" idx="1"/>
            <a:endCxn id="173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749" name="Google Shape;1749;p73"/>
          <p:cNvCxnSpPr>
            <a:stCxn id="1731" idx="2"/>
            <a:endCxn id="1729"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750" name="Google Shape;1750;p73"/>
          <p:cNvCxnSpPr>
            <a:stCxn id="1732" idx="0"/>
            <a:endCxn id="172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751" name="Google Shape;1751;p73"/>
          <p:cNvCxnSpPr>
            <a:stCxn id="1731" idx="0"/>
            <a:endCxn id="173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752" name="Google Shape;1752;p73"/>
          <p:cNvCxnSpPr>
            <a:stCxn id="1729" idx="7"/>
            <a:endCxn id="1730" idx="4"/>
          </p:cNvCxnSpPr>
          <p:nvPr/>
        </p:nvCxnSpPr>
        <p:spPr>
          <a:xfrm flipH="1" rot="10800000">
            <a:off x="5384318" y="2918818"/>
            <a:ext cx="349500" cy="506100"/>
          </a:xfrm>
          <a:prstGeom prst="straightConnector1">
            <a:avLst/>
          </a:prstGeom>
          <a:noFill/>
          <a:ln cap="flat" cmpd="sng" w="38100">
            <a:solidFill>
              <a:srgbClr val="FF0000"/>
            </a:solidFill>
            <a:prstDash val="solid"/>
            <a:round/>
            <a:headEnd len="med" w="med" type="none"/>
            <a:tailEnd len="med" w="med" type="none"/>
          </a:ln>
        </p:spPr>
      </p:cxnSp>
      <p:cxnSp>
        <p:nvCxnSpPr>
          <p:cNvPr id="1753" name="Google Shape;1753;p73"/>
          <p:cNvCxnSpPr>
            <a:stCxn id="1729" idx="2"/>
            <a:endCxn id="1727"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754" name="Google Shape;1754;p73"/>
          <p:cNvCxnSpPr>
            <a:stCxn id="1728" idx="0"/>
            <a:endCxn id="1727"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755" name="Google Shape;1755;p73"/>
          <p:cNvCxnSpPr>
            <a:stCxn id="1727" idx="3"/>
            <a:endCxn id="1726"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1756" name="Google Shape;1756;p73"/>
          <p:cNvCxnSpPr>
            <a:stCxn id="1725" idx="5"/>
            <a:endCxn id="172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757" name="Google Shape;1757;p73"/>
          <p:cNvCxnSpPr>
            <a:stCxn id="1722" idx="4"/>
            <a:endCxn id="172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758" name="Google Shape;1758;p73"/>
          <p:cNvCxnSpPr>
            <a:stCxn id="1727" idx="1"/>
            <a:endCxn id="1722"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1759" name="Google Shape;1759;p73"/>
          <p:cNvCxnSpPr>
            <a:stCxn id="1725" idx="2"/>
            <a:endCxn id="172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760" name="Google Shape;1760;p73"/>
          <p:cNvCxnSpPr>
            <a:stCxn id="1725" idx="0"/>
            <a:endCxn id="172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761" name="Google Shape;1761;p73"/>
          <p:cNvCxnSpPr>
            <a:stCxn id="1723" idx="3"/>
            <a:endCxn id="172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762" name="Google Shape;1762;p73"/>
          <p:cNvCxnSpPr>
            <a:stCxn id="1720" idx="4"/>
            <a:endCxn id="172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763" name="Google Shape;1763;p73"/>
          <p:cNvCxnSpPr>
            <a:stCxn id="1721" idx="2"/>
            <a:endCxn id="172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764" name="Google Shape;1764;p73"/>
          <p:cNvCxnSpPr>
            <a:stCxn id="1721" idx="3"/>
            <a:endCxn id="172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765" name="Google Shape;1765;p73"/>
          <p:cNvCxnSpPr>
            <a:stCxn id="1722" idx="2"/>
            <a:endCxn id="172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766" name="Google Shape;1766;p73"/>
          <p:cNvCxnSpPr>
            <a:stCxn id="1722" idx="1"/>
            <a:endCxn id="172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767" name="Google Shape;1767;p73"/>
          <p:cNvCxnSpPr>
            <a:stCxn id="1722" idx="2"/>
            <a:endCxn id="172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768" name="Google Shape;1768;p73"/>
          <p:cNvCxnSpPr>
            <a:stCxn id="1723" idx="1"/>
            <a:endCxn id="172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769" name="Google Shape;1769;p73"/>
          <p:cNvCxnSpPr>
            <a:stCxn id="1731" idx="6"/>
            <a:endCxn id="173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770" name="Google Shape;1770;p73"/>
          <p:cNvSpPr txBox="1"/>
          <p:nvPr/>
        </p:nvSpPr>
        <p:spPr>
          <a:xfrm>
            <a:off x="2891325" y="1178425"/>
            <a:ext cx="368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p</a:t>
            </a:r>
            <a:r>
              <a:rPr lang="en">
                <a:latin typeface="Open Sans"/>
                <a:ea typeface="Open Sans"/>
                <a:cs typeface="Open Sans"/>
                <a:sym typeface="Open Sans"/>
              </a:rPr>
              <a:t> and </a:t>
            </a:r>
            <a:r>
              <a:rPr b="1" lang="en">
                <a:latin typeface="Open Sans"/>
                <a:ea typeface="Open Sans"/>
                <a:cs typeface="Open Sans"/>
                <a:sym typeface="Open Sans"/>
              </a:rPr>
              <a:t>c</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7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776" name="Google Shape;1776;p7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777" name="Google Shape;1777;p7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778" name="Google Shape;1778;p74"/>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779" name="Google Shape;1779;p7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780" name="Google Shape;1780;p7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781" name="Google Shape;1781;p7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782" name="Google Shape;1782;p7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783" name="Google Shape;1783;p74"/>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784" name="Google Shape;1784;p74"/>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785" name="Google Shape;1785;p74"/>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786" name="Google Shape;1786;p7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787" name="Google Shape;1787;p74"/>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788" name="Google Shape;1788;p7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789" name="Google Shape;1789;p7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790" name="Google Shape;1790;p74"/>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791" name="Google Shape;1791;p7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792" name="Google Shape;1792;p7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793" name="Google Shape;1793;p7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794" name="Google Shape;1794;p7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795" name="Google Shape;1795;p74"/>
          <p:cNvCxnSpPr>
            <a:stCxn id="1794" idx="2"/>
            <a:endCxn id="179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796" name="Google Shape;1796;p74"/>
          <p:cNvCxnSpPr>
            <a:stCxn id="1792" idx="0"/>
            <a:endCxn id="179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797" name="Google Shape;1797;p74"/>
          <p:cNvCxnSpPr>
            <a:stCxn id="1791" idx="2"/>
            <a:endCxn id="179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798" name="Google Shape;1798;p74"/>
          <p:cNvCxnSpPr>
            <a:stCxn id="1791" idx="2"/>
            <a:endCxn id="1787"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799" name="Google Shape;1799;p74"/>
          <p:cNvCxnSpPr>
            <a:stCxn id="1791" idx="2"/>
            <a:endCxn id="179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800" name="Google Shape;1800;p74"/>
          <p:cNvCxnSpPr>
            <a:stCxn id="1790" idx="2"/>
            <a:endCxn id="1787" idx="6"/>
          </p:cNvCxnSpPr>
          <p:nvPr/>
        </p:nvCxnSpPr>
        <p:spPr>
          <a:xfrm rot="10800000">
            <a:off x="6630138" y="3615550"/>
            <a:ext cx="763800" cy="133500"/>
          </a:xfrm>
          <a:prstGeom prst="straightConnector1">
            <a:avLst/>
          </a:prstGeom>
          <a:noFill/>
          <a:ln cap="flat" cmpd="sng" w="38100">
            <a:solidFill>
              <a:srgbClr val="FF0000"/>
            </a:solidFill>
            <a:prstDash val="solid"/>
            <a:round/>
            <a:headEnd len="med" w="med" type="none"/>
            <a:tailEnd len="med" w="med" type="none"/>
          </a:ln>
        </p:spPr>
      </p:cxnSp>
      <p:cxnSp>
        <p:nvCxnSpPr>
          <p:cNvPr id="1801" name="Google Shape;1801;p74"/>
          <p:cNvCxnSpPr>
            <a:stCxn id="1790" idx="1"/>
            <a:endCxn id="178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802" name="Google Shape;1802;p74"/>
          <p:cNvCxnSpPr>
            <a:stCxn id="1789" idx="0"/>
            <a:endCxn id="1787"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803" name="Google Shape;1803;p74"/>
          <p:cNvCxnSpPr>
            <a:stCxn id="1788" idx="7"/>
            <a:endCxn id="1787"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804" name="Google Shape;1804;p74"/>
          <p:cNvCxnSpPr>
            <a:stCxn id="1789" idx="1"/>
            <a:endCxn id="178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805" name="Google Shape;1805;p74"/>
          <p:cNvCxnSpPr>
            <a:stCxn id="1787" idx="2"/>
            <a:endCxn id="1785"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1806" name="Google Shape;1806;p74"/>
          <p:cNvCxnSpPr>
            <a:stCxn id="1788" idx="0"/>
            <a:endCxn id="178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807" name="Google Shape;1807;p74"/>
          <p:cNvCxnSpPr>
            <a:stCxn id="1787" idx="0"/>
            <a:endCxn id="1786"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808" name="Google Shape;1808;p74"/>
          <p:cNvCxnSpPr>
            <a:stCxn id="1785" idx="7"/>
            <a:endCxn id="1786"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1809" name="Google Shape;1809;p74"/>
          <p:cNvCxnSpPr>
            <a:stCxn id="1785" idx="2"/>
            <a:endCxn id="1783"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810" name="Google Shape;1810;p74"/>
          <p:cNvCxnSpPr>
            <a:stCxn id="1784" idx="0"/>
            <a:endCxn id="1783" idx="4"/>
          </p:cNvCxnSpPr>
          <p:nvPr/>
        </p:nvCxnSpPr>
        <p:spPr>
          <a:xfrm rot="10800000">
            <a:off x="3867013" y="3885475"/>
            <a:ext cx="270300" cy="659400"/>
          </a:xfrm>
          <a:prstGeom prst="straightConnector1">
            <a:avLst/>
          </a:prstGeom>
          <a:noFill/>
          <a:ln cap="flat" cmpd="sng" w="38100">
            <a:solidFill>
              <a:srgbClr val="FF0000"/>
            </a:solidFill>
            <a:prstDash val="solid"/>
            <a:round/>
            <a:headEnd len="med" w="med" type="none"/>
            <a:tailEnd len="med" w="med" type="none"/>
          </a:ln>
        </p:spPr>
      </p:cxnSp>
      <p:cxnSp>
        <p:nvCxnSpPr>
          <p:cNvPr id="1811" name="Google Shape;1811;p74"/>
          <p:cNvCxnSpPr>
            <a:stCxn id="1783" idx="3"/>
            <a:endCxn id="1782"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1812" name="Google Shape;1812;p74"/>
          <p:cNvCxnSpPr>
            <a:stCxn id="1781" idx="5"/>
            <a:endCxn id="1782"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813" name="Google Shape;1813;p74"/>
          <p:cNvCxnSpPr>
            <a:stCxn id="1778" idx="4"/>
            <a:endCxn id="178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814" name="Google Shape;1814;p74"/>
          <p:cNvCxnSpPr>
            <a:stCxn id="1783" idx="1"/>
            <a:endCxn id="1778"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1815" name="Google Shape;1815;p74"/>
          <p:cNvCxnSpPr>
            <a:stCxn id="1781" idx="2"/>
            <a:endCxn id="1780"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816" name="Google Shape;1816;p74"/>
          <p:cNvCxnSpPr>
            <a:stCxn id="1781" idx="0"/>
            <a:endCxn id="177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817" name="Google Shape;1817;p74"/>
          <p:cNvCxnSpPr>
            <a:stCxn id="1779" idx="3"/>
            <a:endCxn id="178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818" name="Google Shape;1818;p74"/>
          <p:cNvCxnSpPr>
            <a:stCxn id="1776" idx="4"/>
            <a:endCxn id="178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819" name="Google Shape;1819;p74"/>
          <p:cNvCxnSpPr>
            <a:stCxn id="1777" idx="2"/>
            <a:endCxn id="177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820" name="Google Shape;1820;p74"/>
          <p:cNvCxnSpPr>
            <a:stCxn id="1777" idx="3"/>
            <a:endCxn id="177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821" name="Google Shape;1821;p74"/>
          <p:cNvCxnSpPr>
            <a:stCxn id="1778" idx="2"/>
            <a:endCxn id="177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822" name="Google Shape;1822;p74"/>
          <p:cNvCxnSpPr>
            <a:stCxn id="1778" idx="1"/>
            <a:endCxn id="177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823" name="Google Shape;1823;p74"/>
          <p:cNvCxnSpPr>
            <a:stCxn id="1778" idx="2"/>
            <a:endCxn id="177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824" name="Google Shape;1824;p74"/>
          <p:cNvCxnSpPr>
            <a:stCxn id="1779" idx="1"/>
            <a:endCxn id="177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825" name="Google Shape;1825;p74"/>
          <p:cNvCxnSpPr>
            <a:stCxn id="1787" idx="6"/>
            <a:endCxn id="1792"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826" name="Google Shape;1826;p74"/>
          <p:cNvSpPr txBox="1"/>
          <p:nvPr/>
        </p:nvSpPr>
        <p:spPr>
          <a:xfrm>
            <a:off x="2891325" y="1178425"/>
            <a:ext cx="368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k</a:t>
            </a:r>
            <a:r>
              <a:rPr lang="en">
                <a:latin typeface="Open Sans"/>
                <a:ea typeface="Open Sans"/>
                <a:cs typeface="Open Sans"/>
                <a:sym typeface="Open Sans"/>
              </a:rPr>
              <a:t> and </a:t>
            </a:r>
            <a:r>
              <a:rPr b="1" lang="en">
                <a:latin typeface="Open Sans"/>
                <a:ea typeface="Open Sans"/>
                <a:cs typeface="Open Sans"/>
                <a:sym typeface="Open Sans"/>
              </a:rPr>
              <a:t>r</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0" name="Shape 1830"/>
        <p:cNvGrpSpPr/>
        <p:nvPr/>
      </p:nvGrpSpPr>
      <p:grpSpPr>
        <a:xfrm>
          <a:off x="0" y="0"/>
          <a:ext cx="0" cy="0"/>
          <a:chOff x="0" y="0"/>
          <a:chExt cx="0" cy="0"/>
        </a:xfrm>
      </p:grpSpPr>
      <p:sp>
        <p:nvSpPr>
          <p:cNvPr id="1831" name="Google Shape;1831;p7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832" name="Google Shape;1832;p7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833" name="Google Shape;1833;p7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834" name="Google Shape;1834;p7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835" name="Google Shape;1835;p7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836" name="Google Shape;1836;p7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837" name="Google Shape;1837;p7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838" name="Google Shape;1838;p7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839" name="Google Shape;1839;p75"/>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840" name="Google Shape;1840;p7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841" name="Google Shape;1841;p75"/>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842" name="Google Shape;1842;p7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843" name="Google Shape;1843;p75"/>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844" name="Google Shape;1844;p7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845" name="Google Shape;1845;p7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846" name="Google Shape;1846;p7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847" name="Google Shape;1847;p7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848" name="Google Shape;1848;p7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849" name="Google Shape;1849;p7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850" name="Google Shape;1850;p7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851" name="Google Shape;1851;p75"/>
          <p:cNvCxnSpPr>
            <a:stCxn id="1850" idx="2"/>
            <a:endCxn id="1849"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852" name="Google Shape;1852;p75"/>
          <p:cNvCxnSpPr>
            <a:stCxn id="1848" idx="0"/>
            <a:endCxn id="1849"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853" name="Google Shape;1853;p75"/>
          <p:cNvCxnSpPr>
            <a:stCxn id="1847" idx="2"/>
            <a:endCxn id="1848"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854" name="Google Shape;1854;p75"/>
          <p:cNvCxnSpPr>
            <a:stCxn id="1847" idx="2"/>
            <a:endCxn id="1843"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855" name="Google Shape;1855;p75"/>
          <p:cNvCxnSpPr>
            <a:stCxn id="1847" idx="2"/>
            <a:endCxn id="1846"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856" name="Google Shape;1856;p75"/>
          <p:cNvCxnSpPr>
            <a:stCxn id="1846" idx="2"/>
            <a:endCxn id="1843"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1857" name="Google Shape;1857;p75"/>
          <p:cNvCxnSpPr>
            <a:stCxn id="1846" idx="1"/>
            <a:endCxn id="1842"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858" name="Google Shape;1858;p75"/>
          <p:cNvCxnSpPr>
            <a:stCxn id="1845" idx="0"/>
            <a:endCxn id="1843"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859" name="Google Shape;1859;p75"/>
          <p:cNvCxnSpPr>
            <a:stCxn id="1844" idx="7"/>
            <a:endCxn id="1843"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860" name="Google Shape;1860;p75"/>
          <p:cNvCxnSpPr>
            <a:stCxn id="1845" idx="1"/>
            <a:endCxn id="1844"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861" name="Google Shape;1861;p75"/>
          <p:cNvCxnSpPr>
            <a:stCxn id="1843" idx="2"/>
            <a:endCxn id="1841"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1862" name="Google Shape;1862;p75"/>
          <p:cNvCxnSpPr>
            <a:stCxn id="1844" idx="0"/>
            <a:endCxn id="1841"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863" name="Google Shape;1863;p75"/>
          <p:cNvCxnSpPr>
            <a:stCxn id="1843" idx="0"/>
            <a:endCxn id="1842"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864" name="Google Shape;1864;p75"/>
          <p:cNvCxnSpPr>
            <a:stCxn id="1841" idx="7"/>
            <a:endCxn id="1842"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1865" name="Google Shape;1865;p75"/>
          <p:cNvCxnSpPr>
            <a:stCxn id="1841" idx="2"/>
            <a:endCxn id="1839"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1866" name="Google Shape;1866;p75"/>
          <p:cNvCxnSpPr>
            <a:stCxn id="1840" idx="0"/>
            <a:endCxn id="1839"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1867" name="Google Shape;1867;p75"/>
          <p:cNvCxnSpPr>
            <a:stCxn id="1839" idx="3"/>
            <a:endCxn id="1838"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1868" name="Google Shape;1868;p75"/>
          <p:cNvCxnSpPr>
            <a:stCxn id="1837" idx="5"/>
            <a:endCxn id="1838"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869" name="Google Shape;1869;p75"/>
          <p:cNvCxnSpPr>
            <a:stCxn id="1834" idx="4"/>
            <a:endCxn id="1837"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870" name="Google Shape;1870;p75"/>
          <p:cNvCxnSpPr>
            <a:stCxn id="1839" idx="1"/>
            <a:endCxn id="1834"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1871" name="Google Shape;1871;p75"/>
          <p:cNvCxnSpPr>
            <a:stCxn id="1837" idx="2"/>
            <a:endCxn id="1836"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872" name="Google Shape;1872;p75"/>
          <p:cNvCxnSpPr>
            <a:stCxn id="1837" idx="0"/>
            <a:endCxn id="1835"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873" name="Google Shape;1873;p75"/>
          <p:cNvCxnSpPr>
            <a:stCxn id="1835" idx="3"/>
            <a:endCxn id="1836"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874" name="Google Shape;1874;p75"/>
          <p:cNvCxnSpPr>
            <a:stCxn id="1832" idx="4"/>
            <a:endCxn id="1836"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875" name="Google Shape;1875;p75"/>
          <p:cNvCxnSpPr>
            <a:stCxn id="1833" idx="2"/>
            <a:endCxn id="1832"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876" name="Google Shape;1876;p75"/>
          <p:cNvCxnSpPr>
            <a:stCxn id="1833" idx="3"/>
            <a:endCxn id="1835"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877" name="Google Shape;1877;p75"/>
          <p:cNvCxnSpPr>
            <a:stCxn id="1834" idx="2"/>
            <a:endCxn id="1832"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878" name="Google Shape;1878;p75"/>
          <p:cNvCxnSpPr>
            <a:stCxn id="1834" idx="1"/>
            <a:endCxn id="1833"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879" name="Google Shape;1879;p75"/>
          <p:cNvCxnSpPr>
            <a:stCxn id="1834" idx="2"/>
            <a:endCxn id="1835"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880" name="Google Shape;1880;p75"/>
          <p:cNvCxnSpPr>
            <a:stCxn id="1835" idx="1"/>
            <a:endCxn id="1832"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881" name="Google Shape;1881;p75"/>
          <p:cNvCxnSpPr>
            <a:stCxn id="1843" idx="6"/>
            <a:endCxn id="1848"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882" name="Google Shape;1882;p75"/>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You can see that </a:t>
            </a:r>
            <a:r>
              <a:rPr b="1" lang="en">
                <a:latin typeface="Open Sans"/>
                <a:ea typeface="Open Sans"/>
                <a:cs typeface="Open Sans"/>
                <a:sym typeface="Open Sans"/>
              </a:rPr>
              <a:t>h</a:t>
            </a:r>
            <a:r>
              <a:rPr lang="en">
                <a:latin typeface="Open Sans"/>
                <a:ea typeface="Open Sans"/>
                <a:cs typeface="Open Sans"/>
                <a:sym typeface="Open Sans"/>
              </a:rPr>
              <a:t> has to be </a:t>
            </a:r>
            <a:r>
              <a:rPr b="1" lang="en">
                <a:latin typeface="Open Sans"/>
                <a:ea typeface="Open Sans"/>
                <a:cs typeface="Open Sans"/>
                <a:sym typeface="Open Sans"/>
              </a:rPr>
              <a:t>high</a:t>
            </a:r>
            <a:r>
              <a:rPr lang="en">
                <a:latin typeface="Open Sans"/>
                <a:ea typeface="Open Sans"/>
                <a:cs typeface="Open Sans"/>
                <a:sym typeface="Open Sans"/>
              </a:rPr>
              <a:t> </a:t>
            </a:r>
            <a:r>
              <a:rPr b="1" lang="en">
                <a:latin typeface="Open Sans"/>
                <a:ea typeface="Open Sans"/>
                <a:cs typeface="Open Sans"/>
                <a:sym typeface="Open Sans"/>
              </a:rPr>
              <a:t>betweenness</a:t>
            </a:r>
            <a:r>
              <a:rPr lang="en">
                <a:latin typeface="Open Sans"/>
                <a:ea typeface="Open Sans"/>
                <a:cs typeface="Open Sans"/>
                <a:sym typeface="Open Sans"/>
              </a:rPr>
              <a:t> because they stand on the shortest paths indirectly connecting the nodes on the </a:t>
            </a:r>
            <a:r>
              <a:rPr b="1" lang="en">
                <a:latin typeface="Open Sans"/>
                <a:ea typeface="Open Sans"/>
                <a:cs typeface="Open Sans"/>
                <a:sym typeface="Open Sans"/>
              </a:rPr>
              <a:t>left</a:t>
            </a:r>
            <a:r>
              <a:rPr lang="en">
                <a:latin typeface="Open Sans"/>
                <a:ea typeface="Open Sans"/>
                <a:cs typeface="Open Sans"/>
                <a:sym typeface="Open Sans"/>
              </a:rPr>
              <a:t> with the nodes on the </a:t>
            </a:r>
            <a:r>
              <a:rPr b="1" lang="en">
                <a:latin typeface="Open Sans"/>
                <a:ea typeface="Open Sans"/>
                <a:cs typeface="Open Sans"/>
                <a:sym typeface="Open Sans"/>
              </a:rPr>
              <a:t>right</a:t>
            </a:r>
            <a:endParaRPr b="1">
              <a:latin typeface="Open Sans"/>
              <a:ea typeface="Open Sans"/>
              <a:cs typeface="Open Sans"/>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sp>
        <p:nvSpPr>
          <p:cNvPr id="1887" name="Google Shape;1887;p7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888" name="Google Shape;1888;p7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889" name="Google Shape;1889;p7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890" name="Google Shape;1890;p7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891" name="Google Shape;1891;p76"/>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892" name="Google Shape;1892;p7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893" name="Google Shape;1893;p7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894" name="Google Shape;1894;p7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895" name="Google Shape;1895;p76"/>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896" name="Google Shape;1896;p76"/>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897" name="Google Shape;1897;p76"/>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898" name="Google Shape;1898;p76"/>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899" name="Google Shape;1899;p76"/>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900" name="Google Shape;1900;p76"/>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901" name="Google Shape;1901;p76"/>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902" name="Google Shape;1902;p76"/>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903" name="Google Shape;1903;p76"/>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904" name="Google Shape;1904;p76"/>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905" name="Google Shape;1905;p76"/>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906" name="Google Shape;1906;p76"/>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907" name="Google Shape;1907;p76"/>
          <p:cNvCxnSpPr>
            <a:stCxn id="1906" idx="2"/>
            <a:endCxn id="190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908" name="Google Shape;1908;p76"/>
          <p:cNvCxnSpPr>
            <a:stCxn id="1904" idx="0"/>
            <a:endCxn id="190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909" name="Google Shape;1909;p76"/>
          <p:cNvCxnSpPr>
            <a:stCxn id="1903" idx="2"/>
            <a:endCxn id="190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910" name="Google Shape;1910;p76"/>
          <p:cNvCxnSpPr>
            <a:stCxn id="1903" idx="2"/>
            <a:endCxn id="189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911" name="Google Shape;1911;p76"/>
          <p:cNvCxnSpPr>
            <a:stCxn id="1903" idx="2"/>
            <a:endCxn id="190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912" name="Google Shape;1912;p76"/>
          <p:cNvCxnSpPr>
            <a:stCxn id="1902" idx="2"/>
            <a:endCxn id="1899"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1913" name="Google Shape;1913;p76"/>
          <p:cNvCxnSpPr>
            <a:stCxn id="1902" idx="1"/>
            <a:endCxn id="189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914" name="Google Shape;1914;p76"/>
          <p:cNvCxnSpPr>
            <a:stCxn id="1901" idx="0"/>
            <a:endCxn id="189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915" name="Google Shape;1915;p76"/>
          <p:cNvCxnSpPr>
            <a:stCxn id="1900" idx="7"/>
            <a:endCxn id="189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916" name="Google Shape;1916;p76"/>
          <p:cNvCxnSpPr>
            <a:stCxn id="1901" idx="1"/>
            <a:endCxn id="190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917" name="Google Shape;1917;p76"/>
          <p:cNvCxnSpPr>
            <a:stCxn id="1899" idx="2"/>
            <a:endCxn id="1897"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1918" name="Google Shape;1918;p76"/>
          <p:cNvCxnSpPr>
            <a:stCxn id="1900" idx="0"/>
            <a:endCxn id="189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919" name="Google Shape;1919;p76"/>
          <p:cNvCxnSpPr>
            <a:stCxn id="1899" idx="0"/>
            <a:endCxn id="189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920" name="Google Shape;1920;p76"/>
          <p:cNvCxnSpPr>
            <a:stCxn id="1897" idx="7"/>
            <a:endCxn id="1898"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1921" name="Google Shape;1921;p76"/>
          <p:cNvCxnSpPr>
            <a:stCxn id="1897" idx="2"/>
            <a:endCxn id="1895"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1922" name="Google Shape;1922;p76"/>
          <p:cNvCxnSpPr>
            <a:stCxn id="1896" idx="0"/>
            <a:endCxn id="1895"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1923" name="Google Shape;1923;p76"/>
          <p:cNvCxnSpPr>
            <a:stCxn id="1895" idx="3"/>
            <a:endCxn id="1894"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1924" name="Google Shape;1924;p76"/>
          <p:cNvCxnSpPr>
            <a:stCxn id="1893" idx="5"/>
            <a:endCxn id="1894"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925" name="Google Shape;1925;p76"/>
          <p:cNvCxnSpPr>
            <a:stCxn id="1890" idx="4"/>
            <a:endCxn id="189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926" name="Google Shape;1926;p76"/>
          <p:cNvCxnSpPr>
            <a:stCxn id="1895" idx="1"/>
            <a:endCxn id="1890"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1927" name="Google Shape;1927;p76"/>
          <p:cNvCxnSpPr>
            <a:stCxn id="1893" idx="2"/>
            <a:endCxn id="1892"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928" name="Google Shape;1928;p76"/>
          <p:cNvCxnSpPr>
            <a:stCxn id="1893" idx="0"/>
            <a:endCxn id="189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929" name="Google Shape;1929;p76"/>
          <p:cNvCxnSpPr>
            <a:stCxn id="1891" idx="3"/>
            <a:endCxn id="189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930" name="Google Shape;1930;p76"/>
          <p:cNvCxnSpPr>
            <a:stCxn id="1888" idx="4"/>
            <a:endCxn id="189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931" name="Google Shape;1931;p76"/>
          <p:cNvCxnSpPr>
            <a:stCxn id="1889" idx="2"/>
            <a:endCxn id="188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932" name="Google Shape;1932;p76"/>
          <p:cNvCxnSpPr>
            <a:stCxn id="1889" idx="3"/>
            <a:endCxn id="189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933" name="Google Shape;1933;p76"/>
          <p:cNvCxnSpPr>
            <a:stCxn id="1890" idx="2"/>
            <a:endCxn id="1888"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934" name="Google Shape;1934;p76"/>
          <p:cNvCxnSpPr>
            <a:stCxn id="1890" idx="1"/>
            <a:endCxn id="188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935" name="Google Shape;1935;p76"/>
          <p:cNvCxnSpPr>
            <a:stCxn id="1890" idx="2"/>
            <a:endCxn id="189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936" name="Google Shape;1936;p76"/>
          <p:cNvCxnSpPr>
            <a:stCxn id="1891" idx="1"/>
            <a:endCxn id="188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937" name="Google Shape;1937;p76"/>
          <p:cNvCxnSpPr>
            <a:stCxn id="1899" idx="6"/>
            <a:endCxn id="190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938" name="Google Shape;1938;p76"/>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You can see that </a:t>
            </a:r>
            <a:r>
              <a:rPr b="1" lang="en">
                <a:solidFill>
                  <a:schemeClr val="dk1"/>
                </a:solidFill>
                <a:latin typeface="Open Sans"/>
                <a:ea typeface="Open Sans"/>
                <a:cs typeface="Open Sans"/>
                <a:sym typeface="Open Sans"/>
              </a:rPr>
              <a:t>h</a:t>
            </a:r>
            <a:r>
              <a:rPr lang="en">
                <a:solidFill>
                  <a:schemeClr val="dk1"/>
                </a:solidFill>
                <a:latin typeface="Open Sans"/>
                <a:ea typeface="Open Sans"/>
                <a:cs typeface="Open Sans"/>
                <a:sym typeface="Open Sans"/>
              </a:rPr>
              <a:t> has to be </a:t>
            </a:r>
            <a:r>
              <a:rPr b="1" lang="en">
                <a:solidFill>
                  <a:schemeClr val="dk1"/>
                </a:solidFill>
                <a:latin typeface="Open Sans"/>
                <a:ea typeface="Open Sans"/>
                <a:cs typeface="Open Sans"/>
                <a:sym typeface="Open Sans"/>
              </a:rPr>
              <a:t>high</a:t>
            </a:r>
            <a:r>
              <a:rPr lang="en">
                <a:solidFill>
                  <a:schemeClr val="dk1"/>
                </a:solidFill>
                <a:latin typeface="Open Sans"/>
                <a:ea typeface="Open Sans"/>
                <a:cs typeface="Open Sans"/>
                <a:sym typeface="Open Sans"/>
              </a:rPr>
              <a:t> </a:t>
            </a:r>
            <a:r>
              <a:rPr b="1" lang="en">
                <a:solidFill>
                  <a:schemeClr val="dk1"/>
                </a:solidFill>
                <a:latin typeface="Open Sans"/>
                <a:ea typeface="Open Sans"/>
                <a:cs typeface="Open Sans"/>
                <a:sym typeface="Open Sans"/>
              </a:rPr>
              <a:t>betweenness</a:t>
            </a:r>
            <a:r>
              <a:rPr lang="en">
                <a:solidFill>
                  <a:schemeClr val="dk1"/>
                </a:solidFill>
                <a:latin typeface="Open Sans"/>
                <a:ea typeface="Open Sans"/>
                <a:cs typeface="Open Sans"/>
                <a:sym typeface="Open Sans"/>
              </a:rPr>
              <a:t> because they stand on the shortest paths indirectly connecting the nodes on the </a:t>
            </a:r>
            <a:r>
              <a:rPr b="1" lang="en">
                <a:solidFill>
                  <a:schemeClr val="dk1"/>
                </a:solidFill>
                <a:latin typeface="Open Sans"/>
                <a:ea typeface="Open Sans"/>
                <a:cs typeface="Open Sans"/>
                <a:sym typeface="Open Sans"/>
              </a:rPr>
              <a:t>right</a:t>
            </a:r>
            <a:r>
              <a:rPr lang="en">
                <a:solidFill>
                  <a:schemeClr val="dk1"/>
                </a:solidFill>
                <a:latin typeface="Open Sans"/>
                <a:ea typeface="Open Sans"/>
                <a:cs typeface="Open Sans"/>
                <a:sym typeface="Open Sans"/>
              </a:rPr>
              <a:t> with the nodes on the </a:t>
            </a:r>
            <a:r>
              <a:rPr b="1" lang="en">
                <a:solidFill>
                  <a:schemeClr val="dk1"/>
                </a:solidFill>
                <a:latin typeface="Open Sans"/>
                <a:ea typeface="Open Sans"/>
                <a:cs typeface="Open Sans"/>
                <a:sym typeface="Open Sans"/>
              </a:rPr>
              <a:t>left</a:t>
            </a:r>
            <a:endParaRPr>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2" name="Shape 1942"/>
        <p:cNvGrpSpPr/>
        <p:nvPr/>
      </p:nvGrpSpPr>
      <p:grpSpPr>
        <a:xfrm>
          <a:off x="0" y="0"/>
          <a:ext cx="0" cy="0"/>
          <a:chOff x="0" y="0"/>
          <a:chExt cx="0" cy="0"/>
        </a:xfrm>
      </p:grpSpPr>
      <p:sp>
        <p:nvSpPr>
          <p:cNvPr id="1943" name="Google Shape;1943;p7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1944" name="Google Shape;1944;p77"/>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945" name="Google Shape;1945;p77"/>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946" name="Google Shape;1946;p77"/>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947" name="Google Shape;1947;p77"/>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948" name="Google Shape;1948;p77"/>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949" name="Google Shape;1949;p77"/>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950" name="Google Shape;1950;p77"/>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951" name="Google Shape;1951;p77"/>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952" name="Google Shape;1952;p77"/>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953" name="Google Shape;1953;p77"/>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954" name="Google Shape;1954;p77"/>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955" name="Google Shape;1955;p77"/>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956" name="Google Shape;1956;p77"/>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957" name="Google Shape;1957;p77"/>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958" name="Google Shape;1958;p77"/>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959" name="Google Shape;1959;p77"/>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960" name="Google Shape;1960;p77"/>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961" name="Google Shape;1961;p77"/>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962" name="Google Shape;1962;p77"/>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963" name="Google Shape;1963;p77"/>
          <p:cNvCxnSpPr>
            <a:stCxn id="1962" idx="2"/>
            <a:endCxn id="196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964" name="Google Shape;1964;p77"/>
          <p:cNvCxnSpPr>
            <a:stCxn id="1960" idx="0"/>
            <a:endCxn id="196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965" name="Google Shape;1965;p77"/>
          <p:cNvCxnSpPr>
            <a:stCxn id="1959" idx="2"/>
            <a:endCxn id="196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966" name="Google Shape;1966;p77"/>
          <p:cNvCxnSpPr>
            <a:stCxn id="1959" idx="2"/>
            <a:endCxn id="195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967" name="Google Shape;1967;p77"/>
          <p:cNvCxnSpPr>
            <a:stCxn id="1959" idx="2"/>
            <a:endCxn id="195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968" name="Google Shape;1968;p77"/>
          <p:cNvCxnSpPr>
            <a:stCxn id="1958" idx="2"/>
            <a:endCxn id="1955"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1969" name="Google Shape;1969;p77"/>
          <p:cNvCxnSpPr>
            <a:stCxn id="1958" idx="1"/>
            <a:endCxn id="195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970" name="Google Shape;1970;p77"/>
          <p:cNvCxnSpPr>
            <a:stCxn id="1957" idx="0"/>
            <a:endCxn id="195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971" name="Google Shape;1971;p77"/>
          <p:cNvCxnSpPr>
            <a:stCxn id="1956" idx="7"/>
            <a:endCxn id="195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972" name="Google Shape;1972;p77"/>
          <p:cNvCxnSpPr>
            <a:stCxn id="1957" idx="1"/>
            <a:endCxn id="195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973" name="Google Shape;1973;p77"/>
          <p:cNvCxnSpPr>
            <a:stCxn id="1955" idx="2"/>
            <a:endCxn id="1953"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1974" name="Google Shape;1974;p77"/>
          <p:cNvCxnSpPr>
            <a:stCxn id="1956" idx="0"/>
            <a:endCxn id="195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975" name="Google Shape;1975;p77"/>
          <p:cNvCxnSpPr>
            <a:stCxn id="1955" idx="0"/>
            <a:endCxn id="195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976" name="Google Shape;1976;p77"/>
          <p:cNvCxnSpPr>
            <a:stCxn id="1953" idx="7"/>
            <a:endCxn id="1954"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1977" name="Google Shape;1977;p77"/>
          <p:cNvCxnSpPr>
            <a:stCxn id="1953" idx="2"/>
            <a:endCxn id="1951"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1978" name="Google Shape;1978;p77"/>
          <p:cNvCxnSpPr>
            <a:stCxn id="1952" idx="0"/>
            <a:endCxn id="1951"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1979" name="Google Shape;1979;p77"/>
          <p:cNvCxnSpPr>
            <a:stCxn id="1951" idx="3"/>
            <a:endCxn id="1950"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1980" name="Google Shape;1980;p77"/>
          <p:cNvCxnSpPr>
            <a:stCxn id="1949" idx="5"/>
            <a:endCxn id="195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981" name="Google Shape;1981;p77"/>
          <p:cNvCxnSpPr>
            <a:stCxn id="1946" idx="4"/>
            <a:endCxn id="194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982" name="Google Shape;1982;p77"/>
          <p:cNvCxnSpPr>
            <a:stCxn id="1951" idx="1"/>
            <a:endCxn id="1946"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1983" name="Google Shape;1983;p77"/>
          <p:cNvCxnSpPr>
            <a:stCxn id="1949" idx="2"/>
            <a:endCxn id="194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984" name="Google Shape;1984;p77"/>
          <p:cNvCxnSpPr>
            <a:stCxn id="1949" idx="0"/>
            <a:endCxn id="194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985" name="Google Shape;1985;p77"/>
          <p:cNvCxnSpPr>
            <a:stCxn id="1947" idx="3"/>
            <a:endCxn id="194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986" name="Google Shape;1986;p77"/>
          <p:cNvCxnSpPr>
            <a:stCxn id="1944" idx="4"/>
            <a:endCxn id="194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987" name="Google Shape;1987;p77"/>
          <p:cNvCxnSpPr>
            <a:stCxn id="1945" idx="2"/>
            <a:endCxn id="194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988" name="Google Shape;1988;p77"/>
          <p:cNvCxnSpPr>
            <a:stCxn id="1945" idx="3"/>
            <a:endCxn id="194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989" name="Google Shape;1989;p77"/>
          <p:cNvCxnSpPr>
            <a:stCxn id="1946" idx="2"/>
            <a:endCxn id="194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990" name="Google Shape;1990;p77"/>
          <p:cNvCxnSpPr>
            <a:stCxn id="1946" idx="1"/>
            <a:endCxn id="194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991" name="Google Shape;1991;p77"/>
          <p:cNvCxnSpPr>
            <a:stCxn id="1946" idx="2"/>
            <a:endCxn id="194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992" name="Google Shape;1992;p77"/>
          <p:cNvCxnSpPr>
            <a:stCxn id="1947" idx="1"/>
            <a:endCxn id="194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993" name="Google Shape;1993;p77"/>
          <p:cNvCxnSpPr>
            <a:stCxn id="1955" idx="6"/>
            <a:endCxn id="196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994" name="Google Shape;1994;p77"/>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You can see that </a:t>
            </a:r>
            <a:r>
              <a:rPr b="1" lang="en">
                <a:latin typeface="Open Sans"/>
                <a:ea typeface="Open Sans"/>
                <a:cs typeface="Open Sans"/>
                <a:sym typeface="Open Sans"/>
              </a:rPr>
              <a:t>h</a:t>
            </a:r>
            <a:r>
              <a:rPr lang="en">
                <a:latin typeface="Open Sans"/>
                <a:ea typeface="Open Sans"/>
                <a:cs typeface="Open Sans"/>
                <a:sym typeface="Open Sans"/>
              </a:rPr>
              <a:t> has to be </a:t>
            </a:r>
            <a:r>
              <a:rPr b="1" lang="en">
                <a:latin typeface="Open Sans"/>
                <a:ea typeface="Open Sans"/>
                <a:cs typeface="Open Sans"/>
                <a:sym typeface="Open Sans"/>
              </a:rPr>
              <a:t>high</a:t>
            </a:r>
            <a:r>
              <a:rPr lang="en">
                <a:latin typeface="Open Sans"/>
                <a:ea typeface="Open Sans"/>
                <a:cs typeface="Open Sans"/>
                <a:sym typeface="Open Sans"/>
              </a:rPr>
              <a:t> </a:t>
            </a:r>
            <a:r>
              <a:rPr b="1" lang="en">
                <a:latin typeface="Open Sans"/>
                <a:ea typeface="Open Sans"/>
                <a:cs typeface="Open Sans"/>
                <a:sym typeface="Open Sans"/>
              </a:rPr>
              <a:t>betweenness</a:t>
            </a:r>
            <a:r>
              <a:rPr lang="en">
                <a:latin typeface="Open Sans"/>
                <a:ea typeface="Open Sans"/>
                <a:cs typeface="Open Sans"/>
                <a:sym typeface="Open Sans"/>
              </a:rPr>
              <a:t> because they stand on the shortest paths indirectly connecting the nodes on the </a:t>
            </a:r>
            <a:r>
              <a:rPr b="1" lang="en">
                <a:latin typeface="Open Sans"/>
                <a:ea typeface="Open Sans"/>
                <a:cs typeface="Open Sans"/>
                <a:sym typeface="Open Sans"/>
              </a:rPr>
              <a:t>right</a:t>
            </a:r>
            <a:r>
              <a:rPr lang="en">
                <a:latin typeface="Open Sans"/>
                <a:ea typeface="Open Sans"/>
                <a:cs typeface="Open Sans"/>
                <a:sym typeface="Open Sans"/>
              </a:rPr>
              <a:t> with the nodes on the </a:t>
            </a:r>
            <a:r>
              <a:rPr b="1" lang="en">
                <a:latin typeface="Open Sans"/>
                <a:ea typeface="Open Sans"/>
                <a:cs typeface="Open Sans"/>
                <a:sym typeface="Open Sans"/>
              </a:rPr>
              <a:t>left</a:t>
            </a:r>
            <a:endParaRPr b="1">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sp>
        <p:nvSpPr>
          <p:cNvPr id="1999" name="Google Shape;1999;p7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2000" name="Google Shape;2000;p78"/>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001" name="Google Shape;2001;p78"/>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002" name="Google Shape;2002;p78"/>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003" name="Google Shape;2003;p78"/>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004" name="Google Shape;2004;p78"/>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005" name="Google Shape;2005;p78"/>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006" name="Google Shape;2006;p78"/>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007" name="Google Shape;2007;p78"/>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008" name="Google Shape;2008;p78"/>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009" name="Google Shape;2009;p78"/>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010" name="Google Shape;2010;p78"/>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011" name="Google Shape;2011;p78"/>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012" name="Google Shape;2012;p78"/>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013" name="Google Shape;2013;p78"/>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014" name="Google Shape;2014;p78"/>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015" name="Google Shape;2015;p78"/>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016" name="Google Shape;2016;p78"/>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017" name="Google Shape;2017;p78"/>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018" name="Google Shape;2018;p78"/>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019" name="Google Shape;2019;p78"/>
          <p:cNvCxnSpPr>
            <a:stCxn id="2018" idx="2"/>
            <a:endCxn id="201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020" name="Google Shape;2020;p78"/>
          <p:cNvCxnSpPr>
            <a:stCxn id="2016" idx="0"/>
            <a:endCxn id="201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021" name="Google Shape;2021;p78"/>
          <p:cNvCxnSpPr>
            <a:stCxn id="2015" idx="2"/>
            <a:endCxn id="201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022" name="Google Shape;2022;p78"/>
          <p:cNvCxnSpPr>
            <a:stCxn id="2015" idx="2"/>
            <a:endCxn id="201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023" name="Google Shape;2023;p78"/>
          <p:cNvCxnSpPr>
            <a:stCxn id="2015" idx="2"/>
            <a:endCxn id="201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024" name="Google Shape;2024;p78"/>
          <p:cNvCxnSpPr>
            <a:stCxn id="2014" idx="2"/>
            <a:endCxn id="2011"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2025" name="Google Shape;2025;p78"/>
          <p:cNvCxnSpPr>
            <a:stCxn id="2014" idx="1"/>
            <a:endCxn id="201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026" name="Google Shape;2026;p78"/>
          <p:cNvCxnSpPr>
            <a:stCxn id="2013" idx="0"/>
            <a:endCxn id="201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027" name="Google Shape;2027;p78"/>
          <p:cNvCxnSpPr>
            <a:stCxn id="2012" idx="7"/>
            <a:endCxn id="201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028" name="Google Shape;2028;p78"/>
          <p:cNvCxnSpPr>
            <a:stCxn id="2013" idx="1"/>
            <a:endCxn id="201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029" name="Google Shape;2029;p78"/>
          <p:cNvCxnSpPr>
            <a:stCxn id="2011" idx="2"/>
            <a:endCxn id="2009"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2030" name="Google Shape;2030;p78"/>
          <p:cNvCxnSpPr>
            <a:stCxn id="2012" idx="0"/>
            <a:endCxn id="200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031" name="Google Shape;2031;p78"/>
          <p:cNvCxnSpPr>
            <a:stCxn id="2011" idx="0"/>
            <a:endCxn id="201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032" name="Google Shape;2032;p78"/>
          <p:cNvCxnSpPr>
            <a:stCxn id="2009" idx="7"/>
            <a:endCxn id="2010"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033" name="Google Shape;2033;p78"/>
          <p:cNvCxnSpPr>
            <a:stCxn id="2009" idx="2"/>
            <a:endCxn id="2007"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2034" name="Google Shape;2034;p78"/>
          <p:cNvCxnSpPr>
            <a:stCxn id="2008" idx="0"/>
            <a:endCxn id="2007"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035" name="Google Shape;2035;p78"/>
          <p:cNvCxnSpPr>
            <a:stCxn id="2007" idx="3"/>
            <a:endCxn id="2006"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036" name="Google Shape;2036;p78"/>
          <p:cNvCxnSpPr>
            <a:stCxn id="2005" idx="5"/>
            <a:endCxn id="200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037" name="Google Shape;2037;p78"/>
          <p:cNvCxnSpPr>
            <a:stCxn id="2002" idx="4"/>
            <a:endCxn id="200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038" name="Google Shape;2038;p78"/>
          <p:cNvCxnSpPr>
            <a:stCxn id="2007" idx="1"/>
            <a:endCxn id="2002"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2039" name="Google Shape;2039;p78"/>
          <p:cNvCxnSpPr>
            <a:stCxn id="2005" idx="2"/>
            <a:endCxn id="200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040" name="Google Shape;2040;p78"/>
          <p:cNvCxnSpPr>
            <a:stCxn id="2005" idx="0"/>
            <a:endCxn id="200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041" name="Google Shape;2041;p78"/>
          <p:cNvCxnSpPr>
            <a:stCxn id="2003" idx="3"/>
            <a:endCxn id="200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042" name="Google Shape;2042;p78"/>
          <p:cNvCxnSpPr>
            <a:stCxn id="2000" idx="4"/>
            <a:endCxn id="200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043" name="Google Shape;2043;p78"/>
          <p:cNvCxnSpPr>
            <a:stCxn id="2001" idx="2"/>
            <a:endCxn id="200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044" name="Google Shape;2044;p78"/>
          <p:cNvCxnSpPr>
            <a:stCxn id="2001" idx="3"/>
            <a:endCxn id="200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045" name="Google Shape;2045;p78"/>
          <p:cNvCxnSpPr>
            <a:stCxn id="2002" idx="2"/>
            <a:endCxn id="200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046" name="Google Shape;2046;p78"/>
          <p:cNvCxnSpPr>
            <a:stCxn id="2002" idx="1"/>
            <a:endCxn id="200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047" name="Google Shape;2047;p78"/>
          <p:cNvCxnSpPr>
            <a:stCxn id="2002" idx="2"/>
            <a:endCxn id="200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048" name="Google Shape;2048;p78"/>
          <p:cNvCxnSpPr>
            <a:stCxn id="2003" idx="1"/>
            <a:endCxn id="200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049" name="Google Shape;2049;p78"/>
          <p:cNvCxnSpPr>
            <a:stCxn id="2011" idx="6"/>
            <a:endCxn id="201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050" name="Google Shape;2050;p78"/>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node is probably also high-betweenness but not as high as h!</a:t>
            </a:r>
            <a:endParaRPr b="1">
              <a:solidFill>
                <a:srgbClr val="FF0000"/>
              </a:solidFill>
            </a:endParaRPr>
          </a:p>
        </p:txBody>
      </p:sp>
      <p:cxnSp>
        <p:nvCxnSpPr>
          <p:cNvPr id="2051" name="Google Shape;2051;p78"/>
          <p:cNvCxnSpPr>
            <a:stCxn id="2050" idx="4"/>
            <a:endCxn id="2009" idx="1"/>
          </p:cNvCxnSpPr>
          <p:nvPr/>
        </p:nvCxnSpPr>
        <p:spPr>
          <a:xfrm>
            <a:off x="4508475" y="2027425"/>
            <a:ext cx="493500" cy="13974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5" name="Shape 2055"/>
        <p:cNvGrpSpPr/>
        <p:nvPr/>
      </p:nvGrpSpPr>
      <p:grpSpPr>
        <a:xfrm>
          <a:off x="0" y="0"/>
          <a:ext cx="0" cy="0"/>
          <a:chOff x="0" y="0"/>
          <a:chExt cx="0" cy="0"/>
        </a:xfrm>
      </p:grpSpPr>
      <p:sp>
        <p:nvSpPr>
          <p:cNvPr id="2056" name="Google Shape;2056;p79"/>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057" name="Google Shape;2057;p79"/>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058" name="Google Shape;2058;p79"/>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059" name="Google Shape;2059;p79"/>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060" name="Google Shape;2060;p79"/>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061" name="Google Shape;2061;p79"/>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062" name="Google Shape;2062;p79"/>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063" name="Google Shape;2063;p79"/>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064" name="Google Shape;2064;p79"/>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065" name="Google Shape;2065;p79"/>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066" name="Google Shape;2066;p79"/>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067" name="Google Shape;2067;p79"/>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068" name="Google Shape;2068;p79"/>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069" name="Google Shape;2069;p79"/>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070" name="Google Shape;2070;p79"/>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071" name="Google Shape;2071;p79"/>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072" name="Google Shape;2072;p79"/>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073" name="Google Shape;2073;p79"/>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074" name="Google Shape;2074;p79"/>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075" name="Google Shape;2075;p79"/>
          <p:cNvCxnSpPr>
            <a:stCxn id="2074" idx="2"/>
            <a:endCxn id="207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076" name="Google Shape;2076;p79"/>
          <p:cNvCxnSpPr>
            <a:stCxn id="2072" idx="0"/>
            <a:endCxn id="207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077" name="Google Shape;2077;p79"/>
          <p:cNvCxnSpPr>
            <a:stCxn id="2071" idx="2"/>
            <a:endCxn id="207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078" name="Google Shape;2078;p79"/>
          <p:cNvCxnSpPr>
            <a:stCxn id="2071" idx="2"/>
            <a:endCxn id="2067"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079" name="Google Shape;2079;p79"/>
          <p:cNvCxnSpPr>
            <a:stCxn id="2071" idx="2"/>
            <a:endCxn id="207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080" name="Google Shape;2080;p79"/>
          <p:cNvCxnSpPr>
            <a:stCxn id="2070" idx="2"/>
            <a:endCxn id="2067"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2081" name="Google Shape;2081;p79"/>
          <p:cNvCxnSpPr>
            <a:stCxn id="2070" idx="1"/>
            <a:endCxn id="206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082" name="Google Shape;2082;p79"/>
          <p:cNvCxnSpPr>
            <a:stCxn id="2069" idx="0"/>
            <a:endCxn id="2067"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083" name="Google Shape;2083;p79"/>
          <p:cNvCxnSpPr>
            <a:stCxn id="2068" idx="7"/>
            <a:endCxn id="2067"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084" name="Google Shape;2084;p79"/>
          <p:cNvCxnSpPr>
            <a:stCxn id="2069" idx="1"/>
            <a:endCxn id="206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085" name="Google Shape;2085;p79"/>
          <p:cNvCxnSpPr>
            <a:stCxn id="2067" idx="2"/>
            <a:endCxn id="2065"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2086" name="Google Shape;2086;p79"/>
          <p:cNvCxnSpPr>
            <a:stCxn id="2068" idx="0"/>
            <a:endCxn id="206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087" name="Google Shape;2087;p79"/>
          <p:cNvCxnSpPr>
            <a:stCxn id="2067" idx="0"/>
            <a:endCxn id="2066"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088" name="Google Shape;2088;p79"/>
          <p:cNvCxnSpPr>
            <a:stCxn id="2065" idx="7"/>
            <a:endCxn id="2066"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089" name="Google Shape;2089;p79"/>
          <p:cNvCxnSpPr>
            <a:stCxn id="2065" idx="2"/>
            <a:endCxn id="2063"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2090" name="Google Shape;2090;p79"/>
          <p:cNvCxnSpPr>
            <a:stCxn id="2064" idx="0"/>
            <a:endCxn id="2063"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091" name="Google Shape;2091;p79"/>
          <p:cNvCxnSpPr>
            <a:stCxn id="2063" idx="3"/>
            <a:endCxn id="2062"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092" name="Google Shape;2092;p79"/>
          <p:cNvCxnSpPr>
            <a:stCxn id="2061" idx="5"/>
            <a:endCxn id="2062"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093" name="Google Shape;2093;p79"/>
          <p:cNvCxnSpPr>
            <a:stCxn id="2058" idx="4"/>
            <a:endCxn id="206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094" name="Google Shape;2094;p79"/>
          <p:cNvCxnSpPr>
            <a:stCxn id="2063" idx="1"/>
            <a:endCxn id="2058"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2095" name="Google Shape;2095;p79"/>
          <p:cNvCxnSpPr>
            <a:stCxn id="2061" idx="2"/>
            <a:endCxn id="2060"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096" name="Google Shape;2096;p79"/>
          <p:cNvCxnSpPr>
            <a:stCxn id="2061" idx="0"/>
            <a:endCxn id="205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097" name="Google Shape;2097;p79"/>
          <p:cNvCxnSpPr>
            <a:stCxn id="2059" idx="3"/>
            <a:endCxn id="206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098" name="Google Shape;2098;p79"/>
          <p:cNvCxnSpPr>
            <a:stCxn id="2056" idx="4"/>
            <a:endCxn id="206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099" name="Google Shape;2099;p79"/>
          <p:cNvCxnSpPr>
            <a:stCxn id="2057" idx="2"/>
            <a:endCxn id="205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100" name="Google Shape;2100;p79"/>
          <p:cNvCxnSpPr>
            <a:stCxn id="2057" idx="3"/>
            <a:endCxn id="205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101" name="Google Shape;2101;p79"/>
          <p:cNvCxnSpPr>
            <a:stCxn id="2058" idx="2"/>
            <a:endCxn id="205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102" name="Google Shape;2102;p79"/>
          <p:cNvCxnSpPr>
            <a:stCxn id="2058" idx="1"/>
            <a:endCxn id="205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103" name="Google Shape;2103;p79"/>
          <p:cNvCxnSpPr>
            <a:stCxn id="2058" idx="2"/>
            <a:endCxn id="205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104" name="Google Shape;2104;p79"/>
          <p:cNvCxnSpPr>
            <a:stCxn id="2059" idx="1"/>
            <a:endCxn id="205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105" name="Google Shape;2105;p79"/>
          <p:cNvCxnSpPr>
            <a:stCxn id="2067" idx="6"/>
            <a:endCxn id="2072"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106" name="Google Shape;2106;p79"/>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Indeed!</a:t>
            </a:r>
            <a:endParaRPr b="1">
              <a:solidFill>
                <a:srgbClr val="FF0000"/>
              </a:solidFill>
            </a:endParaRPr>
          </a:p>
        </p:txBody>
      </p:sp>
      <p:graphicFrame>
        <p:nvGraphicFramePr>
          <p:cNvPr id="2107" name="Google Shape;2107;p79"/>
          <p:cNvGraphicFramePr/>
          <p:nvPr/>
        </p:nvGraphicFramePr>
        <p:xfrm>
          <a:off x="364338" y="120650"/>
          <a:ext cx="3000000" cy="3000000"/>
        </p:xfrm>
        <a:graphic>
          <a:graphicData uri="http://schemas.openxmlformats.org/drawingml/2006/table">
            <a:tbl>
              <a:tblPr>
                <a:noFill/>
                <a:tableStyleId>{B37DEEDC-AE2E-4B14-ACF6-3FA4F663FCEB}</a:tableStyleId>
              </a:tblPr>
              <a:tblGrid>
                <a:gridCol w="441150"/>
                <a:gridCol w="441150"/>
                <a:gridCol w="441150"/>
                <a:gridCol w="441150"/>
                <a:gridCol w="347575"/>
                <a:gridCol w="441150"/>
                <a:gridCol w="441150"/>
                <a:gridCol w="441150"/>
                <a:gridCol w="441150"/>
                <a:gridCol w="441150"/>
                <a:gridCol w="441150"/>
                <a:gridCol w="441150"/>
                <a:gridCol w="441150"/>
                <a:gridCol w="441150"/>
                <a:gridCol w="441150"/>
                <a:gridCol w="441150"/>
                <a:gridCol w="441150"/>
                <a:gridCol w="441150"/>
                <a:gridCol w="441150"/>
              </a:tblGrid>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a</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b</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c</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d</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e</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f</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g</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h</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i</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j</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k</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l</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m</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n</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o</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p</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q</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r</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s</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9</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10.2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88.1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81.5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66.5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cxnSp>
        <p:nvCxnSpPr>
          <p:cNvPr id="2108" name="Google Shape;2108;p79"/>
          <p:cNvCxnSpPr>
            <a:stCxn id="2106" idx="0"/>
          </p:cNvCxnSpPr>
          <p:nvPr/>
        </p:nvCxnSpPr>
        <p:spPr>
          <a:xfrm rot="10800000">
            <a:off x="4112175" y="749425"/>
            <a:ext cx="396300" cy="4467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8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2114" name="Google Shape;2114;p80"/>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115" name="Google Shape;2115;p80"/>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116" name="Google Shape;2116;p80"/>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117" name="Google Shape;2117;p80"/>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118" name="Google Shape;2118;p80"/>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119" name="Google Shape;2119;p80"/>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2120" name="Google Shape;2120;p80"/>
          <p:cNvCxnSpPr>
            <a:stCxn id="2119" idx="0"/>
            <a:endCxn id="2117"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21" name="Google Shape;2121;p80"/>
          <p:cNvCxnSpPr>
            <a:stCxn id="2117" idx="2"/>
            <a:endCxn id="2118"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22" name="Google Shape;2122;p80"/>
          <p:cNvCxnSpPr>
            <a:stCxn id="2115" idx="4"/>
            <a:endCxn id="2117"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23" name="Google Shape;2123;p80"/>
          <p:cNvCxnSpPr>
            <a:stCxn id="2116" idx="2"/>
            <a:endCxn id="2117"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24" name="Google Shape;2124;p80"/>
          <p:cNvCxnSpPr>
            <a:stCxn id="2117" idx="1"/>
            <a:endCxn id="2114"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25" name="Google Shape;2125;p80"/>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2126" name="Google Shape;2126;p80"/>
          <p:cNvCxnSpPr>
            <a:stCxn id="2117" idx="7"/>
            <a:endCxn id="2125"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2127" name="Google Shape;2127;p80"/>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2128" name="Google Shape;2128;p80"/>
          <p:cNvCxnSpPr>
            <a:stCxn id="2117" idx="3"/>
            <a:endCxn id="2127"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29" name="Google Shape;2129;p80"/>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2130" name="Google Shape;2130;p80"/>
          <p:cNvCxnSpPr>
            <a:stCxn id="2129" idx="1"/>
            <a:endCxn id="2117"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31" name="Google Shape;2131;p80"/>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0" lvl="0" marL="0" rtl="0" algn="l">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5" name="Shape 2135"/>
        <p:cNvGrpSpPr/>
        <p:nvPr/>
      </p:nvGrpSpPr>
      <p:grpSpPr>
        <a:xfrm>
          <a:off x="0" y="0"/>
          <a:ext cx="0" cy="0"/>
          <a:chOff x="0" y="0"/>
          <a:chExt cx="0" cy="0"/>
        </a:xfrm>
      </p:grpSpPr>
      <p:sp>
        <p:nvSpPr>
          <p:cNvPr id="2136" name="Google Shape;2136;p8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2137" name="Google Shape;2137;p81"/>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138" name="Google Shape;2138;p81"/>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139" name="Google Shape;2139;p81"/>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140" name="Google Shape;2140;p81"/>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141" name="Google Shape;2141;p81"/>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142" name="Google Shape;2142;p81"/>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2143" name="Google Shape;2143;p81"/>
          <p:cNvCxnSpPr>
            <a:stCxn id="2142" idx="0"/>
            <a:endCxn id="2140"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44" name="Google Shape;2144;p81"/>
          <p:cNvCxnSpPr>
            <a:stCxn id="2140" idx="2"/>
            <a:endCxn id="2141"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45" name="Google Shape;2145;p81"/>
          <p:cNvCxnSpPr>
            <a:stCxn id="2138" idx="4"/>
            <a:endCxn id="2140"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46" name="Google Shape;2146;p81"/>
          <p:cNvCxnSpPr>
            <a:stCxn id="2139" idx="2"/>
            <a:endCxn id="2140"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47" name="Google Shape;2147;p81"/>
          <p:cNvCxnSpPr>
            <a:stCxn id="2140" idx="1"/>
            <a:endCxn id="2137"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48" name="Google Shape;2148;p81"/>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2149" name="Google Shape;2149;p81"/>
          <p:cNvCxnSpPr>
            <a:stCxn id="2140" idx="7"/>
            <a:endCxn id="2148"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2150" name="Google Shape;2150;p81"/>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2151" name="Google Shape;2151;p81"/>
          <p:cNvCxnSpPr>
            <a:stCxn id="2140" idx="3"/>
            <a:endCxn id="2150"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52" name="Google Shape;2152;p81"/>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2153" name="Google Shape;2153;p81"/>
          <p:cNvCxnSpPr>
            <a:stCxn id="2152" idx="1"/>
            <a:endCxn id="2140"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54" name="Google Shape;2154;p81"/>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8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2160" name="Google Shape;2160;p82"/>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161" name="Google Shape;2161;p82"/>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162" name="Google Shape;2162;p82"/>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163" name="Google Shape;2163;p82"/>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164" name="Google Shape;2164;p82"/>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165" name="Google Shape;2165;p82"/>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2166" name="Google Shape;2166;p82"/>
          <p:cNvCxnSpPr>
            <a:stCxn id="2165" idx="0"/>
            <a:endCxn id="2163"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67" name="Google Shape;2167;p82"/>
          <p:cNvCxnSpPr>
            <a:stCxn id="2163" idx="2"/>
            <a:endCxn id="2164"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68" name="Google Shape;2168;p82"/>
          <p:cNvCxnSpPr>
            <a:stCxn id="2161" idx="4"/>
            <a:endCxn id="2163"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69" name="Google Shape;2169;p82"/>
          <p:cNvCxnSpPr>
            <a:stCxn id="2162" idx="2"/>
            <a:endCxn id="2163"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70" name="Google Shape;2170;p82"/>
          <p:cNvCxnSpPr>
            <a:stCxn id="2163" idx="1"/>
            <a:endCxn id="2160"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71" name="Google Shape;2171;p82"/>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2172" name="Google Shape;2172;p82"/>
          <p:cNvCxnSpPr>
            <a:stCxn id="2163" idx="7"/>
            <a:endCxn id="2171"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2173" name="Google Shape;2173;p82"/>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2174" name="Google Shape;2174;p82"/>
          <p:cNvCxnSpPr>
            <a:stCxn id="2163" idx="3"/>
            <a:endCxn id="2173"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75" name="Google Shape;2175;p82"/>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2176" name="Google Shape;2176;p82"/>
          <p:cNvCxnSpPr>
            <a:stCxn id="2175" idx="1"/>
            <a:endCxn id="2163"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77" name="Google Shape;2177;p82"/>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Closeness centrality</a:t>
            </a:r>
            <a:endParaRPr i="1">
              <a:solidFill>
                <a:srgbClr val="FF0000"/>
              </a:solidFill>
            </a:endParaRPr>
          </a:p>
          <a:p>
            <a:pPr indent="-317500" lvl="2" marL="1371600" rtl="0" algn="l">
              <a:spcBef>
                <a:spcPts val="0"/>
              </a:spcBef>
              <a:spcAft>
                <a:spcPts val="0"/>
              </a:spcAft>
              <a:buSzPts val="1400"/>
              <a:buChar char="■"/>
            </a:pPr>
            <a:r>
              <a:rPr lang="en"/>
              <a:t>Can reach all nodes via </a:t>
            </a:r>
            <a:r>
              <a:rPr b="1" lang="en"/>
              <a:t>paths of length 1</a:t>
            </a:r>
            <a:r>
              <a:rPr lang="en"/>
              <a:t>!</a:t>
            </a:r>
            <a:endParaRPr/>
          </a:p>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1" name="Shape 2181"/>
        <p:cNvGrpSpPr/>
        <p:nvPr/>
      </p:nvGrpSpPr>
      <p:grpSpPr>
        <a:xfrm>
          <a:off x="0" y="0"/>
          <a:ext cx="0" cy="0"/>
          <a:chOff x="0" y="0"/>
          <a:chExt cx="0" cy="0"/>
        </a:xfrm>
      </p:grpSpPr>
      <p:sp>
        <p:nvSpPr>
          <p:cNvPr id="2182" name="Google Shape;2182;p8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2183" name="Google Shape;2183;p83"/>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184" name="Google Shape;2184;p83"/>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185" name="Google Shape;2185;p83"/>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186" name="Google Shape;2186;p83"/>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187" name="Google Shape;2187;p83"/>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188" name="Google Shape;2188;p83"/>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2189" name="Google Shape;2189;p83"/>
          <p:cNvCxnSpPr>
            <a:stCxn id="2188" idx="0"/>
            <a:endCxn id="2186"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90" name="Google Shape;2190;p83"/>
          <p:cNvCxnSpPr>
            <a:stCxn id="2186" idx="2"/>
            <a:endCxn id="2187"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91" name="Google Shape;2191;p83"/>
          <p:cNvCxnSpPr>
            <a:stCxn id="2184" idx="4"/>
            <a:endCxn id="2186"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2192" name="Google Shape;2192;p83"/>
          <p:cNvCxnSpPr>
            <a:stCxn id="2185" idx="2"/>
            <a:endCxn id="2186"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2193" name="Google Shape;2193;p83"/>
          <p:cNvCxnSpPr>
            <a:stCxn id="2186" idx="1"/>
            <a:endCxn id="2183"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94" name="Google Shape;2194;p83"/>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2195" name="Google Shape;2195;p83"/>
          <p:cNvCxnSpPr>
            <a:stCxn id="2186" idx="7"/>
            <a:endCxn id="2194"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2196" name="Google Shape;2196;p83"/>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2197" name="Google Shape;2197;p83"/>
          <p:cNvCxnSpPr>
            <a:stCxn id="2186" idx="3"/>
            <a:endCxn id="2196"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198" name="Google Shape;2198;p83"/>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2199" name="Google Shape;2199;p83"/>
          <p:cNvCxnSpPr>
            <a:stCxn id="2198" idx="1"/>
            <a:endCxn id="2186"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2200" name="Google Shape;2200;p83"/>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Closeness centrality</a:t>
            </a:r>
            <a:endParaRPr i="1">
              <a:solidFill>
                <a:srgbClr val="FF0000"/>
              </a:solidFill>
            </a:endParaRPr>
          </a:p>
          <a:p>
            <a:pPr indent="-317500" lvl="2" marL="1371600" rtl="0" algn="l">
              <a:spcBef>
                <a:spcPts val="0"/>
              </a:spcBef>
              <a:spcAft>
                <a:spcPts val="0"/>
              </a:spcAft>
              <a:buSzPts val="1400"/>
              <a:buChar char="■"/>
            </a:pPr>
            <a:r>
              <a:rPr lang="en"/>
              <a:t>Can reach all nodes via </a:t>
            </a:r>
            <a:r>
              <a:rPr b="1" lang="en"/>
              <a:t>paths of length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Betweenness centrality</a:t>
            </a:r>
            <a:endParaRPr i="1">
              <a:solidFill>
                <a:srgbClr val="FF0000"/>
              </a:solidFill>
            </a:endParaRPr>
          </a:p>
          <a:p>
            <a:pPr indent="-317500" lvl="2" marL="1371600" rtl="0" algn="l">
              <a:spcBef>
                <a:spcPts val="0"/>
              </a:spcBef>
              <a:spcAft>
                <a:spcPts val="0"/>
              </a:spcAft>
              <a:buSzPts val="1400"/>
              <a:buChar char="■"/>
            </a:pPr>
            <a:r>
              <a:rPr lang="en"/>
              <a:t>The central node stands in </a:t>
            </a:r>
            <a:r>
              <a:rPr b="1" lang="en"/>
              <a:t>every one</a:t>
            </a:r>
            <a:r>
              <a:rPr lang="en"/>
              <a:t> of the </a:t>
            </a:r>
            <a:r>
              <a:rPr b="1" lang="en"/>
              <a:t>shortest paths</a:t>
            </a:r>
            <a:r>
              <a:rPr lang="en"/>
              <a:t> linking all the other pairs of nodes (length = 2)!</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4" name="Shape 2204"/>
        <p:cNvGrpSpPr/>
        <p:nvPr/>
      </p:nvGrpSpPr>
      <p:grpSpPr>
        <a:xfrm>
          <a:off x="0" y="0"/>
          <a:ext cx="0" cy="0"/>
          <a:chOff x="0" y="0"/>
          <a:chExt cx="0" cy="0"/>
        </a:xfrm>
      </p:grpSpPr>
      <p:sp>
        <p:nvSpPr>
          <p:cNvPr id="2205" name="Google Shape;2205;p8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206" name="Google Shape;2206;p8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207" name="Google Shape;2207;p8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208" name="Google Shape;2208;p84"/>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209" name="Google Shape;2209;p8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210" name="Google Shape;2210;p8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211" name="Google Shape;2211;p8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212" name="Google Shape;2212;p8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213" name="Google Shape;2213;p84"/>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214" name="Google Shape;2214;p84"/>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215" name="Google Shape;2215;p84"/>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216" name="Google Shape;2216;p8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217" name="Google Shape;2217;p84"/>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218" name="Google Shape;2218;p8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219" name="Google Shape;2219;p8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220" name="Google Shape;2220;p84"/>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221" name="Google Shape;2221;p8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222" name="Google Shape;2222;p8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223" name="Google Shape;2223;p8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224" name="Google Shape;2224;p8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225" name="Google Shape;2225;p84"/>
          <p:cNvCxnSpPr>
            <a:stCxn id="2224" idx="2"/>
            <a:endCxn id="222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226" name="Google Shape;2226;p84"/>
          <p:cNvCxnSpPr>
            <a:stCxn id="2222" idx="0"/>
            <a:endCxn id="222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227" name="Google Shape;2227;p84"/>
          <p:cNvCxnSpPr>
            <a:stCxn id="2221" idx="2"/>
            <a:endCxn id="222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228" name="Google Shape;2228;p84"/>
          <p:cNvCxnSpPr>
            <a:stCxn id="2221" idx="2"/>
            <a:endCxn id="2217"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229" name="Google Shape;2229;p84"/>
          <p:cNvCxnSpPr>
            <a:stCxn id="2221" idx="2"/>
            <a:endCxn id="222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230" name="Google Shape;2230;p84"/>
          <p:cNvCxnSpPr>
            <a:stCxn id="2220" idx="2"/>
            <a:endCxn id="2217"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2231" name="Google Shape;2231;p84"/>
          <p:cNvCxnSpPr>
            <a:stCxn id="2220" idx="1"/>
            <a:endCxn id="221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232" name="Google Shape;2232;p84"/>
          <p:cNvCxnSpPr>
            <a:stCxn id="2219" idx="0"/>
            <a:endCxn id="2217"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233" name="Google Shape;2233;p84"/>
          <p:cNvCxnSpPr>
            <a:stCxn id="2218" idx="7"/>
            <a:endCxn id="2217"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234" name="Google Shape;2234;p84"/>
          <p:cNvCxnSpPr>
            <a:stCxn id="2219" idx="1"/>
            <a:endCxn id="221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235" name="Google Shape;2235;p84"/>
          <p:cNvCxnSpPr>
            <a:stCxn id="2217" idx="2"/>
            <a:endCxn id="2215"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2236" name="Google Shape;2236;p84"/>
          <p:cNvCxnSpPr>
            <a:stCxn id="2218" idx="0"/>
            <a:endCxn id="221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237" name="Google Shape;2237;p84"/>
          <p:cNvCxnSpPr>
            <a:stCxn id="2217" idx="0"/>
            <a:endCxn id="2216"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238" name="Google Shape;2238;p84"/>
          <p:cNvCxnSpPr>
            <a:stCxn id="2215" idx="7"/>
            <a:endCxn id="2216"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239" name="Google Shape;2239;p84"/>
          <p:cNvCxnSpPr>
            <a:stCxn id="2215" idx="2"/>
            <a:endCxn id="2213"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2240" name="Google Shape;2240;p84"/>
          <p:cNvCxnSpPr>
            <a:stCxn id="2214" idx="0"/>
            <a:endCxn id="2213"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241" name="Google Shape;2241;p84"/>
          <p:cNvCxnSpPr>
            <a:stCxn id="2213" idx="3"/>
            <a:endCxn id="2212"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242" name="Google Shape;2242;p84"/>
          <p:cNvCxnSpPr>
            <a:stCxn id="2211" idx="5"/>
            <a:endCxn id="2212"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243" name="Google Shape;2243;p84"/>
          <p:cNvCxnSpPr>
            <a:stCxn id="2208" idx="4"/>
            <a:endCxn id="221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244" name="Google Shape;2244;p84"/>
          <p:cNvCxnSpPr>
            <a:stCxn id="2213" idx="1"/>
            <a:endCxn id="2208"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2245" name="Google Shape;2245;p84"/>
          <p:cNvCxnSpPr>
            <a:stCxn id="2211" idx="2"/>
            <a:endCxn id="2210"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246" name="Google Shape;2246;p84"/>
          <p:cNvCxnSpPr>
            <a:stCxn id="2211" idx="0"/>
            <a:endCxn id="220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247" name="Google Shape;2247;p84"/>
          <p:cNvCxnSpPr>
            <a:stCxn id="2209" idx="3"/>
            <a:endCxn id="221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248" name="Google Shape;2248;p84"/>
          <p:cNvCxnSpPr>
            <a:stCxn id="2206" idx="4"/>
            <a:endCxn id="221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249" name="Google Shape;2249;p84"/>
          <p:cNvCxnSpPr>
            <a:stCxn id="2207" idx="2"/>
            <a:endCxn id="220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250" name="Google Shape;2250;p84"/>
          <p:cNvCxnSpPr>
            <a:stCxn id="2207" idx="3"/>
            <a:endCxn id="220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251" name="Google Shape;2251;p84"/>
          <p:cNvCxnSpPr>
            <a:stCxn id="2208" idx="2"/>
            <a:endCxn id="220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252" name="Google Shape;2252;p84"/>
          <p:cNvCxnSpPr>
            <a:stCxn id="2208" idx="1"/>
            <a:endCxn id="220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253" name="Google Shape;2253;p84"/>
          <p:cNvCxnSpPr>
            <a:stCxn id="2208" idx="2"/>
            <a:endCxn id="220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254" name="Google Shape;2254;p84"/>
          <p:cNvCxnSpPr>
            <a:stCxn id="2209" idx="1"/>
            <a:endCxn id="220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255" name="Google Shape;2255;p84"/>
          <p:cNvCxnSpPr>
            <a:stCxn id="2217" idx="6"/>
            <a:endCxn id="2222"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256" name="Google Shape;2256;p84"/>
          <p:cNvSpPr txBox="1"/>
          <p:nvPr/>
        </p:nvSpPr>
        <p:spPr>
          <a:xfrm>
            <a:off x="2891325" y="1178425"/>
            <a:ext cx="4071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a:t>
            </a:r>
            <a:r>
              <a:rPr lang="en">
                <a:latin typeface="Open Sans"/>
                <a:ea typeface="Open Sans"/>
                <a:cs typeface="Open Sans"/>
                <a:sym typeface="Open Sans"/>
              </a:rPr>
              <a:t> node that is </a:t>
            </a:r>
            <a:r>
              <a:rPr b="1" lang="en">
                <a:latin typeface="Open Sans"/>
                <a:ea typeface="Open Sans"/>
                <a:cs typeface="Open Sans"/>
                <a:sym typeface="Open Sans"/>
              </a:rPr>
              <a:t>directly</a:t>
            </a:r>
            <a:r>
              <a:rPr lang="en">
                <a:latin typeface="Open Sans"/>
                <a:ea typeface="Open Sans"/>
                <a:cs typeface="Open Sans"/>
                <a:sym typeface="Open Sans"/>
              </a:rPr>
              <a:t> and </a:t>
            </a:r>
            <a:r>
              <a:rPr b="1" lang="en">
                <a:latin typeface="Open Sans"/>
                <a:ea typeface="Open Sans"/>
                <a:cs typeface="Open Sans"/>
                <a:sym typeface="Open Sans"/>
              </a:rPr>
              <a:t>indirectly </a:t>
            </a:r>
            <a:r>
              <a:rPr lang="en">
                <a:latin typeface="Open Sans"/>
                <a:ea typeface="Open Sans"/>
                <a:cs typeface="Open Sans"/>
                <a:sym typeface="Open Sans"/>
              </a:rPr>
              <a:t>connected to other nodes of high degree has the highest eigenvector centrality! </a:t>
            </a:r>
            <a:endParaRPr>
              <a:latin typeface="Open Sans"/>
              <a:ea typeface="Open Sans"/>
              <a:cs typeface="Open Sans"/>
              <a:sym typeface="Open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0" name="Shape 2260"/>
        <p:cNvGrpSpPr/>
        <p:nvPr/>
      </p:nvGrpSpPr>
      <p:grpSpPr>
        <a:xfrm>
          <a:off x="0" y="0"/>
          <a:ext cx="0" cy="0"/>
          <a:chOff x="0" y="0"/>
          <a:chExt cx="0" cy="0"/>
        </a:xfrm>
      </p:grpSpPr>
      <p:sp>
        <p:nvSpPr>
          <p:cNvPr id="2261" name="Google Shape;2261;p8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262" name="Google Shape;2262;p8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263" name="Google Shape;2263;p8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264" name="Google Shape;2264;p8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265" name="Google Shape;2265;p85"/>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266" name="Google Shape;2266;p8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267" name="Google Shape;2267;p8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268" name="Google Shape;2268;p8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269" name="Google Shape;2269;p85"/>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270" name="Google Shape;2270;p8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271" name="Google Shape;2271;p85"/>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272" name="Google Shape;2272;p8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273" name="Google Shape;2273;p85"/>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274" name="Google Shape;2274;p8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275" name="Google Shape;2275;p8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276" name="Google Shape;2276;p8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277" name="Google Shape;2277;p8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278" name="Google Shape;2278;p8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279" name="Google Shape;2279;p8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280" name="Google Shape;2280;p8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281" name="Google Shape;2281;p85"/>
          <p:cNvCxnSpPr>
            <a:stCxn id="2280" idx="2"/>
            <a:endCxn id="2279"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282" name="Google Shape;2282;p85"/>
          <p:cNvCxnSpPr>
            <a:stCxn id="2278" idx="0"/>
            <a:endCxn id="2279"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283" name="Google Shape;2283;p85"/>
          <p:cNvCxnSpPr>
            <a:stCxn id="2277" idx="2"/>
            <a:endCxn id="2278"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284" name="Google Shape;2284;p85"/>
          <p:cNvCxnSpPr>
            <a:stCxn id="2277" idx="2"/>
            <a:endCxn id="2273"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285" name="Google Shape;2285;p85"/>
          <p:cNvCxnSpPr>
            <a:stCxn id="2277" idx="2"/>
            <a:endCxn id="2276"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286" name="Google Shape;2286;p85"/>
          <p:cNvCxnSpPr>
            <a:stCxn id="2276" idx="2"/>
            <a:endCxn id="2273"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2287" name="Google Shape;2287;p85"/>
          <p:cNvCxnSpPr>
            <a:stCxn id="2276" idx="1"/>
            <a:endCxn id="2272"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288" name="Google Shape;2288;p85"/>
          <p:cNvCxnSpPr>
            <a:stCxn id="2275" idx="0"/>
            <a:endCxn id="2273"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289" name="Google Shape;2289;p85"/>
          <p:cNvCxnSpPr>
            <a:stCxn id="2274" idx="7"/>
            <a:endCxn id="2273"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290" name="Google Shape;2290;p85"/>
          <p:cNvCxnSpPr>
            <a:stCxn id="2275" idx="1"/>
            <a:endCxn id="2274"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291" name="Google Shape;2291;p85"/>
          <p:cNvCxnSpPr>
            <a:stCxn id="2273" idx="2"/>
            <a:endCxn id="2271"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2292" name="Google Shape;2292;p85"/>
          <p:cNvCxnSpPr>
            <a:stCxn id="2274" idx="0"/>
            <a:endCxn id="2271"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293" name="Google Shape;2293;p85"/>
          <p:cNvCxnSpPr>
            <a:stCxn id="2273" idx="0"/>
            <a:endCxn id="2272"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294" name="Google Shape;2294;p85"/>
          <p:cNvCxnSpPr>
            <a:stCxn id="2271" idx="7"/>
            <a:endCxn id="2272"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295" name="Google Shape;2295;p85"/>
          <p:cNvCxnSpPr>
            <a:stCxn id="2271" idx="2"/>
            <a:endCxn id="2269"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2296" name="Google Shape;2296;p85"/>
          <p:cNvCxnSpPr>
            <a:stCxn id="2270" idx="0"/>
            <a:endCxn id="2269"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297" name="Google Shape;2297;p85"/>
          <p:cNvCxnSpPr>
            <a:stCxn id="2269" idx="3"/>
            <a:endCxn id="2268"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298" name="Google Shape;2298;p85"/>
          <p:cNvCxnSpPr>
            <a:stCxn id="2267" idx="5"/>
            <a:endCxn id="2268"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299" name="Google Shape;2299;p85"/>
          <p:cNvCxnSpPr>
            <a:stCxn id="2264" idx="4"/>
            <a:endCxn id="2267"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300" name="Google Shape;2300;p85"/>
          <p:cNvCxnSpPr>
            <a:stCxn id="2269" idx="1"/>
            <a:endCxn id="2264"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2301" name="Google Shape;2301;p85"/>
          <p:cNvCxnSpPr>
            <a:stCxn id="2267" idx="2"/>
            <a:endCxn id="2266"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302" name="Google Shape;2302;p85"/>
          <p:cNvCxnSpPr>
            <a:stCxn id="2267" idx="0"/>
            <a:endCxn id="2265"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303" name="Google Shape;2303;p85"/>
          <p:cNvCxnSpPr>
            <a:stCxn id="2265" idx="3"/>
            <a:endCxn id="2266"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304" name="Google Shape;2304;p85"/>
          <p:cNvCxnSpPr>
            <a:stCxn id="2262" idx="4"/>
            <a:endCxn id="2266"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305" name="Google Shape;2305;p85"/>
          <p:cNvCxnSpPr>
            <a:stCxn id="2263" idx="2"/>
            <a:endCxn id="2262"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306" name="Google Shape;2306;p85"/>
          <p:cNvCxnSpPr>
            <a:stCxn id="2263" idx="3"/>
            <a:endCxn id="2265"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307" name="Google Shape;2307;p85"/>
          <p:cNvCxnSpPr>
            <a:stCxn id="2264" idx="2"/>
            <a:endCxn id="2262"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308" name="Google Shape;2308;p85"/>
          <p:cNvCxnSpPr>
            <a:stCxn id="2264" idx="1"/>
            <a:endCxn id="2263"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309" name="Google Shape;2309;p85"/>
          <p:cNvCxnSpPr>
            <a:stCxn id="2264" idx="2"/>
            <a:endCxn id="2265"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310" name="Google Shape;2310;p85"/>
          <p:cNvCxnSpPr>
            <a:stCxn id="2265" idx="1"/>
            <a:endCxn id="2262"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311" name="Google Shape;2311;p85"/>
          <p:cNvCxnSpPr>
            <a:stCxn id="2273" idx="6"/>
            <a:endCxn id="2278"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312" name="Google Shape;2312;p85"/>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a:t>
            </a:r>
            <a:r>
              <a:rPr b="1" lang="en">
                <a:solidFill>
                  <a:srgbClr val="FF0000"/>
                </a:solidFill>
              </a:rPr>
              <a:t>graph,</a:t>
            </a:r>
            <a:r>
              <a:rPr b="1" lang="en">
                <a:solidFill>
                  <a:srgbClr val="FF0000"/>
                </a:solidFill>
              </a:rPr>
              <a:t> this node has the highest eigenvector centrality!</a:t>
            </a:r>
            <a:endParaRPr b="1">
              <a:solidFill>
                <a:srgbClr val="FF0000"/>
              </a:solidFill>
            </a:endParaRPr>
          </a:p>
        </p:txBody>
      </p:sp>
      <p:cxnSp>
        <p:nvCxnSpPr>
          <p:cNvPr id="2313" name="Google Shape;2313;p85"/>
          <p:cNvCxnSpPr>
            <a:stCxn id="2312" idx="3"/>
            <a:endCxn id="2265" idx="7"/>
          </p:cNvCxnSpPr>
          <p:nvPr/>
        </p:nvCxnSpPr>
        <p:spPr>
          <a:xfrm flipH="1">
            <a:off x="1870980" y="1905684"/>
            <a:ext cx="1434600" cy="871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7" name="Shape 2317"/>
        <p:cNvGrpSpPr/>
        <p:nvPr/>
      </p:nvGrpSpPr>
      <p:grpSpPr>
        <a:xfrm>
          <a:off x="0" y="0"/>
          <a:ext cx="0" cy="0"/>
          <a:chOff x="0" y="0"/>
          <a:chExt cx="0" cy="0"/>
        </a:xfrm>
      </p:grpSpPr>
      <p:sp>
        <p:nvSpPr>
          <p:cNvPr id="2318" name="Google Shape;2318;p8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319" name="Google Shape;2319;p8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320" name="Google Shape;2320;p8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321" name="Google Shape;2321;p8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322" name="Google Shape;2322;p86"/>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323" name="Google Shape;2323;p8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324" name="Google Shape;2324;p8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325" name="Google Shape;2325;p8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326" name="Google Shape;2326;p86"/>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327" name="Google Shape;2327;p86"/>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328" name="Google Shape;2328;p86"/>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329" name="Google Shape;2329;p86"/>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330" name="Google Shape;2330;p86"/>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331" name="Google Shape;2331;p86"/>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332" name="Google Shape;2332;p86"/>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333" name="Google Shape;2333;p86"/>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334" name="Google Shape;2334;p86"/>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335" name="Google Shape;2335;p86"/>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336" name="Google Shape;2336;p86"/>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337" name="Google Shape;2337;p86"/>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338" name="Google Shape;2338;p86"/>
          <p:cNvCxnSpPr>
            <a:stCxn id="2337" idx="2"/>
            <a:endCxn id="233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339" name="Google Shape;2339;p86"/>
          <p:cNvCxnSpPr>
            <a:stCxn id="2335" idx="0"/>
            <a:endCxn id="233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340" name="Google Shape;2340;p86"/>
          <p:cNvCxnSpPr>
            <a:stCxn id="2334" idx="2"/>
            <a:endCxn id="233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341" name="Google Shape;2341;p86"/>
          <p:cNvCxnSpPr>
            <a:stCxn id="2334" idx="2"/>
            <a:endCxn id="233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342" name="Google Shape;2342;p86"/>
          <p:cNvCxnSpPr>
            <a:stCxn id="2334" idx="2"/>
            <a:endCxn id="233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343" name="Google Shape;2343;p86"/>
          <p:cNvCxnSpPr>
            <a:stCxn id="2333" idx="2"/>
            <a:endCxn id="2330"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2344" name="Google Shape;2344;p86"/>
          <p:cNvCxnSpPr>
            <a:stCxn id="2333" idx="1"/>
            <a:endCxn id="232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345" name="Google Shape;2345;p86"/>
          <p:cNvCxnSpPr>
            <a:stCxn id="2332" idx="0"/>
            <a:endCxn id="233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346" name="Google Shape;2346;p86"/>
          <p:cNvCxnSpPr>
            <a:stCxn id="2331" idx="7"/>
            <a:endCxn id="233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347" name="Google Shape;2347;p86"/>
          <p:cNvCxnSpPr>
            <a:stCxn id="2332" idx="1"/>
            <a:endCxn id="233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348" name="Google Shape;2348;p86"/>
          <p:cNvCxnSpPr>
            <a:stCxn id="2330" idx="2"/>
            <a:endCxn id="2328"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2349" name="Google Shape;2349;p86"/>
          <p:cNvCxnSpPr>
            <a:stCxn id="2331" idx="0"/>
            <a:endCxn id="232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350" name="Google Shape;2350;p86"/>
          <p:cNvCxnSpPr>
            <a:stCxn id="2330" idx="0"/>
            <a:endCxn id="232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351" name="Google Shape;2351;p86"/>
          <p:cNvCxnSpPr>
            <a:stCxn id="2328" idx="7"/>
            <a:endCxn id="2329"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352" name="Google Shape;2352;p86"/>
          <p:cNvCxnSpPr>
            <a:stCxn id="2328" idx="2"/>
            <a:endCxn id="2326"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2353" name="Google Shape;2353;p86"/>
          <p:cNvCxnSpPr>
            <a:stCxn id="2327" idx="0"/>
            <a:endCxn id="2326"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354" name="Google Shape;2354;p86"/>
          <p:cNvCxnSpPr>
            <a:stCxn id="2326" idx="3"/>
            <a:endCxn id="2325"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355" name="Google Shape;2355;p86"/>
          <p:cNvCxnSpPr>
            <a:stCxn id="2324" idx="5"/>
            <a:endCxn id="2325" idx="0"/>
          </p:cNvCxnSpPr>
          <p:nvPr/>
        </p:nvCxnSpPr>
        <p:spPr>
          <a:xfrm>
            <a:off x="2350768" y="4039619"/>
            <a:ext cx="349500" cy="505200"/>
          </a:xfrm>
          <a:prstGeom prst="straightConnector1">
            <a:avLst/>
          </a:prstGeom>
          <a:noFill/>
          <a:ln cap="flat" cmpd="sng" w="38100">
            <a:solidFill>
              <a:srgbClr val="0000FF"/>
            </a:solidFill>
            <a:prstDash val="solid"/>
            <a:round/>
            <a:headEnd len="med" w="med" type="none"/>
            <a:tailEnd len="med" w="med" type="none"/>
          </a:ln>
        </p:spPr>
      </p:cxnSp>
      <p:cxnSp>
        <p:nvCxnSpPr>
          <p:cNvPr id="2356" name="Google Shape;2356;p86"/>
          <p:cNvCxnSpPr>
            <a:stCxn id="2321" idx="4"/>
            <a:endCxn id="2324" idx="7"/>
          </p:cNvCxnSpPr>
          <p:nvPr/>
        </p:nvCxnSpPr>
        <p:spPr>
          <a:xfrm flipH="1">
            <a:off x="2350625" y="2777163"/>
            <a:ext cx="933000" cy="881100"/>
          </a:xfrm>
          <a:prstGeom prst="straightConnector1">
            <a:avLst/>
          </a:prstGeom>
          <a:noFill/>
          <a:ln cap="flat" cmpd="sng" w="38100">
            <a:solidFill>
              <a:srgbClr val="0D5DDF"/>
            </a:solidFill>
            <a:prstDash val="solid"/>
            <a:round/>
            <a:headEnd len="med" w="med" type="none"/>
            <a:tailEnd len="med" w="med" type="none"/>
          </a:ln>
        </p:spPr>
      </p:cxnSp>
      <p:cxnSp>
        <p:nvCxnSpPr>
          <p:cNvPr id="2357" name="Google Shape;2357;p86"/>
          <p:cNvCxnSpPr>
            <a:stCxn id="2326" idx="1"/>
            <a:endCxn id="2321" idx="4"/>
          </p:cNvCxnSpPr>
          <p:nvPr/>
        </p:nvCxnSpPr>
        <p:spPr>
          <a:xfrm rot="10800000">
            <a:off x="3283732" y="2777218"/>
            <a:ext cx="392100" cy="647700"/>
          </a:xfrm>
          <a:prstGeom prst="straightConnector1">
            <a:avLst/>
          </a:prstGeom>
          <a:noFill/>
          <a:ln cap="flat" cmpd="sng" w="38100">
            <a:solidFill>
              <a:srgbClr val="0D5DDF"/>
            </a:solidFill>
            <a:prstDash val="solid"/>
            <a:round/>
            <a:headEnd len="med" w="med" type="none"/>
            <a:tailEnd len="med" w="med" type="none"/>
          </a:ln>
        </p:spPr>
      </p:cxnSp>
      <p:cxnSp>
        <p:nvCxnSpPr>
          <p:cNvPr id="2358" name="Google Shape;2358;p86"/>
          <p:cNvCxnSpPr>
            <a:stCxn id="2324" idx="2"/>
            <a:endCxn id="2323" idx="6"/>
          </p:cNvCxnSpPr>
          <p:nvPr/>
        </p:nvCxnSpPr>
        <p:spPr>
          <a:xfrm rot="10800000">
            <a:off x="838138" y="3687213"/>
            <a:ext cx="1051200" cy="161700"/>
          </a:xfrm>
          <a:prstGeom prst="straightConnector1">
            <a:avLst/>
          </a:prstGeom>
          <a:noFill/>
          <a:ln cap="flat" cmpd="sng" w="38100">
            <a:solidFill>
              <a:srgbClr val="0D5DDF"/>
            </a:solidFill>
            <a:prstDash val="solid"/>
            <a:round/>
            <a:headEnd len="med" w="med" type="none"/>
            <a:tailEnd len="med" w="med" type="none"/>
          </a:ln>
        </p:spPr>
      </p:cxnSp>
      <p:cxnSp>
        <p:nvCxnSpPr>
          <p:cNvPr id="2359" name="Google Shape;2359;p86"/>
          <p:cNvCxnSpPr>
            <a:stCxn id="2324" idx="0"/>
            <a:endCxn id="2322" idx="4"/>
          </p:cNvCxnSpPr>
          <p:nvPr/>
        </p:nvCxnSpPr>
        <p:spPr>
          <a:xfrm rot="10800000">
            <a:off x="1679938" y="3237813"/>
            <a:ext cx="479700" cy="341400"/>
          </a:xfrm>
          <a:prstGeom prst="straightConnector1">
            <a:avLst/>
          </a:prstGeom>
          <a:noFill/>
          <a:ln cap="flat" cmpd="sng" w="38100">
            <a:solidFill>
              <a:srgbClr val="FF0000"/>
            </a:solidFill>
            <a:prstDash val="solid"/>
            <a:round/>
            <a:headEnd len="med" w="med" type="none"/>
            <a:tailEnd len="med" w="med" type="none"/>
          </a:ln>
        </p:spPr>
      </p:cxnSp>
      <p:cxnSp>
        <p:nvCxnSpPr>
          <p:cNvPr id="2360" name="Google Shape;2360;p86"/>
          <p:cNvCxnSpPr>
            <a:stCxn id="2322" idx="3"/>
            <a:endCxn id="2323" idx="7"/>
          </p:cNvCxnSpPr>
          <p:nvPr/>
        </p:nvCxnSpPr>
        <p:spPr>
          <a:xfrm flipH="1">
            <a:off x="759069" y="3158732"/>
            <a:ext cx="729600" cy="337800"/>
          </a:xfrm>
          <a:prstGeom prst="straightConnector1">
            <a:avLst/>
          </a:prstGeom>
          <a:noFill/>
          <a:ln cap="flat" cmpd="sng" w="38100">
            <a:solidFill>
              <a:srgbClr val="FF0000"/>
            </a:solidFill>
            <a:prstDash val="solid"/>
            <a:round/>
            <a:headEnd len="med" w="med" type="none"/>
            <a:tailEnd len="med" w="med" type="none"/>
          </a:ln>
        </p:spPr>
      </p:cxnSp>
      <p:cxnSp>
        <p:nvCxnSpPr>
          <p:cNvPr id="2361" name="Google Shape;2361;p86"/>
          <p:cNvCxnSpPr>
            <a:stCxn id="2319" idx="4"/>
            <a:endCxn id="2323" idx="0"/>
          </p:cNvCxnSpPr>
          <p:nvPr/>
        </p:nvCxnSpPr>
        <p:spPr>
          <a:xfrm flipH="1">
            <a:off x="567838" y="2440513"/>
            <a:ext cx="48900" cy="977100"/>
          </a:xfrm>
          <a:prstGeom prst="straightConnector1">
            <a:avLst/>
          </a:prstGeom>
          <a:noFill/>
          <a:ln cap="flat" cmpd="sng" w="38100">
            <a:solidFill>
              <a:srgbClr val="0D5DDF"/>
            </a:solidFill>
            <a:prstDash val="solid"/>
            <a:round/>
            <a:headEnd len="med" w="med" type="none"/>
            <a:tailEnd len="med" w="med" type="none"/>
          </a:ln>
        </p:spPr>
      </p:cxnSp>
      <p:cxnSp>
        <p:nvCxnSpPr>
          <p:cNvPr id="2362" name="Google Shape;2362;p86"/>
          <p:cNvCxnSpPr>
            <a:stCxn id="2320" idx="2"/>
            <a:endCxn id="2319" idx="6"/>
          </p:cNvCxnSpPr>
          <p:nvPr/>
        </p:nvCxnSpPr>
        <p:spPr>
          <a:xfrm flipH="1">
            <a:off x="886938" y="1686625"/>
            <a:ext cx="1220700" cy="484200"/>
          </a:xfrm>
          <a:prstGeom prst="straightConnector1">
            <a:avLst/>
          </a:prstGeom>
          <a:noFill/>
          <a:ln cap="flat" cmpd="sng" w="38100">
            <a:solidFill>
              <a:srgbClr val="0D5DDF"/>
            </a:solidFill>
            <a:prstDash val="solid"/>
            <a:round/>
            <a:headEnd len="med" w="med" type="none"/>
            <a:tailEnd len="med" w="med" type="none"/>
          </a:ln>
        </p:spPr>
      </p:cxnSp>
      <p:cxnSp>
        <p:nvCxnSpPr>
          <p:cNvPr id="2363" name="Google Shape;2363;p86"/>
          <p:cNvCxnSpPr>
            <a:stCxn id="2321" idx="2"/>
            <a:endCxn id="2319" idx="6"/>
          </p:cNvCxnSpPr>
          <p:nvPr/>
        </p:nvCxnSpPr>
        <p:spPr>
          <a:xfrm rot="10800000">
            <a:off x="886925" y="2170863"/>
            <a:ext cx="2126400" cy="336600"/>
          </a:xfrm>
          <a:prstGeom prst="straightConnector1">
            <a:avLst/>
          </a:prstGeom>
          <a:noFill/>
          <a:ln cap="flat" cmpd="sng" w="38100">
            <a:solidFill>
              <a:srgbClr val="0D5DDF"/>
            </a:solidFill>
            <a:prstDash val="solid"/>
            <a:round/>
            <a:headEnd len="med" w="med" type="none"/>
            <a:tailEnd len="med" w="med" type="none"/>
          </a:ln>
        </p:spPr>
      </p:cxnSp>
      <p:cxnSp>
        <p:nvCxnSpPr>
          <p:cNvPr id="2364" name="Google Shape;2364;p86"/>
          <p:cNvCxnSpPr>
            <a:stCxn id="2321" idx="1"/>
            <a:endCxn id="2320" idx="5"/>
          </p:cNvCxnSpPr>
          <p:nvPr/>
        </p:nvCxnSpPr>
        <p:spPr>
          <a:xfrm rot="10800000">
            <a:off x="2568994" y="1877256"/>
            <a:ext cx="523500" cy="439500"/>
          </a:xfrm>
          <a:prstGeom prst="straightConnector1">
            <a:avLst/>
          </a:prstGeom>
          <a:noFill/>
          <a:ln cap="flat" cmpd="sng" w="38100">
            <a:solidFill>
              <a:srgbClr val="0D5DDF"/>
            </a:solidFill>
            <a:prstDash val="solid"/>
            <a:round/>
            <a:headEnd len="med" w="med" type="none"/>
            <a:tailEnd len="med" w="med" type="none"/>
          </a:ln>
        </p:spPr>
      </p:cxnSp>
      <p:cxnSp>
        <p:nvCxnSpPr>
          <p:cNvPr id="2365" name="Google Shape;2365;p86"/>
          <p:cNvCxnSpPr>
            <a:stCxn id="2321" idx="2"/>
            <a:endCxn id="2322"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2366" name="Google Shape;2366;p86"/>
          <p:cNvCxnSpPr>
            <a:stCxn id="2322" idx="1"/>
            <a:endCxn id="2319" idx="5"/>
          </p:cNvCxnSpPr>
          <p:nvPr/>
        </p:nvCxnSpPr>
        <p:spPr>
          <a:xfrm rot="10800000">
            <a:off x="807969" y="2361518"/>
            <a:ext cx="680700" cy="415800"/>
          </a:xfrm>
          <a:prstGeom prst="straightConnector1">
            <a:avLst/>
          </a:prstGeom>
          <a:noFill/>
          <a:ln cap="flat" cmpd="sng" w="38100">
            <a:solidFill>
              <a:srgbClr val="FF0000"/>
            </a:solidFill>
            <a:prstDash val="solid"/>
            <a:round/>
            <a:headEnd len="med" w="med" type="none"/>
            <a:tailEnd len="med" w="med" type="none"/>
          </a:ln>
        </p:spPr>
      </p:cxnSp>
      <p:cxnSp>
        <p:nvCxnSpPr>
          <p:cNvPr id="2367" name="Google Shape;2367;p86"/>
          <p:cNvCxnSpPr>
            <a:stCxn id="2330" idx="6"/>
            <a:endCxn id="233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368" name="Google Shape;2368;p86"/>
          <p:cNvSpPr txBox="1"/>
          <p:nvPr/>
        </p:nvSpPr>
        <p:spPr>
          <a:xfrm>
            <a:off x="2891325" y="1178425"/>
            <a:ext cx="424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Node </a:t>
            </a:r>
            <a:r>
              <a:rPr b="1" lang="en">
                <a:latin typeface="Open Sans"/>
                <a:ea typeface="Open Sans"/>
                <a:cs typeface="Open Sans"/>
                <a:sym typeface="Open Sans"/>
              </a:rPr>
              <a:t>d</a:t>
            </a:r>
            <a:r>
              <a:rPr lang="en">
                <a:latin typeface="Open Sans"/>
                <a:ea typeface="Open Sans"/>
                <a:cs typeface="Open Sans"/>
                <a:sym typeface="Open Sans"/>
              </a:rPr>
              <a:t> is </a:t>
            </a:r>
            <a:r>
              <a:rPr b="1" lang="en">
                <a:latin typeface="Open Sans"/>
                <a:ea typeface="Open Sans"/>
                <a:cs typeface="Open Sans"/>
                <a:sym typeface="Open Sans"/>
              </a:rPr>
              <a:t>directly </a:t>
            </a:r>
            <a:r>
              <a:rPr lang="en">
                <a:latin typeface="Open Sans"/>
                <a:ea typeface="Open Sans"/>
                <a:cs typeface="Open Sans"/>
                <a:sym typeface="Open Sans"/>
              </a:rPr>
              <a:t>connected to other nodes that have high degree centrality (for this graph)</a:t>
            </a:r>
            <a:endParaRPr>
              <a:latin typeface="Open Sans"/>
              <a:ea typeface="Open Sans"/>
              <a:cs typeface="Open Sans"/>
              <a:sym typeface="Open Sans"/>
            </a:endParaRPr>
          </a:p>
        </p:txBody>
      </p:sp>
      <p:cxnSp>
        <p:nvCxnSpPr>
          <p:cNvPr id="2369" name="Google Shape;2369;p86"/>
          <p:cNvCxnSpPr>
            <a:stCxn id="2320" idx="3"/>
            <a:endCxn id="2322" idx="0"/>
          </p:cNvCxnSpPr>
          <p:nvPr/>
        </p:nvCxnSpPr>
        <p:spPr>
          <a:xfrm flipH="1">
            <a:off x="1679807" y="1877332"/>
            <a:ext cx="507000" cy="821100"/>
          </a:xfrm>
          <a:prstGeom prst="straightConnector1">
            <a:avLst/>
          </a:prstGeom>
          <a:noFill/>
          <a:ln cap="flat" cmpd="sng" w="38100">
            <a:solidFill>
              <a:srgbClr val="FF0000"/>
            </a:solidFill>
            <a:prstDash val="solid"/>
            <a:round/>
            <a:headEnd len="med" w="med" type="none"/>
            <a:tailEnd len="med" w="med" type="none"/>
          </a:ln>
        </p:spPr>
      </p:cxnSp>
      <p:sp>
        <p:nvSpPr>
          <p:cNvPr id="2370" name="Google Shape;2370;p86"/>
          <p:cNvSpPr txBox="1"/>
          <p:nvPr/>
        </p:nvSpPr>
        <p:spPr>
          <a:xfrm>
            <a:off x="2013150" y="1016625"/>
            <a:ext cx="72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(e) = 3</a:t>
            </a:r>
            <a:endParaRPr>
              <a:latin typeface="Economica"/>
              <a:ea typeface="Economica"/>
              <a:cs typeface="Economica"/>
              <a:sym typeface="Economica"/>
            </a:endParaRPr>
          </a:p>
        </p:txBody>
      </p:sp>
      <p:sp>
        <p:nvSpPr>
          <p:cNvPr id="2371" name="Google Shape;2371;p86"/>
          <p:cNvSpPr txBox="1"/>
          <p:nvPr/>
        </p:nvSpPr>
        <p:spPr>
          <a:xfrm>
            <a:off x="3553925" y="227667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(g) = 5</a:t>
            </a:r>
            <a:endParaRPr>
              <a:latin typeface="Economica"/>
              <a:ea typeface="Economica"/>
              <a:cs typeface="Economica"/>
              <a:sym typeface="Economica"/>
            </a:endParaRPr>
          </a:p>
        </p:txBody>
      </p:sp>
      <p:sp>
        <p:nvSpPr>
          <p:cNvPr id="2372" name="Google Shape;2372;p86"/>
          <p:cNvSpPr txBox="1"/>
          <p:nvPr/>
        </p:nvSpPr>
        <p:spPr>
          <a:xfrm>
            <a:off x="1732750" y="414467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(f) = 4</a:t>
            </a:r>
            <a:endParaRPr>
              <a:latin typeface="Economica"/>
              <a:ea typeface="Economica"/>
              <a:cs typeface="Economica"/>
              <a:sym typeface="Economica"/>
            </a:endParaRPr>
          </a:p>
        </p:txBody>
      </p:sp>
      <p:sp>
        <p:nvSpPr>
          <p:cNvPr id="2373" name="Google Shape;2373;p86"/>
          <p:cNvSpPr txBox="1"/>
          <p:nvPr/>
        </p:nvSpPr>
        <p:spPr>
          <a:xfrm>
            <a:off x="189850" y="40921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(a) = 3</a:t>
            </a:r>
            <a:endParaRPr>
              <a:latin typeface="Economica"/>
              <a:ea typeface="Economica"/>
              <a:cs typeface="Economica"/>
              <a:sym typeface="Economica"/>
            </a:endParaRPr>
          </a:p>
        </p:txBody>
      </p:sp>
      <p:sp>
        <p:nvSpPr>
          <p:cNvPr id="2374" name="Google Shape;2374;p86"/>
          <p:cNvSpPr txBox="1"/>
          <p:nvPr/>
        </p:nvSpPr>
        <p:spPr>
          <a:xfrm>
            <a:off x="189850" y="13658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(b) = 4</a:t>
            </a:r>
            <a:endParaRPr>
              <a:latin typeface="Economica"/>
              <a:ea typeface="Economica"/>
              <a:cs typeface="Economica"/>
              <a:sym typeface="Economic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8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380" name="Google Shape;2380;p87"/>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381" name="Google Shape;2381;p87"/>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382" name="Google Shape;2382;p87"/>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383" name="Google Shape;2383;p87"/>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384" name="Google Shape;2384;p87"/>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385" name="Google Shape;2385;p87"/>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386" name="Google Shape;2386;p87"/>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387" name="Google Shape;2387;p87"/>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388" name="Google Shape;2388;p87"/>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389" name="Google Shape;2389;p87"/>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390" name="Google Shape;2390;p87"/>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391" name="Google Shape;2391;p87"/>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392" name="Google Shape;2392;p87"/>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393" name="Google Shape;2393;p87"/>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394" name="Google Shape;2394;p87"/>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395" name="Google Shape;2395;p87"/>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396" name="Google Shape;2396;p87"/>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397" name="Google Shape;2397;p87"/>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398" name="Google Shape;2398;p87"/>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399" name="Google Shape;2399;p87"/>
          <p:cNvCxnSpPr>
            <a:stCxn id="2398" idx="2"/>
            <a:endCxn id="239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400" name="Google Shape;2400;p87"/>
          <p:cNvCxnSpPr>
            <a:stCxn id="2396" idx="0"/>
            <a:endCxn id="239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401" name="Google Shape;2401;p87"/>
          <p:cNvCxnSpPr>
            <a:stCxn id="2395" idx="2"/>
            <a:endCxn id="239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402" name="Google Shape;2402;p87"/>
          <p:cNvCxnSpPr>
            <a:stCxn id="2395" idx="2"/>
            <a:endCxn id="2391"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2403" name="Google Shape;2403;p87"/>
          <p:cNvCxnSpPr>
            <a:stCxn id="2395" idx="2"/>
            <a:endCxn id="239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404" name="Google Shape;2404;p87"/>
          <p:cNvCxnSpPr>
            <a:stCxn id="2394" idx="2"/>
            <a:endCxn id="2391"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2405" name="Google Shape;2405;p87"/>
          <p:cNvCxnSpPr>
            <a:stCxn id="2394" idx="1"/>
            <a:endCxn id="239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406" name="Google Shape;2406;p87"/>
          <p:cNvCxnSpPr>
            <a:stCxn id="2393" idx="0"/>
            <a:endCxn id="2391"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2407" name="Google Shape;2407;p87"/>
          <p:cNvCxnSpPr>
            <a:stCxn id="2392" idx="7"/>
            <a:endCxn id="2391"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2408" name="Google Shape;2408;p87"/>
          <p:cNvCxnSpPr>
            <a:stCxn id="2393" idx="1"/>
            <a:endCxn id="239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409" name="Google Shape;2409;p87"/>
          <p:cNvCxnSpPr>
            <a:stCxn id="2391" idx="2"/>
            <a:endCxn id="2389"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2410" name="Google Shape;2410;p87"/>
          <p:cNvCxnSpPr>
            <a:stCxn id="2392" idx="0"/>
            <a:endCxn id="2389"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2411" name="Google Shape;2411;p87"/>
          <p:cNvCxnSpPr>
            <a:stCxn id="2391" idx="0"/>
            <a:endCxn id="2390"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2412" name="Google Shape;2412;p87"/>
          <p:cNvCxnSpPr>
            <a:stCxn id="2389" idx="7"/>
            <a:endCxn id="2390"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413" name="Google Shape;2413;p87"/>
          <p:cNvCxnSpPr>
            <a:stCxn id="2389" idx="2"/>
            <a:endCxn id="2387"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2414" name="Google Shape;2414;p87"/>
          <p:cNvCxnSpPr>
            <a:stCxn id="2388" idx="0"/>
            <a:endCxn id="2387"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415" name="Google Shape;2415;p87"/>
          <p:cNvCxnSpPr>
            <a:stCxn id="2387" idx="3"/>
            <a:endCxn id="2386"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416" name="Google Shape;2416;p87"/>
          <p:cNvCxnSpPr>
            <a:stCxn id="2385" idx="5"/>
            <a:endCxn id="238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417" name="Google Shape;2417;p87"/>
          <p:cNvCxnSpPr>
            <a:stCxn id="2382" idx="4"/>
            <a:endCxn id="238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418" name="Google Shape;2418;p87"/>
          <p:cNvCxnSpPr>
            <a:stCxn id="2387" idx="1"/>
            <a:endCxn id="2382"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2419" name="Google Shape;2419;p87"/>
          <p:cNvCxnSpPr>
            <a:stCxn id="2385" idx="2"/>
            <a:endCxn id="238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420" name="Google Shape;2420;p87"/>
          <p:cNvCxnSpPr>
            <a:stCxn id="2385" idx="0"/>
            <a:endCxn id="238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421" name="Google Shape;2421;p87"/>
          <p:cNvCxnSpPr>
            <a:stCxn id="2383" idx="3"/>
            <a:endCxn id="238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422" name="Google Shape;2422;p87"/>
          <p:cNvCxnSpPr>
            <a:stCxn id="2380" idx="4"/>
            <a:endCxn id="238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423" name="Google Shape;2423;p87"/>
          <p:cNvCxnSpPr>
            <a:stCxn id="2381" idx="2"/>
            <a:endCxn id="238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424" name="Google Shape;2424;p87"/>
          <p:cNvCxnSpPr>
            <a:stCxn id="2381" idx="3"/>
            <a:endCxn id="238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425" name="Google Shape;2425;p87"/>
          <p:cNvCxnSpPr>
            <a:stCxn id="2382" idx="2"/>
            <a:endCxn id="238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426" name="Google Shape;2426;p87"/>
          <p:cNvCxnSpPr>
            <a:stCxn id="2382" idx="1"/>
            <a:endCxn id="238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427" name="Google Shape;2427;p87"/>
          <p:cNvCxnSpPr>
            <a:stCxn id="2382" idx="2"/>
            <a:endCxn id="2383"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2428" name="Google Shape;2428;p87"/>
          <p:cNvCxnSpPr>
            <a:stCxn id="2383" idx="1"/>
            <a:endCxn id="238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429" name="Google Shape;2429;p87"/>
          <p:cNvCxnSpPr>
            <a:stCxn id="2391" idx="6"/>
            <a:endCxn id="2396"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2430" name="Google Shape;2430;p87"/>
          <p:cNvSpPr txBox="1"/>
          <p:nvPr/>
        </p:nvSpPr>
        <p:spPr>
          <a:xfrm>
            <a:off x="2891325" y="1178425"/>
            <a:ext cx="424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N</a:t>
            </a:r>
            <a:r>
              <a:rPr lang="en">
                <a:latin typeface="Open Sans"/>
                <a:ea typeface="Open Sans"/>
                <a:cs typeface="Open Sans"/>
                <a:sym typeface="Open Sans"/>
              </a:rPr>
              <a:t>ode </a:t>
            </a:r>
            <a:r>
              <a:rPr b="1" lang="en">
                <a:latin typeface="Open Sans"/>
                <a:ea typeface="Open Sans"/>
                <a:cs typeface="Open Sans"/>
                <a:sym typeface="Open Sans"/>
              </a:rPr>
              <a:t>d</a:t>
            </a:r>
            <a:r>
              <a:rPr lang="en">
                <a:latin typeface="Open Sans"/>
                <a:ea typeface="Open Sans"/>
                <a:cs typeface="Open Sans"/>
                <a:sym typeface="Open Sans"/>
              </a:rPr>
              <a:t> is also </a:t>
            </a:r>
            <a:r>
              <a:rPr b="1" lang="en">
                <a:latin typeface="Open Sans"/>
                <a:ea typeface="Open Sans"/>
                <a:cs typeface="Open Sans"/>
                <a:sym typeface="Open Sans"/>
              </a:rPr>
              <a:t>indirectly</a:t>
            </a:r>
            <a:r>
              <a:rPr lang="en">
                <a:latin typeface="Open Sans"/>
                <a:ea typeface="Open Sans"/>
                <a:cs typeface="Open Sans"/>
                <a:sym typeface="Open Sans"/>
              </a:rPr>
              <a:t> connected to other high-degree nodes via relatively short paths</a:t>
            </a:r>
            <a:endParaRPr>
              <a:latin typeface="Open Sans"/>
              <a:ea typeface="Open Sans"/>
              <a:cs typeface="Open Sans"/>
              <a:sym typeface="Open Sans"/>
            </a:endParaRPr>
          </a:p>
        </p:txBody>
      </p:sp>
      <p:sp>
        <p:nvSpPr>
          <p:cNvPr id="2431" name="Google Shape;2431;p87"/>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5" name="Shape 2435"/>
        <p:cNvGrpSpPr/>
        <p:nvPr/>
      </p:nvGrpSpPr>
      <p:grpSpPr>
        <a:xfrm>
          <a:off x="0" y="0"/>
          <a:ext cx="0" cy="0"/>
          <a:chOff x="0" y="0"/>
          <a:chExt cx="0" cy="0"/>
        </a:xfrm>
      </p:grpSpPr>
      <p:sp>
        <p:nvSpPr>
          <p:cNvPr id="2436" name="Google Shape;2436;p8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437" name="Google Shape;2437;p8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438" name="Google Shape;2438;p8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439" name="Google Shape;2439;p8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440" name="Google Shape;2440;p88"/>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441" name="Google Shape;2441;p88"/>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442" name="Google Shape;2442;p8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443" name="Google Shape;2443;p8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444" name="Google Shape;2444;p88"/>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445" name="Google Shape;2445;p8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446" name="Google Shape;2446;p88"/>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447" name="Google Shape;2447;p88"/>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448" name="Google Shape;2448;p88"/>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449" name="Google Shape;2449;p88"/>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450" name="Google Shape;2450;p88"/>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451" name="Google Shape;2451;p88"/>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452" name="Google Shape;2452;p88"/>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453" name="Google Shape;2453;p88"/>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454" name="Google Shape;2454;p88"/>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455" name="Google Shape;2455;p88"/>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456" name="Google Shape;2456;p88"/>
          <p:cNvCxnSpPr>
            <a:stCxn id="2455" idx="2"/>
            <a:endCxn id="245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457" name="Google Shape;2457;p88"/>
          <p:cNvCxnSpPr>
            <a:stCxn id="2453" idx="0"/>
            <a:endCxn id="245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458" name="Google Shape;2458;p88"/>
          <p:cNvCxnSpPr>
            <a:stCxn id="2452" idx="2"/>
            <a:endCxn id="245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459" name="Google Shape;2459;p88"/>
          <p:cNvCxnSpPr>
            <a:stCxn id="2452" idx="2"/>
            <a:endCxn id="2448"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2460" name="Google Shape;2460;p88"/>
          <p:cNvCxnSpPr>
            <a:stCxn id="2452" idx="2"/>
            <a:endCxn id="245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461" name="Google Shape;2461;p88"/>
          <p:cNvCxnSpPr>
            <a:stCxn id="2451" idx="2"/>
            <a:endCxn id="2448"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2462" name="Google Shape;2462;p88"/>
          <p:cNvCxnSpPr>
            <a:stCxn id="2451" idx="1"/>
            <a:endCxn id="244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463" name="Google Shape;2463;p88"/>
          <p:cNvCxnSpPr>
            <a:stCxn id="2450" idx="0"/>
            <a:endCxn id="2448"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2464" name="Google Shape;2464;p88"/>
          <p:cNvCxnSpPr>
            <a:stCxn id="2449" idx="7"/>
            <a:endCxn id="2448"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2465" name="Google Shape;2465;p88"/>
          <p:cNvCxnSpPr>
            <a:stCxn id="2450" idx="1"/>
            <a:endCxn id="244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466" name="Google Shape;2466;p88"/>
          <p:cNvCxnSpPr>
            <a:stCxn id="2448" idx="2"/>
            <a:endCxn id="2446"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2467" name="Google Shape;2467;p88"/>
          <p:cNvCxnSpPr>
            <a:stCxn id="2449" idx="0"/>
            <a:endCxn id="2446"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2468" name="Google Shape;2468;p88"/>
          <p:cNvCxnSpPr>
            <a:stCxn id="2448" idx="0"/>
            <a:endCxn id="2447"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2469" name="Google Shape;2469;p88"/>
          <p:cNvCxnSpPr>
            <a:stCxn id="2446" idx="7"/>
            <a:endCxn id="2447"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470" name="Google Shape;2470;p88"/>
          <p:cNvCxnSpPr>
            <a:stCxn id="2446" idx="2"/>
            <a:endCxn id="2444"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2471" name="Google Shape;2471;p88"/>
          <p:cNvCxnSpPr>
            <a:stCxn id="2445" idx="0"/>
            <a:endCxn id="2444"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472" name="Google Shape;2472;p88"/>
          <p:cNvCxnSpPr>
            <a:stCxn id="2444" idx="3"/>
            <a:endCxn id="2443"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473" name="Google Shape;2473;p88"/>
          <p:cNvCxnSpPr>
            <a:stCxn id="2442" idx="5"/>
            <a:endCxn id="244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474" name="Google Shape;2474;p88"/>
          <p:cNvCxnSpPr>
            <a:stCxn id="2439" idx="4"/>
            <a:endCxn id="244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475" name="Google Shape;2475;p88"/>
          <p:cNvCxnSpPr>
            <a:stCxn id="2444" idx="1"/>
            <a:endCxn id="2439"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2476" name="Google Shape;2476;p88"/>
          <p:cNvCxnSpPr>
            <a:stCxn id="2442" idx="2"/>
            <a:endCxn id="244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477" name="Google Shape;2477;p88"/>
          <p:cNvCxnSpPr>
            <a:stCxn id="2442" idx="0"/>
            <a:endCxn id="244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478" name="Google Shape;2478;p88"/>
          <p:cNvCxnSpPr>
            <a:stCxn id="2440" idx="3"/>
            <a:endCxn id="244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479" name="Google Shape;2479;p88"/>
          <p:cNvCxnSpPr>
            <a:stCxn id="2437" idx="4"/>
            <a:endCxn id="244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480" name="Google Shape;2480;p88"/>
          <p:cNvCxnSpPr>
            <a:stCxn id="2438" idx="2"/>
            <a:endCxn id="243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481" name="Google Shape;2481;p88"/>
          <p:cNvCxnSpPr>
            <a:stCxn id="2438" idx="3"/>
            <a:endCxn id="244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482" name="Google Shape;2482;p88"/>
          <p:cNvCxnSpPr>
            <a:stCxn id="2439" idx="2"/>
            <a:endCxn id="243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483" name="Google Shape;2483;p88"/>
          <p:cNvCxnSpPr>
            <a:stCxn id="2439" idx="1"/>
            <a:endCxn id="243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484" name="Google Shape;2484;p88"/>
          <p:cNvCxnSpPr>
            <a:stCxn id="2439" idx="2"/>
            <a:endCxn id="2440"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2485" name="Google Shape;2485;p88"/>
          <p:cNvCxnSpPr>
            <a:stCxn id="2440" idx="1"/>
            <a:endCxn id="243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486" name="Google Shape;2486;p88"/>
          <p:cNvCxnSpPr>
            <a:stCxn id="2448" idx="6"/>
            <a:endCxn id="2453"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2487" name="Google Shape;2487;p88"/>
          <p:cNvSpPr txBox="1"/>
          <p:nvPr/>
        </p:nvSpPr>
        <p:spPr>
          <a:xfrm>
            <a:off x="2760600" y="1178425"/>
            <a:ext cx="4587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It is called “eigenvector” because it is calculated using a matrix algebra called </a:t>
            </a:r>
            <a:r>
              <a:rPr b="1" lang="en">
                <a:latin typeface="Open Sans"/>
                <a:ea typeface="Open Sans"/>
                <a:cs typeface="Open Sans"/>
                <a:sym typeface="Open Sans"/>
              </a:rPr>
              <a:t>eigenvalue decomposition </a:t>
            </a:r>
            <a:r>
              <a:rPr lang="en">
                <a:latin typeface="Open Sans"/>
                <a:ea typeface="Open Sans"/>
                <a:cs typeface="Open Sans"/>
                <a:sym typeface="Open Sans"/>
              </a:rPr>
              <a:t>to rank each node according to whether they are connected to well-connected others.</a:t>
            </a:r>
            <a:endParaRPr>
              <a:latin typeface="Open Sans"/>
              <a:ea typeface="Open Sans"/>
              <a:cs typeface="Open Sans"/>
              <a:sym typeface="Open Sans"/>
            </a:endParaRPr>
          </a:p>
        </p:txBody>
      </p:sp>
      <p:sp>
        <p:nvSpPr>
          <p:cNvPr id="2488" name="Google Shape;2488;p88"/>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2" name="Shape 2492"/>
        <p:cNvGrpSpPr/>
        <p:nvPr/>
      </p:nvGrpSpPr>
      <p:grpSpPr>
        <a:xfrm>
          <a:off x="0" y="0"/>
          <a:ext cx="0" cy="0"/>
          <a:chOff x="0" y="0"/>
          <a:chExt cx="0" cy="0"/>
        </a:xfrm>
      </p:grpSpPr>
      <p:sp>
        <p:nvSpPr>
          <p:cNvPr id="2493" name="Google Shape;2493;p8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494" name="Google Shape;2494;p89"/>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495" name="Google Shape;2495;p8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496" name="Google Shape;2496;p8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497" name="Google Shape;2497;p89"/>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498" name="Google Shape;2498;p89"/>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499" name="Google Shape;2499;p8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500" name="Google Shape;2500;p8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501" name="Google Shape;2501;p8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502" name="Google Shape;2502;p8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503" name="Google Shape;2503;p89"/>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504" name="Google Shape;2504;p8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505" name="Google Shape;2505;p89"/>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506" name="Google Shape;2506;p8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507" name="Google Shape;2507;p8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508" name="Google Shape;2508;p8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509" name="Google Shape;2509;p8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510" name="Google Shape;2510;p8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511" name="Google Shape;2511;p8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512" name="Google Shape;2512;p8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513" name="Google Shape;2513;p89"/>
          <p:cNvCxnSpPr>
            <a:stCxn id="2512" idx="2"/>
            <a:endCxn id="251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514" name="Google Shape;2514;p89"/>
          <p:cNvCxnSpPr>
            <a:stCxn id="2510" idx="0"/>
            <a:endCxn id="251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515" name="Google Shape;2515;p89"/>
          <p:cNvCxnSpPr>
            <a:stCxn id="2509" idx="2"/>
            <a:endCxn id="251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516" name="Google Shape;2516;p89"/>
          <p:cNvCxnSpPr>
            <a:stCxn id="2509" idx="2"/>
            <a:endCxn id="2505"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2517" name="Google Shape;2517;p89"/>
          <p:cNvCxnSpPr>
            <a:stCxn id="2509" idx="2"/>
            <a:endCxn id="250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518" name="Google Shape;2518;p89"/>
          <p:cNvCxnSpPr>
            <a:stCxn id="2508" idx="2"/>
            <a:endCxn id="2505"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2519" name="Google Shape;2519;p89"/>
          <p:cNvCxnSpPr>
            <a:stCxn id="2508" idx="1"/>
            <a:endCxn id="250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520" name="Google Shape;2520;p89"/>
          <p:cNvCxnSpPr>
            <a:stCxn id="2507" idx="0"/>
            <a:endCxn id="2505"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2521" name="Google Shape;2521;p89"/>
          <p:cNvCxnSpPr>
            <a:stCxn id="2506" idx="7"/>
            <a:endCxn id="2505"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2522" name="Google Shape;2522;p89"/>
          <p:cNvCxnSpPr>
            <a:stCxn id="2507" idx="1"/>
            <a:endCxn id="250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523" name="Google Shape;2523;p89"/>
          <p:cNvCxnSpPr>
            <a:stCxn id="2505" idx="2"/>
            <a:endCxn id="2503"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2524" name="Google Shape;2524;p89"/>
          <p:cNvCxnSpPr>
            <a:stCxn id="2506" idx="0"/>
            <a:endCxn id="2503"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2525" name="Google Shape;2525;p89"/>
          <p:cNvCxnSpPr>
            <a:stCxn id="2505" idx="0"/>
            <a:endCxn id="2504"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2526" name="Google Shape;2526;p89"/>
          <p:cNvCxnSpPr>
            <a:stCxn id="2503" idx="7"/>
            <a:endCxn id="2504"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527" name="Google Shape;2527;p89"/>
          <p:cNvCxnSpPr>
            <a:stCxn id="2503" idx="2"/>
            <a:endCxn id="2501"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2528" name="Google Shape;2528;p89"/>
          <p:cNvCxnSpPr>
            <a:stCxn id="2502" idx="0"/>
            <a:endCxn id="2501"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529" name="Google Shape;2529;p89"/>
          <p:cNvCxnSpPr>
            <a:stCxn id="2501" idx="3"/>
            <a:endCxn id="2500"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530" name="Google Shape;2530;p89"/>
          <p:cNvCxnSpPr>
            <a:stCxn id="2499" idx="5"/>
            <a:endCxn id="250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531" name="Google Shape;2531;p89"/>
          <p:cNvCxnSpPr>
            <a:stCxn id="2496" idx="4"/>
            <a:endCxn id="249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532" name="Google Shape;2532;p89"/>
          <p:cNvCxnSpPr>
            <a:stCxn id="2501" idx="1"/>
            <a:endCxn id="2496"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2533" name="Google Shape;2533;p89"/>
          <p:cNvCxnSpPr>
            <a:stCxn id="2499" idx="2"/>
            <a:endCxn id="249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534" name="Google Shape;2534;p89"/>
          <p:cNvCxnSpPr>
            <a:stCxn id="2499" idx="0"/>
            <a:endCxn id="249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535" name="Google Shape;2535;p89"/>
          <p:cNvCxnSpPr>
            <a:stCxn id="2497" idx="3"/>
            <a:endCxn id="249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536" name="Google Shape;2536;p89"/>
          <p:cNvCxnSpPr>
            <a:stCxn id="2494" idx="4"/>
            <a:endCxn id="249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537" name="Google Shape;2537;p89"/>
          <p:cNvCxnSpPr>
            <a:stCxn id="2495" idx="2"/>
            <a:endCxn id="249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538" name="Google Shape;2538;p89"/>
          <p:cNvCxnSpPr>
            <a:stCxn id="2495" idx="3"/>
            <a:endCxn id="249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539" name="Google Shape;2539;p89"/>
          <p:cNvCxnSpPr>
            <a:stCxn id="2496" idx="2"/>
            <a:endCxn id="249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540" name="Google Shape;2540;p89"/>
          <p:cNvCxnSpPr>
            <a:stCxn id="2496" idx="1"/>
            <a:endCxn id="249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541" name="Google Shape;2541;p89"/>
          <p:cNvCxnSpPr>
            <a:stCxn id="2496" idx="2"/>
            <a:endCxn id="2497"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2542" name="Google Shape;2542;p89"/>
          <p:cNvCxnSpPr>
            <a:stCxn id="2497" idx="1"/>
            <a:endCxn id="249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543" name="Google Shape;2543;p89"/>
          <p:cNvCxnSpPr>
            <a:stCxn id="2505" idx="6"/>
            <a:endCxn id="2510"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2544" name="Google Shape;2544;p89"/>
          <p:cNvSpPr txBox="1"/>
          <p:nvPr/>
        </p:nvSpPr>
        <p:spPr>
          <a:xfrm>
            <a:off x="2760600" y="1178425"/>
            <a:ext cx="458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Eigenvector centrality was discovered by a Professor of sociology at UCLA! (Bonacich 1978)</a:t>
            </a:r>
            <a:endParaRPr>
              <a:latin typeface="Open Sans"/>
              <a:ea typeface="Open Sans"/>
              <a:cs typeface="Open Sans"/>
              <a:sym typeface="Open Sans"/>
            </a:endParaRPr>
          </a:p>
        </p:txBody>
      </p:sp>
      <p:sp>
        <p:nvSpPr>
          <p:cNvPr id="2545" name="Google Shape;2545;p89"/>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9" name="Shape 2549"/>
        <p:cNvGrpSpPr/>
        <p:nvPr/>
      </p:nvGrpSpPr>
      <p:grpSpPr>
        <a:xfrm>
          <a:off x="0" y="0"/>
          <a:ext cx="0" cy="0"/>
          <a:chOff x="0" y="0"/>
          <a:chExt cx="0" cy="0"/>
        </a:xfrm>
      </p:grpSpPr>
      <p:sp>
        <p:nvSpPr>
          <p:cNvPr id="2550" name="Google Shape;2550;p90"/>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551" name="Google Shape;2551;p9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552" name="Google Shape;2552;p9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553" name="Google Shape;2553;p90"/>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554" name="Google Shape;2554;p9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555" name="Google Shape;2555;p9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556" name="Google Shape;2556;p90"/>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557" name="Google Shape;2557;p9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558" name="Google Shape;2558;p9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559" name="Google Shape;2559;p90"/>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560" name="Google Shape;2560;p9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561" name="Google Shape;2561;p90"/>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562" name="Google Shape;2562;p9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563" name="Google Shape;2563;p9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564" name="Google Shape;2564;p9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565" name="Google Shape;2565;p9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566" name="Google Shape;2566;p9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567" name="Google Shape;2567;p9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568" name="Google Shape;2568;p90"/>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569" name="Google Shape;2569;p90"/>
          <p:cNvCxnSpPr>
            <a:stCxn id="2568" idx="2"/>
            <a:endCxn id="256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570" name="Google Shape;2570;p90"/>
          <p:cNvCxnSpPr>
            <a:stCxn id="2566" idx="0"/>
            <a:endCxn id="256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571" name="Google Shape;2571;p90"/>
          <p:cNvCxnSpPr>
            <a:stCxn id="2565" idx="2"/>
            <a:endCxn id="256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572" name="Google Shape;2572;p90"/>
          <p:cNvCxnSpPr>
            <a:stCxn id="2565" idx="2"/>
            <a:endCxn id="2561"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2573" name="Google Shape;2573;p90"/>
          <p:cNvCxnSpPr>
            <a:stCxn id="2565" idx="2"/>
            <a:endCxn id="256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574" name="Google Shape;2574;p90"/>
          <p:cNvCxnSpPr>
            <a:stCxn id="2564" idx="2"/>
            <a:endCxn id="2561"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2575" name="Google Shape;2575;p90"/>
          <p:cNvCxnSpPr>
            <a:stCxn id="2564" idx="1"/>
            <a:endCxn id="256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576" name="Google Shape;2576;p90"/>
          <p:cNvCxnSpPr>
            <a:stCxn id="2563" idx="0"/>
            <a:endCxn id="2561"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2577" name="Google Shape;2577;p90"/>
          <p:cNvCxnSpPr>
            <a:stCxn id="2562" idx="7"/>
            <a:endCxn id="2561"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2578" name="Google Shape;2578;p90"/>
          <p:cNvCxnSpPr>
            <a:stCxn id="2563" idx="1"/>
            <a:endCxn id="256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579" name="Google Shape;2579;p90"/>
          <p:cNvCxnSpPr>
            <a:stCxn id="2561" idx="2"/>
            <a:endCxn id="2559"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2580" name="Google Shape;2580;p90"/>
          <p:cNvCxnSpPr>
            <a:stCxn id="2562" idx="0"/>
            <a:endCxn id="2559"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2581" name="Google Shape;2581;p90"/>
          <p:cNvCxnSpPr>
            <a:stCxn id="2561" idx="0"/>
            <a:endCxn id="2560"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2582" name="Google Shape;2582;p90"/>
          <p:cNvCxnSpPr>
            <a:stCxn id="2559" idx="7"/>
            <a:endCxn id="2560"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583" name="Google Shape;2583;p90"/>
          <p:cNvCxnSpPr>
            <a:stCxn id="2559" idx="2"/>
            <a:endCxn id="2557"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2584" name="Google Shape;2584;p90"/>
          <p:cNvCxnSpPr>
            <a:stCxn id="2558" idx="0"/>
            <a:endCxn id="2557"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585" name="Google Shape;2585;p90"/>
          <p:cNvCxnSpPr>
            <a:stCxn id="2557" idx="3"/>
            <a:endCxn id="2556"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586" name="Google Shape;2586;p90"/>
          <p:cNvCxnSpPr>
            <a:stCxn id="2555" idx="5"/>
            <a:endCxn id="255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587" name="Google Shape;2587;p90"/>
          <p:cNvCxnSpPr>
            <a:stCxn id="2552" idx="4"/>
            <a:endCxn id="255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588" name="Google Shape;2588;p90"/>
          <p:cNvCxnSpPr>
            <a:stCxn id="2557" idx="1"/>
            <a:endCxn id="2552"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2589" name="Google Shape;2589;p90"/>
          <p:cNvCxnSpPr>
            <a:stCxn id="2555" idx="2"/>
            <a:endCxn id="255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590" name="Google Shape;2590;p90"/>
          <p:cNvCxnSpPr>
            <a:stCxn id="2555" idx="0"/>
            <a:endCxn id="255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591" name="Google Shape;2591;p90"/>
          <p:cNvCxnSpPr>
            <a:stCxn id="2553" idx="3"/>
            <a:endCxn id="255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592" name="Google Shape;2592;p90"/>
          <p:cNvCxnSpPr>
            <a:stCxn id="2550" idx="4"/>
            <a:endCxn id="255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593" name="Google Shape;2593;p90"/>
          <p:cNvCxnSpPr>
            <a:stCxn id="2551" idx="2"/>
            <a:endCxn id="255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594" name="Google Shape;2594;p90"/>
          <p:cNvCxnSpPr>
            <a:stCxn id="2551" idx="3"/>
            <a:endCxn id="255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595" name="Google Shape;2595;p90"/>
          <p:cNvCxnSpPr>
            <a:stCxn id="2552" idx="2"/>
            <a:endCxn id="255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596" name="Google Shape;2596;p90"/>
          <p:cNvCxnSpPr>
            <a:stCxn id="2552" idx="1"/>
            <a:endCxn id="255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597" name="Google Shape;2597;p90"/>
          <p:cNvCxnSpPr>
            <a:stCxn id="2552" idx="2"/>
            <a:endCxn id="2553"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2598" name="Google Shape;2598;p90"/>
          <p:cNvCxnSpPr>
            <a:stCxn id="2553" idx="1"/>
            <a:endCxn id="255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599" name="Google Shape;2599;p90"/>
          <p:cNvCxnSpPr>
            <a:stCxn id="2561" idx="6"/>
            <a:endCxn id="2566"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2600" name="Google Shape;2600;p90"/>
          <p:cNvSpPr txBox="1"/>
          <p:nvPr/>
        </p:nvSpPr>
        <p:spPr>
          <a:xfrm>
            <a:off x="2760600" y="1178425"/>
            <a:ext cx="458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Eigenvector centrality was discovered by a Professor of sociology at UCLA! (Bonacich 1978)</a:t>
            </a:r>
            <a:endParaRPr>
              <a:latin typeface="Open Sans"/>
              <a:ea typeface="Open Sans"/>
              <a:cs typeface="Open Sans"/>
              <a:sym typeface="Open Sans"/>
            </a:endParaRPr>
          </a:p>
        </p:txBody>
      </p:sp>
      <p:sp>
        <p:nvSpPr>
          <p:cNvPr id="2601" name="Google Shape;2601;p90"/>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graphicFrame>
        <p:nvGraphicFramePr>
          <p:cNvPr id="2602" name="Google Shape;2602;p90"/>
          <p:cNvGraphicFramePr/>
          <p:nvPr/>
        </p:nvGraphicFramePr>
        <p:xfrm>
          <a:off x="490888" y="191975"/>
          <a:ext cx="3000000" cy="3000000"/>
        </p:xfrm>
        <a:graphic>
          <a:graphicData uri="http://schemas.openxmlformats.org/drawingml/2006/table">
            <a:tbl>
              <a:tblPr>
                <a:noFill/>
                <a:tableStyleId>{B37DEEDC-AE2E-4B14-ACF6-3FA4F663FCEB}</a:tableStyleId>
              </a:tblPr>
              <a:tblGrid>
                <a:gridCol w="429975"/>
                <a:gridCol w="429975"/>
                <a:gridCol w="429975"/>
                <a:gridCol w="429975"/>
                <a:gridCol w="338775"/>
                <a:gridCol w="429975"/>
                <a:gridCol w="429975"/>
                <a:gridCol w="429975"/>
                <a:gridCol w="429975"/>
                <a:gridCol w="429975"/>
                <a:gridCol w="429975"/>
                <a:gridCol w="429975"/>
                <a:gridCol w="429975"/>
                <a:gridCol w="429975"/>
                <a:gridCol w="429975"/>
                <a:gridCol w="429975"/>
                <a:gridCol w="429975"/>
                <a:gridCol w="429975"/>
                <a:gridCol w="429975"/>
              </a:tblGrid>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a</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b</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c</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d</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e</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f</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g</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h</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i</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j</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k</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l</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m</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n</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o</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p</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q</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r</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s</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12.6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16.1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19</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13.6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14.1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18.1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6.6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6" name="Shape 2606"/>
        <p:cNvGrpSpPr/>
        <p:nvPr/>
      </p:nvGrpSpPr>
      <p:grpSpPr>
        <a:xfrm>
          <a:off x="0" y="0"/>
          <a:ext cx="0" cy="0"/>
          <a:chOff x="0" y="0"/>
          <a:chExt cx="0" cy="0"/>
        </a:xfrm>
      </p:grpSpPr>
      <p:sp>
        <p:nvSpPr>
          <p:cNvPr id="2607" name="Google Shape;2607;p9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centrality measures and interpretations</a:t>
            </a:r>
            <a:endParaRPr/>
          </a:p>
        </p:txBody>
      </p:sp>
      <p:sp>
        <p:nvSpPr>
          <p:cNvPr id="2608" name="Google Shape;2608;p9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well is a node </a:t>
            </a:r>
            <a:r>
              <a:rPr b="1" lang="en"/>
              <a:t>directly</a:t>
            </a:r>
            <a:r>
              <a:rPr lang="en"/>
              <a:t> </a:t>
            </a:r>
            <a:r>
              <a:rPr b="1" lang="en"/>
              <a:t>connected </a:t>
            </a:r>
            <a:r>
              <a:rPr lang="en"/>
              <a:t>to others?</a:t>
            </a:r>
            <a:endParaRPr/>
          </a:p>
          <a:p>
            <a:pPr indent="-317500" lvl="1" marL="914400" rtl="0" algn="l">
              <a:spcBef>
                <a:spcPts val="0"/>
              </a:spcBef>
              <a:spcAft>
                <a:spcPts val="0"/>
              </a:spcAft>
              <a:buClr>
                <a:srgbClr val="FF0000"/>
              </a:buClr>
              <a:buSzPts val="1400"/>
              <a:buChar char="○"/>
            </a:pPr>
            <a:r>
              <a:rPr i="1" lang="en">
                <a:solidFill>
                  <a:srgbClr val="FF0000"/>
                </a:solidFill>
              </a:rPr>
              <a:t>Degree, indegree, outdegree: </a:t>
            </a:r>
            <a:r>
              <a:rPr lang="en"/>
              <a:t> Based on the number of </a:t>
            </a:r>
            <a:r>
              <a:rPr b="1" lang="en"/>
              <a:t>one-step</a:t>
            </a:r>
            <a:r>
              <a:rPr lang="en"/>
              <a:t> connections from that node to all others</a:t>
            </a:r>
            <a:endParaRPr/>
          </a:p>
          <a:p>
            <a:pPr indent="-342900" lvl="0" marL="457200" rtl="0" algn="l">
              <a:spcBef>
                <a:spcPts val="0"/>
              </a:spcBef>
              <a:spcAft>
                <a:spcPts val="0"/>
              </a:spcAft>
              <a:buSzPts val="1800"/>
              <a:buChar char="●"/>
            </a:pPr>
            <a:r>
              <a:rPr lang="en"/>
              <a:t>How well is a node </a:t>
            </a:r>
            <a:r>
              <a:rPr b="1" lang="en"/>
              <a:t>indirectly connected </a:t>
            </a:r>
            <a:r>
              <a:rPr lang="en"/>
              <a:t>to others?</a:t>
            </a:r>
            <a:endParaRPr/>
          </a:p>
          <a:p>
            <a:pPr indent="-317500" lvl="1" marL="914400" rtl="0" algn="l">
              <a:spcBef>
                <a:spcPts val="0"/>
              </a:spcBef>
              <a:spcAft>
                <a:spcPts val="0"/>
              </a:spcAft>
              <a:buClr>
                <a:srgbClr val="FF0000"/>
              </a:buClr>
              <a:buSzPts val="1400"/>
              <a:buChar char="○"/>
            </a:pPr>
            <a:r>
              <a:rPr i="1" lang="en">
                <a:solidFill>
                  <a:srgbClr val="FF0000"/>
                </a:solidFill>
              </a:rPr>
              <a:t>Closeness: </a:t>
            </a:r>
            <a:r>
              <a:rPr lang="en"/>
              <a:t>Based on the number </a:t>
            </a:r>
            <a:r>
              <a:rPr b="1" lang="en"/>
              <a:t>shortest paths</a:t>
            </a:r>
            <a:r>
              <a:rPr lang="en"/>
              <a:t> that begin with that node and </a:t>
            </a:r>
            <a:r>
              <a:rPr b="1" lang="en"/>
              <a:t>reach</a:t>
            </a:r>
            <a:r>
              <a:rPr lang="en"/>
              <a:t> the others</a:t>
            </a:r>
            <a:endParaRPr/>
          </a:p>
          <a:p>
            <a:pPr indent="-342900" lvl="0" marL="457200" rtl="0" algn="l">
              <a:spcBef>
                <a:spcPts val="0"/>
              </a:spcBef>
              <a:spcAft>
                <a:spcPts val="0"/>
              </a:spcAft>
              <a:buSzPts val="1800"/>
              <a:buChar char="●"/>
            </a:pPr>
            <a:r>
              <a:rPr lang="en"/>
              <a:t>How well can a node serve as an </a:t>
            </a:r>
            <a:r>
              <a:rPr b="1" lang="en"/>
              <a:t>intermediary </a:t>
            </a:r>
            <a:r>
              <a:rPr lang="en"/>
              <a:t>between other nodes?</a:t>
            </a:r>
            <a:endParaRPr/>
          </a:p>
          <a:p>
            <a:pPr indent="-317500" lvl="1" marL="914400" rtl="0" algn="l">
              <a:spcBef>
                <a:spcPts val="0"/>
              </a:spcBef>
              <a:spcAft>
                <a:spcPts val="0"/>
              </a:spcAft>
              <a:buClr>
                <a:srgbClr val="FF0000"/>
              </a:buClr>
              <a:buSzPts val="1400"/>
              <a:buChar char="○"/>
            </a:pPr>
            <a:r>
              <a:rPr i="1" lang="en">
                <a:solidFill>
                  <a:srgbClr val="FF0000"/>
                </a:solidFill>
              </a:rPr>
              <a:t>Betweenness: </a:t>
            </a:r>
            <a:r>
              <a:rPr lang="en"/>
              <a:t>Based on the proportion of </a:t>
            </a:r>
            <a:r>
              <a:rPr b="1" lang="en"/>
              <a:t>shortest paths</a:t>
            </a:r>
            <a:r>
              <a:rPr lang="en"/>
              <a:t> between all </a:t>
            </a:r>
            <a:r>
              <a:rPr b="1" lang="en"/>
              <a:t>other</a:t>
            </a:r>
            <a:r>
              <a:rPr lang="en"/>
              <a:t> </a:t>
            </a:r>
            <a:r>
              <a:rPr b="1" lang="en"/>
              <a:t>pairs</a:t>
            </a:r>
            <a:r>
              <a:rPr lang="en"/>
              <a:t> of nodes including that node </a:t>
            </a:r>
            <a:endParaRPr/>
          </a:p>
          <a:p>
            <a:pPr indent="-342900" lvl="0" marL="457200" rtl="0" algn="l">
              <a:spcBef>
                <a:spcPts val="0"/>
              </a:spcBef>
              <a:spcAft>
                <a:spcPts val="0"/>
              </a:spcAft>
              <a:buSzPts val="1800"/>
              <a:buChar char="●"/>
            </a:pPr>
            <a:r>
              <a:rPr lang="en"/>
              <a:t>How well is node connected to </a:t>
            </a:r>
            <a:r>
              <a:rPr b="1" lang="en"/>
              <a:t>highly connected</a:t>
            </a:r>
            <a:r>
              <a:rPr lang="en"/>
              <a:t> others?</a:t>
            </a:r>
            <a:endParaRPr/>
          </a:p>
          <a:p>
            <a:pPr indent="-317500" lvl="1" marL="914400" rtl="0" algn="l">
              <a:spcBef>
                <a:spcPts val="0"/>
              </a:spcBef>
              <a:spcAft>
                <a:spcPts val="0"/>
              </a:spcAft>
              <a:buClr>
                <a:srgbClr val="FF0000"/>
              </a:buClr>
              <a:buSzPts val="1400"/>
              <a:buChar char="○"/>
            </a:pPr>
            <a:r>
              <a:rPr i="1" lang="en">
                <a:solidFill>
                  <a:srgbClr val="FF0000"/>
                </a:solidFill>
              </a:rPr>
              <a:t>Eigenvector: </a:t>
            </a:r>
            <a:r>
              <a:rPr lang="en">
                <a:solidFill>
                  <a:srgbClr val="000000"/>
                </a:solidFill>
              </a:rPr>
              <a:t>Based on the direct and indirect connections of that node to other central nodes</a:t>
            </a:r>
            <a:endParaRPr>
              <a:solidFill>
                <a:srgbClr val="000000"/>
              </a:solidFill>
            </a:endParaRPr>
          </a:p>
          <a:p>
            <a:pPr indent="0" lvl="0" marL="1371600" rtl="0" algn="l">
              <a:spcBef>
                <a:spcPts val="0"/>
              </a:spcBef>
              <a:spcAft>
                <a:spcPts val="0"/>
              </a:spcAft>
              <a:buNone/>
            </a:pPr>
            <a:r>
              <a:t/>
            </a:r>
            <a:endParaRPr>
              <a:solidFill>
                <a:srgbClr val="00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2" name="Shape 2612"/>
        <p:cNvGrpSpPr/>
        <p:nvPr/>
      </p:nvGrpSpPr>
      <p:grpSpPr>
        <a:xfrm>
          <a:off x="0" y="0"/>
          <a:ext cx="0" cy="0"/>
          <a:chOff x="0" y="0"/>
          <a:chExt cx="0" cy="0"/>
        </a:xfrm>
      </p:grpSpPr>
      <p:sp>
        <p:nvSpPr>
          <p:cNvPr id="2613" name="Google Shape;2613;p92"/>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Graph</a:t>
            </a:r>
            <a:r>
              <a:rPr lang="en"/>
              <a:t> Centralization</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7" name="Shape 2617"/>
        <p:cNvGrpSpPr/>
        <p:nvPr/>
      </p:nvGrpSpPr>
      <p:grpSpPr>
        <a:xfrm>
          <a:off x="0" y="0"/>
          <a:ext cx="0" cy="0"/>
          <a:chOff x="0" y="0"/>
          <a:chExt cx="0" cy="0"/>
        </a:xfrm>
      </p:grpSpPr>
      <p:sp>
        <p:nvSpPr>
          <p:cNvPr id="2618" name="Google Shape;2618;p9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2619" name="Google Shape;2619;p93"/>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620" name="Google Shape;2620;p93"/>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621" name="Google Shape;2621;p93"/>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622" name="Google Shape;2622;p93"/>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623" name="Google Shape;2623;p93"/>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624" name="Google Shape;2624;p93"/>
          <p:cNvCxnSpPr>
            <a:stCxn id="2620" idx="4"/>
            <a:endCxn id="2621"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625" name="Google Shape;2625;p93"/>
          <p:cNvCxnSpPr>
            <a:stCxn id="2621" idx="2"/>
            <a:endCxn id="2619"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26" name="Google Shape;2626;p93"/>
          <p:cNvCxnSpPr>
            <a:stCxn id="2621" idx="6"/>
            <a:endCxn id="2622"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2627" name="Google Shape;2627;p93"/>
          <p:cNvGraphicFramePr/>
          <p:nvPr/>
        </p:nvGraphicFramePr>
        <p:xfrm>
          <a:off x="508013"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28" name="Google Shape;2628;p93"/>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2629" name="Google Shape;2629;p93"/>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2630" name="Google Shape;2630;p93"/>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Open Sans"/>
                <a:ea typeface="Open Sans"/>
                <a:cs typeface="Open Sans"/>
                <a:sym typeface="Open Sans"/>
              </a:rPr>
              <a:t>k</a:t>
            </a:r>
            <a:r>
              <a:rPr baseline="30000" lang="en">
                <a:latin typeface="Open Sans"/>
                <a:ea typeface="Open Sans"/>
                <a:cs typeface="Open Sans"/>
                <a:sym typeface="Open Sans"/>
              </a:rPr>
              <a:t>max</a:t>
            </a:r>
            <a:r>
              <a:rPr baseline="-25000" lang="en">
                <a:latin typeface="Open Sans"/>
                <a:ea typeface="Open Sans"/>
                <a:cs typeface="Open Sans"/>
                <a:sym typeface="Open Sans"/>
              </a:rPr>
              <a:t> </a:t>
            </a:r>
            <a:r>
              <a:rPr lang="en">
                <a:latin typeface="Open Sans"/>
                <a:ea typeface="Open Sans"/>
                <a:cs typeface="Open Sans"/>
                <a:sym typeface="Open Sans"/>
              </a:rPr>
              <a:t>=</a:t>
            </a:r>
            <a:r>
              <a:rPr lang="en">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631" name="Google Shape;2631;p93"/>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632" name="Google Shape;2632;p93"/>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633" name="Google Shape;2633;p93"/>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634" name="Google Shape;2634;p93"/>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635" name="Google Shape;2635;p93"/>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636" name="Google Shape;2636;p93"/>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637" name="Google Shape;2637;p93"/>
          <p:cNvCxnSpPr>
            <a:stCxn id="2633" idx="4"/>
            <a:endCxn id="2634"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638" name="Google Shape;2638;p93"/>
          <p:cNvCxnSpPr>
            <a:stCxn id="2633" idx="5"/>
            <a:endCxn id="2635"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639" name="Google Shape;2639;p93"/>
          <p:cNvCxnSpPr>
            <a:stCxn id="2634" idx="2"/>
            <a:endCxn id="2632"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40" name="Google Shape;2640;p93"/>
          <p:cNvCxnSpPr>
            <a:stCxn id="2633" idx="3"/>
            <a:endCxn id="2632"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641" name="Google Shape;2641;p93"/>
          <p:cNvCxnSpPr>
            <a:stCxn id="2634" idx="6"/>
            <a:endCxn id="2635"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42" name="Google Shape;2642;p93"/>
          <p:cNvCxnSpPr>
            <a:stCxn id="2636" idx="1"/>
            <a:endCxn id="2632"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643" name="Google Shape;2643;p93"/>
          <p:cNvCxnSpPr>
            <a:stCxn id="2634" idx="4"/>
            <a:endCxn id="2636"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644" name="Google Shape;2644;p93"/>
          <p:cNvCxnSpPr>
            <a:stCxn id="2635" idx="3"/>
            <a:endCxn id="2636"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645" name="Google Shape;2645;p93"/>
          <p:cNvCxnSpPr>
            <a:stCxn id="2621" idx="4"/>
            <a:endCxn id="2623"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2646" name="Google Shape;2646;p93"/>
          <p:cNvGraphicFramePr/>
          <p:nvPr/>
        </p:nvGraphicFramePr>
        <p:xfrm>
          <a:off x="4781638"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47" name="Google Shape;2647;p93"/>
          <p:cNvSpPr txBox="1"/>
          <p:nvPr/>
        </p:nvSpPr>
        <p:spPr>
          <a:xfrm>
            <a:off x="6667425" y="224925"/>
            <a:ext cx="22035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Degree Centralization compares an observed network to one that is maximally centralized (the star graph of the same order)</a:t>
            </a:r>
            <a:endParaRPr b="1">
              <a:solidFill>
                <a:srgbClr val="FF0000"/>
              </a:solidFill>
              <a:latin typeface="Open Sans"/>
              <a:ea typeface="Open Sans"/>
              <a:cs typeface="Open Sans"/>
              <a:sym typeface="Open Sans"/>
            </a:endParaRPr>
          </a:p>
        </p:txBody>
      </p:sp>
      <p:pic>
        <p:nvPicPr>
          <p:cNvPr descr="C_d=\frac{\sum_i k^{max}-k_i}{C(max)}" id="2648" name="Google Shape;2648;p93"/>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2" name="Shape 2652"/>
        <p:cNvGrpSpPr/>
        <p:nvPr/>
      </p:nvGrpSpPr>
      <p:grpSpPr>
        <a:xfrm>
          <a:off x="0" y="0"/>
          <a:ext cx="0" cy="0"/>
          <a:chOff x="0" y="0"/>
          <a:chExt cx="0" cy="0"/>
        </a:xfrm>
      </p:grpSpPr>
      <p:sp>
        <p:nvSpPr>
          <p:cNvPr id="2653" name="Google Shape;2653;p9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2654" name="Google Shape;2654;p94"/>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655" name="Google Shape;2655;p94"/>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656" name="Google Shape;2656;p94"/>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657" name="Google Shape;2657;p94"/>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658" name="Google Shape;2658;p94"/>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659" name="Google Shape;2659;p94"/>
          <p:cNvCxnSpPr>
            <a:stCxn id="2655" idx="4"/>
            <a:endCxn id="2656"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660" name="Google Shape;2660;p94"/>
          <p:cNvCxnSpPr>
            <a:stCxn id="2656" idx="2"/>
            <a:endCxn id="2654"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61" name="Google Shape;2661;p94"/>
          <p:cNvCxnSpPr>
            <a:stCxn id="2656" idx="6"/>
            <a:endCxn id="2657"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2662" name="Google Shape;2662;p94"/>
          <p:cNvGraphicFramePr/>
          <p:nvPr/>
        </p:nvGraphicFramePr>
        <p:xfrm>
          <a:off x="508013"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63" name="Google Shape;2663;p94"/>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2664" name="Google Shape;2664;p94"/>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2665" name="Google Shape;2665;p94"/>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666" name="Google Shape;2666;p94"/>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a:t>
            </a:r>
            <a:r>
              <a:rPr lang="en">
                <a:latin typeface="Open Sans"/>
                <a:ea typeface="Open Sans"/>
                <a:cs typeface="Open Sans"/>
                <a:sym typeface="Open Sans"/>
              </a:rPr>
              <a:t>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667" name="Google Shape;2667;p94"/>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668" name="Google Shape;2668;p94"/>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669" name="Google Shape;2669;p94"/>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670" name="Google Shape;2670;p94"/>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671" name="Google Shape;2671;p94"/>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672" name="Google Shape;2672;p94"/>
          <p:cNvCxnSpPr>
            <a:stCxn id="2668" idx="4"/>
            <a:endCxn id="2669"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673" name="Google Shape;2673;p94"/>
          <p:cNvCxnSpPr>
            <a:stCxn id="2668" idx="5"/>
            <a:endCxn id="2670"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674" name="Google Shape;2674;p94"/>
          <p:cNvCxnSpPr>
            <a:stCxn id="2669" idx="2"/>
            <a:endCxn id="2667"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75" name="Google Shape;2675;p94"/>
          <p:cNvCxnSpPr>
            <a:stCxn id="2668" idx="3"/>
            <a:endCxn id="2667"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676" name="Google Shape;2676;p94"/>
          <p:cNvCxnSpPr>
            <a:stCxn id="2669" idx="6"/>
            <a:endCxn id="2670"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77" name="Google Shape;2677;p94"/>
          <p:cNvCxnSpPr>
            <a:stCxn id="2671" idx="1"/>
            <a:endCxn id="2667"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678" name="Google Shape;2678;p94"/>
          <p:cNvCxnSpPr>
            <a:stCxn id="2669" idx="4"/>
            <a:endCxn id="2671"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679" name="Google Shape;2679;p94"/>
          <p:cNvCxnSpPr>
            <a:stCxn id="2670" idx="3"/>
            <a:endCxn id="2671"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680" name="Google Shape;2680;p94"/>
          <p:cNvCxnSpPr>
            <a:stCxn id="2656" idx="4"/>
            <a:endCxn id="2658"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2681" name="Google Shape;2681;p94"/>
          <p:cNvGraphicFramePr/>
          <p:nvPr/>
        </p:nvGraphicFramePr>
        <p:xfrm>
          <a:off x="4781638"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82" name="Google Shape;2682;p94"/>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sum_i k^{max}-k_i}{C(max)}" id="2683" name="Google Shape;2683;p94"/>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7" name="Shape 2687"/>
        <p:cNvGrpSpPr/>
        <p:nvPr/>
      </p:nvGrpSpPr>
      <p:grpSpPr>
        <a:xfrm>
          <a:off x="0" y="0"/>
          <a:ext cx="0" cy="0"/>
          <a:chOff x="0" y="0"/>
          <a:chExt cx="0" cy="0"/>
        </a:xfrm>
      </p:grpSpPr>
      <p:sp>
        <p:nvSpPr>
          <p:cNvPr id="2688" name="Google Shape;2688;p9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2689" name="Google Shape;2689;p95"/>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690" name="Google Shape;2690;p95"/>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691" name="Google Shape;2691;p95"/>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692" name="Google Shape;2692;p95"/>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693" name="Google Shape;2693;p95"/>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694" name="Google Shape;2694;p95"/>
          <p:cNvCxnSpPr>
            <a:stCxn id="2690" idx="4"/>
            <a:endCxn id="2691"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695" name="Google Shape;2695;p95"/>
          <p:cNvCxnSpPr>
            <a:stCxn id="2691" idx="2"/>
            <a:endCxn id="2689"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96" name="Google Shape;2696;p95"/>
          <p:cNvCxnSpPr>
            <a:stCxn id="2691" idx="6"/>
            <a:endCxn id="2692"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2697" name="Google Shape;2697;p95"/>
          <p:cNvGraphicFramePr/>
          <p:nvPr/>
        </p:nvGraphicFramePr>
        <p:xfrm>
          <a:off x="508013"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98" name="Google Shape;2698;p95"/>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2699" name="Google Shape;2699;p95"/>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2700" name="Google Shape;2700;p95"/>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701" name="Google Shape;2701;p95"/>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702" name="Google Shape;2702;p95"/>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703" name="Google Shape;2703;p95"/>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704" name="Google Shape;2704;p95"/>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705" name="Google Shape;2705;p95"/>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706" name="Google Shape;2706;p95"/>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707" name="Google Shape;2707;p95"/>
          <p:cNvCxnSpPr>
            <a:stCxn id="2703" idx="4"/>
            <a:endCxn id="2704"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708" name="Google Shape;2708;p95"/>
          <p:cNvCxnSpPr>
            <a:stCxn id="2703" idx="5"/>
            <a:endCxn id="2705"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709" name="Google Shape;2709;p95"/>
          <p:cNvCxnSpPr>
            <a:stCxn id="2704" idx="2"/>
            <a:endCxn id="2702"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10" name="Google Shape;2710;p95"/>
          <p:cNvCxnSpPr>
            <a:stCxn id="2703" idx="3"/>
            <a:endCxn id="2702"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711" name="Google Shape;2711;p95"/>
          <p:cNvCxnSpPr>
            <a:stCxn id="2704" idx="6"/>
            <a:endCxn id="2705"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12" name="Google Shape;2712;p95"/>
          <p:cNvCxnSpPr>
            <a:stCxn id="2706" idx="1"/>
            <a:endCxn id="2702"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713" name="Google Shape;2713;p95"/>
          <p:cNvCxnSpPr>
            <a:stCxn id="2704" idx="4"/>
            <a:endCxn id="2706"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714" name="Google Shape;2714;p95"/>
          <p:cNvCxnSpPr>
            <a:stCxn id="2705" idx="3"/>
            <a:endCxn id="2706"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715" name="Google Shape;2715;p95"/>
          <p:cNvCxnSpPr>
            <a:stCxn id="2691" idx="4"/>
            <a:endCxn id="2693"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2716" name="Google Shape;2716;p95"/>
          <p:cNvGraphicFramePr/>
          <p:nvPr/>
        </p:nvGraphicFramePr>
        <p:xfrm>
          <a:off x="4781638"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17" name="Google Shape;2717;p95"/>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2718" name="Google Shape;2718;p95"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2719" name="Google Shape;2719;p95"/>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C(max)}" id="2720" name="Google Shape;2720;p95"/>
          <p:cNvPicPr preferRelativeResize="0"/>
          <p:nvPr/>
        </p:nvPicPr>
        <p:blipFill>
          <a:blip r:embed="rId5">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4" name="Shape 2724"/>
        <p:cNvGrpSpPr/>
        <p:nvPr/>
      </p:nvGrpSpPr>
      <p:grpSpPr>
        <a:xfrm>
          <a:off x="0" y="0"/>
          <a:ext cx="0" cy="0"/>
          <a:chOff x="0" y="0"/>
          <a:chExt cx="0" cy="0"/>
        </a:xfrm>
      </p:grpSpPr>
      <p:sp>
        <p:nvSpPr>
          <p:cNvPr id="2725" name="Google Shape;2725;p9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2726" name="Google Shape;2726;p96"/>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727" name="Google Shape;2727;p96"/>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728" name="Google Shape;2728;p96"/>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729" name="Google Shape;2729;p96"/>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730" name="Google Shape;2730;p96"/>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731" name="Google Shape;2731;p96"/>
          <p:cNvCxnSpPr>
            <a:stCxn id="2727" idx="4"/>
            <a:endCxn id="2728"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732" name="Google Shape;2732;p96"/>
          <p:cNvCxnSpPr>
            <a:stCxn id="2728" idx="2"/>
            <a:endCxn id="2726"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33" name="Google Shape;2733;p96"/>
          <p:cNvCxnSpPr>
            <a:stCxn id="2728" idx="6"/>
            <a:endCxn id="2729"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2734" name="Google Shape;2734;p96"/>
          <p:cNvGraphicFramePr/>
          <p:nvPr/>
        </p:nvGraphicFramePr>
        <p:xfrm>
          <a:off x="508013"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35" name="Google Shape;2735;p96"/>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2736" name="Google Shape;2736;p96"/>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2737" name="Google Shape;2737;p96"/>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738" name="Google Shape;2738;p96"/>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739" name="Google Shape;2739;p96"/>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740" name="Google Shape;2740;p96"/>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741" name="Google Shape;2741;p96"/>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742" name="Google Shape;2742;p96"/>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743" name="Google Shape;2743;p96"/>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744" name="Google Shape;2744;p96"/>
          <p:cNvCxnSpPr>
            <a:stCxn id="2740" idx="4"/>
            <a:endCxn id="2741"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745" name="Google Shape;2745;p96"/>
          <p:cNvCxnSpPr>
            <a:stCxn id="2740" idx="5"/>
            <a:endCxn id="2742"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746" name="Google Shape;2746;p96"/>
          <p:cNvCxnSpPr>
            <a:stCxn id="2741" idx="2"/>
            <a:endCxn id="2739"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47" name="Google Shape;2747;p96"/>
          <p:cNvCxnSpPr>
            <a:stCxn id="2740" idx="3"/>
            <a:endCxn id="2739"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748" name="Google Shape;2748;p96"/>
          <p:cNvCxnSpPr>
            <a:stCxn id="2741" idx="6"/>
            <a:endCxn id="2742"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49" name="Google Shape;2749;p96"/>
          <p:cNvCxnSpPr>
            <a:stCxn id="2743" idx="1"/>
            <a:endCxn id="2739"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750" name="Google Shape;2750;p96"/>
          <p:cNvCxnSpPr>
            <a:stCxn id="2741" idx="4"/>
            <a:endCxn id="2743"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751" name="Google Shape;2751;p96"/>
          <p:cNvCxnSpPr>
            <a:stCxn id="2742" idx="3"/>
            <a:endCxn id="2743"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752" name="Google Shape;2752;p96"/>
          <p:cNvCxnSpPr>
            <a:stCxn id="2728" idx="4"/>
            <a:endCxn id="2730"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2753" name="Google Shape;2753;p96"/>
          <p:cNvGraphicFramePr/>
          <p:nvPr/>
        </p:nvGraphicFramePr>
        <p:xfrm>
          <a:off x="4781638"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54" name="Google Shape;2754;p96"/>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2755" name="Google Shape;2755;p96"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2756" name="Google Shape;2756;p96"/>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n-1)(n-2)}" id="2757" name="Google Shape;2757;p96"/>
          <p:cNvPicPr preferRelativeResize="0"/>
          <p:nvPr/>
        </p:nvPicPr>
        <p:blipFill>
          <a:blip r:embed="rId5">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1" name="Shape 2761"/>
        <p:cNvGrpSpPr/>
        <p:nvPr/>
      </p:nvGrpSpPr>
      <p:grpSpPr>
        <a:xfrm>
          <a:off x="0" y="0"/>
          <a:ext cx="0" cy="0"/>
          <a:chOff x="0" y="0"/>
          <a:chExt cx="0" cy="0"/>
        </a:xfrm>
      </p:grpSpPr>
      <p:sp>
        <p:nvSpPr>
          <p:cNvPr id="2762" name="Google Shape;2762;p9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2763" name="Google Shape;2763;p97"/>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764" name="Google Shape;2764;p97"/>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765" name="Google Shape;2765;p97"/>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766" name="Google Shape;2766;p97"/>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767" name="Google Shape;2767;p97"/>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768" name="Google Shape;2768;p97"/>
          <p:cNvCxnSpPr>
            <a:stCxn id="2764" idx="4"/>
            <a:endCxn id="2765"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769" name="Google Shape;2769;p97"/>
          <p:cNvCxnSpPr>
            <a:stCxn id="2765" idx="2"/>
            <a:endCxn id="2763"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70" name="Google Shape;2770;p97"/>
          <p:cNvCxnSpPr>
            <a:stCxn id="2765" idx="6"/>
            <a:endCxn id="2766"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2771" name="Google Shape;2771;p97"/>
          <p:cNvGraphicFramePr/>
          <p:nvPr/>
        </p:nvGraphicFramePr>
        <p:xfrm>
          <a:off x="508013"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72" name="Google Shape;2772;p97"/>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2773" name="Google Shape;2773;p97"/>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2774" name="Google Shape;2774;p97"/>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775" name="Google Shape;2775;p97"/>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8</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776" name="Google Shape;2776;p97"/>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777" name="Google Shape;2777;p97"/>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778" name="Google Shape;2778;p97"/>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779" name="Google Shape;2779;p97"/>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780" name="Google Shape;2780;p97"/>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781" name="Google Shape;2781;p97"/>
          <p:cNvCxnSpPr>
            <a:stCxn id="2777" idx="4"/>
            <a:endCxn id="2778"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782" name="Google Shape;2782;p97"/>
          <p:cNvCxnSpPr>
            <a:stCxn id="2777" idx="5"/>
            <a:endCxn id="2779"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783" name="Google Shape;2783;p97"/>
          <p:cNvCxnSpPr>
            <a:stCxn id="2778" idx="2"/>
            <a:endCxn id="2776"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84" name="Google Shape;2784;p97"/>
          <p:cNvCxnSpPr>
            <a:stCxn id="2778" idx="6"/>
            <a:endCxn id="2779"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85" name="Google Shape;2785;p97"/>
          <p:cNvCxnSpPr>
            <a:stCxn id="2780" idx="1"/>
            <a:endCxn id="2776"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786" name="Google Shape;2786;p97"/>
          <p:cNvCxnSpPr>
            <a:stCxn id="2778" idx="4"/>
            <a:endCxn id="2780"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787" name="Google Shape;2787;p97"/>
          <p:cNvCxnSpPr>
            <a:stCxn id="2765" idx="4"/>
            <a:endCxn id="2767"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2788" name="Google Shape;2788;p97"/>
          <p:cNvGraphicFramePr/>
          <p:nvPr/>
        </p:nvGraphicFramePr>
        <p:xfrm>
          <a:off x="4781638"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89" name="Google Shape;2789;p97"/>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closest the graph centralization is to 1.0 the closer the observed graph is to the star graph</a:t>
            </a:r>
            <a:endParaRPr b="1">
              <a:solidFill>
                <a:srgbClr val="FF0000"/>
              </a:solidFill>
              <a:latin typeface="Open Sans"/>
              <a:ea typeface="Open Sans"/>
              <a:cs typeface="Open Sans"/>
              <a:sym typeface="Open Sans"/>
            </a:endParaRPr>
          </a:p>
        </p:txBody>
      </p:sp>
      <p:pic>
        <p:nvPicPr>
          <p:cNvPr descr="C_d=\frac{8}{12} = 0.66" id="2790" name="Google Shape;2790;p97" title="MathEquation,#000000"/>
          <p:cNvPicPr preferRelativeResize="0"/>
          <p:nvPr/>
        </p:nvPicPr>
        <p:blipFill>
          <a:blip r:embed="rId3">
            <a:alphaModFix/>
          </a:blip>
          <a:stretch>
            <a:fillRect/>
          </a:stretch>
        </p:blipFill>
        <p:spPr>
          <a:xfrm>
            <a:off x="6811675" y="2843069"/>
            <a:ext cx="2091750" cy="470644"/>
          </a:xfrm>
          <a:prstGeom prst="rect">
            <a:avLst/>
          </a:prstGeom>
          <a:noFill/>
          <a:ln>
            <a:noFill/>
          </a:ln>
        </p:spPr>
      </p:pic>
      <p:pic>
        <p:nvPicPr>
          <p:cNvPr descr="C_d=\frac{\sum_i^{ }k^{\max}-k_i}{(n-1)(n-2)}" id="2791" name="Google Shape;2791;p97"/>
          <p:cNvPicPr preferRelativeResize="0"/>
          <p:nvPr/>
        </p:nvPicPr>
        <p:blipFill>
          <a:blip r:embed="rId4">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5" name="Shape 2795"/>
        <p:cNvGrpSpPr/>
        <p:nvPr/>
      </p:nvGrpSpPr>
      <p:grpSpPr>
        <a:xfrm>
          <a:off x="0" y="0"/>
          <a:ext cx="0" cy="0"/>
          <a:chOff x="0" y="0"/>
          <a:chExt cx="0" cy="0"/>
        </a:xfrm>
      </p:grpSpPr>
      <p:sp>
        <p:nvSpPr>
          <p:cNvPr id="2796" name="Google Shape;2796;p9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2797" name="Google Shape;2797;p98"/>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798" name="Google Shape;2798;p98"/>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799" name="Google Shape;2799;p98"/>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800" name="Google Shape;2800;p98"/>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801" name="Google Shape;2801;p98"/>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802" name="Google Shape;2802;p98"/>
          <p:cNvCxnSpPr>
            <a:stCxn id="2798" idx="4"/>
            <a:endCxn id="2799"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803" name="Google Shape;2803;p98"/>
          <p:cNvCxnSpPr>
            <a:stCxn id="2799" idx="2"/>
            <a:endCxn id="2797"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804" name="Google Shape;2804;p98"/>
          <p:cNvCxnSpPr>
            <a:stCxn id="2799" idx="6"/>
            <a:endCxn id="2800"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2805" name="Google Shape;2805;p98"/>
          <p:cNvGraphicFramePr/>
          <p:nvPr/>
        </p:nvGraphicFramePr>
        <p:xfrm>
          <a:off x="508013"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06" name="Google Shape;2806;p98"/>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2807" name="Google Shape;2807;p98"/>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2808" name="Google Shape;2808;p98"/>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809" name="Google Shape;2809;p98"/>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0</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810" name="Google Shape;2810;p98"/>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811" name="Google Shape;2811;p98"/>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812" name="Google Shape;2812;p98"/>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813" name="Google Shape;2813;p98"/>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814" name="Google Shape;2814;p98"/>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815" name="Google Shape;2815;p98"/>
          <p:cNvCxnSpPr>
            <a:stCxn id="2811" idx="4"/>
            <a:endCxn id="2812"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816" name="Google Shape;2816;p98"/>
          <p:cNvCxnSpPr>
            <a:stCxn id="2811" idx="5"/>
            <a:endCxn id="2813"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817" name="Google Shape;2817;p98"/>
          <p:cNvCxnSpPr>
            <a:stCxn id="2812" idx="2"/>
            <a:endCxn id="2810"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818" name="Google Shape;2818;p98"/>
          <p:cNvCxnSpPr>
            <a:stCxn id="2812" idx="6"/>
            <a:endCxn id="2813"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819" name="Google Shape;2819;p98"/>
          <p:cNvCxnSpPr>
            <a:stCxn id="2814" idx="1"/>
            <a:endCxn id="2810"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820" name="Google Shape;2820;p98"/>
          <p:cNvCxnSpPr>
            <a:stCxn id="2812" idx="4"/>
            <a:endCxn id="2814"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821" name="Google Shape;2821;p98"/>
          <p:cNvCxnSpPr>
            <a:stCxn id="2799" idx="4"/>
            <a:endCxn id="2801"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2822" name="Google Shape;2822;p98"/>
          <p:cNvGraphicFramePr/>
          <p:nvPr/>
        </p:nvGraphicFramePr>
        <p:xfrm>
          <a:off x="4781638" y="3547350"/>
          <a:ext cx="3000000" cy="3000000"/>
        </p:xfrm>
        <a:graphic>
          <a:graphicData uri="http://schemas.openxmlformats.org/drawingml/2006/table">
            <a:tbl>
              <a:tblPr>
                <a:noFill/>
                <a:tableStyleId>{8FA34EA7-D14D-4E9C-8ABE-802B72326A17}</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23" name="Google Shape;2823;p98"/>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a:t>
            </a:r>
            <a:r>
              <a:rPr b="1" lang="en">
                <a:solidFill>
                  <a:srgbClr val="FF0000"/>
                </a:solidFill>
                <a:latin typeface="Open Sans"/>
                <a:ea typeface="Open Sans"/>
                <a:cs typeface="Open Sans"/>
                <a:sym typeface="Open Sans"/>
              </a:rPr>
              <a:t>opposite</a:t>
            </a:r>
            <a:r>
              <a:rPr b="1" lang="en">
                <a:solidFill>
                  <a:srgbClr val="FF0000"/>
                </a:solidFill>
                <a:latin typeface="Open Sans"/>
                <a:ea typeface="Open Sans"/>
                <a:cs typeface="Open Sans"/>
                <a:sym typeface="Open Sans"/>
              </a:rPr>
              <a:t> of the star graph is the regular graph. Everyone has the same degree and centralization is zero!</a:t>
            </a:r>
            <a:endParaRPr b="1">
              <a:solidFill>
                <a:srgbClr val="FF0000"/>
              </a:solidFill>
              <a:latin typeface="Open Sans"/>
              <a:ea typeface="Open Sans"/>
              <a:cs typeface="Open Sans"/>
              <a:sym typeface="Open Sans"/>
            </a:endParaRPr>
          </a:p>
        </p:txBody>
      </p:sp>
      <p:pic>
        <p:nvPicPr>
          <p:cNvPr descr="C_d=\frac{\sum_i^{ }k^{\max}-k_i}{(n-1)(n-2)}" id="2824" name="Google Shape;2824;p98"/>
          <p:cNvPicPr preferRelativeResize="0"/>
          <p:nvPr/>
        </p:nvPicPr>
        <p:blipFill>
          <a:blip r:embed="rId3">
            <a:alphaModFix/>
          </a:blip>
          <a:stretch>
            <a:fillRect/>
          </a:stretch>
        </p:blipFill>
        <p:spPr>
          <a:xfrm>
            <a:off x="2808489" y="1288715"/>
            <a:ext cx="2235825" cy="620194"/>
          </a:xfrm>
          <a:prstGeom prst="rect">
            <a:avLst/>
          </a:prstGeom>
          <a:noFill/>
          <a:ln>
            <a:noFill/>
          </a:ln>
        </p:spPr>
      </p:pic>
      <p:cxnSp>
        <p:nvCxnSpPr>
          <p:cNvPr id="2825" name="Google Shape;2825;p98"/>
          <p:cNvCxnSpPr>
            <a:stCxn id="2811" idx="3"/>
            <a:endCxn id="2810"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826" name="Google Shape;2826;p98"/>
          <p:cNvCxnSpPr>
            <a:stCxn id="2814" idx="7"/>
            <a:endCxn id="2813" idx="3"/>
          </p:cNvCxnSpPr>
          <p:nvPr/>
        </p:nvCxnSpPr>
        <p:spPr>
          <a:xfrm flipH="1" rot="10800000">
            <a:off x="6147480"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827" name="Google Shape;2827;p98"/>
          <p:cNvCxnSpPr>
            <a:stCxn id="2810" idx="0"/>
            <a:endCxn id="2813" idx="0"/>
          </p:cNvCxnSpPr>
          <p:nvPr/>
        </p:nvCxnSpPr>
        <p:spPr>
          <a:xfrm flipH="1" rot="-5400000">
            <a:off x="5978575" y="1162520"/>
            <a:ext cx="600" cy="2002200"/>
          </a:xfrm>
          <a:prstGeom prst="curvedConnector3">
            <a:avLst>
              <a:gd fmla="val -175453390" name="adj1"/>
            </a:avLst>
          </a:prstGeom>
          <a:noFill/>
          <a:ln cap="flat" cmpd="sng" w="28575">
            <a:solidFill>
              <a:srgbClr val="666666"/>
            </a:solidFill>
            <a:prstDash val="solid"/>
            <a:round/>
            <a:headEnd len="med" w="med" type="none"/>
            <a:tailEnd len="med" w="med" type="none"/>
          </a:ln>
        </p:spPr>
      </p:cxnSp>
      <p:cxnSp>
        <p:nvCxnSpPr>
          <p:cNvPr id="2828" name="Google Shape;2828;p98"/>
          <p:cNvCxnSpPr>
            <a:stCxn id="2811" idx="6"/>
            <a:endCxn id="2814" idx="6"/>
          </p:cNvCxnSpPr>
          <p:nvPr/>
        </p:nvCxnSpPr>
        <p:spPr>
          <a:xfrm>
            <a:off x="6217292" y="1437275"/>
            <a:ext cx="600" cy="1830900"/>
          </a:xfrm>
          <a:prstGeom prst="curvedConnector3">
            <a:avLst>
              <a:gd fmla="val 195372242" name="adj1"/>
            </a:avLst>
          </a:prstGeom>
          <a:noFill/>
          <a:ln cap="flat" cmpd="sng" w="28575">
            <a:solidFill>
              <a:srgbClr val="666666"/>
            </a:solidFill>
            <a:prstDash val="solid"/>
            <a:round/>
            <a:headEnd len="med" w="med" type="none"/>
            <a:tailEnd len="med" w="med" type="none"/>
          </a:ln>
        </p:spPr>
      </p:cxnSp>
      <p:pic>
        <p:nvPicPr>
          <p:cNvPr descr="C_d=\frac{0}{12}=0" id="2829" name="Google Shape;2829;p98"/>
          <p:cNvPicPr preferRelativeResize="0"/>
          <p:nvPr/>
        </p:nvPicPr>
        <p:blipFill>
          <a:blip r:embed="rId4">
            <a:alphaModFix/>
          </a:blip>
          <a:stretch>
            <a:fillRect/>
          </a:stretch>
        </p:blipFill>
        <p:spPr>
          <a:xfrm>
            <a:off x="3306641" y="2796494"/>
            <a:ext cx="1239517" cy="4706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