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y="5143500" cx="9144000"/>
  <p:notesSz cx="6858000" cy="9144000"/>
  <p:embeddedFontLst>
    <p:embeddedFont>
      <p:font typeface="Josefin Slab"/>
      <p:regular r:id="rId130"/>
      <p:bold r:id="rId131"/>
      <p:italic r:id="rId132"/>
      <p:boldItalic r:id="rId133"/>
    </p:embeddedFont>
    <p:embeddedFont>
      <p:font typeface="Economica"/>
      <p:regular r:id="rId134"/>
      <p:bold r:id="rId135"/>
      <p:italic r:id="rId136"/>
      <p:boldItalic r:id="rId137"/>
    </p:embeddedFont>
    <p:embeddedFont>
      <p:font typeface="Oxygen"/>
      <p:regular r:id="rId138"/>
      <p:bold r:id="rId139"/>
    </p:embeddedFont>
    <p:embeddedFont>
      <p:font typeface="Cantarell"/>
      <p:regular r:id="rId140"/>
      <p:bold r:id="rId141"/>
      <p:italic r:id="rId142"/>
      <p:boldItalic r:id="rId143"/>
    </p:embeddedFont>
    <p:embeddedFont>
      <p:font typeface="Open Sans"/>
      <p:regular r:id="rId144"/>
      <p:bold r:id="rId145"/>
      <p:italic r:id="rId146"/>
      <p:boldItalic r:id="rId1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7DE270-794A-4681-853A-B4C30E98A1D0}">
  <a:tblStyle styleId="{BA7DE270-794A-4681-853A-B4C30E98A1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1A58EE0-2D2A-4B03-B718-3418E0FDCF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3" Type="http://schemas.openxmlformats.org/officeDocument/2006/relationships/font" Target="fonts/Cantarell-boldItalic.fntdata"/><Relationship Id="rId142" Type="http://schemas.openxmlformats.org/officeDocument/2006/relationships/font" Target="fonts/Cantarell-italic.fntdata"/><Relationship Id="rId141" Type="http://schemas.openxmlformats.org/officeDocument/2006/relationships/font" Target="fonts/Cantarell-bold.fntdata"/><Relationship Id="rId140" Type="http://schemas.openxmlformats.org/officeDocument/2006/relationships/font" Target="fonts/Cantarell-regular.fntdata"/><Relationship Id="rId5" Type="http://schemas.openxmlformats.org/officeDocument/2006/relationships/slideMaster" Target="slideMasters/slideMaster1.xml"/><Relationship Id="rId147" Type="http://schemas.openxmlformats.org/officeDocument/2006/relationships/font" Target="fonts/OpenSans-boldItalic.fntdata"/><Relationship Id="rId6" Type="http://schemas.openxmlformats.org/officeDocument/2006/relationships/slideMaster" Target="slideMasters/slideMaster2.xml"/><Relationship Id="rId146" Type="http://schemas.openxmlformats.org/officeDocument/2006/relationships/font" Target="fonts/OpenSans-italic.fntdata"/><Relationship Id="rId7" Type="http://schemas.openxmlformats.org/officeDocument/2006/relationships/notesMaster" Target="notesMasters/notesMaster1.xml"/><Relationship Id="rId145" Type="http://schemas.openxmlformats.org/officeDocument/2006/relationships/font" Target="fonts/OpenSans-bold.fntdata"/><Relationship Id="rId8" Type="http://schemas.openxmlformats.org/officeDocument/2006/relationships/slide" Target="slides/slide1.xml"/><Relationship Id="rId144" Type="http://schemas.openxmlformats.org/officeDocument/2006/relationships/font" Target="fonts/OpenSans-regular.fntdata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font" Target="fonts/Oxygen-bold.fntdata"/><Relationship Id="rId138" Type="http://schemas.openxmlformats.org/officeDocument/2006/relationships/font" Target="fonts/Oxygen-regular.fntdata"/><Relationship Id="rId137" Type="http://schemas.openxmlformats.org/officeDocument/2006/relationships/font" Target="fonts/Economica-boldItalic.fntdata"/><Relationship Id="rId132" Type="http://schemas.openxmlformats.org/officeDocument/2006/relationships/font" Target="fonts/JosefinSlab-italic.fntdata"/><Relationship Id="rId131" Type="http://schemas.openxmlformats.org/officeDocument/2006/relationships/font" Target="fonts/JosefinSlab-bold.fntdata"/><Relationship Id="rId130" Type="http://schemas.openxmlformats.org/officeDocument/2006/relationships/font" Target="fonts/JosefinSlab-regular.fntdata"/><Relationship Id="rId136" Type="http://schemas.openxmlformats.org/officeDocument/2006/relationships/font" Target="fonts/Economica-italic.fntdata"/><Relationship Id="rId135" Type="http://schemas.openxmlformats.org/officeDocument/2006/relationships/font" Target="fonts/Economica-bold.fntdata"/><Relationship Id="rId134" Type="http://schemas.openxmlformats.org/officeDocument/2006/relationships/font" Target="fonts/Economica-regular.fntdata"/><Relationship Id="rId133" Type="http://schemas.openxmlformats.org/officeDocument/2006/relationships/font" Target="fonts/JosefinSlab-boldItalic.fntdata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c0adef8a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c0adef8a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cad62be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cad62be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cad62bee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cad62be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cad62be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cad62be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c0adef8ae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c0adef8ae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cad62bee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cad62be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c0adef8ae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c0adef8ae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c0adef8ae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c0adef8ae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c0adef8ae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c0adef8ae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c0adef8ae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4c0adef8ae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c0adef8ae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4c0adef8ae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cad62bee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cad62bee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cad62be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cad62be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c0adef8ae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c0adef8ae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c0adef8ae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4c0adef8ae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c0adef8ae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c0adef8ae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4c0adef8ae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4c0adef8ae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4c0adef8ae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4c0adef8ae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4c0adef8ae_0_1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4c0adef8ae_0_1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db153d0f9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4db153d0f9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4db153d0f9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4db153d0f9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4db153d0f9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4db153d0f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4db153d0f9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4db153d0f9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4db153d0f9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4db153d0f9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4db153d0f9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4db153d0f9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4db153d0f9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4db153d0f9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4db153d0f9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4db153d0f9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4db153d0f9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4db153d0f9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4db153d0f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4db153d0f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4db153d0f9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4db153d0f9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4db153d0f9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4db153d0f9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4db153d0f9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4db153d0f9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4db153d0f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4db153d0f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4db153d0f9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4db153d0f9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4db153d0f9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4db153d0f9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4db153d0f9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4db153d0f9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4db153d0f9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4db153d0f9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4db153d0f9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4db153d0f9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4db153d0f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4db153d0f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4db153d0f9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4db153d0f9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4db153d0f9_0_2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4db153d0f9_0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4db153d0f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4db153d0f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4db153d0f9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4db153d0f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4db153d0f9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4db153d0f9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d8abc39ec6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3d8abc39ec6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4dd9a2fff0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4dd9a2fff0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4db153d0f9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4db153d0f9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4db153d0f9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34db153d0f9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4db153d0f9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34db153d0f9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4db153d0f9_0_1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4db153d0f9_0_1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4db153d0f9_0_1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4db153d0f9_0_1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4db153d0f9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34db153d0f9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4db153d0f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4db153d0f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4db153d0f9_0_2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34db153d0f9_0_2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4db153d0f9_0_1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4db153d0f9_0_1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34db153d0f9_0_1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34db153d0f9_0_1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34db153d0f9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34db153d0f9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4db153d0f9_0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34db153d0f9_0_1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4db153d0f9_0_1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4db153d0f9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34db153d0f9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34db153d0f9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4db153d0f9_0_1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4db153d0f9_0_1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34db153d0f9_0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34db153d0f9_0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4db153d0f9_0_2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34db153d0f9_0_2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4db153d0f9_0_2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4db153d0f9_0_2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4db153d0f9_0_2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34db153d0f9_0_2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4db153d0f9_0_2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34db153d0f9_0_2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34db153d0f9_0_2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34db153d0f9_0_2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4db153d0f9_0_2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34db153d0f9_0_2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4db153d0f9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34db153d0f9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4db153d0f9_0_2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4db153d0f9_0_2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34db153d0f9_0_2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34db153d0f9_0_2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34db153d0f9_0_2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34db153d0f9_0_2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4db153d0f9_0_2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34db153d0f9_0_2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34db153d0f9_0_2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34db153d0f9_0_2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34db153d0f9_0_2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34db153d0f9_0_2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34db153d0f9_0_2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34db153d0f9_0_2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34db153d0f9_0_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34db153d0f9_0_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34db153d0f9_0_2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34db153d0f9_0_2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4db153d0f9_0_2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34db153d0f9_0_2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34db153d0f9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34db153d0f9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4db153d0f9_0_2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34db153d0f9_0_2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g34db153d0f9_0_3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1" name="Google Shape;2261;g34db153d0f9_0_3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g34db153d0f9_0_2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6" name="Google Shape;2286;g34db153d0f9_0_2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34db153d0f9_0_3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34db153d0f9_0_3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34db153d0f9_0_2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34db153d0f9_0_2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34db153d0f9_0_2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5" name="Google Shape;2385;g34db153d0f9_0_2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34db153d0f9_0_3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34db153d0f9_0_3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34db153d0f9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34db153d0f9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g34db153d0f9_0_3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9" name="Google Shape;2489;g34db153d0f9_0_3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34db153d0f9_0_3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34db153d0f9_0_3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3daa7eec25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3daa7eec2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g3daa7eec25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6" name="Google Shape;2586;g3daa7eec25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g34db153d0f9_0_3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9" name="Google Shape;2619;g34db153d0f9_0_3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g34db153d0f9_0_3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4" name="Google Shape;2654;g34db153d0f9_0_3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g34db153d0f9_0_3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1" name="Google Shape;2681;g34db153d0f9_0_3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g3daa7eec25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8" name="Google Shape;2708;g3daa7eec25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34db153d0f9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34db153d0f9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g34cad62bee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2" name="Google Shape;2742;g34cad62bee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34cad62bee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34cad62be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g34cad62bee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2" name="Google Shape;2792;g34cad62bee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g34cad62bee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1" name="Google Shape;2821;g34cad62bee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34cad62bee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3" name="Google Shape;2843;g34cad62bee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g34cad62beea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1" name="Google Shape;2861;g34cad62bee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8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34cad62bee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34cad62bee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g34cad62beea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6" name="Google Shape;2896;g34cad62beea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g34cad62beea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2" name="Google Shape;2912;g34cad62beea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34cad62beea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4" name="Google Shape;2934;g34cad62beea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g34cad62beea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6" name="Google Shape;2956;g34cad62beea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4cad62beea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34cad62beea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4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5" name="Google Shape;2975;g34cad62beea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6" name="Google Shape;2976;g34cad62beea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g34cad62beea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2" name="Google Shape;2992;g34cad62beea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7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g34cad62beea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9" name="Google Shape;3009;g34cad62bee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4cad62beea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7" name="Google Shape;3027;g34cad62beea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g34cad62beea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5" name="Google Shape;3045;g34cad62beea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g34cad62beea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3" name="Google Shape;3063;g34cad62bee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g34cad62beea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9" name="Google Shape;3079;g34cad62bee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g34cad62beea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6" name="Google Shape;3096;g34cad62beea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g34cad62beea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6" name="Google Shape;3116;g34cad62bee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g34cad62beea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6" name="Google Shape;3136;g34cad62beea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34cad62beea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34cad62beea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g34cad62beea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3" name="Google Shape;3173;g34cad62beea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4cad62beea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34cad62beea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5.png"/><Relationship Id="rId4" Type="http://schemas.openxmlformats.org/officeDocument/2006/relationships/image" Target="../media/image19.gif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5.png"/><Relationship Id="rId4" Type="http://schemas.openxmlformats.org/officeDocument/2006/relationships/image" Target="../media/image19.gif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5.png"/><Relationship Id="rId4" Type="http://schemas.openxmlformats.org/officeDocument/2006/relationships/image" Target="../media/image19.gif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5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0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0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0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0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0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0.png"/><Relationship Id="rId4" Type="http://schemas.openxmlformats.org/officeDocument/2006/relationships/hyperlink" Target="https://matrix.reshish.com/multiplication.php" TargetMode="Externa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0.png"/><Relationship Id="rId4" Type="http://schemas.openxmlformats.org/officeDocument/2006/relationships/hyperlink" Target="https://matrix.reshish.com/multiplication.php" TargetMode="Externa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0.png"/><Relationship Id="rId4" Type="http://schemas.openxmlformats.org/officeDocument/2006/relationships/hyperlink" Target="https://matrix.reshish.com/multiplication.php" TargetMode="Externa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0.png"/><Relationship Id="rId4" Type="http://schemas.openxmlformats.org/officeDocument/2006/relationships/hyperlink" Target="https://matrix.reshish.com/multiplication.php" TargetMode="Externa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0.png"/><Relationship Id="rId4" Type="http://schemas.openxmlformats.org/officeDocument/2006/relationships/hyperlink" Target="https://matrix.reshish.com/multiplication.php" TargetMode="Externa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0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10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matrices are just ordered sets of numbers you can do </a:t>
            </a:r>
            <a:r>
              <a:rPr b="1" lang="en"/>
              <a:t>arithmetic operations</a:t>
            </a:r>
            <a:r>
              <a:rPr lang="en"/>
              <a:t> on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</a:t>
            </a:r>
            <a:r>
              <a:rPr b="1" lang="en"/>
              <a:t>add </a:t>
            </a:r>
            <a:r>
              <a:rPr lang="en"/>
              <a:t>two matrices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</a:t>
            </a:r>
            <a:r>
              <a:rPr b="1" lang="en"/>
              <a:t>subtract a number</a:t>
            </a:r>
            <a:r>
              <a:rPr lang="en"/>
              <a:t> from a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</a:t>
            </a:r>
            <a:r>
              <a:rPr b="1" lang="en"/>
              <a:t>multiply </a:t>
            </a:r>
            <a:r>
              <a:rPr lang="en"/>
              <a:t>two matrices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easy way (</a:t>
            </a:r>
            <a:r>
              <a:rPr b="1" lang="en"/>
              <a:t>element-wise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hard way (</a:t>
            </a:r>
            <a:r>
              <a:rPr b="1" lang="en"/>
              <a:t>matrix multiplication</a:t>
            </a:r>
            <a:r>
              <a:rPr lang="en"/>
              <a:t>)</a:t>
            </a:r>
            <a:endParaRPr/>
          </a:p>
        </p:txBody>
      </p:sp>
      <p:pic>
        <p:nvPicPr>
          <p:cNvPr descr="a matrix with the numbers a11 a12 a13 b11 b12 and c11 c12 (Provided by Tenor)"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950" y="1387738"/>
            <a:ext cx="45720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225225"/>
            <a:ext cx="410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matrices are just ordered sets of numbers you can do </a:t>
            </a:r>
            <a:r>
              <a:rPr b="1" lang="en"/>
              <a:t>arithmetic operations</a:t>
            </a:r>
            <a:r>
              <a:rPr lang="en"/>
              <a:t> on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(like the </a:t>
            </a:r>
            <a:r>
              <a:rPr b="1" lang="en"/>
              <a:t>adjacency matrix</a:t>
            </a:r>
            <a:r>
              <a:rPr lang="en"/>
              <a:t>) represent </a:t>
            </a:r>
            <a:r>
              <a:rPr b="1" lang="en"/>
              <a:t>graphs</a:t>
            </a:r>
            <a:r>
              <a:rPr lang="en"/>
              <a:t> and graphs represent </a:t>
            </a:r>
            <a:r>
              <a:rPr b="1" lang="en"/>
              <a:t>social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operations on matrices allow us to </a:t>
            </a:r>
            <a:r>
              <a:rPr b="1" lang="en"/>
              <a:t>measure </a:t>
            </a:r>
            <a:r>
              <a:rPr lang="en"/>
              <a:t>things in networks</a:t>
            </a:r>
            <a:endParaRPr/>
          </a:p>
        </p:txBody>
      </p:sp>
      <p:pic>
        <p:nvPicPr>
          <p:cNvPr descr="figure1-300x297.png"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525" y="561388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125" name="Google Shape;12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513" y="2688863"/>
            <a:ext cx="2338775" cy="189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225225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Addition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2" name="Google Shape;132;p29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3" name="Google Shape;133;p29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29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35" name="Google Shape;135;p29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6" name="Google Shape;136;p29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9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+ B = a_{ij} + b_{ij}&#10;%05b81385-6c60-4ca5-b1b9-4366c3b67fa8" id="140" name="Google Shape;1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300" y="2407513"/>
            <a:ext cx="27336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225225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Addition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1, 3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1, 3</a:t>
            </a:r>
            <a:r>
              <a:rPr b="1" baseline="-25000" lang="en" sz="1500"/>
              <a:t> </a:t>
            </a:r>
            <a:r>
              <a:rPr b="1" lang="en" sz="1500"/>
              <a:t>+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1, 3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+ </a:t>
            </a:r>
            <a:r>
              <a:rPr b="1" lang="en" sz="1500">
                <a:solidFill>
                  <a:srgbClr val="0000FF"/>
                </a:solidFill>
              </a:rPr>
              <a:t>0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1</a:t>
            </a:r>
            <a:endParaRPr>
              <a:solidFill>
                <a:srgbClr val="FF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147" name="Google Shape;147;p30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8" name="Google Shape;148;p30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49" name="Google Shape;149;p30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0" name="Google Shape;150;p30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0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30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" name="Google Shape;154;p30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5" name="Google Shape;155;p30"/>
          <p:cNvSpPr/>
          <p:nvPr/>
        </p:nvSpPr>
        <p:spPr>
          <a:xfrm rot="10800000">
            <a:off x="262294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0"/>
          <p:cNvSpPr/>
          <p:nvPr/>
        </p:nvSpPr>
        <p:spPr>
          <a:xfrm rot="10800000">
            <a:off x="446674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/>
          <p:nvPr/>
        </p:nvSpPr>
        <p:spPr>
          <a:xfrm rot="10800000">
            <a:off x="696739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225225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Addition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1, 3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1, 3</a:t>
            </a:r>
            <a:r>
              <a:rPr b="1" baseline="-25000" lang="en" sz="1500"/>
              <a:t> </a:t>
            </a:r>
            <a:r>
              <a:rPr b="1" lang="en" sz="1500"/>
              <a:t>+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1, 3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+ </a:t>
            </a:r>
            <a:r>
              <a:rPr b="1" lang="en" sz="1500">
                <a:solidFill>
                  <a:srgbClr val="0000FF"/>
                </a:solidFill>
              </a:rPr>
              <a:t>0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1</a:t>
            </a:r>
            <a:endParaRPr b="1" sz="1500">
              <a:solidFill>
                <a:srgbClr val="FF00FF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2, 2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2, 2</a:t>
            </a:r>
            <a:r>
              <a:rPr b="1" baseline="-25000" lang="en" sz="1500"/>
              <a:t> </a:t>
            </a:r>
            <a:r>
              <a:rPr b="1" lang="en" sz="1500"/>
              <a:t>+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2, 2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+ </a:t>
            </a:r>
            <a:r>
              <a:rPr b="1" lang="en" sz="1500">
                <a:solidFill>
                  <a:srgbClr val="0000FF"/>
                </a:solidFill>
              </a:rPr>
              <a:t>1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2</a:t>
            </a:r>
            <a:endParaRPr b="1" sz="1500">
              <a:solidFill>
                <a:srgbClr val="FF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p31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66" name="Google Shape;166;p31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7" name="Google Shape;167;p31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1" name="Google Shape;171;p31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2" name="Google Shape;172;p31"/>
          <p:cNvSpPr/>
          <p:nvPr/>
        </p:nvSpPr>
        <p:spPr>
          <a:xfrm rot="10800000">
            <a:off x="2187374" y="37128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/>
          <p:nvPr/>
        </p:nvSpPr>
        <p:spPr>
          <a:xfrm rot="10800000">
            <a:off x="4031174" y="37128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/>
          <p:nvPr/>
        </p:nvSpPr>
        <p:spPr>
          <a:xfrm rot="10800000">
            <a:off x="6531824" y="37128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" name="Google Shape;183;p32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" name="Google Shape;184;p32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" name="Google Shape;186;p32"/>
          <p:cNvCxnSpPr>
            <a:stCxn id="180" idx="7"/>
            <a:endCxn id="183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2"/>
          <p:cNvCxnSpPr>
            <a:stCxn id="181" idx="4"/>
            <a:endCxn id="184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2"/>
          <p:cNvCxnSpPr>
            <a:stCxn id="180" idx="5"/>
            <a:endCxn id="184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32"/>
          <p:cNvCxnSpPr>
            <a:stCxn id="180" idx="6"/>
            <a:endCxn id="181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32"/>
          <p:cNvCxnSpPr>
            <a:stCxn id="183" idx="6"/>
            <a:endCxn id="185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32"/>
          <p:cNvCxnSpPr>
            <a:stCxn id="181" idx="0"/>
            <a:endCxn id="183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2"/>
          <p:cNvCxnSpPr>
            <a:stCxn id="185" idx="3"/>
            <a:endCxn id="184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2"/>
          <p:cNvCxnSpPr>
            <a:stCxn id="181" idx="6"/>
            <a:endCxn id="185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2"/>
          <p:cNvCxnSpPr>
            <a:stCxn id="185" idx="4"/>
            <a:endCxn id="182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32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" name="Google Shape;201;p32"/>
          <p:cNvCxnSpPr>
            <a:stCxn id="196" idx="4"/>
            <a:endCxn id="199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2"/>
          <p:cNvCxnSpPr>
            <a:stCxn id="195" idx="6"/>
            <a:endCxn id="196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2"/>
          <p:cNvCxnSpPr>
            <a:stCxn id="197" idx="2"/>
            <a:endCxn id="199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2"/>
          <p:cNvCxnSpPr>
            <a:stCxn id="200" idx="4"/>
            <a:endCxn id="197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5" name="Google Shape;205;p32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06" name="Google Shape;206;p32"/>
          <p:cNvCxnSpPr>
            <a:stCxn id="200" idx="3"/>
            <a:endCxn id="199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2"/>
          <p:cNvCxnSpPr>
            <a:stCxn id="198" idx="5"/>
            <a:endCxn id="197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2"/>
          <p:cNvCxnSpPr>
            <a:stCxn id="198" idx="6"/>
            <a:endCxn id="200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2"/>
          <p:cNvCxnSpPr>
            <a:stCxn id="182" idx="1"/>
            <a:endCxn id="181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2"/>
          <p:cNvCxnSpPr>
            <a:stCxn id="195" idx="7"/>
            <a:endCxn id="198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11" name="Google Shape;211;p32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32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</a:t>
            </a: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2819063" y="3874875"/>
            <a:ext cx="291600" cy="291600"/>
          </a:xfrm>
          <a:prstGeom prst="mathPlus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question mark (Provided by Getty Images)"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850" y="3071100"/>
            <a:ext cx="1828797" cy="1828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" name="Google Shape;228;p33"/>
          <p:cNvCxnSpPr>
            <a:stCxn id="222" idx="7"/>
            <a:endCxn id="225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3"/>
          <p:cNvCxnSpPr>
            <a:stCxn id="223" idx="4"/>
            <a:endCxn id="226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3"/>
          <p:cNvCxnSpPr>
            <a:stCxn id="222" idx="5"/>
            <a:endCxn id="226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3"/>
          <p:cNvCxnSpPr>
            <a:stCxn id="222" idx="6"/>
            <a:endCxn id="223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3"/>
          <p:cNvCxnSpPr>
            <a:stCxn id="225" idx="6"/>
            <a:endCxn id="227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3"/>
          <p:cNvCxnSpPr>
            <a:stCxn id="223" idx="0"/>
            <a:endCxn id="225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3"/>
          <p:cNvCxnSpPr>
            <a:stCxn id="227" idx="3"/>
            <a:endCxn id="226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3"/>
          <p:cNvCxnSpPr>
            <a:stCxn id="223" idx="6"/>
            <a:endCxn id="227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3"/>
          <p:cNvCxnSpPr>
            <a:stCxn id="227" idx="4"/>
            <a:endCxn id="224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33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33"/>
          <p:cNvCxnSpPr>
            <a:stCxn id="238" idx="4"/>
            <a:endCxn id="241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3"/>
          <p:cNvCxnSpPr>
            <a:stCxn id="237" idx="6"/>
            <a:endCxn id="238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3"/>
          <p:cNvCxnSpPr>
            <a:stCxn id="239" idx="2"/>
            <a:endCxn id="241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3"/>
          <p:cNvCxnSpPr>
            <a:stCxn id="242" idx="4"/>
            <a:endCxn id="239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47" name="Google Shape;247;p33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48" name="Google Shape;248;p33"/>
          <p:cNvCxnSpPr>
            <a:stCxn id="242" idx="3"/>
            <a:endCxn id="241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3"/>
          <p:cNvCxnSpPr>
            <a:stCxn id="240" idx="5"/>
            <a:endCxn id="239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3"/>
          <p:cNvCxnSpPr>
            <a:stCxn id="240" idx="6"/>
            <a:endCxn id="242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3"/>
          <p:cNvCxnSpPr>
            <a:stCxn id="224" idx="1"/>
            <a:endCxn id="223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3"/>
          <p:cNvCxnSpPr>
            <a:stCxn id="237" idx="7"/>
            <a:endCxn id="240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3" name="Google Shape;253;p33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33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819063" y="3874875"/>
            <a:ext cx="291600" cy="291600"/>
          </a:xfrm>
          <a:prstGeom prst="mathPlus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+ B = a_{ij} + b_{ij}&#10;%05b81385-6c60-4ca5-b1b9-4366c3b67fa8" id="257" name="Google Shape;2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975" y="1853488"/>
            <a:ext cx="27336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59" name="Google Shape;259;p33"/>
          <p:cNvGraphicFramePr/>
          <p:nvPr/>
        </p:nvGraphicFramePr>
        <p:xfrm>
          <a:off x="6283700" y="30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sp>
        <p:nvSpPr>
          <p:cNvPr id="265" name="Google Shape;265;p34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1" name="Google Shape;271;p34"/>
          <p:cNvCxnSpPr>
            <a:stCxn id="265" idx="7"/>
            <a:endCxn id="268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4"/>
          <p:cNvCxnSpPr>
            <a:stCxn id="266" idx="4"/>
            <a:endCxn id="269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4"/>
          <p:cNvCxnSpPr>
            <a:stCxn id="265" idx="5"/>
            <a:endCxn id="269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4"/>
          <p:cNvCxnSpPr>
            <a:stCxn id="265" idx="6"/>
            <a:endCxn id="266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4"/>
          <p:cNvCxnSpPr>
            <a:stCxn id="268" idx="6"/>
            <a:endCxn id="270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4"/>
          <p:cNvCxnSpPr>
            <a:stCxn id="266" idx="0"/>
            <a:endCxn id="268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4"/>
          <p:cNvCxnSpPr>
            <a:stCxn id="270" idx="3"/>
            <a:endCxn id="269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4"/>
          <p:cNvCxnSpPr>
            <a:stCxn id="266" idx="6"/>
            <a:endCxn id="270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4"/>
          <p:cNvCxnSpPr>
            <a:stCxn id="270" idx="4"/>
            <a:endCxn id="267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4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6" name="Google Shape;286;p34"/>
          <p:cNvCxnSpPr>
            <a:stCxn id="281" idx="4"/>
            <a:endCxn id="284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>
            <a:stCxn id="280" idx="6"/>
            <a:endCxn id="281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>
            <a:stCxn id="282" idx="2"/>
            <a:endCxn id="284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>
            <a:stCxn id="285" idx="4"/>
            <a:endCxn id="282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0" name="Google Shape;290;p34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91" name="Google Shape;291;p34"/>
          <p:cNvCxnSpPr>
            <a:stCxn id="285" idx="3"/>
            <a:endCxn id="284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4"/>
          <p:cNvCxnSpPr>
            <a:stCxn id="283" idx="5"/>
            <a:endCxn id="282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4"/>
          <p:cNvCxnSpPr>
            <a:stCxn id="283" idx="6"/>
            <a:endCxn id="285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4"/>
          <p:cNvCxnSpPr>
            <a:stCxn id="267" idx="1"/>
            <a:endCxn id="266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4"/>
          <p:cNvCxnSpPr>
            <a:stCxn id="280" idx="7"/>
            <a:endCxn id="283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6" name="Google Shape;296;p34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34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2819063" y="3874875"/>
            <a:ext cx="291600" cy="291600"/>
          </a:xfrm>
          <a:prstGeom prst="mathPlus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+ B = a_{ij} + b_{ij}&#10;%05b81385-6c60-4ca5-b1b9-4366c3b67fa8" id="300" name="Google Shape;3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975" y="1853488"/>
            <a:ext cx="2733675" cy="37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1" name="Google Shape;301;p34"/>
          <p:cNvGraphicFramePr/>
          <p:nvPr/>
        </p:nvGraphicFramePr>
        <p:xfrm>
          <a:off x="6283700" y="30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34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</p:txBody>
      </p:sp>
      <p:graphicFrame>
        <p:nvGraphicFramePr>
          <p:cNvPr id="308" name="Google Shape;308;p35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9" name="Google Shape;309;p35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35"/>
          <p:cNvSpPr/>
          <p:nvPr/>
        </p:nvSpPr>
        <p:spPr>
          <a:xfrm>
            <a:off x="2819063" y="3874875"/>
            <a:ext cx="291600" cy="291600"/>
          </a:xfrm>
          <a:prstGeom prst="mathPlus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11" name="Google Shape;311;p35"/>
          <p:cNvGraphicFramePr/>
          <p:nvPr/>
        </p:nvGraphicFramePr>
        <p:xfrm>
          <a:off x="6283700" y="30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35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6591846" y="177710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7464509" y="177710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8460570" y="24249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7464472" y="112902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7464463" y="242519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8460550" y="137478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9" name="Google Shape;319;p35"/>
          <p:cNvCxnSpPr>
            <a:stCxn id="314" idx="3"/>
            <a:endCxn id="317" idx="1"/>
          </p:cNvCxnSpPr>
          <p:nvPr/>
        </p:nvCxnSpPr>
        <p:spPr>
          <a:xfrm>
            <a:off x="7501281" y="1983498"/>
            <a:ext cx="0" cy="477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5"/>
          <p:cNvCxnSpPr>
            <a:stCxn id="313" idx="7"/>
            <a:endCxn id="314" idx="1"/>
          </p:cNvCxnSpPr>
          <p:nvPr/>
        </p:nvCxnSpPr>
        <p:spPr>
          <a:xfrm>
            <a:off x="6806173" y="1812520"/>
            <a:ext cx="695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5"/>
          <p:cNvCxnSpPr>
            <a:stCxn id="318" idx="3"/>
            <a:endCxn id="315" idx="1"/>
          </p:cNvCxnSpPr>
          <p:nvPr/>
        </p:nvCxnSpPr>
        <p:spPr>
          <a:xfrm>
            <a:off x="8497323" y="1581169"/>
            <a:ext cx="0" cy="879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5"/>
          <p:cNvCxnSpPr>
            <a:stCxn id="318" idx="2"/>
            <a:endCxn id="317" idx="0"/>
          </p:cNvCxnSpPr>
          <p:nvPr/>
        </p:nvCxnSpPr>
        <p:spPr>
          <a:xfrm flipH="1">
            <a:off x="7589950" y="1495680"/>
            <a:ext cx="870600" cy="929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5"/>
          <p:cNvCxnSpPr>
            <a:stCxn id="316" idx="5"/>
            <a:endCxn id="315" idx="1"/>
          </p:cNvCxnSpPr>
          <p:nvPr/>
        </p:nvCxnSpPr>
        <p:spPr>
          <a:xfrm>
            <a:off x="7678799" y="1335413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5"/>
          <p:cNvCxnSpPr>
            <a:stCxn id="316" idx="7"/>
            <a:endCxn id="318" idx="1"/>
          </p:cNvCxnSpPr>
          <p:nvPr/>
        </p:nvCxnSpPr>
        <p:spPr>
          <a:xfrm>
            <a:off x="7678799" y="1164434"/>
            <a:ext cx="818400" cy="245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5"/>
          <p:cNvCxnSpPr>
            <a:stCxn id="315" idx="2"/>
            <a:endCxn id="317" idx="6"/>
          </p:cNvCxnSpPr>
          <p:nvPr/>
        </p:nvCxnSpPr>
        <p:spPr>
          <a:xfrm flipH="1">
            <a:off x="7715670" y="2545886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5"/>
          <p:cNvCxnSpPr>
            <a:stCxn id="313" idx="0"/>
            <a:endCxn id="316" idx="2"/>
          </p:cNvCxnSpPr>
          <p:nvPr/>
        </p:nvCxnSpPr>
        <p:spPr>
          <a:xfrm flipH="1" rot="10800000">
            <a:off x="6717396" y="1250009"/>
            <a:ext cx="747000" cy="527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35"/>
          <p:cNvSpPr txBox="1"/>
          <p:nvPr/>
        </p:nvSpPr>
        <p:spPr>
          <a:xfrm>
            <a:off x="6443550" y="2639038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Parties </a:t>
            </a:r>
            <a:r>
              <a:rPr b="1" lang="en" sz="1600">
                <a:latin typeface="Economica"/>
                <a:ea typeface="Economica"/>
                <a:cs typeface="Economica"/>
                <a:sym typeface="Economica"/>
              </a:rPr>
              <a:t>or </a:t>
            </a: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 </a:t>
            </a:r>
            <a:r>
              <a:rPr b="1" lang="en" sz="1600">
                <a:latin typeface="Economica"/>
                <a:ea typeface="Economica"/>
                <a:cs typeface="Economica"/>
                <a:sym typeface="Economica"/>
              </a:rPr>
              <a:t>or </a:t>
            </a: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Both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28" name="Google Shape;328;p35"/>
          <p:cNvCxnSpPr>
            <a:stCxn id="313" idx="6"/>
            <a:endCxn id="316" idx="4"/>
          </p:cNvCxnSpPr>
          <p:nvPr/>
        </p:nvCxnSpPr>
        <p:spPr>
          <a:xfrm flipH="1" rot="10800000">
            <a:off x="6842946" y="1370909"/>
            <a:ext cx="747000" cy="5271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5"/>
          <p:cNvCxnSpPr>
            <a:stCxn id="316" idx="5"/>
            <a:endCxn id="318" idx="3"/>
          </p:cNvCxnSpPr>
          <p:nvPr/>
        </p:nvCxnSpPr>
        <p:spPr>
          <a:xfrm>
            <a:off x="7678799" y="1335413"/>
            <a:ext cx="818400" cy="2457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5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6" name="Google Shape;336;p35"/>
          <p:cNvCxnSpPr>
            <a:stCxn id="330" idx="7"/>
            <a:endCxn id="333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5"/>
          <p:cNvCxnSpPr>
            <a:stCxn id="331" idx="4"/>
            <a:endCxn id="334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5"/>
          <p:cNvCxnSpPr>
            <a:stCxn id="330" idx="5"/>
            <a:endCxn id="334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5"/>
          <p:cNvCxnSpPr>
            <a:stCxn id="330" idx="6"/>
            <a:endCxn id="331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5"/>
          <p:cNvCxnSpPr>
            <a:stCxn id="333" idx="6"/>
            <a:endCxn id="335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5"/>
          <p:cNvCxnSpPr>
            <a:stCxn id="331" idx="0"/>
            <a:endCxn id="333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5"/>
          <p:cNvCxnSpPr>
            <a:stCxn id="335" idx="3"/>
            <a:endCxn id="334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5"/>
          <p:cNvCxnSpPr>
            <a:stCxn id="331" idx="6"/>
            <a:endCxn id="335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5"/>
          <p:cNvCxnSpPr>
            <a:stCxn id="335" idx="4"/>
            <a:endCxn id="332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5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1" name="Google Shape;351;p35"/>
          <p:cNvCxnSpPr>
            <a:stCxn id="346" idx="4"/>
            <a:endCxn id="349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5"/>
          <p:cNvCxnSpPr>
            <a:stCxn id="345" idx="6"/>
            <a:endCxn id="346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5"/>
          <p:cNvCxnSpPr>
            <a:stCxn id="347" idx="2"/>
            <a:endCxn id="349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5"/>
          <p:cNvCxnSpPr>
            <a:stCxn id="350" idx="4"/>
            <a:endCxn id="347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5"/>
          <p:cNvCxnSpPr>
            <a:stCxn id="350" idx="3"/>
            <a:endCxn id="349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5"/>
          <p:cNvCxnSpPr>
            <a:stCxn id="348" idx="5"/>
            <a:endCxn id="347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5"/>
          <p:cNvCxnSpPr>
            <a:stCxn id="348" idx="6"/>
            <a:endCxn id="350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5"/>
          <p:cNvCxnSpPr>
            <a:stCxn id="332" idx="1"/>
            <a:endCxn id="331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5"/>
          <p:cNvCxnSpPr>
            <a:stCxn id="345" idx="7"/>
            <a:endCxn id="348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5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1" name="Google Shape;361;p35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62" name="Google Shape;362;p35"/>
          <p:cNvCxnSpPr>
            <a:stCxn id="313" idx="5"/>
            <a:endCxn id="314" idx="3"/>
          </p:cNvCxnSpPr>
          <p:nvPr/>
        </p:nvCxnSpPr>
        <p:spPr>
          <a:xfrm>
            <a:off x="6806173" y="1983498"/>
            <a:ext cx="695100" cy="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5"/>
          <p:cNvCxnSpPr>
            <a:stCxn id="314" idx="5"/>
            <a:endCxn id="317" idx="7"/>
          </p:cNvCxnSpPr>
          <p:nvPr/>
        </p:nvCxnSpPr>
        <p:spPr>
          <a:xfrm>
            <a:off x="7678836" y="1983498"/>
            <a:ext cx="0" cy="4770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5"/>
          <p:cNvCxnSpPr>
            <a:stCxn id="318" idx="4"/>
            <a:endCxn id="317" idx="6"/>
          </p:cNvCxnSpPr>
          <p:nvPr/>
        </p:nvCxnSpPr>
        <p:spPr>
          <a:xfrm flipH="1">
            <a:off x="7715500" y="1616580"/>
            <a:ext cx="870600" cy="9294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5"/>
          <p:cNvCxnSpPr>
            <a:stCxn id="318" idx="5"/>
            <a:endCxn id="315" idx="7"/>
          </p:cNvCxnSpPr>
          <p:nvPr/>
        </p:nvCxnSpPr>
        <p:spPr>
          <a:xfrm>
            <a:off x="8674877" y="1581169"/>
            <a:ext cx="0" cy="879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5"/>
          <p:cNvCxnSpPr>
            <a:stCxn id="314" idx="0"/>
            <a:endCxn id="316" idx="4"/>
          </p:cNvCxnSpPr>
          <p:nvPr/>
        </p:nvCxnSpPr>
        <p:spPr>
          <a:xfrm rot="10800000">
            <a:off x="7590059" y="1370909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5"/>
          <p:cNvCxnSpPr>
            <a:stCxn id="315" idx="1"/>
            <a:endCxn id="314" idx="6"/>
          </p:cNvCxnSpPr>
          <p:nvPr/>
        </p:nvCxnSpPr>
        <p:spPr>
          <a:xfrm rot="10800000">
            <a:off x="7715543" y="1897897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5"/>
          <p:cNvCxnSpPr>
            <a:stCxn id="314" idx="6"/>
            <a:endCxn id="318" idx="2"/>
          </p:cNvCxnSpPr>
          <p:nvPr/>
        </p:nvCxnSpPr>
        <p:spPr>
          <a:xfrm flipH="1" rot="10800000">
            <a:off x="7715609" y="1495709"/>
            <a:ext cx="744900" cy="40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5"/>
          <p:cNvCxnSpPr>
            <a:stCxn id="313" idx="5"/>
            <a:endCxn id="317" idx="2"/>
          </p:cNvCxnSpPr>
          <p:nvPr/>
        </p:nvCxnSpPr>
        <p:spPr>
          <a:xfrm>
            <a:off x="6806173" y="1983498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375" name="Google Shape;375;p36"/>
          <p:cNvSpPr txBox="1"/>
          <p:nvPr>
            <p:ph idx="1" type="body"/>
          </p:nvPr>
        </p:nvSpPr>
        <p:spPr>
          <a:xfrm>
            <a:off x="311700" y="1225225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multiply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\circ B = (a_{ij} \times b_{ij})" id="376" name="Google Shape;376;p3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613" y="2503225"/>
            <a:ext cx="3114024" cy="47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Google Shape;377;p36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78" name="Google Shape;378;p36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9" name="Google Shape;379;p36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80" name="Google Shape;380;p36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81" name="Google Shape;381;p36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11700" y="1225225"/>
            <a:ext cx="8520600" cy="20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multiply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1, 3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1, 3</a:t>
            </a:r>
            <a:r>
              <a:rPr b="1" baseline="-25000" lang="en" sz="1500"/>
              <a:t> </a:t>
            </a:r>
            <a:r>
              <a:rPr b="1" lang="en" sz="1500"/>
              <a:t>x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1, 3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x </a:t>
            </a:r>
            <a:r>
              <a:rPr b="1" lang="en" sz="1500">
                <a:solidFill>
                  <a:srgbClr val="0000FF"/>
                </a:solidFill>
              </a:rPr>
              <a:t>0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0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1" name="Google Shape;391;p37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92" name="Google Shape;392;p37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3" name="Google Shape;393;p37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94" name="Google Shape;394;p37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95" name="Google Shape;395;p37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7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37"/>
          <p:cNvSpPr/>
          <p:nvPr/>
        </p:nvSpPr>
        <p:spPr>
          <a:xfrm rot="10800000">
            <a:off x="262294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/>
          <p:nvPr/>
        </p:nvSpPr>
        <p:spPr>
          <a:xfrm rot="10800000">
            <a:off x="446674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7"/>
          <p:cNvSpPr/>
          <p:nvPr/>
        </p:nvSpPr>
        <p:spPr>
          <a:xfrm rot="10800000">
            <a:off x="6967399" y="33066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407" name="Google Shape;407;p38"/>
          <p:cNvSpPr txBox="1"/>
          <p:nvPr>
            <p:ph idx="1" type="body"/>
          </p:nvPr>
        </p:nvSpPr>
        <p:spPr>
          <a:xfrm>
            <a:off x="311700" y="1225225"/>
            <a:ext cx="8520600" cy="20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multiply the </a:t>
            </a:r>
            <a:r>
              <a:rPr b="1" lang="en"/>
              <a:t>corresponding cells</a:t>
            </a:r>
            <a:r>
              <a:rPr lang="en"/>
              <a:t> of each matrix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1, 3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1, 3</a:t>
            </a:r>
            <a:r>
              <a:rPr b="1" baseline="-25000" lang="en" sz="1500"/>
              <a:t> </a:t>
            </a:r>
            <a:r>
              <a:rPr b="1" lang="en" sz="1500"/>
              <a:t>x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1, 3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x </a:t>
            </a:r>
            <a:r>
              <a:rPr b="1" lang="en" sz="1500">
                <a:solidFill>
                  <a:srgbClr val="0000FF"/>
                </a:solidFill>
              </a:rPr>
              <a:t>0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0</a:t>
            </a:r>
            <a:endParaRPr b="1" sz="1500">
              <a:solidFill>
                <a:srgbClr val="FF00FF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500"/>
              <a:t>c</a:t>
            </a:r>
            <a:r>
              <a:rPr b="1" baseline="-25000" lang="en" sz="1500"/>
              <a:t>2, 2</a:t>
            </a:r>
            <a:r>
              <a:rPr b="1" lang="en" sz="1500"/>
              <a:t> = </a:t>
            </a:r>
            <a:r>
              <a:rPr b="1" lang="en" sz="1500">
                <a:solidFill>
                  <a:srgbClr val="FF0000"/>
                </a:solidFill>
              </a:rPr>
              <a:t>a</a:t>
            </a:r>
            <a:r>
              <a:rPr b="1" baseline="-25000" lang="en" sz="1500">
                <a:solidFill>
                  <a:srgbClr val="FF0000"/>
                </a:solidFill>
              </a:rPr>
              <a:t>2, 2</a:t>
            </a:r>
            <a:r>
              <a:rPr b="1" baseline="-25000" lang="en" sz="1500"/>
              <a:t> </a:t>
            </a:r>
            <a:r>
              <a:rPr b="1" lang="en" sz="1500"/>
              <a:t>x </a:t>
            </a:r>
            <a:r>
              <a:rPr b="1" lang="en" sz="1500">
                <a:solidFill>
                  <a:srgbClr val="0000FF"/>
                </a:solidFill>
              </a:rPr>
              <a:t>b</a:t>
            </a:r>
            <a:r>
              <a:rPr b="1" baseline="-25000" lang="en" sz="1500">
                <a:solidFill>
                  <a:srgbClr val="0000FF"/>
                </a:solidFill>
              </a:rPr>
              <a:t>2, 2 </a:t>
            </a:r>
            <a:r>
              <a:rPr b="1" lang="en" sz="1500"/>
              <a:t>= </a:t>
            </a:r>
            <a:r>
              <a:rPr b="1" lang="en" sz="1500">
                <a:solidFill>
                  <a:srgbClr val="FF0000"/>
                </a:solidFill>
              </a:rPr>
              <a:t>1</a:t>
            </a:r>
            <a:r>
              <a:rPr b="1" lang="en" sz="1500"/>
              <a:t> x </a:t>
            </a:r>
            <a:r>
              <a:rPr b="1" lang="en" sz="1500">
                <a:solidFill>
                  <a:srgbClr val="0000FF"/>
                </a:solidFill>
              </a:rPr>
              <a:t>1</a:t>
            </a:r>
            <a:r>
              <a:rPr b="1" lang="en" sz="1500"/>
              <a:t> = </a:t>
            </a:r>
            <a:r>
              <a:rPr b="1" lang="en" sz="1500">
                <a:solidFill>
                  <a:srgbClr val="FF00FF"/>
                </a:solidFill>
              </a:rPr>
              <a:t>1</a:t>
            </a:r>
            <a:endParaRPr b="1" sz="1500">
              <a:solidFill>
                <a:srgbClr val="FF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8" name="Google Shape;408;p38"/>
          <p:cNvGraphicFramePr/>
          <p:nvPr/>
        </p:nvGraphicFramePr>
        <p:xfrm>
          <a:off x="17302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9" name="Google Shape;409;p38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10" name="Google Shape;410;p38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11" name="Google Shape;411;p38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2" name="Google Shape;412;p38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38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38"/>
          <p:cNvSpPr/>
          <p:nvPr/>
        </p:nvSpPr>
        <p:spPr>
          <a:xfrm rot="10800000">
            <a:off x="2187374" y="3712814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"/>
          <p:cNvSpPr/>
          <p:nvPr/>
        </p:nvSpPr>
        <p:spPr>
          <a:xfrm rot="10800000">
            <a:off x="4031174" y="3721064"/>
            <a:ext cx="424800" cy="3648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8"/>
          <p:cNvSpPr/>
          <p:nvPr/>
        </p:nvSpPr>
        <p:spPr>
          <a:xfrm rot="10800000">
            <a:off x="6531824" y="3709002"/>
            <a:ext cx="424800" cy="36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424" name="Google Shape;424;p39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5" name="Google Shape;425;p39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6" name="Google Shape;426;p39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0" name="Google Shape;430;p39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3" name="Google Shape;433;p39"/>
          <p:cNvCxnSpPr>
            <a:stCxn id="427" idx="7"/>
            <a:endCxn id="430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9"/>
          <p:cNvCxnSpPr>
            <a:stCxn id="428" idx="4"/>
            <a:endCxn id="431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9"/>
          <p:cNvCxnSpPr>
            <a:stCxn id="427" idx="5"/>
            <a:endCxn id="431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9"/>
          <p:cNvCxnSpPr>
            <a:stCxn id="427" idx="6"/>
            <a:endCxn id="428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9"/>
          <p:cNvCxnSpPr>
            <a:stCxn id="430" idx="6"/>
            <a:endCxn id="432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9"/>
          <p:cNvCxnSpPr>
            <a:stCxn id="428" idx="0"/>
            <a:endCxn id="430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9"/>
          <p:cNvCxnSpPr>
            <a:stCxn id="432" idx="3"/>
            <a:endCxn id="431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28" idx="6"/>
            <a:endCxn id="432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9"/>
          <p:cNvCxnSpPr>
            <a:stCxn id="432" idx="4"/>
            <a:endCxn id="429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9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3" name="Google Shape;443;p39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" name="Google Shape;448;p39"/>
          <p:cNvCxnSpPr>
            <a:stCxn id="443" idx="4"/>
            <a:endCxn id="446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stCxn id="442" idx="6"/>
            <a:endCxn id="443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9"/>
          <p:cNvCxnSpPr>
            <a:stCxn id="444" idx="2"/>
            <a:endCxn id="446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9"/>
          <p:cNvCxnSpPr>
            <a:stCxn id="447" idx="4"/>
            <a:endCxn id="444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9"/>
          <p:cNvCxnSpPr>
            <a:stCxn id="447" idx="3"/>
            <a:endCxn id="446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9"/>
          <p:cNvCxnSpPr>
            <a:stCxn id="445" idx="5"/>
            <a:endCxn id="444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9"/>
          <p:cNvCxnSpPr>
            <a:stCxn id="445" idx="6"/>
            <a:endCxn id="447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9"/>
          <p:cNvCxnSpPr>
            <a:stCxn id="429" idx="1"/>
            <a:endCxn id="428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9"/>
          <p:cNvCxnSpPr>
            <a:stCxn id="442" idx="7"/>
            <a:endCxn id="445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39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2853575" y="3909875"/>
            <a:ext cx="222600" cy="200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60" name="Google Shape;460;p39"/>
          <p:cNvGraphicFramePr/>
          <p:nvPr/>
        </p:nvGraphicFramePr>
        <p:xfrm>
          <a:off x="6283700" y="30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\circ B = (a_{ij} \times b_{ij})" id="461" name="Google Shape;461;p3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437" y="1705288"/>
            <a:ext cx="3114024" cy="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467" name="Google Shape;467;p40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Google Shape;468;p40"/>
          <p:cNvGraphicFramePr/>
          <p:nvPr/>
        </p:nvGraphicFramePr>
        <p:xfrm>
          <a:off x="3144550" y="30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Google Shape;469;p40"/>
          <p:cNvGraphicFramePr/>
          <p:nvPr/>
        </p:nvGraphicFramePr>
        <p:xfrm>
          <a:off x="6283700" y="30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p40"/>
          <p:cNvSpPr/>
          <p:nvPr/>
        </p:nvSpPr>
        <p:spPr>
          <a:xfrm>
            <a:off x="5928550" y="3874950"/>
            <a:ext cx="251100" cy="2211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6591846" y="177710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7464509" y="177710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8460570" y="24249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7464472" y="112902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7464463" y="242519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8460550" y="137478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7" name="Google Shape;477;p40"/>
          <p:cNvCxnSpPr>
            <a:stCxn id="471" idx="6"/>
            <a:endCxn id="472" idx="2"/>
          </p:cNvCxnSpPr>
          <p:nvPr/>
        </p:nvCxnSpPr>
        <p:spPr>
          <a:xfrm>
            <a:off x="6842946" y="1898009"/>
            <a:ext cx="62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0"/>
          <p:cNvCxnSpPr>
            <a:stCxn id="474" idx="6"/>
            <a:endCxn id="476" idx="1"/>
          </p:cNvCxnSpPr>
          <p:nvPr/>
        </p:nvCxnSpPr>
        <p:spPr>
          <a:xfrm>
            <a:off x="7715572" y="1249924"/>
            <a:ext cx="781800" cy="160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0"/>
          <p:cNvCxnSpPr>
            <a:stCxn id="471" idx="0"/>
            <a:endCxn id="474" idx="2"/>
          </p:cNvCxnSpPr>
          <p:nvPr/>
        </p:nvCxnSpPr>
        <p:spPr>
          <a:xfrm flipH="1" rot="10800000">
            <a:off x="6717396" y="1250009"/>
            <a:ext cx="747000" cy="527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40"/>
          <p:cNvSpPr txBox="1"/>
          <p:nvPr/>
        </p:nvSpPr>
        <p:spPr>
          <a:xfrm>
            <a:off x="6443550" y="2639038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Parties </a:t>
            </a:r>
            <a:r>
              <a:rPr b="1" lang="en" sz="1600">
                <a:latin typeface="Economica"/>
                <a:ea typeface="Economica"/>
                <a:cs typeface="Economica"/>
                <a:sym typeface="Economica"/>
              </a:rPr>
              <a:t>and</a:t>
            </a: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 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6" name="Google Shape;486;p40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7" name="Google Shape;487;p40"/>
          <p:cNvCxnSpPr>
            <a:stCxn id="481" idx="7"/>
            <a:endCxn id="484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0"/>
          <p:cNvCxnSpPr>
            <a:stCxn id="482" idx="4"/>
            <a:endCxn id="485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0"/>
          <p:cNvCxnSpPr>
            <a:stCxn id="481" idx="5"/>
            <a:endCxn id="485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0"/>
          <p:cNvCxnSpPr>
            <a:stCxn id="481" idx="6"/>
            <a:endCxn id="482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0"/>
          <p:cNvCxnSpPr>
            <a:stCxn id="484" idx="6"/>
            <a:endCxn id="486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40"/>
          <p:cNvCxnSpPr>
            <a:stCxn id="482" idx="0"/>
            <a:endCxn id="484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40"/>
          <p:cNvCxnSpPr>
            <a:stCxn id="486" idx="3"/>
            <a:endCxn id="485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0"/>
          <p:cNvCxnSpPr>
            <a:stCxn id="482" idx="6"/>
            <a:endCxn id="486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0"/>
          <p:cNvCxnSpPr>
            <a:stCxn id="486" idx="4"/>
            <a:endCxn id="483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40"/>
          <p:cNvSpPr/>
          <p:nvPr/>
        </p:nvSpPr>
        <p:spPr>
          <a:xfrm>
            <a:off x="3396071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7" name="Google Shape;497;p40"/>
          <p:cNvSpPr/>
          <p:nvPr/>
        </p:nvSpPr>
        <p:spPr>
          <a:xfrm>
            <a:off x="4268734" y="1823771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8" name="Google Shape;498;p40"/>
          <p:cNvSpPr/>
          <p:nvPr/>
        </p:nvSpPr>
        <p:spPr>
          <a:xfrm>
            <a:off x="5264795" y="247164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4268697" y="1175686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0" name="Google Shape;500;p40"/>
          <p:cNvSpPr/>
          <p:nvPr/>
        </p:nvSpPr>
        <p:spPr>
          <a:xfrm>
            <a:off x="4268688" y="2471852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1" name="Google Shape;501;p40"/>
          <p:cNvSpPr/>
          <p:nvPr/>
        </p:nvSpPr>
        <p:spPr>
          <a:xfrm>
            <a:off x="5264775" y="142144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2" name="Google Shape;502;p40"/>
          <p:cNvCxnSpPr>
            <a:stCxn id="497" idx="4"/>
            <a:endCxn id="500" idx="0"/>
          </p:cNvCxnSpPr>
          <p:nvPr/>
        </p:nvCxnSpPr>
        <p:spPr>
          <a:xfrm>
            <a:off x="4394284" y="2065571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0"/>
          <p:cNvCxnSpPr>
            <a:stCxn id="496" idx="6"/>
            <a:endCxn id="497" idx="2"/>
          </p:cNvCxnSpPr>
          <p:nvPr/>
        </p:nvCxnSpPr>
        <p:spPr>
          <a:xfrm>
            <a:off x="3647171" y="1944671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0"/>
          <p:cNvCxnSpPr>
            <a:stCxn id="498" idx="2"/>
            <a:endCxn id="500" idx="6"/>
          </p:cNvCxnSpPr>
          <p:nvPr/>
        </p:nvCxnSpPr>
        <p:spPr>
          <a:xfrm flipH="1">
            <a:off x="4519895" y="2592549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0"/>
          <p:cNvCxnSpPr>
            <a:stCxn id="501" idx="4"/>
            <a:endCxn id="498" idx="0"/>
          </p:cNvCxnSpPr>
          <p:nvPr/>
        </p:nvCxnSpPr>
        <p:spPr>
          <a:xfrm>
            <a:off x="5390325" y="1663243"/>
            <a:ext cx="0" cy="808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0"/>
          <p:cNvCxnSpPr>
            <a:stCxn id="501" idx="3"/>
            <a:endCxn id="500" idx="7"/>
          </p:cNvCxnSpPr>
          <p:nvPr/>
        </p:nvCxnSpPr>
        <p:spPr>
          <a:xfrm flipH="1">
            <a:off x="4483148" y="1627832"/>
            <a:ext cx="818400" cy="87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40"/>
          <p:cNvCxnSpPr>
            <a:stCxn id="499" idx="5"/>
            <a:endCxn id="498" idx="1"/>
          </p:cNvCxnSpPr>
          <p:nvPr/>
        </p:nvCxnSpPr>
        <p:spPr>
          <a:xfrm>
            <a:off x="4483024" y="1382075"/>
            <a:ext cx="818400" cy="1125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40"/>
          <p:cNvCxnSpPr>
            <a:stCxn id="499" idx="6"/>
            <a:endCxn id="501" idx="1"/>
          </p:cNvCxnSpPr>
          <p:nvPr/>
        </p:nvCxnSpPr>
        <p:spPr>
          <a:xfrm>
            <a:off x="4519797" y="1296586"/>
            <a:ext cx="781800" cy="160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0"/>
          <p:cNvCxnSpPr>
            <a:stCxn id="483" idx="1"/>
            <a:endCxn id="482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40"/>
          <p:cNvCxnSpPr>
            <a:stCxn id="496" idx="7"/>
            <a:endCxn id="499" idx="2"/>
          </p:cNvCxnSpPr>
          <p:nvPr/>
        </p:nvCxnSpPr>
        <p:spPr>
          <a:xfrm flipH="1" rot="10800000">
            <a:off x="3610398" y="1296682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0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3247775" y="2685700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Plays Games With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3" name="Google Shape;513;p40"/>
          <p:cNvCxnSpPr>
            <a:stCxn id="472" idx="4"/>
            <a:endCxn id="475" idx="0"/>
          </p:cNvCxnSpPr>
          <p:nvPr/>
        </p:nvCxnSpPr>
        <p:spPr>
          <a:xfrm>
            <a:off x="7590059" y="2018909"/>
            <a:ext cx="0" cy="40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0"/>
          <p:cNvCxnSpPr>
            <a:stCxn id="476" idx="4"/>
            <a:endCxn id="475" idx="7"/>
          </p:cNvCxnSpPr>
          <p:nvPr/>
        </p:nvCxnSpPr>
        <p:spPr>
          <a:xfrm flipH="1">
            <a:off x="7678900" y="1616580"/>
            <a:ext cx="907200" cy="843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0"/>
          <p:cNvCxnSpPr>
            <a:stCxn id="476" idx="5"/>
            <a:endCxn id="473" idx="7"/>
          </p:cNvCxnSpPr>
          <p:nvPr/>
        </p:nvCxnSpPr>
        <p:spPr>
          <a:xfrm>
            <a:off x="8674877" y="1581169"/>
            <a:ext cx="0" cy="87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0"/>
          <p:cNvSpPr/>
          <p:nvPr/>
        </p:nvSpPr>
        <p:spPr>
          <a:xfrm>
            <a:off x="2853575" y="3909875"/>
            <a:ext cx="222600" cy="200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Subtracting a Number From a Matrix</a:t>
            </a:r>
            <a:endParaRPr/>
          </a:p>
        </p:txBody>
      </p:sp>
      <p:sp>
        <p:nvSpPr>
          <p:cNvPr id="522" name="Google Shape;522;p41"/>
          <p:cNvSpPr txBox="1"/>
          <p:nvPr/>
        </p:nvSpPr>
        <p:spPr>
          <a:xfrm>
            <a:off x="1218725" y="2651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23" name="Google Shape;523;p41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4" name="Google Shape;524;p41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0" name="Google Shape;530;p41"/>
          <p:cNvCxnSpPr>
            <a:stCxn id="524" idx="7"/>
            <a:endCxn id="527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41"/>
          <p:cNvCxnSpPr>
            <a:stCxn id="525" idx="4"/>
            <a:endCxn id="528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1"/>
          <p:cNvCxnSpPr>
            <a:stCxn id="524" idx="5"/>
            <a:endCxn id="528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41"/>
          <p:cNvCxnSpPr>
            <a:stCxn id="524" idx="6"/>
            <a:endCxn id="525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1"/>
          <p:cNvCxnSpPr>
            <a:stCxn id="527" idx="6"/>
            <a:endCxn id="529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1"/>
          <p:cNvCxnSpPr>
            <a:stCxn id="525" idx="0"/>
            <a:endCxn id="527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1"/>
          <p:cNvCxnSpPr>
            <a:stCxn id="529" idx="3"/>
            <a:endCxn id="528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1"/>
          <p:cNvCxnSpPr>
            <a:stCxn id="525" idx="6"/>
            <a:endCxn id="529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41"/>
          <p:cNvCxnSpPr>
            <a:stCxn id="529" idx="4"/>
            <a:endCxn id="526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1"/>
          <p:cNvCxnSpPr>
            <a:stCxn id="526" idx="1"/>
            <a:endCxn id="525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41"/>
          <p:cNvSpPr txBox="1"/>
          <p:nvPr/>
        </p:nvSpPr>
        <p:spPr>
          <a:xfrm>
            <a:off x="4107125" y="2652000"/>
            <a:ext cx="10407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－ </a:t>
            </a: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41" name="Google Shape;541;p41"/>
          <p:cNvGraphicFramePr/>
          <p:nvPr/>
        </p:nvGraphicFramePr>
        <p:xfrm>
          <a:off x="317650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2" name="Google Shape;542;p41"/>
          <p:cNvSpPr txBox="1"/>
          <p:nvPr>
            <p:ph idx="1" type="body"/>
          </p:nvPr>
        </p:nvSpPr>
        <p:spPr>
          <a:xfrm>
            <a:off x="6114950" y="1225225"/>
            <a:ext cx="28419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subtract a number from a matrix!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x is any number and </a:t>
            </a:r>
            <a:r>
              <a:rPr b="1" lang="en"/>
              <a:t>W </a:t>
            </a:r>
            <a:r>
              <a:rPr lang="en"/>
              <a:t>is a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 - </a:t>
            </a:r>
            <a:r>
              <a:rPr b="1" lang="en"/>
              <a:t>W </a:t>
            </a:r>
            <a:r>
              <a:rPr lang="en"/>
              <a:t>= x - w</a:t>
            </a:r>
            <a:r>
              <a:rPr baseline="-25000" lang="en"/>
              <a:t>ij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all w</a:t>
            </a:r>
            <a:r>
              <a:rPr baseline="-25000" lang="en"/>
              <a:t>ij </a:t>
            </a:r>
            <a:r>
              <a:rPr lang="en"/>
              <a:t>the cells in </a:t>
            </a:r>
            <a:r>
              <a:rPr b="1" lang="en"/>
              <a:t>W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on the left we subtract </a:t>
            </a:r>
            <a:r>
              <a:rPr b="1" lang="en"/>
              <a:t>1</a:t>
            </a:r>
            <a:r>
              <a:rPr lang="en"/>
              <a:t> from </a:t>
            </a:r>
            <a:r>
              <a:rPr b="1" lang="en"/>
              <a:t>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Subtracting a Number From a Matrix</a:t>
            </a:r>
            <a:endParaRPr/>
          </a:p>
        </p:txBody>
      </p:sp>
      <p:graphicFrame>
        <p:nvGraphicFramePr>
          <p:cNvPr id="548" name="Google Shape;548;p42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42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3" name="Google Shape;553;p42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5" name="Google Shape;555;p42"/>
          <p:cNvCxnSpPr>
            <a:stCxn id="549" idx="7"/>
            <a:endCxn id="552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2"/>
          <p:cNvCxnSpPr>
            <a:stCxn id="550" idx="4"/>
            <a:endCxn id="553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2"/>
          <p:cNvCxnSpPr>
            <a:stCxn id="549" idx="5"/>
            <a:endCxn id="553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42"/>
          <p:cNvCxnSpPr>
            <a:stCxn id="549" idx="6"/>
            <a:endCxn id="550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2"/>
          <p:cNvCxnSpPr>
            <a:stCxn id="552" idx="6"/>
            <a:endCxn id="554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2"/>
          <p:cNvCxnSpPr>
            <a:stCxn id="550" idx="0"/>
            <a:endCxn id="552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2"/>
          <p:cNvCxnSpPr>
            <a:stCxn id="554" idx="3"/>
            <a:endCxn id="553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2"/>
          <p:cNvCxnSpPr>
            <a:stCxn id="550" idx="6"/>
            <a:endCxn id="554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2"/>
          <p:cNvCxnSpPr>
            <a:stCxn id="554" idx="4"/>
            <a:endCxn id="551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2"/>
          <p:cNvCxnSpPr>
            <a:stCxn id="551" idx="1"/>
            <a:endCxn id="550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5" name="Google Shape;565;p42"/>
          <p:cNvGraphicFramePr/>
          <p:nvPr/>
        </p:nvGraphicFramePr>
        <p:xfrm>
          <a:off x="317650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6" name="Google Shape;566;p42"/>
          <p:cNvSpPr/>
          <p:nvPr/>
        </p:nvSpPr>
        <p:spPr>
          <a:xfrm>
            <a:off x="3512050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7" name="Google Shape;567;p42"/>
          <p:cNvSpPr/>
          <p:nvPr/>
        </p:nvSpPr>
        <p:spPr>
          <a:xfrm>
            <a:off x="4384713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8" name="Google Shape;568;p42"/>
          <p:cNvSpPr/>
          <p:nvPr/>
        </p:nvSpPr>
        <p:spPr>
          <a:xfrm>
            <a:off x="5380774" y="250505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9" name="Google Shape;569;p42"/>
          <p:cNvSpPr/>
          <p:nvPr/>
        </p:nvSpPr>
        <p:spPr>
          <a:xfrm>
            <a:off x="4384676" y="120908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4384667" y="250525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5380847" y="15155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2" name="Google Shape;572;p42"/>
          <p:cNvCxnSpPr>
            <a:stCxn id="566" idx="6"/>
            <a:endCxn id="571" idx="2"/>
          </p:cNvCxnSpPr>
          <p:nvPr/>
        </p:nvCxnSpPr>
        <p:spPr>
          <a:xfrm flipH="1" rot="10800000">
            <a:off x="3763150" y="1636373"/>
            <a:ext cx="16176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2"/>
          <p:cNvCxnSpPr>
            <a:stCxn id="569" idx="2"/>
            <a:endCxn id="570" idx="2"/>
          </p:cNvCxnSpPr>
          <p:nvPr/>
        </p:nvCxnSpPr>
        <p:spPr>
          <a:xfrm>
            <a:off x="4384676" y="1329988"/>
            <a:ext cx="600" cy="1296300"/>
          </a:xfrm>
          <a:prstGeom prst="curvedConnector3">
            <a:avLst>
              <a:gd fmla="val -39688925" name="adj1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2"/>
          <p:cNvCxnSpPr>
            <a:stCxn id="566" idx="6"/>
            <a:endCxn id="568" idx="1"/>
          </p:cNvCxnSpPr>
          <p:nvPr/>
        </p:nvCxnSpPr>
        <p:spPr>
          <a:xfrm>
            <a:off x="3763150" y="1978073"/>
            <a:ext cx="16545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2"/>
          <p:cNvCxnSpPr>
            <a:stCxn id="570" idx="6"/>
            <a:endCxn id="568" idx="2"/>
          </p:cNvCxnSpPr>
          <p:nvPr/>
        </p:nvCxnSpPr>
        <p:spPr>
          <a:xfrm flipH="1" rot="10800000">
            <a:off x="4635767" y="2625854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2"/>
          <p:cNvCxnSpPr>
            <a:stCxn id="569" idx="6"/>
            <a:endCxn id="568" idx="1"/>
          </p:cNvCxnSpPr>
          <p:nvPr/>
        </p:nvCxnSpPr>
        <p:spPr>
          <a:xfrm>
            <a:off x="4635776" y="1329988"/>
            <a:ext cx="781800" cy="1210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2"/>
          <p:cNvCxnSpPr>
            <a:stCxn id="571" idx="4"/>
            <a:endCxn id="568" idx="0"/>
          </p:cNvCxnSpPr>
          <p:nvPr/>
        </p:nvCxnSpPr>
        <p:spPr>
          <a:xfrm>
            <a:off x="5506397" y="1757329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42"/>
          <p:cNvSpPr txBox="1"/>
          <p:nvPr>
            <p:ph idx="1" type="body"/>
          </p:nvPr>
        </p:nvSpPr>
        <p:spPr>
          <a:xfrm>
            <a:off x="6114950" y="1225225"/>
            <a:ext cx="28419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all the cells in the original adjacency matrix subtracted from 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ones turn into zeros and the zeros into ones!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2"/>
          <p:cNvSpPr txBox="1"/>
          <p:nvPr/>
        </p:nvSpPr>
        <p:spPr>
          <a:xfrm>
            <a:off x="1218725" y="2651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42"/>
          <p:cNvSpPr txBox="1"/>
          <p:nvPr/>
        </p:nvSpPr>
        <p:spPr>
          <a:xfrm>
            <a:off x="4107125" y="2652000"/>
            <a:ext cx="10407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－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Subtracting a Number From a Matrix</a:t>
            </a:r>
            <a:endParaRPr/>
          </a:p>
        </p:txBody>
      </p:sp>
      <p:graphicFrame>
        <p:nvGraphicFramePr>
          <p:cNvPr id="586" name="Google Shape;586;p43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7" name="Google Shape;587;p43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9" name="Google Shape;589;p43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0" name="Google Shape;590;p43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1" name="Google Shape;591;p43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2" name="Google Shape;592;p43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3" name="Google Shape;593;p43"/>
          <p:cNvCxnSpPr>
            <a:stCxn id="587" idx="7"/>
            <a:endCxn id="590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3"/>
          <p:cNvCxnSpPr>
            <a:stCxn id="588" idx="4"/>
            <a:endCxn id="591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3"/>
          <p:cNvCxnSpPr>
            <a:stCxn id="587" idx="5"/>
            <a:endCxn id="591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3"/>
          <p:cNvCxnSpPr>
            <a:stCxn id="587" idx="6"/>
            <a:endCxn id="588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3"/>
          <p:cNvCxnSpPr>
            <a:stCxn id="590" idx="6"/>
            <a:endCxn id="592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3"/>
          <p:cNvCxnSpPr>
            <a:stCxn id="588" idx="0"/>
            <a:endCxn id="590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3"/>
          <p:cNvCxnSpPr>
            <a:stCxn id="592" idx="3"/>
            <a:endCxn id="591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3"/>
          <p:cNvCxnSpPr>
            <a:stCxn id="588" idx="6"/>
            <a:endCxn id="592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3"/>
          <p:cNvCxnSpPr>
            <a:stCxn id="592" idx="4"/>
            <a:endCxn id="589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3"/>
          <p:cNvCxnSpPr>
            <a:stCxn id="589" idx="1"/>
            <a:endCxn id="588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03" name="Google Shape;603;p43"/>
          <p:cNvGraphicFramePr/>
          <p:nvPr/>
        </p:nvGraphicFramePr>
        <p:xfrm>
          <a:off x="317650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4" name="Google Shape;604;p43"/>
          <p:cNvSpPr/>
          <p:nvPr/>
        </p:nvSpPr>
        <p:spPr>
          <a:xfrm>
            <a:off x="3512050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4384713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6" name="Google Shape;606;p43"/>
          <p:cNvSpPr/>
          <p:nvPr/>
        </p:nvSpPr>
        <p:spPr>
          <a:xfrm>
            <a:off x="5380774" y="250505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4384676" y="120908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8" name="Google Shape;608;p43"/>
          <p:cNvSpPr/>
          <p:nvPr/>
        </p:nvSpPr>
        <p:spPr>
          <a:xfrm>
            <a:off x="4384667" y="250525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9" name="Google Shape;609;p43"/>
          <p:cNvSpPr/>
          <p:nvPr/>
        </p:nvSpPr>
        <p:spPr>
          <a:xfrm>
            <a:off x="5380847" y="15155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0" name="Google Shape;610;p43"/>
          <p:cNvCxnSpPr>
            <a:stCxn id="604" idx="6"/>
            <a:endCxn id="609" idx="2"/>
          </p:cNvCxnSpPr>
          <p:nvPr/>
        </p:nvCxnSpPr>
        <p:spPr>
          <a:xfrm flipH="1" rot="10800000">
            <a:off x="3763150" y="1636373"/>
            <a:ext cx="16176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3"/>
          <p:cNvCxnSpPr>
            <a:stCxn id="607" idx="2"/>
            <a:endCxn id="608" idx="2"/>
          </p:cNvCxnSpPr>
          <p:nvPr/>
        </p:nvCxnSpPr>
        <p:spPr>
          <a:xfrm>
            <a:off x="4384676" y="1329988"/>
            <a:ext cx="600" cy="1296300"/>
          </a:xfrm>
          <a:prstGeom prst="curvedConnector3">
            <a:avLst>
              <a:gd fmla="val -39688925" name="adj1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3"/>
          <p:cNvCxnSpPr>
            <a:stCxn id="604" idx="6"/>
            <a:endCxn id="606" idx="1"/>
          </p:cNvCxnSpPr>
          <p:nvPr/>
        </p:nvCxnSpPr>
        <p:spPr>
          <a:xfrm>
            <a:off x="3763150" y="1978073"/>
            <a:ext cx="16545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3"/>
          <p:cNvCxnSpPr>
            <a:stCxn id="608" idx="6"/>
            <a:endCxn id="606" idx="2"/>
          </p:cNvCxnSpPr>
          <p:nvPr/>
        </p:nvCxnSpPr>
        <p:spPr>
          <a:xfrm flipH="1" rot="10800000">
            <a:off x="4635767" y="2625854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3"/>
          <p:cNvCxnSpPr>
            <a:stCxn id="607" idx="6"/>
            <a:endCxn id="606" idx="1"/>
          </p:cNvCxnSpPr>
          <p:nvPr/>
        </p:nvCxnSpPr>
        <p:spPr>
          <a:xfrm>
            <a:off x="4635776" y="1329988"/>
            <a:ext cx="781800" cy="1210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3"/>
          <p:cNvCxnSpPr>
            <a:stCxn id="609" idx="4"/>
            <a:endCxn id="606" idx="0"/>
          </p:cNvCxnSpPr>
          <p:nvPr/>
        </p:nvCxnSpPr>
        <p:spPr>
          <a:xfrm>
            <a:off x="5506397" y="1757329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43"/>
          <p:cNvSpPr txBox="1"/>
          <p:nvPr>
            <p:ph idx="1" type="body"/>
          </p:nvPr>
        </p:nvSpPr>
        <p:spPr>
          <a:xfrm>
            <a:off x="6114950" y="1225225"/>
            <a:ext cx="28419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all the cells in the original adjacency matrix subtracted from 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second matrix records the </a:t>
            </a:r>
            <a:r>
              <a:rPr b="1" lang="en"/>
              <a:t>absence </a:t>
            </a:r>
            <a:r>
              <a:rPr lang="en"/>
              <a:t>of the original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3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Parties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8" name="Google Shape;618;p43"/>
          <p:cNvSpPr txBox="1"/>
          <p:nvPr/>
        </p:nvSpPr>
        <p:spPr>
          <a:xfrm>
            <a:off x="3279725" y="2711413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Does Not Party With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Subtracting a Number From a Matrix</a:t>
            </a:r>
            <a:endParaRPr/>
          </a:p>
        </p:txBody>
      </p:sp>
      <p:graphicFrame>
        <p:nvGraphicFramePr>
          <p:cNvPr id="624" name="Google Shape;624;p44"/>
          <p:cNvGraphicFramePr/>
          <p:nvPr/>
        </p:nvGraphicFramePr>
        <p:xfrm>
          <a:off x="10525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5" name="Google Shape;625;p44"/>
          <p:cNvSpPr/>
          <p:nvPr/>
        </p:nvSpPr>
        <p:spPr>
          <a:xfrm>
            <a:off x="311688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6" name="Google Shape;626;p44"/>
          <p:cNvSpPr/>
          <p:nvPr/>
        </p:nvSpPr>
        <p:spPr>
          <a:xfrm>
            <a:off x="1184350" y="179764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2180412" y="2445525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8" name="Google Shape;628;p44"/>
          <p:cNvSpPr/>
          <p:nvPr/>
        </p:nvSpPr>
        <p:spPr>
          <a:xfrm>
            <a:off x="1184313" y="114956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9" name="Google Shape;629;p44"/>
          <p:cNvSpPr/>
          <p:nvPr/>
        </p:nvSpPr>
        <p:spPr>
          <a:xfrm>
            <a:off x="1184305" y="24457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2180484" y="145600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1" name="Google Shape;631;p44"/>
          <p:cNvCxnSpPr>
            <a:stCxn id="625" idx="7"/>
            <a:endCxn id="628" idx="2"/>
          </p:cNvCxnSpPr>
          <p:nvPr/>
        </p:nvCxnSpPr>
        <p:spPr>
          <a:xfrm flipH="1" rot="10800000">
            <a:off x="526015" y="1270559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4"/>
          <p:cNvCxnSpPr>
            <a:stCxn id="626" idx="4"/>
            <a:endCxn id="629" idx="0"/>
          </p:cNvCxnSpPr>
          <p:nvPr/>
        </p:nvCxnSpPr>
        <p:spPr>
          <a:xfrm>
            <a:off x="1309900" y="2039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44"/>
          <p:cNvCxnSpPr>
            <a:stCxn id="625" idx="5"/>
            <a:endCxn id="629" idx="2"/>
          </p:cNvCxnSpPr>
          <p:nvPr/>
        </p:nvCxnSpPr>
        <p:spPr>
          <a:xfrm>
            <a:off x="526015" y="2004037"/>
            <a:ext cx="6582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4"/>
          <p:cNvCxnSpPr>
            <a:stCxn id="625" idx="6"/>
            <a:endCxn id="626" idx="2"/>
          </p:cNvCxnSpPr>
          <p:nvPr/>
        </p:nvCxnSpPr>
        <p:spPr>
          <a:xfrm>
            <a:off x="562788" y="1918548"/>
            <a:ext cx="6216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4"/>
          <p:cNvCxnSpPr>
            <a:stCxn id="628" idx="6"/>
            <a:endCxn id="630" idx="1"/>
          </p:cNvCxnSpPr>
          <p:nvPr/>
        </p:nvCxnSpPr>
        <p:spPr>
          <a:xfrm>
            <a:off x="1435413" y="1270463"/>
            <a:ext cx="781800" cy="22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4"/>
          <p:cNvCxnSpPr>
            <a:stCxn id="626" idx="0"/>
            <a:endCxn id="628" idx="4"/>
          </p:cNvCxnSpPr>
          <p:nvPr/>
        </p:nvCxnSpPr>
        <p:spPr>
          <a:xfrm rot="10800000">
            <a:off x="1309900" y="1391448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4"/>
          <p:cNvCxnSpPr>
            <a:stCxn id="630" idx="3"/>
            <a:endCxn id="629" idx="7"/>
          </p:cNvCxnSpPr>
          <p:nvPr/>
        </p:nvCxnSpPr>
        <p:spPr>
          <a:xfrm flipH="1">
            <a:off x="1398557" y="1662393"/>
            <a:ext cx="818700" cy="818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4"/>
          <p:cNvCxnSpPr>
            <a:stCxn id="626" idx="6"/>
            <a:endCxn id="630" idx="2"/>
          </p:cNvCxnSpPr>
          <p:nvPr/>
        </p:nvCxnSpPr>
        <p:spPr>
          <a:xfrm flipH="1" rot="10800000">
            <a:off x="1435450" y="1576848"/>
            <a:ext cx="7449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4"/>
          <p:cNvCxnSpPr>
            <a:stCxn id="630" idx="4"/>
            <a:endCxn id="627" idx="0"/>
          </p:cNvCxnSpPr>
          <p:nvPr/>
        </p:nvCxnSpPr>
        <p:spPr>
          <a:xfrm>
            <a:off x="2306034" y="1697804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4"/>
          <p:cNvCxnSpPr>
            <a:stCxn id="627" idx="1"/>
            <a:endCxn id="626" idx="6"/>
          </p:cNvCxnSpPr>
          <p:nvPr/>
        </p:nvCxnSpPr>
        <p:spPr>
          <a:xfrm rot="10800000">
            <a:off x="1435384" y="1918436"/>
            <a:ext cx="7818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41" name="Google Shape;641;p44"/>
          <p:cNvGraphicFramePr/>
          <p:nvPr/>
        </p:nvGraphicFramePr>
        <p:xfrm>
          <a:off x="3176500" y="30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--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2" name="Google Shape;642;p44"/>
          <p:cNvSpPr/>
          <p:nvPr/>
        </p:nvSpPr>
        <p:spPr>
          <a:xfrm>
            <a:off x="3512050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4384713" y="1857173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4" name="Google Shape;644;p44"/>
          <p:cNvSpPr/>
          <p:nvPr/>
        </p:nvSpPr>
        <p:spPr>
          <a:xfrm>
            <a:off x="5380774" y="2505050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5" name="Google Shape;645;p44"/>
          <p:cNvSpPr/>
          <p:nvPr/>
        </p:nvSpPr>
        <p:spPr>
          <a:xfrm>
            <a:off x="4384676" y="1209088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6" name="Google Shape;646;p44"/>
          <p:cNvSpPr/>
          <p:nvPr/>
        </p:nvSpPr>
        <p:spPr>
          <a:xfrm>
            <a:off x="4384667" y="2505254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7" name="Google Shape;647;p44"/>
          <p:cNvSpPr/>
          <p:nvPr/>
        </p:nvSpPr>
        <p:spPr>
          <a:xfrm>
            <a:off x="5380847" y="1515529"/>
            <a:ext cx="251100" cy="241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2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8" name="Google Shape;648;p44"/>
          <p:cNvCxnSpPr>
            <a:stCxn id="642" idx="6"/>
            <a:endCxn id="647" idx="2"/>
          </p:cNvCxnSpPr>
          <p:nvPr/>
        </p:nvCxnSpPr>
        <p:spPr>
          <a:xfrm flipH="1" rot="10800000">
            <a:off x="3763150" y="1636373"/>
            <a:ext cx="1617600" cy="34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44"/>
          <p:cNvCxnSpPr>
            <a:stCxn id="645" idx="2"/>
            <a:endCxn id="646" idx="2"/>
          </p:cNvCxnSpPr>
          <p:nvPr/>
        </p:nvCxnSpPr>
        <p:spPr>
          <a:xfrm>
            <a:off x="4384676" y="1329988"/>
            <a:ext cx="600" cy="1296300"/>
          </a:xfrm>
          <a:prstGeom prst="curvedConnector3">
            <a:avLst>
              <a:gd fmla="val -39688925" name="adj1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4"/>
          <p:cNvCxnSpPr>
            <a:stCxn id="642" idx="6"/>
            <a:endCxn id="644" idx="1"/>
          </p:cNvCxnSpPr>
          <p:nvPr/>
        </p:nvCxnSpPr>
        <p:spPr>
          <a:xfrm>
            <a:off x="3763150" y="1978073"/>
            <a:ext cx="1654500" cy="562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4"/>
          <p:cNvCxnSpPr>
            <a:stCxn id="646" idx="6"/>
            <a:endCxn id="644" idx="2"/>
          </p:cNvCxnSpPr>
          <p:nvPr/>
        </p:nvCxnSpPr>
        <p:spPr>
          <a:xfrm flipH="1" rot="10800000">
            <a:off x="4635767" y="2625854"/>
            <a:ext cx="7449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4"/>
          <p:cNvCxnSpPr>
            <a:stCxn id="645" idx="6"/>
            <a:endCxn id="644" idx="1"/>
          </p:cNvCxnSpPr>
          <p:nvPr/>
        </p:nvCxnSpPr>
        <p:spPr>
          <a:xfrm>
            <a:off x="4635776" y="1329988"/>
            <a:ext cx="781800" cy="1210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4"/>
          <p:cNvCxnSpPr>
            <a:stCxn id="647" idx="4"/>
            <a:endCxn id="644" idx="0"/>
          </p:cNvCxnSpPr>
          <p:nvPr/>
        </p:nvCxnSpPr>
        <p:spPr>
          <a:xfrm>
            <a:off x="5506397" y="1757329"/>
            <a:ext cx="0" cy="747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44"/>
          <p:cNvSpPr txBox="1"/>
          <p:nvPr>
            <p:ph idx="1" type="body"/>
          </p:nvPr>
        </p:nvSpPr>
        <p:spPr>
          <a:xfrm>
            <a:off x="6114950" y="1225225"/>
            <a:ext cx="28419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all the cells in the original adjacency matrix subtracted from 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corresponding to the second matrix is called the </a:t>
            </a:r>
            <a:r>
              <a:rPr b="1" lang="en"/>
              <a:t>complement </a:t>
            </a:r>
            <a:r>
              <a:rPr lang="en"/>
              <a:t>of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original</a:t>
            </a:r>
            <a:r>
              <a:rPr lang="en"/>
              <a:t>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4"/>
          <p:cNvSpPr txBox="1"/>
          <p:nvPr/>
        </p:nvSpPr>
        <p:spPr>
          <a:xfrm>
            <a:off x="208475" y="268987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Original Graph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56" name="Google Shape;656;p44"/>
          <p:cNvSpPr txBox="1"/>
          <p:nvPr/>
        </p:nvSpPr>
        <p:spPr>
          <a:xfrm>
            <a:off x="3279725" y="2711413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Graph Complement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667" name="Google Shape;667;p46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of a matrix </a:t>
            </a:r>
            <a:r>
              <a:rPr b="1" lang="en"/>
              <a:t>A</a:t>
            </a:r>
            <a:r>
              <a:rPr lang="en"/>
              <a:t> is the same matrix with the rows and columns flipped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 </a:t>
            </a:r>
            <a:r>
              <a:rPr lang="en"/>
              <a:t>or </a:t>
            </a:r>
            <a:r>
              <a:rPr b="1" lang="en"/>
              <a:t>A</a:t>
            </a:r>
            <a:r>
              <a:rPr b="1" baseline="30000" lang="en"/>
              <a:t>T</a:t>
            </a:r>
            <a:endParaRPr baseline="30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8" name="Google Shape;668;p46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69" name="Google Shape;669;p4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1" name="Google Shape;671;p4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5" name="Google Shape;675;p46"/>
          <p:cNvCxnSpPr>
            <a:stCxn id="669" idx="7"/>
            <a:endCxn id="67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46"/>
          <p:cNvCxnSpPr>
            <a:stCxn id="672" idx="3"/>
            <a:endCxn id="67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7" name="Google Shape;677;p46"/>
          <p:cNvCxnSpPr>
            <a:stCxn id="674" idx="3"/>
            <a:endCxn id="67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8" name="Google Shape;678;p46"/>
          <p:cNvCxnSpPr>
            <a:stCxn id="670" idx="4"/>
            <a:endCxn id="67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46"/>
          <p:cNvCxnSpPr>
            <a:stCxn id="669" idx="5"/>
            <a:endCxn id="67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46"/>
          <p:cNvCxnSpPr>
            <a:stCxn id="669" idx="6"/>
            <a:endCxn id="67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46"/>
          <p:cNvCxnSpPr>
            <a:stCxn id="671" idx="2"/>
            <a:endCxn id="67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46"/>
          <p:cNvCxnSpPr>
            <a:stCxn id="672" idx="5"/>
            <a:endCxn id="67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46"/>
          <p:cNvCxnSpPr>
            <a:stCxn id="670" idx="7"/>
            <a:endCxn id="67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46"/>
          <p:cNvCxnSpPr>
            <a:stCxn id="674" idx="3"/>
            <a:endCxn id="67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46"/>
          <p:cNvCxnSpPr>
            <a:stCxn id="670" idx="6"/>
            <a:endCxn id="67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46"/>
          <p:cNvCxnSpPr>
            <a:stCxn id="674" idx="5"/>
            <a:endCxn id="67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87" name="Google Shape;687;p46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693" name="Google Shape;693;p47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of a matrix </a:t>
            </a:r>
            <a:r>
              <a:rPr b="1" lang="en"/>
              <a:t>A</a:t>
            </a:r>
            <a:r>
              <a:rPr lang="en"/>
              <a:t> is the same matrix with the rows and columns flipped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 </a:t>
            </a:r>
            <a:r>
              <a:rPr lang="en"/>
              <a:t>or </a:t>
            </a:r>
            <a:r>
              <a:rPr b="1" lang="en"/>
              <a:t>A</a:t>
            </a:r>
            <a:r>
              <a:rPr b="1" baseline="30000" lang="en"/>
              <a:t>T</a:t>
            </a:r>
            <a:endParaRPr baseline="30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94" name="Google Shape;694;p47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5" name="Google Shape;695;p47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96" name="Google Shape;696;p47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7" name="Google Shape;697;p47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9" name="Google Shape;699;p4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0" name="Google Shape;700;p4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1" name="Google Shape;701;p4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2" name="Google Shape;702;p4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4" name="Google Shape;704;p47"/>
          <p:cNvCxnSpPr>
            <a:stCxn id="698" idx="7"/>
            <a:endCxn id="70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7"/>
          <p:cNvCxnSpPr>
            <a:stCxn id="701" idx="3"/>
            <a:endCxn id="69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47"/>
          <p:cNvCxnSpPr>
            <a:stCxn id="703" idx="3"/>
            <a:endCxn id="70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47"/>
          <p:cNvCxnSpPr>
            <a:stCxn id="699" idx="4"/>
            <a:endCxn id="70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47"/>
          <p:cNvCxnSpPr>
            <a:stCxn id="698" idx="5"/>
            <a:endCxn id="70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47"/>
          <p:cNvCxnSpPr>
            <a:stCxn id="698" idx="6"/>
            <a:endCxn id="69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47"/>
          <p:cNvCxnSpPr>
            <a:stCxn id="700" idx="2"/>
            <a:endCxn id="70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7"/>
          <p:cNvCxnSpPr>
            <a:stCxn id="701" idx="5"/>
            <a:endCxn id="70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2" name="Google Shape;712;p47"/>
          <p:cNvCxnSpPr>
            <a:stCxn id="699" idx="7"/>
            <a:endCxn id="70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47"/>
          <p:cNvCxnSpPr>
            <a:stCxn id="703" idx="3"/>
            <a:endCxn id="70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47"/>
          <p:cNvCxnSpPr>
            <a:stCxn id="699" idx="6"/>
            <a:endCxn id="70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47"/>
          <p:cNvCxnSpPr>
            <a:stCxn id="703" idx="5"/>
            <a:endCxn id="70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21" name="Google Shape;721;p48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rows of the original matrix are the columns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 </a:t>
            </a:r>
            <a:r>
              <a:rPr lang="en"/>
              <a:t>or </a:t>
            </a:r>
            <a:r>
              <a:rPr b="1" lang="en"/>
              <a:t>A</a:t>
            </a:r>
            <a:r>
              <a:rPr b="1" baseline="30000" lang="en"/>
              <a:t>T</a:t>
            </a:r>
            <a:endParaRPr baseline="30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2" name="Google Shape;722;p48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23" name="Google Shape;723;p48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24" name="Google Shape;724;p48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25" name="Google Shape;725;p48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48"/>
          <p:cNvSpPr/>
          <p:nvPr/>
        </p:nvSpPr>
        <p:spPr>
          <a:xfrm rot="10800000">
            <a:off x="5945270" y="2383950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8"/>
          <p:cNvSpPr/>
          <p:nvPr/>
        </p:nvSpPr>
        <p:spPr>
          <a:xfrm rot="5400000">
            <a:off x="2006188" y="1665475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0" name="Google Shape;730;p4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1" name="Google Shape;731;p4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3" name="Google Shape;733;p4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4" name="Google Shape;734;p48"/>
          <p:cNvCxnSpPr>
            <a:stCxn id="728" idx="7"/>
            <a:endCxn id="73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5" name="Google Shape;735;p48"/>
          <p:cNvCxnSpPr>
            <a:stCxn id="731" idx="3"/>
            <a:endCxn id="72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48"/>
          <p:cNvCxnSpPr>
            <a:stCxn id="733" idx="3"/>
            <a:endCxn id="73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48"/>
          <p:cNvCxnSpPr>
            <a:stCxn id="729" idx="4"/>
            <a:endCxn id="73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48"/>
          <p:cNvCxnSpPr>
            <a:stCxn id="728" idx="5"/>
            <a:endCxn id="73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48"/>
          <p:cNvCxnSpPr>
            <a:stCxn id="728" idx="6"/>
            <a:endCxn id="72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48"/>
          <p:cNvCxnSpPr>
            <a:stCxn id="730" idx="2"/>
            <a:endCxn id="73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48"/>
          <p:cNvCxnSpPr>
            <a:stCxn id="731" idx="5"/>
            <a:endCxn id="73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8"/>
          <p:cNvCxnSpPr>
            <a:stCxn id="729" idx="7"/>
            <a:endCxn id="73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48"/>
          <p:cNvCxnSpPr>
            <a:stCxn id="733" idx="3"/>
            <a:endCxn id="73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48"/>
          <p:cNvCxnSpPr>
            <a:stCxn id="729" idx="6"/>
            <a:endCxn id="73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48"/>
          <p:cNvCxnSpPr>
            <a:stCxn id="733" idx="5"/>
            <a:endCxn id="73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51" name="Google Shape;751;p49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rows of the original matrix are the columns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 </a:t>
            </a:r>
            <a:r>
              <a:rPr lang="en"/>
              <a:t>or </a:t>
            </a:r>
            <a:r>
              <a:rPr b="1" lang="en"/>
              <a:t>A</a:t>
            </a:r>
            <a:r>
              <a:rPr b="1" baseline="30000" lang="en"/>
              <a:t>T</a:t>
            </a:r>
            <a:endParaRPr baseline="30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52" name="Google Shape;752;p49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3" name="Google Shape;753;p49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54" name="Google Shape;754;p49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5" name="Google Shape;755;p49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49"/>
          <p:cNvSpPr/>
          <p:nvPr/>
        </p:nvSpPr>
        <p:spPr>
          <a:xfrm rot="10800000">
            <a:off x="6847170" y="2425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9"/>
          <p:cNvSpPr/>
          <p:nvPr/>
        </p:nvSpPr>
        <p:spPr>
          <a:xfrm rot="5400000">
            <a:off x="2006175" y="2387000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0" name="Google Shape;760;p4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4" name="Google Shape;764;p49"/>
          <p:cNvCxnSpPr>
            <a:stCxn id="758" idx="7"/>
            <a:endCxn id="76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49"/>
          <p:cNvCxnSpPr>
            <a:stCxn id="761" idx="3"/>
            <a:endCxn id="75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49"/>
          <p:cNvCxnSpPr>
            <a:stCxn id="763" idx="3"/>
            <a:endCxn id="76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49"/>
          <p:cNvCxnSpPr>
            <a:stCxn id="759" idx="4"/>
            <a:endCxn id="76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49"/>
          <p:cNvCxnSpPr>
            <a:stCxn id="758" idx="5"/>
            <a:endCxn id="76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49"/>
          <p:cNvCxnSpPr>
            <a:stCxn id="758" idx="6"/>
            <a:endCxn id="75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49"/>
          <p:cNvCxnSpPr>
            <a:stCxn id="760" idx="2"/>
            <a:endCxn id="76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9"/>
          <p:cNvCxnSpPr>
            <a:stCxn id="761" idx="5"/>
            <a:endCxn id="76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49"/>
          <p:cNvCxnSpPr>
            <a:stCxn id="759" idx="7"/>
            <a:endCxn id="76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3" name="Google Shape;773;p49"/>
          <p:cNvCxnSpPr>
            <a:stCxn id="763" idx="3"/>
            <a:endCxn id="76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4" name="Google Shape;774;p49"/>
          <p:cNvCxnSpPr>
            <a:stCxn id="759" idx="6"/>
            <a:endCxn id="76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49"/>
          <p:cNvCxnSpPr>
            <a:stCxn id="763" idx="5"/>
            <a:endCxn id="76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81" name="Google Shape;781;p50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columns  of the original matrix are the rows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 </a:t>
            </a:r>
            <a:r>
              <a:rPr lang="en"/>
              <a:t>or </a:t>
            </a:r>
            <a:r>
              <a:rPr b="1" lang="en"/>
              <a:t>A</a:t>
            </a:r>
            <a:r>
              <a:rPr b="1" baseline="30000" lang="en"/>
              <a:t>T</a:t>
            </a:r>
            <a:endParaRPr baseline="30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2" name="Google Shape;782;p50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83" name="Google Shape;783;p50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84" name="Google Shape;784;p50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85" name="Google Shape;785;p50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p50"/>
          <p:cNvSpPr/>
          <p:nvPr/>
        </p:nvSpPr>
        <p:spPr>
          <a:xfrm rot="10800000">
            <a:off x="2448620" y="2379363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0"/>
          <p:cNvSpPr/>
          <p:nvPr/>
        </p:nvSpPr>
        <p:spPr>
          <a:xfrm rot="5400000">
            <a:off x="6411688" y="2380125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9" name="Google Shape;789;p5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0" name="Google Shape;790;p5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1" name="Google Shape;791;p5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2" name="Google Shape;792;p5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3" name="Google Shape;793;p5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4" name="Google Shape;794;p50"/>
          <p:cNvCxnSpPr>
            <a:stCxn id="788" idx="7"/>
            <a:endCxn id="79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0"/>
          <p:cNvCxnSpPr>
            <a:stCxn id="791" idx="3"/>
            <a:endCxn id="78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50"/>
          <p:cNvCxnSpPr>
            <a:stCxn id="793" idx="3"/>
            <a:endCxn id="79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7" name="Google Shape;797;p50"/>
          <p:cNvCxnSpPr>
            <a:stCxn id="789" idx="4"/>
            <a:endCxn id="79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50"/>
          <p:cNvCxnSpPr>
            <a:stCxn id="788" idx="5"/>
            <a:endCxn id="79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9" name="Google Shape;799;p50"/>
          <p:cNvCxnSpPr>
            <a:stCxn id="788" idx="6"/>
            <a:endCxn id="78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0" name="Google Shape;800;p50"/>
          <p:cNvCxnSpPr>
            <a:stCxn id="790" idx="2"/>
            <a:endCxn id="79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50"/>
          <p:cNvCxnSpPr>
            <a:stCxn id="791" idx="5"/>
            <a:endCxn id="79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50"/>
          <p:cNvCxnSpPr>
            <a:stCxn id="789" idx="7"/>
            <a:endCxn id="79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3" name="Google Shape;803;p50"/>
          <p:cNvCxnSpPr>
            <a:stCxn id="793" idx="3"/>
            <a:endCxn id="79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50"/>
          <p:cNvCxnSpPr>
            <a:stCxn id="789" idx="6"/>
            <a:endCxn id="79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50"/>
          <p:cNvCxnSpPr>
            <a:stCxn id="793" idx="5"/>
            <a:endCxn id="79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811" name="Google Shape;811;p51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b="1" lang="en"/>
              <a:t>A</a:t>
            </a:r>
            <a:r>
              <a:rPr lang="en"/>
              <a:t> is a matrix and </a:t>
            </a:r>
            <a:r>
              <a:rPr b="1" lang="en"/>
              <a:t>A’</a:t>
            </a:r>
            <a:r>
              <a:rPr lang="en"/>
              <a:t> is its transpose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a’</a:t>
            </a:r>
            <a:r>
              <a:rPr baseline="-25000" lang="en"/>
              <a:t>ji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2" name="Google Shape;812;p51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51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14" name="Google Shape;814;p51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15" name="Google Shape;815;p51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6" name="Google Shape;816;p5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7" name="Google Shape;817;p5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8" name="Google Shape;818;p5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9" name="Google Shape;819;p5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0" name="Google Shape;820;p5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1" name="Google Shape;821;p5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2" name="Google Shape;822;p51"/>
          <p:cNvCxnSpPr>
            <a:stCxn id="816" idx="7"/>
            <a:endCxn id="81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51"/>
          <p:cNvCxnSpPr>
            <a:stCxn id="819" idx="3"/>
            <a:endCxn id="81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51"/>
          <p:cNvCxnSpPr>
            <a:stCxn id="821" idx="3"/>
            <a:endCxn id="81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51"/>
          <p:cNvCxnSpPr>
            <a:stCxn id="817" idx="4"/>
            <a:endCxn id="82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51"/>
          <p:cNvCxnSpPr>
            <a:stCxn id="816" idx="5"/>
            <a:endCxn id="82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51"/>
          <p:cNvCxnSpPr>
            <a:stCxn id="816" idx="6"/>
            <a:endCxn id="81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51"/>
          <p:cNvCxnSpPr>
            <a:stCxn id="818" idx="2"/>
            <a:endCxn id="82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51"/>
          <p:cNvCxnSpPr>
            <a:stCxn id="819" idx="5"/>
            <a:endCxn id="82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51"/>
          <p:cNvCxnSpPr>
            <a:stCxn id="817" idx="7"/>
            <a:endCxn id="81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1"/>
          <p:cNvCxnSpPr>
            <a:stCxn id="821" idx="3"/>
            <a:endCxn id="82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51"/>
          <p:cNvCxnSpPr>
            <a:stCxn id="817" idx="6"/>
            <a:endCxn id="82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51"/>
          <p:cNvCxnSpPr>
            <a:stCxn id="821" idx="5"/>
            <a:endCxn id="81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839" name="Google Shape;839;p52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b="1" lang="en"/>
              <a:t>A</a:t>
            </a:r>
            <a:r>
              <a:rPr lang="en"/>
              <a:t> is a matrix and </a:t>
            </a:r>
            <a:r>
              <a:rPr b="1" lang="en"/>
              <a:t>A’</a:t>
            </a:r>
            <a:r>
              <a:rPr lang="en"/>
              <a:t> is its transpose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15</a:t>
            </a:r>
            <a:r>
              <a:rPr lang="en"/>
              <a:t> = a’</a:t>
            </a:r>
            <a:r>
              <a:rPr baseline="-25000" lang="en"/>
              <a:t>51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1" name="Google Shape;841;p5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2" name="Google Shape;842;p5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3" name="Google Shape;843;p5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4" name="Google Shape;844;p5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5" name="Google Shape;845;p5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6" name="Google Shape;846;p52"/>
          <p:cNvCxnSpPr>
            <a:stCxn id="840" idx="7"/>
            <a:endCxn id="84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52"/>
          <p:cNvCxnSpPr>
            <a:stCxn id="843" idx="3"/>
            <a:endCxn id="84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52"/>
          <p:cNvCxnSpPr>
            <a:stCxn id="845" idx="3"/>
            <a:endCxn id="84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52"/>
          <p:cNvCxnSpPr>
            <a:stCxn id="841" idx="4"/>
            <a:endCxn id="84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52"/>
          <p:cNvCxnSpPr>
            <a:stCxn id="840" idx="5"/>
            <a:endCxn id="84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52"/>
          <p:cNvCxnSpPr>
            <a:stCxn id="840" idx="6"/>
            <a:endCxn id="84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52"/>
          <p:cNvCxnSpPr>
            <a:stCxn id="842" idx="2"/>
            <a:endCxn id="84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2"/>
          <p:cNvCxnSpPr>
            <a:stCxn id="843" idx="5"/>
            <a:endCxn id="84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52"/>
          <p:cNvCxnSpPr>
            <a:stCxn id="841" idx="7"/>
            <a:endCxn id="84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2"/>
          <p:cNvCxnSpPr>
            <a:stCxn id="845" idx="3"/>
            <a:endCxn id="84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52"/>
          <p:cNvCxnSpPr>
            <a:stCxn id="841" idx="6"/>
            <a:endCxn id="84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52"/>
          <p:cNvCxnSpPr>
            <a:stCxn id="845" idx="5"/>
            <a:endCxn id="84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858" name="Google Shape;858;p52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9" name="Google Shape;859;p52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60" name="Google Shape;860;p52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52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Dyads in Directed Graphs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872" name="Google Shape;872;p5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/>
          </a:p>
        </p:txBody>
      </p:sp>
      <p:sp>
        <p:nvSpPr>
          <p:cNvPr id="873" name="Google Shape;873;p5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4" name="Google Shape;874;p5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5" name="Google Shape;875;p54"/>
          <p:cNvCxnSpPr>
            <a:stCxn id="873" idx="5"/>
            <a:endCxn id="87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76" name="Google Shape;876;p5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7" name="Google Shape;877;p5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8" name="Google Shape;878;p5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9" name="Google Shape;879;p54"/>
          <p:cNvCxnSpPr>
            <a:stCxn id="874" idx="7"/>
            <a:endCxn id="87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0" name="Google Shape;880;p54"/>
          <p:cNvCxnSpPr>
            <a:stCxn id="878" idx="1"/>
            <a:endCxn id="87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1" name="Google Shape;881;p54"/>
          <p:cNvCxnSpPr>
            <a:stCxn id="878" idx="3"/>
            <a:endCxn id="87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2" name="Google Shape;882;p54"/>
          <p:cNvCxnSpPr>
            <a:stCxn id="877" idx="1"/>
            <a:endCxn id="87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3" name="Google Shape;883;p54"/>
          <p:cNvCxnSpPr>
            <a:stCxn id="877" idx="2"/>
            <a:endCxn id="87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4" name="Google Shape;884;p54"/>
          <p:cNvCxnSpPr>
            <a:stCxn id="877" idx="0"/>
            <a:endCxn id="87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5" name="Google Shape;885;p54"/>
          <p:cNvCxnSpPr>
            <a:stCxn id="877" idx="7"/>
            <a:endCxn id="87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6" name="Google Shape;886;p54"/>
          <p:cNvCxnSpPr>
            <a:stCxn id="874" idx="1"/>
            <a:endCxn id="87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87" name="Google Shape;887;p54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8" name="Google Shape;888;p54"/>
          <p:cNvCxnSpPr>
            <a:stCxn id="887" idx="0"/>
            <a:endCxn id="874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9" name="Google Shape;889;p54"/>
          <p:cNvCxnSpPr>
            <a:stCxn id="887" idx="2"/>
            <a:endCxn id="873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895" name="Google Shape;895;p5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7" name="Google Shape;897;p5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8" name="Google Shape;898;p55"/>
          <p:cNvCxnSpPr>
            <a:stCxn id="896" idx="5"/>
            <a:endCxn id="89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99" name="Google Shape;899;p5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1" name="Google Shape;901;p5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02" name="Google Shape;902;p55"/>
          <p:cNvCxnSpPr>
            <a:stCxn id="897" idx="7"/>
            <a:endCxn id="89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3" name="Google Shape;903;p55"/>
          <p:cNvCxnSpPr>
            <a:stCxn id="901" idx="1"/>
            <a:endCxn id="89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4" name="Google Shape;904;p55"/>
          <p:cNvCxnSpPr>
            <a:stCxn id="901" idx="3"/>
            <a:endCxn id="90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5" name="Google Shape;905;p55"/>
          <p:cNvCxnSpPr>
            <a:stCxn id="900" idx="1"/>
            <a:endCxn id="89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6" name="Google Shape;906;p55"/>
          <p:cNvCxnSpPr>
            <a:stCxn id="900" idx="2"/>
            <a:endCxn id="89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7" name="Google Shape;907;p55"/>
          <p:cNvCxnSpPr>
            <a:stCxn id="900" idx="0"/>
            <a:endCxn id="89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8" name="Google Shape;908;p55"/>
          <p:cNvCxnSpPr>
            <a:stCxn id="900" idx="7"/>
            <a:endCxn id="89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9" name="Google Shape;909;p55"/>
          <p:cNvCxnSpPr>
            <a:stCxn id="897" idx="1"/>
            <a:endCxn id="89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10" name="Google Shape;910;p55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1" name="Google Shape;911;p55"/>
          <p:cNvCxnSpPr>
            <a:stCxn id="910" idx="0"/>
            <a:endCxn id="897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2" name="Google Shape;912;p55"/>
          <p:cNvCxnSpPr>
            <a:stCxn id="910" idx="2"/>
            <a:endCxn id="896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918" name="Google Shape;918;p5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0" name="Google Shape;920;p5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1" name="Google Shape;921;p56"/>
          <p:cNvCxnSpPr>
            <a:stCxn id="919" idx="5"/>
            <a:endCxn id="920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22" name="Google Shape;922;p5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3" name="Google Shape;923;p5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4" name="Google Shape;924;p5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5" name="Google Shape;925;p56"/>
          <p:cNvCxnSpPr>
            <a:stCxn id="920" idx="7"/>
            <a:endCxn id="92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6" name="Google Shape;926;p56"/>
          <p:cNvCxnSpPr>
            <a:stCxn id="924" idx="1"/>
            <a:endCxn id="92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7" name="Google Shape;927;p56"/>
          <p:cNvCxnSpPr>
            <a:stCxn id="924" idx="3"/>
            <a:endCxn id="92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8" name="Google Shape;928;p56"/>
          <p:cNvCxnSpPr>
            <a:stCxn id="923" idx="1"/>
            <a:endCxn id="922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9" name="Google Shape;929;p56"/>
          <p:cNvCxnSpPr>
            <a:stCxn id="923" idx="2"/>
            <a:endCxn id="920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30" name="Google Shape;930;p56"/>
          <p:cNvCxnSpPr>
            <a:stCxn id="923" idx="0"/>
            <a:endCxn id="920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56"/>
          <p:cNvCxnSpPr>
            <a:stCxn id="923" idx="7"/>
            <a:endCxn id="922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56"/>
          <p:cNvCxnSpPr>
            <a:stCxn id="920" idx="1"/>
            <a:endCxn id="919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33" name="Google Shape;933;p56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4" name="Google Shape;934;p56"/>
          <p:cNvCxnSpPr>
            <a:stCxn id="933" idx="0"/>
            <a:endCxn id="920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35" name="Google Shape;935;p56"/>
          <p:cNvCxnSpPr>
            <a:stCxn id="933" idx="2"/>
            <a:endCxn id="919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941" name="Google Shape;941;p5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3" name="Google Shape;943;p5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4" name="Google Shape;944;p57"/>
          <p:cNvCxnSpPr>
            <a:stCxn id="942" idx="5"/>
            <a:endCxn id="94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45" name="Google Shape;945;p5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6" name="Google Shape;946;p5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7" name="Google Shape;947;p5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8" name="Google Shape;948;p57"/>
          <p:cNvCxnSpPr>
            <a:stCxn id="943" idx="7"/>
            <a:endCxn id="94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9" name="Google Shape;949;p57"/>
          <p:cNvCxnSpPr>
            <a:stCxn id="947" idx="1"/>
            <a:endCxn id="94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0" name="Google Shape;950;p57"/>
          <p:cNvCxnSpPr>
            <a:stCxn id="947" idx="3"/>
            <a:endCxn id="94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1" name="Google Shape;951;p57"/>
          <p:cNvCxnSpPr>
            <a:stCxn id="946" idx="1"/>
            <a:endCxn id="94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2" name="Google Shape;952;p57"/>
          <p:cNvCxnSpPr>
            <a:stCxn id="946" idx="2"/>
            <a:endCxn id="943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3" name="Google Shape;953;p57"/>
          <p:cNvCxnSpPr>
            <a:stCxn id="946" idx="0"/>
            <a:endCxn id="943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4" name="Google Shape;954;p57"/>
          <p:cNvCxnSpPr>
            <a:stCxn id="946" idx="7"/>
            <a:endCxn id="94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5" name="Google Shape;955;p57"/>
          <p:cNvCxnSpPr>
            <a:stCxn id="943" idx="1"/>
            <a:endCxn id="94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56" name="Google Shape;956;p5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7" name="Google Shape;957;p57"/>
          <p:cNvCxnSpPr>
            <a:stCxn id="956" idx="0"/>
            <a:endCxn id="943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8" name="Google Shape;958;p57"/>
          <p:cNvCxnSpPr>
            <a:stCxn id="956" idx="2"/>
            <a:endCxn id="942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964" name="Google Shape;964;p5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(Mutual)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(Asymmetric)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(Null)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8"/>
          <p:cNvSpPr/>
          <p:nvPr/>
        </p:nvSpPr>
        <p:spPr>
          <a:xfrm>
            <a:off x="311700" y="3921550"/>
            <a:ext cx="57522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Sometimes people use the terminology in parentheses to refer to the three types of dyads in directed graphs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66" name="Google Shape;966;p5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7" name="Google Shape;967;p5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68" name="Google Shape;968;p58"/>
          <p:cNvCxnSpPr>
            <a:stCxn id="966" idx="5"/>
            <a:endCxn id="96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69" name="Google Shape;969;p5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0" name="Google Shape;970;p5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1" name="Google Shape;971;p5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2" name="Google Shape;972;p58"/>
          <p:cNvCxnSpPr>
            <a:stCxn id="967" idx="7"/>
            <a:endCxn id="96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3" name="Google Shape;973;p58"/>
          <p:cNvCxnSpPr>
            <a:stCxn id="971" idx="1"/>
            <a:endCxn id="96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4" name="Google Shape;974;p58"/>
          <p:cNvCxnSpPr>
            <a:stCxn id="971" idx="3"/>
            <a:endCxn id="97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5" name="Google Shape;975;p58"/>
          <p:cNvCxnSpPr>
            <a:stCxn id="970" idx="1"/>
            <a:endCxn id="96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6" name="Google Shape;976;p58"/>
          <p:cNvCxnSpPr>
            <a:stCxn id="970" idx="2"/>
            <a:endCxn id="96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7" name="Google Shape;977;p58"/>
          <p:cNvCxnSpPr>
            <a:stCxn id="970" idx="0"/>
            <a:endCxn id="96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8" name="Google Shape;978;p58"/>
          <p:cNvCxnSpPr>
            <a:stCxn id="970" idx="7"/>
            <a:endCxn id="96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9" name="Google Shape;979;p58"/>
          <p:cNvCxnSpPr>
            <a:stCxn id="967" idx="1"/>
            <a:endCxn id="96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80" name="Google Shape;980;p5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1" name="Google Shape;981;p58"/>
          <p:cNvCxnSpPr>
            <a:stCxn id="980" idx="0"/>
            <a:endCxn id="967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2" name="Google Shape;982;p58"/>
          <p:cNvCxnSpPr>
            <a:stCxn id="980" idx="2"/>
            <a:endCxn id="966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988" name="Google Shape;988;p5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9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alternative terminology is a nice mnemonic because the first letter of the three types of dyads spells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90" name="Google Shape;990;p5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1" name="Google Shape;991;p5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2" name="Google Shape;992;p59"/>
          <p:cNvCxnSpPr>
            <a:stCxn id="990" idx="5"/>
            <a:endCxn id="99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93" name="Google Shape;993;p5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4" name="Google Shape;994;p5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5" name="Google Shape;995;p5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6" name="Google Shape;996;p59"/>
          <p:cNvCxnSpPr>
            <a:stCxn id="991" idx="7"/>
            <a:endCxn id="99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97" name="Google Shape;997;p59"/>
          <p:cNvCxnSpPr>
            <a:stCxn id="995" idx="1"/>
            <a:endCxn id="99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8" name="Google Shape;998;p59"/>
          <p:cNvCxnSpPr>
            <a:stCxn id="995" idx="3"/>
            <a:endCxn id="99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9" name="Google Shape;999;p59"/>
          <p:cNvCxnSpPr>
            <a:stCxn id="994" idx="1"/>
            <a:endCxn id="993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0" name="Google Shape;1000;p59"/>
          <p:cNvCxnSpPr>
            <a:stCxn id="994" idx="2"/>
            <a:endCxn id="991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1" name="Google Shape;1001;p59"/>
          <p:cNvCxnSpPr>
            <a:stCxn id="994" idx="0"/>
            <a:endCxn id="991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2" name="Google Shape;1002;p59"/>
          <p:cNvCxnSpPr>
            <a:stCxn id="994" idx="7"/>
            <a:endCxn id="993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3" name="Google Shape;1003;p59"/>
          <p:cNvCxnSpPr>
            <a:stCxn id="991" idx="1"/>
            <a:endCxn id="99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04" name="Google Shape;1004;p5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5" name="Google Shape;1005;p59"/>
          <p:cNvCxnSpPr>
            <a:stCxn id="1004" idx="0"/>
            <a:endCxn id="991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6" name="Google Shape;1006;p59"/>
          <p:cNvCxnSpPr>
            <a:stCxn id="1004" idx="2"/>
            <a:endCxn id="990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1012" name="Google Shape;1012;p60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0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4" name="Google Shape;1014;p60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5" name="Google Shape;1015;p60"/>
          <p:cNvCxnSpPr>
            <a:stCxn id="1013" idx="7"/>
            <a:endCxn id="1014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6" name="Google Shape;1016;p60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7" name="Google Shape;1017;p60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8" name="Google Shape;1018;p60"/>
          <p:cNvCxnSpPr>
            <a:stCxn id="1016" idx="1"/>
            <a:endCxn id="1017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9" name="Google Shape;1019;p60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20" name="Google Shape;1020;p60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21" name="Google Shape;1021;p60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2" name="Google Shape;1022;p60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3" name="Google Shape;1023;p60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24" name="Google Shape;1024;p60"/>
          <p:cNvCxnSpPr>
            <a:stCxn id="1013" idx="5"/>
            <a:endCxn id="1014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25" name="Google Shape;1025;p6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6" name="Google Shape;1026;p6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7" name="Google Shape;1027;p60"/>
          <p:cNvCxnSpPr>
            <a:stCxn id="1025" idx="5"/>
            <a:endCxn id="102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28" name="Google Shape;1028;p6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9" name="Google Shape;1029;p6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1" name="Google Shape;1031;p60"/>
          <p:cNvCxnSpPr>
            <a:stCxn id="1026" idx="7"/>
            <a:endCxn id="102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2" name="Google Shape;1032;p60"/>
          <p:cNvCxnSpPr>
            <a:stCxn id="1030" idx="1"/>
            <a:endCxn id="102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3" name="Google Shape;1033;p60"/>
          <p:cNvCxnSpPr>
            <a:stCxn id="1030" idx="3"/>
            <a:endCxn id="102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4" name="Google Shape;1034;p60"/>
          <p:cNvCxnSpPr>
            <a:stCxn id="1029" idx="1"/>
            <a:endCxn id="1028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5" name="Google Shape;1035;p60"/>
          <p:cNvCxnSpPr>
            <a:stCxn id="1029" idx="2"/>
            <a:endCxn id="1026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6" name="Google Shape;1036;p60"/>
          <p:cNvCxnSpPr>
            <a:stCxn id="1029" idx="0"/>
            <a:endCxn id="1026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7" name="Google Shape;1037;p60"/>
          <p:cNvCxnSpPr>
            <a:stCxn id="1029" idx="7"/>
            <a:endCxn id="1028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8" name="Google Shape;1038;p60"/>
          <p:cNvCxnSpPr>
            <a:stCxn id="1026" idx="1"/>
            <a:endCxn id="102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39" name="Google Shape;1039;p6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0" name="Google Shape;1040;p60"/>
          <p:cNvCxnSpPr>
            <a:stCxn id="1039" idx="0"/>
            <a:endCxn id="1026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1" name="Google Shape;1041;p60"/>
          <p:cNvCxnSpPr>
            <a:stCxn id="1039" idx="2"/>
            <a:endCxn id="1025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1047" name="Google Shape;1047;p61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/>
          <p:nvPr/>
        </p:nvSpPr>
        <p:spPr>
          <a:xfrm>
            <a:off x="877800" y="397478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9" name="Google Shape;1049;p61"/>
          <p:cNvSpPr/>
          <p:nvPr/>
        </p:nvSpPr>
        <p:spPr>
          <a:xfrm>
            <a:off x="1462319" y="397477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0" name="Google Shape;1050;p61"/>
          <p:cNvCxnSpPr>
            <a:stCxn id="1048" idx="7"/>
            <a:endCxn id="1049" idx="1"/>
          </p:cNvCxnSpPr>
          <p:nvPr/>
        </p:nvCxnSpPr>
        <p:spPr>
          <a:xfrm>
            <a:off x="1144877" y="402065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1" name="Google Shape;1051;p61"/>
          <p:cNvSpPr/>
          <p:nvPr/>
        </p:nvSpPr>
        <p:spPr>
          <a:xfrm>
            <a:off x="2138488" y="39759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2" name="Google Shape;1052;p61"/>
          <p:cNvSpPr/>
          <p:nvPr/>
        </p:nvSpPr>
        <p:spPr>
          <a:xfrm>
            <a:off x="2759137" y="39759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3" name="Google Shape;1053;p61"/>
          <p:cNvCxnSpPr>
            <a:stCxn id="1051" idx="6"/>
            <a:endCxn id="1052" idx="2"/>
          </p:cNvCxnSpPr>
          <p:nvPr/>
        </p:nvCxnSpPr>
        <p:spPr>
          <a:xfrm>
            <a:off x="2449288" y="4131375"/>
            <a:ext cx="3099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4" name="Google Shape;1054;p61"/>
          <p:cNvSpPr txBox="1"/>
          <p:nvPr/>
        </p:nvSpPr>
        <p:spPr>
          <a:xfrm>
            <a:off x="894663" y="45134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55" name="Google Shape;1055;p61"/>
          <p:cNvSpPr txBox="1"/>
          <p:nvPr/>
        </p:nvSpPr>
        <p:spPr>
          <a:xfrm>
            <a:off x="2134263" y="45134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56" name="Google Shape;1056;p61"/>
          <p:cNvSpPr/>
          <p:nvPr/>
        </p:nvSpPr>
        <p:spPr>
          <a:xfrm>
            <a:off x="4117188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7" name="Google Shape;1057;p61"/>
          <p:cNvSpPr/>
          <p:nvPr/>
        </p:nvSpPr>
        <p:spPr>
          <a:xfrm>
            <a:off x="3438163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8" name="Google Shape;1058;p61"/>
          <p:cNvSpPr txBox="1"/>
          <p:nvPr/>
        </p:nvSpPr>
        <p:spPr>
          <a:xfrm>
            <a:off x="3513888" y="45134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9" name="Google Shape;1059;p61"/>
          <p:cNvCxnSpPr>
            <a:stCxn id="1048" idx="5"/>
            <a:endCxn id="1049" idx="3"/>
          </p:cNvCxnSpPr>
          <p:nvPr/>
        </p:nvCxnSpPr>
        <p:spPr>
          <a:xfrm>
            <a:off x="1144877" y="424211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60" name="Google Shape;1060;p6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1" name="Google Shape;1061;p6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2" name="Google Shape;1062;p61"/>
          <p:cNvCxnSpPr>
            <a:stCxn id="1060" idx="5"/>
            <a:endCxn id="106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63" name="Google Shape;1063;p6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4" name="Google Shape;1064;p6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5" name="Google Shape;1065;p6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6" name="Google Shape;1066;p61"/>
          <p:cNvCxnSpPr>
            <a:stCxn id="1061" idx="7"/>
            <a:endCxn id="106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7" name="Google Shape;1067;p61"/>
          <p:cNvCxnSpPr>
            <a:stCxn id="1065" idx="1"/>
            <a:endCxn id="106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8" name="Google Shape;1068;p61"/>
          <p:cNvCxnSpPr>
            <a:stCxn id="1065" idx="3"/>
            <a:endCxn id="106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9" name="Google Shape;1069;p61"/>
          <p:cNvCxnSpPr>
            <a:stCxn id="1064" idx="1"/>
            <a:endCxn id="1063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0" name="Google Shape;1070;p61"/>
          <p:cNvCxnSpPr>
            <a:stCxn id="1064" idx="2"/>
            <a:endCxn id="1061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1" name="Google Shape;1071;p61"/>
          <p:cNvCxnSpPr>
            <a:stCxn id="1064" idx="0"/>
            <a:endCxn id="1061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61"/>
          <p:cNvCxnSpPr>
            <a:stCxn id="1064" idx="7"/>
            <a:endCxn id="1063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3" name="Google Shape;1073;p61"/>
          <p:cNvCxnSpPr>
            <a:stCxn id="1061" idx="1"/>
            <a:endCxn id="106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74" name="Google Shape;1074;p6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75" name="Google Shape;1075;p61"/>
          <p:cNvCxnSpPr>
            <a:stCxn id="1074" idx="0"/>
            <a:endCxn id="1061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6" name="Google Shape;1076;p61"/>
          <p:cNvCxnSpPr>
            <a:stCxn id="1074" idx="2"/>
            <a:endCxn id="1060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Matrix Operations to Compute the Dyad Census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sp>
        <p:nvSpPr>
          <p:cNvPr id="1087" name="Google Shape;1087;p63"/>
          <p:cNvSpPr txBox="1"/>
          <p:nvPr>
            <p:ph idx="1" type="body"/>
          </p:nvPr>
        </p:nvSpPr>
        <p:spPr>
          <a:xfrm>
            <a:off x="311700" y="1225225"/>
            <a:ext cx="5369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</a:t>
            </a:r>
            <a:r>
              <a:rPr lang="en"/>
              <a:t>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lang="en"/>
              <a:t>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lang="en"/>
              <a:t>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refer to the number of mutuals as </a:t>
            </a:r>
            <a:r>
              <a:rPr b="1" lang="en"/>
              <a:t>N</a:t>
            </a:r>
            <a:r>
              <a:rPr b="1" baseline="-25000" lang="en"/>
              <a:t>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asymmetrics as </a:t>
            </a:r>
            <a:r>
              <a:rPr b="1" lang="en"/>
              <a:t>N</a:t>
            </a:r>
            <a:r>
              <a:rPr b="1" baseline="-25000" lang="en"/>
              <a:t>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nulls as </a:t>
            </a:r>
            <a:r>
              <a:rPr b="1" lang="en"/>
              <a:t>N</a:t>
            </a:r>
            <a:r>
              <a:rPr b="1" baseline="-25000" lang="en"/>
              <a:t>N</a:t>
            </a:r>
            <a:endParaRPr b="1"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89" name="Google Shape;1089;p6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0" name="Google Shape;1090;p6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1" name="Google Shape;1091;p6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2" name="Google Shape;1092;p6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3" name="Google Shape;1093;p6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94" name="Google Shape;1094;p63"/>
          <p:cNvCxnSpPr>
            <a:stCxn id="1088" idx="7"/>
            <a:endCxn id="109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63"/>
          <p:cNvCxnSpPr>
            <a:stCxn id="1091" idx="3"/>
            <a:endCxn id="108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63"/>
          <p:cNvCxnSpPr>
            <a:stCxn id="1093" idx="3"/>
            <a:endCxn id="109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63"/>
          <p:cNvCxnSpPr>
            <a:stCxn id="1089" idx="4"/>
            <a:endCxn id="109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63"/>
          <p:cNvCxnSpPr>
            <a:stCxn id="1088" idx="5"/>
            <a:endCxn id="109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63"/>
          <p:cNvCxnSpPr>
            <a:stCxn id="1088" idx="6"/>
            <a:endCxn id="108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63"/>
          <p:cNvCxnSpPr>
            <a:stCxn id="1090" idx="2"/>
            <a:endCxn id="109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3"/>
          <p:cNvCxnSpPr>
            <a:stCxn id="1091" idx="5"/>
            <a:endCxn id="109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63"/>
          <p:cNvCxnSpPr>
            <a:stCxn id="1089" idx="7"/>
            <a:endCxn id="109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3"/>
          <p:cNvCxnSpPr>
            <a:stCxn id="1093" idx="3"/>
            <a:endCxn id="109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3"/>
          <p:cNvCxnSpPr>
            <a:stCxn id="1089" idx="6"/>
            <a:endCxn id="109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63"/>
          <p:cNvCxnSpPr>
            <a:stCxn id="1093" idx="5"/>
            <a:endCxn id="109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106" name="Google Shape;1106;p63"/>
          <p:cNvGraphicFramePr/>
          <p:nvPr/>
        </p:nvGraphicFramePr>
        <p:xfrm>
          <a:off x="6072713" y="294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07" name="Google Shape;1107;p63"/>
          <p:cNvSpPr txBox="1"/>
          <p:nvPr/>
        </p:nvSpPr>
        <p:spPr>
          <a:xfrm>
            <a:off x="7115675" y="24666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113" name="Google Shape;1113;p64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4" name="Google Shape;1114;p64"/>
          <p:cNvGraphicFramePr/>
          <p:nvPr/>
        </p:nvGraphicFramePr>
        <p:xfrm>
          <a:off x="321336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5" name="Google Shape;1115;p64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16" name="Google Shape;1116;p64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4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9" name="Google Shape;1119;p6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0" name="Google Shape;1120;p6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1" name="Google Shape;1121;p6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2" name="Google Shape;1122;p6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3" name="Google Shape;1123;p6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4" name="Google Shape;1124;p64"/>
          <p:cNvCxnSpPr>
            <a:stCxn id="1118" idx="7"/>
            <a:endCxn id="112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64"/>
          <p:cNvCxnSpPr>
            <a:stCxn id="1121" idx="3"/>
            <a:endCxn id="111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64"/>
          <p:cNvCxnSpPr>
            <a:stCxn id="1123" idx="3"/>
            <a:endCxn id="112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64"/>
          <p:cNvCxnSpPr>
            <a:stCxn id="1119" idx="4"/>
            <a:endCxn id="112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64"/>
          <p:cNvCxnSpPr>
            <a:stCxn id="1118" idx="5"/>
            <a:endCxn id="112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64"/>
          <p:cNvCxnSpPr>
            <a:stCxn id="1118" idx="6"/>
            <a:endCxn id="111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64"/>
          <p:cNvCxnSpPr>
            <a:stCxn id="1120" idx="2"/>
            <a:endCxn id="112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64"/>
          <p:cNvCxnSpPr>
            <a:stCxn id="1121" idx="5"/>
            <a:endCxn id="112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64"/>
          <p:cNvCxnSpPr>
            <a:stCxn id="1119" idx="7"/>
            <a:endCxn id="112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64"/>
          <p:cNvCxnSpPr>
            <a:stCxn id="1123" idx="3"/>
            <a:endCxn id="112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64"/>
          <p:cNvCxnSpPr>
            <a:stCxn id="1119" idx="6"/>
            <a:endCxn id="112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5" name="Google Shape;1135;p64"/>
          <p:cNvCxnSpPr>
            <a:stCxn id="1123" idx="5"/>
            <a:endCxn id="112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36" name="Google Shape;1136;p64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an </a:t>
            </a:r>
            <a:r>
              <a:rPr b="1" lang="en"/>
              <a:t>asymmetric adjacency matrix</a:t>
            </a:r>
            <a:r>
              <a:rPr lang="en"/>
              <a:t> and its </a:t>
            </a:r>
            <a:r>
              <a:rPr b="1" lang="en"/>
              <a:t>transpose</a:t>
            </a:r>
            <a:r>
              <a:rPr lang="en"/>
              <a:t>?</a:t>
            </a:r>
            <a:endParaRPr/>
          </a:p>
        </p:txBody>
      </p:sp>
      <p:sp>
        <p:nvSpPr>
          <p:cNvPr id="1137" name="Google Shape;1137;p64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8" name="Google Shape;1138;p64"/>
          <p:cNvSpPr txBox="1"/>
          <p:nvPr/>
        </p:nvSpPr>
        <p:spPr>
          <a:xfrm>
            <a:off x="4239525" y="2160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9" name="Google Shape;1139;p64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A'= a_{ij}\times  a_{ji}&#10;%218c216a-8859-4b49-b53f-95548c8b22c5" id="1140" name="Google Shape;11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288" y="4561725"/>
            <a:ext cx="301942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146" name="Google Shape;1146;p65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7" name="Google Shape;1147;p65"/>
          <p:cNvGraphicFramePr/>
          <p:nvPr/>
        </p:nvGraphicFramePr>
        <p:xfrm>
          <a:off x="321336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8" name="Google Shape;1148;p65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49" name="Google Shape;1149;p65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5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2" name="Google Shape;1152;p6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3" name="Google Shape;1153;p6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4" name="Google Shape;1154;p6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5" name="Google Shape;1155;p6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6" name="Google Shape;1156;p6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57" name="Google Shape;1157;p65"/>
          <p:cNvCxnSpPr>
            <a:stCxn id="1151" idx="7"/>
            <a:endCxn id="115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5"/>
          <p:cNvCxnSpPr>
            <a:stCxn id="1154" idx="3"/>
            <a:endCxn id="115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65"/>
          <p:cNvCxnSpPr>
            <a:stCxn id="1156" idx="3"/>
            <a:endCxn id="115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65"/>
          <p:cNvCxnSpPr>
            <a:stCxn id="1152" idx="4"/>
            <a:endCxn id="115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1" name="Google Shape;1161;p65"/>
          <p:cNvCxnSpPr>
            <a:stCxn id="1151" idx="5"/>
            <a:endCxn id="115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65"/>
          <p:cNvCxnSpPr>
            <a:stCxn id="1151" idx="6"/>
            <a:endCxn id="115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3" name="Google Shape;1163;p65"/>
          <p:cNvCxnSpPr>
            <a:stCxn id="1153" idx="2"/>
            <a:endCxn id="115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4" name="Google Shape;1164;p65"/>
          <p:cNvCxnSpPr>
            <a:stCxn id="1154" idx="5"/>
            <a:endCxn id="115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5" name="Google Shape;1165;p65"/>
          <p:cNvCxnSpPr>
            <a:stCxn id="1152" idx="7"/>
            <a:endCxn id="115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65"/>
          <p:cNvCxnSpPr>
            <a:stCxn id="1156" idx="3"/>
            <a:endCxn id="115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65"/>
          <p:cNvCxnSpPr>
            <a:stCxn id="1152" idx="6"/>
            <a:endCxn id="115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65"/>
          <p:cNvCxnSpPr>
            <a:stCxn id="1156" idx="5"/>
            <a:endCxn id="115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69" name="Google Shape;1169;p65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mutual dyads</a:t>
            </a:r>
            <a:r>
              <a:rPr lang="en"/>
              <a:t> in the graph!</a:t>
            </a:r>
            <a:endParaRPr/>
          </a:p>
        </p:txBody>
      </p:sp>
      <p:sp>
        <p:nvSpPr>
          <p:cNvPr id="1170" name="Google Shape;1170;p65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1" name="Google Shape;1171;p65"/>
          <p:cNvSpPr txBox="1"/>
          <p:nvPr/>
        </p:nvSpPr>
        <p:spPr>
          <a:xfrm>
            <a:off x="4239525" y="2160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2" name="Google Shape;1172;p65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A'= a_{ij}\times  a_{ji}&#10;%218c216a-8859-4b49-b53f-95548c8b22c5" id="1173" name="Google Shape;11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288" y="4561725"/>
            <a:ext cx="301942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179" name="Google Shape;1179;p66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0" name="Google Shape;1180;p66"/>
          <p:cNvGraphicFramePr/>
          <p:nvPr/>
        </p:nvGraphicFramePr>
        <p:xfrm>
          <a:off x="321336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1" name="Google Shape;1181;p66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82" name="Google Shape;1182;p66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6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5" name="Google Shape;1185;p6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6" name="Google Shape;1186;p6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7" name="Google Shape;1187;p6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8" name="Google Shape;1188;p6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9" name="Google Shape;1189;p6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0" name="Google Shape;1190;p66"/>
          <p:cNvCxnSpPr>
            <a:stCxn id="1184" idx="7"/>
            <a:endCxn id="118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1" name="Google Shape;1191;p66"/>
          <p:cNvCxnSpPr>
            <a:stCxn id="1187" idx="3"/>
            <a:endCxn id="118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66"/>
          <p:cNvCxnSpPr>
            <a:stCxn id="1189" idx="3"/>
            <a:endCxn id="118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3" name="Google Shape;1193;p66"/>
          <p:cNvCxnSpPr>
            <a:stCxn id="1185" idx="4"/>
            <a:endCxn id="118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66"/>
          <p:cNvCxnSpPr>
            <a:stCxn id="1184" idx="5"/>
            <a:endCxn id="118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66"/>
          <p:cNvCxnSpPr>
            <a:stCxn id="1184" idx="6"/>
            <a:endCxn id="118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66"/>
          <p:cNvCxnSpPr>
            <a:stCxn id="1186" idx="2"/>
            <a:endCxn id="118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66"/>
          <p:cNvCxnSpPr>
            <a:stCxn id="1187" idx="5"/>
            <a:endCxn id="118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66"/>
          <p:cNvCxnSpPr>
            <a:stCxn id="1185" idx="7"/>
            <a:endCxn id="118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66"/>
          <p:cNvCxnSpPr>
            <a:stCxn id="1189" idx="3"/>
            <a:endCxn id="118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66"/>
          <p:cNvCxnSpPr>
            <a:stCxn id="1185" idx="6"/>
            <a:endCxn id="118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66"/>
          <p:cNvCxnSpPr>
            <a:stCxn id="1189" idx="5"/>
            <a:endCxn id="118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2" name="Google Shape;1202;p66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mutual dyads</a:t>
            </a:r>
            <a:r>
              <a:rPr lang="en"/>
              <a:t> in the graph!</a:t>
            </a:r>
            <a:endParaRPr/>
          </a:p>
        </p:txBody>
      </p:sp>
      <p:sp>
        <p:nvSpPr>
          <p:cNvPr id="1203" name="Google Shape;1203;p66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4" name="Google Shape;1204;p66"/>
          <p:cNvSpPr txBox="1"/>
          <p:nvPr/>
        </p:nvSpPr>
        <p:spPr>
          <a:xfrm>
            <a:off x="4239525" y="2160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5" name="Google Shape;1205;p66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A'= a_{ij}\times  a_{ji}&#10;%218c216a-8859-4b49-b53f-95548c8b22c5" id="1206" name="Google Shape;120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288" y="4561725"/>
            <a:ext cx="3019425" cy="44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7" name="Google Shape;1207;p66"/>
          <p:cNvCxnSpPr/>
          <p:nvPr/>
        </p:nvCxnSpPr>
        <p:spPr>
          <a:xfrm>
            <a:off x="6413600" y="2666400"/>
            <a:ext cx="2445900" cy="187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213" name="Google Shape;1213;p67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14" name="Google Shape;1214;p6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5" name="Google Shape;1215;p6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6" name="Google Shape;1216;p6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7" name="Google Shape;1217;p6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8" name="Google Shape;1218;p6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9" name="Google Shape;1219;p6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0" name="Google Shape;1220;p67"/>
          <p:cNvCxnSpPr>
            <a:stCxn id="1214" idx="7"/>
            <a:endCxn id="121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67"/>
          <p:cNvCxnSpPr>
            <a:stCxn id="1217" idx="3"/>
            <a:endCxn id="121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2" name="Google Shape;1222;p67"/>
          <p:cNvCxnSpPr>
            <a:stCxn id="1219" idx="3"/>
            <a:endCxn id="121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3" name="Google Shape;1223;p67"/>
          <p:cNvCxnSpPr>
            <a:stCxn id="1215" idx="4"/>
            <a:endCxn id="121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4" name="Google Shape;1224;p67"/>
          <p:cNvCxnSpPr>
            <a:stCxn id="1214" idx="5"/>
            <a:endCxn id="121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67"/>
          <p:cNvCxnSpPr>
            <a:stCxn id="1214" idx="6"/>
            <a:endCxn id="121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67"/>
          <p:cNvCxnSpPr>
            <a:stCxn id="1216" idx="2"/>
            <a:endCxn id="121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7" name="Google Shape;1227;p67"/>
          <p:cNvCxnSpPr>
            <a:stCxn id="1217" idx="5"/>
            <a:endCxn id="121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67"/>
          <p:cNvCxnSpPr>
            <a:stCxn id="1215" idx="7"/>
            <a:endCxn id="121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67"/>
          <p:cNvCxnSpPr>
            <a:stCxn id="1219" idx="3"/>
            <a:endCxn id="121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67"/>
          <p:cNvCxnSpPr>
            <a:stCxn id="1215" idx="6"/>
            <a:endCxn id="121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67"/>
          <p:cNvCxnSpPr>
            <a:stCxn id="1219" idx="5"/>
            <a:endCxn id="121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32" name="Google Shape;1232;p67"/>
          <p:cNvSpPr txBox="1"/>
          <p:nvPr>
            <p:ph idx="1" type="body"/>
          </p:nvPr>
        </p:nvSpPr>
        <p:spPr>
          <a:xfrm>
            <a:off x="311700" y="1225225"/>
            <a:ext cx="5556600" cy="32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mutual dyads</a:t>
            </a:r>
            <a:r>
              <a:rPr lang="en"/>
              <a:t>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mutual dyads</a:t>
            </a:r>
            <a:r>
              <a:rPr lang="en"/>
              <a:t> (N</a:t>
            </a:r>
            <a:r>
              <a:rPr baseline="-25000" lang="en"/>
              <a:t>M</a:t>
            </a:r>
            <a:r>
              <a:rPr lang="en"/>
              <a:t>) in the graph is just the sum of cells of the </a:t>
            </a:r>
            <a:r>
              <a:rPr b="1" lang="en"/>
              <a:t>M</a:t>
            </a:r>
            <a:r>
              <a:rPr lang="en"/>
              <a:t> matrix divided by two!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67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A'= a_{ij}\times  a_{ji}&#10;%218c216a-8859-4b49-b53f-95548c8b22c5" id="1234" name="Google Shape;123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288" y="4561725"/>
            <a:ext cx="30194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M=\frac{\sum_i\sum_j m_{ij}}{2}&#10;%6323ab66-482b-492d-ae61-cae581e13475" id="1235" name="Google Shape;123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250" y="2941200"/>
            <a:ext cx="1906524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241" name="Google Shape;1241;p68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42" name="Google Shape;1242;p6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3" name="Google Shape;1243;p6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4" name="Google Shape;1244;p6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5" name="Google Shape;1245;p6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6" name="Google Shape;1246;p6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7" name="Google Shape;1247;p6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8" name="Google Shape;1248;p68"/>
          <p:cNvCxnSpPr>
            <a:stCxn id="1242" idx="7"/>
            <a:endCxn id="124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68"/>
          <p:cNvCxnSpPr>
            <a:stCxn id="1245" idx="3"/>
            <a:endCxn id="124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68"/>
          <p:cNvCxnSpPr>
            <a:stCxn id="1247" idx="3"/>
            <a:endCxn id="124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68"/>
          <p:cNvCxnSpPr>
            <a:stCxn id="1243" idx="4"/>
            <a:endCxn id="124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68"/>
          <p:cNvCxnSpPr>
            <a:stCxn id="1242" idx="5"/>
            <a:endCxn id="124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68"/>
          <p:cNvCxnSpPr>
            <a:stCxn id="1242" idx="6"/>
            <a:endCxn id="124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68"/>
          <p:cNvCxnSpPr>
            <a:stCxn id="1244" idx="2"/>
            <a:endCxn id="124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68"/>
          <p:cNvCxnSpPr>
            <a:stCxn id="1245" idx="5"/>
            <a:endCxn id="124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68"/>
          <p:cNvCxnSpPr>
            <a:stCxn id="1243" idx="7"/>
            <a:endCxn id="124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68"/>
          <p:cNvCxnSpPr>
            <a:stCxn id="1247" idx="3"/>
            <a:endCxn id="124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68"/>
          <p:cNvCxnSpPr>
            <a:stCxn id="1243" idx="6"/>
            <a:endCxn id="124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68"/>
          <p:cNvCxnSpPr>
            <a:stCxn id="1247" idx="5"/>
            <a:endCxn id="124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60" name="Google Shape;1260;p68"/>
          <p:cNvSpPr txBox="1"/>
          <p:nvPr>
            <p:ph idx="1" type="body"/>
          </p:nvPr>
        </p:nvSpPr>
        <p:spPr>
          <a:xfrm>
            <a:off x="311700" y="1225225"/>
            <a:ext cx="5556600" cy="32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mutual dyads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mutual dyads</a:t>
            </a:r>
            <a:r>
              <a:rPr lang="en"/>
              <a:t> (N</a:t>
            </a:r>
            <a:r>
              <a:rPr baseline="-25000" lang="en"/>
              <a:t>M</a:t>
            </a:r>
            <a:r>
              <a:rPr lang="en"/>
              <a:t>) in the graph is just the sum of cells of the </a:t>
            </a:r>
            <a:r>
              <a:rPr b="1" lang="en"/>
              <a:t>M</a:t>
            </a:r>
            <a:r>
              <a:rPr lang="en"/>
              <a:t> matrix divided by two!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68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A'= a_{ij}\times  a_{ji}&#10;%218c216a-8859-4b49-b53f-95548c8b22c5" id="1262" name="Google Shape;126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288" y="4561725"/>
            <a:ext cx="30194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M=\frac{4}{2} = 2&#10;%fd16154e-8c7c-4344-8b77-d7fae225d719" id="1263" name="Google Shape;126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250" y="3622150"/>
            <a:ext cx="14382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M=\frac{\sum_i\sum_j m_{ij}}{2}&#10;%6323ab66-482b-492d-ae61-cae581e13475" id="1264" name="Google Shape;126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3250" y="2941200"/>
            <a:ext cx="1906524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270" name="Google Shape;1270;p69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an </a:t>
            </a:r>
            <a:r>
              <a:rPr b="1" lang="en"/>
              <a:t>asymmetric adjacency matrix</a:t>
            </a:r>
            <a:r>
              <a:rPr lang="en"/>
              <a:t> and </a:t>
            </a:r>
            <a:r>
              <a:rPr b="1" lang="en"/>
              <a:t>one minus</a:t>
            </a:r>
            <a:r>
              <a:rPr lang="en"/>
              <a:t> its </a:t>
            </a:r>
            <a:r>
              <a:rPr b="1" lang="en"/>
              <a:t>transpose</a:t>
            </a:r>
            <a:r>
              <a:rPr lang="en"/>
              <a:t>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69"/>
          <p:cNvSpPr txBox="1"/>
          <p:nvPr/>
        </p:nvSpPr>
        <p:spPr>
          <a:xfrm>
            <a:off x="1335024" y="2160925"/>
            <a:ext cx="4983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A'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272" name="Google Shape;1272;p69"/>
          <p:cNvGraphicFramePr/>
          <p:nvPr/>
        </p:nvGraphicFramePr>
        <p:xfrm>
          <a:off x="327493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3" name="Google Shape;1273;p69"/>
          <p:cNvSpPr txBox="1"/>
          <p:nvPr/>
        </p:nvSpPr>
        <p:spPr>
          <a:xfrm>
            <a:off x="3896475" y="2160925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(1 - A')= a_{ij}\times (1 - a_{ji})&#10;%ccf1eef6-65c6-40b7-8a5a-5435c8a0a13d" id="1274" name="Google Shape;127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6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6" name="Google Shape;1276;p6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7" name="Google Shape;1277;p6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8" name="Google Shape;1278;p6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9" name="Google Shape;1279;p6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0" name="Google Shape;1280;p6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1" name="Google Shape;1281;p69"/>
          <p:cNvCxnSpPr>
            <a:stCxn id="1275" idx="7"/>
            <a:endCxn id="127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69"/>
          <p:cNvCxnSpPr>
            <a:stCxn id="1278" idx="3"/>
            <a:endCxn id="127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69"/>
          <p:cNvCxnSpPr>
            <a:stCxn id="1280" idx="3"/>
            <a:endCxn id="127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4" name="Google Shape;1284;p69"/>
          <p:cNvCxnSpPr>
            <a:stCxn id="1276" idx="4"/>
            <a:endCxn id="127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5" name="Google Shape;1285;p69"/>
          <p:cNvCxnSpPr>
            <a:stCxn id="1275" idx="5"/>
            <a:endCxn id="127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6" name="Google Shape;1286;p69"/>
          <p:cNvCxnSpPr>
            <a:stCxn id="1275" idx="6"/>
            <a:endCxn id="127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7" name="Google Shape;1287;p69"/>
          <p:cNvCxnSpPr>
            <a:stCxn id="1277" idx="2"/>
            <a:endCxn id="127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8" name="Google Shape;1288;p69"/>
          <p:cNvCxnSpPr>
            <a:stCxn id="1278" idx="5"/>
            <a:endCxn id="128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69"/>
          <p:cNvCxnSpPr>
            <a:stCxn id="1276" idx="7"/>
            <a:endCxn id="127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69"/>
          <p:cNvCxnSpPr>
            <a:stCxn id="1280" idx="3"/>
            <a:endCxn id="127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69"/>
          <p:cNvCxnSpPr>
            <a:stCxn id="1276" idx="6"/>
            <a:endCxn id="128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2" name="Google Shape;1292;p69"/>
          <p:cNvCxnSpPr>
            <a:stCxn id="1280" idx="5"/>
            <a:endCxn id="127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293" name="Google Shape;1293;p69"/>
          <p:cNvGraphicFramePr/>
          <p:nvPr/>
        </p:nvGraphicFramePr>
        <p:xfrm>
          <a:off x="292608" y="264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299" name="Google Shape;1299;p70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00" name="Google Shape;1300;p70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0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70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an </a:t>
            </a:r>
            <a:r>
              <a:rPr b="1" lang="en"/>
              <a:t>asymmetric adjacency matrix</a:t>
            </a:r>
            <a:r>
              <a:rPr lang="en"/>
              <a:t> and </a:t>
            </a:r>
            <a:r>
              <a:rPr b="1" lang="en"/>
              <a:t>one minus</a:t>
            </a:r>
            <a:r>
              <a:rPr lang="en"/>
              <a:t> its </a:t>
            </a:r>
            <a:r>
              <a:rPr b="1" lang="en"/>
              <a:t>transpose</a:t>
            </a:r>
            <a:r>
              <a:rPr lang="en"/>
              <a:t>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70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04" name="Google Shape;1304;p70"/>
          <p:cNvGraphicFramePr/>
          <p:nvPr/>
        </p:nvGraphicFramePr>
        <p:xfrm>
          <a:off x="327493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5" name="Google Shape;1305;p70"/>
          <p:cNvSpPr txBox="1"/>
          <p:nvPr/>
        </p:nvSpPr>
        <p:spPr>
          <a:xfrm>
            <a:off x="3896475" y="2160925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(1 - A')= a_{ij}\times (1 - a_{ji})&#10;%ccf1eef6-65c6-40b7-8a5a-5435c8a0a13d" id="1306" name="Google Shape;13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7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8" name="Google Shape;1308;p7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9" name="Google Shape;1309;p7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0" name="Google Shape;1310;p7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1" name="Google Shape;1311;p7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2" name="Google Shape;1312;p7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3" name="Google Shape;1313;p70"/>
          <p:cNvCxnSpPr>
            <a:stCxn id="1307" idx="7"/>
            <a:endCxn id="131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70"/>
          <p:cNvCxnSpPr>
            <a:stCxn id="1310" idx="3"/>
            <a:endCxn id="130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70"/>
          <p:cNvCxnSpPr>
            <a:stCxn id="1312" idx="3"/>
            <a:endCxn id="130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70"/>
          <p:cNvCxnSpPr>
            <a:stCxn id="1308" idx="4"/>
            <a:endCxn id="131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7" name="Google Shape;1317;p70"/>
          <p:cNvCxnSpPr>
            <a:stCxn id="1307" idx="5"/>
            <a:endCxn id="131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70"/>
          <p:cNvCxnSpPr>
            <a:stCxn id="1307" idx="6"/>
            <a:endCxn id="130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9" name="Google Shape;1319;p70"/>
          <p:cNvCxnSpPr>
            <a:stCxn id="1309" idx="2"/>
            <a:endCxn id="131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0" name="Google Shape;1320;p70"/>
          <p:cNvCxnSpPr>
            <a:stCxn id="1310" idx="5"/>
            <a:endCxn id="131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1" name="Google Shape;1321;p70"/>
          <p:cNvCxnSpPr>
            <a:stCxn id="1308" idx="7"/>
            <a:endCxn id="131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2" name="Google Shape;1322;p70"/>
          <p:cNvCxnSpPr>
            <a:stCxn id="1312" idx="3"/>
            <a:endCxn id="131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70"/>
          <p:cNvCxnSpPr>
            <a:stCxn id="1308" idx="6"/>
            <a:endCxn id="131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4" name="Google Shape;1324;p70"/>
          <p:cNvCxnSpPr>
            <a:stCxn id="1312" idx="5"/>
            <a:endCxn id="130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330" name="Google Shape;1330;p71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31" name="Google Shape;1331;p71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71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1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an </a:t>
            </a:r>
            <a:r>
              <a:rPr b="1" lang="en"/>
              <a:t>asymmetric adjacency matrix</a:t>
            </a:r>
            <a:r>
              <a:rPr lang="en"/>
              <a:t> and </a:t>
            </a:r>
            <a:r>
              <a:rPr b="1" lang="en"/>
              <a:t>one minus</a:t>
            </a:r>
            <a:r>
              <a:rPr lang="en"/>
              <a:t> its </a:t>
            </a:r>
            <a:r>
              <a:rPr b="1" lang="en"/>
              <a:t>transpose</a:t>
            </a:r>
            <a:r>
              <a:rPr lang="en"/>
              <a:t>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71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35" name="Google Shape;1335;p71"/>
          <p:cNvGraphicFramePr/>
          <p:nvPr/>
        </p:nvGraphicFramePr>
        <p:xfrm>
          <a:off x="327493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6" name="Google Shape;1336;p71"/>
          <p:cNvSpPr txBox="1"/>
          <p:nvPr/>
        </p:nvSpPr>
        <p:spPr>
          <a:xfrm>
            <a:off x="3896475" y="2160925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(1 - A')= a_{ij}\times (1 - a_{ji})&#10;%ccf1eef6-65c6-40b7-8a5a-5435c8a0a13d" id="1337" name="Google Shape;133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7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39" name="Google Shape;1339;p7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0" name="Google Shape;1340;p7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1" name="Google Shape;1341;p7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2" name="Google Shape;1342;p7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3" name="Google Shape;1343;p7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4" name="Google Shape;1344;p71"/>
          <p:cNvCxnSpPr>
            <a:stCxn id="1338" idx="7"/>
            <a:endCxn id="134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5" name="Google Shape;1345;p71"/>
          <p:cNvCxnSpPr>
            <a:stCxn id="1341" idx="3"/>
            <a:endCxn id="133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6" name="Google Shape;1346;p71"/>
          <p:cNvCxnSpPr>
            <a:stCxn id="1343" idx="3"/>
            <a:endCxn id="134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7" name="Google Shape;1347;p71"/>
          <p:cNvCxnSpPr>
            <a:stCxn id="1339" idx="4"/>
            <a:endCxn id="134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8" name="Google Shape;1348;p71"/>
          <p:cNvCxnSpPr>
            <a:stCxn id="1338" idx="5"/>
            <a:endCxn id="134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9" name="Google Shape;1349;p71"/>
          <p:cNvCxnSpPr>
            <a:stCxn id="1338" idx="6"/>
            <a:endCxn id="133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71"/>
          <p:cNvCxnSpPr>
            <a:stCxn id="1340" idx="2"/>
            <a:endCxn id="134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71"/>
          <p:cNvCxnSpPr>
            <a:stCxn id="1341" idx="5"/>
            <a:endCxn id="134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71"/>
          <p:cNvCxnSpPr>
            <a:stCxn id="1339" idx="7"/>
            <a:endCxn id="134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3" name="Google Shape;1353;p71"/>
          <p:cNvCxnSpPr>
            <a:stCxn id="1343" idx="3"/>
            <a:endCxn id="134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4" name="Google Shape;1354;p71"/>
          <p:cNvCxnSpPr>
            <a:stCxn id="1339" idx="6"/>
            <a:endCxn id="134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71"/>
          <p:cNvCxnSpPr>
            <a:stCxn id="1343" idx="5"/>
            <a:endCxn id="134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56" name="Google Shape;1356;p71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7" name="Google Shape;1357;p71"/>
          <p:cNvSpPr txBox="1"/>
          <p:nvPr/>
        </p:nvSpPr>
        <p:spPr>
          <a:xfrm>
            <a:off x="7482400" y="21519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363" name="Google Shape;1363;p72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64" name="Google Shape;1364;p72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72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asymmetric</a:t>
            </a:r>
            <a:r>
              <a:rPr lang="en"/>
              <a:t> </a:t>
            </a:r>
            <a:r>
              <a:rPr b="1" lang="en"/>
              <a:t>dyads</a:t>
            </a:r>
            <a:r>
              <a:rPr lang="en"/>
              <a:t> in the graph!</a:t>
            </a:r>
            <a:endParaRPr/>
          </a:p>
        </p:txBody>
      </p:sp>
      <p:sp>
        <p:nvSpPr>
          <p:cNvPr id="1366" name="Google Shape;1366;p72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67" name="Google Shape;1367;p72"/>
          <p:cNvGraphicFramePr/>
          <p:nvPr/>
        </p:nvGraphicFramePr>
        <p:xfrm>
          <a:off x="327493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8" name="Google Shape;1368;p72"/>
          <p:cNvSpPr txBox="1"/>
          <p:nvPr/>
        </p:nvSpPr>
        <p:spPr>
          <a:xfrm>
            <a:off x="3896475" y="2160925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(1 - A')= a_{ij}\times (1 - a_{ji})&#10;%ccf1eef6-65c6-40b7-8a5a-5435c8a0a13d" id="1369" name="Google Shape;13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7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1" name="Google Shape;1371;p7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2" name="Google Shape;1372;p7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3" name="Google Shape;1373;p7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4" name="Google Shape;1374;p7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5" name="Google Shape;1375;p7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6" name="Google Shape;1376;p72"/>
          <p:cNvCxnSpPr>
            <a:stCxn id="1370" idx="7"/>
            <a:endCxn id="137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72"/>
          <p:cNvCxnSpPr>
            <a:stCxn id="1373" idx="3"/>
            <a:endCxn id="137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8" name="Google Shape;1378;p72"/>
          <p:cNvCxnSpPr>
            <a:stCxn id="1375" idx="3"/>
            <a:endCxn id="137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9" name="Google Shape;1379;p72"/>
          <p:cNvCxnSpPr>
            <a:stCxn id="1371" idx="4"/>
            <a:endCxn id="137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72"/>
          <p:cNvCxnSpPr>
            <a:stCxn id="1370" idx="5"/>
            <a:endCxn id="137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1" name="Google Shape;1381;p72"/>
          <p:cNvCxnSpPr>
            <a:stCxn id="1370" idx="6"/>
            <a:endCxn id="137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72"/>
          <p:cNvCxnSpPr>
            <a:stCxn id="1372" idx="2"/>
            <a:endCxn id="137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72"/>
          <p:cNvCxnSpPr>
            <a:stCxn id="1373" idx="5"/>
            <a:endCxn id="137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72"/>
          <p:cNvCxnSpPr>
            <a:stCxn id="1371" idx="7"/>
            <a:endCxn id="137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5" name="Google Shape;1385;p72"/>
          <p:cNvCxnSpPr>
            <a:stCxn id="1375" idx="3"/>
            <a:endCxn id="137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6" name="Google Shape;1386;p72"/>
          <p:cNvCxnSpPr>
            <a:stCxn id="1371" idx="6"/>
            <a:endCxn id="137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72"/>
          <p:cNvCxnSpPr>
            <a:stCxn id="1375" idx="5"/>
            <a:endCxn id="137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88" name="Google Shape;1388;p72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9" name="Google Shape;1389;p72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0" name="Google Shape;1390;p72"/>
          <p:cNvCxnSpPr/>
          <p:nvPr/>
        </p:nvCxnSpPr>
        <p:spPr>
          <a:xfrm>
            <a:off x="6413600" y="2666400"/>
            <a:ext cx="2445900" cy="187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1" name="Google Shape;1391;p72"/>
          <p:cNvSpPr txBox="1"/>
          <p:nvPr/>
        </p:nvSpPr>
        <p:spPr>
          <a:xfrm>
            <a:off x="7482400" y="21519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1397" name="Google Shape;1397;p73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8" name="Google Shape;1398;p7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99" name="Google Shape;1399;p7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0" name="Google Shape;1400;p7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1" name="Google Shape;1401;p7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2" name="Google Shape;1402;p7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3" name="Google Shape;1403;p7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4" name="Google Shape;1404;p73"/>
          <p:cNvCxnSpPr>
            <a:stCxn id="1398" idx="7"/>
            <a:endCxn id="140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73"/>
          <p:cNvCxnSpPr>
            <a:stCxn id="1401" idx="3"/>
            <a:endCxn id="139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6" name="Google Shape;1406;p73"/>
          <p:cNvCxnSpPr>
            <a:stCxn id="1403" idx="3"/>
            <a:endCxn id="140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7" name="Google Shape;1407;p73"/>
          <p:cNvCxnSpPr>
            <a:stCxn id="1399" idx="4"/>
            <a:endCxn id="140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73"/>
          <p:cNvCxnSpPr>
            <a:stCxn id="1398" idx="5"/>
            <a:endCxn id="140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73"/>
          <p:cNvCxnSpPr>
            <a:stCxn id="1398" idx="6"/>
            <a:endCxn id="139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73"/>
          <p:cNvCxnSpPr>
            <a:stCxn id="1400" idx="2"/>
            <a:endCxn id="140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73"/>
          <p:cNvCxnSpPr>
            <a:stCxn id="1401" idx="5"/>
            <a:endCxn id="140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2" name="Google Shape;1412;p73"/>
          <p:cNvCxnSpPr>
            <a:stCxn id="1399" idx="7"/>
            <a:endCxn id="140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73"/>
          <p:cNvCxnSpPr>
            <a:stCxn id="1403" idx="3"/>
            <a:endCxn id="140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4" name="Google Shape;1414;p73"/>
          <p:cNvCxnSpPr>
            <a:stCxn id="1399" idx="6"/>
            <a:endCxn id="140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5" name="Google Shape;1415;p73"/>
          <p:cNvCxnSpPr>
            <a:stCxn id="1403" idx="5"/>
            <a:endCxn id="140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16" name="Google Shape;1416;p73"/>
          <p:cNvSpPr txBox="1"/>
          <p:nvPr>
            <p:ph idx="1" type="body"/>
          </p:nvPr>
        </p:nvSpPr>
        <p:spPr>
          <a:xfrm>
            <a:off x="311700" y="1225225"/>
            <a:ext cx="5556600" cy="33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asymmetric dyads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asymmetric dyads </a:t>
            </a:r>
            <a:r>
              <a:rPr lang="en"/>
              <a:t>(N</a:t>
            </a:r>
            <a:r>
              <a:rPr baseline="-25000" lang="en"/>
              <a:t>S</a:t>
            </a:r>
            <a:r>
              <a:rPr lang="en"/>
              <a:t>) in the graph is just the sum of cells of the </a:t>
            </a:r>
            <a:r>
              <a:rPr b="1" lang="en"/>
              <a:t>S </a:t>
            </a:r>
            <a:r>
              <a:rPr lang="en"/>
              <a:t>matrix!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3"/>
          <p:cNvSpPr txBox="1"/>
          <p:nvPr/>
        </p:nvSpPr>
        <p:spPr>
          <a:xfrm>
            <a:off x="7482400" y="21519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\circ (1 - A')= a_{ij}\times (1 - a_{ji})&#10;%ccf1eef6-65c6-40b7-8a5a-5435c8a0a13d" id="1418" name="Google Shape;141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A=\sum_i \sum_j s_{ij}&#10;%f85502f7-1b4c-4cbd-b5b8-1d2f05c2b98e" id="1419" name="Google Shape;141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150" y="3126300"/>
            <a:ext cx="1693926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425" name="Google Shape;1425;p7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6" name="Google Shape;1426;p7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7" name="Google Shape;1427;p7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8" name="Google Shape;1428;p7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9" name="Google Shape;1429;p7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0" name="Google Shape;1430;p7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1" name="Google Shape;1431;p74"/>
          <p:cNvCxnSpPr>
            <a:stCxn id="1425" idx="7"/>
            <a:endCxn id="142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2" name="Google Shape;1432;p74"/>
          <p:cNvCxnSpPr>
            <a:stCxn id="1428" idx="3"/>
            <a:endCxn id="142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74"/>
          <p:cNvCxnSpPr>
            <a:stCxn id="1430" idx="3"/>
            <a:endCxn id="142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4" name="Google Shape;1434;p74"/>
          <p:cNvCxnSpPr>
            <a:stCxn id="1426" idx="4"/>
            <a:endCxn id="142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5" name="Google Shape;1435;p74"/>
          <p:cNvCxnSpPr>
            <a:stCxn id="1425" idx="5"/>
            <a:endCxn id="142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6" name="Google Shape;1436;p74"/>
          <p:cNvCxnSpPr>
            <a:stCxn id="1425" idx="6"/>
            <a:endCxn id="142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7" name="Google Shape;1437;p74"/>
          <p:cNvCxnSpPr>
            <a:stCxn id="1427" idx="2"/>
            <a:endCxn id="142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8" name="Google Shape;1438;p74"/>
          <p:cNvCxnSpPr>
            <a:stCxn id="1428" idx="5"/>
            <a:endCxn id="143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9" name="Google Shape;1439;p74"/>
          <p:cNvCxnSpPr>
            <a:stCxn id="1426" idx="7"/>
            <a:endCxn id="142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0" name="Google Shape;1440;p74"/>
          <p:cNvCxnSpPr>
            <a:stCxn id="1430" idx="3"/>
            <a:endCxn id="142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1" name="Google Shape;1441;p74"/>
          <p:cNvCxnSpPr>
            <a:stCxn id="1426" idx="6"/>
            <a:endCxn id="143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2" name="Google Shape;1442;p74"/>
          <p:cNvCxnSpPr>
            <a:stCxn id="1430" idx="5"/>
            <a:endCxn id="142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43" name="Google Shape;1443;p74"/>
          <p:cNvSpPr txBox="1"/>
          <p:nvPr>
            <p:ph idx="1" type="body"/>
          </p:nvPr>
        </p:nvSpPr>
        <p:spPr>
          <a:xfrm>
            <a:off x="311700" y="1225225"/>
            <a:ext cx="5556600" cy="33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asymmetric dyads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asymmetric dyads </a:t>
            </a:r>
            <a:r>
              <a:rPr lang="en"/>
              <a:t>(N</a:t>
            </a:r>
            <a:r>
              <a:rPr baseline="-25000" lang="en"/>
              <a:t>S</a:t>
            </a:r>
            <a:r>
              <a:rPr lang="en"/>
              <a:t>) in the graph is just the sum of cells of the </a:t>
            </a:r>
            <a:r>
              <a:rPr b="1" lang="en"/>
              <a:t>S </a:t>
            </a:r>
            <a:r>
              <a:rPr lang="en"/>
              <a:t>matrix!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\circ (1 - A')= a_{ij}\times (1 - a_{ji})&#10;%ccf1eef6-65c6-40b7-8a5a-5435c8a0a13d" id="1444" name="Google Shape;14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313" y="4612250"/>
            <a:ext cx="3152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A=\sum_i \sum_j s_{ij}&#10;%f85502f7-1b4c-4cbd-b5b8-1d2f05c2b98e" id="1445" name="Google Shape;144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150" y="3126300"/>
            <a:ext cx="1693926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A = 8&#10;%a80078e1-d90d-4dcd-bddd-12c0793f3c8d" id="1446" name="Google Shape;144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150" y="3823700"/>
            <a:ext cx="809701" cy="2103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7" name="Google Shape;1447;p74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8" name="Google Shape;1448;p74"/>
          <p:cNvSpPr txBox="1"/>
          <p:nvPr/>
        </p:nvSpPr>
        <p:spPr>
          <a:xfrm>
            <a:off x="7482400" y="21519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454" name="Google Shape;1454;p75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55" name="Google Shape;1455;p75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</a:t>
            </a:r>
            <a:r>
              <a:rPr lang="en"/>
              <a:t>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lang="en"/>
              <a:t>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lang="en"/>
              <a:t>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A</a:t>
            </a:r>
            <a:r>
              <a:rPr lang="en"/>
              <a:t>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</a:t>
            </a:r>
            <a:r>
              <a:rPr b="1" lang="en"/>
              <a:t>N</a:t>
            </a:r>
            <a:r>
              <a:rPr b="1" baseline="-25000" lang="en"/>
              <a:t>N</a:t>
            </a:r>
            <a:r>
              <a:rPr lang="en"/>
              <a:t>?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7" name="Google Shape;1457;p7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8" name="Google Shape;1458;p7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9" name="Google Shape;1459;p7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60" name="Google Shape;1460;p7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61" name="Google Shape;1461;p7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2" name="Google Shape;1462;p75"/>
          <p:cNvCxnSpPr>
            <a:stCxn id="1456" idx="7"/>
            <a:endCxn id="145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75"/>
          <p:cNvCxnSpPr>
            <a:stCxn id="1459" idx="3"/>
            <a:endCxn id="145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75"/>
          <p:cNvCxnSpPr>
            <a:stCxn id="1461" idx="3"/>
            <a:endCxn id="145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75"/>
          <p:cNvCxnSpPr>
            <a:stCxn id="1457" idx="4"/>
            <a:endCxn id="146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75"/>
          <p:cNvCxnSpPr>
            <a:stCxn id="1456" idx="5"/>
            <a:endCxn id="146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75"/>
          <p:cNvCxnSpPr>
            <a:stCxn id="1456" idx="6"/>
            <a:endCxn id="145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8" name="Google Shape;1468;p75"/>
          <p:cNvCxnSpPr>
            <a:stCxn id="1458" idx="2"/>
            <a:endCxn id="146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9" name="Google Shape;1469;p75"/>
          <p:cNvCxnSpPr>
            <a:stCxn id="1459" idx="5"/>
            <a:endCxn id="146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0" name="Google Shape;1470;p75"/>
          <p:cNvCxnSpPr>
            <a:stCxn id="1457" idx="7"/>
            <a:endCxn id="145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1" name="Google Shape;1471;p75"/>
          <p:cNvCxnSpPr>
            <a:stCxn id="1461" idx="3"/>
            <a:endCxn id="146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2" name="Google Shape;1472;p75"/>
          <p:cNvCxnSpPr>
            <a:stCxn id="1457" idx="6"/>
            <a:endCxn id="146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3" name="Google Shape;1473;p75"/>
          <p:cNvCxnSpPr>
            <a:stCxn id="1461" idx="5"/>
            <a:endCxn id="145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4" name="Google Shape;1474;p75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75" name="Google Shape;1475;p75"/>
          <p:cNvGraphicFramePr/>
          <p:nvPr/>
        </p:nvGraphicFramePr>
        <p:xfrm>
          <a:off x="36549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76" name="Google Shape;1476;p75"/>
          <p:cNvSpPr txBox="1"/>
          <p:nvPr/>
        </p:nvSpPr>
        <p:spPr>
          <a:xfrm>
            <a:off x="46979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482" name="Google Shape;1482;p76"/>
          <p:cNvSpPr txBox="1"/>
          <p:nvPr>
            <p:ph idx="1" type="body"/>
          </p:nvPr>
        </p:nvSpPr>
        <p:spPr>
          <a:xfrm>
            <a:off x="311700" y="1225225"/>
            <a:ext cx="62370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</a:t>
            </a:r>
            <a:r>
              <a:rPr b="1" lang="en"/>
              <a:t>one minus</a:t>
            </a:r>
            <a:r>
              <a:rPr lang="en"/>
              <a:t> the </a:t>
            </a:r>
            <a:r>
              <a:rPr b="1" lang="en"/>
              <a:t>asymmetric adjacency matrix </a:t>
            </a:r>
            <a:r>
              <a:rPr lang="en"/>
              <a:t>and </a:t>
            </a:r>
            <a:r>
              <a:rPr b="1" lang="en"/>
              <a:t>one minus</a:t>
            </a:r>
            <a:r>
              <a:rPr lang="en"/>
              <a:t> its </a:t>
            </a:r>
            <a:r>
              <a:rPr b="1" lang="en"/>
              <a:t>transpose?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7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4" name="Google Shape;1484;p7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5" name="Google Shape;1485;p7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6" name="Google Shape;1486;p7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7" name="Google Shape;1487;p7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8" name="Google Shape;1488;p76"/>
          <p:cNvCxnSpPr>
            <a:stCxn id="1483" idx="7"/>
            <a:endCxn id="148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9" name="Google Shape;1489;p76"/>
          <p:cNvCxnSpPr>
            <a:stCxn id="1486" idx="3"/>
            <a:endCxn id="148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0" name="Google Shape;1490;p76"/>
          <p:cNvCxnSpPr>
            <a:stCxn id="1487" idx="3"/>
            <a:endCxn id="148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1" name="Google Shape;1491;p76"/>
          <p:cNvCxnSpPr>
            <a:stCxn id="1484" idx="4"/>
            <a:endCxn id="149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3" name="Google Shape;1493;p76"/>
          <p:cNvCxnSpPr>
            <a:stCxn id="1483" idx="5"/>
            <a:endCxn id="149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4" name="Google Shape;1494;p76"/>
          <p:cNvCxnSpPr>
            <a:stCxn id="1483" idx="6"/>
            <a:endCxn id="148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5" name="Google Shape;1495;p76"/>
          <p:cNvCxnSpPr>
            <a:stCxn id="1485" idx="2"/>
            <a:endCxn id="149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6" name="Google Shape;1496;p76"/>
          <p:cNvCxnSpPr>
            <a:stCxn id="1486" idx="5"/>
            <a:endCxn id="148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7" name="Google Shape;1497;p76"/>
          <p:cNvCxnSpPr>
            <a:stCxn id="1484" idx="7"/>
            <a:endCxn id="148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8" name="Google Shape;1498;p76"/>
          <p:cNvCxnSpPr>
            <a:stCxn id="1487" idx="3"/>
            <a:endCxn id="149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76"/>
          <p:cNvCxnSpPr>
            <a:stCxn id="1484" idx="6"/>
            <a:endCxn id="148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76"/>
          <p:cNvCxnSpPr>
            <a:stCxn id="1487" idx="5"/>
            <a:endCxn id="148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01" name="Google Shape;1501;p76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2" name="Google Shape;1502;p76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3" name="Google Shape;1503;p76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04" name="Google Shape;1504;p76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5" name="Google Shape;1505;p76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6" name="Google Shape;1506;p76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7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pic>
        <p:nvPicPr>
          <p:cNvPr descr="(1-A)\circ(1-A')=(1-a_{ij})\times(1-a_{ji})&#10;%c570913e-f50f-4caf-b892-e59ab11e0dbb" id="1508" name="Google Shape;150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514" name="Google Shape;1514;p77"/>
          <p:cNvSpPr txBox="1"/>
          <p:nvPr>
            <p:ph idx="1" type="body"/>
          </p:nvPr>
        </p:nvSpPr>
        <p:spPr>
          <a:xfrm>
            <a:off x="311700" y="1225225"/>
            <a:ext cx="62370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</a:t>
            </a:r>
            <a:r>
              <a:rPr b="1" lang="en"/>
              <a:t>one minus</a:t>
            </a:r>
            <a:r>
              <a:rPr lang="en"/>
              <a:t> the </a:t>
            </a:r>
            <a:r>
              <a:rPr b="1" lang="en"/>
              <a:t>asymmetric adjacency matrix </a:t>
            </a:r>
            <a:r>
              <a:rPr lang="en"/>
              <a:t>and </a:t>
            </a:r>
            <a:r>
              <a:rPr b="1" lang="en"/>
              <a:t>one minus</a:t>
            </a:r>
            <a:r>
              <a:rPr lang="en"/>
              <a:t> its </a:t>
            </a:r>
            <a:r>
              <a:rPr b="1" lang="en"/>
              <a:t>transpose?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7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6" name="Google Shape;1516;p7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7" name="Google Shape;1517;p7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8" name="Google Shape;1518;p7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9" name="Google Shape;1519;p7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0" name="Google Shape;1520;p77"/>
          <p:cNvCxnSpPr>
            <a:stCxn id="1515" idx="7"/>
            <a:endCxn id="151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1" name="Google Shape;1521;p77"/>
          <p:cNvCxnSpPr>
            <a:stCxn id="1518" idx="3"/>
            <a:endCxn id="151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2" name="Google Shape;1522;p77"/>
          <p:cNvCxnSpPr>
            <a:stCxn id="1519" idx="3"/>
            <a:endCxn id="151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3" name="Google Shape;1523;p77"/>
          <p:cNvCxnSpPr>
            <a:stCxn id="1516" idx="4"/>
            <a:endCxn id="152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5" name="Google Shape;1525;p77"/>
          <p:cNvCxnSpPr>
            <a:stCxn id="1515" idx="5"/>
            <a:endCxn id="152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6" name="Google Shape;1526;p77"/>
          <p:cNvCxnSpPr>
            <a:stCxn id="1515" idx="6"/>
            <a:endCxn id="151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7" name="Google Shape;1527;p77"/>
          <p:cNvCxnSpPr>
            <a:stCxn id="1517" idx="2"/>
            <a:endCxn id="152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8" name="Google Shape;1528;p77"/>
          <p:cNvCxnSpPr>
            <a:stCxn id="1518" idx="5"/>
            <a:endCxn id="151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9" name="Google Shape;1529;p77"/>
          <p:cNvCxnSpPr>
            <a:stCxn id="1516" idx="7"/>
            <a:endCxn id="151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77"/>
          <p:cNvCxnSpPr>
            <a:stCxn id="1519" idx="3"/>
            <a:endCxn id="152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1" name="Google Shape;1531;p77"/>
          <p:cNvCxnSpPr>
            <a:stCxn id="1516" idx="6"/>
            <a:endCxn id="151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2" name="Google Shape;1532;p77"/>
          <p:cNvCxnSpPr>
            <a:stCxn id="1519" idx="5"/>
            <a:endCxn id="151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33" name="Google Shape;1533;p77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34" name="Google Shape;1534;p77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5" name="Google Shape;1535;p7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6" name="Google Shape;1536;p77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(1-A)\circ(1-A')=(1-a_{ij})\times(1-a_{ji})&#10;%c570913e-f50f-4caf-b892-e59ab11e0dbb" id="1537" name="Google Shape;153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8" name="Google Shape;1538;p77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9" name="Google Shape;1539;p77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0" name="Google Shape;1540;p77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1" name="Google Shape;1541;p77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2" name="Google Shape;1542;p77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548" name="Google Shape;1548;p7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9" name="Google Shape;1549;p7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0" name="Google Shape;1550;p7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1" name="Google Shape;1551;p7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2" name="Google Shape;1552;p7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3" name="Google Shape;1553;p78"/>
          <p:cNvCxnSpPr>
            <a:stCxn id="1548" idx="7"/>
            <a:endCxn id="155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4" name="Google Shape;1554;p78"/>
          <p:cNvCxnSpPr>
            <a:stCxn id="1551" idx="3"/>
            <a:endCxn id="154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5" name="Google Shape;1555;p78"/>
          <p:cNvCxnSpPr>
            <a:stCxn id="1552" idx="3"/>
            <a:endCxn id="155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6" name="Google Shape;1556;p78"/>
          <p:cNvCxnSpPr>
            <a:stCxn id="1549" idx="4"/>
            <a:endCxn id="155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78"/>
          <p:cNvCxnSpPr>
            <a:stCxn id="1548" idx="5"/>
            <a:endCxn id="155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78"/>
          <p:cNvCxnSpPr>
            <a:stCxn id="1548" idx="6"/>
            <a:endCxn id="154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0" name="Google Shape;1560;p78"/>
          <p:cNvCxnSpPr>
            <a:stCxn id="1550" idx="2"/>
            <a:endCxn id="155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78"/>
          <p:cNvCxnSpPr>
            <a:stCxn id="1551" idx="5"/>
            <a:endCxn id="155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2" name="Google Shape;1562;p78"/>
          <p:cNvCxnSpPr>
            <a:stCxn id="1549" idx="7"/>
            <a:endCxn id="155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3" name="Google Shape;1563;p78"/>
          <p:cNvCxnSpPr>
            <a:stCxn id="1552" idx="3"/>
            <a:endCxn id="155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4" name="Google Shape;1564;p78"/>
          <p:cNvCxnSpPr>
            <a:stCxn id="1549" idx="6"/>
            <a:endCxn id="155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5" name="Google Shape;1565;p78"/>
          <p:cNvCxnSpPr>
            <a:stCxn id="1552" idx="5"/>
            <a:endCxn id="155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66" name="Google Shape;1566;p78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7" name="Google Shape;1567;p78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8" name="Google Shape;1568;p78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69" name="Google Shape;1569;p78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0" name="Google Shape;1570;p78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1" name="Google Shape;1571;p78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73" name="Google Shape;1573;p78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4" name="Google Shape;1574;p78"/>
          <p:cNvSpPr txBox="1"/>
          <p:nvPr>
            <p:ph idx="1" type="body"/>
          </p:nvPr>
        </p:nvSpPr>
        <p:spPr>
          <a:xfrm>
            <a:off x="311700" y="1225225"/>
            <a:ext cx="55755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null dyads</a:t>
            </a:r>
            <a:r>
              <a:rPr lang="en"/>
              <a:t> in the graph!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(1-A)\circ(1-A')=(1-a_{ij})\times(1-a_{ji})&#10;%c570913e-f50f-4caf-b892-e59ab11e0dbb" id="1575" name="Google Shape;157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6" name="Google Shape;1576;p78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9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82" name="Google Shape;1582;p79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3" name="Google Shape;1583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584" name="Google Shape;1584;p7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85" name="Google Shape;1585;p7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86" name="Google Shape;1586;p7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87" name="Google Shape;1587;p7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88" name="Google Shape;1588;p7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89" name="Google Shape;1589;p79"/>
          <p:cNvCxnSpPr>
            <a:stCxn id="1584" idx="7"/>
            <a:endCxn id="158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0" name="Google Shape;1590;p79"/>
          <p:cNvCxnSpPr>
            <a:stCxn id="1587" idx="3"/>
            <a:endCxn id="158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1" name="Google Shape;1591;p79"/>
          <p:cNvCxnSpPr>
            <a:stCxn id="1588" idx="3"/>
            <a:endCxn id="158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2" name="Google Shape;1592;p79"/>
          <p:cNvCxnSpPr>
            <a:stCxn id="1585" idx="4"/>
            <a:endCxn id="15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4" name="Google Shape;1594;p79"/>
          <p:cNvCxnSpPr>
            <a:stCxn id="1584" idx="5"/>
            <a:endCxn id="15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5" name="Google Shape;1595;p79"/>
          <p:cNvCxnSpPr>
            <a:stCxn id="1584" idx="6"/>
            <a:endCxn id="158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79"/>
          <p:cNvCxnSpPr>
            <a:stCxn id="1586" idx="2"/>
            <a:endCxn id="15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79"/>
          <p:cNvCxnSpPr>
            <a:stCxn id="1587" idx="5"/>
            <a:endCxn id="158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79"/>
          <p:cNvCxnSpPr>
            <a:stCxn id="1585" idx="7"/>
            <a:endCxn id="158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79"/>
          <p:cNvCxnSpPr>
            <a:stCxn id="1588" idx="3"/>
            <a:endCxn id="15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0" name="Google Shape;1600;p79"/>
          <p:cNvCxnSpPr>
            <a:stCxn id="1585" idx="6"/>
            <a:endCxn id="158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1" name="Google Shape;1601;p79"/>
          <p:cNvCxnSpPr>
            <a:stCxn id="1588" idx="5"/>
            <a:endCxn id="158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2" name="Google Shape;1602;p79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03" name="Google Shape;1603;p79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4" name="Google Shape;1604;p79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05" name="Google Shape;1605;p79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6" name="Google Shape;1606;p79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7" name="Google Shape;1607;p79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7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09" name="Google Shape;1609;p79"/>
          <p:cNvSpPr txBox="1"/>
          <p:nvPr>
            <p:ph idx="1" type="body"/>
          </p:nvPr>
        </p:nvSpPr>
        <p:spPr>
          <a:xfrm>
            <a:off x="311700" y="1225225"/>
            <a:ext cx="55755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null dyads</a:t>
            </a:r>
            <a:r>
              <a:rPr lang="en"/>
              <a:t> in the graph!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(1-A)\circ(1-A')=(1-a_{ij})\times(1-a_{ji})&#10;%c570913e-f50f-4caf-b892-e59ab11e0dbb" id="1610" name="Google Shape;161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1" name="Google Shape;1611;p79"/>
          <p:cNvCxnSpPr/>
          <p:nvPr/>
        </p:nvCxnSpPr>
        <p:spPr>
          <a:xfrm>
            <a:off x="6376850" y="2718888"/>
            <a:ext cx="2445900" cy="187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617" name="Google Shape;1617;p80"/>
          <p:cNvSpPr txBox="1"/>
          <p:nvPr>
            <p:ph idx="1" type="body"/>
          </p:nvPr>
        </p:nvSpPr>
        <p:spPr>
          <a:xfrm>
            <a:off x="311700" y="1225225"/>
            <a:ext cx="55755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null dyads</a:t>
            </a:r>
            <a:r>
              <a:rPr lang="en"/>
              <a:t> in the graph!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8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19" name="Google Shape;1619;p8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0" name="Google Shape;1620;p8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1" name="Google Shape;1621;p8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2" name="Google Shape;1622;p8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23" name="Google Shape;1623;p80"/>
          <p:cNvCxnSpPr>
            <a:stCxn id="1618" idx="7"/>
            <a:endCxn id="162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4" name="Google Shape;1624;p80"/>
          <p:cNvCxnSpPr>
            <a:stCxn id="1621" idx="3"/>
            <a:endCxn id="161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5" name="Google Shape;1625;p80"/>
          <p:cNvCxnSpPr>
            <a:stCxn id="1622" idx="3"/>
            <a:endCxn id="162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6" name="Google Shape;1626;p80"/>
          <p:cNvCxnSpPr>
            <a:stCxn id="1619" idx="4"/>
            <a:endCxn id="162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8" name="Google Shape;1628;p80"/>
          <p:cNvCxnSpPr>
            <a:stCxn id="1618" idx="5"/>
            <a:endCxn id="162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80"/>
          <p:cNvCxnSpPr>
            <a:stCxn id="1618" idx="6"/>
            <a:endCxn id="161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0" name="Google Shape;1630;p80"/>
          <p:cNvCxnSpPr>
            <a:stCxn id="1620" idx="2"/>
            <a:endCxn id="162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1" name="Google Shape;1631;p80"/>
          <p:cNvCxnSpPr>
            <a:stCxn id="1621" idx="5"/>
            <a:endCxn id="162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2" name="Google Shape;1632;p80"/>
          <p:cNvCxnSpPr>
            <a:stCxn id="1619" idx="7"/>
            <a:endCxn id="162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3" name="Google Shape;1633;p80"/>
          <p:cNvCxnSpPr>
            <a:stCxn id="1622" idx="3"/>
            <a:endCxn id="162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4" name="Google Shape;1634;p80"/>
          <p:cNvCxnSpPr>
            <a:stCxn id="1619" idx="6"/>
            <a:endCxn id="162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5" name="Google Shape;1635;p80"/>
          <p:cNvCxnSpPr>
            <a:stCxn id="1622" idx="5"/>
            <a:endCxn id="162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36" name="Google Shape;1636;p80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37" name="Google Shape;1637;p80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8" name="Google Shape;1638;p80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39" name="Google Shape;1639;p80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0" name="Google Shape;1640;p80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1" name="Google Shape;1641;p80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2" name="Google Shape;1642;p80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3" name="Google Shape;1643;p8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44" name="Google Shape;1644;p80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(1-A)\circ(1-A')=(1-a_{ij})\times(1-a_{ji})&#10;%c570913e-f50f-4caf-b892-e59ab11e0dbb" id="1645" name="Google Shape;164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651" name="Google Shape;1651;p8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2" name="Google Shape;1652;p8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3" name="Google Shape;1653;p8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4" name="Google Shape;1654;p8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5" name="Google Shape;1655;p8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6" name="Google Shape;1656;p81"/>
          <p:cNvCxnSpPr>
            <a:stCxn id="1651" idx="7"/>
            <a:endCxn id="165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7" name="Google Shape;1657;p81"/>
          <p:cNvCxnSpPr>
            <a:stCxn id="1654" idx="3"/>
            <a:endCxn id="165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8" name="Google Shape;1658;p81"/>
          <p:cNvCxnSpPr>
            <a:stCxn id="1655" idx="3"/>
            <a:endCxn id="165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9" name="Google Shape;1659;p81"/>
          <p:cNvCxnSpPr>
            <a:stCxn id="1652" idx="4"/>
            <a:endCxn id="166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1" name="Google Shape;1661;p81"/>
          <p:cNvCxnSpPr>
            <a:stCxn id="1651" idx="5"/>
            <a:endCxn id="166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2" name="Google Shape;1662;p81"/>
          <p:cNvCxnSpPr>
            <a:stCxn id="1651" idx="6"/>
            <a:endCxn id="165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3" name="Google Shape;1663;p81"/>
          <p:cNvCxnSpPr>
            <a:stCxn id="1653" idx="2"/>
            <a:endCxn id="166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4" name="Google Shape;1664;p81"/>
          <p:cNvCxnSpPr>
            <a:stCxn id="1654" idx="5"/>
            <a:endCxn id="165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5" name="Google Shape;1665;p81"/>
          <p:cNvCxnSpPr>
            <a:stCxn id="1652" idx="7"/>
            <a:endCxn id="165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6" name="Google Shape;1666;p81"/>
          <p:cNvCxnSpPr>
            <a:stCxn id="1655" idx="3"/>
            <a:endCxn id="166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7" name="Google Shape;1667;p81"/>
          <p:cNvCxnSpPr>
            <a:stCxn id="1652" idx="6"/>
            <a:endCxn id="165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8" name="Google Shape;1668;p81"/>
          <p:cNvCxnSpPr>
            <a:stCxn id="1655" idx="5"/>
            <a:endCxn id="165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69" name="Google Shape;1669;p81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0" name="Google Shape;1670;p81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1" name="Google Shape;1671;p81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72" name="Google Shape;1672;p81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3" name="Google Shape;1673;p81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4" name="Google Shape;1674;p81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5" name="Google Shape;1675;p81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6" name="Google Shape;1676;p8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77" name="Google Shape;1677;p81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8" name="Google Shape;1678;p81"/>
          <p:cNvSpPr txBox="1"/>
          <p:nvPr>
            <p:ph idx="1" type="body"/>
          </p:nvPr>
        </p:nvSpPr>
        <p:spPr>
          <a:xfrm>
            <a:off x="311700" y="1225225"/>
            <a:ext cx="55755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null dyads</a:t>
            </a:r>
            <a:r>
              <a:rPr lang="en"/>
              <a:t> in the graph!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(1-A)\circ(1-A')=(1-a_{ij})\times(1-a_{ji})&#10;%c570913e-f50f-4caf-b892-e59ab11e0dbb" id="1679" name="Google Shape;167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685" name="Google Shape;1685;p8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6" name="Google Shape;1686;p8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7" name="Google Shape;1687;p8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8" name="Google Shape;1688;p8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9" name="Google Shape;1689;p8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0" name="Google Shape;1690;p82"/>
          <p:cNvCxnSpPr>
            <a:stCxn id="1685" idx="7"/>
            <a:endCxn id="168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1" name="Google Shape;1691;p82"/>
          <p:cNvCxnSpPr>
            <a:stCxn id="1688" idx="3"/>
            <a:endCxn id="168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2" name="Google Shape;1692;p82"/>
          <p:cNvCxnSpPr>
            <a:stCxn id="1689" idx="3"/>
            <a:endCxn id="168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3" name="Google Shape;1693;p82"/>
          <p:cNvCxnSpPr>
            <a:stCxn id="1686" idx="4"/>
            <a:endCxn id="169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5" name="Google Shape;1695;p82"/>
          <p:cNvCxnSpPr>
            <a:stCxn id="1685" idx="5"/>
            <a:endCxn id="169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6" name="Google Shape;1696;p82"/>
          <p:cNvCxnSpPr>
            <a:stCxn id="1685" idx="6"/>
            <a:endCxn id="168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7" name="Google Shape;1697;p82"/>
          <p:cNvCxnSpPr>
            <a:stCxn id="1687" idx="2"/>
            <a:endCxn id="169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8" name="Google Shape;1698;p82"/>
          <p:cNvCxnSpPr>
            <a:stCxn id="1688" idx="5"/>
            <a:endCxn id="168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9" name="Google Shape;1699;p82"/>
          <p:cNvCxnSpPr>
            <a:stCxn id="1686" idx="7"/>
            <a:endCxn id="168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82"/>
          <p:cNvCxnSpPr>
            <a:stCxn id="1689" idx="3"/>
            <a:endCxn id="169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1" name="Google Shape;1701;p82"/>
          <p:cNvCxnSpPr>
            <a:stCxn id="1686" idx="6"/>
            <a:endCxn id="168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2" name="Google Shape;1702;p82"/>
          <p:cNvCxnSpPr>
            <a:stCxn id="1689" idx="5"/>
            <a:endCxn id="168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03" name="Google Shape;1703;p82"/>
          <p:cNvSpPr/>
          <p:nvPr/>
        </p:nvSpPr>
        <p:spPr>
          <a:xfrm>
            <a:off x="2875525" y="35905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4" name="Google Shape;1704;p82"/>
          <p:cNvGraphicFramePr/>
          <p:nvPr/>
        </p:nvGraphicFramePr>
        <p:xfrm>
          <a:off x="3116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5" name="Google Shape;1705;p82"/>
          <p:cNvSpPr txBox="1"/>
          <p:nvPr/>
        </p:nvSpPr>
        <p:spPr>
          <a:xfrm>
            <a:off x="9332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06" name="Google Shape;1706;p82"/>
          <p:cNvGraphicFramePr/>
          <p:nvPr/>
        </p:nvGraphicFramePr>
        <p:xfrm>
          <a:off x="3295788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7" name="Google Shape;1707;p82"/>
          <p:cNvSpPr txBox="1"/>
          <p:nvPr/>
        </p:nvSpPr>
        <p:spPr>
          <a:xfrm>
            <a:off x="3917325" y="2231700"/>
            <a:ext cx="905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1 − 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8" name="Google Shape;1708;p82"/>
          <p:cNvSpPr/>
          <p:nvPr/>
        </p:nvSpPr>
        <p:spPr>
          <a:xfrm>
            <a:off x="5887213" y="3679350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9" name="Google Shape;1709;p82"/>
          <p:cNvGraphicFramePr/>
          <p:nvPr/>
        </p:nvGraphicFramePr>
        <p:xfrm>
          <a:off x="6359913" y="27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0" name="Google Shape;1710;p8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1" name="Google Shape;1711;p82"/>
          <p:cNvSpPr txBox="1"/>
          <p:nvPr/>
        </p:nvSpPr>
        <p:spPr>
          <a:xfrm>
            <a:off x="7402875" y="2227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2" name="Google Shape;1712;p82"/>
          <p:cNvSpPr txBox="1"/>
          <p:nvPr>
            <p:ph idx="1" type="body"/>
          </p:nvPr>
        </p:nvSpPr>
        <p:spPr>
          <a:xfrm>
            <a:off x="311700" y="1225225"/>
            <a:ext cx="55755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</a:t>
            </a:r>
            <a:r>
              <a:rPr b="1" lang="en"/>
              <a:t>null dyads</a:t>
            </a:r>
            <a:r>
              <a:rPr lang="en"/>
              <a:t> in the graph!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(1-A)\circ(1-A')=(1-a_{ij})\times(1-a_{ji})&#10;%c570913e-f50f-4caf-b892-e59ab11e0dbb" id="1713" name="Google Shape;17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719" name="Google Shape;1719;p8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0" name="Google Shape;1720;p8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1" name="Google Shape;1721;p8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2" name="Google Shape;1722;p8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3" name="Google Shape;1723;p8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4" name="Google Shape;1724;p8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5" name="Google Shape;1725;p83"/>
          <p:cNvCxnSpPr>
            <a:stCxn id="1719" idx="7"/>
            <a:endCxn id="172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6" name="Google Shape;1726;p83"/>
          <p:cNvCxnSpPr>
            <a:stCxn id="1722" idx="3"/>
            <a:endCxn id="172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7" name="Google Shape;1727;p83"/>
          <p:cNvCxnSpPr>
            <a:stCxn id="1724" idx="3"/>
            <a:endCxn id="172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8" name="Google Shape;1728;p83"/>
          <p:cNvCxnSpPr>
            <a:stCxn id="1720" idx="4"/>
            <a:endCxn id="172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9" name="Google Shape;1729;p83"/>
          <p:cNvCxnSpPr>
            <a:stCxn id="1719" idx="5"/>
            <a:endCxn id="172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0" name="Google Shape;1730;p83"/>
          <p:cNvCxnSpPr>
            <a:stCxn id="1719" idx="6"/>
            <a:endCxn id="172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1" name="Google Shape;1731;p83"/>
          <p:cNvCxnSpPr>
            <a:stCxn id="1721" idx="2"/>
            <a:endCxn id="172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2" name="Google Shape;1732;p83"/>
          <p:cNvCxnSpPr>
            <a:stCxn id="1722" idx="5"/>
            <a:endCxn id="172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3" name="Google Shape;1733;p83"/>
          <p:cNvCxnSpPr>
            <a:stCxn id="1720" idx="7"/>
            <a:endCxn id="172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4" name="Google Shape;1734;p83"/>
          <p:cNvCxnSpPr>
            <a:stCxn id="1724" idx="3"/>
            <a:endCxn id="172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5" name="Google Shape;1735;p83"/>
          <p:cNvCxnSpPr>
            <a:stCxn id="1720" idx="6"/>
            <a:endCxn id="172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6" name="Google Shape;1736;p83"/>
          <p:cNvCxnSpPr>
            <a:stCxn id="1724" idx="5"/>
            <a:endCxn id="172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37" name="Google Shape;1737;p83"/>
          <p:cNvSpPr txBox="1"/>
          <p:nvPr>
            <p:ph idx="1" type="body"/>
          </p:nvPr>
        </p:nvSpPr>
        <p:spPr>
          <a:xfrm>
            <a:off x="311700" y="1225225"/>
            <a:ext cx="5556600" cy="16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null dyads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null dyads</a:t>
            </a:r>
            <a:r>
              <a:rPr lang="en"/>
              <a:t> (N</a:t>
            </a:r>
            <a:r>
              <a:rPr baseline="-25000" lang="en"/>
              <a:t>N</a:t>
            </a:r>
            <a:r>
              <a:rPr lang="en"/>
              <a:t>) in the graph is just the sum of cells of the </a:t>
            </a:r>
            <a:r>
              <a:rPr b="1" lang="en"/>
              <a:t>N </a:t>
            </a:r>
            <a:r>
              <a:rPr lang="en"/>
              <a:t>matrix divided by two!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38" name="Google Shape;1738;p83"/>
          <p:cNvGraphicFramePr/>
          <p:nvPr/>
        </p:nvGraphicFramePr>
        <p:xfrm>
          <a:off x="6364224" y="2711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39" name="Google Shape;1739;p83"/>
          <p:cNvSpPr txBox="1"/>
          <p:nvPr/>
        </p:nvSpPr>
        <p:spPr>
          <a:xfrm>
            <a:off x="7407187" y="2231136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N_N=\frac{\sum_i \sum_j n_{ij}}{2}&#10;%cf98069d-8b96-40ee-9c03-795409f610b3" id="1740" name="Google Shape;174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25" y="2900125"/>
            <a:ext cx="1815253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-A)\circ(1-A')=(1-a_{ij})\times(1-a_{ji})&#10;%c570913e-f50f-4caf-b892-e59ab11e0dbb" id="1741" name="Google Shape;174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1747" name="Google Shape;1747;p8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8" name="Google Shape;1748;p8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9" name="Google Shape;1749;p8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0" name="Google Shape;1750;p8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1" name="Google Shape;1751;p8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2" name="Google Shape;1752;p8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3" name="Google Shape;1753;p84"/>
          <p:cNvCxnSpPr>
            <a:stCxn id="1747" idx="7"/>
            <a:endCxn id="175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4" name="Google Shape;1754;p84"/>
          <p:cNvCxnSpPr>
            <a:stCxn id="1750" idx="3"/>
            <a:endCxn id="174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5" name="Google Shape;1755;p84"/>
          <p:cNvCxnSpPr>
            <a:stCxn id="1752" idx="3"/>
            <a:endCxn id="174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6" name="Google Shape;1756;p84"/>
          <p:cNvCxnSpPr>
            <a:stCxn id="1748" idx="4"/>
            <a:endCxn id="175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7" name="Google Shape;1757;p84"/>
          <p:cNvCxnSpPr>
            <a:stCxn id="1747" idx="5"/>
            <a:endCxn id="175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8" name="Google Shape;1758;p84"/>
          <p:cNvCxnSpPr>
            <a:stCxn id="1747" idx="6"/>
            <a:endCxn id="174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9" name="Google Shape;1759;p84"/>
          <p:cNvCxnSpPr>
            <a:stCxn id="1749" idx="2"/>
            <a:endCxn id="175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0" name="Google Shape;1760;p84"/>
          <p:cNvCxnSpPr>
            <a:stCxn id="1750" idx="5"/>
            <a:endCxn id="175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1" name="Google Shape;1761;p84"/>
          <p:cNvCxnSpPr>
            <a:stCxn id="1748" idx="7"/>
            <a:endCxn id="175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2" name="Google Shape;1762;p84"/>
          <p:cNvCxnSpPr>
            <a:stCxn id="1752" idx="3"/>
            <a:endCxn id="175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3" name="Google Shape;1763;p84"/>
          <p:cNvCxnSpPr>
            <a:stCxn id="1748" idx="6"/>
            <a:endCxn id="175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4" name="Google Shape;1764;p84"/>
          <p:cNvCxnSpPr>
            <a:stCxn id="1752" idx="5"/>
            <a:endCxn id="174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65" name="Google Shape;1765;p84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null dyads in the graph!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 number of </a:t>
            </a:r>
            <a:r>
              <a:rPr b="1" lang="en"/>
              <a:t>null dyads</a:t>
            </a:r>
            <a:r>
              <a:rPr lang="en"/>
              <a:t> (N</a:t>
            </a:r>
            <a:r>
              <a:rPr baseline="-25000" lang="en"/>
              <a:t>N</a:t>
            </a:r>
            <a:r>
              <a:rPr lang="en"/>
              <a:t>) in the graph is just the sum of cells of the </a:t>
            </a:r>
            <a:r>
              <a:rPr b="1" lang="en"/>
              <a:t>N </a:t>
            </a:r>
            <a:r>
              <a:rPr lang="en"/>
              <a:t>matrix divided by two!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66" name="Google Shape;1766;p84"/>
          <p:cNvGraphicFramePr/>
          <p:nvPr/>
        </p:nvGraphicFramePr>
        <p:xfrm>
          <a:off x="6364224" y="2711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67" name="Google Shape;1767;p84"/>
          <p:cNvSpPr txBox="1"/>
          <p:nvPr/>
        </p:nvSpPr>
        <p:spPr>
          <a:xfrm>
            <a:off x="7407187" y="2231136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N_N=\frac{\sum_i \sum_j n_{ij}}{2}&#10;%cf98069d-8b96-40ee-9c03-795409f610b3" id="1768" name="Google Shape;17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25" y="2900125"/>
            <a:ext cx="1815253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-A)\circ(1-A')=(1-a_{ij})\times(1-a_{ji})&#10;%c570913e-f50f-4caf-b892-e59ab11e0dbb" id="1769" name="Google Shape;176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638" y="4714200"/>
            <a:ext cx="4459833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N = \frac{10}{2} = 5&#10;%69c601bf-dc6f-44e2-99a2-6d735ec14c46" id="1770" name="Google Shape;1770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25" y="3642700"/>
            <a:ext cx="1453896" cy="484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776" name="Google Shape;1776;p85"/>
          <p:cNvGraphicFramePr/>
          <p:nvPr/>
        </p:nvGraphicFramePr>
        <p:xfrm>
          <a:off x="6311775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7" name="Google Shape;1777;p85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A</a:t>
            </a:r>
            <a:r>
              <a:rPr lang="en"/>
              <a:t> =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N</a:t>
            </a:r>
            <a:r>
              <a:rPr baseline="-25000" lang="en"/>
              <a:t> </a:t>
            </a:r>
            <a:r>
              <a:rPr lang="en"/>
              <a:t>=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</a:t>
            </a:r>
            <a:r>
              <a:rPr b="1" lang="en"/>
              <a:t>dyad census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85"/>
          <p:cNvSpPr txBox="1"/>
          <p:nvPr/>
        </p:nvSpPr>
        <p:spPr>
          <a:xfrm>
            <a:off x="7354738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79" name="Google Shape;1779;p85"/>
          <p:cNvGraphicFramePr/>
          <p:nvPr/>
        </p:nvGraphicFramePr>
        <p:xfrm>
          <a:off x="3570150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80" name="Google Shape;1780;p85"/>
          <p:cNvSpPr txBox="1"/>
          <p:nvPr/>
        </p:nvSpPr>
        <p:spPr>
          <a:xfrm>
            <a:off x="4613113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81" name="Google Shape;1781;p85"/>
          <p:cNvGraphicFramePr/>
          <p:nvPr/>
        </p:nvGraphicFramePr>
        <p:xfrm>
          <a:off x="3570138" y="7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82" name="Google Shape;1782;p85"/>
          <p:cNvSpPr txBox="1"/>
          <p:nvPr/>
        </p:nvSpPr>
        <p:spPr>
          <a:xfrm>
            <a:off x="4613100" y="315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3" name="Google Shape;1783;p85"/>
          <p:cNvSpPr/>
          <p:nvPr/>
        </p:nvSpPr>
        <p:spPr>
          <a:xfrm>
            <a:off x="6107763" y="12274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4" name="Google Shape;1784;p85"/>
          <p:cNvSpPr/>
          <p:nvPr/>
        </p:nvSpPr>
        <p:spPr>
          <a:xfrm>
            <a:off x="7331169" y="12274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5" name="Google Shape;1785;p85"/>
          <p:cNvSpPr/>
          <p:nvPr/>
        </p:nvSpPr>
        <p:spPr>
          <a:xfrm>
            <a:off x="8727572" y="21387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6" name="Google Shape;1786;p85"/>
          <p:cNvSpPr/>
          <p:nvPr/>
        </p:nvSpPr>
        <p:spPr>
          <a:xfrm>
            <a:off x="7331118" y="3159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7" name="Google Shape;1787;p85"/>
          <p:cNvSpPr/>
          <p:nvPr/>
        </p:nvSpPr>
        <p:spPr>
          <a:xfrm>
            <a:off x="7331106" y="21390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8" name="Google Shape;1788;p85"/>
          <p:cNvSpPr/>
          <p:nvPr/>
        </p:nvSpPr>
        <p:spPr>
          <a:xfrm>
            <a:off x="8727641" y="12276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9" name="Google Shape;1789;p85"/>
          <p:cNvCxnSpPr>
            <a:stCxn id="1783" idx="7"/>
            <a:endCxn id="1786" idx="2"/>
          </p:cNvCxnSpPr>
          <p:nvPr/>
        </p:nvCxnSpPr>
        <p:spPr>
          <a:xfrm flipH="1" rot="10800000">
            <a:off x="6408128" y="4862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0" name="Google Shape;1790;p85"/>
          <p:cNvCxnSpPr>
            <a:stCxn id="1786" idx="3"/>
            <a:endCxn id="1784" idx="1"/>
          </p:cNvCxnSpPr>
          <p:nvPr/>
        </p:nvCxnSpPr>
        <p:spPr>
          <a:xfrm>
            <a:off x="7382652" y="6068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1" name="Google Shape;1791;p85"/>
          <p:cNvCxnSpPr>
            <a:stCxn id="1788" idx="3"/>
            <a:endCxn id="1785" idx="1"/>
          </p:cNvCxnSpPr>
          <p:nvPr/>
        </p:nvCxnSpPr>
        <p:spPr>
          <a:xfrm>
            <a:off x="8779176" y="15185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2" name="Google Shape;1792;p85"/>
          <p:cNvCxnSpPr>
            <a:stCxn id="1784" idx="4"/>
            <a:endCxn id="1787" idx="0"/>
          </p:cNvCxnSpPr>
          <p:nvPr/>
        </p:nvCxnSpPr>
        <p:spPr>
          <a:xfrm>
            <a:off x="7507119" y="1568287"/>
            <a:ext cx="0" cy="57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3" name="Google Shape;1793;p85"/>
          <p:cNvCxnSpPr>
            <a:stCxn id="1783" idx="5"/>
            <a:endCxn id="1787" idx="2"/>
          </p:cNvCxnSpPr>
          <p:nvPr/>
        </p:nvCxnSpPr>
        <p:spPr>
          <a:xfrm>
            <a:off x="6408128" y="15183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4" name="Google Shape;1794;p85"/>
          <p:cNvCxnSpPr>
            <a:stCxn id="1783" idx="6"/>
            <a:endCxn id="1784" idx="2"/>
          </p:cNvCxnSpPr>
          <p:nvPr/>
        </p:nvCxnSpPr>
        <p:spPr>
          <a:xfrm>
            <a:off x="6459663" y="1397887"/>
            <a:ext cx="87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5" name="Google Shape;1795;p85"/>
          <p:cNvCxnSpPr>
            <a:stCxn id="1785" idx="2"/>
            <a:endCxn id="1787" idx="6"/>
          </p:cNvCxnSpPr>
          <p:nvPr/>
        </p:nvCxnSpPr>
        <p:spPr>
          <a:xfrm flipH="1">
            <a:off x="7682972" y="23091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6" name="Google Shape;1796;p85"/>
          <p:cNvCxnSpPr>
            <a:stCxn id="1786" idx="5"/>
            <a:endCxn id="1788" idx="1"/>
          </p:cNvCxnSpPr>
          <p:nvPr/>
        </p:nvCxnSpPr>
        <p:spPr>
          <a:xfrm>
            <a:off x="7631483" y="6068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7" name="Google Shape;1797;p85"/>
          <p:cNvCxnSpPr>
            <a:stCxn id="1784" idx="7"/>
            <a:endCxn id="1786" idx="5"/>
          </p:cNvCxnSpPr>
          <p:nvPr/>
        </p:nvCxnSpPr>
        <p:spPr>
          <a:xfrm rot="10800000">
            <a:off x="7631535" y="6068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8" name="Google Shape;1798;p85"/>
          <p:cNvCxnSpPr>
            <a:stCxn id="1788" idx="3"/>
            <a:endCxn id="1787" idx="7"/>
          </p:cNvCxnSpPr>
          <p:nvPr/>
        </p:nvCxnSpPr>
        <p:spPr>
          <a:xfrm flipH="1">
            <a:off x="7631376" y="15185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9" name="Google Shape;1799;p85"/>
          <p:cNvCxnSpPr>
            <a:stCxn id="1784" idx="6"/>
            <a:endCxn id="1788" idx="2"/>
          </p:cNvCxnSpPr>
          <p:nvPr/>
        </p:nvCxnSpPr>
        <p:spPr>
          <a:xfrm>
            <a:off x="7683069" y="13978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0" name="Google Shape;1800;p85"/>
          <p:cNvCxnSpPr>
            <a:stCxn id="1788" idx="5"/>
            <a:endCxn id="1785" idx="7"/>
          </p:cNvCxnSpPr>
          <p:nvPr/>
        </p:nvCxnSpPr>
        <p:spPr>
          <a:xfrm>
            <a:off x="9028006" y="15185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N_M=\frac{\sum_i\sum_j m_{ij}}{2}&#10;%6323ab66-482b-492d-ae61-cae581e13475" id="1801" name="Google Shape;180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750" y="2834525"/>
            <a:ext cx="1906524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A=\sum_i \sum_j s_{ij}&#10;%f85502f7-1b4c-4cbd-b5b8-1d2f05c2b98e" id="1802" name="Google Shape;180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750" y="3539150"/>
            <a:ext cx="1693926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N=\frac{\sum_i \sum_j n_{ij}}{2}&#10;%cf98069d-8b96-40ee-9c03-795409f610b3" id="1803" name="Google Shape;1803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750" y="4243775"/>
            <a:ext cx="1815253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809" name="Google Shape;1809;p86"/>
          <p:cNvGraphicFramePr/>
          <p:nvPr/>
        </p:nvGraphicFramePr>
        <p:xfrm>
          <a:off x="6311775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0" name="Google Shape;1810;p86"/>
          <p:cNvSpPr txBox="1"/>
          <p:nvPr>
            <p:ph idx="1" type="body"/>
          </p:nvPr>
        </p:nvSpPr>
        <p:spPr>
          <a:xfrm>
            <a:off x="311700" y="1225225"/>
            <a:ext cx="34071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A</a:t>
            </a:r>
            <a:r>
              <a:rPr lang="en"/>
              <a:t> =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N</a:t>
            </a:r>
            <a:r>
              <a:rPr baseline="-25000" lang="en"/>
              <a:t> </a:t>
            </a:r>
            <a:r>
              <a:rPr lang="en"/>
              <a:t>=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</a:t>
            </a:r>
            <a:r>
              <a:rPr b="1" lang="en"/>
              <a:t>dyad census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+ </a:t>
            </a:r>
            <a:r>
              <a:rPr b="1" lang="en"/>
              <a:t>N</a:t>
            </a:r>
            <a:r>
              <a:rPr b="1" baseline="-25000" lang="en"/>
              <a:t>A</a:t>
            </a:r>
            <a:r>
              <a:rPr baseline="-25000" lang="en"/>
              <a:t> </a:t>
            </a:r>
            <a:r>
              <a:rPr lang="en"/>
              <a:t>+ </a:t>
            </a:r>
            <a:r>
              <a:rPr b="1" lang="en"/>
              <a:t>N</a:t>
            </a:r>
            <a:r>
              <a:rPr b="1" baseline="-25000" lang="en"/>
              <a:t>N</a:t>
            </a:r>
            <a:r>
              <a:rPr lang="en"/>
              <a:t>= n(n-1)/2!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+ 8 + 5 = </a:t>
            </a:r>
            <a:r>
              <a:rPr b="1" lang="en"/>
              <a:t>15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6(6-1)/2 = 6(5)/2 = 30/2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30/2= </a:t>
            </a:r>
            <a:r>
              <a:rPr b="1" lang="en"/>
              <a:t>15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size</a:t>
            </a:r>
            <a:r>
              <a:rPr lang="en"/>
              <a:t> divided by two!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86"/>
          <p:cNvSpPr txBox="1"/>
          <p:nvPr/>
        </p:nvSpPr>
        <p:spPr>
          <a:xfrm>
            <a:off x="7354738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12" name="Google Shape;1812;p86"/>
          <p:cNvGraphicFramePr/>
          <p:nvPr/>
        </p:nvGraphicFramePr>
        <p:xfrm>
          <a:off x="3570150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3" name="Google Shape;1813;p86"/>
          <p:cNvSpPr txBox="1"/>
          <p:nvPr/>
        </p:nvSpPr>
        <p:spPr>
          <a:xfrm>
            <a:off x="4613113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14" name="Google Shape;1814;p86"/>
          <p:cNvGraphicFramePr/>
          <p:nvPr/>
        </p:nvGraphicFramePr>
        <p:xfrm>
          <a:off x="3570138" y="7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5" name="Google Shape;1815;p86"/>
          <p:cNvSpPr txBox="1"/>
          <p:nvPr/>
        </p:nvSpPr>
        <p:spPr>
          <a:xfrm>
            <a:off x="4613100" y="315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6" name="Google Shape;1816;p86"/>
          <p:cNvSpPr/>
          <p:nvPr/>
        </p:nvSpPr>
        <p:spPr>
          <a:xfrm>
            <a:off x="6107763" y="12274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7" name="Google Shape;1817;p86"/>
          <p:cNvSpPr/>
          <p:nvPr/>
        </p:nvSpPr>
        <p:spPr>
          <a:xfrm>
            <a:off x="7331169" y="12274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8" name="Google Shape;1818;p86"/>
          <p:cNvSpPr/>
          <p:nvPr/>
        </p:nvSpPr>
        <p:spPr>
          <a:xfrm>
            <a:off x="8727572" y="21387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9" name="Google Shape;1819;p86"/>
          <p:cNvSpPr/>
          <p:nvPr/>
        </p:nvSpPr>
        <p:spPr>
          <a:xfrm>
            <a:off x="7331118" y="3159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0" name="Google Shape;1820;p86"/>
          <p:cNvSpPr/>
          <p:nvPr/>
        </p:nvSpPr>
        <p:spPr>
          <a:xfrm>
            <a:off x="7331106" y="21390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1" name="Google Shape;1821;p86"/>
          <p:cNvSpPr/>
          <p:nvPr/>
        </p:nvSpPr>
        <p:spPr>
          <a:xfrm>
            <a:off x="8727641" y="12276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2" name="Google Shape;1822;p86"/>
          <p:cNvCxnSpPr>
            <a:stCxn id="1816" idx="7"/>
            <a:endCxn id="1819" idx="2"/>
          </p:cNvCxnSpPr>
          <p:nvPr/>
        </p:nvCxnSpPr>
        <p:spPr>
          <a:xfrm flipH="1" rot="10800000">
            <a:off x="6408128" y="4862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86"/>
          <p:cNvCxnSpPr>
            <a:stCxn id="1819" idx="3"/>
            <a:endCxn id="1817" idx="1"/>
          </p:cNvCxnSpPr>
          <p:nvPr/>
        </p:nvCxnSpPr>
        <p:spPr>
          <a:xfrm>
            <a:off x="7382652" y="606803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86"/>
          <p:cNvCxnSpPr>
            <a:stCxn id="1821" idx="3"/>
            <a:endCxn id="1818" idx="1"/>
          </p:cNvCxnSpPr>
          <p:nvPr/>
        </p:nvCxnSpPr>
        <p:spPr>
          <a:xfrm>
            <a:off x="8779176" y="15185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5" name="Google Shape;1825;p86"/>
          <p:cNvCxnSpPr>
            <a:stCxn id="1817" idx="4"/>
            <a:endCxn id="1820" idx="0"/>
          </p:cNvCxnSpPr>
          <p:nvPr/>
        </p:nvCxnSpPr>
        <p:spPr>
          <a:xfrm>
            <a:off x="7507119" y="1568287"/>
            <a:ext cx="0" cy="57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6" name="Google Shape;1826;p86"/>
          <p:cNvCxnSpPr>
            <a:stCxn id="1816" idx="5"/>
            <a:endCxn id="1820" idx="2"/>
          </p:cNvCxnSpPr>
          <p:nvPr/>
        </p:nvCxnSpPr>
        <p:spPr>
          <a:xfrm>
            <a:off x="6408128" y="15183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7" name="Google Shape;1827;p86"/>
          <p:cNvCxnSpPr>
            <a:stCxn id="1816" idx="6"/>
            <a:endCxn id="1817" idx="2"/>
          </p:cNvCxnSpPr>
          <p:nvPr/>
        </p:nvCxnSpPr>
        <p:spPr>
          <a:xfrm>
            <a:off x="6459663" y="1397887"/>
            <a:ext cx="87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8" name="Google Shape;1828;p86"/>
          <p:cNvCxnSpPr>
            <a:stCxn id="1818" idx="2"/>
            <a:endCxn id="1820" idx="6"/>
          </p:cNvCxnSpPr>
          <p:nvPr/>
        </p:nvCxnSpPr>
        <p:spPr>
          <a:xfrm flipH="1">
            <a:off x="7682972" y="23091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9" name="Google Shape;1829;p86"/>
          <p:cNvCxnSpPr>
            <a:stCxn id="1819" idx="5"/>
            <a:endCxn id="1821" idx="1"/>
          </p:cNvCxnSpPr>
          <p:nvPr/>
        </p:nvCxnSpPr>
        <p:spPr>
          <a:xfrm>
            <a:off x="7631483" y="6068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0" name="Google Shape;1830;p86"/>
          <p:cNvCxnSpPr>
            <a:stCxn id="1817" idx="7"/>
            <a:endCxn id="1819" idx="5"/>
          </p:cNvCxnSpPr>
          <p:nvPr/>
        </p:nvCxnSpPr>
        <p:spPr>
          <a:xfrm rot="10800000">
            <a:off x="7631535" y="6068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1" name="Google Shape;1831;p86"/>
          <p:cNvCxnSpPr>
            <a:stCxn id="1821" idx="3"/>
            <a:endCxn id="1820" idx="7"/>
          </p:cNvCxnSpPr>
          <p:nvPr/>
        </p:nvCxnSpPr>
        <p:spPr>
          <a:xfrm flipH="1">
            <a:off x="7631376" y="15185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2" name="Google Shape;1832;p86"/>
          <p:cNvCxnSpPr>
            <a:stCxn id="1817" idx="6"/>
            <a:endCxn id="1821" idx="2"/>
          </p:cNvCxnSpPr>
          <p:nvPr/>
        </p:nvCxnSpPr>
        <p:spPr>
          <a:xfrm>
            <a:off x="7683069" y="13978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86"/>
          <p:cNvCxnSpPr>
            <a:stCxn id="1821" idx="5"/>
            <a:endCxn id="1818" idx="7"/>
          </p:cNvCxnSpPr>
          <p:nvPr/>
        </p:nvCxnSpPr>
        <p:spPr>
          <a:xfrm>
            <a:off x="9028006" y="1518550"/>
            <a:ext cx="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839" name="Google Shape;1839;p87"/>
          <p:cNvGraphicFramePr/>
          <p:nvPr/>
        </p:nvGraphicFramePr>
        <p:xfrm>
          <a:off x="6311775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40" name="Google Shape;1840;p87"/>
          <p:cNvSpPr txBox="1"/>
          <p:nvPr>
            <p:ph idx="1" type="body"/>
          </p:nvPr>
        </p:nvSpPr>
        <p:spPr>
          <a:xfrm>
            <a:off x="311700" y="1225225"/>
            <a:ext cx="34071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A</a:t>
            </a:r>
            <a:r>
              <a:rPr lang="en"/>
              <a:t> =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N</a:t>
            </a:r>
            <a:r>
              <a:rPr baseline="-25000" lang="en"/>
              <a:t> </a:t>
            </a:r>
            <a:r>
              <a:rPr lang="en"/>
              <a:t>=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</a:t>
            </a:r>
            <a:r>
              <a:rPr b="1" lang="en"/>
              <a:t>dyad census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b="1" baseline="-25000" lang="en"/>
              <a:t>M</a:t>
            </a:r>
            <a:r>
              <a:rPr lang="en"/>
              <a:t> + </a:t>
            </a:r>
            <a:r>
              <a:rPr b="1" lang="en"/>
              <a:t>N</a:t>
            </a:r>
            <a:r>
              <a:rPr b="1" baseline="-25000" lang="en"/>
              <a:t>A</a:t>
            </a:r>
            <a:r>
              <a:rPr baseline="-25000" lang="en"/>
              <a:t> </a:t>
            </a:r>
            <a:r>
              <a:rPr lang="en"/>
              <a:t>+ </a:t>
            </a:r>
            <a:r>
              <a:rPr b="1" lang="en"/>
              <a:t>N</a:t>
            </a:r>
            <a:r>
              <a:rPr b="1" baseline="-25000" lang="en"/>
              <a:t>N</a:t>
            </a:r>
            <a:r>
              <a:rPr lang="en"/>
              <a:t>= n(n-1)/2!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+ 9 + 4 = </a:t>
            </a:r>
            <a:r>
              <a:rPr b="1" lang="en"/>
              <a:t>15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6(6-1)/2 = 6(5)/2 = 30/2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30/2= </a:t>
            </a:r>
            <a:r>
              <a:rPr b="1" lang="en"/>
              <a:t>15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 + S + N = 1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all ones matrix!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87"/>
          <p:cNvSpPr txBox="1"/>
          <p:nvPr/>
        </p:nvSpPr>
        <p:spPr>
          <a:xfrm>
            <a:off x="7354738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42" name="Google Shape;1842;p87"/>
          <p:cNvGraphicFramePr/>
          <p:nvPr/>
        </p:nvGraphicFramePr>
        <p:xfrm>
          <a:off x="3570150" y="30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43" name="Google Shape;1843;p87"/>
          <p:cNvSpPr txBox="1"/>
          <p:nvPr/>
        </p:nvSpPr>
        <p:spPr>
          <a:xfrm>
            <a:off x="4613113" y="2572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44" name="Google Shape;1844;p87"/>
          <p:cNvGraphicFramePr/>
          <p:nvPr/>
        </p:nvGraphicFramePr>
        <p:xfrm>
          <a:off x="3570138" y="7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45" name="Google Shape;1845;p87"/>
          <p:cNvSpPr txBox="1"/>
          <p:nvPr/>
        </p:nvSpPr>
        <p:spPr>
          <a:xfrm>
            <a:off x="4613100" y="315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46" name="Google Shape;1846;p87"/>
          <p:cNvGraphicFramePr/>
          <p:nvPr/>
        </p:nvGraphicFramePr>
        <p:xfrm>
          <a:off x="6311788" y="7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847" name="Google Shape;1847;p87"/>
          <p:cNvSpPr txBox="1"/>
          <p:nvPr/>
        </p:nvSpPr>
        <p:spPr>
          <a:xfrm>
            <a:off x="6841850" y="315925"/>
            <a:ext cx="1432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 + S + N 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8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858" name="Google Shape;1858;p89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859" name="Google Shape;1859;p8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0" name="Google Shape;1860;p8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1" name="Google Shape;1861;p8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2" name="Google Shape;1862;p8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3" name="Google Shape;1863;p8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4" name="Google Shape;1864;p8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5" name="Google Shape;1865;p89"/>
          <p:cNvCxnSpPr>
            <a:stCxn id="1859" idx="7"/>
            <a:endCxn id="186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6" name="Google Shape;1866;p89"/>
          <p:cNvCxnSpPr>
            <a:stCxn id="1862" idx="3"/>
            <a:endCxn id="186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7" name="Google Shape;1867;p89"/>
          <p:cNvCxnSpPr>
            <a:stCxn id="1864" idx="3"/>
            <a:endCxn id="186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8" name="Google Shape;1868;p89"/>
          <p:cNvCxnSpPr>
            <a:stCxn id="1860" idx="4"/>
            <a:endCxn id="186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9" name="Google Shape;1869;p89"/>
          <p:cNvCxnSpPr>
            <a:stCxn id="1859" idx="5"/>
            <a:endCxn id="186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0" name="Google Shape;1870;p89"/>
          <p:cNvCxnSpPr>
            <a:stCxn id="1859" idx="6"/>
            <a:endCxn id="186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1" name="Google Shape;1871;p89"/>
          <p:cNvCxnSpPr>
            <a:stCxn id="1861" idx="2"/>
            <a:endCxn id="186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2" name="Google Shape;1872;p89"/>
          <p:cNvCxnSpPr>
            <a:stCxn id="1862" idx="5"/>
            <a:endCxn id="186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3" name="Google Shape;1873;p89"/>
          <p:cNvCxnSpPr>
            <a:stCxn id="1860" idx="7"/>
            <a:endCxn id="186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4" name="Google Shape;1874;p89"/>
          <p:cNvCxnSpPr>
            <a:stCxn id="1864" idx="3"/>
            <a:endCxn id="186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5" name="Google Shape;1875;p89"/>
          <p:cNvCxnSpPr>
            <a:stCxn id="1860" idx="6"/>
            <a:endCxn id="186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6" name="Google Shape;1876;p89"/>
          <p:cNvCxnSpPr>
            <a:stCxn id="1864" idx="5"/>
            <a:endCxn id="186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882" name="Google Shape;1882;p90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883" name="Google Shape;1883;p9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4" name="Google Shape;1884;p9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5" name="Google Shape;1885;p9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6" name="Google Shape;1886;p9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7" name="Google Shape;1887;p9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8" name="Google Shape;1888;p9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9" name="Google Shape;1889;p90"/>
          <p:cNvCxnSpPr>
            <a:stCxn id="1883" idx="7"/>
            <a:endCxn id="188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0" name="Google Shape;1890;p90"/>
          <p:cNvCxnSpPr>
            <a:stCxn id="1886" idx="3"/>
            <a:endCxn id="188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1" name="Google Shape;1891;p90"/>
          <p:cNvCxnSpPr>
            <a:stCxn id="1888" idx="3"/>
            <a:endCxn id="188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2" name="Google Shape;1892;p90"/>
          <p:cNvCxnSpPr>
            <a:stCxn id="1884" idx="4"/>
            <a:endCxn id="188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90"/>
          <p:cNvCxnSpPr>
            <a:stCxn id="1883" idx="5"/>
            <a:endCxn id="188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4" name="Google Shape;1894;p90"/>
          <p:cNvCxnSpPr>
            <a:stCxn id="1883" idx="6"/>
            <a:endCxn id="188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5" name="Google Shape;1895;p90"/>
          <p:cNvCxnSpPr>
            <a:stCxn id="1885" idx="2"/>
            <a:endCxn id="188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6" name="Google Shape;1896;p90"/>
          <p:cNvCxnSpPr>
            <a:stCxn id="1886" idx="5"/>
            <a:endCxn id="188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7" name="Google Shape;1897;p90"/>
          <p:cNvCxnSpPr>
            <a:stCxn id="1884" idx="7"/>
            <a:endCxn id="188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8" name="Google Shape;1898;p90"/>
          <p:cNvCxnSpPr>
            <a:stCxn id="1888" idx="3"/>
            <a:endCxn id="188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9" name="Google Shape;1899;p90"/>
          <p:cNvCxnSpPr>
            <a:stCxn id="1884" idx="6"/>
            <a:endCxn id="188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0" name="Google Shape;1900;p90"/>
          <p:cNvCxnSpPr>
            <a:stCxn id="1888" idx="5"/>
            <a:endCxn id="188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906" name="Google Shape;1906;p91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 </a:t>
            </a:r>
            <a:r>
              <a:rPr lang="en"/>
              <a:t>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907" name="Google Shape;1907;p9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8" name="Google Shape;1908;p9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9" name="Google Shape;1909;p9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0" name="Google Shape;1910;p9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1" name="Google Shape;1911;p9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2" name="Google Shape;1912;p9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3" name="Google Shape;1913;p91"/>
          <p:cNvCxnSpPr>
            <a:stCxn id="1907" idx="7"/>
            <a:endCxn id="191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4" name="Google Shape;1914;p91"/>
          <p:cNvCxnSpPr>
            <a:stCxn id="1910" idx="3"/>
            <a:endCxn id="190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5" name="Google Shape;1915;p91"/>
          <p:cNvCxnSpPr>
            <a:stCxn id="1912" idx="3"/>
            <a:endCxn id="190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6" name="Google Shape;1916;p91"/>
          <p:cNvCxnSpPr>
            <a:stCxn id="1908" idx="4"/>
            <a:endCxn id="191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7" name="Google Shape;1917;p91"/>
          <p:cNvCxnSpPr>
            <a:stCxn id="1907" idx="5"/>
            <a:endCxn id="191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8" name="Google Shape;1918;p91"/>
          <p:cNvCxnSpPr>
            <a:stCxn id="1907" idx="6"/>
            <a:endCxn id="190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91"/>
          <p:cNvCxnSpPr>
            <a:stCxn id="1909" idx="2"/>
            <a:endCxn id="191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0" name="Google Shape;1920;p91"/>
          <p:cNvCxnSpPr>
            <a:stCxn id="1910" idx="5"/>
            <a:endCxn id="191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1" name="Google Shape;1921;p91"/>
          <p:cNvCxnSpPr>
            <a:stCxn id="1908" idx="7"/>
            <a:endCxn id="191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2" name="Google Shape;1922;p91"/>
          <p:cNvCxnSpPr>
            <a:stCxn id="1912" idx="3"/>
            <a:endCxn id="191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91"/>
          <p:cNvCxnSpPr>
            <a:stCxn id="1908" idx="6"/>
            <a:endCxn id="191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4" name="Google Shape;1924;p91"/>
          <p:cNvCxnSpPr>
            <a:stCxn id="1912" idx="5"/>
            <a:endCxn id="190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930" name="Google Shape;1930;p92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 </a:t>
            </a:r>
            <a:r>
              <a:rPr lang="en"/>
              <a:t>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M/(M + 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931" name="Google Shape;1931;p9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2" name="Google Shape;1932;p9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3" name="Google Shape;1933;p9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4" name="Google Shape;1934;p9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5" name="Google Shape;1935;p9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6" name="Google Shape;1936;p9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7" name="Google Shape;1937;p92"/>
          <p:cNvCxnSpPr>
            <a:stCxn id="1931" idx="7"/>
            <a:endCxn id="193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92"/>
          <p:cNvCxnSpPr>
            <a:stCxn id="1934" idx="3"/>
            <a:endCxn id="193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9" name="Google Shape;1939;p92"/>
          <p:cNvCxnSpPr>
            <a:stCxn id="1936" idx="3"/>
            <a:endCxn id="193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0" name="Google Shape;1940;p92"/>
          <p:cNvCxnSpPr>
            <a:stCxn id="1932" idx="4"/>
            <a:endCxn id="193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1" name="Google Shape;1941;p92"/>
          <p:cNvCxnSpPr>
            <a:stCxn id="1931" idx="5"/>
            <a:endCxn id="193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2" name="Google Shape;1942;p92"/>
          <p:cNvCxnSpPr>
            <a:stCxn id="1931" idx="6"/>
            <a:endCxn id="193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3" name="Google Shape;1943;p92"/>
          <p:cNvCxnSpPr>
            <a:stCxn id="1933" idx="2"/>
            <a:endCxn id="193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92"/>
          <p:cNvCxnSpPr>
            <a:stCxn id="1934" idx="5"/>
            <a:endCxn id="193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5" name="Google Shape;1945;p92"/>
          <p:cNvCxnSpPr>
            <a:stCxn id="1932" idx="7"/>
            <a:endCxn id="193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p92"/>
          <p:cNvCxnSpPr>
            <a:stCxn id="1936" idx="3"/>
            <a:endCxn id="193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7" name="Google Shape;1947;p92"/>
          <p:cNvCxnSpPr>
            <a:stCxn id="1932" idx="6"/>
            <a:endCxn id="193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8" name="Google Shape;1948;p92"/>
          <p:cNvCxnSpPr>
            <a:stCxn id="1936" idx="5"/>
            <a:endCxn id="193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954" name="Google Shape;1954;p93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 </a:t>
            </a:r>
            <a:r>
              <a:rPr lang="en"/>
              <a:t>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M/(M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2, A = 8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955" name="Google Shape;1955;p9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6" name="Google Shape;1956;p9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7" name="Google Shape;1957;p9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8" name="Google Shape;1958;p9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9" name="Google Shape;1959;p9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0" name="Google Shape;1960;p9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1" name="Google Shape;1961;p93"/>
          <p:cNvCxnSpPr>
            <a:stCxn id="1955" idx="7"/>
            <a:endCxn id="195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2" name="Google Shape;1962;p93"/>
          <p:cNvCxnSpPr>
            <a:stCxn id="1958" idx="3"/>
            <a:endCxn id="195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3" name="Google Shape;1963;p93"/>
          <p:cNvCxnSpPr>
            <a:stCxn id="1960" idx="3"/>
            <a:endCxn id="195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4" name="Google Shape;1964;p93"/>
          <p:cNvCxnSpPr>
            <a:stCxn id="1956" idx="4"/>
            <a:endCxn id="195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5" name="Google Shape;1965;p93"/>
          <p:cNvCxnSpPr>
            <a:stCxn id="1955" idx="5"/>
            <a:endCxn id="195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6" name="Google Shape;1966;p93"/>
          <p:cNvCxnSpPr>
            <a:stCxn id="1955" idx="6"/>
            <a:endCxn id="195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7" name="Google Shape;1967;p93"/>
          <p:cNvCxnSpPr>
            <a:stCxn id="1957" idx="2"/>
            <a:endCxn id="195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8" name="Google Shape;1968;p93"/>
          <p:cNvCxnSpPr>
            <a:stCxn id="1958" idx="5"/>
            <a:endCxn id="196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9" name="Google Shape;1969;p93"/>
          <p:cNvCxnSpPr>
            <a:stCxn id="1956" idx="7"/>
            <a:endCxn id="195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0" name="Google Shape;1970;p93"/>
          <p:cNvCxnSpPr>
            <a:stCxn id="1960" idx="3"/>
            <a:endCxn id="195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1" name="Google Shape;1971;p93"/>
          <p:cNvCxnSpPr>
            <a:stCxn id="1956" idx="6"/>
            <a:endCxn id="196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2" name="Google Shape;1972;p93"/>
          <p:cNvCxnSpPr>
            <a:stCxn id="1960" idx="5"/>
            <a:endCxn id="195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978" name="Google Shape;1978;p94"/>
          <p:cNvSpPr txBox="1"/>
          <p:nvPr>
            <p:ph idx="1" type="body"/>
          </p:nvPr>
        </p:nvSpPr>
        <p:spPr>
          <a:xfrm>
            <a:off x="311700" y="1225225"/>
            <a:ext cx="51978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 </a:t>
            </a:r>
            <a:r>
              <a:rPr lang="en"/>
              <a:t>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M/(M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2, A = 8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2/(2 + 8) = 2/10 = 0.20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979" name="Google Shape;1979;p9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0" name="Google Shape;1980;p9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1" name="Google Shape;1981;p9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2" name="Google Shape;1982;p9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3" name="Google Shape;1983;p9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4" name="Google Shape;1984;p9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5" name="Google Shape;1985;p94"/>
          <p:cNvCxnSpPr>
            <a:stCxn id="1979" idx="7"/>
            <a:endCxn id="198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6" name="Google Shape;1986;p94"/>
          <p:cNvCxnSpPr>
            <a:stCxn id="1982" idx="3"/>
            <a:endCxn id="198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7" name="Google Shape;1987;p94"/>
          <p:cNvCxnSpPr>
            <a:stCxn id="1984" idx="3"/>
            <a:endCxn id="198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8" name="Google Shape;1988;p94"/>
          <p:cNvCxnSpPr>
            <a:stCxn id="1980" idx="4"/>
            <a:endCxn id="198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9" name="Google Shape;1989;p94"/>
          <p:cNvCxnSpPr>
            <a:stCxn id="1979" idx="5"/>
            <a:endCxn id="198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0" name="Google Shape;1990;p94"/>
          <p:cNvCxnSpPr>
            <a:stCxn id="1979" idx="6"/>
            <a:endCxn id="198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1" name="Google Shape;1991;p94"/>
          <p:cNvCxnSpPr>
            <a:stCxn id="1981" idx="2"/>
            <a:endCxn id="198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2" name="Google Shape;1992;p94"/>
          <p:cNvCxnSpPr>
            <a:stCxn id="1982" idx="5"/>
            <a:endCxn id="198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3" name="Google Shape;1993;p94"/>
          <p:cNvCxnSpPr>
            <a:stCxn id="1980" idx="7"/>
            <a:endCxn id="198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4" name="Google Shape;1994;p94"/>
          <p:cNvCxnSpPr>
            <a:stCxn id="1984" idx="3"/>
            <a:endCxn id="198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5" name="Google Shape;1995;p94"/>
          <p:cNvCxnSpPr>
            <a:stCxn id="1980" idx="6"/>
            <a:endCxn id="198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6" name="Google Shape;1996;p94"/>
          <p:cNvCxnSpPr>
            <a:stCxn id="1984" idx="5"/>
            <a:endCxn id="198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2002" name="Google Shape;2002;p95"/>
          <p:cNvSpPr txBox="1"/>
          <p:nvPr>
            <p:ph idx="1" type="body"/>
          </p:nvPr>
        </p:nvSpPr>
        <p:spPr>
          <a:xfrm>
            <a:off x="311700" y="1225225"/>
            <a:ext cx="51978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 </a:t>
            </a:r>
            <a:r>
              <a:rPr lang="en"/>
              <a:t>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M/(M +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2, A = 8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 = 2/(2 + 8) = 2/10 = 0.20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003" name="Google Shape;2003;p9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4" name="Google Shape;2004;p9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5" name="Google Shape;2005;p9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6" name="Google Shape;2006;p9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7" name="Google Shape;2007;p9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8" name="Google Shape;2008;p9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09" name="Google Shape;2009;p95"/>
          <p:cNvCxnSpPr>
            <a:stCxn id="2003" idx="7"/>
            <a:endCxn id="200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0" name="Google Shape;2010;p95"/>
          <p:cNvCxnSpPr>
            <a:stCxn id="2006" idx="3"/>
            <a:endCxn id="200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1" name="Google Shape;2011;p95"/>
          <p:cNvCxnSpPr>
            <a:stCxn id="2008" idx="3"/>
            <a:endCxn id="200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2" name="Google Shape;2012;p95"/>
          <p:cNvCxnSpPr>
            <a:stCxn id="2004" idx="4"/>
            <a:endCxn id="200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3" name="Google Shape;2013;p95"/>
          <p:cNvCxnSpPr>
            <a:stCxn id="2003" idx="5"/>
            <a:endCxn id="200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4" name="Google Shape;2014;p95"/>
          <p:cNvCxnSpPr>
            <a:stCxn id="2003" idx="6"/>
            <a:endCxn id="200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5" name="Google Shape;2015;p95"/>
          <p:cNvCxnSpPr>
            <a:stCxn id="2005" idx="2"/>
            <a:endCxn id="200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6" name="Google Shape;2016;p95"/>
          <p:cNvCxnSpPr>
            <a:stCxn id="2006" idx="5"/>
            <a:endCxn id="200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7" name="Google Shape;2017;p95"/>
          <p:cNvCxnSpPr>
            <a:stCxn id="2004" idx="7"/>
            <a:endCxn id="200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8" name="Google Shape;2018;p95"/>
          <p:cNvCxnSpPr>
            <a:stCxn id="2008" idx="3"/>
            <a:endCxn id="200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9" name="Google Shape;2019;p95"/>
          <p:cNvCxnSpPr>
            <a:stCxn id="2004" idx="6"/>
            <a:endCxn id="200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0" name="Google Shape;2020;p95"/>
          <p:cNvCxnSpPr>
            <a:stCxn id="2008" idx="5"/>
            <a:endCxn id="200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21" name="Google Shape;2021;p95"/>
          <p:cNvSpPr/>
          <p:nvPr/>
        </p:nvSpPr>
        <p:spPr>
          <a:xfrm>
            <a:off x="5807600" y="2953100"/>
            <a:ext cx="2997900" cy="1796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20% of the connected dyads in this graph are reciprocal. Not much reciprocity going on!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032" name="Google Shape;2032;p97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33" name="Google Shape;2033;p97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34" name="Google Shape;2034;p9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5" name="Google Shape;2035;p9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6" name="Google Shape;2036;p9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7" name="Google Shape;2037;p9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8" name="Google Shape;2038;p9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9" name="Google Shape;2039;p9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40" name="Google Shape;2040;p97"/>
          <p:cNvCxnSpPr>
            <a:stCxn id="2034" idx="7"/>
            <a:endCxn id="203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1" name="Google Shape;2041;p97"/>
          <p:cNvCxnSpPr>
            <a:stCxn id="2037" idx="3"/>
            <a:endCxn id="203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2" name="Google Shape;2042;p97"/>
          <p:cNvCxnSpPr>
            <a:stCxn id="2039" idx="3"/>
            <a:endCxn id="203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3" name="Google Shape;2043;p97"/>
          <p:cNvCxnSpPr>
            <a:stCxn id="2035" idx="4"/>
            <a:endCxn id="203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4" name="Google Shape;2044;p97"/>
          <p:cNvCxnSpPr>
            <a:stCxn id="2034" idx="5"/>
            <a:endCxn id="203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5" name="Google Shape;2045;p97"/>
          <p:cNvCxnSpPr>
            <a:stCxn id="2034" idx="6"/>
            <a:endCxn id="203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6" name="Google Shape;2046;p97"/>
          <p:cNvCxnSpPr>
            <a:stCxn id="2036" idx="2"/>
            <a:endCxn id="203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7" name="Google Shape;2047;p97"/>
          <p:cNvCxnSpPr>
            <a:stCxn id="2037" idx="5"/>
            <a:endCxn id="203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8" name="Google Shape;2048;p97"/>
          <p:cNvCxnSpPr>
            <a:stCxn id="2035" idx="7"/>
            <a:endCxn id="203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9" name="Google Shape;2049;p97"/>
          <p:cNvCxnSpPr>
            <a:stCxn id="2039" idx="3"/>
            <a:endCxn id="203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0" name="Google Shape;2050;p97"/>
          <p:cNvCxnSpPr>
            <a:stCxn id="2035" idx="6"/>
            <a:endCxn id="203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1" name="Google Shape;2051;p97"/>
          <p:cNvCxnSpPr>
            <a:stCxn id="2039" idx="5"/>
            <a:endCxn id="203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057" name="Google Shape;2057;p98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</a:t>
            </a:r>
            <a:r>
              <a:rPr b="1" lang="en"/>
              <a:t>reachability matrix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58" name="Google Shape;2058;p98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59" name="Google Shape;2059;p9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0" name="Google Shape;2060;p9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1" name="Google Shape;2061;p9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2" name="Google Shape;2062;p9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3" name="Google Shape;2063;p9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4" name="Google Shape;2064;p9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5" name="Google Shape;2065;p98"/>
          <p:cNvCxnSpPr>
            <a:stCxn id="2059" idx="7"/>
            <a:endCxn id="206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6" name="Google Shape;2066;p98"/>
          <p:cNvCxnSpPr>
            <a:stCxn id="2062" idx="3"/>
            <a:endCxn id="206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7" name="Google Shape;2067;p98"/>
          <p:cNvCxnSpPr>
            <a:stCxn id="2064" idx="3"/>
            <a:endCxn id="206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8" name="Google Shape;2068;p98"/>
          <p:cNvCxnSpPr>
            <a:stCxn id="2060" idx="4"/>
            <a:endCxn id="206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9" name="Google Shape;2069;p98"/>
          <p:cNvCxnSpPr>
            <a:stCxn id="2059" idx="5"/>
            <a:endCxn id="206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0" name="Google Shape;2070;p98"/>
          <p:cNvCxnSpPr>
            <a:stCxn id="2059" idx="6"/>
            <a:endCxn id="206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1" name="Google Shape;2071;p98"/>
          <p:cNvCxnSpPr>
            <a:stCxn id="2061" idx="2"/>
            <a:endCxn id="206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2" name="Google Shape;2072;p98"/>
          <p:cNvCxnSpPr>
            <a:stCxn id="2062" idx="5"/>
            <a:endCxn id="206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3" name="Google Shape;2073;p98"/>
          <p:cNvCxnSpPr>
            <a:stCxn id="2060" idx="7"/>
            <a:endCxn id="206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4" name="Google Shape;2074;p98"/>
          <p:cNvCxnSpPr>
            <a:stCxn id="2064" idx="3"/>
            <a:endCxn id="206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5" name="Google Shape;2075;p98"/>
          <p:cNvCxnSpPr>
            <a:stCxn id="2060" idx="6"/>
            <a:endCxn id="206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6" name="Google Shape;2076;p98"/>
          <p:cNvCxnSpPr>
            <a:stCxn id="2064" idx="5"/>
            <a:endCxn id="206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082" name="Google Shape;2082;p99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083" name="Google Shape;2083;p9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4" name="Google Shape;2084;p9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5" name="Google Shape;2085;p9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6" name="Google Shape;2086;p9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7" name="Google Shape;2087;p9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8" name="Google Shape;2088;p9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89" name="Google Shape;2089;p99"/>
          <p:cNvCxnSpPr>
            <a:stCxn id="2083" idx="7"/>
            <a:endCxn id="208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0" name="Google Shape;2090;p99"/>
          <p:cNvCxnSpPr>
            <a:stCxn id="2086" idx="3"/>
            <a:endCxn id="208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1" name="Google Shape;2091;p99"/>
          <p:cNvCxnSpPr>
            <a:stCxn id="2088" idx="3"/>
            <a:endCxn id="208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2" name="Google Shape;2092;p99"/>
          <p:cNvCxnSpPr>
            <a:stCxn id="2084" idx="4"/>
            <a:endCxn id="208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3" name="Google Shape;2093;p99"/>
          <p:cNvCxnSpPr>
            <a:stCxn id="2083" idx="5"/>
            <a:endCxn id="208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4" name="Google Shape;2094;p99"/>
          <p:cNvCxnSpPr>
            <a:stCxn id="2083" idx="6"/>
            <a:endCxn id="208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5" name="Google Shape;2095;p99"/>
          <p:cNvCxnSpPr>
            <a:stCxn id="2085" idx="2"/>
            <a:endCxn id="208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6" name="Google Shape;2096;p99"/>
          <p:cNvCxnSpPr>
            <a:stCxn id="2086" idx="5"/>
            <a:endCxn id="208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7" name="Google Shape;2097;p99"/>
          <p:cNvCxnSpPr>
            <a:stCxn id="2084" idx="7"/>
            <a:endCxn id="208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8" name="Google Shape;2098;p99"/>
          <p:cNvCxnSpPr>
            <a:stCxn id="2088" idx="3"/>
            <a:endCxn id="208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9" name="Google Shape;2099;p99"/>
          <p:cNvCxnSpPr>
            <a:stCxn id="2084" idx="6"/>
            <a:endCxn id="208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0" name="Google Shape;2100;p99"/>
          <p:cNvCxnSpPr>
            <a:stCxn id="2088" idx="5"/>
            <a:endCxn id="208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101" name="Google Shape;2101;p99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\frac{\sum_i \sum_j a_{ij}}{n(n-1)}&#10;%8d3c8857-bec4-4651-bece-0fac36792aa4" id="2102" name="Google Shape;210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200" y="4150375"/>
            <a:ext cx="10858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108" name="Google Shape;2108;p100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109" name="Google Shape;2109;p10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0" name="Google Shape;2110;p10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1" name="Google Shape;2111;p10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2" name="Google Shape;2112;p10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3" name="Google Shape;2113;p10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14" name="Google Shape;2114;p10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15" name="Google Shape;2115;p100"/>
          <p:cNvCxnSpPr>
            <a:stCxn id="2109" idx="7"/>
            <a:endCxn id="211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6" name="Google Shape;2116;p100"/>
          <p:cNvCxnSpPr>
            <a:stCxn id="2112" idx="3"/>
            <a:endCxn id="211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7" name="Google Shape;2117;p100"/>
          <p:cNvCxnSpPr>
            <a:stCxn id="2114" idx="3"/>
            <a:endCxn id="211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8" name="Google Shape;2118;p100"/>
          <p:cNvCxnSpPr>
            <a:stCxn id="2110" idx="4"/>
            <a:endCxn id="211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9" name="Google Shape;2119;p100"/>
          <p:cNvCxnSpPr>
            <a:stCxn id="2109" idx="5"/>
            <a:endCxn id="211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0" name="Google Shape;2120;p100"/>
          <p:cNvCxnSpPr>
            <a:stCxn id="2109" idx="6"/>
            <a:endCxn id="211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1" name="Google Shape;2121;p100"/>
          <p:cNvCxnSpPr>
            <a:stCxn id="2111" idx="2"/>
            <a:endCxn id="211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2" name="Google Shape;2122;p100"/>
          <p:cNvCxnSpPr>
            <a:stCxn id="2112" idx="5"/>
            <a:endCxn id="211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3" name="Google Shape;2123;p100"/>
          <p:cNvCxnSpPr>
            <a:stCxn id="2110" idx="7"/>
            <a:endCxn id="211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4" name="Google Shape;2124;p100"/>
          <p:cNvCxnSpPr>
            <a:stCxn id="2114" idx="3"/>
            <a:endCxn id="211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5" name="Google Shape;2125;p100"/>
          <p:cNvCxnSpPr>
            <a:stCxn id="2110" idx="6"/>
            <a:endCxn id="211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6" name="Google Shape;2126;p100"/>
          <p:cNvCxnSpPr>
            <a:stCxn id="2114" idx="5"/>
            <a:endCxn id="211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127" name="Google Shape;2127;p100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\frac{\sum_i \sum_j a_{ij}}{n(n-1)}&#10;%8d3c8857-bec4-4651-bece-0fac36792aa4" id="2128" name="Google Shape;212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200" y="4150375"/>
            <a:ext cx="10858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134" name="Google Shape;2134;p101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Numerator: Sum of all cells =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Denominator: 6 X (6 - 1) = 6  X 5 = 30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135" name="Google Shape;2135;p10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6" name="Google Shape;2136;p10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7" name="Google Shape;2137;p10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8" name="Google Shape;2138;p10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9" name="Google Shape;2139;p10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0" name="Google Shape;2140;p10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1" name="Google Shape;2141;p101"/>
          <p:cNvCxnSpPr>
            <a:stCxn id="2135" idx="7"/>
            <a:endCxn id="213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2" name="Google Shape;2142;p101"/>
          <p:cNvCxnSpPr>
            <a:stCxn id="2138" idx="3"/>
            <a:endCxn id="213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3" name="Google Shape;2143;p101"/>
          <p:cNvCxnSpPr>
            <a:stCxn id="2140" idx="3"/>
            <a:endCxn id="213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4" name="Google Shape;2144;p101"/>
          <p:cNvCxnSpPr>
            <a:stCxn id="2136" idx="4"/>
            <a:endCxn id="213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5" name="Google Shape;2145;p101"/>
          <p:cNvCxnSpPr>
            <a:stCxn id="2135" idx="5"/>
            <a:endCxn id="213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6" name="Google Shape;2146;p101"/>
          <p:cNvCxnSpPr>
            <a:stCxn id="2135" idx="6"/>
            <a:endCxn id="213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7" name="Google Shape;2147;p101"/>
          <p:cNvCxnSpPr>
            <a:stCxn id="2137" idx="2"/>
            <a:endCxn id="213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8" name="Google Shape;2148;p101"/>
          <p:cNvCxnSpPr>
            <a:stCxn id="2138" idx="5"/>
            <a:endCxn id="214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9" name="Google Shape;2149;p101"/>
          <p:cNvCxnSpPr>
            <a:stCxn id="2136" idx="7"/>
            <a:endCxn id="213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0" name="Google Shape;2150;p101"/>
          <p:cNvCxnSpPr>
            <a:stCxn id="2140" idx="3"/>
            <a:endCxn id="213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1" name="Google Shape;2151;p101"/>
          <p:cNvCxnSpPr>
            <a:stCxn id="2136" idx="6"/>
            <a:endCxn id="214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2" name="Google Shape;2152;p101"/>
          <p:cNvCxnSpPr>
            <a:stCxn id="2140" idx="5"/>
            <a:endCxn id="213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153" name="Google Shape;2153;p101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159" name="Google Shape;2159;p102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Numerator: Sum of all cells: m =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Denominator: 6 X (6 - 1) = 6  X 5 = 30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160" name="Google Shape;2160;p10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1" name="Google Shape;2161;p10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2" name="Google Shape;2162;p10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3" name="Google Shape;2163;p10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4" name="Google Shape;2164;p10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5" name="Google Shape;2165;p10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66" name="Google Shape;2166;p102"/>
          <p:cNvCxnSpPr>
            <a:stCxn id="2160" idx="7"/>
            <a:endCxn id="216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7" name="Google Shape;2167;p102"/>
          <p:cNvCxnSpPr>
            <a:stCxn id="2163" idx="3"/>
            <a:endCxn id="216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8" name="Google Shape;2168;p102"/>
          <p:cNvCxnSpPr>
            <a:stCxn id="2165" idx="3"/>
            <a:endCxn id="216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9" name="Google Shape;2169;p102"/>
          <p:cNvCxnSpPr>
            <a:stCxn id="2161" idx="4"/>
            <a:endCxn id="216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0" name="Google Shape;2170;p102"/>
          <p:cNvCxnSpPr>
            <a:stCxn id="2160" idx="5"/>
            <a:endCxn id="216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1" name="Google Shape;2171;p102"/>
          <p:cNvCxnSpPr>
            <a:stCxn id="2160" idx="6"/>
            <a:endCxn id="216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2" name="Google Shape;2172;p102"/>
          <p:cNvCxnSpPr>
            <a:stCxn id="2162" idx="2"/>
            <a:endCxn id="216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3" name="Google Shape;2173;p102"/>
          <p:cNvCxnSpPr>
            <a:stCxn id="2163" idx="5"/>
            <a:endCxn id="216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4" name="Google Shape;2174;p102"/>
          <p:cNvCxnSpPr>
            <a:stCxn id="2161" idx="7"/>
            <a:endCxn id="216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5" name="Google Shape;2175;p102"/>
          <p:cNvCxnSpPr>
            <a:stCxn id="2165" idx="3"/>
            <a:endCxn id="216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6" name="Google Shape;2176;p102"/>
          <p:cNvCxnSpPr>
            <a:stCxn id="2161" idx="6"/>
            <a:endCxn id="216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7" name="Google Shape;2177;p102"/>
          <p:cNvCxnSpPr>
            <a:stCxn id="2165" idx="5"/>
            <a:endCxn id="216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178" name="Google Shape;2178;p102"/>
          <p:cNvSpPr/>
          <p:nvPr/>
        </p:nvSpPr>
        <p:spPr>
          <a:xfrm>
            <a:off x="5807600" y="2953100"/>
            <a:ext cx="2997900" cy="1796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56% of the actors in this network can reach one another. Pretty good!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2184" name="Google Shape;2184;p103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Numerator: Sum of all cells: m =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Denominator: 6 X (6 - 1) = 6  X 5 = 30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185" name="Google Shape;2185;p10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6" name="Google Shape;2186;p10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7" name="Google Shape;2187;p10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8" name="Google Shape;2188;p10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9" name="Google Shape;2189;p10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90" name="Google Shape;2190;p10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1" name="Google Shape;2191;p103"/>
          <p:cNvCxnSpPr>
            <a:stCxn id="2185" idx="7"/>
            <a:endCxn id="218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2" name="Google Shape;2192;p103"/>
          <p:cNvCxnSpPr>
            <a:stCxn id="2188" idx="3"/>
            <a:endCxn id="218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3" name="Google Shape;2193;p103"/>
          <p:cNvCxnSpPr>
            <a:stCxn id="2190" idx="3"/>
            <a:endCxn id="218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4" name="Google Shape;2194;p103"/>
          <p:cNvCxnSpPr>
            <a:stCxn id="2186" idx="4"/>
            <a:endCxn id="218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5" name="Google Shape;2195;p103"/>
          <p:cNvCxnSpPr>
            <a:stCxn id="2185" idx="5"/>
            <a:endCxn id="218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6" name="Google Shape;2196;p103"/>
          <p:cNvCxnSpPr>
            <a:stCxn id="2185" idx="6"/>
            <a:endCxn id="218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7" name="Google Shape;2197;p103"/>
          <p:cNvCxnSpPr>
            <a:stCxn id="2187" idx="2"/>
            <a:endCxn id="218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8" name="Google Shape;2198;p103"/>
          <p:cNvCxnSpPr>
            <a:stCxn id="2188" idx="5"/>
            <a:endCxn id="219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9" name="Google Shape;2199;p103"/>
          <p:cNvCxnSpPr>
            <a:stCxn id="2186" idx="7"/>
            <a:endCxn id="218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0" name="Google Shape;2200;p103"/>
          <p:cNvCxnSpPr>
            <a:stCxn id="2190" idx="3"/>
            <a:endCxn id="218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1" name="Google Shape;2201;p103"/>
          <p:cNvCxnSpPr>
            <a:stCxn id="2186" idx="6"/>
            <a:endCxn id="219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2" name="Google Shape;2202;p103"/>
          <p:cNvCxnSpPr>
            <a:stCxn id="2190" idx="5"/>
            <a:endCxn id="218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03" name="Google Shape;2203;p103"/>
          <p:cNvSpPr/>
          <p:nvPr/>
        </p:nvSpPr>
        <p:spPr>
          <a:xfrm>
            <a:off x="5807600" y="2953100"/>
            <a:ext cx="2997900" cy="1796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If this graph was strongly connected then C = 1.0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(the density of the complete graph)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0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214" name="Google Shape;2214;p105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b="1" lang="en"/>
              <a:t>antisymmetric 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215" name="Google Shape;2215;p10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6" name="Google Shape;2216;p10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7" name="Google Shape;2217;p10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8" name="Google Shape;2218;p10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9" name="Google Shape;2219;p10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20" name="Google Shape;2220;p10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21" name="Google Shape;2221;p105"/>
          <p:cNvCxnSpPr>
            <a:stCxn id="2215" idx="7"/>
            <a:endCxn id="221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2" name="Google Shape;2222;p105"/>
          <p:cNvCxnSpPr>
            <a:stCxn id="2218" idx="3"/>
            <a:endCxn id="221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3" name="Google Shape;2223;p105"/>
          <p:cNvCxnSpPr>
            <a:stCxn id="2220" idx="3"/>
            <a:endCxn id="221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4" name="Google Shape;2224;p105"/>
          <p:cNvCxnSpPr>
            <a:stCxn id="2216" idx="4"/>
            <a:endCxn id="221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5" name="Google Shape;2225;p105"/>
          <p:cNvCxnSpPr>
            <a:stCxn id="2215" idx="5"/>
            <a:endCxn id="221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6" name="Google Shape;2226;p105"/>
          <p:cNvCxnSpPr>
            <a:stCxn id="2215" idx="6"/>
            <a:endCxn id="221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7" name="Google Shape;2227;p105"/>
          <p:cNvCxnSpPr>
            <a:stCxn id="2217" idx="2"/>
            <a:endCxn id="221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8" name="Google Shape;2228;p105"/>
          <p:cNvCxnSpPr>
            <a:stCxn id="2218" idx="5"/>
            <a:endCxn id="222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9" name="Google Shape;2229;p105"/>
          <p:cNvCxnSpPr>
            <a:stCxn id="2216" idx="7"/>
            <a:endCxn id="221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0" name="Google Shape;2230;p105"/>
          <p:cNvCxnSpPr>
            <a:stCxn id="2220" idx="3"/>
            <a:endCxn id="221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1" name="Google Shape;2231;p105"/>
          <p:cNvCxnSpPr>
            <a:stCxn id="2216" idx="6"/>
            <a:endCxn id="222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2" name="Google Shape;2232;p105"/>
          <p:cNvCxnSpPr>
            <a:stCxn id="2220" idx="5"/>
            <a:endCxn id="221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33" name="Google Shape;2233;p105"/>
          <p:cNvCxnSpPr>
            <a:stCxn id="2216" idx="5"/>
            <a:endCxn id="2217" idx="1"/>
          </p:cNvCxnSpPr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239" name="Google Shape;2239;p106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b="1" lang="en"/>
              <a:t>antisymmetric 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 the </a:t>
            </a:r>
            <a:r>
              <a:rPr b="1" lang="en"/>
              <a:t>reachability matrix</a:t>
            </a:r>
            <a:r>
              <a:rPr lang="en"/>
              <a:t> to compute the graph 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find: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mutually reachable dyads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asymmetrically (one-way) reachable dyads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240" name="Google Shape;2240;p10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1" name="Google Shape;2241;p10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2" name="Google Shape;2242;p10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3" name="Google Shape;2243;p10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4" name="Google Shape;2244;p10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5" name="Google Shape;2245;p10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46" name="Google Shape;2246;p106"/>
          <p:cNvCxnSpPr>
            <a:stCxn id="2240" idx="7"/>
            <a:endCxn id="224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7" name="Google Shape;2247;p106"/>
          <p:cNvCxnSpPr>
            <a:stCxn id="2243" idx="3"/>
            <a:endCxn id="224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8" name="Google Shape;2248;p106"/>
          <p:cNvCxnSpPr>
            <a:stCxn id="2245" idx="3"/>
            <a:endCxn id="224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9" name="Google Shape;2249;p106"/>
          <p:cNvCxnSpPr>
            <a:stCxn id="2241" idx="4"/>
            <a:endCxn id="224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0" name="Google Shape;2250;p106"/>
          <p:cNvCxnSpPr>
            <a:stCxn id="2240" idx="5"/>
            <a:endCxn id="224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1" name="Google Shape;2251;p106"/>
          <p:cNvCxnSpPr>
            <a:stCxn id="2240" idx="6"/>
            <a:endCxn id="224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2" name="Google Shape;2252;p106"/>
          <p:cNvCxnSpPr>
            <a:stCxn id="2242" idx="2"/>
            <a:endCxn id="224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3" name="Google Shape;2253;p106"/>
          <p:cNvCxnSpPr>
            <a:stCxn id="2243" idx="5"/>
            <a:endCxn id="224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4" name="Google Shape;2254;p106"/>
          <p:cNvCxnSpPr>
            <a:stCxn id="2241" idx="7"/>
            <a:endCxn id="224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5" name="Google Shape;2255;p106"/>
          <p:cNvCxnSpPr>
            <a:stCxn id="2245" idx="3"/>
            <a:endCxn id="224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6" name="Google Shape;2256;p106"/>
          <p:cNvCxnSpPr>
            <a:stCxn id="2241" idx="6"/>
            <a:endCxn id="224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106"/>
          <p:cNvCxnSpPr>
            <a:stCxn id="2245" idx="5"/>
            <a:endCxn id="224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58" name="Google Shape;2258;p106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264" name="Google Shape;2264;p107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b="1" lang="en"/>
              <a:t>antisymmetric 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 the </a:t>
            </a:r>
            <a:r>
              <a:rPr b="1" lang="en"/>
              <a:t>reachability matrix</a:t>
            </a:r>
            <a:r>
              <a:rPr lang="en"/>
              <a:t> to compute the graph 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hierarchy is given by the </a:t>
            </a:r>
            <a:r>
              <a:rPr b="1" lang="en"/>
              <a:t>ratio</a:t>
            </a:r>
            <a:r>
              <a:rPr lang="en"/>
              <a:t> of the number of </a:t>
            </a:r>
            <a:r>
              <a:rPr b="1" lang="en"/>
              <a:t>asymmetrically reachable dyads</a:t>
            </a:r>
            <a:r>
              <a:rPr lang="en"/>
              <a:t> (N</a:t>
            </a:r>
            <a:r>
              <a:rPr baseline="-25000" lang="en"/>
              <a:t>A</a:t>
            </a:r>
            <a:r>
              <a:rPr lang="en"/>
              <a:t>) to the total number of </a:t>
            </a:r>
            <a:r>
              <a:rPr b="1" lang="en"/>
              <a:t>reachable</a:t>
            </a:r>
            <a:r>
              <a:rPr lang="en"/>
              <a:t> </a:t>
            </a:r>
            <a:r>
              <a:rPr b="1" lang="en"/>
              <a:t>dyads</a:t>
            </a:r>
            <a:r>
              <a:rPr lang="en"/>
              <a:t> (</a:t>
            </a:r>
            <a:r>
              <a:rPr lang="en"/>
              <a:t>N</a:t>
            </a:r>
            <a:r>
              <a:rPr baseline="-25000" lang="en"/>
              <a:t>A</a:t>
            </a:r>
            <a:r>
              <a:rPr lang="en"/>
              <a:t> + N</a:t>
            </a:r>
            <a:r>
              <a:rPr baseline="-25000" lang="en"/>
              <a:t>M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2265" name="Google Shape;2265;p10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66" name="Google Shape;2266;p10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67" name="Google Shape;2267;p10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68" name="Google Shape;2268;p10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69" name="Google Shape;2269;p10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0" name="Google Shape;2270;p10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1" name="Google Shape;2271;p107"/>
          <p:cNvCxnSpPr>
            <a:stCxn id="2265" idx="7"/>
            <a:endCxn id="226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2" name="Google Shape;2272;p107"/>
          <p:cNvCxnSpPr>
            <a:stCxn id="2268" idx="3"/>
            <a:endCxn id="226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3" name="Google Shape;2273;p107"/>
          <p:cNvCxnSpPr>
            <a:stCxn id="2270" idx="3"/>
            <a:endCxn id="226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4" name="Google Shape;2274;p107"/>
          <p:cNvCxnSpPr>
            <a:stCxn id="2266" idx="4"/>
            <a:endCxn id="226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5" name="Google Shape;2275;p107"/>
          <p:cNvCxnSpPr>
            <a:stCxn id="2265" idx="5"/>
            <a:endCxn id="226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6" name="Google Shape;2276;p107"/>
          <p:cNvCxnSpPr>
            <a:stCxn id="2265" idx="6"/>
            <a:endCxn id="226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7" name="Google Shape;2277;p107"/>
          <p:cNvCxnSpPr>
            <a:stCxn id="2267" idx="2"/>
            <a:endCxn id="226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8" name="Google Shape;2278;p107"/>
          <p:cNvCxnSpPr>
            <a:stCxn id="2268" idx="5"/>
            <a:endCxn id="227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9" name="Google Shape;2279;p107"/>
          <p:cNvCxnSpPr>
            <a:stCxn id="2266" idx="7"/>
            <a:endCxn id="226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0" name="Google Shape;2280;p107"/>
          <p:cNvCxnSpPr>
            <a:stCxn id="2270" idx="3"/>
            <a:endCxn id="226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1" name="Google Shape;2281;p107"/>
          <p:cNvCxnSpPr>
            <a:stCxn id="2266" idx="6"/>
            <a:endCxn id="227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2" name="Google Shape;2282;p107"/>
          <p:cNvCxnSpPr>
            <a:stCxn id="2270" idx="5"/>
            <a:endCxn id="226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83" name="Google Shape;2283;p107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2289" name="Google Shape;2289;p108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90" name="Google Shape;2290;p108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10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2" name="Google Shape;2292;p10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3" name="Google Shape;2293;p10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4" name="Google Shape;2294;p10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5" name="Google Shape;2295;p10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6" name="Google Shape;2296;p10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7" name="Google Shape;2297;p108"/>
          <p:cNvCxnSpPr>
            <a:stCxn id="2291" idx="7"/>
            <a:endCxn id="229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8" name="Google Shape;2298;p108"/>
          <p:cNvCxnSpPr>
            <a:stCxn id="2294" idx="3"/>
            <a:endCxn id="229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9" name="Google Shape;2299;p108"/>
          <p:cNvCxnSpPr>
            <a:stCxn id="2296" idx="3"/>
            <a:endCxn id="229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0" name="Google Shape;2300;p108"/>
          <p:cNvCxnSpPr>
            <a:stCxn id="2292" idx="4"/>
            <a:endCxn id="229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1" name="Google Shape;2301;p108"/>
          <p:cNvCxnSpPr>
            <a:stCxn id="2291" idx="5"/>
            <a:endCxn id="229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2" name="Google Shape;2302;p108"/>
          <p:cNvCxnSpPr>
            <a:stCxn id="2291" idx="6"/>
            <a:endCxn id="229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3" name="Google Shape;2303;p108"/>
          <p:cNvCxnSpPr>
            <a:stCxn id="2293" idx="2"/>
            <a:endCxn id="229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4" name="Google Shape;2304;p108"/>
          <p:cNvCxnSpPr>
            <a:stCxn id="2294" idx="5"/>
            <a:endCxn id="229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5" name="Google Shape;2305;p108"/>
          <p:cNvCxnSpPr>
            <a:stCxn id="2292" idx="7"/>
            <a:endCxn id="229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6" name="Google Shape;2306;p108"/>
          <p:cNvCxnSpPr>
            <a:stCxn id="2296" idx="3"/>
            <a:endCxn id="229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7" name="Google Shape;2307;p108"/>
          <p:cNvCxnSpPr>
            <a:stCxn id="2292" idx="6"/>
            <a:endCxn id="229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8" name="Google Shape;2308;p108"/>
          <p:cNvCxnSpPr>
            <a:stCxn id="2296" idx="5"/>
            <a:endCxn id="229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309" name="Google Shape;2309;p108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the </a:t>
            </a:r>
            <a:r>
              <a:rPr b="1" lang="en"/>
              <a:t>reachability matrix</a:t>
            </a:r>
            <a:r>
              <a:rPr lang="en"/>
              <a:t> and its </a:t>
            </a:r>
            <a:r>
              <a:rPr b="1" lang="en"/>
              <a:t>transpose</a:t>
            </a:r>
            <a:r>
              <a:rPr lang="en"/>
              <a:t>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08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1" name="Google Shape;2311;p108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R\circ R'=r_{ij}\times r_{ji}&#10;%44f00fec-3718-4ada-a61d-67d13ad6255e" id="2312" name="Google Shape;231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3" name="Google Shape;2313;p108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14" name="Google Shape;2314;p108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320" name="Google Shape;2320;p109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10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2" name="Google Shape;2322;p10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3" name="Google Shape;2323;p10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4" name="Google Shape;2324;p10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5" name="Google Shape;2325;p10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6" name="Google Shape;2326;p10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27" name="Google Shape;2327;p109"/>
          <p:cNvCxnSpPr>
            <a:stCxn id="2321" idx="7"/>
            <a:endCxn id="232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8" name="Google Shape;2328;p109"/>
          <p:cNvCxnSpPr>
            <a:stCxn id="2324" idx="3"/>
            <a:endCxn id="232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9" name="Google Shape;2329;p109"/>
          <p:cNvCxnSpPr>
            <a:stCxn id="2326" idx="3"/>
            <a:endCxn id="232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0" name="Google Shape;2330;p109"/>
          <p:cNvCxnSpPr>
            <a:stCxn id="2322" idx="4"/>
            <a:endCxn id="232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1" name="Google Shape;2331;p109"/>
          <p:cNvCxnSpPr>
            <a:stCxn id="2321" idx="5"/>
            <a:endCxn id="232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2" name="Google Shape;2332;p109"/>
          <p:cNvCxnSpPr>
            <a:stCxn id="2321" idx="6"/>
            <a:endCxn id="232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3" name="Google Shape;2333;p109"/>
          <p:cNvCxnSpPr>
            <a:stCxn id="2323" idx="2"/>
            <a:endCxn id="232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4" name="Google Shape;2334;p109"/>
          <p:cNvCxnSpPr>
            <a:stCxn id="2324" idx="5"/>
            <a:endCxn id="232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5" name="Google Shape;2335;p109"/>
          <p:cNvCxnSpPr>
            <a:stCxn id="2322" idx="7"/>
            <a:endCxn id="232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6" name="Google Shape;2336;p109"/>
          <p:cNvCxnSpPr>
            <a:stCxn id="2326" idx="3"/>
            <a:endCxn id="232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7" name="Google Shape;2337;p109"/>
          <p:cNvCxnSpPr>
            <a:stCxn id="2322" idx="6"/>
            <a:endCxn id="232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8" name="Google Shape;2338;p109"/>
          <p:cNvCxnSpPr>
            <a:stCxn id="2326" idx="5"/>
            <a:endCxn id="232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339" name="Google Shape;2339;p109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mutually reachable dyads</a:t>
            </a:r>
            <a:r>
              <a:rPr lang="en"/>
              <a:t> in the graph!</a:t>
            </a:r>
            <a:endParaRPr/>
          </a:p>
        </p:txBody>
      </p:sp>
      <p:pic>
        <p:nvPicPr>
          <p:cNvPr descr="R\circ R'=r_{ij}\times r_{ji}&#10;%44f00fec-3718-4ada-a61d-67d13ad6255e" id="2340" name="Google Shape;234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1" name="Google Shape;2341;p109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2" name="Google Shape;2342;p109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43" name="Google Shape;2343;p109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344" name="Google Shape;2344;p109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45" name="Google Shape;2345;p109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109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7" name="Google Shape;2347;p109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348" name="Google Shape;2348;p109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354" name="Google Shape;2354;p110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11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56" name="Google Shape;2356;p11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57" name="Google Shape;2357;p11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rgbClr val="A4C2F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58" name="Google Shape;2358;p11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rgbClr val="A4C2F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59" name="Google Shape;2359;p11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0" name="Google Shape;2360;p11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1" name="Google Shape;2361;p110"/>
          <p:cNvCxnSpPr>
            <a:stCxn id="2355" idx="7"/>
            <a:endCxn id="235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2" name="Google Shape;2362;p110"/>
          <p:cNvCxnSpPr>
            <a:stCxn id="2358" idx="3"/>
            <a:endCxn id="235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3" name="Google Shape;2363;p110"/>
          <p:cNvCxnSpPr>
            <a:stCxn id="2360" idx="3"/>
            <a:endCxn id="235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4" name="Google Shape;2364;p110"/>
          <p:cNvCxnSpPr>
            <a:stCxn id="2356" idx="4"/>
            <a:endCxn id="235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5" name="Google Shape;2365;p110"/>
          <p:cNvCxnSpPr>
            <a:stCxn id="2355" idx="5"/>
            <a:endCxn id="235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6" name="Google Shape;2366;p110"/>
          <p:cNvCxnSpPr>
            <a:stCxn id="2355" idx="6"/>
            <a:endCxn id="235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7" name="Google Shape;2367;p110"/>
          <p:cNvCxnSpPr>
            <a:stCxn id="2357" idx="2"/>
            <a:endCxn id="235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8" name="Google Shape;2368;p110"/>
          <p:cNvCxnSpPr>
            <a:stCxn id="2358" idx="5"/>
            <a:endCxn id="236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9" name="Google Shape;2369;p110"/>
          <p:cNvCxnSpPr>
            <a:stCxn id="2356" idx="7"/>
            <a:endCxn id="235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0" name="Google Shape;2370;p110"/>
          <p:cNvCxnSpPr>
            <a:stCxn id="2360" idx="3"/>
            <a:endCxn id="235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1" name="Google Shape;2371;p110"/>
          <p:cNvCxnSpPr>
            <a:stCxn id="2356" idx="6"/>
            <a:endCxn id="236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2" name="Google Shape;2372;p110"/>
          <p:cNvCxnSpPr>
            <a:stCxn id="2360" idx="5"/>
            <a:endCxn id="235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373" name="Google Shape;2373;p110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mutually reachable dyads</a:t>
            </a:r>
            <a:r>
              <a:rPr lang="en"/>
              <a:t> in the graph!</a:t>
            </a:r>
            <a:endParaRPr/>
          </a:p>
        </p:txBody>
      </p:sp>
      <p:pic>
        <p:nvPicPr>
          <p:cNvPr descr="R\circ R'=r_{ij}\times r_{ji}&#10;%44f00fec-3718-4ada-a61d-67d13ad6255e" id="2374" name="Google Shape;2374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5" name="Google Shape;2375;p110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6" name="Google Shape;2376;p110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77" name="Google Shape;2377;p110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378" name="Google Shape;2378;p110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9" name="Google Shape;2379;p110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110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1" name="Google Shape;2381;p110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382" name="Google Shape;2382;p110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388" name="Google Shape;2388;p111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11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0" name="Google Shape;2390;p11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rgbClr val="A4C2F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1" name="Google Shape;2391;p11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rgbClr val="A4C2F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2" name="Google Shape;2392;p11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3" name="Google Shape;2393;p11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4" name="Google Shape;2394;p11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95" name="Google Shape;2395;p111"/>
          <p:cNvCxnSpPr>
            <a:stCxn id="2389" idx="7"/>
            <a:endCxn id="239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6" name="Google Shape;2396;p111"/>
          <p:cNvCxnSpPr>
            <a:stCxn id="2392" idx="3"/>
            <a:endCxn id="239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7" name="Google Shape;2397;p111"/>
          <p:cNvCxnSpPr>
            <a:stCxn id="2394" idx="3"/>
            <a:endCxn id="239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8" name="Google Shape;2398;p111"/>
          <p:cNvCxnSpPr>
            <a:stCxn id="2390" idx="4"/>
            <a:endCxn id="23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9" name="Google Shape;2399;p111"/>
          <p:cNvCxnSpPr>
            <a:stCxn id="2389" idx="5"/>
            <a:endCxn id="23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0" name="Google Shape;2400;p111"/>
          <p:cNvCxnSpPr>
            <a:stCxn id="2389" idx="6"/>
            <a:endCxn id="239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1" name="Google Shape;2401;p111"/>
          <p:cNvCxnSpPr>
            <a:stCxn id="2391" idx="2"/>
            <a:endCxn id="23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2" name="Google Shape;2402;p111"/>
          <p:cNvCxnSpPr>
            <a:stCxn id="2392" idx="5"/>
            <a:endCxn id="239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3" name="Google Shape;2403;p111"/>
          <p:cNvCxnSpPr>
            <a:stCxn id="2390" idx="7"/>
            <a:endCxn id="239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4" name="Google Shape;2404;p111"/>
          <p:cNvCxnSpPr>
            <a:stCxn id="2394" idx="3"/>
            <a:endCxn id="23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5" name="Google Shape;2405;p111"/>
          <p:cNvCxnSpPr>
            <a:stCxn id="2390" idx="6"/>
            <a:endCxn id="239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6" name="Google Shape;2406;p111"/>
          <p:cNvCxnSpPr>
            <a:stCxn id="2394" idx="5"/>
            <a:endCxn id="239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07" name="Google Shape;2407;p111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mutually reachable dyads</a:t>
            </a:r>
            <a:r>
              <a:rPr lang="en"/>
              <a:t> in the graph!</a:t>
            </a:r>
            <a:endParaRPr/>
          </a:p>
        </p:txBody>
      </p:sp>
      <p:pic>
        <p:nvPicPr>
          <p:cNvPr descr="R\circ R'=r_{ij}\times r_{ji}&#10;%44f00fec-3718-4ada-a61d-67d13ad6255e" id="2408" name="Google Shape;2408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9" name="Google Shape;2409;p111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0" name="Google Shape;2410;p111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11" name="Google Shape;2411;p111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412" name="Google Shape;2412;p111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13" name="Google Shape;2413;p111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111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5" name="Google Shape;2415;p111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416" name="Google Shape;2416;p111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422" name="Google Shape;2422;p112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112"/>
          <p:cNvSpPr txBox="1"/>
          <p:nvPr>
            <p:ph idx="1" type="body"/>
          </p:nvPr>
        </p:nvSpPr>
        <p:spPr>
          <a:xfrm>
            <a:off x="311700" y="1225225"/>
            <a:ext cx="5556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only need to count the number of ones in either the lower or upper triangle of the mutuals matrix </a:t>
            </a:r>
            <a:r>
              <a:rPr b="1" lang="en"/>
              <a:t>M</a:t>
            </a:r>
            <a:endParaRPr b="1"/>
          </a:p>
        </p:txBody>
      </p:sp>
      <p:pic>
        <p:nvPicPr>
          <p:cNvPr descr="R\circ R'=r_{ij}\times r_{ji}&#10;%44f00fec-3718-4ada-a61d-67d13ad6255e" id="2424" name="Google Shape;242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25" name="Google Shape;2425;p112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6" name="Google Shape;2426;p112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27" name="Google Shape;2427;p112"/>
          <p:cNvCxnSpPr/>
          <p:nvPr/>
        </p:nvCxnSpPr>
        <p:spPr>
          <a:xfrm>
            <a:off x="6259100" y="2822825"/>
            <a:ext cx="2445900" cy="187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8" name="Google Shape;2428;p11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9" name="Google Shape;2429;p11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0" name="Google Shape;2430;p11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1" name="Google Shape;2431;p11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2" name="Google Shape;2432;p11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3" name="Google Shape;2433;p11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4" name="Google Shape;2434;p112"/>
          <p:cNvCxnSpPr>
            <a:stCxn id="2428" idx="7"/>
            <a:endCxn id="243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5" name="Google Shape;2435;p112"/>
          <p:cNvCxnSpPr>
            <a:stCxn id="2431" idx="3"/>
            <a:endCxn id="242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6" name="Google Shape;2436;p112"/>
          <p:cNvCxnSpPr>
            <a:stCxn id="2433" idx="3"/>
            <a:endCxn id="243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7" name="Google Shape;2437;p112"/>
          <p:cNvCxnSpPr>
            <a:stCxn id="2429" idx="4"/>
            <a:endCxn id="243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8" name="Google Shape;2438;p112"/>
          <p:cNvCxnSpPr>
            <a:stCxn id="2428" idx="5"/>
            <a:endCxn id="243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9" name="Google Shape;2439;p112"/>
          <p:cNvCxnSpPr>
            <a:stCxn id="2428" idx="6"/>
            <a:endCxn id="242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0" name="Google Shape;2440;p112"/>
          <p:cNvCxnSpPr>
            <a:stCxn id="2430" idx="2"/>
            <a:endCxn id="243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1" name="Google Shape;2441;p112"/>
          <p:cNvCxnSpPr>
            <a:stCxn id="2431" idx="5"/>
            <a:endCxn id="243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2" name="Google Shape;2442;p112"/>
          <p:cNvCxnSpPr>
            <a:stCxn id="2429" idx="7"/>
            <a:endCxn id="243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3" name="Google Shape;2443;p112"/>
          <p:cNvCxnSpPr>
            <a:stCxn id="2433" idx="3"/>
            <a:endCxn id="243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4" name="Google Shape;2444;p112"/>
          <p:cNvCxnSpPr>
            <a:stCxn id="2429" idx="6"/>
            <a:endCxn id="243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5" name="Google Shape;2445;p112"/>
          <p:cNvCxnSpPr>
            <a:stCxn id="2433" idx="5"/>
            <a:endCxn id="243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46" name="Google Shape;2446;p112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447" name="Google Shape;2447;p112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8" name="Google Shape;2448;p112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112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0" name="Google Shape;2450;p112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451" name="Google Shape;2451;p112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113"/>
          <p:cNvSpPr txBox="1"/>
          <p:nvPr>
            <p:ph idx="1" type="body"/>
          </p:nvPr>
        </p:nvSpPr>
        <p:spPr>
          <a:xfrm>
            <a:off x="311700" y="1225225"/>
            <a:ext cx="5556600" cy="12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we just add up the entries in </a:t>
            </a:r>
            <a:r>
              <a:rPr b="1" lang="en"/>
              <a:t>M</a:t>
            </a:r>
            <a:r>
              <a:rPr lang="en"/>
              <a:t> and divide by two</a:t>
            </a:r>
            <a:endParaRPr b="1"/>
          </a:p>
        </p:txBody>
      </p:sp>
      <p:sp>
        <p:nvSpPr>
          <p:cNvPr id="2457" name="Google Shape;2457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458" name="Google Shape;2458;p113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\circ R'=r_{ij}\times r_{ji}&#10;%44f00fec-3718-4ada-a61d-67d13ad6255e" id="2459" name="Google Shape;245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50" y="4642150"/>
            <a:ext cx="23717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M=\frac{\sum_i\sum_j m_{ij}}{2}&#10;%6323ab66-482b-492d-ae61-cae581e13475" id="2460" name="Google Shape;2460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25" y="1688200"/>
            <a:ext cx="1771625" cy="548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1" name="Google Shape;2461;p113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N_M=\frac{12}{2}=6&#10;%9d6c026e-3cf5-4539-a5a2-a5d7436fcf9d" id="2462" name="Google Shape;2462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5338" y="1688200"/>
            <a:ext cx="1771625" cy="5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3" name="Google Shape;2463;p11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4" name="Google Shape;2464;p11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5" name="Google Shape;2465;p11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6" name="Google Shape;2466;p11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7" name="Google Shape;2467;p11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8" name="Google Shape;2468;p11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69" name="Google Shape;2469;p113"/>
          <p:cNvCxnSpPr>
            <a:stCxn id="2463" idx="7"/>
            <a:endCxn id="246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0" name="Google Shape;2470;p113"/>
          <p:cNvCxnSpPr>
            <a:stCxn id="2466" idx="3"/>
            <a:endCxn id="246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1" name="Google Shape;2471;p113"/>
          <p:cNvCxnSpPr>
            <a:stCxn id="2468" idx="3"/>
            <a:endCxn id="246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2" name="Google Shape;2472;p113"/>
          <p:cNvCxnSpPr>
            <a:stCxn id="2464" idx="4"/>
            <a:endCxn id="246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3" name="Google Shape;2473;p113"/>
          <p:cNvCxnSpPr>
            <a:stCxn id="2463" idx="5"/>
            <a:endCxn id="246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4" name="Google Shape;2474;p113"/>
          <p:cNvCxnSpPr>
            <a:stCxn id="2463" idx="6"/>
            <a:endCxn id="246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5" name="Google Shape;2475;p113"/>
          <p:cNvCxnSpPr>
            <a:stCxn id="2465" idx="2"/>
            <a:endCxn id="246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6" name="Google Shape;2476;p113"/>
          <p:cNvCxnSpPr>
            <a:stCxn id="2466" idx="5"/>
            <a:endCxn id="246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7" name="Google Shape;2477;p113"/>
          <p:cNvCxnSpPr>
            <a:stCxn id="2464" idx="7"/>
            <a:endCxn id="246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8" name="Google Shape;2478;p113"/>
          <p:cNvCxnSpPr>
            <a:stCxn id="2468" idx="3"/>
            <a:endCxn id="246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9" name="Google Shape;2479;p113"/>
          <p:cNvCxnSpPr>
            <a:stCxn id="2464" idx="6"/>
            <a:endCxn id="246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0" name="Google Shape;2480;p113"/>
          <p:cNvCxnSpPr>
            <a:stCxn id="2468" idx="5"/>
            <a:endCxn id="246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81" name="Google Shape;2481;p113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482" name="Google Shape;2482;p113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83" name="Google Shape;2483;p113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113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5" name="Google Shape;2485;p113"/>
          <p:cNvSpPr txBox="1"/>
          <p:nvPr/>
        </p:nvSpPr>
        <p:spPr>
          <a:xfrm>
            <a:off x="4239413" y="226347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486" name="Google Shape;2486;p113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492" name="Google Shape;2492;p11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3" name="Google Shape;2493;p11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4" name="Google Shape;2494;p11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5" name="Google Shape;2495;p11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6" name="Google Shape;2496;p11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97" name="Google Shape;2497;p11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8" name="Google Shape;2498;p114"/>
          <p:cNvCxnSpPr>
            <a:stCxn id="2492" idx="7"/>
            <a:endCxn id="249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9" name="Google Shape;2499;p114"/>
          <p:cNvCxnSpPr>
            <a:stCxn id="2495" idx="3"/>
            <a:endCxn id="249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0" name="Google Shape;2500;p114"/>
          <p:cNvCxnSpPr>
            <a:stCxn id="2497" idx="3"/>
            <a:endCxn id="249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1" name="Google Shape;2501;p114"/>
          <p:cNvCxnSpPr>
            <a:stCxn id="2493" idx="4"/>
            <a:endCxn id="249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2" name="Google Shape;2502;p114"/>
          <p:cNvCxnSpPr>
            <a:stCxn id="2492" idx="5"/>
            <a:endCxn id="249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3" name="Google Shape;2503;p114"/>
          <p:cNvCxnSpPr>
            <a:stCxn id="2492" idx="6"/>
            <a:endCxn id="249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4" name="Google Shape;2504;p114"/>
          <p:cNvCxnSpPr>
            <a:stCxn id="2494" idx="2"/>
            <a:endCxn id="249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5" name="Google Shape;2505;p114"/>
          <p:cNvCxnSpPr>
            <a:stCxn id="2495" idx="5"/>
            <a:endCxn id="249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6" name="Google Shape;2506;p114"/>
          <p:cNvCxnSpPr>
            <a:stCxn id="2493" idx="7"/>
            <a:endCxn id="249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7" name="Google Shape;2507;p114"/>
          <p:cNvCxnSpPr>
            <a:stCxn id="2497" idx="3"/>
            <a:endCxn id="249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8" name="Google Shape;2508;p114"/>
          <p:cNvCxnSpPr>
            <a:stCxn id="2493" idx="6"/>
            <a:endCxn id="249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9" name="Google Shape;2509;p114"/>
          <p:cNvCxnSpPr>
            <a:stCxn id="2497" idx="5"/>
            <a:endCxn id="249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10" name="Google Shape;2510;p114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</a:t>
            </a:r>
            <a:r>
              <a:rPr b="1" lang="en"/>
              <a:t>element-wise</a:t>
            </a:r>
            <a:r>
              <a:rPr lang="en"/>
              <a:t> product of the </a:t>
            </a:r>
            <a:r>
              <a:rPr b="1" lang="en"/>
              <a:t>reachability matrix</a:t>
            </a:r>
            <a:r>
              <a:rPr lang="en"/>
              <a:t> and </a:t>
            </a:r>
            <a:r>
              <a:rPr b="1" lang="en"/>
              <a:t>one minus its transpose</a:t>
            </a:r>
            <a:r>
              <a:rPr lang="en"/>
              <a:t>?</a:t>
            </a:r>
            <a:endParaRPr/>
          </a:p>
        </p:txBody>
      </p:sp>
      <p:cxnSp>
        <p:nvCxnSpPr>
          <p:cNvPr id="2511" name="Google Shape;2511;p114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12" name="Google Shape;2512;p114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13" name="Google Shape;2513;p114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4" name="Google Shape;2514;p114"/>
          <p:cNvSpPr txBox="1"/>
          <p:nvPr/>
        </p:nvSpPr>
        <p:spPr>
          <a:xfrm>
            <a:off x="4239424" y="2263475"/>
            <a:ext cx="787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1-</a:t>
            </a: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5" name="Google Shape;2515;p114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16" name="Google Shape;2516;p114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17" name="Google Shape;2517;p114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523" name="Google Shape;2523;p11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4" name="Google Shape;2524;p11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5" name="Google Shape;2525;p11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6" name="Google Shape;2526;p11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7" name="Google Shape;2527;p11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8" name="Google Shape;2528;p11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29" name="Google Shape;2529;p115"/>
          <p:cNvCxnSpPr>
            <a:stCxn id="2523" idx="7"/>
            <a:endCxn id="252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0" name="Google Shape;2530;p115"/>
          <p:cNvCxnSpPr>
            <a:stCxn id="2526" idx="3"/>
            <a:endCxn id="252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1" name="Google Shape;2531;p115"/>
          <p:cNvCxnSpPr>
            <a:stCxn id="2528" idx="3"/>
            <a:endCxn id="252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2" name="Google Shape;2532;p115"/>
          <p:cNvCxnSpPr>
            <a:stCxn id="2524" idx="4"/>
            <a:endCxn id="252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3" name="Google Shape;2533;p115"/>
          <p:cNvCxnSpPr>
            <a:stCxn id="2523" idx="5"/>
            <a:endCxn id="252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4" name="Google Shape;2534;p115"/>
          <p:cNvCxnSpPr>
            <a:stCxn id="2523" idx="6"/>
            <a:endCxn id="252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5" name="Google Shape;2535;p115"/>
          <p:cNvCxnSpPr>
            <a:stCxn id="2525" idx="2"/>
            <a:endCxn id="252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6" name="Google Shape;2536;p115"/>
          <p:cNvCxnSpPr>
            <a:stCxn id="2526" idx="5"/>
            <a:endCxn id="252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7" name="Google Shape;2537;p115"/>
          <p:cNvCxnSpPr>
            <a:stCxn id="2524" idx="7"/>
            <a:endCxn id="252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8" name="Google Shape;2538;p115"/>
          <p:cNvCxnSpPr>
            <a:stCxn id="2528" idx="3"/>
            <a:endCxn id="252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9" name="Google Shape;2539;p115"/>
          <p:cNvCxnSpPr>
            <a:stCxn id="2524" idx="6"/>
            <a:endCxn id="252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0" name="Google Shape;2540;p115"/>
          <p:cNvCxnSpPr>
            <a:stCxn id="2528" idx="5"/>
            <a:endCxn id="252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41" name="Google Shape;2541;p115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asymmetrically reachable dyads</a:t>
            </a:r>
            <a:r>
              <a:rPr lang="en"/>
              <a:t> in the graph!</a:t>
            </a:r>
            <a:endParaRPr/>
          </a:p>
        </p:txBody>
      </p:sp>
      <p:cxnSp>
        <p:nvCxnSpPr>
          <p:cNvPr id="2542" name="Google Shape;2542;p115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543" name="Google Shape;2543;p115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4" name="Google Shape;2544;p115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45" name="Google Shape;2545;p115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6" name="Google Shape;2546;p115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7" name="Google Shape;2547;p115"/>
          <p:cNvSpPr txBox="1"/>
          <p:nvPr/>
        </p:nvSpPr>
        <p:spPr>
          <a:xfrm>
            <a:off x="4239424" y="2263475"/>
            <a:ext cx="787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1-R’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8" name="Google Shape;2548;p115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49" name="Google Shape;2549;p115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0" name="Google Shape;2550;p115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556" name="Google Shape;2556;p11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57" name="Google Shape;2557;p11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58" name="Google Shape;2558;p11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59" name="Google Shape;2559;p11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0" name="Google Shape;2560;p11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1" name="Google Shape;2561;p11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62" name="Google Shape;2562;p116"/>
          <p:cNvCxnSpPr>
            <a:stCxn id="2556" idx="7"/>
            <a:endCxn id="255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3" name="Google Shape;2563;p116"/>
          <p:cNvCxnSpPr>
            <a:stCxn id="2559" idx="3"/>
            <a:endCxn id="255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4" name="Google Shape;2564;p116"/>
          <p:cNvCxnSpPr>
            <a:stCxn id="2561" idx="3"/>
            <a:endCxn id="255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5" name="Google Shape;2565;p116"/>
          <p:cNvCxnSpPr>
            <a:stCxn id="2557" idx="4"/>
            <a:endCxn id="256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6" name="Google Shape;2566;p116"/>
          <p:cNvCxnSpPr>
            <a:stCxn id="2556" idx="5"/>
            <a:endCxn id="256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7" name="Google Shape;2567;p116"/>
          <p:cNvCxnSpPr>
            <a:stCxn id="2556" idx="6"/>
            <a:endCxn id="255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8" name="Google Shape;2568;p116"/>
          <p:cNvCxnSpPr>
            <a:stCxn id="2558" idx="2"/>
            <a:endCxn id="256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9" name="Google Shape;2569;p116"/>
          <p:cNvCxnSpPr>
            <a:stCxn id="2559" idx="5"/>
            <a:endCxn id="256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0" name="Google Shape;2570;p116"/>
          <p:cNvCxnSpPr>
            <a:stCxn id="2557" idx="7"/>
            <a:endCxn id="255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1" name="Google Shape;2571;p116"/>
          <p:cNvCxnSpPr>
            <a:stCxn id="2561" idx="3"/>
            <a:endCxn id="256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2" name="Google Shape;2572;p116"/>
          <p:cNvCxnSpPr>
            <a:stCxn id="2557" idx="6"/>
            <a:endCxn id="256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3" name="Google Shape;2573;p116"/>
          <p:cNvCxnSpPr>
            <a:stCxn id="2561" idx="5"/>
            <a:endCxn id="255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74" name="Google Shape;2574;p116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asymmetrically reachable dyads</a:t>
            </a:r>
            <a:r>
              <a:rPr lang="en"/>
              <a:t> in the graph!</a:t>
            </a:r>
            <a:endParaRPr/>
          </a:p>
        </p:txBody>
      </p:sp>
      <p:cxnSp>
        <p:nvCxnSpPr>
          <p:cNvPr id="2575" name="Google Shape;2575;p116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576" name="Google Shape;2576;p116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7" name="Google Shape;2577;p116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78" name="Google Shape;2578;p116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9" name="Google Shape;2579;p116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0" name="Google Shape;2580;p116"/>
          <p:cNvSpPr txBox="1"/>
          <p:nvPr/>
        </p:nvSpPr>
        <p:spPr>
          <a:xfrm>
            <a:off x="4239424" y="2263475"/>
            <a:ext cx="787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1-R’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1" name="Google Shape;2581;p116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82" name="Google Shape;2582;p116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3" name="Google Shape;2583;p116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589" name="Google Shape;2589;p117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get the </a:t>
            </a:r>
            <a:r>
              <a:rPr b="1" lang="en"/>
              <a:t>asymmetrically reachable dyads</a:t>
            </a:r>
            <a:r>
              <a:rPr lang="en"/>
              <a:t> in the graph!</a:t>
            </a:r>
            <a:endParaRPr/>
          </a:p>
        </p:txBody>
      </p:sp>
      <p:graphicFrame>
        <p:nvGraphicFramePr>
          <p:cNvPr id="2590" name="Google Shape;2590;p117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1" name="Google Shape;2591;p117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92" name="Google Shape;2592;p117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3" name="Google Shape;2593;p117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4" name="Google Shape;2594;p117"/>
          <p:cNvSpPr txBox="1"/>
          <p:nvPr/>
        </p:nvSpPr>
        <p:spPr>
          <a:xfrm>
            <a:off x="4239424" y="2263475"/>
            <a:ext cx="787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1-R’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5" name="Google Shape;2595;p117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96" name="Google Shape;2596;p117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7" name="Google Shape;2597;p11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8" name="Google Shape;2598;p11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9" name="Google Shape;2599;p11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0" name="Google Shape;2600;p11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1" name="Google Shape;2601;p11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2" name="Google Shape;2602;p11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03" name="Google Shape;2603;p117"/>
          <p:cNvCxnSpPr>
            <a:stCxn id="2597" idx="7"/>
            <a:endCxn id="260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4" name="Google Shape;2604;p117"/>
          <p:cNvCxnSpPr>
            <a:stCxn id="2600" idx="3"/>
            <a:endCxn id="259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5" name="Google Shape;2605;p117"/>
          <p:cNvCxnSpPr>
            <a:stCxn id="2602" idx="3"/>
            <a:endCxn id="259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6" name="Google Shape;2606;p117"/>
          <p:cNvCxnSpPr>
            <a:stCxn id="2598" idx="4"/>
            <a:endCxn id="260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7" name="Google Shape;2607;p117"/>
          <p:cNvCxnSpPr>
            <a:stCxn id="2597" idx="5"/>
            <a:endCxn id="260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8" name="Google Shape;2608;p117"/>
          <p:cNvCxnSpPr>
            <a:stCxn id="2597" idx="6"/>
            <a:endCxn id="259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9" name="Google Shape;2609;p117"/>
          <p:cNvCxnSpPr>
            <a:stCxn id="2599" idx="2"/>
            <a:endCxn id="260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0" name="Google Shape;2610;p117"/>
          <p:cNvCxnSpPr>
            <a:stCxn id="2600" idx="5"/>
            <a:endCxn id="260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1" name="Google Shape;2611;p117"/>
          <p:cNvCxnSpPr>
            <a:stCxn id="2598" idx="7"/>
            <a:endCxn id="260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2" name="Google Shape;2612;p117"/>
          <p:cNvCxnSpPr>
            <a:stCxn id="2602" idx="3"/>
            <a:endCxn id="260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3" name="Google Shape;2613;p117"/>
          <p:cNvCxnSpPr>
            <a:stCxn id="2598" idx="6"/>
            <a:endCxn id="260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4" name="Google Shape;2614;p117"/>
          <p:cNvCxnSpPr>
            <a:stCxn id="2602" idx="5"/>
            <a:endCxn id="259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5" name="Google Shape;2615;p117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16" name="Google Shape;2616;p117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118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one-way reachable dyads is the sum of the entries of the </a:t>
            </a:r>
            <a:r>
              <a:rPr b="1" lang="en"/>
              <a:t>A</a:t>
            </a:r>
            <a:r>
              <a:rPr lang="en"/>
              <a:t> matrix</a:t>
            </a:r>
            <a:endParaRPr/>
          </a:p>
        </p:txBody>
      </p:sp>
      <p:sp>
        <p:nvSpPr>
          <p:cNvPr id="2622" name="Google Shape;2622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2623" name="Google Shape;2623;p11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4" name="Google Shape;2624;p11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5" name="Google Shape;2625;p11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6" name="Google Shape;2626;p11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7" name="Google Shape;2627;p11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8" name="Google Shape;2628;p11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29" name="Google Shape;2629;p118"/>
          <p:cNvCxnSpPr>
            <a:stCxn id="2623" idx="7"/>
            <a:endCxn id="262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0" name="Google Shape;2630;p118"/>
          <p:cNvCxnSpPr>
            <a:stCxn id="2626" idx="3"/>
            <a:endCxn id="262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1" name="Google Shape;2631;p118"/>
          <p:cNvCxnSpPr>
            <a:stCxn id="2628" idx="3"/>
            <a:endCxn id="262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2" name="Google Shape;2632;p118"/>
          <p:cNvCxnSpPr>
            <a:stCxn id="2624" idx="4"/>
            <a:endCxn id="262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3" name="Google Shape;2633;p118"/>
          <p:cNvCxnSpPr>
            <a:stCxn id="2623" idx="5"/>
            <a:endCxn id="262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4" name="Google Shape;2634;p118"/>
          <p:cNvCxnSpPr>
            <a:stCxn id="2623" idx="6"/>
            <a:endCxn id="262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5" name="Google Shape;2635;p118"/>
          <p:cNvCxnSpPr>
            <a:stCxn id="2625" idx="2"/>
            <a:endCxn id="262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6" name="Google Shape;2636;p118"/>
          <p:cNvCxnSpPr>
            <a:stCxn id="2626" idx="5"/>
            <a:endCxn id="262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7" name="Google Shape;2637;p118"/>
          <p:cNvCxnSpPr>
            <a:stCxn id="2624" idx="7"/>
            <a:endCxn id="262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8" name="Google Shape;2638;p118"/>
          <p:cNvCxnSpPr>
            <a:stCxn id="2628" idx="3"/>
            <a:endCxn id="262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9" name="Google Shape;2639;p118"/>
          <p:cNvCxnSpPr>
            <a:stCxn id="2624" idx="6"/>
            <a:endCxn id="262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0" name="Google Shape;2640;p118"/>
          <p:cNvCxnSpPr>
            <a:stCxn id="2628" idx="5"/>
            <a:endCxn id="262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41" name="Google Shape;2641;p118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642" name="Google Shape;2642;p118"/>
          <p:cNvGraphicFramePr/>
          <p:nvPr/>
        </p:nvGraphicFramePr>
        <p:xfrm>
          <a:off x="31168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3" name="Google Shape;2643;p118"/>
          <p:cNvSpPr/>
          <p:nvPr/>
        </p:nvSpPr>
        <p:spPr>
          <a:xfrm>
            <a:off x="2894250" y="36971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44" name="Google Shape;2644;p118"/>
          <p:cNvGraphicFramePr/>
          <p:nvPr/>
        </p:nvGraphicFramePr>
        <p:xfrm>
          <a:off x="3213238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5" name="Google Shape;2645;p118"/>
          <p:cNvSpPr txBox="1"/>
          <p:nvPr/>
        </p:nvSpPr>
        <p:spPr>
          <a:xfrm>
            <a:off x="1354650" y="22990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6" name="Google Shape;2646;p118"/>
          <p:cNvSpPr txBox="1"/>
          <p:nvPr/>
        </p:nvSpPr>
        <p:spPr>
          <a:xfrm>
            <a:off x="4239424" y="2263475"/>
            <a:ext cx="787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1-R’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7" name="Google Shape;2647;p118"/>
          <p:cNvSpPr/>
          <p:nvPr/>
        </p:nvSpPr>
        <p:spPr>
          <a:xfrm>
            <a:off x="5778463" y="368152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48" name="Google Shape;2648;p118"/>
          <p:cNvGraphicFramePr/>
          <p:nvPr/>
        </p:nvGraphicFramePr>
        <p:xfrm>
          <a:off x="6240563" y="27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98175"/>
                <a:gridCol w="361775"/>
                <a:gridCol w="361775"/>
                <a:gridCol w="361775"/>
                <a:gridCol w="361775"/>
                <a:gridCol w="361775"/>
                <a:gridCol w="3617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9" name="Google Shape;2649;p118"/>
          <p:cNvSpPr txBox="1"/>
          <p:nvPr/>
        </p:nvSpPr>
        <p:spPr>
          <a:xfrm>
            <a:off x="7248475" y="2263100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N_A = \sum_i \sum_j a_{ij} &#10;%d08f115d-d16b-4e61-a625-48bea6846e55" id="2650" name="Google Shape;265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950" y="2022075"/>
            <a:ext cx="1826939" cy="57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A = 9&#10;%5165668b-6e38-422f-acf7-ec3acc16f50e" id="2651" name="Google Shape;2651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943" y="2146639"/>
            <a:ext cx="833207" cy="2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657" name="Google Shape;2657;p11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8" name="Google Shape;2658;p11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9" name="Google Shape;2659;p11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0" name="Google Shape;2660;p11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1" name="Google Shape;2661;p11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2" name="Google Shape;2662;p11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3" name="Google Shape;2663;p119"/>
          <p:cNvCxnSpPr>
            <a:stCxn id="2657" idx="7"/>
            <a:endCxn id="266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4" name="Google Shape;2664;p119"/>
          <p:cNvCxnSpPr>
            <a:stCxn id="2660" idx="3"/>
            <a:endCxn id="265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5" name="Google Shape;2665;p119"/>
          <p:cNvCxnSpPr>
            <a:stCxn id="2662" idx="3"/>
            <a:endCxn id="265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6" name="Google Shape;2666;p119"/>
          <p:cNvCxnSpPr>
            <a:stCxn id="2658" idx="4"/>
            <a:endCxn id="266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7" name="Google Shape;2667;p119"/>
          <p:cNvCxnSpPr>
            <a:stCxn id="2657" idx="5"/>
            <a:endCxn id="266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8" name="Google Shape;2668;p119"/>
          <p:cNvCxnSpPr>
            <a:stCxn id="2657" idx="6"/>
            <a:endCxn id="265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119"/>
          <p:cNvCxnSpPr>
            <a:stCxn id="2659" idx="2"/>
            <a:endCxn id="266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0" name="Google Shape;2670;p119"/>
          <p:cNvCxnSpPr>
            <a:stCxn id="2660" idx="5"/>
            <a:endCxn id="266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1" name="Google Shape;2671;p119"/>
          <p:cNvCxnSpPr>
            <a:stCxn id="2658" idx="7"/>
            <a:endCxn id="266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2" name="Google Shape;2672;p119"/>
          <p:cNvCxnSpPr>
            <a:stCxn id="2662" idx="3"/>
            <a:endCxn id="266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3" name="Google Shape;2673;p119"/>
          <p:cNvCxnSpPr>
            <a:stCxn id="2658" idx="6"/>
            <a:endCxn id="266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4" name="Google Shape;2674;p119"/>
          <p:cNvCxnSpPr>
            <a:stCxn id="2662" idx="5"/>
            <a:endCxn id="265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75" name="Google Shape;2675;p119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76" name="Google Shape;2676;p119"/>
          <p:cNvSpPr txBox="1"/>
          <p:nvPr/>
        </p:nvSpPr>
        <p:spPr>
          <a:xfrm>
            <a:off x="311700" y="1225225"/>
            <a:ext cx="53079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Sometimes we are interested in the extent to which a network approaches the ideal of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 and control 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extent to which the network approaches the ideal of an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antisymmetric tree graph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called the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 hierarchy (H)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Mutually Reachable Dyads: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Asymmetrically Reachable Dyads: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9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graph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hierarchy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then: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 =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÷ (N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677" name="Google Shape;2677;p119"/>
          <p:cNvGraphicFramePr/>
          <p:nvPr/>
        </p:nvGraphicFramePr>
        <p:xfrm>
          <a:off x="6072113" y="29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8" name="Google Shape;2678;p119"/>
          <p:cNvSpPr txBox="1"/>
          <p:nvPr/>
        </p:nvSpPr>
        <p:spPr>
          <a:xfrm>
            <a:off x="7115075" y="2493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684" name="Google Shape;2684;p12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5" name="Google Shape;2685;p12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6" name="Google Shape;2686;p12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7" name="Google Shape;2687;p12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8" name="Google Shape;2688;p12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9" name="Google Shape;2689;p12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90" name="Google Shape;2690;p120"/>
          <p:cNvCxnSpPr>
            <a:stCxn id="2684" idx="7"/>
            <a:endCxn id="268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1" name="Google Shape;2691;p120"/>
          <p:cNvCxnSpPr>
            <a:stCxn id="2687" idx="3"/>
            <a:endCxn id="268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2" name="Google Shape;2692;p120"/>
          <p:cNvCxnSpPr>
            <a:stCxn id="2689" idx="3"/>
            <a:endCxn id="268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3" name="Google Shape;2693;p120"/>
          <p:cNvCxnSpPr>
            <a:stCxn id="2685" idx="4"/>
            <a:endCxn id="268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4" name="Google Shape;2694;p120"/>
          <p:cNvCxnSpPr>
            <a:stCxn id="2684" idx="5"/>
            <a:endCxn id="268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5" name="Google Shape;2695;p120"/>
          <p:cNvCxnSpPr>
            <a:stCxn id="2684" idx="6"/>
            <a:endCxn id="268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6" name="Google Shape;2696;p120"/>
          <p:cNvCxnSpPr>
            <a:stCxn id="2686" idx="2"/>
            <a:endCxn id="268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7" name="Google Shape;2697;p120"/>
          <p:cNvCxnSpPr>
            <a:stCxn id="2687" idx="5"/>
            <a:endCxn id="268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8" name="Google Shape;2698;p120"/>
          <p:cNvCxnSpPr>
            <a:stCxn id="2685" idx="7"/>
            <a:endCxn id="268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9" name="Google Shape;2699;p120"/>
          <p:cNvCxnSpPr>
            <a:stCxn id="2689" idx="3"/>
            <a:endCxn id="268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0" name="Google Shape;2700;p120"/>
          <p:cNvCxnSpPr>
            <a:stCxn id="2685" idx="6"/>
            <a:endCxn id="268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1" name="Google Shape;2701;p120"/>
          <p:cNvCxnSpPr>
            <a:stCxn id="2689" idx="5"/>
            <a:endCxn id="268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2" name="Google Shape;2702;p120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03" name="Google Shape;2703;p120"/>
          <p:cNvSpPr txBox="1"/>
          <p:nvPr/>
        </p:nvSpPr>
        <p:spPr>
          <a:xfrm>
            <a:off x="311700" y="1225225"/>
            <a:ext cx="53079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Sometimes we are interested in the extent to which a network approaches the ideal of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 and control 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extent to which the network approaches the ideal of an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antisymmetric tree graph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called the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 hierarchy (H)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Mutually Reachable Dyads: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Asymmetrically Reachable Dyads: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9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graph hierarchy (H) is then: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 = 9 ÷ (6  + 9) = 9 ÷15 = 0.6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04" name="Google Shape;2704;p120"/>
          <p:cNvGraphicFramePr/>
          <p:nvPr/>
        </p:nvGraphicFramePr>
        <p:xfrm>
          <a:off x="6072113" y="29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5" name="Google Shape;2705;p120"/>
          <p:cNvSpPr txBox="1"/>
          <p:nvPr/>
        </p:nvSpPr>
        <p:spPr>
          <a:xfrm>
            <a:off x="7115075" y="2493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2711" name="Google Shape;2711;p12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2" name="Google Shape;2712;p12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3" name="Google Shape;2713;p12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4" name="Google Shape;2714;p12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5" name="Google Shape;2715;p12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6" name="Google Shape;2716;p12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17" name="Google Shape;2717;p121"/>
          <p:cNvCxnSpPr>
            <a:stCxn id="2711" idx="7"/>
            <a:endCxn id="271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8" name="Google Shape;2718;p121"/>
          <p:cNvCxnSpPr>
            <a:stCxn id="2714" idx="3"/>
            <a:endCxn id="271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9" name="Google Shape;2719;p121"/>
          <p:cNvCxnSpPr>
            <a:stCxn id="2716" idx="3"/>
            <a:endCxn id="271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0" name="Google Shape;2720;p121"/>
          <p:cNvCxnSpPr>
            <a:stCxn id="2712" idx="4"/>
            <a:endCxn id="271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1" name="Google Shape;2721;p121"/>
          <p:cNvCxnSpPr>
            <a:stCxn id="2711" idx="5"/>
            <a:endCxn id="271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2" name="Google Shape;2722;p121"/>
          <p:cNvCxnSpPr>
            <a:stCxn id="2711" idx="6"/>
            <a:endCxn id="271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3" name="Google Shape;2723;p121"/>
          <p:cNvCxnSpPr>
            <a:stCxn id="2713" idx="2"/>
            <a:endCxn id="271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4" name="Google Shape;2724;p121"/>
          <p:cNvCxnSpPr>
            <a:stCxn id="2714" idx="5"/>
            <a:endCxn id="271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5" name="Google Shape;2725;p121"/>
          <p:cNvCxnSpPr>
            <a:stCxn id="2712" idx="7"/>
            <a:endCxn id="271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6" name="Google Shape;2726;p121"/>
          <p:cNvCxnSpPr>
            <a:stCxn id="2716" idx="3"/>
            <a:endCxn id="271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7" name="Google Shape;2727;p121"/>
          <p:cNvCxnSpPr>
            <a:stCxn id="2712" idx="6"/>
            <a:endCxn id="271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8" name="Google Shape;2728;p121"/>
          <p:cNvCxnSpPr>
            <a:stCxn id="2716" idx="5"/>
            <a:endCxn id="271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29" name="Google Shape;2729;p121"/>
          <p:cNvCxnSpPr/>
          <p:nvPr/>
        </p:nvCxnSpPr>
        <p:spPr>
          <a:xfrm>
            <a:off x="7430960" y="1351878"/>
            <a:ext cx="114750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30" name="Google Shape;2730;p121"/>
          <p:cNvSpPr txBox="1"/>
          <p:nvPr/>
        </p:nvSpPr>
        <p:spPr>
          <a:xfrm>
            <a:off x="311700" y="1225225"/>
            <a:ext cx="53079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Sometimes we are interested in the extent to which a network approaches the ideal of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 and control 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extent to which the network approaches the ideal of an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antisymmetric tree graph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called the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 hierarchy (H)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Mutually Reachable Dyads: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Asymmetrically Reachable Dyads: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9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graph hierarchy (H) is then: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 = 9 ÷ (6  + 9) = 9 ÷15 = 0.6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31" name="Google Shape;2731;p121"/>
          <p:cNvGraphicFramePr/>
          <p:nvPr/>
        </p:nvGraphicFramePr>
        <p:xfrm>
          <a:off x="6072113" y="29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270000"/>
                <a:gridCol w="366475"/>
                <a:gridCol w="366475"/>
                <a:gridCol w="366475"/>
                <a:gridCol w="366475"/>
                <a:gridCol w="366475"/>
                <a:gridCol w="366475"/>
              </a:tblGrid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2" name="Google Shape;2732;p121"/>
          <p:cNvSpPr txBox="1"/>
          <p:nvPr/>
        </p:nvSpPr>
        <p:spPr>
          <a:xfrm>
            <a:off x="7115075" y="249336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R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3" name="Google Shape;2733;p121"/>
          <p:cNvSpPr/>
          <p:nvPr/>
        </p:nvSpPr>
        <p:spPr>
          <a:xfrm>
            <a:off x="4230325" y="3054525"/>
            <a:ext cx="3577800" cy="1377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Sixty percent of the connected dyads in this graph are only one-way reachable! (pretty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hierarchical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4" name="Google Shape;2734;p121"/>
          <p:cNvSpPr/>
          <p:nvPr/>
        </p:nvSpPr>
        <p:spPr>
          <a:xfrm>
            <a:off x="3303700" y="4244450"/>
            <a:ext cx="375900" cy="362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2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123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746" name="Google Shape;2746;p123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123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48" name="Google Shape;2748;p123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9" name="Google Shape;2749;p123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50" name="Google Shape;2750;p123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51" name="Google Shape;2751;p123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2" name="Google Shape;2752;p123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3" name="Google Shape;2753;p123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54" name="Google Shape;2754;p123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55" name="Google Shape;2755;p123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6" name="Google Shape;2756;p123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7" name="Google Shape;2757;p123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8" name="Google Shape;2758;p123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123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123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61" name="Google Shape;2761;p123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2" name="Google Shape;2762;p123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124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769" name="Google Shape;2769;p124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124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71" name="Google Shape;2771;p124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2" name="Google Shape;2772;p124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73" name="Google Shape;2773;p124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4" name="Google Shape;2774;p124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5" name="Google Shape;2775;p124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6" name="Google Shape;2776;p124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77" name="Google Shape;2777;p124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8" name="Google Shape;2778;p124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9" name="Google Shape;2779;p124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0" name="Google Shape;2780;p124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1" name="Google Shape;2781;p124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124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124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84" name="Google Shape;2784;p124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5" name="Google Shape;2785;p124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86" name="Google Shape;2786;p124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87" name="Google Shape;2787;p124"/>
          <p:cNvCxnSpPr>
            <a:stCxn id="2786" idx="1"/>
            <a:endCxn id="2772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8" name="Google Shape;2788;p124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89" name="Google Shape;2789;p124"/>
          <p:cNvCxnSpPr>
            <a:stCxn id="2788" idx="3"/>
            <a:endCxn id="2785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125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796" name="Google Shape;2796;p125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125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98" name="Google Shape;2798;p125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9" name="Google Shape;2799;p125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00" name="Google Shape;2800;p125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01" name="Google Shape;2801;p125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02" name="Google Shape;2802;p125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3" name="Google Shape;2803;p125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804" name="Google Shape;2804;p125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05" name="Google Shape;2805;p125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06" name="Google Shape;2806;p125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7" name="Google Shape;2807;p125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8" name="Google Shape;2808;p125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125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125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11" name="Google Shape;2811;p125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2" name="Google Shape;2812;p125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13" name="Google Shape;2813;p125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14" name="Google Shape;2814;p125"/>
          <p:cNvCxnSpPr>
            <a:stCxn id="2813" idx="1"/>
            <a:endCxn id="2799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5" name="Google Shape;2815;p125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16" name="Google Shape;2816;p125"/>
          <p:cNvCxnSpPr>
            <a:stCxn id="2815" idx="3"/>
            <a:endCxn id="2812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17" name="Google Shape;2817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8" name="Google Shape;2818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126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825" name="Google Shape;2825;p126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6" name="Google Shape;2826;p126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27" name="Google Shape;2827;p126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8" name="Google Shape;2828;p126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29" name="Google Shape;2829;p126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0" name="Google Shape;2830;p126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126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32" name="Google Shape;2832;p126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3" name="Google Shape;2833;p126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34" name="Google Shape;2834;p126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35" name="Google Shape;2835;p126"/>
          <p:cNvCxnSpPr>
            <a:stCxn id="2834" idx="1"/>
            <a:endCxn id="2828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6" name="Google Shape;2836;p126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37" name="Google Shape;2837;p126"/>
          <p:cNvCxnSpPr>
            <a:stCxn id="2836" idx="3"/>
            <a:endCxn id="2833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8" name="Google Shape;2838;p126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times</a:t>
            </a:r>
            <a:r>
              <a:rPr b="1" lang="en" sz="2200"/>
              <a:t>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2839" name="Google Shape;2839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0" name="Google Shape;2840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127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847" name="Google Shape;2847;p127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p127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9" name="Google Shape;2849;p127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0" name="Google Shape;2850;p127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127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2" name="Google Shape;2852;p127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3" name="Google Shape;2853;p127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4" name="Google Shape;2854;p127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127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6" name="Google Shape;2856;p127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2857" name="Google Shape;2857;p127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58" name="Google Shape;2858;p127"/>
          <p:cNvCxnSpPr>
            <a:stCxn id="2857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128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865" name="Google Shape;2865;p128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128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7" name="Google Shape;2867;p128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8" name="Google Shape;2868;p128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128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70" name="Google Shape;2870;p128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71" name="Google Shape;2871;p128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72" name="Google Shape;2872;p128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128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74" name="Google Shape;2874;p128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2875" name="Google Shape;2875;p128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76" name="Google Shape;2876;p128"/>
          <p:cNvCxnSpPr>
            <a:stCxn id="2875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77" name="Google Shape;2877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00" y="924925"/>
            <a:ext cx="2421550" cy="276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883" name="Google Shape;288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4" name="Google Shape;2884;p129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5" name="Google Shape;2885;p129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886" name="Google Shape;2886;p129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7" name="Google Shape;2887;p129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888" name="Google Shape;2888;p129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9" name="Google Shape;2889;p129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890" name="Google Shape;2890;p129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1" name="Google Shape;2891;p129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2" name="Google Shape;2892;p129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129"/>
          <p:cNvSpPr txBox="1"/>
          <p:nvPr/>
        </p:nvSpPr>
        <p:spPr>
          <a:xfrm>
            <a:off x="460775" y="2905750"/>
            <a:ext cx="39411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does it work?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 A X B: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The ij cell of the resulting matrix is given by the sum of the product of the corresponding cells of row i in A and column j of B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899" name="Google Shape;2899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0" name="Google Shape;2900;p130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1" name="Google Shape;2901;p130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902" name="Google Shape;2902;p130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3" name="Google Shape;2903;p130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904" name="Google Shape;2904;p130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5" name="Google Shape;2905;p130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06" name="Google Shape;2906;p130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7" name="Google Shape;2907;p130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8" name="Google Shape;2908;p130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2909" name="Google Shape;2909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1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915" name="Google Shape;291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6" name="Google Shape;2916;p131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7" name="Google Shape;2917;p131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918" name="Google Shape;2918;p131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9" name="Google Shape;2919;p131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920" name="Google Shape;2920;p131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1" name="Google Shape;2921;p131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22" name="Google Shape;2922;p131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3" name="Google Shape;2923;p131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4" name="Google Shape;2924;p131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2925" name="Google Shape;2925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6" name="Google Shape;2926;p131"/>
          <p:cNvSpPr/>
          <p:nvPr/>
        </p:nvSpPr>
        <p:spPr>
          <a:xfrm>
            <a:off x="3244050" y="3083875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131"/>
          <p:cNvSpPr txBox="1"/>
          <p:nvPr/>
        </p:nvSpPr>
        <p:spPr>
          <a:xfrm>
            <a:off x="322175" y="2605150"/>
            <a:ext cx="2688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(1 * 2) + (2 * 1) = 4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28" name="Google Shape;2928;p131"/>
          <p:cNvCxnSpPr>
            <a:stCxn id="2927" idx="3"/>
            <a:endCxn id="2926" idx="1"/>
          </p:cNvCxnSpPr>
          <p:nvPr/>
        </p:nvCxnSpPr>
        <p:spPr>
          <a:xfrm>
            <a:off x="3010175" y="2804200"/>
            <a:ext cx="299100" cy="3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9" name="Google Shape;2929;p131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0" name="Google Shape;2930;p131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1" name="Google Shape;2931;p131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937" name="Google Shape;2937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8" name="Google Shape;2938;p132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39" name="Google Shape;2939;p132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940" name="Google Shape;2940;p132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1" name="Google Shape;2941;p132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942" name="Google Shape;2942;p132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3" name="Google Shape;2943;p132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44" name="Google Shape;2944;p132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{F1A58EE0-2D2A-4B03-B718-3418E0FDCF1E}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5" name="Google Shape;2945;p132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6" name="Google Shape;2946;p132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2947" name="Google Shape;294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8" name="Google Shape;2948;p132"/>
          <p:cNvSpPr/>
          <p:nvPr/>
        </p:nvSpPr>
        <p:spPr>
          <a:xfrm>
            <a:off x="3244050" y="3429000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132"/>
          <p:cNvSpPr txBox="1"/>
          <p:nvPr/>
        </p:nvSpPr>
        <p:spPr>
          <a:xfrm>
            <a:off x="82250" y="2598288"/>
            <a:ext cx="286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(3 * 2) + (4 * 1) = 10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50" name="Google Shape;2950;p132"/>
          <p:cNvCxnSpPr>
            <a:stCxn id="2949" idx="3"/>
            <a:endCxn id="2948" idx="1"/>
          </p:cNvCxnSpPr>
          <p:nvPr/>
        </p:nvCxnSpPr>
        <p:spPr>
          <a:xfrm>
            <a:off x="2943350" y="2797338"/>
            <a:ext cx="366000" cy="69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1" name="Google Shape;2951;p132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2" name="Google Shape;2952;p132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3" name="Google Shape;2953;p132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959" name="Google Shape;295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60" name="Google Shape;2960;p133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b="1" lang="en"/>
              <a:t>Square matrices</a:t>
            </a:r>
            <a:r>
              <a:rPr lang="en"/>
              <a:t> of the </a:t>
            </a:r>
            <a:r>
              <a:rPr b="1" lang="en"/>
              <a:t>same dimension</a:t>
            </a:r>
            <a:r>
              <a:rPr lang="en"/>
              <a:t>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take matrix powers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5" name="Google Shape;2965;p134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966" name="Google Shape;2966;p13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7" name="Google Shape;2967;p13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968" name="Google Shape;2968;p134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969" name="Google Shape;2969;p134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70" name="Google Shape;2970;p134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1" name="Google Shape;2971;p134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2972" name="Google Shape;2972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  <p:sp>
        <p:nvSpPr>
          <p:cNvPr id="2973" name="Google Shape;2973;p1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8" name="Google Shape;2978;p135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979" name="Google Shape;2979;p13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0" name="Google Shape;2980;p13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981" name="Google Shape;2981;p135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982" name="Google Shape;2982;p135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83" name="Google Shape;2983;p135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4" name="Google Shape;2984;p135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5" name="Google Shape;2985;p135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2986" name="Google Shape;2986;p135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87" name="Google Shape;2987;p135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8" name="Google Shape;2988;p135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9" name="Google Shape;2989;p135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4" name="Google Shape;2994;p136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995" name="Google Shape;2995;p13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6" name="Google Shape;2996;p13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997" name="Google Shape;2997;p136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998" name="Google Shape;2998;p136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99" name="Google Shape;2999;p136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0" name="Google Shape;3000;p136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1" name="Google Shape;3001;p136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002" name="Google Shape;3002;p136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03" name="Google Shape;3003;p136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4" name="Google Shape;3004;p136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5" name="Google Shape;3005;p136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6" name="Google Shape;3006;p136"/>
          <p:cNvSpPr txBox="1"/>
          <p:nvPr/>
        </p:nvSpPr>
        <p:spPr>
          <a:xfrm>
            <a:off x="136500" y="4719775"/>
            <a:ext cx="8828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Note that we fill the diagonals with zeroes!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1" name="Google Shape;3011;p137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12" name="Google Shape;3012;p13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3" name="Google Shape;3013;p13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014" name="Google Shape;3014;p137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15" name="Google Shape;3015;p137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16" name="Google Shape;3016;p137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7" name="Google Shape;3017;p137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8" name="Google Shape;3018;p137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019" name="Google Shape;3019;p137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20" name="Google Shape;3020;p137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1" name="Google Shape;3021;p137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2" name="Google Shape;3022;p137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3" name="Google Shape;3023;p137"/>
          <p:cNvSpPr txBox="1"/>
          <p:nvPr/>
        </p:nvSpPr>
        <p:spPr>
          <a:xfrm>
            <a:off x="4294000" y="1358250"/>
            <a:ext cx="4794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15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1500">
                <a:latin typeface="Open Sans"/>
                <a:ea typeface="Open Sans"/>
                <a:cs typeface="Open Sans"/>
                <a:sym typeface="Open Sans"/>
              </a:rPr>
              <a:t>1, 3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 =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= </a:t>
            </a:r>
            <a:r>
              <a:rPr b="1" lang="en" sz="1500">
                <a:solidFill>
                  <a:srgbClr val="FF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500">
              <a:solidFill>
                <a:srgbClr val="FF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4" name="Google Shape;3024;p137"/>
          <p:cNvSpPr txBox="1"/>
          <p:nvPr/>
        </p:nvSpPr>
        <p:spPr>
          <a:xfrm>
            <a:off x="136500" y="4719775"/>
            <a:ext cx="8828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To figure out which number goes in cell (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1,3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 of the target matrix we use the numbers from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row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column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the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second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9" name="Google Shape;3029;p138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30" name="Google Shape;3030;p13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1" name="Google Shape;3031;p13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3032" name="Google Shape;3032;p138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3" name="Google Shape;3033;p138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4" name="Google Shape;3034;p138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035" name="Google Shape;3035;p138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36" name="Google Shape;3036;p138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7" name="Google Shape;3037;p138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8" name="Google Shape;3038;p138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9" name="Google Shape;3039;p138"/>
          <p:cNvSpPr txBox="1"/>
          <p:nvPr/>
        </p:nvSpPr>
        <p:spPr>
          <a:xfrm>
            <a:off x="4294000" y="1358250"/>
            <a:ext cx="4794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15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1500">
                <a:latin typeface="Open Sans"/>
                <a:ea typeface="Open Sans"/>
                <a:cs typeface="Open Sans"/>
                <a:sym typeface="Open Sans"/>
              </a:rPr>
              <a:t>1, 3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 =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= </a:t>
            </a:r>
            <a:r>
              <a:rPr b="1" lang="en" sz="1500">
                <a:solidFill>
                  <a:srgbClr val="FF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1" sz="1500">
              <a:solidFill>
                <a:srgbClr val="FF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040" name="Google Shape;3040;p138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41" name="Google Shape;3041;p138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42" name="Google Shape;3042;p138"/>
          <p:cNvSpPr txBox="1"/>
          <p:nvPr/>
        </p:nvSpPr>
        <p:spPr>
          <a:xfrm>
            <a:off x="136500" y="4719775"/>
            <a:ext cx="8828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To figure out which number goes in cell (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,1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 of the target matrix we use the numbers from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row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column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the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second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7" name="Google Shape;3047;p139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48" name="Google Shape;3048;p13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9" name="Google Shape;3049;p13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3050" name="Google Shape;3050;p139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1" name="Google Shape;3051;p139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2" name="Google Shape;3052;p139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053" name="Google Shape;3053;p139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3054" name="Google Shape;3054;p139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5" name="Google Shape;3055;p139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6" name="Google Shape;3056;p139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7" name="Google Shape;3057;p139"/>
          <p:cNvSpPr txBox="1"/>
          <p:nvPr/>
        </p:nvSpPr>
        <p:spPr>
          <a:xfrm>
            <a:off x="4294000" y="1358250"/>
            <a:ext cx="4794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15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1500">
                <a:latin typeface="Open Sans"/>
                <a:ea typeface="Open Sans"/>
                <a:cs typeface="Open Sans"/>
                <a:sym typeface="Open Sans"/>
              </a:rPr>
              <a:t>1, 3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 =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= </a:t>
            </a:r>
            <a:r>
              <a:rPr b="1" lang="en" sz="1500">
                <a:solidFill>
                  <a:srgbClr val="FF00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500">
              <a:solidFill>
                <a:srgbClr val="FF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8" name="Google Shape;3058;p139"/>
          <p:cNvSpPr txBox="1"/>
          <p:nvPr/>
        </p:nvSpPr>
        <p:spPr>
          <a:xfrm>
            <a:off x="136500" y="4719775"/>
            <a:ext cx="8828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To figure out which number goes in cell (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5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,5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 of the target matrix we use the numbers from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row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5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column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5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the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second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59" name="Google Shape;3059;p139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0" name="Google Shape;3060;p139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5" name="Google Shape;3065;p140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66" name="Google Shape;3066;p14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7" name="Google Shape;3067;p14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068" name="Google Shape;3068;p140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9" name="Google Shape;3069;p140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3070" name="Google Shape;3070;p140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1" name="Google Shape;3071;p140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3072" name="Google Shape;3072;p140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2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3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2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0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1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2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3073" name="Google Shape;3073;p140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4" name="Google Shape;3074;p140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5" name="Google Shape;3075;p140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6" name="Google Shape;3076;p140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oogle Shape;3081;p141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82" name="Google Shape;3082;p14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3" name="Google Shape;3083;p14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084" name="Google Shape;3084;p141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85" name="Google Shape;3085;p141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86" name="Google Shape;3086;p141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7" name="Google Shape;3087;p141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8" name="Google Shape;3088;p141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The resulting matrix has ones and zeros in the off-diagonal cells and numbers between one and three in the diagonal cells!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9" name="Google Shape;3089;p141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90" name="Google Shape;3090;p141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91" name="Google Shape;3091;p141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92" name="Google Shape;3092;p141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93" name="Google Shape;3093;p141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8" name="Google Shape;3098;p142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099" name="Google Shape;3099;p14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0" name="Google Shape;3100;p14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01" name="Google Shape;3101;p142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02" name="Google Shape;3102;p142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03" name="Google Shape;3103;p142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4" name="Google Shape;3104;p142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5" name="Google Shape;3105;p142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There is a one in the ij cell of the squared adjacency matrix if nodes i and j are connected via a path of length 2!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3106" name="Google Shape;3106;p142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sp>
        <p:nvSpPr>
          <p:cNvPr id="3107" name="Google Shape;3107;p142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8" name="Google Shape;3108;p142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9" name="Google Shape;3109;p142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10" name="Google Shape;3110;p142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11" name="Google Shape;3111;p142"/>
          <p:cNvSpPr/>
          <p:nvPr/>
        </p:nvSpPr>
        <p:spPr>
          <a:xfrm rot="10800000">
            <a:off x="7694125" y="21454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2" name="Google Shape;3112;p142"/>
          <p:cNvCxnSpPr/>
          <p:nvPr/>
        </p:nvCxnSpPr>
        <p:spPr>
          <a:xfrm flipH="1" rot="10800000">
            <a:off x="1495475" y="785575"/>
            <a:ext cx="589200" cy="392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3" name="Google Shape;3113;p142"/>
          <p:cNvCxnSpPr/>
          <p:nvPr/>
        </p:nvCxnSpPr>
        <p:spPr>
          <a:xfrm rot="10800000">
            <a:off x="2243000" y="792950"/>
            <a:ext cx="400500" cy="370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8" name="Google Shape;3118;p143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119" name="Google Shape;3119;p14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0" name="Google Shape;3120;p14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21" name="Google Shape;3121;p143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2" name="Google Shape;3122;p143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23" name="Google Shape;3123;p143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24" name="Google Shape;3124;p143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25" name="Google Shape;3125;p143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The powers of the adjacency matrix count indirect connections between nodes!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3126" name="Google Shape;3126;p143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sp>
        <p:nvSpPr>
          <p:cNvPr id="3127" name="Google Shape;3127;p143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28" name="Google Shape;3128;p143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29" name="Google Shape;3129;p143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30" name="Google Shape;3130;p143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31" name="Google Shape;3131;p143"/>
          <p:cNvSpPr/>
          <p:nvPr/>
        </p:nvSpPr>
        <p:spPr>
          <a:xfrm rot="10800000">
            <a:off x="7694200" y="37150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2" name="Google Shape;3132;p143"/>
          <p:cNvCxnSpPr/>
          <p:nvPr/>
        </p:nvCxnSpPr>
        <p:spPr>
          <a:xfrm>
            <a:off x="3648025" y="770400"/>
            <a:ext cx="536400" cy="408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3" name="Google Shape;3133;p143"/>
          <p:cNvCxnSpPr/>
          <p:nvPr/>
        </p:nvCxnSpPr>
        <p:spPr>
          <a:xfrm flipH="1" rot="10800000">
            <a:off x="2794550" y="777800"/>
            <a:ext cx="695100" cy="408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8" name="Google Shape;3138;p144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139" name="Google Shape;3139;p14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0" name="Google Shape;3140;p14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41" name="Google Shape;3141;p144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42" name="Google Shape;3142;p144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43" name="Google Shape;3143;p144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4" name="Google Shape;3144;p144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5" name="Google Shape;3145;p144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The diagonal equals the node degree</a:t>
            </a:r>
            <a:r>
              <a:rPr lang="en" sz="1800">
                <a:solidFill>
                  <a:srgbClr val="FF0000"/>
                </a:solidFill>
              </a:rPr>
              <a:t>!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6" name="Google Shape;3146;p144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7" name="Google Shape;3147;p144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8" name="Google Shape;3148;p144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9" name="Google Shape;3149;p144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150" name="Google Shape;3150;p144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sp>
        <p:nvSpPr>
          <p:cNvPr id="3151" name="Google Shape;3151;p144"/>
          <p:cNvSpPr/>
          <p:nvPr/>
        </p:nvSpPr>
        <p:spPr>
          <a:xfrm rot="10800000">
            <a:off x="6897350" y="21454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144"/>
          <p:cNvSpPr/>
          <p:nvPr/>
        </p:nvSpPr>
        <p:spPr>
          <a:xfrm rot="10800000">
            <a:off x="7307450" y="25378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144"/>
          <p:cNvSpPr/>
          <p:nvPr/>
        </p:nvSpPr>
        <p:spPr>
          <a:xfrm rot="10800000">
            <a:off x="7694200" y="29026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144"/>
          <p:cNvSpPr/>
          <p:nvPr/>
        </p:nvSpPr>
        <p:spPr>
          <a:xfrm rot="10800000">
            <a:off x="8092625" y="33226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144"/>
          <p:cNvSpPr/>
          <p:nvPr/>
        </p:nvSpPr>
        <p:spPr>
          <a:xfrm rot="10800000">
            <a:off x="8491050" y="3715075"/>
            <a:ext cx="410100" cy="36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0" name="Google Shape;3160;p145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161" name="Google Shape;3161;p14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2" name="Google Shape;3162;p14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63" name="Google Shape;3163;p145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64" name="Google Shape;3164;p145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65" name="Google Shape;3165;p145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66" name="Google Shape;3166;p145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third power of the adjacency matrix?</a:t>
            </a:r>
            <a:endParaRPr/>
          </a:p>
        </p:txBody>
      </p:sp>
      <p:sp>
        <p:nvSpPr>
          <p:cNvPr id="3167" name="Google Shape;3167;p145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3168" name="Google Shape;3168;p145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69" name="Google Shape;3169;p145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3170" name="Google Shape;3170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4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5" name="Google Shape;3175;p146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176" name="Google Shape;3176;p14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7" name="Google Shape;3177;p14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78" name="Google Shape;3178;p146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79" name="Google Shape;3179;p146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0" name="Google Shape;3180;p146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1" name="Google Shape;3181;p146"/>
          <p:cNvSpPr txBox="1"/>
          <p:nvPr>
            <p:ph idx="1" type="body"/>
          </p:nvPr>
        </p:nvSpPr>
        <p:spPr>
          <a:xfrm>
            <a:off x="4716425" y="253250"/>
            <a:ext cx="43719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have all the paths of length 3 between every node!</a:t>
            </a:r>
            <a:endParaRPr/>
          </a:p>
        </p:txBody>
      </p:sp>
      <p:sp>
        <p:nvSpPr>
          <p:cNvPr id="3182" name="Google Shape;3182;p146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3183" name="Google Shape;3183;p146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84" name="Google Shape;3184;p146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3185" name="Google Shape;3185;p146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86" name="Google Shape;3186;p146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3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1" name="Google Shape;3191;p147"/>
          <p:cNvGrpSpPr/>
          <p:nvPr/>
        </p:nvGrpSpPr>
        <p:grpSpPr>
          <a:xfrm>
            <a:off x="169900" y="3"/>
            <a:ext cx="3490675" cy="1219559"/>
            <a:chOff x="5341638" y="1577328"/>
            <a:chExt cx="3490675" cy="1219559"/>
          </a:xfrm>
        </p:grpSpPr>
        <p:pic>
          <p:nvPicPr>
            <p:cNvPr id="3192" name="Google Shape;3192;p147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3" name="Google Shape;3193;p1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3194" name="Google Shape;3194;p147"/>
          <p:cNvSpPr txBox="1"/>
          <p:nvPr>
            <p:ph idx="1" type="body"/>
          </p:nvPr>
        </p:nvSpPr>
        <p:spPr>
          <a:xfrm>
            <a:off x="829600" y="4184050"/>
            <a:ext cx="8231100" cy="8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Taking the k powers of an adjacency matrix </a:t>
            </a:r>
            <a:r>
              <a:rPr b="1" lang="en" sz="1800"/>
              <a:t>A</a:t>
            </a:r>
            <a:r>
              <a:rPr lang="en" sz="1800"/>
              <a:t> gives us a valued matrix </a:t>
            </a:r>
            <a:r>
              <a:rPr b="1" lang="en" sz="1800"/>
              <a:t>W</a:t>
            </a:r>
            <a:r>
              <a:rPr lang="en" sz="1800"/>
              <a:t>, where the </a:t>
            </a:r>
            <a:r>
              <a:rPr b="1" lang="en" sz="1800"/>
              <a:t>w</a:t>
            </a:r>
            <a:r>
              <a:rPr b="1" baseline="-25000" lang="en" sz="1800"/>
              <a:t>ij</a:t>
            </a:r>
            <a:r>
              <a:rPr lang="en" sz="1800"/>
              <a:t> is a measure of the multiple ways i can reach j via a walk of length k in the original matrix </a:t>
            </a:r>
            <a:endParaRPr sz="1800"/>
          </a:p>
        </p:txBody>
      </p:sp>
      <p:graphicFrame>
        <p:nvGraphicFramePr>
          <p:cNvPr id="3195" name="Google Shape;3195;p147"/>
          <p:cNvGraphicFramePr/>
          <p:nvPr/>
        </p:nvGraphicFramePr>
        <p:xfrm>
          <a:off x="7199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96" name="Google Shape;3196;p147"/>
          <p:cNvSpPr txBox="1"/>
          <p:nvPr/>
        </p:nvSpPr>
        <p:spPr>
          <a:xfrm>
            <a:off x="15168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4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pSp>
        <p:nvGrpSpPr>
          <p:cNvPr id="3197" name="Google Shape;3197;p147"/>
          <p:cNvGrpSpPr/>
          <p:nvPr/>
        </p:nvGrpSpPr>
        <p:grpSpPr>
          <a:xfrm>
            <a:off x="5307100" y="3"/>
            <a:ext cx="3490675" cy="1219559"/>
            <a:chOff x="5341638" y="1577328"/>
            <a:chExt cx="3490675" cy="1219559"/>
          </a:xfrm>
        </p:grpSpPr>
        <p:pic>
          <p:nvPicPr>
            <p:cNvPr id="3198" name="Google Shape;3198;p147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9" name="Google Shape;3199;p1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200" name="Google Shape;3200;p147"/>
          <p:cNvGraphicFramePr/>
          <p:nvPr/>
        </p:nvGraphicFramePr>
        <p:xfrm>
          <a:off x="58571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{BA7DE270-794A-4681-853A-B4C30E98A1D0}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01" name="Google Shape;3201;p147"/>
          <p:cNvSpPr txBox="1"/>
          <p:nvPr/>
        </p:nvSpPr>
        <p:spPr>
          <a:xfrm>
            <a:off x="66540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