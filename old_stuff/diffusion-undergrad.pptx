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9144000"/>
  <p:notesSz cx="6858000" cy="9144000"/>
  <p:embeddedFontLst>
    <p:embeddedFont>
      <p:font typeface="Josefin Slab"/>
      <p:regular r:id="rId44"/>
      <p:bold r:id="rId45"/>
      <p:italic r:id="rId46"/>
      <p:boldItalic r:id="rId47"/>
    </p:embeddedFont>
    <p:embeddedFont>
      <p:font typeface="Cantarell"/>
      <p:regular r:id="rId48"/>
      <p:bold r:id="rId49"/>
      <p:italic r:id="rId50"/>
      <p:boldItalic r:id="rId51"/>
    </p:embeddedFont>
    <p:embeddedFont>
      <p:font typeface="Junge"/>
      <p:regular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EABDF8-1CD2-4E00-8186-C82D195AAF20}">
  <a:tblStyle styleId="{7DEABDF8-1CD2-4E00-8186-C82D195AAF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JosefinSlab-regular.fntdata"/><Relationship Id="rId43" Type="http://schemas.openxmlformats.org/officeDocument/2006/relationships/slide" Target="slides/slide37.xml"/><Relationship Id="rId46" Type="http://schemas.openxmlformats.org/officeDocument/2006/relationships/font" Target="fonts/JosefinSlab-italic.fntdata"/><Relationship Id="rId45" Type="http://schemas.openxmlformats.org/officeDocument/2006/relationships/font" Target="fonts/JosefinSlab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antarell-regular.fntdata"/><Relationship Id="rId47" Type="http://schemas.openxmlformats.org/officeDocument/2006/relationships/font" Target="fonts/JosefinSlab-boldItalic.fntdata"/><Relationship Id="rId49" Type="http://schemas.openxmlformats.org/officeDocument/2006/relationships/font" Target="fonts/Cantarell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antarell-boldItalic.fntdata"/><Relationship Id="rId50" Type="http://schemas.openxmlformats.org/officeDocument/2006/relationships/font" Target="fonts/Cantarell-italic.fntdata"/><Relationship Id="rId53" Type="http://schemas.openxmlformats.org/officeDocument/2006/relationships/font" Target="fonts/OpenSans-regular.fntdata"/><Relationship Id="rId52" Type="http://schemas.openxmlformats.org/officeDocument/2006/relationships/font" Target="fonts/Junge-regular.fntdata"/><Relationship Id="rId11" Type="http://schemas.openxmlformats.org/officeDocument/2006/relationships/slide" Target="slides/slide5.xml"/><Relationship Id="rId55" Type="http://schemas.openxmlformats.org/officeDocument/2006/relationships/font" Target="fonts/OpenSans-italic.fntdata"/><Relationship Id="rId10" Type="http://schemas.openxmlformats.org/officeDocument/2006/relationships/slide" Target="slides/slide4.xml"/><Relationship Id="rId54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f6df2b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f6df2b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f6df2b_0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f6df2b_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f6df2b_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f6df2b_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f6df2b_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0f6df2b_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0f6df2b_0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0f6df2b_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0f6df2b_0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0f6df2b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f6df2b_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0f6df2b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0f6df2b_0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0f6df2b_0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0f6df2b_02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0f6df2b_0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8b49d0ad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8b49d0ad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f6df2b_0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0f6df2b_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f6df2b_0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0f6df2b_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8b49d0ad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48b49d0ad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8b49d0ad_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8b49d0ad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f6df2b_0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0f6df2b_0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8b49d0ad_0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8b49d0ad_0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8b49d0ad_0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8b49d0ad_0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8b49d0ad_0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8b49d0ad_0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8b49d0ad_0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8b49d0ad_0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0f6df2b_0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0f6df2b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f6df2b_0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0f6df2b_0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0f6df2b_0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0f6df2b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48b49d0ad_0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48b49d0ad_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0f6df2b_0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0f6df2b_0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0f6df2b_0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0f6df2b_0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0f6df2b_0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0f6df2b_0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0f6df2b_0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0f6df2b_0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48b49d0ad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48b49d0ad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8b49d0ad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48b49d0a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48b90f72c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48b90f72c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48b90f72c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48b90f72c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48b90f72c_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48b90f72c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48b90f72c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48b90f72c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48b90f72c_0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48b90f72c_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8b90f72c_0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8b90f72c_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48b90f72c_0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48b90f72c_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>
              <a:spcBef>
                <a:spcPts val="600"/>
              </a:spcBef>
              <a:spcAft>
                <a:spcPts val="0"/>
              </a:spcAft>
              <a:buSzPts val="2600"/>
              <a:buFont typeface="Open Sans"/>
              <a:buChar char="●"/>
              <a:defRPr sz="2600">
                <a:latin typeface="Open Sans"/>
                <a:ea typeface="Open Sans"/>
                <a:cs typeface="Open Sans"/>
                <a:sym typeface="Open Sans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200"/>
              <a:buFont typeface="Cantarell"/>
              <a:buChar char="○"/>
              <a:defRPr sz="2200">
                <a:solidFill>
                  <a:srgbClr val="38761D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i="1" sz="18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●"/>
              <a:defRPr b="1" sz="1400">
                <a:solidFill>
                  <a:srgbClr val="0000FF"/>
                </a:solidFill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93700" lvl="1" marL="914400" rtl="0">
              <a:spcBef>
                <a:spcPts val="0"/>
              </a:spcBef>
              <a:spcAft>
                <a:spcPts val="0"/>
              </a:spcAft>
              <a:buSzPts val="2600"/>
              <a:buFont typeface="Cantarell"/>
              <a:buChar char="○"/>
              <a:defRPr sz="2600">
                <a:latin typeface="Cantarell"/>
                <a:ea typeface="Cantarell"/>
                <a:cs typeface="Cantarell"/>
                <a:sym typeface="Cantarell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■"/>
              <a:defRPr i="1" sz="22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1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8" name="Google Shape;38;p9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9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43" name="Google Shape;43;p10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48" name="Google Shape;48;p11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51" name="Google Shape;51;p12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4" name="Google Shape;54;p13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4" name="Google Shape;34;p8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timkastelle.org/blog/2012/02/two-problems-caused-by-the-innovation-diffusion-curve/" TargetMode="External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Elements of diffusion: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Actors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Usually people but also groups, organizations, etc.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Flow</a:t>
            </a:r>
            <a:r>
              <a:rPr lang="en">
                <a:solidFill>
                  <a:srgbClr val="D9D9D9"/>
                </a:solidFill>
              </a:rPr>
              <a:t> 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From </a:t>
            </a:r>
            <a:r>
              <a:rPr b="1" lang="en">
                <a:solidFill>
                  <a:srgbClr val="D9D9D9"/>
                </a:solidFill>
              </a:rPr>
              <a:t>source</a:t>
            </a:r>
            <a:r>
              <a:rPr lang="en">
                <a:solidFill>
                  <a:srgbClr val="D9D9D9"/>
                </a:solidFill>
              </a:rPr>
              <a:t> to </a:t>
            </a:r>
            <a:r>
              <a:rPr b="1" lang="en">
                <a:solidFill>
                  <a:srgbClr val="D9D9D9"/>
                </a:solidFill>
              </a:rPr>
              <a:t>adopter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Mechanism</a:t>
            </a:r>
            <a:r>
              <a:rPr lang="en">
                <a:solidFill>
                  <a:srgbClr val="D9D9D9"/>
                </a:solidFill>
              </a:rPr>
              <a:t> 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Imitation, influence, transfer, etc.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Outcome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Adoption, conversion, infection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Elements of diffusion: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Actors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Flow</a:t>
            </a:r>
            <a:r>
              <a:rPr lang="en">
                <a:solidFill>
                  <a:srgbClr val="D9D9D9"/>
                </a:solidFill>
              </a:rPr>
              <a:t> 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From </a:t>
            </a:r>
            <a:r>
              <a:rPr b="1" lang="en">
                <a:solidFill>
                  <a:srgbClr val="D9D9D9"/>
                </a:solidFill>
              </a:rPr>
              <a:t>source</a:t>
            </a:r>
            <a:r>
              <a:rPr lang="en">
                <a:solidFill>
                  <a:srgbClr val="D9D9D9"/>
                </a:solidFill>
              </a:rPr>
              <a:t> to </a:t>
            </a:r>
            <a:r>
              <a:rPr b="1" lang="en">
                <a:solidFill>
                  <a:srgbClr val="D9D9D9"/>
                </a:solidFill>
              </a:rPr>
              <a:t>adopter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Mechanism</a:t>
            </a:r>
            <a:r>
              <a:rPr lang="en">
                <a:solidFill>
                  <a:srgbClr val="D9D9D9"/>
                </a:solidFill>
              </a:rPr>
              <a:t> 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Imitation, influence, transfer, etc.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Outcome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Adoption, conversion, infection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Elements of diffusion: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Actors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Flow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</a:t>
            </a:r>
            <a:r>
              <a:rPr b="1" lang="en"/>
              <a:t>source</a:t>
            </a:r>
            <a:r>
              <a:rPr lang="en"/>
              <a:t> to </a:t>
            </a:r>
            <a:r>
              <a:rPr b="1" lang="en"/>
              <a:t>adopter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Mechanism</a:t>
            </a:r>
            <a:r>
              <a:rPr lang="en">
                <a:solidFill>
                  <a:srgbClr val="D9D9D9"/>
                </a:solidFill>
              </a:rPr>
              <a:t> 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Imitation, influence, transfer, etc.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Outcome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Adoption, conversion, infection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Elements of diffusion: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Actors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Flow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</a:t>
            </a:r>
            <a:r>
              <a:rPr b="1" lang="en"/>
              <a:t>source</a:t>
            </a:r>
            <a:r>
              <a:rPr lang="en"/>
              <a:t> to </a:t>
            </a:r>
            <a:r>
              <a:rPr b="1" lang="en"/>
              <a:t>adopter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Mechanism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Imitation, influence, transfer, etc.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i="1" lang="en">
                <a:solidFill>
                  <a:srgbClr val="D9D9D9"/>
                </a:solidFill>
              </a:rPr>
              <a:t>Outcome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Adoption, conversion, infection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Elements of diffusion: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Actors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Flow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</a:t>
            </a:r>
            <a:r>
              <a:rPr b="1" lang="en"/>
              <a:t>source</a:t>
            </a:r>
            <a:r>
              <a:rPr lang="en"/>
              <a:t> to </a:t>
            </a:r>
            <a:r>
              <a:rPr b="1" lang="en"/>
              <a:t>adopter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"/>
              <a:t>Mechanism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Imitation, influence, transfer, etc.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</a:pPr>
            <a:r>
              <a:rPr i="1" lang="en">
                <a:solidFill>
                  <a:srgbClr val="000000"/>
                </a:solidFill>
              </a:rPr>
              <a:t>Outcome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Adoption, conversion, infection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Three Factors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Characteristics of the object being diffused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Familiar/unfamiliar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High risk (consequential) v. low risk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Cost/benefit ratio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Characteristics of the source and adopter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Individual versus collective actor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High status v. Low status actor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Similar v. dissimilar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Environmental Context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Proximity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Social Foci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Network Structure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Overall something diffuses faster if: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It is familiar rather than unfamiliar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It is relatively inconsequential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Benefits outweigh costs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source is high status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Source and target share social attributes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Source and target are geographically proximate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Source and target share overlapping social foci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network structure is conducive to diffusion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Centralization v. De-Centralization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Connectivity v. Segmentation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Density v. Sparseness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Strong ties v. Weak ties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Bridging v. Redundant Ties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Diffusion via cohesion and opinion leaders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Diffusion via positional equivalence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Diffusion via weak-ties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Network Threshold Models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Global threshold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Local threshold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“Complex” versus “simplex” contagion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457200" y="1600200"/>
            <a:ext cx="3340800" cy="49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Initial slow uptake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Rapid spread 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-shapedcurve.jpg"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000" y="2401763"/>
            <a:ext cx="4914900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591" y="1677238"/>
            <a:ext cx="4275334" cy="4238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/>
        </p:nvSpPr>
        <p:spPr>
          <a:xfrm>
            <a:off x="1127553" y="5857700"/>
            <a:ext cx="69846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Ryan, B. and N.C. Gross (1943) The Diffusion of Hybrid Seed Corn in Two Iowa Communities, </a:t>
            </a:r>
            <a:r>
              <a:rPr i="1"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Rural Sociolog</a:t>
            </a: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y, 8: 15-24.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/>
        </p:nvSpPr>
        <p:spPr>
          <a:xfrm>
            <a:off x="457200" y="5628475"/>
            <a:ext cx="7996500" cy="1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González-Bailón, S., Borge-Holthoefer, J., Rivero, A., &amp; Moreno, Y. (2011). The dynamics of protest recruitment through an online network. </a:t>
            </a:r>
            <a:r>
              <a:rPr i="1"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Nature Scientific reports</a:t>
            </a: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, </a:t>
            </a:r>
            <a:r>
              <a:rPr i="1"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sz="1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rep00197-f1.jpg" id="125" name="Google Shape;1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750" y="443700"/>
            <a:ext cx="7434500" cy="524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threshold model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Better question: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What is your q?</a:t>
            </a:r>
            <a:endParaRPr/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0 &gt; q(i) &lt; 1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(i) adopts when the proportion of people who have adopted (p) is equal to q(i)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threshold model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Char char="○"/>
            </a:pPr>
            <a:r>
              <a:rPr lang="en">
                <a:solidFill>
                  <a:srgbClr val="D9D9D9"/>
                </a:solidFill>
              </a:rPr>
              <a:t>People have different q values 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lang="en">
                <a:solidFill>
                  <a:srgbClr val="D9D9D9"/>
                </a:solidFill>
              </a:rPr>
              <a:t>Some high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lang="en">
                <a:solidFill>
                  <a:srgbClr val="D9D9D9"/>
                </a:solidFill>
              </a:rPr>
              <a:t>Some Low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lang="en">
                <a:solidFill>
                  <a:srgbClr val="D9D9D9"/>
                </a:solidFill>
              </a:rPr>
              <a:t>Most in the Middle (a bell curve)</a:t>
            </a:r>
            <a:endParaRPr>
              <a:solidFill>
                <a:srgbClr val="D9D9D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■"/>
            </a:pPr>
            <a:r>
              <a:rPr lang="en">
                <a:solidFill>
                  <a:srgbClr val="D9D9D9"/>
                </a:solidFill>
              </a:rPr>
              <a:t>This explains the S-shaped pattern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Slow uptake when adoption is concentrated among a few low q people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Faster as the majority of middle q people join in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Slow again as the last few high q people finally adopt</a:t>
            </a:r>
            <a:endParaRPr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threshold model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Some high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Some Low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Slow uptake when adoption is concentrated among a few low q people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Faster as the majority of middle q people join in</a:t>
            </a:r>
            <a:endParaRPr>
              <a:solidFill>
                <a:srgbClr val="D9D9D9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</a:pPr>
            <a:r>
              <a:rPr lang="en">
                <a:solidFill>
                  <a:srgbClr val="D9D9D9"/>
                </a:solidFill>
              </a:rPr>
              <a:t>Slow again as the last few high q people finally adopt</a:t>
            </a:r>
            <a:endParaRPr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threshold model</a:t>
            </a:r>
            <a:endParaRPr/>
          </a:p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Some high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Some Low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as the majority of middle q people join in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again as the last few high q people finally adopt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</a:t>
            </a:r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66" y="1663477"/>
            <a:ext cx="6067468" cy="423184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0"/>
          <p:cNvSpPr txBox="1"/>
          <p:nvPr/>
        </p:nvSpPr>
        <p:spPr>
          <a:xfrm>
            <a:off x="784799" y="5895318"/>
            <a:ext cx="766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Rogers, E.M.(1962) </a:t>
            </a:r>
            <a:r>
              <a:rPr i="1"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The Diffusion of Innovations</a:t>
            </a: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, Free Press, New York.</a:t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</a:t>
            </a:r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66" y="1663477"/>
            <a:ext cx="6067468" cy="423184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/>
        </p:nvSpPr>
        <p:spPr>
          <a:xfrm>
            <a:off x="784799" y="5895318"/>
            <a:ext cx="766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Rogers, E.M.(1962) </a:t>
            </a:r>
            <a:r>
              <a:rPr i="1"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The Diffusion of Innovations</a:t>
            </a: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, Free Press, New York.</a:t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65" name="Google Shape;165;p31"/>
          <p:cNvSpPr txBox="1"/>
          <p:nvPr/>
        </p:nvSpPr>
        <p:spPr>
          <a:xfrm>
            <a:off x="1475425" y="3019150"/>
            <a:ext cx="1461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Tipping point</a:t>
            </a:r>
            <a:endParaRPr b="1"/>
          </a:p>
        </p:txBody>
      </p:sp>
      <p:cxnSp>
        <p:nvCxnSpPr>
          <p:cNvPr id="166" name="Google Shape;166;p31"/>
          <p:cNvCxnSpPr>
            <a:stCxn id="165" idx="2"/>
          </p:cNvCxnSpPr>
          <p:nvPr/>
        </p:nvCxnSpPr>
        <p:spPr>
          <a:xfrm>
            <a:off x="2206375" y="3347050"/>
            <a:ext cx="1099800" cy="124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</a:t>
            </a:r>
            <a:endParaRPr/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66" y="1663477"/>
            <a:ext cx="6067468" cy="423184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2"/>
          <p:cNvSpPr txBox="1"/>
          <p:nvPr/>
        </p:nvSpPr>
        <p:spPr>
          <a:xfrm>
            <a:off x="784799" y="5895318"/>
            <a:ext cx="766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Rogers, E.M.(1962) </a:t>
            </a:r>
            <a:r>
              <a:rPr i="1"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The Diffusion of Innovations</a:t>
            </a: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, Free Press, New York.</a:t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75" name="Google Shape;175;p32"/>
          <p:cNvCxnSpPr>
            <a:stCxn id="176" idx="2"/>
          </p:cNvCxnSpPr>
          <p:nvPr/>
        </p:nvCxnSpPr>
        <p:spPr>
          <a:xfrm>
            <a:off x="2255175" y="3606728"/>
            <a:ext cx="818700" cy="1202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32"/>
          <p:cNvSpPr txBox="1"/>
          <p:nvPr/>
        </p:nvSpPr>
        <p:spPr>
          <a:xfrm>
            <a:off x="958425" y="2826128"/>
            <a:ext cx="25935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Failed Innovations die before reaching the tipping point</a:t>
            </a:r>
            <a:endParaRPr b="1"/>
          </a:p>
        </p:txBody>
      </p:sp>
      <p:sp>
        <p:nvSpPr>
          <p:cNvPr id="177" name="Google Shape;177;p32"/>
          <p:cNvSpPr/>
          <p:nvPr/>
        </p:nvSpPr>
        <p:spPr>
          <a:xfrm>
            <a:off x="1707675" y="4859491"/>
            <a:ext cx="1775975" cy="304525"/>
          </a:xfrm>
          <a:custGeom>
            <a:rect b="b" l="l" r="r" t="t"/>
            <a:pathLst>
              <a:path extrusionOk="0" h="12181" w="71039">
                <a:moveTo>
                  <a:pt x="0" y="10541"/>
                </a:moveTo>
                <a:cubicBezTo>
                  <a:pt x="3188" y="10177"/>
                  <a:pt x="10565" y="10086"/>
                  <a:pt x="19126" y="8356"/>
                </a:cubicBezTo>
                <a:cubicBezTo>
                  <a:pt x="27687" y="6626"/>
                  <a:pt x="42715" y="-478"/>
                  <a:pt x="51367" y="159"/>
                </a:cubicBezTo>
                <a:cubicBezTo>
                  <a:pt x="60019" y="797"/>
                  <a:pt x="67760" y="10177"/>
                  <a:pt x="71039" y="12181"/>
                </a:cubicBezTo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</a:t>
            </a:r>
            <a:endParaRPr/>
          </a:p>
        </p:txBody>
      </p:sp>
      <p:sp>
        <p:nvSpPr>
          <p:cNvPr id="184" name="Google Shape;184;p33"/>
          <p:cNvSpPr txBox="1"/>
          <p:nvPr/>
        </p:nvSpPr>
        <p:spPr>
          <a:xfrm>
            <a:off x="784800" y="5519173"/>
            <a:ext cx="7669200" cy="1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Josefin Slab"/>
                <a:ea typeface="Josefin Slab"/>
                <a:cs typeface="Josefin Slab"/>
                <a:sym typeface="Josefin Slab"/>
              </a:rPr>
              <a:t>Kastelle, T (2012) </a:t>
            </a: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Two Problems Caused by the Innovation Diffusion Curve</a:t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  <a:hlinkClick r:id="rId3"/>
              </a:rPr>
              <a:t>http://timkastelle.org/blog/2012/02/two-problems-caused-by-the-innovation-diffusion-curve/</a:t>
            </a: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 (last accessed October 9th 2014)</a:t>
            </a:r>
            <a:endParaRPr sz="1800">
              <a:highlight>
                <a:srgbClr val="FFFFFF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techadoptioncycle.png"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50" y="2279525"/>
            <a:ext cx="758190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/>
        </p:nvSpPr>
        <p:spPr>
          <a:xfrm>
            <a:off x="6434500" y="3538300"/>
            <a:ext cx="1844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Area under the curve represents number of adopters</a:t>
            </a:r>
            <a:endParaRPr b="1"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457200" y="5827425"/>
            <a:ext cx="82296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chemeClr val="lt1"/>
                </a:highlight>
                <a:latin typeface="Josefin Slab"/>
                <a:ea typeface="Josefin Slab"/>
                <a:cs typeface="Josefin Slab"/>
                <a:sym typeface="Josefin Slab"/>
              </a:rPr>
              <a:t>Thompson, D. (2012) The 100-Year March of Technology in 1 Graph. http://www.theatlantic.com/technology/archive/2012/04/the-100-year-march-of-technology-in-1-graph/255573/ (last accessed October 9th 2014)</a:t>
            </a:r>
            <a:endParaRPr sz="1400">
              <a:highlight>
                <a:schemeClr val="lt1"/>
              </a:highlight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history-of-products.gif"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603190"/>
            <a:ext cx="8686800" cy="3651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</a:t>
            </a:r>
            <a:endParaRPr/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Innovators and Early adopters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Individuals whose time-of-adoption is greater than one standard deviation earlier than the average time-of-adoption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Early and late majorities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Individuals whose time-of-adoption is bounded by one  standard deviation earlier and later than the average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Laggards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Individuals who adopted later than one standard deviation from the average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Global threshold models are appropriate for adoptions of behaviors that are public and observable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Not always the case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The network threshold model relaxes the assumption that persons have global information on all adoptions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They only know what their contacts are doing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Individuals adopt when some proportion of their friends adopt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More appropriate for the adoption of practices, behaviors and ideas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Also appropriate when adoption behavior entails uncertainty and risk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Each person (i) has some exposure e(i)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e(i) = proportion of i’s friends who adopted</a:t>
            </a:r>
            <a:endParaRPr/>
          </a:p>
        </p:txBody>
      </p:sp>
      <p:sp>
        <p:nvSpPr>
          <p:cNvPr id="211" name="Google Shape;21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grpSp>
        <p:nvGrpSpPr>
          <p:cNvPr id="212" name="Google Shape;212;p37"/>
          <p:cNvGrpSpPr/>
          <p:nvPr/>
        </p:nvGrpSpPr>
        <p:grpSpPr>
          <a:xfrm>
            <a:off x="705405" y="3706840"/>
            <a:ext cx="1049812" cy="1046933"/>
            <a:chOff x="664100" y="3690700"/>
            <a:chExt cx="1488250" cy="1395725"/>
          </a:xfrm>
        </p:grpSpPr>
        <p:sp>
          <p:nvSpPr>
            <p:cNvPr id="213" name="Google Shape;213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8" name="Google Shape;218;p37"/>
            <p:cNvCxnSpPr>
              <a:stCxn id="213" idx="7"/>
              <a:endCxn id="214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37"/>
            <p:cNvCxnSpPr>
              <a:stCxn id="213" idx="5"/>
              <a:endCxn id="215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37"/>
            <p:cNvCxnSpPr>
              <a:stCxn id="213" idx="1"/>
              <a:endCxn id="216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37"/>
            <p:cNvCxnSpPr>
              <a:stCxn id="213" idx="3"/>
              <a:endCxn id="217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2" name="Google Shape;222;p37"/>
          <p:cNvGrpSpPr/>
          <p:nvPr/>
        </p:nvGrpSpPr>
        <p:grpSpPr>
          <a:xfrm>
            <a:off x="2430626" y="3706840"/>
            <a:ext cx="1049812" cy="1046933"/>
            <a:chOff x="664100" y="3690700"/>
            <a:chExt cx="1488250" cy="1395725"/>
          </a:xfrm>
        </p:grpSpPr>
        <p:sp>
          <p:nvSpPr>
            <p:cNvPr id="223" name="Google Shape;223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rgbClr val="CCCCC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8" name="Google Shape;228;p37"/>
            <p:cNvCxnSpPr>
              <a:stCxn id="223" idx="7"/>
              <a:endCxn id="224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37"/>
            <p:cNvCxnSpPr>
              <a:stCxn id="223" idx="5"/>
              <a:endCxn id="225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37"/>
            <p:cNvCxnSpPr>
              <a:stCxn id="223" idx="1"/>
              <a:endCxn id="226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37"/>
            <p:cNvCxnSpPr>
              <a:stCxn id="223" idx="3"/>
              <a:endCxn id="227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2" name="Google Shape;232;p37"/>
          <p:cNvGrpSpPr/>
          <p:nvPr/>
        </p:nvGrpSpPr>
        <p:grpSpPr>
          <a:xfrm>
            <a:off x="705404" y="5223381"/>
            <a:ext cx="1049812" cy="1046933"/>
            <a:chOff x="664100" y="3690700"/>
            <a:chExt cx="1488250" cy="1395725"/>
          </a:xfrm>
        </p:grpSpPr>
        <p:sp>
          <p:nvSpPr>
            <p:cNvPr id="233" name="Google Shape;233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8" name="Google Shape;238;p37"/>
            <p:cNvCxnSpPr>
              <a:stCxn id="233" idx="7"/>
              <a:endCxn id="234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37"/>
            <p:cNvCxnSpPr>
              <a:stCxn id="233" idx="5"/>
              <a:endCxn id="235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37"/>
            <p:cNvCxnSpPr>
              <a:stCxn id="233" idx="1"/>
              <a:endCxn id="236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37"/>
            <p:cNvCxnSpPr>
              <a:stCxn id="233" idx="3"/>
              <a:endCxn id="237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2" name="Google Shape;242;p37"/>
          <p:cNvGrpSpPr/>
          <p:nvPr/>
        </p:nvGrpSpPr>
        <p:grpSpPr>
          <a:xfrm>
            <a:off x="2430625" y="5223381"/>
            <a:ext cx="1049812" cy="1046933"/>
            <a:chOff x="664100" y="3690700"/>
            <a:chExt cx="1488250" cy="1395725"/>
          </a:xfrm>
        </p:grpSpPr>
        <p:sp>
          <p:nvSpPr>
            <p:cNvPr id="243" name="Google Shape;243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8" name="Google Shape;248;p37"/>
            <p:cNvCxnSpPr>
              <a:stCxn id="243" idx="7"/>
              <a:endCxn id="244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37"/>
            <p:cNvCxnSpPr>
              <a:stCxn id="243" idx="5"/>
              <a:endCxn id="245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37"/>
            <p:cNvCxnSpPr>
              <a:stCxn id="243" idx="1"/>
              <a:endCxn id="246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37"/>
            <p:cNvCxnSpPr>
              <a:stCxn id="243" idx="3"/>
              <a:endCxn id="247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2" name="Google Shape;252;p37"/>
          <p:cNvSpPr txBox="1"/>
          <p:nvPr/>
        </p:nvSpPr>
        <p:spPr>
          <a:xfrm>
            <a:off x="457200" y="3783825"/>
            <a:ext cx="6012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7"/>
          <p:cNvSpPr txBox="1"/>
          <p:nvPr/>
        </p:nvSpPr>
        <p:spPr>
          <a:xfrm>
            <a:off x="827250" y="480847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1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2552475" y="480847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2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827263" y="627032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3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2552475" y="627032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4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1194925" y="3346825"/>
            <a:ext cx="1721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Person 1: q = 0.25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grpSp>
        <p:nvGrpSpPr>
          <p:cNvPr id="258" name="Google Shape;258;p37"/>
          <p:cNvGrpSpPr/>
          <p:nvPr/>
        </p:nvGrpSpPr>
        <p:grpSpPr>
          <a:xfrm>
            <a:off x="5911780" y="3706940"/>
            <a:ext cx="1049812" cy="1046933"/>
            <a:chOff x="664100" y="3690700"/>
            <a:chExt cx="1488250" cy="1395725"/>
          </a:xfrm>
        </p:grpSpPr>
        <p:sp>
          <p:nvSpPr>
            <p:cNvPr id="259" name="Google Shape;259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4" name="Google Shape;264;p37"/>
            <p:cNvCxnSpPr>
              <a:stCxn id="259" idx="7"/>
              <a:endCxn id="260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37"/>
            <p:cNvCxnSpPr>
              <a:stCxn id="259" idx="5"/>
              <a:endCxn id="261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" name="Google Shape;266;p37"/>
            <p:cNvCxnSpPr>
              <a:stCxn id="259" idx="1"/>
              <a:endCxn id="262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37"/>
            <p:cNvCxnSpPr>
              <a:stCxn id="259" idx="3"/>
              <a:endCxn id="263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8" name="Google Shape;268;p37"/>
          <p:cNvGrpSpPr/>
          <p:nvPr/>
        </p:nvGrpSpPr>
        <p:grpSpPr>
          <a:xfrm>
            <a:off x="7637001" y="3706940"/>
            <a:ext cx="1049812" cy="1046933"/>
            <a:chOff x="664100" y="3690700"/>
            <a:chExt cx="1488250" cy="1395725"/>
          </a:xfrm>
        </p:grpSpPr>
        <p:sp>
          <p:nvSpPr>
            <p:cNvPr id="269" name="Google Shape;269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rgbClr val="CCCCC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4" name="Google Shape;274;p37"/>
            <p:cNvCxnSpPr>
              <a:stCxn id="269" idx="7"/>
              <a:endCxn id="270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37"/>
            <p:cNvCxnSpPr>
              <a:stCxn id="269" idx="5"/>
              <a:endCxn id="271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37"/>
            <p:cNvCxnSpPr>
              <a:stCxn id="269" idx="1"/>
              <a:endCxn id="272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37"/>
            <p:cNvCxnSpPr>
              <a:stCxn id="269" idx="3"/>
              <a:endCxn id="273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8" name="Google Shape;278;p37"/>
          <p:cNvGrpSpPr/>
          <p:nvPr/>
        </p:nvGrpSpPr>
        <p:grpSpPr>
          <a:xfrm>
            <a:off x="5911779" y="5223481"/>
            <a:ext cx="1049812" cy="1046933"/>
            <a:chOff x="664100" y="3690700"/>
            <a:chExt cx="1488250" cy="1395725"/>
          </a:xfrm>
        </p:grpSpPr>
        <p:sp>
          <p:nvSpPr>
            <p:cNvPr id="279" name="Google Shape;279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4" name="Google Shape;284;p37"/>
            <p:cNvCxnSpPr>
              <a:stCxn id="279" idx="7"/>
              <a:endCxn id="280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37"/>
            <p:cNvCxnSpPr>
              <a:stCxn id="279" idx="5"/>
              <a:endCxn id="281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p37"/>
            <p:cNvCxnSpPr>
              <a:stCxn id="279" idx="1"/>
              <a:endCxn id="282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37"/>
            <p:cNvCxnSpPr>
              <a:stCxn id="279" idx="3"/>
              <a:endCxn id="283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8" name="Google Shape;288;p37"/>
          <p:cNvGrpSpPr/>
          <p:nvPr/>
        </p:nvGrpSpPr>
        <p:grpSpPr>
          <a:xfrm>
            <a:off x="7637000" y="5223481"/>
            <a:ext cx="1049812" cy="1046933"/>
            <a:chOff x="664100" y="3690700"/>
            <a:chExt cx="1488250" cy="1395725"/>
          </a:xfrm>
        </p:grpSpPr>
        <p:sp>
          <p:nvSpPr>
            <p:cNvPr id="289" name="Google Shape;289;p37"/>
            <p:cNvSpPr/>
            <p:nvPr/>
          </p:nvSpPr>
          <p:spPr>
            <a:xfrm>
              <a:off x="1193875" y="419345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174255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1742550" y="4717425"/>
              <a:ext cx="409800" cy="3690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7"/>
            <p:cNvSpPr/>
            <p:nvPr/>
          </p:nvSpPr>
          <p:spPr>
            <a:xfrm>
              <a:off x="664100" y="3690700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664100" y="4717425"/>
              <a:ext cx="409800" cy="3690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4" name="Google Shape;294;p37"/>
            <p:cNvCxnSpPr>
              <a:stCxn id="289" idx="7"/>
              <a:endCxn id="290" idx="3"/>
            </p:cNvCxnSpPr>
            <p:nvPr/>
          </p:nvCxnSpPr>
          <p:spPr>
            <a:xfrm flipH="1" rot="10800000">
              <a:off x="1543661" y="4005689"/>
              <a:ext cx="2589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37"/>
            <p:cNvCxnSpPr>
              <a:stCxn id="289" idx="5"/>
              <a:endCxn id="291" idx="1"/>
            </p:cNvCxnSpPr>
            <p:nvPr/>
          </p:nvCxnSpPr>
          <p:spPr>
            <a:xfrm>
              <a:off x="1543661" y="4508411"/>
              <a:ext cx="2589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37"/>
            <p:cNvCxnSpPr>
              <a:stCxn id="289" idx="1"/>
              <a:endCxn id="292" idx="5"/>
            </p:cNvCxnSpPr>
            <p:nvPr/>
          </p:nvCxnSpPr>
          <p:spPr>
            <a:xfrm rot="10800000">
              <a:off x="1013889" y="4005689"/>
              <a:ext cx="240000" cy="24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37"/>
            <p:cNvCxnSpPr>
              <a:stCxn id="289" idx="3"/>
              <a:endCxn id="293" idx="7"/>
            </p:cNvCxnSpPr>
            <p:nvPr/>
          </p:nvCxnSpPr>
          <p:spPr>
            <a:xfrm flipH="1">
              <a:off x="1013889" y="4508411"/>
              <a:ext cx="240000" cy="26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8" name="Google Shape;298;p37"/>
          <p:cNvSpPr txBox="1"/>
          <p:nvPr/>
        </p:nvSpPr>
        <p:spPr>
          <a:xfrm>
            <a:off x="5663575" y="3783925"/>
            <a:ext cx="6012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"/>
          <p:cNvSpPr txBox="1"/>
          <p:nvPr/>
        </p:nvSpPr>
        <p:spPr>
          <a:xfrm>
            <a:off x="6033625" y="480857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1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300" name="Google Shape;300;p37"/>
          <p:cNvSpPr txBox="1"/>
          <p:nvPr/>
        </p:nvSpPr>
        <p:spPr>
          <a:xfrm>
            <a:off x="7758850" y="480857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2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6033638" y="627042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3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7758850" y="6270425"/>
            <a:ext cx="80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4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6401300" y="3346925"/>
            <a:ext cx="1721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Person 2: q = 0.75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González-Bailón, S., Borge-Holthoefer, J., Rivero, A., &amp; Moreno, Y. (2011). The dynamics of protest recruitment through an online network. </a:t>
            </a:r>
            <a:r>
              <a:rPr i="1"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Nature Scientific reports</a:t>
            </a: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, </a:t>
            </a:r>
            <a:r>
              <a:rPr i="1"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sz="1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rep00197-f2.jpg" id="309" name="Google Shape;309;p38"/>
          <p:cNvPicPr preferRelativeResize="0"/>
          <p:nvPr/>
        </p:nvPicPr>
        <p:blipFill rotWithShape="1">
          <a:blip r:embed="rId3">
            <a:alphaModFix/>
          </a:blip>
          <a:srcRect b="51193" l="0" r="0" t="3544"/>
          <a:stretch/>
        </p:blipFill>
        <p:spPr>
          <a:xfrm>
            <a:off x="877338" y="409825"/>
            <a:ext cx="7389326" cy="52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15" name="Google Shape;315;p3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Just like before, everybody has a threshold q(i)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When the proportion of neighbors who have adopted equals q(i), the person adopts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We can then redefine adopter categories (e.g. innovators) as either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Relative to everybody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Relative to your friend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For instance you can be an innovator in the grand scheme of things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But be a relative laggard compared to your friends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If all of your friends are innovators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Just like before, everybody has a threshold q(i)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When the proportion of neighbors who have adopted equals q(i), the person adopts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We can then redefine adopter categories (e.g. innovators) as either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Relative to everybody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Relative to your friend</a:t>
            </a:r>
            <a:endParaRPr/>
          </a:p>
          <a:p>
            <a:pPr indent="-3937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ntarell"/>
              <a:buChar char="○"/>
            </a:pPr>
            <a:r>
              <a:rPr lang="en"/>
              <a:t>You can be a laggard in the grand scheme of things</a:t>
            </a:r>
            <a:endParaRPr/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But be an innovator among your friends</a:t>
            </a:r>
            <a:endParaRPr/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Because you are surrounded by even bigger laggards!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For instance, early adopters adopt from media or weak ties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Late adopters adopt from their friends/strong ties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This seems to reflect a local/Cosmopolitan split</a:t>
            </a:r>
            <a:endParaRPr/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</a:pPr>
            <a:r>
              <a:rPr lang="en"/>
              <a:t>Cosmopolitan innovators tend to be early adopters relative to the system and have very low threshold relative to their network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33" name="Google Shape;333;p4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Revisiting the Roger’s classification using Valente’s model</a:t>
            </a:r>
            <a:endParaRPr/>
          </a:p>
        </p:txBody>
      </p:sp>
      <p:graphicFrame>
        <p:nvGraphicFramePr>
          <p:cNvPr id="334" name="Google Shape;334;p42"/>
          <p:cNvGraphicFramePr/>
          <p:nvPr/>
        </p:nvGraphicFramePr>
        <p:xfrm>
          <a:off x="3180250" y="414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{7DEABDF8-1CD2-4E00-8186-C82D195AAF20}</a:tableStyleId>
              </a:tblPr>
              <a:tblGrid>
                <a:gridCol w="2327250"/>
                <a:gridCol w="2327250"/>
              </a:tblGrid>
              <a:tr h="114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True innovators (influentials)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Isolates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</a:tr>
              <a:tr h="114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Connected Bandwagon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Resistant rearguard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35" name="Google Shape;335;p42"/>
          <p:cNvSpPr txBox="1"/>
          <p:nvPr/>
        </p:nvSpPr>
        <p:spPr>
          <a:xfrm>
            <a:off x="2430550" y="4143650"/>
            <a:ext cx="9390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Low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High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36" name="Google Shape;336;p42"/>
          <p:cNvSpPr txBox="1"/>
          <p:nvPr/>
        </p:nvSpPr>
        <p:spPr>
          <a:xfrm>
            <a:off x="457198" y="4303850"/>
            <a:ext cx="20685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Personal Network Threshold</a:t>
            </a:r>
            <a:endParaRPr b="1"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3849700" y="3607314"/>
            <a:ext cx="37128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Low				High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3369550" y="3345225"/>
            <a:ext cx="44652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Whole Network Threshold</a:t>
            </a:r>
            <a:endParaRPr b="1"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44" name="Google Shape;344;p4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Revisiting the Roger’s classification using Valente’s model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Who's an “opinion leader”?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Early adopters who convince those with high network thresholds (but similar system threshold) to adopt</a:t>
            </a:r>
            <a:endParaRPr/>
          </a:p>
        </p:txBody>
      </p:sp>
      <p:graphicFrame>
        <p:nvGraphicFramePr>
          <p:cNvPr id="345" name="Google Shape;345;p43"/>
          <p:cNvGraphicFramePr/>
          <p:nvPr/>
        </p:nvGraphicFramePr>
        <p:xfrm>
          <a:off x="3180250" y="414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{7DEABDF8-1CD2-4E00-8186-C82D195AAF20}</a:tableStyleId>
              </a:tblPr>
              <a:tblGrid>
                <a:gridCol w="2327250"/>
                <a:gridCol w="2327250"/>
              </a:tblGrid>
              <a:tr h="114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True innovators (influentials)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Isolates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</a:tr>
              <a:tr h="114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Connected Bandwagon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4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Resistant rearguard</a:t>
                      </a:r>
                      <a:endParaRPr i="1" sz="24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46" name="Google Shape;346;p43"/>
          <p:cNvSpPr txBox="1"/>
          <p:nvPr/>
        </p:nvSpPr>
        <p:spPr>
          <a:xfrm>
            <a:off x="2430550" y="4143650"/>
            <a:ext cx="9390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Low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High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47" name="Google Shape;347;p43"/>
          <p:cNvSpPr txBox="1"/>
          <p:nvPr/>
        </p:nvSpPr>
        <p:spPr>
          <a:xfrm>
            <a:off x="457198" y="4303850"/>
            <a:ext cx="20685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Personal Network Threshold</a:t>
            </a:r>
            <a:endParaRPr b="1"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48" name="Google Shape;348;p43"/>
          <p:cNvSpPr txBox="1"/>
          <p:nvPr/>
        </p:nvSpPr>
        <p:spPr>
          <a:xfrm>
            <a:off x="3849700" y="3607314"/>
            <a:ext cx="37128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Low				High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49" name="Google Shape;349;p43"/>
          <p:cNvSpPr txBox="1"/>
          <p:nvPr/>
        </p:nvSpPr>
        <p:spPr>
          <a:xfrm>
            <a:off x="3369550" y="3345225"/>
            <a:ext cx="44652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Whole Network Threshold</a:t>
            </a:r>
            <a:endParaRPr b="1"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findings of research on innovation diffusion</a:t>
            </a:r>
            <a:endParaRPr/>
          </a:p>
        </p:txBody>
      </p:sp>
      <p:sp>
        <p:nvSpPr>
          <p:cNvPr id="355" name="Google Shape;355;p4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Early adopters (innovators, opinion leaders) are well-connected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Central, well-integrated, prominent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Well connected persons more likely to adopt innovations with low cost/benefit ratios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Peripheral persons more likely to adopt risky innovations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Cost/benefit ratio is high; uncertainty in payoff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Risk-taking linked to reputation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Social isolates more likely to be “laggards”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/>
              <a:t>Being a bridge is associated with early adoption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Betweenness, structural holes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61" name="Google Shape;361;p4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have seen that heterogeneity in the propensity to adopt an innovation can be modeled as a threshold process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However, thresholds may not be fixed for individuals regardless of what is being diffused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Thresholds may depend on the characteristics of what is being diffused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Low threshold -&gt; Low risk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High threshold -&gt; High risk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67" name="Google Shape;367;p4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Innovations (e.g. gossip) that carry little risk may in their turn elicit a very low threshold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 the limiting case, the person adopts as soon as one of their neighbors adopts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is the difference between </a:t>
            </a:r>
            <a:r>
              <a:rPr b="1" lang="en"/>
              <a:t>simplex </a:t>
            </a:r>
            <a:r>
              <a:rPr lang="en"/>
              <a:t>and </a:t>
            </a:r>
            <a:r>
              <a:rPr b="1" lang="en"/>
              <a:t>complex </a:t>
            </a:r>
            <a:r>
              <a:rPr lang="en"/>
              <a:t>contagion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The basic idea is that certain innovations can only diffuse via complex contagion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79" name="Google Shape;379;p4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Examples of simplex contagion: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Information, disease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Examples of complex contagion: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High risk social movement participation, religious conversion, migration,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85" name="Google Shape;385;p4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00000"/>
                </a:solidFill>
              </a:rPr>
              <a:t>Four social mechanisms that require that innovations diffuse via complex contagion: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b="1" lang="en">
                <a:solidFill>
                  <a:srgbClr val="000000"/>
                </a:solidFill>
              </a:rPr>
              <a:t>Strategic complementarity</a:t>
            </a:r>
            <a:r>
              <a:rPr lang="en">
                <a:solidFill>
                  <a:srgbClr val="000000"/>
                </a:solidFill>
              </a:rPr>
              <a:t>: (adoption cost declines as a function of existing adopters)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b="1" lang="en">
                <a:solidFill>
                  <a:srgbClr val="000000"/>
                </a:solidFill>
              </a:rPr>
              <a:t>Legitimacy</a:t>
            </a:r>
            <a:r>
              <a:rPr lang="en">
                <a:solidFill>
                  <a:srgbClr val="000000"/>
                </a:solidFill>
              </a:rPr>
              <a:t>: Resistance to challenge, collective acceptance, and taken-for-grantedness increases in the number of adopters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b="1" lang="en"/>
              <a:t>Credibility</a:t>
            </a:r>
            <a:r>
              <a:rPr lang="en"/>
              <a:t>: Innovations appears are more trustworthy and less risky when high status members of the community also adopt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b="1" lang="en"/>
              <a:t>Emotional contagion</a:t>
            </a:r>
            <a:r>
              <a:rPr lang="en"/>
              <a:t>: Cumulative interaction with a large number of adopters leads persons to adopt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91" name="Google Shape;391;p5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Four social mechanisms that require that innovations diffuse via complex contagion: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97" name="Google Shape;397;p5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lang="en" sz="3000"/>
              <a:t>Weakness of long ties argument: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Long ties might be appropriate for simplex diffusion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However, they are not up to task when it comes to complex contagion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The reason for this is that in addition to length, complex contagions require bridges to be wide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