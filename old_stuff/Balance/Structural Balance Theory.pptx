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embeddedFontLst>
    <p:embeddedFont>
      <p:font typeface="Economica"/>
      <p:regular r:id="rId30"/>
      <p:bold r:id="rId31"/>
      <p:italic r:id="rId32"/>
      <p:boldItalic r:id="rId33"/>
    </p:embeddedFont>
    <p:embeddedFont>
      <p:font typeface="Oxygen"/>
      <p:regular r:id="rId34"/>
      <p:bold r:id="rId35"/>
    </p:embeddedFont>
    <p:embeddedFont>
      <p:font typeface="Open Sans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Economica-bold.fntdata"/><Relationship Id="rId30" Type="http://schemas.openxmlformats.org/officeDocument/2006/relationships/font" Target="fonts/Economica-regular.fntdata"/><Relationship Id="rId11" Type="http://schemas.openxmlformats.org/officeDocument/2006/relationships/slide" Target="slides/slide5.xml"/><Relationship Id="rId33" Type="http://schemas.openxmlformats.org/officeDocument/2006/relationships/font" Target="fonts/Economica-boldItalic.fntdata"/><Relationship Id="rId10" Type="http://schemas.openxmlformats.org/officeDocument/2006/relationships/slide" Target="slides/slide4.xml"/><Relationship Id="rId32" Type="http://schemas.openxmlformats.org/officeDocument/2006/relationships/font" Target="fonts/Economica-italic.fntdata"/><Relationship Id="rId13" Type="http://schemas.openxmlformats.org/officeDocument/2006/relationships/slide" Target="slides/slide7.xml"/><Relationship Id="rId35" Type="http://schemas.openxmlformats.org/officeDocument/2006/relationships/font" Target="fonts/Oxygen-bold.fntdata"/><Relationship Id="rId12" Type="http://schemas.openxmlformats.org/officeDocument/2006/relationships/slide" Target="slides/slide6.xml"/><Relationship Id="rId34" Type="http://schemas.openxmlformats.org/officeDocument/2006/relationships/font" Target="fonts/Oxygen-regular.fntdata"/><Relationship Id="rId15" Type="http://schemas.openxmlformats.org/officeDocument/2006/relationships/slide" Target="slides/slide9.xml"/><Relationship Id="rId37" Type="http://schemas.openxmlformats.org/officeDocument/2006/relationships/font" Target="fonts/OpenSans-bold.fntdata"/><Relationship Id="rId14" Type="http://schemas.openxmlformats.org/officeDocument/2006/relationships/slide" Target="slides/slide8.xml"/><Relationship Id="rId36" Type="http://schemas.openxmlformats.org/officeDocument/2006/relationships/font" Target="fonts/OpenSans-regular.fntdata"/><Relationship Id="rId17" Type="http://schemas.openxmlformats.org/officeDocument/2006/relationships/slide" Target="slides/slide11.xml"/><Relationship Id="rId39" Type="http://schemas.openxmlformats.org/officeDocument/2006/relationships/font" Target="fonts/OpenSans-boldItalic.fntdata"/><Relationship Id="rId16" Type="http://schemas.openxmlformats.org/officeDocument/2006/relationships/slide" Target="slides/slide10.xml"/><Relationship Id="rId38" Type="http://schemas.openxmlformats.org/officeDocument/2006/relationships/font" Target="fonts/OpenSans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06db6e5dc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06db6e5dc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c5187aba52_0_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c5187aba52_0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c5187aba52_0_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c5187aba52_0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c5187aba52_0_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c5187aba52_0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c5187aba52_0_5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c5187aba52_0_5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c5187aba52_0_6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c5187aba52_0_6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c4f829934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c4f829934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c5187aba5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c5187aba5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c5187aba52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c5187aba52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c5187aba52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c5187aba52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c5187aba52_0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c5187aba52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c4f829934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c4f829934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c4f829934b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c4f829934b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c4f829934b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c4f829934b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c4f829934b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c4f829934b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c5187aba52_0_6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c5187aba52_0_6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c4f829934b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c4f829934b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c4f829934b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c4f829934b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c4f829934b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c4f829934b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c4f829934b_0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c4f829934b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c4f829934b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c4f829934b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c4f829934b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c4f829934b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c5187aba52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c5187aba52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4" name="Google Shape;64;p14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5" name="Google Shape;65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70" name="Google Shape;70;p15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71" name="Google Shape;71;p1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7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2" name="Google Shape;8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0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3" name="Google Shape;9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6" name="Google Shape;96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21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8" name="Google Shape;98;p21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99" name="Google Shape;99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0" name="Google Shape;10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103" name="Google Shape;10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3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7" name="Google Shape;107;p2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8" name="Google Shape;10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3" name="Google Shape;113;p2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6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124" name="Google Shape;124;p27"/>
          <p:cNvSpPr txBox="1"/>
          <p:nvPr>
            <p:ph idx="1" type="body"/>
          </p:nvPr>
        </p:nvSpPr>
        <p:spPr>
          <a:xfrm>
            <a:off x="311700" y="1225225"/>
            <a:ext cx="4448100" cy="13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triad is balanced then it is so for both the person the other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just need to change the interpretation!</a:t>
            </a:r>
            <a:endParaRPr/>
          </a:p>
        </p:txBody>
      </p:sp>
      <p:sp>
        <p:nvSpPr>
          <p:cNvPr id="125" name="Google Shape;125;p27"/>
          <p:cNvSpPr/>
          <p:nvPr/>
        </p:nvSpPr>
        <p:spPr>
          <a:xfrm>
            <a:off x="4759775" y="2267185"/>
            <a:ext cx="818100" cy="8163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Oxygen"/>
                <a:ea typeface="Oxygen"/>
                <a:cs typeface="Oxygen"/>
                <a:sym typeface="Oxygen"/>
              </a:rPr>
              <a:t>P</a:t>
            </a:r>
            <a:endParaRPr sz="31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6" name="Google Shape;126;p27"/>
          <p:cNvSpPr/>
          <p:nvPr/>
        </p:nvSpPr>
        <p:spPr>
          <a:xfrm>
            <a:off x="7599474" y="3272174"/>
            <a:ext cx="818100" cy="8163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Oxygen"/>
                <a:ea typeface="Oxygen"/>
                <a:cs typeface="Oxygen"/>
                <a:sym typeface="Oxygen"/>
              </a:rPr>
              <a:t>O</a:t>
            </a:r>
            <a:endParaRPr sz="31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7" name="Google Shape;127;p27"/>
          <p:cNvSpPr/>
          <p:nvPr/>
        </p:nvSpPr>
        <p:spPr>
          <a:xfrm>
            <a:off x="7599474" y="1451050"/>
            <a:ext cx="818100" cy="8163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Oxygen"/>
                <a:ea typeface="Oxygen"/>
                <a:cs typeface="Oxygen"/>
                <a:sym typeface="Oxygen"/>
              </a:rPr>
              <a:t>Q</a:t>
            </a:r>
            <a:endParaRPr sz="31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8" name="Google Shape;128;p27"/>
          <p:cNvCxnSpPr>
            <a:stCxn id="125" idx="6"/>
            <a:endCxn id="126" idx="2"/>
          </p:cNvCxnSpPr>
          <p:nvPr/>
        </p:nvCxnSpPr>
        <p:spPr>
          <a:xfrm>
            <a:off x="5577875" y="2675335"/>
            <a:ext cx="2021700" cy="1005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29" name="Google Shape;129;p27"/>
          <p:cNvCxnSpPr>
            <a:stCxn id="126" idx="0"/>
            <a:endCxn id="127" idx="4"/>
          </p:cNvCxnSpPr>
          <p:nvPr/>
        </p:nvCxnSpPr>
        <p:spPr>
          <a:xfrm rot="10800000">
            <a:off x="8008524" y="2267474"/>
            <a:ext cx="0" cy="10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0" name="Google Shape;130;p27"/>
          <p:cNvCxnSpPr>
            <a:stCxn id="125" idx="6"/>
            <a:endCxn id="127" idx="2"/>
          </p:cNvCxnSpPr>
          <p:nvPr/>
        </p:nvCxnSpPr>
        <p:spPr>
          <a:xfrm flipH="1" rot="10800000">
            <a:off x="5577875" y="1859335"/>
            <a:ext cx="2021700" cy="816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136" name="Google Shape;136;p28"/>
          <p:cNvSpPr txBox="1"/>
          <p:nvPr>
            <p:ph idx="1" type="body"/>
          </p:nvPr>
        </p:nvSpPr>
        <p:spPr>
          <a:xfrm>
            <a:off x="311700" y="1225225"/>
            <a:ext cx="4448100" cy="13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triad is balanced then it is so for both the person the other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just need to change the interpretation!</a:t>
            </a:r>
            <a:endParaRPr/>
          </a:p>
        </p:txBody>
      </p:sp>
      <p:sp>
        <p:nvSpPr>
          <p:cNvPr id="137" name="Google Shape;137;p28"/>
          <p:cNvSpPr/>
          <p:nvPr/>
        </p:nvSpPr>
        <p:spPr>
          <a:xfrm>
            <a:off x="4759775" y="2267185"/>
            <a:ext cx="818100" cy="8163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Oxygen"/>
                <a:ea typeface="Oxygen"/>
                <a:cs typeface="Oxygen"/>
                <a:sym typeface="Oxygen"/>
              </a:rPr>
              <a:t>P</a:t>
            </a:r>
            <a:endParaRPr sz="31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8" name="Google Shape;138;p28"/>
          <p:cNvSpPr/>
          <p:nvPr/>
        </p:nvSpPr>
        <p:spPr>
          <a:xfrm>
            <a:off x="7599474" y="3272174"/>
            <a:ext cx="818100" cy="8163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Oxygen"/>
                <a:ea typeface="Oxygen"/>
                <a:cs typeface="Oxygen"/>
                <a:sym typeface="Oxygen"/>
              </a:rPr>
              <a:t>O</a:t>
            </a:r>
            <a:endParaRPr sz="31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9" name="Google Shape;139;p28"/>
          <p:cNvSpPr/>
          <p:nvPr/>
        </p:nvSpPr>
        <p:spPr>
          <a:xfrm>
            <a:off x="7599474" y="1451050"/>
            <a:ext cx="818100" cy="8163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Oxygen"/>
                <a:ea typeface="Oxygen"/>
                <a:cs typeface="Oxygen"/>
                <a:sym typeface="Oxygen"/>
              </a:rPr>
              <a:t>Q</a:t>
            </a:r>
            <a:endParaRPr sz="31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0" name="Google Shape;140;p28"/>
          <p:cNvCxnSpPr>
            <a:stCxn id="137" idx="6"/>
            <a:endCxn id="138" idx="2"/>
          </p:cNvCxnSpPr>
          <p:nvPr/>
        </p:nvCxnSpPr>
        <p:spPr>
          <a:xfrm>
            <a:off x="5577875" y="2675335"/>
            <a:ext cx="2021700" cy="1005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41" name="Google Shape;141;p28"/>
          <p:cNvCxnSpPr>
            <a:stCxn id="138" idx="0"/>
            <a:endCxn id="139" idx="4"/>
          </p:cNvCxnSpPr>
          <p:nvPr/>
        </p:nvCxnSpPr>
        <p:spPr>
          <a:xfrm rot="10800000">
            <a:off x="8008524" y="2267474"/>
            <a:ext cx="0" cy="10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2" name="Google Shape;142;p28"/>
          <p:cNvCxnSpPr>
            <a:stCxn id="137" idx="6"/>
            <a:endCxn id="139" idx="2"/>
          </p:cNvCxnSpPr>
          <p:nvPr/>
        </p:nvCxnSpPr>
        <p:spPr>
          <a:xfrm flipH="1" rot="10800000">
            <a:off x="5577875" y="1859335"/>
            <a:ext cx="2021700" cy="816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43" name="Google Shape;143;p28"/>
          <p:cNvSpPr/>
          <p:nvPr/>
        </p:nvSpPr>
        <p:spPr>
          <a:xfrm>
            <a:off x="231850" y="3427200"/>
            <a:ext cx="4369200" cy="13464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When this node is P, then it would be “a friend of an enemy is an enemy”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144" name="Google Shape;144;p28"/>
          <p:cNvCxnSpPr>
            <a:stCxn id="143" idx="7"/>
            <a:endCxn id="137" idx="3"/>
          </p:cNvCxnSpPr>
          <p:nvPr/>
        </p:nvCxnSpPr>
        <p:spPr>
          <a:xfrm flipH="1" rot="10800000">
            <a:off x="3961195" y="2964076"/>
            <a:ext cx="918300" cy="660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150" name="Google Shape;150;p29"/>
          <p:cNvSpPr txBox="1"/>
          <p:nvPr>
            <p:ph idx="1" type="body"/>
          </p:nvPr>
        </p:nvSpPr>
        <p:spPr>
          <a:xfrm>
            <a:off x="311700" y="1225225"/>
            <a:ext cx="4448100" cy="13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triad is balanced then it is so for both the person the other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just need to change the interpretation!</a:t>
            </a:r>
            <a:endParaRPr/>
          </a:p>
        </p:txBody>
      </p:sp>
      <p:sp>
        <p:nvSpPr>
          <p:cNvPr id="151" name="Google Shape;151;p29"/>
          <p:cNvSpPr/>
          <p:nvPr/>
        </p:nvSpPr>
        <p:spPr>
          <a:xfrm>
            <a:off x="4759775" y="2267185"/>
            <a:ext cx="818100" cy="8163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Oxygen"/>
                <a:ea typeface="Oxygen"/>
                <a:cs typeface="Oxygen"/>
                <a:sym typeface="Oxygen"/>
              </a:rPr>
              <a:t>O</a:t>
            </a:r>
            <a:endParaRPr sz="31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2" name="Google Shape;152;p29"/>
          <p:cNvSpPr/>
          <p:nvPr/>
        </p:nvSpPr>
        <p:spPr>
          <a:xfrm>
            <a:off x="7599474" y="3272174"/>
            <a:ext cx="818100" cy="8163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Oxygen"/>
                <a:ea typeface="Oxygen"/>
                <a:cs typeface="Oxygen"/>
                <a:sym typeface="Oxygen"/>
              </a:rPr>
              <a:t>P</a:t>
            </a:r>
            <a:endParaRPr sz="31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3" name="Google Shape;153;p29"/>
          <p:cNvSpPr/>
          <p:nvPr/>
        </p:nvSpPr>
        <p:spPr>
          <a:xfrm>
            <a:off x="7599474" y="1451050"/>
            <a:ext cx="818100" cy="8163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Oxygen"/>
                <a:ea typeface="Oxygen"/>
                <a:cs typeface="Oxygen"/>
                <a:sym typeface="Oxygen"/>
              </a:rPr>
              <a:t>Q</a:t>
            </a:r>
            <a:endParaRPr sz="31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54" name="Google Shape;154;p29"/>
          <p:cNvCxnSpPr>
            <a:stCxn id="151" idx="6"/>
            <a:endCxn id="152" idx="2"/>
          </p:cNvCxnSpPr>
          <p:nvPr/>
        </p:nvCxnSpPr>
        <p:spPr>
          <a:xfrm>
            <a:off x="5577875" y="2675335"/>
            <a:ext cx="2021700" cy="1005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stealth"/>
            <a:tailEnd len="med" w="med" type="none"/>
          </a:ln>
        </p:spPr>
      </p:cxnSp>
      <p:cxnSp>
        <p:nvCxnSpPr>
          <p:cNvPr id="155" name="Google Shape;155;p29"/>
          <p:cNvCxnSpPr>
            <a:stCxn id="152" idx="0"/>
            <a:endCxn id="153" idx="4"/>
          </p:cNvCxnSpPr>
          <p:nvPr/>
        </p:nvCxnSpPr>
        <p:spPr>
          <a:xfrm rot="10800000">
            <a:off x="8008524" y="2267474"/>
            <a:ext cx="0" cy="10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6" name="Google Shape;156;p29"/>
          <p:cNvCxnSpPr>
            <a:stCxn id="151" idx="6"/>
            <a:endCxn id="153" idx="2"/>
          </p:cNvCxnSpPr>
          <p:nvPr/>
        </p:nvCxnSpPr>
        <p:spPr>
          <a:xfrm flipH="1" rot="10800000">
            <a:off x="5577875" y="1859335"/>
            <a:ext cx="2021700" cy="816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57" name="Google Shape;157;p29"/>
          <p:cNvSpPr/>
          <p:nvPr/>
        </p:nvSpPr>
        <p:spPr>
          <a:xfrm>
            <a:off x="231850" y="3427200"/>
            <a:ext cx="4369200" cy="13464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When this node is P, then it would be “an enemy of an enemy is a friend”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158" name="Google Shape;158;p29"/>
          <p:cNvCxnSpPr>
            <a:stCxn id="157" idx="6"/>
            <a:endCxn id="152" idx="3"/>
          </p:cNvCxnSpPr>
          <p:nvPr/>
        </p:nvCxnSpPr>
        <p:spPr>
          <a:xfrm flipH="1" rot="10800000">
            <a:off x="4601050" y="3969000"/>
            <a:ext cx="3118200" cy="131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164" name="Google Shape;164;p30"/>
          <p:cNvSpPr txBox="1"/>
          <p:nvPr>
            <p:ph idx="1" type="body"/>
          </p:nvPr>
        </p:nvSpPr>
        <p:spPr>
          <a:xfrm>
            <a:off x="311700" y="1225225"/>
            <a:ext cx="4448100" cy="13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triad is balanced then it is so for both the person the other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just need to change the interpretation!</a:t>
            </a:r>
            <a:endParaRPr/>
          </a:p>
        </p:txBody>
      </p:sp>
      <p:sp>
        <p:nvSpPr>
          <p:cNvPr id="165" name="Google Shape;165;p30"/>
          <p:cNvSpPr/>
          <p:nvPr/>
        </p:nvSpPr>
        <p:spPr>
          <a:xfrm>
            <a:off x="4759775" y="2267185"/>
            <a:ext cx="818100" cy="8163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Oxygen"/>
                <a:ea typeface="Oxygen"/>
                <a:cs typeface="Oxygen"/>
                <a:sym typeface="Oxygen"/>
              </a:rPr>
              <a:t>Q</a:t>
            </a:r>
            <a:endParaRPr sz="31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6" name="Google Shape;166;p30"/>
          <p:cNvSpPr/>
          <p:nvPr/>
        </p:nvSpPr>
        <p:spPr>
          <a:xfrm>
            <a:off x="7599474" y="3272174"/>
            <a:ext cx="818100" cy="8163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Oxygen"/>
                <a:ea typeface="Oxygen"/>
                <a:cs typeface="Oxygen"/>
                <a:sym typeface="Oxygen"/>
              </a:rPr>
              <a:t>O</a:t>
            </a:r>
            <a:endParaRPr sz="31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7" name="Google Shape;167;p30"/>
          <p:cNvSpPr/>
          <p:nvPr/>
        </p:nvSpPr>
        <p:spPr>
          <a:xfrm>
            <a:off x="7599474" y="1451050"/>
            <a:ext cx="818100" cy="8163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Oxygen"/>
                <a:ea typeface="Oxygen"/>
                <a:cs typeface="Oxygen"/>
                <a:sym typeface="Oxygen"/>
              </a:rPr>
              <a:t>P</a:t>
            </a:r>
            <a:endParaRPr sz="31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68" name="Google Shape;168;p30"/>
          <p:cNvCxnSpPr>
            <a:stCxn id="165" idx="6"/>
            <a:endCxn id="166" idx="2"/>
          </p:cNvCxnSpPr>
          <p:nvPr/>
        </p:nvCxnSpPr>
        <p:spPr>
          <a:xfrm>
            <a:off x="5577875" y="2675335"/>
            <a:ext cx="2021700" cy="1005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stealth"/>
            <a:tailEnd len="med" w="med" type="none"/>
          </a:ln>
        </p:spPr>
      </p:cxnSp>
      <p:cxnSp>
        <p:nvCxnSpPr>
          <p:cNvPr id="169" name="Google Shape;169;p30"/>
          <p:cNvCxnSpPr>
            <a:stCxn id="166" idx="0"/>
            <a:endCxn id="167" idx="4"/>
          </p:cNvCxnSpPr>
          <p:nvPr/>
        </p:nvCxnSpPr>
        <p:spPr>
          <a:xfrm rot="10800000">
            <a:off x="8008524" y="2267474"/>
            <a:ext cx="0" cy="10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70" name="Google Shape;170;p30"/>
          <p:cNvCxnSpPr>
            <a:stCxn id="165" idx="6"/>
            <a:endCxn id="167" idx="2"/>
          </p:cNvCxnSpPr>
          <p:nvPr/>
        </p:nvCxnSpPr>
        <p:spPr>
          <a:xfrm flipH="1" rot="10800000">
            <a:off x="5577875" y="1859335"/>
            <a:ext cx="2021700" cy="816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stealth"/>
            <a:tailEnd len="med" w="med" type="none"/>
          </a:ln>
        </p:spPr>
      </p:cxnSp>
      <p:sp>
        <p:nvSpPr>
          <p:cNvPr id="171" name="Google Shape;171;p30"/>
          <p:cNvSpPr/>
          <p:nvPr/>
        </p:nvSpPr>
        <p:spPr>
          <a:xfrm>
            <a:off x="231850" y="3427200"/>
            <a:ext cx="4369200" cy="13464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When this node is P, then it would be “an enemy of a friend is an enemy”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172" name="Google Shape;172;p30"/>
          <p:cNvCxnSpPr>
            <a:stCxn id="171" idx="6"/>
            <a:endCxn id="167" idx="3"/>
          </p:cNvCxnSpPr>
          <p:nvPr/>
        </p:nvCxnSpPr>
        <p:spPr>
          <a:xfrm flipH="1" rot="10800000">
            <a:off x="4601050" y="2147700"/>
            <a:ext cx="3118200" cy="1952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178" name="Google Shape;178;p31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triad is balanced then it is so for both the person the other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just need to change the interpretation!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means that we can define balance as a triad level property regardless of “</a:t>
            </a:r>
            <a:r>
              <a:rPr lang="en"/>
              <a:t>perspective</a:t>
            </a:r>
            <a:r>
              <a:rPr lang="en"/>
              <a:t>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node A: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“Friends of enemies are enemies”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nodes B and C: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“Enemies of friends are enemies”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triad is balanced for everyone!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31"/>
          <p:cNvSpPr/>
          <p:nvPr/>
        </p:nvSpPr>
        <p:spPr>
          <a:xfrm>
            <a:off x="4759775" y="2267185"/>
            <a:ext cx="818100" cy="8163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Oxygen"/>
                <a:ea typeface="Oxygen"/>
                <a:cs typeface="Oxygen"/>
                <a:sym typeface="Oxygen"/>
              </a:rPr>
              <a:t>A</a:t>
            </a:r>
            <a:endParaRPr sz="31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0" name="Google Shape;180;p31"/>
          <p:cNvSpPr/>
          <p:nvPr/>
        </p:nvSpPr>
        <p:spPr>
          <a:xfrm>
            <a:off x="7599474" y="3272174"/>
            <a:ext cx="818100" cy="8163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Oxygen"/>
                <a:ea typeface="Oxygen"/>
                <a:cs typeface="Oxygen"/>
                <a:sym typeface="Oxygen"/>
              </a:rPr>
              <a:t>B</a:t>
            </a:r>
            <a:endParaRPr sz="31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1" name="Google Shape;181;p31"/>
          <p:cNvSpPr/>
          <p:nvPr/>
        </p:nvSpPr>
        <p:spPr>
          <a:xfrm>
            <a:off x="7599474" y="1451050"/>
            <a:ext cx="818100" cy="8163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Oxygen"/>
                <a:ea typeface="Oxygen"/>
                <a:cs typeface="Oxygen"/>
                <a:sym typeface="Oxygen"/>
              </a:rPr>
              <a:t>C</a:t>
            </a:r>
            <a:endParaRPr sz="31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82" name="Google Shape;182;p31"/>
          <p:cNvCxnSpPr>
            <a:stCxn id="179" idx="6"/>
            <a:endCxn id="180" idx="2"/>
          </p:cNvCxnSpPr>
          <p:nvPr/>
        </p:nvCxnSpPr>
        <p:spPr>
          <a:xfrm>
            <a:off x="5577875" y="2675335"/>
            <a:ext cx="2021700" cy="1005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83" name="Google Shape;183;p31"/>
          <p:cNvCxnSpPr>
            <a:stCxn id="180" idx="0"/>
            <a:endCxn id="181" idx="4"/>
          </p:cNvCxnSpPr>
          <p:nvPr/>
        </p:nvCxnSpPr>
        <p:spPr>
          <a:xfrm rot="10800000">
            <a:off x="8008524" y="2267474"/>
            <a:ext cx="0" cy="10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" name="Google Shape;184;p31"/>
          <p:cNvCxnSpPr>
            <a:stCxn id="179" idx="6"/>
            <a:endCxn id="181" idx="2"/>
          </p:cNvCxnSpPr>
          <p:nvPr/>
        </p:nvCxnSpPr>
        <p:spPr>
          <a:xfrm flipH="1" rot="10800000">
            <a:off x="5577875" y="1859335"/>
            <a:ext cx="2021700" cy="816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190" name="Google Shape;190;p32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whole signed graph </a:t>
            </a:r>
            <a:r>
              <a:rPr b="1" lang="en"/>
              <a:t>only</a:t>
            </a:r>
            <a:r>
              <a:rPr lang="en"/>
              <a:t> contains </a:t>
            </a:r>
            <a:r>
              <a:rPr b="1" lang="en"/>
              <a:t>balanced</a:t>
            </a:r>
            <a:r>
              <a:rPr lang="en"/>
              <a:t> triads then the graph is also balanced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Balance can be a whole network property!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2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2" name="Google Shape;192;p32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93" name="Google Shape;193;p32"/>
          <p:cNvCxnSpPr>
            <a:stCxn id="191" idx="6"/>
            <a:endCxn id="192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" name="Google Shape;194;p32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95" name="Google Shape;195;p32"/>
          <p:cNvCxnSpPr>
            <a:stCxn id="194" idx="2"/>
            <a:endCxn id="192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96" name="Google Shape;196;p32"/>
          <p:cNvSpPr/>
          <p:nvPr/>
        </p:nvSpPr>
        <p:spPr>
          <a:xfrm>
            <a:off x="8042008" y="33898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97" name="Google Shape;197;p32"/>
          <p:cNvCxnSpPr>
            <a:stCxn id="196" idx="2"/>
            <a:endCxn id="194" idx="2"/>
          </p:cNvCxnSpPr>
          <p:nvPr/>
        </p:nvCxnSpPr>
        <p:spPr>
          <a:xfrm rot="10800000">
            <a:off x="8042008" y="2208421"/>
            <a:ext cx="0" cy="1487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" name="Google Shape;198;p32"/>
          <p:cNvCxnSpPr>
            <a:stCxn id="191" idx="6"/>
            <a:endCxn id="196" idx="2"/>
          </p:cNvCxnSpPr>
          <p:nvPr/>
        </p:nvCxnSpPr>
        <p:spPr>
          <a:xfrm>
            <a:off x="5373300" y="2208534"/>
            <a:ext cx="2668800" cy="1487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99" name="Google Shape;199;p32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0" name="Google Shape;200;p32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01" name="Google Shape;201;p32"/>
          <p:cNvCxnSpPr>
            <a:stCxn id="191" idx="6"/>
            <a:endCxn id="200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" name="Google Shape;202;p32"/>
          <p:cNvCxnSpPr>
            <a:stCxn id="200" idx="6"/>
            <a:endCxn id="199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03" name="Google Shape;203;p32"/>
          <p:cNvCxnSpPr>
            <a:stCxn id="199" idx="6"/>
            <a:endCxn id="196" idx="2"/>
          </p:cNvCxnSpPr>
          <p:nvPr/>
        </p:nvCxnSpPr>
        <p:spPr>
          <a:xfrm flipH="1" rot="10800000">
            <a:off x="7014408" y="3695646"/>
            <a:ext cx="1027500" cy="57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32"/>
          <p:cNvCxnSpPr>
            <a:stCxn id="200" idx="6"/>
            <a:endCxn id="192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32"/>
          <p:cNvCxnSpPr>
            <a:stCxn id="196" idx="2"/>
            <a:endCxn id="192" idx="6"/>
          </p:cNvCxnSpPr>
          <p:nvPr/>
        </p:nvCxnSpPr>
        <p:spPr>
          <a:xfrm rot="10800000">
            <a:off x="7014508" y="1597321"/>
            <a:ext cx="1027500" cy="209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06" name="Google Shape;206;p32"/>
          <p:cNvCxnSpPr>
            <a:stCxn id="200" idx="6"/>
            <a:endCxn id="196" idx="2"/>
          </p:cNvCxnSpPr>
          <p:nvPr/>
        </p:nvCxnSpPr>
        <p:spPr>
          <a:xfrm flipH="1" rot="10800000">
            <a:off x="5373308" y="3695521"/>
            <a:ext cx="2668800" cy="39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07" name="Google Shape;207;p32"/>
          <p:cNvCxnSpPr>
            <a:stCxn id="191" idx="6"/>
            <a:endCxn id="194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08" name="Google Shape;208;p32"/>
          <p:cNvCxnSpPr>
            <a:stCxn id="199" idx="6"/>
            <a:endCxn id="194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" name="Google Shape;209;p32"/>
          <p:cNvCxnSpPr>
            <a:stCxn id="191" idx="6"/>
            <a:endCxn id="199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10" name="Google Shape;210;p32"/>
          <p:cNvCxnSpPr>
            <a:stCxn id="199" idx="0"/>
            <a:endCxn id="192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11" name="Google Shape;211;p32"/>
          <p:cNvCxnSpPr>
            <a:stCxn id="200" idx="6"/>
            <a:endCxn id="194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3"/>
          <p:cNvSpPr txBox="1"/>
          <p:nvPr>
            <p:ph idx="1" type="body"/>
          </p:nvPr>
        </p:nvSpPr>
        <p:spPr>
          <a:xfrm>
            <a:off x="311700" y="1225225"/>
            <a:ext cx="4448100" cy="15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whole signed graph </a:t>
            </a:r>
            <a:r>
              <a:rPr b="1" lang="en"/>
              <a:t>only</a:t>
            </a:r>
            <a:r>
              <a:rPr lang="en"/>
              <a:t> contains </a:t>
            </a:r>
            <a:r>
              <a:rPr b="1" lang="en"/>
              <a:t>balanced</a:t>
            </a:r>
            <a:r>
              <a:rPr lang="en"/>
              <a:t> triads then the graph is also balanced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Balance can be a whole network property!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218" name="Google Shape;218;p33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9" name="Google Shape;219;p33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20" name="Google Shape;220;p33"/>
          <p:cNvCxnSpPr>
            <a:stCxn id="218" idx="6"/>
            <a:endCxn id="219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1" name="Google Shape;221;p33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22" name="Google Shape;222;p33"/>
          <p:cNvCxnSpPr>
            <a:stCxn id="221" idx="2"/>
            <a:endCxn id="219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23" name="Google Shape;223;p33"/>
          <p:cNvSpPr/>
          <p:nvPr/>
        </p:nvSpPr>
        <p:spPr>
          <a:xfrm>
            <a:off x="8042008" y="339242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24" name="Google Shape;224;p33"/>
          <p:cNvCxnSpPr>
            <a:stCxn id="223" idx="2"/>
            <a:endCxn id="221" idx="2"/>
          </p:cNvCxnSpPr>
          <p:nvPr/>
        </p:nvCxnSpPr>
        <p:spPr>
          <a:xfrm rot="10800000">
            <a:off x="8042008" y="2208624"/>
            <a:ext cx="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" name="Google Shape;225;p33"/>
          <p:cNvCxnSpPr>
            <a:stCxn id="218" idx="6"/>
            <a:endCxn id="223" idx="2"/>
          </p:cNvCxnSpPr>
          <p:nvPr/>
        </p:nvCxnSpPr>
        <p:spPr>
          <a:xfrm>
            <a:off x="5373300" y="2208534"/>
            <a:ext cx="26688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26" name="Google Shape;226;p33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7" name="Google Shape;227;p33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28" name="Google Shape;228;p33"/>
          <p:cNvCxnSpPr>
            <a:stCxn id="218" idx="6"/>
            <a:endCxn id="227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" name="Google Shape;229;p33"/>
          <p:cNvCxnSpPr>
            <a:stCxn id="227" idx="6"/>
            <a:endCxn id="226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30" name="Google Shape;230;p33"/>
          <p:cNvCxnSpPr>
            <a:stCxn id="226" idx="6"/>
            <a:endCxn id="223" idx="2"/>
          </p:cNvCxnSpPr>
          <p:nvPr/>
        </p:nvCxnSpPr>
        <p:spPr>
          <a:xfrm flipH="1" rot="10800000">
            <a:off x="7014408" y="3698046"/>
            <a:ext cx="1027500" cy="57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" name="Google Shape;231;p33"/>
          <p:cNvCxnSpPr>
            <a:stCxn id="227" idx="6"/>
            <a:endCxn id="219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" name="Google Shape;232;p33"/>
          <p:cNvCxnSpPr>
            <a:stCxn id="223" idx="2"/>
            <a:endCxn id="219" idx="6"/>
          </p:cNvCxnSpPr>
          <p:nvPr/>
        </p:nvCxnSpPr>
        <p:spPr>
          <a:xfrm rot="10800000">
            <a:off x="7014508" y="1597224"/>
            <a:ext cx="1027500" cy="210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33" name="Google Shape;233;p33"/>
          <p:cNvCxnSpPr>
            <a:stCxn id="227" idx="6"/>
            <a:endCxn id="223" idx="2"/>
          </p:cNvCxnSpPr>
          <p:nvPr/>
        </p:nvCxnSpPr>
        <p:spPr>
          <a:xfrm flipH="1" rot="10800000">
            <a:off x="5373308" y="3698221"/>
            <a:ext cx="2668800" cy="37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34" name="Google Shape;234;p33"/>
          <p:cNvCxnSpPr>
            <a:stCxn id="218" idx="6"/>
            <a:endCxn id="221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35" name="Google Shape;235;p33"/>
          <p:cNvCxnSpPr>
            <a:stCxn id="226" idx="6"/>
            <a:endCxn id="221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" name="Google Shape;236;p33"/>
          <p:cNvCxnSpPr>
            <a:stCxn id="218" idx="6"/>
            <a:endCxn id="226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37" name="Google Shape;237;p33"/>
          <p:cNvCxnSpPr>
            <a:stCxn id="226" idx="0"/>
            <a:endCxn id="219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33"/>
          <p:cNvCxnSpPr>
            <a:stCxn id="227" idx="6"/>
            <a:endCxn id="221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39" name="Google Shape;239;p33"/>
          <p:cNvSpPr/>
          <p:nvPr/>
        </p:nvSpPr>
        <p:spPr>
          <a:xfrm>
            <a:off x="1320625" y="2757023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0" name="Google Shape;240;p33"/>
          <p:cNvSpPr/>
          <p:nvPr/>
        </p:nvSpPr>
        <p:spPr>
          <a:xfrm>
            <a:off x="1958416" y="3053354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41" name="Google Shape;241;p33"/>
          <p:cNvCxnSpPr>
            <a:stCxn id="239" idx="6"/>
            <a:endCxn id="240" idx="2"/>
          </p:cNvCxnSpPr>
          <p:nvPr/>
        </p:nvCxnSpPr>
        <p:spPr>
          <a:xfrm>
            <a:off x="1559125" y="2875523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" name="Google Shape;242;p33"/>
          <p:cNvSpPr/>
          <p:nvPr/>
        </p:nvSpPr>
        <p:spPr>
          <a:xfrm>
            <a:off x="1320628" y="3349629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43" name="Google Shape;243;p33"/>
          <p:cNvCxnSpPr>
            <a:stCxn id="239" idx="4"/>
            <a:endCxn id="242" idx="0"/>
          </p:cNvCxnSpPr>
          <p:nvPr/>
        </p:nvCxnSpPr>
        <p:spPr>
          <a:xfrm>
            <a:off x="1439875" y="2994023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" name="Google Shape;244;p33"/>
          <p:cNvCxnSpPr>
            <a:stCxn id="242" idx="6"/>
            <a:endCxn id="240" idx="2"/>
          </p:cNvCxnSpPr>
          <p:nvPr/>
        </p:nvCxnSpPr>
        <p:spPr>
          <a:xfrm flipH="1" rot="10800000">
            <a:off x="1559128" y="3171729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5" name="Google Shape;245;p33"/>
          <p:cNvSpPr/>
          <p:nvPr/>
        </p:nvSpPr>
        <p:spPr>
          <a:xfrm>
            <a:off x="2730334" y="2752231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6" name="Google Shape;246;p33"/>
          <p:cNvSpPr/>
          <p:nvPr/>
        </p:nvSpPr>
        <p:spPr>
          <a:xfrm>
            <a:off x="3368125" y="3048562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47" name="Google Shape;247;p33"/>
          <p:cNvCxnSpPr>
            <a:stCxn id="245" idx="6"/>
            <a:endCxn id="246" idx="2"/>
          </p:cNvCxnSpPr>
          <p:nvPr/>
        </p:nvCxnSpPr>
        <p:spPr>
          <a:xfrm>
            <a:off x="2968834" y="2870731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48" name="Google Shape;248;p33"/>
          <p:cNvSpPr/>
          <p:nvPr/>
        </p:nvSpPr>
        <p:spPr>
          <a:xfrm>
            <a:off x="2730337" y="3344837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49" name="Google Shape;249;p33"/>
          <p:cNvCxnSpPr>
            <a:stCxn id="245" idx="4"/>
            <a:endCxn id="248" idx="0"/>
          </p:cNvCxnSpPr>
          <p:nvPr/>
        </p:nvCxnSpPr>
        <p:spPr>
          <a:xfrm>
            <a:off x="2849584" y="2989231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" name="Google Shape;250;p33"/>
          <p:cNvCxnSpPr>
            <a:stCxn id="248" idx="6"/>
            <a:endCxn id="246" idx="2"/>
          </p:cNvCxnSpPr>
          <p:nvPr/>
        </p:nvCxnSpPr>
        <p:spPr>
          <a:xfrm flipH="1" rot="10800000">
            <a:off x="2968837" y="3166937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51" name="Google Shape;251;p33"/>
          <p:cNvSpPr/>
          <p:nvPr/>
        </p:nvSpPr>
        <p:spPr>
          <a:xfrm>
            <a:off x="1371575" y="3947023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2" name="Google Shape;252;p33"/>
          <p:cNvSpPr/>
          <p:nvPr/>
        </p:nvSpPr>
        <p:spPr>
          <a:xfrm>
            <a:off x="2009366" y="4243354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53" name="Google Shape;253;p33"/>
          <p:cNvCxnSpPr>
            <a:stCxn id="251" idx="6"/>
            <a:endCxn id="252" idx="2"/>
          </p:cNvCxnSpPr>
          <p:nvPr/>
        </p:nvCxnSpPr>
        <p:spPr>
          <a:xfrm>
            <a:off x="1610075" y="4065523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4" name="Google Shape;254;p33"/>
          <p:cNvSpPr/>
          <p:nvPr/>
        </p:nvSpPr>
        <p:spPr>
          <a:xfrm>
            <a:off x="1371578" y="4539629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55" name="Google Shape;255;p33"/>
          <p:cNvCxnSpPr>
            <a:stCxn id="251" idx="4"/>
            <a:endCxn id="254" idx="0"/>
          </p:cNvCxnSpPr>
          <p:nvPr/>
        </p:nvCxnSpPr>
        <p:spPr>
          <a:xfrm>
            <a:off x="1490825" y="4184023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" name="Google Shape;256;p33"/>
          <p:cNvCxnSpPr>
            <a:stCxn id="254" idx="6"/>
            <a:endCxn id="252" idx="2"/>
          </p:cNvCxnSpPr>
          <p:nvPr/>
        </p:nvCxnSpPr>
        <p:spPr>
          <a:xfrm flipH="1" rot="10800000">
            <a:off x="1610078" y="4361729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57" name="Google Shape;257;p33"/>
          <p:cNvSpPr/>
          <p:nvPr/>
        </p:nvSpPr>
        <p:spPr>
          <a:xfrm>
            <a:off x="2781284" y="3942231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8" name="Google Shape;258;p33"/>
          <p:cNvSpPr/>
          <p:nvPr/>
        </p:nvSpPr>
        <p:spPr>
          <a:xfrm>
            <a:off x="3419075" y="4238562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59" name="Google Shape;259;p33"/>
          <p:cNvCxnSpPr>
            <a:stCxn id="257" idx="6"/>
            <a:endCxn id="258" idx="2"/>
          </p:cNvCxnSpPr>
          <p:nvPr/>
        </p:nvCxnSpPr>
        <p:spPr>
          <a:xfrm>
            <a:off x="3019784" y="4060731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60" name="Google Shape;260;p33"/>
          <p:cNvSpPr/>
          <p:nvPr/>
        </p:nvSpPr>
        <p:spPr>
          <a:xfrm>
            <a:off x="2781287" y="4534837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61" name="Google Shape;261;p33"/>
          <p:cNvCxnSpPr>
            <a:stCxn id="257" idx="4"/>
            <a:endCxn id="260" idx="0"/>
          </p:cNvCxnSpPr>
          <p:nvPr/>
        </p:nvCxnSpPr>
        <p:spPr>
          <a:xfrm>
            <a:off x="2900534" y="4179231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62" name="Google Shape;262;p33"/>
          <p:cNvCxnSpPr>
            <a:stCxn id="260" idx="6"/>
            <a:endCxn id="258" idx="2"/>
          </p:cNvCxnSpPr>
          <p:nvPr/>
        </p:nvCxnSpPr>
        <p:spPr>
          <a:xfrm flipH="1" rot="10800000">
            <a:off x="3019787" y="4356937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63" name="Google Shape;263;p33"/>
          <p:cNvSpPr txBox="1"/>
          <p:nvPr/>
        </p:nvSpPr>
        <p:spPr>
          <a:xfrm>
            <a:off x="1439875" y="3529688"/>
            <a:ext cx="16521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Balanced Triads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64" name="Google Shape;264;p33"/>
          <p:cNvSpPr txBox="1"/>
          <p:nvPr/>
        </p:nvSpPr>
        <p:spPr>
          <a:xfrm>
            <a:off x="1485350" y="4776875"/>
            <a:ext cx="16521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Unbalanced Triads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65" name="Google Shape;265;p33"/>
          <p:cNvSpPr txBox="1"/>
          <p:nvPr/>
        </p:nvSpPr>
        <p:spPr>
          <a:xfrm>
            <a:off x="3840200" y="4651700"/>
            <a:ext cx="41373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Cartwright and Harary (1956: 284, Fig. 4)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4"/>
          <p:cNvSpPr txBox="1"/>
          <p:nvPr>
            <p:ph idx="1" type="body"/>
          </p:nvPr>
        </p:nvSpPr>
        <p:spPr>
          <a:xfrm>
            <a:off x="311700" y="1225225"/>
            <a:ext cx="4448100" cy="15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whole signed graph </a:t>
            </a:r>
            <a:r>
              <a:rPr b="1" lang="en"/>
              <a:t>only</a:t>
            </a:r>
            <a:r>
              <a:rPr lang="en"/>
              <a:t> contains </a:t>
            </a:r>
            <a:r>
              <a:rPr b="1" lang="en"/>
              <a:t>balanced</a:t>
            </a:r>
            <a:r>
              <a:rPr lang="en"/>
              <a:t> triads then the graph is also balanced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Balance can be a whole network property!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272" name="Google Shape;272;p34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3" name="Google Shape;273;p34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74" name="Google Shape;274;p34"/>
          <p:cNvCxnSpPr>
            <a:stCxn id="272" idx="6"/>
            <a:endCxn id="273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5" name="Google Shape;275;p34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76" name="Google Shape;276;p34"/>
          <p:cNvCxnSpPr>
            <a:stCxn id="275" idx="2"/>
            <a:endCxn id="273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77" name="Google Shape;277;p34"/>
          <p:cNvSpPr/>
          <p:nvPr/>
        </p:nvSpPr>
        <p:spPr>
          <a:xfrm>
            <a:off x="8037576" y="339242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78" name="Google Shape;278;p34"/>
          <p:cNvCxnSpPr>
            <a:stCxn id="277" idx="2"/>
            <a:endCxn id="275" idx="2"/>
          </p:cNvCxnSpPr>
          <p:nvPr/>
        </p:nvCxnSpPr>
        <p:spPr>
          <a:xfrm flipH="1" rot="10800000">
            <a:off x="8037576" y="2208624"/>
            <a:ext cx="45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" name="Google Shape;279;p34"/>
          <p:cNvCxnSpPr>
            <a:stCxn id="272" idx="6"/>
            <a:endCxn id="277" idx="2"/>
          </p:cNvCxnSpPr>
          <p:nvPr/>
        </p:nvCxnSpPr>
        <p:spPr>
          <a:xfrm>
            <a:off x="5373300" y="2208534"/>
            <a:ext cx="26643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80" name="Google Shape;280;p34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1" name="Google Shape;281;p34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82" name="Google Shape;282;p34"/>
          <p:cNvCxnSpPr>
            <a:stCxn id="272" idx="6"/>
            <a:endCxn id="281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34"/>
          <p:cNvCxnSpPr>
            <a:stCxn id="281" idx="6"/>
            <a:endCxn id="280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34"/>
          <p:cNvCxnSpPr>
            <a:stCxn id="280" idx="6"/>
            <a:endCxn id="277" idx="2"/>
          </p:cNvCxnSpPr>
          <p:nvPr/>
        </p:nvCxnSpPr>
        <p:spPr>
          <a:xfrm flipH="1" rot="10800000">
            <a:off x="7014408" y="3698046"/>
            <a:ext cx="1023300" cy="57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5" name="Google Shape;285;p34"/>
          <p:cNvCxnSpPr>
            <a:stCxn id="281" idx="6"/>
            <a:endCxn id="273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" name="Google Shape;286;p34"/>
          <p:cNvCxnSpPr>
            <a:stCxn id="277" idx="2"/>
            <a:endCxn id="273" idx="6"/>
          </p:cNvCxnSpPr>
          <p:nvPr/>
        </p:nvCxnSpPr>
        <p:spPr>
          <a:xfrm rot="10800000">
            <a:off x="7014276" y="1597224"/>
            <a:ext cx="1023300" cy="210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7" name="Google Shape;287;p34"/>
          <p:cNvCxnSpPr>
            <a:stCxn id="281" idx="6"/>
            <a:endCxn id="277" idx="2"/>
          </p:cNvCxnSpPr>
          <p:nvPr/>
        </p:nvCxnSpPr>
        <p:spPr>
          <a:xfrm flipH="1" rot="10800000">
            <a:off x="5373308" y="3698221"/>
            <a:ext cx="2664300" cy="37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8" name="Google Shape;288;p34"/>
          <p:cNvCxnSpPr>
            <a:stCxn id="272" idx="6"/>
            <a:endCxn id="275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9" name="Google Shape;289;p34"/>
          <p:cNvCxnSpPr>
            <a:stCxn id="280" idx="6"/>
            <a:endCxn id="275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" name="Google Shape;290;p34"/>
          <p:cNvCxnSpPr>
            <a:stCxn id="272" idx="6"/>
            <a:endCxn id="280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91" name="Google Shape;291;p34"/>
          <p:cNvCxnSpPr>
            <a:stCxn id="280" idx="0"/>
            <a:endCxn id="273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92" name="Google Shape;292;p34"/>
          <p:cNvCxnSpPr>
            <a:stCxn id="281" idx="6"/>
            <a:endCxn id="275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93" name="Google Shape;293;p34"/>
          <p:cNvSpPr/>
          <p:nvPr/>
        </p:nvSpPr>
        <p:spPr>
          <a:xfrm>
            <a:off x="3648288" y="4271225"/>
            <a:ext cx="2398800" cy="6450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Only these triads exist in a balanced graph!</a:t>
            </a:r>
            <a:endParaRPr b="1" sz="12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4" name="Google Shape;294;p34"/>
          <p:cNvSpPr/>
          <p:nvPr/>
        </p:nvSpPr>
        <p:spPr>
          <a:xfrm>
            <a:off x="1320625" y="2757023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5" name="Google Shape;295;p34"/>
          <p:cNvSpPr/>
          <p:nvPr/>
        </p:nvSpPr>
        <p:spPr>
          <a:xfrm>
            <a:off x="1958416" y="3053354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96" name="Google Shape;296;p34"/>
          <p:cNvCxnSpPr>
            <a:stCxn id="294" idx="6"/>
            <a:endCxn id="295" idx="2"/>
          </p:cNvCxnSpPr>
          <p:nvPr/>
        </p:nvCxnSpPr>
        <p:spPr>
          <a:xfrm>
            <a:off x="1559125" y="2875523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7" name="Google Shape;297;p34"/>
          <p:cNvSpPr/>
          <p:nvPr/>
        </p:nvSpPr>
        <p:spPr>
          <a:xfrm>
            <a:off x="1320628" y="3349629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98" name="Google Shape;298;p34"/>
          <p:cNvCxnSpPr>
            <a:stCxn id="294" idx="4"/>
            <a:endCxn id="297" idx="0"/>
          </p:cNvCxnSpPr>
          <p:nvPr/>
        </p:nvCxnSpPr>
        <p:spPr>
          <a:xfrm>
            <a:off x="1439875" y="2994023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" name="Google Shape;299;p34"/>
          <p:cNvCxnSpPr>
            <a:stCxn id="297" idx="6"/>
            <a:endCxn id="295" idx="2"/>
          </p:cNvCxnSpPr>
          <p:nvPr/>
        </p:nvCxnSpPr>
        <p:spPr>
          <a:xfrm flipH="1" rot="10800000">
            <a:off x="1559128" y="3171729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0" name="Google Shape;300;p34"/>
          <p:cNvSpPr/>
          <p:nvPr/>
        </p:nvSpPr>
        <p:spPr>
          <a:xfrm>
            <a:off x="2730334" y="2752231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1" name="Google Shape;301;p34"/>
          <p:cNvSpPr/>
          <p:nvPr/>
        </p:nvSpPr>
        <p:spPr>
          <a:xfrm>
            <a:off x="3368125" y="3048562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02" name="Google Shape;302;p34"/>
          <p:cNvCxnSpPr>
            <a:stCxn id="300" idx="6"/>
            <a:endCxn id="301" idx="2"/>
          </p:cNvCxnSpPr>
          <p:nvPr/>
        </p:nvCxnSpPr>
        <p:spPr>
          <a:xfrm>
            <a:off x="2968834" y="2870731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03" name="Google Shape;303;p34"/>
          <p:cNvSpPr/>
          <p:nvPr/>
        </p:nvSpPr>
        <p:spPr>
          <a:xfrm>
            <a:off x="2730337" y="3344837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04" name="Google Shape;304;p34"/>
          <p:cNvCxnSpPr>
            <a:stCxn id="300" idx="4"/>
            <a:endCxn id="303" idx="0"/>
          </p:cNvCxnSpPr>
          <p:nvPr/>
        </p:nvCxnSpPr>
        <p:spPr>
          <a:xfrm>
            <a:off x="2849584" y="2989231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" name="Google Shape;305;p34"/>
          <p:cNvCxnSpPr>
            <a:stCxn id="303" idx="6"/>
            <a:endCxn id="301" idx="2"/>
          </p:cNvCxnSpPr>
          <p:nvPr/>
        </p:nvCxnSpPr>
        <p:spPr>
          <a:xfrm flipH="1" rot="10800000">
            <a:off x="2968837" y="3166937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06" name="Google Shape;306;p34"/>
          <p:cNvSpPr/>
          <p:nvPr/>
        </p:nvSpPr>
        <p:spPr>
          <a:xfrm>
            <a:off x="1371575" y="3947023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7" name="Google Shape;307;p34"/>
          <p:cNvSpPr/>
          <p:nvPr/>
        </p:nvSpPr>
        <p:spPr>
          <a:xfrm>
            <a:off x="2009366" y="4243354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08" name="Google Shape;308;p34"/>
          <p:cNvCxnSpPr>
            <a:stCxn id="306" idx="6"/>
            <a:endCxn id="307" idx="2"/>
          </p:cNvCxnSpPr>
          <p:nvPr/>
        </p:nvCxnSpPr>
        <p:spPr>
          <a:xfrm>
            <a:off x="1610075" y="4065523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9" name="Google Shape;309;p34"/>
          <p:cNvSpPr/>
          <p:nvPr/>
        </p:nvSpPr>
        <p:spPr>
          <a:xfrm>
            <a:off x="1371578" y="4539629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10" name="Google Shape;310;p34"/>
          <p:cNvCxnSpPr>
            <a:stCxn id="306" idx="4"/>
            <a:endCxn id="309" idx="0"/>
          </p:cNvCxnSpPr>
          <p:nvPr/>
        </p:nvCxnSpPr>
        <p:spPr>
          <a:xfrm>
            <a:off x="1490825" y="4184023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" name="Google Shape;311;p34"/>
          <p:cNvCxnSpPr>
            <a:stCxn id="309" idx="6"/>
            <a:endCxn id="307" idx="2"/>
          </p:cNvCxnSpPr>
          <p:nvPr/>
        </p:nvCxnSpPr>
        <p:spPr>
          <a:xfrm flipH="1" rot="10800000">
            <a:off x="1610078" y="4361729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12" name="Google Shape;312;p34"/>
          <p:cNvSpPr/>
          <p:nvPr/>
        </p:nvSpPr>
        <p:spPr>
          <a:xfrm>
            <a:off x="2781284" y="3942231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13" name="Google Shape;313;p34"/>
          <p:cNvSpPr/>
          <p:nvPr/>
        </p:nvSpPr>
        <p:spPr>
          <a:xfrm>
            <a:off x="3419075" y="4238562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14" name="Google Shape;314;p34"/>
          <p:cNvCxnSpPr>
            <a:stCxn id="312" idx="6"/>
            <a:endCxn id="313" idx="2"/>
          </p:cNvCxnSpPr>
          <p:nvPr/>
        </p:nvCxnSpPr>
        <p:spPr>
          <a:xfrm>
            <a:off x="3019784" y="4060731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15" name="Google Shape;315;p34"/>
          <p:cNvSpPr/>
          <p:nvPr/>
        </p:nvSpPr>
        <p:spPr>
          <a:xfrm>
            <a:off x="2781287" y="4534837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16" name="Google Shape;316;p34"/>
          <p:cNvCxnSpPr>
            <a:stCxn id="312" idx="4"/>
            <a:endCxn id="315" idx="0"/>
          </p:cNvCxnSpPr>
          <p:nvPr/>
        </p:nvCxnSpPr>
        <p:spPr>
          <a:xfrm>
            <a:off x="2900534" y="4179231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17" name="Google Shape;317;p34"/>
          <p:cNvCxnSpPr>
            <a:stCxn id="315" idx="6"/>
            <a:endCxn id="313" idx="2"/>
          </p:cNvCxnSpPr>
          <p:nvPr/>
        </p:nvCxnSpPr>
        <p:spPr>
          <a:xfrm flipH="1" rot="10800000">
            <a:off x="3019787" y="4356937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18" name="Google Shape;318;p34"/>
          <p:cNvSpPr txBox="1"/>
          <p:nvPr/>
        </p:nvSpPr>
        <p:spPr>
          <a:xfrm>
            <a:off x="1439875" y="3529688"/>
            <a:ext cx="16521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Balanced Triads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19" name="Google Shape;319;p34"/>
          <p:cNvSpPr txBox="1"/>
          <p:nvPr/>
        </p:nvSpPr>
        <p:spPr>
          <a:xfrm>
            <a:off x="1485350" y="4776875"/>
            <a:ext cx="16521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Unbalanced Triads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20" name="Google Shape;320;p34"/>
          <p:cNvSpPr/>
          <p:nvPr/>
        </p:nvSpPr>
        <p:spPr>
          <a:xfrm>
            <a:off x="933925" y="2752225"/>
            <a:ext cx="2856900" cy="10143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1" name="Google Shape;321;p34"/>
          <p:cNvCxnSpPr>
            <a:stCxn id="293" idx="1"/>
            <a:endCxn id="318" idx="2"/>
          </p:cNvCxnSpPr>
          <p:nvPr/>
        </p:nvCxnSpPr>
        <p:spPr>
          <a:xfrm rot="10800000">
            <a:off x="2265884" y="3766583"/>
            <a:ext cx="1733700" cy="599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5"/>
          <p:cNvSpPr txBox="1"/>
          <p:nvPr>
            <p:ph idx="1" type="body"/>
          </p:nvPr>
        </p:nvSpPr>
        <p:spPr>
          <a:xfrm>
            <a:off x="311700" y="1225225"/>
            <a:ext cx="4448100" cy="15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whole signed graph </a:t>
            </a:r>
            <a:r>
              <a:rPr b="1" lang="en"/>
              <a:t>only</a:t>
            </a:r>
            <a:r>
              <a:rPr lang="en"/>
              <a:t> contains </a:t>
            </a:r>
            <a:r>
              <a:rPr b="1" lang="en"/>
              <a:t>balanced</a:t>
            </a:r>
            <a:r>
              <a:rPr lang="en"/>
              <a:t> triads then the graph is also balanced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Balance can be a whole network property!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328" name="Google Shape;328;p35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29" name="Google Shape;329;p35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30" name="Google Shape;330;p35"/>
          <p:cNvCxnSpPr>
            <a:stCxn id="328" idx="6"/>
            <a:endCxn id="329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1" name="Google Shape;331;p35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32" name="Google Shape;332;p35"/>
          <p:cNvCxnSpPr>
            <a:stCxn id="331" idx="2"/>
            <a:endCxn id="329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33" name="Google Shape;333;p35"/>
          <p:cNvSpPr/>
          <p:nvPr/>
        </p:nvSpPr>
        <p:spPr>
          <a:xfrm>
            <a:off x="8037576" y="339242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34" name="Google Shape;334;p35"/>
          <p:cNvCxnSpPr>
            <a:stCxn id="333" idx="2"/>
            <a:endCxn id="331" idx="2"/>
          </p:cNvCxnSpPr>
          <p:nvPr/>
        </p:nvCxnSpPr>
        <p:spPr>
          <a:xfrm flipH="1" rot="10800000">
            <a:off x="8037576" y="2208624"/>
            <a:ext cx="45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" name="Google Shape;335;p35"/>
          <p:cNvCxnSpPr>
            <a:stCxn id="328" idx="6"/>
            <a:endCxn id="333" idx="2"/>
          </p:cNvCxnSpPr>
          <p:nvPr/>
        </p:nvCxnSpPr>
        <p:spPr>
          <a:xfrm>
            <a:off x="5373300" y="2208534"/>
            <a:ext cx="26643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36" name="Google Shape;336;p35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37" name="Google Shape;337;p35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38" name="Google Shape;338;p35"/>
          <p:cNvCxnSpPr>
            <a:stCxn id="328" idx="6"/>
            <a:endCxn id="337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9" name="Google Shape;339;p35"/>
          <p:cNvCxnSpPr>
            <a:stCxn id="337" idx="6"/>
            <a:endCxn id="336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0" name="Google Shape;340;p35"/>
          <p:cNvCxnSpPr>
            <a:stCxn id="336" idx="6"/>
            <a:endCxn id="333" idx="2"/>
          </p:cNvCxnSpPr>
          <p:nvPr/>
        </p:nvCxnSpPr>
        <p:spPr>
          <a:xfrm flipH="1" rot="10800000">
            <a:off x="7014408" y="3698046"/>
            <a:ext cx="1023300" cy="57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" name="Google Shape;341;p35"/>
          <p:cNvCxnSpPr>
            <a:stCxn id="337" idx="6"/>
            <a:endCxn id="329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2" name="Google Shape;342;p35"/>
          <p:cNvCxnSpPr>
            <a:stCxn id="333" idx="2"/>
            <a:endCxn id="329" idx="6"/>
          </p:cNvCxnSpPr>
          <p:nvPr/>
        </p:nvCxnSpPr>
        <p:spPr>
          <a:xfrm rot="10800000">
            <a:off x="7014276" y="1597224"/>
            <a:ext cx="1023300" cy="210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3" name="Google Shape;343;p35"/>
          <p:cNvCxnSpPr>
            <a:stCxn id="337" idx="6"/>
            <a:endCxn id="333" idx="2"/>
          </p:cNvCxnSpPr>
          <p:nvPr/>
        </p:nvCxnSpPr>
        <p:spPr>
          <a:xfrm flipH="1" rot="10800000">
            <a:off x="5373308" y="3698221"/>
            <a:ext cx="2664300" cy="37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4" name="Google Shape;344;p35"/>
          <p:cNvCxnSpPr>
            <a:stCxn id="328" idx="6"/>
            <a:endCxn id="331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5" name="Google Shape;345;p35"/>
          <p:cNvCxnSpPr>
            <a:stCxn id="336" idx="6"/>
            <a:endCxn id="331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6" name="Google Shape;346;p35"/>
          <p:cNvCxnSpPr>
            <a:stCxn id="328" idx="6"/>
            <a:endCxn id="336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7" name="Google Shape;347;p35"/>
          <p:cNvCxnSpPr>
            <a:stCxn id="336" idx="0"/>
            <a:endCxn id="329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8" name="Google Shape;348;p35"/>
          <p:cNvCxnSpPr>
            <a:stCxn id="337" idx="6"/>
            <a:endCxn id="331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49" name="Google Shape;349;p35"/>
          <p:cNvSpPr/>
          <p:nvPr/>
        </p:nvSpPr>
        <p:spPr>
          <a:xfrm>
            <a:off x="3648300" y="4100925"/>
            <a:ext cx="2761800" cy="8154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Trick: A triad is </a:t>
            </a:r>
            <a:r>
              <a:rPr b="1" lang="en" sz="1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balanced if it has either zero or two negative links</a:t>
            </a:r>
            <a:endParaRPr b="1" sz="12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0" name="Google Shape;350;p35"/>
          <p:cNvSpPr/>
          <p:nvPr/>
        </p:nvSpPr>
        <p:spPr>
          <a:xfrm>
            <a:off x="1320625" y="2757023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51" name="Google Shape;351;p35"/>
          <p:cNvSpPr/>
          <p:nvPr/>
        </p:nvSpPr>
        <p:spPr>
          <a:xfrm>
            <a:off x="1958416" y="3053354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52" name="Google Shape;352;p35"/>
          <p:cNvCxnSpPr>
            <a:stCxn id="350" idx="6"/>
            <a:endCxn id="351" idx="2"/>
          </p:cNvCxnSpPr>
          <p:nvPr/>
        </p:nvCxnSpPr>
        <p:spPr>
          <a:xfrm>
            <a:off x="1559125" y="2875523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3" name="Google Shape;353;p35"/>
          <p:cNvSpPr/>
          <p:nvPr/>
        </p:nvSpPr>
        <p:spPr>
          <a:xfrm>
            <a:off x="1320628" y="3349629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54" name="Google Shape;354;p35"/>
          <p:cNvCxnSpPr>
            <a:stCxn id="350" idx="4"/>
            <a:endCxn id="353" idx="0"/>
          </p:cNvCxnSpPr>
          <p:nvPr/>
        </p:nvCxnSpPr>
        <p:spPr>
          <a:xfrm>
            <a:off x="1439875" y="2994023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" name="Google Shape;355;p35"/>
          <p:cNvCxnSpPr>
            <a:stCxn id="353" idx="6"/>
            <a:endCxn id="351" idx="2"/>
          </p:cNvCxnSpPr>
          <p:nvPr/>
        </p:nvCxnSpPr>
        <p:spPr>
          <a:xfrm flipH="1" rot="10800000">
            <a:off x="1559128" y="3171729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6" name="Google Shape;356;p35"/>
          <p:cNvSpPr/>
          <p:nvPr/>
        </p:nvSpPr>
        <p:spPr>
          <a:xfrm>
            <a:off x="2730334" y="2752231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57" name="Google Shape;357;p35"/>
          <p:cNvSpPr/>
          <p:nvPr/>
        </p:nvSpPr>
        <p:spPr>
          <a:xfrm>
            <a:off x="3368125" y="3048562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58" name="Google Shape;358;p35"/>
          <p:cNvCxnSpPr>
            <a:stCxn id="356" idx="6"/>
            <a:endCxn id="357" idx="2"/>
          </p:cNvCxnSpPr>
          <p:nvPr/>
        </p:nvCxnSpPr>
        <p:spPr>
          <a:xfrm>
            <a:off x="2968834" y="2870731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59" name="Google Shape;359;p35"/>
          <p:cNvSpPr/>
          <p:nvPr/>
        </p:nvSpPr>
        <p:spPr>
          <a:xfrm>
            <a:off x="2730337" y="3344837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60" name="Google Shape;360;p35"/>
          <p:cNvCxnSpPr>
            <a:stCxn id="356" idx="4"/>
            <a:endCxn id="359" idx="0"/>
          </p:cNvCxnSpPr>
          <p:nvPr/>
        </p:nvCxnSpPr>
        <p:spPr>
          <a:xfrm>
            <a:off x="2849584" y="2989231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1" name="Google Shape;361;p35"/>
          <p:cNvCxnSpPr>
            <a:stCxn id="359" idx="6"/>
            <a:endCxn id="357" idx="2"/>
          </p:cNvCxnSpPr>
          <p:nvPr/>
        </p:nvCxnSpPr>
        <p:spPr>
          <a:xfrm flipH="1" rot="10800000">
            <a:off x="2968837" y="3166937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62" name="Google Shape;362;p35"/>
          <p:cNvSpPr/>
          <p:nvPr/>
        </p:nvSpPr>
        <p:spPr>
          <a:xfrm>
            <a:off x="1371575" y="3947023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3" name="Google Shape;363;p35"/>
          <p:cNvSpPr/>
          <p:nvPr/>
        </p:nvSpPr>
        <p:spPr>
          <a:xfrm>
            <a:off x="2009366" y="4243354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64" name="Google Shape;364;p35"/>
          <p:cNvCxnSpPr>
            <a:stCxn id="362" idx="6"/>
            <a:endCxn id="363" idx="2"/>
          </p:cNvCxnSpPr>
          <p:nvPr/>
        </p:nvCxnSpPr>
        <p:spPr>
          <a:xfrm>
            <a:off x="1610075" y="4065523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5" name="Google Shape;365;p35"/>
          <p:cNvSpPr/>
          <p:nvPr/>
        </p:nvSpPr>
        <p:spPr>
          <a:xfrm>
            <a:off x="1371578" y="4539629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66" name="Google Shape;366;p35"/>
          <p:cNvCxnSpPr>
            <a:stCxn id="362" idx="4"/>
            <a:endCxn id="365" idx="0"/>
          </p:cNvCxnSpPr>
          <p:nvPr/>
        </p:nvCxnSpPr>
        <p:spPr>
          <a:xfrm>
            <a:off x="1490825" y="4184023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7" name="Google Shape;367;p35"/>
          <p:cNvCxnSpPr>
            <a:stCxn id="365" idx="6"/>
            <a:endCxn id="363" idx="2"/>
          </p:cNvCxnSpPr>
          <p:nvPr/>
        </p:nvCxnSpPr>
        <p:spPr>
          <a:xfrm flipH="1" rot="10800000">
            <a:off x="1610078" y="4361729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68" name="Google Shape;368;p35"/>
          <p:cNvSpPr/>
          <p:nvPr/>
        </p:nvSpPr>
        <p:spPr>
          <a:xfrm>
            <a:off x="2781284" y="3942231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9" name="Google Shape;369;p35"/>
          <p:cNvSpPr/>
          <p:nvPr/>
        </p:nvSpPr>
        <p:spPr>
          <a:xfrm>
            <a:off x="3419075" y="4238562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70" name="Google Shape;370;p35"/>
          <p:cNvCxnSpPr>
            <a:stCxn id="368" idx="6"/>
            <a:endCxn id="369" idx="2"/>
          </p:cNvCxnSpPr>
          <p:nvPr/>
        </p:nvCxnSpPr>
        <p:spPr>
          <a:xfrm>
            <a:off x="3019784" y="4060731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71" name="Google Shape;371;p35"/>
          <p:cNvSpPr/>
          <p:nvPr/>
        </p:nvSpPr>
        <p:spPr>
          <a:xfrm>
            <a:off x="2781287" y="4534837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72" name="Google Shape;372;p35"/>
          <p:cNvCxnSpPr>
            <a:stCxn id="368" idx="4"/>
            <a:endCxn id="371" idx="0"/>
          </p:cNvCxnSpPr>
          <p:nvPr/>
        </p:nvCxnSpPr>
        <p:spPr>
          <a:xfrm>
            <a:off x="2900534" y="4179231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73" name="Google Shape;373;p35"/>
          <p:cNvCxnSpPr>
            <a:stCxn id="371" idx="6"/>
            <a:endCxn id="369" idx="2"/>
          </p:cNvCxnSpPr>
          <p:nvPr/>
        </p:nvCxnSpPr>
        <p:spPr>
          <a:xfrm flipH="1" rot="10800000">
            <a:off x="3019787" y="4356937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74" name="Google Shape;374;p35"/>
          <p:cNvSpPr txBox="1"/>
          <p:nvPr/>
        </p:nvSpPr>
        <p:spPr>
          <a:xfrm>
            <a:off x="1439875" y="3529688"/>
            <a:ext cx="16521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Balanced Triads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75" name="Google Shape;375;p35"/>
          <p:cNvSpPr txBox="1"/>
          <p:nvPr/>
        </p:nvSpPr>
        <p:spPr>
          <a:xfrm>
            <a:off x="1485350" y="4776875"/>
            <a:ext cx="16521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Unbalanced Triads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6"/>
          <p:cNvSpPr txBox="1"/>
          <p:nvPr>
            <p:ph idx="1" type="body"/>
          </p:nvPr>
        </p:nvSpPr>
        <p:spPr>
          <a:xfrm>
            <a:off x="311700" y="1225225"/>
            <a:ext cx="4448100" cy="15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whole signed graph </a:t>
            </a:r>
            <a:r>
              <a:rPr b="1" lang="en"/>
              <a:t>only</a:t>
            </a:r>
            <a:r>
              <a:rPr lang="en"/>
              <a:t> contains </a:t>
            </a:r>
            <a:r>
              <a:rPr b="1" lang="en"/>
              <a:t>balanced</a:t>
            </a:r>
            <a:r>
              <a:rPr lang="en"/>
              <a:t> triads then the graph is also balanced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Balance can be a whole network property!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382" name="Google Shape;382;p36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83" name="Google Shape;383;p36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84" name="Google Shape;384;p36"/>
          <p:cNvCxnSpPr>
            <a:stCxn id="382" idx="6"/>
            <a:endCxn id="383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5" name="Google Shape;385;p36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86" name="Google Shape;386;p36"/>
          <p:cNvCxnSpPr>
            <a:stCxn id="385" idx="2"/>
            <a:endCxn id="383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87" name="Google Shape;387;p36"/>
          <p:cNvSpPr/>
          <p:nvPr/>
        </p:nvSpPr>
        <p:spPr>
          <a:xfrm>
            <a:off x="8037576" y="339242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88" name="Google Shape;388;p36"/>
          <p:cNvCxnSpPr>
            <a:stCxn id="387" idx="2"/>
            <a:endCxn id="385" idx="2"/>
          </p:cNvCxnSpPr>
          <p:nvPr/>
        </p:nvCxnSpPr>
        <p:spPr>
          <a:xfrm flipH="1" rot="10800000">
            <a:off x="8037576" y="2208624"/>
            <a:ext cx="45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" name="Google Shape;389;p36"/>
          <p:cNvCxnSpPr>
            <a:stCxn id="382" idx="6"/>
            <a:endCxn id="387" idx="2"/>
          </p:cNvCxnSpPr>
          <p:nvPr/>
        </p:nvCxnSpPr>
        <p:spPr>
          <a:xfrm>
            <a:off x="5373300" y="2208534"/>
            <a:ext cx="26643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90" name="Google Shape;390;p36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1" name="Google Shape;391;p36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92" name="Google Shape;392;p36"/>
          <p:cNvCxnSpPr>
            <a:stCxn id="382" idx="6"/>
            <a:endCxn id="391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3" name="Google Shape;393;p36"/>
          <p:cNvCxnSpPr>
            <a:stCxn id="391" idx="6"/>
            <a:endCxn id="390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94" name="Google Shape;394;p36"/>
          <p:cNvCxnSpPr>
            <a:stCxn id="390" idx="6"/>
            <a:endCxn id="387" idx="2"/>
          </p:cNvCxnSpPr>
          <p:nvPr/>
        </p:nvCxnSpPr>
        <p:spPr>
          <a:xfrm flipH="1" rot="10800000">
            <a:off x="7014408" y="3698046"/>
            <a:ext cx="1023300" cy="57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" name="Google Shape;395;p36"/>
          <p:cNvCxnSpPr>
            <a:stCxn id="391" idx="6"/>
            <a:endCxn id="383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6" name="Google Shape;396;p36"/>
          <p:cNvCxnSpPr>
            <a:stCxn id="387" idx="2"/>
            <a:endCxn id="383" idx="6"/>
          </p:cNvCxnSpPr>
          <p:nvPr/>
        </p:nvCxnSpPr>
        <p:spPr>
          <a:xfrm rot="10800000">
            <a:off x="7014276" y="1597224"/>
            <a:ext cx="1023300" cy="210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97" name="Google Shape;397;p36"/>
          <p:cNvCxnSpPr>
            <a:stCxn id="391" idx="6"/>
            <a:endCxn id="387" idx="2"/>
          </p:cNvCxnSpPr>
          <p:nvPr/>
        </p:nvCxnSpPr>
        <p:spPr>
          <a:xfrm flipH="1" rot="10800000">
            <a:off x="5373308" y="3698221"/>
            <a:ext cx="2664300" cy="37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98" name="Google Shape;398;p36"/>
          <p:cNvCxnSpPr>
            <a:stCxn id="382" idx="6"/>
            <a:endCxn id="385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99" name="Google Shape;399;p36"/>
          <p:cNvCxnSpPr>
            <a:stCxn id="390" idx="6"/>
            <a:endCxn id="385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" name="Google Shape;400;p36"/>
          <p:cNvCxnSpPr>
            <a:stCxn id="382" idx="6"/>
            <a:endCxn id="390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01" name="Google Shape;401;p36"/>
          <p:cNvCxnSpPr>
            <a:stCxn id="390" idx="0"/>
            <a:endCxn id="383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02" name="Google Shape;402;p36"/>
          <p:cNvCxnSpPr>
            <a:stCxn id="391" idx="6"/>
            <a:endCxn id="385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03" name="Google Shape;403;p36"/>
          <p:cNvSpPr/>
          <p:nvPr/>
        </p:nvSpPr>
        <p:spPr>
          <a:xfrm>
            <a:off x="3648300" y="4100925"/>
            <a:ext cx="3232500" cy="8154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Trick: A triad is unbalanced if the number of negative links is odd (one or three)</a:t>
            </a:r>
            <a:endParaRPr b="1" sz="12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4" name="Google Shape;404;p36"/>
          <p:cNvSpPr/>
          <p:nvPr/>
        </p:nvSpPr>
        <p:spPr>
          <a:xfrm>
            <a:off x="1320625" y="2757023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05" name="Google Shape;405;p36"/>
          <p:cNvSpPr/>
          <p:nvPr/>
        </p:nvSpPr>
        <p:spPr>
          <a:xfrm>
            <a:off x="1958416" y="3053354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06" name="Google Shape;406;p36"/>
          <p:cNvCxnSpPr>
            <a:stCxn id="404" idx="6"/>
            <a:endCxn id="405" idx="2"/>
          </p:cNvCxnSpPr>
          <p:nvPr/>
        </p:nvCxnSpPr>
        <p:spPr>
          <a:xfrm>
            <a:off x="1559125" y="2875523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7" name="Google Shape;407;p36"/>
          <p:cNvSpPr/>
          <p:nvPr/>
        </p:nvSpPr>
        <p:spPr>
          <a:xfrm>
            <a:off x="1320628" y="3349629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08" name="Google Shape;408;p36"/>
          <p:cNvCxnSpPr>
            <a:stCxn id="404" idx="4"/>
            <a:endCxn id="407" idx="0"/>
          </p:cNvCxnSpPr>
          <p:nvPr/>
        </p:nvCxnSpPr>
        <p:spPr>
          <a:xfrm>
            <a:off x="1439875" y="2994023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" name="Google Shape;409;p36"/>
          <p:cNvCxnSpPr>
            <a:stCxn id="407" idx="6"/>
            <a:endCxn id="405" idx="2"/>
          </p:cNvCxnSpPr>
          <p:nvPr/>
        </p:nvCxnSpPr>
        <p:spPr>
          <a:xfrm flipH="1" rot="10800000">
            <a:off x="1559128" y="3171729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0" name="Google Shape;410;p36"/>
          <p:cNvSpPr/>
          <p:nvPr/>
        </p:nvSpPr>
        <p:spPr>
          <a:xfrm>
            <a:off x="2730334" y="2752231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11" name="Google Shape;411;p36"/>
          <p:cNvSpPr/>
          <p:nvPr/>
        </p:nvSpPr>
        <p:spPr>
          <a:xfrm>
            <a:off x="3368125" y="3048562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12" name="Google Shape;412;p36"/>
          <p:cNvCxnSpPr>
            <a:stCxn id="410" idx="6"/>
            <a:endCxn id="411" idx="2"/>
          </p:cNvCxnSpPr>
          <p:nvPr/>
        </p:nvCxnSpPr>
        <p:spPr>
          <a:xfrm>
            <a:off x="2968834" y="2870731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13" name="Google Shape;413;p36"/>
          <p:cNvSpPr/>
          <p:nvPr/>
        </p:nvSpPr>
        <p:spPr>
          <a:xfrm>
            <a:off x="2730337" y="3344837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14" name="Google Shape;414;p36"/>
          <p:cNvCxnSpPr>
            <a:stCxn id="410" idx="4"/>
            <a:endCxn id="413" idx="0"/>
          </p:cNvCxnSpPr>
          <p:nvPr/>
        </p:nvCxnSpPr>
        <p:spPr>
          <a:xfrm>
            <a:off x="2849584" y="2989231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" name="Google Shape;415;p36"/>
          <p:cNvCxnSpPr>
            <a:stCxn id="413" idx="6"/>
            <a:endCxn id="411" idx="2"/>
          </p:cNvCxnSpPr>
          <p:nvPr/>
        </p:nvCxnSpPr>
        <p:spPr>
          <a:xfrm flipH="1" rot="10800000">
            <a:off x="2968837" y="3166937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16" name="Google Shape;416;p36"/>
          <p:cNvSpPr/>
          <p:nvPr/>
        </p:nvSpPr>
        <p:spPr>
          <a:xfrm>
            <a:off x="1371575" y="3947023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17" name="Google Shape;417;p36"/>
          <p:cNvSpPr/>
          <p:nvPr/>
        </p:nvSpPr>
        <p:spPr>
          <a:xfrm>
            <a:off x="2009366" y="4243354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18" name="Google Shape;418;p36"/>
          <p:cNvCxnSpPr>
            <a:stCxn id="416" idx="6"/>
            <a:endCxn id="417" idx="2"/>
          </p:cNvCxnSpPr>
          <p:nvPr/>
        </p:nvCxnSpPr>
        <p:spPr>
          <a:xfrm>
            <a:off x="1610075" y="4065523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9" name="Google Shape;419;p36"/>
          <p:cNvSpPr/>
          <p:nvPr/>
        </p:nvSpPr>
        <p:spPr>
          <a:xfrm>
            <a:off x="1371578" y="4539629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20" name="Google Shape;420;p36"/>
          <p:cNvCxnSpPr>
            <a:stCxn id="416" idx="4"/>
            <a:endCxn id="419" idx="0"/>
          </p:cNvCxnSpPr>
          <p:nvPr/>
        </p:nvCxnSpPr>
        <p:spPr>
          <a:xfrm>
            <a:off x="1490825" y="4184023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" name="Google Shape;421;p36"/>
          <p:cNvCxnSpPr>
            <a:stCxn id="419" idx="6"/>
            <a:endCxn id="417" idx="2"/>
          </p:cNvCxnSpPr>
          <p:nvPr/>
        </p:nvCxnSpPr>
        <p:spPr>
          <a:xfrm flipH="1" rot="10800000">
            <a:off x="1610078" y="4361729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22" name="Google Shape;422;p36"/>
          <p:cNvSpPr/>
          <p:nvPr/>
        </p:nvSpPr>
        <p:spPr>
          <a:xfrm>
            <a:off x="2781284" y="3942231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23" name="Google Shape;423;p36"/>
          <p:cNvSpPr/>
          <p:nvPr/>
        </p:nvSpPr>
        <p:spPr>
          <a:xfrm>
            <a:off x="3419075" y="4238562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24" name="Google Shape;424;p36"/>
          <p:cNvCxnSpPr>
            <a:stCxn id="422" idx="6"/>
            <a:endCxn id="423" idx="2"/>
          </p:cNvCxnSpPr>
          <p:nvPr/>
        </p:nvCxnSpPr>
        <p:spPr>
          <a:xfrm>
            <a:off x="3019784" y="4060731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25" name="Google Shape;425;p36"/>
          <p:cNvSpPr/>
          <p:nvPr/>
        </p:nvSpPr>
        <p:spPr>
          <a:xfrm>
            <a:off x="2781287" y="4534837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26" name="Google Shape;426;p36"/>
          <p:cNvCxnSpPr>
            <a:stCxn id="422" idx="4"/>
            <a:endCxn id="425" idx="0"/>
          </p:cNvCxnSpPr>
          <p:nvPr/>
        </p:nvCxnSpPr>
        <p:spPr>
          <a:xfrm>
            <a:off x="2900534" y="4179231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27" name="Google Shape;427;p36"/>
          <p:cNvCxnSpPr>
            <a:stCxn id="425" idx="6"/>
            <a:endCxn id="423" idx="2"/>
          </p:cNvCxnSpPr>
          <p:nvPr/>
        </p:nvCxnSpPr>
        <p:spPr>
          <a:xfrm flipH="1" rot="10800000">
            <a:off x="3019787" y="4356937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28" name="Google Shape;428;p36"/>
          <p:cNvSpPr txBox="1"/>
          <p:nvPr/>
        </p:nvSpPr>
        <p:spPr>
          <a:xfrm>
            <a:off x="1439875" y="3529688"/>
            <a:ext cx="16521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Balanced Triads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29" name="Google Shape;429;p36"/>
          <p:cNvSpPr txBox="1"/>
          <p:nvPr/>
        </p:nvSpPr>
        <p:spPr>
          <a:xfrm>
            <a:off x="1485350" y="4776875"/>
            <a:ext cx="16521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Unbalanced Triads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435" name="Google Shape;435;p37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whole signed graph </a:t>
            </a:r>
            <a:r>
              <a:rPr b="1" lang="en"/>
              <a:t>only</a:t>
            </a:r>
            <a:r>
              <a:rPr lang="en"/>
              <a:t> contains </a:t>
            </a:r>
            <a:r>
              <a:rPr b="1" lang="en"/>
              <a:t>balanced</a:t>
            </a:r>
            <a:r>
              <a:rPr lang="en"/>
              <a:t> triads then the graph is also balanced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Balance can be a whole network property!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ABF triad: balanced!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7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37" name="Google Shape;437;p37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38" name="Google Shape;438;p37"/>
          <p:cNvCxnSpPr>
            <a:stCxn id="436" idx="6"/>
            <a:endCxn id="437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9" name="Google Shape;439;p37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40" name="Google Shape;440;p37"/>
          <p:cNvCxnSpPr>
            <a:stCxn id="439" idx="2"/>
            <a:endCxn id="437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41" name="Google Shape;441;p37"/>
          <p:cNvSpPr/>
          <p:nvPr/>
        </p:nvSpPr>
        <p:spPr>
          <a:xfrm>
            <a:off x="8037576" y="339242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42" name="Google Shape;442;p37"/>
          <p:cNvCxnSpPr>
            <a:stCxn id="441" idx="2"/>
            <a:endCxn id="439" idx="2"/>
          </p:cNvCxnSpPr>
          <p:nvPr/>
        </p:nvCxnSpPr>
        <p:spPr>
          <a:xfrm flipH="1" rot="10800000">
            <a:off x="8037576" y="2208624"/>
            <a:ext cx="45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" name="Google Shape;443;p37"/>
          <p:cNvCxnSpPr>
            <a:stCxn id="436" idx="6"/>
            <a:endCxn id="441" idx="2"/>
          </p:cNvCxnSpPr>
          <p:nvPr/>
        </p:nvCxnSpPr>
        <p:spPr>
          <a:xfrm>
            <a:off x="5373300" y="2208534"/>
            <a:ext cx="26643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44" name="Google Shape;444;p37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45" name="Google Shape;445;p37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46" name="Google Shape;446;p37"/>
          <p:cNvCxnSpPr>
            <a:stCxn id="436" idx="6"/>
            <a:endCxn id="445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7" name="Google Shape;447;p37"/>
          <p:cNvCxnSpPr>
            <a:stCxn id="445" idx="6"/>
            <a:endCxn id="444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48" name="Google Shape;448;p37"/>
          <p:cNvCxnSpPr>
            <a:stCxn id="444" idx="6"/>
            <a:endCxn id="441" idx="2"/>
          </p:cNvCxnSpPr>
          <p:nvPr/>
        </p:nvCxnSpPr>
        <p:spPr>
          <a:xfrm flipH="1" rot="10800000">
            <a:off x="7014408" y="3698046"/>
            <a:ext cx="1023300" cy="57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9" name="Google Shape;449;p37"/>
          <p:cNvCxnSpPr>
            <a:stCxn id="445" idx="6"/>
            <a:endCxn id="437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0" name="Google Shape;450;p37"/>
          <p:cNvCxnSpPr>
            <a:stCxn id="441" idx="2"/>
            <a:endCxn id="437" idx="6"/>
          </p:cNvCxnSpPr>
          <p:nvPr/>
        </p:nvCxnSpPr>
        <p:spPr>
          <a:xfrm rot="10800000">
            <a:off x="7014276" y="1597224"/>
            <a:ext cx="1023300" cy="210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51" name="Google Shape;451;p37"/>
          <p:cNvCxnSpPr>
            <a:stCxn id="445" idx="6"/>
            <a:endCxn id="441" idx="2"/>
          </p:cNvCxnSpPr>
          <p:nvPr/>
        </p:nvCxnSpPr>
        <p:spPr>
          <a:xfrm flipH="1" rot="10800000">
            <a:off x="5373308" y="3698221"/>
            <a:ext cx="2664300" cy="37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52" name="Google Shape;452;p37"/>
          <p:cNvCxnSpPr>
            <a:stCxn id="436" idx="6"/>
            <a:endCxn id="439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53" name="Google Shape;453;p37"/>
          <p:cNvCxnSpPr>
            <a:stCxn id="444" idx="6"/>
            <a:endCxn id="439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4" name="Google Shape;454;p37"/>
          <p:cNvCxnSpPr>
            <a:stCxn id="436" idx="6"/>
            <a:endCxn id="444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55" name="Google Shape;455;p37"/>
          <p:cNvCxnSpPr>
            <a:stCxn id="444" idx="0"/>
            <a:endCxn id="437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56" name="Google Shape;456;p37"/>
          <p:cNvCxnSpPr>
            <a:stCxn id="445" idx="6"/>
            <a:endCxn id="439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462" name="Google Shape;462;p38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whole signed graph </a:t>
            </a:r>
            <a:r>
              <a:rPr b="1" lang="en"/>
              <a:t>only</a:t>
            </a:r>
            <a:r>
              <a:rPr lang="en"/>
              <a:t> contains </a:t>
            </a:r>
            <a:r>
              <a:rPr b="1" lang="en"/>
              <a:t>balanced</a:t>
            </a:r>
            <a:r>
              <a:rPr lang="en"/>
              <a:t> triads then the graph is also balanced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Balance can be a whole network property!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ABF triad: balanced!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ABC triad: balanced!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38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64" name="Google Shape;464;p38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65" name="Google Shape;465;p38"/>
          <p:cNvCxnSpPr>
            <a:stCxn id="463" idx="6"/>
            <a:endCxn id="464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6" name="Google Shape;466;p38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67" name="Google Shape;467;p38"/>
          <p:cNvCxnSpPr>
            <a:stCxn id="466" idx="2"/>
            <a:endCxn id="464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68" name="Google Shape;468;p38"/>
          <p:cNvSpPr/>
          <p:nvPr/>
        </p:nvSpPr>
        <p:spPr>
          <a:xfrm>
            <a:off x="8037576" y="339242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69" name="Google Shape;469;p38"/>
          <p:cNvCxnSpPr>
            <a:stCxn id="468" idx="2"/>
            <a:endCxn id="466" idx="2"/>
          </p:cNvCxnSpPr>
          <p:nvPr/>
        </p:nvCxnSpPr>
        <p:spPr>
          <a:xfrm flipH="1" rot="10800000">
            <a:off x="8037576" y="2208624"/>
            <a:ext cx="45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0" name="Google Shape;470;p38"/>
          <p:cNvCxnSpPr>
            <a:stCxn id="463" idx="6"/>
            <a:endCxn id="468" idx="2"/>
          </p:cNvCxnSpPr>
          <p:nvPr/>
        </p:nvCxnSpPr>
        <p:spPr>
          <a:xfrm>
            <a:off x="5373300" y="2208534"/>
            <a:ext cx="26643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71" name="Google Shape;471;p38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72" name="Google Shape;472;p38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73" name="Google Shape;473;p38"/>
          <p:cNvCxnSpPr>
            <a:stCxn id="463" idx="6"/>
            <a:endCxn id="472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4" name="Google Shape;474;p38"/>
          <p:cNvCxnSpPr>
            <a:stCxn id="472" idx="6"/>
            <a:endCxn id="471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75" name="Google Shape;475;p38"/>
          <p:cNvCxnSpPr>
            <a:stCxn id="471" idx="6"/>
            <a:endCxn id="468" idx="2"/>
          </p:cNvCxnSpPr>
          <p:nvPr/>
        </p:nvCxnSpPr>
        <p:spPr>
          <a:xfrm flipH="1" rot="10800000">
            <a:off x="7014408" y="3698046"/>
            <a:ext cx="1023300" cy="57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6" name="Google Shape;476;p38"/>
          <p:cNvCxnSpPr>
            <a:stCxn id="472" idx="6"/>
            <a:endCxn id="464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7" name="Google Shape;477;p38"/>
          <p:cNvCxnSpPr>
            <a:stCxn id="468" idx="2"/>
            <a:endCxn id="464" idx="6"/>
          </p:cNvCxnSpPr>
          <p:nvPr/>
        </p:nvCxnSpPr>
        <p:spPr>
          <a:xfrm rot="10800000">
            <a:off x="7014276" y="1597224"/>
            <a:ext cx="1023300" cy="210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78" name="Google Shape;478;p38"/>
          <p:cNvCxnSpPr>
            <a:stCxn id="472" idx="6"/>
            <a:endCxn id="468" idx="2"/>
          </p:cNvCxnSpPr>
          <p:nvPr/>
        </p:nvCxnSpPr>
        <p:spPr>
          <a:xfrm flipH="1" rot="10800000">
            <a:off x="5373308" y="3698221"/>
            <a:ext cx="2664300" cy="37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79" name="Google Shape;479;p38"/>
          <p:cNvCxnSpPr>
            <a:stCxn id="463" idx="6"/>
            <a:endCxn id="466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38"/>
          <p:cNvCxnSpPr>
            <a:stCxn id="471" idx="6"/>
            <a:endCxn id="466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38"/>
          <p:cNvCxnSpPr>
            <a:stCxn id="463" idx="6"/>
            <a:endCxn id="471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82" name="Google Shape;482;p38"/>
          <p:cNvCxnSpPr>
            <a:stCxn id="471" idx="0"/>
            <a:endCxn id="464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83" name="Google Shape;483;p38"/>
          <p:cNvCxnSpPr>
            <a:stCxn id="472" idx="6"/>
            <a:endCxn id="466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489" name="Google Shape;489;p39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whole signed graph </a:t>
            </a:r>
            <a:r>
              <a:rPr b="1" lang="en"/>
              <a:t>only</a:t>
            </a:r>
            <a:r>
              <a:rPr lang="en"/>
              <a:t> contains </a:t>
            </a:r>
            <a:r>
              <a:rPr b="1" lang="en"/>
              <a:t>balanced</a:t>
            </a:r>
            <a:r>
              <a:rPr lang="en"/>
              <a:t> triads then the graph is also balanced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Balance can be a whole network property!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ABF triad: balanced!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ABC triad: balanced!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CDF triad: balanced!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39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91" name="Google Shape;491;p39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92" name="Google Shape;492;p39"/>
          <p:cNvCxnSpPr>
            <a:stCxn id="490" idx="6"/>
            <a:endCxn id="491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3" name="Google Shape;493;p39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94" name="Google Shape;494;p39"/>
          <p:cNvCxnSpPr>
            <a:stCxn id="493" idx="2"/>
            <a:endCxn id="491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95" name="Google Shape;495;p39"/>
          <p:cNvSpPr/>
          <p:nvPr/>
        </p:nvSpPr>
        <p:spPr>
          <a:xfrm>
            <a:off x="8037576" y="3392424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96" name="Google Shape;496;p39"/>
          <p:cNvCxnSpPr>
            <a:stCxn id="495" idx="2"/>
            <a:endCxn id="493" idx="2"/>
          </p:cNvCxnSpPr>
          <p:nvPr/>
        </p:nvCxnSpPr>
        <p:spPr>
          <a:xfrm flipH="1" rot="10800000">
            <a:off x="8037576" y="2208624"/>
            <a:ext cx="4500" cy="1489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7" name="Google Shape;497;p39"/>
          <p:cNvCxnSpPr>
            <a:stCxn id="490" idx="6"/>
            <a:endCxn id="495" idx="2"/>
          </p:cNvCxnSpPr>
          <p:nvPr/>
        </p:nvCxnSpPr>
        <p:spPr>
          <a:xfrm>
            <a:off x="5373300" y="2208534"/>
            <a:ext cx="2664300" cy="1489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98" name="Google Shape;498;p39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99" name="Google Shape;499;p39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00" name="Google Shape;500;p39"/>
          <p:cNvCxnSpPr>
            <a:stCxn id="490" idx="6"/>
            <a:endCxn id="499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1" name="Google Shape;501;p39"/>
          <p:cNvCxnSpPr>
            <a:stCxn id="499" idx="6"/>
            <a:endCxn id="498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02" name="Google Shape;502;p39"/>
          <p:cNvCxnSpPr>
            <a:stCxn id="498" idx="6"/>
            <a:endCxn id="495" idx="2"/>
          </p:cNvCxnSpPr>
          <p:nvPr/>
        </p:nvCxnSpPr>
        <p:spPr>
          <a:xfrm flipH="1" rot="10800000">
            <a:off x="7014408" y="3698046"/>
            <a:ext cx="1023300" cy="5733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3" name="Google Shape;503;p39"/>
          <p:cNvCxnSpPr>
            <a:stCxn id="499" idx="6"/>
            <a:endCxn id="491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4" name="Google Shape;504;p39"/>
          <p:cNvCxnSpPr>
            <a:stCxn id="495" idx="2"/>
            <a:endCxn id="491" idx="6"/>
          </p:cNvCxnSpPr>
          <p:nvPr/>
        </p:nvCxnSpPr>
        <p:spPr>
          <a:xfrm rot="10800000">
            <a:off x="7014276" y="1597224"/>
            <a:ext cx="1023300" cy="21009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05" name="Google Shape;505;p39"/>
          <p:cNvCxnSpPr>
            <a:stCxn id="499" idx="6"/>
            <a:endCxn id="495" idx="2"/>
          </p:cNvCxnSpPr>
          <p:nvPr/>
        </p:nvCxnSpPr>
        <p:spPr>
          <a:xfrm flipH="1" rot="10800000">
            <a:off x="5373308" y="3698221"/>
            <a:ext cx="2664300" cy="37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06" name="Google Shape;506;p39"/>
          <p:cNvCxnSpPr>
            <a:stCxn id="490" idx="6"/>
            <a:endCxn id="493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07" name="Google Shape;507;p39"/>
          <p:cNvCxnSpPr>
            <a:stCxn id="498" idx="6"/>
            <a:endCxn id="493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8" name="Google Shape;508;p39"/>
          <p:cNvCxnSpPr>
            <a:stCxn id="490" idx="6"/>
            <a:endCxn id="498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09" name="Google Shape;509;p39"/>
          <p:cNvCxnSpPr>
            <a:stCxn id="498" idx="0"/>
            <a:endCxn id="491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10" name="Google Shape;510;p39"/>
          <p:cNvCxnSpPr>
            <a:stCxn id="499" idx="6"/>
            <a:endCxn id="493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516" name="Google Shape;516;p40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whole signed graph </a:t>
            </a:r>
            <a:r>
              <a:rPr b="1" lang="en"/>
              <a:t>only</a:t>
            </a:r>
            <a:r>
              <a:rPr lang="en"/>
              <a:t> contains </a:t>
            </a:r>
            <a:r>
              <a:rPr b="1" lang="en"/>
              <a:t>balanced</a:t>
            </a:r>
            <a:r>
              <a:rPr lang="en"/>
              <a:t> triads then graph is also balanced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Balance can be a whole network property!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ABF triad: balanced!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ABC triad: balanced!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CDF triad: balanced!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BEF </a:t>
            </a:r>
            <a:r>
              <a:rPr lang="en"/>
              <a:t>triad: balanced!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40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18" name="Google Shape;518;p40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19" name="Google Shape;519;p40"/>
          <p:cNvCxnSpPr>
            <a:stCxn id="517" idx="6"/>
            <a:endCxn id="518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0" name="Google Shape;520;p40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21" name="Google Shape;521;p40"/>
          <p:cNvCxnSpPr>
            <a:stCxn id="520" idx="2"/>
            <a:endCxn id="518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22" name="Google Shape;522;p40"/>
          <p:cNvSpPr/>
          <p:nvPr/>
        </p:nvSpPr>
        <p:spPr>
          <a:xfrm>
            <a:off x="8042008" y="33919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23" name="Google Shape;523;p40"/>
          <p:cNvCxnSpPr>
            <a:stCxn id="522" idx="2"/>
            <a:endCxn id="520" idx="2"/>
          </p:cNvCxnSpPr>
          <p:nvPr/>
        </p:nvCxnSpPr>
        <p:spPr>
          <a:xfrm rot="10800000">
            <a:off x="8042008" y="2208421"/>
            <a:ext cx="0" cy="148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4" name="Google Shape;524;p40"/>
          <p:cNvCxnSpPr>
            <a:stCxn id="517" idx="6"/>
            <a:endCxn id="522" idx="2"/>
          </p:cNvCxnSpPr>
          <p:nvPr/>
        </p:nvCxnSpPr>
        <p:spPr>
          <a:xfrm>
            <a:off x="5373300" y="2208534"/>
            <a:ext cx="2668800" cy="148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25" name="Google Shape;525;p40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26" name="Google Shape;526;p40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27" name="Google Shape;527;p40"/>
          <p:cNvCxnSpPr>
            <a:stCxn id="517" idx="6"/>
            <a:endCxn id="526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8" name="Google Shape;528;p40"/>
          <p:cNvCxnSpPr>
            <a:stCxn id="526" idx="6"/>
            <a:endCxn id="525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29" name="Google Shape;529;p40"/>
          <p:cNvCxnSpPr>
            <a:stCxn id="525" idx="6"/>
            <a:endCxn id="522" idx="2"/>
          </p:cNvCxnSpPr>
          <p:nvPr/>
        </p:nvCxnSpPr>
        <p:spPr>
          <a:xfrm flipH="1" rot="10800000">
            <a:off x="7014408" y="3697746"/>
            <a:ext cx="1027500" cy="573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0" name="Google Shape;530;p40"/>
          <p:cNvCxnSpPr>
            <a:stCxn id="526" idx="6"/>
            <a:endCxn id="518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1" name="Google Shape;531;p40"/>
          <p:cNvCxnSpPr>
            <a:stCxn id="522" idx="2"/>
            <a:endCxn id="518" idx="6"/>
          </p:cNvCxnSpPr>
          <p:nvPr/>
        </p:nvCxnSpPr>
        <p:spPr>
          <a:xfrm rot="10800000">
            <a:off x="7014508" y="1597321"/>
            <a:ext cx="1027500" cy="210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32" name="Google Shape;532;p40"/>
          <p:cNvCxnSpPr>
            <a:stCxn id="526" idx="6"/>
            <a:endCxn id="522" idx="2"/>
          </p:cNvCxnSpPr>
          <p:nvPr/>
        </p:nvCxnSpPr>
        <p:spPr>
          <a:xfrm flipH="1" rot="10800000">
            <a:off x="5373308" y="3697621"/>
            <a:ext cx="2668800" cy="37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33" name="Google Shape;533;p40"/>
          <p:cNvCxnSpPr>
            <a:stCxn id="517" idx="6"/>
            <a:endCxn id="520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34" name="Google Shape;534;p40"/>
          <p:cNvCxnSpPr>
            <a:stCxn id="525" idx="6"/>
            <a:endCxn id="520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5" name="Google Shape;535;p40"/>
          <p:cNvCxnSpPr>
            <a:stCxn id="517" idx="6"/>
            <a:endCxn id="525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36" name="Google Shape;536;p40"/>
          <p:cNvCxnSpPr>
            <a:stCxn id="525" idx="0"/>
            <a:endCxn id="518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37" name="Google Shape;537;p40"/>
          <p:cNvCxnSpPr>
            <a:stCxn id="526" idx="6"/>
            <a:endCxn id="520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543" name="Google Shape;543;p41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whole signed graph </a:t>
            </a:r>
            <a:r>
              <a:rPr b="1" lang="en"/>
              <a:t>only</a:t>
            </a:r>
            <a:r>
              <a:rPr lang="en"/>
              <a:t> contains </a:t>
            </a:r>
            <a:r>
              <a:rPr b="1" lang="en"/>
              <a:t>balanced</a:t>
            </a:r>
            <a:r>
              <a:rPr lang="en"/>
              <a:t> triads then graph is also balanced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Balance can be a whole network property!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ABF triad: balanced!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ABC triad: balanced!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CDF triad: balanced!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BEF triad: balanced!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ACE triad: balanced!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41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45" name="Google Shape;545;p41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46" name="Google Shape;546;p41"/>
          <p:cNvCxnSpPr>
            <a:stCxn id="544" idx="6"/>
            <a:endCxn id="545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7" name="Google Shape;547;p41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48" name="Google Shape;548;p41"/>
          <p:cNvCxnSpPr>
            <a:stCxn id="547" idx="2"/>
            <a:endCxn id="545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49" name="Google Shape;549;p41"/>
          <p:cNvSpPr/>
          <p:nvPr/>
        </p:nvSpPr>
        <p:spPr>
          <a:xfrm>
            <a:off x="8037576" y="339242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50" name="Google Shape;550;p41"/>
          <p:cNvCxnSpPr>
            <a:stCxn id="549" idx="2"/>
            <a:endCxn id="547" idx="2"/>
          </p:cNvCxnSpPr>
          <p:nvPr/>
        </p:nvCxnSpPr>
        <p:spPr>
          <a:xfrm flipH="1" rot="10800000">
            <a:off x="8037576" y="2208624"/>
            <a:ext cx="45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1" name="Google Shape;551;p41"/>
          <p:cNvCxnSpPr>
            <a:stCxn id="544" idx="6"/>
            <a:endCxn id="549" idx="2"/>
          </p:cNvCxnSpPr>
          <p:nvPr/>
        </p:nvCxnSpPr>
        <p:spPr>
          <a:xfrm>
            <a:off x="5373300" y="2208534"/>
            <a:ext cx="26643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52" name="Google Shape;552;p41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53" name="Google Shape;553;p41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54" name="Google Shape;554;p41"/>
          <p:cNvCxnSpPr>
            <a:stCxn id="544" idx="6"/>
            <a:endCxn id="553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5" name="Google Shape;555;p41"/>
          <p:cNvCxnSpPr>
            <a:stCxn id="553" idx="6"/>
            <a:endCxn id="552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56" name="Google Shape;556;p41"/>
          <p:cNvCxnSpPr>
            <a:stCxn id="552" idx="6"/>
            <a:endCxn id="549" idx="2"/>
          </p:cNvCxnSpPr>
          <p:nvPr/>
        </p:nvCxnSpPr>
        <p:spPr>
          <a:xfrm flipH="1" rot="10800000">
            <a:off x="7014408" y="3698046"/>
            <a:ext cx="1023300" cy="57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7" name="Google Shape;557;p41"/>
          <p:cNvCxnSpPr>
            <a:stCxn id="553" idx="6"/>
            <a:endCxn id="545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8" name="Google Shape;558;p41"/>
          <p:cNvCxnSpPr>
            <a:stCxn id="549" idx="2"/>
            <a:endCxn id="545" idx="6"/>
          </p:cNvCxnSpPr>
          <p:nvPr/>
        </p:nvCxnSpPr>
        <p:spPr>
          <a:xfrm rot="10800000">
            <a:off x="7014276" y="1597224"/>
            <a:ext cx="1023300" cy="21009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59" name="Google Shape;559;p41"/>
          <p:cNvCxnSpPr>
            <a:stCxn id="553" idx="6"/>
            <a:endCxn id="549" idx="2"/>
          </p:cNvCxnSpPr>
          <p:nvPr/>
        </p:nvCxnSpPr>
        <p:spPr>
          <a:xfrm flipH="1" rot="10800000">
            <a:off x="5373308" y="3698221"/>
            <a:ext cx="2664300" cy="37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60" name="Google Shape;560;p41"/>
          <p:cNvCxnSpPr>
            <a:stCxn id="544" idx="6"/>
            <a:endCxn id="547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61" name="Google Shape;561;p41"/>
          <p:cNvCxnSpPr>
            <a:stCxn id="552" idx="6"/>
            <a:endCxn id="547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2" name="Google Shape;562;p41"/>
          <p:cNvCxnSpPr>
            <a:stCxn id="544" idx="6"/>
            <a:endCxn id="552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63" name="Google Shape;563;p41"/>
          <p:cNvCxnSpPr>
            <a:stCxn id="552" idx="0"/>
            <a:endCxn id="545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64" name="Google Shape;564;p41"/>
          <p:cNvCxnSpPr>
            <a:stCxn id="553" idx="6"/>
            <a:endCxn id="547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570" name="Google Shape;570;p42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71" name="Google Shape;571;p42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72" name="Google Shape;572;p42"/>
          <p:cNvCxnSpPr>
            <a:stCxn id="570" idx="6"/>
            <a:endCxn id="571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3" name="Google Shape;573;p42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74" name="Google Shape;574;p42"/>
          <p:cNvCxnSpPr>
            <a:stCxn id="573" idx="2"/>
            <a:endCxn id="571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75" name="Google Shape;575;p42"/>
          <p:cNvSpPr/>
          <p:nvPr/>
        </p:nvSpPr>
        <p:spPr>
          <a:xfrm>
            <a:off x="8037576" y="3392424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76" name="Google Shape;576;p42"/>
          <p:cNvCxnSpPr>
            <a:stCxn id="575" idx="2"/>
            <a:endCxn id="573" idx="2"/>
          </p:cNvCxnSpPr>
          <p:nvPr/>
        </p:nvCxnSpPr>
        <p:spPr>
          <a:xfrm flipH="1" rot="10800000">
            <a:off x="8037576" y="2208624"/>
            <a:ext cx="4500" cy="1489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7" name="Google Shape;577;p42"/>
          <p:cNvCxnSpPr>
            <a:stCxn id="570" idx="6"/>
            <a:endCxn id="575" idx="2"/>
          </p:cNvCxnSpPr>
          <p:nvPr/>
        </p:nvCxnSpPr>
        <p:spPr>
          <a:xfrm>
            <a:off x="5373300" y="2208534"/>
            <a:ext cx="2664300" cy="1489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78" name="Google Shape;578;p42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79" name="Google Shape;579;p42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80" name="Google Shape;580;p42"/>
          <p:cNvCxnSpPr>
            <a:stCxn id="570" idx="6"/>
            <a:endCxn id="579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1" name="Google Shape;581;p42"/>
          <p:cNvCxnSpPr>
            <a:stCxn id="579" idx="6"/>
            <a:endCxn id="578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82" name="Google Shape;582;p42"/>
          <p:cNvCxnSpPr>
            <a:stCxn id="578" idx="6"/>
            <a:endCxn id="575" idx="2"/>
          </p:cNvCxnSpPr>
          <p:nvPr/>
        </p:nvCxnSpPr>
        <p:spPr>
          <a:xfrm flipH="1" rot="10800000">
            <a:off x="7014408" y="3698046"/>
            <a:ext cx="1023300" cy="573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3" name="Google Shape;583;p42"/>
          <p:cNvCxnSpPr>
            <a:stCxn id="579" idx="6"/>
            <a:endCxn id="571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4" name="Google Shape;584;p42"/>
          <p:cNvCxnSpPr>
            <a:stCxn id="575" idx="2"/>
            <a:endCxn id="571" idx="6"/>
          </p:cNvCxnSpPr>
          <p:nvPr/>
        </p:nvCxnSpPr>
        <p:spPr>
          <a:xfrm rot="10800000">
            <a:off x="7014276" y="1597224"/>
            <a:ext cx="1023300" cy="2100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85" name="Google Shape;585;p42"/>
          <p:cNvCxnSpPr>
            <a:stCxn id="579" idx="6"/>
            <a:endCxn id="575" idx="2"/>
          </p:cNvCxnSpPr>
          <p:nvPr/>
        </p:nvCxnSpPr>
        <p:spPr>
          <a:xfrm flipH="1" rot="10800000">
            <a:off x="5373308" y="3698221"/>
            <a:ext cx="2664300" cy="37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86" name="Google Shape;586;p42"/>
          <p:cNvCxnSpPr>
            <a:stCxn id="570" idx="6"/>
            <a:endCxn id="573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87" name="Google Shape;587;p42"/>
          <p:cNvCxnSpPr>
            <a:stCxn id="578" idx="6"/>
            <a:endCxn id="573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8" name="Google Shape;588;p42"/>
          <p:cNvCxnSpPr>
            <a:stCxn id="570" idx="6"/>
            <a:endCxn id="578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89" name="Google Shape;589;p42"/>
          <p:cNvCxnSpPr>
            <a:stCxn id="578" idx="0"/>
            <a:endCxn id="571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90" name="Google Shape;590;p42"/>
          <p:cNvCxnSpPr>
            <a:stCxn id="579" idx="6"/>
            <a:endCxn id="573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91" name="Google Shape;591;p42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whole signed graph </a:t>
            </a:r>
            <a:r>
              <a:rPr b="1" lang="en"/>
              <a:t>only</a:t>
            </a:r>
            <a:r>
              <a:rPr lang="en"/>
              <a:t> contains </a:t>
            </a:r>
            <a:r>
              <a:rPr b="1" lang="en"/>
              <a:t>balanced</a:t>
            </a:r>
            <a:r>
              <a:rPr lang="en"/>
              <a:t> triads then graph is also balanced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Balance can be a whole network property!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ABF triad: balanced!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ABC triad: balanced!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CDF triad: balanced!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BEF triad: balanced!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ACE triad: balanced!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And so on for all triads...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597" name="Google Shape;597;p43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fundamental theorem of structural balance</a:t>
            </a:r>
            <a:r>
              <a:rPr lang="en"/>
              <a:t> was discovered by the mathematicians Dorwin Cartwright and Frank Harary in 1956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43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99" name="Google Shape;599;p43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00" name="Google Shape;600;p43"/>
          <p:cNvCxnSpPr>
            <a:stCxn id="598" idx="6"/>
            <a:endCxn id="599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1" name="Google Shape;601;p43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02" name="Google Shape;602;p43"/>
          <p:cNvCxnSpPr>
            <a:stCxn id="601" idx="2"/>
            <a:endCxn id="599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03" name="Google Shape;603;p43"/>
          <p:cNvSpPr/>
          <p:nvPr/>
        </p:nvSpPr>
        <p:spPr>
          <a:xfrm>
            <a:off x="8037576" y="339242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04" name="Google Shape;604;p43"/>
          <p:cNvCxnSpPr>
            <a:stCxn id="603" idx="2"/>
            <a:endCxn id="601" idx="2"/>
          </p:cNvCxnSpPr>
          <p:nvPr/>
        </p:nvCxnSpPr>
        <p:spPr>
          <a:xfrm flipH="1" rot="10800000">
            <a:off x="8037576" y="2208624"/>
            <a:ext cx="45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5" name="Google Shape;605;p43"/>
          <p:cNvCxnSpPr>
            <a:stCxn id="598" idx="6"/>
            <a:endCxn id="603" idx="2"/>
          </p:cNvCxnSpPr>
          <p:nvPr/>
        </p:nvCxnSpPr>
        <p:spPr>
          <a:xfrm>
            <a:off x="5373300" y="2208534"/>
            <a:ext cx="26643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06" name="Google Shape;606;p43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07" name="Google Shape;607;p43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08" name="Google Shape;608;p43"/>
          <p:cNvCxnSpPr>
            <a:stCxn id="598" idx="6"/>
            <a:endCxn id="607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9" name="Google Shape;609;p43"/>
          <p:cNvCxnSpPr>
            <a:stCxn id="607" idx="6"/>
            <a:endCxn id="606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10" name="Google Shape;610;p43"/>
          <p:cNvCxnSpPr>
            <a:stCxn id="606" idx="6"/>
            <a:endCxn id="603" idx="2"/>
          </p:cNvCxnSpPr>
          <p:nvPr/>
        </p:nvCxnSpPr>
        <p:spPr>
          <a:xfrm flipH="1" rot="10800000">
            <a:off x="7014408" y="3698046"/>
            <a:ext cx="1023300" cy="57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1" name="Google Shape;611;p43"/>
          <p:cNvCxnSpPr>
            <a:stCxn id="607" idx="6"/>
            <a:endCxn id="599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2" name="Google Shape;612;p43"/>
          <p:cNvCxnSpPr>
            <a:stCxn id="603" idx="2"/>
            <a:endCxn id="599" idx="6"/>
          </p:cNvCxnSpPr>
          <p:nvPr/>
        </p:nvCxnSpPr>
        <p:spPr>
          <a:xfrm rot="10800000">
            <a:off x="7014276" y="1597224"/>
            <a:ext cx="1023300" cy="210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13" name="Google Shape;613;p43"/>
          <p:cNvCxnSpPr>
            <a:stCxn id="607" idx="6"/>
            <a:endCxn id="603" idx="2"/>
          </p:cNvCxnSpPr>
          <p:nvPr/>
        </p:nvCxnSpPr>
        <p:spPr>
          <a:xfrm flipH="1" rot="10800000">
            <a:off x="5373308" y="3698221"/>
            <a:ext cx="2664300" cy="37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14" name="Google Shape;614;p43"/>
          <p:cNvCxnSpPr>
            <a:stCxn id="598" idx="6"/>
            <a:endCxn id="601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15" name="Google Shape;615;p43"/>
          <p:cNvCxnSpPr>
            <a:stCxn id="606" idx="6"/>
            <a:endCxn id="601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6" name="Google Shape;616;p43"/>
          <p:cNvCxnSpPr>
            <a:stCxn id="598" idx="6"/>
            <a:endCxn id="606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17" name="Google Shape;617;p43"/>
          <p:cNvCxnSpPr>
            <a:stCxn id="606" idx="0"/>
            <a:endCxn id="599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18" name="Google Shape;618;p43"/>
          <p:cNvCxnSpPr>
            <a:stCxn id="607" idx="6"/>
            <a:endCxn id="601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624" name="Google Shape;624;p44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25" name="Google Shape;625;p44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26" name="Google Shape;626;p44"/>
          <p:cNvCxnSpPr>
            <a:stCxn id="624" idx="6"/>
            <a:endCxn id="625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7" name="Google Shape;627;p44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28" name="Google Shape;628;p44"/>
          <p:cNvCxnSpPr>
            <a:stCxn id="627" idx="2"/>
            <a:endCxn id="625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29" name="Google Shape;629;p44"/>
          <p:cNvSpPr/>
          <p:nvPr/>
        </p:nvSpPr>
        <p:spPr>
          <a:xfrm>
            <a:off x="8037576" y="339242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30" name="Google Shape;630;p44"/>
          <p:cNvCxnSpPr>
            <a:stCxn id="629" idx="2"/>
            <a:endCxn id="627" idx="2"/>
          </p:cNvCxnSpPr>
          <p:nvPr/>
        </p:nvCxnSpPr>
        <p:spPr>
          <a:xfrm flipH="1" rot="10800000">
            <a:off x="8037576" y="2208624"/>
            <a:ext cx="45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1" name="Google Shape;631;p44"/>
          <p:cNvCxnSpPr>
            <a:stCxn id="624" idx="6"/>
            <a:endCxn id="629" idx="2"/>
          </p:cNvCxnSpPr>
          <p:nvPr/>
        </p:nvCxnSpPr>
        <p:spPr>
          <a:xfrm>
            <a:off x="5373300" y="2208534"/>
            <a:ext cx="26643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32" name="Google Shape;632;p44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33" name="Google Shape;633;p44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34" name="Google Shape;634;p44"/>
          <p:cNvCxnSpPr>
            <a:stCxn id="624" idx="6"/>
            <a:endCxn id="633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5" name="Google Shape;635;p44"/>
          <p:cNvCxnSpPr>
            <a:stCxn id="633" idx="6"/>
            <a:endCxn id="632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36" name="Google Shape;636;p44"/>
          <p:cNvCxnSpPr>
            <a:stCxn id="632" idx="6"/>
            <a:endCxn id="629" idx="2"/>
          </p:cNvCxnSpPr>
          <p:nvPr/>
        </p:nvCxnSpPr>
        <p:spPr>
          <a:xfrm flipH="1" rot="10800000">
            <a:off x="7014408" y="3698046"/>
            <a:ext cx="1023300" cy="57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7" name="Google Shape;637;p44"/>
          <p:cNvCxnSpPr>
            <a:stCxn id="633" idx="6"/>
            <a:endCxn id="625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8" name="Google Shape;638;p44"/>
          <p:cNvCxnSpPr>
            <a:stCxn id="629" idx="2"/>
            <a:endCxn id="625" idx="6"/>
          </p:cNvCxnSpPr>
          <p:nvPr/>
        </p:nvCxnSpPr>
        <p:spPr>
          <a:xfrm rot="10800000">
            <a:off x="7014276" y="1597224"/>
            <a:ext cx="1023300" cy="210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39" name="Google Shape;639;p44"/>
          <p:cNvCxnSpPr>
            <a:stCxn id="633" idx="6"/>
            <a:endCxn id="629" idx="2"/>
          </p:cNvCxnSpPr>
          <p:nvPr/>
        </p:nvCxnSpPr>
        <p:spPr>
          <a:xfrm flipH="1" rot="10800000">
            <a:off x="5373308" y="3698221"/>
            <a:ext cx="2664300" cy="37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40" name="Google Shape;640;p44"/>
          <p:cNvCxnSpPr>
            <a:stCxn id="624" idx="6"/>
            <a:endCxn id="627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41" name="Google Shape;641;p44"/>
          <p:cNvCxnSpPr>
            <a:stCxn id="632" idx="6"/>
            <a:endCxn id="627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2" name="Google Shape;642;p44"/>
          <p:cNvCxnSpPr>
            <a:stCxn id="624" idx="6"/>
            <a:endCxn id="632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43" name="Google Shape;643;p44"/>
          <p:cNvCxnSpPr>
            <a:stCxn id="632" idx="0"/>
            <a:endCxn id="625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44" name="Google Shape;644;p44"/>
          <p:cNvCxnSpPr>
            <a:stCxn id="633" idx="6"/>
            <a:endCxn id="627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45" name="Google Shape;645;p44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fundamental theorem of structural balance</a:t>
            </a:r>
            <a:r>
              <a:rPr lang="en"/>
              <a:t> was discovered by the mathematicians Dorwin Cartwright and Frank Harary in 1956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states that when a graph is </a:t>
            </a:r>
            <a:r>
              <a:rPr lang="en"/>
              <a:t>balanced,</a:t>
            </a:r>
            <a:r>
              <a:rPr lang="en"/>
              <a:t> it can be split into </a:t>
            </a:r>
            <a:r>
              <a:rPr b="1" lang="en"/>
              <a:t>two</a:t>
            </a:r>
            <a:r>
              <a:rPr lang="en"/>
              <a:t> </a:t>
            </a:r>
            <a:r>
              <a:rPr b="1" lang="en"/>
              <a:t>groups</a:t>
            </a:r>
            <a:r>
              <a:rPr lang="en"/>
              <a:t> such that there are only </a:t>
            </a:r>
            <a:r>
              <a:rPr b="1" lang="en">
                <a:solidFill>
                  <a:srgbClr val="0000FF"/>
                </a:solidFill>
              </a:rPr>
              <a:t>positive</a:t>
            </a:r>
            <a:r>
              <a:rPr lang="en"/>
              <a:t> links </a:t>
            </a:r>
            <a:r>
              <a:rPr b="1" i="1" lang="en">
                <a:solidFill>
                  <a:srgbClr val="0000FF"/>
                </a:solidFill>
              </a:rPr>
              <a:t>within</a:t>
            </a:r>
            <a:r>
              <a:rPr lang="en"/>
              <a:t> groups and only </a:t>
            </a:r>
            <a:r>
              <a:rPr b="1" lang="en">
                <a:solidFill>
                  <a:srgbClr val="FF0000"/>
                </a:solidFill>
              </a:rPr>
              <a:t>negative</a:t>
            </a:r>
            <a:r>
              <a:rPr lang="en"/>
              <a:t> links </a:t>
            </a:r>
            <a:r>
              <a:rPr b="1" i="1" lang="en">
                <a:solidFill>
                  <a:srgbClr val="FF0000"/>
                </a:solidFill>
              </a:rPr>
              <a:t>between</a:t>
            </a:r>
            <a:r>
              <a:rPr i="1" lang="en"/>
              <a:t> </a:t>
            </a:r>
            <a:r>
              <a:rPr lang="en"/>
              <a:t>groups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651" name="Google Shape;651;p45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52" name="Google Shape;652;p45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53" name="Google Shape;653;p45"/>
          <p:cNvCxnSpPr>
            <a:stCxn id="651" idx="6"/>
            <a:endCxn id="652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4" name="Google Shape;654;p45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55" name="Google Shape;655;p45"/>
          <p:cNvCxnSpPr>
            <a:stCxn id="654" idx="2"/>
            <a:endCxn id="652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56" name="Google Shape;656;p45"/>
          <p:cNvSpPr/>
          <p:nvPr/>
        </p:nvSpPr>
        <p:spPr>
          <a:xfrm>
            <a:off x="8037576" y="339242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57" name="Google Shape;657;p45"/>
          <p:cNvCxnSpPr>
            <a:stCxn id="656" idx="2"/>
            <a:endCxn id="654" idx="2"/>
          </p:cNvCxnSpPr>
          <p:nvPr/>
        </p:nvCxnSpPr>
        <p:spPr>
          <a:xfrm flipH="1" rot="10800000">
            <a:off x="8037576" y="2208624"/>
            <a:ext cx="45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8" name="Google Shape;658;p45"/>
          <p:cNvCxnSpPr>
            <a:stCxn id="651" idx="6"/>
            <a:endCxn id="656" idx="2"/>
          </p:cNvCxnSpPr>
          <p:nvPr/>
        </p:nvCxnSpPr>
        <p:spPr>
          <a:xfrm>
            <a:off x="5373300" y="2208534"/>
            <a:ext cx="26643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59" name="Google Shape;659;p45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60" name="Google Shape;660;p45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61" name="Google Shape;661;p45"/>
          <p:cNvCxnSpPr>
            <a:stCxn id="651" idx="6"/>
            <a:endCxn id="660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2" name="Google Shape;662;p45"/>
          <p:cNvCxnSpPr>
            <a:stCxn id="660" idx="6"/>
            <a:endCxn id="659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63" name="Google Shape;663;p45"/>
          <p:cNvCxnSpPr>
            <a:stCxn id="659" idx="6"/>
            <a:endCxn id="656" idx="2"/>
          </p:cNvCxnSpPr>
          <p:nvPr/>
        </p:nvCxnSpPr>
        <p:spPr>
          <a:xfrm flipH="1" rot="10800000">
            <a:off x="7014408" y="3698046"/>
            <a:ext cx="1023300" cy="57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4" name="Google Shape;664;p45"/>
          <p:cNvCxnSpPr>
            <a:stCxn id="660" idx="6"/>
            <a:endCxn id="652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5" name="Google Shape;665;p45"/>
          <p:cNvCxnSpPr>
            <a:stCxn id="656" idx="2"/>
            <a:endCxn id="652" idx="6"/>
          </p:cNvCxnSpPr>
          <p:nvPr/>
        </p:nvCxnSpPr>
        <p:spPr>
          <a:xfrm rot="10800000">
            <a:off x="7014276" y="1597224"/>
            <a:ext cx="1023300" cy="210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66" name="Google Shape;666;p45"/>
          <p:cNvCxnSpPr>
            <a:stCxn id="660" idx="6"/>
            <a:endCxn id="656" idx="2"/>
          </p:cNvCxnSpPr>
          <p:nvPr/>
        </p:nvCxnSpPr>
        <p:spPr>
          <a:xfrm flipH="1" rot="10800000">
            <a:off x="5373308" y="3698221"/>
            <a:ext cx="2664300" cy="37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67" name="Google Shape;667;p45"/>
          <p:cNvCxnSpPr>
            <a:stCxn id="651" idx="6"/>
            <a:endCxn id="654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68" name="Google Shape;668;p45"/>
          <p:cNvCxnSpPr>
            <a:stCxn id="659" idx="6"/>
            <a:endCxn id="654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9" name="Google Shape;669;p45"/>
          <p:cNvCxnSpPr>
            <a:stCxn id="651" idx="6"/>
            <a:endCxn id="659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70" name="Google Shape;670;p45"/>
          <p:cNvCxnSpPr>
            <a:stCxn id="659" idx="0"/>
            <a:endCxn id="652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71" name="Google Shape;671;p45"/>
          <p:cNvCxnSpPr>
            <a:stCxn id="660" idx="6"/>
            <a:endCxn id="654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72" name="Google Shape;672;p45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fundamental theorem of structural balance</a:t>
            </a:r>
            <a:r>
              <a:rPr lang="en"/>
              <a:t> was discovered by the mathematicians Dorwin Cartwright and Frank Harary in 1956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states that when a graph is balanced it can be split into </a:t>
            </a:r>
            <a:r>
              <a:rPr b="1" lang="en"/>
              <a:t>two</a:t>
            </a:r>
            <a:r>
              <a:rPr lang="en"/>
              <a:t> </a:t>
            </a:r>
            <a:r>
              <a:rPr b="1" lang="en"/>
              <a:t>groups</a:t>
            </a:r>
            <a:r>
              <a:rPr lang="en"/>
              <a:t> such that there are only </a:t>
            </a:r>
            <a:r>
              <a:rPr b="1" lang="en">
                <a:solidFill>
                  <a:srgbClr val="0000FF"/>
                </a:solidFill>
              </a:rPr>
              <a:t>positive</a:t>
            </a:r>
            <a:r>
              <a:rPr lang="en"/>
              <a:t> links </a:t>
            </a:r>
            <a:r>
              <a:rPr b="1" i="1" lang="en">
                <a:solidFill>
                  <a:srgbClr val="0000FF"/>
                </a:solidFill>
              </a:rPr>
              <a:t>within</a:t>
            </a:r>
            <a:r>
              <a:rPr lang="en"/>
              <a:t> groups and only </a:t>
            </a:r>
            <a:r>
              <a:rPr b="1" lang="en">
                <a:solidFill>
                  <a:srgbClr val="FF0000"/>
                </a:solidFill>
              </a:rPr>
              <a:t>negative</a:t>
            </a:r>
            <a:r>
              <a:rPr lang="en"/>
              <a:t> links </a:t>
            </a:r>
            <a:r>
              <a:rPr b="1" i="1" lang="en">
                <a:solidFill>
                  <a:srgbClr val="FF0000"/>
                </a:solidFill>
              </a:rPr>
              <a:t>between</a:t>
            </a:r>
            <a:r>
              <a:rPr i="1" lang="en"/>
              <a:t> </a:t>
            </a:r>
            <a:r>
              <a:rPr lang="en"/>
              <a:t>groups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you spot the two groups in this graph?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678" name="Google Shape;678;p46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fundamental theorem of structural balance</a:t>
            </a:r>
            <a:r>
              <a:rPr lang="en"/>
              <a:t> was discovered by the mathematicians Dorwin Cartwright and Frank Harary in 1956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states that when a graph is balanced it can be split into </a:t>
            </a:r>
            <a:r>
              <a:rPr b="1" lang="en"/>
              <a:t>two</a:t>
            </a:r>
            <a:r>
              <a:rPr lang="en"/>
              <a:t> </a:t>
            </a:r>
            <a:r>
              <a:rPr b="1" lang="en"/>
              <a:t>groups</a:t>
            </a:r>
            <a:r>
              <a:rPr lang="en"/>
              <a:t> such that there are only </a:t>
            </a:r>
            <a:r>
              <a:rPr b="1" lang="en">
                <a:solidFill>
                  <a:srgbClr val="0000FF"/>
                </a:solidFill>
              </a:rPr>
              <a:t>positive</a:t>
            </a:r>
            <a:r>
              <a:rPr lang="en"/>
              <a:t> links </a:t>
            </a:r>
            <a:r>
              <a:rPr b="1" i="1" lang="en">
                <a:solidFill>
                  <a:srgbClr val="0000FF"/>
                </a:solidFill>
              </a:rPr>
              <a:t>within</a:t>
            </a:r>
            <a:r>
              <a:rPr lang="en"/>
              <a:t> groups and only </a:t>
            </a:r>
            <a:r>
              <a:rPr b="1" lang="en">
                <a:solidFill>
                  <a:srgbClr val="FF0000"/>
                </a:solidFill>
              </a:rPr>
              <a:t>negative</a:t>
            </a:r>
            <a:r>
              <a:rPr lang="en"/>
              <a:t> links </a:t>
            </a:r>
            <a:r>
              <a:rPr b="1" i="1" lang="en">
                <a:solidFill>
                  <a:srgbClr val="FF0000"/>
                </a:solidFill>
              </a:rPr>
              <a:t>between</a:t>
            </a:r>
            <a:r>
              <a:rPr i="1" lang="en"/>
              <a:t> </a:t>
            </a:r>
            <a:r>
              <a:rPr lang="en"/>
              <a:t>groups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got it!</a:t>
            </a:r>
            <a:endParaRPr/>
          </a:p>
        </p:txBody>
      </p:sp>
      <p:sp>
        <p:nvSpPr>
          <p:cNvPr id="679" name="Google Shape;679;p46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80" name="Google Shape;680;p46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81" name="Google Shape;681;p46"/>
          <p:cNvCxnSpPr>
            <a:stCxn id="679" idx="6"/>
            <a:endCxn id="680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2" name="Google Shape;682;p46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rgbClr val="BF900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83" name="Google Shape;683;p46"/>
          <p:cNvCxnSpPr>
            <a:stCxn id="682" idx="2"/>
            <a:endCxn id="680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84" name="Google Shape;684;p46"/>
          <p:cNvSpPr/>
          <p:nvPr/>
        </p:nvSpPr>
        <p:spPr>
          <a:xfrm>
            <a:off x="8037576" y="3392424"/>
            <a:ext cx="613500" cy="611400"/>
          </a:xfrm>
          <a:prstGeom prst="ellipse">
            <a:avLst/>
          </a:prstGeom>
          <a:solidFill>
            <a:srgbClr val="BF900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85" name="Google Shape;685;p46"/>
          <p:cNvCxnSpPr>
            <a:stCxn id="684" idx="2"/>
            <a:endCxn id="682" idx="2"/>
          </p:cNvCxnSpPr>
          <p:nvPr/>
        </p:nvCxnSpPr>
        <p:spPr>
          <a:xfrm flipH="1" rot="10800000">
            <a:off x="8037576" y="2208624"/>
            <a:ext cx="4500" cy="14895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6" name="Google Shape;686;p46"/>
          <p:cNvCxnSpPr>
            <a:stCxn id="679" idx="6"/>
            <a:endCxn id="684" idx="2"/>
          </p:cNvCxnSpPr>
          <p:nvPr/>
        </p:nvCxnSpPr>
        <p:spPr>
          <a:xfrm>
            <a:off x="5373300" y="2208534"/>
            <a:ext cx="2664300" cy="1489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87" name="Google Shape;687;p46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rgbClr val="BF900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88" name="Google Shape;688;p46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89" name="Google Shape;689;p46"/>
          <p:cNvCxnSpPr>
            <a:stCxn id="679" idx="6"/>
            <a:endCxn id="688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0" name="Google Shape;690;p46"/>
          <p:cNvCxnSpPr>
            <a:stCxn id="688" idx="6"/>
            <a:endCxn id="687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91" name="Google Shape;691;p46"/>
          <p:cNvCxnSpPr>
            <a:stCxn id="687" idx="6"/>
            <a:endCxn id="684" idx="2"/>
          </p:cNvCxnSpPr>
          <p:nvPr/>
        </p:nvCxnSpPr>
        <p:spPr>
          <a:xfrm flipH="1" rot="10800000">
            <a:off x="7014408" y="3698046"/>
            <a:ext cx="1023300" cy="573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2" name="Google Shape;692;p46"/>
          <p:cNvCxnSpPr>
            <a:stCxn id="688" idx="6"/>
            <a:endCxn id="680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3" name="Google Shape;693;p46"/>
          <p:cNvCxnSpPr>
            <a:stCxn id="684" idx="2"/>
            <a:endCxn id="680" idx="6"/>
          </p:cNvCxnSpPr>
          <p:nvPr/>
        </p:nvCxnSpPr>
        <p:spPr>
          <a:xfrm rot="10800000">
            <a:off x="7014276" y="1597224"/>
            <a:ext cx="1023300" cy="2100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94" name="Google Shape;694;p46"/>
          <p:cNvCxnSpPr>
            <a:stCxn id="688" idx="6"/>
            <a:endCxn id="684" idx="2"/>
          </p:cNvCxnSpPr>
          <p:nvPr/>
        </p:nvCxnSpPr>
        <p:spPr>
          <a:xfrm flipH="1" rot="10800000">
            <a:off x="5373308" y="3698221"/>
            <a:ext cx="2664300" cy="37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95" name="Google Shape;695;p46"/>
          <p:cNvCxnSpPr>
            <a:stCxn id="679" idx="6"/>
            <a:endCxn id="682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96" name="Google Shape;696;p46"/>
          <p:cNvCxnSpPr>
            <a:stCxn id="687" idx="6"/>
            <a:endCxn id="682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7" name="Google Shape;697;p46"/>
          <p:cNvCxnSpPr>
            <a:stCxn id="679" idx="6"/>
            <a:endCxn id="687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98" name="Google Shape;698;p46"/>
          <p:cNvCxnSpPr>
            <a:stCxn id="687" idx="0"/>
            <a:endCxn id="680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99" name="Google Shape;699;p46"/>
          <p:cNvCxnSpPr>
            <a:stCxn id="688" idx="6"/>
            <a:endCxn id="682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705" name="Google Shape;705;p47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fundamental theorem of structural balance</a:t>
            </a:r>
            <a:r>
              <a:rPr lang="en"/>
              <a:t> was discovered by the mathematicians Dorwin Cartwright and Frank Harary in 1956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states that when a graph is balanced it can be split into </a:t>
            </a:r>
            <a:r>
              <a:rPr b="1" lang="en"/>
              <a:t>two</a:t>
            </a:r>
            <a:r>
              <a:rPr lang="en"/>
              <a:t> </a:t>
            </a:r>
            <a:r>
              <a:rPr b="1" lang="en"/>
              <a:t>groups</a:t>
            </a:r>
            <a:r>
              <a:rPr lang="en"/>
              <a:t> such that there are only </a:t>
            </a:r>
            <a:r>
              <a:rPr b="1" lang="en">
                <a:solidFill>
                  <a:srgbClr val="0000FF"/>
                </a:solidFill>
              </a:rPr>
              <a:t>positive</a:t>
            </a:r>
            <a:r>
              <a:rPr lang="en"/>
              <a:t> links </a:t>
            </a:r>
            <a:r>
              <a:rPr b="1" i="1" lang="en">
                <a:solidFill>
                  <a:srgbClr val="0000FF"/>
                </a:solidFill>
              </a:rPr>
              <a:t>within</a:t>
            </a:r>
            <a:r>
              <a:rPr lang="en"/>
              <a:t> groups and only </a:t>
            </a:r>
            <a:r>
              <a:rPr b="1" lang="en">
                <a:solidFill>
                  <a:srgbClr val="FF0000"/>
                </a:solidFill>
              </a:rPr>
              <a:t>negative</a:t>
            </a:r>
            <a:r>
              <a:rPr lang="en"/>
              <a:t> links </a:t>
            </a:r>
            <a:r>
              <a:rPr b="1" i="1" lang="en">
                <a:solidFill>
                  <a:srgbClr val="FF0000"/>
                </a:solidFill>
              </a:rPr>
              <a:t>between</a:t>
            </a:r>
            <a:r>
              <a:rPr i="1" lang="en"/>
              <a:t> </a:t>
            </a:r>
            <a:r>
              <a:rPr lang="en"/>
              <a:t>groups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is not necessarily good!</a:t>
            </a:r>
            <a:endParaRPr/>
          </a:p>
        </p:txBody>
      </p:sp>
      <p:sp>
        <p:nvSpPr>
          <p:cNvPr id="706" name="Google Shape;706;p47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07" name="Google Shape;707;p47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08" name="Google Shape;708;p47"/>
          <p:cNvCxnSpPr>
            <a:stCxn id="706" idx="6"/>
            <a:endCxn id="707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9" name="Google Shape;709;p47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rgbClr val="BF900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10" name="Google Shape;710;p47"/>
          <p:cNvCxnSpPr>
            <a:stCxn id="709" idx="2"/>
            <a:endCxn id="707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11" name="Google Shape;711;p47"/>
          <p:cNvSpPr/>
          <p:nvPr/>
        </p:nvSpPr>
        <p:spPr>
          <a:xfrm>
            <a:off x="8037576" y="3392424"/>
            <a:ext cx="613500" cy="611400"/>
          </a:xfrm>
          <a:prstGeom prst="ellipse">
            <a:avLst/>
          </a:prstGeom>
          <a:solidFill>
            <a:srgbClr val="BF900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12" name="Google Shape;712;p47"/>
          <p:cNvCxnSpPr>
            <a:stCxn id="711" idx="2"/>
            <a:endCxn id="709" idx="2"/>
          </p:cNvCxnSpPr>
          <p:nvPr/>
        </p:nvCxnSpPr>
        <p:spPr>
          <a:xfrm flipH="1" rot="10800000">
            <a:off x="8037576" y="2208624"/>
            <a:ext cx="4500" cy="14895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3" name="Google Shape;713;p47"/>
          <p:cNvCxnSpPr>
            <a:stCxn id="706" idx="6"/>
            <a:endCxn id="711" idx="2"/>
          </p:cNvCxnSpPr>
          <p:nvPr/>
        </p:nvCxnSpPr>
        <p:spPr>
          <a:xfrm>
            <a:off x="5373300" y="2208534"/>
            <a:ext cx="2664300" cy="1489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14" name="Google Shape;714;p47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rgbClr val="BF900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15" name="Google Shape;715;p47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16" name="Google Shape;716;p47"/>
          <p:cNvCxnSpPr>
            <a:stCxn id="706" idx="6"/>
            <a:endCxn id="715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7" name="Google Shape;717;p47"/>
          <p:cNvCxnSpPr>
            <a:stCxn id="715" idx="6"/>
            <a:endCxn id="714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18" name="Google Shape;718;p47"/>
          <p:cNvCxnSpPr>
            <a:stCxn id="714" idx="6"/>
            <a:endCxn id="711" idx="2"/>
          </p:cNvCxnSpPr>
          <p:nvPr/>
        </p:nvCxnSpPr>
        <p:spPr>
          <a:xfrm flipH="1" rot="10800000">
            <a:off x="7014408" y="3698046"/>
            <a:ext cx="1023300" cy="573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9" name="Google Shape;719;p47"/>
          <p:cNvCxnSpPr>
            <a:stCxn id="715" idx="6"/>
            <a:endCxn id="707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0" name="Google Shape;720;p47"/>
          <p:cNvCxnSpPr>
            <a:stCxn id="711" idx="2"/>
            <a:endCxn id="707" idx="6"/>
          </p:cNvCxnSpPr>
          <p:nvPr/>
        </p:nvCxnSpPr>
        <p:spPr>
          <a:xfrm rot="10800000">
            <a:off x="7014276" y="1597224"/>
            <a:ext cx="1023300" cy="2100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21" name="Google Shape;721;p47"/>
          <p:cNvCxnSpPr>
            <a:stCxn id="715" idx="6"/>
            <a:endCxn id="711" idx="2"/>
          </p:cNvCxnSpPr>
          <p:nvPr/>
        </p:nvCxnSpPr>
        <p:spPr>
          <a:xfrm flipH="1" rot="10800000">
            <a:off x="5373308" y="3698221"/>
            <a:ext cx="2664300" cy="37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22" name="Google Shape;722;p47"/>
          <p:cNvCxnSpPr>
            <a:stCxn id="706" idx="6"/>
            <a:endCxn id="709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23" name="Google Shape;723;p47"/>
          <p:cNvCxnSpPr>
            <a:stCxn id="714" idx="6"/>
            <a:endCxn id="709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4" name="Google Shape;724;p47"/>
          <p:cNvCxnSpPr>
            <a:stCxn id="706" idx="6"/>
            <a:endCxn id="714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25" name="Google Shape;725;p47"/>
          <p:cNvCxnSpPr>
            <a:stCxn id="714" idx="0"/>
            <a:endCxn id="707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26" name="Google Shape;726;p47"/>
          <p:cNvCxnSpPr>
            <a:stCxn id="715" idx="6"/>
            <a:endCxn id="709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727" name="Google Shape;72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4575" y="1068475"/>
            <a:ext cx="731520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8" name="Google Shape;728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15316" y="4003825"/>
            <a:ext cx="731519" cy="6502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734" name="Google Shape;734;p48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fundamental theorem of structural balance</a:t>
            </a:r>
            <a:r>
              <a:rPr lang="en"/>
              <a:t> was discovered by the mathematicians Dorwin Cartwright and Frank Harary in 1956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states that when a graph is balanced it can be split into </a:t>
            </a:r>
            <a:r>
              <a:rPr b="1" lang="en"/>
              <a:t>two</a:t>
            </a:r>
            <a:r>
              <a:rPr lang="en"/>
              <a:t> </a:t>
            </a:r>
            <a:r>
              <a:rPr b="1" lang="en"/>
              <a:t>groups</a:t>
            </a:r>
            <a:r>
              <a:rPr lang="en"/>
              <a:t> such that there are only </a:t>
            </a:r>
            <a:r>
              <a:rPr b="1" lang="en">
                <a:solidFill>
                  <a:srgbClr val="0000FF"/>
                </a:solidFill>
              </a:rPr>
              <a:t>positive</a:t>
            </a:r>
            <a:r>
              <a:rPr lang="en"/>
              <a:t> links </a:t>
            </a:r>
            <a:r>
              <a:rPr b="1" i="1" lang="en">
                <a:solidFill>
                  <a:srgbClr val="0000FF"/>
                </a:solidFill>
              </a:rPr>
              <a:t>within</a:t>
            </a:r>
            <a:r>
              <a:rPr lang="en"/>
              <a:t> groups and only </a:t>
            </a:r>
            <a:r>
              <a:rPr b="1" lang="en">
                <a:solidFill>
                  <a:srgbClr val="FF0000"/>
                </a:solidFill>
              </a:rPr>
              <a:t>negative</a:t>
            </a:r>
            <a:r>
              <a:rPr lang="en"/>
              <a:t> links </a:t>
            </a:r>
            <a:r>
              <a:rPr b="1" i="1" lang="en">
                <a:solidFill>
                  <a:srgbClr val="FF0000"/>
                </a:solidFill>
              </a:rPr>
              <a:t>between</a:t>
            </a:r>
            <a:r>
              <a:rPr i="1" lang="en"/>
              <a:t> </a:t>
            </a:r>
            <a:r>
              <a:rPr lang="en"/>
              <a:t>groups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Structural balance is equivalent to perfect </a:t>
            </a:r>
            <a:r>
              <a:rPr b="1" lang="en"/>
              <a:t>group polarization</a:t>
            </a:r>
            <a:endParaRPr b="1"/>
          </a:p>
        </p:txBody>
      </p:sp>
      <p:sp>
        <p:nvSpPr>
          <p:cNvPr id="735" name="Google Shape;735;p48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36" name="Google Shape;736;p48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37" name="Google Shape;737;p48"/>
          <p:cNvCxnSpPr>
            <a:stCxn id="735" idx="6"/>
            <a:endCxn id="736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8" name="Google Shape;738;p48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rgbClr val="BF900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39" name="Google Shape;739;p48"/>
          <p:cNvCxnSpPr>
            <a:stCxn id="738" idx="2"/>
            <a:endCxn id="736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40" name="Google Shape;740;p48"/>
          <p:cNvSpPr/>
          <p:nvPr/>
        </p:nvSpPr>
        <p:spPr>
          <a:xfrm>
            <a:off x="8037576" y="3392424"/>
            <a:ext cx="613500" cy="611400"/>
          </a:xfrm>
          <a:prstGeom prst="ellipse">
            <a:avLst/>
          </a:prstGeom>
          <a:solidFill>
            <a:srgbClr val="BF900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41" name="Google Shape;741;p48"/>
          <p:cNvCxnSpPr>
            <a:stCxn id="740" idx="2"/>
            <a:endCxn id="738" idx="2"/>
          </p:cNvCxnSpPr>
          <p:nvPr/>
        </p:nvCxnSpPr>
        <p:spPr>
          <a:xfrm flipH="1" rot="10800000">
            <a:off x="8037576" y="2208624"/>
            <a:ext cx="4500" cy="14895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2" name="Google Shape;742;p48"/>
          <p:cNvCxnSpPr>
            <a:stCxn id="735" idx="6"/>
            <a:endCxn id="740" idx="2"/>
          </p:cNvCxnSpPr>
          <p:nvPr/>
        </p:nvCxnSpPr>
        <p:spPr>
          <a:xfrm>
            <a:off x="5373300" y="2208534"/>
            <a:ext cx="2664300" cy="1489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43" name="Google Shape;743;p48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rgbClr val="BF900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44" name="Google Shape;744;p48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45" name="Google Shape;745;p48"/>
          <p:cNvCxnSpPr>
            <a:stCxn id="735" idx="6"/>
            <a:endCxn id="744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6" name="Google Shape;746;p48"/>
          <p:cNvCxnSpPr>
            <a:stCxn id="744" idx="6"/>
            <a:endCxn id="743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47" name="Google Shape;747;p48"/>
          <p:cNvCxnSpPr>
            <a:stCxn id="743" idx="6"/>
            <a:endCxn id="740" idx="2"/>
          </p:cNvCxnSpPr>
          <p:nvPr/>
        </p:nvCxnSpPr>
        <p:spPr>
          <a:xfrm flipH="1" rot="10800000">
            <a:off x="7014408" y="3698046"/>
            <a:ext cx="1023300" cy="573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8" name="Google Shape;748;p48"/>
          <p:cNvCxnSpPr>
            <a:stCxn id="744" idx="6"/>
            <a:endCxn id="736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9" name="Google Shape;749;p48"/>
          <p:cNvCxnSpPr>
            <a:stCxn id="740" idx="2"/>
            <a:endCxn id="736" idx="6"/>
          </p:cNvCxnSpPr>
          <p:nvPr/>
        </p:nvCxnSpPr>
        <p:spPr>
          <a:xfrm rot="10800000">
            <a:off x="7014276" y="1597224"/>
            <a:ext cx="1023300" cy="2100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50" name="Google Shape;750;p48"/>
          <p:cNvCxnSpPr>
            <a:stCxn id="744" idx="6"/>
            <a:endCxn id="740" idx="2"/>
          </p:cNvCxnSpPr>
          <p:nvPr/>
        </p:nvCxnSpPr>
        <p:spPr>
          <a:xfrm flipH="1" rot="10800000">
            <a:off x="5373308" y="3698221"/>
            <a:ext cx="2664300" cy="37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51" name="Google Shape;751;p48"/>
          <p:cNvCxnSpPr>
            <a:stCxn id="735" idx="6"/>
            <a:endCxn id="738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52" name="Google Shape;752;p48"/>
          <p:cNvCxnSpPr>
            <a:stCxn id="743" idx="6"/>
            <a:endCxn id="738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3" name="Google Shape;753;p48"/>
          <p:cNvCxnSpPr>
            <a:stCxn id="735" idx="6"/>
            <a:endCxn id="743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54" name="Google Shape;754;p48"/>
          <p:cNvCxnSpPr>
            <a:stCxn id="743" idx="0"/>
            <a:endCxn id="736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55" name="Google Shape;755;p48"/>
          <p:cNvCxnSpPr>
            <a:stCxn id="744" idx="6"/>
            <a:endCxn id="738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756" name="Google Shape;75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4575" y="1068475"/>
            <a:ext cx="731520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7" name="Google Shape;757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15316" y="4003825"/>
            <a:ext cx="731519" cy="6502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