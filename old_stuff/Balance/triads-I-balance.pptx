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6858000" cx="9144000"/>
  <p:notesSz cx="6858000" cy="9144000"/>
  <p:embeddedFontLst>
    <p:embeddedFont>
      <p:font typeface="Josefin Slab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01382B-99B6-4F46-94C6-BCD56F56BC27}">
  <a:tblStyle styleId="{8901382B-99B6-4F46-94C6-BCD56F56BC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JosefinSlab-regular.fntdata"/><Relationship Id="rId50" Type="http://schemas.openxmlformats.org/officeDocument/2006/relationships/slide" Target="slides/slide45.xml"/><Relationship Id="rId53" Type="http://schemas.openxmlformats.org/officeDocument/2006/relationships/font" Target="fonts/JosefinSlab-italic.fntdata"/><Relationship Id="rId52" Type="http://schemas.openxmlformats.org/officeDocument/2006/relationships/font" Target="fonts/JosefinSlab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JosefinSlab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adb9c82a_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adb9c82a_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da2cf35c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da2cf35c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da2cf35c_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da2cf35c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a2cf35c_0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a2cf35c_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9742c2f4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9742c2f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9742c2f4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9742c2f4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9742c2f4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9742c2f4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9742c2f4_2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9742c2f4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9742c2f4_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9742c2f4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9742c2f4_4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9742c2f4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742c2f4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742c2f4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9742c2f4_2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9742c2f4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9742c2f4_2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9742c2f4_2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74eedbe0_0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74eedbe0_0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9742c2f4_2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9742c2f4_2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9742c2f4_2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9742c2f4_2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9742c2f4_2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9742c2f4_2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9742c2f4_21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9742c2f4_2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9742c2f4_2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9742c2f4_2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9742c2f4_2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9742c2f4_2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a2cf35c_0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da2cf35c_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da2cf35c_0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da2cf35c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a2cf35c_0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a2cf35c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da2cf35c_0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da2cf35c_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9742c2f4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9742c2f4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9742c2f4_2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19742c2f4_2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9742c2f4_4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19742c2f4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9742c2f4_4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9742c2f4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9742c2f4_4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9742c2f4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9742c2f4_23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9742c2f4_2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9742c2f4_4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9742c2f4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9742c2f4_4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9742c2f4_4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9742c2f4_4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9742c2f4_4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9742c2f4_4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9742c2f4_4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9742c2f4_4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9742c2f4_4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9742c2f4_42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9742c2f4_4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9742c2f4_4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19742c2f4_4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9742c2f4_4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9742c2f4_4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9742c2f4_4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9742c2f4_4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adb9c82a_0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adb9c82a_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adb9c82a_0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adb9c82a_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9742c2f4_4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9742c2f4_4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9742c2f4_42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9742c2f4_4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9742c2f4_4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9742c2f4_4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processes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Triadic configurations exhibit properties not reducible to (but still dependent on) dyadic processes (Simmel 1908)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"Simplest" configuration that exhibit "group" properties (e.g. factionalization, alliance formation, brokerage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series of behavioral theories in social science rely on triadic processes: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Structural Balance Theory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Granovetter's "Strength of Weak Ties" (SWT) theory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Power-dependence Exchange Theories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Brokerage Theories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Structural Holes (SH) Theory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in complex networks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Link between micro-processes and macro-signatures of complex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Micro-process: "friends of friends become friends."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Macro-signature: Global clustering coefficient deviates significantly from that characteristic of random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has implications for: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Diffusion dynamics within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Overall cohesion within the social structure (e.g. Community structure)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Brokerage and information control opportunities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Innovation and the generation of novel ideas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Building blocks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set of 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set of (directed) relationships defined on those actors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Likes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versus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Dislikes (Choosing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versus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Not choosing)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At the dyadic level (all possible sub-digraphs of size 2) such a setup leads to three "dyad" classes: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i="1" lang="en">
                <a:latin typeface="Josefin Slab"/>
                <a:ea typeface="Josefin Slab"/>
                <a:cs typeface="Josefin Slab"/>
                <a:sym typeface="Josefin Slab"/>
              </a:rPr>
              <a:t>M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utual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(both actors like; both actors choose)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i="1" lang="en">
                <a:latin typeface="Josefin Slab"/>
                <a:ea typeface="Josefin Slab"/>
                <a:cs typeface="Josefin Slab"/>
                <a:sym typeface="Josefin Slab"/>
              </a:rPr>
              <a:t>A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symmetric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(only one actor chooses; one dislikes the other likes)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i="1" lang="en">
                <a:latin typeface="Josefin Slab"/>
                <a:ea typeface="Josefin Slab"/>
                <a:cs typeface="Josefin Slab"/>
                <a:sym typeface="Josefin Slab"/>
              </a:rPr>
              <a:t>N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ull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(neither actors chooses; both actors dislike)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Using the same building blocks, but now considering subgraphs of size 3 adds a layer of complexity: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Sixteen possible sub-digraphs: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525" y="3481800"/>
            <a:ext cx="50292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Considering triads containing directional arcs only simplifies things a bit.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is the key to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balance theory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Solid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lines are positive sentiments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Null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(dashed) lines are negative sentiments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2" name="Google Shape;6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4767100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structural balance theory, each vertex in the configuration is given a designation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Person (P):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"The individual whose behavior is being predicted by the theory" (Davis 1963: 445).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4767100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structural balance theory, each vertex in the configuration is given a designation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Other (O):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 object (e.g another individual) towards which P is oriented.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4767100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structural balance theory, each vertex in the configuration is given a designation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Q: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third object (a value, group or another individual) towards which P and O are oriented.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4767100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basic premise of the theory is that people are motivated to seek balance in the triadic configurations in which they are embedded.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4767100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is formally defined as the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sign of the product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of the weights attached to each edge in the cycle.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Positive triads are balanced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Negative triads are imbalanced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4767100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aphicFrame>
        <p:nvGraphicFramePr>
          <p:cNvPr id="103" name="Google Shape;103;p18"/>
          <p:cNvGraphicFramePr/>
          <p:nvPr/>
        </p:nvGraphicFramePr>
        <p:xfrm>
          <a:off x="952500" y="259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{8901382B-99B6-4F46-94C6-BCD56F56BC27}</a:tableStyleId>
              </a:tblPr>
              <a:tblGrid>
                <a:gridCol w="1034150"/>
                <a:gridCol w="1034150"/>
                <a:gridCol w="1034150"/>
                <a:gridCol w="1034150"/>
                <a:gridCol w="1034150"/>
                <a:gridCol w="1034150"/>
                <a:gridCol w="10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OQ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POQ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" name="Google Shape;104;p18"/>
          <p:cNvSpPr/>
          <p:nvPr/>
        </p:nvSpPr>
        <p:spPr>
          <a:xfrm>
            <a:off x="1346825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3370150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7472725" y="33780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7472725" y="3955763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6442700" y="340715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6442700" y="3984863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6442700" y="455550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6442700" y="522625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267250" y="34071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2267250" y="3984863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2267250" y="455550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2267250" y="52262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1281275" y="39776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304600" y="5219050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4375525" y="33489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4375525" y="3926663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4375525" y="449730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4375525" y="51680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5456850" y="3378050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7472725" y="4653663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472725" y="52262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3304600" y="4006763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5456850" y="4013963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1281275" y="46464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1281275" y="52553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3370150" y="4653663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0000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5391300" y="4646463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5391300" y="5219050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is formally defined as the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sign of the product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of the weights attached to each edge in the cycle.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reduced tension and is experienced as satisfactory (stable equilibrium)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4767100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is formally defined as the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 sign of the product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of the weights attached to each edge in the cycle.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Imbalance is experienced as tension and discomfort (unstable state) that must be resolved (balanced)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50" y="3915050"/>
            <a:ext cx="4767100" cy="27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10" y="1836150"/>
            <a:ext cx="7598879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pSp>
        <p:nvGrpSpPr>
          <p:cNvPr id="157" name="Google Shape;157;p22"/>
          <p:cNvGrpSpPr/>
          <p:nvPr/>
        </p:nvGrpSpPr>
        <p:grpSpPr>
          <a:xfrm>
            <a:off x="829610" y="1836150"/>
            <a:ext cx="7876140" cy="4495800"/>
            <a:chOff x="829610" y="1836150"/>
            <a:chExt cx="7876140" cy="4495800"/>
          </a:xfrm>
        </p:grpSpPr>
        <p:pic>
          <p:nvPicPr>
            <p:cNvPr id="158" name="Google Shape;158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29610" y="1836150"/>
              <a:ext cx="7598879" cy="449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22"/>
            <p:cNvSpPr txBox="1"/>
            <p:nvPr/>
          </p:nvSpPr>
          <p:spPr>
            <a:xfrm>
              <a:off x="3219350" y="2064750"/>
              <a:ext cx="2819400" cy="49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b="1" lang="en" sz="2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Republican Party</a:t>
              </a:r>
              <a:r>
                <a:rPr b="1" i="0" lang="e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2"/>
            <p:cNvSpPr txBox="1"/>
            <p:nvPr/>
          </p:nvSpPr>
          <p:spPr>
            <a:xfrm>
              <a:off x="6038750" y="5188950"/>
              <a:ext cx="2667000" cy="49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b="1" lang="en" sz="2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Clint Eastwood</a:t>
              </a:r>
              <a:r>
                <a:rPr b="1" i="0" lang="e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2"/>
            <p:cNvSpPr txBox="1"/>
            <p:nvPr/>
          </p:nvSpPr>
          <p:spPr>
            <a:xfrm>
              <a:off x="1085750" y="5188950"/>
              <a:ext cx="2438400" cy="49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(You)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10" y="1836150"/>
            <a:ext cx="7598879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  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6312975" y="5188950"/>
            <a:ext cx="2667000" cy="49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Smoking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1085750" y="5188950"/>
            <a:ext cx="2438400" cy="49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(You)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3279100" y="2144850"/>
            <a:ext cx="2239200" cy="51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Cancer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10" y="1836150"/>
            <a:ext cx="7598879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78" name="Google Shape;178;p2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  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5927119" y="5188950"/>
            <a:ext cx="3052800" cy="49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(Public Education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1085750" y="5188950"/>
            <a:ext cx="2438400" cy="49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(You)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3246563" y="2144839"/>
            <a:ext cx="2441100" cy="51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Taxes</a:t>
            </a:r>
            <a:r>
              <a:rPr b="1" i="0" lang="e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If P likes O, and O likes Q, P likes Q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dislikes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O, and O 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 and O dislikes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9434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5"/>
          <p:cNvSpPr/>
          <p:nvPr/>
        </p:nvSpPr>
        <p:spPr>
          <a:xfrm>
            <a:off x="1907425" y="366925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If P likes O, and O dislikes Q, P dislikes Q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O, and O 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 and O dislikes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9434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6"/>
          <p:cNvSpPr/>
          <p:nvPr/>
        </p:nvSpPr>
        <p:spPr>
          <a:xfrm>
            <a:off x="3232425" y="361100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03" name="Google Shape;203;p2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dislikes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If P dislikes O, and O likes Q, P dislikes Q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 and O dislikes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04" name="Google Shape;2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9434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/>
          <p:nvPr/>
        </p:nvSpPr>
        <p:spPr>
          <a:xfrm>
            <a:off x="4601100" y="3625575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likes Q, P 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likes O, and O dislikes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If P dislikes O, and O likes Q, P dislikes Q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If P dislikes O and O dislikes Q, P likes Q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12" name="Google Shape;21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9434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/>
          <p:nvPr/>
        </p:nvSpPr>
        <p:spPr>
          <a:xfrm>
            <a:off x="5926125" y="361100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8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20" name="Google Shape;220;p2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Friend of a friend is a friend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an enemy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 friend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an Enemy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21" name="Google Shape;2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9434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9"/>
          <p:cNvSpPr/>
          <p:nvPr/>
        </p:nvSpPr>
        <p:spPr>
          <a:xfrm>
            <a:off x="1907425" y="366925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 friend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Enemy of an Enemy is a friend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an enemy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 friend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29" name="Google Shape;22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9434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0"/>
          <p:cNvSpPr/>
          <p:nvPr/>
        </p:nvSpPr>
        <p:spPr>
          <a:xfrm>
            <a:off x="3232425" y="361100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36" name="Google Shape;236;p3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 friend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an Enemy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Friend of an enemy is an enemy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 friend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37" name="Google Shape;23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9434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1"/>
          <p:cNvSpPr/>
          <p:nvPr/>
        </p:nvSpPr>
        <p:spPr>
          <a:xfrm>
            <a:off x="4601100" y="3625575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"rules"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 friend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Enemy of an Enemy is a friend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Friend of an enemy is an enemy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Enemy of a friend is an enemy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45" name="Google Shape;2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263" y="3729450"/>
            <a:ext cx="49434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2"/>
          <p:cNvSpPr/>
          <p:nvPr/>
        </p:nvSpPr>
        <p:spPr>
          <a:xfrm>
            <a:off x="5926125" y="3611000"/>
            <a:ext cx="1325100" cy="1135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 txBox="1"/>
          <p:nvPr/>
        </p:nvSpPr>
        <p:spPr>
          <a:xfrm>
            <a:off x="304800" y="3048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53" name="Google Shape;253;p3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(+  friends; - enemies)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54" name="Google Shape;254;p33"/>
          <p:cNvGraphicFramePr/>
          <p:nvPr/>
        </p:nvGraphicFramePr>
        <p:xfrm>
          <a:off x="952500" y="259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{8901382B-99B6-4F46-94C6-BCD56F56BC27}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OX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PX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33"/>
          <p:cNvSpPr/>
          <p:nvPr/>
        </p:nvSpPr>
        <p:spPr>
          <a:xfrm>
            <a:off x="1412375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3"/>
          <p:cNvSpPr/>
          <p:nvPr/>
        </p:nvSpPr>
        <p:spPr>
          <a:xfrm>
            <a:off x="4302150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7279300" y="34071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7279300" y="522625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3"/>
          <p:cNvSpPr/>
          <p:nvPr/>
        </p:nvSpPr>
        <p:spPr>
          <a:xfrm>
            <a:off x="4302150" y="3984863"/>
            <a:ext cx="349500" cy="378600"/>
          </a:xfrm>
          <a:prstGeom prst="mathPl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1412375" y="4555500"/>
            <a:ext cx="349500" cy="378600"/>
          </a:xfrm>
          <a:prstGeom prst="mathPl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5809650" y="340715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5809650" y="3984863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5809650" y="455550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"/>
          <p:cNvSpPr/>
          <p:nvPr/>
        </p:nvSpPr>
        <p:spPr>
          <a:xfrm>
            <a:off x="5809650" y="5226250"/>
            <a:ext cx="451500" cy="378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3"/>
          <p:cNvSpPr/>
          <p:nvPr/>
        </p:nvSpPr>
        <p:spPr>
          <a:xfrm>
            <a:off x="2926675" y="33780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2926675" y="3955763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3"/>
          <p:cNvSpPr/>
          <p:nvPr/>
        </p:nvSpPr>
        <p:spPr>
          <a:xfrm>
            <a:off x="2926675" y="452640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3"/>
          <p:cNvSpPr/>
          <p:nvPr/>
        </p:nvSpPr>
        <p:spPr>
          <a:xfrm>
            <a:off x="2926675" y="5197150"/>
            <a:ext cx="393000" cy="436800"/>
          </a:xfrm>
          <a:prstGeom prst="mathMultiply">
            <a:avLst>
              <a:gd fmla="val 23520" name="adj1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3"/>
          <p:cNvSpPr/>
          <p:nvPr/>
        </p:nvSpPr>
        <p:spPr>
          <a:xfrm>
            <a:off x="1346825" y="39776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3"/>
          <p:cNvSpPr/>
          <p:nvPr/>
        </p:nvSpPr>
        <p:spPr>
          <a:xfrm>
            <a:off x="1346825" y="5219050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5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4236600" y="4646463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3"/>
          <p:cNvSpPr/>
          <p:nvPr/>
        </p:nvSpPr>
        <p:spPr>
          <a:xfrm>
            <a:off x="4236600" y="5219050"/>
            <a:ext cx="480600" cy="393000"/>
          </a:xfrm>
          <a:prstGeom prst="mathMinus">
            <a:avLst>
              <a:gd fmla="val 23520" name="adj1"/>
            </a:avLst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3"/>
          <p:cNvSpPr/>
          <p:nvPr/>
        </p:nvSpPr>
        <p:spPr>
          <a:xfrm>
            <a:off x="7213750" y="39776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3"/>
          <p:cNvSpPr/>
          <p:nvPr/>
        </p:nvSpPr>
        <p:spPr>
          <a:xfrm>
            <a:off x="7213750" y="4646463"/>
            <a:ext cx="480600" cy="393000"/>
          </a:xfrm>
          <a:prstGeom prst="mathMinus">
            <a:avLst>
              <a:gd fmla="val 23520" name="adj1"/>
            </a:avLst>
          </a:prstGeom>
          <a:solidFill>
            <a:schemeClr val="accent6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grpSp>
        <p:nvGrpSpPr>
          <p:cNvPr id="280" name="Google Shape;280;p34"/>
          <p:cNvGrpSpPr/>
          <p:nvPr/>
        </p:nvGrpSpPr>
        <p:grpSpPr>
          <a:xfrm>
            <a:off x="936725" y="2374350"/>
            <a:ext cx="7594768" cy="3276600"/>
            <a:chOff x="936725" y="2374350"/>
            <a:chExt cx="7594768" cy="3276600"/>
          </a:xfrm>
        </p:grpSpPr>
        <p:pic>
          <p:nvPicPr>
            <p:cNvPr id="281" name="Google Shape;28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36725" y="2374350"/>
              <a:ext cx="7594768" cy="3276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82" name="Google Shape;282;p34"/>
            <p:cNvCxnSpPr/>
            <p:nvPr/>
          </p:nvCxnSpPr>
          <p:spPr>
            <a:xfrm>
              <a:off x="4149750" y="2853850"/>
              <a:ext cx="14700" cy="1645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3" name="Google Shape;283;p34"/>
            <p:cNvCxnSpPr/>
            <p:nvPr/>
          </p:nvCxnSpPr>
          <p:spPr>
            <a:xfrm>
              <a:off x="4339025" y="2868300"/>
              <a:ext cx="0" cy="1674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89" name="Google Shape;289;p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Cartwright and Harary (1956) proved that if all of the triads in a signed value matrix are balanced, then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matrix can be blocked into two mutually exclusive groups such that: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All edges with positive weights are within blocks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All edges with negative weights are between blocks.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"generalized balance" formalizes a key intuition between balance processes at the micro-level and macro-level group structure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Balance seeking at the micro-level leads to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group polarization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at the macro-level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295" name="Google Shape;295;p36"/>
          <p:cNvSpPr txBox="1"/>
          <p:nvPr>
            <p:ph idx="1" type="body"/>
          </p:nvPr>
        </p:nvSpPr>
        <p:spPr>
          <a:xfrm>
            <a:off x="457200" y="1600200"/>
            <a:ext cx="8337900" cy="27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This is not the only possibility; more likely we will find mixed states that satisfy generalized balance but not structural balance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These are so-called "jammed states"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Any sign change to balance a triad would imbalance other triads increasing generalized imbalance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pSp>
        <p:nvGrpSpPr>
          <p:cNvPr id="296" name="Google Shape;296;p36"/>
          <p:cNvGrpSpPr/>
          <p:nvPr/>
        </p:nvGrpSpPr>
        <p:grpSpPr>
          <a:xfrm>
            <a:off x="1930724" y="4237500"/>
            <a:ext cx="5390859" cy="2271550"/>
            <a:chOff x="1930724" y="4237500"/>
            <a:chExt cx="5390859" cy="2271550"/>
          </a:xfrm>
        </p:grpSpPr>
        <p:pic>
          <p:nvPicPr>
            <p:cNvPr id="297" name="Google Shape;297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30724" y="4237500"/>
              <a:ext cx="2264971" cy="21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7925" y="4347224"/>
              <a:ext cx="2533659" cy="2161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04" name="Google Shape;304;p37"/>
          <p:cNvSpPr txBox="1"/>
          <p:nvPr>
            <p:ph idx="1" type="body"/>
          </p:nvPr>
        </p:nvSpPr>
        <p:spPr>
          <a:xfrm>
            <a:off x="457200" y="1600200"/>
            <a:ext cx="8337900" cy="27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Jammed states: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"...represent situations in which divided loyalties obscure group boundaries" (van de Rijt 2011: 97-98)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Suggest that the pursuit of structural balance at the micro-level does not necessarily result in generalized balance at the macro-level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pSp>
        <p:nvGrpSpPr>
          <p:cNvPr id="305" name="Google Shape;305;p37"/>
          <p:cNvGrpSpPr/>
          <p:nvPr/>
        </p:nvGrpSpPr>
        <p:grpSpPr>
          <a:xfrm>
            <a:off x="1930724" y="4237500"/>
            <a:ext cx="5390859" cy="2271550"/>
            <a:chOff x="1930724" y="4237500"/>
            <a:chExt cx="5390859" cy="2271550"/>
          </a:xfrm>
        </p:grpSpPr>
        <p:pic>
          <p:nvPicPr>
            <p:cNvPr id="306" name="Google Shape;306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30724" y="4237500"/>
              <a:ext cx="2264971" cy="2161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7925" y="4347224"/>
              <a:ext cx="2533659" cy="21618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 balance theory</a:t>
            </a:r>
            <a:endParaRPr/>
          </a:p>
        </p:txBody>
      </p:sp>
      <p:sp>
        <p:nvSpPr>
          <p:cNvPr id="313" name="Google Shape;313;p38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  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14" name="Google Shape;3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4360" y="2046718"/>
            <a:ext cx="4010328" cy="392112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8"/>
          <p:cNvSpPr txBox="1"/>
          <p:nvPr/>
        </p:nvSpPr>
        <p:spPr>
          <a:xfrm>
            <a:off x="313054" y="3945900"/>
            <a:ext cx="17901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P(retweeter)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3212161" y="3945900"/>
            <a:ext cx="16578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O(tweeter)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17" name="Google Shape;317;p38"/>
          <p:cNvSpPr txBox="1"/>
          <p:nvPr/>
        </p:nvSpPr>
        <p:spPr>
          <a:xfrm>
            <a:off x="1583475" y="2161018"/>
            <a:ext cx="19002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Q(tweet)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cxnSp>
        <p:nvCxnSpPr>
          <p:cNvPr id="318" name="Google Shape;318;p38"/>
          <p:cNvCxnSpPr>
            <a:stCxn id="315" idx="3"/>
            <a:endCxn id="316" idx="1"/>
          </p:cNvCxnSpPr>
          <p:nvPr/>
        </p:nvCxnSpPr>
        <p:spPr>
          <a:xfrm>
            <a:off x="2103154" y="4182450"/>
            <a:ext cx="11091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38"/>
          <p:cNvCxnSpPr>
            <a:stCxn id="315" idx="0"/>
            <a:endCxn id="317" idx="2"/>
          </p:cNvCxnSpPr>
          <p:nvPr/>
        </p:nvCxnSpPr>
        <p:spPr>
          <a:xfrm flipH="1" rot="10800000">
            <a:off x="1208104" y="2634000"/>
            <a:ext cx="1325400" cy="131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38"/>
          <p:cNvCxnSpPr>
            <a:stCxn id="316" idx="0"/>
            <a:endCxn id="317" idx="2"/>
          </p:cNvCxnSpPr>
          <p:nvPr/>
        </p:nvCxnSpPr>
        <p:spPr>
          <a:xfrm rot="10800000">
            <a:off x="2533561" y="2634000"/>
            <a:ext cx="1507500" cy="131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326" name="Google Shape;326;p39"/>
          <p:cNvSpPr txBox="1"/>
          <p:nvPr>
            <p:ph idx="1" type="body"/>
          </p:nvPr>
        </p:nvSpPr>
        <p:spPr>
          <a:xfrm>
            <a:off x="457200" y="1600200"/>
            <a:ext cx="3581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Structural balance theories deal only with the case of an individual orienting him/herself toward two other objects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However, an individual's orientation toward an object may be affected by orientations that other actors have towards that object.</a:t>
            </a:r>
            <a:endParaRPr sz="2400"/>
          </a:p>
        </p:txBody>
      </p:sp>
      <p:sp>
        <p:nvSpPr>
          <p:cNvPr id="327" name="Google Shape;327;p39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333" name="Google Shape;333;p40"/>
          <p:cNvSpPr txBox="1"/>
          <p:nvPr>
            <p:ph idx="1" type="body"/>
          </p:nvPr>
        </p:nvSpPr>
        <p:spPr>
          <a:xfrm>
            <a:off x="457200" y="1600200"/>
            <a:ext cx="3581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This brings the logic of "radial" measures of centrality to thinking about signed relations in a graph.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Provides a different motivational mechanism that the traditional balance account.</a:t>
            </a:r>
            <a:endParaRPr sz="2400"/>
          </a:p>
        </p:txBody>
      </p:sp>
      <p:sp>
        <p:nvSpPr>
          <p:cNvPr id="334" name="Google Shape;334;p40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340" name="Google Shape;340;p41"/>
          <p:cNvSpPr txBox="1"/>
          <p:nvPr>
            <p:ph idx="1" type="body"/>
          </p:nvPr>
        </p:nvSpPr>
        <p:spPr>
          <a:xfrm>
            <a:off x="457200" y="1600200"/>
            <a:ext cx="3581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This brings the logic of "radial" measures of centrality to thinking about signed relations in a graph.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Instead of considering Other's orientation to a third object, persons take into account the overall distribution of orientations impinging on Other to decide on their own sentiment</a:t>
            </a:r>
            <a:endParaRPr sz="2400"/>
          </a:p>
        </p:txBody>
      </p:sp>
      <p:sp>
        <p:nvSpPr>
          <p:cNvPr id="341" name="Google Shape;341;p41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347" name="Google Shape;347;p42"/>
          <p:cNvSpPr txBox="1"/>
          <p:nvPr>
            <p:ph idx="1" type="body"/>
          </p:nvPr>
        </p:nvSpPr>
        <p:spPr>
          <a:xfrm>
            <a:off x="457200" y="1600200"/>
            <a:ext cx="3581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This brings the logic of "radial" measures of centrality to thinking about signed relations in a graph.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Persons seek to increase their status in the eyes of the group (balance) and avoid losing status (imbalance)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 sz="2000">
                <a:latin typeface="Josefin Slab"/>
                <a:ea typeface="Josefin Slab"/>
                <a:cs typeface="Josefin Slab"/>
                <a:sym typeface="Josefin Slab"/>
              </a:rPr>
              <a:t>Liked persons are liked</a:t>
            </a:r>
            <a:endParaRPr b="1" sz="2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 sz="2000">
                <a:latin typeface="Josefin Slab"/>
                <a:ea typeface="Josefin Slab"/>
                <a:cs typeface="Josefin Slab"/>
                <a:sym typeface="Josefin Slab"/>
              </a:rPr>
              <a:t>Disliked persons are disliked</a:t>
            </a:r>
            <a:endParaRPr b="1" sz="20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48" name="Google Shape;348;p42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354" name="Google Shape;354;p43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b="1"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b="1"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356" name="Google Shape;356;p43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357" name="Google Shape;357;p43"/>
          <p:cNvCxnSpPr>
            <a:stCxn id="355" idx="3"/>
            <a:endCxn id="356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43"/>
          <p:cNvCxnSpPr>
            <a:stCxn id="355" idx="3"/>
            <a:endCxn id="359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0" name="Google Shape;360;p43"/>
          <p:cNvCxnSpPr>
            <a:stCxn id="359" idx="2"/>
            <a:endCxn id="356" idx="0"/>
          </p:cNvCxnSpPr>
          <p:nvPr/>
        </p:nvCxnSpPr>
        <p:spPr>
          <a:xfrm>
            <a:off x="3116697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43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361" name="Google Shape;361;p43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362" name="Google Shape;362;p43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363" name="Google Shape;363;p43"/>
          <p:cNvCxnSpPr>
            <a:stCxn id="361" idx="3"/>
            <a:endCxn id="362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43"/>
          <p:cNvCxnSpPr>
            <a:stCxn id="361" idx="3"/>
            <a:endCxn id="365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6" name="Google Shape;366;p43"/>
          <p:cNvCxnSpPr>
            <a:stCxn id="365" idx="2"/>
            <a:endCxn id="362" idx="0"/>
          </p:cNvCxnSpPr>
          <p:nvPr/>
        </p:nvCxnSpPr>
        <p:spPr>
          <a:xfrm>
            <a:off x="3222197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5" name="Google Shape;365;p43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372" name="Google Shape;372;p44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osefin Slab"/>
              <a:buAutoNum type="arabicPeriod"/>
            </a:pP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b="1"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status.</a:t>
            </a:r>
            <a:endParaRPr b="1" i="1"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4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374" name="Google Shape;374;p44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375" name="Google Shape;375;p44"/>
          <p:cNvCxnSpPr>
            <a:stCxn id="373" idx="3"/>
            <a:endCxn id="374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44"/>
          <p:cNvCxnSpPr>
            <a:stCxn id="373" idx="3"/>
            <a:endCxn id="377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44"/>
          <p:cNvCxnSpPr>
            <a:stCxn id="377" idx="2"/>
            <a:endCxn id="374" idx="0"/>
          </p:cNvCxnSpPr>
          <p:nvPr/>
        </p:nvCxnSpPr>
        <p:spPr>
          <a:xfrm>
            <a:off x="3116697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7" name="Google Shape;377;p44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379" name="Google Shape;379;p44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380" name="Google Shape;380;p44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381" name="Google Shape;381;p44"/>
          <p:cNvCxnSpPr>
            <a:stCxn id="379" idx="3"/>
            <a:endCxn id="380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44"/>
          <p:cNvCxnSpPr>
            <a:stCxn id="379" idx="3"/>
            <a:endCxn id="383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44"/>
          <p:cNvCxnSpPr>
            <a:stCxn id="383" idx="2"/>
            <a:endCxn id="380" idx="0"/>
          </p:cNvCxnSpPr>
          <p:nvPr/>
        </p:nvCxnSpPr>
        <p:spPr>
          <a:xfrm>
            <a:off x="3222197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3" name="Google Shape;383;p44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385" name="Google Shape;385;p44"/>
          <p:cNvSpPr/>
          <p:nvPr/>
        </p:nvSpPr>
        <p:spPr>
          <a:xfrm>
            <a:off x="659425" y="1622171"/>
            <a:ext cx="3292800" cy="2492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391" name="Google Shape;391;p45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osefin Slab"/>
              <a:buAutoNum type="arabicPeriod"/>
            </a:pP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b="1"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reduces one's status.</a:t>
            </a:r>
            <a:endParaRPr b="1" i="1"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5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393" name="Google Shape;393;p45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394" name="Google Shape;394;p45"/>
          <p:cNvCxnSpPr>
            <a:stCxn id="392" idx="3"/>
            <a:endCxn id="393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5" name="Google Shape;395;p45"/>
          <p:cNvCxnSpPr>
            <a:stCxn id="392" idx="3"/>
            <a:endCxn id="396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7" name="Google Shape;397;p45"/>
          <p:cNvCxnSpPr>
            <a:stCxn id="396" idx="2"/>
            <a:endCxn id="393" idx="0"/>
          </p:cNvCxnSpPr>
          <p:nvPr/>
        </p:nvCxnSpPr>
        <p:spPr>
          <a:xfrm>
            <a:off x="3116697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96" name="Google Shape;396;p45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398" name="Google Shape;398;p45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399" name="Google Shape;399;p45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400" name="Google Shape;400;p45"/>
          <p:cNvCxnSpPr>
            <a:stCxn id="398" idx="3"/>
            <a:endCxn id="399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45"/>
          <p:cNvCxnSpPr>
            <a:stCxn id="398" idx="3"/>
            <a:endCxn id="402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45"/>
          <p:cNvCxnSpPr>
            <a:stCxn id="402" idx="2"/>
            <a:endCxn id="399" idx="0"/>
          </p:cNvCxnSpPr>
          <p:nvPr/>
        </p:nvCxnSpPr>
        <p:spPr>
          <a:xfrm>
            <a:off x="3222197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2" name="Google Shape;402;p45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404" name="Google Shape;404;p45"/>
          <p:cNvSpPr/>
          <p:nvPr/>
        </p:nvSpPr>
        <p:spPr>
          <a:xfrm>
            <a:off x="665324" y="4124016"/>
            <a:ext cx="3292800" cy="2492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410" name="Google Shape;410;p46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decreases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osefin Slab"/>
              <a:buAutoNum type="arabicPeriod"/>
            </a:pP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b="1"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b="1" i="1"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6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412" name="Google Shape;412;p46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413" name="Google Shape;413;p46"/>
          <p:cNvCxnSpPr>
            <a:stCxn id="411" idx="3"/>
            <a:endCxn id="412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46"/>
          <p:cNvCxnSpPr>
            <a:stCxn id="411" idx="3"/>
            <a:endCxn id="415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46"/>
          <p:cNvCxnSpPr>
            <a:stCxn id="415" idx="2"/>
            <a:endCxn id="412" idx="0"/>
          </p:cNvCxnSpPr>
          <p:nvPr/>
        </p:nvCxnSpPr>
        <p:spPr>
          <a:xfrm>
            <a:off x="3116697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15" name="Google Shape;415;p46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417" name="Google Shape;417;p46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418" name="Google Shape;418;p46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419" name="Google Shape;419;p46"/>
          <p:cNvCxnSpPr>
            <a:stCxn id="417" idx="3"/>
            <a:endCxn id="418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20" name="Google Shape;420;p46"/>
          <p:cNvCxnSpPr>
            <a:stCxn id="417" idx="3"/>
            <a:endCxn id="421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2" name="Google Shape;422;p46"/>
          <p:cNvCxnSpPr>
            <a:stCxn id="421" idx="2"/>
            <a:endCxn id="418" idx="0"/>
          </p:cNvCxnSpPr>
          <p:nvPr/>
        </p:nvCxnSpPr>
        <p:spPr>
          <a:xfrm>
            <a:off x="3222197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21" name="Google Shape;421;p46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423" name="Google Shape;423;p46"/>
          <p:cNvSpPr/>
          <p:nvPr/>
        </p:nvSpPr>
        <p:spPr>
          <a:xfrm>
            <a:off x="665324" y="1600200"/>
            <a:ext cx="3292800" cy="2492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Distal measures of balance (Bonacich and Lloyd 2004)</a:t>
            </a:r>
            <a:endParaRPr/>
          </a:p>
        </p:txBody>
      </p:sp>
      <p:sp>
        <p:nvSpPr>
          <p:cNvPr id="429" name="Google Shape;429;p47"/>
          <p:cNvSpPr txBox="1"/>
          <p:nvPr>
            <p:ph idx="2" type="body"/>
          </p:nvPr>
        </p:nvSpPr>
        <p:spPr>
          <a:xfrm>
            <a:off x="3958124" y="1600200"/>
            <a:ext cx="4728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friends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with a high status individual increases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Friends of enemies are enemies: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positive connection to a disvalued individual decreases one's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AutoNum type="arabicPeriod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Enemies of enemies are friends: </a:t>
            </a:r>
            <a:r>
              <a:rPr i="1" lang="en" sz="2200">
                <a:latin typeface="Josefin Slab"/>
                <a:ea typeface="Josefin Slab"/>
                <a:cs typeface="Josefin Slab"/>
                <a:sym typeface="Josefin Slab"/>
              </a:rPr>
              <a:t>A negative relation to a disvalued individual increases one status.</a:t>
            </a:r>
            <a:endParaRPr i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osefin Slab"/>
              <a:buAutoNum type="arabicPeriod"/>
            </a:pPr>
            <a:r>
              <a:rPr b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Enemies of friends are enemies: </a:t>
            </a:r>
            <a:r>
              <a:rPr b="1" i="1" lang="en" sz="2200">
                <a:solidFill>
                  <a:srgbClr val="0000FF"/>
                </a:solidFill>
                <a:latin typeface="Josefin Slab"/>
                <a:ea typeface="Josefin Slab"/>
                <a:cs typeface="Josefin Slab"/>
                <a:sym typeface="Josefin Slab"/>
              </a:rPr>
              <a:t>A negative relation to a high status individual reduces one's status.</a:t>
            </a:r>
            <a:endParaRPr b="1" i="1" sz="2200">
              <a:solidFill>
                <a:srgbClr val="0000FF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7"/>
          <p:cNvSpPr txBox="1"/>
          <p:nvPr/>
        </p:nvSpPr>
        <p:spPr>
          <a:xfrm>
            <a:off x="820504" y="623631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431" name="Google Shape;431;p47"/>
          <p:cNvSpPr txBox="1"/>
          <p:nvPr/>
        </p:nvSpPr>
        <p:spPr>
          <a:xfrm>
            <a:off x="2918215" y="621861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432" name="Google Shape;432;p47"/>
          <p:cNvCxnSpPr>
            <a:stCxn id="430" idx="3"/>
            <a:endCxn id="431" idx="1"/>
          </p:cNvCxnSpPr>
          <p:nvPr/>
        </p:nvCxnSpPr>
        <p:spPr>
          <a:xfrm>
            <a:off x="1189504" y="642651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47"/>
          <p:cNvCxnSpPr>
            <a:stCxn id="430" idx="3"/>
            <a:endCxn id="434" idx="2"/>
          </p:cNvCxnSpPr>
          <p:nvPr/>
        </p:nvCxnSpPr>
        <p:spPr>
          <a:xfrm flipH="1" rot="10800000">
            <a:off x="1189504" y="472161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47"/>
          <p:cNvCxnSpPr>
            <a:stCxn id="434" idx="2"/>
            <a:endCxn id="431" idx="0"/>
          </p:cNvCxnSpPr>
          <p:nvPr/>
        </p:nvCxnSpPr>
        <p:spPr>
          <a:xfrm>
            <a:off x="3116697" y="472155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34" name="Google Shape;434;p47"/>
          <p:cNvSpPr/>
          <p:nvPr/>
        </p:nvSpPr>
        <p:spPr>
          <a:xfrm>
            <a:off x="2558396" y="423345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436" name="Google Shape;436;p47"/>
          <p:cNvSpPr txBox="1"/>
          <p:nvPr/>
        </p:nvSpPr>
        <p:spPr>
          <a:xfrm>
            <a:off x="926004" y="3668966"/>
            <a:ext cx="369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</a:t>
            </a:r>
            <a:endParaRPr sz="2400"/>
          </a:p>
        </p:txBody>
      </p:sp>
      <p:sp>
        <p:nvSpPr>
          <p:cNvPr id="437" name="Google Shape;437;p47"/>
          <p:cNvSpPr txBox="1"/>
          <p:nvPr/>
        </p:nvSpPr>
        <p:spPr>
          <a:xfrm>
            <a:off x="3023715" y="3651266"/>
            <a:ext cx="4410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</a:t>
            </a:r>
            <a:endParaRPr sz="2400"/>
          </a:p>
        </p:txBody>
      </p:sp>
      <p:cxnSp>
        <p:nvCxnSpPr>
          <p:cNvPr id="438" name="Google Shape;438;p47"/>
          <p:cNvCxnSpPr>
            <a:stCxn id="436" idx="3"/>
            <a:endCxn id="437" idx="1"/>
          </p:cNvCxnSpPr>
          <p:nvPr/>
        </p:nvCxnSpPr>
        <p:spPr>
          <a:xfrm>
            <a:off x="1295004" y="3859166"/>
            <a:ext cx="172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39" name="Google Shape;439;p47"/>
          <p:cNvCxnSpPr>
            <a:stCxn id="436" idx="3"/>
            <a:endCxn id="440" idx="2"/>
          </p:cNvCxnSpPr>
          <p:nvPr/>
        </p:nvCxnSpPr>
        <p:spPr>
          <a:xfrm flipH="1" rot="10800000">
            <a:off x="1295004" y="2154266"/>
            <a:ext cx="1927200" cy="1704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47"/>
          <p:cNvCxnSpPr>
            <a:stCxn id="440" idx="2"/>
            <a:endCxn id="437" idx="0"/>
          </p:cNvCxnSpPr>
          <p:nvPr/>
        </p:nvCxnSpPr>
        <p:spPr>
          <a:xfrm>
            <a:off x="3222197" y="2154204"/>
            <a:ext cx="21900" cy="1497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40" name="Google Shape;440;p47"/>
          <p:cNvSpPr/>
          <p:nvPr/>
        </p:nvSpPr>
        <p:spPr>
          <a:xfrm>
            <a:off x="2663896" y="1666104"/>
            <a:ext cx="1116600" cy="488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Group</a:t>
            </a:r>
            <a:endParaRPr sz="2400"/>
          </a:p>
        </p:txBody>
      </p:sp>
      <p:sp>
        <p:nvSpPr>
          <p:cNvPr id="442" name="Google Shape;442;p47"/>
          <p:cNvSpPr/>
          <p:nvPr/>
        </p:nvSpPr>
        <p:spPr>
          <a:xfrm>
            <a:off x="665324" y="4124016"/>
            <a:ext cx="3292800" cy="24927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Clustering Coefficient (Again)</a:t>
            </a:r>
            <a:endParaRPr/>
          </a:p>
        </p:txBody>
      </p:sp>
      <p:sp>
        <p:nvSpPr>
          <p:cNvPr id="448" name="Google Shape;448;p4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One place to begin is with the simple clustering coefficient at the ego-network level: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Where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g</a:t>
            </a:r>
            <a:r>
              <a:rPr baseline="-25000" i="1" lang="en">
                <a:latin typeface="Josefin Slab"/>
                <a:ea typeface="Josefin Slab"/>
                <a:cs typeface="Josefin Slab"/>
                <a:sym typeface="Josefin Slab"/>
              </a:rPr>
              <a:t>jk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= 1 if i's j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neighbor is connected to her k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th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neighbor, and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baseline="-25000" i="1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i's total number of neighbors.</a:t>
            </a:r>
            <a:endParaRPr baseline="300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075" y="3092425"/>
            <a:ext cx="26098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(global) clustering coefficient</a:t>
            </a:r>
            <a:endParaRPr/>
          </a:p>
        </p:txBody>
      </p:sp>
      <p:sp>
        <p:nvSpPr>
          <p:cNvPr id="455" name="Google Shape;455;p4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can then characterize the global network structure by computing: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Average Clustering Coefficient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480"/>
              </a:spcBef>
              <a:spcAft>
                <a:spcPts val="0"/>
              </a:spcAft>
              <a:buSzPts val="2400"/>
              <a:buAutoNum type="alpha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Ascertaining the relationship between k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and C(k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) (vertex degree and the average clustering for vertices of degree k)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Strong Negative dependence of C(k) on k may indicate that the network relies on hubs as connectors between disparate worlds.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56" name="Google Shape;4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014" y="2595936"/>
            <a:ext cx="1628708" cy="879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Chains of Affection</a:t>
            </a:r>
            <a:endParaRPr/>
          </a:p>
        </p:txBody>
      </p:sp>
      <p:pic>
        <p:nvPicPr>
          <p:cNvPr id="462" name="Google Shape;46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087450"/>
            <a:ext cx="5344181" cy="413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381" y="1731900"/>
            <a:ext cx="3048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381" y="3924100"/>
            <a:ext cx="304800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Chains of Affection</a:t>
            </a:r>
            <a:endParaRPr/>
          </a:p>
        </p:txBody>
      </p:sp>
      <p:pic>
        <p:nvPicPr>
          <p:cNvPr id="470" name="Google Shape;47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087450"/>
            <a:ext cx="5344181" cy="413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381" y="1731900"/>
            <a:ext cx="3048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381" y="3924100"/>
            <a:ext cx="3048000" cy="196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" name="Google Shape;473;p51"/>
          <p:cNvCxnSpPr/>
          <p:nvPr/>
        </p:nvCxnSpPr>
        <p:spPr>
          <a:xfrm>
            <a:off x="6646975" y="2329950"/>
            <a:ext cx="1143000" cy="7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474" name="Google Shape;474;p51"/>
          <p:cNvSpPr/>
          <p:nvPr/>
        </p:nvSpPr>
        <p:spPr>
          <a:xfrm>
            <a:off x="7003075" y="1943100"/>
            <a:ext cx="430800" cy="65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Chains of Affection</a:t>
            </a:r>
            <a:endParaRPr/>
          </a:p>
        </p:txBody>
      </p:sp>
      <p:pic>
        <p:nvPicPr>
          <p:cNvPr id="480" name="Google Shape;48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087450"/>
            <a:ext cx="5344181" cy="4134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381" y="1731900"/>
            <a:ext cx="3048000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1381" y="3924100"/>
            <a:ext cx="3048000" cy="196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3" name="Google Shape;483;p52"/>
          <p:cNvCxnSpPr/>
          <p:nvPr/>
        </p:nvCxnSpPr>
        <p:spPr>
          <a:xfrm>
            <a:off x="6646975" y="2329950"/>
            <a:ext cx="1143000" cy="78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52"/>
          <p:cNvCxnSpPr/>
          <p:nvPr/>
        </p:nvCxnSpPr>
        <p:spPr>
          <a:xfrm flipH="1" rot="10800000">
            <a:off x="6664575" y="4528050"/>
            <a:ext cx="1169400" cy="773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485" name="Google Shape;485;p52"/>
          <p:cNvSpPr/>
          <p:nvPr/>
        </p:nvSpPr>
        <p:spPr>
          <a:xfrm>
            <a:off x="7003075" y="1943100"/>
            <a:ext cx="430800" cy="65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2"/>
          <p:cNvSpPr/>
          <p:nvPr/>
        </p:nvSpPr>
        <p:spPr>
          <a:xfrm>
            <a:off x="7003075" y="4091350"/>
            <a:ext cx="430800" cy="65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