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9144000"/>
  <p:notesSz cx="6858000" cy="9144000"/>
  <p:embeddedFontLst>
    <p:embeddedFont>
      <p:font typeface="Josefin Slab"/>
      <p:regular r:id="rId52"/>
      <p:bold r:id="rId53"/>
      <p:italic r:id="rId54"/>
      <p:boldItalic r:id="rId55"/>
    </p:embeddedFont>
    <p:embeddedFont>
      <p:font typeface="Junge"/>
      <p:regular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5887AA-ECD4-4677-93DA-4F874D97ADAE}">
  <a:tblStyle styleId="{1D5887AA-ECD4-4677-93DA-4F874D97AD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JosefinSlab-bold.fntdata"/><Relationship Id="rId52" Type="http://schemas.openxmlformats.org/officeDocument/2006/relationships/font" Target="fonts/JosefinSlab-regular.fntdata"/><Relationship Id="rId11" Type="http://schemas.openxmlformats.org/officeDocument/2006/relationships/slide" Target="slides/slide5.xml"/><Relationship Id="rId55" Type="http://schemas.openxmlformats.org/officeDocument/2006/relationships/font" Target="fonts/JosefinSlab-boldItalic.fntdata"/><Relationship Id="rId10" Type="http://schemas.openxmlformats.org/officeDocument/2006/relationships/slide" Target="slides/slide4.xml"/><Relationship Id="rId54" Type="http://schemas.openxmlformats.org/officeDocument/2006/relationships/font" Target="fonts/JosefinSlab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Junge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7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/>
          <p:nvPr>
            <p:ph idx="2" type="sldImg"/>
          </p:nvPr>
        </p:nvSpPr>
        <p:spPr>
          <a:xfrm>
            <a:off x="1143227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db9c82a_041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adb9c82a_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79513960_054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79513960_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79513960_074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79513960_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79513960_088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479513960_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79513960_0102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79513960_0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79513960_0115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79513960_0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79513960_0128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79513960_0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479513960_0141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479513960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79513960_05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79513960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479513960_011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479513960_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479513960_018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479513960_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79513960_026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479513960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79513960_0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479513960_0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da2cf35c_00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da2cf35c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da2cf35c_011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da2cf35c_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9742c2f4_20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9742c2f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9742c2f4_26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9742c2f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9742c2f4_212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9742c2f4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9742c2f4_218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9742c2f4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9742c2f4_224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9742c2f4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9742c2f4_429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9742c2f4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9742c2f4_230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9742c2f4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9742c2f4_236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9742c2f4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9742c2f4_2158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9742c2f4_2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474eedbe0_020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474eedbe0_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9742c2f4_2167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9742c2f4_2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9742c2f4_2176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9742c2f4_2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9742c2f4_2123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9742c2f4_2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9742c2f4_2130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9742c2f4_2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9742c2f4_2137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9742c2f4_2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9742c2f4_2144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9742c2f4_2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da2cf35c_018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da2cf35c_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da2cf35c_026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da2cf35c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da2cf35c_033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da2cf35c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da2cf35c_040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da2cf35c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9742c2f4_297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9742c2f4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9742c2f4_2298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19742c2f4_2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9742c2f4_2327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9742c2f4_2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9742c2f4_4116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9742c2f4_4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9742c2f4_4147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9742c2f4_4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9742c2f4_4207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9742c2f4_4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9742c2f4_4165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9742c2f4_4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9742c2f4_4122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9742c2f4_4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9742c2f4_4187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9742c2f4_4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57200" y="1600200"/>
            <a:ext cx="8229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small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722313" y="2906713"/>
            <a:ext cx="77724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457200" y="1600200"/>
            <a:ext cx="4038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648200" y="1600200"/>
            <a:ext cx="4038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57200" y="1535113"/>
            <a:ext cx="4040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65" name="Google Shape;65;p13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66" name="Google Shape;66;p13"/>
          <p:cNvSpPr txBox="1"/>
          <p:nvPr>
            <p:ph idx="3" type="body"/>
          </p:nvPr>
        </p:nvSpPr>
        <p:spPr>
          <a:xfrm>
            <a:off x="4645025" y="1535113"/>
            <a:ext cx="404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67" name="Google Shape;67;p13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68" name="Google Shape;68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3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9pPr>
          </a:lstStyle>
          <a:p/>
        </p:txBody>
      </p:sp>
      <p:sp>
        <p:nvSpPr>
          <p:cNvPr id="83" name="Google Shape;83;p16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 rot="5400000">
            <a:off x="2308800" y="-251400"/>
            <a:ext cx="45264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457200" y="1600200"/>
            <a:ext cx="8229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processes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Triadic configurations exhibit properties not reducible to (but still dependent on) dyadic processes (Simmel 1908)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"Simplest" configuration that exhibit "group" properties (e.g. factionalization, alliance formation, brokerage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series of behavioral theories in social science rely on triadic processes: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Structural Balance Theory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Granovetter's "Strength of Weak Ties" (SWT) theory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Power-dependence Exchange Theories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Brokerage Theories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Structural Holes (SH) Theory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in complex networks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Link between micro-processes and macro-signatures of complex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Micro-process: "friends of friends become friends."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Macro-signature: Global clustering coefficient deviates significantly from that characteristic of random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has implications for: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Diffusion dynamics within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Overall cohesion within the social structure (e.g. Community structure)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Brokerage and information control opportunities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Innovation and the generation of novel ideas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Triads: Six triples</a:t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4248700" y="1989675"/>
            <a:ext cx="646500" cy="6186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24" name="Google Shape;124;p22"/>
          <p:cNvSpPr/>
          <p:nvPr/>
        </p:nvSpPr>
        <p:spPr>
          <a:xfrm>
            <a:off x="6374725" y="4250025"/>
            <a:ext cx="646500" cy="6186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25" name="Google Shape;125;p22"/>
          <p:cNvSpPr/>
          <p:nvPr/>
        </p:nvSpPr>
        <p:spPr>
          <a:xfrm>
            <a:off x="2122775" y="4250025"/>
            <a:ext cx="646500" cy="6186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Triads: Six triples</a:t>
            </a:r>
            <a:endParaRPr/>
          </a:p>
        </p:txBody>
      </p:sp>
      <p:sp>
        <p:nvSpPr>
          <p:cNvPr id="131" name="Google Shape;131;p23"/>
          <p:cNvSpPr/>
          <p:nvPr/>
        </p:nvSpPr>
        <p:spPr>
          <a:xfrm>
            <a:off x="4248700" y="198967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32" name="Google Shape;132;p23"/>
          <p:cNvSpPr/>
          <p:nvPr/>
        </p:nvSpPr>
        <p:spPr>
          <a:xfrm>
            <a:off x="637472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33" name="Google Shape;133;p23"/>
          <p:cNvSpPr/>
          <p:nvPr/>
        </p:nvSpPr>
        <p:spPr>
          <a:xfrm>
            <a:off x="212277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134" name="Google Shape;134;p23"/>
          <p:cNvCxnSpPr>
            <a:stCxn id="133" idx="6"/>
            <a:endCxn id="131" idx="4"/>
          </p:cNvCxnSpPr>
          <p:nvPr/>
        </p:nvCxnSpPr>
        <p:spPr>
          <a:xfrm flipH="1" rot="10800000">
            <a:off x="2769275" y="2608425"/>
            <a:ext cx="1802700" cy="195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" name="Google Shape;135;p23"/>
          <p:cNvCxnSpPr>
            <a:stCxn id="132" idx="2"/>
            <a:endCxn id="131" idx="4"/>
          </p:cNvCxnSpPr>
          <p:nvPr/>
        </p:nvCxnSpPr>
        <p:spPr>
          <a:xfrm rot="10800000">
            <a:off x="4572025" y="2608425"/>
            <a:ext cx="1802700" cy="195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" name="Google Shape;136;p23"/>
          <p:cNvCxnSpPr>
            <a:stCxn id="133" idx="6"/>
            <a:endCxn id="132" idx="2"/>
          </p:cNvCxnSpPr>
          <p:nvPr/>
        </p:nvCxnSpPr>
        <p:spPr>
          <a:xfrm>
            <a:off x="2769275" y="4559325"/>
            <a:ext cx="360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7" name="Google Shape;137;p23"/>
          <p:cNvSpPr txBox="1"/>
          <p:nvPr/>
        </p:nvSpPr>
        <p:spPr>
          <a:xfrm>
            <a:off x="1068050" y="2173575"/>
            <a:ext cx="4311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Triads: Six triples</a:t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4248700" y="198967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44" name="Google Shape;144;p24"/>
          <p:cNvSpPr/>
          <p:nvPr/>
        </p:nvSpPr>
        <p:spPr>
          <a:xfrm>
            <a:off x="637472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45" name="Google Shape;145;p24"/>
          <p:cNvSpPr/>
          <p:nvPr/>
        </p:nvSpPr>
        <p:spPr>
          <a:xfrm>
            <a:off x="212277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146" name="Google Shape;146;p24"/>
          <p:cNvCxnSpPr>
            <a:stCxn id="145" idx="6"/>
            <a:endCxn id="143" idx="4"/>
          </p:cNvCxnSpPr>
          <p:nvPr/>
        </p:nvCxnSpPr>
        <p:spPr>
          <a:xfrm flipH="1" rot="10800000">
            <a:off x="2769275" y="2608425"/>
            <a:ext cx="1802700" cy="195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" name="Google Shape;147;p24"/>
          <p:cNvCxnSpPr>
            <a:stCxn id="144" idx="1"/>
            <a:endCxn id="143" idx="5"/>
          </p:cNvCxnSpPr>
          <p:nvPr/>
        </p:nvCxnSpPr>
        <p:spPr>
          <a:xfrm rot="10800000">
            <a:off x="4800503" y="2517817"/>
            <a:ext cx="1668900" cy="182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8" name="Google Shape;148;p24"/>
          <p:cNvCxnSpPr>
            <a:stCxn id="145" idx="6"/>
            <a:endCxn id="144" idx="2"/>
          </p:cNvCxnSpPr>
          <p:nvPr/>
        </p:nvCxnSpPr>
        <p:spPr>
          <a:xfrm>
            <a:off x="2769275" y="4559325"/>
            <a:ext cx="360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" name="Google Shape;149;p24"/>
          <p:cNvSpPr txBox="1"/>
          <p:nvPr/>
        </p:nvSpPr>
        <p:spPr>
          <a:xfrm>
            <a:off x="1068050" y="2173575"/>
            <a:ext cx="4311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Triads: Six triples</a:t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4248700" y="198967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56" name="Google Shape;156;p25"/>
          <p:cNvSpPr/>
          <p:nvPr/>
        </p:nvSpPr>
        <p:spPr>
          <a:xfrm>
            <a:off x="637472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57" name="Google Shape;157;p25"/>
          <p:cNvSpPr/>
          <p:nvPr/>
        </p:nvSpPr>
        <p:spPr>
          <a:xfrm>
            <a:off x="212277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158" name="Google Shape;158;p25"/>
          <p:cNvCxnSpPr>
            <a:stCxn id="157" idx="7"/>
            <a:endCxn id="155" idx="3"/>
          </p:cNvCxnSpPr>
          <p:nvPr/>
        </p:nvCxnSpPr>
        <p:spPr>
          <a:xfrm flipH="1" rot="10800000">
            <a:off x="2674597" y="2517817"/>
            <a:ext cx="1668900" cy="182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9" name="Google Shape;159;p25"/>
          <p:cNvCxnSpPr>
            <a:stCxn id="156" idx="2"/>
            <a:endCxn id="155" idx="4"/>
          </p:cNvCxnSpPr>
          <p:nvPr/>
        </p:nvCxnSpPr>
        <p:spPr>
          <a:xfrm rot="10800000">
            <a:off x="4572025" y="2608425"/>
            <a:ext cx="1802700" cy="195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0" name="Google Shape;160;p25"/>
          <p:cNvSpPr txBox="1"/>
          <p:nvPr/>
        </p:nvSpPr>
        <p:spPr>
          <a:xfrm>
            <a:off x="1068050" y="2173575"/>
            <a:ext cx="4311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3</a:t>
            </a:r>
            <a:endParaRPr sz="2400"/>
          </a:p>
        </p:txBody>
      </p:sp>
      <p:cxnSp>
        <p:nvCxnSpPr>
          <p:cNvPr id="161" name="Google Shape;161;p25"/>
          <p:cNvCxnSpPr>
            <a:stCxn id="162" idx="6"/>
            <a:endCxn id="163" idx="2"/>
          </p:cNvCxnSpPr>
          <p:nvPr/>
        </p:nvCxnSpPr>
        <p:spPr>
          <a:xfrm>
            <a:off x="2769275" y="4559175"/>
            <a:ext cx="360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Triads: Six triples</a:t>
            </a:r>
            <a:endParaRPr/>
          </a:p>
        </p:txBody>
      </p:sp>
      <p:sp>
        <p:nvSpPr>
          <p:cNvPr id="169" name="Google Shape;169;p26"/>
          <p:cNvSpPr/>
          <p:nvPr/>
        </p:nvSpPr>
        <p:spPr>
          <a:xfrm>
            <a:off x="4248700" y="198967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70" name="Google Shape;170;p26"/>
          <p:cNvSpPr/>
          <p:nvPr/>
        </p:nvSpPr>
        <p:spPr>
          <a:xfrm>
            <a:off x="637472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71" name="Google Shape;171;p26"/>
          <p:cNvSpPr/>
          <p:nvPr/>
        </p:nvSpPr>
        <p:spPr>
          <a:xfrm>
            <a:off x="212277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172" name="Google Shape;172;p26"/>
          <p:cNvCxnSpPr>
            <a:stCxn id="171" idx="7"/>
            <a:endCxn id="169" idx="3"/>
          </p:cNvCxnSpPr>
          <p:nvPr/>
        </p:nvCxnSpPr>
        <p:spPr>
          <a:xfrm flipH="1" rot="10800000">
            <a:off x="2674597" y="2517817"/>
            <a:ext cx="1668900" cy="182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3" name="Google Shape;173;p26"/>
          <p:cNvCxnSpPr>
            <a:stCxn id="170" idx="2"/>
            <a:endCxn id="169" idx="4"/>
          </p:cNvCxnSpPr>
          <p:nvPr/>
        </p:nvCxnSpPr>
        <p:spPr>
          <a:xfrm rot="10800000">
            <a:off x="4572025" y="2608425"/>
            <a:ext cx="1802700" cy="195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4" name="Google Shape;174;p26"/>
          <p:cNvCxnSpPr>
            <a:stCxn id="171" idx="5"/>
            <a:endCxn id="170" idx="3"/>
          </p:cNvCxnSpPr>
          <p:nvPr/>
        </p:nvCxnSpPr>
        <p:spPr>
          <a:xfrm>
            <a:off x="2674597" y="4778033"/>
            <a:ext cx="3794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75" name="Google Shape;175;p26"/>
          <p:cNvSpPr txBox="1"/>
          <p:nvPr/>
        </p:nvSpPr>
        <p:spPr>
          <a:xfrm>
            <a:off x="1068050" y="2173575"/>
            <a:ext cx="4311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4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Triads: Six triples</a:t>
            </a:r>
            <a:endParaRPr/>
          </a:p>
        </p:txBody>
      </p:sp>
      <p:sp>
        <p:nvSpPr>
          <p:cNvPr id="181" name="Google Shape;181;p27"/>
          <p:cNvSpPr/>
          <p:nvPr/>
        </p:nvSpPr>
        <p:spPr>
          <a:xfrm>
            <a:off x="4248700" y="198967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82" name="Google Shape;182;p27"/>
          <p:cNvSpPr/>
          <p:nvPr/>
        </p:nvSpPr>
        <p:spPr>
          <a:xfrm>
            <a:off x="637472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83" name="Google Shape;183;p27"/>
          <p:cNvSpPr/>
          <p:nvPr/>
        </p:nvSpPr>
        <p:spPr>
          <a:xfrm>
            <a:off x="212277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184" name="Google Shape;184;p27"/>
          <p:cNvCxnSpPr>
            <a:stCxn id="183" idx="7"/>
            <a:endCxn id="181" idx="3"/>
          </p:cNvCxnSpPr>
          <p:nvPr/>
        </p:nvCxnSpPr>
        <p:spPr>
          <a:xfrm flipH="1" rot="10800000">
            <a:off x="2674597" y="2517817"/>
            <a:ext cx="1668900" cy="182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5" name="Google Shape;185;p27"/>
          <p:cNvCxnSpPr>
            <a:stCxn id="182" idx="1"/>
            <a:endCxn id="181" idx="5"/>
          </p:cNvCxnSpPr>
          <p:nvPr/>
        </p:nvCxnSpPr>
        <p:spPr>
          <a:xfrm rot="10800000">
            <a:off x="4800503" y="2517817"/>
            <a:ext cx="1668900" cy="182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" name="Google Shape;186;p27"/>
          <p:cNvCxnSpPr>
            <a:stCxn id="183" idx="5"/>
            <a:endCxn id="182" idx="3"/>
          </p:cNvCxnSpPr>
          <p:nvPr/>
        </p:nvCxnSpPr>
        <p:spPr>
          <a:xfrm>
            <a:off x="2674597" y="4778033"/>
            <a:ext cx="3794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87" name="Google Shape;187;p27"/>
          <p:cNvSpPr txBox="1"/>
          <p:nvPr/>
        </p:nvSpPr>
        <p:spPr>
          <a:xfrm>
            <a:off x="1068050" y="2173575"/>
            <a:ext cx="4311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5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Triads: Six triples</a:t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>
            <a:off x="4248700" y="198967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94" name="Google Shape;194;p28"/>
          <p:cNvSpPr/>
          <p:nvPr/>
        </p:nvSpPr>
        <p:spPr>
          <a:xfrm>
            <a:off x="637472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95" name="Google Shape;195;p28"/>
          <p:cNvSpPr/>
          <p:nvPr/>
        </p:nvSpPr>
        <p:spPr>
          <a:xfrm>
            <a:off x="2122775" y="4250025"/>
            <a:ext cx="646500" cy="618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196" name="Google Shape;196;p28"/>
          <p:cNvCxnSpPr>
            <a:stCxn id="195" idx="7"/>
            <a:endCxn id="193" idx="3"/>
          </p:cNvCxnSpPr>
          <p:nvPr/>
        </p:nvCxnSpPr>
        <p:spPr>
          <a:xfrm flipH="1" rot="10800000">
            <a:off x="2674597" y="2517817"/>
            <a:ext cx="1668900" cy="182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7" name="Google Shape;197;p28"/>
          <p:cNvCxnSpPr>
            <a:stCxn id="194" idx="1"/>
            <a:endCxn id="193" idx="5"/>
          </p:cNvCxnSpPr>
          <p:nvPr/>
        </p:nvCxnSpPr>
        <p:spPr>
          <a:xfrm rot="10800000">
            <a:off x="4800503" y="2517817"/>
            <a:ext cx="1668900" cy="182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p28"/>
          <p:cNvCxnSpPr>
            <a:stCxn id="195" idx="6"/>
            <a:endCxn id="194" idx="2"/>
          </p:cNvCxnSpPr>
          <p:nvPr/>
        </p:nvCxnSpPr>
        <p:spPr>
          <a:xfrm>
            <a:off x="2769275" y="4559325"/>
            <a:ext cx="360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" name="Google Shape;199;p28"/>
          <p:cNvSpPr txBox="1"/>
          <p:nvPr/>
        </p:nvSpPr>
        <p:spPr>
          <a:xfrm>
            <a:off x="1068050" y="2173575"/>
            <a:ext cx="4311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6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 census</a:t>
            </a:r>
            <a:endParaRPr/>
          </a:p>
        </p:txBody>
      </p:sp>
      <p:pic>
        <p:nvPicPr>
          <p:cNvPr descr="1-s2.0-S0378873301000351-gr1.jpg"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875" y="1565978"/>
            <a:ext cx="4723542" cy="4180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 census (balance)</a:t>
            </a:r>
            <a:endParaRPr/>
          </a:p>
        </p:txBody>
      </p:sp>
      <p:pic>
        <p:nvPicPr>
          <p:cNvPr descr="1-s2.0-S0378873301000351-gr1.jpg" id="211" name="Google Shape;2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875" y="1565978"/>
            <a:ext cx="4723542" cy="4180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/>
          <p:nvPr/>
        </p:nvSpPr>
        <p:spPr>
          <a:xfrm>
            <a:off x="1236700" y="1597575"/>
            <a:ext cx="3260400" cy="501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0"/>
          <p:cNvSpPr/>
          <p:nvPr/>
        </p:nvSpPr>
        <p:spPr>
          <a:xfrm>
            <a:off x="4819800" y="2801300"/>
            <a:ext cx="1172100" cy="378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0"/>
          <p:cNvSpPr/>
          <p:nvPr/>
        </p:nvSpPr>
        <p:spPr>
          <a:xfrm>
            <a:off x="6314600" y="1565975"/>
            <a:ext cx="1250400" cy="378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 census (clustering)</a:t>
            </a:r>
            <a:endParaRPr/>
          </a:p>
        </p:txBody>
      </p:sp>
      <p:pic>
        <p:nvPicPr>
          <p:cNvPr descr="1-s2.0-S0378873301000351-gr1.jpg" id="220" name="Google Shape;2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875" y="1565978"/>
            <a:ext cx="4723542" cy="4180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/>
          <p:nvPr/>
        </p:nvSpPr>
        <p:spPr>
          <a:xfrm>
            <a:off x="1236700" y="2832975"/>
            <a:ext cx="3260400" cy="378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1"/>
          <p:cNvSpPr/>
          <p:nvPr/>
        </p:nvSpPr>
        <p:spPr>
          <a:xfrm>
            <a:off x="6314600" y="1565975"/>
            <a:ext cx="1250400" cy="378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1"/>
          <p:cNvSpPr/>
          <p:nvPr/>
        </p:nvSpPr>
        <p:spPr>
          <a:xfrm>
            <a:off x="4819800" y="2801300"/>
            <a:ext cx="1172100" cy="378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1"/>
          <p:cNvSpPr/>
          <p:nvPr/>
        </p:nvSpPr>
        <p:spPr>
          <a:xfrm>
            <a:off x="3227875" y="1565975"/>
            <a:ext cx="1143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 census (ranked clustering)</a:t>
            </a:r>
            <a:endParaRPr/>
          </a:p>
        </p:txBody>
      </p:sp>
      <p:pic>
        <p:nvPicPr>
          <p:cNvPr descr="1-s2.0-S0378873301000351-gr1.jpg" id="230" name="Google Shape;23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875" y="1565978"/>
            <a:ext cx="4723542" cy="4180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2"/>
          <p:cNvSpPr/>
          <p:nvPr/>
        </p:nvSpPr>
        <p:spPr>
          <a:xfrm>
            <a:off x="3016775" y="1597575"/>
            <a:ext cx="1480200" cy="501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6220925" y="1565975"/>
            <a:ext cx="1344000" cy="245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2"/>
          <p:cNvSpPr/>
          <p:nvPr/>
        </p:nvSpPr>
        <p:spPr>
          <a:xfrm>
            <a:off x="4819800" y="2801300"/>
            <a:ext cx="1172100" cy="378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700" y="181750"/>
            <a:ext cx="2905171" cy="2426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251" y="3154001"/>
            <a:ext cx="3459743" cy="2426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33"/>
          <p:cNvCxnSpPr/>
          <p:nvPr/>
        </p:nvCxnSpPr>
        <p:spPr>
          <a:xfrm flipH="1" rot="10800000">
            <a:off x="4126800" y="4763425"/>
            <a:ext cx="738000" cy="14700"/>
          </a:xfrm>
          <a:prstGeom prst="straightConnector1">
            <a:avLst/>
          </a:prstGeom>
          <a:noFill/>
          <a:ln cap="flat" cmpd="sng" w="38100">
            <a:solidFill>
              <a:srgbClr val="4A7DBB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41" name="Google Shape;241;p33"/>
          <p:cNvSpPr txBox="1"/>
          <p:nvPr/>
        </p:nvSpPr>
        <p:spPr>
          <a:xfrm>
            <a:off x="292325" y="6165950"/>
            <a:ext cx="356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Observed Adjacency Matrix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5414550" y="6165950"/>
            <a:ext cx="2867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Ideal Adjacency Matrix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4343400" y="3830500"/>
            <a:ext cx="457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000" y="3153999"/>
            <a:ext cx="3351957" cy="2476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Building blocks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set of 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set of (directed) relationships defined on those 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example: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Likes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Dislikes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51" name="Google Shape;2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3972584" cy="228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Considering triads containing directional arcs only simplifies things a bit.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is the key to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balance theory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Solid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lines are positive sentiments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Null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(dashed) lines are negative sentiments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58" name="Google Shape;2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3972584" cy="228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64" name="Google Shape;264;p3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structural balance theory, each vertex in the configuration is given a designation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Person (P):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"The individual whose behavior is being predicted by the theory" (Davis 1963: 445).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3972584" cy="228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71" name="Google Shape;271;p3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structural balance theory, each vertex in the configuration is given a designation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Other (O):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 object (e.g another individual) towards which P is oriented.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72" name="Google Shape;27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3972584" cy="228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78" name="Google Shape;278;p3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structural balance theory, each vertex in the configuration is given a designation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Q: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third object (a value, group or another individual) towards which P and O are oriented.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79" name="Google Shape;2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3972584" cy="228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85" name="Google Shape;285;p3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basic premise of the theory is that people are motivated to seek balance in the triadic configurations in which they are embedded.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3972584" cy="228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92" name="Google Shape;292;p4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is formally defined as the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sign of the product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of the weights attached to each edge in the cycle.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Positive triads are balanced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Negative triads are imbalanced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93" name="Google Shape;2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3972584" cy="228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aphicFrame>
        <p:nvGraphicFramePr>
          <p:cNvPr id="299" name="Google Shape;299;p41"/>
          <p:cNvGraphicFramePr/>
          <p:nvPr/>
        </p:nvGraphicFramePr>
        <p:xfrm>
          <a:off x="952500" y="259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{1D5887AA-ECD4-4677-93DA-4F874D97ADAE}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POQ</a:t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50" marB="9145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41"/>
          <p:cNvSpPr/>
          <p:nvPr/>
        </p:nvSpPr>
        <p:spPr>
          <a:xfrm>
            <a:off x="1346825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1"/>
          <p:cNvSpPr/>
          <p:nvPr/>
        </p:nvSpPr>
        <p:spPr>
          <a:xfrm>
            <a:off x="3370150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1"/>
          <p:cNvSpPr/>
          <p:nvPr/>
        </p:nvSpPr>
        <p:spPr>
          <a:xfrm>
            <a:off x="7472725" y="33780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1"/>
          <p:cNvSpPr/>
          <p:nvPr/>
        </p:nvSpPr>
        <p:spPr>
          <a:xfrm>
            <a:off x="7472725" y="3955763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1"/>
          <p:cNvSpPr/>
          <p:nvPr/>
        </p:nvSpPr>
        <p:spPr>
          <a:xfrm>
            <a:off x="6442700" y="340715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1"/>
          <p:cNvSpPr/>
          <p:nvPr/>
        </p:nvSpPr>
        <p:spPr>
          <a:xfrm>
            <a:off x="6442700" y="3984863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1"/>
          <p:cNvSpPr/>
          <p:nvPr/>
        </p:nvSpPr>
        <p:spPr>
          <a:xfrm>
            <a:off x="6442700" y="455550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1"/>
          <p:cNvSpPr/>
          <p:nvPr/>
        </p:nvSpPr>
        <p:spPr>
          <a:xfrm>
            <a:off x="6442700" y="522625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1"/>
          <p:cNvSpPr/>
          <p:nvPr/>
        </p:nvSpPr>
        <p:spPr>
          <a:xfrm>
            <a:off x="2267250" y="34071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1"/>
          <p:cNvSpPr/>
          <p:nvPr/>
        </p:nvSpPr>
        <p:spPr>
          <a:xfrm>
            <a:off x="2267250" y="3984863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1"/>
          <p:cNvSpPr/>
          <p:nvPr/>
        </p:nvSpPr>
        <p:spPr>
          <a:xfrm>
            <a:off x="2267250" y="455550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1"/>
          <p:cNvSpPr/>
          <p:nvPr/>
        </p:nvSpPr>
        <p:spPr>
          <a:xfrm>
            <a:off x="2267250" y="52262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1"/>
          <p:cNvSpPr/>
          <p:nvPr/>
        </p:nvSpPr>
        <p:spPr>
          <a:xfrm>
            <a:off x="1281275" y="39776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1"/>
          <p:cNvSpPr/>
          <p:nvPr/>
        </p:nvSpPr>
        <p:spPr>
          <a:xfrm>
            <a:off x="3304600" y="5219050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1"/>
          <p:cNvSpPr/>
          <p:nvPr/>
        </p:nvSpPr>
        <p:spPr>
          <a:xfrm>
            <a:off x="4375525" y="33489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1"/>
          <p:cNvSpPr/>
          <p:nvPr/>
        </p:nvSpPr>
        <p:spPr>
          <a:xfrm>
            <a:off x="4375525" y="3926663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1"/>
          <p:cNvSpPr/>
          <p:nvPr/>
        </p:nvSpPr>
        <p:spPr>
          <a:xfrm>
            <a:off x="4375525" y="449730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1"/>
          <p:cNvSpPr/>
          <p:nvPr/>
        </p:nvSpPr>
        <p:spPr>
          <a:xfrm>
            <a:off x="4375525" y="51680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1"/>
          <p:cNvSpPr/>
          <p:nvPr/>
        </p:nvSpPr>
        <p:spPr>
          <a:xfrm>
            <a:off x="5456850" y="3378050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1"/>
          <p:cNvSpPr/>
          <p:nvPr/>
        </p:nvSpPr>
        <p:spPr>
          <a:xfrm>
            <a:off x="7472725" y="4653663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1"/>
          <p:cNvSpPr/>
          <p:nvPr/>
        </p:nvSpPr>
        <p:spPr>
          <a:xfrm>
            <a:off x="7472725" y="52262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1"/>
          <p:cNvSpPr/>
          <p:nvPr/>
        </p:nvSpPr>
        <p:spPr>
          <a:xfrm>
            <a:off x="3304600" y="4006763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1"/>
          <p:cNvSpPr/>
          <p:nvPr/>
        </p:nvSpPr>
        <p:spPr>
          <a:xfrm>
            <a:off x="5456850" y="4013963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1"/>
          <p:cNvSpPr/>
          <p:nvPr/>
        </p:nvSpPr>
        <p:spPr>
          <a:xfrm>
            <a:off x="1281275" y="46464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1"/>
          <p:cNvSpPr/>
          <p:nvPr/>
        </p:nvSpPr>
        <p:spPr>
          <a:xfrm>
            <a:off x="1281275" y="52553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1"/>
          <p:cNvSpPr/>
          <p:nvPr/>
        </p:nvSpPr>
        <p:spPr>
          <a:xfrm>
            <a:off x="3370150" y="4653663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1"/>
          <p:cNvSpPr/>
          <p:nvPr/>
        </p:nvSpPr>
        <p:spPr>
          <a:xfrm>
            <a:off x="5391300" y="4646463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"/>
          <p:cNvSpPr/>
          <p:nvPr/>
        </p:nvSpPr>
        <p:spPr>
          <a:xfrm>
            <a:off x="5391300" y="5219050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33" name="Google Shape;333;p4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is formally defined as the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sign of the product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of the weights attached to each edge in the cycle.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reduced tension and is experienced as satisfactory (stable equilibrium)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34" name="Google Shape;3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3972584" cy="228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40" name="Google Shape;340;p4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is formally defined as the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sign of the product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of the weights attached to each edge in the cycle.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Imbalance is experienced as tension and discomfort (unstable state) that must be resolved (balanced)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41" name="Google Shape;3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3972584" cy="2280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10" y="1836150"/>
            <a:ext cx="6332399" cy="37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48" name="Google Shape;348;p4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  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10" y="1836150"/>
            <a:ext cx="6332399" cy="37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55" name="Google Shape;355;p45"/>
          <p:cNvSpPr txBox="1"/>
          <p:nvPr/>
        </p:nvSpPr>
        <p:spPr>
          <a:xfrm>
            <a:off x="3219350" y="2064750"/>
            <a:ext cx="28194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Republican Party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5"/>
          <p:cNvSpPr txBox="1"/>
          <p:nvPr/>
        </p:nvSpPr>
        <p:spPr>
          <a:xfrm>
            <a:off x="6038750" y="5188950"/>
            <a:ext cx="26670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Clint Eastwood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5"/>
          <p:cNvSpPr txBox="1"/>
          <p:nvPr/>
        </p:nvSpPr>
        <p:spPr>
          <a:xfrm>
            <a:off x="1085750" y="5188950"/>
            <a:ext cx="24384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(You)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10" y="1836150"/>
            <a:ext cx="6332399" cy="37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64" name="Google Shape;364;p4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  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65" name="Google Shape;365;p46"/>
          <p:cNvSpPr txBox="1"/>
          <p:nvPr/>
        </p:nvSpPr>
        <p:spPr>
          <a:xfrm>
            <a:off x="6312975" y="5188950"/>
            <a:ext cx="26670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Smoking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6"/>
          <p:cNvSpPr txBox="1"/>
          <p:nvPr/>
        </p:nvSpPr>
        <p:spPr>
          <a:xfrm>
            <a:off x="1085750" y="5188950"/>
            <a:ext cx="24384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(You)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6"/>
          <p:cNvSpPr txBox="1"/>
          <p:nvPr/>
        </p:nvSpPr>
        <p:spPr>
          <a:xfrm>
            <a:off x="3279100" y="2144850"/>
            <a:ext cx="2239200" cy="51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Cancer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10" y="1836150"/>
            <a:ext cx="6332399" cy="37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74" name="Google Shape;374;p4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  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75" name="Google Shape;375;p47"/>
          <p:cNvSpPr txBox="1"/>
          <p:nvPr/>
        </p:nvSpPr>
        <p:spPr>
          <a:xfrm>
            <a:off x="5927119" y="5188950"/>
            <a:ext cx="30528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(Public Education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7"/>
          <p:cNvSpPr txBox="1"/>
          <p:nvPr/>
        </p:nvSpPr>
        <p:spPr>
          <a:xfrm>
            <a:off x="1085750" y="5188950"/>
            <a:ext cx="24384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(You)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7"/>
          <p:cNvSpPr txBox="1"/>
          <p:nvPr/>
        </p:nvSpPr>
        <p:spPr>
          <a:xfrm>
            <a:off x="3246563" y="2144839"/>
            <a:ext cx="2441100" cy="51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Taxes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83" name="Google Shape;383;p4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If P likes O, and O likes Q, P likes Q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dislikes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O, and O 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 and O dislikes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84" name="Google Shape;38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119563" cy="23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8"/>
          <p:cNvSpPr/>
          <p:nvPr/>
        </p:nvSpPr>
        <p:spPr>
          <a:xfrm>
            <a:off x="1907425" y="366925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91" name="Google Shape;391;p4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If P likes O, and O dislikes Q, P dislikes Q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O, and O 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 and O dislikes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92" name="Google Shape;39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119563" cy="23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9"/>
          <p:cNvSpPr/>
          <p:nvPr/>
        </p:nvSpPr>
        <p:spPr>
          <a:xfrm>
            <a:off x="3232425" y="361100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99" name="Google Shape;399;p5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dislikes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If P dislikes O, and O likes Q, P dislikes Q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 and O dislikes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00" name="Google Shape;40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119563" cy="23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0"/>
          <p:cNvSpPr/>
          <p:nvPr/>
        </p:nvSpPr>
        <p:spPr>
          <a:xfrm>
            <a:off x="4601100" y="3625575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407" name="Google Shape;407;p5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dislikes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O, and O 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If P dislikes O and O dislikes Q, P likes Q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08" name="Google Shape;40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119563" cy="23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1"/>
          <p:cNvSpPr/>
          <p:nvPr/>
        </p:nvSpPr>
        <p:spPr>
          <a:xfrm>
            <a:off x="5926125" y="361100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1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416" name="Google Shape;416;p5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Friend of a friend is a friend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an enemy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 friend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an Enemy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17" name="Google Shape;41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119563" cy="23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2"/>
          <p:cNvSpPr/>
          <p:nvPr/>
        </p:nvSpPr>
        <p:spPr>
          <a:xfrm>
            <a:off x="1907425" y="366925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424" name="Google Shape;424;p5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 friend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Enemy of an Enemy is a friend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an enemy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 friend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25" name="Google Shape;42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119563" cy="23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3"/>
          <p:cNvSpPr/>
          <p:nvPr/>
        </p:nvSpPr>
        <p:spPr>
          <a:xfrm>
            <a:off x="3232425" y="361100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432" name="Google Shape;432;p5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 friend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an Enemy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Friend of an enemy is an enemy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 friend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33" name="Google Shape;43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119563" cy="23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4"/>
          <p:cNvSpPr/>
          <p:nvPr/>
        </p:nvSpPr>
        <p:spPr>
          <a:xfrm>
            <a:off x="4601100" y="3625575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440" name="Google Shape;440;p5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 friend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an Enemy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an enemy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Enemy of a friend is an enemy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41" name="Google Shape;4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119563" cy="23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5"/>
          <p:cNvSpPr/>
          <p:nvPr/>
        </p:nvSpPr>
        <p:spPr>
          <a:xfrm>
            <a:off x="5926125" y="361100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449" name="Google Shape;449;p5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(+  friends; - enemies)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450" name="Google Shape;450;p56"/>
          <p:cNvGraphicFramePr/>
          <p:nvPr/>
        </p:nvGraphicFramePr>
        <p:xfrm>
          <a:off x="952500" y="259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{1D5887AA-ECD4-4677-93DA-4F874D97ADAE}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OX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PX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50" marB="91450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1" name="Google Shape;451;p56"/>
          <p:cNvSpPr/>
          <p:nvPr/>
        </p:nvSpPr>
        <p:spPr>
          <a:xfrm>
            <a:off x="1412375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6"/>
          <p:cNvSpPr/>
          <p:nvPr/>
        </p:nvSpPr>
        <p:spPr>
          <a:xfrm>
            <a:off x="4302150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6"/>
          <p:cNvSpPr/>
          <p:nvPr/>
        </p:nvSpPr>
        <p:spPr>
          <a:xfrm>
            <a:off x="7279300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6"/>
          <p:cNvSpPr/>
          <p:nvPr/>
        </p:nvSpPr>
        <p:spPr>
          <a:xfrm>
            <a:off x="7279300" y="52262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6"/>
          <p:cNvSpPr/>
          <p:nvPr/>
        </p:nvSpPr>
        <p:spPr>
          <a:xfrm>
            <a:off x="4302150" y="3984863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6"/>
          <p:cNvSpPr/>
          <p:nvPr/>
        </p:nvSpPr>
        <p:spPr>
          <a:xfrm>
            <a:off x="1412375" y="455550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6"/>
          <p:cNvSpPr/>
          <p:nvPr/>
        </p:nvSpPr>
        <p:spPr>
          <a:xfrm>
            <a:off x="5809650" y="340715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6"/>
          <p:cNvSpPr/>
          <p:nvPr/>
        </p:nvSpPr>
        <p:spPr>
          <a:xfrm>
            <a:off x="5809650" y="3984863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6"/>
          <p:cNvSpPr/>
          <p:nvPr/>
        </p:nvSpPr>
        <p:spPr>
          <a:xfrm>
            <a:off x="5809650" y="455550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6"/>
          <p:cNvSpPr/>
          <p:nvPr/>
        </p:nvSpPr>
        <p:spPr>
          <a:xfrm>
            <a:off x="5809650" y="522625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6"/>
          <p:cNvSpPr/>
          <p:nvPr/>
        </p:nvSpPr>
        <p:spPr>
          <a:xfrm>
            <a:off x="2926675" y="33780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6"/>
          <p:cNvSpPr/>
          <p:nvPr/>
        </p:nvSpPr>
        <p:spPr>
          <a:xfrm>
            <a:off x="2926675" y="3955763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6"/>
          <p:cNvSpPr/>
          <p:nvPr/>
        </p:nvSpPr>
        <p:spPr>
          <a:xfrm>
            <a:off x="2926675" y="452640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6"/>
          <p:cNvSpPr/>
          <p:nvPr/>
        </p:nvSpPr>
        <p:spPr>
          <a:xfrm>
            <a:off x="2926675" y="51971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6"/>
          <p:cNvSpPr/>
          <p:nvPr/>
        </p:nvSpPr>
        <p:spPr>
          <a:xfrm>
            <a:off x="1346825" y="39776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6"/>
          <p:cNvSpPr/>
          <p:nvPr/>
        </p:nvSpPr>
        <p:spPr>
          <a:xfrm>
            <a:off x="1346825" y="5219050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6"/>
          <p:cNvSpPr/>
          <p:nvPr/>
        </p:nvSpPr>
        <p:spPr>
          <a:xfrm>
            <a:off x="4236600" y="4646463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6"/>
          <p:cNvSpPr/>
          <p:nvPr/>
        </p:nvSpPr>
        <p:spPr>
          <a:xfrm>
            <a:off x="4236600" y="5219050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6"/>
          <p:cNvSpPr/>
          <p:nvPr/>
        </p:nvSpPr>
        <p:spPr>
          <a:xfrm>
            <a:off x="7213750" y="39776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6"/>
          <p:cNvSpPr/>
          <p:nvPr/>
        </p:nvSpPr>
        <p:spPr>
          <a:xfrm>
            <a:off x="7213750" y="46464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pic>
        <p:nvPicPr>
          <p:cNvPr id="476" name="Google Shape;47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725" y="2374350"/>
            <a:ext cx="6328974" cy="273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" name="Google Shape;477;p57"/>
          <p:cNvCxnSpPr/>
          <p:nvPr/>
        </p:nvCxnSpPr>
        <p:spPr>
          <a:xfrm>
            <a:off x="4149750" y="2853850"/>
            <a:ext cx="14700" cy="164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57"/>
          <p:cNvCxnSpPr/>
          <p:nvPr/>
        </p:nvCxnSpPr>
        <p:spPr>
          <a:xfrm>
            <a:off x="4339025" y="2868300"/>
            <a:ext cx="0" cy="167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484" name="Google Shape;484;p58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  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85" name="Google Shape;48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360" y="2046718"/>
            <a:ext cx="3341940" cy="326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8"/>
          <p:cNvSpPr txBox="1"/>
          <p:nvPr/>
        </p:nvSpPr>
        <p:spPr>
          <a:xfrm>
            <a:off x="313054" y="3945900"/>
            <a:ext cx="17901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P(retweeter)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487" name="Google Shape;487;p58"/>
          <p:cNvSpPr txBox="1"/>
          <p:nvPr/>
        </p:nvSpPr>
        <p:spPr>
          <a:xfrm>
            <a:off x="3212161" y="3945900"/>
            <a:ext cx="1657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O(tweeter)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488" name="Google Shape;488;p58"/>
          <p:cNvSpPr txBox="1"/>
          <p:nvPr/>
        </p:nvSpPr>
        <p:spPr>
          <a:xfrm>
            <a:off x="1583475" y="2161018"/>
            <a:ext cx="19002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Q(tweet)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489" name="Google Shape;489;p58"/>
          <p:cNvCxnSpPr>
            <a:stCxn id="486" idx="3"/>
            <a:endCxn id="487" idx="1"/>
          </p:cNvCxnSpPr>
          <p:nvPr/>
        </p:nvCxnSpPr>
        <p:spPr>
          <a:xfrm>
            <a:off x="2103154" y="4182450"/>
            <a:ext cx="1109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58"/>
          <p:cNvCxnSpPr>
            <a:stCxn id="486" idx="0"/>
            <a:endCxn id="488" idx="2"/>
          </p:cNvCxnSpPr>
          <p:nvPr/>
        </p:nvCxnSpPr>
        <p:spPr>
          <a:xfrm flipH="1" rot="10800000">
            <a:off x="1208104" y="2634000"/>
            <a:ext cx="1325400" cy="131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58"/>
          <p:cNvCxnSpPr>
            <a:stCxn id="487" idx="0"/>
            <a:endCxn id="488" idx="2"/>
          </p:cNvCxnSpPr>
          <p:nvPr/>
        </p:nvCxnSpPr>
        <p:spPr>
          <a:xfrm rot="10800000">
            <a:off x="2533561" y="2634000"/>
            <a:ext cx="1507500" cy="131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497" name="Google Shape;497;p59"/>
          <p:cNvSpPr txBox="1"/>
          <p:nvPr>
            <p:ph idx="1" type="body"/>
          </p:nvPr>
        </p:nvSpPr>
        <p:spPr>
          <a:xfrm>
            <a:off x="457200" y="1600200"/>
            <a:ext cx="37212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orientation toward an object may be affected by orientations that other actors have towards that object.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Persons seek to increase their status in the eyes of the group (balance) and avoid losing status (imbalance)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 sz="2000">
                <a:latin typeface="Josefin Slab"/>
                <a:ea typeface="Josefin Slab"/>
                <a:cs typeface="Josefin Slab"/>
                <a:sym typeface="Josefin Slab"/>
              </a:rPr>
              <a:t>Liked persons are liked</a:t>
            </a:r>
            <a:endParaRPr b="1"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 sz="2000">
                <a:latin typeface="Josefin Slab"/>
                <a:ea typeface="Josefin Slab"/>
                <a:cs typeface="Josefin Slab"/>
                <a:sym typeface="Josefin Slab"/>
              </a:rPr>
              <a:t>Disliked persons are disliked</a:t>
            </a:r>
            <a:endParaRPr b="1" sz="20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498" name="Google Shape;498;p59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504" name="Google Shape;504;p60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505" name="Google Shape;505;p60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06" name="Google Shape;506;p60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07" name="Google Shape;507;p60"/>
          <p:cNvCxnSpPr>
            <a:stCxn id="505" idx="3"/>
            <a:endCxn id="506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60"/>
          <p:cNvCxnSpPr>
            <a:stCxn id="505" idx="3"/>
            <a:endCxn id="509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60"/>
          <p:cNvCxnSpPr>
            <a:stCxn id="509" idx="2"/>
            <a:endCxn id="506" idx="0"/>
          </p:cNvCxnSpPr>
          <p:nvPr/>
        </p:nvCxnSpPr>
        <p:spPr>
          <a:xfrm>
            <a:off x="3116696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9" name="Google Shape;509;p60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511" name="Google Shape;511;p60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12" name="Google Shape;512;p60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13" name="Google Shape;513;p60"/>
          <p:cNvCxnSpPr>
            <a:stCxn id="511" idx="3"/>
            <a:endCxn id="512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60"/>
          <p:cNvCxnSpPr>
            <a:stCxn id="511" idx="3"/>
            <a:endCxn id="515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60"/>
          <p:cNvCxnSpPr>
            <a:stCxn id="515" idx="2"/>
            <a:endCxn id="512" idx="0"/>
          </p:cNvCxnSpPr>
          <p:nvPr/>
        </p:nvCxnSpPr>
        <p:spPr>
          <a:xfrm>
            <a:off x="3222196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5" name="Google Shape;515;p60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522" name="Google Shape;522;p61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osefin Slab"/>
              <a:buAutoNum type="arabicPeriod"/>
            </a:pP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b="1"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status.</a:t>
            </a:r>
            <a:endParaRPr b="1" i="1"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1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24" name="Google Shape;524;p61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25" name="Google Shape;525;p61"/>
          <p:cNvCxnSpPr>
            <a:stCxn id="523" idx="3"/>
            <a:endCxn id="524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26" name="Google Shape;526;p61"/>
          <p:cNvCxnSpPr>
            <a:stCxn id="523" idx="3"/>
            <a:endCxn id="527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p61"/>
          <p:cNvCxnSpPr>
            <a:stCxn id="527" idx="2"/>
            <a:endCxn id="524" idx="0"/>
          </p:cNvCxnSpPr>
          <p:nvPr/>
        </p:nvCxnSpPr>
        <p:spPr>
          <a:xfrm>
            <a:off x="3116696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7" name="Google Shape;527;p61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529" name="Google Shape;529;p61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30" name="Google Shape;530;p61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31" name="Google Shape;531;p61"/>
          <p:cNvCxnSpPr>
            <a:stCxn id="529" idx="3"/>
            <a:endCxn id="530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2" name="Google Shape;532;p61"/>
          <p:cNvCxnSpPr>
            <a:stCxn id="529" idx="3"/>
            <a:endCxn id="533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61"/>
          <p:cNvCxnSpPr>
            <a:stCxn id="533" idx="2"/>
            <a:endCxn id="530" idx="0"/>
          </p:cNvCxnSpPr>
          <p:nvPr/>
        </p:nvCxnSpPr>
        <p:spPr>
          <a:xfrm>
            <a:off x="3222196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3" name="Google Shape;533;p61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535" name="Google Shape;535;p61"/>
          <p:cNvSpPr/>
          <p:nvPr/>
        </p:nvSpPr>
        <p:spPr>
          <a:xfrm>
            <a:off x="659425" y="1622171"/>
            <a:ext cx="3292800" cy="2492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541" name="Google Shape;541;p62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osefin Slab"/>
              <a:buAutoNum type="arabicPeriod"/>
            </a:pP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b="1"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b="1" i="1"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2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43" name="Google Shape;543;p62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44" name="Google Shape;544;p62"/>
          <p:cNvCxnSpPr>
            <a:stCxn id="542" idx="3"/>
            <a:endCxn id="543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p62"/>
          <p:cNvCxnSpPr>
            <a:stCxn id="542" idx="3"/>
            <a:endCxn id="546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7" name="Google Shape;547;p62"/>
          <p:cNvCxnSpPr>
            <a:stCxn id="546" idx="2"/>
            <a:endCxn id="543" idx="0"/>
          </p:cNvCxnSpPr>
          <p:nvPr/>
        </p:nvCxnSpPr>
        <p:spPr>
          <a:xfrm>
            <a:off x="3116696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46" name="Google Shape;546;p62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548" name="Google Shape;548;p62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49" name="Google Shape;549;p62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50" name="Google Shape;550;p62"/>
          <p:cNvCxnSpPr>
            <a:stCxn id="548" idx="3"/>
            <a:endCxn id="549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62"/>
          <p:cNvCxnSpPr>
            <a:stCxn id="548" idx="3"/>
            <a:endCxn id="552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62"/>
          <p:cNvCxnSpPr>
            <a:stCxn id="552" idx="2"/>
            <a:endCxn id="549" idx="0"/>
          </p:cNvCxnSpPr>
          <p:nvPr/>
        </p:nvCxnSpPr>
        <p:spPr>
          <a:xfrm>
            <a:off x="3222196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2" name="Google Shape;552;p62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554" name="Google Shape;554;p62"/>
          <p:cNvSpPr/>
          <p:nvPr/>
        </p:nvSpPr>
        <p:spPr>
          <a:xfrm>
            <a:off x="665324" y="4124016"/>
            <a:ext cx="3292800" cy="2492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560" name="Google Shape;560;p63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decreases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osefin Slab"/>
              <a:buAutoNum type="arabicPeriod"/>
            </a:pP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b="1"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b="1" i="1"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3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62" name="Google Shape;562;p63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63" name="Google Shape;563;p63"/>
          <p:cNvCxnSpPr>
            <a:stCxn id="561" idx="3"/>
            <a:endCxn id="562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63"/>
          <p:cNvCxnSpPr>
            <a:stCxn id="561" idx="3"/>
            <a:endCxn id="565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63"/>
          <p:cNvCxnSpPr>
            <a:stCxn id="565" idx="2"/>
            <a:endCxn id="562" idx="0"/>
          </p:cNvCxnSpPr>
          <p:nvPr/>
        </p:nvCxnSpPr>
        <p:spPr>
          <a:xfrm>
            <a:off x="3116696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65" name="Google Shape;565;p63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567" name="Google Shape;567;p63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68" name="Google Shape;568;p63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69" name="Google Shape;569;p63"/>
          <p:cNvCxnSpPr>
            <a:stCxn id="567" idx="3"/>
            <a:endCxn id="568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70" name="Google Shape;570;p63"/>
          <p:cNvCxnSpPr>
            <a:stCxn id="567" idx="3"/>
            <a:endCxn id="571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63"/>
          <p:cNvCxnSpPr>
            <a:stCxn id="571" idx="2"/>
            <a:endCxn id="568" idx="0"/>
          </p:cNvCxnSpPr>
          <p:nvPr/>
        </p:nvCxnSpPr>
        <p:spPr>
          <a:xfrm>
            <a:off x="3222196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71" name="Google Shape;571;p63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573" name="Google Shape;573;p63"/>
          <p:cNvSpPr/>
          <p:nvPr/>
        </p:nvSpPr>
        <p:spPr>
          <a:xfrm>
            <a:off x="665324" y="1600200"/>
            <a:ext cx="3292800" cy="2492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579" name="Google Shape;579;p64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decreases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osefin Slab"/>
              <a:buAutoNum type="arabicPeriod"/>
            </a:pP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b="1"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b="1" i="1"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64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81" name="Google Shape;581;p64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82" name="Google Shape;582;p64"/>
          <p:cNvCxnSpPr>
            <a:stCxn id="580" idx="3"/>
            <a:endCxn id="581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3" name="Google Shape;583;p64"/>
          <p:cNvCxnSpPr>
            <a:stCxn id="580" idx="3"/>
            <a:endCxn id="584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p64"/>
          <p:cNvCxnSpPr>
            <a:stCxn id="584" idx="2"/>
            <a:endCxn id="581" idx="0"/>
          </p:cNvCxnSpPr>
          <p:nvPr/>
        </p:nvCxnSpPr>
        <p:spPr>
          <a:xfrm>
            <a:off x="3116696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84" name="Google Shape;584;p64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586" name="Google Shape;586;p64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587" name="Google Shape;587;p64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588" name="Google Shape;588;p64"/>
          <p:cNvCxnSpPr>
            <a:stCxn id="586" idx="3"/>
            <a:endCxn id="587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64"/>
          <p:cNvCxnSpPr>
            <a:stCxn id="586" idx="3"/>
            <a:endCxn id="590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64"/>
          <p:cNvCxnSpPr>
            <a:stCxn id="590" idx="2"/>
            <a:endCxn id="587" idx="0"/>
          </p:cNvCxnSpPr>
          <p:nvPr/>
        </p:nvCxnSpPr>
        <p:spPr>
          <a:xfrm>
            <a:off x="3222196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90" name="Google Shape;590;p64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592" name="Google Shape;592;p64"/>
          <p:cNvSpPr/>
          <p:nvPr/>
        </p:nvSpPr>
        <p:spPr>
          <a:xfrm>
            <a:off x="665324" y="4124016"/>
            <a:ext cx="3292800" cy="2492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